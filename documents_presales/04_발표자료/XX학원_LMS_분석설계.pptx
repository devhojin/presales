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91" r:id="rId1"/>
  </p:sldMasterIdLst>
  <p:notesMasterIdLst>
    <p:notesMasterId r:id="rId7"/>
  </p:notesMasterIdLst>
  <p:handoutMasterIdLst>
    <p:handoutMasterId r:id="rId8"/>
  </p:handoutMasterIdLst>
  <p:sldIdLst>
    <p:sldId id="420" r:id="rId2"/>
    <p:sldId id="430" r:id="rId3"/>
    <p:sldId id="403" r:id="rId4"/>
    <p:sldId id="426" r:id="rId5"/>
    <p:sldId id="405" r:id="rId6"/>
  </p:sldIdLst>
  <p:sldSz cx="10383838" cy="7254875"/>
  <p:notesSz cx="6854825" cy="96647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5">
          <p15:clr>
            <a:srgbClr val="A4A3A4"/>
          </p15:clr>
        </p15:guide>
        <p15:guide id="2" pos="32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44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FF0"/>
    <a:srgbClr val="FFFFCC"/>
    <a:srgbClr val="4D4D4D"/>
    <a:srgbClr val="000099"/>
    <a:srgbClr val="000066"/>
    <a:srgbClr val="969696"/>
    <a:srgbClr val="CC9900"/>
    <a:srgbClr val="FF0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0" autoAdjust="0"/>
    <p:restoredTop sz="96521" autoAdjust="0"/>
  </p:normalViewPr>
  <p:slideViewPr>
    <p:cSldViewPr>
      <p:cViewPr varScale="1">
        <p:scale>
          <a:sx n="109" d="100"/>
          <a:sy n="109" d="100"/>
        </p:scale>
        <p:origin x="1230" y="120"/>
      </p:cViewPr>
      <p:guideLst>
        <p:guide orient="horz" pos="2285"/>
        <p:guide pos="3271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60" y="-96"/>
      </p:cViewPr>
      <p:guideLst>
        <p:guide orient="horz" pos="3044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D6394491-6B41-F304-7799-AFF35B3D61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굴림" panose="020B0600000101010101" pitchFamily="50" charset="-127"/>
              </a:defRPr>
            </a:lvl1pPr>
          </a:lstStyle>
          <a:p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96B895E8-2A2F-E7DD-E118-AE793158C2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anose="020B0600000101010101" pitchFamily="50" charset="-127"/>
              </a:defRPr>
            </a:lvl1pPr>
          </a:lstStyle>
          <a:p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FB030F01-98FE-14DF-7884-C8B2135041C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78925"/>
            <a:ext cx="297021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굴림" panose="020B0600000101010101" pitchFamily="50" charset="-127"/>
              </a:defRPr>
            </a:lvl1pPr>
          </a:lstStyle>
          <a:p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41571D08-DE66-79F5-9C10-B0EE07FD5FD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178925"/>
            <a:ext cx="297021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anose="020B0600000101010101" pitchFamily="50" charset="-127"/>
              </a:defRPr>
            </a:lvl1pPr>
          </a:lstStyle>
          <a:p>
            <a:fld id="{1977C055-12FF-476D-A655-9B646A73F352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2C6AA78F-9A35-AC8D-9332-D1CEC28FB35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ACE90A09-0943-2CE2-6373-4E9195D6C5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7F349FED-B124-13B6-FC56-70C965EB0B5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35025" y="725488"/>
            <a:ext cx="5184775" cy="3622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54BCF7A5-32F2-7352-3000-4288F54947D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591050"/>
            <a:ext cx="5483225" cy="434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1078" name="Rectangle 6">
            <a:extLst>
              <a:ext uri="{FF2B5EF4-FFF2-40B4-BE49-F238E27FC236}">
                <a16:creationId xmlns:a16="http://schemas.microsoft.com/office/drawing/2014/main" id="{70C61BF5-9587-2544-2EDE-D544C68298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78925"/>
            <a:ext cx="297021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131079" name="Rectangle 7">
            <a:extLst>
              <a:ext uri="{FF2B5EF4-FFF2-40B4-BE49-F238E27FC236}">
                <a16:creationId xmlns:a16="http://schemas.microsoft.com/office/drawing/2014/main" id="{BA438860-D7B1-E687-FFBD-A07F5222D4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178925"/>
            <a:ext cx="297021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0" tIns="45680" rIns="91360" bIns="4568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61021CE-1B1B-40DA-B5F0-D2E3B3B94202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12719-34D1-D6F5-641A-01312120A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75" y="1187450"/>
            <a:ext cx="7786688" cy="2525713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80E5F6-BD6A-FE4A-8CC4-0C52A6A84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575" y="3810000"/>
            <a:ext cx="7786688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965874-80E8-B032-F450-71CBD434C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A1E141-F761-490A-85BA-93FB725E279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307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620D1-2F2C-C755-DAC2-F705F1EBB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85763"/>
            <a:ext cx="8955088" cy="14033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8A5CF-3D98-53FF-D84F-9918EA13A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1931988"/>
            <a:ext cx="8955088" cy="4602162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764AD-BF4B-5BB8-3C90-D89381DEC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FDA462-81C7-4004-962A-0C47E56E52D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935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D81F9C8-A1B6-0901-A9E9-67304F4126D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14375" y="385763"/>
            <a:ext cx="8955088" cy="6148387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5DC3A4-4C28-7C0C-50ED-E131F2EFD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5625" y="7034213"/>
            <a:ext cx="736600" cy="220662"/>
          </a:xfrm>
        </p:spPr>
        <p:txBody>
          <a:bodyPr/>
          <a:lstStyle>
            <a:lvl1pPr>
              <a:defRPr/>
            </a:lvl1pPr>
          </a:lstStyle>
          <a:p>
            <a:fld id="{41E882CF-B448-42F2-B2CA-13F08B72D0A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608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9" name="Rectangle 3">
            <a:extLst>
              <a:ext uri="{FF2B5EF4-FFF2-40B4-BE49-F238E27FC236}">
                <a16:creationId xmlns:a16="http://schemas.microsoft.com/office/drawing/2014/main" id="{2F542792-7983-66C5-002D-B7417C0BA5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45625" y="7034213"/>
            <a:ext cx="736600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63" tIns="48082" rIns="96163" bIns="48082" numCol="1" anchor="t" anchorCtr="0" compatLnSpc="1">
            <a:prstTxWarp prst="textNoShape">
              <a:avLst/>
            </a:prstTxWarp>
          </a:bodyPr>
          <a:lstStyle>
            <a:lvl1pPr algn="r" defTabSz="962025" eaLnBrk="1" latinLnBrk="1" hangingPunct="1"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E6C609B-D6AB-42A2-87C0-1E6D94FE2D3E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08580" name="Rectangle 4">
            <a:extLst>
              <a:ext uri="{FF2B5EF4-FFF2-40B4-BE49-F238E27FC236}">
                <a16:creationId xmlns:a16="http://schemas.microsoft.com/office/drawing/2014/main" id="{BDC1AA3D-6592-0EDE-6974-E4A9917DD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8" y="161925"/>
            <a:ext cx="10344150" cy="7254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39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163" tIns="48082" rIns="96163" bIns="48082" anchor="ctr"/>
          <a:lstStyle>
            <a:lvl1pPr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101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62025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43038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2405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3812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384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2956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528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500">
                <a:latin typeface="Arial" panose="020B0604020202020204" pitchFamily="34" charset="0"/>
                <a:ea typeface="돋움" panose="020B0600000101010101" pitchFamily="50" charset="-127"/>
              </a:rPr>
              <a:t> </a:t>
            </a:r>
          </a:p>
        </p:txBody>
      </p:sp>
      <p:sp>
        <p:nvSpPr>
          <p:cNvPr id="408581" name="Rectangle 5">
            <a:extLst>
              <a:ext uri="{FF2B5EF4-FFF2-40B4-BE49-F238E27FC236}">
                <a16:creationId xmlns:a16="http://schemas.microsoft.com/office/drawing/2014/main" id="{6F91530A-B134-E601-1B0E-A50078382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675" y="165100"/>
            <a:ext cx="2149475" cy="7254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lIns="96163" tIns="48082" rIns="96163" bIns="48082" anchor="ctr"/>
          <a:lstStyle>
            <a:lvl1pPr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101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62025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43038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2405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3812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384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2956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528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500">
                <a:latin typeface="Arial" panose="020B0604020202020204" pitchFamily="34" charset="0"/>
                <a:ea typeface="돋움" panose="020B0600000101010101" pitchFamily="50" charset="-127"/>
              </a:rPr>
              <a:t> </a:t>
            </a:r>
          </a:p>
        </p:txBody>
      </p:sp>
      <p:sp>
        <p:nvSpPr>
          <p:cNvPr id="408582" name="Line 6">
            <a:extLst>
              <a:ext uri="{FF2B5EF4-FFF2-40B4-BE49-F238E27FC236}">
                <a16:creationId xmlns:a16="http://schemas.microsoft.com/office/drawing/2014/main" id="{F87C7FFC-CABD-AFE5-6025-FDCB0FCC3F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00" y="284163"/>
            <a:ext cx="0" cy="482600"/>
          </a:xfrm>
          <a:prstGeom prst="line">
            <a:avLst/>
          </a:prstGeom>
          <a:noFill/>
          <a:ln w="539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08583" name="Rectangle 7">
            <a:extLst>
              <a:ext uri="{FF2B5EF4-FFF2-40B4-BE49-F238E27FC236}">
                <a16:creationId xmlns:a16="http://schemas.microsoft.com/office/drawing/2014/main" id="{07B1F120-96A3-6464-09CE-70D054215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6902450"/>
            <a:ext cx="10371138" cy="3524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39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163" tIns="48082" rIns="96163" bIns="48082" anchor="ctr"/>
          <a:lstStyle>
            <a:lvl1pPr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101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62025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43038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2405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3812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384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2956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528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500">
                <a:latin typeface="Arial" panose="020B0604020202020204" pitchFamily="34" charset="0"/>
                <a:ea typeface="돋움" panose="020B0600000101010101" pitchFamily="50" charset="-127"/>
              </a:rPr>
              <a:t> </a:t>
            </a:r>
          </a:p>
        </p:txBody>
      </p:sp>
      <p:sp>
        <p:nvSpPr>
          <p:cNvPr id="408584" name="Rectangle 8">
            <a:extLst>
              <a:ext uri="{FF2B5EF4-FFF2-40B4-BE49-F238E27FC236}">
                <a16:creationId xmlns:a16="http://schemas.microsoft.com/office/drawing/2014/main" id="{C898FA1E-B22E-71C1-48DF-E6865CE60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675" y="6902450"/>
            <a:ext cx="2149475" cy="3524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lIns="96163" tIns="48082" rIns="96163" bIns="48082" anchor="ctr"/>
          <a:lstStyle>
            <a:lvl1pPr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101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62025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43038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2405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3812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384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2956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528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500">
                <a:latin typeface="Arial" panose="020B0604020202020204" pitchFamily="34" charset="0"/>
                <a:ea typeface="돋움" panose="020B0600000101010101" pitchFamily="50" charset="-127"/>
              </a:rPr>
              <a:t> </a:t>
            </a:r>
          </a:p>
        </p:txBody>
      </p:sp>
      <p:sp>
        <p:nvSpPr>
          <p:cNvPr id="408585" name="Text Box 9">
            <a:extLst>
              <a:ext uri="{FF2B5EF4-FFF2-40B4-BE49-F238E27FC236}">
                <a16:creationId xmlns:a16="http://schemas.microsoft.com/office/drawing/2014/main" id="{01AA6F32-DED3-D1AA-3A44-E53692E83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7825"/>
            <a:ext cx="35242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2B3C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163" tIns="48082" rIns="96163" bIns="48082" anchor="ctr"/>
          <a:lstStyle>
            <a:lvl1pPr marL="481013" indent="-48101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101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62025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43038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2405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3812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384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2956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528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ko-KR" sz="1100" b="1">
              <a:latin typeface="Trebuchet MS" panose="020B0603020202020204" pitchFamily="34" charset="0"/>
              <a:ea typeface="돋움체" panose="020B0609000101010101" pitchFamily="49" charset="-127"/>
            </a:endParaRPr>
          </a:p>
        </p:txBody>
      </p:sp>
      <p:sp>
        <p:nvSpPr>
          <p:cNvPr id="408586" name="Text Box 10">
            <a:extLst>
              <a:ext uri="{FF2B5EF4-FFF2-40B4-BE49-F238E27FC236}">
                <a16:creationId xmlns:a16="http://schemas.microsoft.com/office/drawing/2014/main" id="{51E2E721-DF8B-C218-4597-3DB2D85D8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763" y="6954838"/>
            <a:ext cx="460375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2B3C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163" tIns="48082" rIns="96163" bIns="48082">
            <a:spAutoFit/>
          </a:bodyPr>
          <a:lstStyle>
            <a:lvl1pPr marL="481013" indent="-48101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101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62025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43038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2405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3812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384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2956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528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100" b="1">
                <a:solidFill>
                  <a:schemeClr val="bg1"/>
                </a:solidFill>
                <a:latin typeface="Trebuchet MS" panose="020B0603020202020204" pitchFamily="34" charset="0"/>
                <a:ea typeface="돋움" panose="020B0600000101010101" pitchFamily="50" charset="-127"/>
              </a:rPr>
              <a:t>_</a:t>
            </a:r>
            <a:fld id="{38FF38E1-B94E-4120-AF7F-660B95766111}" type="slidenum">
              <a:rPr lang="en-US" altLang="ko-KR" sz="1100" b="1">
                <a:solidFill>
                  <a:schemeClr val="bg1"/>
                </a:solidFill>
                <a:latin typeface="Trebuchet MS" panose="020B0603020202020204" pitchFamily="34" charset="0"/>
                <a:ea typeface="돋움" panose="020B0600000101010101" pitchFamily="50" charset="-127"/>
              </a:rPr>
              <a:pPr algn="ctr" eaLnBrk="1" hangingPunct="1"/>
              <a:t>‹#›</a:t>
            </a:fld>
            <a:endParaRPr lang="en-US" altLang="ko-KR" sz="1100" b="1">
              <a:solidFill>
                <a:schemeClr val="bg1"/>
              </a:solidFill>
              <a:latin typeface="Trebuchet MS" panose="020B0603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408587" name="Rectangle 11">
            <a:extLst>
              <a:ext uri="{FF2B5EF4-FFF2-40B4-BE49-F238E27FC236}">
                <a16:creationId xmlns:a16="http://schemas.microsoft.com/office/drawing/2014/main" id="{D0C630E3-236E-39E7-878F-E4C1CF475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338" y="322263"/>
            <a:ext cx="19875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63" tIns="48082" rIns="96163" bIns="48082"/>
          <a:lstStyle>
            <a:lvl1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457200" algn="ctr" defTabSz="962025" fontAlgn="base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914400" algn="ctr" defTabSz="962025" fontAlgn="base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371600" algn="ctr" defTabSz="962025" fontAlgn="base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828800" algn="ctr" defTabSz="962025" fontAlgn="base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학원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03" r:id="rId3"/>
  </p:sldLayoutIdLst>
  <p:hf hdr="0" ftr="0" dt="0"/>
  <p:txStyles>
    <p:titleStyle>
      <a:lvl1pPr algn="ctr" defTabSz="962025" rtl="0" fontAlgn="base" latinLnBrk="1">
        <a:spcBef>
          <a:spcPct val="0"/>
        </a:spcBef>
        <a:spcAft>
          <a:spcPct val="0"/>
        </a:spcAft>
        <a:defRPr kumimoji="1" sz="21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defTabSz="962025" rtl="0" fontAlgn="base" latinLnBrk="1">
        <a:spcBef>
          <a:spcPct val="0"/>
        </a:spcBef>
        <a:spcAft>
          <a:spcPct val="0"/>
        </a:spcAft>
        <a:defRPr kumimoji="1" sz="2100" b="1">
          <a:solidFill>
            <a:schemeClr val="bg1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defTabSz="962025" rtl="0" fontAlgn="base" latinLnBrk="1">
        <a:spcBef>
          <a:spcPct val="0"/>
        </a:spcBef>
        <a:spcAft>
          <a:spcPct val="0"/>
        </a:spcAft>
        <a:defRPr kumimoji="1" sz="2100" b="1">
          <a:solidFill>
            <a:schemeClr val="bg1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defTabSz="962025" rtl="0" fontAlgn="base" latinLnBrk="1">
        <a:spcBef>
          <a:spcPct val="0"/>
        </a:spcBef>
        <a:spcAft>
          <a:spcPct val="0"/>
        </a:spcAft>
        <a:defRPr kumimoji="1" sz="2100" b="1">
          <a:solidFill>
            <a:schemeClr val="bg1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defTabSz="962025" rtl="0" fontAlgn="base" latinLnBrk="1">
        <a:spcBef>
          <a:spcPct val="0"/>
        </a:spcBef>
        <a:spcAft>
          <a:spcPct val="0"/>
        </a:spcAft>
        <a:defRPr kumimoji="1" sz="2100" b="1">
          <a:solidFill>
            <a:schemeClr val="bg1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defTabSz="962025" rtl="0" fontAlgn="base" latinLnBrk="1">
        <a:spcBef>
          <a:spcPct val="0"/>
        </a:spcBef>
        <a:spcAft>
          <a:spcPct val="0"/>
        </a:spcAft>
        <a:defRPr kumimoji="1" sz="2100" b="1">
          <a:solidFill>
            <a:schemeClr val="bg1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defTabSz="962025" rtl="0" fontAlgn="base" latinLnBrk="1">
        <a:spcBef>
          <a:spcPct val="0"/>
        </a:spcBef>
        <a:spcAft>
          <a:spcPct val="0"/>
        </a:spcAft>
        <a:defRPr kumimoji="1" sz="2100" b="1">
          <a:solidFill>
            <a:schemeClr val="bg1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defTabSz="962025" rtl="0" fontAlgn="base" latinLnBrk="1">
        <a:spcBef>
          <a:spcPct val="0"/>
        </a:spcBef>
        <a:spcAft>
          <a:spcPct val="0"/>
        </a:spcAft>
        <a:defRPr kumimoji="1" sz="2100" b="1">
          <a:solidFill>
            <a:schemeClr val="bg1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defTabSz="962025" rtl="0" fontAlgn="base" latinLnBrk="1">
        <a:spcBef>
          <a:spcPct val="0"/>
        </a:spcBef>
        <a:spcAft>
          <a:spcPct val="0"/>
        </a:spcAft>
        <a:defRPr kumimoji="1" sz="2100" b="1">
          <a:solidFill>
            <a:schemeClr val="bg1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493713" indent="-493713" algn="l" defTabSz="962025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55675" indent="-460375" algn="l" defTabSz="962025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3188" indent="-415925" algn="l" defTabSz="962025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763" indent="-407988" algn="l" defTabSz="962025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03450" indent="-419100" algn="l" defTabSz="962025" rtl="0" fontAlgn="base" latinLnBrk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2" name="Rectangle 4">
            <a:extLst>
              <a:ext uri="{FF2B5EF4-FFF2-40B4-BE49-F238E27FC236}">
                <a16:creationId xmlns:a16="http://schemas.microsoft.com/office/drawing/2014/main" id="{8C410CCE-8687-CCD7-00C3-25279C416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1899245"/>
            <a:ext cx="9170988" cy="12890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6196" tIns="48098" rIns="96196" bIns="48098" anchor="ctr"/>
          <a:lstStyle>
            <a:lvl1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algn="ctr" defTabSz="962025" latinLnBrk="1"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457200" algn="ctr" defTabSz="962025" fontAlgn="base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914400" algn="ctr" defTabSz="962025" fontAlgn="base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371600" algn="ctr" defTabSz="962025" fontAlgn="base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828800" algn="ctr" defTabSz="962025" fontAlgn="base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3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XX</a:t>
            </a:r>
            <a:r>
              <a:rPr lang="ko-KR" altLang="en-US" sz="3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학원 데이터 베이스</a:t>
            </a:r>
            <a:r>
              <a:rPr lang="ko-KR" altLang="en-US" sz="31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1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31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및 설계</a:t>
            </a:r>
          </a:p>
        </p:txBody>
      </p:sp>
      <p:sp>
        <p:nvSpPr>
          <p:cNvPr id="319493" name="Rectangle 5">
            <a:extLst>
              <a:ext uri="{FF2B5EF4-FFF2-40B4-BE49-F238E27FC236}">
                <a16:creationId xmlns:a16="http://schemas.microsoft.com/office/drawing/2014/main" id="{4042A839-3488-6BCE-CF8F-014282D1E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5641975"/>
            <a:ext cx="380841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96" tIns="48098" rIns="96196" bIns="48098" anchor="ctr"/>
          <a:lstStyle>
            <a:lvl1pPr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9530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5726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4775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78435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2415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987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1559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6131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ko-KR" sz="1500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㈜XXXX</a:t>
            </a:r>
            <a:endParaRPr lang="ko-KR" altLang="en-US" sz="2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ko-KR" sz="2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494" name="Rectangle 6">
            <a:extLst>
              <a:ext uri="{FF2B5EF4-FFF2-40B4-BE49-F238E27FC236}">
                <a16:creationId xmlns:a16="http://schemas.microsoft.com/office/drawing/2014/main" id="{A3167057-18DA-76E2-9084-B82EB32FE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3963" y="4006003"/>
            <a:ext cx="2855912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96" tIns="48098" rIns="96196" bIns="48098" anchor="ctr"/>
          <a:lstStyle>
            <a:lvl1pPr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9530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57263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4775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784350" defTabSz="962025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2415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987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1559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613150" defTabSz="962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ko-KR" sz="1500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ko-KR" sz="1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20XX. XX.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ko-KR" sz="1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7" name="Rectangle 7">
            <a:extLst>
              <a:ext uri="{FF2B5EF4-FFF2-40B4-BE49-F238E27FC236}">
                <a16:creationId xmlns:a16="http://schemas.microsoft.com/office/drawing/2014/main" id="{734BB55A-2807-2E19-4ACF-FE5DD505D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6435725"/>
            <a:ext cx="9358312" cy="1444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53951" tIns="35968" rIns="0" bIns="45681" anchor="ctr"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8402" name="Rectangle 2">
            <a:extLst>
              <a:ext uri="{FF2B5EF4-FFF2-40B4-BE49-F238E27FC236}">
                <a16:creationId xmlns:a16="http://schemas.microsoft.com/office/drawing/2014/main" id="{FC96A7F6-1725-4688-739A-63D2FD460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23850"/>
            <a:ext cx="77089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/>
            <a:r>
              <a:rPr lang="ko-KR" altLang="en-US" sz="1500" dirty="0">
                <a:solidFill>
                  <a:schemeClr val="tx1"/>
                </a:solidFill>
              </a:rPr>
              <a:t>업무 흐름도</a:t>
            </a:r>
          </a:p>
        </p:txBody>
      </p:sp>
      <p:sp>
        <p:nvSpPr>
          <p:cNvPr id="358414" name="AutoShape 14">
            <a:extLst>
              <a:ext uri="{FF2B5EF4-FFF2-40B4-BE49-F238E27FC236}">
                <a16:creationId xmlns:a16="http://schemas.microsoft.com/office/drawing/2014/main" id="{0B1AF846-902F-94E0-D4E9-70EBADDF0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1804988"/>
            <a:ext cx="1439863" cy="360362"/>
          </a:xfrm>
          <a:prstGeom prst="roundRect">
            <a:avLst>
              <a:gd name="adj" fmla="val 16667"/>
            </a:avLst>
          </a:prstGeom>
          <a:pattFill prst="dkDnDiag">
            <a:fgClr>
              <a:srgbClr val="73C0F5"/>
            </a:fgClr>
            <a:bgClr>
              <a:srgbClr val="BEE2FA"/>
            </a:bgClr>
          </a:patt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 extrusionH="12700" contourW="25400">
              <a:bevelT w="0"/>
              <a:contourClr>
                <a:schemeClr val="bg1"/>
              </a:contourClr>
            </a:sp3d>
          </a:bodyPr>
          <a:lstStyle/>
          <a:p>
            <a:pPr algn="ctr" eaLnBrk="1" hangingPunct="1"/>
            <a:r>
              <a:rPr lang="ko-KR" altLang="en-US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인터넷 회원</a:t>
            </a:r>
          </a:p>
        </p:txBody>
      </p:sp>
      <p:sp>
        <p:nvSpPr>
          <p:cNvPr id="358415" name="AutoShape 15">
            <a:extLst>
              <a:ext uri="{FF2B5EF4-FFF2-40B4-BE49-F238E27FC236}">
                <a16:creationId xmlns:a16="http://schemas.microsoft.com/office/drawing/2014/main" id="{C5D78FC0-E1B3-A97D-8C89-C4260AC45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788" y="1804988"/>
            <a:ext cx="1439862" cy="360362"/>
          </a:xfrm>
          <a:prstGeom prst="roundRect">
            <a:avLst>
              <a:gd name="adj" fmla="val 16667"/>
            </a:avLst>
          </a:prstGeom>
          <a:pattFill prst="dkDnDiag">
            <a:fgClr>
              <a:srgbClr val="73C0F5"/>
            </a:fgClr>
            <a:bgClr>
              <a:srgbClr val="BEE2FA"/>
            </a:bgClr>
          </a:patt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 extrusionH="12700" contourW="25400">
              <a:bevelT w="0"/>
              <a:contourClr>
                <a:schemeClr val="bg1"/>
              </a:contourClr>
            </a:sp3d>
          </a:bodyPr>
          <a:lstStyle/>
          <a:p>
            <a:pPr algn="ctr" eaLnBrk="1" hangingPunct="1"/>
            <a:r>
              <a:rPr lang="en-US" altLang="ko-KR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Tee </a:t>
            </a:r>
            <a:r>
              <a:rPr lang="ko-KR" altLang="en-US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카드 회원</a:t>
            </a:r>
          </a:p>
        </p:txBody>
      </p:sp>
      <p:sp>
        <p:nvSpPr>
          <p:cNvPr id="358419" name="Rectangle 19">
            <a:extLst>
              <a:ext uri="{FF2B5EF4-FFF2-40B4-BE49-F238E27FC236}">
                <a16:creationId xmlns:a16="http://schemas.microsoft.com/office/drawing/2014/main" id="{8E6FA845-DE88-C05B-FF61-67EE75DA7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2236788"/>
            <a:ext cx="1439862" cy="1130300"/>
          </a:xfrm>
          <a:prstGeom prst="rect">
            <a:avLst/>
          </a:prstGeom>
          <a:solidFill>
            <a:schemeClr val="bg1"/>
          </a:solidFill>
          <a:ln w="12700">
            <a:solidFill>
              <a:srgbClr val="588D9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35997" tIns="35965" rIns="35997" bIns="35997"/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매년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3/1, 9/1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6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개월간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       누적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       스코어 기록한 회원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       단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, 3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 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       발급 실적 없어야 함</a:t>
            </a:r>
          </a:p>
        </p:txBody>
      </p:sp>
      <p:sp>
        <p:nvSpPr>
          <p:cNvPr id="358420" name="Rectangle 20">
            <a:extLst>
              <a:ext uri="{FF2B5EF4-FFF2-40B4-BE49-F238E27FC236}">
                <a16:creationId xmlns:a16="http://schemas.microsoft.com/office/drawing/2014/main" id="{51AD2C67-F832-9F5A-5E86-AD860AFE4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788" y="2236788"/>
            <a:ext cx="1439862" cy="1130300"/>
          </a:xfrm>
          <a:prstGeom prst="rect">
            <a:avLst/>
          </a:prstGeom>
          <a:solidFill>
            <a:schemeClr val="bg1"/>
          </a:solidFill>
          <a:ln w="12700">
            <a:solidFill>
              <a:srgbClr val="588D9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35997" tIns="35965" rIns="35997" bIns="35997"/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매년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3/1, 9/1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6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개월간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       누적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       스코어 기록한 회원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       단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, 3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 </a:t>
            </a:r>
          </a:p>
          <a:p>
            <a:pPr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       발급 실적 없어야 함</a:t>
            </a:r>
          </a:p>
        </p:txBody>
      </p:sp>
      <p:sp>
        <p:nvSpPr>
          <p:cNvPr id="358421" name="Rectangle 21">
            <a:extLst>
              <a:ext uri="{FF2B5EF4-FFF2-40B4-BE49-F238E27FC236}">
                <a16:creationId xmlns:a16="http://schemas.microsoft.com/office/drawing/2014/main" id="{B0A29F4F-6991-29E3-730C-3DA48BCD9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3894138"/>
            <a:ext cx="1439863" cy="287337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무료 대상자 추출</a:t>
            </a:r>
          </a:p>
        </p:txBody>
      </p:sp>
      <p:cxnSp>
        <p:nvCxnSpPr>
          <p:cNvPr id="358422" name="AutoShape 22">
            <a:extLst>
              <a:ext uri="{FF2B5EF4-FFF2-40B4-BE49-F238E27FC236}">
                <a16:creationId xmlns:a16="http://schemas.microsoft.com/office/drawing/2014/main" id="{BB8231FD-D496-D6D4-7A93-2343340FF261}"/>
              </a:ext>
            </a:extLst>
          </p:cNvPr>
          <p:cNvCxnSpPr>
            <a:cxnSpLocks noChangeShapeType="1"/>
            <a:stCxn id="358419" idx="2"/>
            <a:endCxn id="358421" idx="0"/>
          </p:cNvCxnSpPr>
          <p:nvPr/>
        </p:nvCxnSpPr>
        <p:spPr bwMode="auto">
          <a:xfrm rot="16200000" flipH="1">
            <a:off x="1181894" y="3259932"/>
            <a:ext cx="527050" cy="741362"/>
          </a:xfrm>
          <a:prstGeom prst="bentConnector3">
            <a:avLst>
              <a:gd name="adj1" fmla="val 50000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423" name="AutoShape 23">
            <a:extLst>
              <a:ext uri="{FF2B5EF4-FFF2-40B4-BE49-F238E27FC236}">
                <a16:creationId xmlns:a16="http://schemas.microsoft.com/office/drawing/2014/main" id="{F5A32909-1B90-5F5E-EC9B-6A591FBD657C}"/>
              </a:ext>
            </a:extLst>
          </p:cNvPr>
          <p:cNvCxnSpPr>
            <a:cxnSpLocks noChangeShapeType="1"/>
            <a:stCxn id="358420" idx="2"/>
            <a:endCxn id="358421" idx="0"/>
          </p:cNvCxnSpPr>
          <p:nvPr/>
        </p:nvCxnSpPr>
        <p:spPr bwMode="auto">
          <a:xfrm rot="5400000">
            <a:off x="1932782" y="3250406"/>
            <a:ext cx="527050" cy="760413"/>
          </a:xfrm>
          <a:prstGeom prst="bentConnector3">
            <a:avLst>
              <a:gd name="adj1" fmla="val 50000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24" name="Rectangle 24">
            <a:extLst>
              <a:ext uri="{FF2B5EF4-FFF2-40B4-BE49-F238E27FC236}">
                <a16:creationId xmlns:a16="http://schemas.microsoft.com/office/drawing/2014/main" id="{0BD2A549-A309-C1E8-7DAE-0A0C32BD4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4422775"/>
            <a:ext cx="1439863" cy="287338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핸디캡 카드 발급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배송용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cxnSp>
        <p:nvCxnSpPr>
          <p:cNvPr id="358425" name="AutoShape 25">
            <a:extLst>
              <a:ext uri="{FF2B5EF4-FFF2-40B4-BE49-F238E27FC236}">
                <a16:creationId xmlns:a16="http://schemas.microsoft.com/office/drawing/2014/main" id="{0D596277-639B-DC76-AA6C-D235CDA052DA}"/>
              </a:ext>
            </a:extLst>
          </p:cNvPr>
          <p:cNvCxnSpPr>
            <a:cxnSpLocks noChangeShapeType="1"/>
            <a:stCxn id="358421" idx="2"/>
            <a:endCxn id="358424" idx="0"/>
          </p:cNvCxnSpPr>
          <p:nvPr/>
        </p:nvCxnSpPr>
        <p:spPr bwMode="auto">
          <a:xfrm>
            <a:off x="1816100" y="4181475"/>
            <a:ext cx="0" cy="241300"/>
          </a:xfrm>
          <a:prstGeom prst="straightConnector1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26" name="Rectangle 26">
            <a:extLst>
              <a:ext uri="{FF2B5EF4-FFF2-40B4-BE49-F238E27FC236}">
                <a16:creationId xmlns:a16="http://schemas.microsoft.com/office/drawing/2014/main" id="{E86DAC90-F29B-4D5C-D835-CE852F20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5838825"/>
            <a:ext cx="1439863" cy="287338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 배송</a:t>
            </a:r>
          </a:p>
        </p:txBody>
      </p:sp>
      <p:cxnSp>
        <p:nvCxnSpPr>
          <p:cNvPr id="358427" name="AutoShape 27">
            <a:extLst>
              <a:ext uri="{FF2B5EF4-FFF2-40B4-BE49-F238E27FC236}">
                <a16:creationId xmlns:a16="http://schemas.microsoft.com/office/drawing/2014/main" id="{CCAB9604-742A-11AA-A01D-36BFC8DE9599}"/>
              </a:ext>
            </a:extLst>
          </p:cNvPr>
          <p:cNvCxnSpPr>
            <a:cxnSpLocks noChangeShapeType="1"/>
            <a:stCxn id="358424" idx="2"/>
            <a:endCxn id="358426" idx="0"/>
          </p:cNvCxnSpPr>
          <p:nvPr/>
        </p:nvCxnSpPr>
        <p:spPr bwMode="auto">
          <a:xfrm>
            <a:off x="1816100" y="4710113"/>
            <a:ext cx="0" cy="1128712"/>
          </a:xfrm>
          <a:prstGeom prst="straightConnector1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28" name="Rectangle 28">
            <a:extLst>
              <a:ext uri="{FF2B5EF4-FFF2-40B4-BE49-F238E27FC236}">
                <a16:creationId xmlns:a16="http://schemas.microsoft.com/office/drawing/2014/main" id="{686E3DEA-D1A4-1582-3EEB-07026CB61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6342063"/>
            <a:ext cx="1439863" cy="28575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완료</a:t>
            </a:r>
          </a:p>
        </p:txBody>
      </p:sp>
      <p:cxnSp>
        <p:nvCxnSpPr>
          <p:cNvPr id="358429" name="AutoShape 29">
            <a:extLst>
              <a:ext uri="{FF2B5EF4-FFF2-40B4-BE49-F238E27FC236}">
                <a16:creationId xmlns:a16="http://schemas.microsoft.com/office/drawing/2014/main" id="{509BA285-F54F-5622-014C-C9B8FD66F7EE}"/>
              </a:ext>
            </a:extLst>
          </p:cNvPr>
          <p:cNvCxnSpPr>
            <a:cxnSpLocks noChangeShapeType="1"/>
            <a:stCxn id="358426" idx="2"/>
            <a:endCxn id="358428" idx="0"/>
          </p:cNvCxnSpPr>
          <p:nvPr/>
        </p:nvCxnSpPr>
        <p:spPr bwMode="auto">
          <a:xfrm>
            <a:off x="1816100" y="6126163"/>
            <a:ext cx="0" cy="215900"/>
          </a:xfrm>
          <a:prstGeom prst="straightConnector1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8533" name="Group 133">
            <a:extLst>
              <a:ext uri="{FF2B5EF4-FFF2-40B4-BE49-F238E27FC236}">
                <a16:creationId xmlns:a16="http://schemas.microsoft.com/office/drawing/2014/main" id="{4B378D39-70C3-0783-8FD5-21178BEAD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062494"/>
              </p:ext>
            </p:extLst>
          </p:nvPr>
        </p:nvGraphicFramePr>
        <p:xfrm>
          <a:off x="3786188" y="4044950"/>
          <a:ext cx="2816225" cy="358775"/>
        </p:xfrm>
        <a:graphic>
          <a:graphicData uri="http://schemas.openxmlformats.org/drawingml/2006/table">
            <a:tbl>
              <a:tblPr/>
              <a:tblGrid>
                <a:gridCol w="938212">
                  <a:extLst>
                    <a:ext uri="{9D8B030D-6E8A-4147-A177-3AD203B41FA5}">
                      <a16:colId xmlns:a16="http://schemas.microsoft.com/office/drawing/2014/main" val="1632585251"/>
                    </a:ext>
                  </a:extLst>
                </a:gridCol>
                <a:gridCol w="938213">
                  <a:extLst>
                    <a:ext uri="{9D8B030D-6E8A-4147-A177-3AD203B41FA5}">
                      <a16:colId xmlns:a16="http://schemas.microsoft.com/office/drawing/2014/main" val="105427371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789589341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000" kern="1200" spc="-5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바다코스</a:t>
                      </a:r>
                    </a:p>
                  </a:txBody>
                  <a:tcPr marL="35997" marR="35997" marT="35997" marB="35997" anchor="ctr" horzOverflow="overflow">
                    <a:lnL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8909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000" kern="1200" spc="-5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하늘코스</a:t>
                      </a:r>
                    </a:p>
                  </a:txBody>
                  <a:tcPr marL="35997" marR="35997" marT="35997" marB="35997" anchor="ctr" horzOverflow="overflow">
                    <a:lnL w="3175" cap="flat" cmpd="sng" algn="ctr">
                      <a:solidFill>
                        <a:srgbClr val="58909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8909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DGR</a:t>
                      </a:r>
                    </a:p>
                  </a:txBody>
                  <a:tcPr marL="35997" marR="35997" marT="35997" marB="35997" anchor="ctr" horzOverflow="overflow">
                    <a:lnL w="3175" cap="flat" cmpd="sng" algn="ctr">
                      <a:solidFill>
                        <a:srgbClr val="58909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098361"/>
                  </a:ext>
                </a:extLst>
              </a:tr>
            </a:tbl>
          </a:graphicData>
        </a:graphic>
      </p:graphicFrame>
      <p:sp>
        <p:nvSpPr>
          <p:cNvPr id="358442" name="AutoShape 42">
            <a:extLst>
              <a:ext uri="{FF2B5EF4-FFF2-40B4-BE49-F238E27FC236}">
                <a16:creationId xmlns:a16="http://schemas.microsoft.com/office/drawing/2014/main" id="{7BCB40D6-7FF1-C1AD-D1A3-5B2BA8A19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9825" y="1804988"/>
            <a:ext cx="1439863" cy="360362"/>
          </a:xfrm>
          <a:prstGeom prst="roundRect">
            <a:avLst>
              <a:gd name="adj" fmla="val 16667"/>
            </a:avLst>
          </a:prstGeom>
          <a:pattFill prst="dkDnDiag">
            <a:fgClr>
              <a:srgbClr val="73C0F5"/>
            </a:fgClr>
            <a:bgClr>
              <a:srgbClr val="BEE2FA"/>
            </a:bgClr>
          </a:patt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 extrusionH="12700" contourW="25400">
              <a:bevelT w="0"/>
              <a:contourClr>
                <a:schemeClr val="bg1"/>
              </a:contourClr>
            </a:sp3d>
          </a:bodyPr>
          <a:lstStyle/>
          <a:p>
            <a:pPr algn="ctr" eaLnBrk="1" hangingPunct="1"/>
            <a:r>
              <a:rPr lang="ko-KR" altLang="en-US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인터넷 회원</a:t>
            </a:r>
          </a:p>
        </p:txBody>
      </p:sp>
      <p:sp>
        <p:nvSpPr>
          <p:cNvPr id="358443" name="AutoShape 43">
            <a:extLst>
              <a:ext uri="{FF2B5EF4-FFF2-40B4-BE49-F238E27FC236}">
                <a16:creationId xmlns:a16="http://schemas.microsoft.com/office/drawing/2014/main" id="{5FAB704D-CBF0-6667-2465-E51637ED3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063" y="1804988"/>
            <a:ext cx="1439862" cy="360362"/>
          </a:xfrm>
          <a:prstGeom prst="roundRect">
            <a:avLst>
              <a:gd name="adj" fmla="val 16667"/>
            </a:avLst>
          </a:prstGeom>
          <a:pattFill prst="dkDnDiag">
            <a:fgClr>
              <a:srgbClr val="73C0F5"/>
            </a:fgClr>
            <a:bgClr>
              <a:srgbClr val="BEE2FA"/>
            </a:bgClr>
          </a:patt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 extrusionH="12700" contourW="25400">
              <a:bevelT w="0"/>
              <a:contourClr>
                <a:schemeClr val="bg1"/>
              </a:contourClr>
            </a:sp3d>
          </a:bodyPr>
          <a:lstStyle/>
          <a:p>
            <a:pPr algn="ctr" eaLnBrk="1" hangingPunct="1"/>
            <a:r>
              <a:rPr lang="en-US" altLang="ko-KR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Tee </a:t>
            </a:r>
            <a:r>
              <a:rPr lang="ko-KR" altLang="en-US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카드 회원</a:t>
            </a:r>
          </a:p>
        </p:txBody>
      </p:sp>
      <p:sp>
        <p:nvSpPr>
          <p:cNvPr id="358444" name="Rectangle 44">
            <a:extLst>
              <a:ext uri="{FF2B5EF4-FFF2-40B4-BE49-F238E27FC236}">
                <a16:creationId xmlns:a16="http://schemas.microsoft.com/office/drawing/2014/main" id="{56ABAEB4-54AC-799E-DB98-CDF98A70F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7288" y="2236788"/>
            <a:ext cx="1439862" cy="576262"/>
          </a:xfrm>
          <a:prstGeom prst="rect">
            <a:avLst/>
          </a:prstGeom>
          <a:solidFill>
            <a:schemeClr val="bg1"/>
          </a:solidFill>
          <a:ln w="12700">
            <a:solidFill>
              <a:srgbClr val="588D9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35997" tIns="35965" rIns="35997" bIns="35997"/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스코어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보유하면</a:t>
            </a:r>
          </a:p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언제든 즉시발급 신청 가능</a:t>
            </a:r>
          </a:p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발급비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2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만원</a:t>
            </a:r>
          </a:p>
        </p:txBody>
      </p:sp>
      <p:sp>
        <p:nvSpPr>
          <p:cNvPr id="358445" name="Rectangle 45">
            <a:extLst>
              <a:ext uri="{FF2B5EF4-FFF2-40B4-BE49-F238E27FC236}">
                <a16:creationId xmlns:a16="http://schemas.microsoft.com/office/drawing/2014/main" id="{C1039BB1-1EA1-D2AD-24D7-5DE0674F4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063" y="2236788"/>
            <a:ext cx="1439862" cy="576262"/>
          </a:xfrm>
          <a:prstGeom prst="rect">
            <a:avLst/>
          </a:prstGeom>
          <a:solidFill>
            <a:schemeClr val="bg1"/>
          </a:solidFill>
          <a:ln w="12700">
            <a:solidFill>
              <a:srgbClr val="588D9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35997" tIns="35965" rIns="35997" bIns="35997"/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스코어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보유하면</a:t>
            </a:r>
          </a:p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언제든 즉시발급 신청 가능</a:t>
            </a:r>
          </a:p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발급비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만원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(50% DC)</a:t>
            </a:r>
          </a:p>
        </p:txBody>
      </p:sp>
      <p:sp>
        <p:nvSpPr>
          <p:cNvPr id="358446" name="Rectangle 46">
            <a:extLst>
              <a:ext uri="{FF2B5EF4-FFF2-40B4-BE49-F238E27FC236}">
                <a16:creationId xmlns:a16="http://schemas.microsoft.com/office/drawing/2014/main" id="{3ECAECF8-872E-2FA8-EE14-FD959D2A0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400" y="3244850"/>
            <a:ext cx="1438275" cy="576263"/>
          </a:xfrm>
          <a:prstGeom prst="rect">
            <a:avLst/>
          </a:prstGeom>
          <a:solidFill>
            <a:schemeClr val="bg1"/>
          </a:solidFill>
          <a:ln w="12700">
            <a:solidFill>
              <a:srgbClr val="588D9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35997" tIns="35965" rIns="35997" bIns="35997" anchor="ctr"/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즉시 발급 신청</a:t>
            </a:r>
          </a:p>
          <a:p>
            <a:pPr algn="ctr"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및 발급비 납부</a:t>
            </a:r>
          </a:p>
          <a:p>
            <a:pPr algn="ctr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현금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신용카드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Tee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포인트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cxnSp>
        <p:nvCxnSpPr>
          <p:cNvPr id="358447" name="AutoShape 47">
            <a:extLst>
              <a:ext uri="{FF2B5EF4-FFF2-40B4-BE49-F238E27FC236}">
                <a16:creationId xmlns:a16="http://schemas.microsoft.com/office/drawing/2014/main" id="{FC0D6FFA-260F-7466-1623-9AB9E1AB998A}"/>
              </a:ext>
            </a:extLst>
          </p:cNvPr>
          <p:cNvCxnSpPr>
            <a:cxnSpLocks noChangeShapeType="1"/>
            <a:stCxn id="358444" idx="2"/>
            <a:endCxn id="358446" idx="0"/>
          </p:cNvCxnSpPr>
          <p:nvPr/>
        </p:nvCxnSpPr>
        <p:spPr bwMode="auto">
          <a:xfrm rot="16200000" flipH="1">
            <a:off x="4587876" y="2643187"/>
            <a:ext cx="431800" cy="771525"/>
          </a:xfrm>
          <a:prstGeom prst="bentConnector3">
            <a:avLst>
              <a:gd name="adj1" fmla="val 49634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448" name="AutoShape 48">
            <a:extLst>
              <a:ext uri="{FF2B5EF4-FFF2-40B4-BE49-F238E27FC236}">
                <a16:creationId xmlns:a16="http://schemas.microsoft.com/office/drawing/2014/main" id="{54F1DF4A-49B8-BF31-4BB7-240E19950D2E}"/>
              </a:ext>
            </a:extLst>
          </p:cNvPr>
          <p:cNvCxnSpPr>
            <a:cxnSpLocks noChangeShapeType="1"/>
            <a:stCxn id="358445" idx="2"/>
            <a:endCxn id="358446" idx="0"/>
          </p:cNvCxnSpPr>
          <p:nvPr/>
        </p:nvCxnSpPr>
        <p:spPr bwMode="auto">
          <a:xfrm rot="5400000">
            <a:off x="5338763" y="2663825"/>
            <a:ext cx="431800" cy="730250"/>
          </a:xfrm>
          <a:prstGeom prst="bentConnector3">
            <a:avLst>
              <a:gd name="adj1" fmla="val 49634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449" name="AutoShape 49">
            <a:extLst>
              <a:ext uri="{FF2B5EF4-FFF2-40B4-BE49-F238E27FC236}">
                <a16:creationId xmlns:a16="http://schemas.microsoft.com/office/drawing/2014/main" id="{38C886AF-A502-CFF2-C608-F0A94509A512}"/>
              </a:ext>
            </a:extLst>
          </p:cNvPr>
          <p:cNvCxnSpPr>
            <a:cxnSpLocks noChangeShapeType="1"/>
            <a:stCxn id="358446" idx="1"/>
            <a:endCxn id="0" idx="0"/>
          </p:cNvCxnSpPr>
          <p:nvPr/>
        </p:nvCxnSpPr>
        <p:spPr bwMode="auto">
          <a:xfrm rot="10800000" flipV="1">
            <a:off x="4256088" y="3533775"/>
            <a:ext cx="214312" cy="511175"/>
          </a:xfrm>
          <a:prstGeom prst="bentConnector2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450" name="AutoShape 50">
            <a:extLst>
              <a:ext uri="{FF2B5EF4-FFF2-40B4-BE49-F238E27FC236}">
                <a16:creationId xmlns:a16="http://schemas.microsoft.com/office/drawing/2014/main" id="{16550E06-73B1-1A8E-8604-4A7B97ACF399}"/>
              </a:ext>
            </a:extLst>
          </p:cNvPr>
          <p:cNvCxnSpPr>
            <a:cxnSpLocks noChangeShapeType="1"/>
            <a:stCxn id="358446" idx="2"/>
            <a:endCxn id="0" idx="0"/>
          </p:cNvCxnSpPr>
          <p:nvPr/>
        </p:nvCxnSpPr>
        <p:spPr bwMode="auto">
          <a:xfrm rot="16200000" flipH="1">
            <a:off x="5080000" y="3930651"/>
            <a:ext cx="223837" cy="4762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rgbClr val="588D9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</p:cxnSp>
      <p:cxnSp>
        <p:nvCxnSpPr>
          <p:cNvPr id="358451" name="AutoShape 51">
            <a:extLst>
              <a:ext uri="{FF2B5EF4-FFF2-40B4-BE49-F238E27FC236}">
                <a16:creationId xmlns:a16="http://schemas.microsoft.com/office/drawing/2014/main" id="{27B3E758-978B-C72E-A897-C0547C194DAE}"/>
              </a:ext>
            </a:extLst>
          </p:cNvPr>
          <p:cNvCxnSpPr>
            <a:cxnSpLocks noChangeShapeType="1"/>
            <a:stCxn id="358446" idx="3"/>
            <a:endCxn id="0" idx="0"/>
          </p:cNvCxnSpPr>
          <p:nvPr/>
        </p:nvCxnSpPr>
        <p:spPr bwMode="auto">
          <a:xfrm>
            <a:off x="5908675" y="3533775"/>
            <a:ext cx="223838" cy="511175"/>
          </a:xfrm>
          <a:prstGeom prst="bentConnector2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52" name="Rectangle 52">
            <a:extLst>
              <a:ext uri="{FF2B5EF4-FFF2-40B4-BE49-F238E27FC236}">
                <a16:creationId xmlns:a16="http://schemas.microsoft.com/office/drawing/2014/main" id="{CB5711DE-6DDC-1BC1-8EEC-F235C1533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400" y="4619625"/>
            <a:ext cx="1438275" cy="287338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핸디캡 카드 발급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즉발용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58456" name="Rectangle 56">
            <a:extLst>
              <a:ext uri="{FF2B5EF4-FFF2-40B4-BE49-F238E27FC236}">
                <a16:creationId xmlns:a16="http://schemas.microsoft.com/office/drawing/2014/main" id="{123DF6B3-AA2D-D332-FCCA-0BA63B6FF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400" y="6342063"/>
            <a:ext cx="1438275" cy="287337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즉시 발급 완료</a:t>
            </a:r>
          </a:p>
        </p:txBody>
      </p:sp>
      <p:cxnSp>
        <p:nvCxnSpPr>
          <p:cNvPr id="358459" name="AutoShape 59">
            <a:extLst>
              <a:ext uri="{FF2B5EF4-FFF2-40B4-BE49-F238E27FC236}">
                <a16:creationId xmlns:a16="http://schemas.microsoft.com/office/drawing/2014/main" id="{06E75B40-6B23-7EF2-B277-6781981C0FAF}"/>
              </a:ext>
            </a:extLst>
          </p:cNvPr>
          <p:cNvCxnSpPr>
            <a:cxnSpLocks noChangeShapeType="1"/>
            <a:stCxn id="0" idx="2"/>
            <a:endCxn id="358452" idx="0"/>
          </p:cNvCxnSpPr>
          <p:nvPr/>
        </p:nvCxnSpPr>
        <p:spPr bwMode="auto">
          <a:xfrm rot="5400000">
            <a:off x="5083969" y="4509294"/>
            <a:ext cx="215900" cy="47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588D9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</p:cxnSp>
      <p:cxnSp>
        <p:nvCxnSpPr>
          <p:cNvPr id="358460" name="AutoShape 60">
            <a:extLst>
              <a:ext uri="{FF2B5EF4-FFF2-40B4-BE49-F238E27FC236}">
                <a16:creationId xmlns:a16="http://schemas.microsoft.com/office/drawing/2014/main" id="{15DCAC03-D6F1-3544-C1A7-E2032064D5FD}"/>
              </a:ext>
            </a:extLst>
          </p:cNvPr>
          <p:cNvCxnSpPr>
            <a:cxnSpLocks noChangeShapeType="1"/>
            <a:stCxn id="0" idx="2"/>
            <a:endCxn id="358452" idx="3"/>
          </p:cNvCxnSpPr>
          <p:nvPr/>
        </p:nvCxnSpPr>
        <p:spPr bwMode="auto">
          <a:xfrm rot="5400000">
            <a:off x="5840412" y="4471988"/>
            <a:ext cx="360363" cy="223838"/>
          </a:xfrm>
          <a:prstGeom prst="bentConnector2">
            <a:avLst/>
          </a:prstGeom>
          <a:noFill/>
          <a:ln w="9525">
            <a:solidFill>
              <a:srgbClr val="588D9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</p:cxnSp>
      <p:cxnSp>
        <p:nvCxnSpPr>
          <p:cNvPr id="358461" name="AutoShape 61">
            <a:extLst>
              <a:ext uri="{FF2B5EF4-FFF2-40B4-BE49-F238E27FC236}">
                <a16:creationId xmlns:a16="http://schemas.microsoft.com/office/drawing/2014/main" id="{C126C8B4-D91C-2655-25AC-68EE39F696B7}"/>
              </a:ext>
            </a:extLst>
          </p:cNvPr>
          <p:cNvCxnSpPr>
            <a:cxnSpLocks noChangeShapeType="1"/>
            <a:stCxn id="0" idx="2"/>
            <a:endCxn id="358452" idx="1"/>
          </p:cNvCxnSpPr>
          <p:nvPr/>
        </p:nvCxnSpPr>
        <p:spPr bwMode="auto">
          <a:xfrm rot="16200000" flipH="1">
            <a:off x="4183062" y="4476751"/>
            <a:ext cx="360363" cy="214312"/>
          </a:xfrm>
          <a:prstGeom prst="bentConnector2">
            <a:avLst/>
          </a:prstGeom>
          <a:noFill/>
          <a:ln w="9525">
            <a:solidFill>
              <a:srgbClr val="588D9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</p:cxnSp>
      <p:cxnSp>
        <p:nvCxnSpPr>
          <p:cNvPr id="358462" name="AutoShape 62">
            <a:extLst>
              <a:ext uri="{FF2B5EF4-FFF2-40B4-BE49-F238E27FC236}">
                <a16:creationId xmlns:a16="http://schemas.microsoft.com/office/drawing/2014/main" id="{F2806394-C8B0-F0E4-BDF8-CF964FE38E4B}"/>
              </a:ext>
            </a:extLst>
          </p:cNvPr>
          <p:cNvCxnSpPr>
            <a:cxnSpLocks noChangeShapeType="1"/>
            <a:stCxn id="358452" idx="2"/>
            <a:endCxn id="358456" idx="0"/>
          </p:cNvCxnSpPr>
          <p:nvPr/>
        </p:nvCxnSpPr>
        <p:spPr bwMode="auto">
          <a:xfrm>
            <a:off x="5189538" y="4906963"/>
            <a:ext cx="0" cy="1435100"/>
          </a:xfrm>
          <a:prstGeom prst="straightConnector1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73" name="AutoShape 73">
            <a:extLst>
              <a:ext uri="{FF2B5EF4-FFF2-40B4-BE49-F238E27FC236}">
                <a16:creationId xmlns:a16="http://schemas.microsoft.com/office/drawing/2014/main" id="{73FF0E0A-B189-18DB-45C0-FB91996EA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663" y="1804988"/>
            <a:ext cx="1441450" cy="360362"/>
          </a:xfrm>
          <a:prstGeom prst="roundRect">
            <a:avLst>
              <a:gd name="adj" fmla="val 16667"/>
            </a:avLst>
          </a:prstGeom>
          <a:pattFill prst="dkDnDiag">
            <a:fgClr>
              <a:srgbClr val="73C0F5"/>
            </a:fgClr>
            <a:bgClr>
              <a:srgbClr val="BEE2FA"/>
            </a:bgClr>
          </a:patt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 extrusionH="12700" contourW="25400">
              <a:bevelT w="0"/>
              <a:contourClr>
                <a:schemeClr val="bg1"/>
              </a:contourClr>
            </a:sp3d>
          </a:bodyPr>
          <a:lstStyle/>
          <a:p>
            <a:pPr algn="ctr" eaLnBrk="1" hangingPunct="1"/>
            <a:r>
              <a:rPr lang="ko-KR" altLang="en-US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인터넷 회원</a:t>
            </a:r>
          </a:p>
        </p:txBody>
      </p:sp>
      <p:sp>
        <p:nvSpPr>
          <p:cNvPr id="358474" name="AutoShape 74">
            <a:extLst>
              <a:ext uri="{FF2B5EF4-FFF2-40B4-BE49-F238E27FC236}">
                <a16:creationId xmlns:a16="http://schemas.microsoft.com/office/drawing/2014/main" id="{DC24F1A0-2CD9-66BC-C957-05A079AD4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9488" y="1804988"/>
            <a:ext cx="1439862" cy="360362"/>
          </a:xfrm>
          <a:prstGeom prst="roundRect">
            <a:avLst>
              <a:gd name="adj" fmla="val 16667"/>
            </a:avLst>
          </a:prstGeom>
          <a:pattFill prst="dkDnDiag">
            <a:fgClr>
              <a:srgbClr val="73C0F5"/>
            </a:fgClr>
            <a:bgClr>
              <a:srgbClr val="BEE2FA"/>
            </a:bgClr>
          </a:patt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 extrusionH="12700" contourW="25400">
              <a:bevelT w="0"/>
              <a:contourClr>
                <a:schemeClr val="bg1"/>
              </a:contourClr>
            </a:sp3d>
          </a:bodyPr>
          <a:lstStyle/>
          <a:p>
            <a:pPr algn="ctr" eaLnBrk="1" hangingPunct="1"/>
            <a:r>
              <a:rPr lang="en-US" altLang="ko-KR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Tee </a:t>
            </a:r>
            <a:r>
              <a:rPr lang="ko-KR" altLang="en-US" sz="1100" b="1" ker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카드 회원</a:t>
            </a:r>
          </a:p>
        </p:txBody>
      </p:sp>
      <p:sp>
        <p:nvSpPr>
          <p:cNvPr id="358475" name="Rectangle 75">
            <a:extLst>
              <a:ext uri="{FF2B5EF4-FFF2-40B4-BE49-F238E27FC236}">
                <a16:creationId xmlns:a16="http://schemas.microsoft.com/office/drawing/2014/main" id="{DE9D1764-DA68-3766-2E3A-33A221121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2236788"/>
            <a:ext cx="1439862" cy="576262"/>
          </a:xfrm>
          <a:prstGeom prst="rect">
            <a:avLst/>
          </a:prstGeom>
          <a:solidFill>
            <a:schemeClr val="bg1"/>
          </a:solidFill>
          <a:ln w="12700">
            <a:solidFill>
              <a:srgbClr val="588D9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35997" tIns="35965" rIns="35997" bIns="35997"/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스코어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보유하면</a:t>
            </a:r>
          </a:p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언제든 배송발급 신청 가능</a:t>
            </a:r>
          </a:p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발급비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2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만원</a:t>
            </a:r>
          </a:p>
        </p:txBody>
      </p:sp>
      <p:sp>
        <p:nvSpPr>
          <p:cNvPr id="358476" name="Rectangle 76">
            <a:extLst>
              <a:ext uri="{FF2B5EF4-FFF2-40B4-BE49-F238E27FC236}">
                <a16:creationId xmlns:a16="http://schemas.microsoft.com/office/drawing/2014/main" id="{BC6E29F3-184F-F135-DBCE-90D7944A1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9488" y="2236788"/>
            <a:ext cx="1439862" cy="576262"/>
          </a:xfrm>
          <a:prstGeom prst="rect">
            <a:avLst/>
          </a:prstGeom>
          <a:solidFill>
            <a:schemeClr val="bg1"/>
          </a:solidFill>
          <a:ln w="12700">
            <a:solidFill>
              <a:srgbClr val="588D9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35997" tIns="35965" rIns="35997" bIns="35997"/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스코어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보유하면</a:t>
            </a:r>
          </a:p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언제든 배송발급 신청 가능</a:t>
            </a:r>
          </a:p>
          <a:p>
            <a:pPr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발급비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만원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(50% DC)</a:t>
            </a:r>
          </a:p>
        </p:txBody>
      </p:sp>
      <p:cxnSp>
        <p:nvCxnSpPr>
          <p:cNvPr id="358493" name="AutoShape 93">
            <a:extLst>
              <a:ext uri="{FF2B5EF4-FFF2-40B4-BE49-F238E27FC236}">
                <a16:creationId xmlns:a16="http://schemas.microsoft.com/office/drawing/2014/main" id="{19EB03F8-8A18-534C-3AA1-A98706A31D34}"/>
              </a:ext>
            </a:extLst>
          </p:cNvPr>
          <p:cNvCxnSpPr>
            <a:cxnSpLocks noChangeShapeType="1"/>
            <a:stCxn id="358475" idx="2"/>
            <a:endCxn id="358497" idx="0"/>
          </p:cNvCxnSpPr>
          <p:nvPr/>
        </p:nvCxnSpPr>
        <p:spPr bwMode="auto">
          <a:xfrm rot="16200000" flipH="1">
            <a:off x="7981951" y="2649537"/>
            <a:ext cx="431800" cy="758825"/>
          </a:xfrm>
          <a:prstGeom prst="bentConnector3">
            <a:avLst>
              <a:gd name="adj1" fmla="val 49634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494" name="AutoShape 94">
            <a:extLst>
              <a:ext uri="{FF2B5EF4-FFF2-40B4-BE49-F238E27FC236}">
                <a16:creationId xmlns:a16="http://schemas.microsoft.com/office/drawing/2014/main" id="{BDE0F54D-A1BD-2C44-A508-32A8665DB10C}"/>
              </a:ext>
            </a:extLst>
          </p:cNvPr>
          <p:cNvCxnSpPr>
            <a:cxnSpLocks noChangeShapeType="1"/>
            <a:stCxn id="358476" idx="2"/>
            <a:endCxn id="358497" idx="0"/>
          </p:cNvCxnSpPr>
          <p:nvPr/>
        </p:nvCxnSpPr>
        <p:spPr bwMode="auto">
          <a:xfrm rot="5400000">
            <a:off x="8732838" y="2657475"/>
            <a:ext cx="431800" cy="742950"/>
          </a:xfrm>
          <a:prstGeom prst="bentConnector3">
            <a:avLst>
              <a:gd name="adj1" fmla="val 49634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97" name="Rectangle 97">
            <a:extLst>
              <a:ext uri="{FF2B5EF4-FFF2-40B4-BE49-F238E27FC236}">
                <a16:creationId xmlns:a16="http://schemas.microsoft.com/office/drawing/2014/main" id="{3739EF48-B97E-7425-A463-55BA3350D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175" y="3244850"/>
            <a:ext cx="2160588" cy="576263"/>
          </a:xfrm>
          <a:prstGeom prst="rect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35997" tIns="35965" rIns="35997" bIns="35997" anchor="ctr"/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배송 발급 신청</a:t>
            </a:r>
          </a:p>
          <a:p>
            <a:pPr algn="ctr" eaLnBrk="1" latinLnBrk="0" hangingPunct="1"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및 발급비 납부</a:t>
            </a:r>
          </a:p>
          <a:p>
            <a:pPr algn="ctr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신용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계좌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폰빌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Tee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포인트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무통장입금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))</a:t>
            </a:r>
          </a:p>
        </p:txBody>
      </p:sp>
      <p:graphicFrame>
        <p:nvGraphicFramePr>
          <p:cNvPr id="358551" name="Group 151">
            <a:extLst>
              <a:ext uri="{FF2B5EF4-FFF2-40B4-BE49-F238E27FC236}">
                <a16:creationId xmlns:a16="http://schemas.microsoft.com/office/drawing/2014/main" id="{A2D567A1-96CD-4699-26B7-A6DE766A1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432897"/>
              </p:ext>
            </p:extLst>
          </p:nvPr>
        </p:nvGraphicFramePr>
        <p:xfrm>
          <a:off x="7351713" y="3941763"/>
          <a:ext cx="2447925" cy="376794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3681594923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1356306286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XX</a:t>
                      </a: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학원 홈페이지</a:t>
                      </a:r>
                    </a:p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배송발급 신청 등록</a:t>
                      </a: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5997" marR="35997" marT="35997" marB="35997" anchor="ctr" horzOverflow="overflow">
                    <a:lnL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8909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회원센터</a:t>
                      </a:r>
                    </a:p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배송발급 유선 신청</a:t>
                      </a: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5997" marR="35997" marT="35997" marB="35997" anchor="ctr" horzOverflow="overflow">
                    <a:lnL w="3175" cap="flat" cmpd="sng" algn="ctr">
                      <a:solidFill>
                        <a:srgbClr val="58909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90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38437"/>
                  </a:ext>
                </a:extLst>
              </a:tr>
            </a:tbl>
          </a:graphicData>
        </a:graphic>
      </p:graphicFrame>
      <p:cxnSp>
        <p:nvCxnSpPr>
          <p:cNvPr id="358511" name="AutoShape 111">
            <a:extLst>
              <a:ext uri="{FF2B5EF4-FFF2-40B4-BE49-F238E27FC236}">
                <a16:creationId xmlns:a16="http://schemas.microsoft.com/office/drawing/2014/main" id="{E9DF78A5-95CD-0967-5249-F66AC451C553}"/>
              </a:ext>
            </a:extLst>
          </p:cNvPr>
          <p:cNvCxnSpPr>
            <a:cxnSpLocks noChangeShapeType="1"/>
            <a:stCxn id="358497" idx="1"/>
            <a:endCxn id="0" idx="1"/>
          </p:cNvCxnSpPr>
          <p:nvPr/>
        </p:nvCxnSpPr>
        <p:spPr bwMode="auto">
          <a:xfrm rot="10800000" flipV="1">
            <a:off x="7351713" y="3533775"/>
            <a:ext cx="144462" cy="708025"/>
          </a:xfrm>
          <a:prstGeom prst="bentConnector3">
            <a:avLst>
              <a:gd name="adj1" fmla="val 258241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517" name="AutoShape 117">
            <a:extLst>
              <a:ext uri="{FF2B5EF4-FFF2-40B4-BE49-F238E27FC236}">
                <a16:creationId xmlns:a16="http://schemas.microsoft.com/office/drawing/2014/main" id="{1952112B-28F4-1333-D681-A6918EED26F0}"/>
              </a:ext>
            </a:extLst>
          </p:cNvPr>
          <p:cNvCxnSpPr>
            <a:cxnSpLocks noChangeShapeType="1"/>
            <a:stCxn id="358497" idx="3"/>
            <a:endCxn id="0" idx="3"/>
          </p:cNvCxnSpPr>
          <p:nvPr/>
        </p:nvCxnSpPr>
        <p:spPr bwMode="auto">
          <a:xfrm>
            <a:off x="9656763" y="3533775"/>
            <a:ext cx="142875" cy="708025"/>
          </a:xfrm>
          <a:prstGeom prst="bentConnector3">
            <a:avLst>
              <a:gd name="adj1" fmla="val 258889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525" name="Rectangle 125">
            <a:extLst>
              <a:ext uri="{FF2B5EF4-FFF2-40B4-BE49-F238E27FC236}">
                <a16:creationId xmlns:a16="http://schemas.microsoft.com/office/drawing/2014/main" id="{CE60CC77-C33E-751E-F077-387492381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8" y="4683125"/>
            <a:ext cx="1439862" cy="287338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핸디캡 카드 발급</a:t>
            </a:r>
            <a:r>
              <a:rPr lang="en-US" altLang="ko-KR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배송용</a:t>
            </a:r>
            <a:r>
              <a:rPr lang="en-US" altLang="ko-KR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58527" name="Rectangle 127">
            <a:extLst>
              <a:ext uri="{FF2B5EF4-FFF2-40B4-BE49-F238E27FC236}">
                <a16:creationId xmlns:a16="http://schemas.microsoft.com/office/drawing/2014/main" id="{1E90671C-C954-F9FC-E054-33E04052D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8" y="5910263"/>
            <a:ext cx="1439862" cy="287337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 배송</a:t>
            </a:r>
          </a:p>
        </p:txBody>
      </p:sp>
      <p:cxnSp>
        <p:nvCxnSpPr>
          <p:cNvPr id="358528" name="AutoShape 128">
            <a:extLst>
              <a:ext uri="{FF2B5EF4-FFF2-40B4-BE49-F238E27FC236}">
                <a16:creationId xmlns:a16="http://schemas.microsoft.com/office/drawing/2014/main" id="{BAA683DB-4C80-1AF3-B401-F32C60505106}"/>
              </a:ext>
            </a:extLst>
          </p:cNvPr>
          <p:cNvCxnSpPr>
            <a:cxnSpLocks noChangeShapeType="1"/>
            <a:stCxn id="358525" idx="2"/>
            <a:endCxn id="358527" idx="0"/>
          </p:cNvCxnSpPr>
          <p:nvPr/>
        </p:nvCxnSpPr>
        <p:spPr bwMode="auto">
          <a:xfrm>
            <a:off x="8577263" y="4970463"/>
            <a:ext cx="0" cy="939800"/>
          </a:xfrm>
          <a:prstGeom prst="straightConnector1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529" name="Rectangle 129">
            <a:extLst>
              <a:ext uri="{FF2B5EF4-FFF2-40B4-BE49-F238E27FC236}">
                <a16:creationId xmlns:a16="http://schemas.microsoft.com/office/drawing/2014/main" id="{A76C3BBC-EE62-5197-3FC9-AADBB5169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8" y="6342063"/>
            <a:ext cx="1439862" cy="287337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완료</a:t>
            </a:r>
          </a:p>
        </p:txBody>
      </p:sp>
      <p:cxnSp>
        <p:nvCxnSpPr>
          <p:cNvPr id="358530" name="AutoShape 130">
            <a:extLst>
              <a:ext uri="{FF2B5EF4-FFF2-40B4-BE49-F238E27FC236}">
                <a16:creationId xmlns:a16="http://schemas.microsoft.com/office/drawing/2014/main" id="{0C0412B4-576F-4EF4-3780-F264D9FCD190}"/>
              </a:ext>
            </a:extLst>
          </p:cNvPr>
          <p:cNvCxnSpPr>
            <a:cxnSpLocks noChangeShapeType="1"/>
            <a:stCxn id="358527" idx="2"/>
            <a:endCxn id="358529" idx="0"/>
          </p:cNvCxnSpPr>
          <p:nvPr/>
        </p:nvCxnSpPr>
        <p:spPr bwMode="auto">
          <a:xfrm>
            <a:off x="8577263" y="6197600"/>
            <a:ext cx="0" cy="144463"/>
          </a:xfrm>
          <a:prstGeom prst="straightConnector1">
            <a:avLst/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531" name="AutoShape 131">
            <a:extLst>
              <a:ext uri="{FF2B5EF4-FFF2-40B4-BE49-F238E27FC236}">
                <a16:creationId xmlns:a16="http://schemas.microsoft.com/office/drawing/2014/main" id="{2D319E83-BC0D-6811-7EBF-3D10BF2D72DF}"/>
              </a:ext>
            </a:extLst>
          </p:cNvPr>
          <p:cNvCxnSpPr>
            <a:cxnSpLocks noChangeShapeType="1"/>
            <a:stCxn id="0" idx="2"/>
            <a:endCxn id="358525" idx="0"/>
          </p:cNvCxnSpPr>
          <p:nvPr/>
        </p:nvCxnSpPr>
        <p:spPr bwMode="auto">
          <a:xfrm rot="16200000" flipH="1">
            <a:off x="8200232" y="4306094"/>
            <a:ext cx="141287" cy="612775"/>
          </a:xfrm>
          <a:prstGeom prst="bentConnector3">
            <a:avLst>
              <a:gd name="adj1" fmla="val 49440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532" name="AutoShape 132">
            <a:extLst>
              <a:ext uri="{FF2B5EF4-FFF2-40B4-BE49-F238E27FC236}">
                <a16:creationId xmlns:a16="http://schemas.microsoft.com/office/drawing/2014/main" id="{24E382A2-5122-6D25-A5DE-54FEB75045B7}"/>
              </a:ext>
            </a:extLst>
          </p:cNvPr>
          <p:cNvCxnSpPr>
            <a:cxnSpLocks noChangeShapeType="1"/>
            <a:stCxn id="0" idx="2"/>
            <a:endCxn id="358525" idx="0"/>
          </p:cNvCxnSpPr>
          <p:nvPr/>
        </p:nvCxnSpPr>
        <p:spPr bwMode="auto">
          <a:xfrm rot="5400000">
            <a:off x="8812213" y="4306888"/>
            <a:ext cx="141287" cy="611187"/>
          </a:xfrm>
          <a:prstGeom prst="bentConnector3">
            <a:avLst>
              <a:gd name="adj1" fmla="val 49440"/>
            </a:avLst>
          </a:prstGeom>
          <a:ln>
            <a:solidFill>
              <a:srgbClr val="969696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E0F22C0-C600-351A-FCC1-1833A0364535}"/>
              </a:ext>
            </a:extLst>
          </p:cNvPr>
          <p:cNvGrpSpPr/>
          <p:nvPr/>
        </p:nvGrpSpPr>
        <p:grpSpPr>
          <a:xfrm>
            <a:off x="448190" y="1298976"/>
            <a:ext cx="2793015" cy="575944"/>
            <a:chOff x="397368" y="1290506"/>
            <a:chExt cx="2793015" cy="575944"/>
          </a:xfrm>
        </p:grpSpPr>
        <p:pic>
          <p:nvPicPr>
            <p:cNvPr id="12" name="그림 14" descr="그림자2.png">
              <a:extLst>
                <a:ext uri="{FF2B5EF4-FFF2-40B4-BE49-F238E27FC236}">
                  <a16:creationId xmlns:a16="http://schemas.microsoft.com/office/drawing/2014/main" id="{48FA2DAC-30A2-BE2E-98F0-3CB6302DD4A0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657461" y="333528"/>
              <a:ext cx="272829" cy="2793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양쪽 모서리가 둥근 사각형 40">
              <a:extLst>
                <a:ext uri="{FF2B5EF4-FFF2-40B4-BE49-F238E27FC236}">
                  <a16:creationId xmlns:a16="http://schemas.microsoft.com/office/drawing/2014/main" id="{77AFAFA2-AF0C-E84C-7F7B-C054B7D69C34}"/>
                </a:ext>
              </a:extLst>
            </p:cNvPr>
            <p:cNvSpPr/>
            <p:nvPr/>
          </p:nvSpPr>
          <p:spPr>
            <a:xfrm>
              <a:off x="532013" y="1290506"/>
              <a:ext cx="2523725" cy="281652"/>
            </a:xfrm>
            <a:prstGeom prst="round2SameRect">
              <a:avLst>
                <a:gd name="adj1" fmla="val 50000"/>
                <a:gd name="adj2" fmla="val 0"/>
              </a:avLst>
            </a:prstGeom>
            <a:pattFill prst="dkDnDiag">
              <a:fgClr>
                <a:srgbClr val="1D9AEF"/>
              </a:fgClr>
              <a:bgClr>
                <a:srgbClr val="4CAFF2"/>
              </a:bgClr>
            </a:pattFill>
            <a:ln w="25400" cap="flat" cmpd="sng" algn="ctr">
              <a:noFill/>
              <a:prstDash val="solid"/>
            </a:ln>
            <a:effec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일괄 무료 발급 </a:t>
              </a:r>
              <a:r>
                <a:rPr lang="en-US" altLang="ko-KR" sz="1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&gt;</a:t>
              </a:r>
              <a:r>
                <a:rPr lang="ko-KR" altLang="en-US" sz="1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 배송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012B932-8BBE-B124-8D47-BD76A0F42EBD}"/>
              </a:ext>
            </a:extLst>
          </p:cNvPr>
          <p:cNvGrpSpPr/>
          <p:nvPr/>
        </p:nvGrpSpPr>
        <p:grpSpPr>
          <a:xfrm>
            <a:off x="3735388" y="1298976"/>
            <a:ext cx="2793015" cy="575944"/>
            <a:chOff x="397368" y="1290506"/>
            <a:chExt cx="2793015" cy="575944"/>
          </a:xfrm>
        </p:grpSpPr>
        <p:pic>
          <p:nvPicPr>
            <p:cNvPr id="17" name="그림 14" descr="그림자2.png">
              <a:extLst>
                <a:ext uri="{FF2B5EF4-FFF2-40B4-BE49-F238E27FC236}">
                  <a16:creationId xmlns:a16="http://schemas.microsoft.com/office/drawing/2014/main" id="{1B0A3B79-5E4E-607F-0A48-B517AAB4CBCB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657461" y="333528"/>
              <a:ext cx="272829" cy="2793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양쪽 모서리가 둥근 사각형 40">
              <a:extLst>
                <a:ext uri="{FF2B5EF4-FFF2-40B4-BE49-F238E27FC236}">
                  <a16:creationId xmlns:a16="http://schemas.microsoft.com/office/drawing/2014/main" id="{5198347D-A8BD-E081-7883-0074E0B5D0B6}"/>
                </a:ext>
              </a:extLst>
            </p:cNvPr>
            <p:cNvSpPr/>
            <p:nvPr/>
          </p:nvSpPr>
          <p:spPr>
            <a:xfrm>
              <a:off x="532013" y="1290506"/>
              <a:ext cx="2523725" cy="281652"/>
            </a:xfrm>
            <a:prstGeom prst="round2SameRect">
              <a:avLst>
                <a:gd name="adj1" fmla="val 50000"/>
                <a:gd name="adj2" fmla="val 0"/>
              </a:avLst>
            </a:prstGeom>
            <a:pattFill prst="dkDnDiag">
              <a:fgClr>
                <a:srgbClr val="1D9AEF"/>
              </a:fgClr>
              <a:bgClr>
                <a:srgbClr val="4CAFF2"/>
              </a:bgClr>
            </a:pattFill>
            <a:ln w="25400" cap="flat" cmpd="sng" algn="ctr">
              <a:noFill/>
              <a:prstDash val="solid"/>
            </a:ln>
            <a:effec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즉시 발급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931C1B5-B6D7-104B-E893-EED371F5250E}"/>
              </a:ext>
            </a:extLst>
          </p:cNvPr>
          <p:cNvGrpSpPr/>
          <p:nvPr/>
        </p:nvGrpSpPr>
        <p:grpSpPr>
          <a:xfrm>
            <a:off x="7178373" y="1298976"/>
            <a:ext cx="2793015" cy="575944"/>
            <a:chOff x="397368" y="1290506"/>
            <a:chExt cx="2793015" cy="575944"/>
          </a:xfrm>
        </p:grpSpPr>
        <p:pic>
          <p:nvPicPr>
            <p:cNvPr id="20" name="그림 14" descr="그림자2.png">
              <a:extLst>
                <a:ext uri="{FF2B5EF4-FFF2-40B4-BE49-F238E27FC236}">
                  <a16:creationId xmlns:a16="http://schemas.microsoft.com/office/drawing/2014/main" id="{2B1AF97D-41A1-5D65-4FC8-784F036D9B71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657461" y="333528"/>
              <a:ext cx="272829" cy="2793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양쪽 모서리가 둥근 사각형 40">
              <a:extLst>
                <a:ext uri="{FF2B5EF4-FFF2-40B4-BE49-F238E27FC236}">
                  <a16:creationId xmlns:a16="http://schemas.microsoft.com/office/drawing/2014/main" id="{85991F42-153D-1D6F-6B2B-A04475BC305F}"/>
                </a:ext>
              </a:extLst>
            </p:cNvPr>
            <p:cNvSpPr/>
            <p:nvPr/>
          </p:nvSpPr>
          <p:spPr>
            <a:xfrm>
              <a:off x="532013" y="1290506"/>
              <a:ext cx="2523725" cy="281652"/>
            </a:xfrm>
            <a:prstGeom prst="round2SameRect">
              <a:avLst>
                <a:gd name="adj1" fmla="val 50000"/>
                <a:gd name="adj2" fmla="val 0"/>
              </a:avLst>
            </a:prstGeom>
            <a:pattFill prst="dkDnDiag">
              <a:fgClr>
                <a:srgbClr val="1D9AEF"/>
              </a:fgClr>
              <a:bgClr>
                <a:srgbClr val="4CAFF2"/>
              </a:bgClr>
            </a:pattFill>
            <a:ln w="25400" cap="flat" cmpd="sng" algn="ctr">
              <a:noFill/>
              <a:prstDash val="solid"/>
            </a:ln>
            <a:effec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배송 발급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6510" name="Group 1662">
            <a:extLst>
              <a:ext uri="{FF2B5EF4-FFF2-40B4-BE49-F238E27FC236}">
                <a16:creationId xmlns:a16="http://schemas.microsoft.com/office/drawing/2014/main" id="{2B4FB664-92E6-9CD2-A7F9-C487ABE2FED6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954463656"/>
              </p:ext>
            </p:extLst>
          </p:nvPr>
        </p:nvGraphicFramePr>
        <p:xfrm>
          <a:off x="793750" y="1566863"/>
          <a:ext cx="2863850" cy="877888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327563612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61491899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14590352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96654252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48821354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3874467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90084091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61025216"/>
                    </a:ext>
                  </a:extLst>
                </a:gridCol>
                <a:gridCol w="290512">
                  <a:extLst>
                    <a:ext uri="{9D8B030D-6E8A-4147-A177-3AD203B41FA5}">
                      <a16:colId xmlns:a16="http://schemas.microsoft.com/office/drawing/2014/main" val="96449820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395954388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476729"/>
                  </a:ext>
                </a:extLst>
              </a:tr>
              <a:tr h="10160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 cap="flat"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172874"/>
                  </a:ext>
                </a:extLst>
              </a:tr>
              <a:tr h="452438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</a:t>
                      </a:r>
                    </a:p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년도</a:t>
                      </a:r>
                    </a:p>
                  </a:txBody>
                  <a:tcPr marL="0" marR="0" marT="56808" marB="56808" horzOverflow="overflow">
                    <a:lnL cap="flat"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56808" marB="568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순번 </a:t>
                      </a:r>
                    </a:p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(Sequence No)</a:t>
                      </a:r>
                    </a:p>
                  </a:txBody>
                  <a:tcPr marL="0" marR="0" marT="56808" marB="56808" horzOverflow="overflow">
                    <a:lnL>
                      <a:noFill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163885"/>
                  </a:ext>
                </a:extLst>
              </a:tr>
            </a:tbl>
          </a:graphicData>
        </a:graphic>
      </p:graphicFrame>
      <p:sp>
        <p:nvSpPr>
          <p:cNvPr id="280597" name="AutoShape 21">
            <a:extLst>
              <a:ext uri="{FF2B5EF4-FFF2-40B4-BE49-F238E27FC236}">
                <a16:creationId xmlns:a16="http://schemas.microsoft.com/office/drawing/2014/main" id="{FFED88F3-C84C-6C83-210A-E2B7F7AB6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1112838"/>
            <a:ext cx="3205162" cy="304800"/>
          </a:xfrm>
          <a:prstGeom prst="roundRect">
            <a:avLst>
              <a:gd name="adj" fmla="val 16667"/>
            </a:avLst>
          </a:prstGeom>
          <a:solidFill>
            <a:srgbClr val="5A82B3"/>
          </a:solidFill>
          <a:ln w="6350">
            <a:solidFill>
              <a:srgbClr val="5A82B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82B5CD"/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100" b="1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◆ </a:t>
            </a:r>
            <a:r>
              <a:rPr lang="ko-KR" altLang="en-US" sz="1100" b="1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핸디캡고객번호 </a:t>
            </a:r>
            <a:r>
              <a:rPr lang="en-US" altLang="ko-KR" sz="1100" b="1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X(8)</a:t>
            </a:r>
          </a:p>
        </p:txBody>
      </p:sp>
      <p:sp>
        <p:nvSpPr>
          <p:cNvPr id="281269" name="Rectangle 693">
            <a:extLst>
              <a:ext uri="{FF2B5EF4-FFF2-40B4-BE49-F238E27FC236}">
                <a16:creationId xmlns:a16="http://schemas.microsoft.com/office/drawing/2014/main" id="{BA5DFD3B-1C3E-3BEE-5D39-1C4691E72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031" y="1411288"/>
            <a:ext cx="3447207" cy="790575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72000" tIns="0" rIns="0" bIns="0" anchor="ctr"/>
          <a:lstStyle/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 dirty="0" err="1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등록년도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핸디캡고객 </a:t>
            </a:r>
            <a:r>
              <a:rPr lang="ko-KR" altLang="en-US" sz="1000" spc="-50" dirty="0" err="1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등록년도의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뒤 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</a:t>
            </a:r>
          </a:p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000" spc="-50" dirty="0">
              <a:ln w="1270">
                <a:solidFill>
                  <a:prstClr val="white">
                    <a:alpha val="0"/>
                  </a:prstClr>
                </a:solidFill>
              </a:ln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 dirty="0" err="1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등록순번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(</a:t>
            </a:r>
            <a:r>
              <a:rPr lang="ko-KR" altLang="en-US" sz="1000" spc="-50" dirty="0" err="1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등록년도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회원구분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 </a:t>
            </a:r>
            <a:r>
              <a:rPr lang="ko-KR" altLang="en-US" sz="1000" spc="-50" dirty="0" err="1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등록순번</a:t>
            </a:r>
            <a:endParaRPr lang="ko-KR" altLang="en-US" sz="1000" spc="-50" dirty="0">
              <a:ln w="1270">
                <a:solidFill>
                  <a:prstClr val="white">
                    <a:alpha val="0"/>
                  </a:prstClr>
                </a:solidFill>
              </a:ln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(000001~999999 : 6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81370" name="Rectangle 794">
            <a:extLst>
              <a:ext uri="{FF2B5EF4-FFF2-40B4-BE49-F238E27FC236}">
                <a16:creationId xmlns:a16="http://schemas.microsoft.com/office/drawing/2014/main" id="{D485BC17-0AC4-900E-50E9-5E7DADAEDE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6075" y="322263"/>
            <a:ext cx="7356475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ko-KR" sz="15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External Code</a:t>
            </a:r>
          </a:p>
        </p:txBody>
      </p:sp>
      <p:graphicFrame>
        <p:nvGraphicFramePr>
          <p:cNvPr id="336518" name="Group 1670">
            <a:extLst>
              <a:ext uri="{FF2B5EF4-FFF2-40B4-BE49-F238E27FC236}">
                <a16:creationId xmlns:a16="http://schemas.microsoft.com/office/drawing/2014/main" id="{8468D941-9E58-E3C5-7945-7FB0E2765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248607"/>
              </p:ext>
            </p:extLst>
          </p:nvPr>
        </p:nvGraphicFramePr>
        <p:xfrm>
          <a:off x="793750" y="3290888"/>
          <a:ext cx="4006850" cy="836832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555880026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7710523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17919858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26485117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10596972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93554106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43214998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91013516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97813722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6746649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77172473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05337385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176124659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029163372"/>
                    </a:ext>
                  </a:extLst>
                </a:gridCol>
              </a:tblGrid>
              <a:tr h="242888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56808" marB="5680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654687"/>
                  </a:ext>
                </a:extLst>
              </a:tr>
              <a:tr h="80963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 cap="flat"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808" marR="56808" marT="0" marB="0" horzOverflow="overflow">
                    <a:lnL>
                      <a:noFill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740267"/>
                  </a:ext>
                </a:extLst>
              </a:tr>
              <a:tr h="398463">
                <a:tc gridSpan="9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핸디캡 고객번호</a:t>
                      </a: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(8</a:t>
                      </a: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자리</a:t>
                      </a: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0" marR="0" marT="56808" marB="56808" horzOverflow="overflow">
                    <a:lnL cap="flat"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lang="ko-KR" altLang="ko-KR" sz="1000" kern="1200" spc="-50" dirty="0">
                        <a:ln w="127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56808" marB="568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95300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5726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37477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7843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2415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6987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1559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6131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발급 순번 </a:t>
                      </a:r>
                    </a:p>
                    <a:p>
                      <a:pPr marL="0" marR="0" lvl="0" indent="0" algn="ctr" defTabSz="125949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000" kern="1200" spc="-50" dirty="0">
                          <a:ln w="127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(Sequence No)</a:t>
                      </a:r>
                    </a:p>
                  </a:txBody>
                  <a:tcPr marL="0" marR="0" marT="56808" marB="56808" horzOverflow="overflow">
                    <a:lnL>
                      <a:noFill/>
                    </a:lnL>
                    <a:lnR cap="flat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616983"/>
                  </a:ext>
                </a:extLst>
              </a:tr>
            </a:tbl>
          </a:graphicData>
        </a:graphic>
      </p:graphicFrame>
      <p:sp>
        <p:nvSpPr>
          <p:cNvPr id="336244" name="AutoShape 1396">
            <a:extLst>
              <a:ext uri="{FF2B5EF4-FFF2-40B4-BE49-F238E27FC236}">
                <a16:creationId xmlns:a16="http://schemas.microsoft.com/office/drawing/2014/main" id="{12634B2C-9547-E2B3-4F1D-EF2A44D60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2835275"/>
            <a:ext cx="3205162" cy="304800"/>
          </a:xfrm>
          <a:prstGeom prst="roundRect">
            <a:avLst>
              <a:gd name="adj" fmla="val 16667"/>
            </a:avLst>
          </a:prstGeom>
          <a:solidFill>
            <a:srgbClr val="5A82B3"/>
          </a:solidFill>
          <a:ln w="6350">
            <a:solidFill>
              <a:srgbClr val="5A82B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82B5CD"/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100" b="1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◆ </a:t>
            </a:r>
            <a:r>
              <a:rPr lang="ko-KR" altLang="en-US" sz="1100" b="1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핸디캡카드번호 </a:t>
            </a:r>
            <a:r>
              <a:rPr lang="en-US" altLang="ko-KR" sz="1100" b="1" spc="-5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X(12)</a:t>
            </a:r>
          </a:p>
        </p:txBody>
      </p:sp>
      <p:sp>
        <p:nvSpPr>
          <p:cNvPr id="336481" name="Rectangle 1633">
            <a:extLst>
              <a:ext uri="{FF2B5EF4-FFF2-40B4-BE49-F238E27FC236}">
                <a16:creationId xmlns:a16="http://schemas.microsoft.com/office/drawing/2014/main" id="{010222A8-D0AF-1BCF-9E2B-CE940BD4C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031" y="3138488"/>
            <a:ext cx="3447207" cy="790575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C2C2C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D9D9D9"/>
                  </a:outerShdw>
                </a:effectLst>
              </a14:hiddenEffects>
            </a:ext>
          </a:extLst>
        </p:spPr>
        <p:txBody>
          <a:bodyPr lIns="72000" tIns="0" rIns="0" bIns="0" anchor="ctr"/>
          <a:lstStyle/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핸디캡 고객번호 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 참조</a:t>
            </a:r>
          </a:p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000" spc="-50" dirty="0">
              <a:ln w="1270">
                <a:solidFill>
                  <a:prstClr val="white">
                    <a:alpha val="0"/>
                  </a:prstClr>
                </a:solidFill>
              </a:ln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 dirty="0" err="1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발급순번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핸디캡고객번호별 </a:t>
            </a:r>
            <a:r>
              <a:rPr lang="ko-KR" altLang="en-US" sz="1000" spc="-50" dirty="0" err="1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발급순번</a:t>
            </a:r>
            <a:endParaRPr lang="ko-KR" altLang="en-US" sz="1000" spc="-50" dirty="0">
              <a:ln w="1270">
                <a:solidFill>
                  <a:prstClr val="white">
                    <a:alpha val="0"/>
                  </a:prstClr>
                </a:solidFill>
              </a:ln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259491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(0001~9999 : 4</a:t>
            </a:r>
            <a:r>
              <a:rPr lang="ko-KR" altLang="en-US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</a:t>
            </a:r>
            <a:r>
              <a:rPr lang="en-US" altLang="ko-KR" sz="1000" spc="-50" dirty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549" name="Rectangle 389">
            <a:extLst>
              <a:ext uri="{FF2B5EF4-FFF2-40B4-BE49-F238E27FC236}">
                <a16:creationId xmlns:a16="http://schemas.microsoft.com/office/drawing/2014/main" id="{D1F06FD1-B28B-B65E-2514-F006656840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6075" y="322263"/>
            <a:ext cx="7356475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ko-KR" sz="15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Internal Code</a:t>
            </a:r>
          </a:p>
        </p:txBody>
      </p:sp>
      <p:sp>
        <p:nvSpPr>
          <p:cNvPr id="348551" name="Rectangle 391">
            <a:extLst>
              <a:ext uri="{FF2B5EF4-FFF2-40B4-BE49-F238E27FC236}">
                <a16:creationId xmlns:a16="http://schemas.microsoft.com/office/drawing/2014/main" id="{B356353B-6745-CDE9-19C3-2ACE8AB28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6445250"/>
            <a:ext cx="9566275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588D9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53951" tIns="35968" rIns="0" bIns="45681" anchor="ctr"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60054" name="Group 4726">
            <a:extLst>
              <a:ext uri="{FF2B5EF4-FFF2-40B4-BE49-F238E27FC236}">
                <a16:creationId xmlns:a16="http://schemas.microsoft.com/office/drawing/2014/main" id="{16B83A37-5E7D-98E2-4771-E4525C86998D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153548303"/>
              </p:ext>
            </p:extLst>
          </p:nvPr>
        </p:nvGraphicFramePr>
        <p:xfrm>
          <a:off x="368300" y="1065213"/>
          <a:ext cx="4741863" cy="559279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1339527071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1987520679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857668165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3027948637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3348495604"/>
                    </a:ext>
                  </a:extLst>
                </a:gridCol>
              </a:tblGrid>
              <a:tr h="119063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919627"/>
                  </a:ext>
                </a:extLst>
              </a:tr>
              <a:tr h="11747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85314"/>
                  </a:ext>
                </a:extLst>
              </a:tr>
              <a:tr h="119063"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핸디캡 회원구분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인터넷회원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016580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티카드회원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298381"/>
                  </a:ext>
                </a:extLst>
              </a:tr>
              <a:tr h="117475"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성별구분코드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영문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male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163641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female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411151"/>
                  </a:ext>
                </a:extLst>
              </a:tr>
              <a:tr h="117475"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발급구분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즉시발급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253782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배송발급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408563"/>
                  </a:ext>
                </a:extLst>
              </a:tr>
              <a:tr h="119063">
                <a:tc rowSpan="5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5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창구번호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CTR1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609328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SEA1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바다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701647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SKY1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하늘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45689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DGR1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DGR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5986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INET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인터넷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532683"/>
                  </a:ext>
                </a:extLst>
              </a:tr>
              <a:tr h="119063">
                <a:tc rowSpan="8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8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신청상태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신청접수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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신청서 등록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807640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주소확인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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수기 입력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일괄가능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448010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발급 중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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카드발급 후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64287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중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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주소출력 후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691863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반송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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수기 입력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555414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재발송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중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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수기 입력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90681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배송완료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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특정기간 후 완료처리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757653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즉시발급완료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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즉발인 경우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964801"/>
                  </a:ext>
                </a:extLst>
              </a:tr>
              <a:tr h="119063">
                <a:tc rowSpan="3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3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할인구분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 없음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432269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티카드회원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283381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806182"/>
                  </a:ext>
                </a:extLst>
              </a:tr>
              <a:tr h="119063">
                <a:tc rowSpan="7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7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결제형태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현금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7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할인구분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 아니면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결제형태 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00~11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필수입력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결제형태 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입력불가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할인구분 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 이면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결제형태 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필수입력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나머지 입력불가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54825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신용카드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803867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폰빌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337210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계좌이체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806224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04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무통장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519631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포인트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409796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218462"/>
                  </a:ext>
                </a:extLst>
              </a:tr>
              <a:tr h="0">
                <a:tc rowSpan="4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4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무료사유코드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개월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결제형태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 이면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무료사유코드 필수입력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236017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인터넷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640101"/>
                  </a:ext>
                </a:extLst>
              </a:tr>
              <a:tr h="11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티카드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02236"/>
                  </a:ext>
                </a:extLst>
              </a:tr>
              <a:tr h="11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094360"/>
                  </a:ext>
                </a:extLst>
              </a:tr>
            </a:tbl>
          </a:graphicData>
        </a:graphic>
      </p:graphicFrame>
      <p:graphicFrame>
        <p:nvGraphicFramePr>
          <p:cNvPr id="360055" name="Group 4727">
            <a:extLst>
              <a:ext uri="{FF2B5EF4-FFF2-40B4-BE49-F238E27FC236}">
                <a16:creationId xmlns:a16="http://schemas.microsoft.com/office/drawing/2014/main" id="{23A837CE-52D0-EBE3-818E-4C9E136EC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819205"/>
              </p:ext>
            </p:extLst>
          </p:nvPr>
        </p:nvGraphicFramePr>
        <p:xfrm>
          <a:off x="5273675" y="1065213"/>
          <a:ext cx="4741863" cy="5432996"/>
        </p:xfrm>
        <a:graphic>
          <a:graphicData uri="http://schemas.openxmlformats.org/drawingml/2006/table">
            <a:tbl>
              <a:tblPr/>
              <a:tblGrid>
                <a:gridCol w="474663">
                  <a:extLst>
                    <a:ext uri="{9D8B030D-6E8A-4147-A177-3AD203B41FA5}">
                      <a16:colId xmlns:a16="http://schemas.microsoft.com/office/drawing/2014/main" val="2182130702"/>
                    </a:ext>
                  </a:extLst>
                </a:gridCol>
                <a:gridCol w="1303337">
                  <a:extLst>
                    <a:ext uri="{9D8B030D-6E8A-4147-A177-3AD203B41FA5}">
                      <a16:colId xmlns:a16="http://schemas.microsoft.com/office/drawing/2014/main" val="424581543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3955843332"/>
                    </a:ext>
                  </a:extLst>
                </a:gridCol>
                <a:gridCol w="1265238">
                  <a:extLst>
                    <a:ext uri="{9D8B030D-6E8A-4147-A177-3AD203B41FA5}">
                      <a16:colId xmlns:a16="http://schemas.microsoft.com/office/drawing/2014/main" val="145963945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1073809198"/>
                    </a:ext>
                  </a:extLst>
                </a:gridCol>
              </a:tblGrid>
              <a:tr h="111125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029154"/>
                  </a:ext>
                </a:extLst>
              </a:tr>
              <a:tr h="1111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035965"/>
                  </a:ext>
                </a:extLst>
              </a:tr>
              <a:tr h="111125"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결제승인기관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KS-NET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493060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다날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401678"/>
                  </a:ext>
                </a:extLst>
              </a:tr>
              <a:tr h="111125">
                <a:tc rowSpan="4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4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신청구분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34228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재갱신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982720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분실재발급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629218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훼손재발급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921556"/>
                  </a:ext>
                </a:extLst>
              </a:tr>
              <a:tr h="111125">
                <a:tc rowSpan="7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7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환불구분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현금반환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7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687910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신용취소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476139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폰빌취소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052714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계좌이체취소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819932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04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무통장입금반환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197169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포인트 취소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15605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무료취소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832822"/>
                  </a:ext>
                </a:extLst>
              </a:tr>
              <a:tr h="122238">
                <a:tc rowSpan="5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5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코스코드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Rockhill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규정타수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관리되어야 되는데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..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0264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Lake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219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Links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080579"/>
                  </a:ext>
                </a:extLst>
              </a:tr>
              <a:tr h="1222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04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Ocean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67193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90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34821"/>
                  </a:ext>
                </a:extLst>
              </a:tr>
              <a:tr h="111125">
                <a:tc rowSpan="3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 rowSpan="3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결제승인기관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XX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학원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포인트 결제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756216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KSNET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신용카드</a:t>
                      </a: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계좌이체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093197"/>
                  </a:ext>
                </a:extLst>
              </a:tr>
              <a:tr h="111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 err="1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다날</a:t>
                      </a:r>
                      <a:endParaRPr kumimoji="1" lang="ko-KR" altLang="en-US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800" b="0" kern="1200" spc="-50" baseline="0" dirty="0">
                          <a:ln w="1270"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휴대폰 결제</a:t>
                      </a: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699452"/>
                  </a:ext>
                </a:extLst>
              </a:tr>
              <a:tr h="1111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485421"/>
                  </a:ext>
                </a:extLst>
              </a:tr>
              <a:tr h="1111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922125"/>
                  </a:ext>
                </a:extLst>
              </a:tr>
              <a:tr h="1111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268568"/>
                  </a:ext>
                </a:extLst>
              </a:tr>
              <a:tr h="1111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267611"/>
                  </a:ext>
                </a:extLst>
              </a:tr>
              <a:tr h="1111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26637"/>
                  </a:ext>
                </a:extLst>
              </a:tr>
              <a:tr h="15875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379020"/>
                  </a:ext>
                </a:extLst>
              </a:tr>
              <a:tr h="15875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28709"/>
                  </a:ext>
                </a:extLst>
              </a:tr>
              <a:tr h="15875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506095"/>
                  </a:ext>
                </a:extLst>
              </a:tr>
              <a:tr h="15875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604053"/>
                  </a:ext>
                </a:extLst>
              </a:tr>
              <a:tr h="15875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923835"/>
                  </a:ext>
                </a:extLst>
              </a:tr>
              <a:tr h="1111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FF0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800" b="0" kern="1200" spc="-50" baseline="0" dirty="0">
                        <a:ln w="1270"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937" marR="18937" marT="18937" marB="18937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6895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1" name="Rectangle 2059">
            <a:extLst>
              <a:ext uri="{FF2B5EF4-FFF2-40B4-BE49-F238E27FC236}">
                <a16:creationId xmlns:a16="http://schemas.microsoft.com/office/drawing/2014/main" id="{37BE8FE1-C205-6D23-8D1C-F81ED1368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6370638"/>
            <a:ext cx="9647238" cy="227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588D9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53951" tIns="35968" rIns="0" bIns="45681" anchor="ctr"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80980" name="Group 3124">
            <a:extLst>
              <a:ext uri="{FF2B5EF4-FFF2-40B4-BE49-F238E27FC236}">
                <a16:creationId xmlns:a16="http://schemas.microsoft.com/office/drawing/2014/main" id="{FAACB7E8-F914-BAC8-B587-CDAF9F9D85F4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10016638"/>
              </p:ext>
            </p:extLst>
          </p:nvPr>
        </p:nvGraphicFramePr>
        <p:xfrm>
          <a:off x="215900" y="3009900"/>
          <a:ext cx="1541463" cy="3760202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1695213337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616232649"/>
                    </a:ext>
                  </a:extLst>
                </a:gridCol>
              </a:tblGrid>
              <a:tr h="111125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Tee Card 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기본정보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646261"/>
                  </a:ext>
                </a:extLst>
              </a:tr>
              <a:tr h="1111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X(16)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84087"/>
                  </a:ext>
                </a:extLst>
              </a:tr>
              <a:tr h="227330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제휴그룹코드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주민등록번호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E-Mail Address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휴대폰번호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1,2,3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자택전화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1,2,3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직장전화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1,2,3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자택 우편번호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자택 우편관리번호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자택 우편주소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상세주소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 우편번호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 우편관리번호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 우편주소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상세주소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직장명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SMS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E-Mail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우편물수령지구분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본인생일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배우자생일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결혼기념일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결혼유무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주거형태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주거소유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차종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회원등급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소유카드갯수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회원카드상태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최초가입일자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서비스정지일자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가용포인트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등록창구구분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변경일시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X(2-4)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X(13-1)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V(4-4-4)</a:t>
                      </a:r>
                    </a:p>
                    <a:p>
                      <a:pPr marL="0" marR="0" lvl="0" indent="0" algn="r" defTabSz="962025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V(4-4-4)</a:t>
                      </a:r>
                    </a:p>
                    <a:p>
                      <a:pPr marL="0" marR="0" lvl="0" indent="0" algn="r" defTabSz="962025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V(4-4-4)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X(3-3)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V(100-100)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X(3-3)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V(100-100)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V(60-20)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X(1-1)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X(8)-8)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X(8-1)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X(2-2)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V(20)-X(2)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DATE(7)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DATE(7)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530524"/>
                  </a:ext>
                </a:extLst>
              </a:tr>
            </a:tbl>
          </a:graphicData>
        </a:graphic>
      </p:graphicFrame>
      <p:graphicFrame>
        <p:nvGraphicFramePr>
          <p:cNvPr id="380981" name="Group 3125">
            <a:extLst>
              <a:ext uri="{FF2B5EF4-FFF2-40B4-BE49-F238E27FC236}">
                <a16:creationId xmlns:a16="http://schemas.microsoft.com/office/drawing/2014/main" id="{50823474-CE83-1A38-0CE4-DAD62E02A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014034"/>
              </p:ext>
            </p:extLst>
          </p:nvPr>
        </p:nvGraphicFramePr>
        <p:xfrm>
          <a:off x="6478588" y="1035050"/>
          <a:ext cx="1543050" cy="4592306"/>
        </p:xfrm>
        <a:graphic>
          <a:graphicData uri="http://schemas.openxmlformats.org/drawingml/2006/table">
            <a:tbl>
              <a:tblPr/>
              <a:tblGrid>
                <a:gridCol w="1089025">
                  <a:extLst>
                    <a:ext uri="{9D8B030D-6E8A-4147-A177-3AD203B41FA5}">
                      <a16:colId xmlns:a16="http://schemas.microsoft.com/office/drawing/2014/main" val="2840572478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990276325"/>
                    </a:ext>
                  </a:extLst>
                </a:gridCol>
              </a:tblGrid>
              <a:tr h="119063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 인증카드 신청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5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101199"/>
                  </a:ext>
                </a:extLst>
              </a:tr>
              <a:tr h="119063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핸디캡카드번호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X(12)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666794"/>
                  </a:ext>
                </a:extLst>
              </a:tr>
              <a:tr h="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핸디캡고객번호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발급순번</a:t>
                      </a: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신청접수일자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신청접수시간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창구번호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신청상태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주소확인자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주소확인일시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발급비납부일</a:t>
                      </a: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할인구분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결제형태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무료사유코드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무료쿠폰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승인일자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승인시간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티카드번호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결제승인기관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원금액</a:t>
                      </a: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할인액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수납처리액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발급구분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발급일자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발급시간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배송일자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반송일자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재발송일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배송완료일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재발송횟수</a:t>
                      </a: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핸디캡회원구분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영문명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유효일자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Rockhill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Lake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Links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Ocean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이전점수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등록자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ID, 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변경자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ID, 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변경일시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DM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관리번호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9(4,0)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V(10)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X(2-2)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X(8-6)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X(16)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X(3)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X(8-6)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X(8-8)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X(8-8)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9(3,0)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V(100)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V(40)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V(16)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49772"/>
                  </a:ext>
                </a:extLst>
              </a:tr>
            </a:tbl>
          </a:graphicData>
        </a:graphic>
      </p:graphicFrame>
      <p:graphicFrame>
        <p:nvGraphicFramePr>
          <p:cNvPr id="380982" name="Group 3126">
            <a:extLst>
              <a:ext uri="{FF2B5EF4-FFF2-40B4-BE49-F238E27FC236}">
                <a16:creationId xmlns:a16="http://schemas.microsoft.com/office/drawing/2014/main" id="{C81BFDDC-E792-08A0-A0D0-F6FF25BF8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706176"/>
              </p:ext>
            </p:extLst>
          </p:nvPr>
        </p:nvGraphicFramePr>
        <p:xfrm>
          <a:off x="2295525" y="1019175"/>
          <a:ext cx="1552575" cy="443004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20046526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85547072"/>
                    </a:ext>
                  </a:extLst>
                </a:gridCol>
              </a:tblGrid>
              <a:tr h="149225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 고객 일련번호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5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556518"/>
                  </a:ext>
                </a:extLst>
              </a:tr>
              <a:tr h="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등록년도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973326"/>
                  </a:ext>
                </a:extLst>
              </a:tr>
              <a:tr h="1492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연번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9(6,0)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4738"/>
                  </a:ext>
                </a:extLst>
              </a:tr>
            </a:tbl>
          </a:graphicData>
        </a:graphic>
      </p:graphicFrame>
      <p:graphicFrame>
        <p:nvGraphicFramePr>
          <p:cNvPr id="380983" name="Group 3127">
            <a:extLst>
              <a:ext uri="{FF2B5EF4-FFF2-40B4-BE49-F238E27FC236}">
                <a16:creationId xmlns:a16="http://schemas.microsoft.com/office/drawing/2014/main" id="{246C58BC-3861-8F5F-A50F-AFA02F1CB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139495"/>
              </p:ext>
            </p:extLst>
          </p:nvPr>
        </p:nvGraphicFramePr>
        <p:xfrm>
          <a:off x="6480175" y="5715000"/>
          <a:ext cx="1541463" cy="1287102"/>
        </p:xfrm>
        <a:graphic>
          <a:graphicData uri="http://schemas.openxmlformats.org/drawingml/2006/table">
            <a:tbl>
              <a:tblPr/>
              <a:tblGrid>
                <a:gridCol w="1087438">
                  <a:extLst>
                    <a:ext uri="{9D8B030D-6E8A-4147-A177-3AD203B41FA5}">
                      <a16:colId xmlns:a16="http://schemas.microsoft.com/office/drawing/2014/main" val="1602212843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3208782464"/>
                    </a:ext>
                  </a:extLst>
                </a:gridCol>
              </a:tblGrid>
              <a:tr h="104775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발급비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마스터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5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37571"/>
                  </a:ext>
                </a:extLst>
              </a:tr>
              <a:tr h="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-31: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,32:T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시작일자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01624"/>
                  </a:ext>
                </a:extLst>
              </a:tr>
              <a:tr h="26035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발급비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재발급비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변경일시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93305"/>
                  </a:ext>
                </a:extLst>
              </a:tr>
            </a:tbl>
          </a:graphicData>
        </a:graphic>
      </p:graphicFrame>
      <p:graphicFrame>
        <p:nvGraphicFramePr>
          <p:cNvPr id="380984" name="Group 3128">
            <a:extLst>
              <a:ext uri="{FF2B5EF4-FFF2-40B4-BE49-F238E27FC236}">
                <a16:creationId xmlns:a16="http://schemas.microsoft.com/office/drawing/2014/main" id="{72233B54-E226-8DE8-EAE2-5A7EB2E61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081025"/>
              </p:ext>
            </p:extLst>
          </p:nvPr>
        </p:nvGraphicFramePr>
        <p:xfrm>
          <a:off x="8570913" y="1028700"/>
          <a:ext cx="1541462" cy="4786206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1109604660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721367970"/>
                    </a:ext>
                  </a:extLst>
                </a:gridCol>
              </a:tblGrid>
              <a:tr h="127000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 인증카드 취소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5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153424"/>
                  </a:ext>
                </a:extLst>
              </a:tr>
              <a:tr h="223838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핸디캡카드번호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취소시간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X(6)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746363"/>
                  </a:ext>
                </a:extLst>
              </a:tr>
              <a:tr h="223837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환불유무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(Y/N)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환불구분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취소사유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환불창구번호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핸디캡고객번호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발급순번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신청접수일자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신청접수시간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창구번호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신청상태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주소확인자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주소확인일시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발급비납부일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할인구분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결제형태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무료사유코드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무료쿠폰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승인시간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티카드번호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결제승인기관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원금액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할인액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수납처리액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발급일자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발급시간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배송일자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반송일자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재발송일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배송완료일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재발송횟수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핸디캡회원구분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영문명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변경일시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9(4,0)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X(2-2)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X(3)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9(7,0)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X(8-6)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X(8-8)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X(8-8)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9(3,0)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086529"/>
                  </a:ext>
                </a:extLst>
              </a:tr>
            </a:tbl>
          </a:graphicData>
        </a:graphic>
      </p:graphicFrame>
      <p:graphicFrame>
        <p:nvGraphicFramePr>
          <p:cNvPr id="380985" name="Group 3129">
            <a:extLst>
              <a:ext uri="{FF2B5EF4-FFF2-40B4-BE49-F238E27FC236}">
                <a16:creationId xmlns:a16="http://schemas.microsoft.com/office/drawing/2014/main" id="{9611FD01-B295-5058-2793-28D50D402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582671"/>
              </p:ext>
            </p:extLst>
          </p:nvPr>
        </p:nvGraphicFramePr>
        <p:xfrm>
          <a:off x="2295525" y="1905000"/>
          <a:ext cx="1552575" cy="2887302"/>
        </p:xfrm>
        <a:graphic>
          <a:graphicData uri="http://schemas.openxmlformats.org/drawingml/2006/table">
            <a:tbl>
              <a:tblPr/>
              <a:tblGrid>
                <a:gridCol w="1049338">
                  <a:extLst>
                    <a:ext uri="{9D8B030D-6E8A-4147-A177-3AD203B41FA5}">
                      <a16:colId xmlns:a16="http://schemas.microsoft.com/office/drawing/2014/main" val="148048932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666636386"/>
                    </a:ext>
                  </a:extLst>
                </a:gridCol>
              </a:tblGrid>
              <a:tr h="98425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홈페이지 회원마스터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088476"/>
                  </a:ext>
                </a:extLst>
              </a:tr>
              <a:tr h="984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V(13)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803440"/>
                  </a:ext>
                </a:extLst>
              </a:tr>
              <a:tr h="157480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회원여부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(Y/N)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회원명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)-(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성별구분코드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 우편번호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 주소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1, 2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집전화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회사명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 우편번호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 주소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회사전화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-No)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우편물 수신여부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우편물 수신자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주민번호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MEMBER_CD(32:Tee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Tee Card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V(40-40)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V(3-3)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V(100-100)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V(10-4-4)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V(50)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V(3-3)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V(100-100)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V(10-4-4)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V(13)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092312"/>
                  </a:ext>
                </a:extLst>
              </a:tr>
            </a:tbl>
          </a:graphicData>
        </a:graphic>
      </p:graphicFrame>
      <p:graphicFrame>
        <p:nvGraphicFramePr>
          <p:cNvPr id="380986" name="Group 3130">
            <a:extLst>
              <a:ext uri="{FF2B5EF4-FFF2-40B4-BE49-F238E27FC236}">
                <a16:creationId xmlns:a16="http://schemas.microsoft.com/office/drawing/2014/main" id="{A685245C-49B1-6267-4ECD-A2BA2608B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940258"/>
              </p:ext>
            </p:extLst>
          </p:nvPr>
        </p:nvGraphicFramePr>
        <p:xfrm>
          <a:off x="4392613" y="1028700"/>
          <a:ext cx="1543050" cy="1736740"/>
        </p:xfrm>
        <a:graphic>
          <a:graphicData uri="http://schemas.openxmlformats.org/drawingml/2006/table">
            <a:tbl>
              <a:tblPr/>
              <a:tblGrid>
                <a:gridCol w="1085850">
                  <a:extLst>
                    <a:ext uri="{9D8B030D-6E8A-4147-A177-3AD203B41FA5}">
                      <a16:colId xmlns:a16="http://schemas.microsoft.com/office/drawing/2014/main" val="405123614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62966238"/>
                    </a:ext>
                  </a:extLst>
                </a:gridCol>
              </a:tblGrid>
              <a:tr h="125413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 고객 마스터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5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269832"/>
                  </a:ext>
                </a:extLst>
              </a:tr>
              <a:tr h="12700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핸디캡고객번호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585656"/>
                  </a:ext>
                </a:extLst>
              </a:tr>
              <a:tr h="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인터넷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 최초 등록일자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최종발급일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인증카드총발급횟수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최초스코어일자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최종스코어일자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총스코어갯수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 우편번호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 우편번호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 주소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 주소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 전화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1,2,3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최초생성일시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최종갱신일시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V(13)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9(5,0)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9(5,0)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V(3)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V(3)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V(10-4-4)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003321"/>
                  </a:ext>
                </a:extLst>
              </a:tr>
            </a:tbl>
          </a:graphicData>
        </a:graphic>
      </p:graphicFrame>
      <p:sp>
        <p:nvSpPr>
          <p:cNvPr id="317497" name="Rectangle 2105">
            <a:extLst>
              <a:ext uri="{FF2B5EF4-FFF2-40B4-BE49-F238E27FC236}">
                <a16:creationId xmlns:a16="http://schemas.microsoft.com/office/drawing/2014/main" id="{536F549A-D548-E2B5-E6BA-0166BEFE7F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6075" y="322263"/>
            <a:ext cx="7356475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ko-KR" sz="15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</a:t>
            </a:r>
          </a:p>
        </p:txBody>
      </p:sp>
      <p:sp>
        <p:nvSpPr>
          <p:cNvPr id="317565" name="Rectangle 2173">
            <a:extLst>
              <a:ext uri="{FF2B5EF4-FFF2-40B4-BE49-F238E27FC236}">
                <a16:creationId xmlns:a16="http://schemas.microsoft.com/office/drawing/2014/main" id="{2BF3FFD3-F49C-506B-04A9-2DFA01991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2184" y="401638"/>
            <a:ext cx="2396716" cy="262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588D9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wrap="none" lIns="53946" tIns="35965" rIns="0" bIns="45677">
            <a:spAutoFit/>
          </a:bodyPr>
          <a:lstStyle>
            <a:lvl1pPr marL="107950" indent="-107950"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9604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9604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90000"/>
              <a:buFont typeface="Wingdings 2" panose="05020102010507070707" pitchFamily="18" charset="2"/>
              <a:buNone/>
            </a:pPr>
            <a:r>
              <a:rPr lang="en-US" altLang="ko-KR" sz="1300" b="1">
                <a:latin typeface="맑은 고딕" panose="020B0503020000020004" pitchFamily="50" charset="-127"/>
                <a:ea typeface="맑은 고딕" panose="020B0503020000020004" pitchFamily="50" charset="-127"/>
              </a:rPr>
              <a:t>(Entity Relationship Diagram)</a:t>
            </a:r>
          </a:p>
        </p:txBody>
      </p:sp>
      <p:graphicFrame>
        <p:nvGraphicFramePr>
          <p:cNvPr id="380992" name="Group 3136">
            <a:extLst>
              <a:ext uri="{FF2B5EF4-FFF2-40B4-BE49-F238E27FC236}">
                <a16:creationId xmlns:a16="http://schemas.microsoft.com/office/drawing/2014/main" id="{1CC95CE3-5B84-BD57-BB30-DF8A562C4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65915"/>
              </p:ext>
            </p:extLst>
          </p:nvPr>
        </p:nvGraphicFramePr>
        <p:xfrm>
          <a:off x="215900" y="1035050"/>
          <a:ext cx="1554163" cy="1713822"/>
        </p:xfrm>
        <a:graphic>
          <a:graphicData uri="http://schemas.openxmlformats.org/drawingml/2006/table">
            <a:tbl>
              <a:tblPr/>
              <a:tblGrid>
                <a:gridCol w="1052513">
                  <a:extLst>
                    <a:ext uri="{9D8B030D-6E8A-4147-A177-3AD203B41FA5}">
                      <a16:colId xmlns:a16="http://schemas.microsoft.com/office/drawing/2014/main" val="255372695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764138063"/>
                    </a:ext>
                  </a:extLst>
                </a:gridCol>
              </a:tblGrid>
              <a:tr h="149225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골프장 개인별 스코어 관리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HIO20.FGD201T )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472667"/>
                  </a:ext>
                </a:extLst>
              </a:tr>
              <a:tr h="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회사구분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내장일자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V(10)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V(8)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V(10)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43478"/>
                  </a:ext>
                </a:extLst>
              </a:tr>
              <a:tr h="8350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인터넷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ID)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퍼터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핸디캡카드 무료 발급신청일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V(13)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V(40)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330714"/>
                  </a:ext>
                </a:extLst>
              </a:tr>
            </a:tbl>
          </a:graphicData>
        </a:graphic>
      </p:graphicFrame>
      <p:cxnSp>
        <p:nvCxnSpPr>
          <p:cNvPr id="317957" name="AutoShape 2565">
            <a:extLst>
              <a:ext uri="{FF2B5EF4-FFF2-40B4-BE49-F238E27FC236}">
                <a16:creationId xmlns:a16="http://schemas.microsoft.com/office/drawing/2014/main" id="{6C3E2EDA-DDFA-300F-5CEF-59AD9B3F7567}"/>
              </a:ext>
            </a:extLst>
          </p:cNvPr>
          <p:cNvCxnSpPr>
            <a:cxnSpLocks noChangeShapeType="1"/>
            <a:stCxn id="0" idx="3"/>
            <a:endCxn id="0" idx="1"/>
          </p:cNvCxnSpPr>
          <p:nvPr/>
        </p:nvCxnSpPr>
        <p:spPr bwMode="auto">
          <a:xfrm>
            <a:off x="3848100" y="1239838"/>
            <a:ext cx="544513" cy="0"/>
          </a:xfrm>
          <a:prstGeom prst="straightConnector1">
            <a:avLst/>
          </a:prstGeom>
          <a:noFill/>
          <a:ln w="12700">
            <a:solidFill>
              <a:srgbClr val="588D9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</p:cxnSp>
      <p:graphicFrame>
        <p:nvGraphicFramePr>
          <p:cNvPr id="380987" name="Group 3131">
            <a:extLst>
              <a:ext uri="{FF2B5EF4-FFF2-40B4-BE49-F238E27FC236}">
                <a16:creationId xmlns:a16="http://schemas.microsoft.com/office/drawing/2014/main" id="{3E642268-5F87-9488-E7F7-0C232ACEA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67614"/>
              </p:ext>
            </p:extLst>
          </p:nvPr>
        </p:nvGraphicFramePr>
        <p:xfrm>
          <a:off x="8575675" y="6008688"/>
          <a:ext cx="1541463" cy="751826"/>
        </p:xfrm>
        <a:graphic>
          <a:graphicData uri="http://schemas.openxmlformats.org/drawingml/2006/table">
            <a:tbl>
              <a:tblPr/>
              <a:tblGrid>
                <a:gridCol w="1052513">
                  <a:extLst>
                    <a:ext uri="{9D8B030D-6E8A-4147-A177-3AD203B41FA5}">
                      <a16:colId xmlns:a16="http://schemas.microsoft.com/office/drawing/2014/main" val="409102533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182712724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발급비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할인정책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5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697652"/>
                  </a:ext>
                </a:extLst>
              </a:tr>
              <a:tr h="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시작일자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51380"/>
                  </a:ext>
                </a:extLst>
              </a:tr>
              <a:tr h="84138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적용횟수 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티카드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할인율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핸디캡인덱스스코어갯수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핸디캡인덱스가중치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9(3,0)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9(5,2) 9(3,0)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9(5,2)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145474"/>
                  </a:ext>
                </a:extLst>
              </a:tr>
            </a:tbl>
          </a:graphicData>
        </a:graphic>
      </p:graphicFrame>
      <p:grpSp>
        <p:nvGrpSpPr>
          <p:cNvPr id="318112" name="Group 2720">
            <a:extLst>
              <a:ext uri="{FF2B5EF4-FFF2-40B4-BE49-F238E27FC236}">
                <a16:creationId xmlns:a16="http://schemas.microsoft.com/office/drawing/2014/main" id="{68B5E957-51D2-0C5B-FA4A-8304051DB907}"/>
              </a:ext>
            </a:extLst>
          </p:cNvPr>
          <p:cNvGrpSpPr>
            <a:grpSpLocks/>
          </p:cNvGrpSpPr>
          <p:nvPr/>
        </p:nvGrpSpPr>
        <p:grpSpPr bwMode="auto">
          <a:xfrm>
            <a:off x="6030913" y="1370013"/>
            <a:ext cx="320675" cy="88900"/>
            <a:chOff x="912" y="260"/>
            <a:chExt cx="179" cy="53"/>
          </a:xfrm>
        </p:grpSpPr>
        <p:sp>
          <p:nvSpPr>
            <p:cNvPr id="318113" name="Line 2721">
              <a:extLst>
                <a:ext uri="{FF2B5EF4-FFF2-40B4-BE49-F238E27FC236}">
                  <a16:creationId xmlns:a16="http://schemas.microsoft.com/office/drawing/2014/main" id="{0D9503B0-164D-5696-62D2-700654E04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88"/>
              <a:ext cx="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114" name="Line 2722">
              <a:extLst>
                <a:ext uri="{FF2B5EF4-FFF2-40B4-BE49-F238E27FC236}">
                  <a16:creationId xmlns:a16="http://schemas.microsoft.com/office/drawing/2014/main" id="{2C2A3255-B26B-F068-5690-1828CC1BA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" y="260"/>
              <a:ext cx="0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115" name="Line 2723">
              <a:extLst>
                <a:ext uri="{FF2B5EF4-FFF2-40B4-BE49-F238E27FC236}">
                  <a16:creationId xmlns:a16="http://schemas.microsoft.com/office/drawing/2014/main" id="{98420698-4206-B8DC-A6A0-45FDBF3B42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1" y="265"/>
              <a:ext cx="25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116" name="Line 2724">
              <a:extLst>
                <a:ext uri="{FF2B5EF4-FFF2-40B4-BE49-F238E27FC236}">
                  <a16:creationId xmlns:a16="http://schemas.microsoft.com/office/drawing/2014/main" id="{318408AD-F560-B92F-4B80-EFC337E29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1" y="288"/>
              <a:ext cx="25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117" name="Oval 2725">
              <a:extLst>
                <a:ext uri="{FF2B5EF4-FFF2-40B4-BE49-F238E27FC236}">
                  <a16:creationId xmlns:a16="http://schemas.microsoft.com/office/drawing/2014/main" id="{5A17D5EA-EF95-ECAA-3D7B-14E0E1DA7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67"/>
              <a:ext cx="36" cy="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18118" name="Group 2726">
            <a:extLst>
              <a:ext uri="{FF2B5EF4-FFF2-40B4-BE49-F238E27FC236}">
                <a16:creationId xmlns:a16="http://schemas.microsoft.com/office/drawing/2014/main" id="{DC972E25-0E44-1F2F-EA0B-D98AB0ABB618}"/>
              </a:ext>
            </a:extLst>
          </p:cNvPr>
          <p:cNvGrpSpPr>
            <a:grpSpLocks/>
          </p:cNvGrpSpPr>
          <p:nvPr/>
        </p:nvGrpSpPr>
        <p:grpSpPr bwMode="auto">
          <a:xfrm>
            <a:off x="8142288" y="1250950"/>
            <a:ext cx="323850" cy="88900"/>
            <a:chOff x="912" y="260"/>
            <a:chExt cx="179" cy="53"/>
          </a:xfrm>
        </p:grpSpPr>
        <p:sp>
          <p:nvSpPr>
            <p:cNvPr id="318119" name="Line 2727">
              <a:extLst>
                <a:ext uri="{FF2B5EF4-FFF2-40B4-BE49-F238E27FC236}">
                  <a16:creationId xmlns:a16="http://schemas.microsoft.com/office/drawing/2014/main" id="{78A12632-13B4-A6C7-6A6B-2C5FB9E76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88"/>
              <a:ext cx="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120" name="Line 2728">
              <a:extLst>
                <a:ext uri="{FF2B5EF4-FFF2-40B4-BE49-F238E27FC236}">
                  <a16:creationId xmlns:a16="http://schemas.microsoft.com/office/drawing/2014/main" id="{564B0090-E5F1-A494-5223-4E98F8E3B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" y="260"/>
              <a:ext cx="0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121" name="Line 2729">
              <a:extLst>
                <a:ext uri="{FF2B5EF4-FFF2-40B4-BE49-F238E27FC236}">
                  <a16:creationId xmlns:a16="http://schemas.microsoft.com/office/drawing/2014/main" id="{1B2B9D68-ED74-0EA1-544A-5CE2BA6CEA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1" y="265"/>
              <a:ext cx="25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122" name="Line 2730">
              <a:extLst>
                <a:ext uri="{FF2B5EF4-FFF2-40B4-BE49-F238E27FC236}">
                  <a16:creationId xmlns:a16="http://schemas.microsoft.com/office/drawing/2014/main" id="{CD621EFF-44C8-B048-612D-172596E11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1" y="288"/>
              <a:ext cx="25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123" name="Oval 2731">
              <a:extLst>
                <a:ext uri="{FF2B5EF4-FFF2-40B4-BE49-F238E27FC236}">
                  <a16:creationId xmlns:a16="http://schemas.microsoft.com/office/drawing/2014/main" id="{C6CC65EB-63FB-8E22-9E46-DDE8B5CAC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67"/>
              <a:ext cx="36" cy="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18136" name="AutoShape 2744">
            <a:extLst>
              <a:ext uri="{FF2B5EF4-FFF2-40B4-BE49-F238E27FC236}">
                <a16:creationId xmlns:a16="http://schemas.microsoft.com/office/drawing/2014/main" id="{1F2DE47C-0B3D-656C-3F13-F62F74B0F0FB}"/>
              </a:ext>
            </a:extLst>
          </p:cNvPr>
          <p:cNvCxnSpPr>
            <a:cxnSpLocks noChangeShapeType="1"/>
            <a:stCxn id="0" idx="1"/>
            <a:endCxn id="0" idx="1"/>
          </p:cNvCxnSpPr>
          <p:nvPr/>
        </p:nvCxnSpPr>
        <p:spPr bwMode="auto">
          <a:xfrm rot="10800000">
            <a:off x="6478588" y="3465513"/>
            <a:ext cx="1587" cy="2517775"/>
          </a:xfrm>
          <a:prstGeom prst="bentConnector3">
            <a:avLst>
              <a:gd name="adj1" fmla="val 14500000"/>
            </a:avLst>
          </a:prstGeom>
          <a:noFill/>
          <a:ln w="12700">
            <a:solidFill>
              <a:srgbClr val="588D9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</p:cxnSp>
      <p:cxnSp>
        <p:nvCxnSpPr>
          <p:cNvPr id="318150" name="AutoShape 2758">
            <a:extLst>
              <a:ext uri="{FF2B5EF4-FFF2-40B4-BE49-F238E27FC236}">
                <a16:creationId xmlns:a16="http://schemas.microsoft.com/office/drawing/2014/main" id="{7A1AAF64-DEBC-CB03-0BEA-ADAC98CEA899}"/>
              </a:ext>
            </a:extLst>
          </p:cNvPr>
          <p:cNvCxnSpPr>
            <a:cxnSpLocks noChangeShapeType="1"/>
            <a:stCxn id="0" idx="1"/>
            <a:endCxn id="0" idx="3"/>
          </p:cNvCxnSpPr>
          <p:nvPr/>
        </p:nvCxnSpPr>
        <p:spPr bwMode="auto">
          <a:xfrm rot="10800000">
            <a:off x="8021638" y="3465513"/>
            <a:ext cx="554037" cy="3059112"/>
          </a:xfrm>
          <a:prstGeom prst="bentConnector3">
            <a:avLst>
              <a:gd name="adj1" fmla="val 49856"/>
            </a:avLst>
          </a:prstGeom>
          <a:noFill/>
          <a:ln w="12700">
            <a:solidFill>
              <a:srgbClr val="588D9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DDDDD"/>
                  </a:outerShdw>
                </a:effectLst>
              </a14:hiddenEffects>
            </a:ext>
          </a:extLst>
        </p:spPr>
      </p:cxnSp>
      <p:graphicFrame>
        <p:nvGraphicFramePr>
          <p:cNvPr id="380988" name="Group 3132">
            <a:extLst>
              <a:ext uri="{FF2B5EF4-FFF2-40B4-BE49-F238E27FC236}">
                <a16:creationId xmlns:a16="http://schemas.microsoft.com/office/drawing/2014/main" id="{99A4D8FF-7177-8ADD-18F4-802CE0E85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103739"/>
              </p:ext>
            </p:extLst>
          </p:nvPr>
        </p:nvGraphicFramePr>
        <p:xfrm>
          <a:off x="4395788" y="2955925"/>
          <a:ext cx="1543050" cy="3205466"/>
        </p:xfrm>
        <a:graphic>
          <a:graphicData uri="http://schemas.openxmlformats.org/drawingml/2006/table">
            <a:tbl>
              <a:tblPr/>
              <a:tblGrid>
                <a:gridCol w="1087437">
                  <a:extLst>
                    <a:ext uri="{9D8B030D-6E8A-4147-A177-3AD203B41FA5}">
                      <a16:colId xmlns:a16="http://schemas.microsoft.com/office/drawing/2014/main" val="328277935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581371095"/>
                    </a:ext>
                  </a:extLst>
                </a:gridCol>
              </a:tblGrid>
              <a:tr h="119063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 인터넷결제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5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497623"/>
                  </a:ext>
                </a:extLst>
              </a:tr>
              <a:tr h="119063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핸디캡카드번호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작업순번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9(3,0)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94794"/>
                  </a:ext>
                </a:extLst>
              </a:tr>
              <a:tr h="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핸디캡고객번호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발급순번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신청접수일자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신청접수시간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창구번호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신청구분 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신청상태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발급비납부일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할인구분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결제형태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무료쿠폰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승인일자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승인시간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티카드번호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결제승인기관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원금액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할인액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수납액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발급구분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핸디캡회원구분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영문명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유효일자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이전점수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IP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변경일시</a:t>
                      </a:r>
                    </a:p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결제승인유무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(C,X,O)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9(4,0)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V(10)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X(2-2)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X(8-6)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X(16)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X(3)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9(7,0)*3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X(2)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V(40)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9(3,1)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V(20-15)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</a:txBody>
                  <a:tcPr marL="17999" marR="17999" marT="17999" marB="17999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987020"/>
                  </a:ext>
                </a:extLst>
              </a:tr>
            </a:tbl>
          </a:graphicData>
        </a:graphic>
      </p:graphicFrame>
      <p:grpSp>
        <p:nvGrpSpPr>
          <p:cNvPr id="318236" name="Group 2844">
            <a:extLst>
              <a:ext uri="{FF2B5EF4-FFF2-40B4-BE49-F238E27FC236}">
                <a16:creationId xmlns:a16="http://schemas.microsoft.com/office/drawing/2014/main" id="{6C3EC3A5-E7D9-D07A-2D19-C07F3AC64460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6030913" y="3124200"/>
            <a:ext cx="320675" cy="88900"/>
            <a:chOff x="912" y="260"/>
            <a:chExt cx="179" cy="53"/>
          </a:xfrm>
        </p:grpSpPr>
        <p:sp>
          <p:nvSpPr>
            <p:cNvPr id="318237" name="Line 2845">
              <a:extLst>
                <a:ext uri="{FF2B5EF4-FFF2-40B4-BE49-F238E27FC236}">
                  <a16:creationId xmlns:a16="http://schemas.microsoft.com/office/drawing/2014/main" id="{68D5751A-63F7-54EA-B773-594E458FD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88"/>
              <a:ext cx="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238" name="Line 2846">
              <a:extLst>
                <a:ext uri="{FF2B5EF4-FFF2-40B4-BE49-F238E27FC236}">
                  <a16:creationId xmlns:a16="http://schemas.microsoft.com/office/drawing/2014/main" id="{A221F378-CCB6-B2C2-6A9B-911FD8B595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" y="260"/>
              <a:ext cx="0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239" name="Line 2847">
              <a:extLst>
                <a:ext uri="{FF2B5EF4-FFF2-40B4-BE49-F238E27FC236}">
                  <a16:creationId xmlns:a16="http://schemas.microsoft.com/office/drawing/2014/main" id="{4C554162-4A4F-6E84-FDA6-89B164B10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1" y="265"/>
              <a:ext cx="25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240" name="Line 2848">
              <a:extLst>
                <a:ext uri="{FF2B5EF4-FFF2-40B4-BE49-F238E27FC236}">
                  <a16:creationId xmlns:a16="http://schemas.microsoft.com/office/drawing/2014/main" id="{6305E656-D83C-78A7-C218-1CEA6CDE7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1" y="288"/>
              <a:ext cx="25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241" name="Oval 2849">
              <a:extLst>
                <a:ext uri="{FF2B5EF4-FFF2-40B4-BE49-F238E27FC236}">
                  <a16:creationId xmlns:a16="http://schemas.microsoft.com/office/drawing/2014/main" id="{874DBA77-7157-AC41-FBA1-B7605ECA3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67"/>
              <a:ext cx="36" cy="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18318" name="Group 2926">
            <a:extLst>
              <a:ext uri="{FF2B5EF4-FFF2-40B4-BE49-F238E27FC236}">
                <a16:creationId xmlns:a16="http://schemas.microsoft.com/office/drawing/2014/main" id="{8848B2D3-C49C-335C-337B-383B684C1680}"/>
              </a:ext>
            </a:extLst>
          </p:cNvPr>
          <p:cNvGrpSpPr>
            <a:grpSpLocks/>
          </p:cNvGrpSpPr>
          <p:nvPr/>
        </p:nvGrpSpPr>
        <p:grpSpPr bwMode="auto">
          <a:xfrm>
            <a:off x="3967163" y="2043113"/>
            <a:ext cx="322262" cy="84137"/>
            <a:chOff x="2499" y="1287"/>
            <a:chExt cx="203" cy="53"/>
          </a:xfrm>
        </p:grpSpPr>
        <p:sp>
          <p:nvSpPr>
            <p:cNvPr id="318307" name="Line 2915">
              <a:extLst>
                <a:ext uri="{FF2B5EF4-FFF2-40B4-BE49-F238E27FC236}">
                  <a16:creationId xmlns:a16="http://schemas.microsoft.com/office/drawing/2014/main" id="{D863F682-53B3-4484-FC02-10199A107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9" y="1317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308" name="Line 2916">
              <a:extLst>
                <a:ext uri="{FF2B5EF4-FFF2-40B4-BE49-F238E27FC236}">
                  <a16:creationId xmlns:a16="http://schemas.microsoft.com/office/drawing/2014/main" id="{04BF4867-A1C0-E176-A6DA-72FD473FF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6" y="1287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311" name="Oval 2919">
              <a:extLst>
                <a:ext uri="{FF2B5EF4-FFF2-40B4-BE49-F238E27FC236}">
                  <a16:creationId xmlns:a16="http://schemas.microsoft.com/office/drawing/2014/main" id="{F8DA2CE1-801E-E002-C94E-7FCAC7591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" y="1294"/>
              <a:ext cx="41" cy="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18312" name="Group 2920">
            <a:extLst>
              <a:ext uri="{FF2B5EF4-FFF2-40B4-BE49-F238E27FC236}">
                <a16:creationId xmlns:a16="http://schemas.microsoft.com/office/drawing/2014/main" id="{10A60821-60E7-3108-FD3F-D359BF423C5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863725" y="2082800"/>
            <a:ext cx="322263" cy="88900"/>
            <a:chOff x="912" y="260"/>
            <a:chExt cx="179" cy="53"/>
          </a:xfrm>
        </p:grpSpPr>
        <p:sp>
          <p:nvSpPr>
            <p:cNvPr id="318313" name="Line 2921">
              <a:extLst>
                <a:ext uri="{FF2B5EF4-FFF2-40B4-BE49-F238E27FC236}">
                  <a16:creationId xmlns:a16="http://schemas.microsoft.com/office/drawing/2014/main" id="{E06A2C95-8D41-F6B9-37E1-2E717DD37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88"/>
              <a:ext cx="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314" name="Line 2922">
              <a:extLst>
                <a:ext uri="{FF2B5EF4-FFF2-40B4-BE49-F238E27FC236}">
                  <a16:creationId xmlns:a16="http://schemas.microsoft.com/office/drawing/2014/main" id="{B437CF7C-526A-8D27-533A-30D0B1740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" y="260"/>
              <a:ext cx="0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315" name="Line 2923">
              <a:extLst>
                <a:ext uri="{FF2B5EF4-FFF2-40B4-BE49-F238E27FC236}">
                  <a16:creationId xmlns:a16="http://schemas.microsoft.com/office/drawing/2014/main" id="{BEADB270-9FAF-D81A-99F4-FE82D1B7D3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1" y="265"/>
              <a:ext cx="25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316" name="Line 2924">
              <a:extLst>
                <a:ext uri="{FF2B5EF4-FFF2-40B4-BE49-F238E27FC236}">
                  <a16:creationId xmlns:a16="http://schemas.microsoft.com/office/drawing/2014/main" id="{5A808BFC-B46B-CEC0-38F2-5284ACB96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1" y="288"/>
              <a:ext cx="25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317" name="Oval 2925">
              <a:extLst>
                <a:ext uri="{FF2B5EF4-FFF2-40B4-BE49-F238E27FC236}">
                  <a16:creationId xmlns:a16="http://schemas.microsoft.com/office/drawing/2014/main" id="{56E08D99-7F08-2CBC-FF8B-1F6E7BD6D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67"/>
              <a:ext cx="36" cy="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18319" name="Group 2927">
            <a:extLst>
              <a:ext uri="{FF2B5EF4-FFF2-40B4-BE49-F238E27FC236}">
                <a16:creationId xmlns:a16="http://schemas.microsoft.com/office/drawing/2014/main" id="{37F3BFF5-A202-C6B1-F107-16D1AA1E9553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879600" y="3195638"/>
            <a:ext cx="322263" cy="84137"/>
            <a:chOff x="2499" y="1287"/>
            <a:chExt cx="203" cy="53"/>
          </a:xfrm>
        </p:grpSpPr>
        <p:sp>
          <p:nvSpPr>
            <p:cNvPr id="318320" name="Line 2928">
              <a:extLst>
                <a:ext uri="{FF2B5EF4-FFF2-40B4-BE49-F238E27FC236}">
                  <a16:creationId xmlns:a16="http://schemas.microsoft.com/office/drawing/2014/main" id="{D88A71D1-A7E6-282F-105B-381FBEF94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9" y="1317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321" name="Line 2929">
              <a:extLst>
                <a:ext uri="{FF2B5EF4-FFF2-40B4-BE49-F238E27FC236}">
                  <a16:creationId xmlns:a16="http://schemas.microsoft.com/office/drawing/2014/main" id="{DE83B482-C417-DA30-2105-6B9089505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6" y="1287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8322" name="Oval 2930">
              <a:extLst>
                <a:ext uri="{FF2B5EF4-FFF2-40B4-BE49-F238E27FC236}">
                  <a16:creationId xmlns:a16="http://schemas.microsoft.com/office/drawing/2014/main" id="{70F84868-349F-EC43-D060-0CB2C1783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" y="1294"/>
              <a:ext cx="41" cy="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80989" name="Group 3133">
            <a:extLst>
              <a:ext uri="{FF2B5EF4-FFF2-40B4-BE49-F238E27FC236}">
                <a16:creationId xmlns:a16="http://schemas.microsoft.com/office/drawing/2014/main" id="{E6ECFE2C-5EF7-4117-BD5F-8F2D38BEF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090794"/>
              </p:ext>
            </p:extLst>
          </p:nvPr>
        </p:nvGraphicFramePr>
        <p:xfrm>
          <a:off x="2295525" y="4995863"/>
          <a:ext cx="1552575" cy="1185093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30247870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35223241"/>
                    </a:ext>
                  </a:extLst>
                </a:gridCol>
              </a:tblGrid>
              <a:tr h="149225">
                <a:tc gridSpan="2"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핸디캡 영업일보 결제내역</a:t>
                      </a:r>
                    </a:p>
                  </a:txBody>
                  <a:tcPr marL="18937" marR="18937" marT="18937" marB="18937" anchor="ctr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5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342990"/>
                  </a:ext>
                </a:extLst>
              </a:tr>
              <a:tr h="0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영업일보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일주월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700317"/>
                  </a:ext>
                </a:extLst>
              </a:tr>
              <a:tr h="149225"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일보구분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마감일자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결제자명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결제일시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결제자명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결제일시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결제자명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(3)</a:t>
                      </a:r>
                    </a:p>
                    <a:p>
                      <a:pPr marL="0" marR="0" lvl="0" indent="0" algn="l" defTabSz="962025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결제일시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(3)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481013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962025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443038" defTabSz="962025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924050" defTabSz="962025" latinLnBrk="1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3812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8384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2956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752850" defTabSz="962025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X(1)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X(8)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V(20)</a:t>
                      </a:r>
                    </a:p>
                    <a:p>
                      <a:pPr marL="0" marR="0" lvl="0" indent="0" algn="ctr" defTabSz="962025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18937" marR="18937" marT="18937" marB="18937" horzOverflow="overflow">
                    <a:lnL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7586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비즈니스">
  <a:themeElements>
    <a:clrScheme name="비즈니스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비즈니스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3951" tIns="35968" rIns="0" bIns="45681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3951" tIns="35968" rIns="0" bIns="45681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비즈니스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비즈니스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비즈니스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비즈니스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비즈니스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비즈니스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비즈니스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비즈니스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비즈니스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1788</Words>
  <Application>Microsoft Office PowerPoint</Application>
  <PresentationFormat>사용자 지정</PresentationFormat>
  <Paragraphs>720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KoPub돋움체 Bold</vt:lpstr>
      <vt:lpstr>굴림</vt:lpstr>
      <vt:lpstr>맑은 고딕</vt:lpstr>
      <vt:lpstr>Arial</vt:lpstr>
      <vt:lpstr>Trebuchet MS</vt:lpstr>
      <vt:lpstr>Wingdings</vt:lpstr>
      <vt:lpstr>Wingdings 2</vt:lpstr>
      <vt:lpstr>비즈니스</vt:lpstr>
      <vt:lpstr>PowerPoint 프레젠테이션</vt:lpstr>
      <vt:lpstr>업무 흐름도</vt:lpstr>
      <vt:lpstr>External Code</vt:lpstr>
      <vt:lpstr>Internal Code</vt:lpstr>
      <vt:lpstr>ERD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2023-12-13T06:23:47Z</dcterms:created>
  <dcterms:modified xsi:type="dcterms:W3CDTF">2023-12-13T06:23:55Z</dcterms:modified>
</cp:coreProperties>
</file>