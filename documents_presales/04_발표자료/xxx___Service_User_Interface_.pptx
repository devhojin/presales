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  <p:sldMasterId id="2147483651" r:id="rId2"/>
  </p:sldMasterIdLst>
  <p:notesMasterIdLst>
    <p:notesMasterId r:id="rId81"/>
  </p:notesMasterIdLst>
  <p:sldIdLst>
    <p:sldId id="256" r:id="rId3"/>
    <p:sldId id="481" r:id="rId4"/>
    <p:sldId id="340" r:id="rId5"/>
    <p:sldId id="482" r:id="rId6"/>
    <p:sldId id="342" r:id="rId7"/>
    <p:sldId id="343" r:id="rId8"/>
    <p:sldId id="344" r:id="rId9"/>
    <p:sldId id="345" r:id="rId10"/>
    <p:sldId id="346" r:id="rId11"/>
    <p:sldId id="347" r:id="rId12"/>
    <p:sldId id="348" r:id="rId13"/>
    <p:sldId id="411" r:id="rId14"/>
    <p:sldId id="483" r:id="rId15"/>
    <p:sldId id="350" r:id="rId16"/>
    <p:sldId id="351" r:id="rId17"/>
    <p:sldId id="352" r:id="rId18"/>
    <p:sldId id="353" r:id="rId19"/>
    <p:sldId id="354" r:id="rId20"/>
    <p:sldId id="355" r:id="rId21"/>
    <p:sldId id="356" r:id="rId22"/>
    <p:sldId id="357" r:id="rId23"/>
    <p:sldId id="358" r:id="rId24"/>
    <p:sldId id="359" r:id="rId25"/>
    <p:sldId id="360" r:id="rId26"/>
    <p:sldId id="361" r:id="rId27"/>
    <p:sldId id="362" r:id="rId28"/>
    <p:sldId id="363" r:id="rId29"/>
    <p:sldId id="364" r:id="rId30"/>
    <p:sldId id="365" r:id="rId31"/>
    <p:sldId id="366" r:id="rId32"/>
    <p:sldId id="367" r:id="rId33"/>
    <p:sldId id="368" r:id="rId34"/>
    <p:sldId id="413" r:id="rId35"/>
    <p:sldId id="414" r:id="rId36"/>
    <p:sldId id="415" r:id="rId37"/>
    <p:sldId id="416" r:id="rId38"/>
    <p:sldId id="484" r:id="rId39"/>
    <p:sldId id="371" r:id="rId40"/>
    <p:sldId id="372" r:id="rId41"/>
    <p:sldId id="493" r:id="rId42"/>
    <p:sldId id="374" r:id="rId43"/>
    <p:sldId id="375" r:id="rId44"/>
    <p:sldId id="376" r:id="rId45"/>
    <p:sldId id="377" r:id="rId46"/>
    <p:sldId id="378" r:id="rId47"/>
    <p:sldId id="379" r:id="rId48"/>
    <p:sldId id="380" r:id="rId49"/>
    <p:sldId id="381" r:id="rId50"/>
    <p:sldId id="382" r:id="rId51"/>
    <p:sldId id="383" r:id="rId52"/>
    <p:sldId id="407" r:id="rId53"/>
    <p:sldId id="384" r:id="rId54"/>
    <p:sldId id="385" r:id="rId55"/>
    <p:sldId id="386" r:id="rId56"/>
    <p:sldId id="387" r:id="rId57"/>
    <p:sldId id="388" r:id="rId58"/>
    <p:sldId id="389" r:id="rId59"/>
    <p:sldId id="390" r:id="rId60"/>
    <p:sldId id="391" r:id="rId61"/>
    <p:sldId id="392" r:id="rId62"/>
    <p:sldId id="398" r:id="rId63"/>
    <p:sldId id="399" r:id="rId64"/>
    <p:sldId id="400" r:id="rId65"/>
    <p:sldId id="401" r:id="rId66"/>
    <p:sldId id="402" r:id="rId67"/>
    <p:sldId id="405" r:id="rId68"/>
    <p:sldId id="494" r:id="rId69"/>
    <p:sldId id="409" r:id="rId70"/>
    <p:sldId id="485" r:id="rId71"/>
    <p:sldId id="418" r:id="rId72"/>
    <p:sldId id="419" r:id="rId73"/>
    <p:sldId id="420" r:id="rId74"/>
    <p:sldId id="421" r:id="rId75"/>
    <p:sldId id="422" r:id="rId76"/>
    <p:sldId id="423" r:id="rId77"/>
    <p:sldId id="424" r:id="rId78"/>
    <p:sldId id="425" r:id="rId79"/>
    <p:sldId id="320" r:id="rId80"/>
  </p:sldIdLst>
  <p:sldSz cx="9906000" cy="6858000" type="A4"/>
  <p:notesSz cx="6858000" cy="9144000"/>
  <p:embeddedFontLst>
    <p:embeddedFont>
      <p:font typeface="돋움" panose="020B0600000101010101" pitchFamily="34" charset="-127"/>
      <p:regular r:id="rId82"/>
    </p:embeddedFont>
    <p:embeddedFont>
      <p:font typeface="맑은 고딕" panose="020B0503020000020004" pitchFamily="34" charset="-127"/>
      <p:regular r:id="rId83"/>
      <p:bold r:id="rId84"/>
    </p:embeddedFont>
    <p:embeddedFont>
      <p:font typeface="나눔고딕" panose="020D0604000000000000" pitchFamily="34" charset="-127"/>
      <p:regular r:id="rId85"/>
      <p:bold r:id="rId86"/>
    </p:embeddedFont>
    <p:embeddedFont>
      <p:font typeface="Calibri" panose="020F0502020204030204" pitchFamily="34" charset="0"/>
      <p:regular r:id="rId87"/>
      <p:bold r:id="rId88"/>
      <p:italic r:id="rId89"/>
      <p:boldItalic r:id="rId90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69696"/>
    <a:srgbClr val="339933"/>
    <a:srgbClr val="CC00FF"/>
    <a:srgbClr val="FF9900"/>
    <a:srgbClr val="FFFFCC"/>
    <a:srgbClr val="CCFF33"/>
    <a:srgbClr val="CCCC00"/>
    <a:srgbClr val="D8EBB3"/>
    <a:srgbClr val="FFFF99"/>
    <a:srgbClr val="C0504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920" autoAdjust="0"/>
    <p:restoredTop sz="96327"/>
  </p:normalViewPr>
  <p:slideViewPr>
    <p:cSldViewPr>
      <p:cViewPr varScale="1">
        <p:scale>
          <a:sx n="152" d="100"/>
          <a:sy n="152" d="100"/>
        </p:scale>
        <p:origin x="2008" y="192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2485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84" Type="http://schemas.openxmlformats.org/officeDocument/2006/relationships/font" Target="fonts/font3.fntdata"/><Relationship Id="rId89" Type="http://schemas.openxmlformats.org/officeDocument/2006/relationships/font" Target="fonts/font8.fntdata"/><Relationship Id="rId16" Type="http://schemas.openxmlformats.org/officeDocument/2006/relationships/slide" Target="slides/slide14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slide" Target="slides/slide72.xml"/><Relationship Id="rId79" Type="http://schemas.openxmlformats.org/officeDocument/2006/relationships/slide" Target="slides/slide77.xml"/><Relationship Id="rId5" Type="http://schemas.openxmlformats.org/officeDocument/2006/relationships/slide" Target="slides/slide3.xml"/><Relationship Id="rId90" Type="http://schemas.openxmlformats.org/officeDocument/2006/relationships/font" Target="fonts/font9.fntdata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80" Type="http://schemas.openxmlformats.org/officeDocument/2006/relationships/slide" Target="slides/slide78.xml"/><Relationship Id="rId85" Type="http://schemas.openxmlformats.org/officeDocument/2006/relationships/font" Target="fonts/font4.fntdata"/><Relationship Id="rId93" Type="http://schemas.openxmlformats.org/officeDocument/2006/relationships/theme" Target="theme/theme1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83" Type="http://schemas.openxmlformats.org/officeDocument/2006/relationships/font" Target="fonts/font2.fntdata"/><Relationship Id="rId88" Type="http://schemas.openxmlformats.org/officeDocument/2006/relationships/font" Target="fonts/font7.fntdata"/><Relationship Id="rId9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81" Type="http://schemas.openxmlformats.org/officeDocument/2006/relationships/notesMaster" Target="notesMasters/notesMaster1.xml"/><Relationship Id="rId86" Type="http://schemas.openxmlformats.org/officeDocument/2006/relationships/font" Target="fonts/font5.fntdata"/><Relationship Id="rId94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9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Relationship Id="rId87" Type="http://schemas.openxmlformats.org/officeDocument/2006/relationships/font" Target="fonts/font6.fntdata"/><Relationship Id="rId61" Type="http://schemas.openxmlformats.org/officeDocument/2006/relationships/slide" Target="slides/slide59.xml"/><Relationship Id="rId82" Type="http://schemas.openxmlformats.org/officeDocument/2006/relationships/font" Target="fonts/font1.fntdata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56" Type="http://schemas.openxmlformats.org/officeDocument/2006/relationships/slide" Target="slides/slide54.xml"/><Relationship Id="rId77" Type="http://schemas.openxmlformats.org/officeDocument/2006/relationships/slide" Target="slides/slide7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193C827-F0CC-4967-A67D-FA912163BAFF}" type="datetimeFigureOut">
              <a:rPr lang="ko-KR" altLang="en-US" smtClean="0"/>
              <a:t>2023. 6. 8.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52500" y="685800"/>
            <a:ext cx="4953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833868-C6EB-4F8C-81B9-BF4CED3A81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15468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ore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833868-C6EB-4F8C-81B9-BF4CED3A8109}" type="slidenum">
              <a:rPr lang="ko-KR" altLang="en-US" smtClean="0"/>
              <a:t>67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19777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42950" y="2130426"/>
            <a:ext cx="8420100" cy="1470025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95300" y="6356351"/>
            <a:ext cx="2311400" cy="365125"/>
          </a:xfrm>
          <a:prstGeom prst="rect">
            <a:avLst/>
          </a:prstGeom>
        </p:spPr>
        <p:txBody>
          <a:bodyPr/>
          <a:lstStyle/>
          <a:p>
            <a:fld id="{556F8144-B028-4A3E-A163-ED1E6E1CD8BB}" type="datetimeFigureOut">
              <a:rPr lang="ko-KR" altLang="en-US" smtClean="0"/>
              <a:t>2023. 6. 8.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384550" y="6356351"/>
            <a:ext cx="31369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7099300" y="6356351"/>
            <a:ext cx="2311400" cy="365125"/>
          </a:xfrm>
          <a:prstGeom prst="rect">
            <a:avLst/>
          </a:prstGeom>
        </p:spPr>
        <p:txBody>
          <a:bodyPr/>
          <a:lstStyle/>
          <a:p>
            <a:fld id="{E53235F0-814E-4B72-9EA0-1B977A2BE02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27286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95300" y="1600201"/>
            <a:ext cx="89154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95300" y="6356351"/>
            <a:ext cx="2311400" cy="365125"/>
          </a:xfrm>
          <a:prstGeom prst="rect">
            <a:avLst/>
          </a:prstGeom>
        </p:spPr>
        <p:txBody>
          <a:bodyPr/>
          <a:lstStyle/>
          <a:p>
            <a:fld id="{556F8144-B028-4A3E-A163-ED1E6E1CD8BB}" type="datetimeFigureOut">
              <a:rPr lang="ko-KR" altLang="en-US" smtClean="0"/>
              <a:t>2023. 6. 8.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384550" y="6356351"/>
            <a:ext cx="31369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7099300" y="6356351"/>
            <a:ext cx="2311400" cy="365125"/>
          </a:xfrm>
          <a:prstGeom prst="rect">
            <a:avLst/>
          </a:prstGeom>
        </p:spPr>
        <p:txBody>
          <a:bodyPr/>
          <a:lstStyle/>
          <a:p>
            <a:fld id="{E53235F0-814E-4B72-9EA0-1B977A2BE02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13439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42950" y="2130426"/>
            <a:ext cx="8420100" cy="1470025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95300" y="6356351"/>
            <a:ext cx="2311400" cy="365125"/>
          </a:xfrm>
          <a:prstGeom prst="rect">
            <a:avLst/>
          </a:prstGeom>
        </p:spPr>
        <p:txBody>
          <a:bodyPr/>
          <a:lstStyle/>
          <a:p>
            <a:fld id="{556F8144-B028-4A3E-A163-ED1E6E1CD8BB}" type="datetimeFigureOut">
              <a:rPr lang="ko-KR" altLang="en-US" smtClean="0"/>
              <a:t>2023. 6. 8.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384550" y="6356351"/>
            <a:ext cx="31369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7099300" y="6356351"/>
            <a:ext cx="2311400" cy="365125"/>
          </a:xfrm>
          <a:prstGeom prst="rect">
            <a:avLst/>
          </a:prstGeom>
        </p:spPr>
        <p:txBody>
          <a:bodyPr/>
          <a:lstStyle/>
          <a:p>
            <a:fld id="{E53235F0-814E-4B72-9EA0-1B977A2BE02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62501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95300" y="1600201"/>
            <a:ext cx="89154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95300" y="6356351"/>
            <a:ext cx="2311400" cy="365125"/>
          </a:xfrm>
          <a:prstGeom prst="rect">
            <a:avLst/>
          </a:prstGeom>
        </p:spPr>
        <p:txBody>
          <a:bodyPr/>
          <a:lstStyle/>
          <a:p>
            <a:fld id="{556F8144-B028-4A3E-A163-ED1E6E1CD8BB}" type="datetimeFigureOut">
              <a:rPr lang="ko-KR" altLang="en-US" smtClean="0"/>
              <a:t>2023. 6. 8.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384550" y="6356351"/>
            <a:ext cx="31369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7099300" y="6356351"/>
            <a:ext cx="2311400" cy="365125"/>
          </a:xfrm>
          <a:prstGeom prst="rect">
            <a:avLst/>
          </a:prstGeom>
        </p:spPr>
        <p:txBody>
          <a:bodyPr/>
          <a:lstStyle/>
          <a:p>
            <a:fld id="{E53235F0-814E-4B72-9EA0-1B977A2BE02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20435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직선 연결선 8"/>
          <p:cNvCxnSpPr/>
          <p:nvPr userDrawn="1"/>
        </p:nvCxnSpPr>
        <p:spPr>
          <a:xfrm>
            <a:off x="128464" y="548680"/>
            <a:ext cx="9649072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9"/>
          <p:cNvCxnSpPr/>
          <p:nvPr userDrawn="1"/>
        </p:nvCxnSpPr>
        <p:spPr>
          <a:xfrm flipH="1">
            <a:off x="9545960" y="6497959"/>
            <a:ext cx="180020" cy="180021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슬라이드 번호 개체 틀 5"/>
          <p:cNvSpPr txBox="1">
            <a:spLocks/>
          </p:cNvSpPr>
          <p:nvPr userDrawn="1"/>
        </p:nvSpPr>
        <p:spPr>
          <a:xfrm>
            <a:off x="9345488" y="6492875"/>
            <a:ext cx="560512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fld id="{DE646476-DD34-43C7-B50F-C3B1E36E6C6F}" type="slidenum">
              <a:rPr kumimoji="0" lang="ko-KR" altLang="en-US" sz="800" smtClean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pPr algn="r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kumimoji="0" lang="ko-KR" altLang="en-US" sz="800" dirty="0">
              <a:solidFill>
                <a:prstClr val="black">
                  <a:lumMod val="75000"/>
                  <a:lumOff val="2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088764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658680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13" Type="http://schemas.openxmlformats.org/officeDocument/2006/relationships/oleObject" Target="../embeddings/oleObject9.bin"/><Relationship Id="rId3" Type="http://schemas.openxmlformats.org/officeDocument/2006/relationships/image" Target="../media/image16.emf"/><Relationship Id="rId7" Type="http://schemas.openxmlformats.org/officeDocument/2006/relationships/image" Target="../media/image18.emf"/><Relationship Id="rId12" Type="http://schemas.openxmlformats.org/officeDocument/2006/relationships/oleObject" Target="../embeddings/oleObject8.bin"/><Relationship Id="rId17" Type="http://schemas.openxmlformats.org/officeDocument/2006/relationships/oleObject" Target="../embeddings/oleObject13.bin"/><Relationship Id="rId2" Type="http://schemas.openxmlformats.org/officeDocument/2006/relationships/oleObject" Target="../embeddings/oleObject1.bin"/><Relationship Id="rId16" Type="http://schemas.openxmlformats.org/officeDocument/2006/relationships/oleObject" Target="../embeddings/oleObject12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.bin"/><Relationship Id="rId11" Type="http://schemas.openxmlformats.org/officeDocument/2006/relationships/oleObject" Target="../embeddings/oleObject7.bin"/><Relationship Id="rId5" Type="http://schemas.openxmlformats.org/officeDocument/2006/relationships/image" Target="../media/image17.emf"/><Relationship Id="rId15" Type="http://schemas.openxmlformats.org/officeDocument/2006/relationships/oleObject" Target="../embeddings/oleObject11.bin"/><Relationship Id="rId10" Type="http://schemas.openxmlformats.org/officeDocument/2006/relationships/oleObject" Target="../embeddings/oleObject6.bin"/><Relationship Id="rId4" Type="http://schemas.openxmlformats.org/officeDocument/2006/relationships/oleObject" Target="../embeddings/oleObject2.bin"/><Relationship Id="rId9" Type="http://schemas.openxmlformats.org/officeDocument/2006/relationships/oleObject" Target="../embeddings/oleObject5.bin"/><Relationship Id="rId14" Type="http://schemas.openxmlformats.org/officeDocument/2006/relationships/oleObject" Target="../embeddings/oleObject10.bin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8.bin"/><Relationship Id="rId3" Type="http://schemas.openxmlformats.org/officeDocument/2006/relationships/image" Target="../media/image16.emf"/><Relationship Id="rId7" Type="http://schemas.openxmlformats.org/officeDocument/2006/relationships/oleObject" Target="../embeddings/oleObject17.bin"/><Relationship Id="rId2" Type="http://schemas.openxmlformats.org/officeDocument/2006/relationships/oleObject" Target="../embeddings/oleObject14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6.bin"/><Relationship Id="rId5" Type="http://schemas.openxmlformats.org/officeDocument/2006/relationships/image" Target="../media/image18.emf"/><Relationship Id="rId4" Type="http://schemas.openxmlformats.org/officeDocument/2006/relationships/oleObject" Target="../embeddings/oleObject15.bin"/><Relationship Id="rId9" Type="http://schemas.openxmlformats.org/officeDocument/2006/relationships/oleObject" Target="../embeddings/oleObject19.bin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4.bin"/><Relationship Id="rId13" Type="http://schemas.openxmlformats.org/officeDocument/2006/relationships/oleObject" Target="../embeddings/oleObject29.bin"/><Relationship Id="rId3" Type="http://schemas.openxmlformats.org/officeDocument/2006/relationships/image" Target="../media/image16.emf"/><Relationship Id="rId7" Type="http://schemas.openxmlformats.org/officeDocument/2006/relationships/oleObject" Target="../embeddings/oleObject23.bin"/><Relationship Id="rId12" Type="http://schemas.openxmlformats.org/officeDocument/2006/relationships/oleObject" Target="../embeddings/oleObject28.bin"/><Relationship Id="rId17" Type="http://schemas.openxmlformats.org/officeDocument/2006/relationships/oleObject" Target="../embeddings/oleObject33.bin"/><Relationship Id="rId2" Type="http://schemas.openxmlformats.org/officeDocument/2006/relationships/oleObject" Target="../embeddings/oleObject20.bin"/><Relationship Id="rId16" Type="http://schemas.openxmlformats.org/officeDocument/2006/relationships/oleObject" Target="../embeddings/oleObject32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2.bin"/><Relationship Id="rId11" Type="http://schemas.openxmlformats.org/officeDocument/2006/relationships/oleObject" Target="../embeddings/oleObject27.bin"/><Relationship Id="rId5" Type="http://schemas.openxmlformats.org/officeDocument/2006/relationships/image" Target="../media/image18.emf"/><Relationship Id="rId15" Type="http://schemas.openxmlformats.org/officeDocument/2006/relationships/oleObject" Target="../embeddings/oleObject31.bin"/><Relationship Id="rId10" Type="http://schemas.openxmlformats.org/officeDocument/2006/relationships/oleObject" Target="../embeddings/oleObject26.bin"/><Relationship Id="rId4" Type="http://schemas.openxmlformats.org/officeDocument/2006/relationships/oleObject" Target="../embeddings/oleObject21.bin"/><Relationship Id="rId9" Type="http://schemas.openxmlformats.org/officeDocument/2006/relationships/oleObject" Target="../embeddings/oleObject25.bin"/><Relationship Id="rId14" Type="http://schemas.openxmlformats.org/officeDocument/2006/relationships/oleObject" Target="../embeddings/oleObject30.bin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2" Type="http://schemas.openxmlformats.org/officeDocument/2006/relationships/image" Target="../media/image23.emf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emf"/><Relationship Id="rId5" Type="http://schemas.openxmlformats.org/officeDocument/2006/relationships/image" Target="../media/image27.emf"/><Relationship Id="rId4" Type="http://schemas.openxmlformats.org/officeDocument/2006/relationships/image" Target="../media/image26.png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emf"/><Relationship Id="rId2" Type="http://schemas.openxmlformats.org/officeDocument/2006/relationships/oleObject" Target="../embeddings/oleObject34.bin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3"/>
          <p:cNvSpPr>
            <a:spLocks noGrp="1"/>
          </p:cNvSpPr>
          <p:nvPr/>
        </p:nvSpPr>
        <p:spPr>
          <a:xfrm>
            <a:off x="957496" y="1776223"/>
            <a:ext cx="7019841" cy="561988"/>
          </a:xfrm>
          <a:prstGeom prst="rect">
            <a:avLst/>
          </a:prstGeom>
          <a:noFill/>
        </p:spPr>
        <p:txBody>
          <a:bodyPr vert="horz" wrap="square" lIns="107287" tIns="53643" rIns="107287" bIns="53643" numCol="1" anchor="ctr" anchorCtr="0" compatLnSpc="1">
            <a:prstTxWarp prst="textNoShape">
              <a:avLst/>
            </a:prstTxWarp>
          </a:bodyPr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lang="ko-KR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산돌고딕 M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4572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9144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13716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18288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>
              <a:defRPr/>
            </a:pPr>
            <a:r>
              <a:rPr lang="en" altLang="ko-KR" sz="140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XXX</a:t>
            </a:r>
            <a:r>
              <a:rPr lang="ko-KR" altLang="en-US" sz="140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서비스 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온라인 채널 컨설팅</a:t>
            </a:r>
            <a:endParaRPr lang="en-US" altLang="ko-KR" sz="1400" dirty="0">
              <a:solidFill>
                <a:schemeClr val="bg1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20553" y="2185282"/>
            <a:ext cx="7056784" cy="600776"/>
          </a:xfrm>
          <a:prstGeom prst="rect">
            <a:avLst/>
          </a:prstGeom>
          <a:noFill/>
        </p:spPr>
        <p:txBody>
          <a:bodyPr wrap="square" lIns="107287" tIns="53643" rIns="107287" bIns="53643" rtlCol="0">
            <a:spAutoFit/>
          </a:bodyPr>
          <a:lstStyle/>
          <a:p>
            <a:r>
              <a:rPr kumimoji="1" lang="ko-KR" altLang="en-US" sz="3200" b="1" kern="0" dirty="0">
                <a:latin typeface="나눔고딕" panose="020D0604000000000000" pitchFamily="50" charset="-127"/>
                <a:ea typeface="나눔고딕" panose="020D0604000000000000" pitchFamily="50" charset="-127"/>
                <a:cs typeface="산돌고딕 M"/>
              </a:rPr>
              <a:t>온라인 채널 </a:t>
            </a:r>
            <a:r>
              <a:rPr kumimoji="1" lang="en-US" altLang="ko-KR" sz="3200" b="1" kern="0" dirty="0">
                <a:latin typeface="나눔고딕" panose="020D0604000000000000" pitchFamily="50" charset="-127"/>
                <a:ea typeface="나눔고딕" panose="020D0604000000000000" pitchFamily="50" charset="-127"/>
                <a:cs typeface="산돌고딕 M"/>
              </a:rPr>
              <a:t>User Interface </a:t>
            </a:r>
            <a:r>
              <a:rPr kumimoji="1" lang="ko-KR" altLang="en-US" sz="3200" b="1" kern="0" dirty="0">
                <a:latin typeface="나눔고딕" panose="020D0604000000000000" pitchFamily="50" charset="-127"/>
                <a:ea typeface="나눔고딕" panose="020D0604000000000000" pitchFamily="50" charset="-127"/>
                <a:cs typeface="산돌고딕 M"/>
              </a:rPr>
              <a:t>기획</a:t>
            </a:r>
          </a:p>
        </p:txBody>
      </p:sp>
    </p:spTree>
    <p:extLst>
      <p:ext uri="{BB962C8B-B14F-4D97-AF65-F5344CB8AC3E}">
        <p14:creationId xmlns:p14="http://schemas.microsoft.com/office/powerpoint/2010/main" val="33823872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13"/>
          <p:cNvSpPr/>
          <p:nvPr/>
        </p:nvSpPr>
        <p:spPr>
          <a:xfrm>
            <a:off x="2288704" y="1969790"/>
            <a:ext cx="3600400" cy="36004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/>
          <p:cNvSpPr/>
          <p:nvPr/>
        </p:nvSpPr>
        <p:spPr>
          <a:xfrm>
            <a:off x="0" y="620688"/>
            <a:ext cx="4232920" cy="86409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479425" y="784373"/>
            <a:ext cx="2661604" cy="6177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chemeClr val="tx1"/>
                </a:solidFill>
                <a:miter lim="800000"/>
                <a:headEnd/>
                <a:tailEnd type="none" w="med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r>
              <a:rPr lang="en-US" altLang="ko-KR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User Experience Modeling</a:t>
            </a:r>
            <a:br>
              <a:rPr lang="en-US" altLang="ko-KR" b="1" dirty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Table of Contents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2432720" y="1988840"/>
            <a:ext cx="2587568" cy="35932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Approach</a:t>
            </a:r>
          </a:p>
          <a:p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en-US" altLang="ko-KR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User Experience modeling</a:t>
            </a:r>
          </a:p>
          <a:p>
            <a:r>
              <a:rPr lang="en-US" altLang="ko-KR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    Abstract Key Question</a:t>
            </a:r>
          </a:p>
          <a:p>
            <a:r>
              <a:rPr lang="ko-KR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    고객분석</a:t>
            </a:r>
          </a:p>
          <a:p>
            <a:r>
              <a:rPr lang="en-US" altLang="ko-KR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    Mega Trend</a:t>
            </a:r>
          </a:p>
          <a:p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en-US" altLang="ko-KR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Information architecture</a:t>
            </a:r>
          </a:p>
          <a:p>
            <a:r>
              <a:rPr lang="en-US" altLang="ko-KR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    Approach</a:t>
            </a:r>
          </a:p>
          <a:p>
            <a:r>
              <a:rPr lang="ko-KR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    고객 </a:t>
            </a:r>
            <a:r>
              <a:rPr lang="en-US" altLang="ko-KR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Need </a:t>
            </a:r>
            <a:r>
              <a:rPr lang="ko-KR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분석</a:t>
            </a:r>
          </a:p>
          <a:p>
            <a:r>
              <a:rPr lang="en-US" altLang="ko-KR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    Case Study</a:t>
            </a:r>
          </a:p>
          <a:p>
            <a:r>
              <a:rPr lang="en-US" altLang="ko-KR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    Service Grouping</a:t>
            </a:r>
          </a:p>
          <a:p>
            <a:r>
              <a:rPr lang="en-US" altLang="ko-KR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    Information Architecture Mapping</a:t>
            </a:r>
          </a:p>
          <a:p>
            <a:r>
              <a:rPr lang="ko-KR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    사이트 유형별 분류</a:t>
            </a:r>
          </a:p>
          <a:p>
            <a:r>
              <a:rPr lang="ko-KR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    페이지 타입 정의</a:t>
            </a:r>
          </a:p>
          <a:p>
            <a:r>
              <a:rPr lang="ko-KR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    핵심 특성 및 혜택</a:t>
            </a:r>
          </a:p>
          <a:p>
            <a:r>
              <a:rPr lang="en-US" altLang="ko-KR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    Service Framework</a:t>
            </a:r>
          </a:p>
          <a:p>
            <a:r>
              <a:rPr lang="ko-KR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    사업 서비스 수직 다각화</a:t>
            </a:r>
          </a:p>
          <a:p>
            <a:r>
              <a:rPr lang="ko-KR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    미래 사업으로의 서비스 수평 다각화</a:t>
            </a:r>
          </a:p>
          <a:p>
            <a:r>
              <a:rPr lang="ko-KR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    </a:t>
            </a:r>
            <a:r>
              <a:rPr lang="en-US" altLang="ko-KR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Device </a:t>
            </a:r>
            <a:r>
              <a:rPr lang="ko-KR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기반 모바일 서비스 </a:t>
            </a:r>
            <a:r>
              <a:rPr lang="en-US" altLang="ko-KR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Pool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04661" y="1988840"/>
            <a:ext cx="2900153" cy="41319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User Interface Design</a:t>
            </a:r>
          </a:p>
          <a:p>
            <a:r>
              <a:rPr lang="en-US" altLang="ko-KR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    Approach</a:t>
            </a:r>
          </a:p>
          <a:p>
            <a:r>
              <a:rPr lang="en-US" altLang="ko-KR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        Approach – framework (</a:t>
            </a:r>
            <a:r>
              <a:rPr lang="ko-KR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정의</a:t>
            </a:r>
            <a:r>
              <a:rPr lang="en-US" altLang="ko-KR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  <a:p>
            <a:r>
              <a:rPr lang="en-US" altLang="ko-KR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        Approach – framework (</a:t>
            </a:r>
            <a:r>
              <a:rPr lang="ko-KR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정보분석</a:t>
            </a:r>
            <a:r>
              <a:rPr lang="en-US" altLang="ko-KR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  <a:p>
            <a:r>
              <a:rPr lang="en-US" altLang="ko-KR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        Approach – framework (</a:t>
            </a:r>
            <a:r>
              <a:rPr lang="ko-KR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분석</a:t>
            </a:r>
            <a:r>
              <a:rPr lang="en-US" altLang="ko-KR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판단</a:t>
            </a:r>
            <a:r>
              <a:rPr lang="en-US" altLang="ko-KR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  <a:p>
            <a:r>
              <a:rPr lang="en-US" altLang="ko-KR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        Approach – framework (</a:t>
            </a:r>
            <a:r>
              <a:rPr lang="ko-KR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세부기획</a:t>
            </a:r>
            <a:r>
              <a:rPr lang="en-US" altLang="ko-KR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  <a:p>
            <a:r>
              <a:rPr lang="en-US" altLang="ko-KR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        Approach – framework (</a:t>
            </a:r>
            <a:r>
              <a:rPr lang="ko-KR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확인단계</a:t>
            </a:r>
            <a:r>
              <a:rPr lang="en-US" altLang="ko-KR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  <a:p>
            <a:r>
              <a:rPr lang="en-US" altLang="ko-KR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    U.I / U.X Design Process</a:t>
            </a:r>
          </a:p>
          <a:p>
            <a:r>
              <a:rPr lang="en-US" altLang="ko-KR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        Dynamic modeling</a:t>
            </a:r>
          </a:p>
          <a:p>
            <a:r>
              <a:rPr lang="en-US" altLang="ko-KR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    U.I / U.X Design Case</a:t>
            </a:r>
          </a:p>
          <a:p>
            <a:r>
              <a:rPr lang="en-US" altLang="ko-KR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    Case Study</a:t>
            </a:r>
          </a:p>
          <a:p>
            <a:r>
              <a:rPr lang="en-US" altLang="ko-KR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    Navigation System</a:t>
            </a:r>
          </a:p>
          <a:p>
            <a:r>
              <a:rPr lang="en-US" altLang="ko-KR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    </a:t>
            </a:r>
          </a:p>
          <a:p>
            <a:r>
              <a:rPr lang="en-US" altLang="ko-KR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    Mobile Web page</a:t>
            </a:r>
          </a:p>
          <a:p>
            <a:r>
              <a:rPr lang="en-US" altLang="ko-KR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    One source Multi Device (N-Screen)</a:t>
            </a:r>
          </a:p>
          <a:p>
            <a:r>
              <a:rPr lang="en-US" altLang="ko-KR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    Layer System</a:t>
            </a:r>
          </a:p>
          <a:p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en-US" altLang="ko-KR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Multi channel integration</a:t>
            </a:r>
          </a:p>
          <a:p>
            <a:r>
              <a:rPr lang="en-US" altLang="ko-KR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    Approach</a:t>
            </a:r>
          </a:p>
          <a:p>
            <a:r>
              <a:rPr lang="en-US" altLang="ko-KR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    Customer Scenario Modeling</a:t>
            </a:r>
          </a:p>
          <a:p>
            <a:r>
              <a:rPr lang="en-US" altLang="ko-KR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    Customer’s Need</a:t>
            </a:r>
          </a:p>
          <a:p>
            <a:r>
              <a:rPr lang="en-US" altLang="ko-KR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    Multi Channel Strategy (</a:t>
            </a:r>
            <a:r>
              <a:rPr lang="ko-KR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멀티채널의 구성</a:t>
            </a:r>
            <a:r>
              <a:rPr lang="en-US" altLang="ko-KR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  <a:p>
            <a:r>
              <a:rPr lang="ko-KR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    </a:t>
            </a:r>
            <a:r>
              <a:rPr lang="en-US" altLang="ko-KR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Integration (</a:t>
            </a:r>
            <a:r>
              <a:rPr lang="ko-KR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통합 서비스의 제공</a:t>
            </a:r>
            <a:r>
              <a:rPr lang="en-US" altLang="ko-KR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  <a:p>
            <a:r>
              <a:rPr lang="ko-KR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    </a:t>
            </a:r>
            <a:r>
              <a:rPr lang="en-US" altLang="ko-KR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Separation (</a:t>
            </a:r>
            <a:r>
              <a:rPr lang="ko-KR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각 </a:t>
            </a:r>
            <a:r>
              <a:rPr lang="ko-KR" altLang="en-US" sz="105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채널별</a:t>
            </a:r>
            <a:r>
              <a:rPr lang="ko-KR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서비스 분리</a:t>
            </a:r>
            <a:r>
              <a:rPr lang="en-US" altLang="ko-KR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893838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AutoShape 4"/>
          <p:cNvSpPr>
            <a:spLocks noChangeArrowheads="1"/>
          </p:cNvSpPr>
          <p:nvPr/>
        </p:nvSpPr>
        <p:spPr bwMode="auto">
          <a:xfrm rot="16200000">
            <a:off x="-109882" y="3462290"/>
            <a:ext cx="2148004" cy="1095247"/>
          </a:xfrm>
          <a:prstGeom prst="rightArrow">
            <a:avLst>
              <a:gd name="adj1" fmla="val 70519"/>
              <a:gd name="adj2" fmla="val 64457"/>
            </a:avLst>
          </a:prstGeom>
          <a:gradFill rotWithShape="0">
            <a:gsLst>
              <a:gs pos="0">
                <a:srgbClr val="C0C0C0"/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63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noAutofit/>
          </a:bodyPr>
          <a:lstStyle/>
          <a:p>
            <a:endParaRPr lang="ko-KR" altLang="en-US" sz="200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9" name="AutoShape 5"/>
          <p:cNvSpPr>
            <a:spLocks noChangeArrowheads="1"/>
          </p:cNvSpPr>
          <p:nvPr/>
        </p:nvSpPr>
        <p:spPr bwMode="auto">
          <a:xfrm rot="16200000">
            <a:off x="1112720" y="3462290"/>
            <a:ext cx="2148004" cy="1095247"/>
          </a:xfrm>
          <a:prstGeom prst="rightArrow">
            <a:avLst>
              <a:gd name="adj1" fmla="val 70519"/>
              <a:gd name="adj2" fmla="val 64457"/>
            </a:avLst>
          </a:prstGeom>
          <a:gradFill rotWithShape="0">
            <a:gsLst>
              <a:gs pos="0">
                <a:srgbClr val="C0C0C0"/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63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noAutofit/>
          </a:bodyPr>
          <a:lstStyle/>
          <a:p>
            <a:endParaRPr lang="ko-KR" altLang="en-US" sz="200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0" name="AutoShape 6"/>
          <p:cNvSpPr>
            <a:spLocks noChangeArrowheads="1"/>
          </p:cNvSpPr>
          <p:nvPr/>
        </p:nvSpPr>
        <p:spPr bwMode="auto">
          <a:xfrm rot="16200000">
            <a:off x="2292870" y="3462290"/>
            <a:ext cx="2148004" cy="1095247"/>
          </a:xfrm>
          <a:prstGeom prst="rightArrow">
            <a:avLst>
              <a:gd name="adj1" fmla="val 70519"/>
              <a:gd name="adj2" fmla="val 64457"/>
            </a:avLst>
          </a:prstGeom>
          <a:gradFill rotWithShape="0">
            <a:gsLst>
              <a:gs pos="0">
                <a:srgbClr val="C0C0C0"/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63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noAutofit/>
          </a:bodyPr>
          <a:lstStyle/>
          <a:p>
            <a:endParaRPr lang="ko-KR" altLang="en-US" sz="200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1" name="AutoShape 7"/>
          <p:cNvSpPr>
            <a:spLocks noChangeArrowheads="1"/>
          </p:cNvSpPr>
          <p:nvPr/>
        </p:nvSpPr>
        <p:spPr bwMode="auto">
          <a:xfrm rot="16200000">
            <a:off x="3471960" y="3461228"/>
            <a:ext cx="2148004" cy="1097370"/>
          </a:xfrm>
          <a:prstGeom prst="rightArrow">
            <a:avLst>
              <a:gd name="adj1" fmla="val 70519"/>
              <a:gd name="adj2" fmla="val 64332"/>
            </a:avLst>
          </a:prstGeom>
          <a:gradFill rotWithShape="0">
            <a:gsLst>
              <a:gs pos="0">
                <a:srgbClr val="C0C0C0"/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63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noAutofit/>
          </a:bodyPr>
          <a:lstStyle/>
          <a:p>
            <a:endParaRPr lang="ko-KR" altLang="en-US" sz="200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8" name="Text Box 14"/>
          <p:cNvSpPr txBox="1">
            <a:spLocks noChangeArrowheads="1"/>
          </p:cNvSpPr>
          <p:nvPr/>
        </p:nvSpPr>
        <p:spPr bwMode="auto">
          <a:xfrm rot="16200000">
            <a:off x="-24640" y="3911264"/>
            <a:ext cx="1964787" cy="2801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noAutofit/>
          </a:bodyPr>
          <a:lstStyle/>
          <a:p>
            <a:pPr algn="ctr">
              <a:lnSpc>
                <a:spcPct val="70000"/>
              </a:lnSpc>
            </a:pPr>
            <a:r>
              <a:rPr lang="en-US" altLang="ko-KR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Information architecture</a:t>
            </a:r>
          </a:p>
        </p:txBody>
      </p:sp>
      <p:sp>
        <p:nvSpPr>
          <p:cNvPr id="69" name="Text Box 15"/>
          <p:cNvSpPr txBox="1">
            <a:spLocks noChangeArrowheads="1"/>
          </p:cNvSpPr>
          <p:nvPr/>
        </p:nvSpPr>
        <p:spPr bwMode="auto">
          <a:xfrm rot="16200000">
            <a:off x="1316147" y="3882066"/>
            <a:ext cx="1762376" cy="2801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noAutofit/>
          </a:bodyPr>
          <a:lstStyle/>
          <a:p>
            <a:pPr algn="ctr">
              <a:lnSpc>
                <a:spcPct val="70000"/>
              </a:lnSpc>
            </a:pPr>
            <a:r>
              <a:rPr lang="en-US" altLang="ko-KR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User interface design</a:t>
            </a:r>
          </a:p>
        </p:txBody>
      </p:sp>
      <p:sp>
        <p:nvSpPr>
          <p:cNvPr id="70" name="Text Box 16"/>
          <p:cNvSpPr txBox="1">
            <a:spLocks noChangeArrowheads="1"/>
          </p:cNvSpPr>
          <p:nvPr/>
        </p:nvSpPr>
        <p:spPr bwMode="auto">
          <a:xfrm rot="16200000">
            <a:off x="2528252" y="3877704"/>
            <a:ext cx="1753652" cy="2801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noAutofit/>
          </a:bodyPr>
          <a:lstStyle/>
          <a:p>
            <a:pPr algn="ctr">
              <a:lnSpc>
                <a:spcPct val="70000"/>
              </a:lnSpc>
            </a:pPr>
            <a:r>
              <a:rPr lang="en-US" altLang="ko-KR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Multi channel integration</a:t>
            </a:r>
          </a:p>
        </p:txBody>
      </p:sp>
      <p:sp>
        <p:nvSpPr>
          <p:cNvPr id="71" name="Text Box 17"/>
          <p:cNvSpPr txBox="1">
            <a:spLocks noChangeArrowheads="1"/>
          </p:cNvSpPr>
          <p:nvPr/>
        </p:nvSpPr>
        <p:spPr bwMode="auto">
          <a:xfrm rot="16200000">
            <a:off x="3870395" y="3838502"/>
            <a:ext cx="1387216" cy="2801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noAutofit/>
          </a:bodyPr>
          <a:lstStyle/>
          <a:p>
            <a:pPr algn="ctr">
              <a:lnSpc>
                <a:spcPct val="70000"/>
              </a:lnSpc>
            </a:pPr>
            <a:r>
              <a:rPr lang="en-US" altLang="ko-KR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Brand &amp; Identity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4017" y="91339"/>
            <a:ext cx="7401271" cy="385333"/>
          </a:xfrm>
          <a:prstGeom prst="rect">
            <a:avLst/>
          </a:prstGeom>
          <a:noFill/>
        </p:spPr>
        <p:txBody>
          <a:bodyPr wrap="square" lIns="0" tIns="53643" rIns="0" bIns="53643" rtlCol="0">
            <a:spAutoFit/>
          </a:bodyPr>
          <a:lstStyle/>
          <a:p>
            <a:r>
              <a:rPr kumimoji="1" lang="en-US" altLang="ko-KR" b="1" kern="0" dirty="0">
                <a:latin typeface="나눔고딕" panose="020D0604000000000000" pitchFamily="50" charset="-127"/>
                <a:ea typeface="나눔고딕" panose="020D0604000000000000" pitchFamily="50" charset="-127"/>
                <a:cs typeface="산돌고딕 M"/>
              </a:rPr>
              <a:t>Approach</a:t>
            </a:r>
            <a:endParaRPr kumimoji="1" lang="ko-KR" altLang="en-US" b="1" kern="0" dirty="0">
              <a:latin typeface="나눔고딕" panose="020D0604000000000000" pitchFamily="50" charset="-127"/>
              <a:ea typeface="나눔고딕" panose="020D0604000000000000" pitchFamily="50" charset="-127"/>
              <a:cs typeface="산돌고딕 M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44017" y="683985"/>
            <a:ext cx="963351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ko-KR" sz="1400">
                <a:latin typeface="나눔고딕" panose="020D0604000000000000" pitchFamily="50" charset="-127"/>
                <a:ea typeface="나눔고딕" panose="020D0604000000000000" pitchFamily="50" charset="-127"/>
              </a:rPr>
              <a:t>XXX</a:t>
            </a:r>
            <a:r>
              <a:rPr lang="ko-KR" altLang="en-US" sz="1400">
                <a:latin typeface="나눔고딕" panose="020D0604000000000000" pitchFamily="50" charset="-127"/>
                <a:ea typeface="나눔고딕" panose="020D0604000000000000" pitchFamily="50" charset="-127"/>
              </a:rPr>
              <a:t>서비스</a:t>
            </a:r>
            <a:r>
              <a:rPr lang="en-US" altLang="ko-KR" sz="140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온라인 채널은 온라인 </a:t>
            </a:r>
            <a:r>
              <a:rPr lang="ko-KR" altLang="en-US" sz="1400">
                <a:latin typeface="나눔고딕" panose="020D0604000000000000" pitchFamily="50" charset="-127"/>
                <a:ea typeface="나눔고딕" panose="020D0604000000000000" pitchFamily="50" charset="-127"/>
              </a:rPr>
              <a:t>전용 서비스로서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Information service, community &amp; communication service, personalization service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의 사이트 자원을 지니고 있습니다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</a:p>
          <a:p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이러한 사이트 자원을 고객의 기대와 비즈니스 목적으로 유도하는 효과적인 전개 방안이 필요합니다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</a:p>
        </p:txBody>
      </p:sp>
      <p:sp>
        <p:nvSpPr>
          <p:cNvPr id="63" name="Rectangle 9"/>
          <p:cNvSpPr>
            <a:spLocks noChangeArrowheads="1"/>
          </p:cNvSpPr>
          <p:nvPr/>
        </p:nvSpPr>
        <p:spPr bwMode="auto">
          <a:xfrm>
            <a:off x="521193" y="5010628"/>
            <a:ext cx="4573453" cy="265229"/>
          </a:xfrm>
          <a:prstGeom prst="rect">
            <a:avLst/>
          </a:prstGeom>
          <a:gradFill rotWithShape="1">
            <a:gsLst>
              <a:gs pos="0">
                <a:schemeClr val="bg1">
                  <a:lumMod val="65000"/>
                </a:schemeClr>
              </a:gs>
              <a:gs pos="19000">
                <a:schemeClr val="bg1"/>
              </a:gs>
            </a:gsLst>
            <a:lin ang="5400000" scaled="1"/>
          </a:gradFill>
          <a:ln>
            <a:noFill/>
          </a:ln>
          <a:effectLst/>
        </p:spPr>
        <p:txBody>
          <a:bodyPr wrap="none" anchor="ctr">
            <a:noAutofit/>
          </a:bodyPr>
          <a:lstStyle/>
          <a:p>
            <a:endParaRPr lang="ko-KR" altLang="en-US" sz="200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4" name="Rectangle 10"/>
          <p:cNvSpPr>
            <a:spLocks noChangeArrowheads="1"/>
          </p:cNvSpPr>
          <p:nvPr/>
        </p:nvSpPr>
        <p:spPr bwMode="auto">
          <a:xfrm>
            <a:off x="521193" y="2529343"/>
            <a:ext cx="4573453" cy="366435"/>
          </a:xfrm>
          <a:prstGeom prst="rect">
            <a:avLst/>
          </a:prstGeom>
          <a:noFill/>
          <a:ln w="28575">
            <a:solidFill>
              <a:srgbClr val="333333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noAutofit/>
          </a:bodyPr>
          <a:lstStyle/>
          <a:p>
            <a:endParaRPr lang="ko-KR" altLang="en-US" sz="200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5" name="Text Box 11"/>
          <p:cNvSpPr txBox="1">
            <a:spLocks noChangeArrowheads="1"/>
          </p:cNvSpPr>
          <p:nvPr/>
        </p:nvSpPr>
        <p:spPr bwMode="auto">
          <a:xfrm>
            <a:off x="1740897" y="2595650"/>
            <a:ext cx="2179413" cy="2669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altLang="ko-KR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Meet customer expectation</a:t>
            </a:r>
          </a:p>
        </p:txBody>
      </p:sp>
      <p:sp>
        <p:nvSpPr>
          <p:cNvPr id="66" name="AutoShape 12"/>
          <p:cNvSpPr>
            <a:spLocks noChangeArrowheads="1"/>
          </p:cNvSpPr>
          <p:nvPr/>
        </p:nvSpPr>
        <p:spPr bwMode="auto">
          <a:xfrm>
            <a:off x="636358" y="1904659"/>
            <a:ext cx="4343123" cy="554887"/>
          </a:xfrm>
          <a:prstGeom prst="triangle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28575">
            <a:solidFill>
              <a:srgbClr val="333333"/>
            </a:solidFill>
            <a:miter lim="800000"/>
            <a:headEnd/>
            <a:tailEnd/>
          </a:ln>
          <a:effectLst/>
        </p:spPr>
        <p:txBody>
          <a:bodyPr wrap="none" anchor="ctr">
            <a:noAutofit/>
          </a:bodyPr>
          <a:lstStyle/>
          <a:p>
            <a:pPr algn="ctr"/>
            <a:endParaRPr lang="en-US" altLang="ko-KR" sz="1100" b="1" dirty="0">
              <a:solidFill>
                <a:srgbClr val="C0504D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7" name="Text Box 13"/>
          <p:cNvSpPr txBox="1">
            <a:spLocks noChangeArrowheads="1"/>
          </p:cNvSpPr>
          <p:nvPr/>
        </p:nvSpPr>
        <p:spPr bwMode="auto">
          <a:xfrm>
            <a:off x="2217261" y="2026804"/>
            <a:ext cx="1226684" cy="4327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altLang="ko-KR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Achievement </a:t>
            </a:r>
          </a:p>
          <a:p>
            <a:pPr algn="ctr">
              <a:lnSpc>
                <a:spcPct val="90000"/>
              </a:lnSpc>
            </a:pPr>
            <a:r>
              <a:rPr lang="en-US" altLang="ko-KR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business goal</a:t>
            </a:r>
          </a:p>
        </p:txBody>
      </p:sp>
      <p:sp>
        <p:nvSpPr>
          <p:cNvPr id="73" name="Rectangle 19"/>
          <p:cNvSpPr>
            <a:spLocks noChangeArrowheads="1"/>
          </p:cNvSpPr>
          <p:nvPr/>
        </p:nvSpPr>
        <p:spPr bwMode="auto">
          <a:xfrm>
            <a:off x="521193" y="5751409"/>
            <a:ext cx="1484933" cy="629919"/>
          </a:xfrm>
          <a:prstGeom prst="rect">
            <a:avLst/>
          </a:prstGeom>
          <a:solidFill>
            <a:schemeClr val="bg1"/>
          </a:solidFill>
          <a:ln w="19050">
            <a:solidFill>
              <a:srgbClr val="333333"/>
            </a:solidFill>
            <a:miter lim="800000"/>
            <a:headEnd/>
            <a:tailEnd/>
          </a:ln>
          <a:effectLst/>
        </p:spPr>
        <p:txBody>
          <a:bodyPr wrap="none" anchor="ctr">
            <a:noAutofit/>
          </a:bodyPr>
          <a:lstStyle/>
          <a:p>
            <a:pPr algn="ctr"/>
            <a:r>
              <a:rPr lang="en-US" altLang="ko-KR" sz="11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Information </a:t>
            </a:r>
          </a:p>
          <a:p>
            <a:pPr algn="ctr"/>
            <a:r>
              <a:rPr lang="en-US" altLang="ko-KR" sz="11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service</a:t>
            </a:r>
          </a:p>
        </p:txBody>
      </p:sp>
      <p:sp>
        <p:nvSpPr>
          <p:cNvPr id="75" name="Rectangle 21"/>
          <p:cNvSpPr>
            <a:spLocks noChangeArrowheads="1"/>
          </p:cNvSpPr>
          <p:nvPr/>
        </p:nvSpPr>
        <p:spPr bwMode="auto">
          <a:xfrm>
            <a:off x="2063708" y="5751409"/>
            <a:ext cx="1488423" cy="629919"/>
          </a:xfrm>
          <a:prstGeom prst="rect">
            <a:avLst/>
          </a:prstGeom>
          <a:solidFill>
            <a:schemeClr val="bg1"/>
          </a:solidFill>
          <a:ln w="19050">
            <a:solidFill>
              <a:srgbClr val="333333"/>
            </a:solidFill>
            <a:miter lim="800000"/>
            <a:headEnd/>
            <a:tailEnd/>
          </a:ln>
          <a:effectLst/>
        </p:spPr>
        <p:txBody>
          <a:bodyPr wrap="none" anchor="ctr">
            <a:noAutofit/>
          </a:bodyPr>
          <a:lstStyle/>
          <a:p>
            <a:pPr algn="ctr"/>
            <a:r>
              <a:rPr lang="en-US" altLang="ko-KR" sz="11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Communication</a:t>
            </a:r>
          </a:p>
          <a:p>
            <a:pPr algn="ctr"/>
            <a:r>
              <a:rPr lang="en-US" altLang="ko-KR" sz="11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service</a:t>
            </a:r>
          </a:p>
        </p:txBody>
      </p:sp>
      <p:sp>
        <p:nvSpPr>
          <p:cNvPr id="77" name="Rectangle 23"/>
          <p:cNvSpPr>
            <a:spLocks noChangeArrowheads="1"/>
          </p:cNvSpPr>
          <p:nvPr/>
        </p:nvSpPr>
        <p:spPr bwMode="auto">
          <a:xfrm>
            <a:off x="3606223" y="5751409"/>
            <a:ext cx="1488423" cy="629919"/>
          </a:xfrm>
          <a:prstGeom prst="rect">
            <a:avLst/>
          </a:prstGeom>
          <a:solidFill>
            <a:schemeClr val="bg1"/>
          </a:solidFill>
          <a:ln w="19050">
            <a:solidFill>
              <a:srgbClr val="333333"/>
            </a:solidFill>
            <a:miter lim="800000"/>
            <a:headEnd/>
            <a:tailEnd/>
          </a:ln>
          <a:effectLst/>
        </p:spPr>
        <p:txBody>
          <a:bodyPr wrap="none" anchor="ctr">
            <a:noAutofit/>
          </a:bodyPr>
          <a:lstStyle/>
          <a:p>
            <a:pPr algn="ctr"/>
            <a:r>
              <a:rPr lang="en-US" altLang="ko-KR" sz="11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Multi channel</a:t>
            </a:r>
          </a:p>
          <a:p>
            <a:pPr algn="ctr"/>
            <a:r>
              <a:rPr lang="en-US" altLang="ko-KR" sz="11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service</a:t>
            </a:r>
          </a:p>
        </p:txBody>
      </p:sp>
      <p:sp>
        <p:nvSpPr>
          <p:cNvPr id="79" name="Rectangle 25"/>
          <p:cNvSpPr>
            <a:spLocks noChangeArrowheads="1"/>
          </p:cNvSpPr>
          <p:nvPr/>
        </p:nvSpPr>
        <p:spPr bwMode="auto">
          <a:xfrm>
            <a:off x="521193" y="5393233"/>
            <a:ext cx="4573453" cy="265229"/>
          </a:xfrm>
          <a:prstGeom prst="rect">
            <a:avLst/>
          </a:prstGeom>
          <a:solidFill>
            <a:schemeClr val="bg1"/>
          </a:solidFill>
          <a:ln w="19050">
            <a:solidFill>
              <a:srgbClr val="333333"/>
            </a:solidFill>
            <a:miter lim="800000"/>
            <a:headEnd/>
            <a:tailEnd/>
          </a:ln>
          <a:effectLst/>
        </p:spPr>
        <p:txBody>
          <a:bodyPr wrap="none" anchor="ctr">
            <a:noAutofit/>
          </a:bodyPr>
          <a:lstStyle/>
          <a:p>
            <a:pPr algn="ctr"/>
            <a:r>
              <a:rPr lang="en-US" altLang="ko-KR" sz="11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Site assets</a:t>
            </a:r>
          </a:p>
        </p:txBody>
      </p:sp>
      <p:sp>
        <p:nvSpPr>
          <p:cNvPr id="81" name="Text Box 27"/>
          <p:cNvSpPr txBox="1">
            <a:spLocks noChangeArrowheads="1"/>
          </p:cNvSpPr>
          <p:nvPr/>
        </p:nvSpPr>
        <p:spPr bwMode="auto">
          <a:xfrm>
            <a:off x="1589088" y="5085184"/>
            <a:ext cx="2530144" cy="230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noAutofit/>
          </a:bodyPr>
          <a:lstStyle/>
          <a:p>
            <a:pPr algn="ctr">
              <a:lnSpc>
                <a:spcPct val="70000"/>
              </a:lnSpc>
            </a:pPr>
            <a:r>
              <a:rPr lang="en-US" altLang="ko-KR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Customer &amp; (business) analysis</a:t>
            </a:r>
          </a:p>
        </p:txBody>
      </p:sp>
      <p:sp>
        <p:nvSpPr>
          <p:cNvPr id="82" name="AutoShape 28"/>
          <p:cNvSpPr>
            <a:spLocks/>
          </p:cNvSpPr>
          <p:nvPr/>
        </p:nvSpPr>
        <p:spPr bwMode="auto">
          <a:xfrm>
            <a:off x="5358129" y="3010942"/>
            <a:ext cx="83756" cy="2177668"/>
          </a:xfrm>
          <a:prstGeom prst="rightBrace">
            <a:avLst>
              <a:gd name="adj1" fmla="val 216667"/>
              <a:gd name="adj2" fmla="val 50000"/>
            </a:avLst>
          </a:prstGeom>
          <a:noFill/>
          <a:ln w="6350">
            <a:solidFill>
              <a:schemeClr val="tx1"/>
            </a:solidFill>
            <a:round/>
            <a:headEnd/>
            <a:tailEnd type="none" w="med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noAutofit/>
          </a:bodyPr>
          <a:lstStyle/>
          <a:p>
            <a:endParaRPr lang="ko-KR" altLang="en-US" sz="200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3" name="Text Box 29"/>
          <p:cNvSpPr txBox="1">
            <a:spLocks noChangeArrowheads="1"/>
          </p:cNvSpPr>
          <p:nvPr/>
        </p:nvSpPr>
        <p:spPr bwMode="auto">
          <a:xfrm>
            <a:off x="6268832" y="3340734"/>
            <a:ext cx="3182746" cy="1971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noAutofit/>
          </a:bodyPr>
          <a:lstStyle>
            <a:lvl1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268288" indent="-8890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>
              <a:lnSpc>
                <a:spcPct val="140000"/>
              </a:lnSpc>
              <a:buFontTx/>
              <a:buChar char="•"/>
            </a:pPr>
            <a:r>
              <a:rPr kumimoji="0" lang="en-US" altLang="ko-KR" sz="105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kumimoji="0" lang="ko-KR" altLang="en-US" sz="105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사용자가 쉽게 접근할 수 있는 구조</a:t>
            </a:r>
            <a:endParaRPr kumimoji="0" lang="en-US" altLang="ko-KR" sz="105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>
              <a:lnSpc>
                <a:spcPct val="140000"/>
              </a:lnSpc>
              <a:buFontTx/>
              <a:buChar char="•"/>
            </a:pPr>
            <a:r>
              <a:rPr kumimoji="0" lang="ko-KR" altLang="en-US" sz="10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온라인 채널 </a:t>
            </a:r>
            <a:r>
              <a:rPr kumimoji="0" lang="ko-KR" altLang="en-US" sz="105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서비스로서의</a:t>
            </a:r>
            <a:r>
              <a:rPr kumimoji="0" lang="ko-KR" altLang="en-US" sz="10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효과적인 메뉴구조</a:t>
            </a:r>
          </a:p>
          <a:p>
            <a:pPr lvl="1">
              <a:lnSpc>
                <a:spcPct val="140000"/>
              </a:lnSpc>
              <a:buFontTx/>
              <a:buChar char="•"/>
            </a:pPr>
            <a:r>
              <a:rPr kumimoji="0" lang="ko-KR" altLang="en-US" sz="105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컨텐츠의</a:t>
            </a:r>
            <a:r>
              <a:rPr kumimoji="0" lang="ko-KR" altLang="en-US" sz="10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효과적인 분류체계</a:t>
            </a:r>
          </a:p>
          <a:p>
            <a:pPr lvl="1">
              <a:lnSpc>
                <a:spcPct val="140000"/>
              </a:lnSpc>
            </a:pPr>
            <a:r>
              <a:rPr kumimoji="0" lang="ko-KR" altLang="en-US" sz="10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 </a:t>
            </a:r>
            <a:r>
              <a:rPr kumimoji="0" lang="en-US" altLang="ko-KR" sz="10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(Structure design)</a:t>
            </a:r>
          </a:p>
          <a:p>
            <a:pPr>
              <a:lnSpc>
                <a:spcPct val="140000"/>
              </a:lnSpc>
              <a:buFontTx/>
              <a:buChar char="•"/>
            </a:pPr>
            <a:r>
              <a:rPr kumimoji="0" lang="ko-KR" altLang="en-US" sz="105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고객 편의성을 극대화 하는 서비스 이동체계</a:t>
            </a:r>
          </a:p>
          <a:p>
            <a:pPr>
              <a:lnSpc>
                <a:spcPct val="140000"/>
              </a:lnSpc>
              <a:buFontTx/>
              <a:buChar char="•"/>
            </a:pPr>
            <a:endParaRPr kumimoji="0" lang="ko-KR" altLang="en-US" sz="105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ct val="140000"/>
              </a:lnSpc>
              <a:buFontTx/>
              <a:buChar char="•"/>
            </a:pPr>
            <a:r>
              <a:rPr kumimoji="0" lang="ko-KR" altLang="en-US" sz="105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사이트 전략 기획의 적극적인 반영</a:t>
            </a:r>
          </a:p>
        </p:txBody>
      </p:sp>
      <p:sp>
        <p:nvSpPr>
          <p:cNvPr id="84" name="Rectangle 30"/>
          <p:cNvSpPr>
            <a:spLocks noChangeArrowheads="1"/>
          </p:cNvSpPr>
          <p:nvPr/>
        </p:nvSpPr>
        <p:spPr bwMode="auto">
          <a:xfrm>
            <a:off x="6185075" y="3302346"/>
            <a:ext cx="3266503" cy="2053778"/>
          </a:xfrm>
          <a:prstGeom prst="rect">
            <a:avLst/>
          </a:prstGeom>
          <a:noFill/>
          <a:ln w="12700">
            <a:solidFill>
              <a:srgbClr val="333333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noAutofit/>
          </a:bodyPr>
          <a:lstStyle/>
          <a:p>
            <a:endParaRPr lang="ko-KR" altLang="en-US" sz="200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5" name="Rectangle 31"/>
          <p:cNvSpPr>
            <a:spLocks noChangeArrowheads="1"/>
          </p:cNvSpPr>
          <p:nvPr/>
        </p:nvSpPr>
        <p:spPr bwMode="auto">
          <a:xfrm>
            <a:off x="6185075" y="2927186"/>
            <a:ext cx="3266503" cy="378650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rgbClr val="333333"/>
            </a:solidFill>
            <a:miter lim="800000"/>
            <a:headEnd/>
            <a:tailEnd/>
          </a:ln>
          <a:effectLst/>
        </p:spPr>
        <p:txBody>
          <a:bodyPr wrap="none" anchor="ctr">
            <a:noAutofit/>
          </a:bodyPr>
          <a:lstStyle/>
          <a:p>
            <a:r>
              <a:rPr lang="en-US" altLang="ko-KR" sz="11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Success factors</a:t>
            </a:r>
          </a:p>
        </p:txBody>
      </p:sp>
      <p:sp>
        <p:nvSpPr>
          <p:cNvPr id="87" name="Line 33"/>
          <p:cNvSpPr>
            <a:spLocks noChangeShapeType="1"/>
          </p:cNvSpPr>
          <p:nvPr/>
        </p:nvSpPr>
        <p:spPr bwMode="auto">
          <a:xfrm>
            <a:off x="5860668" y="4099777"/>
            <a:ext cx="251269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noAutofit/>
          </a:bodyPr>
          <a:lstStyle/>
          <a:p>
            <a:endParaRPr lang="ko-KR" altLang="en-US" sz="200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8" name="Text Box 34"/>
          <p:cNvSpPr txBox="1">
            <a:spLocks noChangeArrowheads="1"/>
          </p:cNvSpPr>
          <p:nvPr/>
        </p:nvSpPr>
        <p:spPr bwMode="auto">
          <a:xfrm rot="16200000">
            <a:off x="4481354" y="3980249"/>
            <a:ext cx="2428938" cy="242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noAutofit/>
          </a:bodyPr>
          <a:lstStyle/>
          <a:p>
            <a:pPr algn="ctr">
              <a:lnSpc>
                <a:spcPct val="70000"/>
              </a:lnSpc>
            </a:pPr>
            <a:r>
              <a:rPr lang="en-US" altLang="ko-KR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User Experience modeling</a:t>
            </a:r>
          </a:p>
        </p:txBody>
      </p:sp>
    </p:spTree>
    <p:extLst>
      <p:ext uri="{BB962C8B-B14F-4D97-AF65-F5344CB8AC3E}">
        <p14:creationId xmlns:p14="http://schemas.microsoft.com/office/powerpoint/2010/main" val="41779106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13"/>
          <p:cNvSpPr/>
          <p:nvPr/>
        </p:nvSpPr>
        <p:spPr>
          <a:xfrm>
            <a:off x="2288704" y="2420888"/>
            <a:ext cx="3600400" cy="86409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/>
          <p:cNvSpPr/>
          <p:nvPr/>
        </p:nvSpPr>
        <p:spPr>
          <a:xfrm>
            <a:off x="0" y="620688"/>
            <a:ext cx="4232920" cy="86409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479425" y="784373"/>
            <a:ext cx="2661604" cy="6177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chemeClr val="tx1"/>
                </a:solidFill>
                <a:miter lim="800000"/>
                <a:headEnd/>
                <a:tailEnd type="none" w="med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r>
              <a:rPr lang="en-US" altLang="ko-KR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User Experience Modeling</a:t>
            </a:r>
            <a:br>
              <a:rPr lang="en-US" altLang="ko-KR" b="1" dirty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Table of Contents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2432720" y="1988840"/>
            <a:ext cx="2587568" cy="35932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Approach</a:t>
            </a:r>
          </a:p>
          <a:p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en-US" altLang="ko-KR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User Experience modeling</a:t>
            </a:r>
          </a:p>
          <a:p>
            <a:r>
              <a:rPr lang="en-US" altLang="ko-KR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    Abstract Key Question</a:t>
            </a:r>
          </a:p>
          <a:p>
            <a:r>
              <a:rPr lang="ko-KR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    고객분석</a:t>
            </a:r>
          </a:p>
          <a:p>
            <a:r>
              <a:rPr lang="en-US" altLang="ko-KR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    Mega Trend</a:t>
            </a:r>
          </a:p>
          <a:p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en-US" altLang="ko-KR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Information architecture</a:t>
            </a:r>
          </a:p>
          <a:p>
            <a:r>
              <a:rPr lang="en-US" altLang="ko-KR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    Approach</a:t>
            </a:r>
          </a:p>
          <a:p>
            <a:r>
              <a:rPr lang="ko-KR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    고객 </a:t>
            </a:r>
            <a:r>
              <a:rPr lang="en-US" altLang="ko-KR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Need </a:t>
            </a:r>
            <a:r>
              <a:rPr lang="ko-KR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분석</a:t>
            </a:r>
          </a:p>
          <a:p>
            <a:r>
              <a:rPr lang="en-US" altLang="ko-KR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    Case Study</a:t>
            </a:r>
          </a:p>
          <a:p>
            <a:r>
              <a:rPr lang="en-US" altLang="ko-KR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    Service Grouping</a:t>
            </a:r>
          </a:p>
          <a:p>
            <a:r>
              <a:rPr lang="en-US" altLang="ko-KR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    Information Architecture Mapping</a:t>
            </a:r>
          </a:p>
          <a:p>
            <a:r>
              <a:rPr lang="ko-KR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    사이트 유형별 분류</a:t>
            </a:r>
          </a:p>
          <a:p>
            <a:r>
              <a:rPr lang="ko-KR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    페이지 타입 정의</a:t>
            </a:r>
          </a:p>
          <a:p>
            <a:r>
              <a:rPr lang="ko-KR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    핵심 특성 및 혜택</a:t>
            </a:r>
          </a:p>
          <a:p>
            <a:r>
              <a:rPr lang="en-US" altLang="ko-KR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    Service Framework</a:t>
            </a:r>
          </a:p>
          <a:p>
            <a:r>
              <a:rPr lang="ko-KR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    사업 서비스 수직 다각화</a:t>
            </a:r>
          </a:p>
          <a:p>
            <a:r>
              <a:rPr lang="ko-KR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    미래 사업으로의 서비스 수평 다각화</a:t>
            </a:r>
          </a:p>
          <a:p>
            <a:r>
              <a:rPr lang="ko-KR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    </a:t>
            </a:r>
            <a:r>
              <a:rPr lang="en-US" altLang="ko-KR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Device </a:t>
            </a:r>
            <a:r>
              <a:rPr lang="ko-KR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기반 모바일 서비스 </a:t>
            </a:r>
            <a:r>
              <a:rPr lang="en-US" altLang="ko-KR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Pool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04661" y="1988840"/>
            <a:ext cx="2900153" cy="41319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User Interface Design</a:t>
            </a:r>
          </a:p>
          <a:p>
            <a:r>
              <a:rPr lang="en-US" altLang="ko-KR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    Approach</a:t>
            </a:r>
          </a:p>
          <a:p>
            <a:r>
              <a:rPr lang="en-US" altLang="ko-KR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        Approach – framework (</a:t>
            </a:r>
            <a:r>
              <a:rPr lang="ko-KR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정의</a:t>
            </a:r>
            <a:r>
              <a:rPr lang="en-US" altLang="ko-KR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  <a:p>
            <a:r>
              <a:rPr lang="en-US" altLang="ko-KR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        Approach – framework (</a:t>
            </a:r>
            <a:r>
              <a:rPr lang="ko-KR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정보분석</a:t>
            </a:r>
            <a:r>
              <a:rPr lang="en-US" altLang="ko-KR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  <a:p>
            <a:r>
              <a:rPr lang="en-US" altLang="ko-KR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        Approach – framework (</a:t>
            </a:r>
            <a:r>
              <a:rPr lang="ko-KR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분석</a:t>
            </a:r>
            <a:r>
              <a:rPr lang="en-US" altLang="ko-KR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판단</a:t>
            </a:r>
            <a:r>
              <a:rPr lang="en-US" altLang="ko-KR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  <a:p>
            <a:r>
              <a:rPr lang="en-US" altLang="ko-KR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        Approach – framework (</a:t>
            </a:r>
            <a:r>
              <a:rPr lang="ko-KR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세부기획</a:t>
            </a:r>
            <a:r>
              <a:rPr lang="en-US" altLang="ko-KR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  <a:p>
            <a:r>
              <a:rPr lang="en-US" altLang="ko-KR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        Approach – framework (</a:t>
            </a:r>
            <a:r>
              <a:rPr lang="ko-KR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확인단계</a:t>
            </a:r>
            <a:r>
              <a:rPr lang="en-US" altLang="ko-KR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  <a:p>
            <a:r>
              <a:rPr lang="en-US" altLang="ko-KR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    U.I / U.X Design Process</a:t>
            </a:r>
          </a:p>
          <a:p>
            <a:r>
              <a:rPr lang="en-US" altLang="ko-KR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        Dynamic modeling</a:t>
            </a:r>
          </a:p>
          <a:p>
            <a:r>
              <a:rPr lang="en-US" altLang="ko-KR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    U.I / U.X Design Case</a:t>
            </a:r>
          </a:p>
          <a:p>
            <a:r>
              <a:rPr lang="en-US" altLang="ko-KR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    Case Study</a:t>
            </a:r>
          </a:p>
          <a:p>
            <a:r>
              <a:rPr lang="en-US" altLang="ko-KR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    Navigation System</a:t>
            </a:r>
          </a:p>
          <a:p>
            <a:r>
              <a:rPr lang="en-US" altLang="ko-KR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    </a:t>
            </a:r>
          </a:p>
          <a:p>
            <a:r>
              <a:rPr lang="en-US" altLang="ko-KR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    Mobile Web page</a:t>
            </a:r>
          </a:p>
          <a:p>
            <a:r>
              <a:rPr lang="en-US" altLang="ko-KR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    One source Multi Device (N-Screen)</a:t>
            </a:r>
          </a:p>
          <a:p>
            <a:r>
              <a:rPr lang="en-US" altLang="ko-KR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    Layer System</a:t>
            </a:r>
          </a:p>
          <a:p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en-US" altLang="ko-KR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Multi channel integration</a:t>
            </a:r>
          </a:p>
          <a:p>
            <a:r>
              <a:rPr lang="en-US" altLang="ko-KR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    Approach</a:t>
            </a:r>
          </a:p>
          <a:p>
            <a:r>
              <a:rPr lang="en-US" altLang="ko-KR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    Customer Scenario Modeling</a:t>
            </a:r>
          </a:p>
          <a:p>
            <a:r>
              <a:rPr lang="en-US" altLang="ko-KR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    Customer’s Need</a:t>
            </a:r>
          </a:p>
          <a:p>
            <a:r>
              <a:rPr lang="en-US" altLang="ko-KR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    Multi Channel Strategy (</a:t>
            </a:r>
            <a:r>
              <a:rPr lang="ko-KR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멀티채널의 구성</a:t>
            </a:r>
            <a:r>
              <a:rPr lang="en-US" altLang="ko-KR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  <a:p>
            <a:r>
              <a:rPr lang="ko-KR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    </a:t>
            </a:r>
            <a:r>
              <a:rPr lang="en-US" altLang="ko-KR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Integration (</a:t>
            </a:r>
            <a:r>
              <a:rPr lang="ko-KR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통합 서비스의 제공</a:t>
            </a:r>
            <a:r>
              <a:rPr lang="en-US" altLang="ko-KR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  <a:p>
            <a:r>
              <a:rPr lang="ko-KR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    </a:t>
            </a:r>
            <a:r>
              <a:rPr lang="en-US" altLang="ko-KR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Separation (</a:t>
            </a:r>
            <a:r>
              <a:rPr lang="ko-KR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각 </a:t>
            </a:r>
            <a:r>
              <a:rPr lang="ko-KR" altLang="en-US" sz="105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채널별</a:t>
            </a:r>
            <a:r>
              <a:rPr lang="ko-KR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서비스 분리</a:t>
            </a:r>
            <a:r>
              <a:rPr lang="en-US" altLang="ko-KR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692633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44017" y="91339"/>
            <a:ext cx="7401271" cy="385333"/>
          </a:xfrm>
          <a:prstGeom prst="rect">
            <a:avLst/>
          </a:prstGeom>
          <a:noFill/>
        </p:spPr>
        <p:txBody>
          <a:bodyPr wrap="square" lIns="0" tIns="53643" rIns="0" bIns="53643" rtlCol="0">
            <a:spAutoFit/>
          </a:bodyPr>
          <a:lstStyle/>
          <a:p>
            <a:r>
              <a:rPr kumimoji="1" lang="en-US" altLang="ko-KR" b="1" kern="0" dirty="0">
                <a:latin typeface="나눔고딕" panose="020D0604000000000000" pitchFamily="50" charset="-127"/>
                <a:ea typeface="나눔고딕" panose="020D0604000000000000" pitchFamily="50" charset="-127"/>
                <a:cs typeface="산돌고딕 M"/>
              </a:rPr>
              <a:t>User Experience modeling</a:t>
            </a:r>
            <a:endParaRPr kumimoji="1" lang="ko-KR" altLang="en-US" b="1" kern="0" dirty="0">
              <a:latin typeface="나눔고딕" panose="020D0604000000000000" pitchFamily="50" charset="-127"/>
              <a:ea typeface="나눔고딕" panose="020D0604000000000000" pitchFamily="50" charset="-127"/>
              <a:cs typeface="산돌고딕 M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44017" y="683985"/>
            <a:ext cx="96335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Abstract Key Question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6496" y="991762"/>
            <a:ext cx="9361040" cy="307777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차별화 된 온라인 서비스채널 구현을 위해 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User Experience modeling 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차원에서 고려해야 할 핵심 과제는 다음과 같습니다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</p:txBody>
      </p:sp>
      <p:sp>
        <p:nvSpPr>
          <p:cNvPr id="2" name="직사각형 1"/>
          <p:cNvSpPr/>
          <p:nvPr/>
        </p:nvSpPr>
        <p:spPr>
          <a:xfrm>
            <a:off x="632520" y="1988840"/>
            <a:ext cx="5832648" cy="360040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r>
              <a:rPr lang="ko-KR" altLang="en-US" sz="11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효과적인 고객 체험전략을 수립 함으로써</a:t>
            </a:r>
            <a:r>
              <a:rPr lang="en-US" altLang="ko-KR" sz="11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1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다음과 같은 과제를 달성할 수 있도록 함</a:t>
            </a:r>
          </a:p>
        </p:txBody>
      </p:sp>
      <p:sp>
        <p:nvSpPr>
          <p:cNvPr id="43" name="직사각형 42"/>
          <p:cNvSpPr/>
          <p:nvPr/>
        </p:nvSpPr>
        <p:spPr>
          <a:xfrm>
            <a:off x="632520" y="2420888"/>
            <a:ext cx="5832648" cy="36004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r>
              <a:rPr lang="ko-KR" altLang="en-US" sz="11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차별화 된 전문적인 온라인 </a:t>
            </a:r>
            <a:r>
              <a:rPr lang="ko-KR" altLang="en-US" sz="1100" b="1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채널 서비스를 </a:t>
            </a:r>
            <a:r>
              <a:rPr lang="ko-KR" altLang="en-US" sz="11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런칭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632520" y="2852936"/>
            <a:ext cx="5832648" cy="36004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r>
              <a:rPr lang="ko-KR" altLang="en-US" sz="11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기존 </a:t>
            </a:r>
            <a:r>
              <a:rPr lang="en" altLang="ko-KR" sz="11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XXX</a:t>
            </a:r>
            <a:r>
              <a:rPr lang="ko-KR" altLang="en-US" sz="11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금융</a:t>
            </a:r>
            <a:r>
              <a:rPr lang="en-US" altLang="ko-KR" sz="11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100" b="1" dirty="0" err="1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고객군의</a:t>
            </a:r>
            <a:r>
              <a:rPr lang="ko-KR" altLang="en-US" sz="11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활용과 프로모션을 바탕으로 고객을 확보</a:t>
            </a:r>
          </a:p>
        </p:txBody>
      </p:sp>
      <p:sp>
        <p:nvSpPr>
          <p:cNvPr id="45" name="직사각형 44"/>
          <p:cNvSpPr/>
          <p:nvPr/>
        </p:nvSpPr>
        <p:spPr>
          <a:xfrm>
            <a:off x="632520" y="3284984"/>
            <a:ext cx="5832648" cy="36004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r>
              <a:rPr lang="ko-KR" altLang="en-US" sz="1100" b="1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개인화 서비스 </a:t>
            </a:r>
            <a:r>
              <a:rPr lang="ko-KR" altLang="en-US" sz="11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강조를 통한 고객 충성도 확보</a:t>
            </a:r>
          </a:p>
        </p:txBody>
      </p:sp>
      <p:sp>
        <p:nvSpPr>
          <p:cNvPr id="46" name="직사각형 45"/>
          <p:cNvSpPr/>
          <p:nvPr/>
        </p:nvSpPr>
        <p:spPr>
          <a:xfrm>
            <a:off x="632520" y="3737284"/>
            <a:ext cx="5832648" cy="36004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r>
              <a:rPr lang="ko-KR" altLang="en-US" sz="11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고객이 원하는 상품에 대해 쉽게 보여져야 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2520" y="5082569"/>
            <a:ext cx="8784976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charset="0"/>
              <a:buChar char="•"/>
            </a:pPr>
            <a:r>
              <a:rPr lang="en" altLang="ko-KR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XXX</a:t>
            </a:r>
            <a:r>
              <a:rPr lang="ko-KR" altLang="en-US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서비스은 위와 같은 목적을 성공적으로 달성하기 위해 사이트 전략</a:t>
            </a:r>
            <a:r>
              <a:rPr lang="en-US" altLang="ko-KR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1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컨텐츠</a:t>
            </a:r>
            <a:r>
              <a:rPr lang="ko-KR" altLang="en-US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전략</a:t>
            </a:r>
            <a:r>
              <a:rPr lang="en-US" altLang="ko-KR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디자인 전략 등과 함께 </a:t>
            </a:r>
            <a:r>
              <a:rPr lang="en-US" altLang="ko-KR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User Experience modeling </a:t>
            </a:r>
            <a:r>
              <a:rPr lang="ko-KR" altLang="en-US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전략도 효과적으로 수립되어야 한다</a:t>
            </a:r>
            <a:r>
              <a:rPr lang="en-US" altLang="ko-KR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  <a:p>
            <a:pPr marL="171450" indent="-171450">
              <a:buFont typeface="Arial" charset="0"/>
              <a:buChar char="•"/>
            </a:pPr>
            <a:endParaRPr lang="en-US" altLang="ko-KR" sz="11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71450" indent="-171450">
              <a:buFont typeface="Arial" charset="0"/>
              <a:buChar char="•"/>
            </a:pPr>
            <a:r>
              <a:rPr lang="en-US" altLang="ko-KR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User Experience modeling </a:t>
            </a:r>
            <a:r>
              <a:rPr lang="ko-KR" altLang="en-US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전략은 별도로 존재하는 것이 아니며</a:t>
            </a:r>
            <a:r>
              <a:rPr lang="en-US" altLang="ko-KR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사이트 전략</a:t>
            </a:r>
            <a:r>
              <a:rPr lang="en-US" altLang="ko-KR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1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컨텐츠</a:t>
            </a:r>
            <a:r>
              <a:rPr lang="ko-KR" altLang="en-US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전략</a:t>
            </a:r>
            <a:r>
              <a:rPr lang="en-US" altLang="ko-KR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디자인 전략등과 </a:t>
            </a:r>
            <a:r>
              <a:rPr lang="ko-KR" altLang="en-US" sz="11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함게</a:t>
            </a:r>
            <a:r>
              <a:rPr lang="ko-KR" altLang="en-US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시너지 효과를 냄으로써</a:t>
            </a:r>
            <a:r>
              <a:rPr lang="en-US" altLang="ko-KR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사이트의 가치를 향상 시킬 수 있다</a:t>
            </a:r>
            <a:r>
              <a:rPr lang="en-US" altLang="ko-KR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</p:txBody>
      </p:sp>
      <p:sp>
        <p:nvSpPr>
          <p:cNvPr id="49" name="직사각형 48"/>
          <p:cNvSpPr/>
          <p:nvPr/>
        </p:nvSpPr>
        <p:spPr>
          <a:xfrm>
            <a:off x="632520" y="4203836"/>
            <a:ext cx="5832648" cy="36004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r>
              <a:rPr lang="ko-KR" altLang="en-US" sz="11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이탈방지 및 재유입 프로세스</a:t>
            </a:r>
          </a:p>
        </p:txBody>
      </p:sp>
    </p:spTree>
    <p:extLst>
      <p:ext uri="{BB962C8B-B14F-4D97-AF65-F5344CB8AC3E}">
        <p14:creationId xmlns:p14="http://schemas.microsoft.com/office/powerpoint/2010/main" val="24980307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488504" y="1844824"/>
            <a:ext cx="8928992" cy="288032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44017" y="91339"/>
            <a:ext cx="7401271" cy="385333"/>
          </a:xfrm>
          <a:prstGeom prst="rect">
            <a:avLst/>
          </a:prstGeom>
          <a:noFill/>
        </p:spPr>
        <p:txBody>
          <a:bodyPr wrap="square" lIns="0" tIns="53643" rIns="0" bIns="53643" rtlCol="0">
            <a:spAutoFit/>
          </a:bodyPr>
          <a:lstStyle/>
          <a:p>
            <a:r>
              <a:rPr kumimoji="1" lang="en-US" altLang="ko-KR" b="1" kern="0" dirty="0">
                <a:latin typeface="나눔고딕" panose="020D0604000000000000" pitchFamily="50" charset="-127"/>
                <a:ea typeface="나눔고딕" panose="020D0604000000000000" pitchFamily="50" charset="-127"/>
                <a:cs typeface="산돌고딕 M"/>
              </a:rPr>
              <a:t>User Experience modeling</a:t>
            </a:r>
            <a:endParaRPr kumimoji="1" lang="ko-KR" altLang="en-US" b="1" kern="0" dirty="0">
              <a:latin typeface="나눔고딕" panose="020D0604000000000000" pitchFamily="50" charset="-127"/>
              <a:ea typeface="나눔고딕" panose="020D0604000000000000" pitchFamily="50" charset="-127"/>
              <a:cs typeface="산돌고딕 M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44017" y="683985"/>
            <a:ext cx="96335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Abstract Key Question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8504" y="991762"/>
            <a:ext cx="9289032" cy="307777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차별화 되어있는 설계이나 사용자가 쉽게 예측할 수 있는 구조로써 사용 편의성을 올려야 합니다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</p:txBody>
      </p:sp>
      <p:sp>
        <p:nvSpPr>
          <p:cNvPr id="2" name="직사각형 1"/>
          <p:cNvSpPr/>
          <p:nvPr/>
        </p:nvSpPr>
        <p:spPr>
          <a:xfrm>
            <a:off x="632520" y="1988840"/>
            <a:ext cx="5832648" cy="36004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r>
              <a:rPr lang="ko-KR" altLang="en-US" sz="11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효과적인 고객 체험전략을 수립 함으로써</a:t>
            </a:r>
            <a:r>
              <a:rPr lang="en-US" altLang="ko-KR" sz="11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1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다음과 같은 과제를 달성할 수 있도록 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2520" y="5082569"/>
            <a:ext cx="87849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charset="0"/>
              <a:buChar char="•"/>
            </a:pPr>
            <a:r>
              <a:rPr lang="ko-KR" altLang="en-US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차별화 된 정보설계</a:t>
            </a:r>
            <a:r>
              <a:rPr lang="en-US" altLang="ko-KR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메뉴구조</a:t>
            </a:r>
            <a:r>
              <a:rPr lang="en-US" altLang="ko-KR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r>
              <a:rPr lang="ko-KR" altLang="en-US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를 통하여 사용자가 충분히 예측할 수 있도록 구성합니다</a:t>
            </a:r>
            <a:r>
              <a:rPr lang="en-US" altLang="ko-KR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</p:txBody>
      </p:sp>
      <p:sp>
        <p:nvSpPr>
          <p:cNvPr id="12" name="Text Box 20"/>
          <p:cNvSpPr txBox="1">
            <a:spLocks noChangeArrowheads="1"/>
          </p:cNvSpPr>
          <p:nvPr/>
        </p:nvSpPr>
        <p:spPr bwMode="auto">
          <a:xfrm>
            <a:off x="6609184" y="1987243"/>
            <a:ext cx="2438400" cy="3939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268288" indent="-8890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>
              <a:lnSpc>
                <a:spcPct val="140000"/>
              </a:lnSpc>
            </a:pPr>
            <a:r>
              <a:rPr kumimoji="0" lang="en-US" altLang="ko-KR" sz="14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Strategic approach</a:t>
            </a:r>
          </a:p>
        </p:txBody>
      </p:sp>
      <p:sp>
        <p:nvSpPr>
          <p:cNvPr id="13" name="Line 21"/>
          <p:cNvSpPr>
            <a:spLocks noChangeShapeType="1"/>
          </p:cNvSpPr>
          <p:nvPr/>
        </p:nvSpPr>
        <p:spPr bwMode="auto">
          <a:xfrm>
            <a:off x="6682680" y="2348880"/>
            <a:ext cx="2590800" cy="0"/>
          </a:xfrm>
          <a:prstGeom prst="line">
            <a:avLst/>
          </a:prstGeom>
          <a:noFill/>
          <a:ln w="6350">
            <a:solidFill>
              <a:schemeClr val="bg1"/>
            </a:solidFill>
            <a:round/>
            <a:headEnd/>
            <a:tailEnd type="none" w="med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4" name="AutoShape 22"/>
          <p:cNvSpPr>
            <a:spLocks noChangeArrowheads="1"/>
          </p:cNvSpPr>
          <p:nvPr/>
        </p:nvSpPr>
        <p:spPr bwMode="auto">
          <a:xfrm>
            <a:off x="6508062" y="2492542"/>
            <a:ext cx="127000" cy="190500"/>
          </a:xfrm>
          <a:prstGeom prst="homePlate">
            <a:avLst>
              <a:gd name="adj" fmla="val 77083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tx1"/>
            </a:solidFill>
            <a:miter lim="800000"/>
            <a:headEnd/>
            <a:tailEnd type="none" w="med" len="sm"/>
          </a:ln>
          <a:effectLst/>
        </p:spPr>
        <p:txBody>
          <a:bodyPr wrap="none" lIns="90000" tIns="46800" rIns="90000" bIns="46800" anchor="ctr"/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6682680" y="2420888"/>
            <a:ext cx="2590800" cy="360040"/>
          </a:xfrm>
          <a:prstGeom prst="rect">
            <a:avLst/>
          </a:prstGeom>
          <a:solidFill>
            <a:srgbClr val="FFFF99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r>
              <a:rPr lang="ko-KR" altLang="en-US" sz="11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차별화 된 정보설계</a:t>
            </a:r>
            <a:r>
              <a:rPr lang="en-US" altLang="ko-KR" sz="11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1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메뉴구조</a:t>
            </a:r>
            <a:r>
              <a:rPr lang="en-US" altLang="ko-KR" sz="11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sz="1100" b="1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6682680" y="2852936"/>
            <a:ext cx="2590800" cy="504056"/>
          </a:xfrm>
          <a:prstGeom prst="rect">
            <a:avLst/>
          </a:prstGeom>
          <a:solidFill>
            <a:srgbClr val="FFFF99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r>
              <a:rPr lang="ko-KR" altLang="en-US" sz="11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쉽게 보여짐과 동시에 전문적으로 보여지는 화면으로 고객의 신뢰도를 얻어야 함</a:t>
            </a:r>
          </a:p>
        </p:txBody>
      </p:sp>
      <p:sp>
        <p:nvSpPr>
          <p:cNvPr id="19" name="직사각형 18"/>
          <p:cNvSpPr/>
          <p:nvPr/>
        </p:nvSpPr>
        <p:spPr>
          <a:xfrm>
            <a:off x="632520" y="2420888"/>
            <a:ext cx="5832648" cy="36004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r>
              <a:rPr lang="ko-KR" altLang="en-US" sz="11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차별화 된 전문적인 온라인 채널 서비스를 런칭</a:t>
            </a:r>
          </a:p>
        </p:txBody>
      </p:sp>
      <p:sp>
        <p:nvSpPr>
          <p:cNvPr id="20" name="직사각형 19"/>
          <p:cNvSpPr/>
          <p:nvPr/>
        </p:nvSpPr>
        <p:spPr>
          <a:xfrm>
            <a:off x="632520" y="2852936"/>
            <a:ext cx="5832648" cy="36004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r>
              <a:rPr lang="ko-KR" altLang="en-US" sz="11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기존 </a:t>
            </a:r>
            <a:r>
              <a:rPr lang="en" altLang="ko-KR" sz="11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XXX</a:t>
            </a:r>
            <a:r>
              <a:rPr lang="ko-KR" altLang="en-US" sz="11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금융</a:t>
            </a:r>
            <a:r>
              <a:rPr lang="en-US" altLang="ko-KR" sz="11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100" b="1" dirty="0" err="1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고객군의</a:t>
            </a:r>
            <a:r>
              <a:rPr lang="ko-KR" altLang="en-US" sz="11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활용과 프로모션을 바탕으로 고객을 확보</a:t>
            </a:r>
          </a:p>
        </p:txBody>
      </p:sp>
      <p:sp>
        <p:nvSpPr>
          <p:cNvPr id="21" name="직사각형 20"/>
          <p:cNvSpPr/>
          <p:nvPr/>
        </p:nvSpPr>
        <p:spPr>
          <a:xfrm>
            <a:off x="632520" y="3284984"/>
            <a:ext cx="5832648" cy="36004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r>
              <a:rPr lang="ko-KR" altLang="en-US" sz="11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개인화 서비스 강조를 통한 고객 충성도 확보</a:t>
            </a:r>
          </a:p>
        </p:txBody>
      </p:sp>
      <p:sp>
        <p:nvSpPr>
          <p:cNvPr id="22" name="직사각형 21"/>
          <p:cNvSpPr/>
          <p:nvPr/>
        </p:nvSpPr>
        <p:spPr>
          <a:xfrm>
            <a:off x="632520" y="3737284"/>
            <a:ext cx="5832648" cy="36004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r>
              <a:rPr lang="ko-KR" altLang="en-US" sz="11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고객이 원하는 상품에 대해 쉽게 보여져야 함</a:t>
            </a:r>
          </a:p>
        </p:txBody>
      </p:sp>
      <p:sp>
        <p:nvSpPr>
          <p:cNvPr id="23" name="직사각형 22"/>
          <p:cNvSpPr/>
          <p:nvPr/>
        </p:nvSpPr>
        <p:spPr>
          <a:xfrm>
            <a:off x="632520" y="4203836"/>
            <a:ext cx="5832648" cy="36004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r>
              <a:rPr lang="ko-KR" altLang="en-US" sz="11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이탈방지 및 재유입 프로세스</a:t>
            </a:r>
          </a:p>
        </p:txBody>
      </p:sp>
    </p:spTree>
    <p:extLst>
      <p:ext uri="{BB962C8B-B14F-4D97-AF65-F5344CB8AC3E}">
        <p14:creationId xmlns:p14="http://schemas.microsoft.com/office/powerpoint/2010/main" val="16107242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488504" y="1844824"/>
            <a:ext cx="8928992" cy="288032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44017" y="91339"/>
            <a:ext cx="7401271" cy="385333"/>
          </a:xfrm>
          <a:prstGeom prst="rect">
            <a:avLst/>
          </a:prstGeom>
          <a:noFill/>
        </p:spPr>
        <p:txBody>
          <a:bodyPr wrap="square" lIns="0" tIns="53643" rIns="0" bIns="53643" rtlCol="0">
            <a:spAutoFit/>
          </a:bodyPr>
          <a:lstStyle/>
          <a:p>
            <a:r>
              <a:rPr kumimoji="1" lang="en-US" altLang="ko-KR" b="1" kern="0" dirty="0">
                <a:latin typeface="나눔고딕" panose="020D0604000000000000" pitchFamily="50" charset="-127"/>
                <a:ea typeface="나눔고딕" panose="020D0604000000000000" pitchFamily="50" charset="-127"/>
                <a:cs typeface="산돌고딕 M"/>
              </a:rPr>
              <a:t>User Experience modeling</a:t>
            </a:r>
            <a:endParaRPr kumimoji="1" lang="ko-KR" altLang="en-US" b="1" kern="0" dirty="0">
              <a:latin typeface="나눔고딕" panose="020D0604000000000000" pitchFamily="50" charset="-127"/>
              <a:ea typeface="나눔고딕" panose="020D0604000000000000" pitchFamily="50" charset="-127"/>
              <a:cs typeface="산돌고딕 M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44017" y="683985"/>
            <a:ext cx="96335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Abstract Key Question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8504" y="991762"/>
            <a:ext cx="9289032" cy="307777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기존 고객을 대상으로 다양한 프로모션을 진행할 경우 유입되는 고객의 접근성을 높이기 위한 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U.I / U.X 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설계가 필요합니다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2520" y="5082569"/>
            <a:ext cx="8784976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charset="0"/>
              <a:buChar char="•"/>
            </a:pPr>
            <a:r>
              <a:rPr lang="ko-KR" altLang="en-US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프로모션을 통하여 유입한 고객의 원활한 접근성을 높이기 위한 </a:t>
            </a:r>
            <a:r>
              <a:rPr lang="en-US" altLang="ko-KR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U.I / U.X </a:t>
            </a:r>
            <a:r>
              <a:rPr lang="ko-KR" altLang="en-US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설계가 필요합니다</a:t>
            </a:r>
            <a:r>
              <a:rPr lang="en-US" altLang="ko-KR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  <a:p>
            <a:pPr marL="171450" indent="-171450">
              <a:buFont typeface="Arial" charset="0"/>
              <a:buChar char="•"/>
            </a:pPr>
            <a:endParaRPr lang="en-US" altLang="ko-KR" sz="11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71450" indent="-171450">
              <a:buFont typeface="Arial" charset="0"/>
              <a:buChar char="•"/>
            </a:pPr>
            <a:r>
              <a:rPr lang="ko-KR" altLang="en-US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다채널을 통하여 유입할 수 있도록 </a:t>
            </a:r>
            <a:r>
              <a:rPr lang="ko-KR" altLang="en-US" sz="11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모바일웹</a:t>
            </a:r>
            <a:r>
              <a:rPr lang="en-US" altLang="ko-KR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1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모바일</a:t>
            </a:r>
            <a:r>
              <a:rPr lang="en-US" altLang="ko-KR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App </a:t>
            </a:r>
            <a:r>
              <a:rPr lang="ko-KR" altLang="en-US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등의 구성이 필요합니다</a:t>
            </a:r>
            <a:r>
              <a:rPr lang="en-US" altLang="ko-KR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</p:txBody>
      </p:sp>
      <p:sp>
        <p:nvSpPr>
          <p:cNvPr id="12" name="Text Box 20"/>
          <p:cNvSpPr txBox="1">
            <a:spLocks noChangeArrowheads="1"/>
          </p:cNvSpPr>
          <p:nvPr/>
        </p:nvSpPr>
        <p:spPr bwMode="auto">
          <a:xfrm>
            <a:off x="6609184" y="1987243"/>
            <a:ext cx="2438400" cy="3939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268288" indent="-8890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>
              <a:lnSpc>
                <a:spcPct val="140000"/>
              </a:lnSpc>
            </a:pPr>
            <a:r>
              <a:rPr kumimoji="0" lang="en-US" altLang="ko-KR" sz="14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Strategic approach</a:t>
            </a:r>
          </a:p>
        </p:txBody>
      </p:sp>
      <p:sp>
        <p:nvSpPr>
          <p:cNvPr id="13" name="Line 21"/>
          <p:cNvSpPr>
            <a:spLocks noChangeShapeType="1"/>
          </p:cNvSpPr>
          <p:nvPr/>
        </p:nvSpPr>
        <p:spPr bwMode="auto">
          <a:xfrm>
            <a:off x="6682680" y="2348880"/>
            <a:ext cx="2590800" cy="0"/>
          </a:xfrm>
          <a:prstGeom prst="line">
            <a:avLst/>
          </a:prstGeom>
          <a:noFill/>
          <a:ln w="6350">
            <a:solidFill>
              <a:schemeClr val="bg1"/>
            </a:solidFill>
            <a:round/>
            <a:headEnd/>
            <a:tailEnd type="none" w="med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4" name="AutoShape 22"/>
          <p:cNvSpPr>
            <a:spLocks noChangeArrowheads="1"/>
          </p:cNvSpPr>
          <p:nvPr/>
        </p:nvSpPr>
        <p:spPr bwMode="auto">
          <a:xfrm>
            <a:off x="6508062" y="2943640"/>
            <a:ext cx="127000" cy="190500"/>
          </a:xfrm>
          <a:prstGeom prst="homePlate">
            <a:avLst>
              <a:gd name="adj" fmla="val 77083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tx1"/>
            </a:solidFill>
            <a:miter lim="800000"/>
            <a:headEnd/>
            <a:tailEnd type="none" w="med" len="sm"/>
          </a:ln>
          <a:effectLst/>
        </p:spPr>
        <p:txBody>
          <a:bodyPr wrap="none" lIns="90000" tIns="46800" rIns="90000" bIns="46800" anchor="ctr"/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6682680" y="2871986"/>
            <a:ext cx="2590800" cy="360040"/>
          </a:xfrm>
          <a:prstGeom prst="rect">
            <a:avLst/>
          </a:prstGeom>
          <a:solidFill>
            <a:srgbClr val="FFFF99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r>
              <a:rPr lang="ko-KR" altLang="en-US" sz="11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프로모션 접근관련 </a:t>
            </a:r>
            <a:r>
              <a:rPr lang="en-US" altLang="ko-KR" sz="11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U.I / U.X </a:t>
            </a:r>
            <a:r>
              <a:rPr lang="ko-KR" altLang="en-US" sz="11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설계</a:t>
            </a:r>
          </a:p>
        </p:txBody>
      </p:sp>
      <p:sp>
        <p:nvSpPr>
          <p:cNvPr id="18" name="직사각형 17"/>
          <p:cNvSpPr/>
          <p:nvPr/>
        </p:nvSpPr>
        <p:spPr>
          <a:xfrm>
            <a:off x="6682680" y="3304034"/>
            <a:ext cx="2590800" cy="504056"/>
          </a:xfrm>
          <a:prstGeom prst="rect">
            <a:avLst/>
          </a:prstGeom>
          <a:solidFill>
            <a:srgbClr val="FFFF99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r>
              <a:rPr lang="ko-KR" altLang="en-US" sz="11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프로모션을 통한 </a:t>
            </a:r>
            <a:r>
              <a:rPr lang="ko-KR" altLang="en-US" sz="1100" b="1" dirty="0" err="1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접근성을</a:t>
            </a:r>
            <a:r>
              <a:rPr lang="ko-KR" altLang="en-US" sz="11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높이기 위한 </a:t>
            </a:r>
            <a:r>
              <a:rPr lang="en-US" altLang="ko-KR" sz="11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User Interface </a:t>
            </a:r>
            <a:r>
              <a:rPr lang="ko-KR" altLang="en-US" sz="11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가 중요</a:t>
            </a:r>
          </a:p>
        </p:txBody>
      </p:sp>
      <p:sp>
        <p:nvSpPr>
          <p:cNvPr id="19" name="직사각형 18"/>
          <p:cNvSpPr/>
          <p:nvPr/>
        </p:nvSpPr>
        <p:spPr>
          <a:xfrm>
            <a:off x="632520" y="2420888"/>
            <a:ext cx="5832648" cy="36004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r>
              <a:rPr lang="ko-KR" altLang="en-US" sz="11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차별화 된 전문적인 온라인 </a:t>
            </a:r>
            <a:r>
              <a:rPr lang="ko-KR" altLang="en-US" sz="1100" b="1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채널 서비스를 </a:t>
            </a:r>
            <a:r>
              <a:rPr lang="ko-KR" altLang="en-US" sz="11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런칭</a:t>
            </a:r>
          </a:p>
        </p:txBody>
      </p:sp>
      <p:sp>
        <p:nvSpPr>
          <p:cNvPr id="20" name="직사각형 19"/>
          <p:cNvSpPr/>
          <p:nvPr/>
        </p:nvSpPr>
        <p:spPr>
          <a:xfrm>
            <a:off x="632520" y="2852936"/>
            <a:ext cx="5832648" cy="36004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r>
              <a:rPr lang="ko-KR" altLang="en-US" sz="11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기존 </a:t>
            </a:r>
            <a:r>
              <a:rPr lang="en" altLang="ko-KR" sz="11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XXX</a:t>
            </a:r>
            <a:r>
              <a:rPr lang="ko-KR" altLang="en-US" sz="11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금융</a:t>
            </a:r>
            <a:r>
              <a:rPr lang="en-US" altLang="ko-KR" sz="11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100" b="1" dirty="0" err="1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고객군의</a:t>
            </a:r>
            <a:r>
              <a:rPr lang="ko-KR" altLang="en-US" sz="11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활용과 프로모션을 바탕으로 고객을 확보</a:t>
            </a:r>
          </a:p>
        </p:txBody>
      </p:sp>
      <p:sp>
        <p:nvSpPr>
          <p:cNvPr id="21" name="직사각형 20"/>
          <p:cNvSpPr/>
          <p:nvPr/>
        </p:nvSpPr>
        <p:spPr>
          <a:xfrm>
            <a:off x="632520" y="3284984"/>
            <a:ext cx="5832648" cy="36004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r>
              <a:rPr lang="ko-KR" altLang="en-US" sz="1100" b="1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개인화 서비스 </a:t>
            </a:r>
            <a:r>
              <a:rPr lang="ko-KR" altLang="en-US" sz="11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강조를 통한 고객 충성도 확보</a:t>
            </a:r>
          </a:p>
        </p:txBody>
      </p:sp>
      <p:sp>
        <p:nvSpPr>
          <p:cNvPr id="22" name="직사각형 21"/>
          <p:cNvSpPr/>
          <p:nvPr/>
        </p:nvSpPr>
        <p:spPr>
          <a:xfrm>
            <a:off x="632520" y="3737284"/>
            <a:ext cx="5832648" cy="36004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r>
              <a:rPr lang="ko-KR" altLang="en-US" sz="11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고객이 원하는 상품에 대해 쉽게 보여져야 함</a:t>
            </a:r>
          </a:p>
        </p:txBody>
      </p:sp>
      <p:sp>
        <p:nvSpPr>
          <p:cNvPr id="23" name="직사각형 22"/>
          <p:cNvSpPr/>
          <p:nvPr/>
        </p:nvSpPr>
        <p:spPr>
          <a:xfrm>
            <a:off x="632520" y="4203836"/>
            <a:ext cx="5832648" cy="36004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r>
              <a:rPr lang="ko-KR" altLang="en-US" sz="11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이탈방지 및 재유입 프로세스</a:t>
            </a:r>
          </a:p>
        </p:txBody>
      </p:sp>
      <p:sp>
        <p:nvSpPr>
          <p:cNvPr id="24" name="직사각형 23"/>
          <p:cNvSpPr/>
          <p:nvPr/>
        </p:nvSpPr>
        <p:spPr>
          <a:xfrm>
            <a:off x="632520" y="1988840"/>
            <a:ext cx="5832648" cy="36004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r>
              <a:rPr lang="ko-KR" altLang="en-US" sz="11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효과적인 고객 체험전략을 수립 함으로써</a:t>
            </a:r>
            <a:r>
              <a:rPr lang="en-US" altLang="ko-KR" sz="11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1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다음과 같은 과제를 달성할 수 있도록 함</a:t>
            </a:r>
          </a:p>
        </p:txBody>
      </p:sp>
      <p:sp>
        <p:nvSpPr>
          <p:cNvPr id="25" name="직사각형 24"/>
          <p:cNvSpPr/>
          <p:nvPr/>
        </p:nvSpPr>
        <p:spPr>
          <a:xfrm>
            <a:off x="6682680" y="3861048"/>
            <a:ext cx="2590800" cy="504000"/>
          </a:xfrm>
          <a:prstGeom prst="rect">
            <a:avLst/>
          </a:prstGeom>
          <a:solidFill>
            <a:srgbClr val="FFFF99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r>
              <a:rPr lang="ko-KR" altLang="en-US" sz="11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다채널을 통하여 사용자가 유입할 수 있도록 구성 필요</a:t>
            </a:r>
            <a:r>
              <a:rPr lang="en-US" altLang="ko-KR" sz="11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100" b="1" dirty="0" err="1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모바일웹</a:t>
            </a:r>
            <a:r>
              <a:rPr lang="ko-KR" altLang="en-US" sz="11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구현 필요</a:t>
            </a:r>
            <a:r>
              <a:rPr lang="en-US" altLang="ko-KR" sz="11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sz="1100" b="1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555298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488504" y="1844824"/>
            <a:ext cx="8928992" cy="288032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44017" y="91339"/>
            <a:ext cx="7401271" cy="385333"/>
          </a:xfrm>
          <a:prstGeom prst="rect">
            <a:avLst/>
          </a:prstGeom>
          <a:noFill/>
        </p:spPr>
        <p:txBody>
          <a:bodyPr wrap="square" lIns="0" tIns="53643" rIns="0" bIns="53643" rtlCol="0">
            <a:spAutoFit/>
          </a:bodyPr>
          <a:lstStyle/>
          <a:p>
            <a:r>
              <a:rPr kumimoji="1" lang="en-US" altLang="ko-KR" b="1" kern="0" dirty="0">
                <a:latin typeface="나눔고딕" panose="020D0604000000000000" pitchFamily="50" charset="-127"/>
                <a:ea typeface="나눔고딕" panose="020D0604000000000000" pitchFamily="50" charset="-127"/>
                <a:cs typeface="산돌고딕 M"/>
              </a:rPr>
              <a:t>User Experience modeling</a:t>
            </a:r>
            <a:endParaRPr kumimoji="1" lang="ko-KR" altLang="en-US" b="1" kern="0" dirty="0">
              <a:latin typeface="나눔고딕" panose="020D0604000000000000" pitchFamily="50" charset="-127"/>
              <a:ea typeface="나눔고딕" panose="020D0604000000000000" pitchFamily="50" charset="-127"/>
              <a:cs typeface="산돌고딕 M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44017" y="683985"/>
            <a:ext cx="96335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Abstract Key Question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8504" y="991762"/>
            <a:ext cx="9289032" cy="523220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en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XXX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이후의 고객들은 자신들의 상황을 판단할 수 있도록 마이페이지를 구현하며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Lock-in Point 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로서 사용자가 지속적으로 웹사이트 안에 머무를 수 있도록 </a:t>
            </a:r>
            <a:r>
              <a:rPr lang="ko-KR" altLang="en-US" sz="14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해야합니다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2520" y="5082569"/>
            <a:ext cx="87849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charset="0"/>
              <a:buChar char="•"/>
            </a:pPr>
            <a:r>
              <a:rPr lang="ko-KR" altLang="en-US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효율적인 </a:t>
            </a:r>
            <a:r>
              <a:rPr lang="ko-KR" altLang="en-US" sz="1100">
                <a:latin typeface="나눔고딕" panose="020D0604000000000000" pitchFamily="50" charset="-127"/>
                <a:ea typeface="나눔고딕" panose="020D0604000000000000" pitchFamily="50" charset="-127"/>
              </a:rPr>
              <a:t>개인화 서비스를 </a:t>
            </a:r>
            <a:r>
              <a:rPr lang="ko-KR" altLang="en-US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구현하여 지속적으로 사용자가 웹사이트 안에 머무를 수 있도록 하며</a:t>
            </a:r>
            <a:r>
              <a:rPr lang="en-US" altLang="ko-KR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한눈에 자신의 상황을 파악할 수 있도록 구성</a:t>
            </a:r>
            <a:endParaRPr lang="en-US" altLang="ko-KR" sz="11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2" name="Text Box 20"/>
          <p:cNvSpPr txBox="1">
            <a:spLocks noChangeArrowheads="1"/>
          </p:cNvSpPr>
          <p:nvPr/>
        </p:nvSpPr>
        <p:spPr bwMode="auto">
          <a:xfrm>
            <a:off x="6609184" y="1987243"/>
            <a:ext cx="2438400" cy="3939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268288" indent="-8890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>
              <a:lnSpc>
                <a:spcPct val="140000"/>
              </a:lnSpc>
            </a:pPr>
            <a:r>
              <a:rPr kumimoji="0" lang="en-US" altLang="ko-KR" sz="14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Strategic approach</a:t>
            </a:r>
          </a:p>
        </p:txBody>
      </p:sp>
      <p:sp>
        <p:nvSpPr>
          <p:cNvPr id="13" name="Line 21"/>
          <p:cNvSpPr>
            <a:spLocks noChangeShapeType="1"/>
          </p:cNvSpPr>
          <p:nvPr/>
        </p:nvSpPr>
        <p:spPr bwMode="auto">
          <a:xfrm>
            <a:off x="6682680" y="2348880"/>
            <a:ext cx="2590800" cy="0"/>
          </a:xfrm>
          <a:prstGeom prst="line">
            <a:avLst/>
          </a:prstGeom>
          <a:noFill/>
          <a:ln w="6350">
            <a:solidFill>
              <a:schemeClr val="bg1"/>
            </a:solidFill>
            <a:round/>
            <a:headEnd/>
            <a:tailEnd type="none" w="med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4" name="AutoShape 22"/>
          <p:cNvSpPr>
            <a:spLocks noChangeArrowheads="1"/>
          </p:cNvSpPr>
          <p:nvPr/>
        </p:nvSpPr>
        <p:spPr bwMode="auto">
          <a:xfrm>
            <a:off x="6508062" y="3356992"/>
            <a:ext cx="127000" cy="190500"/>
          </a:xfrm>
          <a:prstGeom prst="homePlate">
            <a:avLst>
              <a:gd name="adj" fmla="val 77083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tx1"/>
            </a:solidFill>
            <a:miter lim="800000"/>
            <a:headEnd/>
            <a:tailEnd type="none" w="med" len="sm"/>
          </a:ln>
          <a:effectLst/>
        </p:spPr>
        <p:txBody>
          <a:bodyPr wrap="none" lIns="90000" tIns="46800" rIns="90000" bIns="46800" anchor="ctr"/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6682680" y="3284984"/>
            <a:ext cx="2590800" cy="360040"/>
          </a:xfrm>
          <a:prstGeom prst="rect">
            <a:avLst/>
          </a:prstGeom>
          <a:solidFill>
            <a:srgbClr val="FFFF99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r>
              <a:rPr lang="ko-KR" altLang="en-US" sz="1100" b="1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개인화 서비스 </a:t>
            </a:r>
            <a:r>
              <a:rPr lang="ko-KR" altLang="en-US" sz="11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구현</a:t>
            </a:r>
          </a:p>
        </p:txBody>
      </p:sp>
      <p:sp>
        <p:nvSpPr>
          <p:cNvPr id="18" name="직사각형 17"/>
          <p:cNvSpPr/>
          <p:nvPr/>
        </p:nvSpPr>
        <p:spPr>
          <a:xfrm>
            <a:off x="6682680" y="3717032"/>
            <a:ext cx="2590800" cy="360000"/>
          </a:xfrm>
          <a:prstGeom prst="rect">
            <a:avLst/>
          </a:prstGeom>
          <a:solidFill>
            <a:srgbClr val="FFFF99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r>
              <a:rPr lang="ko-KR" altLang="en-US" sz="11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개인화면</a:t>
            </a:r>
            <a:r>
              <a:rPr lang="en-US" altLang="ko-KR" sz="11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100" b="1" dirty="0" err="1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마이페이지</a:t>
            </a:r>
            <a:r>
              <a:rPr lang="en-US" altLang="ko-KR" sz="11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r>
              <a:rPr lang="ko-KR" altLang="en-US" sz="11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의 </a:t>
            </a:r>
            <a:r>
              <a:rPr lang="en-US" altLang="ko-KR" sz="11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U.I / U.X </a:t>
            </a:r>
            <a:r>
              <a:rPr lang="ko-KR" altLang="en-US" sz="11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개선</a:t>
            </a:r>
          </a:p>
        </p:txBody>
      </p:sp>
      <p:sp>
        <p:nvSpPr>
          <p:cNvPr id="19" name="직사각형 18"/>
          <p:cNvSpPr/>
          <p:nvPr/>
        </p:nvSpPr>
        <p:spPr>
          <a:xfrm>
            <a:off x="632520" y="2420888"/>
            <a:ext cx="5832648" cy="36004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r>
              <a:rPr lang="ko-KR" altLang="en-US" sz="11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차별화 된 전문적인 온라인 </a:t>
            </a:r>
            <a:r>
              <a:rPr lang="ko-KR" altLang="en-US" sz="1100" b="1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채널 서비스를 </a:t>
            </a:r>
            <a:r>
              <a:rPr lang="ko-KR" altLang="en-US" sz="11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런칭</a:t>
            </a:r>
          </a:p>
        </p:txBody>
      </p:sp>
      <p:sp>
        <p:nvSpPr>
          <p:cNvPr id="20" name="직사각형 19"/>
          <p:cNvSpPr/>
          <p:nvPr/>
        </p:nvSpPr>
        <p:spPr>
          <a:xfrm>
            <a:off x="632520" y="2852936"/>
            <a:ext cx="5832648" cy="36004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r>
              <a:rPr lang="ko-KR" altLang="en-US" sz="11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기존 </a:t>
            </a:r>
            <a:r>
              <a:rPr lang="en" altLang="ko-KR" sz="11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XXX</a:t>
            </a:r>
            <a:r>
              <a:rPr lang="ko-KR" altLang="en-US" sz="11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금융</a:t>
            </a:r>
            <a:r>
              <a:rPr lang="en-US" altLang="ko-KR" sz="11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100" b="1" dirty="0" err="1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고객군의</a:t>
            </a:r>
            <a:r>
              <a:rPr lang="ko-KR" altLang="en-US" sz="11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활용과 프로모션을 바탕으로 고객을 확보</a:t>
            </a:r>
          </a:p>
        </p:txBody>
      </p:sp>
      <p:sp>
        <p:nvSpPr>
          <p:cNvPr id="21" name="직사각형 20"/>
          <p:cNvSpPr/>
          <p:nvPr/>
        </p:nvSpPr>
        <p:spPr>
          <a:xfrm>
            <a:off x="632520" y="3284984"/>
            <a:ext cx="5832648" cy="36004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r>
              <a:rPr lang="ko-KR" altLang="en-US" sz="1100" b="1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개인화 서비스 </a:t>
            </a:r>
            <a:r>
              <a:rPr lang="ko-KR" altLang="en-US" sz="11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강조를 통한 고객 충성도 확보</a:t>
            </a:r>
          </a:p>
        </p:txBody>
      </p:sp>
      <p:sp>
        <p:nvSpPr>
          <p:cNvPr id="22" name="직사각형 21"/>
          <p:cNvSpPr/>
          <p:nvPr/>
        </p:nvSpPr>
        <p:spPr>
          <a:xfrm>
            <a:off x="632520" y="3737284"/>
            <a:ext cx="5832648" cy="36004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r>
              <a:rPr lang="ko-KR" altLang="en-US" sz="11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고객이 원하는 상품에 대해 쉽게 보여져야 함</a:t>
            </a:r>
          </a:p>
        </p:txBody>
      </p:sp>
      <p:sp>
        <p:nvSpPr>
          <p:cNvPr id="23" name="직사각형 22"/>
          <p:cNvSpPr/>
          <p:nvPr/>
        </p:nvSpPr>
        <p:spPr>
          <a:xfrm>
            <a:off x="632520" y="4203836"/>
            <a:ext cx="5832648" cy="36004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r>
              <a:rPr lang="ko-KR" altLang="en-US" sz="11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이탈방지 및 재유입 프로세스</a:t>
            </a:r>
          </a:p>
        </p:txBody>
      </p:sp>
      <p:sp>
        <p:nvSpPr>
          <p:cNvPr id="24" name="직사각형 23"/>
          <p:cNvSpPr/>
          <p:nvPr/>
        </p:nvSpPr>
        <p:spPr>
          <a:xfrm>
            <a:off x="632520" y="1988840"/>
            <a:ext cx="5832648" cy="36004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r>
              <a:rPr lang="ko-KR" altLang="en-US" sz="11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효과적인 고객 체험전략을 수립 함으로써</a:t>
            </a:r>
            <a:r>
              <a:rPr lang="en-US" altLang="ko-KR" sz="11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1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다음과 같은 과제를 달성할 수 있도록 함</a:t>
            </a:r>
          </a:p>
        </p:txBody>
      </p:sp>
      <p:sp>
        <p:nvSpPr>
          <p:cNvPr id="25" name="직사각형 24"/>
          <p:cNvSpPr/>
          <p:nvPr/>
        </p:nvSpPr>
        <p:spPr>
          <a:xfrm>
            <a:off x="6682680" y="4149120"/>
            <a:ext cx="2590800" cy="360000"/>
          </a:xfrm>
          <a:prstGeom prst="rect">
            <a:avLst/>
          </a:prstGeom>
          <a:solidFill>
            <a:srgbClr val="FFFF99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r>
              <a:rPr lang="ko-KR" altLang="en-US" sz="11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사용자 </a:t>
            </a:r>
            <a:r>
              <a:rPr lang="en-US" altLang="ko-KR" sz="11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Lock-in Point </a:t>
            </a:r>
            <a:r>
              <a:rPr lang="ko-KR" altLang="en-US" sz="11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구현</a:t>
            </a:r>
          </a:p>
        </p:txBody>
      </p:sp>
    </p:spTree>
    <p:extLst>
      <p:ext uri="{BB962C8B-B14F-4D97-AF65-F5344CB8AC3E}">
        <p14:creationId xmlns:p14="http://schemas.microsoft.com/office/powerpoint/2010/main" val="30965835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488504" y="1844824"/>
            <a:ext cx="8928992" cy="288032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44017" y="91339"/>
            <a:ext cx="7401271" cy="385333"/>
          </a:xfrm>
          <a:prstGeom prst="rect">
            <a:avLst/>
          </a:prstGeom>
          <a:noFill/>
        </p:spPr>
        <p:txBody>
          <a:bodyPr wrap="square" lIns="0" tIns="53643" rIns="0" bIns="53643" rtlCol="0">
            <a:spAutoFit/>
          </a:bodyPr>
          <a:lstStyle/>
          <a:p>
            <a:r>
              <a:rPr kumimoji="1" lang="en-US" altLang="ko-KR" b="1" kern="0" dirty="0">
                <a:latin typeface="나눔고딕" panose="020D0604000000000000" pitchFamily="50" charset="-127"/>
                <a:ea typeface="나눔고딕" panose="020D0604000000000000" pitchFamily="50" charset="-127"/>
                <a:cs typeface="산돌고딕 M"/>
              </a:rPr>
              <a:t>User Experience modeling</a:t>
            </a:r>
            <a:endParaRPr kumimoji="1" lang="ko-KR" altLang="en-US" b="1" kern="0" dirty="0">
              <a:latin typeface="나눔고딕" panose="020D0604000000000000" pitchFamily="50" charset="-127"/>
              <a:ea typeface="나눔고딕" panose="020D0604000000000000" pitchFamily="50" charset="-127"/>
              <a:cs typeface="산돌고딕 M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44017" y="683985"/>
            <a:ext cx="96335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Abstract Key Question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8504" y="991762"/>
            <a:ext cx="9289032" cy="307777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ko-KR" altLang="en-US" sz="14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를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통하여 사용자들이 원하는 컨텐츠로써 웹사이트를 구성하게 됩니다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2520" y="5082569"/>
            <a:ext cx="87849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charset="0"/>
              <a:buChar char="•"/>
            </a:pPr>
            <a:r>
              <a:rPr lang="ko-KR" altLang="en-US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사용자가 원하는 </a:t>
            </a:r>
            <a:r>
              <a:rPr lang="ko-KR" altLang="en-US" sz="11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컨텐츠와</a:t>
            </a:r>
            <a:r>
              <a:rPr lang="ko-KR" altLang="en-US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키워드에 따라 웹사이트에 변화를 주어 사용자의 만족도를 상승시킴</a:t>
            </a:r>
            <a:endParaRPr lang="en-US" altLang="ko-KR" sz="11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2" name="Text Box 20"/>
          <p:cNvSpPr txBox="1">
            <a:spLocks noChangeArrowheads="1"/>
          </p:cNvSpPr>
          <p:nvPr/>
        </p:nvSpPr>
        <p:spPr bwMode="auto">
          <a:xfrm>
            <a:off x="6609184" y="1987243"/>
            <a:ext cx="2438400" cy="3939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268288" indent="-8890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>
              <a:lnSpc>
                <a:spcPct val="140000"/>
              </a:lnSpc>
            </a:pPr>
            <a:r>
              <a:rPr kumimoji="0" lang="en-US" altLang="ko-KR" sz="14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Strategic approach</a:t>
            </a:r>
          </a:p>
        </p:txBody>
      </p:sp>
      <p:sp>
        <p:nvSpPr>
          <p:cNvPr id="13" name="Line 21"/>
          <p:cNvSpPr>
            <a:spLocks noChangeShapeType="1"/>
          </p:cNvSpPr>
          <p:nvPr/>
        </p:nvSpPr>
        <p:spPr bwMode="auto">
          <a:xfrm>
            <a:off x="6682680" y="2348880"/>
            <a:ext cx="2590800" cy="0"/>
          </a:xfrm>
          <a:prstGeom prst="line">
            <a:avLst/>
          </a:prstGeom>
          <a:noFill/>
          <a:ln w="6350">
            <a:solidFill>
              <a:schemeClr val="bg1"/>
            </a:solidFill>
            <a:round/>
            <a:headEnd/>
            <a:tailEnd type="none" w="med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4" name="AutoShape 22"/>
          <p:cNvSpPr>
            <a:spLocks noChangeArrowheads="1"/>
          </p:cNvSpPr>
          <p:nvPr/>
        </p:nvSpPr>
        <p:spPr bwMode="auto">
          <a:xfrm>
            <a:off x="6508062" y="3814564"/>
            <a:ext cx="127000" cy="190500"/>
          </a:xfrm>
          <a:prstGeom prst="homePlate">
            <a:avLst>
              <a:gd name="adj" fmla="val 77083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tx1"/>
            </a:solidFill>
            <a:miter lim="800000"/>
            <a:headEnd/>
            <a:tailEnd type="none" w="med" len="sm"/>
          </a:ln>
          <a:effectLst/>
        </p:spPr>
        <p:txBody>
          <a:bodyPr wrap="none" lIns="90000" tIns="46800" rIns="90000" bIns="46800" anchor="ctr"/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6682680" y="2600908"/>
            <a:ext cx="2590800" cy="360040"/>
          </a:xfrm>
          <a:prstGeom prst="rect">
            <a:avLst/>
          </a:prstGeom>
          <a:solidFill>
            <a:srgbClr val="FFFF99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endParaRPr lang="ko-KR" altLang="en-US" sz="1100" b="1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6682680" y="3032956"/>
            <a:ext cx="2590800" cy="792088"/>
          </a:xfrm>
          <a:prstGeom prst="rect">
            <a:avLst/>
          </a:prstGeom>
          <a:solidFill>
            <a:srgbClr val="FFFF99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r>
              <a:rPr lang="ko-KR" altLang="en-US" sz="11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사용자가 원하는 내용</a:t>
            </a:r>
            <a:r>
              <a:rPr lang="en-US" altLang="ko-KR" sz="11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Keyword </a:t>
            </a:r>
            <a:r>
              <a:rPr lang="ko-KR" altLang="en-US" sz="11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를 통하여 유입한 사용자들이 원하는 </a:t>
            </a:r>
            <a:r>
              <a:rPr lang="ko-KR" altLang="en-US" sz="1100" b="1" dirty="0" err="1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컨텐츠를</a:t>
            </a:r>
            <a:r>
              <a:rPr lang="ko-KR" altLang="en-US" sz="11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노출함</a:t>
            </a:r>
          </a:p>
        </p:txBody>
      </p:sp>
      <p:sp>
        <p:nvSpPr>
          <p:cNvPr id="19" name="직사각형 18"/>
          <p:cNvSpPr/>
          <p:nvPr/>
        </p:nvSpPr>
        <p:spPr>
          <a:xfrm>
            <a:off x="632520" y="2420888"/>
            <a:ext cx="5832648" cy="36004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r>
              <a:rPr lang="ko-KR" altLang="en-US" sz="11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차별화 된 전문적인 온라인 </a:t>
            </a:r>
            <a:r>
              <a:rPr lang="ko-KR" altLang="en-US" sz="1100" b="1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채널 서비스를 </a:t>
            </a:r>
            <a:r>
              <a:rPr lang="ko-KR" altLang="en-US" sz="11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런칭</a:t>
            </a:r>
          </a:p>
        </p:txBody>
      </p:sp>
      <p:sp>
        <p:nvSpPr>
          <p:cNvPr id="20" name="직사각형 19"/>
          <p:cNvSpPr/>
          <p:nvPr/>
        </p:nvSpPr>
        <p:spPr>
          <a:xfrm>
            <a:off x="632520" y="2852936"/>
            <a:ext cx="5832648" cy="36004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r>
              <a:rPr lang="ko-KR" altLang="en-US" sz="11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기존 </a:t>
            </a:r>
            <a:r>
              <a:rPr lang="en" altLang="ko-KR" sz="11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XXX</a:t>
            </a:r>
            <a:r>
              <a:rPr lang="ko-KR" altLang="en-US" sz="11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금융</a:t>
            </a:r>
            <a:r>
              <a:rPr lang="en-US" altLang="ko-KR" sz="11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100" b="1" dirty="0" err="1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고객군의</a:t>
            </a:r>
            <a:r>
              <a:rPr lang="ko-KR" altLang="en-US" sz="11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활용과 프로모션을 바탕으로 고객을 확보</a:t>
            </a:r>
          </a:p>
        </p:txBody>
      </p:sp>
      <p:sp>
        <p:nvSpPr>
          <p:cNvPr id="21" name="직사각형 20"/>
          <p:cNvSpPr/>
          <p:nvPr/>
        </p:nvSpPr>
        <p:spPr>
          <a:xfrm>
            <a:off x="632520" y="3284984"/>
            <a:ext cx="5832648" cy="36004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r>
              <a:rPr lang="ko-KR" altLang="en-US" sz="1100" b="1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개인화 서비스 </a:t>
            </a:r>
            <a:r>
              <a:rPr lang="ko-KR" altLang="en-US" sz="11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강조를 통한 고객 충성도 확보</a:t>
            </a:r>
          </a:p>
        </p:txBody>
      </p:sp>
      <p:sp>
        <p:nvSpPr>
          <p:cNvPr id="22" name="직사각형 21"/>
          <p:cNvSpPr/>
          <p:nvPr/>
        </p:nvSpPr>
        <p:spPr>
          <a:xfrm>
            <a:off x="632520" y="3737284"/>
            <a:ext cx="5832648" cy="36004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r>
              <a:rPr lang="ko-KR" altLang="en-US" sz="11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고객이 원하는 상품에 대해 쉽게 보여져야 함</a:t>
            </a:r>
          </a:p>
        </p:txBody>
      </p:sp>
      <p:sp>
        <p:nvSpPr>
          <p:cNvPr id="23" name="직사각형 22"/>
          <p:cNvSpPr/>
          <p:nvPr/>
        </p:nvSpPr>
        <p:spPr>
          <a:xfrm>
            <a:off x="632520" y="4203836"/>
            <a:ext cx="5832648" cy="36004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r>
              <a:rPr lang="ko-KR" altLang="en-US" sz="11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이탈방지 및 재유입 프로세스</a:t>
            </a:r>
          </a:p>
        </p:txBody>
      </p:sp>
      <p:sp>
        <p:nvSpPr>
          <p:cNvPr id="24" name="직사각형 23"/>
          <p:cNvSpPr/>
          <p:nvPr/>
        </p:nvSpPr>
        <p:spPr>
          <a:xfrm>
            <a:off x="632520" y="1988840"/>
            <a:ext cx="5832648" cy="36004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r>
              <a:rPr lang="ko-KR" altLang="en-US" sz="11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효과적인 고객 체험전략을 수립 함으로써</a:t>
            </a:r>
            <a:r>
              <a:rPr lang="en-US" altLang="ko-KR" sz="11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1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다음과 같은 과제를 달성할 수 있도록 함</a:t>
            </a:r>
          </a:p>
        </p:txBody>
      </p:sp>
      <p:sp>
        <p:nvSpPr>
          <p:cNvPr id="26" name="직사각형 25"/>
          <p:cNvSpPr/>
          <p:nvPr/>
        </p:nvSpPr>
        <p:spPr>
          <a:xfrm>
            <a:off x="6682680" y="3861048"/>
            <a:ext cx="2590800" cy="522808"/>
          </a:xfrm>
          <a:prstGeom prst="rect">
            <a:avLst/>
          </a:prstGeom>
          <a:solidFill>
            <a:srgbClr val="FFFF99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r>
              <a:rPr lang="en-US" altLang="ko-KR" sz="11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1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를 구현하기 위한 </a:t>
            </a:r>
            <a:r>
              <a:rPr lang="en-US" altLang="ko-KR" sz="11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U.I / U.X </a:t>
            </a:r>
            <a:r>
              <a:rPr lang="ko-KR" altLang="en-US" sz="11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구성 필요</a:t>
            </a:r>
          </a:p>
        </p:txBody>
      </p:sp>
    </p:spTree>
    <p:extLst>
      <p:ext uri="{BB962C8B-B14F-4D97-AF65-F5344CB8AC3E}">
        <p14:creationId xmlns:p14="http://schemas.microsoft.com/office/powerpoint/2010/main" val="9891657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488504" y="1844824"/>
            <a:ext cx="8928992" cy="288032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44017" y="91339"/>
            <a:ext cx="7401271" cy="385333"/>
          </a:xfrm>
          <a:prstGeom prst="rect">
            <a:avLst/>
          </a:prstGeom>
          <a:noFill/>
        </p:spPr>
        <p:txBody>
          <a:bodyPr wrap="square" lIns="0" tIns="53643" rIns="0" bIns="53643" rtlCol="0">
            <a:spAutoFit/>
          </a:bodyPr>
          <a:lstStyle/>
          <a:p>
            <a:r>
              <a:rPr kumimoji="1" lang="en-US" altLang="ko-KR" b="1" kern="0" dirty="0">
                <a:latin typeface="나눔고딕" panose="020D0604000000000000" pitchFamily="50" charset="-127"/>
                <a:ea typeface="나눔고딕" panose="020D0604000000000000" pitchFamily="50" charset="-127"/>
                <a:cs typeface="산돌고딕 M"/>
              </a:rPr>
              <a:t>User Experience modeling</a:t>
            </a:r>
            <a:endParaRPr kumimoji="1" lang="ko-KR" altLang="en-US" b="1" kern="0" dirty="0">
              <a:latin typeface="나눔고딕" panose="020D0604000000000000" pitchFamily="50" charset="-127"/>
              <a:ea typeface="나눔고딕" panose="020D0604000000000000" pitchFamily="50" charset="-127"/>
              <a:cs typeface="산돌고딕 M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44017" y="683985"/>
            <a:ext cx="96335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Abstract Key Question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8504" y="991762"/>
            <a:ext cx="9289032" cy="523220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사용자의 이탈을 방지하기 위한 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Interface 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의 최소화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그리고 이탈된 사용자를 재유입 시키기 위한 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Retention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process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가</a:t>
            </a:r>
            <a:b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필요합니다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2520" y="5082569"/>
            <a:ext cx="8784976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charset="0"/>
              <a:buChar char="•"/>
            </a:pPr>
            <a:r>
              <a:rPr lang="ko-KR" altLang="en-US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사용자의 이탈을 방지하기 위한 최소한의 </a:t>
            </a:r>
            <a:r>
              <a:rPr lang="ko-KR" altLang="en-US" sz="11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장치로써의</a:t>
            </a:r>
            <a:r>
              <a:rPr lang="ko-KR" altLang="en-US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U.I / U.X </a:t>
            </a:r>
            <a:r>
              <a:rPr lang="ko-KR" altLang="en-US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구성과 </a:t>
            </a:r>
            <a:r>
              <a:rPr lang="en-US" altLang="ko-KR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Process </a:t>
            </a:r>
            <a:r>
              <a:rPr lang="ko-KR" altLang="en-US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구성</a:t>
            </a:r>
            <a:endParaRPr lang="en-US" altLang="ko-KR" sz="11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71450" indent="-171450">
              <a:buFont typeface="Arial" charset="0"/>
              <a:buChar char="•"/>
            </a:pPr>
            <a:endParaRPr lang="en-US" altLang="ko-KR" sz="11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71450" indent="-171450">
              <a:buFont typeface="Arial" charset="0"/>
              <a:buChar char="•"/>
            </a:pPr>
            <a:r>
              <a:rPr lang="ko-KR" altLang="en-US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이탈된 사용자를 재유입 시키기 위한 </a:t>
            </a:r>
            <a:r>
              <a:rPr lang="en-US" altLang="ko-KR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Retention process </a:t>
            </a:r>
            <a:r>
              <a:rPr lang="ko-KR" altLang="en-US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구성</a:t>
            </a:r>
            <a:endParaRPr lang="en-US" altLang="ko-KR" sz="11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2" name="Text Box 20"/>
          <p:cNvSpPr txBox="1">
            <a:spLocks noChangeArrowheads="1"/>
          </p:cNvSpPr>
          <p:nvPr/>
        </p:nvSpPr>
        <p:spPr bwMode="auto">
          <a:xfrm>
            <a:off x="6609184" y="1987243"/>
            <a:ext cx="2438400" cy="3939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268288" indent="-8890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>
              <a:lnSpc>
                <a:spcPct val="140000"/>
              </a:lnSpc>
            </a:pPr>
            <a:r>
              <a:rPr kumimoji="0" lang="en-US" altLang="ko-KR" sz="14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Strategic approach</a:t>
            </a:r>
          </a:p>
        </p:txBody>
      </p:sp>
      <p:sp>
        <p:nvSpPr>
          <p:cNvPr id="13" name="Line 21"/>
          <p:cNvSpPr>
            <a:spLocks noChangeShapeType="1"/>
          </p:cNvSpPr>
          <p:nvPr/>
        </p:nvSpPr>
        <p:spPr bwMode="auto">
          <a:xfrm>
            <a:off x="6682680" y="2348880"/>
            <a:ext cx="2590800" cy="0"/>
          </a:xfrm>
          <a:prstGeom prst="line">
            <a:avLst/>
          </a:prstGeom>
          <a:noFill/>
          <a:ln w="6350">
            <a:solidFill>
              <a:schemeClr val="bg1"/>
            </a:solidFill>
            <a:round/>
            <a:headEnd/>
            <a:tailEnd type="none" w="med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4" name="AutoShape 22"/>
          <p:cNvSpPr>
            <a:spLocks noChangeArrowheads="1"/>
          </p:cNvSpPr>
          <p:nvPr/>
        </p:nvSpPr>
        <p:spPr bwMode="auto">
          <a:xfrm>
            <a:off x="6508062" y="4293096"/>
            <a:ext cx="127000" cy="190500"/>
          </a:xfrm>
          <a:prstGeom prst="homePlate">
            <a:avLst>
              <a:gd name="adj" fmla="val 77083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tx1"/>
            </a:solidFill>
            <a:miter lim="800000"/>
            <a:headEnd/>
            <a:tailEnd type="none" w="med" len="sm"/>
          </a:ln>
          <a:effectLst/>
        </p:spPr>
        <p:txBody>
          <a:bodyPr wrap="none" lIns="90000" tIns="46800" rIns="90000" bIns="46800" anchor="ctr"/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6682680" y="2988326"/>
            <a:ext cx="2590800" cy="360040"/>
          </a:xfrm>
          <a:prstGeom prst="rect">
            <a:avLst/>
          </a:prstGeom>
          <a:solidFill>
            <a:srgbClr val="FFFF99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r>
              <a:rPr lang="ko-KR" altLang="en-US" sz="11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상품가입 프로세스 간소화</a:t>
            </a:r>
          </a:p>
        </p:txBody>
      </p:sp>
      <p:sp>
        <p:nvSpPr>
          <p:cNvPr id="18" name="직사각형 17"/>
          <p:cNvSpPr/>
          <p:nvPr/>
        </p:nvSpPr>
        <p:spPr>
          <a:xfrm>
            <a:off x="6682680" y="3420374"/>
            <a:ext cx="2590800" cy="535338"/>
          </a:xfrm>
          <a:prstGeom prst="rect">
            <a:avLst/>
          </a:prstGeom>
          <a:solidFill>
            <a:srgbClr val="FFFF99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r>
              <a:rPr lang="ko-KR" altLang="en-US" sz="11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다수의 단계로 이루어진 상품가입일 경우 사용자 </a:t>
            </a:r>
            <a:r>
              <a:rPr lang="ko-KR" altLang="en-US" sz="1100" b="1" dirty="0" err="1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이탈율이</a:t>
            </a:r>
            <a:r>
              <a:rPr lang="ko-KR" altLang="en-US" sz="11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높음</a:t>
            </a:r>
          </a:p>
        </p:txBody>
      </p:sp>
      <p:sp>
        <p:nvSpPr>
          <p:cNvPr id="19" name="직사각형 18"/>
          <p:cNvSpPr/>
          <p:nvPr/>
        </p:nvSpPr>
        <p:spPr>
          <a:xfrm>
            <a:off x="632520" y="2420888"/>
            <a:ext cx="5832648" cy="36004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r>
              <a:rPr lang="ko-KR" altLang="en-US" sz="11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차별화 된 전문적인 온라인 </a:t>
            </a:r>
            <a:r>
              <a:rPr lang="ko-KR" altLang="en-US" sz="1100" b="1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채널 서비스를 </a:t>
            </a:r>
            <a:r>
              <a:rPr lang="ko-KR" altLang="en-US" sz="11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런칭</a:t>
            </a:r>
          </a:p>
        </p:txBody>
      </p:sp>
      <p:sp>
        <p:nvSpPr>
          <p:cNvPr id="20" name="직사각형 19"/>
          <p:cNvSpPr/>
          <p:nvPr/>
        </p:nvSpPr>
        <p:spPr>
          <a:xfrm>
            <a:off x="632520" y="2852936"/>
            <a:ext cx="5832648" cy="36004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r>
              <a:rPr lang="ko-KR" altLang="en-US" sz="11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기존 </a:t>
            </a:r>
            <a:r>
              <a:rPr lang="en" altLang="ko-KR" sz="11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XXX</a:t>
            </a:r>
            <a:r>
              <a:rPr lang="ko-KR" altLang="en-US" sz="11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금융</a:t>
            </a:r>
            <a:r>
              <a:rPr lang="en-US" altLang="ko-KR" sz="11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100" b="1" dirty="0" err="1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고객군의</a:t>
            </a:r>
            <a:r>
              <a:rPr lang="ko-KR" altLang="en-US" sz="11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활용과 프로모션을 바탕으로 고객을 확보</a:t>
            </a:r>
          </a:p>
        </p:txBody>
      </p:sp>
      <p:sp>
        <p:nvSpPr>
          <p:cNvPr id="21" name="직사각형 20"/>
          <p:cNvSpPr/>
          <p:nvPr/>
        </p:nvSpPr>
        <p:spPr>
          <a:xfrm>
            <a:off x="632520" y="3284984"/>
            <a:ext cx="5832648" cy="36004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r>
              <a:rPr lang="ko-KR" altLang="en-US" sz="1100" b="1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개인화 서비스 </a:t>
            </a:r>
            <a:r>
              <a:rPr lang="ko-KR" altLang="en-US" sz="11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강조를 통한 고객 충성도 확보</a:t>
            </a:r>
          </a:p>
        </p:txBody>
      </p:sp>
      <p:sp>
        <p:nvSpPr>
          <p:cNvPr id="22" name="직사각형 21"/>
          <p:cNvSpPr/>
          <p:nvPr/>
        </p:nvSpPr>
        <p:spPr>
          <a:xfrm>
            <a:off x="632520" y="3737284"/>
            <a:ext cx="5832648" cy="36004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r>
              <a:rPr lang="ko-KR" altLang="en-US" sz="11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고객이 원하는 상품에 대해 쉽게 보여져야 함</a:t>
            </a:r>
          </a:p>
        </p:txBody>
      </p:sp>
      <p:sp>
        <p:nvSpPr>
          <p:cNvPr id="23" name="직사각형 22"/>
          <p:cNvSpPr/>
          <p:nvPr/>
        </p:nvSpPr>
        <p:spPr>
          <a:xfrm>
            <a:off x="632520" y="4203836"/>
            <a:ext cx="5832648" cy="36004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r>
              <a:rPr lang="ko-KR" altLang="en-US" sz="11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이탈방지 및 재유입 프로세스</a:t>
            </a:r>
          </a:p>
        </p:txBody>
      </p:sp>
      <p:sp>
        <p:nvSpPr>
          <p:cNvPr id="24" name="직사각형 23"/>
          <p:cNvSpPr/>
          <p:nvPr/>
        </p:nvSpPr>
        <p:spPr>
          <a:xfrm>
            <a:off x="632520" y="1988840"/>
            <a:ext cx="5832648" cy="36004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r>
              <a:rPr lang="ko-KR" altLang="en-US" sz="11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효과적인 고객 체험전략을 수립 함으로써</a:t>
            </a:r>
            <a:r>
              <a:rPr lang="en-US" altLang="ko-KR" sz="11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1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다음과 같은 과제를 달성할 수 있도록 함</a:t>
            </a:r>
          </a:p>
        </p:txBody>
      </p:sp>
      <p:sp>
        <p:nvSpPr>
          <p:cNvPr id="27" name="직사각형 26"/>
          <p:cNvSpPr/>
          <p:nvPr/>
        </p:nvSpPr>
        <p:spPr>
          <a:xfrm>
            <a:off x="6682680" y="4027720"/>
            <a:ext cx="2590800" cy="535338"/>
          </a:xfrm>
          <a:prstGeom prst="rect">
            <a:avLst/>
          </a:prstGeom>
          <a:solidFill>
            <a:srgbClr val="FFFF99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r>
              <a:rPr lang="ko-KR" altLang="en-US" sz="11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이탈한 사용자의</a:t>
            </a:r>
            <a:r>
              <a:rPr lang="en-US" altLang="ko-KR" sz="11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1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재유입을 위한 </a:t>
            </a:r>
            <a:r>
              <a:rPr lang="en-US" altLang="ko-KR" sz="11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Retention process</a:t>
            </a:r>
            <a:r>
              <a:rPr lang="ko-KR" altLang="en-US" sz="11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가 필요함</a:t>
            </a:r>
          </a:p>
        </p:txBody>
      </p:sp>
    </p:spTree>
    <p:extLst>
      <p:ext uri="{BB962C8B-B14F-4D97-AF65-F5344CB8AC3E}">
        <p14:creationId xmlns:p14="http://schemas.microsoft.com/office/powerpoint/2010/main" val="25236318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44017" y="91339"/>
            <a:ext cx="7401271" cy="385333"/>
          </a:xfrm>
          <a:prstGeom prst="rect">
            <a:avLst/>
          </a:prstGeom>
          <a:noFill/>
        </p:spPr>
        <p:txBody>
          <a:bodyPr wrap="square" lIns="0" tIns="53643" rIns="0" bIns="53643" rtlCol="0">
            <a:spAutoFit/>
          </a:bodyPr>
          <a:lstStyle/>
          <a:p>
            <a:r>
              <a:rPr kumimoji="1" lang="en-US" altLang="ko-KR" b="1" kern="0" dirty="0">
                <a:latin typeface="나눔고딕" panose="020D0604000000000000" pitchFamily="50" charset="-127"/>
                <a:ea typeface="나눔고딕" panose="020D0604000000000000" pitchFamily="50" charset="-127"/>
                <a:cs typeface="산돌고딕 M"/>
              </a:rPr>
              <a:t>User Experience modeling</a:t>
            </a:r>
            <a:endParaRPr kumimoji="1" lang="ko-KR" altLang="en-US" b="1" kern="0" dirty="0">
              <a:latin typeface="나눔고딕" panose="020D0604000000000000" pitchFamily="50" charset="-127"/>
              <a:ea typeface="나눔고딕" panose="020D0604000000000000" pitchFamily="50" charset="-127"/>
              <a:cs typeface="산돌고딕 M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44017" y="683985"/>
            <a:ext cx="96335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고객분석</a:t>
            </a:r>
            <a:endParaRPr lang="en-US" altLang="ko-KR" sz="14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488504" y="991762"/>
            <a:ext cx="9289032" cy="523220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고객의 사이트 체험 전략을 수립하기 위해 가장 선결 과제는 </a:t>
            </a:r>
            <a:r>
              <a:rPr lang="ko-KR" altLang="en-US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방문 고객의 상황을 시나리오로 구성하는 것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입니다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  <a:p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고객의 사이트 방문 시나리오를 작성하여 향후 수립되는 기획의 기준으로 삼게 됩니다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5" name="Text Box 4"/>
          <p:cNvSpPr txBox="1">
            <a:spLocks noChangeArrowheads="1"/>
          </p:cNvSpPr>
          <p:nvPr/>
        </p:nvSpPr>
        <p:spPr bwMode="auto">
          <a:xfrm>
            <a:off x="1001447" y="1926233"/>
            <a:ext cx="35052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spcBef>
                <a:spcPct val="50000"/>
              </a:spcBef>
            </a:pPr>
            <a:r>
              <a:rPr lang="en-US" altLang="ko-KR" sz="1400" b="1">
                <a:latin typeface="나눔고딕" panose="020D0604000000000000" pitchFamily="50" charset="-127"/>
                <a:ea typeface="나눔고딕" panose="020D0604000000000000" pitchFamily="50" charset="-127"/>
              </a:rPr>
              <a:t>Customer Behavior Process</a:t>
            </a:r>
          </a:p>
        </p:txBody>
      </p:sp>
      <p:pic>
        <p:nvPicPr>
          <p:cNvPr id="51" name="Picture 2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5847" y="1700808"/>
            <a:ext cx="323850" cy="781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2" name="오각형 100"/>
          <p:cNvSpPr>
            <a:spLocks noChangeArrowheads="1"/>
          </p:cNvSpPr>
          <p:nvPr/>
        </p:nvSpPr>
        <p:spPr bwMode="auto">
          <a:xfrm>
            <a:off x="8049344" y="2554511"/>
            <a:ext cx="1656722" cy="648072"/>
          </a:xfrm>
          <a:prstGeom prst="homePlate">
            <a:avLst>
              <a:gd name="adj" fmla="val 35023"/>
            </a:avLst>
          </a:prstGeom>
          <a:solidFill>
            <a:schemeClr val="bg1">
              <a:lumMod val="85000"/>
            </a:schemeClr>
          </a:solidFill>
          <a:ln w="19050" algn="ctr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lIns="0" tIns="0" rIns="0" bIns="0" anchor="ctr"/>
          <a:lstStyle/>
          <a:p>
            <a:pPr algn="ctr" defTabSz="741363"/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고객</a:t>
            </a:r>
            <a:endParaRPr lang="en-US" altLang="ko-KR" sz="1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 defTabSz="741363"/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Needs </a:t>
            </a:r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추출</a:t>
            </a:r>
            <a:endParaRPr lang="en-US" altLang="ko-KR" sz="1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4" name="오각형 100"/>
          <p:cNvSpPr>
            <a:spLocks noChangeArrowheads="1"/>
          </p:cNvSpPr>
          <p:nvPr/>
        </p:nvSpPr>
        <p:spPr bwMode="auto">
          <a:xfrm>
            <a:off x="6545385" y="2554511"/>
            <a:ext cx="1656722" cy="648072"/>
          </a:xfrm>
          <a:prstGeom prst="homePlate">
            <a:avLst>
              <a:gd name="adj" fmla="val 16388"/>
            </a:avLst>
          </a:prstGeom>
          <a:solidFill>
            <a:schemeClr val="bg1">
              <a:lumMod val="85000"/>
            </a:schemeClr>
          </a:solidFill>
          <a:ln w="19050" algn="ctr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lIns="0" tIns="0" rIns="0" bIns="0" anchor="ctr"/>
          <a:lstStyle/>
          <a:p>
            <a:pPr algn="ctr" defTabSz="741363"/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단계별</a:t>
            </a:r>
            <a:endParaRPr lang="en-US" altLang="ko-KR" sz="1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 defTabSz="741363"/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시나리오</a:t>
            </a:r>
            <a:endParaRPr lang="en-US" altLang="ko-KR" sz="1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5" name="오각형 100"/>
          <p:cNvSpPr>
            <a:spLocks noChangeArrowheads="1"/>
          </p:cNvSpPr>
          <p:nvPr/>
        </p:nvSpPr>
        <p:spPr bwMode="auto">
          <a:xfrm>
            <a:off x="5091558" y="2554511"/>
            <a:ext cx="1656722" cy="648072"/>
          </a:xfrm>
          <a:prstGeom prst="homePlate">
            <a:avLst>
              <a:gd name="adj" fmla="val 23043"/>
            </a:avLst>
          </a:prstGeom>
          <a:solidFill>
            <a:schemeClr val="bg1">
              <a:lumMod val="85000"/>
            </a:schemeClr>
          </a:solidFill>
          <a:ln w="19050" algn="ctr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lIns="0" tIns="0" rIns="0" bIns="0" anchor="ctr"/>
          <a:lstStyle/>
          <a:p>
            <a:pPr algn="ctr" defTabSz="741363"/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사이트</a:t>
            </a:r>
            <a:endParaRPr lang="en-US" altLang="ko-KR" sz="1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 defTabSz="741363"/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주요단계</a:t>
            </a:r>
            <a:endParaRPr lang="en-US" altLang="ko-KR" sz="1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6" name="오각형 100"/>
          <p:cNvSpPr>
            <a:spLocks noChangeArrowheads="1"/>
          </p:cNvSpPr>
          <p:nvPr/>
        </p:nvSpPr>
        <p:spPr bwMode="auto">
          <a:xfrm>
            <a:off x="3587599" y="2554511"/>
            <a:ext cx="1656722" cy="648072"/>
          </a:xfrm>
          <a:prstGeom prst="homePlate">
            <a:avLst>
              <a:gd name="adj" fmla="val 8401"/>
            </a:avLst>
          </a:prstGeom>
          <a:solidFill>
            <a:schemeClr val="bg1">
              <a:lumMod val="85000"/>
            </a:schemeClr>
          </a:solidFill>
          <a:ln w="19050" algn="ctr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lIns="0" tIns="0" rIns="0" bIns="0" anchor="ctr"/>
          <a:lstStyle/>
          <a:p>
            <a:pPr algn="ctr" defTabSz="741363"/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고객정보 기술</a:t>
            </a:r>
            <a:endParaRPr lang="en-US" altLang="ko-KR" sz="1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7" name="오각형 100"/>
          <p:cNvSpPr>
            <a:spLocks noChangeArrowheads="1"/>
          </p:cNvSpPr>
          <p:nvPr/>
        </p:nvSpPr>
        <p:spPr bwMode="auto">
          <a:xfrm>
            <a:off x="2107522" y="2554511"/>
            <a:ext cx="1656722" cy="648072"/>
          </a:xfrm>
          <a:prstGeom prst="homePlate">
            <a:avLst>
              <a:gd name="adj" fmla="val 16388"/>
            </a:avLst>
          </a:prstGeom>
          <a:solidFill>
            <a:schemeClr val="bg1">
              <a:lumMod val="85000"/>
            </a:schemeClr>
          </a:solidFill>
          <a:ln w="19050" algn="ctr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lIns="0" tIns="0" rIns="0" bIns="0" anchor="ctr"/>
          <a:lstStyle/>
          <a:p>
            <a:pPr algn="ctr" defTabSz="741363"/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목적에 따른</a:t>
            </a:r>
            <a:endParaRPr lang="en-US" altLang="ko-KR" sz="1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 defTabSz="741363"/>
            <a:r>
              <a:rPr lang="ko-KR" altLang="en-US" sz="1000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고객군</a:t>
            </a:r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구성</a:t>
            </a:r>
            <a:endParaRPr lang="en-US" altLang="ko-KR" sz="1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8" name="오각형 100"/>
          <p:cNvSpPr>
            <a:spLocks noChangeArrowheads="1"/>
          </p:cNvSpPr>
          <p:nvPr/>
        </p:nvSpPr>
        <p:spPr bwMode="auto">
          <a:xfrm>
            <a:off x="645847" y="2554511"/>
            <a:ext cx="1656722" cy="648072"/>
          </a:xfrm>
          <a:prstGeom prst="homePlate">
            <a:avLst>
              <a:gd name="adj" fmla="val 12395"/>
            </a:avLst>
          </a:prstGeom>
          <a:solidFill>
            <a:schemeClr val="bg1">
              <a:lumMod val="85000"/>
            </a:schemeClr>
          </a:solidFill>
          <a:ln w="19050" algn="ctr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lIns="0" tIns="0" rIns="0" bIns="0" anchor="ctr"/>
          <a:lstStyle/>
          <a:p>
            <a:pPr algn="ctr" defTabSz="741363"/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방문목적</a:t>
            </a:r>
            <a:endParaRPr lang="en-US" altLang="ko-KR" sz="1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" name="모서리가 둥근 직사각형 7"/>
          <p:cNvSpPr/>
          <p:nvPr/>
        </p:nvSpPr>
        <p:spPr>
          <a:xfrm>
            <a:off x="645847" y="3274591"/>
            <a:ext cx="1461675" cy="936104"/>
          </a:xfrm>
          <a:prstGeom prst="roundRect">
            <a:avLst>
              <a:gd name="adj" fmla="val 289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9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Step 1</a:t>
            </a:r>
          </a:p>
          <a:p>
            <a:endParaRPr lang="en-US" altLang="ko-KR" sz="9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ko-KR" altLang="en-US" sz="9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고객의 주요 사이트 방문 목적을 파악한다</a:t>
            </a:r>
            <a:r>
              <a:rPr lang="en-US" altLang="ko-KR" sz="9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9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9" name="모서리가 둥근 직사각형 58"/>
          <p:cNvSpPr/>
          <p:nvPr/>
        </p:nvSpPr>
        <p:spPr>
          <a:xfrm>
            <a:off x="2144688" y="3274591"/>
            <a:ext cx="1461675" cy="936104"/>
          </a:xfrm>
          <a:prstGeom prst="roundRect">
            <a:avLst>
              <a:gd name="adj" fmla="val 289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9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Step 2</a:t>
            </a:r>
          </a:p>
          <a:p>
            <a:endParaRPr lang="en-US" altLang="ko-KR" sz="9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ko-KR" altLang="en-US" sz="9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각 방문목적에 맞는 </a:t>
            </a:r>
            <a:r>
              <a:rPr lang="ko-KR" altLang="en-US" sz="900" dirty="0" err="1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고객군을</a:t>
            </a:r>
            <a:r>
              <a:rPr lang="ko-KR" altLang="en-US" sz="9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선정한다</a:t>
            </a:r>
            <a:r>
              <a:rPr lang="en-US" altLang="ko-KR" sz="9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9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0" name="모서리가 둥근 직사각형 59"/>
          <p:cNvSpPr/>
          <p:nvPr/>
        </p:nvSpPr>
        <p:spPr>
          <a:xfrm>
            <a:off x="3656856" y="3274591"/>
            <a:ext cx="1461675" cy="936104"/>
          </a:xfrm>
          <a:prstGeom prst="roundRect">
            <a:avLst>
              <a:gd name="adj" fmla="val 289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9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Step 3</a:t>
            </a:r>
          </a:p>
          <a:p>
            <a:endParaRPr lang="en-US" altLang="ko-KR" sz="9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ko-KR" altLang="en-US" sz="900" dirty="0" err="1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고객군에</a:t>
            </a:r>
            <a:r>
              <a:rPr lang="ko-KR" altLang="en-US" sz="9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맞도록 사이트의 정보를 기술한다</a:t>
            </a:r>
            <a:r>
              <a:rPr lang="en-US" altLang="ko-KR" sz="9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</p:txBody>
      </p:sp>
      <p:sp>
        <p:nvSpPr>
          <p:cNvPr id="61" name="모서리가 둥근 직사각형 60"/>
          <p:cNvSpPr/>
          <p:nvPr/>
        </p:nvSpPr>
        <p:spPr>
          <a:xfrm>
            <a:off x="5155697" y="3274591"/>
            <a:ext cx="1461675" cy="936104"/>
          </a:xfrm>
          <a:prstGeom prst="roundRect">
            <a:avLst>
              <a:gd name="adj" fmla="val 289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9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Step 4</a:t>
            </a:r>
          </a:p>
          <a:p>
            <a:endParaRPr lang="en-US" altLang="ko-KR" sz="9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ko-KR" altLang="en-US" sz="9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사이트 이용의 주요 단계를 정의한다</a:t>
            </a:r>
            <a:r>
              <a:rPr lang="en-US" altLang="ko-KR" sz="9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</p:txBody>
      </p:sp>
      <p:sp>
        <p:nvSpPr>
          <p:cNvPr id="62" name="모서리가 둥근 직사각형 61"/>
          <p:cNvSpPr/>
          <p:nvPr/>
        </p:nvSpPr>
        <p:spPr>
          <a:xfrm>
            <a:off x="6655752" y="3274591"/>
            <a:ext cx="1461675" cy="936104"/>
          </a:xfrm>
          <a:prstGeom prst="roundRect">
            <a:avLst>
              <a:gd name="adj" fmla="val 289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9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Step 5</a:t>
            </a:r>
          </a:p>
          <a:p>
            <a:endParaRPr lang="en-US" altLang="ko-KR" sz="9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ko-KR" altLang="en-US" sz="9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각 단계별로 구체화된 시나리오를 작성한다</a:t>
            </a:r>
            <a:r>
              <a:rPr lang="en-US" altLang="ko-KR" sz="9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</p:txBody>
      </p:sp>
      <p:sp>
        <p:nvSpPr>
          <p:cNvPr id="63" name="모서리가 둥근 직사각형 62"/>
          <p:cNvSpPr/>
          <p:nvPr/>
        </p:nvSpPr>
        <p:spPr>
          <a:xfrm>
            <a:off x="8154593" y="3274591"/>
            <a:ext cx="1461675" cy="936104"/>
          </a:xfrm>
          <a:prstGeom prst="roundRect">
            <a:avLst>
              <a:gd name="adj" fmla="val 289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9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Step 6</a:t>
            </a:r>
          </a:p>
          <a:p>
            <a:endParaRPr lang="en-US" altLang="ko-KR" sz="9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ko-KR" altLang="en-US" sz="9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작성된 시나리오를 </a:t>
            </a:r>
            <a:r>
              <a:rPr lang="ko-KR" altLang="en-US" sz="90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바탕으로 서비스에 </a:t>
            </a:r>
            <a:r>
              <a:rPr lang="ko-KR" altLang="en-US" sz="9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대한 고객의 </a:t>
            </a:r>
            <a:r>
              <a:rPr lang="en-US" altLang="ko-KR" sz="9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needs</a:t>
            </a:r>
            <a:r>
              <a:rPr lang="ko-KR" altLang="en-US" sz="9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를 추출한다</a:t>
            </a:r>
            <a:r>
              <a:rPr lang="en-US" altLang="ko-KR" sz="9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</p:txBody>
      </p:sp>
      <p:sp>
        <p:nvSpPr>
          <p:cNvPr id="64" name="모서리가 둥근 직사각형 63"/>
          <p:cNvSpPr/>
          <p:nvPr/>
        </p:nvSpPr>
        <p:spPr>
          <a:xfrm>
            <a:off x="645847" y="4263458"/>
            <a:ext cx="1461675" cy="2117870"/>
          </a:xfrm>
          <a:prstGeom prst="roundRect">
            <a:avLst>
              <a:gd name="adj" fmla="val 289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ko-KR" altLang="en-US" sz="90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서비스에 </a:t>
            </a:r>
            <a:r>
              <a:rPr lang="ko-KR" altLang="en-US" sz="9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대한 가입</a:t>
            </a:r>
            <a:endParaRPr lang="en-US" altLang="ko-KR" sz="9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90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서비스에 </a:t>
            </a:r>
            <a:r>
              <a:rPr lang="ko-KR" altLang="en-US" sz="9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대한 궁금증</a:t>
            </a:r>
            <a:endParaRPr lang="en-US" altLang="ko-KR" sz="9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90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자신의 서비스가입 </a:t>
            </a:r>
            <a:r>
              <a:rPr lang="ko-KR" altLang="en-US" sz="9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현황</a:t>
            </a:r>
            <a:endParaRPr lang="en-US" altLang="ko-KR" sz="9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9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기타 </a:t>
            </a:r>
            <a:r>
              <a:rPr lang="en-US" altLang="ko-KR" sz="9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Lock-in Point</a:t>
            </a:r>
            <a:endParaRPr lang="ko-KR" altLang="en-US" sz="9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5" name="모서리가 둥근 직사각형 64"/>
          <p:cNvSpPr/>
          <p:nvPr/>
        </p:nvSpPr>
        <p:spPr>
          <a:xfrm>
            <a:off x="2144688" y="4263458"/>
            <a:ext cx="1461675" cy="2117870"/>
          </a:xfrm>
          <a:prstGeom prst="roundRect">
            <a:avLst>
              <a:gd name="adj" fmla="val 289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ko-KR" altLang="en-US" sz="900" b="1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서비스가입</a:t>
            </a:r>
            <a:endParaRPr lang="en-US" altLang="ko-KR" sz="900" b="1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9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- </a:t>
            </a:r>
            <a:r>
              <a:rPr lang="ko-KR" altLang="en-US" sz="9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원하는 상품 노출</a:t>
            </a:r>
            <a:endParaRPr lang="en-US" altLang="ko-KR" sz="9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9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- </a:t>
            </a:r>
            <a:r>
              <a:rPr lang="ko-KR" altLang="en-US" sz="9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관련상품 노출</a:t>
            </a:r>
            <a:endParaRPr lang="en-US" altLang="ko-KR" sz="9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9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- </a:t>
            </a:r>
            <a:r>
              <a:rPr lang="ko-KR" altLang="en-US" sz="9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메뉴구조 정의</a:t>
            </a:r>
            <a:endParaRPr lang="en-US" altLang="ko-KR" sz="9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900" b="1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서비스에 </a:t>
            </a:r>
            <a:r>
              <a:rPr lang="ko-KR" altLang="en-US" sz="9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대항 궁금증</a:t>
            </a:r>
            <a:endParaRPr lang="en-US" altLang="ko-KR" sz="900" b="1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9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90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 </a:t>
            </a:r>
            <a:r>
              <a:rPr lang="en" altLang="ko-KR" sz="90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XXX</a:t>
            </a:r>
            <a:r>
              <a:rPr lang="ko-KR" altLang="en-US" sz="90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서비스 </a:t>
            </a:r>
            <a:r>
              <a:rPr lang="en-US" altLang="ko-KR" sz="900" dirty="0" err="1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Infographic</a:t>
            </a:r>
            <a:endParaRPr lang="en-US" altLang="ko-KR" sz="9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900" b="1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서비스가입 </a:t>
            </a:r>
            <a:r>
              <a:rPr lang="ko-KR" altLang="en-US" sz="9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현황</a:t>
            </a:r>
            <a:endParaRPr lang="en-US" altLang="ko-KR" sz="900" b="1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9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- </a:t>
            </a:r>
            <a:r>
              <a:rPr lang="ko-KR" altLang="en-US" sz="90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개인화 서비스</a:t>
            </a:r>
            <a:endParaRPr lang="ko-KR" altLang="en-US" sz="9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6" name="모서리가 둥근 직사각형 65"/>
          <p:cNvSpPr/>
          <p:nvPr/>
        </p:nvSpPr>
        <p:spPr>
          <a:xfrm>
            <a:off x="3656856" y="4263458"/>
            <a:ext cx="1461675" cy="2117870"/>
          </a:xfrm>
          <a:prstGeom prst="roundRect">
            <a:avLst>
              <a:gd name="adj" fmla="val 289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ko-KR" altLang="en-US" sz="900" dirty="0" err="1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테마별</a:t>
            </a:r>
            <a:r>
              <a:rPr lang="ko-KR" altLang="en-US" sz="9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상품 구분</a:t>
            </a:r>
            <a:endParaRPr lang="en-US" altLang="ko-KR" sz="9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90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서비스상품별 </a:t>
            </a:r>
            <a:r>
              <a:rPr lang="ko-KR" altLang="en-US" sz="9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구분</a:t>
            </a:r>
            <a:endParaRPr lang="en-US" altLang="ko-KR" sz="9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9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Lock-in Contents </a:t>
            </a:r>
            <a:r>
              <a:rPr lang="ko-KR" altLang="en-US" sz="9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구성</a:t>
            </a:r>
            <a:endParaRPr lang="en-US" altLang="ko-KR" sz="9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7" name="모서리가 둥근 직사각형 66"/>
          <p:cNvSpPr/>
          <p:nvPr/>
        </p:nvSpPr>
        <p:spPr>
          <a:xfrm>
            <a:off x="5155697" y="4263458"/>
            <a:ext cx="1461675" cy="2117870"/>
          </a:xfrm>
          <a:prstGeom prst="roundRect">
            <a:avLst>
              <a:gd name="adj" fmla="val 289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en-US" altLang="ko-KR" sz="9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1. </a:t>
            </a:r>
            <a:r>
              <a:rPr lang="en" altLang="ko-KR" sz="9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XXX</a:t>
            </a:r>
            <a:r>
              <a:rPr lang="ko-KR" altLang="en-US" sz="9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설계</a:t>
            </a:r>
            <a:endParaRPr lang="en-US" altLang="ko-KR" sz="9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9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r>
            <a:r>
              <a:rPr lang="en-US" altLang="ko-KR" sz="90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ko-KR" altLang="en-US" sz="90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서비스에 </a:t>
            </a:r>
            <a:r>
              <a:rPr lang="ko-KR" altLang="en-US" sz="9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대한 인식</a:t>
            </a:r>
            <a:endParaRPr lang="en-US" altLang="ko-KR" sz="9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9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3. </a:t>
            </a:r>
            <a:r>
              <a:rPr lang="ko-KR" altLang="en-US" sz="90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개인화 서비스</a:t>
            </a:r>
            <a:endParaRPr lang="en-US" altLang="ko-KR" sz="9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9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4. </a:t>
            </a:r>
            <a:r>
              <a:rPr lang="ko-KR" altLang="en-US" sz="9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컨텐츠 </a:t>
            </a:r>
            <a:r>
              <a:rPr lang="ko-KR" altLang="en-US" sz="90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이용 서비스</a:t>
            </a:r>
            <a:endParaRPr lang="en-US" altLang="ko-KR" sz="9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8" name="모서리가 둥근 직사각형 67"/>
          <p:cNvSpPr/>
          <p:nvPr/>
        </p:nvSpPr>
        <p:spPr>
          <a:xfrm>
            <a:off x="6655752" y="4263458"/>
            <a:ext cx="1461675" cy="2117870"/>
          </a:xfrm>
          <a:prstGeom prst="roundRect">
            <a:avLst>
              <a:gd name="adj" fmla="val 289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en" altLang="ko-KR" sz="9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XXX</a:t>
            </a:r>
            <a:r>
              <a:rPr lang="ko-KR" altLang="en-US" sz="9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설계</a:t>
            </a:r>
            <a:endParaRPr lang="en-US" altLang="ko-KR" sz="900" b="1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9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- </a:t>
            </a:r>
            <a:r>
              <a:rPr lang="ko-KR" altLang="en-US" sz="9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최소화된 </a:t>
            </a:r>
            <a:r>
              <a:rPr lang="en-US" altLang="ko-KR" sz="9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Flow </a:t>
            </a:r>
            <a:r>
              <a:rPr lang="ko-KR" altLang="en-US" sz="9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가입</a:t>
            </a:r>
            <a:endParaRPr lang="en-US" altLang="ko-KR" sz="9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900" b="1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서비스에 </a:t>
            </a:r>
            <a:r>
              <a:rPr lang="ko-KR" altLang="en-US" sz="9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대한 인식</a:t>
            </a:r>
            <a:endParaRPr lang="en-US" altLang="ko-KR" sz="900" b="1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9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- Infographic </a:t>
            </a:r>
            <a:r>
              <a:rPr lang="ko-KR" altLang="en-US" sz="9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정보제공</a:t>
            </a:r>
            <a:endParaRPr lang="en-US" altLang="ko-KR" sz="9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900" b="1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개인화서비스</a:t>
            </a:r>
            <a:endParaRPr lang="en-US" altLang="ko-KR" sz="900" b="1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9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- </a:t>
            </a:r>
            <a:r>
              <a:rPr lang="ko-KR" altLang="en-US" sz="9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마이페이지 구성</a:t>
            </a:r>
            <a:endParaRPr lang="en-US" altLang="ko-KR" sz="9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9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컨텐츠 </a:t>
            </a:r>
            <a:r>
              <a:rPr lang="ko-KR" altLang="en-US" sz="900" b="1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이용 서비스</a:t>
            </a:r>
            <a:endParaRPr lang="en-US" altLang="ko-KR" sz="900" b="1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9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- </a:t>
            </a:r>
            <a:r>
              <a:rPr lang="ko-KR" altLang="en-US" sz="9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자체 </a:t>
            </a:r>
            <a:r>
              <a:rPr lang="ko-KR" altLang="en-US" sz="90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제공 서비스 </a:t>
            </a:r>
            <a:r>
              <a:rPr lang="ko-KR" altLang="en-US" sz="9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구성</a:t>
            </a:r>
            <a:endParaRPr lang="en-US" altLang="ko-KR" sz="9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9" name="모서리가 둥근 직사각형 68"/>
          <p:cNvSpPr/>
          <p:nvPr/>
        </p:nvSpPr>
        <p:spPr>
          <a:xfrm>
            <a:off x="8154593" y="4263458"/>
            <a:ext cx="1461675" cy="2117870"/>
          </a:xfrm>
          <a:prstGeom prst="roundRect">
            <a:avLst>
              <a:gd name="adj" fmla="val 289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en-US" altLang="ko-KR" sz="9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Customer Log Analysis</a:t>
            </a:r>
          </a:p>
          <a:p>
            <a:pPr>
              <a:lnSpc>
                <a:spcPct val="150000"/>
              </a:lnSpc>
            </a:pPr>
            <a:r>
              <a:rPr lang="en-US" altLang="ko-KR" sz="9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- UV, PV </a:t>
            </a:r>
            <a:r>
              <a:rPr lang="ko-KR" altLang="en-US" sz="9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분석</a:t>
            </a:r>
            <a:endParaRPr lang="en-US" altLang="ko-KR" sz="9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9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- </a:t>
            </a:r>
            <a:r>
              <a:rPr lang="ko-KR" altLang="en-US" sz="9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가입 </a:t>
            </a:r>
            <a:r>
              <a:rPr lang="ko-KR" altLang="en-US" sz="900" dirty="0" err="1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전환율</a:t>
            </a:r>
            <a:r>
              <a:rPr lang="ko-KR" altLang="en-US" sz="9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분석</a:t>
            </a:r>
            <a:endParaRPr lang="en-US" altLang="ko-KR" sz="9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9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- </a:t>
            </a:r>
            <a:r>
              <a:rPr lang="ko-KR" altLang="en-US" sz="9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컨텐츠 이용률 분석</a:t>
            </a:r>
            <a:endParaRPr lang="en-US" altLang="ko-KR" sz="9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9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- </a:t>
            </a:r>
            <a:r>
              <a:rPr lang="ko-KR" altLang="en-US" sz="900" dirty="0" err="1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이탈율</a:t>
            </a:r>
            <a:r>
              <a:rPr lang="ko-KR" altLang="en-US" sz="9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분석</a:t>
            </a:r>
            <a:endParaRPr lang="en-US" altLang="ko-KR" sz="9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9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- </a:t>
            </a:r>
            <a:r>
              <a:rPr lang="ko-KR" altLang="en-US" sz="900" dirty="0" err="1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접속자</a:t>
            </a:r>
            <a:r>
              <a:rPr lang="ko-KR" altLang="en-US" sz="9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분석 등</a:t>
            </a:r>
            <a:endParaRPr lang="en-US" altLang="ko-KR" sz="9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453534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44017" y="91339"/>
            <a:ext cx="7401271" cy="385333"/>
          </a:xfrm>
          <a:prstGeom prst="rect">
            <a:avLst/>
          </a:prstGeom>
          <a:noFill/>
        </p:spPr>
        <p:txBody>
          <a:bodyPr wrap="square" lIns="0" tIns="53643" rIns="0" bIns="53643" rtlCol="0">
            <a:spAutoFit/>
          </a:bodyPr>
          <a:lstStyle/>
          <a:p>
            <a:r>
              <a:rPr kumimoji="1" lang="en-US" altLang="ko-KR" b="1" kern="0" dirty="0">
                <a:latin typeface="나눔고딕" panose="020D0604000000000000" pitchFamily="50" charset="-127"/>
                <a:ea typeface="나눔고딕" panose="020D0604000000000000" pitchFamily="50" charset="-127"/>
                <a:cs typeface="산돌고딕 M"/>
              </a:rPr>
              <a:t>User Experience modeling</a:t>
            </a:r>
            <a:endParaRPr kumimoji="1" lang="ko-KR" altLang="en-US" b="1" kern="0" dirty="0">
              <a:latin typeface="나눔고딕" panose="020D0604000000000000" pitchFamily="50" charset="-127"/>
              <a:ea typeface="나눔고딕" panose="020D0604000000000000" pitchFamily="50" charset="-127"/>
              <a:cs typeface="산돌고딕 M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44017" y="683985"/>
            <a:ext cx="96335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Mega Trend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8504" y="991762"/>
            <a:ext cx="9289032" cy="523220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과거 시장을 주도했던 상품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기능 중심의 패러다임은 고객 </a:t>
            </a:r>
            <a:r>
              <a:rPr lang="ko-KR" altLang="en-US" sz="14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니즈의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다양화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고도화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금융 시장 규제 완화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고객위주 운영체계 도입 등의 변화에 따라 </a:t>
            </a:r>
            <a:r>
              <a:rPr lang="ko-KR" altLang="en-US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고객 중심의 패러다임으로 전환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되었습니다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pSp>
        <p:nvGrpSpPr>
          <p:cNvPr id="8" name="Group 4"/>
          <p:cNvGrpSpPr>
            <a:grpSpLocks/>
          </p:cNvGrpSpPr>
          <p:nvPr/>
        </p:nvGrpSpPr>
        <p:grpSpPr bwMode="auto">
          <a:xfrm>
            <a:off x="541308" y="1773238"/>
            <a:ext cx="2915750" cy="294207"/>
            <a:chOff x="489" y="890"/>
            <a:chExt cx="2245" cy="205"/>
          </a:xfrm>
        </p:grpSpPr>
        <p:sp>
          <p:nvSpPr>
            <p:cNvPr id="62" name="Line 5"/>
            <p:cNvSpPr>
              <a:spLocks noChangeShapeType="1"/>
            </p:cNvSpPr>
            <p:nvPr/>
          </p:nvSpPr>
          <p:spPr bwMode="auto">
            <a:xfrm>
              <a:off x="489" y="1089"/>
              <a:ext cx="2243" cy="0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/>
          </p:spPr>
          <p:txBody>
            <a:bodyPr wrap="none" lIns="0" rIns="0" anchor="ctr">
              <a:noAutofit/>
            </a:bodyPr>
            <a:lstStyle/>
            <a:p>
              <a:pPr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kern="0" dirty="0">
                <a:solidFill>
                  <a:sysClr val="windowText" lastClr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63" name="Text Box 6"/>
            <p:cNvSpPr txBox="1">
              <a:spLocks noChangeArrowheads="1"/>
            </p:cNvSpPr>
            <p:nvPr/>
          </p:nvSpPr>
          <p:spPr bwMode="auto">
            <a:xfrm>
              <a:off x="489" y="890"/>
              <a:ext cx="2245" cy="205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lIns="90000" tIns="46800" rIns="90000" bIns="46800">
              <a:noAutofit/>
            </a:bodyPr>
            <a:lstStyle/>
            <a:p>
              <a:pPr algn="ctr" defTabSz="939800" fontAlgn="b" latinLnBrk="0">
                <a:spcBef>
                  <a:spcPct val="50000"/>
                </a:spcBef>
                <a:spcAft>
                  <a:spcPct val="50000"/>
                </a:spcAft>
                <a:defRPr/>
              </a:pPr>
              <a:r>
                <a:rPr lang="ko-KR" altLang="en-US" sz="1300" b="1" kern="0" dirty="0">
                  <a:solidFill>
                    <a:srgbClr val="0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고객 중심 패러다임 이전</a:t>
              </a:r>
              <a:endParaRPr kumimoji="0" lang="ko-KR" altLang="en-US" sz="1300" b="1" kern="0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grpSp>
        <p:nvGrpSpPr>
          <p:cNvPr id="9" name="Group 7"/>
          <p:cNvGrpSpPr>
            <a:grpSpLocks/>
          </p:cNvGrpSpPr>
          <p:nvPr/>
        </p:nvGrpSpPr>
        <p:grpSpPr bwMode="auto">
          <a:xfrm>
            <a:off x="4110586" y="1773238"/>
            <a:ext cx="2915750" cy="294207"/>
            <a:chOff x="3143" y="890"/>
            <a:chExt cx="2041" cy="205"/>
          </a:xfrm>
        </p:grpSpPr>
        <p:sp>
          <p:nvSpPr>
            <p:cNvPr id="60" name="Line 8"/>
            <p:cNvSpPr>
              <a:spLocks noChangeShapeType="1"/>
            </p:cNvSpPr>
            <p:nvPr/>
          </p:nvSpPr>
          <p:spPr bwMode="auto">
            <a:xfrm>
              <a:off x="3148" y="1089"/>
              <a:ext cx="2036" cy="0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/>
          </p:spPr>
          <p:txBody>
            <a:bodyPr wrap="none" lIns="0" rIns="0" anchor="ctr">
              <a:noAutofit/>
            </a:bodyPr>
            <a:lstStyle/>
            <a:p>
              <a:pPr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kern="0" dirty="0">
                <a:solidFill>
                  <a:sysClr val="windowText" lastClr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61" name="Text Box 9"/>
            <p:cNvSpPr txBox="1">
              <a:spLocks noChangeArrowheads="1"/>
            </p:cNvSpPr>
            <p:nvPr/>
          </p:nvSpPr>
          <p:spPr bwMode="auto">
            <a:xfrm>
              <a:off x="3143" y="890"/>
              <a:ext cx="2018" cy="205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lIns="90000" tIns="46800" rIns="90000" bIns="46800">
              <a:noAutofit/>
            </a:bodyPr>
            <a:lstStyle/>
            <a:p>
              <a:pPr algn="ctr" defTabSz="939800" fontAlgn="b" latinLnBrk="0">
                <a:spcBef>
                  <a:spcPct val="50000"/>
                </a:spcBef>
                <a:spcAft>
                  <a:spcPct val="50000"/>
                </a:spcAft>
                <a:defRPr/>
              </a:pPr>
              <a:r>
                <a:rPr lang="ko-KR" altLang="en-US" sz="1300" b="1" kern="0" dirty="0">
                  <a:solidFill>
                    <a:srgbClr val="0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고객 중심 패러다임 이후</a:t>
              </a:r>
              <a:endParaRPr kumimoji="0" lang="ko-KR" altLang="en-US" sz="1300" b="1" kern="0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sp>
        <p:nvSpPr>
          <p:cNvPr id="11" name="AutoShape 11"/>
          <p:cNvSpPr>
            <a:spLocks noChangeArrowheads="1"/>
          </p:cNvSpPr>
          <p:nvPr/>
        </p:nvSpPr>
        <p:spPr bwMode="auto">
          <a:xfrm rot="5400000">
            <a:off x="3594894" y="3515519"/>
            <a:ext cx="677863" cy="250825"/>
          </a:xfrm>
          <a:prstGeom prst="triangle">
            <a:avLst>
              <a:gd name="adj" fmla="val 50000"/>
            </a:avLst>
          </a:prstGeom>
          <a:solidFill>
            <a:schemeClr val="tx1">
              <a:lumMod val="50000"/>
              <a:lumOff val="50000"/>
            </a:schemeClr>
          </a:solidFill>
          <a:ln w="9525" algn="ctr">
            <a:noFill/>
            <a:round/>
            <a:headEnd/>
            <a:tailEnd/>
          </a:ln>
        </p:spPr>
        <p:txBody>
          <a:bodyPr lIns="36000" tIns="36000" rIns="36000" bIns="36000" anchor="ctr">
            <a:noAutofit/>
          </a:bodyPr>
          <a:lstStyle/>
          <a:p>
            <a:pPr marL="179388" indent="-179388" fontAlgn="auto" latinLnBrk="0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tabLst>
                <a:tab pos="442913" algn="l"/>
              </a:tabLst>
              <a:defRPr/>
            </a:pPr>
            <a:endParaRPr kumimoji="0" lang="ko-KR" altLang="en-US" i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3" name="Rectangle 13"/>
          <p:cNvSpPr>
            <a:spLocks noChangeArrowheads="1"/>
          </p:cNvSpPr>
          <p:nvPr/>
        </p:nvSpPr>
        <p:spPr bwMode="auto">
          <a:xfrm>
            <a:off x="915988" y="4956175"/>
            <a:ext cx="2628900" cy="10382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lIns="18000" tIns="44450" rIns="18000" bIns="44450">
            <a:noAutofit/>
          </a:bodyPr>
          <a:lstStyle/>
          <a:p>
            <a:pPr marL="177800" indent="-177800" latinLnBrk="0">
              <a:lnSpc>
                <a:spcPct val="110000"/>
              </a:lnSpc>
              <a:spcBef>
                <a:spcPct val="15000"/>
              </a:spcBef>
              <a:spcAft>
                <a:spcPts val="0"/>
              </a:spcAft>
              <a:buFont typeface="Wingdings" pitchFamily="2" charset="2"/>
              <a:buChar char="§"/>
              <a:tabLst>
                <a:tab pos="1028700" algn="l"/>
              </a:tabLst>
              <a:defRPr/>
            </a:pPr>
            <a:r>
              <a:rPr kumimoji="0" lang="ko-KR" altLang="en-US" sz="1100" b="1" kern="0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기관 중심에서 상품을 채널을 통해 고객에게 제공 </a:t>
            </a:r>
            <a:r>
              <a:rPr kumimoji="0" lang="en-US" altLang="ko-KR" sz="1100" b="1" kern="0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kumimoji="0" lang="ko-KR" altLang="en-US" sz="1100" b="1" kern="0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일방적 제공</a:t>
            </a:r>
            <a:r>
              <a:rPr kumimoji="0" lang="en-US" altLang="ko-KR" sz="1100" b="1" kern="0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kumimoji="0" lang="ko-KR" altLang="en-US" sz="1100" b="1" kern="0" dirty="0">
              <a:solidFill>
                <a:srgbClr val="0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357188" lvl="1" indent="-100013" latinLnBrk="0">
              <a:lnSpc>
                <a:spcPct val="110000"/>
              </a:lnSpc>
              <a:spcBef>
                <a:spcPct val="15000"/>
              </a:spcBef>
              <a:spcAft>
                <a:spcPts val="0"/>
              </a:spcAft>
              <a:buFont typeface="돋움" pitchFamily="50" charset="-127"/>
              <a:buChar char="-"/>
              <a:tabLst>
                <a:tab pos="1028700" algn="l"/>
              </a:tabLst>
              <a:defRPr/>
            </a:pPr>
            <a:r>
              <a:rPr kumimoji="0" lang="ko-KR" altLang="en-US" sz="1000" kern="0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상품중심의 </a:t>
            </a:r>
            <a:r>
              <a:rPr kumimoji="0" lang="en-US" altLang="ko-KR" sz="1000" kern="0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Seller’s Market</a:t>
            </a:r>
          </a:p>
          <a:p>
            <a:pPr marL="357188" lvl="1" indent="-100013" latinLnBrk="0">
              <a:lnSpc>
                <a:spcPct val="110000"/>
              </a:lnSpc>
              <a:spcBef>
                <a:spcPct val="15000"/>
              </a:spcBef>
              <a:spcAft>
                <a:spcPts val="0"/>
              </a:spcAft>
              <a:buFont typeface="돋움" pitchFamily="50" charset="-127"/>
              <a:buChar char="-"/>
              <a:tabLst>
                <a:tab pos="1028700" algn="l"/>
              </a:tabLst>
              <a:defRPr/>
            </a:pPr>
            <a:r>
              <a:rPr kumimoji="0" lang="ko-KR" altLang="en-US" sz="1000" kern="0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고객 니즈 단순</a:t>
            </a:r>
            <a:endParaRPr kumimoji="0" lang="en-US" altLang="ko-KR" sz="1000" kern="0" dirty="0">
              <a:solidFill>
                <a:srgbClr val="0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4" name="Rectangle 14"/>
          <p:cNvSpPr>
            <a:spLocks noChangeArrowheads="1"/>
          </p:cNvSpPr>
          <p:nvPr/>
        </p:nvSpPr>
        <p:spPr bwMode="auto">
          <a:xfrm>
            <a:off x="4548188" y="4956175"/>
            <a:ext cx="2781076" cy="156368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lIns="18000" tIns="44450" rIns="18000" bIns="44450">
            <a:noAutofit/>
          </a:bodyPr>
          <a:lstStyle/>
          <a:p>
            <a:pPr marL="177800" indent="-177800" latinLnBrk="0">
              <a:lnSpc>
                <a:spcPct val="110000"/>
              </a:lnSpc>
              <a:spcBef>
                <a:spcPct val="15000"/>
              </a:spcBef>
              <a:spcAft>
                <a:spcPts val="0"/>
              </a:spcAft>
              <a:buFont typeface="Wingdings" pitchFamily="2" charset="2"/>
              <a:buChar char="§"/>
              <a:tabLst>
                <a:tab pos="1028700" algn="l"/>
              </a:tabLst>
              <a:defRPr/>
            </a:pPr>
            <a:r>
              <a:rPr kumimoji="0" lang="ko-KR" altLang="en-US" sz="1100" b="1" kern="0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기관 형태와 관계없이 고객의 </a:t>
            </a:r>
            <a:r>
              <a:rPr kumimoji="0" lang="en-US" altLang="ko-KR" sz="1100" b="1" kern="0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Needs </a:t>
            </a:r>
            <a:r>
              <a:rPr kumimoji="0" lang="ko-KR" altLang="en-US" sz="1100" b="1" kern="0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에 따라 채널을 통해 상품으로 접근</a:t>
            </a:r>
          </a:p>
          <a:p>
            <a:pPr marL="357188" lvl="1" indent="-100013" latinLnBrk="0">
              <a:lnSpc>
                <a:spcPct val="110000"/>
              </a:lnSpc>
              <a:spcBef>
                <a:spcPct val="15000"/>
              </a:spcBef>
              <a:spcAft>
                <a:spcPts val="0"/>
              </a:spcAft>
              <a:buFont typeface="돋움" pitchFamily="50" charset="-127"/>
              <a:buChar char="-"/>
              <a:tabLst>
                <a:tab pos="1028700" algn="l"/>
              </a:tabLst>
              <a:defRPr/>
            </a:pPr>
            <a:r>
              <a:rPr kumimoji="0" lang="ko-KR" altLang="en-US" sz="1000" kern="0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상품중심에서 고객중심의 </a:t>
            </a:r>
            <a:r>
              <a:rPr kumimoji="0" lang="en-US" altLang="ko-KR" sz="1000" kern="0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Buyer’s Market</a:t>
            </a:r>
            <a:endParaRPr kumimoji="0" lang="ko-KR" altLang="en-US" sz="1000" kern="0" dirty="0">
              <a:solidFill>
                <a:srgbClr val="0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357188" lvl="1" indent="-100013" latinLnBrk="0">
              <a:lnSpc>
                <a:spcPct val="110000"/>
              </a:lnSpc>
              <a:spcBef>
                <a:spcPct val="15000"/>
              </a:spcBef>
              <a:spcAft>
                <a:spcPts val="0"/>
              </a:spcAft>
              <a:buFont typeface="돋움" pitchFamily="50" charset="-127"/>
              <a:buChar char="-"/>
              <a:tabLst>
                <a:tab pos="1028700" algn="l"/>
              </a:tabLst>
              <a:defRPr/>
            </a:pPr>
            <a:r>
              <a:rPr kumimoji="0" lang="ko-KR" altLang="en-US" sz="1000" kern="0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고객 니즈 다양화</a:t>
            </a:r>
            <a:r>
              <a:rPr kumimoji="0" lang="en-US" altLang="ko-KR" sz="1000" kern="0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kumimoji="0" lang="ko-KR" altLang="en-US" sz="1000" kern="0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고도화</a:t>
            </a:r>
            <a:endParaRPr kumimoji="0" lang="en-US" altLang="ko-KR" sz="1000" kern="0" dirty="0">
              <a:solidFill>
                <a:srgbClr val="0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357188" lvl="1" indent="-100013" latinLnBrk="0">
              <a:lnSpc>
                <a:spcPct val="110000"/>
              </a:lnSpc>
              <a:spcBef>
                <a:spcPct val="15000"/>
              </a:spcBef>
              <a:spcAft>
                <a:spcPts val="0"/>
              </a:spcAft>
              <a:buFont typeface="돋움" pitchFamily="50" charset="-127"/>
              <a:buChar char="-"/>
              <a:tabLst>
                <a:tab pos="1028700" algn="l"/>
              </a:tabLst>
              <a:defRPr/>
            </a:pPr>
            <a:r>
              <a:rPr lang="ko-KR" altLang="en-US" sz="1000" kern="0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채널의 다각화</a:t>
            </a:r>
            <a:endParaRPr kumimoji="0" lang="ko-KR" altLang="en-US" sz="1000" kern="0" dirty="0">
              <a:solidFill>
                <a:srgbClr val="0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5" name="Text Box 19"/>
          <p:cNvSpPr txBox="1">
            <a:spLocks noChangeArrowheads="1"/>
          </p:cNvSpPr>
          <p:nvPr/>
        </p:nvSpPr>
        <p:spPr bwMode="auto">
          <a:xfrm>
            <a:off x="4141788" y="2233613"/>
            <a:ext cx="755650" cy="2571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lIns="36000" tIns="36000" rIns="36000" bIns="36000">
            <a:noAutofit/>
          </a:bodyPr>
          <a:lstStyle/>
          <a:p>
            <a:pPr marL="88900" indent="-88900" algn="ctr" fontAlgn="auto" latinLnBrk="0">
              <a:spcBef>
                <a:spcPct val="50000"/>
              </a:spcBef>
              <a:spcAft>
                <a:spcPts val="0"/>
              </a:spcAft>
              <a:defRPr/>
            </a:pPr>
            <a:r>
              <a:rPr kumimoji="0" lang="ko-KR" altLang="en-US" sz="1200" b="1" i="1" kern="0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고객</a:t>
            </a:r>
          </a:p>
        </p:txBody>
      </p:sp>
      <p:sp>
        <p:nvSpPr>
          <p:cNvPr id="16" name="Text Box 20"/>
          <p:cNvSpPr txBox="1">
            <a:spLocks noChangeArrowheads="1"/>
          </p:cNvSpPr>
          <p:nvPr/>
        </p:nvSpPr>
        <p:spPr bwMode="auto">
          <a:xfrm>
            <a:off x="4956175" y="2233613"/>
            <a:ext cx="757238" cy="2571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lIns="36000" tIns="36000" rIns="36000" bIns="36000">
            <a:noAutofit/>
          </a:bodyPr>
          <a:lstStyle/>
          <a:p>
            <a:pPr marL="88900" indent="-88900" algn="ctr" fontAlgn="auto" latinLnBrk="0">
              <a:spcBef>
                <a:spcPct val="50000"/>
              </a:spcBef>
              <a:spcAft>
                <a:spcPts val="0"/>
              </a:spcAft>
              <a:defRPr/>
            </a:pPr>
            <a:r>
              <a:rPr kumimoji="0" lang="ko-KR" altLang="en-US" sz="1200" b="1" i="1" kern="0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채널</a:t>
            </a:r>
          </a:p>
        </p:txBody>
      </p:sp>
      <p:sp>
        <p:nvSpPr>
          <p:cNvPr id="17" name="Text Box 21"/>
          <p:cNvSpPr txBox="1">
            <a:spLocks noChangeArrowheads="1"/>
          </p:cNvSpPr>
          <p:nvPr/>
        </p:nvSpPr>
        <p:spPr bwMode="auto">
          <a:xfrm>
            <a:off x="5711825" y="2233613"/>
            <a:ext cx="755650" cy="2571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lIns="36000" tIns="36000" rIns="36000" bIns="36000">
            <a:noAutofit/>
          </a:bodyPr>
          <a:lstStyle/>
          <a:p>
            <a:pPr marL="88900" indent="-88900" algn="ctr" fontAlgn="auto" latinLnBrk="0">
              <a:spcBef>
                <a:spcPct val="50000"/>
              </a:spcBef>
              <a:spcAft>
                <a:spcPts val="0"/>
              </a:spcAft>
              <a:defRPr/>
            </a:pPr>
            <a:r>
              <a:rPr kumimoji="0" lang="ko-KR" altLang="en-US" sz="1200" b="1" i="1" kern="0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상품</a:t>
            </a:r>
          </a:p>
        </p:txBody>
      </p:sp>
      <p:sp>
        <p:nvSpPr>
          <p:cNvPr id="18" name="Rectangle 22"/>
          <p:cNvSpPr>
            <a:spLocks noChangeArrowheads="1"/>
          </p:cNvSpPr>
          <p:nvPr/>
        </p:nvSpPr>
        <p:spPr bwMode="auto">
          <a:xfrm>
            <a:off x="6446838" y="2617788"/>
            <a:ext cx="554037" cy="368300"/>
          </a:xfrm>
          <a:prstGeom prst="rect">
            <a:avLst/>
          </a:prstGeom>
          <a:solidFill>
            <a:srgbClr val="333333"/>
          </a:solidFill>
          <a:ln w="19050" algn="ctr">
            <a:solidFill>
              <a:srgbClr val="80808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>
            <a:noAutofit/>
          </a:bodyPr>
          <a:lstStyle/>
          <a:p>
            <a:pPr algn="ctr" defTabSz="939800" fontAlgn="b" latinLnBrk="0">
              <a:spcBef>
                <a:spcPct val="30000"/>
              </a:spcBef>
              <a:spcAft>
                <a:spcPts val="0"/>
              </a:spcAft>
              <a:defRPr/>
            </a:pPr>
            <a:r>
              <a:rPr lang="ko-KR" altLang="en-US" sz="1100" b="1" kern="0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서비스</a:t>
            </a:r>
            <a:endParaRPr lang="ko-KR" altLang="en-US" sz="1100" b="1" kern="0" dirty="0">
              <a:solidFill>
                <a:srgbClr val="FFFFFF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9" name="Rectangle 23"/>
          <p:cNvSpPr>
            <a:spLocks noChangeArrowheads="1"/>
          </p:cNvSpPr>
          <p:nvPr/>
        </p:nvSpPr>
        <p:spPr bwMode="auto">
          <a:xfrm>
            <a:off x="6446838" y="3189288"/>
            <a:ext cx="554037" cy="366712"/>
          </a:xfrm>
          <a:prstGeom prst="rect">
            <a:avLst/>
          </a:prstGeom>
          <a:solidFill>
            <a:srgbClr val="333333"/>
          </a:solidFill>
          <a:ln w="19050" algn="ctr">
            <a:solidFill>
              <a:srgbClr val="80808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>
            <a:noAutofit/>
          </a:bodyPr>
          <a:lstStyle/>
          <a:p>
            <a:pPr algn="ctr" defTabSz="939800" fontAlgn="b" latinLnBrk="0">
              <a:spcBef>
                <a:spcPct val="30000"/>
              </a:spcBef>
              <a:spcAft>
                <a:spcPts val="0"/>
              </a:spcAft>
              <a:defRPr/>
            </a:pPr>
            <a:r>
              <a:rPr kumimoji="0" lang="ko-KR" altLang="en-US" sz="1100" b="1" kern="0" dirty="0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카드</a:t>
            </a:r>
          </a:p>
        </p:txBody>
      </p:sp>
      <p:sp>
        <p:nvSpPr>
          <p:cNvPr id="20" name="Rectangle 24"/>
          <p:cNvSpPr>
            <a:spLocks noChangeArrowheads="1"/>
          </p:cNvSpPr>
          <p:nvPr/>
        </p:nvSpPr>
        <p:spPr bwMode="auto">
          <a:xfrm>
            <a:off x="6446838" y="3763963"/>
            <a:ext cx="554037" cy="366712"/>
          </a:xfrm>
          <a:prstGeom prst="rect">
            <a:avLst/>
          </a:prstGeom>
          <a:solidFill>
            <a:srgbClr val="333333"/>
          </a:solidFill>
          <a:ln w="19050" algn="ctr">
            <a:solidFill>
              <a:srgbClr val="80808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>
            <a:noAutofit/>
          </a:bodyPr>
          <a:lstStyle/>
          <a:p>
            <a:pPr algn="ctr" defTabSz="939800" fontAlgn="b" latinLnBrk="0">
              <a:spcBef>
                <a:spcPct val="30000"/>
              </a:spcBef>
              <a:spcAft>
                <a:spcPts val="0"/>
              </a:spcAft>
              <a:defRPr/>
            </a:pPr>
            <a:r>
              <a:rPr kumimoji="0" lang="ko-KR" altLang="en-US" sz="1100" b="1" kern="0" dirty="0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증권</a:t>
            </a:r>
          </a:p>
        </p:txBody>
      </p:sp>
      <p:sp>
        <p:nvSpPr>
          <p:cNvPr id="21" name="Rectangle 25"/>
          <p:cNvSpPr>
            <a:spLocks noChangeArrowheads="1"/>
          </p:cNvSpPr>
          <p:nvPr/>
        </p:nvSpPr>
        <p:spPr bwMode="auto">
          <a:xfrm>
            <a:off x="6446838" y="4338638"/>
            <a:ext cx="554037" cy="368300"/>
          </a:xfrm>
          <a:prstGeom prst="rect">
            <a:avLst/>
          </a:prstGeom>
          <a:solidFill>
            <a:srgbClr val="333333"/>
          </a:solidFill>
          <a:ln w="19050" algn="ctr">
            <a:solidFill>
              <a:srgbClr val="80808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>
            <a:noAutofit/>
          </a:bodyPr>
          <a:lstStyle/>
          <a:p>
            <a:pPr algn="ctr" defTabSz="939800" fontAlgn="b" latinLnBrk="0">
              <a:spcBef>
                <a:spcPct val="30000"/>
              </a:spcBef>
              <a:spcAft>
                <a:spcPts val="0"/>
              </a:spcAft>
              <a:defRPr/>
            </a:pPr>
            <a:r>
              <a:rPr kumimoji="0" lang="en-US" altLang="ko-KR" sz="1100" b="1" kern="0" dirty="0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…</a:t>
            </a:r>
            <a:endParaRPr kumimoji="0" lang="ko-KR" altLang="en-US" sz="1100" b="1" kern="0" dirty="0">
              <a:solidFill>
                <a:srgbClr val="FFFFFF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2" name="Rectangle 26"/>
          <p:cNvSpPr>
            <a:spLocks noChangeArrowheads="1"/>
          </p:cNvSpPr>
          <p:nvPr/>
        </p:nvSpPr>
        <p:spPr bwMode="auto">
          <a:xfrm>
            <a:off x="4241800" y="2541588"/>
            <a:ext cx="581025" cy="2238375"/>
          </a:xfrm>
          <a:prstGeom prst="rect">
            <a:avLst/>
          </a:prstGeom>
          <a:solidFill>
            <a:srgbClr val="EAEBE7">
              <a:alpha val="71001"/>
            </a:srgbClr>
          </a:solidFill>
          <a:ln w="9525" algn="ctr">
            <a:solidFill>
              <a:srgbClr val="808080"/>
            </a:solidFill>
            <a:miter lim="800000"/>
            <a:headEnd/>
            <a:tailEnd/>
          </a:ln>
          <a:effectLst/>
        </p:spPr>
        <p:txBody>
          <a:bodyPr wrap="none" lIns="90000" tIns="118808" rIns="90000" bIns="46800">
            <a:noAutofit/>
          </a:bodyPr>
          <a:lstStyle/>
          <a:p>
            <a:pPr algn="ctr" defTabSz="939800" fontAlgn="b" latinLnBrk="0">
              <a:spcBef>
                <a:spcPct val="30000"/>
              </a:spcBef>
              <a:spcAft>
                <a:spcPts val="0"/>
              </a:spcAft>
              <a:defRPr/>
            </a:pPr>
            <a:endParaRPr kumimoji="0" lang="ko-KR" altLang="en-US" sz="900" kern="0" dirty="0">
              <a:solidFill>
                <a:sysClr val="windowText" lastClr="0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3" name="Rectangle 27"/>
          <p:cNvSpPr>
            <a:spLocks noChangeArrowheads="1"/>
          </p:cNvSpPr>
          <p:nvPr/>
        </p:nvSpPr>
        <p:spPr bwMode="auto">
          <a:xfrm>
            <a:off x="5026025" y="2541588"/>
            <a:ext cx="576263" cy="2238375"/>
          </a:xfrm>
          <a:prstGeom prst="rect">
            <a:avLst/>
          </a:prstGeom>
          <a:solidFill>
            <a:srgbClr val="EAEBE7">
              <a:alpha val="71001"/>
            </a:srgbClr>
          </a:solidFill>
          <a:ln w="9525" algn="ctr">
            <a:solidFill>
              <a:srgbClr val="808080"/>
            </a:solidFill>
            <a:miter lim="800000"/>
            <a:headEnd/>
            <a:tailEnd/>
          </a:ln>
          <a:effectLst/>
        </p:spPr>
        <p:txBody>
          <a:bodyPr wrap="none" lIns="90000" tIns="118808" rIns="90000" bIns="46800">
            <a:noAutofit/>
          </a:bodyPr>
          <a:lstStyle/>
          <a:p>
            <a:pPr algn="ctr" defTabSz="939800" fontAlgn="b" latinLnBrk="0">
              <a:spcBef>
                <a:spcPct val="30000"/>
              </a:spcBef>
              <a:spcAft>
                <a:spcPts val="0"/>
              </a:spcAft>
              <a:defRPr/>
            </a:pPr>
            <a:endParaRPr kumimoji="0" lang="ko-KR" altLang="en-US" sz="900" kern="0" dirty="0">
              <a:solidFill>
                <a:sysClr val="windowText" lastClr="0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4" name="Rectangle 28"/>
          <p:cNvSpPr>
            <a:spLocks noChangeArrowheads="1"/>
          </p:cNvSpPr>
          <p:nvPr/>
        </p:nvSpPr>
        <p:spPr bwMode="auto">
          <a:xfrm>
            <a:off x="5789613" y="2541588"/>
            <a:ext cx="584200" cy="2238375"/>
          </a:xfrm>
          <a:prstGeom prst="rect">
            <a:avLst/>
          </a:prstGeom>
          <a:solidFill>
            <a:srgbClr val="EAEBE7">
              <a:alpha val="71001"/>
            </a:srgbClr>
          </a:solidFill>
          <a:ln w="9525" algn="ctr">
            <a:solidFill>
              <a:srgbClr val="808080"/>
            </a:solidFill>
            <a:miter lim="800000"/>
            <a:headEnd/>
            <a:tailEnd/>
          </a:ln>
          <a:effectLst/>
        </p:spPr>
        <p:txBody>
          <a:bodyPr wrap="none" lIns="90000" tIns="118808" rIns="90000" bIns="46800">
            <a:noAutofit/>
          </a:bodyPr>
          <a:lstStyle/>
          <a:p>
            <a:pPr algn="ctr" defTabSz="939800" fontAlgn="b" latinLnBrk="0">
              <a:spcBef>
                <a:spcPct val="30000"/>
              </a:spcBef>
              <a:spcAft>
                <a:spcPts val="0"/>
              </a:spcAft>
              <a:defRPr/>
            </a:pPr>
            <a:endParaRPr kumimoji="0" lang="ko-KR" altLang="en-US" sz="900" kern="0" dirty="0">
              <a:solidFill>
                <a:sysClr val="windowText" lastClr="0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5" name="Oval 29"/>
          <p:cNvSpPr>
            <a:spLocks noChangeArrowheads="1"/>
          </p:cNvSpPr>
          <p:nvPr/>
        </p:nvSpPr>
        <p:spPr bwMode="auto">
          <a:xfrm>
            <a:off x="4438650" y="2719388"/>
            <a:ext cx="215900" cy="195262"/>
          </a:xfrm>
          <a:prstGeom prst="ellipse">
            <a:avLst/>
          </a:prstGeom>
          <a:solidFill>
            <a:srgbClr val="000000"/>
          </a:solidFill>
          <a:ln w="9525" algn="ctr">
            <a:noFill/>
            <a:round/>
            <a:headEnd/>
            <a:tailEnd/>
          </a:ln>
          <a:effectLst/>
        </p:spPr>
        <p:txBody>
          <a:bodyPr wrap="none" lIns="36000" tIns="36000" rIns="36000" bIns="36000" anchor="ctr">
            <a:noAutofit/>
          </a:bodyPr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kern="0" dirty="0">
              <a:solidFill>
                <a:sysClr val="windowText" lastClr="0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6" name="Oval 30"/>
          <p:cNvSpPr>
            <a:spLocks noChangeArrowheads="1"/>
          </p:cNvSpPr>
          <p:nvPr/>
        </p:nvSpPr>
        <p:spPr bwMode="auto">
          <a:xfrm>
            <a:off x="4438650" y="3289300"/>
            <a:ext cx="215900" cy="195263"/>
          </a:xfrm>
          <a:prstGeom prst="ellipse">
            <a:avLst/>
          </a:prstGeom>
          <a:solidFill>
            <a:srgbClr val="5F5F5F"/>
          </a:solidFill>
          <a:ln w="9525" algn="ctr">
            <a:noFill/>
            <a:round/>
            <a:headEnd/>
            <a:tailEnd/>
          </a:ln>
          <a:effectLst/>
        </p:spPr>
        <p:txBody>
          <a:bodyPr wrap="none" lIns="36000" tIns="36000" rIns="36000" bIns="36000" anchor="ctr">
            <a:noAutofit/>
          </a:bodyPr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kern="0" dirty="0">
              <a:solidFill>
                <a:sysClr val="windowText" lastClr="0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7" name="Oval 31"/>
          <p:cNvSpPr>
            <a:spLocks noChangeArrowheads="1"/>
          </p:cNvSpPr>
          <p:nvPr/>
        </p:nvSpPr>
        <p:spPr bwMode="auto">
          <a:xfrm>
            <a:off x="4438650" y="3859213"/>
            <a:ext cx="215900" cy="195262"/>
          </a:xfrm>
          <a:prstGeom prst="ellipse">
            <a:avLst/>
          </a:prstGeom>
          <a:solidFill>
            <a:srgbClr val="5F5F5F"/>
          </a:solidFill>
          <a:ln w="9525" algn="ctr">
            <a:noFill/>
            <a:round/>
            <a:headEnd/>
            <a:tailEnd/>
          </a:ln>
          <a:effectLst/>
        </p:spPr>
        <p:txBody>
          <a:bodyPr wrap="none" lIns="36000" tIns="36000" rIns="36000" bIns="36000" anchor="ctr">
            <a:noAutofit/>
          </a:bodyPr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kern="0" dirty="0">
              <a:solidFill>
                <a:sysClr val="windowText" lastClr="0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8" name="Oval 32"/>
          <p:cNvSpPr>
            <a:spLocks noChangeArrowheads="1"/>
          </p:cNvSpPr>
          <p:nvPr/>
        </p:nvSpPr>
        <p:spPr bwMode="auto">
          <a:xfrm>
            <a:off x="4438650" y="4429125"/>
            <a:ext cx="215900" cy="195263"/>
          </a:xfrm>
          <a:prstGeom prst="ellipse">
            <a:avLst/>
          </a:prstGeom>
          <a:solidFill>
            <a:srgbClr val="5F5F5F"/>
          </a:solidFill>
          <a:ln w="9525" algn="ctr">
            <a:noFill/>
            <a:round/>
            <a:headEnd/>
            <a:tailEnd/>
          </a:ln>
          <a:effectLst/>
        </p:spPr>
        <p:txBody>
          <a:bodyPr wrap="none" lIns="36000" tIns="36000" rIns="36000" bIns="36000" anchor="ctr">
            <a:noAutofit/>
          </a:bodyPr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kern="0" dirty="0">
              <a:solidFill>
                <a:sysClr val="windowText" lastClr="0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9" name="Oval 33"/>
          <p:cNvSpPr>
            <a:spLocks noChangeArrowheads="1"/>
          </p:cNvSpPr>
          <p:nvPr/>
        </p:nvSpPr>
        <p:spPr bwMode="auto">
          <a:xfrm>
            <a:off x="5229225" y="2719388"/>
            <a:ext cx="215900" cy="195262"/>
          </a:xfrm>
          <a:prstGeom prst="ellipse">
            <a:avLst/>
          </a:prstGeom>
          <a:solidFill>
            <a:srgbClr val="000000"/>
          </a:solidFill>
          <a:ln w="9525" algn="ctr">
            <a:noFill/>
            <a:round/>
            <a:headEnd/>
            <a:tailEnd/>
          </a:ln>
          <a:effectLst/>
        </p:spPr>
        <p:txBody>
          <a:bodyPr wrap="none" lIns="36000" tIns="36000" rIns="36000" bIns="36000" anchor="ctr">
            <a:noAutofit/>
          </a:bodyPr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kern="0" dirty="0">
              <a:solidFill>
                <a:sysClr val="windowText" lastClr="0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0" name="Oval 34"/>
          <p:cNvSpPr>
            <a:spLocks noChangeArrowheads="1"/>
          </p:cNvSpPr>
          <p:nvPr/>
        </p:nvSpPr>
        <p:spPr bwMode="auto">
          <a:xfrm>
            <a:off x="5229225" y="3289300"/>
            <a:ext cx="215900" cy="195263"/>
          </a:xfrm>
          <a:prstGeom prst="ellipse">
            <a:avLst/>
          </a:prstGeom>
          <a:solidFill>
            <a:srgbClr val="5F5F5F"/>
          </a:solidFill>
          <a:ln w="9525" algn="ctr">
            <a:noFill/>
            <a:round/>
            <a:headEnd/>
            <a:tailEnd/>
          </a:ln>
          <a:effectLst/>
        </p:spPr>
        <p:txBody>
          <a:bodyPr wrap="none" lIns="36000" tIns="36000" rIns="36000" bIns="36000" anchor="ctr">
            <a:noAutofit/>
          </a:bodyPr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kern="0" dirty="0">
              <a:solidFill>
                <a:sysClr val="windowText" lastClr="0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1" name="Oval 35"/>
          <p:cNvSpPr>
            <a:spLocks noChangeArrowheads="1"/>
          </p:cNvSpPr>
          <p:nvPr/>
        </p:nvSpPr>
        <p:spPr bwMode="auto">
          <a:xfrm>
            <a:off x="5229225" y="3859213"/>
            <a:ext cx="215900" cy="195262"/>
          </a:xfrm>
          <a:prstGeom prst="ellipse">
            <a:avLst/>
          </a:prstGeom>
          <a:solidFill>
            <a:srgbClr val="5F5F5F"/>
          </a:solidFill>
          <a:ln w="9525" algn="ctr">
            <a:noFill/>
            <a:round/>
            <a:headEnd/>
            <a:tailEnd/>
          </a:ln>
          <a:effectLst/>
        </p:spPr>
        <p:txBody>
          <a:bodyPr wrap="none" lIns="36000" tIns="36000" rIns="36000" bIns="36000" anchor="ctr">
            <a:noAutofit/>
          </a:bodyPr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kern="0" dirty="0">
              <a:solidFill>
                <a:sysClr val="windowText" lastClr="0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2" name="Oval 36"/>
          <p:cNvSpPr>
            <a:spLocks noChangeArrowheads="1"/>
          </p:cNvSpPr>
          <p:nvPr/>
        </p:nvSpPr>
        <p:spPr bwMode="auto">
          <a:xfrm>
            <a:off x="5229225" y="4429125"/>
            <a:ext cx="215900" cy="195263"/>
          </a:xfrm>
          <a:prstGeom prst="ellipse">
            <a:avLst/>
          </a:prstGeom>
          <a:solidFill>
            <a:srgbClr val="5F5F5F"/>
          </a:solidFill>
          <a:ln w="9525" algn="ctr">
            <a:noFill/>
            <a:round/>
            <a:headEnd/>
            <a:tailEnd/>
          </a:ln>
          <a:effectLst/>
        </p:spPr>
        <p:txBody>
          <a:bodyPr wrap="none" lIns="36000" tIns="36000" rIns="36000" bIns="36000" anchor="ctr">
            <a:noAutofit/>
          </a:bodyPr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kern="0" dirty="0">
              <a:solidFill>
                <a:sysClr val="windowText" lastClr="0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3" name="Oval 37"/>
          <p:cNvSpPr>
            <a:spLocks noChangeArrowheads="1"/>
          </p:cNvSpPr>
          <p:nvPr/>
        </p:nvSpPr>
        <p:spPr bwMode="auto">
          <a:xfrm>
            <a:off x="5986463" y="2719388"/>
            <a:ext cx="215900" cy="195262"/>
          </a:xfrm>
          <a:prstGeom prst="ellipse">
            <a:avLst/>
          </a:prstGeom>
          <a:solidFill>
            <a:srgbClr val="000000"/>
          </a:solidFill>
          <a:ln w="9525" algn="ctr">
            <a:noFill/>
            <a:round/>
            <a:headEnd/>
            <a:tailEnd/>
          </a:ln>
          <a:effectLst/>
        </p:spPr>
        <p:txBody>
          <a:bodyPr wrap="none" lIns="36000" tIns="36000" rIns="36000" bIns="36000" anchor="ctr">
            <a:noAutofit/>
          </a:bodyPr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kern="0" dirty="0">
              <a:solidFill>
                <a:sysClr val="windowText" lastClr="0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4" name="Oval 38"/>
          <p:cNvSpPr>
            <a:spLocks noChangeArrowheads="1"/>
          </p:cNvSpPr>
          <p:nvPr/>
        </p:nvSpPr>
        <p:spPr bwMode="auto">
          <a:xfrm>
            <a:off x="5986463" y="3289300"/>
            <a:ext cx="215900" cy="195263"/>
          </a:xfrm>
          <a:prstGeom prst="ellipse">
            <a:avLst/>
          </a:prstGeom>
          <a:solidFill>
            <a:srgbClr val="000000"/>
          </a:solidFill>
          <a:ln w="9525" algn="ctr">
            <a:noFill/>
            <a:round/>
            <a:headEnd/>
            <a:tailEnd/>
          </a:ln>
          <a:effectLst/>
        </p:spPr>
        <p:txBody>
          <a:bodyPr wrap="none" lIns="36000" tIns="36000" rIns="36000" bIns="36000" anchor="ctr">
            <a:noAutofit/>
          </a:bodyPr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kern="0" dirty="0">
              <a:solidFill>
                <a:sysClr val="windowText" lastClr="0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5" name="Oval 39"/>
          <p:cNvSpPr>
            <a:spLocks noChangeArrowheads="1"/>
          </p:cNvSpPr>
          <p:nvPr/>
        </p:nvSpPr>
        <p:spPr bwMode="auto">
          <a:xfrm>
            <a:off x="5986463" y="3859213"/>
            <a:ext cx="215900" cy="195262"/>
          </a:xfrm>
          <a:prstGeom prst="ellipse">
            <a:avLst/>
          </a:prstGeom>
          <a:solidFill>
            <a:srgbClr val="000000"/>
          </a:solidFill>
          <a:ln w="9525" algn="ctr">
            <a:noFill/>
            <a:round/>
            <a:headEnd/>
            <a:tailEnd/>
          </a:ln>
          <a:effectLst/>
        </p:spPr>
        <p:txBody>
          <a:bodyPr wrap="none" lIns="36000" tIns="36000" rIns="36000" bIns="36000" anchor="ctr">
            <a:noAutofit/>
          </a:bodyPr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kern="0" dirty="0">
              <a:solidFill>
                <a:sysClr val="windowText" lastClr="0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6" name="Oval 40"/>
          <p:cNvSpPr>
            <a:spLocks noChangeArrowheads="1"/>
          </p:cNvSpPr>
          <p:nvPr/>
        </p:nvSpPr>
        <p:spPr bwMode="auto">
          <a:xfrm>
            <a:off x="5986463" y="4429125"/>
            <a:ext cx="215900" cy="195263"/>
          </a:xfrm>
          <a:prstGeom prst="ellipse">
            <a:avLst/>
          </a:prstGeom>
          <a:solidFill>
            <a:srgbClr val="000000"/>
          </a:solidFill>
          <a:ln w="9525" algn="ctr">
            <a:noFill/>
            <a:round/>
            <a:headEnd/>
            <a:tailEnd/>
          </a:ln>
          <a:effectLst/>
        </p:spPr>
        <p:txBody>
          <a:bodyPr wrap="none" lIns="36000" tIns="36000" rIns="36000" bIns="36000" anchor="ctr">
            <a:noAutofit/>
          </a:bodyPr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kern="0" dirty="0">
              <a:solidFill>
                <a:sysClr val="windowText" lastClr="0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37" name="AutoShape 41"/>
          <p:cNvCxnSpPr>
            <a:cxnSpLocks noChangeShapeType="1"/>
            <a:stCxn id="25" idx="6"/>
            <a:endCxn id="29" idx="2"/>
          </p:cNvCxnSpPr>
          <p:nvPr/>
        </p:nvCxnSpPr>
        <p:spPr bwMode="auto">
          <a:xfrm>
            <a:off x="4655292" y="2817668"/>
            <a:ext cx="574479" cy="1436"/>
          </a:xfrm>
          <a:prstGeom prst="straightConnector1">
            <a:avLst/>
          </a:pr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8" name="AutoShape 42"/>
          <p:cNvCxnSpPr>
            <a:cxnSpLocks noChangeShapeType="1"/>
            <a:stCxn id="29" idx="6"/>
            <a:endCxn id="33" idx="2"/>
          </p:cNvCxnSpPr>
          <p:nvPr/>
        </p:nvCxnSpPr>
        <p:spPr bwMode="auto">
          <a:xfrm>
            <a:off x="5445735" y="2817668"/>
            <a:ext cx="541148" cy="1436"/>
          </a:xfrm>
          <a:prstGeom prst="straightConnector1">
            <a:avLst/>
          </a:pr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9" name="AutoShape 43"/>
          <p:cNvCxnSpPr>
            <a:cxnSpLocks noChangeShapeType="1"/>
            <a:stCxn id="29" idx="6"/>
            <a:endCxn id="34" idx="2"/>
          </p:cNvCxnSpPr>
          <p:nvPr/>
        </p:nvCxnSpPr>
        <p:spPr bwMode="auto">
          <a:xfrm>
            <a:off x="5445735" y="2817668"/>
            <a:ext cx="541148" cy="569609"/>
          </a:xfrm>
          <a:prstGeom prst="straightConnector1">
            <a:avLst/>
          </a:pr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0" name="AutoShape 44"/>
          <p:cNvCxnSpPr>
            <a:cxnSpLocks noChangeShapeType="1"/>
            <a:stCxn id="29" idx="6"/>
            <a:endCxn id="35" idx="2"/>
          </p:cNvCxnSpPr>
          <p:nvPr/>
        </p:nvCxnSpPr>
        <p:spPr bwMode="auto">
          <a:xfrm>
            <a:off x="5445735" y="2817668"/>
            <a:ext cx="541148" cy="1139218"/>
          </a:xfrm>
          <a:prstGeom prst="straightConnector1">
            <a:avLst/>
          </a:pr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1" name="AutoShape 45"/>
          <p:cNvCxnSpPr>
            <a:cxnSpLocks noChangeShapeType="1"/>
            <a:stCxn id="29" idx="6"/>
            <a:endCxn id="36" idx="2"/>
          </p:cNvCxnSpPr>
          <p:nvPr/>
        </p:nvCxnSpPr>
        <p:spPr bwMode="auto">
          <a:xfrm>
            <a:off x="5445735" y="2817668"/>
            <a:ext cx="541148" cy="1708828"/>
          </a:xfrm>
          <a:prstGeom prst="straightConnector1">
            <a:avLst/>
          </a:pr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2" name="Rectangle 46"/>
          <p:cNvSpPr>
            <a:spLocks noChangeArrowheads="1"/>
          </p:cNvSpPr>
          <p:nvPr/>
        </p:nvSpPr>
        <p:spPr bwMode="auto">
          <a:xfrm>
            <a:off x="1012825" y="2587625"/>
            <a:ext cx="2552700" cy="427038"/>
          </a:xfrm>
          <a:prstGeom prst="rect">
            <a:avLst/>
          </a:prstGeom>
          <a:solidFill>
            <a:srgbClr val="969696"/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lIns="90000" tIns="46800" rIns="90000" bIns="46800" anchor="ctr">
            <a:noAutofit/>
          </a:bodyPr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kern="0" dirty="0">
              <a:solidFill>
                <a:sysClr val="windowText" lastClr="0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3" name="Rectangle 47"/>
          <p:cNvSpPr>
            <a:spLocks noChangeArrowheads="1"/>
          </p:cNvSpPr>
          <p:nvPr/>
        </p:nvSpPr>
        <p:spPr bwMode="auto">
          <a:xfrm>
            <a:off x="1012825" y="3160713"/>
            <a:ext cx="2552700" cy="425450"/>
          </a:xfrm>
          <a:prstGeom prst="rect">
            <a:avLst/>
          </a:prstGeom>
          <a:solidFill>
            <a:srgbClr val="969696"/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lIns="90000" tIns="46800" rIns="90000" bIns="46800" anchor="ctr">
            <a:noAutofit/>
          </a:bodyPr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kern="0" dirty="0">
              <a:solidFill>
                <a:sysClr val="windowText" lastClr="0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4" name="Rectangle 48"/>
          <p:cNvSpPr>
            <a:spLocks noChangeArrowheads="1"/>
          </p:cNvSpPr>
          <p:nvPr/>
        </p:nvSpPr>
        <p:spPr bwMode="auto">
          <a:xfrm>
            <a:off x="1012825" y="3735388"/>
            <a:ext cx="2552700" cy="425450"/>
          </a:xfrm>
          <a:prstGeom prst="rect">
            <a:avLst/>
          </a:prstGeom>
          <a:solidFill>
            <a:srgbClr val="969696"/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lIns="90000" tIns="46800" rIns="90000" bIns="46800" anchor="ctr">
            <a:noAutofit/>
          </a:bodyPr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kern="0" dirty="0">
              <a:solidFill>
                <a:sysClr val="windowText" lastClr="0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5" name="Rectangle 49"/>
          <p:cNvSpPr>
            <a:spLocks noChangeArrowheads="1"/>
          </p:cNvSpPr>
          <p:nvPr/>
        </p:nvSpPr>
        <p:spPr bwMode="auto">
          <a:xfrm>
            <a:off x="1012825" y="4308475"/>
            <a:ext cx="2552700" cy="428625"/>
          </a:xfrm>
          <a:prstGeom prst="rect">
            <a:avLst/>
          </a:prstGeom>
          <a:solidFill>
            <a:srgbClr val="969696"/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lIns="90000" tIns="46800" rIns="90000" bIns="46800" anchor="ctr">
            <a:noAutofit/>
          </a:bodyPr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kern="0" dirty="0">
              <a:solidFill>
                <a:sysClr val="windowText" lastClr="0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6" name="Rectangle 50"/>
          <p:cNvSpPr>
            <a:spLocks noChangeArrowheads="1"/>
          </p:cNvSpPr>
          <p:nvPr/>
        </p:nvSpPr>
        <p:spPr bwMode="auto">
          <a:xfrm>
            <a:off x="1147763" y="2541588"/>
            <a:ext cx="581025" cy="2238375"/>
          </a:xfrm>
          <a:prstGeom prst="rect">
            <a:avLst/>
          </a:prstGeom>
          <a:solidFill>
            <a:srgbClr val="EAEBE7">
              <a:alpha val="71001"/>
            </a:srgbClr>
          </a:solidFill>
          <a:ln w="9525" algn="ctr">
            <a:solidFill>
              <a:srgbClr val="808080"/>
            </a:solidFill>
            <a:miter lim="800000"/>
            <a:headEnd/>
            <a:tailEnd/>
          </a:ln>
          <a:effectLst/>
        </p:spPr>
        <p:txBody>
          <a:bodyPr wrap="none" lIns="90000" tIns="118808" rIns="90000" bIns="46800">
            <a:noAutofit/>
          </a:bodyPr>
          <a:lstStyle/>
          <a:p>
            <a:pPr algn="ctr" defTabSz="939800" fontAlgn="b" latinLnBrk="0">
              <a:spcBef>
                <a:spcPct val="30000"/>
              </a:spcBef>
              <a:spcAft>
                <a:spcPts val="0"/>
              </a:spcAft>
              <a:defRPr/>
            </a:pPr>
            <a:endParaRPr kumimoji="0" lang="ko-KR" altLang="en-US" sz="900" kern="0" dirty="0">
              <a:solidFill>
                <a:sysClr val="windowText" lastClr="0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7" name="Rectangle 51"/>
          <p:cNvSpPr>
            <a:spLocks noChangeArrowheads="1"/>
          </p:cNvSpPr>
          <p:nvPr/>
        </p:nvSpPr>
        <p:spPr bwMode="auto">
          <a:xfrm>
            <a:off x="1947863" y="2541588"/>
            <a:ext cx="574675" cy="2238375"/>
          </a:xfrm>
          <a:prstGeom prst="rect">
            <a:avLst/>
          </a:prstGeom>
          <a:solidFill>
            <a:srgbClr val="EAEBE7">
              <a:alpha val="71001"/>
            </a:srgbClr>
          </a:solidFill>
          <a:ln w="9525" algn="ctr">
            <a:solidFill>
              <a:srgbClr val="808080"/>
            </a:solidFill>
            <a:miter lim="800000"/>
            <a:headEnd/>
            <a:tailEnd/>
          </a:ln>
          <a:effectLst/>
        </p:spPr>
        <p:txBody>
          <a:bodyPr wrap="none" lIns="90000" tIns="118808" rIns="90000" bIns="46800">
            <a:noAutofit/>
          </a:bodyPr>
          <a:lstStyle/>
          <a:p>
            <a:pPr algn="ctr" defTabSz="939800" fontAlgn="b" latinLnBrk="0">
              <a:spcBef>
                <a:spcPct val="30000"/>
              </a:spcBef>
              <a:spcAft>
                <a:spcPts val="0"/>
              </a:spcAft>
              <a:defRPr/>
            </a:pPr>
            <a:endParaRPr kumimoji="0" lang="ko-KR" altLang="en-US" sz="900" kern="0" dirty="0">
              <a:solidFill>
                <a:sysClr val="windowText" lastClr="0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8" name="Rectangle 52"/>
          <p:cNvSpPr>
            <a:spLocks noChangeArrowheads="1"/>
          </p:cNvSpPr>
          <p:nvPr/>
        </p:nvSpPr>
        <p:spPr bwMode="auto">
          <a:xfrm>
            <a:off x="361950" y="2617788"/>
            <a:ext cx="552450" cy="368300"/>
          </a:xfrm>
          <a:prstGeom prst="rect">
            <a:avLst/>
          </a:prstGeom>
          <a:solidFill>
            <a:srgbClr val="333333"/>
          </a:solidFill>
          <a:ln w="19050" algn="ctr">
            <a:solidFill>
              <a:srgbClr val="80808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>
            <a:noAutofit/>
          </a:bodyPr>
          <a:lstStyle/>
          <a:p>
            <a:pPr algn="ctr" defTabSz="939800" fontAlgn="b" latinLnBrk="0">
              <a:spcBef>
                <a:spcPct val="30000"/>
              </a:spcBef>
              <a:spcAft>
                <a:spcPts val="0"/>
              </a:spcAft>
              <a:defRPr/>
            </a:pPr>
            <a:r>
              <a:rPr kumimoji="0" lang="ko-KR" altLang="en-US" sz="1100" b="1" kern="0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서비스</a:t>
            </a:r>
            <a:endParaRPr kumimoji="0" lang="ko-KR" altLang="en-US" sz="1100" b="1" kern="0" dirty="0">
              <a:solidFill>
                <a:srgbClr val="FFFFFF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9" name="Rectangle 53"/>
          <p:cNvSpPr>
            <a:spLocks noChangeArrowheads="1"/>
          </p:cNvSpPr>
          <p:nvPr/>
        </p:nvSpPr>
        <p:spPr bwMode="auto">
          <a:xfrm>
            <a:off x="2809875" y="2541588"/>
            <a:ext cx="585788" cy="2238375"/>
          </a:xfrm>
          <a:prstGeom prst="rect">
            <a:avLst/>
          </a:prstGeom>
          <a:solidFill>
            <a:srgbClr val="EAEBE7">
              <a:alpha val="71001"/>
            </a:srgbClr>
          </a:solidFill>
          <a:ln w="9525" algn="ctr">
            <a:solidFill>
              <a:srgbClr val="808080"/>
            </a:solidFill>
            <a:miter lim="800000"/>
            <a:headEnd/>
            <a:tailEnd/>
          </a:ln>
          <a:effectLst/>
        </p:spPr>
        <p:txBody>
          <a:bodyPr wrap="none" lIns="90000" tIns="118808" rIns="90000" bIns="46800">
            <a:noAutofit/>
          </a:bodyPr>
          <a:lstStyle/>
          <a:p>
            <a:pPr algn="ctr" defTabSz="939800" fontAlgn="b" latinLnBrk="0">
              <a:spcBef>
                <a:spcPct val="30000"/>
              </a:spcBef>
              <a:spcAft>
                <a:spcPts val="0"/>
              </a:spcAft>
              <a:defRPr/>
            </a:pPr>
            <a:endParaRPr kumimoji="0" lang="ko-KR" altLang="en-US" sz="900" kern="0" dirty="0">
              <a:solidFill>
                <a:sysClr val="windowText" lastClr="0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0" name="Rectangle 54"/>
          <p:cNvSpPr>
            <a:spLocks noChangeArrowheads="1"/>
          </p:cNvSpPr>
          <p:nvPr/>
        </p:nvSpPr>
        <p:spPr bwMode="auto">
          <a:xfrm>
            <a:off x="361950" y="3189288"/>
            <a:ext cx="552450" cy="366712"/>
          </a:xfrm>
          <a:prstGeom prst="rect">
            <a:avLst/>
          </a:prstGeom>
          <a:solidFill>
            <a:srgbClr val="333333"/>
          </a:solidFill>
          <a:ln w="19050" algn="ctr">
            <a:solidFill>
              <a:srgbClr val="80808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>
            <a:noAutofit/>
          </a:bodyPr>
          <a:lstStyle/>
          <a:p>
            <a:pPr algn="ctr" defTabSz="939800" fontAlgn="b" latinLnBrk="0">
              <a:spcBef>
                <a:spcPct val="30000"/>
              </a:spcBef>
              <a:spcAft>
                <a:spcPts val="0"/>
              </a:spcAft>
              <a:defRPr/>
            </a:pPr>
            <a:r>
              <a:rPr kumimoji="0" lang="ko-KR" altLang="en-US" sz="1100" b="1" kern="0" dirty="0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카드</a:t>
            </a:r>
          </a:p>
        </p:txBody>
      </p:sp>
      <p:sp>
        <p:nvSpPr>
          <p:cNvPr id="51" name="Rectangle 55"/>
          <p:cNvSpPr>
            <a:spLocks noChangeArrowheads="1"/>
          </p:cNvSpPr>
          <p:nvPr/>
        </p:nvSpPr>
        <p:spPr bwMode="auto">
          <a:xfrm>
            <a:off x="361950" y="3763963"/>
            <a:ext cx="552450" cy="366712"/>
          </a:xfrm>
          <a:prstGeom prst="rect">
            <a:avLst/>
          </a:prstGeom>
          <a:solidFill>
            <a:srgbClr val="333333"/>
          </a:solidFill>
          <a:ln w="19050" algn="ctr">
            <a:solidFill>
              <a:srgbClr val="80808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>
            <a:noAutofit/>
          </a:bodyPr>
          <a:lstStyle/>
          <a:p>
            <a:pPr algn="ctr" defTabSz="939800" fontAlgn="b" latinLnBrk="0">
              <a:spcBef>
                <a:spcPct val="30000"/>
              </a:spcBef>
              <a:spcAft>
                <a:spcPts val="0"/>
              </a:spcAft>
              <a:defRPr/>
            </a:pPr>
            <a:r>
              <a:rPr kumimoji="0" lang="ko-KR" altLang="en-US" sz="1100" b="1" kern="0" dirty="0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증권</a:t>
            </a:r>
          </a:p>
        </p:txBody>
      </p:sp>
      <p:sp>
        <p:nvSpPr>
          <p:cNvPr id="52" name="Rectangle 56"/>
          <p:cNvSpPr>
            <a:spLocks noChangeArrowheads="1"/>
          </p:cNvSpPr>
          <p:nvPr/>
        </p:nvSpPr>
        <p:spPr bwMode="auto">
          <a:xfrm>
            <a:off x="361950" y="4338638"/>
            <a:ext cx="552450" cy="368300"/>
          </a:xfrm>
          <a:prstGeom prst="rect">
            <a:avLst/>
          </a:prstGeom>
          <a:solidFill>
            <a:srgbClr val="333333"/>
          </a:solidFill>
          <a:ln w="19050" algn="ctr">
            <a:solidFill>
              <a:srgbClr val="80808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>
            <a:noAutofit/>
          </a:bodyPr>
          <a:lstStyle/>
          <a:p>
            <a:pPr algn="ctr" defTabSz="939800" fontAlgn="b" latinLnBrk="0">
              <a:spcBef>
                <a:spcPct val="30000"/>
              </a:spcBef>
              <a:spcAft>
                <a:spcPts val="0"/>
              </a:spcAft>
              <a:defRPr/>
            </a:pPr>
            <a:r>
              <a:rPr lang="en-US" altLang="ko-KR" sz="1100" b="1" kern="0" dirty="0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…</a:t>
            </a:r>
            <a:endParaRPr lang="ko-KR" altLang="en-US" sz="1100" b="1" kern="0" dirty="0">
              <a:solidFill>
                <a:srgbClr val="FFFFFF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3" name="Text Box 57"/>
          <p:cNvSpPr txBox="1">
            <a:spLocks noChangeArrowheads="1"/>
          </p:cNvSpPr>
          <p:nvPr/>
        </p:nvSpPr>
        <p:spPr bwMode="auto">
          <a:xfrm>
            <a:off x="1047750" y="2233613"/>
            <a:ext cx="755650" cy="2571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lIns="36000" tIns="36000" rIns="36000" bIns="36000">
            <a:noAutofit/>
          </a:bodyPr>
          <a:lstStyle/>
          <a:p>
            <a:pPr marL="88900" indent="-88900" algn="ctr" fontAlgn="auto" latinLnBrk="0">
              <a:spcBef>
                <a:spcPct val="50000"/>
              </a:spcBef>
              <a:spcAft>
                <a:spcPts val="0"/>
              </a:spcAft>
              <a:defRPr/>
            </a:pPr>
            <a:r>
              <a:rPr kumimoji="0" lang="ko-KR" altLang="en-US" sz="1200" b="1" i="1" kern="0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상품</a:t>
            </a:r>
          </a:p>
        </p:txBody>
      </p:sp>
      <p:sp>
        <p:nvSpPr>
          <p:cNvPr id="54" name="Text Box 58"/>
          <p:cNvSpPr txBox="1">
            <a:spLocks noChangeArrowheads="1"/>
          </p:cNvSpPr>
          <p:nvPr/>
        </p:nvSpPr>
        <p:spPr bwMode="auto">
          <a:xfrm>
            <a:off x="1876425" y="2233613"/>
            <a:ext cx="755650" cy="2571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lIns="36000" tIns="36000" rIns="36000" bIns="36000">
            <a:noAutofit/>
          </a:bodyPr>
          <a:lstStyle/>
          <a:p>
            <a:pPr marL="88900" indent="-88900" algn="ctr" fontAlgn="auto" latinLnBrk="0">
              <a:spcBef>
                <a:spcPct val="50000"/>
              </a:spcBef>
              <a:spcAft>
                <a:spcPts val="0"/>
              </a:spcAft>
              <a:defRPr/>
            </a:pPr>
            <a:r>
              <a:rPr kumimoji="0" lang="ko-KR" altLang="en-US" sz="1200" b="1" i="1" kern="0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채널</a:t>
            </a:r>
          </a:p>
        </p:txBody>
      </p:sp>
      <p:sp>
        <p:nvSpPr>
          <p:cNvPr id="55" name="Text Box 59"/>
          <p:cNvSpPr txBox="1">
            <a:spLocks noChangeArrowheads="1"/>
          </p:cNvSpPr>
          <p:nvPr/>
        </p:nvSpPr>
        <p:spPr bwMode="auto">
          <a:xfrm>
            <a:off x="2738438" y="2233613"/>
            <a:ext cx="755650" cy="2571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lIns="36000" tIns="36000" rIns="36000" bIns="36000">
            <a:noAutofit/>
          </a:bodyPr>
          <a:lstStyle/>
          <a:p>
            <a:pPr marL="88900" indent="-88900" algn="ctr" fontAlgn="auto" latinLnBrk="0">
              <a:spcBef>
                <a:spcPct val="50000"/>
              </a:spcBef>
              <a:spcAft>
                <a:spcPts val="0"/>
              </a:spcAft>
              <a:defRPr/>
            </a:pPr>
            <a:r>
              <a:rPr kumimoji="0" lang="ko-KR" altLang="en-US" sz="1200" b="1" i="1" kern="0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고객</a:t>
            </a:r>
          </a:p>
        </p:txBody>
      </p:sp>
      <p:sp>
        <p:nvSpPr>
          <p:cNvPr id="56" name="Line 60"/>
          <p:cNvSpPr>
            <a:spLocks noChangeShapeType="1"/>
          </p:cNvSpPr>
          <p:nvPr/>
        </p:nvSpPr>
        <p:spPr bwMode="auto">
          <a:xfrm>
            <a:off x="1198563" y="2794000"/>
            <a:ext cx="2151062" cy="0"/>
          </a:xfrm>
          <a:prstGeom prst="line">
            <a:avLst/>
          </a:prstGeom>
          <a:noFill/>
          <a:ln w="31750">
            <a:solidFill>
              <a:srgbClr val="000000"/>
            </a:solidFill>
            <a:round/>
            <a:headEnd/>
            <a:tailEnd type="triangle" w="med" len="med"/>
          </a:ln>
          <a:effectLst/>
        </p:spPr>
        <p:txBody>
          <a:bodyPr wrap="none" lIns="0" rIns="0" anchor="ctr">
            <a:noAutofit/>
          </a:bodyPr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kern="0" dirty="0">
              <a:solidFill>
                <a:sysClr val="windowText" lastClr="0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7" name="Line 61"/>
          <p:cNvSpPr>
            <a:spLocks noChangeShapeType="1"/>
          </p:cNvSpPr>
          <p:nvPr/>
        </p:nvSpPr>
        <p:spPr bwMode="auto">
          <a:xfrm>
            <a:off x="1190625" y="3367088"/>
            <a:ext cx="2151063" cy="0"/>
          </a:xfrm>
          <a:prstGeom prst="line">
            <a:avLst/>
          </a:prstGeom>
          <a:noFill/>
          <a:ln w="31750">
            <a:solidFill>
              <a:srgbClr val="000000"/>
            </a:solidFill>
            <a:round/>
            <a:headEnd/>
            <a:tailEnd type="triangle" w="med" len="med"/>
          </a:ln>
          <a:effectLst/>
        </p:spPr>
        <p:txBody>
          <a:bodyPr wrap="none" lIns="0" rIns="0" anchor="ctr">
            <a:noAutofit/>
          </a:bodyPr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kern="0" dirty="0">
              <a:solidFill>
                <a:sysClr val="windowText" lastClr="0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8" name="Line 62"/>
          <p:cNvSpPr>
            <a:spLocks noChangeShapeType="1"/>
          </p:cNvSpPr>
          <p:nvPr/>
        </p:nvSpPr>
        <p:spPr bwMode="auto">
          <a:xfrm>
            <a:off x="1198563" y="4518025"/>
            <a:ext cx="2151062" cy="0"/>
          </a:xfrm>
          <a:prstGeom prst="line">
            <a:avLst/>
          </a:prstGeom>
          <a:noFill/>
          <a:ln w="31750">
            <a:solidFill>
              <a:srgbClr val="000000"/>
            </a:solidFill>
            <a:round/>
            <a:headEnd/>
            <a:tailEnd type="triangle" w="med" len="med"/>
          </a:ln>
          <a:effectLst/>
        </p:spPr>
        <p:txBody>
          <a:bodyPr wrap="none" lIns="0" rIns="0" anchor="ctr">
            <a:noAutofit/>
          </a:bodyPr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kern="0" dirty="0">
              <a:solidFill>
                <a:sysClr val="windowText" lastClr="0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9" name="Line 63"/>
          <p:cNvSpPr>
            <a:spLocks noChangeShapeType="1"/>
          </p:cNvSpPr>
          <p:nvPr/>
        </p:nvSpPr>
        <p:spPr bwMode="auto">
          <a:xfrm>
            <a:off x="1198563" y="3943350"/>
            <a:ext cx="2151062" cy="0"/>
          </a:xfrm>
          <a:prstGeom prst="line">
            <a:avLst/>
          </a:prstGeom>
          <a:noFill/>
          <a:ln w="31750">
            <a:solidFill>
              <a:srgbClr val="000000"/>
            </a:solidFill>
            <a:round/>
            <a:headEnd/>
            <a:tailEnd type="triangle" w="med" len="med"/>
          </a:ln>
          <a:effectLst/>
        </p:spPr>
        <p:txBody>
          <a:bodyPr wrap="none" lIns="0" rIns="0" anchor="ctr">
            <a:noAutofit/>
          </a:bodyPr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kern="0" dirty="0">
              <a:solidFill>
                <a:sysClr val="windowText" lastClr="0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5" name="Rectangle 16"/>
          <p:cNvSpPr>
            <a:spLocks noChangeArrowheads="1"/>
          </p:cNvSpPr>
          <p:nvPr/>
        </p:nvSpPr>
        <p:spPr bwMode="auto">
          <a:xfrm>
            <a:off x="7643813" y="2348880"/>
            <a:ext cx="1931987" cy="277336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lIns="86400" rIns="54000" anchor="t">
            <a:noAutofit/>
          </a:bodyPr>
          <a:lstStyle/>
          <a:p>
            <a:pPr marL="174625" indent="-174625" fontAlgn="ctr" latinLnBrk="0">
              <a:lnSpc>
                <a:spcPts val="1700"/>
              </a:lnSpc>
              <a:spcBef>
                <a:spcPct val="20000"/>
              </a:spcBef>
              <a:spcAft>
                <a:spcPts val="0"/>
              </a:spcAft>
              <a:defRPr/>
            </a:pPr>
            <a:r>
              <a:rPr kumimoji="0" lang="ko-KR" altLang="en-US" sz="1100" kern="0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  상품중심에서 </a:t>
            </a:r>
            <a:r>
              <a:rPr kumimoji="0" lang="ko-KR" altLang="en-US" sz="1100" b="1" u="sng" kern="0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고객중심으로 시장 패러다임 전환</a:t>
            </a:r>
            <a:endParaRPr kumimoji="0" lang="en-US" altLang="ko-KR" sz="1100" b="1" u="sng" kern="0" dirty="0">
              <a:solidFill>
                <a:srgbClr val="0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74625" indent="-174625" fontAlgn="ctr" latinLnBrk="0">
              <a:lnSpc>
                <a:spcPts val="1700"/>
              </a:lnSpc>
              <a:spcBef>
                <a:spcPct val="20000"/>
              </a:spcBef>
              <a:spcAft>
                <a:spcPts val="0"/>
              </a:spcAft>
              <a:defRPr/>
            </a:pPr>
            <a:endParaRPr kumimoji="0" lang="ko-KR" altLang="en-US" sz="1100" b="1" u="sng" kern="0" dirty="0">
              <a:solidFill>
                <a:srgbClr val="0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74625" indent="-174625" fontAlgn="ctr" latinLnBrk="0">
              <a:lnSpc>
                <a:spcPts val="1700"/>
              </a:lnSpc>
              <a:spcBef>
                <a:spcPct val="2000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kumimoji="0" lang="ko-KR" altLang="en-US" sz="1100" kern="0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고객 니즈의 다양화</a:t>
            </a:r>
            <a:r>
              <a:rPr kumimoji="0" lang="en-US" altLang="ko-KR" sz="1100" kern="0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kumimoji="0" lang="ko-KR" altLang="en-US" sz="1100" kern="0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고도화와 채널의 다양화로 </a:t>
            </a:r>
            <a:r>
              <a:rPr kumimoji="0" lang="ko-KR" altLang="en-US" sz="1100" b="1" u="sng" kern="0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고객의 </a:t>
            </a:r>
            <a:r>
              <a:rPr kumimoji="0" lang="en-US" altLang="ko-KR" sz="1100" b="1" u="sng" kern="0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Needs </a:t>
            </a:r>
            <a:r>
              <a:rPr kumimoji="0" lang="ko-KR" altLang="en-US" sz="1100" b="1" u="sng" kern="0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에 따라 채널을 통해 상품으로 접근</a:t>
            </a:r>
            <a:endParaRPr kumimoji="0" lang="en-US" altLang="ko-KR" sz="1100" b="1" u="sng" kern="0" dirty="0">
              <a:solidFill>
                <a:srgbClr val="0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74625" indent="-174625" fontAlgn="ctr" latinLnBrk="0">
              <a:lnSpc>
                <a:spcPts val="1700"/>
              </a:lnSpc>
              <a:spcBef>
                <a:spcPct val="2000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endParaRPr kumimoji="0" lang="ko-KR" altLang="en-US" sz="1100" kern="0" dirty="0">
              <a:solidFill>
                <a:srgbClr val="0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74625" indent="-174625" fontAlgn="ctr" latinLnBrk="0">
              <a:lnSpc>
                <a:spcPts val="1700"/>
              </a:lnSpc>
              <a:spcBef>
                <a:spcPct val="2000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kumimoji="0" lang="ko-KR" altLang="en-US" sz="1100" kern="0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모바일 </a:t>
            </a:r>
            <a:r>
              <a:rPr kumimoji="0" lang="ko-KR" altLang="en-US" sz="1100" b="1" kern="0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등 </a:t>
            </a:r>
            <a:r>
              <a:rPr kumimoji="0" lang="ko-KR" altLang="en-US" sz="1100" b="1" u="sng" kern="0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新 채널과의 </a:t>
            </a:r>
            <a:r>
              <a:rPr kumimoji="0" lang="en-US" altLang="ko-KR" sz="1100" b="1" u="sng" kern="0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Convergence</a:t>
            </a:r>
            <a:r>
              <a:rPr kumimoji="0" lang="ko-KR" altLang="en-US" sz="1100" kern="0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를 통한 고객관리 </a:t>
            </a:r>
            <a:r>
              <a:rPr kumimoji="0" lang="ko-KR" altLang="en-US" sz="1100" kern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및 서비스 </a:t>
            </a:r>
            <a:r>
              <a:rPr kumimoji="0" lang="ko-KR" altLang="en-US" sz="1100" kern="0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확대</a:t>
            </a:r>
          </a:p>
        </p:txBody>
      </p:sp>
      <p:sp>
        <p:nvSpPr>
          <p:cNvPr id="66" name="Rectangle 17"/>
          <p:cNvSpPr>
            <a:spLocks noChangeArrowheads="1"/>
          </p:cNvSpPr>
          <p:nvPr/>
        </p:nvSpPr>
        <p:spPr bwMode="auto">
          <a:xfrm>
            <a:off x="7566025" y="2247900"/>
            <a:ext cx="1993900" cy="4059238"/>
          </a:xfrm>
          <a:prstGeom prst="rect">
            <a:avLst/>
          </a:prstGeom>
          <a:noFill/>
          <a:ln w="9525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36000" tIns="36000" rIns="36000" bIns="36000" anchor="ctr">
            <a:noAutofit/>
          </a:bodyPr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kern="0" dirty="0">
              <a:solidFill>
                <a:sysClr val="windowText" lastClr="0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7" name="Rectangle 18"/>
          <p:cNvSpPr>
            <a:spLocks noChangeArrowheads="1"/>
          </p:cNvSpPr>
          <p:nvPr/>
        </p:nvSpPr>
        <p:spPr bwMode="auto">
          <a:xfrm>
            <a:off x="7566025" y="1843088"/>
            <a:ext cx="1993900" cy="404812"/>
          </a:xfrm>
          <a:prstGeom prst="rect">
            <a:avLst/>
          </a:prstGeom>
          <a:solidFill>
            <a:srgbClr val="808080"/>
          </a:solidFill>
          <a:ln w="9525" algn="ctr">
            <a:solidFill>
              <a:srgbClr val="5F5F5F"/>
            </a:solidFill>
            <a:miter lim="800000"/>
            <a:headEnd/>
            <a:tailEnd/>
          </a:ln>
          <a:effectLst/>
        </p:spPr>
        <p:txBody>
          <a:bodyPr lIns="0" tIns="0" rIns="0" bIns="0" anchor="ctr">
            <a:noAutofit/>
          </a:bodyPr>
          <a:lstStyle/>
          <a:p>
            <a:pPr algn="ctr" fontAlgn="ctr" latinLnBrk="0">
              <a:spcBef>
                <a:spcPct val="50000"/>
              </a:spcBef>
              <a:spcAft>
                <a:spcPts val="0"/>
              </a:spcAft>
              <a:defRPr/>
            </a:pPr>
            <a:r>
              <a:rPr kumimoji="0" lang="ko-KR" altLang="en-US" sz="1200" b="1" kern="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고딕" panose="020D0604000000000000" pitchFamily="50" charset="-127"/>
                <a:ea typeface="나눔고딕" panose="020D0604000000000000" pitchFamily="50" charset="-127"/>
              </a:rPr>
              <a:t>주요 시사점</a:t>
            </a:r>
          </a:p>
        </p:txBody>
      </p:sp>
      <p:sp>
        <p:nvSpPr>
          <p:cNvPr id="68" name="Oval 64"/>
          <p:cNvSpPr>
            <a:spLocks noChangeArrowheads="1"/>
          </p:cNvSpPr>
          <p:nvPr/>
        </p:nvSpPr>
        <p:spPr bwMode="auto">
          <a:xfrm>
            <a:off x="7591425" y="2408238"/>
            <a:ext cx="250825" cy="252412"/>
          </a:xfrm>
          <a:prstGeom prst="ellipse">
            <a:avLst/>
          </a:prstGeom>
          <a:solidFill>
            <a:srgbClr val="333333"/>
          </a:solidFill>
          <a:ln w="19050" algn="ctr">
            <a:solidFill>
              <a:srgbClr val="FFFFFF"/>
            </a:solidFill>
            <a:round/>
            <a:headEnd/>
            <a:tailEnd/>
          </a:ln>
          <a:effectLst/>
        </p:spPr>
        <p:txBody>
          <a:bodyPr wrap="none" lIns="36000" tIns="36000" rIns="36000" bIns="36000" anchor="ctr">
            <a:no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/>
            <a:r>
              <a:rPr kumimoji="0" lang="en-US" altLang="ko-KR" sz="1000" b="1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</a:p>
        </p:txBody>
      </p:sp>
      <p:sp>
        <p:nvSpPr>
          <p:cNvPr id="69" name="Oval 65"/>
          <p:cNvSpPr>
            <a:spLocks noChangeArrowheads="1"/>
          </p:cNvSpPr>
          <p:nvPr/>
        </p:nvSpPr>
        <p:spPr bwMode="auto">
          <a:xfrm>
            <a:off x="7591425" y="3104580"/>
            <a:ext cx="250825" cy="252412"/>
          </a:xfrm>
          <a:prstGeom prst="ellipse">
            <a:avLst/>
          </a:prstGeom>
          <a:solidFill>
            <a:srgbClr val="333333"/>
          </a:solidFill>
          <a:ln w="19050" algn="ctr">
            <a:solidFill>
              <a:srgbClr val="FFFFFF"/>
            </a:solidFill>
            <a:round/>
            <a:headEnd/>
            <a:tailEnd/>
          </a:ln>
          <a:effectLst/>
        </p:spPr>
        <p:txBody>
          <a:bodyPr wrap="none" lIns="36000" tIns="36000" rIns="36000" bIns="36000" anchor="ctr">
            <a:no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/>
            <a:r>
              <a:rPr kumimoji="0" lang="en-US" altLang="ko-KR" sz="1000" b="1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r>
          </a:p>
        </p:txBody>
      </p:sp>
      <p:sp>
        <p:nvSpPr>
          <p:cNvPr id="70" name="Oval 66"/>
          <p:cNvSpPr>
            <a:spLocks noChangeArrowheads="1"/>
          </p:cNvSpPr>
          <p:nvPr/>
        </p:nvSpPr>
        <p:spPr bwMode="auto">
          <a:xfrm>
            <a:off x="7591425" y="4258295"/>
            <a:ext cx="250825" cy="250825"/>
          </a:xfrm>
          <a:prstGeom prst="ellipse">
            <a:avLst/>
          </a:prstGeom>
          <a:solidFill>
            <a:srgbClr val="333333"/>
          </a:solidFill>
          <a:ln w="19050" algn="ctr">
            <a:solidFill>
              <a:srgbClr val="FFFFFF"/>
            </a:solidFill>
            <a:round/>
            <a:headEnd/>
            <a:tailEnd/>
          </a:ln>
          <a:effectLst/>
        </p:spPr>
        <p:txBody>
          <a:bodyPr wrap="none" lIns="36000" tIns="36000" rIns="36000" bIns="36000" anchor="ctr">
            <a:no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/>
            <a:r>
              <a:rPr kumimoji="0" lang="en-US" altLang="ko-KR" sz="1000" b="1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</a:p>
        </p:txBody>
      </p:sp>
      <p:sp>
        <p:nvSpPr>
          <p:cNvPr id="71" name="AutoShape 67"/>
          <p:cNvSpPr>
            <a:spLocks noChangeArrowheads="1"/>
          </p:cNvSpPr>
          <p:nvPr/>
        </p:nvSpPr>
        <p:spPr bwMode="auto">
          <a:xfrm>
            <a:off x="7473280" y="5019675"/>
            <a:ext cx="322263" cy="311150"/>
          </a:xfrm>
          <a:prstGeom prst="rightArrow">
            <a:avLst>
              <a:gd name="adj1" fmla="val 54074"/>
              <a:gd name="adj2" fmla="val 30171"/>
            </a:avLst>
          </a:prstGeom>
          <a:gradFill rotWithShape="0">
            <a:gsLst>
              <a:gs pos="0">
                <a:srgbClr val="808080">
                  <a:gamma/>
                  <a:tint val="0"/>
                  <a:invGamma/>
                </a:srgbClr>
              </a:gs>
              <a:gs pos="100000">
                <a:srgbClr val="808080"/>
              </a:gs>
            </a:gsLst>
            <a:lin ang="0" scaled="1"/>
          </a:gradFill>
          <a:ln w="9525" algn="ctr">
            <a:noFill/>
            <a:miter lim="800000"/>
            <a:headEnd/>
            <a:tailEnd/>
          </a:ln>
          <a:effectLst/>
        </p:spPr>
        <p:txBody>
          <a:bodyPr wrap="none" lIns="36000" tIns="36000" rIns="36000" bIns="36000" anchor="ctr">
            <a:noAutofit/>
          </a:bodyPr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kern="0" dirty="0">
              <a:solidFill>
                <a:sysClr val="windowText" lastClr="0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2" name="Rectangle 68"/>
          <p:cNvSpPr>
            <a:spLocks noChangeArrowheads="1"/>
          </p:cNvSpPr>
          <p:nvPr/>
        </p:nvSpPr>
        <p:spPr bwMode="auto">
          <a:xfrm>
            <a:off x="7842250" y="5102225"/>
            <a:ext cx="1722438" cy="98266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lIns="0" rIns="0" anchor="ctr">
            <a:noAutofit/>
          </a:bodyPr>
          <a:lstStyle/>
          <a:p>
            <a:pPr fontAlgn="ctr" latinLnBrk="0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Font typeface="Wingdings" pitchFamily="2" charset="2"/>
              <a:buNone/>
              <a:defRPr/>
            </a:pPr>
            <a:r>
              <a:rPr kumimoji="0" lang="ko-KR" altLang="en-US" sz="1100" b="1" i="1" kern="0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이에 시장에 먼저 </a:t>
            </a:r>
            <a:r>
              <a:rPr kumimoji="0" lang="ko-KR" altLang="en-US" sz="1100" b="1" i="1" kern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진입한 서비스사의 </a:t>
            </a:r>
            <a:r>
              <a:rPr kumimoji="0" lang="ko-KR" altLang="en-US" sz="1100" b="1" i="1" kern="0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대부분이</a:t>
            </a:r>
            <a:r>
              <a:rPr kumimoji="0" lang="en-US" altLang="ko-KR" sz="1100" b="1" i="1" kern="0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</a:t>
            </a:r>
            <a:br>
              <a:rPr kumimoji="0" lang="en-US" altLang="ko-KR" sz="1100" b="1" i="1" kern="0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kumimoji="0" lang="ko-KR" altLang="en-US" sz="1100" b="1" i="1" kern="0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이미 고객 중심으로의</a:t>
            </a:r>
            <a:br>
              <a:rPr kumimoji="0" lang="en-US" altLang="ko-KR" sz="1100" b="1" i="1" kern="0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kumimoji="0" lang="en-US" altLang="ko-KR" sz="1100" b="1" i="1" kern="0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Rules of Game</a:t>
            </a:r>
            <a:r>
              <a:rPr kumimoji="0" lang="ko-KR" altLang="en-US" sz="1100" b="1" i="1" kern="0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에 동참하여 시장의 변화에 대응하고 있음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86797" y="6381328"/>
            <a:ext cx="303801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* Mega Trend : </a:t>
            </a:r>
            <a:r>
              <a:rPr lang="en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FFF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사회에서 일어나고 있는 거대한 시대적 조류</a:t>
            </a:r>
          </a:p>
        </p:txBody>
      </p:sp>
      <p:sp>
        <p:nvSpPr>
          <p:cNvPr id="10" name="AutoShape 10"/>
          <p:cNvSpPr>
            <a:spLocks noChangeArrowheads="1"/>
          </p:cNvSpPr>
          <p:nvPr/>
        </p:nvSpPr>
        <p:spPr bwMode="auto">
          <a:xfrm>
            <a:off x="742306" y="4941168"/>
            <a:ext cx="322262" cy="301625"/>
          </a:xfrm>
          <a:prstGeom prst="rightArrow">
            <a:avLst>
              <a:gd name="adj1" fmla="val 54074"/>
              <a:gd name="adj2" fmla="val 30171"/>
            </a:avLst>
          </a:prstGeom>
          <a:gradFill rotWithShape="0">
            <a:gsLst>
              <a:gs pos="0">
                <a:srgbClr val="808080">
                  <a:gamma/>
                  <a:tint val="0"/>
                  <a:invGamma/>
                </a:srgbClr>
              </a:gs>
              <a:gs pos="100000">
                <a:srgbClr val="808080"/>
              </a:gs>
            </a:gsLst>
            <a:lin ang="0" scaled="1"/>
          </a:gradFill>
          <a:ln w="9525" algn="ctr">
            <a:noFill/>
            <a:miter lim="800000"/>
            <a:headEnd/>
            <a:tailEnd/>
          </a:ln>
          <a:effectLst/>
        </p:spPr>
        <p:txBody>
          <a:bodyPr wrap="none" lIns="36000" tIns="36000" rIns="36000" bIns="36000" anchor="ctr">
            <a:noAutofit/>
          </a:bodyPr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kern="0" dirty="0">
              <a:solidFill>
                <a:sysClr val="windowText" lastClr="0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2" name="AutoShape 12"/>
          <p:cNvSpPr>
            <a:spLocks noChangeArrowheads="1"/>
          </p:cNvSpPr>
          <p:nvPr/>
        </p:nvSpPr>
        <p:spPr bwMode="auto">
          <a:xfrm>
            <a:off x="4332982" y="4941168"/>
            <a:ext cx="322263" cy="301625"/>
          </a:xfrm>
          <a:prstGeom prst="rightArrow">
            <a:avLst>
              <a:gd name="adj1" fmla="val 54074"/>
              <a:gd name="adj2" fmla="val 30171"/>
            </a:avLst>
          </a:prstGeom>
          <a:gradFill rotWithShape="0">
            <a:gsLst>
              <a:gs pos="0">
                <a:srgbClr val="808080">
                  <a:gamma/>
                  <a:tint val="0"/>
                  <a:invGamma/>
                </a:srgbClr>
              </a:gs>
              <a:gs pos="100000">
                <a:srgbClr val="808080"/>
              </a:gs>
            </a:gsLst>
            <a:lin ang="0" scaled="1"/>
          </a:gradFill>
          <a:ln w="9525" algn="ctr">
            <a:noFill/>
            <a:miter lim="800000"/>
            <a:headEnd/>
            <a:tailEnd/>
          </a:ln>
          <a:effectLst/>
        </p:spPr>
        <p:txBody>
          <a:bodyPr wrap="none" lIns="36000" tIns="36000" rIns="36000" bIns="36000" anchor="ctr">
            <a:noAutofit/>
          </a:bodyPr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kern="0" dirty="0">
              <a:solidFill>
                <a:sysClr val="windowText" lastClr="0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279271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13"/>
          <p:cNvSpPr/>
          <p:nvPr/>
        </p:nvSpPr>
        <p:spPr>
          <a:xfrm>
            <a:off x="2288704" y="3284983"/>
            <a:ext cx="3600400" cy="229714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/>
          <p:cNvSpPr/>
          <p:nvPr/>
        </p:nvSpPr>
        <p:spPr>
          <a:xfrm>
            <a:off x="0" y="620688"/>
            <a:ext cx="4232920" cy="86409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479425" y="784373"/>
            <a:ext cx="2661604" cy="6177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chemeClr val="tx1"/>
                </a:solidFill>
                <a:miter lim="800000"/>
                <a:headEnd/>
                <a:tailEnd type="none" w="med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r>
              <a:rPr lang="en-US" altLang="ko-KR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User Experience Modeling</a:t>
            </a:r>
            <a:br>
              <a:rPr lang="en-US" altLang="ko-KR" b="1" dirty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Table of Contents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2432720" y="1988840"/>
            <a:ext cx="2587568" cy="35932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Approach</a:t>
            </a:r>
          </a:p>
          <a:p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en-US" altLang="ko-KR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User Experience modeling</a:t>
            </a:r>
          </a:p>
          <a:p>
            <a:r>
              <a:rPr lang="en-US" altLang="ko-KR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    Abstract Key Question</a:t>
            </a:r>
          </a:p>
          <a:p>
            <a:r>
              <a:rPr lang="ko-KR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    고객분석</a:t>
            </a:r>
          </a:p>
          <a:p>
            <a:r>
              <a:rPr lang="en-US" altLang="ko-KR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    Mega Trend</a:t>
            </a:r>
          </a:p>
          <a:p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en-US" altLang="ko-KR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Information architecture</a:t>
            </a:r>
          </a:p>
          <a:p>
            <a:r>
              <a:rPr lang="en-US" altLang="ko-KR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    Approach</a:t>
            </a:r>
          </a:p>
          <a:p>
            <a:r>
              <a:rPr lang="ko-KR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    고객 </a:t>
            </a:r>
            <a:r>
              <a:rPr lang="en-US" altLang="ko-KR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Need </a:t>
            </a:r>
            <a:r>
              <a:rPr lang="ko-KR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분석</a:t>
            </a:r>
          </a:p>
          <a:p>
            <a:r>
              <a:rPr lang="en-US" altLang="ko-KR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    Case Study</a:t>
            </a:r>
          </a:p>
          <a:p>
            <a:r>
              <a:rPr lang="en-US" altLang="ko-KR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    Service Grouping</a:t>
            </a:r>
          </a:p>
          <a:p>
            <a:r>
              <a:rPr lang="en-US" altLang="ko-KR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    Information Architecture Mapping</a:t>
            </a:r>
          </a:p>
          <a:p>
            <a:r>
              <a:rPr lang="ko-KR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    사이트 유형별 분류</a:t>
            </a:r>
          </a:p>
          <a:p>
            <a:r>
              <a:rPr lang="ko-KR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    페이지 타입 정의</a:t>
            </a:r>
          </a:p>
          <a:p>
            <a:r>
              <a:rPr lang="ko-KR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    핵심 특성 및 혜택</a:t>
            </a:r>
          </a:p>
          <a:p>
            <a:r>
              <a:rPr lang="en-US" altLang="ko-KR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    Service Framework</a:t>
            </a:r>
          </a:p>
          <a:p>
            <a:r>
              <a:rPr lang="ko-KR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    사업 서비스 수직 다각화</a:t>
            </a:r>
          </a:p>
          <a:p>
            <a:r>
              <a:rPr lang="ko-KR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    미래 사업으로의 서비스 수평 다각화</a:t>
            </a:r>
          </a:p>
          <a:p>
            <a:r>
              <a:rPr lang="ko-KR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    </a:t>
            </a:r>
            <a:r>
              <a:rPr lang="en-US" altLang="ko-KR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Device </a:t>
            </a:r>
            <a:r>
              <a:rPr lang="ko-KR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기반 모바일 서비스 </a:t>
            </a:r>
            <a:r>
              <a:rPr lang="en-US" altLang="ko-KR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Pool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04661" y="1988840"/>
            <a:ext cx="2900153" cy="41319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User Interface Design</a:t>
            </a:r>
          </a:p>
          <a:p>
            <a:r>
              <a:rPr lang="en-US" altLang="ko-KR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    Approach</a:t>
            </a:r>
          </a:p>
          <a:p>
            <a:r>
              <a:rPr lang="en-US" altLang="ko-KR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        Approach – framework (</a:t>
            </a:r>
            <a:r>
              <a:rPr lang="ko-KR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정의</a:t>
            </a:r>
            <a:r>
              <a:rPr lang="en-US" altLang="ko-KR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  <a:p>
            <a:r>
              <a:rPr lang="en-US" altLang="ko-KR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        Approach – framework (</a:t>
            </a:r>
            <a:r>
              <a:rPr lang="ko-KR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정보분석</a:t>
            </a:r>
            <a:r>
              <a:rPr lang="en-US" altLang="ko-KR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  <a:p>
            <a:r>
              <a:rPr lang="en-US" altLang="ko-KR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        Approach – framework (</a:t>
            </a:r>
            <a:r>
              <a:rPr lang="ko-KR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분석</a:t>
            </a:r>
            <a:r>
              <a:rPr lang="en-US" altLang="ko-KR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판단</a:t>
            </a:r>
            <a:r>
              <a:rPr lang="en-US" altLang="ko-KR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  <a:p>
            <a:r>
              <a:rPr lang="en-US" altLang="ko-KR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        Approach – framework (</a:t>
            </a:r>
            <a:r>
              <a:rPr lang="ko-KR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세부기획</a:t>
            </a:r>
            <a:r>
              <a:rPr lang="en-US" altLang="ko-KR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  <a:p>
            <a:r>
              <a:rPr lang="en-US" altLang="ko-KR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        Approach – framework (</a:t>
            </a:r>
            <a:r>
              <a:rPr lang="ko-KR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확인단계</a:t>
            </a:r>
            <a:r>
              <a:rPr lang="en-US" altLang="ko-KR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  <a:p>
            <a:r>
              <a:rPr lang="en-US" altLang="ko-KR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    U.I / U.X Design Process</a:t>
            </a:r>
          </a:p>
          <a:p>
            <a:r>
              <a:rPr lang="en-US" altLang="ko-KR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        Dynamic modeling</a:t>
            </a:r>
          </a:p>
          <a:p>
            <a:r>
              <a:rPr lang="en-US" altLang="ko-KR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    U.I / U.X Design Case</a:t>
            </a:r>
          </a:p>
          <a:p>
            <a:r>
              <a:rPr lang="en-US" altLang="ko-KR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    Case Study</a:t>
            </a:r>
          </a:p>
          <a:p>
            <a:r>
              <a:rPr lang="en-US" altLang="ko-KR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    Navigation System</a:t>
            </a:r>
          </a:p>
          <a:p>
            <a:r>
              <a:rPr lang="en-US" altLang="ko-KR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    </a:t>
            </a:r>
          </a:p>
          <a:p>
            <a:r>
              <a:rPr lang="en-US" altLang="ko-KR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    Mobile Web page</a:t>
            </a:r>
          </a:p>
          <a:p>
            <a:r>
              <a:rPr lang="en-US" altLang="ko-KR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    One source Multi Device (N-Screen)</a:t>
            </a:r>
          </a:p>
          <a:p>
            <a:r>
              <a:rPr lang="en-US" altLang="ko-KR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    Layer System</a:t>
            </a:r>
          </a:p>
          <a:p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en-US" altLang="ko-KR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Multi channel integration</a:t>
            </a:r>
          </a:p>
          <a:p>
            <a:r>
              <a:rPr lang="en-US" altLang="ko-KR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    Approach</a:t>
            </a:r>
          </a:p>
          <a:p>
            <a:r>
              <a:rPr lang="en-US" altLang="ko-KR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    Customer Scenario Modeling</a:t>
            </a:r>
          </a:p>
          <a:p>
            <a:r>
              <a:rPr lang="en-US" altLang="ko-KR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    Customer’s Need</a:t>
            </a:r>
          </a:p>
          <a:p>
            <a:r>
              <a:rPr lang="en-US" altLang="ko-KR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    Multi Channel Strategy (</a:t>
            </a:r>
            <a:r>
              <a:rPr lang="ko-KR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멀티채널의 구성</a:t>
            </a:r>
            <a:r>
              <a:rPr lang="en-US" altLang="ko-KR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  <a:p>
            <a:r>
              <a:rPr lang="ko-KR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    </a:t>
            </a:r>
            <a:r>
              <a:rPr lang="en-US" altLang="ko-KR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Integration (</a:t>
            </a:r>
            <a:r>
              <a:rPr lang="ko-KR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통합 서비스의 제공</a:t>
            </a:r>
            <a:r>
              <a:rPr lang="en-US" altLang="ko-KR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  <a:p>
            <a:r>
              <a:rPr lang="ko-KR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    </a:t>
            </a:r>
            <a:r>
              <a:rPr lang="en-US" altLang="ko-KR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Separation (</a:t>
            </a:r>
            <a:r>
              <a:rPr lang="ko-KR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각 </a:t>
            </a:r>
            <a:r>
              <a:rPr lang="ko-KR" altLang="en-US" sz="105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채널별</a:t>
            </a:r>
            <a:r>
              <a:rPr lang="ko-KR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서비스 분리</a:t>
            </a:r>
            <a:r>
              <a:rPr lang="en-US" altLang="ko-KR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1680562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44017" y="91339"/>
            <a:ext cx="7401271" cy="385333"/>
          </a:xfrm>
          <a:prstGeom prst="rect">
            <a:avLst/>
          </a:prstGeom>
          <a:noFill/>
        </p:spPr>
        <p:txBody>
          <a:bodyPr wrap="square" lIns="0" tIns="53643" rIns="0" bIns="53643" rtlCol="0">
            <a:spAutoFit/>
          </a:bodyPr>
          <a:lstStyle/>
          <a:p>
            <a:r>
              <a:rPr kumimoji="1" lang="en-US" altLang="ko-KR" b="1" kern="0" dirty="0">
                <a:latin typeface="나눔고딕" panose="020D0604000000000000" pitchFamily="50" charset="-127"/>
                <a:ea typeface="나눔고딕" panose="020D0604000000000000" pitchFamily="50" charset="-127"/>
                <a:cs typeface="산돌고딕 M"/>
              </a:rPr>
              <a:t>Information architecture</a:t>
            </a:r>
            <a:endParaRPr kumimoji="1" lang="ko-KR" altLang="en-US" b="1" kern="0" dirty="0">
              <a:latin typeface="나눔고딕" panose="020D0604000000000000" pitchFamily="50" charset="-127"/>
              <a:ea typeface="나눔고딕" panose="020D0604000000000000" pitchFamily="50" charset="-127"/>
              <a:cs typeface="산돌고딕 M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44017" y="683985"/>
            <a:ext cx="96335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Approach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8504" y="991762"/>
            <a:ext cx="9289032" cy="523220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정보구조 설계는 사이트의 전략 기획이 효과적으로 고객에게 전달 될 수 있게 하는 핵심적인 중간 과정이라고 볼 수 있습니다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  <a:p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사이트 전략과 고객의 </a:t>
            </a:r>
            <a:r>
              <a:rPr lang="ko-KR" altLang="en-US" sz="14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니즈를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포괄적으로 파악하여 정보구조 설계에 반영 하여야 합니다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</p:txBody>
      </p:sp>
      <p:grpSp>
        <p:nvGrpSpPr>
          <p:cNvPr id="26" name="Group 4"/>
          <p:cNvGrpSpPr>
            <a:grpSpLocks/>
          </p:cNvGrpSpPr>
          <p:nvPr/>
        </p:nvGrpSpPr>
        <p:grpSpPr bwMode="auto">
          <a:xfrm>
            <a:off x="1465281" y="1934025"/>
            <a:ext cx="6531294" cy="1182969"/>
            <a:chOff x="1248" y="1349"/>
            <a:chExt cx="3990" cy="722"/>
          </a:xfrm>
          <a:solidFill>
            <a:schemeClr val="bg1">
              <a:lumMod val="85000"/>
            </a:schemeClr>
          </a:solidFill>
        </p:grpSpPr>
        <p:sp>
          <p:nvSpPr>
            <p:cNvPr id="27" name="Rectangle 5"/>
            <p:cNvSpPr>
              <a:spLocks noChangeArrowheads="1"/>
            </p:cNvSpPr>
            <p:nvPr/>
          </p:nvSpPr>
          <p:spPr bwMode="auto">
            <a:xfrm>
              <a:off x="1248" y="1349"/>
              <a:ext cx="3552" cy="260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63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noAutofit/>
            </a:bodyPr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8" name="AutoShape 6"/>
            <p:cNvSpPr>
              <a:spLocks noChangeArrowheads="1"/>
            </p:cNvSpPr>
            <p:nvPr/>
          </p:nvSpPr>
          <p:spPr bwMode="auto">
            <a:xfrm rot="5400000">
              <a:off x="4535" y="1368"/>
              <a:ext cx="721" cy="685"/>
            </a:xfrm>
            <a:custGeom>
              <a:avLst/>
              <a:gdLst>
                <a:gd name="G0" fmla="+- 15052 0 0"/>
                <a:gd name="G1" fmla="+- 2250 0 0"/>
                <a:gd name="G2" fmla="+- 12158 0 2250"/>
                <a:gd name="G3" fmla="+- G2 0 2250"/>
                <a:gd name="G4" fmla="*/ G3 32768 32059"/>
                <a:gd name="G5" fmla="*/ G4 1 2"/>
                <a:gd name="G6" fmla="+- 21600 0 15052"/>
                <a:gd name="G7" fmla="*/ G6 2250 6079"/>
                <a:gd name="G8" fmla="+- G7 15052 0"/>
                <a:gd name="T0" fmla="*/ 15052 w 21600"/>
                <a:gd name="T1" fmla="*/ 0 h 21600"/>
                <a:gd name="T2" fmla="*/ 15052 w 21600"/>
                <a:gd name="T3" fmla="*/ 12158 h 21600"/>
                <a:gd name="T4" fmla="*/ 3914 w 21600"/>
                <a:gd name="T5" fmla="*/ 21600 h 21600"/>
                <a:gd name="T6" fmla="*/ 21600 w 21600"/>
                <a:gd name="T7" fmla="*/ 6079 h 21600"/>
                <a:gd name="T8" fmla="*/ 17694720 60000 65536"/>
                <a:gd name="T9" fmla="*/ 5898240 60000 65536"/>
                <a:gd name="T10" fmla="*/ 5898240 60000 65536"/>
                <a:gd name="T11" fmla="*/ 0 60000 65536"/>
                <a:gd name="T12" fmla="*/ 12427 w 21600"/>
                <a:gd name="T13" fmla="*/ G1 h 21600"/>
                <a:gd name="T14" fmla="*/ G8 w 21600"/>
                <a:gd name="T15" fmla="*/ G2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21600" y="6079"/>
                  </a:moveTo>
                  <a:lnTo>
                    <a:pt x="15052" y="0"/>
                  </a:lnTo>
                  <a:lnTo>
                    <a:pt x="15052" y="2250"/>
                  </a:lnTo>
                  <a:lnTo>
                    <a:pt x="12427" y="2250"/>
                  </a:lnTo>
                  <a:cubicBezTo>
                    <a:pt x="5564" y="2250"/>
                    <a:pt x="0" y="6686"/>
                    <a:pt x="0" y="12158"/>
                  </a:cubicBezTo>
                  <a:lnTo>
                    <a:pt x="0" y="21600"/>
                  </a:lnTo>
                  <a:lnTo>
                    <a:pt x="7827" y="21600"/>
                  </a:lnTo>
                  <a:lnTo>
                    <a:pt x="7827" y="12158"/>
                  </a:lnTo>
                  <a:cubicBezTo>
                    <a:pt x="7827" y="10915"/>
                    <a:pt x="9886" y="9908"/>
                    <a:pt x="12427" y="9908"/>
                  </a:cubicBezTo>
                  <a:lnTo>
                    <a:pt x="15052" y="9908"/>
                  </a:lnTo>
                  <a:lnTo>
                    <a:pt x="15052" y="12158"/>
                  </a:ln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63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noAutofit/>
            </a:bodyPr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sp>
        <p:nvSpPr>
          <p:cNvPr id="29" name="AutoShape 7"/>
          <p:cNvSpPr>
            <a:spLocks noChangeArrowheads="1"/>
          </p:cNvSpPr>
          <p:nvPr/>
        </p:nvSpPr>
        <p:spPr bwMode="auto">
          <a:xfrm>
            <a:off x="531933" y="1916832"/>
            <a:ext cx="943353" cy="609498"/>
          </a:xfrm>
          <a:prstGeom prst="flowChartDocument">
            <a:avLst/>
          </a:prstGeom>
          <a:solidFill>
            <a:schemeClr val="bg1"/>
          </a:solidFill>
          <a:ln w="6350">
            <a:solidFill>
              <a:schemeClr val="tx1"/>
            </a:solidFill>
            <a:miter lim="800000"/>
            <a:headEnd/>
            <a:tailEnd type="none" w="med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pPr algn="ctr"/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Strategy</a:t>
            </a:r>
          </a:p>
        </p:txBody>
      </p:sp>
      <p:sp>
        <p:nvSpPr>
          <p:cNvPr id="31" name="AutoShape 8"/>
          <p:cNvSpPr>
            <a:spLocks noChangeArrowheads="1"/>
          </p:cNvSpPr>
          <p:nvPr/>
        </p:nvSpPr>
        <p:spPr bwMode="auto">
          <a:xfrm>
            <a:off x="1160265" y="4570547"/>
            <a:ext cx="943352" cy="487941"/>
          </a:xfrm>
          <a:prstGeom prst="flowChartDocument">
            <a:avLst/>
          </a:prstGeom>
          <a:solidFill>
            <a:schemeClr val="bg1"/>
          </a:solidFill>
          <a:ln w="6350">
            <a:solidFill>
              <a:schemeClr val="tx1"/>
            </a:solidFill>
            <a:miter lim="800000"/>
            <a:headEnd/>
            <a:tailEnd type="none" w="med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pPr algn="ctr"/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정보적 구조</a:t>
            </a:r>
            <a:endParaRPr lang="en-US" altLang="ko-KR" sz="1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2" name="AutoShape 9"/>
          <p:cNvSpPr>
            <a:spLocks noChangeArrowheads="1"/>
          </p:cNvSpPr>
          <p:nvPr/>
        </p:nvSpPr>
        <p:spPr bwMode="auto">
          <a:xfrm>
            <a:off x="1160265" y="5260512"/>
            <a:ext cx="943352" cy="487942"/>
          </a:xfrm>
          <a:prstGeom prst="flowChartDocument">
            <a:avLst/>
          </a:prstGeom>
          <a:solidFill>
            <a:schemeClr val="bg1"/>
          </a:solidFill>
          <a:ln w="6350">
            <a:solidFill>
              <a:schemeClr val="tx1"/>
            </a:solidFill>
            <a:miter lim="800000"/>
            <a:headEnd/>
            <a:tailEnd type="none" w="med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pPr algn="ctr"/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기능적 구조</a:t>
            </a:r>
            <a:endParaRPr lang="en-US" altLang="ko-KR" sz="1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3" name="Text Box 10"/>
          <p:cNvSpPr txBox="1">
            <a:spLocks noChangeArrowheads="1"/>
          </p:cNvSpPr>
          <p:nvPr/>
        </p:nvSpPr>
        <p:spPr bwMode="auto">
          <a:xfrm>
            <a:off x="2831837" y="3067346"/>
            <a:ext cx="1754020" cy="3651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>
              <a:lnSpc>
                <a:spcPct val="80000"/>
              </a:lnSpc>
            </a:pPr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고객 정보이동</a:t>
            </a:r>
            <a:endParaRPr lang="en-US" altLang="ko-KR" sz="1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>
              <a:lnSpc>
                <a:spcPct val="80000"/>
              </a:lnSpc>
            </a:pPr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시나리오</a:t>
            </a:r>
            <a:endParaRPr lang="en-US" altLang="ko-KR" sz="1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4" name="Rectangle 11"/>
          <p:cNvSpPr>
            <a:spLocks noChangeArrowheads="1"/>
          </p:cNvSpPr>
          <p:nvPr/>
        </p:nvSpPr>
        <p:spPr bwMode="auto">
          <a:xfrm>
            <a:off x="3552031" y="2683841"/>
            <a:ext cx="289341" cy="393777"/>
          </a:xfrm>
          <a:prstGeom prst="rect">
            <a:avLst/>
          </a:prstGeom>
          <a:gradFill rotWithShape="0">
            <a:gsLst>
              <a:gs pos="0">
                <a:srgbClr val="FF9900"/>
              </a:gs>
              <a:gs pos="100000">
                <a:srgbClr val="FF9900">
                  <a:gamma/>
                  <a:tint val="63922"/>
                  <a:invGamma/>
                </a:srgbClr>
              </a:gs>
            </a:gsLst>
            <a:lin ang="5400000" scaled="1"/>
          </a:gradFill>
          <a:ln w="6350">
            <a:miter lim="800000"/>
            <a:headEnd/>
            <a:tailEnd type="none" w="med" len="sm"/>
          </a:ln>
          <a:effectLst/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FF9900"/>
            </a:extrusion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flatTx/>
          </a:bodyPr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5" name="Rectangle 12"/>
          <p:cNvSpPr>
            <a:spLocks noChangeArrowheads="1"/>
          </p:cNvSpPr>
          <p:nvPr/>
        </p:nvSpPr>
        <p:spPr bwMode="auto">
          <a:xfrm>
            <a:off x="2374125" y="2683841"/>
            <a:ext cx="289341" cy="393777"/>
          </a:xfrm>
          <a:prstGeom prst="rect">
            <a:avLst/>
          </a:prstGeom>
          <a:gradFill rotWithShape="0">
            <a:gsLst>
              <a:gs pos="0">
                <a:srgbClr val="FF9900"/>
              </a:gs>
              <a:gs pos="100000">
                <a:srgbClr val="FF9900">
                  <a:gamma/>
                  <a:tint val="63922"/>
                  <a:invGamma/>
                </a:srgbClr>
              </a:gs>
            </a:gsLst>
            <a:lin ang="5400000" scaled="1"/>
          </a:gradFill>
          <a:ln w="6350">
            <a:miter lim="800000"/>
            <a:headEnd/>
            <a:tailEnd type="none" w="med" len="sm"/>
          </a:ln>
          <a:effectLst/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FF9900"/>
            </a:extrusion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flatTx/>
          </a:bodyPr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6" name="Text Box 13"/>
          <p:cNvSpPr txBox="1">
            <a:spLocks noChangeArrowheads="1"/>
          </p:cNvSpPr>
          <p:nvPr/>
        </p:nvSpPr>
        <p:spPr bwMode="auto">
          <a:xfrm>
            <a:off x="1196218" y="2704386"/>
            <a:ext cx="1227558" cy="232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r">
              <a:lnSpc>
                <a:spcPct val="80000"/>
              </a:lnSpc>
            </a:pPr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고객 세분화</a:t>
            </a:r>
            <a:endParaRPr lang="en-US" altLang="ko-KR" sz="1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7" name="Rectangle 14"/>
          <p:cNvSpPr>
            <a:spLocks noChangeArrowheads="1"/>
          </p:cNvSpPr>
          <p:nvPr/>
        </p:nvSpPr>
        <p:spPr bwMode="auto">
          <a:xfrm>
            <a:off x="4416629" y="3627193"/>
            <a:ext cx="405761" cy="549576"/>
          </a:xfrm>
          <a:prstGeom prst="rect">
            <a:avLst/>
          </a:prstGeom>
          <a:gradFill rotWithShape="0">
            <a:gsLst>
              <a:gs pos="0">
                <a:srgbClr val="CCCC00"/>
              </a:gs>
              <a:gs pos="100000">
                <a:srgbClr val="CCCC00">
                  <a:gamma/>
                  <a:tint val="63922"/>
                  <a:invGamma/>
                </a:srgbClr>
              </a:gs>
            </a:gsLst>
            <a:lin ang="5400000" scaled="1"/>
          </a:gradFill>
          <a:ln w="6350">
            <a:miter lim="800000"/>
            <a:headEnd/>
            <a:tailEnd type="none" w="med" len="sm"/>
          </a:ln>
          <a:effectLst/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CCCC00"/>
            </a:extrusion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flatTx/>
          </a:bodyPr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8" name="Text Box 15"/>
          <p:cNvSpPr txBox="1">
            <a:spLocks noChangeArrowheads="1"/>
          </p:cNvSpPr>
          <p:nvPr/>
        </p:nvSpPr>
        <p:spPr bwMode="auto">
          <a:xfrm>
            <a:off x="3519503" y="4176770"/>
            <a:ext cx="1414173" cy="232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r">
              <a:lnSpc>
                <a:spcPct val="80000"/>
              </a:lnSpc>
            </a:pPr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고객 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Needs </a:t>
            </a:r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분석</a:t>
            </a:r>
            <a:endParaRPr lang="en-US" altLang="ko-KR" sz="1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9" name="Rectangle 16"/>
          <p:cNvSpPr>
            <a:spLocks noChangeArrowheads="1"/>
          </p:cNvSpPr>
          <p:nvPr/>
        </p:nvSpPr>
        <p:spPr bwMode="auto">
          <a:xfrm>
            <a:off x="3360279" y="5041366"/>
            <a:ext cx="405762" cy="551288"/>
          </a:xfrm>
          <a:prstGeom prst="rect">
            <a:avLst/>
          </a:prstGeom>
          <a:gradFill rotWithShape="0">
            <a:gsLst>
              <a:gs pos="0">
                <a:srgbClr val="CCCC00"/>
              </a:gs>
              <a:gs pos="100000">
                <a:srgbClr val="CCCC00">
                  <a:gamma/>
                  <a:tint val="63922"/>
                  <a:invGamma/>
                </a:srgbClr>
              </a:gs>
            </a:gsLst>
            <a:lin ang="5400000" scaled="1"/>
          </a:gradFill>
          <a:ln w="6350">
            <a:miter lim="800000"/>
            <a:headEnd/>
            <a:tailEnd type="none" w="med" len="sm"/>
          </a:ln>
          <a:effectLst/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CCCC00"/>
            </a:extrusion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flatTx/>
          </a:bodyPr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0" name="Text Box 17"/>
          <p:cNvSpPr txBox="1">
            <a:spLocks noChangeArrowheads="1"/>
          </p:cNvSpPr>
          <p:nvPr/>
        </p:nvSpPr>
        <p:spPr bwMode="auto">
          <a:xfrm>
            <a:off x="2995688" y="5592654"/>
            <a:ext cx="1201876" cy="2311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>
              <a:lnSpc>
                <a:spcPct val="80000"/>
              </a:lnSpc>
            </a:pPr>
            <a:r>
              <a:rPr lang="ko-KR" altLang="en-US" sz="1000" b="1">
                <a:latin typeface="나눔고딕" panose="020D0604000000000000" pitchFamily="50" charset="-127"/>
                <a:ea typeface="나눔고딕" panose="020D0604000000000000" pitchFamily="50" charset="-127"/>
              </a:rPr>
              <a:t>구조 설계</a:t>
            </a:r>
            <a:endParaRPr lang="en-US" altLang="ko-KR" sz="1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41" name="AutoShape 18"/>
          <p:cNvCxnSpPr>
            <a:cxnSpLocks noChangeShapeType="1"/>
            <a:stCxn id="29" idx="2"/>
            <a:endCxn id="31" idx="1"/>
          </p:cNvCxnSpPr>
          <p:nvPr/>
        </p:nvCxnSpPr>
        <p:spPr bwMode="auto">
          <a:xfrm rot="16200000" flipH="1">
            <a:off x="-79277" y="3574120"/>
            <a:ext cx="2321572" cy="157511"/>
          </a:xfrm>
          <a:prstGeom prst="bentConnector2">
            <a:avLst/>
          </a:prstGeom>
          <a:noFill/>
          <a:ln w="6350">
            <a:solidFill>
              <a:schemeClr val="accent2"/>
            </a:solidFill>
            <a:miter lim="800000"/>
            <a:headEnd/>
            <a:tailEnd type="triangle" w="med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2" name="AutoShape 19"/>
          <p:cNvCxnSpPr>
            <a:cxnSpLocks noChangeShapeType="1"/>
            <a:stCxn id="29" idx="2"/>
            <a:endCxn id="32" idx="1"/>
          </p:cNvCxnSpPr>
          <p:nvPr/>
        </p:nvCxnSpPr>
        <p:spPr bwMode="auto">
          <a:xfrm rot="16200000" flipH="1">
            <a:off x="-425116" y="3919958"/>
            <a:ext cx="3013250" cy="157511"/>
          </a:xfrm>
          <a:prstGeom prst="bentConnector2">
            <a:avLst/>
          </a:prstGeom>
          <a:noFill/>
          <a:ln w="6350">
            <a:solidFill>
              <a:schemeClr val="accent2"/>
            </a:solidFill>
            <a:miter lim="800000"/>
            <a:headEnd/>
            <a:tailEnd type="triangle" w="med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3" name="Freeform 20"/>
          <p:cNvSpPr>
            <a:spLocks/>
          </p:cNvSpPr>
          <p:nvPr/>
        </p:nvSpPr>
        <p:spPr bwMode="auto">
          <a:xfrm>
            <a:off x="1475286" y="2112008"/>
            <a:ext cx="1177907" cy="392064"/>
          </a:xfrm>
          <a:custGeom>
            <a:avLst/>
            <a:gdLst>
              <a:gd name="T0" fmla="*/ 0 w 864"/>
              <a:gd name="T1" fmla="*/ 0 h 240"/>
              <a:gd name="T2" fmla="*/ 864 w 864"/>
              <a:gd name="T3" fmla="*/ 0 h 240"/>
              <a:gd name="T4" fmla="*/ 864 w 864"/>
              <a:gd name="T5" fmla="*/ 240 h 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864" h="240">
                <a:moveTo>
                  <a:pt x="0" y="0"/>
                </a:moveTo>
                <a:lnTo>
                  <a:pt x="864" y="0"/>
                </a:lnTo>
                <a:lnTo>
                  <a:pt x="864" y="240"/>
                </a:lnTo>
              </a:path>
            </a:pathLst>
          </a:custGeom>
          <a:noFill/>
          <a:ln w="63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4" name="Line 21"/>
          <p:cNvSpPr>
            <a:spLocks noChangeShapeType="1"/>
          </p:cNvSpPr>
          <p:nvPr/>
        </p:nvSpPr>
        <p:spPr bwMode="auto">
          <a:xfrm>
            <a:off x="2923701" y="2762596"/>
            <a:ext cx="549575" cy="1712"/>
          </a:xfrm>
          <a:prstGeom prst="line">
            <a:avLst/>
          </a:prstGeom>
          <a:noFill/>
          <a:ln w="6350">
            <a:solidFill>
              <a:schemeClr val="accent2"/>
            </a:solidFill>
            <a:round/>
            <a:headEnd/>
            <a:tailEnd type="triangle" w="med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5" name="Freeform 22"/>
          <p:cNvSpPr>
            <a:spLocks/>
          </p:cNvSpPr>
          <p:nvPr/>
        </p:nvSpPr>
        <p:spPr bwMode="auto">
          <a:xfrm rot="5400000" flipV="1">
            <a:off x="3080356" y="2684696"/>
            <a:ext cx="785841" cy="1729195"/>
          </a:xfrm>
          <a:custGeom>
            <a:avLst/>
            <a:gdLst>
              <a:gd name="T0" fmla="*/ 0 w 864"/>
              <a:gd name="T1" fmla="*/ 0 h 240"/>
              <a:gd name="T2" fmla="*/ 864 w 864"/>
              <a:gd name="T3" fmla="*/ 0 h 240"/>
              <a:gd name="T4" fmla="*/ 864 w 864"/>
              <a:gd name="T5" fmla="*/ 240 h 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864" h="240">
                <a:moveTo>
                  <a:pt x="0" y="0"/>
                </a:moveTo>
                <a:lnTo>
                  <a:pt x="864" y="0"/>
                </a:lnTo>
                <a:lnTo>
                  <a:pt x="864" y="240"/>
                </a:lnTo>
              </a:path>
            </a:pathLst>
          </a:custGeom>
          <a:noFill/>
          <a:ln w="63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6" name="Freeform 23"/>
          <p:cNvSpPr>
            <a:spLocks/>
          </p:cNvSpPr>
          <p:nvPr/>
        </p:nvSpPr>
        <p:spPr bwMode="auto">
          <a:xfrm rot="5400000" flipV="1">
            <a:off x="3826820" y="3273650"/>
            <a:ext cx="393777" cy="628332"/>
          </a:xfrm>
          <a:custGeom>
            <a:avLst/>
            <a:gdLst>
              <a:gd name="T0" fmla="*/ 0 w 864"/>
              <a:gd name="T1" fmla="*/ 0 h 240"/>
              <a:gd name="T2" fmla="*/ 864 w 864"/>
              <a:gd name="T3" fmla="*/ 0 h 240"/>
              <a:gd name="T4" fmla="*/ 864 w 864"/>
              <a:gd name="T5" fmla="*/ 240 h 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864" h="240">
                <a:moveTo>
                  <a:pt x="0" y="0"/>
                </a:moveTo>
                <a:lnTo>
                  <a:pt x="864" y="0"/>
                </a:lnTo>
                <a:lnTo>
                  <a:pt x="864" y="240"/>
                </a:lnTo>
              </a:path>
            </a:pathLst>
          </a:custGeom>
          <a:noFill/>
          <a:ln w="63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7" name="Line 24"/>
          <p:cNvSpPr>
            <a:spLocks noChangeShapeType="1"/>
          </p:cNvSpPr>
          <p:nvPr/>
        </p:nvSpPr>
        <p:spPr bwMode="auto">
          <a:xfrm>
            <a:off x="2182372" y="5435143"/>
            <a:ext cx="1020396" cy="1713"/>
          </a:xfrm>
          <a:prstGeom prst="line">
            <a:avLst/>
          </a:prstGeom>
          <a:noFill/>
          <a:ln w="6350">
            <a:solidFill>
              <a:schemeClr val="accent2"/>
            </a:solidFill>
            <a:round/>
            <a:headEnd/>
            <a:tailEnd type="triangle" w="med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8" name="Line 25"/>
          <p:cNvSpPr>
            <a:spLocks noChangeShapeType="1"/>
          </p:cNvSpPr>
          <p:nvPr/>
        </p:nvSpPr>
        <p:spPr bwMode="auto">
          <a:xfrm>
            <a:off x="2182372" y="4806813"/>
            <a:ext cx="1020396" cy="313309"/>
          </a:xfrm>
          <a:prstGeom prst="line">
            <a:avLst/>
          </a:prstGeom>
          <a:noFill/>
          <a:ln w="6350">
            <a:solidFill>
              <a:schemeClr val="accent2"/>
            </a:solidFill>
            <a:round/>
            <a:headEnd/>
            <a:tailEnd type="triangle" w="med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9" name="Rectangle 26"/>
          <p:cNvSpPr>
            <a:spLocks noChangeArrowheads="1"/>
          </p:cNvSpPr>
          <p:nvPr/>
        </p:nvSpPr>
        <p:spPr bwMode="auto">
          <a:xfrm>
            <a:off x="5752047" y="3740170"/>
            <a:ext cx="707086" cy="400666"/>
          </a:xfrm>
          <a:prstGeom prst="rect">
            <a:avLst/>
          </a:prstGeom>
          <a:solidFill>
            <a:schemeClr val="bg1"/>
          </a:solidFill>
          <a:ln w="38100">
            <a:solidFill>
              <a:srgbClr val="969696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0" name="Text Box 27"/>
          <p:cNvSpPr txBox="1">
            <a:spLocks noChangeArrowheads="1"/>
          </p:cNvSpPr>
          <p:nvPr/>
        </p:nvSpPr>
        <p:spPr bwMode="auto">
          <a:xfrm>
            <a:off x="5774629" y="4431868"/>
            <a:ext cx="752692" cy="2678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pPr algn="ctr"/>
            <a:r>
              <a:rPr lang="ko-KR" altLang="en-US" sz="1000" b="1">
                <a:latin typeface="나눔고딕" panose="020D0604000000000000" pitchFamily="50" charset="-127"/>
                <a:ea typeface="나눔고딕" panose="020D0604000000000000" pitchFamily="50" charset="-127"/>
              </a:rPr>
              <a:t>분석 결과</a:t>
            </a:r>
            <a:endParaRPr lang="en-US" altLang="ko-KR" sz="1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3" name="Line 28"/>
          <p:cNvSpPr>
            <a:spLocks noChangeShapeType="1"/>
          </p:cNvSpPr>
          <p:nvPr/>
        </p:nvSpPr>
        <p:spPr bwMode="auto">
          <a:xfrm>
            <a:off x="5909558" y="3627193"/>
            <a:ext cx="392064" cy="1713"/>
          </a:xfrm>
          <a:prstGeom prst="line">
            <a:avLst/>
          </a:prstGeom>
          <a:noFill/>
          <a:ln w="6350">
            <a:solidFill>
              <a:srgbClr val="96969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0" name="Line 29"/>
          <p:cNvSpPr>
            <a:spLocks noChangeShapeType="1"/>
          </p:cNvSpPr>
          <p:nvPr/>
        </p:nvSpPr>
        <p:spPr bwMode="auto">
          <a:xfrm>
            <a:off x="5909558" y="3705949"/>
            <a:ext cx="392064" cy="1713"/>
          </a:xfrm>
          <a:prstGeom prst="line">
            <a:avLst/>
          </a:prstGeom>
          <a:noFill/>
          <a:ln w="6350">
            <a:solidFill>
              <a:srgbClr val="96969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1" name="Line 30"/>
          <p:cNvSpPr>
            <a:spLocks noChangeShapeType="1"/>
          </p:cNvSpPr>
          <p:nvPr/>
        </p:nvSpPr>
        <p:spPr bwMode="auto">
          <a:xfrm>
            <a:off x="5909558" y="3784704"/>
            <a:ext cx="392064" cy="1713"/>
          </a:xfrm>
          <a:prstGeom prst="line">
            <a:avLst/>
          </a:prstGeom>
          <a:noFill/>
          <a:ln w="6350">
            <a:solidFill>
              <a:srgbClr val="96969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2" name="Line 31"/>
          <p:cNvSpPr>
            <a:spLocks noChangeShapeType="1"/>
          </p:cNvSpPr>
          <p:nvPr/>
        </p:nvSpPr>
        <p:spPr bwMode="auto">
          <a:xfrm>
            <a:off x="5909558" y="3863459"/>
            <a:ext cx="392064" cy="1713"/>
          </a:xfrm>
          <a:prstGeom prst="line">
            <a:avLst/>
          </a:prstGeom>
          <a:noFill/>
          <a:ln w="6350">
            <a:solidFill>
              <a:srgbClr val="96969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3" name="Line 32"/>
          <p:cNvSpPr>
            <a:spLocks noChangeShapeType="1"/>
          </p:cNvSpPr>
          <p:nvPr/>
        </p:nvSpPr>
        <p:spPr bwMode="auto">
          <a:xfrm>
            <a:off x="5909558" y="3942215"/>
            <a:ext cx="392064" cy="1713"/>
          </a:xfrm>
          <a:prstGeom prst="line">
            <a:avLst/>
          </a:prstGeom>
          <a:noFill/>
          <a:ln w="6350">
            <a:solidFill>
              <a:srgbClr val="96969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4" name="Line 33"/>
          <p:cNvSpPr>
            <a:spLocks noChangeShapeType="1"/>
          </p:cNvSpPr>
          <p:nvPr/>
        </p:nvSpPr>
        <p:spPr bwMode="auto">
          <a:xfrm>
            <a:off x="5909558" y="4020970"/>
            <a:ext cx="392064" cy="1713"/>
          </a:xfrm>
          <a:prstGeom prst="line">
            <a:avLst/>
          </a:prstGeom>
          <a:noFill/>
          <a:ln w="6350">
            <a:solidFill>
              <a:srgbClr val="96969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5" name="Line 34"/>
          <p:cNvSpPr>
            <a:spLocks noChangeShapeType="1"/>
          </p:cNvSpPr>
          <p:nvPr/>
        </p:nvSpPr>
        <p:spPr bwMode="auto">
          <a:xfrm>
            <a:off x="5909558" y="4099726"/>
            <a:ext cx="392064" cy="1713"/>
          </a:xfrm>
          <a:prstGeom prst="line">
            <a:avLst/>
          </a:prstGeom>
          <a:noFill/>
          <a:ln w="6350">
            <a:solidFill>
              <a:srgbClr val="96969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6" name="Line 35"/>
          <p:cNvSpPr>
            <a:spLocks noChangeShapeType="1"/>
          </p:cNvSpPr>
          <p:nvPr/>
        </p:nvSpPr>
        <p:spPr bwMode="auto">
          <a:xfrm>
            <a:off x="5909558" y="4176770"/>
            <a:ext cx="392064" cy="1712"/>
          </a:xfrm>
          <a:prstGeom prst="line">
            <a:avLst/>
          </a:prstGeom>
          <a:noFill/>
          <a:ln w="6350">
            <a:solidFill>
              <a:srgbClr val="96969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7" name="Line 36"/>
          <p:cNvSpPr>
            <a:spLocks noChangeShapeType="1"/>
          </p:cNvSpPr>
          <p:nvPr/>
        </p:nvSpPr>
        <p:spPr bwMode="auto">
          <a:xfrm>
            <a:off x="5909558" y="4255525"/>
            <a:ext cx="392064" cy="1712"/>
          </a:xfrm>
          <a:prstGeom prst="line">
            <a:avLst/>
          </a:prstGeom>
          <a:noFill/>
          <a:ln w="6350">
            <a:solidFill>
              <a:srgbClr val="96969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8" name="Line 37"/>
          <p:cNvSpPr>
            <a:spLocks noChangeShapeType="1"/>
          </p:cNvSpPr>
          <p:nvPr/>
        </p:nvSpPr>
        <p:spPr bwMode="auto">
          <a:xfrm>
            <a:off x="5123715" y="3784704"/>
            <a:ext cx="549576" cy="1713"/>
          </a:xfrm>
          <a:prstGeom prst="line">
            <a:avLst/>
          </a:prstGeom>
          <a:noFill/>
          <a:ln w="6350">
            <a:solidFill>
              <a:schemeClr val="accent2"/>
            </a:solidFill>
            <a:round/>
            <a:headEnd/>
            <a:tailEnd type="triangle" w="med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9" name="Rectangle 38"/>
          <p:cNvSpPr>
            <a:spLocks noChangeArrowheads="1"/>
          </p:cNvSpPr>
          <p:nvPr/>
        </p:nvSpPr>
        <p:spPr bwMode="auto">
          <a:xfrm>
            <a:off x="7357972" y="3469682"/>
            <a:ext cx="638603" cy="864598"/>
          </a:xfrm>
          <a:prstGeom prst="rect">
            <a:avLst/>
          </a:prstGeom>
          <a:gradFill rotWithShape="0">
            <a:gsLst>
              <a:gs pos="0">
                <a:srgbClr val="CCCC00"/>
              </a:gs>
              <a:gs pos="100000">
                <a:srgbClr val="CCCC00">
                  <a:gamma/>
                  <a:tint val="63922"/>
                  <a:invGamma/>
                </a:srgbClr>
              </a:gs>
            </a:gsLst>
            <a:lin ang="5400000" scaled="1"/>
          </a:gradFill>
          <a:ln w="6350">
            <a:miter lim="800000"/>
            <a:headEnd/>
            <a:tailEnd type="none" w="med" len="sm"/>
          </a:ln>
          <a:effectLst/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CCCC00"/>
            </a:extrusion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flatTx/>
          </a:bodyPr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0" name="Text Box 39"/>
          <p:cNvSpPr txBox="1">
            <a:spLocks noChangeArrowheads="1"/>
          </p:cNvSpPr>
          <p:nvPr/>
        </p:nvSpPr>
        <p:spPr bwMode="auto">
          <a:xfrm>
            <a:off x="6683415" y="4293191"/>
            <a:ext cx="1414173" cy="697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r"/>
            <a:r>
              <a:rPr lang="en-US" altLang="ko-KR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Information</a:t>
            </a:r>
            <a:br>
              <a:rPr lang="en-US" altLang="ko-KR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Architecture</a:t>
            </a:r>
          </a:p>
          <a:p>
            <a:pPr algn="r"/>
            <a:r>
              <a:rPr lang="ko-KR" altLang="en-US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전략 방향</a:t>
            </a:r>
            <a:endParaRPr lang="en-US" altLang="ko-KR" sz="12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1" name="Line 40"/>
          <p:cNvSpPr>
            <a:spLocks noChangeShapeType="1"/>
          </p:cNvSpPr>
          <p:nvPr/>
        </p:nvSpPr>
        <p:spPr bwMode="auto">
          <a:xfrm>
            <a:off x="6582402" y="3784704"/>
            <a:ext cx="470821" cy="1713"/>
          </a:xfrm>
          <a:prstGeom prst="line">
            <a:avLst/>
          </a:prstGeom>
          <a:noFill/>
          <a:ln w="6350">
            <a:solidFill>
              <a:schemeClr val="accent2"/>
            </a:solidFill>
            <a:round/>
            <a:headEnd/>
            <a:tailEnd type="triangle" w="med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2" name="Rectangle 41"/>
          <p:cNvSpPr>
            <a:spLocks noChangeArrowheads="1"/>
          </p:cNvSpPr>
          <p:nvPr/>
        </p:nvSpPr>
        <p:spPr bwMode="auto">
          <a:xfrm>
            <a:off x="4416629" y="5669698"/>
            <a:ext cx="405761" cy="551288"/>
          </a:xfrm>
          <a:prstGeom prst="rect">
            <a:avLst/>
          </a:prstGeom>
          <a:gradFill rotWithShape="0">
            <a:gsLst>
              <a:gs pos="0">
                <a:srgbClr val="CCCC00"/>
              </a:gs>
              <a:gs pos="100000">
                <a:srgbClr val="CCCC00">
                  <a:gamma/>
                  <a:tint val="63922"/>
                  <a:invGamma/>
                </a:srgbClr>
              </a:gs>
            </a:gsLst>
            <a:lin ang="5400000" scaled="1"/>
          </a:gradFill>
          <a:ln w="6350">
            <a:miter lim="800000"/>
            <a:headEnd/>
            <a:tailEnd type="none" w="med" len="sm"/>
          </a:ln>
          <a:effectLst/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CCCC00"/>
            </a:extrusion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flatTx/>
          </a:bodyPr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3" name="Text Box 42"/>
          <p:cNvSpPr txBox="1">
            <a:spLocks noChangeArrowheads="1"/>
          </p:cNvSpPr>
          <p:nvPr/>
        </p:nvSpPr>
        <p:spPr bwMode="auto">
          <a:xfrm>
            <a:off x="3886929" y="6220986"/>
            <a:ext cx="1414173" cy="232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lnSpc>
                <a:spcPct val="80000"/>
              </a:lnSpc>
            </a:pPr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경쟁사 분석</a:t>
            </a:r>
            <a:endParaRPr lang="en-US" altLang="ko-KR" sz="1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4" name="Freeform 43"/>
          <p:cNvSpPr>
            <a:spLocks/>
          </p:cNvSpPr>
          <p:nvPr/>
        </p:nvSpPr>
        <p:spPr bwMode="auto">
          <a:xfrm flipV="1">
            <a:off x="4067366" y="5198877"/>
            <a:ext cx="3537145" cy="157511"/>
          </a:xfrm>
          <a:custGeom>
            <a:avLst/>
            <a:gdLst>
              <a:gd name="T0" fmla="*/ 0 w 864"/>
              <a:gd name="T1" fmla="*/ 0 h 240"/>
              <a:gd name="T2" fmla="*/ 864 w 864"/>
              <a:gd name="T3" fmla="*/ 0 h 240"/>
              <a:gd name="T4" fmla="*/ 864 w 864"/>
              <a:gd name="T5" fmla="*/ 240 h 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864" h="240">
                <a:moveTo>
                  <a:pt x="0" y="0"/>
                </a:moveTo>
                <a:lnTo>
                  <a:pt x="864" y="0"/>
                </a:lnTo>
                <a:lnTo>
                  <a:pt x="864" y="240"/>
                </a:lnTo>
              </a:path>
            </a:pathLst>
          </a:custGeom>
          <a:noFill/>
          <a:ln w="63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5" name="Freeform 44"/>
          <p:cNvSpPr>
            <a:spLocks/>
          </p:cNvSpPr>
          <p:nvPr/>
        </p:nvSpPr>
        <p:spPr bwMode="auto">
          <a:xfrm flipV="1">
            <a:off x="5089474" y="5198877"/>
            <a:ext cx="2670835" cy="707087"/>
          </a:xfrm>
          <a:custGeom>
            <a:avLst/>
            <a:gdLst>
              <a:gd name="T0" fmla="*/ 0 w 864"/>
              <a:gd name="T1" fmla="*/ 0 h 240"/>
              <a:gd name="T2" fmla="*/ 864 w 864"/>
              <a:gd name="T3" fmla="*/ 0 h 240"/>
              <a:gd name="T4" fmla="*/ 864 w 864"/>
              <a:gd name="T5" fmla="*/ 240 h 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864" h="240">
                <a:moveTo>
                  <a:pt x="0" y="0"/>
                </a:moveTo>
                <a:lnTo>
                  <a:pt x="864" y="0"/>
                </a:lnTo>
                <a:lnTo>
                  <a:pt x="864" y="240"/>
                </a:lnTo>
              </a:path>
            </a:pathLst>
          </a:custGeom>
          <a:noFill/>
          <a:ln w="63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6" name="Rectangle 45"/>
          <p:cNvSpPr>
            <a:spLocks noChangeArrowheads="1"/>
          </p:cNvSpPr>
          <p:nvPr/>
        </p:nvSpPr>
        <p:spPr bwMode="auto">
          <a:xfrm>
            <a:off x="9097440" y="3675131"/>
            <a:ext cx="289340" cy="392065"/>
          </a:xfrm>
          <a:prstGeom prst="rect">
            <a:avLst/>
          </a:prstGeom>
          <a:gradFill rotWithShape="0">
            <a:gsLst>
              <a:gs pos="0">
                <a:srgbClr val="FF9900"/>
              </a:gs>
              <a:gs pos="100000">
                <a:srgbClr val="FF9900">
                  <a:gamma/>
                  <a:tint val="63922"/>
                  <a:invGamma/>
                </a:srgbClr>
              </a:gs>
            </a:gsLst>
            <a:lin ang="5400000" scaled="1"/>
          </a:gradFill>
          <a:ln w="6350">
            <a:miter lim="800000"/>
            <a:headEnd/>
            <a:tailEnd type="none" w="med" len="sm"/>
          </a:ln>
          <a:effectLst/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FF9900"/>
            </a:extrusion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flatTx/>
          </a:bodyPr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7" name="Text Box 46"/>
          <p:cNvSpPr txBox="1">
            <a:spLocks noChangeArrowheads="1"/>
          </p:cNvSpPr>
          <p:nvPr/>
        </p:nvSpPr>
        <p:spPr bwMode="auto">
          <a:xfrm>
            <a:off x="8388641" y="4145952"/>
            <a:ext cx="1100863" cy="2311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r">
              <a:lnSpc>
                <a:spcPct val="80000"/>
              </a:lnSpc>
            </a:pPr>
            <a:r>
              <a:rPr lang="en-US" altLang="ko-KR" sz="1000" b="1">
                <a:latin typeface="나눔고딕" panose="020D0604000000000000" pitchFamily="50" charset="-127"/>
                <a:ea typeface="나눔고딕" panose="020D0604000000000000" pitchFamily="50" charset="-127"/>
              </a:rPr>
              <a:t>IA Mapping</a:t>
            </a:r>
          </a:p>
        </p:txBody>
      </p:sp>
      <p:sp>
        <p:nvSpPr>
          <p:cNvPr id="88" name="Line 47"/>
          <p:cNvSpPr>
            <a:spLocks noChangeShapeType="1"/>
          </p:cNvSpPr>
          <p:nvPr/>
        </p:nvSpPr>
        <p:spPr bwMode="auto">
          <a:xfrm>
            <a:off x="8388641" y="3784704"/>
            <a:ext cx="472532" cy="1713"/>
          </a:xfrm>
          <a:prstGeom prst="line">
            <a:avLst/>
          </a:prstGeom>
          <a:noFill/>
          <a:ln w="6350">
            <a:solidFill>
              <a:schemeClr val="accent2"/>
            </a:solidFill>
            <a:round/>
            <a:headEnd/>
            <a:tailEnd type="triangle" w="med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9" name="Rectangle 48"/>
          <p:cNvSpPr>
            <a:spLocks noChangeArrowheads="1"/>
          </p:cNvSpPr>
          <p:nvPr/>
        </p:nvSpPr>
        <p:spPr bwMode="auto">
          <a:xfrm>
            <a:off x="9097440" y="4962611"/>
            <a:ext cx="289340" cy="393777"/>
          </a:xfrm>
          <a:prstGeom prst="rect">
            <a:avLst/>
          </a:prstGeom>
          <a:gradFill rotWithShape="0">
            <a:gsLst>
              <a:gs pos="0">
                <a:srgbClr val="FF9900"/>
              </a:gs>
              <a:gs pos="100000">
                <a:srgbClr val="FF9900">
                  <a:gamma/>
                  <a:tint val="63922"/>
                  <a:invGamma/>
                </a:srgbClr>
              </a:gs>
            </a:gsLst>
            <a:lin ang="5400000" scaled="1"/>
          </a:gradFill>
          <a:ln w="6350">
            <a:miter lim="800000"/>
            <a:headEnd/>
            <a:tailEnd type="none" w="med" len="sm"/>
          </a:ln>
          <a:effectLst/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FF9900"/>
            </a:extrusion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flatTx/>
          </a:bodyPr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0" name="Text Box 49"/>
          <p:cNvSpPr txBox="1">
            <a:spLocks noChangeArrowheads="1"/>
          </p:cNvSpPr>
          <p:nvPr/>
        </p:nvSpPr>
        <p:spPr bwMode="auto">
          <a:xfrm>
            <a:off x="8388641" y="5435143"/>
            <a:ext cx="1100863" cy="3651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r">
              <a:lnSpc>
                <a:spcPct val="80000"/>
              </a:lnSpc>
            </a:pPr>
            <a:r>
              <a:rPr lang="en-US" altLang="ko-KR" sz="1000" b="1">
                <a:latin typeface="나눔고딕" panose="020D0604000000000000" pitchFamily="50" charset="-127"/>
                <a:ea typeface="나눔고딕" panose="020D0604000000000000" pitchFamily="50" charset="-127"/>
              </a:rPr>
              <a:t>Page type define</a:t>
            </a:r>
          </a:p>
        </p:txBody>
      </p:sp>
      <p:sp>
        <p:nvSpPr>
          <p:cNvPr id="91" name="Line 50"/>
          <p:cNvSpPr>
            <a:spLocks noChangeShapeType="1"/>
          </p:cNvSpPr>
          <p:nvPr/>
        </p:nvSpPr>
        <p:spPr bwMode="auto">
          <a:xfrm rot="5400000">
            <a:off x="9095727" y="4524320"/>
            <a:ext cx="316734" cy="1713"/>
          </a:xfrm>
          <a:prstGeom prst="line">
            <a:avLst/>
          </a:prstGeom>
          <a:noFill/>
          <a:ln w="6350">
            <a:solidFill>
              <a:schemeClr val="accent2"/>
            </a:solidFill>
            <a:round/>
            <a:headEnd/>
            <a:tailEnd type="triangle" w="med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105887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44017" y="91339"/>
            <a:ext cx="7401271" cy="385333"/>
          </a:xfrm>
          <a:prstGeom prst="rect">
            <a:avLst/>
          </a:prstGeom>
          <a:noFill/>
        </p:spPr>
        <p:txBody>
          <a:bodyPr wrap="square" lIns="0" tIns="53643" rIns="0" bIns="53643" rtlCol="0">
            <a:spAutoFit/>
          </a:bodyPr>
          <a:lstStyle/>
          <a:p>
            <a:r>
              <a:rPr kumimoji="1" lang="en-US" altLang="ko-KR" b="1" kern="0" dirty="0">
                <a:latin typeface="나눔고딕" panose="020D0604000000000000" pitchFamily="50" charset="-127"/>
                <a:ea typeface="나눔고딕" panose="020D0604000000000000" pitchFamily="50" charset="-127"/>
                <a:cs typeface="산돌고딕 M"/>
              </a:rPr>
              <a:t>Information architecture</a:t>
            </a:r>
            <a:endParaRPr kumimoji="1" lang="ko-KR" altLang="en-US" b="1" kern="0" dirty="0">
              <a:latin typeface="나눔고딕" panose="020D0604000000000000" pitchFamily="50" charset="-127"/>
              <a:ea typeface="나눔고딕" panose="020D0604000000000000" pitchFamily="50" charset="-127"/>
              <a:cs typeface="산돌고딕 M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44017" y="683985"/>
            <a:ext cx="96335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고객 </a:t>
            </a:r>
            <a:r>
              <a:rPr lang="en-US" altLang="ko-KR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Need </a:t>
            </a:r>
            <a:r>
              <a:rPr lang="ko-KR" altLang="en-US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분석</a:t>
            </a:r>
            <a:endParaRPr lang="en-US" altLang="ko-KR" sz="14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2" name="AutoShape 2"/>
          <p:cNvSpPr>
            <a:spLocks noChangeArrowheads="1"/>
          </p:cNvSpPr>
          <p:nvPr/>
        </p:nvSpPr>
        <p:spPr bwMode="auto">
          <a:xfrm>
            <a:off x="6629400" y="4958680"/>
            <a:ext cx="1981200" cy="990600"/>
          </a:xfrm>
          <a:prstGeom prst="roundRect">
            <a:avLst>
              <a:gd name="adj" fmla="val 16667"/>
            </a:avLst>
          </a:prstGeom>
          <a:solidFill>
            <a:srgbClr val="FFFFCC"/>
          </a:solidFill>
          <a:ln w="6350">
            <a:solidFill>
              <a:schemeClr val="tx1"/>
            </a:solidFill>
            <a:round/>
            <a:headEnd/>
            <a:tailEnd type="none" w="med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4" name="AutoShape 3"/>
          <p:cNvSpPr>
            <a:spLocks noChangeArrowheads="1"/>
          </p:cNvSpPr>
          <p:nvPr/>
        </p:nvSpPr>
        <p:spPr bwMode="auto">
          <a:xfrm>
            <a:off x="6629400" y="2139280"/>
            <a:ext cx="1981200" cy="2209800"/>
          </a:xfrm>
          <a:prstGeom prst="roundRect">
            <a:avLst>
              <a:gd name="adj" fmla="val 5572"/>
            </a:avLst>
          </a:prstGeom>
          <a:solidFill>
            <a:srgbClr val="FFFFCC"/>
          </a:solidFill>
          <a:ln w="6350">
            <a:solidFill>
              <a:schemeClr val="tx1"/>
            </a:solidFill>
            <a:round/>
            <a:headEnd/>
            <a:tailEnd type="none" w="med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5" name="Rectangle 4"/>
          <p:cNvSpPr>
            <a:spLocks noChangeArrowheads="1"/>
          </p:cNvSpPr>
          <p:nvPr/>
        </p:nvSpPr>
        <p:spPr bwMode="auto">
          <a:xfrm>
            <a:off x="1981200" y="2748880"/>
            <a:ext cx="3733800" cy="381000"/>
          </a:xfrm>
          <a:prstGeom prst="rect">
            <a:avLst/>
          </a:prstGeom>
          <a:solidFill>
            <a:srgbClr val="D8EBB3"/>
          </a:solidFill>
          <a:ln w="6350">
            <a:solidFill>
              <a:schemeClr val="tx1"/>
            </a:solidFill>
            <a:miter lim="800000"/>
            <a:headEnd/>
            <a:tailEnd type="none" w="med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의료비용에 대한 부담감</a:t>
            </a:r>
          </a:p>
        </p:txBody>
      </p:sp>
      <p:sp>
        <p:nvSpPr>
          <p:cNvPr id="56" name="Rectangle 5"/>
          <p:cNvSpPr>
            <a:spLocks noChangeArrowheads="1"/>
          </p:cNvSpPr>
          <p:nvPr/>
        </p:nvSpPr>
        <p:spPr bwMode="auto">
          <a:xfrm>
            <a:off x="1981200" y="2291680"/>
            <a:ext cx="3733800" cy="381000"/>
          </a:xfrm>
          <a:prstGeom prst="rect">
            <a:avLst/>
          </a:prstGeom>
          <a:solidFill>
            <a:srgbClr val="D8EBB3"/>
          </a:solidFill>
          <a:ln w="6350">
            <a:solidFill>
              <a:schemeClr val="tx1"/>
            </a:solidFill>
            <a:miter lim="800000"/>
            <a:headEnd/>
            <a:tailEnd type="none" w="med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사망 후 가족들의 생활걱정</a:t>
            </a:r>
          </a:p>
        </p:txBody>
      </p:sp>
      <p:sp>
        <p:nvSpPr>
          <p:cNvPr id="57" name="Rectangle 8"/>
          <p:cNvSpPr>
            <a:spLocks noChangeArrowheads="1"/>
          </p:cNvSpPr>
          <p:nvPr/>
        </p:nvSpPr>
        <p:spPr bwMode="auto">
          <a:xfrm>
            <a:off x="1981200" y="3663280"/>
            <a:ext cx="3733800" cy="381000"/>
          </a:xfrm>
          <a:prstGeom prst="rect">
            <a:avLst/>
          </a:prstGeom>
          <a:solidFill>
            <a:srgbClr val="D8EBB3"/>
          </a:solidFill>
          <a:ln w="6350">
            <a:solidFill>
              <a:schemeClr val="tx1"/>
            </a:solidFill>
            <a:miter lim="800000"/>
            <a:headEnd/>
            <a:tailEnd type="none" w="med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가장 </a:t>
            </a:r>
            <a:r>
              <a:rPr lang="ko-KR" altLang="en-US" sz="1000">
                <a:latin typeface="나눔고딕" panose="020D0604000000000000" pitchFamily="50" charset="-127"/>
                <a:ea typeface="나눔고딕" panose="020D0604000000000000" pitchFamily="50" charset="-127"/>
              </a:rPr>
              <a:t>싼 서비스은 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어디일까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?</a:t>
            </a:r>
            <a:endParaRPr lang="ko-KR" altLang="en-US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8" name="Rectangle 9"/>
          <p:cNvSpPr>
            <a:spLocks noChangeArrowheads="1"/>
          </p:cNvSpPr>
          <p:nvPr/>
        </p:nvSpPr>
        <p:spPr bwMode="auto">
          <a:xfrm>
            <a:off x="1981200" y="3206080"/>
            <a:ext cx="3733800" cy="381000"/>
          </a:xfrm>
          <a:prstGeom prst="rect">
            <a:avLst/>
          </a:prstGeom>
          <a:solidFill>
            <a:srgbClr val="D8EBB3"/>
          </a:solidFill>
          <a:ln w="6350">
            <a:solidFill>
              <a:schemeClr val="tx1"/>
            </a:solidFill>
            <a:miter lim="800000"/>
            <a:headEnd/>
            <a:tailEnd type="none" w="med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나에게 가장 </a:t>
            </a:r>
            <a:r>
              <a:rPr lang="ko-KR" altLang="en-US" sz="1000">
                <a:latin typeface="나눔고딕" panose="020D0604000000000000" pitchFamily="50" charset="-127"/>
                <a:ea typeface="나눔고딕" panose="020D0604000000000000" pitchFamily="50" charset="-127"/>
              </a:rPr>
              <a:t>맞는 서비스상품을 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찾고 싶다</a:t>
            </a:r>
          </a:p>
        </p:txBody>
      </p:sp>
      <p:sp>
        <p:nvSpPr>
          <p:cNvPr id="59" name="Rectangle 10"/>
          <p:cNvSpPr>
            <a:spLocks noChangeArrowheads="1"/>
          </p:cNvSpPr>
          <p:nvPr/>
        </p:nvSpPr>
        <p:spPr bwMode="auto">
          <a:xfrm>
            <a:off x="1981200" y="4577680"/>
            <a:ext cx="3733800" cy="381000"/>
          </a:xfrm>
          <a:prstGeom prst="rect">
            <a:avLst/>
          </a:prstGeom>
          <a:solidFill>
            <a:srgbClr val="D8EBB3"/>
          </a:solidFill>
          <a:ln w="6350">
            <a:solidFill>
              <a:schemeClr val="tx1"/>
            </a:solidFill>
            <a:miter lim="800000"/>
            <a:headEnd/>
            <a:tailEnd type="none" w="med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내 삶이 언제까지 지속될까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?</a:t>
            </a:r>
            <a:endParaRPr lang="ko-KR" altLang="en-US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0" name="Rectangle 11"/>
          <p:cNvSpPr>
            <a:spLocks noChangeArrowheads="1"/>
          </p:cNvSpPr>
          <p:nvPr/>
        </p:nvSpPr>
        <p:spPr bwMode="auto">
          <a:xfrm>
            <a:off x="1981200" y="4120480"/>
            <a:ext cx="3733800" cy="381000"/>
          </a:xfrm>
          <a:prstGeom prst="rect">
            <a:avLst/>
          </a:prstGeom>
          <a:solidFill>
            <a:srgbClr val="D8EBB3"/>
          </a:solidFill>
          <a:ln w="6350">
            <a:solidFill>
              <a:schemeClr val="tx1"/>
            </a:solidFill>
            <a:miter lim="800000"/>
            <a:headEnd/>
            <a:tailEnd type="none" w="med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내 아이의 학자금에 대해 보장받고 싶다</a:t>
            </a:r>
          </a:p>
        </p:txBody>
      </p:sp>
      <p:sp>
        <p:nvSpPr>
          <p:cNvPr id="61" name="Rectangle 12"/>
          <p:cNvSpPr>
            <a:spLocks noChangeArrowheads="1"/>
          </p:cNvSpPr>
          <p:nvPr/>
        </p:nvSpPr>
        <p:spPr bwMode="auto">
          <a:xfrm>
            <a:off x="1981200" y="5492080"/>
            <a:ext cx="3733800" cy="381000"/>
          </a:xfrm>
          <a:prstGeom prst="rect">
            <a:avLst/>
          </a:prstGeom>
          <a:solidFill>
            <a:srgbClr val="D8EBB3"/>
          </a:solidFill>
          <a:ln w="6350">
            <a:solidFill>
              <a:schemeClr val="tx1"/>
            </a:solidFill>
            <a:miter lim="800000"/>
            <a:headEnd/>
            <a:tailEnd type="none" w="med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상담원과 대면하고 싶지 않다</a:t>
            </a:r>
          </a:p>
        </p:txBody>
      </p:sp>
      <p:sp>
        <p:nvSpPr>
          <p:cNvPr id="62" name="Rectangle 13"/>
          <p:cNvSpPr>
            <a:spLocks noChangeArrowheads="1"/>
          </p:cNvSpPr>
          <p:nvPr/>
        </p:nvSpPr>
        <p:spPr bwMode="auto">
          <a:xfrm>
            <a:off x="1981200" y="5034880"/>
            <a:ext cx="3733800" cy="381000"/>
          </a:xfrm>
          <a:prstGeom prst="rect">
            <a:avLst/>
          </a:prstGeom>
          <a:solidFill>
            <a:srgbClr val="D8EBB3"/>
          </a:solidFill>
          <a:ln w="6350">
            <a:solidFill>
              <a:schemeClr val="tx1"/>
            </a:solidFill>
            <a:miter lim="800000"/>
            <a:headEnd/>
            <a:tailEnd type="none" w="med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좀더 전문적인 내용을 쉽게 알 수는 없는 것일까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?</a:t>
            </a:r>
            <a:endParaRPr lang="ko-KR" altLang="en-US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pSp>
        <p:nvGrpSpPr>
          <p:cNvPr id="64" name="Group 15"/>
          <p:cNvGrpSpPr>
            <a:grpSpLocks/>
          </p:cNvGrpSpPr>
          <p:nvPr/>
        </p:nvGrpSpPr>
        <p:grpSpPr bwMode="auto">
          <a:xfrm>
            <a:off x="1219200" y="3663280"/>
            <a:ext cx="381000" cy="762000"/>
            <a:chOff x="5875" y="720"/>
            <a:chExt cx="313" cy="1146"/>
          </a:xfrm>
        </p:grpSpPr>
        <p:grpSp>
          <p:nvGrpSpPr>
            <p:cNvPr id="65" name="Group 16"/>
            <p:cNvGrpSpPr>
              <a:grpSpLocks/>
            </p:cNvGrpSpPr>
            <p:nvPr/>
          </p:nvGrpSpPr>
          <p:grpSpPr bwMode="auto">
            <a:xfrm>
              <a:off x="5875" y="720"/>
              <a:ext cx="313" cy="1146"/>
              <a:chOff x="3872" y="1622"/>
              <a:chExt cx="98" cy="388"/>
            </a:xfrm>
          </p:grpSpPr>
          <p:sp>
            <p:nvSpPr>
              <p:cNvPr id="67" name="Freeform 17"/>
              <p:cNvSpPr>
                <a:spLocks/>
              </p:cNvSpPr>
              <p:nvPr/>
            </p:nvSpPr>
            <p:spPr bwMode="auto">
              <a:xfrm>
                <a:off x="3901" y="1622"/>
                <a:ext cx="40" cy="57"/>
              </a:xfrm>
              <a:custGeom>
                <a:avLst/>
                <a:gdLst>
                  <a:gd name="T0" fmla="*/ 40 w 40"/>
                  <a:gd name="T1" fmla="*/ 29 h 57"/>
                  <a:gd name="T2" fmla="*/ 39 w 40"/>
                  <a:gd name="T3" fmla="*/ 16 h 57"/>
                  <a:gd name="T4" fmla="*/ 33 w 40"/>
                  <a:gd name="T5" fmla="*/ 5 h 57"/>
                  <a:gd name="T6" fmla="*/ 24 w 40"/>
                  <a:gd name="T7" fmla="*/ 0 h 57"/>
                  <a:gd name="T8" fmla="*/ 16 w 40"/>
                  <a:gd name="T9" fmla="*/ 0 h 57"/>
                  <a:gd name="T10" fmla="*/ 7 w 40"/>
                  <a:gd name="T11" fmla="*/ 5 h 57"/>
                  <a:gd name="T12" fmla="*/ 1 w 40"/>
                  <a:gd name="T13" fmla="*/ 16 h 57"/>
                  <a:gd name="T14" fmla="*/ 0 w 40"/>
                  <a:gd name="T15" fmla="*/ 29 h 57"/>
                  <a:gd name="T16" fmla="*/ 1 w 40"/>
                  <a:gd name="T17" fmla="*/ 41 h 57"/>
                  <a:gd name="T18" fmla="*/ 7 w 40"/>
                  <a:gd name="T19" fmla="*/ 52 h 57"/>
                  <a:gd name="T20" fmla="*/ 16 w 40"/>
                  <a:gd name="T21" fmla="*/ 57 h 57"/>
                  <a:gd name="T22" fmla="*/ 24 w 40"/>
                  <a:gd name="T23" fmla="*/ 57 h 57"/>
                  <a:gd name="T24" fmla="*/ 33 w 40"/>
                  <a:gd name="T25" fmla="*/ 52 h 57"/>
                  <a:gd name="T26" fmla="*/ 39 w 40"/>
                  <a:gd name="T27" fmla="*/ 41 h 57"/>
                  <a:gd name="T28" fmla="*/ 40 w 40"/>
                  <a:gd name="T29" fmla="*/ 29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40" h="57">
                    <a:moveTo>
                      <a:pt x="40" y="29"/>
                    </a:moveTo>
                    <a:lnTo>
                      <a:pt x="39" y="16"/>
                    </a:lnTo>
                    <a:lnTo>
                      <a:pt x="33" y="5"/>
                    </a:lnTo>
                    <a:lnTo>
                      <a:pt x="24" y="0"/>
                    </a:lnTo>
                    <a:lnTo>
                      <a:pt x="16" y="0"/>
                    </a:lnTo>
                    <a:lnTo>
                      <a:pt x="7" y="5"/>
                    </a:lnTo>
                    <a:lnTo>
                      <a:pt x="1" y="16"/>
                    </a:lnTo>
                    <a:lnTo>
                      <a:pt x="0" y="29"/>
                    </a:lnTo>
                    <a:lnTo>
                      <a:pt x="1" y="41"/>
                    </a:lnTo>
                    <a:lnTo>
                      <a:pt x="7" y="52"/>
                    </a:lnTo>
                    <a:lnTo>
                      <a:pt x="16" y="57"/>
                    </a:lnTo>
                    <a:lnTo>
                      <a:pt x="24" y="57"/>
                    </a:lnTo>
                    <a:lnTo>
                      <a:pt x="33" y="52"/>
                    </a:lnTo>
                    <a:lnTo>
                      <a:pt x="39" y="41"/>
                    </a:lnTo>
                    <a:lnTo>
                      <a:pt x="40" y="29"/>
                    </a:lnTo>
                    <a:close/>
                  </a:path>
                </a:pathLst>
              </a:custGeom>
              <a:solidFill>
                <a:srgbClr val="FF9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3175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68" name="Freeform 18"/>
              <p:cNvSpPr>
                <a:spLocks/>
              </p:cNvSpPr>
              <p:nvPr/>
            </p:nvSpPr>
            <p:spPr bwMode="auto">
              <a:xfrm>
                <a:off x="3872" y="1690"/>
                <a:ext cx="98" cy="320"/>
              </a:xfrm>
              <a:custGeom>
                <a:avLst/>
                <a:gdLst>
                  <a:gd name="T0" fmla="*/ 68 w 98"/>
                  <a:gd name="T1" fmla="*/ 0 h 320"/>
                  <a:gd name="T2" fmla="*/ 75 w 98"/>
                  <a:gd name="T3" fmla="*/ 0 h 320"/>
                  <a:gd name="T4" fmla="*/ 84 w 98"/>
                  <a:gd name="T5" fmla="*/ 2 h 320"/>
                  <a:gd name="T6" fmla="*/ 96 w 98"/>
                  <a:gd name="T7" fmla="*/ 25 h 320"/>
                  <a:gd name="T8" fmla="*/ 98 w 98"/>
                  <a:gd name="T9" fmla="*/ 48 h 320"/>
                  <a:gd name="T10" fmla="*/ 98 w 98"/>
                  <a:gd name="T11" fmla="*/ 143 h 320"/>
                  <a:gd name="T12" fmla="*/ 89 w 98"/>
                  <a:gd name="T13" fmla="*/ 155 h 320"/>
                  <a:gd name="T14" fmla="*/ 82 w 98"/>
                  <a:gd name="T15" fmla="*/ 148 h 320"/>
                  <a:gd name="T16" fmla="*/ 80 w 98"/>
                  <a:gd name="T17" fmla="*/ 139 h 320"/>
                  <a:gd name="T18" fmla="*/ 75 w 98"/>
                  <a:gd name="T19" fmla="*/ 53 h 320"/>
                  <a:gd name="T20" fmla="*/ 75 w 98"/>
                  <a:gd name="T21" fmla="*/ 298 h 320"/>
                  <a:gd name="T22" fmla="*/ 75 w 98"/>
                  <a:gd name="T23" fmla="*/ 305 h 320"/>
                  <a:gd name="T24" fmla="*/ 69 w 98"/>
                  <a:gd name="T25" fmla="*/ 318 h 320"/>
                  <a:gd name="T26" fmla="*/ 59 w 98"/>
                  <a:gd name="T27" fmla="*/ 318 h 320"/>
                  <a:gd name="T28" fmla="*/ 53 w 98"/>
                  <a:gd name="T29" fmla="*/ 298 h 320"/>
                  <a:gd name="T30" fmla="*/ 53 w 98"/>
                  <a:gd name="T31" fmla="*/ 155 h 320"/>
                  <a:gd name="T32" fmla="*/ 50 w 98"/>
                  <a:gd name="T33" fmla="*/ 153 h 320"/>
                  <a:gd name="T34" fmla="*/ 45 w 98"/>
                  <a:gd name="T35" fmla="*/ 295 h 320"/>
                  <a:gd name="T36" fmla="*/ 45 w 98"/>
                  <a:gd name="T37" fmla="*/ 303 h 320"/>
                  <a:gd name="T38" fmla="*/ 43 w 98"/>
                  <a:gd name="T39" fmla="*/ 314 h 320"/>
                  <a:gd name="T40" fmla="*/ 34 w 98"/>
                  <a:gd name="T41" fmla="*/ 320 h 320"/>
                  <a:gd name="T42" fmla="*/ 25 w 98"/>
                  <a:gd name="T43" fmla="*/ 312 h 320"/>
                  <a:gd name="T44" fmla="*/ 23 w 98"/>
                  <a:gd name="T45" fmla="*/ 302 h 320"/>
                  <a:gd name="T46" fmla="*/ 23 w 98"/>
                  <a:gd name="T47" fmla="*/ 295 h 320"/>
                  <a:gd name="T48" fmla="*/ 18 w 98"/>
                  <a:gd name="T49" fmla="*/ 53 h 320"/>
                  <a:gd name="T50" fmla="*/ 18 w 98"/>
                  <a:gd name="T51" fmla="*/ 143 h 320"/>
                  <a:gd name="T52" fmla="*/ 18 w 98"/>
                  <a:gd name="T53" fmla="*/ 148 h 320"/>
                  <a:gd name="T54" fmla="*/ 13 w 98"/>
                  <a:gd name="T55" fmla="*/ 153 h 320"/>
                  <a:gd name="T56" fmla="*/ 2 w 98"/>
                  <a:gd name="T57" fmla="*/ 150 h 320"/>
                  <a:gd name="T58" fmla="*/ 0 w 98"/>
                  <a:gd name="T59" fmla="*/ 139 h 320"/>
                  <a:gd name="T60" fmla="*/ 0 w 98"/>
                  <a:gd name="T61" fmla="*/ 44 h 320"/>
                  <a:gd name="T62" fmla="*/ 7 w 98"/>
                  <a:gd name="T63" fmla="*/ 11 h 320"/>
                  <a:gd name="T64" fmla="*/ 20 w 98"/>
                  <a:gd name="T65" fmla="*/ 0 h 320"/>
                  <a:gd name="T66" fmla="*/ 25 w 98"/>
                  <a:gd name="T67" fmla="*/ 0 h 320"/>
                  <a:gd name="T68" fmla="*/ 52 w 98"/>
                  <a:gd name="T69" fmla="*/ 0 h 3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98" h="320">
                    <a:moveTo>
                      <a:pt x="46" y="0"/>
                    </a:moveTo>
                    <a:lnTo>
                      <a:pt x="68" y="0"/>
                    </a:lnTo>
                    <a:lnTo>
                      <a:pt x="73" y="0"/>
                    </a:lnTo>
                    <a:lnTo>
                      <a:pt x="75" y="0"/>
                    </a:lnTo>
                    <a:lnTo>
                      <a:pt x="78" y="0"/>
                    </a:lnTo>
                    <a:lnTo>
                      <a:pt x="84" y="2"/>
                    </a:lnTo>
                    <a:lnTo>
                      <a:pt x="91" y="11"/>
                    </a:lnTo>
                    <a:lnTo>
                      <a:pt x="96" y="25"/>
                    </a:lnTo>
                    <a:lnTo>
                      <a:pt x="98" y="44"/>
                    </a:lnTo>
                    <a:lnTo>
                      <a:pt x="98" y="48"/>
                    </a:lnTo>
                    <a:lnTo>
                      <a:pt x="98" y="139"/>
                    </a:lnTo>
                    <a:lnTo>
                      <a:pt x="98" y="143"/>
                    </a:lnTo>
                    <a:lnTo>
                      <a:pt x="96" y="150"/>
                    </a:lnTo>
                    <a:lnTo>
                      <a:pt x="89" y="155"/>
                    </a:lnTo>
                    <a:lnTo>
                      <a:pt x="84" y="153"/>
                    </a:lnTo>
                    <a:lnTo>
                      <a:pt x="82" y="148"/>
                    </a:lnTo>
                    <a:lnTo>
                      <a:pt x="80" y="143"/>
                    </a:lnTo>
                    <a:lnTo>
                      <a:pt x="80" y="139"/>
                    </a:lnTo>
                    <a:lnTo>
                      <a:pt x="80" y="53"/>
                    </a:lnTo>
                    <a:lnTo>
                      <a:pt x="75" y="53"/>
                    </a:lnTo>
                    <a:lnTo>
                      <a:pt x="75" y="295"/>
                    </a:lnTo>
                    <a:lnTo>
                      <a:pt x="75" y="298"/>
                    </a:lnTo>
                    <a:lnTo>
                      <a:pt x="75" y="300"/>
                    </a:lnTo>
                    <a:lnTo>
                      <a:pt x="75" y="305"/>
                    </a:lnTo>
                    <a:lnTo>
                      <a:pt x="73" y="312"/>
                    </a:lnTo>
                    <a:lnTo>
                      <a:pt x="69" y="318"/>
                    </a:lnTo>
                    <a:lnTo>
                      <a:pt x="64" y="320"/>
                    </a:lnTo>
                    <a:lnTo>
                      <a:pt x="59" y="318"/>
                    </a:lnTo>
                    <a:lnTo>
                      <a:pt x="55" y="316"/>
                    </a:lnTo>
                    <a:lnTo>
                      <a:pt x="53" y="298"/>
                    </a:lnTo>
                    <a:lnTo>
                      <a:pt x="53" y="295"/>
                    </a:lnTo>
                    <a:lnTo>
                      <a:pt x="53" y="155"/>
                    </a:lnTo>
                    <a:lnTo>
                      <a:pt x="48" y="153"/>
                    </a:lnTo>
                    <a:lnTo>
                      <a:pt x="50" y="153"/>
                    </a:lnTo>
                    <a:lnTo>
                      <a:pt x="45" y="155"/>
                    </a:lnTo>
                    <a:lnTo>
                      <a:pt x="45" y="295"/>
                    </a:lnTo>
                    <a:lnTo>
                      <a:pt x="45" y="298"/>
                    </a:lnTo>
                    <a:lnTo>
                      <a:pt x="45" y="303"/>
                    </a:lnTo>
                    <a:lnTo>
                      <a:pt x="45" y="307"/>
                    </a:lnTo>
                    <a:lnTo>
                      <a:pt x="43" y="314"/>
                    </a:lnTo>
                    <a:lnTo>
                      <a:pt x="39" y="318"/>
                    </a:lnTo>
                    <a:lnTo>
                      <a:pt x="34" y="320"/>
                    </a:lnTo>
                    <a:lnTo>
                      <a:pt x="29" y="318"/>
                    </a:lnTo>
                    <a:lnTo>
                      <a:pt x="25" y="312"/>
                    </a:lnTo>
                    <a:lnTo>
                      <a:pt x="23" y="305"/>
                    </a:lnTo>
                    <a:lnTo>
                      <a:pt x="23" y="302"/>
                    </a:lnTo>
                    <a:lnTo>
                      <a:pt x="23" y="298"/>
                    </a:lnTo>
                    <a:lnTo>
                      <a:pt x="23" y="295"/>
                    </a:lnTo>
                    <a:lnTo>
                      <a:pt x="23" y="53"/>
                    </a:lnTo>
                    <a:lnTo>
                      <a:pt x="18" y="53"/>
                    </a:lnTo>
                    <a:lnTo>
                      <a:pt x="18" y="139"/>
                    </a:lnTo>
                    <a:lnTo>
                      <a:pt x="18" y="143"/>
                    </a:lnTo>
                    <a:lnTo>
                      <a:pt x="18" y="144"/>
                    </a:lnTo>
                    <a:lnTo>
                      <a:pt x="18" y="148"/>
                    </a:lnTo>
                    <a:lnTo>
                      <a:pt x="14" y="152"/>
                    </a:lnTo>
                    <a:lnTo>
                      <a:pt x="13" y="153"/>
                    </a:lnTo>
                    <a:lnTo>
                      <a:pt x="9" y="155"/>
                    </a:lnTo>
                    <a:lnTo>
                      <a:pt x="2" y="150"/>
                    </a:lnTo>
                    <a:lnTo>
                      <a:pt x="0" y="143"/>
                    </a:lnTo>
                    <a:lnTo>
                      <a:pt x="0" y="139"/>
                    </a:lnTo>
                    <a:lnTo>
                      <a:pt x="0" y="48"/>
                    </a:lnTo>
                    <a:lnTo>
                      <a:pt x="0" y="44"/>
                    </a:lnTo>
                    <a:lnTo>
                      <a:pt x="2" y="27"/>
                    </a:lnTo>
                    <a:lnTo>
                      <a:pt x="7" y="11"/>
                    </a:lnTo>
                    <a:lnTo>
                      <a:pt x="14" y="3"/>
                    </a:lnTo>
                    <a:lnTo>
                      <a:pt x="20" y="0"/>
                    </a:lnTo>
                    <a:lnTo>
                      <a:pt x="21" y="0"/>
                    </a:lnTo>
                    <a:lnTo>
                      <a:pt x="25" y="0"/>
                    </a:lnTo>
                    <a:lnTo>
                      <a:pt x="29" y="0"/>
                    </a:lnTo>
                    <a:lnTo>
                      <a:pt x="52" y="0"/>
                    </a:lnTo>
                    <a:lnTo>
                      <a:pt x="46" y="0"/>
                    </a:lnTo>
                    <a:close/>
                  </a:path>
                </a:pathLst>
              </a:custGeom>
              <a:solidFill>
                <a:srgbClr val="FF9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3175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p:grpSp>
        <p:sp>
          <p:nvSpPr>
            <p:cNvPr id="66" name="Oval 19"/>
            <p:cNvSpPr>
              <a:spLocks noChangeArrowheads="1"/>
            </p:cNvSpPr>
            <p:nvPr/>
          </p:nvSpPr>
          <p:spPr bwMode="auto">
            <a:xfrm>
              <a:off x="5875" y="960"/>
              <a:ext cx="127" cy="144"/>
            </a:xfrm>
            <a:prstGeom prst="ellipse">
              <a:avLst/>
            </a:prstGeom>
            <a:solidFill>
              <a:srgbClr val="FF99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sp>
        <p:nvSpPr>
          <p:cNvPr id="96" name="Oval 25"/>
          <p:cNvSpPr>
            <a:spLocks noChangeArrowheads="1"/>
          </p:cNvSpPr>
          <p:nvPr/>
        </p:nvSpPr>
        <p:spPr bwMode="auto">
          <a:xfrm>
            <a:off x="6781800" y="5034880"/>
            <a:ext cx="762000" cy="381000"/>
          </a:xfrm>
          <a:prstGeom prst="ellipse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bg1">
                <a:lumMod val="50000"/>
              </a:schemeClr>
            </a:solidFill>
            <a:round/>
            <a:headEnd/>
            <a:tailEnd type="none" w="med" len="sm"/>
          </a:ln>
          <a:effectLst/>
        </p:spPr>
        <p:txBody>
          <a:bodyPr wrap="none" lIns="90000" tIns="46800" rIns="90000" bIns="46800" anchor="ctr"/>
          <a:lstStyle/>
          <a:p>
            <a:pPr algn="ctr"/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상품전시</a:t>
            </a:r>
          </a:p>
        </p:txBody>
      </p:sp>
      <p:sp>
        <p:nvSpPr>
          <p:cNvPr id="97" name="Oval 26"/>
          <p:cNvSpPr>
            <a:spLocks noChangeArrowheads="1"/>
          </p:cNvSpPr>
          <p:nvPr/>
        </p:nvSpPr>
        <p:spPr bwMode="auto">
          <a:xfrm>
            <a:off x="6781800" y="5492080"/>
            <a:ext cx="762000" cy="381000"/>
          </a:xfrm>
          <a:prstGeom prst="ellipse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bg1">
                <a:lumMod val="50000"/>
              </a:schemeClr>
            </a:solidFill>
            <a:round/>
            <a:headEnd/>
            <a:tailEnd type="none" w="med" len="sm"/>
          </a:ln>
          <a:effectLst/>
        </p:spPr>
        <p:txBody>
          <a:bodyPr wrap="none" lIns="90000" tIns="46800" rIns="90000" bIns="46800" anchor="ctr"/>
          <a:lstStyle/>
          <a:p>
            <a:pPr algn="ctr"/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디자인</a:t>
            </a:r>
          </a:p>
        </p:txBody>
      </p:sp>
      <p:sp>
        <p:nvSpPr>
          <p:cNvPr id="98" name="Oval 27"/>
          <p:cNvSpPr>
            <a:spLocks noChangeArrowheads="1"/>
          </p:cNvSpPr>
          <p:nvPr/>
        </p:nvSpPr>
        <p:spPr bwMode="auto">
          <a:xfrm>
            <a:off x="7696200" y="5034880"/>
            <a:ext cx="762000" cy="381000"/>
          </a:xfrm>
          <a:prstGeom prst="ellipse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bg1">
                <a:lumMod val="50000"/>
              </a:schemeClr>
            </a:solidFill>
            <a:round/>
            <a:headEnd/>
            <a:tailEnd type="none" w="med" len="sm"/>
          </a:ln>
          <a:effectLst/>
        </p:spPr>
        <p:txBody>
          <a:bodyPr wrap="none" lIns="90000" tIns="46800" rIns="90000" bIns="46800" anchor="ctr"/>
          <a:lstStyle/>
          <a:p>
            <a:pPr algn="ctr"/>
            <a:r>
              <a:rPr lang="en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XXX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가입</a:t>
            </a:r>
          </a:p>
        </p:txBody>
      </p:sp>
      <p:sp>
        <p:nvSpPr>
          <p:cNvPr id="101" name="AutoShape 30"/>
          <p:cNvSpPr>
            <a:spLocks noChangeArrowheads="1"/>
          </p:cNvSpPr>
          <p:nvPr/>
        </p:nvSpPr>
        <p:spPr bwMode="auto">
          <a:xfrm>
            <a:off x="6096000" y="2977480"/>
            <a:ext cx="304800" cy="2133600"/>
          </a:xfrm>
          <a:prstGeom prst="rightArrow">
            <a:avLst>
              <a:gd name="adj1" fmla="val 50000"/>
              <a:gd name="adj2" fmla="val 25000"/>
            </a:avLst>
          </a:prstGeom>
          <a:solidFill>
            <a:srgbClr val="DDDDDD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6350">
                <a:solidFill>
                  <a:schemeClr val="tx1"/>
                </a:solidFill>
                <a:miter lim="800000"/>
                <a:headEnd/>
                <a:tailEnd type="none" w="med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2" name="Line 31"/>
          <p:cNvSpPr>
            <a:spLocks noChangeShapeType="1"/>
          </p:cNvSpPr>
          <p:nvPr/>
        </p:nvSpPr>
        <p:spPr bwMode="auto">
          <a:xfrm flipH="1">
            <a:off x="1828800" y="2475830"/>
            <a:ext cx="1524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 type="none" w="med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3" name="Line 32"/>
          <p:cNvSpPr>
            <a:spLocks noChangeShapeType="1"/>
          </p:cNvSpPr>
          <p:nvPr/>
        </p:nvSpPr>
        <p:spPr bwMode="auto">
          <a:xfrm flipH="1">
            <a:off x="1828800" y="2933030"/>
            <a:ext cx="1524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 type="none" w="med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4" name="Line 33"/>
          <p:cNvSpPr>
            <a:spLocks noChangeShapeType="1"/>
          </p:cNvSpPr>
          <p:nvPr/>
        </p:nvSpPr>
        <p:spPr bwMode="auto">
          <a:xfrm flipH="1">
            <a:off x="1828800" y="3390230"/>
            <a:ext cx="1524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 type="none" w="med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5" name="Line 34"/>
          <p:cNvSpPr>
            <a:spLocks noChangeShapeType="1"/>
          </p:cNvSpPr>
          <p:nvPr/>
        </p:nvSpPr>
        <p:spPr bwMode="auto">
          <a:xfrm flipH="1">
            <a:off x="1828800" y="3847430"/>
            <a:ext cx="1524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 type="none" w="med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6" name="Line 35"/>
          <p:cNvSpPr>
            <a:spLocks noChangeShapeType="1"/>
          </p:cNvSpPr>
          <p:nvPr/>
        </p:nvSpPr>
        <p:spPr bwMode="auto">
          <a:xfrm flipH="1">
            <a:off x="1828800" y="4310980"/>
            <a:ext cx="1524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 type="none" w="med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7" name="Line 36"/>
          <p:cNvSpPr>
            <a:spLocks noChangeShapeType="1"/>
          </p:cNvSpPr>
          <p:nvPr/>
        </p:nvSpPr>
        <p:spPr bwMode="auto">
          <a:xfrm flipH="1">
            <a:off x="1828800" y="4768180"/>
            <a:ext cx="1524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 type="none" w="med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8" name="Line 37"/>
          <p:cNvSpPr>
            <a:spLocks noChangeShapeType="1"/>
          </p:cNvSpPr>
          <p:nvPr/>
        </p:nvSpPr>
        <p:spPr bwMode="auto">
          <a:xfrm flipH="1">
            <a:off x="1828800" y="5225380"/>
            <a:ext cx="1524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 type="none" w="med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9" name="Line 38"/>
          <p:cNvSpPr>
            <a:spLocks noChangeShapeType="1"/>
          </p:cNvSpPr>
          <p:nvPr/>
        </p:nvSpPr>
        <p:spPr bwMode="auto">
          <a:xfrm flipH="1">
            <a:off x="1828800" y="5682580"/>
            <a:ext cx="1524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 type="none" w="med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10" name="Line 39"/>
          <p:cNvSpPr>
            <a:spLocks noChangeShapeType="1"/>
          </p:cNvSpPr>
          <p:nvPr/>
        </p:nvSpPr>
        <p:spPr bwMode="auto">
          <a:xfrm flipH="1">
            <a:off x="5715000" y="2475830"/>
            <a:ext cx="1524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 type="none" w="med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11" name="Line 40"/>
          <p:cNvSpPr>
            <a:spLocks noChangeShapeType="1"/>
          </p:cNvSpPr>
          <p:nvPr/>
        </p:nvSpPr>
        <p:spPr bwMode="auto">
          <a:xfrm flipH="1">
            <a:off x="5715000" y="2933030"/>
            <a:ext cx="1524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 type="none" w="med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12" name="Line 41"/>
          <p:cNvSpPr>
            <a:spLocks noChangeShapeType="1"/>
          </p:cNvSpPr>
          <p:nvPr/>
        </p:nvSpPr>
        <p:spPr bwMode="auto">
          <a:xfrm flipH="1">
            <a:off x="5715000" y="3390230"/>
            <a:ext cx="1524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 type="none" w="med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13" name="Line 42"/>
          <p:cNvSpPr>
            <a:spLocks noChangeShapeType="1"/>
          </p:cNvSpPr>
          <p:nvPr/>
        </p:nvSpPr>
        <p:spPr bwMode="auto">
          <a:xfrm flipH="1">
            <a:off x="5715000" y="3847430"/>
            <a:ext cx="1524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 type="none" w="med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14" name="Line 43"/>
          <p:cNvSpPr>
            <a:spLocks noChangeShapeType="1"/>
          </p:cNvSpPr>
          <p:nvPr/>
        </p:nvSpPr>
        <p:spPr bwMode="auto">
          <a:xfrm flipH="1">
            <a:off x="5715000" y="4310980"/>
            <a:ext cx="1524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 type="none" w="med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15" name="Line 44"/>
          <p:cNvSpPr>
            <a:spLocks noChangeShapeType="1"/>
          </p:cNvSpPr>
          <p:nvPr/>
        </p:nvSpPr>
        <p:spPr bwMode="auto">
          <a:xfrm flipH="1">
            <a:off x="5715000" y="4768180"/>
            <a:ext cx="1524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 type="none" w="med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16" name="Line 45"/>
          <p:cNvSpPr>
            <a:spLocks noChangeShapeType="1"/>
          </p:cNvSpPr>
          <p:nvPr/>
        </p:nvSpPr>
        <p:spPr bwMode="auto">
          <a:xfrm flipH="1">
            <a:off x="5715000" y="5225380"/>
            <a:ext cx="1524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 type="none" w="med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17" name="Line 46"/>
          <p:cNvSpPr>
            <a:spLocks noChangeShapeType="1"/>
          </p:cNvSpPr>
          <p:nvPr/>
        </p:nvSpPr>
        <p:spPr bwMode="auto">
          <a:xfrm flipH="1">
            <a:off x="5715000" y="5682580"/>
            <a:ext cx="1524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 type="none" w="med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18" name="Line 47"/>
          <p:cNvSpPr>
            <a:spLocks noChangeShapeType="1"/>
          </p:cNvSpPr>
          <p:nvPr/>
        </p:nvSpPr>
        <p:spPr bwMode="auto">
          <a:xfrm flipV="1">
            <a:off x="1828800" y="2482180"/>
            <a:ext cx="0" cy="320040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 type="none" w="med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19" name="Line 48"/>
          <p:cNvSpPr>
            <a:spLocks noChangeShapeType="1"/>
          </p:cNvSpPr>
          <p:nvPr/>
        </p:nvSpPr>
        <p:spPr bwMode="auto">
          <a:xfrm flipH="1">
            <a:off x="1676400" y="4069680"/>
            <a:ext cx="1524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 type="none" w="med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20" name="Line 49"/>
          <p:cNvSpPr>
            <a:spLocks noChangeShapeType="1"/>
          </p:cNvSpPr>
          <p:nvPr/>
        </p:nvSpPr>
        <p:spPr bwMode="auto">
          <a:xfrm flipV="1">
            <a:off x="5867400" y="2482180"/>
            <a:ext cx="0" cy="320040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 type="none" w="med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21" name="Text Box 50"/>
          <p:cNvSpPr txBox="1">
            <a:spLocks noChangeArrowheads="1"/>
          </p:cNvSpPr>
          <p:nvPr/>
        </p:nvSpPr>
        <p:spPr bwMode="auto">
          <a:xfrm rot="-5400000">
            <a:off x="7315562" y="4273804"/>
            <a:ext cx="518388" cy="8331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chemeClr val="tx1"/>
                </a:solidFill>
                <a:miter lim="800000"/>
                <a:headEnd/>
                <a:tailEnd type="none" w="med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r>
              <a:rPr lang="en-US" altLang="ko-KR" sz="4800" b="1" dirty="0">
                <a:solidFill>
                  <a:schemeClr val="accent2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&lt;</a:t>
            </a:r>
          </a:p>
        </p:txBody>
      </p:sp>
      <p:sp>
        <p:nvSpPr>
          <p:cNvPr id="123" name="Text Box 52"/>
          <p:cNvSpPr txBox="1">
            <a:spLocks noChangeArrowheads="1"/>
          </p:cNvSpPr>
          <p:nvPr/>
        </p:nvSpPr>
        <p:spPr bwMode="auto">
          <a:xfrm>
            <a:off x="1143000" y="4425280"/>
            <a:ext cx="609600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AEAEA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>
            <a:spAutoFit/>
          </a:bodyPr>
          <a:lstStyle>
            <a:lvl1pPr marL="88900" indent="-8890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>
              <a:lnSpc>
                <a:spcPct val="120000"/>
              </a:lnSpc>
              <a:spcBef>
                <a:spcPct val="20000"/>
              </a:spcBef>
            </a:pPr>
            <a:r>
              <a:rPr kumimoji="0" lang="en-US" altLang="ko-KR" sz="1000">
                <a:latin typeface="나눔고딕" panose="020D0604000000000000" pitchFamily="50" charset="-127"/>
                <a:ea typeface="나눔고딕" panose="020D0604000000000000" pitchFamily="50" charset="-127"/>
              </a:rPr>
              <a:t>Customer</a:t>
            </a:r>
          </a:p>
        </p:txBody>
      </p:sp>
      <p:sp>
        <p:nvSpPr>
          <p:cNvPr id="124" name="Text Box 53"/>
          <p:cNvSpPr txBox="1">
            <a:spLocks noChangeArrowheads="1"/>
          </p:cNvSpPr>
          <p:nvPr/>
        </p:nvSpPr>
        <p:spPr bwMode="auto">
          <a:xfrm>
            <a:off x="6705600" y="4684043"/>
            <a:ext cx="914400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AEAEA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>
            <a:spAutoFit/>
          </a:bodyPr>
          <a:lstStyle>
            <a:lvl1pPr marL="88900" indent="-8890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>
              <a:lnSpc>
                <a:spcPct val="120000"/>
              </a:lnSpc>
              <a:spcBef>
                <a:spcPct val="20000"/>
              </a:spcBef>
            </a:pPr>
            <a:r>
              <a:rPr kumimoji="0" lang="ko-KR" altLang="en-US" sz="1000" b="1">
                <a:latin typeface="나눔고딕" panose="020D0604000000000000" pitchFamily="50" charset="-127"/>
                <a:ea typeface="나눔고딕" panose="020D0604000000000000" pitchFamily="50" charset="-127"/>
              </a:rPr>
              <a:t>정보의 형태</a:t>
            </a:r>
          </a:p>
        </p:txBody>
      </p:sp>
      <p:sp>
        <p:nvSpPr>
          <p:cNvPr id="125" name="Text Box 54"/>
          <p:cNvSpPr txBox="1">
            <a:spLocks noChangeArrowheads="1"/>
          </p:cNvSpPr>
          <p:nvPr/>
        </p:nvSpPr>
        <p:spPr bwMode="auto">
          <a:xfrm>
            <a:off x="6705600" y="1834480"/>
            <a:ext cx="914400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AEAEA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>
            <a:spAutoFit/>
          </a:bodyPr>
          <a:lstStyle>
            <a:lvl1pPr marL="88900" indent="-8890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>
              <a:lnSpc>
                <a:spcPct val="120000"/>
              </a:lnSpc>
              <a:spcBef>
                <a:spcPct val="20000"/>
              </a:spcBef>
            </a:pPr>
            <a:r>
              <a:rPr kumimoji="0" lang="ko-KR" altLang="en-US" sz="1000" b="1">
                <a:latin typeface="나눔고딕" panose="020D0604000000000000" pitchFamily="50" charset="-127"/>
                <a:ea typeface="나눔고딕" panose="020D0604000000000000" pitchFamily="50" charset="-127"/>
              </a:rPr>
              <a:t>정보의 성격</a:t>
            </a:r>
          </a:p>
        </p:txBody>
      </p:sp>
      <p:grpSp>
        <p:nvGrpSpPr>
          <p:cNvPr id="2" name="그룹 1"/>
          <p:cNvGrpSpPr/>
          <p:nvPr/>
        </p:nvGrpSpPr>
        <p:grpSpPr>
          <a:xfrm>
            <a:off x="6781800" y="2367880"/>
            <a:ext cx="1676400" cy="1798945"/>
            <a:chOff x="6781800" y="2367880"/>
            <a:chExt cx="1676400" cy="1798945"/>
          </a:xfrm>
        </p:grpSpPr>
        <p:sp>
          <p:nvSpPr>
            <p:cNvPr id="69" name="Oval 20"/>
            <p:cNvSpPr>
              <a:spLocks noChangeArrowheads="1"/>
            </p:cNvSpPr>
            <p:nvPr/>
          </p:nvSpPr>
          <p:spPr bwMode="auto">
            <a:xfrm>
              <a:off x="6781800" y="2367880"/>
              <a:ext cx="762000" cy="3810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chemeClr val="bg1">
                  <a:lumMod val="50000"/>
                </a:schemeClr>
              </a:solidFill>
              <a:round/>
              <a:headEnd/>
              <a:tailEnd type="none" w="med" len="sm"/>
            </a:ln>
            <a:effectLst/>
          </p:spPr>
          <p:txBody>
            <a:bodyPr wrap="none" lIns="90000" tIns="46800" rIns="90000" bIns="46800" anchor="ctr"/>
            <a:lstStyle/>
            <a:p>
              <a:pPr algn="ctr"/>
              <a:r>
                <a:rPr lang="ko-KR" altLang="en-US" sz="9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장기적</a:t>
              </a:r>
            </a:p>
          </p:txBody>
        </p:sp>
        <p:sp>
          <p:nvSpPr>
            <p:cNvPr id="92" name="Oval 21"/>
            <p:cNvSpPr>
              <a:spLocks noChangeArrowheads="1"/>
            </p:cNvSpPr>
            <p:nvPr/>
          </p:nvSpPr>
          <p:spPr bwMode="auto">
            <a:xfrm>
              <a:off x="6781800" y="2825080"/>
              <a:ext cx="762000" cy="3810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chemeClr val="bg1">
                  <a:lumMod val="50000"/>
                </a:schemeClr>
              </a:solidFill>
              <a:round/>
              <a:headEnd/>
              <a:tailEnd type="none" w="med" len="sm"/>
            </a:ln>
            <a:effectLst/>
          </p:spPr>
          <p:txBody>
            <a:bodyPr wrap="none" lIns="90000" tIns="46800" rIns="90000" bIns="46800" anchor="ctr"/>
            <a:lstStyle/>
            <a:p>
              <a:pPr algn="ctr"/>
              <a:r>
                <a:rPr lang="ko-KR" altLang="en-US" sz="9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학자금</a:t>
              </a:r>
            </a:p>
          </p:txBody>
        </p:sp>
        <p:sp>
          <p:nvSpPr>
            <p:cNvPr id="93" name="Oval 22"/>
            <p:cNvSpPr>
              <a:spLocks noChangeArrowheads="1"/>
            </p:cNvSpPr>
            <p:nvPr/>
          </p:nvSpPr>
          <p:spPr bwMode="auto">
            <a:xfrm>
              <a:off x="6781800" y="3282280"/>
              <a:ext cx="762000" cy="3810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chemeClr val="bg1">
                  <a:lumMod val="50000"/>
                </a:schemeClr>
              </a:solidFill>
              <a:round/>
              <a:headEnd/>
              <a:tailEnd type="none" w="med" len="sm"/>
            </a:ln>
            <a:effectLst/>
          </p:spPr>
          <p:txBody>
            <a:bodyPr wrap="none" lIns="90000" tIns="46800" rIns="90000" bIns="46800" anchor="ctr"/>
            <a:lstStyle/>
            <a:p>
              <a:pPr algn="ctr"/>
              <a:r>
                <a:rPr lang="ko-KR" altLang="en-US" sz="9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미래의</a:t>
              </a:r>
              <a:endPara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  <a:p>
              <a:pPr algn="ctr"/>
              <a:r>
                <a:rPr lang="ko-KR" altLang="en-US" sz="9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불확실</a:t>
              </a:r>
            </a:p>
          </p:txBody>
        </p:sp>
        <p:sp>
          <p:nvSpPr>
            <p:cNvPr id="95" name="Oval 24"/>
            <p:cNvSpPr>
              <a:spLocks noChangeArrowheads="1"/>
            </p:cNvSpPr>
            <p:nvPr/>
          </p:nvSpPr>
          <p:spPr bwMode="auto">
            <a:xfrm>
              <a:off x="7696200" y="2367880"/>
              <a:ext cx="762000" cy="3810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chemeClr val="bg1">
                  <a:lumMod val="50000"/>
                </a:schemeClr>
              </a:solidFill>
              <a:round/>
              <a:headEnd/>
              <a:tailEnd type="none" w="med" len="sm"/>
            </a:ln>
            <a:effectLst/>
          </p:spPr>
          <p:txBody>
            <a:bodyPr wrap="none" lIns="90000" tIns="46800" rIns="90000" bIns="46800" anchor="ctr"/>
            <a:lstStyle/>
            <a:p>
              <a:pPr algn="ctr"/>
              <a:r>
                <a:rPr lang="ko-KR" altLang="en-US" sz="9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의료비</a:t>
              </a:r>
            </a:p>
          </p:txBody>
        </p:sp>
        <p:sp>
          <p:nvSpPr>
            <p:cNvPr id="99" name="Oval 28"/>
            <p:cNvSpPr>
              <a:spLocks noChangeArrowheads="1"/>
            </p:cNvSpPr>
            <p:nvPr/>
          </p:nvSpPr>
          <p:spPr bwMode="auto">
            <a:xfrm>
              <a:off x="7696200" y="2825080"/>
              <a:ext cx="762000" cy="3810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chemeClr val="bg1">
                  <a:lumMod val="50000"/>
                </a:schemeClr>
              </a:solidFill>
              <a:round/>
              <a:headEnd/>
              <a:tailEnd type="none" w="med" len="sm"/>
            </a:ln>
            <a:effectLst/>
          </p:spPr>
          <p:txBody>
            <a:bodyPr wrap="none" lIns="90000" tIns="46800" rIns="90000" bIns="46800" anchor="ctr"/>
            <a:lstStyle/>
            <a:p>
              <a:pPr algn="ctr"/>
              <a:r>
                <a:rPr lang="ko-KR" altLang="en-US" sz="9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재해</a:t>
              </a:r>
              <a:r>
                <a:rPr lang="en-US" altLang="ko-KR" sz="9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/</a:t>
              </a:r>
              <a:r>
                <a:rPr lang="ko-KR" altLang="en-US" sz="9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사고</a:t>
              </a:r>
            </a:p>
          </p:txBody>
        </p:sp>
        <p:sp>
          <p:nvSpPr>
            <p:cNvPr id="100" name="Oval 29"/>
            <p:cNvSpPr>
              <a:spLocks noChangeArrowheads="1"/>
            </p:cNvSpPr>
            <p:nvPr/>
          </p:nvSpPr>
          <p:spPr bwMode="auto">
            <a:xfrm>
              <a:off x="7696200" y="3282280"/>
              <a:ext cx="762000" cy="3810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chemeClr val="bg1">
                  <a:lumMod val="50000"/>
                </a:schemeClr>
              </a:solidFill>
              <a:round/>
              <a:headEnd/>
              <a:tailEnd type="none" w="med" len="sm"/>
            </a:ln>
            <a:effectLst/>
          </p:spPr>
          <p:txBody>
            <a:bodyPr wrap="none" lIns="90000" tIns="46800" rIns="90000" bIns="46800" anchor="ctr"/>
            <a:lstStyle/>
            <a:p>
              <a:pPr algn="ctr"/>
              <a:r>
                <a:rPr lang="ko-KR" altLang="en-US" sz="9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의료비</a:t>
              </a:r>
            </a:p>
          </p:txBody>
        </p:sp>
        <p:sp>
          <p:nvSpPr>
            <p:cNvPr id="126" name="Oval 22"/>
            <p:cNvSpPr>
              <a:spLocks noChangeArrowheads="1"/>
            </p:cNvSpPr>
            <p:nvPr/>
          </p:nvSpPr>
          <p:spPr bwMode="auto">
            <a:xfrm>
              <a:off x="6781800" y="3785825"/>
              <a:ext cx="762000" cy="3810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chemeClr val="bg1">
                  <a:lumMod val="50000"/>
                </a:schemeClr>
              </a:solidFill>
              <a:round/>
              <a:headEnd/>
              <a:tailEnd type="none" w="med" len="sm"/>
            </a:ln>
            <a:effectLst/>
          </p:spPr>
          <p:txBody>
            <a:bodyPr wrap="none" lIns="90000" tIns="46800" rIns="90000" bIns="46800" anchor="ctr"/>
            <a:lstStyle/>
            <a:p>
              <a:pPr algn="ctr"/>
              <a:r>
                <a:rPr lang="ko-KR" altLang="en-US" sz="9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어려움</a:t>
              </a:r>
            </a:p>
          </p:txBody>
        </p:sp>
        <p:sp>
          <p:nvSpPr>
            <p:cNvPr id="127" name="Oval 29"/>
            <p:cNvSpPr>
              <a:spLocks noChangeArrowheads="1"/>
            </p:cNvSpPr>
            <p:nvPr/>
          </p:nvSpPr>
          <p:spPr bwMode="auto">
            <a:xfrm>
              <a:off x="7696200" y="3785825"/>
              <a:ext cx="762000" cy="3810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chemeClr val="bg1">
                  <a:lumMod val="50000"/>
                </a:schemeClr>
              </a:solidFill>
              <a:round/>
              <a:headEnd/>
              <a:tailEnd type="none" w="med" len="sm"/>
            </a:ln>
            <a:effectLst/>
          </p:spPr>
          <p:txBody>
            <a:bodyPr wrap="none" lIns="90000" tIns="46800" rIns="90000" bIns="46800" anchor="ctr"/>
            <a:lstStyle/>
            <a:p>
              <a:pPr algn="ctr"/>
              <a:r>
                <a:rPr lang="ko-KR" altLang="en-US" sz="9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신뢰성</a:t>
              </a:r>
            </a:p>
          </p:txBody>
        </p:sp>
      </p:grpSp>
      <p:sp>
        <p:nvSpPr>
          <p:cNvPr id="128" name="Oval 26"/>
          <p:cNvSpPr>
            <a:spLocks noChangeArrowheads="1"/>
          </p:cNvSpPr>
          <p:nvPr/>
        </p:nvSpPr>
        <p:spPr bwMode="auto">
          <a:xfrm>
            <a:off x="7696200" y="5492080"/>
            <a:ext cx="762000" cy="381000"/>
          </a:xfrm>
          <a:prstGeom prst="ellipse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bg1">
                <a:lumMod val="50000"/>
              </a:schemeClr>
            </a:solidFill>
            <a:round/>
            <a:headEnd/>
            <a:tailEnd type="none" w="med" len="sm"/>
          </a:ln>
          <a:effectLst/>
        </p:spPr>
        <p:txBody>
          <a:bodyPr wrap="none" lIns="90000" tIns="46800" rIns="90000" bIns="46800" anchor="ctr"/>
          <a:lstStyle/>
          <a:p>
            <a:pPr algn="ctr"/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해상도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488504" y="991762"/>
            <a:ext cx="9289032" cy="307777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ko-KR" altLang="en-US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사용자의 기본적인 니즈는 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상품전시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en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XXX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가입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디자인이나 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PC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의 해상도가 아닌 </a:t>
            </a:r>
            <a:r>
              <a:rPr lang="ko-KR" altLang="en-US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정보의 성격에 의해 나누어집니다</a:t>
            </a:r>
            <a:r>
              <a:rPr lang="en-US" altLang="ko-KR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14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892643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44017" y="91339"/>
            <a:ext cx="7401271" cy="385333"/>
          </a:xfrm>
          <a:prstGeom prst="rect">
            <a:avLst/>
          </a:prstGeom>
          <a:noFill/>
        </p:spPr>
        <p:txBody>
          <a:bodyPr wrap="square" lIns="0" tIns="53643" rIns="0" bIns="53643" rtlCol="0">
            <a:spAutoFit/>
          </a:bodyPr>
          <a:lstStyle/>
          <a:p>
            <a:r>
              <a:rPr kumimoji="1" lang="en-US" altLang="ko-KR" b="1" kern="0" dirty="0">
                <a:latin typeface="나눔고딕" panose="020D0604000000000000" pitchFamily="50" charset="-127"/>
                <a:ea typeface="나눔고딕" panose="020D0604000000000000" pitchFamily="50" charset="-127"/>
                <a:cs typeface="산돌고딕 M"/>
              </a:rPr>
              <a:t>Information architecture</a:t>
            </a:r>
            <a:endParaRPr kumimoji="1" lang="ko-KR" altLang="en-US" b="1" kern="0" dirty="0">
              <a:latin typeface="나눔고딕" panose="020D0604000000000000" pitchFamily="50" charset="-127"/>
              <a:ea typeface="나눔고딕" panose="020D0604000000000000" pitchFamily="50" charset="-127"/>
              <a:cs typeface="산돌고딕 M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44017" y="683985"/>
            <a:ext cx="96335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Case Study : AAAA</a:t>
            </a:r>
            <a:r>
              <a:rPr lang="ko-KR" altLang="en-US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기업</a:t>
            </a:r>
            <a:endParaRPr lang="en-US" altLang="ko-KR" sz="14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29" name="TextBox 128"/>
          <p:cNvSpPr txBox="1"/>
          <p:nvPr/>
        </p:nvSpPr>
        <p:spPr>
          <a:xfrm>
            <a:off x="488504" y="991762"/>
            <a:ext cx="8928992" cy="523220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ko-KR" altLang="en-US" sz="14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메인사이트에서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개 페이지를 통하여 상품에 대한 기본정보 및 이벤트 정보를 노출하고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각 상품별 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‘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설계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  <a:sym typeface="Wingdings" panose="05000000000000000000" pitchFamily="2" charset="2"/>
              </a:rPr>
              <a:t>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  <a:sym typeface="Wingdings" panose="05000000000000000000" pitchFamily="2" charset="2"/>
              </a:rPr>
              <a:t>가입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  <a:sym typeface="Wingdings" panose="05000000000000000000" pitchFamily="2" charset="2"/>
              </a:rPr>
              <a:t>’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  <a:sym typeface="Wingdings" panose="05000000000000000000" pitchFamily="2" charset="2"/>
              </a:rPr>
              <a:t>을 두어 사용자의 </a:t>
            </a:r>
            <a:r>
              <a:rPr lang="ko-KR" altLang="en-US" sz="1400" dirty="0" err="1">
                <a:latin typeface="나눔고딕" panose="020D0604000000000000" pitchFamily="50" charset="-127"/>
                <a:ea typeface="나눔고딕" panose="020D0604000000000000" pitchFamily="50" charset="-127"/>
                <a:sym typeface="Wingdings" panose="05000000000000000000" pitchFamily="2" charset="2"/>
              </a:rPr>
              <a:t>접근성을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  <a:sym typeface="Wingdings" panose="05000000000000000000" pitchFamily="2" charset="2"/>
              </a:rPr>
              <a:t> 유도하고 있습니다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  <a:sym typeface="Wingdings" panose="05000000000000000000" pitchFamily="2" charset="2"/>
              </a:rPr>
              <a:t>.</a:t>
            </a:r>
            <a:endParaRPr lang="ko-KR" altLang="en-US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2" name="순서도: 다중 문서 11"/>
          <p:cNvSpPr/>
          <p:nvPr/>
        </p:nvSpPr>
        <p:spPr>
          <a:xfrm>
            <a:off x="4304928" y="1946490"/>
            <a:ext cx="760426" cy="906446"/>
          </a:xfrm>
          <a:prstGeom prst="flowChartMultidocument">
            <a:avLst/>
          </a:prstGeom>
          <a:solidFill>
            <a:srgbClr val="D8EBB3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HOME</a:t>
            </a:r>
            <a:endParaRPr lang="ko-KR" altLang="en-US" sz="1000" b="1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43" name="순서도: 다중 문서 142"/>
          <p:cNvSpPr/>
          <p:nvPr/>
        </p:nvSpPr>
        <p:spPr>
          <a:xfrm>
            <a:off x="5868249" y="1946490"/>
            <a:ext cx="760426" cy="906446"/>
          </a:xfrm>
          <a:prstGeom prst="flowChartMultidocument">
            <a:avLst/>
          </a:prstGeom>
          <a:solidFill>
            <a:srgbClr val="CCFF33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이벤트</a:t>
            </a:r>
          </a:p>
        </p:txBody>
      </p:sp>
      <p:sp>
        <p:nvSpPr>
          <p:cNvPr id="144" name="순서도: 다중 문서 143"/>
          <p:cNvSpPr/>
          <p:nvPr/>
        </p:nvSpPr>
        <p:spPr>
          <a:xfrm>
            <a:off x="6802002" y="1946490"/>
            <a:ext cx="760426" cy="906446"/>
          </a:xfrm>
          <a:prstGeom prst="flowChartMultidocument">
            <a:avLst/>
          </a:prstGeom>
          <a:solidFill>
            <a:srgbClr val="CCFF33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상품</a:t>
            </a:r>
            <a:endParaRPr lang="en-US" altLang="ko-KR" sz="1000" b="1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r>
              <a:rPr lang="ko-KR" altLang="en-US" sz="1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연결</a:t>
            </a:r>
          </a:p>
        </p:txBody>
      </p:sp>
      <p:sp>
        <p:nvSpPr>
          <p:cNvPr id="145" name="순서도: 다중 문서 144"/>
          <p:cNvSpPr/>
          <p:nvPr/>
        </p:nvSpPr>
        <p:spPr>
          <a:xfrm>
            <a:off x="7731549" y="1946490"/>
            <a:ext cx="760426" cy="906446"/>
          </a:xfrm>
          <a:prstGeom prst="flowChartMultidocument">
            <a:avLst/>
          </a:prstGeom>
          <a:solidFill>
            <a:srgbClr val="CCFF33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고객</a:t>
            </a:r>
            <a:endParaRPr lang="en-US" altLang="ko-KR" sz="1000" b="1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r>
              <a:rPr lang="ko-KR" altLang="en-US" sz="1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센터</a:t>
            </a:r>
          </a:p>
        </p:txBody>
      </p:sp>
      <p:sp>
        <p:nvSpPr>
          <p:cNvPr id="151" name="순서도: 다중 문서 150"/>
          <p:cNvSpPr/>
          <p:nvPr/>
        </p:nvSpPr>
        <p:spPr>
          <a:xfrm>
            <a:off x="6795022" y="3386651"/>
            <a:ext cx="760426" cy="906446"/>
          </a:xfrm>
          <a:prstGeom prst="flowChartMultidocument">
            <a:avLst/>
          </a:prstGeom>
          <a:solidFill>
            <a:srgbClr val="CCCC00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이벤트</a:t>
            </a:r>
          </a:p>
        </p:txBody>
      </p:sp>
      <p:sp>
        <p:nvSpPr>
          <p:cNvPr id="152" name="순서도: 다중 문서 151"/>
          <p:cNvSpPr/>
          <p:nvPr/>
        </p:nvSpPr>
        <p:spPr>
          <a:xfrm>
            <a:off x="7731549" y="3386651"/>
            <a:ext cx="760426" cy="906446"/>
          </a:xfrm>
          <a:prstGeom prst="flowChartMultidocument">
            <a:avLst/>
          </a:prstGeom>
          <a:solidFill>
            <a:srgbClr val="CCCC00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고객센터</a:t>
            </a:r>
          </a:p>
        </p:txBody>
      </p:sp>
      <p:cxnSp>
        <p:nvCxnSpPr>
          <p:cNvPr id="17" name="직선 연결선 16"/>
          <p:cNvCxnSpPr/>
          <p:nvPr/>
        </p:nvCxnSpPr>
        <p:spPr>
          <a:xfrm>
            <a:off x="1475309" y="4178738"/>
            <a:ext cx="0" cy="28803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직선 연결선 157"/>
          <p:cNvCxnSpPr/>
          <p:nvPr/>
        </p:nvCxnSpPr>
        <p:spPr>
          <a:xfrm>
            <a:off x="2400279" y="4178738"/>
            <a:ext cx="0" cy="28803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직선 연결선 158"/>
          <p:cNvCxnSpPr/>
          <p:nvPr/>
        </p:nvCxnSpPr>
        <p:spPr>
          <a:xfrm>
            <a:off x="3301444" y="4178738"/>
            <a:ext cx="0" cy="28803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직선 연결선 159"/>
          <p:cNvCxnSpPr/>
          <p:nvPr/>
        </p:nvCxnSpPr>
        <p:spPr>
          <a:xfrm>
            <a:off x="4170634" y="4178738"/>
            <a:ext cx="0" cy="28803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직선 연결선 160"/>
          <p:cNvCxnSpPr/>
          <p:nvPr/>
        </p:nvCxnSpPr>
        <p:spPr>
          <a:xfrm>
            <a:off x="5085337" y="4178738"/>
            <a:ext cx="0" cy="28803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6" name="순서도: 다중 문서 145"/>
          <p:cNvSpPr/>
          <p:nvPr/>
        </p:nvSpPr>
        <p:spPr>
          <a:xfrm>
            <a:off x="1120389" y="3386650"/>
            <a:ext cx="760426" cy="906446"/>
          </a:xfrm>
          <a:prstGeom prst="flowChartMultidocument">
            <a:avLst/>
          </a:prstGeom>
          <a:solidFill>
            <a:srgbClr val="FFFFCC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암</a:t>
            </a:r>
          </a:p>
        </p:txBody>
      </p:sp>
      <p:sp>
        <p:nvSpPr>
          <p:cNvPr id="147" name="순서도: 다중 문서 146"/>
          <p:cNvSpPr/>
          <p:nvPr/>
        </p:nvSpPr>
        <p:spPr>
          <a:xfrm>
            <a:off x="2020066" y="3386650"/>
            <a:ext cx="760426" cy="906446"/>
          </a:xfrm>
          <a:prstGeom prst="flowChartMultidocument">
            <a:avLst/>
          </a:prstGeom>
          <a:solidFill>
            <a:srgbClr val="FFFFCC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정기</a:t>
            </a:r>
          </a:p>
        </p:txBody>
      </p:sp>
      <p:sp>
        <p:nvSpPr>
          <p:cNvPr id="148" name="순서도: 다중 문서 147"/>
          <p:cNvSpPr/>
          <p:nvPr/>
        </p:nvSpPr>
        <p:spPr>
          <a:xfrm>
            <a:off x="2923668" y="3386650"/>
            <a:ext cx="760426" cy="906446"/>
          </a:xfrm>
          <a:prstGeom prst="flowChartMultidocument">
            <a:avLst/>
          </a:prstGeom>
          <a:solidFill>
            <a:srgbClr val="FFFFCC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상해</a:t>
            </a:r>
          </a:p>
        </p:txBody>
      </p:sp>
      <p:sp>
        <p:nvSpPr>
          <p:cNvPr id="149" name="순서도: 다중 문서 148"/>
          <p:cNvSpPr/>
          <p:nvPr/>
        </p:nvSpPr>
        <p:spPr>
          <a:xfrm>
            <a:off x="3823345" y="3386650"/>
            <a:ext cx="760426" cy="906446"/>
          </a:xfrm>
          <a:prstGeom prst="flowChartMultidocument">
            <a:avLst/>
          </a:prstGeom>
          <a:solidFill>
            <a:srgbClr val="FFFFCC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저축</a:t>
            </a:r>
          </a:p>
        </p:txBody>
      </p:sp>
      <p:sp>
        <p:nvSpPr>
          <p:cNvPr id="150" name="순서도: 다중 문서 149"/>
          <p:cNvSpPr/>
          <p:nvPr/>
        </p:nvSpPr>
        <p:spPr>
          <a:xfrm>
            <a:off x="4759872" y="3386650"/>
            <a:ext cx="760426" cy="906446"/>
          </a:xfrm>
          <a:prstGeom prst="flowChartMultidocument">
            <a:avLst/>
          </a:prstGeom>
          <a:solidFill>
            <a:srgbClr val="FFFFCC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연금</a:t>
            </a:r>
          </a:p>
        </p:txBody>
      </p:sp>
      <p:sp>
        <p:nvSpPr>
          <p:cNvPr id="153" name="순서도: 다중 문서 152"/>
          <p:cNvSpPr/>
          <p:nvPr/>
        </p:nvSpPr>
        <p:spPr>
          <a:xfrm>
            <a:off x="1120389" y="5330866"/>
            <a:ext cx="760426" cy="906446"/>
          </a:xfrm>
          <a:prstGeom prst="flowChartMultidocument">
            <a:avLst/>
          </a:prstGeom>
          <a:solidFill>
            <a:srgbClr val="FFFFCC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상품가입</a:t>
            </a:r>
          </a:p>
        </p:txBody>
      </p:sp>
      <p:sp>
        <p:nvSpPr>
          <p:cNvPr id="18" name="직사각형 17"/>
          <p:cNvSpPr/>
          <p:nvPr/>
        </p:nvSpPr>
        <p:spPr>
          <a:xfrm>
            <a:off x="1120389" y="4487945"/>
            <a:ext cx="760426" cy="237199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간편설계</a:t>
            </a:r>
          </a:p>
        </p:txBody>
      </p:sp>
      <p:sp>
        <p:nvSpPr>
          <p:cNvPr id="162" name="직사각형 161"/>
          <p:cNvSpPr/>
          <p:nvPr/>
        </p:nvSpPr>
        <p:spPr>
          <a:xfrm>
            <a:off x="2020066" y="4487945"/>
            <a:ext cx="760426" cy="237199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간편설계</a:t>
            </a:r>
          </a:p>
        </p:txBody>
      </p:sp>
      <p:sp>
        <p:nvSpPr>
          <p:cNvPr id="163" name="직사각형 162"/>
          <p:cNvSpPr/>
          <p:nvPr/>
        </p:nvSpPr>
        <p:spPr>
          <a:xfrm>
            <a:off x="2923668" y="4487945"/>
            <a:ext cx="760426" cy="237199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간편설계</a:t>
            </a:r>
          </a:p>
        </p:txBody>
      </p:sp>
      <p:sp>
        <p:nvSpPr>
          <p:cNvPr id="165" name="직사각형 164"/>
          <p:cNvSpPr/>
          <p:nvPr/>
        </p:nvSpPr>
        <p:spPr>
          <a:xfrm>
            <a:off x="3816347" y="4487945"/>
            <a:ext cx="760426" cy="237199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간편설계</a:t>
            </a:r>
          </a:p>
        </p:txBody>
      </p:sp>
      <p:sp>
        <p:nvSpPr>
          <p:cNvPr id="166" name="직사각형 165"/>
          <p:cNvSpPr/>
          <p:nvPr/>
        </p:nvSpPr>
        <p:spPr>
          <a:xfrm>
            <a:off x="4759872" y="4487945"/>
            <a:ext cx="760426" cy="237199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간편설계</a:t>
            </a:r>
          </a:p>
        </p:txBody>
      </p:sp>
      <p:grpSp>
        <p:nvGrpSpPr>
          <p:cNvPr id="19" name="그룹 18"/>
          <p:cNvGrpSpPr/>
          <p:nvPr/>
        </p:nvGrpSpPr>
        <p:grpSpPr>
          <a:xfrm>
            <a:off x="2338040" y="5532061"/>
            <a:ext cx="6341955" cy="504056"/>
            <a:chOff x="2626247" y="5574411"/>
            <a:chExt cx="6341955" cy="504056"/>
          </a:xfrm>
        </p:grpSpPr>
        <p:sp>
          <p:nvSpPr>
            <p:cNvPr id="167" name="오각형 166"/>
            <p:cNvSpPr/>
            <p:nvPr/>
          </p:nvSpPr>
          <p:spPr>
            <a:xfrm>
              <a:off x="7252762" y="5574411"/>
              <a:ext cx="1715440" cy="504056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b="1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서비스료 </a:t>
              </a:r>
              <a:r>
                <a:rPr lang="ko-KR" altLang="en-US" sz="1000" b="1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결제</a:t>
              </a:r>
              <a:endParaRPr lang="en-US" altLang="ko-KR" sz="1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68" name="오각형 167"/>
            <p:cNvSpPr/>
            <p:nvPr/>
          </p:nvSpPr>
          <p:spPr>
            <a:xfrm>
              <a:off x="5709205" y="5574411"/>
              <a:ext cx="1715440" cy="504056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b="1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가입문서 확인</a:t>
              </a:r>
              <a:endParaRPr lang="en-US" altLang="ko-KR" sz="1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69" name="오각형 168"/>
            <p:cNvSpPr/>
            <p:nvPr/>
          </p:nvSpPr>
          <p:spPr>
            <a:xfrm>
              <a:off x="4169805" y="5574411"/>
              <a:ext cx="1715440" cy="504056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b="1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계약 전 알릴</a:t>
              </a:r>
              <a:endParaRPr lang="en-US" altLang="ko-KR" sz="1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  <a:p>
              <a:pPr algn="ctr"/>
              <a:r>
                <a:rPr lang="ko-KR" altLang="en-US" sz="1000" b="1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의무 작성</a:t>
              </a:r>
              <a:endParaRPr lang="en-US" altLang="ko-KR" sz="1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70" name="오각형 169"/>
            <p:cNvSpPr/>
            <p:nvPr/>
          </p:nvSpPr>
          <p:spPr>
            <a:xfrm>
              <a:off x="2626247" y="5574411"/>
              <a:ext cx="1715440" cy="504056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" altLang="ko-KR" sz="1000" b="1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XXX</a:t>
              </a:r>
              <a:r>
                <a:rPr lang="ko-KR" altLang="en-US" sz="1000" b="1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서 작성</a:t>
              </a:r>
              <a:br>
                <a:rPr lang="en-US" altLang="ko-KR" sz="1000" b="1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</a:br>
              <a:r>
                <a:rPr lang="ko-KR" altLang="en-US" sz="1000" b="1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및 동의</a:t>
              </a:r>
              <a:endParaRPr lang="en-US" altLang="ko-KR" sz="1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cxnSp>
        <p:nvCxnSpPr>
          <p:cNvPr id="21" name="꺾인 연결선 20"/>
          <p:cNvCxnSpPr>
            <a:stCxn id="18" idx="2"/>
            <a:endCxn id="153" idx="0"/>
          </p:cNvCxnSpPr>
          <p:nvPr/>
        </p:nvCxnSpPr>
        <p:spPr>
          <a:xfrm rot="16200000" flipH="1">
            <a:off x="1223898" y="5001848"/>
            <a:ext cx="605722" cy="52314"/>
          </a:xfrm>
          <a:prstGeom prst="bentConnector3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꺾인 연결선 170"/>
          <p:cNvCxnSpPr>
            <a:stCxn id="162" idx="2"/>
            <a:endCxn id="153" idx="0"/>
          </p:cNvCxnSpPr>
          <p:nvPr/>
        </p:nvCxnSpPr>
        <p:spPr>
          <a:xfrm rot="5400000">
            <a:off x="1673737" y="4604324"/>
            <a:ext cx="605722" cy="847363"/>
          </a:xfrm>
          <a:prstGeom prst="bentConnector3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꺾인 연결선 171"/>
          <p:cNvCxnSpPr>
            <a:stCxn id="163" idx="2"/>
            <a:endCxn id="153" idx="0"/>
          </p:cNvCxnSpPr>
          <p:nvPr/>
        </p:nvCxnSpPr>
        <p:spPr>
          <a:xfrm rot="5400000">
            <a:off x="2125538" y="4152523"/>
            <a:ext cx="605722" cy="1750965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꺾인 연결선 172"/>
          <p:cNvCxnSpPr>
            <a:stCxn id="165" idx="2"/>
            <a:endCxn id="153" idx="0"/>
          </p:cNvCxnSpPr>
          <p:nvPr/>
        </p:nvCxnSpPr>
        <p:spPr>
          <a:xfrm rot="5400000">
            <a:off x="2571877" y="3706183"/>
            <a:ext cx="605722" cy="2643644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꺾인 연결선 173"/>
          <p:cNvCxnSpPr>
            <a:stCxn id="166" idx="2"/>
            <a:endCxn id="153" idx="0"/>
          </p:cNvCxnSpPr>
          <p:nvPr/>
        </p:nvCxnSpPr>
        <p:spPr>
          <a:xfrm rot="5400000">
            <a:off x="3043640" y="3234421"/>
            <a:ext cx="605722" cy="3587169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꺾인 연결선 174"/>
          <p:cNvCxnSpPr>
            <a:stCxn id="12" idx="2"/>
            <a:endCxn id="150" idx="0"/>
          </p:cNvCxnSpPr>
          <p:nvPr/>
        </p:nvCxnSpPr>
        <p:spPr>
          <a:xfrm rot="16200000" flipH="1">
            <a:off x="4628311" y="2822561"/>
            <a:ext cx="568041" cy="560136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꺾인 연결선 175"/>
          <p:cNvCxnSpPr>
            <a:stCxn id="12" idx="2"/>
            <a:endCxn id="149" idx="0"/>
          </p:cNvCxnSpPr>
          <p:nvPr/>
        </p:nvCxnSpPr>
        <p:spPr>
          <a:xfrm rot="5400000">
            <a:off x="4160048" y="2914434"/>
            <a:ext cx="568041" cy="376391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꺾인 연결선 176"/>
          <p:cNvCxnSpPr>
            <a:stCxn id="12" idx="2"/>
            <a:endCxn id="148" idx="0"/>
          </p:cNvCxnSpPr>
          <p:nvPr/>
        </p:nvCxnSpPr>
        <p:spPr>
          <a:xfrm rot="5400000">
            <a:off x="3710209" y="2464595"/>
            <a:ext cx="568041" cy="1276068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꺾인 연결선 177"/>
          <p:cNvCxnSpPr>
            <a:stCxn id="12" idx="2"/>
            <a:endCxn id="147" idx="0"/>
          </p:cNvCxnSpPr>
          <p:nvPr/>
        </p:nvCxnSpPr>
        <p:spPr>
          <a:xfrm rot="5400000">
            <a:off x="3258408" y="2012794"/>
            <a:ext cx="568041" cy="2179670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꺾인 연결선 178"/>
          <p:cNvCxnSpPr>
            <a:stCxn id="12" idx="2"/>
            <a:endCxn id="146" idx="0"/>
          </p:cNvCxnSpPr>
          <p:nvPr/>
        </p:nvCxnSpPr>
        <p:spPr>
          <a:xfrm rot="5400000">
            <a:off x="2808570" y="1562956"/>
            <a:ext cx="568041" cy="3079347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꺾인 연결선 179"/>
          <p:cNvCxnSpPr>
            <a:stCxn id="12" idx="3"/>
            <a:endCxn id="143" idx="1"/>
          </p:cNvCxnSpPr>
          <p:nvPr/>
        </p:nvCxnSpPr>
        <p:spPr>
          <a:xfrm>
            <a:off x="5065354" y="2399713"/>
            <a:ext cx="802895" cy="12700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꺾인 연결선 180"/>
          <p:cNvCxnSpPr>
            <a:stCxn id="12" idx="2"/>
            <a:endCxn id="151" idx="0"/>
          </p:cNvCxnSpPr>
          <p:nvPr/>
        </p:nvCxnSpPr>
        <p:spPr>
          <a:xfrm rot="16200000" flipH="1">
            <a:off x="5645885" y="1804987"/>
            <a:ext cx="568042" cy="2595286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꺾인 연결선 181"/>
          <p:cNvCxnSpPr>
            <a:stCxn id="12" idx="2"/>
            <a:endCxn id="152" idx="0"/>
          </p:cNvCxnSpPr>
          <p:nvPr/>
        </p:nvCxnSpPr>
        <p:spPr>
          <a:xfrm rot="16200000" flipH="1">
            <a:off x="6114148" y="1336723"/>
            <a:ext cx="568042" cy="3531813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직사각형 47"/>
          <p:cNvSpPr/>
          <p:nvPr/>
        </p:nvSpPr>
        <p:spPr>
          <a:xfrm>
            <a:off x="488504" y="1684560"/>
            <a:ext cx="2707256" cy="690422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50000"/>
              </a:lnSpc>
            </a:pPr>
            <a:r>
              <a:rPr lang="ko-KR" altLang="en-US" sz="1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서   </a:t>
            </a:r>
            <a:r>
              <a:rPr lang="ko-KR" altLang="en-US" sz="1000" b="1" dirty="0" err="1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버</a:t>
            </a:r>
            <a:r>
              <a:rPr lang="ko-KR" altLang="en-US" sz="1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1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1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서브도메인으로 구성</a:t>
            </a:r>
            <a:endParaRPr lang="en-US" altLang="ko-KR" sz="1000" b="1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사이트 </a:t>
            </a:r>
            <a:r>
              <a:rPr lang="en-US" altLang="ko-KR" sz="1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1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개별 웹사이트로 구성</a:t>
            </a:r>
          </a:p>
        </p:txBody>
      </p:sp>
    </p:spTree>
    <p:extLst>
      <p:ext uri="{BB962C8B-B14F-4D97-AF65-F5344CB8AC3E}">
        <p14:creationId xmlns:p14="http://schemas.microsoft.com/office/powerpoint/2010/main" val="40629700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44017" y="91339"/>
            <a:ext cx="7401271" cy="385333"/>
          </a:xfrm>
          <a:prstGeom prst="rect">
            <a:avLst/>
          </a:prstGeom>
          <a:noFill/>
        </p:spPr>
        <p:txBody>
          <a:bodyPr wrap="square" lIns="0" tIns="53643" rIns="0" bIns="53643" rtlCol="0">
            <a:spAutoFit/>
          </a:bodyPr>
          <a:lstStyle/>
          <a:p>
            <a:r>
              <a:rPr kumimoji="1" lang="en-US" altLang="ko-KR" b="1" kern="0" dirty="0">
                <a:latin typeface="나눔고딕" panose="020D0604000000000000" pitchFamily="50" charset="-127"/>
                <a:ea typeface="나눔고딕" panose="020D0604000000000000" pitchFamily="50" charset="-127"/>
                <a:cs typeface="산돌고딕 M"/>
              </a:rPr>
              <a:t>Information architecture</a:t>
            </a:r>
            <a:endParaRPr kumimoji="1" lang="ko-KR" altLang="en-US" b="1" kern="0" dirty="0">
              <a:latin typeface="나눔고딕" panose="020D0604000000000000" pitchFamily="50" charset="-127"/>
              <a:ea typeface="나눔고딕" panose="020D0604000000000000" pitchFamily="50" charset="-127"/>
              <a:cs typeface="산돌고딕 M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44017" y="683985"/>
            <a:ext cx="96335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Case Study : BBBB</a:t>
            </a:r>
            <a:r>
              <a:rPr lang="ko-KR" altLang="en-US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기업</a:t>
            </a:r>
            <a:endParaRPr lang="en-US" altLang="ko-KR" sz="14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29" name="TextBox 128"/>
          <p:cNvSpPr txBox="1"/>
          <p:nvPr/>
        </p:nvSpPr>
        <p:spPr>
          <a:xfrm>
            <a:off x="488504" y="991762"/>
            <a:ext cx="8928992" cy="307777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일반적인 형태의 </a:t>
            </a:r>
            <a:r>
              <a:rPr lang="ko-KR" altLang="en-US" sz="14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메인사이트에서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‘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쉽게 알려주려는 </a:t>
            </a:r>
            <a:r>
              <a:rPr lang="ko-KR" altLang="en-US" sz="14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메뉴명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’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을 두어 사용자의 </a:t>
            </a:r>
            <a:r>
              <a:rPr lang="ko-KR" altLang="en-US" sz="14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접근성을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유도하고 있습니다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7" name="순서도: 다중 문서 46"/>
          <p:cNvSpPr/>
          <p:nvPr/>
        </p:nvSpPr>
        <p:spPr>
          <a:xfrm>
            <a:off x="5380186" y="1628800"/>
            <a:ext cx="760426" cy="906446"/>
          </a:xfrm>
          <a:prstGeom prst="flowChartMultidocument">
            <a:avLst/>
          </a:prstGeom>
          <a:solidFill>
            <a:srgbClr val="D8EBB3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HOME</a:t>
            </a:r>
            <a:endParaRPr lang="ko-KR" altLang="en-US" sz="1000" b="1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9" name="순서도: 다중 문서 48"/>
          <p:cNvSpPr/>
          <p:nvPr/>
        </p:nvSpPr>
        <p:spPr>
          <a:xfrm>
            <a:off x="1120389" y="3068960"/>
            <a:ext cx="760426" cy="906446"/>
          </a:xfrm>
          <a:prstGeom prst="flowChartMultidocument">
            <a:avLst/>
          </a:prstGeom>
          <a:solidFill>
            <a:srgbClr val="FFFFCC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 b="1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서비스</a:t>
            </a:r>
            <a:endParaRPr lang="en-US" altLang="ko-KR" sz="1000" b="1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r>
              <a:rPr lang="ko-KR" altLang="en-US" sz="1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제대로</a:t>
            </a:r>
            <a:endParaRPr lang="en-US" altLang="ko-KR" sz="1000" b="1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r>
              <a:rPr lang="ko-KR" altLang="en-US" sz="1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알기</a:t>
            </a:r>
          </a:p>
        </p:txBody>
      </p:sp>
      <p:sp>
        <p:nvSpPr>
          <p:cNvPr id="50" name="순서도: 다중 문서 49"/>
          <p:cNvSpPr/>
          <p:nvPr/>
        </p:nvSpPr>
        <p:spPr>
          <a:xfrm>
            <a:off x="2020066" y="3068960"/>
            <a:ext cx="760426" cy="906446"/>
          </a:xfrm>
          <a:prstGeom prst="flowChartMultidocument">
            <a:avLst/>
          </a:prstGeom>
          <a:solidFill>
            <a:srgbClr val="FFFFCC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왜</a:t>
            </a:r>
            <a:endParaRPr lang="en-US" altLang="ko-KR" sz="1000" b="1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r>
              <a:rPr lang="en" altLang="ko-KR" sz="9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OOOO</a:t>
            </a:r>
            <a:endParaRPr lang="en-US" altLang="ko-KR" sz="900" b="1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r>
              <a:rPr lang="ko-KR" altLang="en-US" sz="1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인지</a:t>
            </a:r>
            <a:r>
              <a:rPr lang="en-US" altLang="ko-KR" sz="1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?</a:t>
            </a:r>
            <a:endParaRPr lang="ko-KR" altLang="en-US" sz="1000" b="1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1" name="순서도: 다중 문서 50"/>
          <p:cNvSpPr/>
          <p:nvPr/>
        </p:nvSpPr>
        <p:spPr>
          <a:xfrm>
            <a:off x="2923668" y="3068960"/>
            <a:ext cx="760426" cy="906446"/>
          </a:xfrm>
          <a:prstGeom prst="flowChartMultidocument">
            <a:avLst/>
          </a:prstGeom>
          <a:solidFill>
            <a:srgbClr val="FFFFCC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상품안내</a:t>
            </a:r>
          </a:p>
        </p:txBody>
      </p:sp>
      <p:sp>
        <p:nvSpPr>
          <p:cNvPr id="52" name="순서도: 다중 문서 51"/>
          <p:cNvSpPr/>
          <p:nvPr/>
        </p:nvSpPr>
        <p:spPr>
          <a:xfrm>
            <a:off x="3823345" y="3068960"/>
            <a:ext cx="760426" cy="906446"/>
          </a:xfrm>
          <a:prstGeom prst="flowChartMultidocument">
            <a:avLst/>
          </a:prstGeom>
          <a:solidFill>
            <a:srgbClr val="FFFFCC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마이</a:t>
            </a:r>
            <a:endParaRPr lang="en-US" altLang="ko-KR" sz="1000" b="1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r>
              <a:rPr lang="ko-KR" altLang="en-US" sz="1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페이지</a:t>
            </a:r>
          </a:p>
        </p:txBody>
      </p:sp>
      <p:sp>
        <p:nvSpPr>
          <p:cNvPr id="53" name="순서도: 다중 문서 52"/>
          <p:cNvSpPr/>
          <p:nvPr/>
        </p:nvSpPr>
        <p:spPr>
          <a:xfrm>
            <a:off x="4759872" y="3068960"/>
            <a:ext cx="760426" cy="906446"/>
          </a:xfrm>
          <a:prstGeom prst="flowChartMultidocument">
            <a:avLst/>
          </a:prstGeom>
          <a:solidFill>
            <a:srgbClr val="FFFFCC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고객센터</a:t>
            </a:r>
          </a:p>
        </p:txBody>
      </p:sp>
      <p:cxnSp>
        <p:nvCxnSpPr>
          <p:cNvPr id="54" name="꺾인 연결선 53"/>
          <p:cNvCxnSpPr>
            <a:stCxn id="47" idx="2"/>
            <a:endCxn id="53" idx="0"/>
          </p:cNvCxnSpPr>
          <p:nvPr/>
        </p:nvCxnSpPr>
        <p:spPr>
          <a:xfrm rot="5400000">
            <a:off x="5165940" y="2527378"/>
            <a:ext cx="568041" cy="515122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꺾인 연결선 54"/>
          <p:cNvCxnSpPr>
            <a:stCxn id="47" idx="2"/>
            <a:endCxn id="52" idx="0"/>
          </p:cNvCxnSpPr>
          <p:nvPr/>
        </p:nvCxnSpPr>
        <p:spPr>
          <a:xfrm rot="5400000">
            <a:off x="4697677" y="2059115"/>
            <a:ext cx="568041" cy="1451649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꺾인 연결선 55"/>
          <p:cNvCxnSpPr>
            <a:stCxn id="47" idx="2"/>
            <a:endCxn id="51" idx="0"/>
          </p:cNvCxnSpPr>
          <p:nvPr/>
        </p:nvCxnSpPr>
        <p:spPr>
          <a:xfrm rot="5400000">
            <a:off x="4247838" y="1609276"/>
            <a:ext cx="568041" cy="2351326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꺾인 연결선 56"/>
          <p:cNvCxnSpPr>
            <a:stCxn id="47" idx="2"/>
            <a:endCxn id="50" idx="0"/>
          </p:cNvCxnSpPr>
          <p:nvPr/>
        </p:nvCxnSpPr>
        <p:spPr>
          <a:xfrm rot="5400000">
            <a:off x="3796037" y="1157475"/>
            <a:ext cx="568041" cy="3254928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꺾인 연결선 57"/>
          <p:cNvCxnSpPr>
            <a:stCxn id="47" idx="2"/>
            <a:endCxn id="49" idx="0"/>
          </p:cNvCxnSpPr>
          <p:nvPr/>
        </p:nvCxnSpPr>
        <p:spPr>
          <a:xfrm rot="5400000">
            <a:off x="3346199" y="707637"/>
            <a:ext cx="568041" cy="4154605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순서도: 다중 문서 58"/>
          <p:cNvSpPr/>
          <p:nvPr/>
        </p:nvSpPr>
        <p:spPr>
          <a:xfrm>
            <a:off x="5704742" y="3068960"/>
            <a:ext cx="760426" cy="906446"/>
          </a:xfrm>
          <a:prstGeom prst="flowChartMultidocument">
            <a:avLst/>
          </a:prstGeom>
          <a:solidFill>
            <a:srgbClr val="FFFFCC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5</a:t>
            </a:r>
            <a:r>
              <a:rPr lang="ko-KR" altLang="en-US" sz="1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초</a:t>
            </a:r>
            <a:endParaRPr lang="en-US" altLang="ko-KR" sz="1000" b="1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r>
              <a:rPr lang="ko-KR" altLang="en-US" sz="1000" b="1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서비스료</a:t>
            </a:r>
            <a:endParaRPr lang="en-US" altLang="ko-KR" sz="1000" b="1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r>
              <a:rPr lang="ko-KR" altLang="en-US" sz="1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확인</a:t>
            </a:r>
          </a:p>
        </p:txBody>
      </p:sp>
      <p:cxnSp>
        <p:nvCxnSpPr>
          <p:cNvPr id="60" name="꺾인 연결선 59"/>
          <p:cNvCxnSpPr>
            <a:stCxn id="47" idx="2"/>
            <a:endCxn id="59" idx="0"/>
          </p:cNvCxnSpPr>
          <p:nvPr/>
        </p:nvCxnSpPr>
        <p:spPr>
          <a:xfrm rot="16200000" flipH="1">
            <a:off x="5638375" y="2570065"/>
            <a:ext cx="568041" cy="429748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순서도: 다중 문서 63"/>
          <p:cNvSpPr/>
          <p:nvPr/>
        </p:nvSpPr>
        <p:spPr>
          <a:xfrm>
            <a:off x="831292" y="4437112"/>
            <a:ext cx="760426" cy="906446"/>
          </a:xfrm>
          <a:prstGeom prst="flowChartMultidocument">
            <a:avLst/>
          </a:prstGeom>
          <a:solidFill>
            <a:srgbClr val="CCFF33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 b="1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정기서비스</a:t>
            </a:r>
            <a:endParaRPr lang="ko-KR" altLang="en-US" sz="1000" b="1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5" name="순서도: 다중 문서 64"/>
          <p:cNvSpPr/>
          <p:nvPr/>
        </p:nvSpPr>
        <p:spPr>
          <a:xfrm>
            <a:off x="1801133" y="4437112"/>
            <a:ext cx="760426" cy="906446"/>
          </a:xfrm>
          <a:prstGeom prst="flowChartMultidocument">
            <a:avLst/>
          </a:prstGeom>
          <a:solidFill>
            <a:srgbClr val="CCFF33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 b="1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종신서비스</a:t>
            </a:r>
            <a:endParaRPr lang="ko-KR" altLang="en-US" sz="1000" b="1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6" name="순서도: 다중 문서 65"/>
          <p:cNvSpPr/>
          <p:nvPr/>
        </p:nvSpPr>
        <p:spPr>
          <a:xfrm>
            <a:off x="2823810" y="4437112"/>
            <a:ext cx="760426" cy="906446"/>
          </a:xfrm>
          <a:prstGeom prst="flowChartMultidocument">
            <a:avLst/>
          </a:prstGeom>
          <a:solidFill>
            <a:srgbClr val="CCFF33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 b="1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연금서비스</a:t>
            </a:r>
            <a:endParaRPr lang="ko-KR" altLang="en-US" sz="1000" b="1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7" name="순서도: 다중 문서 66"/>
          <p:cNvSpPr/>
          <p:nvPr/>
        </p:nvSpPr>
        <p:spPr>
          <a:xfrm>
            <a:off x="3825313" y="4437112"/>
            <a:ext cx="760426" cy="906446"/>
          </a:xfrm>
          <a:prstGeom prst="flowChartMultidocument">
            <a:avLst/>
          </a:prstGeom>
          <a:solidFill>
            <a:srgbClr val="CCFF33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연금</a:t>
            </a:r>
            <a:endParaRPr lang="en-US" altLang="ko-KR" sz="1000" b="1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r>
              <a:rPr lang="ko-KR" altLang="en-US" sz="1000" b="1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저축서비스</a:t>
            </a:r>
            <a:endParaRPr lang="ko-KR" altLang="en-US" sz="1000" b="1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8" name="순서도: 다중 문서 67"/>
          <p:cNvSpPr/>
          <p:nvPr/>
        </p:nvSpPr>
        <p:spPr>
          <a:xfrm>
            <a:off x="4864631" y="4437112"/>
            <a:ext cx="760426" cy="906446"/>
          </a:xfrm>
          <a:prstGeom prst="flowChartMultidocument">
            <a:avLst/>
          </a:prstGeom>
          <a:solidFill>
            <a:srgbClr val="CCFF33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보장</a:t>
            </a:r>
            <a:endParaRPr lang="en-US" altLang="ko-KR" sz="1000" b="1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r>
              <a:rPr lang="ko-KR" altLang="en-US" sz="1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플러스</a:t>
            </a:r>
          </a:p>
        </p:txBody>
      </p:sp>
      <p:cxnSp>
        <p:nvCxnSpPr>
          <p:cNvPr id="73" name="꺾인 연결선 72"/>
          <p:cNvCxnSpPr>
            <a:stCxn id="51" idx="2"/>
            <a:endCxn id="64" idx="0"/>
          </p:cNvCxnSpPr>
          <p:nvPr/>
        </p:nvCxnSpPr>
        <p:spPr>
          <a:xfrm rot="5400000">
            <a:off x="2009395" y="3195503"/>
            <a:ext cx="496033" cy="1987184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꺾인 연결선 75"/>
          <p:cNvCxnSpPr>
            <a:stCxn id="51" idx="2"/>
            <a:endCxn id="65" idx="0"/>
          </p:cNvCxnSpPr>
          <p:nvPr/>
        </p:nvCxnSpPr>
        <p:spPr>
          <a:xfrm rot="5400000">
            <a:off x="2494316" y="3680424"/>
            <a:ext cx="496033" cy="1017343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꺾인 연결선 78"/>
          <p:cNvCxnSpPr>
            <a:stCxn id="51" idx="2"/>
            <a:endCxn id="66" idx="0"/>
          </p:cNvCxnSpPr>
          <p:nvPr/>
        </p:nvCxnSpPr>
        <p:spPr>
          <a:xfrm rot="16200000" flipH="1">
            <a:off x="3005654" y="4186428"/>
            <a:ext cx="496033" cy="5334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꺾인 연결선 81"/>
          <p:cNvCxnSpPr>
            <a:stCxn id="51" idx="2"/>
            <a:endCxn id="67" idx="0"/>
          </p:cNvCxnSpPr>
          <p:nvPr/>
        </p:nvCxnSpPr>
        <p:spPr>
          <a:xfrm rot="16200000" flipH="1">
            <a:off x="3506405" y="3685676"/>
            <a:ext cx="496033" cy="1006837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꺾인 연결선 84"/>
          <p:cNvCxnSpPr>
            <a:stCxn id="51" idx="2"/>
            <a:endCxn id="68" idx="0"/>
          </p:cNvCxnSpPr>
          <p:nvPr/>
        </p:nvCxnSpPr>
        <p:spPr>
          <a:xfrm rot="16200000" flipH="1">
            <a:off x="4026064" y="3166017"/>
            <a:ext cx="496033" cy="2046155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순서도: 다중 문서 87"/>
          <p:cNvSpPr/>
          <p:nvPr/>
        </p:nvSpPr>
        <p:spPr>
          <a:xfrm>
            <a:off x="1966054" y="5733256"/>
            <a:ext cx="760426" cy="906446"/>
          </a:xfrm>
          <a:prstGeom prst="flowChartMultidocument">
            <a:avLst/>
          </a:prstGeom>
          <a:solidFill>
            <a:srgbClr val="FFFFCC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 b="1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서비스설계</a:t>
            </a:r>
            <a:endParaRPr lang="en-US" altLang="ko-KR" sz="1000" b="1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r>
              <a:rPr lang="ko-KR" altLang="en-US" sz="1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가입하기</a:t>
            </a:r>
          </a:p>
        </p:txBody>
      </p:sp>
      <p:sp>
        <p:nvSpPr>
          <p:cNvPr id="98" name="오각형 97"/>
          <p:cNvSpPr/>
          <p:nvPr/>
        </p:nvSpPr>
        <p:spPr>
          <a:xfrm>
            <a:off x="7810220" y="5934451"/>
            <a:ext cx="1715440" cy="504056"/>
          </a:xfrm>
          <a:prstGeom prst="homePlat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서비스료 </a:t>
            </a:r>
            <a:r>
              <a:rPr lang="ko-KR" altLang="en-US" sz="11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결제</a:t>
            </a:r>
            <a:endParaRPr lang="en-US" altLang="ko-KR" sz="1100" b="1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9" name="오각형 98"/>
          <p:cNvSpPr/>
          <p:nvPr/>
        </p:nvSpPr>
        <p:spPr>
          <a:xfrm>
            <a:off x="6266664" y="5934451"/>
            <a:ext cx="1715440" cy="504056"/>
          </a:xfrm>
          <a:prstGeom prst="homePlat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가입 전 확인사항</a:t>
            </a:r>
            <a:endParaRPr lang="en-US" altLang="ko-KR" sz="1100" b="1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0" name="오각형 99"/>
          <p:cNvSpPr/>
          <p:nvPr/>
        </p:nvSpPr>
        <p:spPr>
          <a:xfrm>
            <a:off x="4727264" y="5934451"/>
            <a:ext cx="1715440" cy="504056"/>
          </a:xfrm>
          <a:prstGeom prst="homePlat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개인정보 확인</a:t>
            </a:r>
            <a:endParaRPr lang="en-US" altLang="ko-KR" sz="1100" b="1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1" name="오각형 100"/>
          <p:cNvSpPr/>
          <p:nvPr/>
        </p:nvSpPr>
        <p:spPr>
          <a:xfrm>
            <a:off x="3183706" y="5934451"/>
            <a:ext cx="1715440" cy="504056"/>
          </a:xfrm>
          <a:prstGeom prst="homePlat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정보입력 및</a:t>
            </a:r>
            <a:endParaRPr lang="en-US" altLang="ko-KR" sz="1100" b="1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r>
              <a:rPr lang="ko-KR" altLang="en-US" sz="1100" b="1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가입서비스 </a:t>
            </a:r>
            <a:r>
              <a:rPr lang="ko-KR" altLang="en-US" sz="11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내용 선택</a:t>
            </a:r>
            <a:endParaRPr lang="en-US" altLang="ko-KR" sz="1100" b="1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r>
              <a:rPr lang="ko-KR" altLang="en-US" sz="9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흡연</a:t>
            </a:r>
            <a:r>
              <a:rPr lang="en-US" altLang="ko-KR" sz="9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</a:t>
            </a:r>
            <a:r>
              <a:rPr lang="ko-KR" altLang="en-US" sz="9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가입금액</a:t>
            </a:r>
            <a:r>
              <a:rPr lang="en-US" altLang="ko-KR" sz="9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</a:t>
            </a:r>
            <a:r>
              <a:rPr lang="ko-KR" altLang="en-US" sz="9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기간</a:t>
            </a:r>
            <a:r>
              <a:rPr lang="en-US" altLang="ko-KR" sz="9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</a:t>
            </a:r>
            <a:r>
              <a:rPr lang="ko-KR" altLang="en-US" sz="9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납입기간</a:t>
            </a:r>
            <a:endParaRPr lang="en-US" altLang="ko-KR" sz="9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102" name="꺾인 연결선 101"/>
          <p:cNvCxnSpPr>
            <a:stCxn id="64" idx="2"/>
            <a:endCxn id="88" idx="0"/>
          </p:cNvCxnSpPr>
          <p:nvPr/>
        </p:nvCxnSpPr>
        <p:spPr>
          <a:xfrm rot="16200000" flipH="1">
            <a:off x="1566592" y="4901266"/>
            <a:ext cx="424025" cy="1239954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꺾인 연결선 104"/>
          <p:cNvCxnSpPr>
            <a:stCxn id="65" idx="2"/>
            <a:endCxn id="88" idx="0"/>
          </p:cNvCxnSpPr>
          <p:nvPr/>
        </p:nvCxnSpPr>
        <p:spPr>
          <a:xfrm rot="16200000" flipH="1">
            <a:off x="2051512" y="5386186"/>
            <a:ext cx="424025" cy="270113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꺾인 연결선 107"/>
          <p:cNvCxnSpPr>
            <a:stCxn id="66" idx="2"/>
            <a:endCxn id="88" idx="0"/>
          </p:cNvCxnSpPr>
          <p:nvPr/>
        </p:nvCxnSpPr>
        <p:spPr>
          <a:xfrm rot="5400000">
            <a:off x="2562851" y="5144961"/>
            <a:ext cx="424025" cy="752564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꺾인 연결선 110"/>
          <p:cNvCxnSpPr>
            <a:stCxn id="67" idx="2"/>
            <a:endCxn id="88" idx="0"/>
          </p:cNvCxnSpPr>
          <p:nvPr/>
        </p:nvCxnSpPr>
        <p:spPr>
          <a:xfrm rot="5400000">
            <a:off x="3063603" y="4644210"/>
            <a:ext cx="424025" cy="1754067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꺾인 연결선 113"/>
          <p:cNvCxnSpPr>
            <a:stCxn id="68" idx="2"/>
            <a:endCxn id="88" idx="0"/>
          </p:cNvCxnSpPr>
          <p:nvPr/>
        </p:nvCxnSpPr>
        <p:spPr>
          <a:xfrm rot="5400000">
            <a:off x="3583262" y="4124551"/>
            <a:ext cx="424025" cy="2793385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직사각형 122"/>
          <p:cNvSpPr/>
          <p:nvPr/>
        </p:nvSpPr>
        <p:spPr>
          <a:xfrm>
            <a:off x="488504" y="1684560"/>
            <a:ext cx="2707256" cy="690422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50000"/>
              </a:lnSpc>
            </a:pPr>
            <a:r>
              <a:rPr lang="ko-KR" altLang="en-US" sz="1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서   </a:t>
            </a:r>
            <a:r>
              <a:rPr lang="ko-KR" altLang="en-US" sz="1000" b="1" dirty="0" err="1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버</a:t>
            </a:r>
            <a:r>
              <a:rPr lang="ko-KR" altLang="en-US" sz="1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1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1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독립도메인으로 구성</a:t>
            </a:r>
            <a:endParaRPr lang="en-US" altLang="ko-KR" sz="1000" b="1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사이트 </a:t>
            </a:r>
            <a:r>
              <a:rPr lang="en-US" altLang="ko-KR" sz="1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1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개별 웹사이트로 구성</a:t>
            </a:r>
          </a:p>
        </p:txBody>
      </p:sp>
    </p:spTree>
    <p:extLst>
      <p:ext uri="{BB962C8B-B14F-4D97-AF65-F5344CB8AC3E}">
        <p14:creationId xmlns:p14="http://schemas.microsoft.com/office/powerpoint/2010/main" val="21959164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9" name="직선 연결선 38"/>
          <p:cNvCxnSpPr/>
          <p:nvPr/>
        </p:nvCxnSpPr>
        <p:spPr>
          <a:xfrm>
            <a:off x="1720257" y="3356992"/>
            <a:ext cx="0" cy="76061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44017" y="91339"/>
            <a:ext cx="7401271" cy="385333"/>
          </a:xfrm>
          <a:prstGeom prst="rect">
            <a:avLst/>
          </a:prstGeom>
          <a:noFill/>
        </p:spPr>
        <p:txBody>
          <a:bodyPr wrap="square" lIns="0" tIns="53643" rIns="0" bIns="53643" rtlCol="0">
            <a:spAutoFit/>
          </a:bodyPr>
          <a:lstStyle/>
          <a:p>
            <a:r>
              <a:rPr kumimoji="1" lang="en-US" altLang="ko-KR" b="1" kern="0" dirty="0">
                <a:latin typeface="나눔고딕" panose="020D0604000000000000" pitchFamily="50" charset="-127"/>
                <a:ea typeface="나눔고딕" panose="020D0604000000000000" pitchFamily="50" charset="-127"/>
                <a:cs typeface="산돌고딕 M"/>
              </a:rPr>
              <a:t>Information architecture</a:t>
            </a:r>
            <a:endParaRPr kumimoji="1" lang="ko-KR" altLang="en-US" b="1" kern="0" dirty="0">
              <a:latin typeface="나눔고딕" panose="020D0604000000000000" pitchFamily="50" charset="-127"/>
              <a:ea typeface="나눔고딕" panose="020D0604000000000000" pitchFamily="50" charset="-127"/>
              <a:cs typeface="산돌고딕 M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44017" y="683985"/>
            <a:ext cx="96335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Case Study : CCCC</a:t>
            </a:r>
            <a:r>
              <a:rPr lang="ko-KR" altLang="en-US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기업</a:t>
            </a:r>
            <a:endParaRPr lang="en-US" altLang="ko-KR" sz="14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29" name="TextBox 128"/>
          <p:cNvSpPr txBox="1"/>
          <p:nvPr/>
        </p:nvSpPr>
        <p:spPr>
          <a:xfrm>
            <a:off x="488504" y="991762"/>
            <a:ext cx="8928992" cy="523220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프로모션을 통한 접근을 가장 중요시한 </a:t>
            </a:r>
            <a:r>
              <a:rPr lang="ko-KR" altLang="en-US" sz="14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메인페이지를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구성하였으며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첫 페이지에서 각 상품에 대한 설명이 용이하도록 구성되어있습니다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순서도: 다중 문서 5"/>
          <p:cNvSpPr/>
          <p:nvPr/>
        </p:nvSpPr>
        <p:spPr>
          <a:xfrm>
            <a:off x="558384" y="1688116"/>
            <a:ext cx="760426" cy="906446"/>
          </a:xfrm>
          <a:prstGeom prst="flowChartMultidocument">
            <a:avLst/>
          </a:prstGeom>
          <a:solidFill>
            <a:srgbClr val="D8EBB3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HOME</a:t>
            </a:r>
            <a:endParaRPr lang="ko-KR" altLang="en-US" sz="1000" b="1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" name="순서도: 다중 문서 7"/>
          <p:cNvSpPr/>
          <p:nvPr/>
        </p:nvSpPr>
        <p:spPr>
          <a:xfrm>
            <a:off x="2121705" y="1688116"/>
            <a:ext cx="760426" cy="906446"/>
          </a:xfrm>
          <a:prstGeom prst="flowChartMultidocument">
            <a:avLst/>
          </a:prstGeom>
          <a:solidFill>
            <a:srgbClr val="CCFF33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암</a:t>
            </a:r>
            <a:endParaRPr lang="en-US" altLang="ko-KR" sz="1000" b="1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r>
              <a:rPr lang="ko-KR" altLang="en-US" sz="1000" b="1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서비스</a:t>
            </a:r>
            <a:endParaRPr lang="ko-KR" altLang="en-US" sz="1000" b="1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" name="순서도: 다중 문서 8"/>
          <p:cNvSpPr/>
          <p:nvPr/>
        </p:nvSpPr>
        <p:spPr>
          <a:xfrm>
            <a:off x="3055458" y="1688116"/>
            <a:ext cx="760426" cy="906446"/>
          </a:xfrm>
          <a:prstGeom prst="flowChartMultidocument">
            <a:avLst/>
          </a:prstGeom>
          <a:solidFill>
            <a:srgbClr val="CCFF33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 b="1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정기서비스</a:t>
            </a:r>
            <a:endParaRPr lang="ko-KR" altLang="en-US" sz="1000" b="1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" name="순서도: 다중 문서 9"/>
          <p:cNvSpPr/>
          <p:nvPr/>
        </p:nvSpPr>
        <p:spPr>
          <a:xfrm>
            <a:off x="3985005" y="1688116"/>
            <a:ext cx="760426" cy="906446"/>
          </a:xfrm>
          <a:prstGeom prst="flowChartMultidocument">
            <a:avLst/>
          </a:prstGeom>
          <a:solidFill>
            <a:srgbClr val="CCFF33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 b="1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저축서비스</a:t>
            </a:r>
            <a:endParaRPr lang="ko-KR" altLang="en-US" sz="1000" b="1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11" name="꺾인 연결선 10"/>
          <p:cNvCxnSpPr>
            <a:stCxn id="6" idx="3"/>
            <a:endCxn id="8" idx="1"/>
          </p:cNvCxnSpPr>
          <p:nvPr/>
        </p:nvCxnSpPr>
        <p:spPr>
          <a:xfrm>
            <a:off x="1318810" y="2141339"/>
            <a:ext cx="802895" cy="12700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순서도: 다중 문서 11"/>
          <p:cNvSpPr/>
          <p:nvPr/>
        </p:nvSpPr>
        <p:spPr>
          <a:xfrm>
            <a:off x="4950872" y="1688116"/>
            <a:ext cx="760426" cy="906446"/>
          </a:xfrm>
          <a:prstGeom prst="flowChartMultidocument">
            <a:avLst/>
          </a:prstGeom>
          <a:solidFill>
            <a:srgbClr val="CCFF33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 b="1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어린이서비스</a:t>
            </a:r>
            <a:endParaRPr lang="ko-KR" altLang="en-US" sz="1000" b="1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3" name="순서도: 다중 문서 12"/>
          <p:cNvSpPr/>
          <p:nvPr/>
        </p:nvSpPr>
        <p:spPr>
          <a:xfrm>
            <a:off x="5884625" y="1688116"/>
            <a:ext cx="760426" cy="906446"/>
          </a:xfrm>
          <a:prstGeom prst="flowChartMultidocument">
            <a:avLst/>
          </a:prstGeom>
          <a:solidFill>
            <a:srgbClr val="CCFF33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건강</a:t>
            </a:r>
            <a:endParaRPr lang="en-US" altLang="ko-KR" sz="1000" b="1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r>
              <a:rPr lang="ko-KR" altLang="en-US" sz="1000" b="1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출산서비스</a:t>
            </a:r>
            <a:endParaRPr lang="ko-KR" altLang="en-US" sz="1000" b="1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4" name="순서도: 다중 문서 13"/>
          <p:cNvSpPr/>
          <p:nvPr/>
        </p:nvSpPr>
        <p:spPr>
          <a:xfrm>
            <a:off x="6814172" y="1688116"/>
            <a:ext cx="760426" cy="906446"/>
          </a:xfrm>
          <a:prstGeom prst="flowChartMultidocument">
            <a:avLst/>
          </a:prstGeom>
          <a:solidFill>
            <a:srgbClr val="CCFF33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건강</a:t>
            </a:r>
            <a:endParaRPr lang="en-US" altLang="ko-KR" sz="1000" b="1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r>
              <a:rPr lang="ko-KR" altLang="en-US" sz="1000" b="1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제대서비스</a:t>
            </a:r>
            <a:endParaRPr lang="ko-KR" altLang="en-US" sz="1000" b="1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5" name="순서도: 다중 문서 14"/>
          <p:cNvSpPr/>
          <p:nvPr/>
        </p:nvSpPr>
        <p:spPr>
          <a:xfrm>
            <a:off x="7716886" y="1688116"/>
            <a:ext cx="760426" cy="906446"/>
          </a:xfrm>
          <a:prstGeom prst="flowChartMultidocument">
            <a:avLst/>
          </a:prstGeom>
          <a:solidFill>
            <a:srgbClr val="CCFF33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연금</a:t>
            </a:r>
            <a:endParaRPr lang="en-US" altLang="ko-KR" sz="1000" b="1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r>
              <a:rPr lang="ko-KR" altLang="en-US" sz="1000" b="1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저축서비스</a:t>
            </a:r>
            <a:endParaRPr lang="ko-KR" altLang="en-US" sz="1000" b="1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6" name="순서도: 다중 문서 15"/>
          <p:cNvSpPr/>
          <p:nvPr/>
        </p:nvSpPr>
        <p:spPr>
          <a:xfrm>
            <a:off x="8646433" y="1688116"/>
            <a:ext cx="760426" cy="906446"/>
          </a:xfrm>
          <a:prstGeom prst="flowChartMultidocument">
            <a:avLst/>
          </a:prstGeom>
          <a:solidFill>
            <a:srgbClr val="CCFF33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이벤트</a:t>
            </a:r>
          </a:p>
        </p:txBody>
      </p:sp>
      <p:sp>
        <p:nvSpPr>
          <p:cNvPr id="17" name="순서도: 다중 문서 16"/>
          <p:cNvSpPr/>
          <p:nvPr/>
        </p:nvSpPr>
        <p:spPr>
          <a:xfrm>
            <a:off x="527037" y="2954602"/>
            <a:ext cx="760426" cy="906446"/>
          </a:xfrm>
          <a:prstGeom prst="flowChartMultidocument">
            <a:avLst/>
          </a:prstGeom>
          <a:solidFill>
            <a:srgbClr val="FFFFCC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Direct</a:t>
            </a:r>
          </a:p>
          <a:p>
            <a:pPr algn="ctr"/>
            <a:r>
              <a:rPr lang="ko-KR" altLang="en-US" sz="1000" b="1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서비스소개</a:t>
            </a:r>
            <a:endParaRPr lang="ko-KR" altLang="en-US" sz="1000" b="1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" name="순서도: 다중 문서 17"/>
          <p:cNvSpPr/>
          <p:nvPr/>
        </p:nvSpPr>
        <p:spPr>
          <a:xfrm>
            <a:off x="1426714" y="2954602"/>
            <a:ext cx="760426" cy="906446"/>
          </a:xfrm>
          <a:prstGeom prst="flowChartMultidocument">
            <a:avLst/>
          </a:prstGeom>
          <a:solidFill>
            <a:srgbClr val="FFFFCC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 b="1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서비스상품</a:t>
            </a:r>
            <a:endParaRPr lang="ko-KR" altLang="en-US" sz="1000" b="1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9" name="순서도: 다중 문서 18"/>
          <p:cNvSpPr/>
          <p:nvPr/>
        </p:nvSpPr>
        <p:spPr>
          <a:xfrm>
            <a:off x="2330316" y="2954602"/>
            <a:ext cx="760426" cy="906446"/>
          </a:xfrm>
          <a:prstGeom prst="flowChartMultidocument">
            <a:avLst/>
          </a:prstGeom>
          <a:solidFill>
            <a:srgbClr val="FFFFCC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추천</a:t>
            </a:r>
            <a:endParaRPr lang="en-US" altLang="ko-KR" sz="1000" b="1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r>
              <a:rPr lang="ko-KR" altLang="en-US" sz="1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가입예시</a:t>
            </a:r>
          </a:p>
        </p:txBody>
      </p:sp>
      <p:sp>
        <p:nvSpPr>
          <p:cNvPr id="20" name="순서도: 다중 문서 19"/>
          <p:cNvSpPr/>
          <p:nvPr/>
        </p:nvSpPr>
        <p:spPr>
          <a:xfrm>
            <a:off x="3229993" y="2954602"/>
            <a:ext cx="760426" cy="906446"/>
          </a:xfrm>
          <a:prstGeom prst="flowChartMultidocument">
            <a:avLst/>
          </a:prstGeom>
          <a:solidFill>
            <a:srgbClr val="FFFFCC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나의</a:t>
            </a:r>
            <a:endParaRPr lang="en-US" altLang="ko-KR" sz="1000" b="1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r>
              <a:rPr lang="ko-KR" altLang="en-US" sz="1000" b="1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서비스료</a:t>
            </a:r>
            <a:endParaRPr lang="en-US" altLang="ko-KR" sz="1000" b="1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r>
              <a:rPr lang="ko-KR" altLang="en-US" sz="1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알아보기</a:t>
            </a:r>
          </a:p>
        </p:txBody>
      </p:sp>
      <p:sp>
        <p:nvSpPr>
          <p:cNvPr id="21" name="순서도: 다중 문서 20"/>
          <p:cNvSpPr/>
          <p:nvPr/>
        </p:nvSpPr>
        <p:spPr>
          <a:xfrm>
            <a:off x="4166520" y="2954602"/>
            <a:ext cx="760426" cy="906446"/>
          </a:xfrm>
          <a:prstGeom prst="flowChartMultidocument">
            <a:avLst/>
          </a:prstGeom>
          <a:solidFill>
            <a:srgbClr val="FFFFCC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고객</a:t>
            </a:r>
            <a:endParaRPr lang="en-US" altLang="ko-KR" sz="1000" b="1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r>
              <a:rPr lang="ko-KR" altLang="en-US" sz="1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상담센터</a:t>
            </a:r>
          </a:p>
        </p:txBody>
      </p:sp>
      <p:cxnSp>
        <p:nvCxnSpPr>
          <p:cNvPr id="22" name="꺾인 연결선 21"/>
          <p:cNvCxnSpPr>
            <a:stCxn id="6" idx="2"/>
            <a:endCxn id="17" idx="0"/>
          </p:cNvCxnSpPr>
          <p:nvPr/>
        </p:nvCxnSpPr>
        <p:spPr>
          <a:xfrm rot="16200000" flipH="1">
            <a:off x="725458" y="2720495"/>
            <a:ext cx="394367" cy="73845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꺾인 연결선 23"/>
          <p:cNvCxnSpPr>
            <a:stCxn id="6" idx="2"/>
            <a:endCxn id="18" idx="0"/>
          </p:cNvCxnSpPr>
          <p:nvPr/>
        </p:nvCxnSpPr>
        <p:spPr>
          <a:xfrm rot="16200000" flipH="1">
            <a:off x="1175297" y="2270657"/>
            <a:ext cx="394367" cy="973522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꺾인 연결선 26"/>
          <p:cNvCxnSpPr>
            <a:stCxn id="6" idx="2"/>
            <a:endCxn id="19" idx="0"/>
          </p:cNvCxnSpPr>
          <p:nvPr/>
        </p:nvCxnSpPr>
        <p:spPr>
          <a:xfrm rot="16200000" flipH="1">
            <a:off x="1627098" y="1818856"/>
            <a:ext cx="394367" cy="1877124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꺾인 연결선 29"/>
          <p:cNvCxnSpPr>
            <a:stCxn id="6" idx="2"/>
            <a:endCxn id="20" idx="0"/>
          </p:cNvCxnSpPr>
          <p:nvPr/>
        </p:nvCxnSpPr>
        <p:spPr>
          <a:xfrm rot="16200000" flipH="1">
            <a:off x="2076936" y="1369017"/>
            <a:ext cx="394367" cy="2776801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꺾인 연결선 32"/>
          <p:cNvCxnSpPr>
            <a:stCxn id="6" idx="2"/>
            <a:endCxn id="21" idx="0"/>
          </p:cNvCxnSpPr>
          <p:nvPr/>
        </p:nvCxnSpPr>
        <p:spPr>
          <a:xfrm rot="16200000" flipH="1">
            <a:off x="2545200" y="900754"/>
            <a:ext cx="394367" cy="3713328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직사각형 35"/>
          <p:cNvSpPr/>
          <p:nvPr/>
        </p:nvSpPr>
        <p:spPr>
          <a:xfrm>
            <a:off x="1199956" y="3983889"/>
            <a:ext cx="1040602" cy="237199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000" b="1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간편정보입력</a:t>
            </a:r>
            <a:endParaRPr lang="ko-KR" altLang="en-US" sz="1000" b="1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3" name="순서도: 다중 문서 42"/>
          <p:cNvSpPr/>
          <p:nvPr/>
        </p:nvSpPr>
        <p:spPr>
          <a:xfrm>
            <a:off x="488504" y="4610786"/>
            <a:ext cx="760426" cy="906446"/>
          </a:xfrm>
          <a:prstGeom prst="flowChartMultidocument">
            <a:avLst/>
          </a:prstGeom>
          <a:solidFill>
            <a:srgbClr val="FFFFCC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 b="1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암서비스</a:t>
            </a:r>
            <a:endParaRPr lang="ko-KR" altLang="en-US" sz="1000" b="1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4" name="순서도: 다중 문서 43"/>
          <p:cNvSpPr/>
          <p:nvPr/>
        </p:nvSpPr>
        <p:spPr>
          <a:xfrm>
            <a:off x="1422257" y="4610786"/>
            <a:ext cx="760426" cy="906446"/>
          </a:xfrm>
          <a:prstGeom prst="flowChartMultidocument">
            <a:avLst/>
          </a:prstGeom>
          <a:solidFill>
            <a:srgbClr val="FFFFCC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 b="1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정기서비스</a:t>
            </a:r>
            <a:endParaRPr lang="ko-KR" altLang="en-US" sz="1000" b="1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5" name="순서도: 다중 문서 44"/>
          <p:cNvSpPr/>
          <p:nvPr/>
        </p:nvSpPr>
        <p:spPr>
          <a:xfrm>
            <a:off x="2351804" y="4610786"/>
            <a:ext cx="760426" cy="906446"/>
          </a:xfrm>
          <a:prstGeom prst="flowChartMultidocument">
            <a:avLst/>
          </a:prstGeom>
          <a:solidFill>
            <a:srgbClr val="FFFFCC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 b="1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저축서비스</a:t>
            </a:r>
            <a:endParaRPr lang="ko-KR" altLang="en-US" sz="1000" b="1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6" name="순서도: 다중 문서 45"/>
          <p:cNvSpPr/>
          <p:nvPr/>
        </p:nvSpPr>
        <p:spPr>
          <a:xfrm>
            <a:off x="3317671" y="4610786"/>
            <a:ext cx="760426" cy="906446"/>
          </a:xfrm>
          <a:prstGeom prst="flowChartMultidocument">
            <a:avLst/>
          </a:prstGeom>
          <a:solidFill>
            <a:srgbClr val="FFFFCC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 b="1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어린이서비스</a:t>
            </a:r>
            <a:endParaRPr lang="ko-KR" altLang="en-US" sz="1000" b="1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7" name="순서도: 다중 문서 46"/>
          <p:cNvSpPr/>
          <p:nvPr/>
        </p:nvSpPr>
        <p:spPr>
          <a:xfrm>
            <a:off x="4251424" y="4610786"/>
            <a:ext cx="760426" cy="906446"/>
          </a:xfrm>
          <a:prstGeom prst="flowChartMultidocument">
            <a:avLst/>
          </a:prstGeom>
          <a:solidFill>
            <a:srgbClr val="FFFFCC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건강</a:t>
            </a:r>
            <a:endParaRPr lang="en-US" altLang="ko-KR" sz="1000" b="1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r>
              <a:rPr lang="ko-KR" altLang="en-US" sz="1000" b="1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출산서비스</a:t>
            </a:r>
            <a:endParaRPr lang="ko-KR" altLang="en-US" sz="1000" b="1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8" name="순서도: 다중 문서 47"/>
          <p:cNvSpPr/>
          <p:nvPr/>
        </p:nvSpPr>
        <p:spPr>
          <a:xfrm>
            <a:off x="5180971" y="4610786"/>
            <a:ext cx="760426" cy="906446"/>
          </a:xfrm>
          <a:prstGeom prst="flowChartMultidocument">
            <a:avLst/>
          </a:prstGeom>
          <a:solidFill>
            <a:srgbClr val="FFFFCC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건강</a:t>
            </a:r>
            <a:endParaRPr lang="en-US" altLang="ko-KR" sz="1000" b="1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r>
              <a:rPr lang="ko-KR" altLang="en-US" sz="1000" b="1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제대서비스</a:t>
            </a:r>
            <a:endParaRPr lang="ko-KR" altLang="en-US" sz="1000" b="1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9" name="순서도: 다중 문서 48"/>
          <p:cNvSpPr/>
          <p:nvPr/>
        </p:nvSpPr>
        <p:spPr>
          <a:xfrm>
            <a:off x="6083685" y="4610786"/>
            <a:ext cx="760426" cy="906446"/>
          </a:xfrm>
          <a:prstGeom prst="flowChartMultidocument">
            <a:avLst/>
          </a:prstGeom>
          <a:solidFill>
            <a:srgbClr val="FFFFCC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연금</a:t>
            </a:r>
            <a:endParaRPr lang="en-US" altLang="ko-KR" sz="1000" b="1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r>
              <a:rPr lang="ko-KR" altLang="en-US" sz="1000" b="1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저축서비스</a:t>
            </a:r>
            <a:endParaRPr lang="ko-KR" altLang="en-US" sz="1000" b="1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50" name="꺾인 연결선 49"/>
          <p:cNvCxnSpPr>
            <a:stCxn id="36" idx="2"/>
            <a:endCxn id="43" idx="0"/>
          </p:cNvCxnSpPr>
          <p:nvPr/>
        </p:nvCxnSpPr>
        <p:spPr>
          <a:xfrm rot="5400000">
            <a:off x="1125795" y="4016324"/>
            <a:ext cx="389698" cy="799226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꺾인 연결선 52"/>
          <p:cNvCxnSpPr>
            <a:stCxn id="36" idx="2"/>
            <a:endCxn id="44" idx="0"/>
          </p:cNvCxnSpPr>
          <p:nvPr/>
        </p:nvCxnSpPr>
        <p:spPr>
          <a:xfrm rot="16200000" flipH="1">
            <a:off x="1592671" y="4348673"/>
            <a:ext cx="389698" cy="134527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꺾인 연결선 55"/>
          <p:cNvCxnSpPr>
            <a:stCxn id="36" idx="2"/>
            <a:endCxn id="45" idx="0"/>
          </p:cNvCxnSpPr>
          <p:nvPr/>
        </p:nvCxnSpPr>
        <p:spPr>
          <a:xfrm rot="16200000" flipH="1">
            <a:off x="2057445" y="3883900"/>
            <a:ext cx="389698" cy="1064074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꺾인 연결선 58"/>
          <p:cNvCxnSpPr>
            <a:stCxn id="36" idx="2"/>
            <a:endCxn id="46" idx="0"/>
          </p:cNvCxnSpPr>
          <p:nvPr/>
        </p:nvCxnSpPr>
        <p:spPr>
          <a:xfrm rot="16200000" flipH="1">
            <a:off x="2540378" y="3400966"/>
            <a:ext cx="389698" cy="2029941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꺾인 연결선 61"/>
          <p:cNvCxnSpPr>
            <a:stCxn id="36" idx="2"/>
            <a:endCxn id="47" idx="0"/>
          </p:cNvCxnSpPr>
          <p:nvPr/>
        </p:nvCxnSpPr>
        <p:spPr>
          <a:xfrm rot="16200000" flipH="1">
            <a:off x="3007255" y="2934090"/>
            <a:ext cx="389698" cy="2963694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꺾인 연결선 64"/>
          <p:cNvCxnSpPr>
            <a:stCxn id="36" idx="2"/>
            <a:endCxn id="48" idx="0"/>
          </p:cNvCxnSpPr>
          <p:nvPr/>
        </p:nvCxnSpPr>
        <p:spPr>
          <a:xfrm rot="16200000" flipH="1">
            <a:off x="3472028" y="2469316"/>
            <a:ext cx="389698" cy="3893241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꺾인 연결선 67"/>
          <p:cNvCxnSpPr>
            <a:stCxn id="36" idx="2"/>
            <a:endCxn id="49" idx="0"/>
          </p:cNvCxnSpPr>
          <p:nvPr/>
        </p:nvCxnSpPr>
        <p:spPr>
          <a:xfrm rot="16200000" flipH="1">
            <a:off x="3923385" y="2017959"/>
            <a:ext cx="389698" cy="4795955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오각형 70"/>
          <p:cNvSpPr/>
          <p:nvPr/>
        </p:nvSpPr>
        <p:spPr>
          <a:xfrm>
            <a:off x="6293535" y="5949280"/>
            <a:ext cx="1675175" cy="504056"/>
          </a:xfrm>
          <a:prstGeom prst="homePlate">
            <a:avLst>
              <a:gd name="adj" fmla="val 26040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" altLang="ko-KR" sz="11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XXX</a:t>
            </a:r>
            <a:r>
              <a:rPr lang="ko-KR" altLang="en-US" sz="11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문서 확인 및</a:t>
            </a:r>
            <a:endParaRPr lang="en-US" altLang="ko-KR" sz="1100" b="1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r>
              <a:rPr lang="ko-KR" altLang="en-US" sz="1100" b="1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서비스료 </a:t>
            </a:r>
            <a:r>
              <a:rPr lang="ko-KR" altLang="en-US" sz="11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납부</a:t>
            </a:r>
            <a:endParaRPr lang="en-US" altLang="ko-KR" sz="1100" b="1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2" name="오각형 71"/>
          <p:cNvSpPr/>
          <p:nvPr/>
        </p:nvSpPr>
        <p:spPr>
          <a:xfrm>
            <a:off x="4790268" y="5949280"/>
            <a:ext cx="1675175" cy="504056"/>
          </a:xfrm>
          <a:prstGeom prst="homePlate">
            <a:avLst>
              <a:gd name="adj" fmla="val 15772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계약 전 알릴</a:t>
            </a:r>
            <a:endParaRPr lang="en-US" altLang="ko-KR" sz="1100" b="1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r>
              <a:rPr lang="ko-KR" altLang="en-US" sz="11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의무사항 작성</a:t>
            </a:r>
            <a:endParaRPr lang="en-US" altLang="ko-KR" sz="1100" b="1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3" name="오각형 72"/>
          <p:cNvSpPr/>
          <p:nvPr/>
        </p:nvSpPr>
        <p:spPr>
          <a:xfrm>
            <a:off x="3282940" y="5949280"/>
            <a:ext cx="1675175" cy="504056"/>
          </a:xfrm>
          <a:prstGeom prst="homePlate">
            <a:avLst>
              <a:gd name="adj" fmla="val 15772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개인정보 입력</a:t>
            </a:r>
            <a:endParaRPr lang="en-US" altLang="ko-KR" sz="1100" b="1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4" name="순서도: 다중 문서 73"/>
          <p:cNvSpPr/>
          <p:nvPr/>
        </p:nvSpPr>
        <p:spPr>
          <a:xfrm>
            <a:off x="2245460" y="5762914"/>
            <a:ext cx="760426" cy="906446"/>
          </a:xfrm>
          <a:prstGeom prst="flowChartMultidocument">
            <a:avLst/>
          </a:prstGeom>
          <a:solidFill>
            <a:srgbClr val="FFFFCC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 b="1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가입신청</a:t>
            </a:r>
            <a:endParaRPr lang="ko-KR" altLang="en-US" sz="1000" b="1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76" name="꺾인 연결선 75"/>
          <p:cNvCxnSpPr>
            <a:stCxn id="43" idx="2"/>
            <a:endCxn id="74" idx="0"/>
          </p:cNvCxnSpPr>
          <p:nvPr/>
        </p:nvCxnSpPr>
        <p:spPr>
          <a:xfrm rot="16200000" flipH="1">
            <a:off x="1606909" y="4691835"/>
            <a:ext cx="280009" cy="1862148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꺾인 연결선 78"/>
          <p:cNvCxnSpPr>
            <a:stCxn id="44" idx="2"/>
            <a:endCxn id="74" idx="0"/>
          </p:cNvCxnSpPr>
          <p:nvPr/>
        </p:nvCxnSpPr>
        <p:spPr>
          <a:xfrm rot="16200000" flipH="1">
            <a:off x="2073785" y="5158711"/>
            <a:ext cx="280009" cy="928395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꺾인 연결선 81"/>
          <p:cNvCxnSpPr>
            <a:stCxn id="45" idx="2"/>
            <a:endCxn id="74" idx="0"/>
          </p:cNvCxnSpPr>
          <p:nvPr/>
        </p:nvCxnSpPr>
        <p:spPr>
          <a:xfrm rot="5400000">
            <a:off x="2538559" y="5622333"/>
            <a:ext cx="280009" cy="1152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꺾인 연결선 84"/>
          <p:cNvCxnSpPr>
            <a:stCxn id="46" idx="2"/>
            <a:endCxn id="74" idx="0"/>
          </p:cNvCxnSpPr>
          <p:nvPr/>
        </p:nvCxnSpPr>
        <p:spPr>
          <a:xfrm rot="5400000">
            <a:off x="3021493" y="5139400"/>
            <a:ext cx="280009" cy="967019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꺾인 연결선 87"/>
          <p:cNvCxnSpPr>
            <a:stCxn id="47" idx="2"/>
            <a:endCxn id="74" idx="0"/>
          </p:cNvCxnSpPr>
          <p:nvPr/>
        </p:nvCxnSpPr>
        <p:spPr>
          <a:xfrm rot="5400000">
            <a:off x="3488369" y="4672523"/>
            <a:ext cx="280009" cy="1900772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꺾인 연결선 90"/>
          <p:cNvCxnSpPr>
            <a:stCxn id="48" idx="2"/>
            <a:endCxn id="74" idx="0"/>
          </p:cNvCxnSpPr>
          <p:nvPr/>
        </p:nvCxnSpPr>
        <p:spPr>
          <a:xfrm rot="5400000">
            <a:off x="3953143" y="4207750"/>
            <a:ext cx="280009" cy="2830319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꺾인 연결선 93"/>
          <p:cNvCxnSpPr>
            <a:stCxn id="49" idx="2"/>
            <a:endCxn id="74" idx="0"/>
          </p:cNvCxnSpPr>
          <p:nvPr/>
        </p:nvCxnSpPr>
        <p:spPr>
          <a:xfrm rot="5400000">
            <a:off x="4404500" y="3756393"/>
            <a:ext cx="280009" cy="3733033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직사각형 96"/>
          <p:cNvSpPr/>
          <p:nvPr/>
        </p:nvSpPr>
        <p:spPr>
          <a:xfrm>
            <a:off x="6645051" y="2924944"/>
            <a:ext cx="2707256" cy="690422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50000"/>
              </a:lnSpc>
            </a:pPr>
            <a:r>
              <a:rPr lang="ko-KR" altLang="en-US" sz="1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서   </a:t>
            </a:r>
            <a:r>
              <a:rPr lang="ko-KR" altLang="en-US" sz="1000" b="1" dirty="0" err="1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버</a:t>
            </a:r>
            <a:r>
              <a:rPr lang="ko-KR" altLang="en-US" sz="1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1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1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서브도메인으로 구성</a:t>
            </a:r>
            <a:endParaRPr lang="en-US" altLang="ko-KR" sz="1000" b="1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사이트 </a:t>
            </a:r>
            <a:r>
              <a:rPr lang="en-US" altLang="ko-KR" sz="1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1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개별 웹사이트로 구성</a:t>
            </a:r>
          </a:p>
        </p:txBody>
      </p:sp>
    </p:spTree>
    <p:extLst>
      <p:ext uri="{BB962C8B-B14F-4D97-AF65-F5344CB8AC3E}">
        <p14:creationId xmlns:p14="http://schemas.microsoft.com/office/powerpoint/2010/main" val="24027009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7" name="직선 연결선 56"/>
          <p:cNvCxnSpPr/>
          <p:nvPr/>
        </p:nvCxnSpPr>
        <p:spPr>
          <a:xfrm>
            <a:off x="1720257" y="2293536"/>
            <a:ext cx="0" cy="76061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44017" y="91339"/>
            <a:ext cx="7401271" cy="385333"/>
          </a:xfrm>
          <a:prstGeom prst="rect">
            <a:avLst/>
          </a:prstGeom>
          <a:noFill/>
        </p:spPr>
        <p:txBody>
          <a:bodyPr wrap="square" lIns="0" tIns="53643" rIns="0" bIns="53643" rtlCol="0">
            <a:spAutoFit/>
          </a:bodyPr>
          <a:lstStyle/>
          <a:p>
            <a:r>
              <a:rPr kumimoji="1" lang="en-US" altLang="ko-KR" b="1" kern="0" dirty="0">
                <a:latin typeface="나눔고딕" panose="020D0604000000000000" pitchFamily="50" charset="-127"/>
                <a:ea typeface="나눔고딕" panose="020D0604000000000000" pitchFamily="50" charset="-127"/>
                <a:cs typeface="산돌고딕 M"/>
              </a:rPr>
              <a:t>Information architecture</a:t>
            </a:r>
            <a:endParaRPr kumimoji="1" lang="ko-KR" altLang="en-US" b="1" kern="0" dirty="0">
              <a:latin typeface="나눔고딕" panose="020D0604000000000000" pitchFamily="50" charset="-127"/>
              <a:ea typeface="나눔고딕" panose="020D0604000000000000" pitchFamily="50" charset="-127"/>
              <a:cs typeface="산돌고딕 M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44017" y="683985"/>
            <a:ext cx="96335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Case Study : DDDD</a:t>
            </a:r>
            <a:r>
              <a:rPr lang="ko-KR" altLang="en-US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기업</a:t>
            </a:r>
            <a:endParaRPr lang="en-US" altLang="ko-KR" sz="14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29" name="TextBox 128"/>
          <p:cNvSpPr txBox="1"/>
          <p:nvPr/>
        </p:nvSpPr>
        <p:spPr>
          <a:xfrm>
            <a:off x="488504" y="991762"/>
            <a:ext cx="8928992" cy="523220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‘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기업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’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의 디자인 가이드라인을 토대로 접속사이트를 별도로 두고 있으며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별도의 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‘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설계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’ 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메뉴로 사용자의 접근을 유도하고 있습니다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4" name="순서도: 다중 문서 53"/>
          <p:cNvSpPr/>
          <p:nvPr/>
        </p:nvSpPr>
        <p:spPr>
          <a:xfrm>
            <a:off x="1318810" y="1688116"/>
            <a:ext cx="760426" cy="906446"/>
          </a:xfrm>
          <a:prstGeom prst="flowChartMultidocument">
            <a:avLst/>
          </a:prstGeom>
          <a:solidFill>
            <a:srgbClr val="D8EBB3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HOME</a:t>
            </a:r>
            <a:endParaRPr lang="ko-KR" altLang="en-US" sz="1000" b="1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5" name="순서도: 다중 문서 54"/>
          <p:cNvSpPr/>
          <p:nvPr/>
        </p:nvSpPr>
        <p:spPr>
          <a:xfrm>
            <a:off x="1318810" y="2852936"/>
            <a:ext cx="760426" cy="906446"/>
          </a:xfrm>
          <a:prstGeom prst="flowChartMultidocument">
            <a:avLst/>
          </a:prstGeom>
          <a:solidFill>
            <a:schemeClr val="accent5">
              <a:lumMod val="40000"/>
              <a:lumOff val="6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ZERO</a:t>
            </a:r>
          </a:p>
          <a:p>
            <a:pPr algn="ctr"/>
            <a:r>
              <a:rPr lang="en-US" altLang="ko-KR" sz="1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HOME</a:t>
            </a:r>
            <a:endParaRPr lang="ko-KR" altLang="en-US" sz="1000" b="1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" name="오른쪽 화살표 1"/>
          <p:cNvSpPr/>
          <p:nvPr/>
        </p:nvSpPr>
        <p:spPr>
          <a:xfrm>
            <a:off x="2288704" y="1933496"/>
            <a:ext cx="144016" cy="271368"/>
          </a:xfrm>
          <a:prstGeom prst="rightArrow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0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576736" y="1539369"/>
            <a:ext cx="1338828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85725" indent="-85725">
              <a:buFont typeface="Arial" pitchFamily="34" charset="0"/>
              <a:buChar char="•"/>
            </a:pP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각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상품으로의 접근</a:t>
            </a:r>
            <a:endParaRPr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85725" indent="-85725">
              <a:buFont typeface="Arial" pitchFamily="34" charset="0"/>
              <a:buChar char="•"/>
            </a:pP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스토리</a:t>
            </a:r>
            <a:endParaRPr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85725" indent="-85725">
              <a:buFont typeface="Arial" pitchFamily="34" charset="0"/>
              <a:buChar char="•"/>
            </a:pP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상품안내장 신청</a:t>
            </a:r>
            <a:endParaRPr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85725" indent="-85725">
              <a:buFont typeface="Arial" pitchFamily="34" charset="0"/>
              <a:buChar char="•"/>
            </a:pP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빠른 전화 상담 예약</a:t>
            </a:r>
            <a:endParaRPr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85725" indent="-85725">
              <a:buFont typeface="Arial" pitchFamily="34" charset="0"/>
              <a:buChar char="•"/>
            </a:pP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가입 진행상황</a:t>
            </a:r>
            <a:endParaRPr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85725" indent="-85725">
              <a:buFont typeface="Arial" pitchFamily="34" charset="0"/>
              <a:buChar char="•"/>
            </a:pP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고객센터</a:t>
            </a:r>
            <a:endParaRPr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85725" indent="-85725">
              <a:buFont typeface="Arial" pitchFamily="34" charset="0"/>
              <a:buChar char="•"/>
            </a:pPr>
            <a:r>
              <a:rPr lang="ko-KR" altLang="en-US" sz="1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마이페이지</a:t>
            </a:r>
            <a:endParaRPr lang="ko-KR" altLang="en-US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8" name="순서도: 다중 문서 57"/>
          <p:cNvSpPr/>
          <p:nvPr/>
        </p:nvSpPr>
        <p:spPr>
          <a:xfrm>
            <a:off x="4917881" y="3920364"/>
            <a:ext cx="760426" cy="906446"/>
          </a:xfrm>
          <a:prstGeom prst="flowChartMultidocument">
            <a:avLst/>
          </a:prstGeom>
          <a:solidFill>
            <a:srgbClr val="FFFFCC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ZERO</a:t>
            </a:r>
          </a:p>
          <a:p>
            <a:pPr algn="ctr"/>
            <a:r>
              <a:rPr lang="ko-KR" altLang="en-US" sz="1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스토리</a:t>
            </a:r>
          </a:p>
        </p:txBody>
      </p:sp>
      <p:sp>
        <p:nvSpPr>
          <p:cNvPr id="60" name="순서도: 다중 문서 59"/>
          <p:cNvSpPr/>
          <p:nvPr/>
        </p:nvSpPr>
        <p:spPr>
          <a:xfrm>
            <a:off x="5817558" y="3920364"/>
            <a:ext cx="760426" cy="906446"/>
          </a:xfrm>
          <a:prstGeom prst="flowChartMultidocument">
            <a:avLst/>
          </a:prstGeom>
          <a:solidFill>
            <a:srgbClr val="FFFFCC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상품</a:t>
            </a:r>
          </a:p>
        </p:txBody>
      </p:sp>
      <p:sp>
        <p:nvSpPr>
          <p:cNvPr id="61" name="순서도: 다중 문서 60"/>
          <p:cNvSpPr/>
          <p:nvPr/>
        </p:nvSpPr>
        <p:spPr>
          <a:xfrm>
            <a:off x="6721160" y="3920364"/>
            <a:ext cx="760426" cy="906446"/>
          </a:xfrm>
          <a:prstGeom prst="flowChartMultidocument">
            <a:avLst/>
          </a:prstGeom>
          <a:solidFill>
            <a:srgbClr val="FFFFCC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설계</a:t>
            </a:r>
          </a:p>
        </p:txBody>
      </p:sp>
      <p:sp>
        <p:nvSpPr>
          <p:cNvPr id="63" name="순서도: 다중 문서 62"/>
          <p:cNvSpPr/>
          <p:nvPr/>
        </p:nvSpPr>
        <p:spPr>
          <a:xfrm>
            <a:off x="7620837" y="3920364"/>
            <a:ext cx="760426" cy="906446"/>
          </a:xfrm>
          <a:prstGeom prst="flowChartMultidocument">
            <a:avLst/>
          </a:prstGeom>
          <a:solidFill>
            <a:srgbClr val="FFFFCC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고객센터</a:t>
            </a:r>
          </a:p>
        </p:txBody>
      </p:sp>
      <p:sp>
        <p:nvSpPr>
          <p:cNvPr id="64" name="순서도: 다중 문서 63"/>
          <p:cNvSpPr/>
          <p:nvPr/>
        </p:nvSpPr>
        <p:spPr>
          <a:xfrm>
            <a:off x="8557364" y="3920364"/>
            <a:ext cx="760426" cy="906446"/>
          </a:xfrm>
          <a:prstGeom prst="flowChartMultidocument">
            <a:avLst/>
          </a:prstGeom>
          <a:solidFill>
            <a:srgbClr val="FFFFCC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마이</a:t>
            </a:r>
            <a:endParaRPr lang="en-US" altLang="ko-KR" sz="1000" b="1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r>
              <a:rPr lang="ko-KR" altLang="en-US" sz="1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페이지</a:t>
            </a:r>
          </a:p>
        </p:txBody>
      </p:sp>
      <p:cxnSp>
        <p:nvCxnSpPr>
          <p:cNvPr id="66" name="꺾인 연결선 65"/>
          <p:cNvCxnSpPr>
            <a:stCxn id="55" idx="2"/>
            <a:endCxn id="64" idx="0"/>
          </p:cNvCxnSpPr>
          <p:nvPr/>
        </p:nvCxnSpPr>
        <p:spPr>
          <a:xfrm rot="16200000" flipH="1">
            <a:off x="5220364" y="150836"/>
            <a:ext cx="195309" cy="7343746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꺾인 연결선 66"/>
          <p:cNvCxnSpPr>
            <a:stCxn id="55" idx="2"/>
            <a:endCxn id="63" idx="0"/>
          </p:cNvCxnSpPr>
          <p:nvPr/>
        </p:nvCxnSpPr>
        <p:spPr>
          <a:xfrm rot="16200000" flipH="1">
            <a:off x="4752100" y="619099"/>
            <a:ext cx="195309" cy="6407219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꺾인 연결선 68"/>
          <p:cNvCxnSpPr>
            <a:stCxn id="55" idx="2"/>
            <a:endCxn id="61" idx="0"/>
          </p:cNvCxnSpPr>
          <p:nvPr/>
        </p:nvCxnSpPr>
        <p:spPr>
          <a:xfrm rot="16200000" flipH="1">
            <a:off x="4302262" y="1068938"/>
            <a:ext cx="195309" cy="5507542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꺾인 연결선 74"/>
          <p:cNvCxnSpPr>
            <a:stCxn id="55" idx="2"/>
            <a:endCxn id="60" idx="0"/>
          </p:cNvCxnSpPr>
          <p:nvPr/>
        </p:nvCxnSpPr>
        <p:spPr>
          <a:xfrm rot="16200000" flipH="1">
            <a:off x="3850461" y="1520739"/>
            <a:ext cx="195309" cy="4603940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꺾인 연결선 76"/>
          <p:cNvCxnSpPr>
            <a:stCxn id="55" idx="2"/>
            <a:endCxn id="58" idx="0"/>
          </p:cNvCxnSpPr>
          <p:nvPr/>
        </p:nvCxnSpPr>
        <p:spPr>
          <a:xfrm rot="16200000" flipH="1">
            <a:off x="3400622" y="1970577"/>
            <a:ext cx="195309" cy="3704263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순서도: 다중 문서 83"/>
          <p:cNvSpPr/>
          <p:nvPr/>
        </p:nvSpPr>
        <p:spPr>
          <a:xfrm>
            <a:off x="632520" y="5186850"/>
            <a:ext cx="760426" cy="906446"/>
          </a:xfrm>
          <a:prstGeom prst="flowChartMultidocument">
            <a:avLst/>
          </a:prstGeom>
          <a:solidFill>
            <a:srgbClr val="FFFFCC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 b="1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종신서비스</a:t>
            </a:r>
            <a:endParaRPr lang="ko-KR" altLang="en-US" sz="1000" b="1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6" name="순서도: 다중 문서 85"/>
          <p:cNvSpPr/>
          <p:nvPr/>
        </p:nvSpPr>
        <p:spPr>
          <a:xfrm>
            <a:off x="1571509" y="5186850"/>
            <a:ext cx="760426" cy="906446"/>
          </a:xfrm>
          <a:prstGeom prst="flowChartMultidocument">
            <a:avLst/>
          </a:prstGeom>
          <a:solidFill>
            <a:srgbClr val="FFFFCC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 b="1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정기서비스</a:t>
            </a:r>
            <a:endParaRPr lang="ko-KR" altLang="en-US" sz="1000" b="1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7" name="순서도: 다중 문서 86"/>
          <p:cNvSpPr/>
          <p:nvPr/>
        </p:nvSpPr>
        <p:spPr>
          <a:xfrm>
            <a:off x="2501399" y="5186850"/>
            <a:ext cx="760426" cy="906446"/>
          </a:xfrm>
          <a:prstGeom prst="flowChartMultidocument">
            <a:avLst/>
          </a:prstGeom>
          <a:solidFill>
            <a:srgbClr val="FFFFCC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 b="1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암서비스</a:t>
            </a:r>
            <a:endParaRPr lang="ko-KR" altLang="en-US" sz="1000" b="1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9" name="순서도: 다중 문서 88"/>
          <p:cNvSpPr/>
          <p:nvPr/>
        </p:nvSpPr>
        <p:spPr>
          <a:xfrm>
            <a:off x="3440388" y="5186850"/>
            <a:ext cx="760426" cy="906446"/>
          </a:xfrm>
          <a:prstGeom prst="flowChartMultidocument">
            <a:avLst/>
          </a:prstGeom>
          <a:solidFill>
            <a:srgbClr val="FFFFCC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5</a:t>
            </a:r>
            <a:r>
              <a:rPr lang="ko-KR" altLang="en-US" sz="1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대</a:t>
            </a:r>
            <a:endParaRPr lang="en-US" altLang="ko-KR" sz="1000" b="1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r>
              <a:rPr lang="ko-KR" altLang="en-US" sz="1000" b="1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성인병서비스</a:t>
            </a:r>
            <a:endParaRPr lang="ko-KR" altLang="en-US" sz="1000" b="1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0" name="순서도: 다중 문서 89"/>
          <p:cNvSpPr/>
          <p:nvPr/>
        </p:nvSpPr>
        <p:spPr>
          <a:xfrm>
            <a:off x="4370842" y="5186850"/>
            <a:ext cx="760426" cy="906446"/>
          </a:xfrm>
          <a:prstGeom prst="flowChartMultidocument">
            <a:avLst/>
          </a:prstGeom>
          <a:solidFill>
            <a:srgbClr val="FFFFCC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 b="1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어린이서비스</a:t>
            </a:r>
            <a:endParaRPr lang="ko-KR" altLang="en-US" sz="1000" b="1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2" name="순서도: 다중 문서 91"/>
          <p:cNvSpPr/>
          <p:nvPr/>
        </p:nvSpPr>
        <p:spPr>
          <a:xfrm>
            <a:off x="5309831" y="5186850"/>
            <a:ext cx="760426" cy="906446"/>
          </a:xfrm>
          <a:prstGeom prst="flowChartMultidocument">
            <a:avLst/>
          </a:prstGeom>
          <a:solidFill>
            <a:srgbClr val="FFFFCC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 b="1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사고서비스</a:t>
            </a:r>
            <a:endParaRPr lang="ko-KR" altLang="en-US" sz="1000" b="1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93" name="꺾인 연결선 92"/>
          <p:cNvCxnSpPr>
            <a:stCxn id="60" idx="2"/>
            <a:endCxn id="84" idx="0"/>
          </p:cNvCxnSpPr>
          <p:nvPr/>
        </p:nvCxnSpPr>
        <p:spPr>
          <a:xfrm rot="5400000">
            <a:off x="3407787" y="2449743"/>
            <a:ext cx="394367" cy="5079846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꺾인 연결선 94"/>
          <p:cNvCxnSpPr>
            <a:stCxn id="60" idx="2"/>
            <a:endCxn id="86" idx="0"/>
          </p:cNvCxnSpPr>
          <p:nvPr/>
        </p:nvCxnSpPr>
        <p:spPr>
          <a:xfrm rot="5400000">
            <a:off x="3877282" y="2919238"/>
            <a:ext cx="394367" cy="4140857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꺾인 연결선 97"/>
          <p:cNvCxnSpPr>
            <a:stCxn id="60" idx="2"/>
            <a:endCxn id="87" idx="0"/>
          </p:cNvCxnSpPr>
          <p:nvPr/>
        </p:nvCxnSpPr>
        <p:spPr>
          <a:xfrm rot="5400000">
            <a:off x="4342227" y="3384183"/>
            <a:ext cx="394367" cy="3210967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꺾인 연결선 100"/>
          <p:cNvCxnSpPr>
            <a:stCxn id="60" idx="2"/>
            <a:endCxn id="89" idx="0"/>
          </p:cNvCxnSpPr>
          <p:nvPr/>
        </p:nvCxnSpPr>
        <p:spPr>
          <a:xfrm rot="5400000">
            <a:off x="4811721" y="3853677"/>
            <a:ext cx="394367" cy="2271978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꺾인 연결선 103"/>
          <p:cNvCxnSpPr>
            <a:stCxn id="60" idx="2"/>
            <a:endCxn id="90" idx="0"/>
          </p:cNvCxnSpPr>
          <p:nvPr/>
        </p:nvCxnSpPr>
        <p:spPr>
          <a:xfrm rot="5400000">
            <a:off x="5276948" y="4318904"/>
            <a:ext cx="394367" cy="1341524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꺾인 연결선 107"/>
          <p:cNvCxnSpPr>
            <a:stCxn id="60" idx="2"/>
            <a:endCxn id="92" idx="0"/>
          </p:cNvCxnSpPr>
          <p:nvPr/>
        </p:nvCxnSpPr>
        <p:spPr>
          <a:xfrm rot="5400000">
            <a:off x="5746443" y="4788399"/>
            <a:ext cx="394367" cy="402535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꺾인 연결선 110"/>
          <p:cNvCxnSpPr>
            <a:stCxn id="61" idx="2"/>
            <a:endCxn id="84" idx="2"/>
          </p:cNvCxnSpPr>
          <p:nvPr/>
        </p:nvCxnSpPr>
        <p:spPr>
          <a:xfrm rot="5400000">
            <a:off x="3370932" y="2381406"/>
            <a:ext cx="1266486" cy="6088640"/>
          </a:xfrm>
          <a:prstGeom prst="bentConnector3">
            <a:avLst>
              <a:gd name="adj1" fmla="val 12076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꺾인 연결선 113"/>
          <p:cNvCxnSpPr>
            <a:stCxn id="61" idx="2"/>
            <a:endCxn id="86" idx="2"/>
          </p:cNvCxnSpPr>
          <p:nvPr/>
        </p:nvCxnSpPr>
        <p:spPr>
          <a:xfrm rot="5400000">
            <a:off x="3840427" y="2850901"/>
            <a:ext cx="1266486" cy="5149651"/>
          </a:xfrm>
          <a:prstGeom prst="bentConnector3">
            <a:avLst>
              <a:gd name="adj1" fmla="val 12076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꺾인 연결선 116"/>
          <p:cNvCxnSpPr>
            <a:stCxn id="61" idx="2"/>
            <a:endCxn id="87" idx="2"/>
          </p:cNvCxnSpPr>
          <p:nvPr/>
        </p:nvCxnSpPr>
        <p:spPr>
          <a:xfrm rot="5400000">
            <a:off x="4305372" y="3315846"/>
            <a:ext cx="1266486" cy="4219761"/>
          </a:xfrm>
          <a:prstGeom prst="bentConnector3">
            <a:avLst>
              <a:gd name="adj1" fmla="val 12076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꺾인 연결선 119"/>
          <p:cNvCxnSpPr>
            <a:stCxn id="61" idx="2"/>
            <a:endCxn id="89" idx="2"/>
          </p:cNvCxnSpPr>
          <p:nvPr/>
        </p:nvCxnSpPr>
        <p:spPr>
          <a:xfrm rot="5400000">
            <a:off x="4774866" y="3785340"/>
            <a:ext cx="1266486" cy="3280772"/>
          </a:xfrm>
          <a:prstGeom prst="bentConnector3">
            <a:avLst>
              <a:gd name="adj1" fmla="val 12076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꺾인 연결선 122"/>
          <p:cNvCxnSpPr>
            <a:stCxn id="61" idx="2"/>
            <a:endCxn id="90" idx="2"/>
          </p:cNvCxnSpPr>
          <p:nvPr/>
        </p:nvCxnSpPr>
        <p:spPr>
          <a:xfrm rot="5400000">
            <a:off x="5240093" y="4250567"/>
            <a:ext cx="1266486" cy="2350318"/>
          </a:xfrm>
          <a:prstGeom prst="bentConnector3">
            <a:avLst>
              <a:gd name="adj1" fmla="val 12076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꺾인 연결선 125"/>
          <p:cNvCxnSpPr>
            <a:stCxn id="61" idx="2"/>
            <a:endCxn id="92" idx="2"/>
          </p:cNvCxnSpPr>
          <p:nvPr/>
        </p:nvCxnSpPr>
        <p:spPr>
          <a:xfrm rot="5400000">
            <a:off x="5709588" y="4720062"/>
            <a:ext cx="1266486" cy="1411329"/>
          </a:xfrm>
          <a:prstGeom prst="bentConnector3">
            <a:avLst>
              <a:gd name="adj1" fmla="val 120760"/>
            </a:avLst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" name="오각형 129"/>
          <p:cNvSpPr/>
          <p:nvPr/>
        </p:nvSpPr>
        <p:spPr>
          <a:xfrm>
            <a:off x="7941574" y="2996952"/>
            <a:ext cx="1715440" cy="504056"/>
          </a:xfrm>
          <a:prstGeom prst="homePlat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" altLang="ko-KR" sz="11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XXX</a:t>
            </a:r>
            <a:r>
              <a:rPr lang="ko-KR" altLang="en-US" sz="11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문서 확인 및</a:t>
            </a:r>
            <a:endParaRPr lang="en-US" altLang="ko-KR" sz="1100" b="1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r>
              <a:rPr lang="ko-KR" altLang="en-US" sz="1100" b="1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서비스료 </a:t>
            </a:r>
            <a:r>
              <a:rPr lang="ko-KR" altLang="en-US" sz="11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납부</a:t>
            </a:r>
            <a:endParaRPr lang="en-US" altLang="ko-KR" sz="1100" b="1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31" name="오각형 130"/>
          <p:cNvSpPr/>
          <p:nvPr/>
        </p:nvSpPr>
        <p:spPr>
          <a:xfrm>
            <a:off x="6398017" y="2996952"/>
            <a:ext cx="1715440" cy="504056"/>
          </a:xfrm>
          <a:prstGeom prst="homePlat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 err="1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계약전</a:t>
            </a:r>
            <a:r>
              <a:rPr lang="ko-KR" altLang="en-US" sz="11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알릴 의무 작성</a:t>
            </a:r>
            <a:endParaRPr lang="en-US" altLang="ko-KR" sz="1100" b="1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32" name="오각형 131"/>
          <p:cNvSpPr/>
          <p:nvPr/>
        </p:nvSpPr>
        <p:spPr>
          <a:xfrm>
            <a:off x="4858617" y="2996952"/>
            <a:ext cx="1715440" cy="504056"/>
          </a:xfrm>
          <a:prstGeom prst="homePlat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가입설계서 확인</a:t>
            </a:r>
            <a:endParaRPr lang="en-US" altLang="ko-KR" sz="1100" b="1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33" name="오각형 132"/>
          <p:cNvSpPr/>
          <p:nvPr/>
        </p:nvSpPr>
        <p:spPr>
          <a:xfrm>
            <a:off x="3315059" y="2996952"/>
            <a:ext cx="1715440" cy="504056"/>
          </a:xfrm>
          <a:prstGeom prst="homePlat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고객정보입력 및</a:t>
            </a:r>
            <a:endParaRPr lang="en-US" altLang="ko-KR" sz="1100" b="1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r>
              <a:rPr lang="ko-KR" altLang="en-US" sz="11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제공동의</a:t>
            </a:r>
            <a:endParaRPr lang="en-US" altLang="ko-KR" sz="1100" b="1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34" name="직사각형 133"/>
          <p:cNvSpPr/>
          <p:nvPr/>
        </p:nvSpPr>
        <p:spPr>
          <a:xfrm>
            <a:off x="6825208" y="1658458"/>
            <a:ext cx="2707256" cy="690422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50000"/>
              </a:lnSpc>
            </a:pPr>
            <a:r>
              <a:rPr lang="ko-KR" altLang="en-US" sz="1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서   </a:t>
            </a:r>
            <a:r>
              <a:rPr lang="ko-KR" altLang="en-US" sz="1000" b="1" dirty="0" err="1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버</a:t>
            </a:r>
            <a:r>
              <a:rPr lang="ko-KR" altLang="en-US" sz="1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1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1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독립도메인으로 구성</a:t>
            </a:r>
            <a:endParaRPr lang="en-US" altLang="ko-KR" sz="1000" b="1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사이트 </a:t>
            </a:r>
            <a:r>
              <a:rPr lang="en-US" altLang="ko-KR" sz="1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1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개별 웹사이트로 구성</a:t>
            </a:r>
          </a:p>
        </p:txBody>
      </p:sp>
    </p:spTree>
    <p:extLst>
      <p:ext uri="{BB962C8B-B14F-4D97-AF65-F5344CB8AC3E}">
        <p14:creationId xmlns:p14="http://schemas.microsoft.com/office/powerpoint/2010/main" val="16905896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44017" y="91339"/>
            <a:ext cx="7401271" cy="385333"/>
          </a:xfrm>
          <a:prstGeom prst="rect">
            <a:avLst/>
          </a:prstGeom>
          <a:noFill/>
        </p:spPr>
        <p:txBody>
          <a:bodyPr wrap="square" lIns="0" tIns="53643" rIns="0" bIns="53643" rtlCol="0">
            <a:spAutoFit/>
          </a:bodyPr>
          <a:lstStyle/>
          <a:p>
            <a:r>
              <a:rPr kumimoji="1" lang="en-US" altLang="ko-KR" b="1" kern="0" dirty="0">
                <a:latin typeface="나눔고딕" panose="020D0604000000000000" pitchFamily="50" charset="-127"/>
                <a:ea typeface="나눔고딕" panose="020D0604000000000000" pitchFamily="50" charset="-127"/>
                <a:cs typeface="산돌고딕 M"/>
              </a:rPr>
              <a:t>Information architecture</a:t>
            </a:r>
            <a:endParaRPr kumimoji="1" lang="ko-KR" altLang="en-US" b="1" kern="0" dirty="0">
              <a:latin typeface="나눔고딕" panose="020D0604000000000000" pitchFamily="50" charset="-127"/>
              <a:ea typeface="나눔고딕" panose="020D0604000000000000" pitchFamily="50" charset="-127"/>
              <a:cs typeface="산돌고딕 M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44017" y="683985"/>
            <a:ext cx="96335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Case Study :</a:t>
            </a:r>
            <a:r>
              <a:rPr lang="ko-KR" altLang="en-US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시사점</a:t>
            </a:r>
            <a:endParaRPr lang="en-US" altLang="ko-KR" sz="14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29" name="TextBox 128"/>
          <p:cNvSpPr txBox="1"/>
          <p:nvPr/>
        </p:nvSpPr>
        <p:spPr>
          <a:xfrm>
            <a:off x="488504" y="991762"/>
            <a:ext cx="8928992" cy="307777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경쟁사 현황분석을 통하여 심도 깊은 결과를 얻을 수 있습니다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3" name="Rectangle 16"/>
          <p:cNvSpPr>
            <a:spLocks noChangeArrowheads="1"/>
          </p:cNvSpPr>
          <p:nvPr/>
        </p:nvSpPr>
        <p:spPr bwMode="auto">
          <a:xfrm>
            <a:off x="7567612" y="2348860"/>
            <a:ext cx="2065907" cy="351313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lIns="86400" rIns="36000"/>
          <a:lstStyle/>
          <a:p>
            <a:pPr marL="174625" indent="-174625" fontAlgn="ctr" latinLnBrk="0">
              <a:lnSpc>
                <a:spcPts val="1700"/>
              </a:lnSpc>
              <a:spcBef>
                <a:spcPct val="2000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kumimoji="0" lang="ko-KR" altLang="en-US" sz="1100" kern="0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단순화된 화면구성 및 고객중심의 카테고리 구성</a:t>
            </a:r>
            <a:endParaRPr kumimoji="0" lang="en-US" altLang="ko-KR" sz="1100" kern="0" dirty="0">
              <a:solidFill>
                <a:srgbClr val="0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74625" indent="-174625" fontAlgn="ctr" latinLnBrk="0">
              <a:lnSpc>
                <a:spcPts val="1700"/>
              </a:lnSpc>
              <a:spcBef>
                <a:spcPct val="2000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kumimoji="0" lang="ko-KR" altLang="en-US" sz="1100" kern="0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사용자의 관심을 유도할 수 있는 </a:t>
            </a:r>
            <a:r>
              <a:rPr kumimoji="0" lang="en-US" altLang="ko-KR" sz="1100" kern="0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Infographic </a:t>
            </a:r>
            <a:r>
              <a:rPr kumimoji="0" lang="ko-KR" altLang="en-US" sz="1100" kern="0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을 활용</a:t>
            </a:r>
            <a:r>
              <a:rPr kumimoji="0" lang="en-US" altLang="ko-KR" sz="1100" kern="0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kumimoji="0" lang="ko-KR" altLang="en-US" sz="1100" kern="0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기업 이미지 유지</a:t>
            </a:r>
            <a:endParaRPr kumimoji="0" lang="en-US" altLang="ko-KR" sz="1100" kern="0" dirty="0">
              <a:solidFill>
                <a:srgbClr val="0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74625" indent="-174625" fontAlgn="ctr" latinLnBrk="0">
              <a:lnSpc>
                <a:spcPts val="1700"/>
              </a:lnSpc>
              <a:spcBef>
                <a:spcPct val="2000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ko-KR" altLang="en-US" sz="1100" kern="0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사용자의 편의성을 위한 정보구조 설계와 가입을 단순화 시키며</a:t>
            </a:r>
            <a:r>
              <a:rPr lang="en-US" altLang="ko-KR" sz="1100" kern="0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100" kern="0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불편함을 최소화 </a:t>
            </a:r>
            <a:endParaRPr lang="en-US" altLang="ko-KR" sz="1100" kern="0" dirty="0">
              <a:solidFill>
                <a:srgbClr val="0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74625" indent="-174625" fontAlgn="ctr" latinLnBrk="0">
              <a:lnSpc>
                <a:spcPts val="1700"/>
              </a:lnSpc>
              <a:spcBef>
                <a:spcPct val="2000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ko-KR" altLang="en-US" sz="1100" kern="0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서브</a:t>
            </a:r>
            <a:r>
              <a:rPr lang="en-US" altLang="ko-KR" sz="1100" kern="0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</a:t>
            </a:r>
            <a:r>
              <a:rPr lang="ko-KR" altLang="en-US" sz="1100" kern="0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독립 도메인을 활용하여 별도의 독자적인 온라인 </a:t>
            </a:r>
            <a:r>
              <a:rPr lang="ko-KR" altLang="en-US" sz="1100" kern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채널로 서비스 </a:t>
            </a:r>
            <a:r>
              <a:rPr lang="ko-KR" altLang="en-US" sz="1100" kern="0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구현</a:t>
            </a:r>
            <a:endParaRPr lang="en-US" altLang="ko-KR" sz="1100" kern="0" dirty="0">
              <a:solidFill>
                <a:srgbClr val="0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74625" indent="-174625" fontAlgn="ctr" latinLnBrk="0">
              <a:lnSpc>
                <a:spcPts val="1700"/>
              </a:lnSpc>
              <a:spcBef>
                <a:spcPct val="2000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endParaRPr kumimoji="0" lang="en-US" altLang="ko-KR" sz="1100" kern="0" dirty="0">
              <a:solidFill>
                <a:srgbClr val="0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74625" indent="-174625" fontAlgn="ctr" latinLnBrk="0">
              <a:lnSpc>
                <a:spcPts val="1700"/>
              </a:lnSpc>
              <a:spcBef>
                <a:spcPct val="2000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kumimoji="0" lang="en-US" altLang="ko-KR" sz="1100" kern="0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On-line</a:t>
            </a:r>
            <a:r>
              <a:rPr kumimoji="0" lang="ko-KR" altLang="en-US" sz="1100" kern="0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kumimoji="0" lang="en-US" altLang="ko-KR" sz="1100" kern="0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Business Market </a:t>
            </a:r>
            <a:r>
              <a:rPr kumimoji="0" lang="ko-KR" altLang="en-US" sz="1100" kern="0" err="1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으로써</a:t>
            </a:r>
            <a:r>
              <a:rPr kumimoji="0" lang="ko-KR" altLang="en-US" sz="1100" kern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kumimoji="0" lang="ko-KR" altLang="en-US" sz="1100" b="1" u="sng" kern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서비스상품을 </a:t>
            </a:r>
            <a:r>
              <a:rPr kumimoji="0" lang="ko-KR" altLang="en-US" sz="1100" b="1" u="sng" kern="0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효율적으로 보여주고 쉽게 가입</a:t>
            </a:r>
            <a:r>
              <a:rPr kumimoji="0" lang="ko-KR" altLang="en-US" sz="1100" kern="0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할 수 있는 방안 필요</a:t>
            </a:r>
          </a:p>
        </p:txBody>
      </p:sp>
      <p:sp>
        <p:nvSpPr>
          <p:cNvPr id="44" name="Rectangle 17"/>
          <p:cNvSpPr>
            <a:spLocks noChangeArrowheads="1"/>
          </p:cNvSpPr>
          <p:nvPr/>
        </p:nvSpPr>
        <p:spPr bwMode="auto">
          <a:xfrm>
            <a:off x="7513638" y="2352656"/>
            <a:ext cx="2108947" cy="3941390"/>
          </a:xfrm>
          <a:prstGeom prst="rect">
            <a:avLst/>
          </a:prstGeom>
          <a:noFill/>
          <a:ln w="9525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36000" tIns="36000" rIns="36000" bIns="36000" anchor="ctr"/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kern="0">
              <a:solidFill>
                <a:sysClr val="windowText" lastClr="0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5" name="AutoShape 8"/>
          <p:cNvSpPr>
            <a:spLocks noChangeArrowheads="1"/>
          </p:cNvSpPr>
          <p:nvPr/>
        </p:nvSpPr>
        <p:spPr bwMode="auto">
          <a:xfrm rot="16200000">
            <a:off x="5382606" y="4218576"/>
            <a:ext cx="3933451" cy="201612"/>
          </a:xfrm>
          <a:prstGeom prst="flowChartMerge">
            <a:avLst/>
          </a:prstGeom>
          <a:solidFill>
            <a:schemeClr val="bg1">
              <a:lumMod val="65000"/>
            </a:schemeClr>
          </a:solidFill>
          <a:ln w="9525" algn="ctr">
            <a:noFill/>
            <a:miter lim="800000"/>
            <a:headEnd/>
            <a:tailEnd/>
          </a:ln>
        </p:spPr>
        <p:txBody>
          <a:bodyPr anchor="ctr"/>
          <a:lstStyle/>
          <a:p>
            <a:pPr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1100">
              <a:solidFill>
                <a:srgbClr val="7889FB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Arial" pitchFamily="34" charset="0"/>
            </a:endParaRPr>
          </a:p>
        </p:txBody>
      </p:sp>
      <p:sp>
        <p:nvSpPr>
          <p:cNvPr id="46" name="Rectangle 3"/>
          <p:cNvSpPr>
            <a:spLocks noChangeArrowheads="1"/>
          </p:cNvSpPr>
          <p:nvPr/>
        </p:nvSpPr>
        <p:spPr bwMode="gray">
          <a:xfrm>
            <a:off x="3008784" y="2333606"/>
            <a:ext cx="4146079" cy="207963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 anchorCtr="1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세부내용</a:t>
            </a:r>
          </a:p>
        </p:txBody>
      </p:sp>
      <p:sp>
        <p:nvSpPr>
          <p:cNvPr id="47" name="Rectangle 3"/>
          <p:cNvSpPr>
            <a:spLocks noChangeArrowheads="1"/>
          </p:cNvSpPr>
          <p:nvPr/>
        </p:nvSpPr>
        <p:spPr bwMode="gray">
          <a:xfrm>
            <a:off x="730250" y="2336781"/>
            <a:ext cx="2206525" cy="207963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 anchorCtr="1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경쟁사</a:t>
            </a:r>
            <a:endParaRPr kumimoji="0" lang="ko-KR" altLang="en-US" sz="1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8" name="Rectangle 3"/>
          <p:cNvSpPr>
            <a:spLocks noChangeArrowheads="1"/>
          </p:cNvSpPr>
          <p:nvPr/>
        </p:nvSpPr>
        <p:spPr bwMode="gray">
          <a:xfrm>
            <a:off x="3008784" y="2581255"/>
            <a:ext cx="4146079" cy="2201255"/>
          </a:xfrm>
          <a:prstGeom prst="rect">
            <a:avLst/>
          </a:prstGeom>
          <a:solidFill>
            <a:schemeClr val="bg1"/>
          </a:solidFill>
          <a:ln w="3175" algn="ctr">
            <a:solidFill>
              <a:schemeClr val="tx1"/>
            </a:solidFill>
            <a:miter lim="800000"/>
            <a:headEnd/>
            <a:tailEnd/>
          </a:ln>
        </p:spPr>
        <p:txBody>
          <a:bodyPr anchor="ctr"/>
          <a:lstStyle/>
          <a:p>
            <a:pPr marL="171450" indent="-171450" latinLnBrk="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1100" dirty="0">
                <a:latin typeface="나눔고딕" panose="020D0604000000000000" pitchFamily="50" charset="-127"/>
                <a:ea typeface="나눔고딕" panose="020D0604000000000000" pitchFamily="50" charset="-127"/>
                <a:sym typeface="Wingdings" pitchFamily="2" charset="2"/>
              </a:rPr>
              <a:t>정보노출을 최소화하여 서브페이지로 유도</a:t>
            </a:r>
            <a:r>
              <a:rPr lang="en-US" altLang="ko-KR" sz="1100" dirty="0">
                <a:latin typeface="나눔고딕" panose="020D0604000000000000" pitchFamily="50" charset="-127"/>
                <a:ea typeface="나눔고딕" panose="020D0604000000000000" pitchFamily="50" charset="-127"/>
                <a:sym typeface="Wingdings" pitchFamily="2" charset="2"/>
              </a:rPr>
              <a:t>, </a:t>
            </a:r>
            <a:r>
              <a:rPr lang="ko-KR" altLang="en-US" sz="1100" dirty="0">
                <a:latin typeface="나눔고딕" panose="020D0604000000000000" pitchFamily="50" charset="-127"/>
                <a:ea typeface="나눔고딕" panose="020D0604000000000000" pitchFamily="50" charset="-127"/>
                <a:sym typeface="Wingdings" pitchFamily="2" charset="2"/>
              </a:rPr>
              <a:t>위기감을 조성하여 가입 유도</a:t>
            </a:r>
            <a:endParaRPr lang="en-US" altLang="ko-KR" sz="1100" dirty="0">
              <a:latin typeface="나눔고딕" panose="020D0604000000000000" pitchFamily="50" charset="-127"/>
              <a:ea typeface="나눔고딕" panose="020D0604000000000000" pitchFamily="50" charset="-127"/>
              <a:sym typeface="Wingdings" pitchFamily="2" charset="2"/>
            </a:endParaRPr>
          </a:p>
          <a:p>
            <a:pPr marL="171450" indent="-171450" latinLnBrk="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1100" dirty="0">
                <a:latin typeface="나눔고딕" panose="020D0604000000000000" pitchFamily="50" charset="-127"/>
                <a:ea typeface="나눔고딕" panose="020D0604000000000000" pitchFamily="50" charset="-127"/>
                <a:sym typeface="Wingdings" pitchFamily="2" charset="2"/>
              </a:rPr>
              <a:t>단순화된 화면구성으로 기업에서 제공하는 </a:t>
            </a:r>
            <a:r>
              <a:rPr lang="ko-KR" altLang="en-US" sz="1100" dirty="0" err="1">
                <a:latin typeface="나눔고딕" panose="020D0604000000000000" pitchFamily="50" charset="-127"/>
                <a:ea typeface="나눔고딕" panose="020D0604000000000000" pitchFamily="50" charset="-127"/>
                <a:sym typeface="Wingdings" pitchFamily="2" charset="2"/>
              </a:rPr>
              <a:t>컨텐츠</a:t>
            </a:r>
            <a:r>
              <a:rPr lang="ko-KR" altLang="en-US" sz="1100" dirty="0">
                <a:latin typeface="나눔고딕" panose="020D0604000000000000" pitchFamily="50" charset="-127"/>
                <a:ea typeface="나눔고딕" panose="020D0604000000000000" pitchFamily="50" charset="-127"/>
                <a:sym typeface="Wingdings" pitchFamily="2" charset="2"/>
              </a:rPr>
              <a:t> 노출</a:t>
            </a:r>
            <a:endParaRPr lang="en-US" altLang="ko-KR" sz="1100" dirty="0">
              <a:latin typeface="나눔고딕" panose="020D0604000000000000" pitchFamily="50" charset="-127"/>
              <a:ea typeface="나눔고딕" panose="020D0604000000000000" pitchFamily="50" charset="-127"/>
              <a:sym typeface="Wingdings" pitchFamily="2" charset="2"/>
            </a:endParaRPr>
          </a:p>
          <a:p>
            <a:pPr marL="171450" indent="-171450" latinLnBrk="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1100" dirty="0">
                <a:latin typeface="나눔고딕" panose="020D0604000000000000" pitchFamily="50" charset="-127"/>
                <a:ea typeface="나눔고딕" panose="020D0604000000000000" pitchFamily="50" charset="-127"/>
                <a:sym typeface="Wingdings" pitchFamily="2" charset="2"/>
              </a:rPr>
              <a:t>카테고리화된 정보접근으로 사용자 유입 기대</a:t>
            </a:r>
            <a:endParaRPr lang="en-US" altLang="ko-KR" sz="1100" dirty="0">
              <a:latin typeface="나눔고딕" panose="020D0604000000000000" pitchFamily="50" charset="-127"/>
              <a:ea typeface="나눔고딕" panose="020D0604000000000000" pitchFamily="50" charset="-127"/>
              <a:sym typeface="Wingdings" pitchFamily="2" charset="2"/>
            </a:endParaRPr>
          </a:p>
          <a:p>
            <a:pPr marL="171450" indent="-171450" latinLnBrk="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1100" dirty="0">
                <a:latin typeface="나눔고딕" panose="020D0604000000000000" pitchFamily="50" charset="-127"/>
                <a:ea typeface="나눔고딕" panose="020D0604000000000000" pitchFamily="50" charset="-127"/>
                <a:sym typeface="Wingdings" pitchFamily="2" charset="2"/>
              </a:rPr>
              <a:t>라이프사이클을 보여주는 </a:t>
            </a:r>
            <a:r>
              <a:rPr lang="en-US" altLang="ko-KR" sz="1100" dirty="0">
                <a:latin typeface="나눔고딕" panose="020D0604000000000000" pitchFamily="50" charset="-127"/>
                <a:ea typeface="나눔고딕" panose="020D0604000000000000" pitchFamily="50" charset="-127"/>
                <a:sym typeface="Wingdings" pitchFamily="2" charset="2"/>
              </a:rPr>
              <a:t>Time Line </a:t>
            </a:r>
            <a:r>
              <a:rPr lang="ko-KR" altLang="en-US" sz="1100" dirty="0">
                <a:latin typeface="나눔고딕" panose="020D0604000000000000" pitchFamily="50" charset="-127"/>
                <a:ea typeface="나눔고딕" panose="020D0604000000000000" pitchFamily="50" charset="-127"/>
                <a:sym typeface="Wingdings" pitchFamily="2" charset="2"/>
              </a:rPr>
              <a:t>형태로 사용자 관심 유도</a:t>
            </a:r>
            <a:endParaRPr lang="en-US" altLang="ko-KR" sz="1100" dirty="0">
              <a:latin typeface="나눔고딕" panose="020D0604000000000000" pitchFamily="50" charset="-127"/>
              <a:ea typeface="나눔고딕" panose="020D0604000000000000" pitchFamily="50" charset="-127"/>
              <a:sym typeface="Wingdings" pitchFamily="2" charset="2"/>
            </a:endParaRPr>
          </a:p>
          <a:p>
            <a:pPr marL="171450" indent="-171450" latinLnBrk="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1100" dirty="0">
                <a:latin typeface="나눔고딕" panose="020D0604000000000000" pitchFamily="50" charset="-127"/>
                <a:ea typeface="나눔고딕" panose="020D0604000000000000" pitchFamily="50" charset="-127"/>
                <a:sym typeface="Wingdings" pitchFamily="2" charset="2"/>
              </a:rPr>
              <a:t>프로모션 중심의 사용자 유입</a:t>
            </a:r>
            <a:r>
              <a:rPr lang="en-US" altLang="ko-KR" sz="1100" dirty="0">
                <a:latin typeface="나눔고딕" panose="020D0604000000000000" pitchFamily="50" charset="-127"/>
                <a:ea typeface="나눔고딕" panose="020D0604000000000000" pitchFamily="50" charset="-127"/>
                <a:sym typeface="Wingdings" pitchFamily="2" charset="2"/>
              </a:rPr>
              <a:t>, </a:t>
            </a:r>
            <a:r>
              <a:rPr lang="ko-KR" altLang="en-US" sz="1100" dirty="0">
                <a:latin typeface="나눔고딕" panose="020D0604000000000000" pitchFamily="50" charset="-127"/>
                <a:ea typeface="나눔고딕" panose="020D0604000000000000" pitchFamily="50" charset="-127"/>
                <a:sym typeface="Wingdings" pitchFamily="2" charset="2"/>
              </a:rPr>
              <a:t>타사와는 다른 상품</a:t>
            </a:r>
            <a:endParaRPr lang="en-US" altLang="ko-KR" sz="1100" dirty="0">
              <a:latin typeface="나눔고딕" panose="020D0604000000000000" pitchFamily="50" charset="-127"/>
              <a:ea typeface="나눔고딕" panose="020D0604000000000000" pitchFamily="50" charset="-127"/>
              <a:sym typeface="Wingdings" pitchFamily="2" charset="2"/>
            </a:endParaRPr>
          </a:p>
          <a:p>
            <a:pPr marL="171450" indent="-171450" latinLnBrk="0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ko-KR" sz="1100" dirty="0">
                <a:latin typeface="나눔고딕" panose="020D0604000000000000" pitchFamily="50" charset="-127"/>
                <a:ea typeface="나눔고딕" panose="020D0604000000000000" pitchFamily="50" charset="-127"/>
                <a:sym typeface="Wingdings" pitchFamily="2" charset="2"/>
              </a:rPr>
              <a:t>‘</a:t>
            </a:r>
            <a:r>
              <a:rPr lang="en" altLang="ko-KR" sz="1100" dirty="0">
                <a:latin typeface="나눔고딕" panose="020D0604000000000000" pitchFamily="50" charset="-127"/>
                <a:ea typeface="나눔고딕" panose="020D0604000000000000" pitchFamily="50" charset="-127"/>
                <a:sym typeface="Wingdings" pitchFamily="2" charset="2"/>
              </a:rPr>
              <a:t>FFF</a:t>
            </a:r>
            <a:r>
              <a:rPr lang="en-US" altLang="ko-KR" sz="1100" dirty="0">
                <a:latin typeface="나눔고딕" panose="020D0604000000000000" pitchFamily="50" charset="-127"/>
                <a:ea typeface="나눔고딕" panose="020D0604000000000000" pitchFamily="50" charset="-127"/>
                <a:sym typeface="Wingdings" pitchFamily="2" charset="2"/>
              </a:rPr>
              <a:t>’</a:t>
            </a:r>
            <a:r>
              <a:rPr lang="ko-KR" altLang="en-US" sz="1100" dirty="0">
                <a:latin typeface="나눔고딕" panose="020D0604000000000000" pitchFamily="50" charset="-127"/>
                <a:ea typeface="나눔고딕" panose="020D0604000000000000" pitchFamily="50" charset="-127"/>
                <a:sym typeface="Wingdings" pitchFamily="2" charset="2"/>
              </a:rPr>
              <a:t>의 이미지를 각인시키기 위한 디자인 가이드라인 유지</a:t>
            </a:r>
            <a:endParaRPr lang="en-US" altLang="ko-KR" sz="1100" dirty="0">
              <a:latin typeface="나눔고딕" panose="020D0604000000000000" pitchFamily="50" charset="-127"/>
              <a:ea typeface="나눔고딕" panose="020D0604000000000000" pitchFamily="50" charset="-127"/>
              <a:sym typeface="Wingdings" pitchFamily="2" charset="2"/>
            </a:endParaRPr>
          </a:p>
        </p:txBody>
      </p:sp>
      <p:sp>
        <p:nvSpPr>
          <p:cNvPr id="49" name="Rectangle 3"/>
          <p:cNvSpPr>
            <a:spLocks noChangeArrowheads="1"/>
          </p:cNvSpPr>
          <p:nvPr/>
        </p:nvSpPr>
        <p:spPr bwMode="gray">
          <a:xfrm>
            <a:off x="730250" y="2587606"/>
            <a:ext cx="2206525" cy="2194272"/>
          </a:xfrm>
          <a:prstGeom prst="rect">
            <a:avLst/>
          </a:prstGeom>
          <a:solidFill>
            <a:schemeClr val="bg1"/>
          </a:solidFill>
          <a:ln w="3175" algn="ctr">
            <a:solidFill>
              <a:schemeClr val="tx1"/>
            </a:solidFill>
            <a:miter lim="800000"/>
            <a:headEnd/>
            <a:tailEnd/>
          </a:ln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marL="171450" indent="-171450" eaLnBrk="1" latinLnBrk="0" hangingPunct="1">
              <a:lnSpc>
                <a:spcPct val="150000"/>
              </a:lnSpc>
              <a:buFont typeface="Arial" pitchFamily="34" charset="0"/>
              <a:buChar char="•"/>
            </a:pPr>
            <a:r>
              <a:rPr kumimoji="0" lang="en" altLang="ko-KR" sz="1100">
                <a:latin typeface="나눔고딕" panose="020D0604000000000000" pitchFamily="50" charset="-127"/>
                <a:ea typeface="나눔고딕" panose="020D0604000000000000" pitchFamily="50" charset="-127"/>
                <a:sym typeface="Wingdings" pitchFamily="2" charset="2"/>
              </a:rPr>
              <a:t>AAA</a:t>
            </a:r>
            <a:r>
              <a:rPr kumimoji="0" lang="ko-KR" altLang="en-US" sz="1100">
                <a:latin typeface="나눔고딕" panose="020D0604000000000000" pitchFamily="50" charset="-127"/>
                <a:ea typeface="나눔고딕" panose="020D0604000000000000" pitchFamily="50" charset="-127"/>
                <a:sym typeface="Wingdings" pitchFamily="2" charset="2"/>
              </a:rPr>
              <a:t>서비스</a:t>
            </a:r>
            <a:endParaRPr kumimoji="0" lang="en-US" altLang="ko-KR" sz="1100" dirty="0">
              <a:latin typeface="나눔고딕" panose="020D0604000000000000" pitchFamily="50" charset="-127"/>
              <a:ea typeface="나눔고딕" panose="020D0604000000000000" pitchFamily="50" charset="-127"/>
              <a:sym typeface="Wingdings" pitchFamily="2" charset="2"/>
            </a:endParaRPr>
          </a:p>
          <a:p>
            <a:pPr marL="171450" indent="-171450" eaLnBrk="1" latinLnBrk="0" hangingPunct="1">
              <a:lnSpc>
                <a:spcPct val="150000"/>
              </a:lnSpc>
              <a:buFont typeface="Arial" pitchFamily="34" charset="0"/>
              <a:buChar char="•"/>
            </a:pPr>
            <a:r>
              <a:rPr kumimoji="0" lang="en" altLang="ko-KR" sz="1100">
                <a:latin typeface="나눔고딕" panose="020D0604000000000000" pitchFamily="50" charset="-127"/>
                <a:ea typeface="나눔고딕" panose="020D0604000000000000" pitchFamily="50" charset="-127"/>
                <a:sym typeface="Wingdings" pitchFamily="2" charset="2"/>
              </a:rPr>
              <a:t>BBB</a:t>
            </a:r>
            <a:r>
              <a:rPr kumimoji="0" lang="ko-KR" altLang="en-US" sz="1100">
                <a:latin typeface="나눔고딕" panose="020D0604000000000000" pitchFamily="50" charset="-127"/>
                <a:ea typeface="나눔고딕" panose="020D0604000000000000" pitchFamily="50" charset="-127"/>
                <a:sym typeface="Wingdings" pitchFamily="2" charset="2"/>
              </a:rPr>
              <a:t>서비스</a:t>
            </a:r>
            <a:endParaRPr kumimoji="0" lang="en-US" altLang="ko-KR" sz="1100" dirty="0">
              <a:latin typeface="나눔고딕" panose="020D0604000000000000" pitchFamily="50" charset="-127"/>
              <a:ea typeface="나눔고딕" panose="020D0604000000000000" pitchFamily="50" charset="-127"/>
              <a:sym typeface="Wingdings" pitchFamily="2" charset="2"/>
            </a:endParaRPr>
          </a:p>
          <a:p>
            <a:pPr marL="171450" indent="-171450" eaLnBrk="1" latinLnBrk="0" hangingPunct="1">
              <a:lnSpc>
                <a:spcPct val="150000"/>
              </a:lnSpc>
              <a:buFont typeface="Arial" pitchFamily="34" charset="0"/>
              <a:buChar char="•"/>
            </a:pPr>
            <a:r>
              <a:rPr kumimoji="0" lang="en" altLang="ko-KR" sz="1100">
                <a:latin typeface="나눔고딕" panose="020D0604000000000000" pitchFamily="50" charset="-127"/>
                <a:ea typeface="나눔고딕" panose="020D0604000000000000" pitchFamily="50" charset="-127"/>
                <a:sym typeface="Wingdings" pitchFamily="2" charset="2"/>
              </a:rPr>
              <a:t>CCC</a:t>
            </a:r>
            <a:r>
              <a:rPr kumimoji="0" lang="ko-KR" altLang="en-US" sz="1100">
                <a:latin typeface="나눔고딕" panose="020D0604000000000000" pitchFamily="50" charset="-127"/>
                <a:ea typeface="나눔고딕" panose="020D0604000000000000" pitchFamily="50" charset="-127"/>
                <a:sym typeface="Wingdings" pitchFamily="2" charset="2"/>
              </a:rPr>
              <a:t>서비스</a:t>
            </a:r>
            <a:endParaRPr kumimoji="0" lang="en-US" altLang="ko-KR" sz="1100" dirty="0">
              <a:latin typeface="나눔고딕" panose="020D0604000000000000" pitchFamily="50" charset="-127"/>
              <a:ea typeface="나눔고딕" panose="020D0604000000000000" pitchFamily="50" charset="-127"/>
              <a:sym typeface="Wingdings" pitchFamily="2" charset="2"/>
            </a:endParaRPr>
          </a:p>
          <a:p>
            <a:pPr marL="171450" indent="-171450" eaLnBrk="1" latinLnBrk="0" hangingPunct="1">
              <a:lnSpc>
                <a:spcPct val="150000"/>
              </a:lnSpc>
              <a:buFont typeface="Arial" pitchFamily="34" charset="0"/>
              <a:buChar char="•"/>
            </a:pPr>
            <a:r>
              <a:rPr kumimoji="0" lang="en" altLang="ko-KR" sz="1100">
                <a:latin typeface="나눔고딕" panose="020D0604000000000000" pitchFamily="50" charset="-127"/>
                <a:ea typeface="나눔고딕" panose="020D0604000000000000" pitchFamily="50" charset="-127"/>
                <a:sym typeface="Wingdings" pitchFamily="2" charset="2"/>
              </a:rPr>
              <a:t>DDD</a:t>
            </a:r>
            <a:r>
              <a:rPr kumimoji="0" lang="ko-KR" altLang="en-US" sz="1100">
                <a:latin typeface="나눔고딕" panose="020D0604000000000000" pitchFamily="50" charset="-127"/>
                <a:ea typeface="나눔고딕" panose="020D0604000000000000" pitchFamily="50" charset="-127"/>
                <a:sym typeface="Wingdings" pitchFamily="2" charset="2"/>
              </a:rPr>
              <a:t>서비스</a:t>
            </a:r>
            <a:endParaRPr kumimoji="0" lang="en-US" altLang="ko-KR" sz="1100" dirty="0">
              <a:latin typeface="나눔고딕" panose="020D0604000000000000" pitchFamily="50" charset="-127"/>
              <a:ea typeface="나눔고딕" panose="020D0604000000000000" pitchFamily="50" charset="-127"/>
              <a:sym typeface="Wingdings" pitchFamily="2" charset="2"/>
            </a:endParaRPr>
          </a:p>
          <a:p>
            <a:pPr marL="171450" indent="-171450" eaLnBrk="1" latinLnBrk="0" hangingPunct="1">
              <a:lnSpc>
                <a:spcPct val="150000"/>
              </a:lnSpc>
              <a:buFont typeface="Arial" pitchFamily="34" charset="0"/>
              <a:buChar char="•"/>
            </a:pPr>
            <a:r>
              <a:rPr kumimoji="0" lang="en" altLang="ko-KR" sz="1100">
                <a:latin typeface="나눔고딕" panose="020D0604000000000000" pitchFamily="50" charset="-127"/>
                <a:ea typeface="나눔고딕" panose="020D0604000000000000" pitchFamily="50" charset="-127"/>
                <a:sym typeface="Wingdings" pitchFamily="2" charset="2"/>
              </a:rPr>
              <a:t>EEE</a:t>
            </a:r>
            <a:r>
              <a:rPr kumimoji="0" lang="ko-KR" altLang="en-US" sz="1100">
                <a:latin typeface="나눔고딕" panose="020D0604000000000000" pitchFamily="50" charset="-127"/>
                <a:ea typeface="나눔고딕" panose="020D0604000000000000" pitchFamily="50" charset="-127"/>
                <a:sym typeface="Wingdings" pitchFamily="2" charset="2"/>
              </a:rPr>
              <a:t>서비스</a:t>
            </a:r>
            <a:endParaRPr kumimoji="0" lang="en-US" altLang="ko-KR" sz="1100" dirty="0">
              <a:latin typeface="나눔고딕" panose="020D0604000000000000" pitchFamily="50" charset="-127"/>
              <a:ea typeface="나눔고딕" panose="020D0604000000000000" pitchFamily="50" charset="-127"/>
              <a:sym typeface="Wingdings" pitchFamily="2" charset="2"/>
            </a:endParaRPr>
          </a:p>
          <a:p>
            <a:pPr marL="171450" indent="-171450" eaLnBrk="1" latinLnBrk="0" hangingPunct="1">
              <a:lnSpc>
                <a:spcPct val="150000"/>
              </a:lnSpc>
              <a:buFont typeface="Arial" pitchFamily="34" charset="0"/>
              <a:buChar char="•"/>
            </a:pPr>
            <a:r>
              <a:rPr kumimoji="0" lang="en" altLang="ko-KR" sz="1100" dirty="0">
                <a:latin typeface="나눔고딕" panose="020D0604000000000000" pitchFamily="50" charset="-127"/>
                <a:ea typeface="나눔고딕" panose="020D0604000000000000" pitchFamily="50" charset="-127"/>
                <a:sym typeface="Wingdings" pitchFamily="2" charset="2"/>
              </a:rPr>
              <a:t>FFF</a:t>
            </a:r>
            <a:r>
              <a:rPr kumimoji="0" lang="en-US" altLang="ko-KR" sz="1100" dirty="0">
                <a:latin typeface="나눔고딕" panose="020D0604000000000000" pitchFamily="50" charset="-127"/>
                <a:ea typeface="나눔고딕" panose="020D0604000000000000" pitchFamily="50" charset="-127"/>
                <a:sym typeface="Wingdings" pitchFamily="2" charset="2"/>
              </a:rPr>
              <a:t>-</a:t>
            </a:r>
            <a:r>
              <a:rPr kumimoji="0" lang="ko-KR" altLang="en-US" sz="1100" dirty="0">
                <a:latin typeface="나눔고딕" panose="020D0604000000000000" pitchFamily="50" charset="-127"/>
                <a:ea typeface="나눔고딕" panose="020D0604000000000000" pitchFamily="50" charset="-127"/>
                <a:sym typeface="Wingdings" pitchFamily="2" charset="2"/>
              </a:rPr>
              <a:t>제로</a:t>
            </a:r>
            <a:endParaRPr kumimoji="0" lang="en-US" altLang="ko-KR" sz="1100" dirty="0">
              <a:latin typeface="나눔고딕" panose="020D0604000000000000" pitchFamily="50" charset="-127"/>
              <a:ea typeface="나눔고딕" panose="020D0604000000000000" pitchFamily="50" charset="-127"/>
              <a:sym typeface="Wingdings" pitchFamily="2" charset="2"/>
            </a:endParaRPr>
          </a:p>
        </p:txBody>
      </p:sp>
      <p:sp>
        <p:nvSpPr>
          <p:cNvPr id="50" name="Rectangle 3"/>
          <p:cNvSpPr>
            <a:spLocks noChangeArrowheads="1"/>
          </p:cNvSpPr>
          <p:nvPr/>
        </p:nvSpPr>
        <p:spPr bwMode="gray">
          <a:xfrm>
            <a:off x="347663" y="2598719"/>
            <a:ext cx="350838" cy="2182052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 w="3175" algn="ctr">
            <a:noFill/>
            <a:miter lim="800000"/>
            <a:headEnd/>
            <a:tailEnd/>
          </a:ln>
        </p:spPr>
        <p:txBody>
          <a:bodyPr anchor="ctr"/>
          <a:lstStyle/>
          <a:p>
            <a:pPr fontAlgn="auto" latinLnBrk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2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sym typeface="Wingdings" pitchFamily="2" charset="2"/>
              </a:rPr>
              <a:t>국</a:t>
            </a:r>
            <a:endParaRPr kumimoji="0" lang="en-US" altLang="ko-KR" sz="120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  <a:sym typeface="Wingdings" pitchFamily="2" charset="2"/>
            </a:endParaRPr>
          </a:p>
          <a:p>
            <a:pPr fontAlgn="auto" latinLnBrk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2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sym typeface="Wingdings" pitchFamily="2" charset="2"/>
              </a:rPr>
              <a:t>내</a:t>
            </a:r>
            <a:endParaRPr kumimoji="0" lang="en-US" altLang="ko-KR" sz="120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  <a:sym typeface="Wingdings" pitchFamily="2" charset="2"/>
            </a:endParaRPr>
          </a:p>
        </p:txBody>
      </p:sp>
      <p:sp>
        <p:nvSpPr>
          <p:cNvPr id="51" name="Rectangle 3"/>
          <p:cNvSpPr>
            <a:spLocks noChangeArrowheads="1"/>
          </p:cNvSpPr>
          <p:nvPr/>
        </p:nvSpPr>
        <p:spPr bwMode="gray">
          <a:xfrm>
            <a:off x="3013616" y="4874821"/>
            <a:ext cx="4136486" cy="207962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 anchorCtr="1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세부내용</a:t>
            </a:r>
          </a:p>
        </p:txBody>
      </p:sp>
      <p:sp>
        <p:nvSpPr>
          <p:cNvPr id="52" name="Rectangle 3"/>
          <p:cNvSpPr>
            <a:spLocks noChangeArrowheads="1"/>
          </p:cNvSpPr>
          <p:nvPr/>
        </p:nvSpPr>
        <p:spPr bwMode="gray">
          <a:xfrm>
            <a:off x="725488" y="4877996"/>
            <a:ext cx="2212876" cy="207962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 anchorCtr="1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경쟁사</a:t>
            </a:r>
          </a:p>
        </p:txBody>
      </p:sp>
      <p:sp>
        <p:nvSpPr>
          <p:cNvPr id="53" name="Rectangle 3"/>
          <p:cNvSpPr>
            <a:spLocks noChangeArrowheads="1"/>
          </p:cNvSpPr>
          <p:nvPr/>
        </p:nvSpPr>
        <p:spPr bwMode="gray">
          <a:xfrm>
            <a:off x="344488" y="5116121"/>
            <a:ext cx="350838" cy="1169987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 w="3175" algn="ctr">
            <a:noFill/>
            <a:miter lim="800000"/>
            <a:headEnd/>
            <a:tailEnd/>
          </a:ln>
        </p:spPr>
        <p:txBody>
          <a:bodyPr anchor="ctr"/>
          <a:lstStyle/>
          <a:p>
            <a:pPr fontAlgn="auto" latinLnBrk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2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sym typeface="Wingdings" pitchFamily="2" charset="2"/>
              </a:rPr>
              <a:t>국외</a:t>
            </a:r>
            <a:endParaRPr kumimoji="0" lang="en-US" altLang="ko-KR" sz="120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  <a:sym typeface="Wingdings" pitchFamily="2" charset="2"/>
            </a:endParaRPr>
          </a:p>
        </p:txBody>
      </p:sp>
      <p:sp>
        <p:nvSpPr>
          <p:cNvPr id="56" name="Rectangle 3"/>
          <p:cNvSpPr>
            <a:spLocks noChangeArrowheads="1"/>
          </p:cNvSpPr>
          <p:nvPr/>
        </p:nvSpPr>
        <p:spPr bwMode="gray">
          <a:xfrm>
            <a:off x="3008784" y="5127233"/>
            <a:ext cx="4139729" cy="1165225"/>
          </a:xfrm>
          <a:prstGeom prst="rect">
            <a:avLst/>
          </a:prstGeom>
          <a:solidFill>
            <a:schemeClr val="bg1"/>
          </a:solidFill>
          <a:ln w="3175" algn="ctr">
            <a:solidFill>
              <a:schemeClr val="tx1"/>
            </a:solidFill>
            <a:miter lim="800000"/>
            <a:headEnd/>
            <a:tailEnd/>
          </a:ln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latinLnBrk="0" hangingPunct="1">
              <a:buFont typeface="Arial" pitchFamily="34" charset="0"/>
              <a:buChar char="•"/>
            </a:pPr>
            <a:r>
              <a:rPr kumimoji="0" lang="ko-KR" altLang="en-US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사용자의 </a:t>
            </a:r>
            <a:r>
              <a:rPr kumimoji="0" lang="ko-KR" altLang="en-US" sz="11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접근성을</a:t>
            </a:r>
            <a:r>
              <a:rPr kumimoji="0" lang="ko-KR" altLang="en-US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높이기 위해 상품정보 위주의 노출로 발전됨</a:t>
            </a:r>
            <a:br>
              <a:rPr kumimoji="0" lang="en-US" altLang="ko-KR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kumimoji="0" lang="en-US" altLang="ko-KR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(</a:t>
            </a:r>
            <a:r>
              <a:rPr kumimoji="0" lang="ko-KR" altLang="en-US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쇼핑몰 형태의 구조를 가져가고 있음</a:t>
            </a:r>
            <a:r>
              <a:rPr kumimoji="0" lang="en-US" altLang="ko-KR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  <a:p>
            <a:pPr eaLnBrk="1" latinLnBrk="0" hangingPunct="1">
              <a:buFont typeface="Arial" pitchFamily="34" charset="0"/>
              <a:buChar char="•"/>
            </a:pPr>
            <a:endParaRPr kumimoji="0" lang="en-US" altLang="ko-KR" sz="11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eaLnBrk="1" latinLnBrk="0" hangingPunct="1">
              <a:buFont typeface="Arial" pitchFamily="34" charset="0"/>
              <a:buChar char="•"/>
            </a:pPr>
            <a:r>
              <a:rPr kumimoji="0" lang="en-US" altLang="ko-KR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kumimoji="0" lang="ko-KR" altLang="en-US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사용자가 쉽게 인지하고 부담 없도록 상품별 </a:t>
            </a:r>
            <a:r>
              <a:rPr kumimoji="0" lang="ko-KR" altLang="en-US" sz="11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펫네임</a:t>
            </a:r>
            <a:r>
              <a:rPr kumimoji="0" lang="ko-KR" altLang="en-US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활용</a:t>
            </a:r>
            <a:endParaRPr kumimoji="0" lang="en-US" altLang="ko-KR" sz="11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9" name="Rectangle 3"/>
          <p:cNvSpPr>
            <a:spLocks noChangeArrowheads="1"/>
          </p:cNvSpPr>
          <p:nvPr/>
        </p:nvSpPr>
        <p:spPr bwMode="gray">
          <a:xfrm>
            <a:off x="723901" y="5131996"/>
            <a:ext cx="2212874" cy="1162050"/>
          </a:xfrm>
          <a:prstGeom prst="rect">
            <a:avLst/>
          </a:prstGeom>
          <a:solidFill>
            <a:schemeClr val="bg1"/>
          </a:solidFill>
          <a:ln w="3175" algn="ctr">
            <a:solidFill>
              <a:schemeClr val="tx1"/>
            </a:solidFill>
            <a:miter lim="800000"/>
            <a:headEnd/>
            <a:tailEnd/>
          </a:ln>
        </p:spPr>
        <p:txBody>
          <a:bodyPr anchor="ctr"/>
          <a:lstStyle/>
          <a:p>
            <a:pPr marL="171450" indent="-171450" latinLnBrk="0">
              <a:lnSpc>
                <a:spcPct val="150000"/>
              </a:lnSpc>
              <a:buFont typeface="Arial" pitchFamily="34" charset="0"/>
              <a:buChar char="•"/>
            </a:pPr>
            <a:r>
              <a:rPr lang="en" altLang="ko-KR" sz="1100" dirty="0">
                <a:latin typeface="나눔고딕" panose="020D0604000000000000" pitchFamily="50" charset="-127"/>
                <a:ea typeface="나눔고딕" panose="020D0604000000000000" pitchFamily="50" charset="-127"/>
                <a:sym typeface="Wingdings" pitchFamily="2" charset="2"/>
              </a:rPr>
              <a:t>GGG</a:t>
            </a:r>
            <a:endParaRPr lang="ko-KR" altLang="en-US" sz="1100" dirty="0">
              <a:latin typeface="나눔고딕" panose="020D0604000000000000" pitchFamily="50" charset="-127"/>
              <a:ea typeface="나눔고딕" panose="020D0604000000000000" pitchFamily="50" charset="-127"/>
              <a:sym typeface="Wingdings" pitchFamily="2" charset="2"/>
            </a:endParaRPr>
          </a:p>
          <a:p>
            <a:pPr marL="171450" indent="-171450" latinLnBrk="0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ko-KR" sz="1100" dirty="0">
                <a:latin typeface="나눔고딕" panose="020D0604000000000000" pitchFamily="50" charset="-127"/>
                <a:ea typeface="나눔고딕" panose="020D0604000000000000" pitchFamily="50" charset="-127"/>
                <a:sym typeface="Wingdings" pitchFamily="2" charset="2"/>
              </a:rPr>
              <a:t>HHH </a:t>
            </a:r>
            <a:r>
              <a:rPr lang="ko-KR" altLang="en-US" sz="1100">
                <a:latin typeface="나눔고딕" panose="020D0604000000000000" pitchFamily="50" charset="-127"/>
                <a:ea typeface="나눔고딕" panose="020D0604000000000000" pitchFamily="50" charset="-127"/>
                <a:sym typeface="Wingdings" pitchFamily="2" charset="2"/>
              </a:rPr>
              <a:t>다이렉트 서비스</a:t>
            </a:r>
            <a:endParaRPr lang="en-US" altLang="ko-KR" sz="1100" dirty="0">
              <a:latin typeface="나눔고딕" panose="020D0604000000000000" pitchFamily="50" charset="-127"/>
              <a:ea typeface="나눔고딕" panose="020D0604000000000000" pitchFamily="50" charset="-127"/>
              <a:sym typeface="Wingdings" pitchFamily="2" charset="2"/>
            </a:endParaRPr>
          </a:p>
          <a:p>
            <a:pPr marL="171450" indent="-171450" latinLnBrk="0">
              <a:lnSpc>
                <a:spcPct val="150000"/>
              </a:lnSpc>
              <a:buFont typeface="Arial" pitchFamily="34" charset="0"/>
              <a:buChar char="•"/>
            </a:pPr>
            <a:r>
              <a:rPr lang="en" altLang="ko-KR" sz="1100">
                <a:latin typeface="나눔고딕" panose="020D0604000000000000" pitchFamily="50" charset="-127"/>
                <a:ea typeface="나눔고딕" panose="020D0604000000000000" pitchFamily="50" charset="-127"/>
                <a:sym typeface="Wingdings" pitchFamily="2" charset="2"/>
              </a:rPr>
              <a:t>III</a:t>
            </a:r>
            <a:r>
              <a:rPr lang="ko-KR" altLang="en-US" sz="1100">
                <a:latin typeface="나눔고딕" panose="020D0604000000000000" pitchFamily="50" charset="-127"/>
                <a:ea typeface="나눔고딕" panose="020D0604000000000000" pitchFamily="50" charset="-127"/>
                <a:sym typeface="Wingdings" pitchFamily="2" charset="2"/>
              </a:rPr>
              <a:t> 서비스서비스</a:t>
            </a:r>
            <a:endParaRPr lang="en-US" altLang="ko-KR" sz="1100" dirty="0">
              <a:latin typeface="나눔고딕" panose="020D0604000000000000" pitchFamily="50" charset="-127"/>
              <a:ea typeface="나눔고딕" panose="020D0604000000000000" pitchFamily="50" charset="-127"/>
              <a:sym typeface="Wingdings" pitchFamily="2" charset="2"/>
            </a:endParaRPr>
          </a:p>
        </p:txBody>
      </p:sp>
      <p:sp>
        <p:nvSpPr>
          <p:cNvPr id="62" name="AutoShape 67"/>
          <p:cNvSpPr>
            <a:spLocks noChangeArrowheads="1"/>
          </p:cNvSpPr>
          <p:nvPr/>
        </p:nvSpPr>
        <p:spPr bwMode="auto">
          <a:xfrm>
            <a:off x="7545388" y="5343779"/>
            <a:ext cx="222250" cy="230187"/>
          </a:xfrm>
          <a:prstGeom prst="rightArrow">
            <a:avLst>
              <a:gd name="adj1" fmla="val 54074"/>
              <a:gd name="adj2" fmla="val 30171"/>
            </a:avLst>
          </a:prstGeom>
          <a:solidFill>
            <a:schemeClr val="bg1">
              <a:lumMod val="50000"/>
            </a:schemeClr>
          </a:solidFill>
          <a:ln w="9525" algn="ctr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/>
        </p:spPr>
        <p:txBody>
          <a:bodyPr wrap="none" lIns="36000" tIns="36000" rIns="36000" bIns="36000" anchor="ctr"/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kern="0">
              <a:solidFill>
                <a:sysClr val="windowText" lastClr="0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5" name="Line 10"/>
          <p:cNvSpPr>
            <a:spLocks noChangeShapeType="1"/>
          </p:cNvSpPr>
          <p:nvPr/>
        </p:nvSpPr>
        <p:spPr bwMode="auto">
          <a:xfrm>
            <a:off x="416495" y="2114699"/>
            <a:ext cx="6738367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lIns="36000" tIns="36000" rIns="36000" bIns="36000" anchor="ctr"/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kern="0" dirty="0">
              <a:solidFill>
                <a:sysClr val="windowText" lastClr="000000"/>
              </a:solidFill>
              <a:latin typeface="+mn-ea"/>
              <a:ea typeface="+mn-ea"/>
            </a:endParaRPr>
          </a:p>
        </p:txBody>
      </p:sp>
      <p:sp>
        <p:nvSpPr>
          <p:cNvPr id="68" name="Text Box 5"/>
          <p:cNvSpPr txBox="1">
            <a:spLocks noChangeArrowheads="1"/>
          </p:cNvSpPr>
          <p:nvPr/>
        </p:nvSpPr>
        <p:spPr bwMode="auto">
          <a:xfrm>
            <a:off x="2951419" y="1844824"/>
            <a:ext cx="1132289" cy="27275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36000" tIns="36000" rIns="36000" bIns="36000">
            <a:spAutoFit/>
          </a:bodyPr>
          <a:lstStyle/>
          <a:p>
            <a:pPr algn="ctr" fontAlgn="auto">
              <a:spcBef>
                <a:spcPct val="15000"/>
              </a:spcBef>
              <a:spcAft>
                <a:spcPct val="15000"/>
              </a:spcAft>
              <a:buFont typeface="Wingdings" pitchFamily="2" charset="2"/>
              <a:buNone/>
              <a:defRPr/>
            </a:pPr>
            <a:r>
              <a:rPr lang="ko-KR" altLang="en-US" sz="1300" b="1" dirty="0">
                <a:latin typeface="+mn-ea"/>
              </a:rPr>
              <a:t>현황분석 결과</a:t>
            </a:r>
            <a:endParaRPr kumimoji="0" lang="en-US" altLang="ko-KR" sz="1300" b="1" dirty="0">
              <a:latin typeface="+mn-ea"/>
              <a:ea typeface="+mn-ea"/>
            </a:endParaRPr>
          </a:p>
        </p:txBody>
      </p:sp>
      <p:sp>
        <p:nvSpPr>
          <p:cNvPr id="70" name="Line 10"/>
          <p:cNvSpPr>
            <a:spLocks noChangeShapeType="1"/>
          </p:cNvSpPr>
          <p:nvPr/>
        </p:nvSpPr>
        <p:spPr bwMode="auto">
          <a:xfrm>
            <a:off x="7513638" y="2114699"/>
            <a:ext cx="2108947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lIns="36000" tIns="36000" rIns="36000" bIns="36000" anchor="ctr"/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kern="0" dirty="0">
              <a:solidFill>
                <a:sysClr val="windowText" lastClr="000000"/>
              </a:solidFill>
              <a:latin typeface="+mn-ea"/>
              <a:ea typeface="+mn-ea"/>
            </a:endParaRPr>
          </a:p>
        </p:txBody>
      </p:sp>
      <p:sp>
        <p:nvSpPr>
          <p:cNvPr id="71" name="Text Box 5"/>
          <p:cNvSpPr txBox="1">
            <a:spLocks noChangeArrowheads="1"/>
          </p:cNvSpPr>
          <p:nvPr/>
        </p:nvSpPr>
        <p:spPr bwMode="auto">
          <a:xfrm>
            <a:off x="8265368" y="1844824"/>
            <a:ext cx="572841" cy="27275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36000" tIns="36000" rIns="36000" bIns="36000">
            <a:spAutoFit/>
          </a:bodyPr>
          <a:lstStyle/>
          <a:p>
            <a:pPr algn="ctr" fontAlgn="auto">
              <a:spcBef>
                <a:spcPct val="15000"/>
              </a:spcBef>
              <a:spcAft>
                <a:spcPct val="15000"/>
              </a:spcAft>
              <a:buFont typeface="Wingdings" pitchFamily="2" charset="2"/>
              <a:buNone/>
              <a:defRPr/>
            </a:pPr>
            <a:r>
              <a:rPr kumimoji="0" lang="ko-KR" altLang="en-US" sz="1300" b="1" dirty="0">
                <a:latin typeface="+mn-ea"/>
                <a:ea typeface="+mn-ea"/>
              </a:rPr>
              <a:t>시사점</a:t>
            </a:r>
            <a:endParaRPr kumimoji="0" lang="en-US" altLang="ko-KR" sz="1300" b="1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26636508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44017" y="91339"/>
            <a:ext cx="7401271" cy="385333"/>
          </a:xfrm>
          <a:prstGeom prst="rect">
            <a:avLst/>
          </a:prstGeom>
          <a:noFill/>
        </p:spPr>
        <p:txBody>
          <a:bodyPr wrap="square" lIns="0" tIns="53643" rIns="0" bIns="53643" rtlCol="0">
            <a:spAutoFit/>
          </a:bodyPr>
          <a:lstStyle/>
          <a:p>
            <a:r>
              <a:rPr kumimoji="1" lang="en-US" altLang="ko-KR" b="1" kern="0" dirty="0">
                <a:latin typeface="나눔고딕" panose="020D0604000000000000" pitchFamily="50" charset="-127"/>
                <a:ea typeface="나눔고딕" panose="020D0604000000000000" pitchFamily="50" charset="-127"/>
                <a:cs typeface="산돌고딕 M"/>
              </a:rPr>
              <a:t>Information architecture</a:t>
            </a:r>
            <a:endParaRPr kumimoji="1" lang="ko-KR" altLang="en-US" b="1" kern="0" dirty="0">
              <a:latin typeface="나눔고딕" panose="020D0604000000000000" pitchFamily="50" charset="-127"/>
              <a:ea typeface="나눔고딕" panose="020D0604000000000000" pitchFamily="50" charset="-127"/>
              <a:cs typeface="산돌고딕 M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44017" y="683985"/>
            <a:ext cx="96335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Service Grouping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488504" y="991762"/>
            <a:ext cx="8928992" cy="307777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en" altLang="ko-KR" sz="1400">
                <a:latin typeface="나눔고딕" panose="020D0604000000000000" pitchFamily="50" charset="-127"/>
                <a:ea typeface="나눔고딕" panose="020D0604000000000000" pitchFamily="50" charset="-127"/>
              </a:rPr>
              <a:t>XXX</a:t>
            </a:r>
            <a:r>
              <a:rPr lang="ko-KR" altLang="en-US" sz="1400">
                <a:latin typeface="나눔고딕" panose="020D0604000000000000" pitchFamily="50" charset="-127"/>
                <a:ea typeface="나눔고딕" panose="020D0604000000000000" pitchFamily="50" charset="-127"/>
              </a:rPr>
              <a:t>서비스 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온라인 사업의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정보 </a:t>
            </a:r>
            <a:r>
              <a:rPr lang="ko-KR" altLang="en-US" sz="14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그룹핑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기준은 정보 유형별 분류가 아닌</a:t>
            </a:r>
            <a:r>
              <a:rPr lang="en-US" altLang="ko-KR" sz="140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400" b="1">
                <a:latin typeface="나눔고딕" panose="020D0604000000000000" pitchFamily="50" charset="-127"/>
                <a:ea typeface="나눔고딕" panose="020D0604000000000000" pitchFamily="50" charset="-127"/>
              </a:rPr>
              <a:t>서비스 </a:t>
            </a:r>
            <a:r>
              <a:rPr lang="ko-KR" altLang="en-US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유형 별로 구조 설계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합니다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4" name="Rectangle 4"/>
          <p:cNvSpPr>
            <a:spLocks noChangeArrowheads="1"/>
          </p:cNvSpPr>
          <p:nvPr/>
        </p:nvSpPr>
        <p:spPr bwMode="auto">
          <a:xfrm>
            <a:off x="954960" y="3114602"/>
            <a:ext cx="322930" cy="2921247"/>
          </a:xfrm>
          <a:prstGeom prst="rect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tx1"/>
            </a:solidFill>
            <a:miter lim="800000"/>
            <a:headEnd/>
            <a:tailEnd type="none" w="med" len="sm"/>
          </a:ln>
          <a:effectLst/>
        </p:spPr>
        <p:txBody>
          <a:bodyPr wrap="none" lIns="90000" tIns="46800" rIns="90000" bIns="46800" anchor="ctr"/>
          <a:lstStyle/>
          <a:p>
            <a:endParaRPr lang="ko-KR" altLang="en-US" sz="240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5" name="Rectangle 5"/>
          <p:cNvSpPr>
            <a:spLocks noChangeArrowheads="1"/>
          </p:cNvSpPr>
          <p:nvPr/>
        </p:nvSpPr>
        <p:spPr bwMode="auto">
          <a:xfrm>
            <a:off x="1347764" y="3114602"/>
            <a:ext cx="321042" cy="2921247"/>
          </a:xfrm>
          <a:prstGeom prst="rect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tx1"/>
            </a:solidFill>
            <a:miter lim="800000"/>
            <a:headEnd/>
            <a:tailEnd type="none" w="med" len="sm"/>
          </a:ln>
          <a:effectLst/>
        </p:spPr>
        <p:txBody>
          <a:bodyPr wrap="none" lIns="90000" tIns="46800" rIns="90000" bIns="46800" anchor="ctr"/>
          <a:lstStyle/>
          <a:p>
            <a:endParaRPr lang="ko-KR" altLang="en-US" sz="240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6" name="Rectangle 6"/>
          <p:cNvSpPr>
            <a:spLocks noChangeArrowheads="1"/>
          </p:cNvSpPr>
          <p:nvPr/>
        </p:nvSpPr>
        <p:spPr bwMode="auto">
          <a:xfrm>
            <a:off x="1751899" y="3114602"/>
            <a:ext cx="319153" cy="2921247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>
            <a:solidFill>
              <a:schemeClr val="tx1"/>
            </a:solidFill>
            <a:miter lim="800000"/>
            <a:headEnd/>
            <a:tailEnd type="none" w="med" len="sm"/>
          </a:ln>
          <a:effectLst/>
        </p:spPr>
        <p:txBody>
          <a:bodyPr wrap="none" lIns="90000" tIns="46800" rIns="90000" bIns="46800" anchor="ctr"/>
          <a:lstStyle/>
          <a:p>
            <a:endParaRPr lang="ko-KR" altLang="en-US" sz="240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7" name="Rectangle 7"/>
          <p:cNvSpPr>
            <a:spLocks noChangeArrowheads="1"/>
          </p:cNvSpPr>
          <p:nvPr/>
        </p:nvSpPr>
        <p:spPr bwMode="auto">
          <a:xfrm>
            <a:off x="2152258" y="3114602"/>
            <a:ext cx="321042" cy="2921247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>
            <a:solidFill>
              <a:schemeClr val="tx1"/>
            </a:solidFill>
            <a:miter lim="800000"/>
            <a:headEnd/>
            <a:tailEnd type="none" w="med" len="sm"/>
          </a:ln>
          <a:effectLst/>
        </p:spPr>
        <p:txBody>
          <a:bodyPr wrap="none" lIns="90000" tIns="46800" rIns="90000" bIns="46800" anchor="ctr"/>
          <a:lstStyle/>
          <a:p>
            <a:endParaRPr lang="ko-KR" altLang="en-US" sz="240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8" name="Rectangle 8"/>
          <p:cNvSpPr>
            <a:spLocks noChangeArrowheads="1"/>
          </p:cNvSpPr>
          <p:nvPr/>
        </p:nvSpPr>
        <p:spPr bwMode="auto">
          <a:xfrm>
            <a:off x="2556393" y="3114602"/>
            <a:ext cx="321042" cy="2921247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>
            <a:solidFill>
              <a:schemeClr val="tx1"/>
            </a:solidFill>
            <a:miter lim="800000"/>
            <a:headEnd/>
            <a:tailEnd type="none" w="med" len="sm"/>
          </a:ln>
          <a:effectLst/>
        </p:spPr>
        <p:txBody>
          <a:bodyPr wrap="none" lIns="90000" tIns="46800" rIns="90000" bIns="46800" anchor="ctr"/>
          <a:lstStyle/>
          <a:p>
            <a:endParaRPr lang="ko-KR" altLang="en-US" sz="240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9" name="Rectangle 9"/>
          <p:cNvSpPr>
            <a:spLocks noChangeArrowheads="1"/>
          </p:cNvSpPr>
          <p:nvPr/>
        </p:nvSpPr>
        <p:spPr bwMode="auto">
          <a:xfrm>
            <a:off x="2960528" y="3114602"/>
            <a:ext cx="319153" cy="2921247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>
            <a:solidFill>
              <a:schemeClr val="tx1"/>
            </a:solidFill>
            <a:miter lim="800000"/>
            <a:headEnd/>
            <a:tailEnd type="none" w="med" len="sm"/>
          </a:ln>
          <a:effectLst/>
        </p:spPr>
        <p:txBody>
          <a:bodyPr wrap="none" lIns="90000" tIns="46800" rIns="90000" bIns="46800" anchor="ctr"/>
          <a:lstStyle/>
          <a:p>
            <a:endParaRPr lang="ko-KR" altLang="en-US" sz="240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0" name="Rectangle 10"/>
          <p:cNvSpPr>
            <a:spLocks noChangeArrowheads="1"/>
          </p:cNvSpPr>
          <p:nvPr/>
        </p:nvSpPr>
        <p:spPr bwMode="auto">
          <a:xfrm>
            <a:off x="3375994" y="3114602"/>
            <a:ext cx="319153" cy="2921247"/>
          </a:xfrm>
          <a:prstGeom prst="rect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tx1"/>
            </a:solidFill>
            <a:miter lim="800000"/>
            <a:headEnd/>
            <a:tailEnd type="none" w="med" len="sm"/>
          </a:ln>
          <a:effectLst/>
        </p:spPr>
        <p:txBody>
          <a:bodyPr wrap="none" lIns="90000" tIns="46800" rIns="90000" bIns="46800" anchor="ctr"/>
          <a:lstStyle/>
          <a:p>
            <a:endParaRPr lang="ko-KR" altLang="en-US" sz="240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1" name="Rectangle 11"/>
          <p:cNvSpPr>
            <a:spLocks noChangeArrowheads="1"/>
          </p:cNvSpPr>
          <p:nvPr/>
        </p:nvSpPr>
        <p:spPr bwMode="auto">
          <a:xfrm>
            <a:off x="552712" y="3114602"/>
            <a:ext cx="319154" cy="2921247"/>
          </a:xfrm>
          <a:prstGeom prst="rect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tx1"/>
            </a:solidFill>
            <a:miter lim="800000"/>
            <a:headEnd/>
            <a:tailEnd type="none" w="med" len="sm"/>
          </a:ln>
          <a:effectLst/>
        </p:spPr>
        <p:txBody>
          <a:bodyPr wrap="none" lIns="90000" tIns="46800" rIns="90000" bIns="46800" anchor="ctr"/>
          <a:lstStyle/>
          <a:p>
            <a:endParaRPr lang="ko-KR" altLang="en-US" sz="240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2" name="Oval 12"/>
          <p:cNvSpPr>
            <a:spLocks noChangeArrowheads="1"/>
          </p:cNvSpPr>
          <p:nvPr/>
        </p:nvSpPr>
        <p:spPr bwMode="auto">
          <a:xfrm>
            <a:off x="632029" y="3323379"/>
            <a:ext cx="160522" cy="13973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  <a:round/>
            <a:headEnd/>
            <a:tailEnd type="none" w="med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 sz="240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3" name="Oval 13"/>
          <p:cNvSpPr>
            <a:spLocks noChangeArrowheads="1"/>
          </p:cNvSpPr>
          <p:nvPr/>
        </p:nvSpPr>
        <p:spPr bwMode="auto">
          <a:xfrm>
            <a:off x="632029" y="3670247"/>
            <a:ext cx="160522" cy="139733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  <a:round/>
            <a:headEnd/>
            <a:tailEnd type="none" w="med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 sz="240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4" name="Oval 14"/>
          <p:cNvSpPr>
            <a:spLocks noChangeArrowheads="1"/>
          </p:cNvSpPr>
          <p:nvPr/>
        </p:nvSpPr>
        <p:spPr bwMode="auto">
          <a:xfrm>
            <a:off x="632029" y="4018759"/>
            <a:ext cx="160522" cy="138089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  <a:round/>
            <a:headEnd/>
            <a:tailEnd type="none" w="med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 sz="240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5" name="Oval 15"/>
          <p:cNvSpPr>
            <a:spLocks noChangeArrowheads="1"/>
          </p:cNvSpPr>
          <p:nvPr/>
        </p:nvSpPr>
        <p:spPr bwMode="auto">
          <a:xfrm>
            <a:off x="632029" y="4367270"/>
            <a:ext cx="160522" cy="138089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  <a:round/>
            <a:headEnd/>
            <a:tailEnd type="none" w="med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 sz="240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6" name="Oval 16"/>
          <p:cNvSpPr>
            <a:spLocks noChangeArrowheads="1"/>
          </p:cNvSpPr>
          <p:nvPr/>
        </p:nvSpPr>
        <p:spPr bwMode="auto">
          <a:xfrm>
            <a:off x="632029" y="4714137"/>
            <a:ext cx="160522" cy="13973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  <a:round/>
            <a:headEnd/>
            <a:tailEnd type="none" w="med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 sz="240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7" name="Oval 17"/>
          <p:cNvSpPr>
            <a:spLocks noChangeArrowheads="1"/>
          </p:cNvSpPr>
          <p:nvPr/>
        </p:nvSpPr>
        <p:spPr bwMode="auto">
          <a:xfrm>
            <a:off x="632029" y="5062648"/>
            <a:ext cx="160522" cy="138089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  <a:round/>
            <a:headEnd/>
            <a:tailEnd type="none" w="med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 sz="240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8" name="Oval 18"/>
          <p:cNvSpPr>
            <a:spLocks noChangeArrowheads="1"/>
          </p:cNvSpPr>
          <p:nvPr/>
        </p:nvSpPr>
        <p:spPr bwMode="auto">
          <a:xfrm>
            <a:off x="632029" y="5411159"/>
            <a:ext cx="160522" cy="138089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  <a:round/>
            <a:headEnd/>
            <a:tailEnd type="none" w="med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 sz="240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9" name="Oval 19"/>
          <p:cNvSpPr>
            <a:spLocks noChangeArrowheads="1"/>
          </p:cNvSpPr>
          <p:nvPr/>
        </p:nvSpPr>
        <p:spPr bwMode="auto">
          <a:xfrm>
            <a:off x="632029" y="5758027"/>
            <a:ext cx="160522" cy="139733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  <a:round/>
            <a:headEnd/>
            <a:tailEnd type="none" w="med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 sz="240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0" name="Rectangle 20"/>
          <p:cNvSpPr>
            <a:spLocks noChangeArrowheads="1"/>
          </p:cNvSpPr>
          <p:nvPr/>
        </p:nvSpPr>
        <p:spPr bwMode="auto">
          <a:xfrm>
            <a:off x="1032387" y="3323379"/>
            <a:ext cx="160522" cy="139734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  <a:miter lim="800000"/>
            <a:headEnd/>
            <a:tailEnd type="none" w="med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 sz="240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1" name="Rectangle 21"/>
          <p:cNvSpPr>
            <a:spLocks noChangeArrowheads="1"/>
          </p:cNvSpPr>
          <p:nvPr/>
        </p:nvSpPr>
        <p:spPr bwMode="auto">
          <a:xfrm>
            <a:off x="1032387" y="3670247"/>
            <a:ext cx="160522" cy="139733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  <a:miter lim="800000"/>
            <a:headEnd/>
            <a:tailEnd type="none" w="med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 sz="240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2" name="Rectangle 22"/>
          <p:cNvSpPr>
            <a:spLocks noChangeArrowheads="1"/>
          </p:cNvSpPr>
          <p:nvPr/>
        </p:nvSpPr>
        <p:spPr bwMode="auto">
          <a:xfrm>
            <a:off x="1032387" y="4018759"/>
            <a:ext cx="160522" cy="138089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  <a:miter lim="800000"/>
            <a:headEnd/>
            <a:tailEnd type="none" w="med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 sz="240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4" name="Rectangle 23"/>
          <p:cNvSpPr>
            <a:spLocks noChangeArrowheads="1"/>
          </p:cNvSpPr>
          <p:nvPr/>
        </p:nvSpPr>
        <p:spPr bwMode="auto">
          <a:xfrm>
            <a:off x="1032387" y="4367270"/>
            <a:ext cx="160522" cy="138089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  <a:miter lim="800000"/>
            <a:headEnd/>
            <a:tailEnd type="none" w="med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 sz="240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5" name="Rectangle 24"/>
          <p:cNvSpPr>
            <a:spLocks noChangeArrowheads="1"/>
          </p:cNvSpPr>
          <p:nvPr/>
        </p:nvSpPr>
        <p:spPr bwMode="auto">
          <a:xfrm>
            <a:off x="1032387" y="4714137"/>
            <a:ext cx="160522" cy="139734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  <a:miter lim="800000"/>
            <a:headEnd/>
            <a:tailEnd type="none" w="med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 sz="240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7" name="Rectangle 25"/>
          <p:cNvSpPr>
            <a:spLocks noChangeArrowheads="1"/>
          </p:cNvSpPr>
          <p:nvPr/>
        </p:nvSpPr>
        <p:spPr bwMode="auto">
          <a:xfrm>
            <a:off x="1032387" y="5062648"/>
            <a:ext cx="160522" cy="138089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  <a:miter lim="800000"/>
            <a:headEnd/>
            <a:tailEnd type="none" w="med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 sz="240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8" name="Rectangle 26"/>
          <p:cNvSpPr>
            <a:spLocks noChangeArrowheads="1"/>
          </p:cNvSpPr>
          <p:nvPr/>
        </p:nvSpPr>
        <p:spPr bwMode="auto">
          <a:xfrm>
            <a:off x="1032387" y="5411159"/>
            <a:ext cx="160522" cy="138089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  <a:miter lim="800000"/>
            <a:headEnd/>
            <a:tailEnd type="none" w="med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 sz="240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0" name="Rectangle 27"/>
          <p:cNvSpPr>
            <a:spLocks noChangeArrowheads="1"/>
          </p:cNvSpPr>
          <p:nvPr/>
        </p:nvSpPr>
        <p:spPr bwMode="auto">
          <a:xfrm>
            <a:off x="1032387" y="5758027"/>
            <a:ext cx="160522" cy="139733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  <a:miter lim="800000"/>
            <a:headEnd/>
            <a:tailEnd type="none" w="med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 sz="240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1" name="AutoShape 28"/>
          <p:cNvSpPr>
            <a:spLocks noChangeArrowheads="1"/>
          </p:cNvSpPr>
          <p:nvPr/>
        </p:nvSpPr>
        <p:spPr bwMode="auto">
          <a:xfrm>
            <a:off x="1432745" y="3323379"/>
            <a:ext cx="160522" cy="139734"/>
          </a:xfrm>
          <a:prstGeom prst="triangle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  <a:miter lim="800000"/>
            <a:headEnd/>
            <a:tailEnd type="none" w="med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 sz="240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3" name="AutoShape 29"/>
          <p:cNvSpPr>
            <a:spLocks noChangeArrowheads="1"/>
          </p:cNvSpPr>
          <p:nvPr/>
        </p:nvSpPr>
        <p:spPr bwMode="auto">
          <a:xfrm>
            <a:off x="1432745" y="3670247"/>
            <a:ext cx="160522" cy="139733"/>
          </a:xfrm>
          <a:prstGeom prst="triangle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  <a:miter lim="800000"/>
            <a:headEnd/>
            <a:tailEnd type="none" w="med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 sz="240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4" name="AutoShape 30"/>
          <p:cNvSpPr>
            <a:spLocks noChangeArrowheads="1"/>
          </p:cNvSpPr>
          <p:nvPr/>
        </p:nvSpPr>
        <p:spPr bwMode="auto">
          <a:xfrm>
            <a:off x="1432745" y="4018759"/>
            <a:ext cx="160522" cy="138089"/>
          </a:xfrm>
          <a:prstGeom prst="triangle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  <a:miter lim="800000"/>
            <a:headEnd/>
            <a:tailEnd type="none" w="med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 sz="240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6" name="AutoShape 31"/>
          <p:cNvSpPr>
            <a:spLocks noChangeArrowheads="1"/>
          </p:cNvSpPr>
          <p:nvPr/>
        </p:nvSpPr>
        <p:spPr bwMode="auto">
          <a:xfrm>
            <a:off x="1432745" y="4367270"/>
            <a:ext cx="160522" cy="138089"/>
          </a:xfrm>
          <a:prstGeom prst="triangle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  <a:miter lim="800000"/>
            <a:headEnd/>
            <a:tailEnd type="none" w="med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 sz="240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7" name="AutoShape 32"/>
          <p:cNvSpPr>
            <a:spLocks noChangeArrowheads="1"/>
          </p:cNvSpPr>
          <p:nvPr/>
        </p:nvSpPr>
        <p:spPr bwMode="auto">
          <a:xfrm>
            <a:off x="1432745" y="4714137"/>
            <a:ext cx="160522" cy="139734"/>
          </a:xfrm>
          <a:prstGeom prst="triangle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  <a:miter lim="800000"/>
            <a:headEnd/>
            <a:tailEnd type="none" w="med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 sz="240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9" name="AutoShape 33"/>
          <p:cNvSpPr>
            <a:spLocks noChangeArrowheads="1"/>
          </p:cNvSpPr>
          <p:nvPr/>
        </p:nvSpPr>
        <p:spPr bwMode="auto">
          <a:xfrm>
            <a:off x="1432745" y="5062648"/>
            <a:ext cx="160522" cy="138089"/>
          </a:xfrm>
          <a:prstGeom prst="triangle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  <a:miter lim="800000"/>
            <a:headEnd/>
            <a:tailEnd type="none" w="med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 sz="240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2" name="AutoShape 34"/>
          <p:cNvSpPr>
            <a:spLocks noChangeArrowheads="1"/>
          </p:cNvSpPr>
          <p:nvPr/>
        </p:nvSpPr>
        <p:spPr bwMode="auto">
          <a:xfrm>
            <a:off x="1432745" y="5411159"/>
            <a:ext cx="160522" cy="138089"/>
          </a:xfrm>
          <a:prstGeom prst="triangle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  <a:miter lim="800000"/>
            <a:headEnd/>
            <a:tailEnd type="none" w="med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 sz="240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3" name="AutoShape 35"/>
          <p:cNvSpPr>
            <a:spLocks noChangeArrowheads="1"/>
          </p:cNvSpPr>
          <p:nvPr/>
        </p:nvSpPr>
        <p:spPr bwMode="auto">
          <a:xfrm>
            <a:off x="1432745" y="5758027"/>
            <a:ext cx="160522" cy="139733"/>
          </a:xfrm>
          <a:prstGeom prst="triangle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  <a:miter lim="800000"/>
            <a:headEnd/>
            <a:tailEnd type="none" w="med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 sz="240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4" name="AutoShape 36"/>
          <p:cNvSpPr>
            <a:spLocks noChangeArrowheads="1"/>
          </p:cNvSpPr>
          <p:nvPr/>
        </p:nvSpPr>
        <p:spPr bwMode="auto">
          <a:xfrm>
            <a:off x="1833104" y="3323379"/>
            <a:ext cx="160522" cy="139734"/>
          </a:xfrm>
          <a:prstGeom prst="pentagon">
            <a:avLst/>
          </a:prstGeom>
          <a:solidFill>
            <a:schemeClr val="bg1"/>
          </a:solidFill>
          <a:ln w="6350">
            <a:solidFill>
              <a:schemeClr val="tx1"/>
            </a:solidFill>
            <a:miter lim="800000"/>
            <a:headEnd/>
            <a:tailEnd type="none" w="med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 sz="240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5" name="AutoShape 37"/>
          <p:cNvSpPr>
            <a:spLocks noChangeArrowheads="1"/>
          </p:cNvSpPr>
          <p:nvPr/>
        </p:nvSpPr>
        <p:spPr bwMode="auto">
          <a:xfrm>
            <a:off x="1833104" y="3670247"/>
            <a:ext cx="160522" cy="139733"/>
          </a:xfrm>
          <a:prstGeom prst="pentagon">
            <a:avLst/>
          </a:prstGeom>
          <a:solidFill>
            <a:schemeClr val="bg1"/>
          </a:solidFill>
          <a:ln w="6350">
            <a:solidFill>
              <a:schemeClr val="tx1"/>
            </a:solidFill>
            <a:miter lim="800000"/>
            <a:headEnd/>
            <a:tailEnd type="none" w="med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 sz="240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6" name="AutoShape 38"/>
          <p:cNvSpPr>
            <a:spLocks noChangeArrowheads="1"/>
          </p:cNvSpPr>
          <p:nvPr/>
        </p:nvSpPr>
        <p:spPr bwMode="auto">
          <a:xfrm>
            <a:off x="1833104" y="4018759"/>
            <a:ext cx="160522" cy="138089"/>
          </a:xfrm>
          <a:prstGeom prst="pentagon">
            <a:avLst/>
          </a:prstGeom>
          <a:solidFill>
            <a:schemeClr val="bg1"/>
          </a:solidFill>
          <a:ln w="6350">
            <a:solidFill>
              <a:schemeClr val="tx1"/>
            </a:solidFill>
            <a:miter lim="800000"/>
            <a:headEnd/>
            <a:tailEnd type="none" w="med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 sz="240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7" name="AutoShape 39"/>
          <p:cNvSpPr>
            <a:spLocks noChangeArrowheads="1"/>
          </p:cNvSpPr>
          <p:nvPr/>
        </p:nvSpPr>
        <p:spPr bwMode="auto">
          <a:xfrm>
            <a:off x="1833104" y="4367270"/>
            <a:ext cx="160522" cy="138089"/>
          </a:xfrm>
          <a:prstGeom prst="pentagon">
            <a:avLst/>
          </a:prstGeom>
          <a:solidFill>
            <a:schemeClr val="bg1"/>
          </a:solidFill>
          <a:ln w="6350">
            <a:solidFill>
              <a:schemeClr val="tx1"/>
            </a:solidFill>
            <a:miter lim="800000"/>
            <a:headEnd/>
            <a:tailEnd type="none" w="med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 sz="240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8" name="AutoShape 40"/>
          <p:cNvSpPr>
            <a:spLocks noChangeArrowheads="1"/>
          </p:cNvSpPr>
          <p:nvPr/>
        </p:nvSpPr>
        <p:spPr bwMode="auto">
          <a:xfrm>
            <a:off x="1833104" y="4714137"/>
            <a:ext cx="160522" cy="139734"/>
          </a:xfrm>
          <a:prstGeom prst="pentagon">
            <a:avLst/>
          </a:prstGeom>
          <a:solidFill>
            <a:schemeClr val="bg1"/>
          </a:solidFill>
          <a:ln w="6350">
            <a:solidFill>
              <a:schemeClr val="tx1"/>
            </a:solidFill>
            <a:miter lim="800000"/>
            <a:headEnd/>
            <a:tailEnd type="none" w="med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 sz="240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9" name="AutoShape 41"/>
          <p:cNvSpPr>
            <a:spLocks noChangeArrowheads="1"/>
          </p:cNvSpPr>
          <p:nvPr/>
        </p:nvSpPr>
        <p:spPr bwMode="auto">
          <a:xfrm>
            <a:off x="1833104" y="5062648"/>
            <a:ext cx="160522" cy="138089"/>
          </a:xfrm>
          <a:prstGeom prst="pentagon">
            <a:avLst/>
          </a:prstGeom>
          <a:solidFill>
            <a:schemeClr val="bg1"/>
          </a:solidFill>
          <a:ln w="6350">
            <a:solidFill>
              <a:schemeClr val="tx1"/>
            </a:solidFill>
            <a:miter lim="800000"/>
            <a:headEnd/>
            <a:tailEnd type="none" w="med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 sz="240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0" name="AutoShape 42"/>
          <p:cNvSpPr>
            <a:spLocks noChangeArrowheads="1"/>
          </p:cNvSpPr>
          <p:nvPr/>
        </p:nvSpPr>
        <p:spPr bwMode="auto">
          <a:xfrm>
            <a:off x="1833104" y="5411159"/>
            <a:ext cx="160522" cy="138089"/>
          </a:xfrm>
          <a:prstGeom prst="pentagon">
            <a:avLst/>
          </a:prstGeom>
          <a:solidFill>
            <a:schemeClr val="bg1"/>
          </a:solidFill>
          <a:ln w="6350">
            <a:solidFill>
              <a:schemeClr val="tx1"/>
            </a:solidFill>
            <a:miter lim="800000"/>
            <a:headEnd/>
            <a:tailEnd type="none" w="med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 sz="240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1" name="AutoShape 43"/>
          <p:cNvSpPr>
            <a:spLocks noChangeArrowheads="1"/>
          </p:cNvSpPr>
          <p:nvPr/>
        </p:nvSpPr>
        <p:spPr bwMode="auto">
          <a:xfrm>
            <a:off x="1833104" y="5758027"/>
            <a:ext cx="160522" cy="139733"/>
          </a:xfrm>
          <a:prstGeom prst="pentagon">
            <a:avLst/>
          </a:prstGeom>
          <a:solidFill>
            <a:schemeClr val="bg1"/>
          </a:solidFill>
          <a:ln w="6350">
            <a:solidFill>
              <a:schemeClr val="tx1"/>
            </a:solidFill>
            <a:miter lim="800000"/>
            <a:headEnd/>
            <a:tailEnd type="none" w="med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 sz="240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2" name="AutoShape 44"/>
          <p:cNvSpPr>
            <a:spLocks noChangeArrowheads="1"/>
          </p:cNvSpPr>
          <p:nvPr/>
        </p:nvSpPr>
        <p:spPr bwMode="auto">
          <a:xfrm>
            <a:off x="2233462" y="3323379"/>
            <a:ext cx="158633" cy="139734"/>
          </a:xfrm>
          <a:prstGeom prst="plus">
            <a:avLst>
              <a:gd name="adj" fmla="val 25000"/>
            </a:avLst>
          </a:prstGeom>
          <a:solidFill>
            <a:schemeClr val="bg1"/>
          </a:solidFill>
          <a:ln w="6350">
            <a:solidFill>
              <a:schemeClr val="tx1"/>
            </a:solidFill>
            <a:miter lim="800000"/>
            <a:headEnd/>
            <a:tailEnd type="none" w="med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 sz="240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3" name="AutoShape 45"/>
          <p:cNvSpPr>
            <a:spLocks noChangeArrowheads="1"/>
          </p:cNvSpPr>
          <p:nvPr/>
        </p:nvSpPr>
        <p:spPr bwMode="auto">
          <a:xfrm>
            <a:off x="2233462" y="3670247"/>
            <a:ext cx="158633" cy="139733"/>
          </a:xfrm>
          <a:prstGeom prst="plus">
            <a:avLst>
              <a:gd name="adj" fmla="val 25000"/>
            </a:avLst>
          </a:prstGeom>
          <a:solidFill>
            <a:schemeClr val="bg1"/>
          </a:solidFill>
          <a:ln w="6350">
            <a:solidFill>
              <a:schemeClr val="tx1"/>
            </a:solidFill>
            <a:miter lim="800000"/>
            <a:headEnd/>
            <a:tailEnd type="none" w="med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 sz="240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4" name="AutoShape 46"/>
          <p:cNvSpPr>
            <a:spLocks noChangeArrowheads="1"/>
          </p:cNvSpPr>
          <p:nvPr/>
        </p:nvSpPr>
        <p:spPr bwMode="auto">
          <a:xfrm>
            <a:off x="2233462" y="4018759"/>
            <a:ext cx="158633" cy="138089"/>
          </a:xfrm>
          <a:prstGeom prst="plus">
            <a:avLst>
              <a:gd name="adj" fmla="val 25000"/>
            </a:avLst>
          </a:prstGeom>
          <a:solidFill>
            <a:schemeClr val="bg1"/>
          </a:solidFill>
          <a:ln w="6350">
            <a:solidFill>
              <a:schemeClr val="tx1"/>
            </a:solidFill>
            <a:miter lim="800000"/>
            <a:headEnd/>
            <a:tailEnd type="none" w="med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 sz="240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5" name="AutoShape 47"/>
          <p:cNvSpPr>
            <a:spLocks noChangeArrowheads="1"/>
          </p:cNvSpPr>
          <p:nvPr/>
        </p:nvSpPr>
        <p:spPr bwMode="auto">
          <a:xfrm>
            <a:off x="2233462" y="4367270"/>
            <a:ext cx="158633" cy="138089"/>
          </a:xfrm>
          <a:prstGeom prst="plus">
            <a:avLst>
              <a:gd name="adj" fmla="val 25000"/>
            </a:avLst>
          </a:prstGeom>
          <a:solidFill>
            <a:schemeClr val="bg1"/>
          </a:solidFill>
          <a:ln w="6350">
            <a:solidFill>
              <a:schemeClr val="tx1"/>
            </a:solidFill>
            <a:miter lim="800000"/>
            <a:headEnd/>
            <a:tailEnd type="none" w="med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 sz="240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6" name="AutoShape 48"/>
          <p:cNvSpPr>
            <a:spLocks noChangeArrowheads="1"/>
          </p:cNvSpPr>
          <p:nvPr/>
        </p:nvSpPr>
        <p:spPr bwMode="auto">
          <a:xfrm>
            <a:off x="2233462" y="4714137"/>
            <a:ext cx="158633" cy="139734"/>
          </a:xfrm>
          <a:prstGeom prst="plus">
            <a:avLst>
              <a:gd name="adj" fmla="val 25000"/>
            </a:avLst>
          </a:prstGeom>
          <a:solidFill>
            <a:schemeClr val="bg1"/>
          </a:solidFill>
          <a:ln w="6350">
            <a:solidFill>
              <a:schemeClr val="tx1"/>
            </a:solidFill>
            <a:miter lim="800000"/>
            <a:headEnd/>
            <a:tailEnd type="none" w="med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 sz="240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7" name="AutoShape 49"/>
          <p:cNvSpPr>
            <a:spLocks noChangeArrowheads="1"/>
          </p:cNvSpPr>
          <p:nvPr/>
        </p:nvSpPr>
        <p:spPr bwMode="auto">
          <a:xfrm>
            <a:off x="2233462" y="5062648"/>
            <a:ext cx="158633" cy="138089"/>
          </a:xfrm>
          <a:prstGeom prst="plus">
            <a:avLst>
              <a:gd name="adj" fmla="val 25000"/>
            </a:avLst>
          </a:prstGeom>
          <a:solidFill>
            <a:schemeClr val="bg1"/>
          </a:solidFill>
          <a:ln w="6350">
            <a:solidFill>
              <a:schemeClr val="tx1"/>
            </a:solidFill>
            <a:miter lim="800000"/>
            <a:headEnd/>
            <a:tailEnd type="none" w="med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 sz="240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8" name="AutoShape 50"/>
          <p:cNvSpPr>
            <a:spLocks noChangeArrowheads="1"/>
          </p:cNvSpPr>
          <p:nvPr/>
        </p:nvSpPr>
        <p:spPr bwMode="auto">
          <a:xfrm>
            <a:off x="2233462" y="5411159"/>
            <a:ext cx="158633" cy="138089"/>
          </a:xfrm>
          <a:prstGeom prst="plus">
            <a:avLst>
              <a:gd name="adj" fmla="val 25000"/>
            </a:avLst>
          </a:prstGeom>
          <a:solidFill>
            <a:schemeClr val="bg1"/>
          </a:solidFill>
          <a:ln w="6350">
            <a:solidFill>
              <a:schemeClr val="tx1"/>
            </a:solidFill>
            <a:miter lim="800000"/>
            <a:headEnd/>
            <a:tailEnd type="none" w="med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 sz="240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9" name="AutoShape 51"/>
          <p:cNvSpPr>
            <a:spLocks noChangeArrowheads="1"/>
          </p:cNvSpPr>
          <p:nvPr/>
        </p:nvSpPr>
        <p:spPr bwMode="auto">
          <a:xfrm>
            <a:off x="2233462" y="5758027"/>
            <a:ext cx="158633" cy="139733"/>
          </a:xfrm>
          <a:prstGeom prst="plus">
            <a:avLst>
              <a:gd name="adj" fmla="val 25000"/>
            </a:avLst>
          </a:prstGeom>
          <a:solidFill>
            <a:schemeClr val="bg1"/>
          </a:solidFill>
          <a:ln w="6350">
            <a:solidFill>
              <a:schemeClr val="tx1"/>
            </a:solidFill>
            <a:miter lim="800000"/>
            <a:headEnd/>
            <a:tailEnd type="none" w="med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 sz="240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0" name="AutoShape 52"/>
          <p:cNvSpPr>
            <a:spLocks noChangeArrowheads="1"/>
          </p:cNvSpPr>
          <p:nvPr/>
        </p:nvSpPr>
        <p:spPr bwMode="auto">
          <a:xfrm>
            <a:off x="2633820" y="3323379"/>
            <a:ext cx="160522" cy="139734"/>
          </a:xfrm>
          <a:prstGeom prst="cube">
            <a:avLst>
              <a:gd name="adj" fmla="val 25000"/>
            </a:avLst>
          </a:prstGeom>
          <a:solidFill>
            <a:schemeClr val="bg1"/>
          </a:solidFill>
          <a:ln w="6350">
            <a:solidFill>
              <a:schemeClr val="tx1"/>
            </a:solidFill>
            <a:miter lim="800000"/>
            <a:headEnd/>
            <a:tailEnd type="none" w="med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 sz="240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1" name="AutoShape 53"/>
          <p:cNvSpPr>
            <a:spLocks noChangeArrowheads="1"/>
          </p:cNvSpPr>
          <p:nvPr/>
        </p:nvSpPr>
        <p:spPr bwMode="auto">
          <a:xfrm>
            <a:off x="2633820" y="3670247"/>
            <a:ext cx="160522" cy="139733"/>
          </a:xfrm>
          <a:prstGeom prst="cube">
            <a:avLst>
              <a:gd name="adj" fmla="val 25000"/>
            </a:avLst>
          </a:prstGeom>
          <a:solidFill>
            <a:schemeClr val="bg1"/>
          </a:solidFill>
          <a:ln w="6350">
            <a:solidFill>
              <a:schemeClr val="tx1"/>
            </a:solidFill>
            <a:miter lim="800000"/>
            <a:headEnd/>
            <a:tailEnd type="none" w="med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 sz="240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2" name="AutoShape 54"/>
          <p:cNvSpPr>
            <a:spLocks noChangeArrowheads="1"/>
          </p:cNvSpPr>
          <p:nvPr/>
        </p:nvSpPr>
        <p:spPr bwMode="auto">
          <a:xfrm>
            <a:off x="2633820" y="4018759"/>
            <a:ext cx="160522" cy="138089"/>
          </a:xfrm>
          <a:prstGeom prst="cube">
            <a:avLst>
              <a:gd name="adj" fmla="val 25000"/>
            </a:avLst>
          </a:prstGeom>
          <a:solidFill>
            <a:schemeClr val="bg1"/>
          </a:solidFill>
          <a:ln w="6350">
            <a:solidFill>
              <a:schemeClr val="tx1"/>
            </a:solidFill>
            <a:miter lim="800000"/>
            <a:headEnd/>
            <a:tailEnd type="none" w="med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 sz="240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3" name="AutoShape 55"/>
          <p:cNvSpPr>
            <a:spLocks noChangeArrowheads="1"/>
          </p:cNvSpPr>
          <p:nvPr/>
        </p:nvSpPr>
        <p:spPr bwMode="auto">
          <a:xfrm>
            <a:off x="2633820" y="4367270"/>
            <a:ext cx="160522" cy="138089"/>
          </a:xfrm>
          <a:prstGeom prst="cube">
            <a:avLst>
              <a:gd name="adj" fmla="val 25000"/>
            </a:avLst>
          </a:prstGeom>
          <a:solidFill>
            <a:schemeClr val="bg1"/>
          </a:solidFill>
          <a:ln w="6350">
            <a:solidFill>
              <a:schemeClr val="tx1"/>
            </a:solidFill>
            <a:miter lim="800000"/>
            <a:headEnd/>
            <a:tailEnd type="none" w="med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 sz="240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4" name="AutoShape 56"/>
          <p:cNvSpPr>
            <a:spLocks noChangeArrowheads="1"/>
          </p:cNvSpPr>
          <p:nvPr/>
        </p:nvSpPr>
        <p:spPr bwMode="auto">
          <a:xfrm>
            <a:off x="2633820" y="4714137"/>
            <a:ext cx="160522" cy="139734"/>
          </a:xfrm>
          <a:prstGeom prst="cube">
            <a:avLst>
              <a:gd name="adj" fmla="val 25000"/>
            </a:avLst>
          </a:prstGeom>
          <a:solidFill>
            <a:schemeClr val="bg1"/>
          </a:solidFill>
          <a:ln w="6350">
            <a:solidFill>
              <a:schemeClr val="tx1"/>
            </a:solidFill>
            <a:miter lim="800000"/>
            <a:headEnd/>
            <a:tailEnd type="none" w="med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 sz="240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5" name="AutoShape 57"/>
          <p:cNvSpPr>
            <a:spLocks noChangeArrowheads="1"/>
          </p:cNvSpPr>
          <p:nvPr/>
        </p:nvSpPr>
        <p:spPr bwMode="auto">
          <a:xfrm>
            <a:off x="2633820" y="5062648"/>
            <a:ext cx="160522" cy="138089"/>
          </a:xfrm>
          <a:prstGeom prst="cube">
            <a:avLst>
              <a:gd name="adj" fmla="val 25000"/>
            </a:avLst>
          </a:prstGeom>
          <a:solidFill>
            <a:schemeClr val="bg1"/>
          </a:solidFill>
          <a:ln w="6350">
            <a:solidFill>
              <a:schemeClr val="tx1"/>
            </a:solidFill>
            <a:miter lim="800000"/>
            <a:headEnd/>
            <a:tailEnd type="none" w="med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 sz="240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6" name="AutoShape 58"/>
          <p:cNvSpPr>
            <a:spLocks noChangeArrowheads="1"/>
          </p:cNvSpPr>
          <p:nvPr/>
        </p:nvSpPr>
        <p:spPr bwMode="auto">
          <a:xfrm>
            <a:off x="2633820" y="5411159"/>
            <a:ext cx="160522" cy="138089"/>
          </a:xfrm>
          <a:prstGeom prst="cube">
            <a:avLst>
              <a:gd name="adj" fmla="val 25000"/>
            </a:avLst>
          </a:prstGeom>
          <a:solidFill>
            <a:schemeClr val="bg1"/>
          </a:solidFill>
          <a:ln w="6350">
            <a:solidFill>
              <a:schemeClr val="tx1"/>
            </a:solidFill>
            <a:miter lim="800000"/>
            <a:headEnd/>
            <a:tailEnd type="none" w="med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 sz="240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7" name="AutoShape 59"/>
          <p:cNvSpPr>
            <a:spLocks noChangeArrowheads="1"/>
          </p:cNvSpPr>
          <p:nvPr/>
        </p:nvSpPr>
        <p:spPr bwMode="auto">
          <a:xfrm>
            <a:off x="2633820" y="5758027"/>
            <a:ext cx="160522" cy="139733"/>
          </a:xfrm>
          <a:prstGeom prst="cube">
            <a:avLst>
              <a:gd name="adj" fmla="val 25000"/>
            </a:avLst>
          </a:prstGeom>
          <a:solidFill>
            <a:schemeClr val="bg1"/>
          </a:solidFill>
          <a:ln w="6350">
            <a:solidFill>
              <a:schemeClr val="tx1"/>
            </a:solidFill>
            <a:miter lim="800000"/>
            <a:headEnd/>
            <a:tailEnd type="none" w="med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 sz="240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8" name="AutoShape 60"/>
          <p:cNvSpPr>
            <a:spLocks noChangeArrowheads="1"/>
          </p:cNvSpPr>
          <p:nvPr/>
        </p:nvSpPr>
        <p:spPr bwMode="auto">
          <a:xfrm>
            <a:off x="3034178" y="3323379"/>
            <a:ext cx="158633" cy="139734"/>
          </a:xfrm>
          <a:prstGeom prst="diamond">
            <a:avLst/>
          </a:prstGeom>
          <a:solidFill>
            <a:schemeClr val="bg1"/>
          </a:solidFill>
          <a:ln w="6350">
            <a:solidFill>
              <a:schemeClr val="tx1"/>
            </a:solidFill>
            <a:miter lim="800000"/>
            <a:headEnd/>
            <a:tailEnd type="none" w="med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 sz="240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9" name="AutoShape 61"/>
          <p:cNvSpPr>
            <a:spLocks noChangeArrowheads="1"/>
          </p:cNvSpPr>
          <p:nvPr/>
        </p:nvSpPr>
        <p:spPr bwMode="auto">
          <a:xfrm>
            <a:off x="3034178" y="3670247"/>
            <a:ext cx="158633" cy="139733"/>
          </a:xfrm>
          <a:prstGeom prst="diamond">
            <a:avLst/>
          </a:prstGeom>
          <a:solidFill>
            <a:schemeClr val="bg1"/>
          </a:solidFill>
          <a:ln w="6350">
            <a:solidFill>
              <a:schemeClr val="tx1"/>
            </a:solidFill>
            <a:miter lim="800000"/>
            <a:headEnd/>
            <a:tailEnd type="none" w="med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 sz="240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0" name="AutoShape 62"/>
          <p:cNvSpPr>
            <a:spLocks noChangeArrowheads="1"/>
          </p:cNvSpPr>
          <p:nvPr/>
        </p:nvSpPr>
        <p:spPr bwMode="auto">
          <a:xfrm>
            <a:off x="3034178" y="4018759"/>
            <a:ext cx="158633" cy="138089"/>
          </a:xfrm>
          <a:prstGeom prst="diamond">
            <a:avLst/>
          </a:prstGeom>
          <a:solidFill>
            <a:schemeClr val="bg1"/>
          </a:solidFill>
          <a:ln w="6350">
            <a:solidFill>
              <a:schemeClr val="tx1"/>
            </a:solidFill>
            <a:miter lim="800000"/>
            <a:headEnd/>
            <a:tailEnd type="none" w="med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 sz="240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1" name="AutoShape 63"/>
          <p:cNvSpPr>
            <a:spLocks noChangeArrowheads="1"/>
          </p:cNvSpPr>
          <p:nvPr/>
        </p:nvSpPr>
        <p:spPr bwMode="auto">
          <a:xfrm>
            <a:off x="3034178" y="4367270"/>
            <a:ext cx="158633" cy="138089"/>
          </a:xfrm>
          <a:prstGeom prst="diamond">
            <a:avLst/>
          </a:prstGeom>
          <a:solidFill>
            <a:schemeClr val="bg1"/>
          </a:solidFill>
          <a:ln w="6350">
            <a:solidFill>
              <a:schemeClr val="tx1"/>
            </a:solidFill>
            <a:miter lim="800000"/>
            <a:headEnd/>
            <a:tailEnd type="none" w="med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 sz="240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2" name="AutoShape 64"/>
          <p:cNvSpPr>
            <a:spLocks noChangeArrowheads="1"/>
          </p:cNvSpPr>
          <p:nvPr/>
        </p:nvSpPr>
        <p:spPr bwMode="auto">
          <a:xfrm>
            <a:off x="3034178" y="4714137"/>
            <a:ext cx="158633" cy="139734"/>
          </a:xfrm>
          <a:prstGeom prst="diamond">
            <a:avLst/>
          </a:prstGeom>
          <a:solidFill>
            <a:schemeClr val="bg1"/>
          </a:solidFill>
          <a:ln w="6350">
            <a:solidFill>
              <a:schemeClr val="tx1"/>
            </a:solidFill>
            <a:miter lim="800000"/>
            <a:headEnd/>
            <a:tailEnd type="none" w="med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 sz="240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3" name="AutoShape 65"/>
          <p:cNvSpPr>
            <a:spLocks noChangeArrowheads="1"/>
          </p:cNvSpPr>
          <p:nvPr/>
        </p:nvSpPr>
        <p:spPr bwMode="auto">
          <a:xfrm>
            <a:off x="3034178" y="5062648"/>
            <a:ext cx="158633" cy="138089"/>
          </a:xfrm>
          <a:prstGeom prst="diamond">
            <a:avLst/>
          </a:prstGeom>
          <a:solidFill>
            <a:schemeClr val="bg1"/>
          </a:solidFill>
          <a:ln w="6350">
            <a:solidFill>
              <a:schemeClr val="tx1"/>
            </a:solidFill>
            <a:miter lim="800000"/>
            <a:headEnd/>
            <a:tailEnd type="none" w="med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 sz="240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4" name="AutoShape 66"/>
          <p:cNvSpPr>
            <a:spLocks noChangeArrowheads="1"/>
          </p:cNvSpPr>
          <p:nvPr/>
        </p:nvSpPr>
        <p:spPr bwMode="auto">
          <a:xfrm>
            <a:off x="3034178" y="5411159"/>
            <a:ext cx="158633" cy="138089"/>
          </a:xfrm>
          <a:prstGeom prst="diamond">
            <a:avLst/>
          </a:prstGeom>
          <a:solidFill>
            <a:schemeClr val="bg1"/>
          </a:solidFill>
          <a:ln w="6350">
            <a:solidFill>
              <a:schemeClr val="tx1"/>
            </a:solidFill>
            <a:miter lim="800000"/>
            <a:headEnd/>
            <a:tailEnd type="none" w="med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 sz="240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5" name="AutoShape 67"/>
          <p:cNvSpPr>
            <a:spLocks noChangeArrowheads="1"/>
          </p:cNvSpPr>
          <p:nvPr/>
        </p:nvSpPr>
        <p:spPr bwMode="auto">
          <a:xfrm>
            <a:off x="3034178" y="5758027"/>
            <a:ext cx="158633" cy="139733"/>
          </a:xfrm>
          <a:prstGeom prst="diamond">
            <a:avLst/>
          </a:prstGeom>
          <a:solidFill>
            <a:schemeClr val="bg1"/>
          </a:solidFill>
          <a:ln w="6350">
            <a:solidFill>
              <a:schemeClr val="tx1"/>
            </a:solidFill>
            <a:miter lim="800000"/>
            <a:headEnd/>
            <a:tailEnd type="none" w="med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 sz="240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6" name="AutoShape 68"/>
          <p:cNvSpPr>
            <a:spLocks noChangeArrowheads="1"/>
          </p:cNvSpPr>
          <p:nvPr/>
        </p:nvSpPr>
        <p:spPr bwMode="auto">
          <a:xfrm>
            <a:off x="3432649" y="3323379"/>
            <a:ext cx="160520" cy="139734"/>
          </a:xfrm>
          <a:prstGeom prst="parallelogram">
            <a:avLst>
              <a:gd name="adj" fmla="val 25000"/>
            </a:avLst>
          </a:prstGeom>
          <a:solidFill>
            <a:schemeClr val="bg1"/>
          </a:solidFill>
          <a:ln w="6350">
            <a:solidFill>
              <a:schemeClr val="tx1"/>
            </a:solidFill>
            <a:miter lim="800000"/>
            <a:headEnd/>
            <a:tailEnd type="none" w="med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 sz="240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7" name="AutoShape 69"/>
          <p:cNvSpPr>
            <a:spLocks noChangeArrowheads="1"/>
          </p:cNvSpPr>
          <p:nvPr/>
        </p:nvSpPr>
        <p:spPr bwMode="auto">
          <a:xfrm>
            <a:off x="3432649" y="3670247"/>
            <a:ext cx="160520" cy="139733"/>
          </a:xfrm>
          <a:prstGeom prst="parallelogram">
            <a:avLst>
              <a:gd name="adj" fmla="val 25000"/>
            </a:avLst>
          </a:prstGeom>
          <a:solidFill>
            <a:schemeClr val="bg1"/>
          </a:solidFill>
          <a:ln w="6350">
            <a:solidFill>
              <a:schemeClr val="tx1"/>
            </a:solidFill>
            <a:miter lim="800000"/>
            <a:headEnd/>
            <a:tailEnd type="none" w="med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 sz="240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8" name="AutoShape 70"/>
          <p:cNvSpPr>
            <a:spLocks noChangeArrowheads="1"/>
          </p:cNvSpPr>
          <p:nvPr/>
        </p:nvSpPr>
        <p:spPr bwMode="auto">
          <a:xfrm>
            <a:off x="3432649" y="4018759"/>
            <a:ext cx="160520" cy="138089"/>
          </a:xfrm>
          <a:prstGeom prst="parallelogram">
            <a:avLst>
              <a:gd name="adj" fmla="val 25298"/>
            </a:avLst>
          </a:prstGeom>
          <a:solidFill>
            <a:schemeClr val="bg1"/>
          </a:solidFill>
          <a:ln w="6350">
            <a:solidFill>
              <a:schemeClr val="tx1"/>
            </a:solidFill>
            <a:miter lim="800000"/>
            <a:headEnd/>
            <a:tailEnd type="none" w="med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 sz="240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9" name="AutoShape 71"/>
          <p:cNvSpPr>
            <a:spLocks noChangeArrowheads="1"/>
          </p:cNvSpPr>
          <p:nvPr/>
        </p:nvSpPr>
        <p:spPr bwMode="auto">
          <a:xfrm>
            <a:off x="3432649" y="4367270"/>
            <a:ext cx="160520" cy="138089"/>
          </a:xfrm>
          <a:prstGeom prst="parallelogram">
            <a:avLst>
              <a:gd name="adj" fmla="val 25298"/>
            </a:avLst>
          </a:prstGeom>
          <a:solidFill>
            <a:schemeClr val="bg1"/>
          </a:solidFill>
          <a:ln w="6350">
            <a:solidFill>
              <a:schemeClr val="tx1"/>
            </a:solidFill>
            <a:miter lim="800000"/>
            <a:headEnd/>
            <a:tailEnd type="none" w="med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 sz="240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10" name="AutoShape 72"/>
          <p:cNvSpPr>
            <a:spLocks noChangeArrowheads="1"/>
          </p:cNvSpPr>
          <p:nvPr/>
        </p:nvSpPr>
        <p:spPr bwMode="auto">
          <a:xfrm>
            <a:off x="3432649" y="4714137"/>
            <a:ext cx="160520" cy="139734"/>
          </a:xfrm>
          <a:prstGeom prst="parallelogram">
            <a:avLst>
              <a:gd name="adj" fmla="val 25000"/>
            </a:avLst>
          </a:prstGeom>
          <a:solidFill>
            <a:schemeClr val="bg1"/>
          </a:solidFill>
          <a:ln w="6350">
            <a:solidFill>
              <a:schemeClr val="tx1"/>
            </a:solidFill>
            <a:miter lim="800000"/>
            <a:headEnd/>
            <a:tailEnd type="none" w="med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 sz="240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11" name="AutoShape 73"/>
          <p:cNvSpPr>
            <a:spLocks noChangeArrowheads="1"/>
          </p:cNvSpPr>
          <p:nvPr/>
        </p:nvSpPr>
        <p:spPr bwMode="auto">
          <a:xfrm>
            <a:off x="3432649" y="5062648"/>
            <a:ext cx="160520" cy="138089"/>
          </a:xfrm>
          <a:prstGeom prst="parallelogram">
            <a:avLst>
              <a:gd name="adj" fmla="val 25298"/>
            </a:avLst>
          </a:prstGeom>
          <a:solidFill>
            <a:schemeClr val="bg1"/>
          </a:solidFill>
          <a:ln w="6350">
            <a:solidFill>
              <a:schemeClr val="tx1"/>
            </a:solidFill>
            <a:miter lim="800000"/>
            <a:headEnd/>
            <a:tailEnd type="none" w="med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 sz="240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12" name="AutoShape 74"/>
          <p:cNvSpPr>
            <a:spLocks noChangeArrowheads="1"/>
          </p:cNvSpPr>
          <p:nvPr/>
        </p:nvSpPr>
        <p:spPr bwMode="auto">
          <a:xfrm>
            <a:off x="3432649" y="5411159"/>
            <a:ext cx="160520" cy="138089"/>
          </a:xfrm>
          <a:prstGeom prst="parallelogram">
            <a:avLst>
              <a:gd name="adj" fmla="val 25298"/>
            </a:avLst>
          </a:prstGeom>
          <a:solidFill>
            <a:schemeClr val="bg1"/>
          </a:solidFill>
          <a:ln w="6350">
            <a:solidFill>
              <a:schemeClr val="tx1"/>
            </a:solidFill>
            <a:miter lim="800000"/>
            <a:headEnd/>
            <a:tailEnd type="none" w="med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 sz="240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13" name="AutoShape 75"/>
          <p:cNvSpPr>
            <a:spLocks noChangeArrowheads="1"/>
          </p:cNvSpPr>
          <p:nvPr/>
        </p:nvSpPr>
        <p:spPr bwMode="auto">
          <a:xfrm>
            <a:off x="3432649" y="5758027"/>
            <a:ext cx="160520" cy="139733"/>
          </a:xfrm>
          <a:prstGeom prst="parallelogram">
            <a:avLst>
              <a:gd name="adj" fmla="val 25000"/>
            </a:avLst>
          </a:prstGeom>
          <a:solidFill>
            <a:schemeClr val="bg1"/>
          </a:solidFill>
          <a:ln w="6350">
            <a:solidFill>
              <a:schemeClr val="tx1"/>
            </a:solidFill>
            <a:miter lim="800000"/>
            <a:headEnd/>
            <a:tailEnd type="none" w="med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 sz="240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14" name="Text Box 76"/>
          <p:cNvSpPr txBox="1">
            <a:spLocks noChangeArrowheads="1"/>
          </p:cNvSpPr>
          <p:nvPr/>
        </p:nvSpPr>
        <p:spPr bwMode="auto">
          <a:xfrm rot="16200000">
            <a:off x="274212" y="2425714"/>
            <a:ext cx="978134" cy="2484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chemeClr val="tx1"/>
                </a:solidFill>
                <a:miter lim="800000"/>
                <a:headEnd/>
                <a:tailEnd type="none" w="med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>
              <a:spcBef>
                <a:spcPct val="50000"/>
              </a:spcBef>
            </a:pP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정보 </a:t>
            </a:r>
            <a:r>
              <a:rPr lang="ko-KR" altLang="en-US" sz="1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컨텐츠</a:t>
            </a:r>
            <a:endParaRPr lang="ko-KR" altLang="en-US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15" name="Text Box 77"/>
          <p:cNvSpPr txBox="1">
            <a:spLocks noChangeArrowheads="1"/>
          </p:cNvSpPr>
          <p:nvPr/>
        </p:nvSpPr>
        <p:spPr bwMode="auto">
          <a:xfrm rot="16200000">
            <a:off x="747962" y="2567091"/>
            <a:ext cx="695379" cy="2484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chemeClr val="tx1"/>
                </a:solidFill>
                <a:miter lim="800000"/>
                <a:headEnd/>
                <a:tailEnd type="none" w="med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>
              <a:spcBef>
                <a:spcPct val="50000"/>
              </a:spcBef>
            </a:pPr>
            <a:r>
              <a:rPr lang="ko-KR" altLang="en-US" sz="1000">
                <a:latin typeface="나눔고딕" panose="020D0604000000000000" pitchFamily="50" charset="-127"/>
                <a:ea typeface="나눔고딕" panose="020D0604000000000000" pitchFamily="50" charset="-127"/>
              </a:rPr>
              <a:t>서비스</a:t>
            </a:r>
            <a:endParaRPr lang="ko-KR" altLang="en-US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16" name="Text Box 78"/>
          <p:cNvSpPr txBox="1">
            <a:spLocks noChangeArrowheads="1"/>
          </p:cNvSpPr>
          <p:nvPr/>
        </p:nvSpPr>
        <p:spPr bwMode="auto">
          <a:xfrm rot="16200000">
            <a:off x="1135100" y="2567092"/>
            <a:ext cx="695379" cy="2484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chemeClr val="tx1"/>
                </a:solidFill>
                <a:miter lim="800000"/>
                <a:headEnd/>
                <a:tailEnd type="none" w="med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>
              <a:spcBef>
                <a:spcPct val="50000"/>
              </a:spcBef>
            </a:pP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커뮤니티</a:t>
            </a:r>
          </a:p>
        </p:txBody>
      </p:sp>
      <p:sp>
        <p:nvSpPr>
          <p:cNvPr id="117" name="Text Box 79"/>
          <p:cNvSpPr txBox="1">
            <a:spLocks noChangeArrowheads="1"/>
          </p:cNvSpPr>
          <p:nvPr/>
        </p:nvSpPr>
        <p:spPr bwMode="auto">
          <a:xfrm rot="16200000">
            <a:off x="1584559" y="2567092"/>
            <a:ext cx="695379" cy="2484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chemeClr val="tx1"/>
                </a:solidFill>
                <a:miter lim="800000"/>
                <a:headEnd/>
                <a:tailEnd type="none" w="med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>
              <a:spcBef>
                <a:spcPct val="50000"/>
              </a:spcBef>
            </a:pPr>
            <a:r>
              <a:rPr lang="en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XXX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가입</a:t>
            </a:r>
          </a:p>
        </p:txBody>
      </p:sp>
      <p:sp>
        <p:nvSpPr>
          <p:cNvPr id="118" name="Text Box 80"/>
          <p:cNvSpPr txBox="1">
            <a:spLocks noChangeArrowheads="1"/>
          </p:cNvSpPr>
          <p:nvPr/>
        </p:nvSpPr>
        <p:spPr bwMode="auto">
          <a:xfrm rot="16200000">
            <a:off x="1982208" y="2571200"/>
            <a:ext cx="697023" cy="2484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chemeClr val="tx1"/>
                </a:solidFill>
                <a:miter lim="800000"/>
                <a:headEnd/>
                <a:tailEnd type="none" w="med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>
              <a:spcBef>
                <a:spcPct val="50000"/>
              </a:spcBef>
            </a:pPr>
            <a:r>
              <a:rPr lang="ko-KR" altLang="en-US" sz="1000">
                <a:latin typeface="나눔고딕" panose="020D0604000000000000" pitchFamily="50" charset="-127"/>
                <a:ea typeface="나눔고딕" panose="020D0604000000000000" pitchFamily="50" charset="-127"/>
              </a:rPr>
              <a:t>고객지원</a:t>
            </a:r>
          </a:p>
        </p:txBody>
      </p:sp>
      <p:sp>
        <p:nvSpPr>
          <p:cNvPr id="119" name="Text Box 81"/>
          <p:cNvSpPr txBox="1">
            <a:spLocks noChangeArrowheads="1"/>
          </p:cNvSpPr>
          <p:nvPr/>
        </p:nvSpPr>
        <p:spPr bwMode="auto">
          <a:xfrm rot="16200000">
            <a:off x="2383388" y="2570379"/>
            <a:ext cx="695379" cy="2484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chemeClr val="tx1"/>
                </a:solidFill>
                <a:miter lim="800000"/>
                <a:headEnd/>
                <a:tailEnd type="none" w="med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>
              <a:spcBef>
                <a:spcPct val="50000"/>
              </a:spcBef>
            </a:pPr>
            <a:r>
              <a:rPr lang="ko-KR" altLang="en-US" sz="1000">
                <a:latin typeface="나눔고딕" panose="020D0604000000000000" pitchFamily="50" charset="-127"/>
                <a:ea typeface="나눔고딕" panose="020D0604000000000000" pitchFamily="50" charset="-127"/>
              </a:rPr>
              <a:t>모바일</a:t>
            </a:r>
          </a:p>
        </p:txBody>
      </p:sp>
      <p:sp>
        <p:nvSpPr>
          <p:cNvPr id="120" name="Text Box 82"/>
          <p:cNvSpPr txBox="1">
            <a:spLocks noChangeArrowheads="1"/>
          </p:cNvSpPr>
          <p:nvPr/>
        </p:nvSpPr>
        <p:spPr bwMode="auto">
          <a:xfrm rot="16200000">
            <a:off x="2641302" y="2355642"/>
            <a:ext cx="976489" cy="3869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chemeClr val="tx1"/>
                </a:solidFill>
                <a:miter lim="800000"/>
                <a:headEnd/>
                <a:tailEnd type="none" w="med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>
              <a:spcBef>
                <a:spcPct val="50000"/>
              </a:spcBef>
            </a:pPr>
            <a:r>
              <a:rPr lang="ko-KR" altLang="en-US" sz="1000">
                <a:latin typeface="나눔고딕" panose="020D0604000000000000" pitchFamily="50" charset="-127"/>
                <a:ea typeface="나눔고딕" panose="020D0604000000000000" pitchFamily="50" charset="-127"/>
              </a:rPr>
              <a:t>개인화 </a:t>
            </a:r>
          </a:p>
          <a:p>
            <a:pPr>
              <a:lnSpc>
                <a:spcPct val="40000"/>
              </a:lnSpc>
              <a:spcBef>
                <a:spcPct val="50000"/>
              </a:spcBef>
            </a:pPr>
            <a:r>
              <a:rPr lang="en-US" altLang="ko-KR" sz="100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000">
                <a:latin typeface="나눔고딕" panose="020D0604000000000000" pitchFamily="50" charset="-127"/>
                <a:ea typeface="나눔고딕" panose="020D0604000000000000" pitchFamily="50" charset="-127"/>
              </a:rPr>
              <a:t>정보</a:t>
            </a:r>
            <a:r>
              <a:rPr lang="en-US" altLang="ko-KR" sz="1000">
                <a:latin typeface="나눔고딕" panose="020D0604000000000000" pitchFamily="50" charset="-127"/>
                <a:ea typeface="나눔고딕" panose="020D0604000000000000" pitchFamily="50" charset="-127"/>
              </a:rPr>
              <a:t>/tool)</a:t>
            </a:r>
          </a:p>
        </p:txBody>
      </p:sp>
      <p:sp>
        <p:nvSpPr>
          <p:cNvPr id="121" name="Text Box 83"/>
          <p:cNvSpPr txBox="1">
            <a:spLocks noChangeArrowheads="1"/>
          </p:cNvSpPr>
          <p:nvPr/>
        </p:nvSpPr>
        <p:spPr bwMode="auto">
          <a:xfrm rot="16200000">
            <a:off x="3184926" y="2567913"/>
            <a:ext cx="693735" cy="2484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chemeClr val="tx1"/>
                </a:solidFill>
                <a:miter lim="800000"/>
                <a:headEnd/>
                <a:tailEnd type="none" w="med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>
              <a:spcBef>
                <a:spcPct val="50000"/>
              </a:spcBef>
            </a:pPr>
            <a:r>
              <a:rPr lang="ko-KR" altLang="en-US" sz="1000">
                <a:latin typeface="나눔고딕" panose="020D0604000000000000" pitchFamily="50" charset="-127"/>
                <a:ea typeface="나눔고딕" panose="020D0604000000000000" pitchFamily="50" charset="-127"/>
              </a:rPr>
              <a:t>기타</a:t>
            </a:r>
          </a:p>
        </p:txBody>
      </p:sp>
      <p:sp>
        <p:nvSpPr>
          <p:cNvPr id="122" name="Rectangle 84"/>
          <p:cNvSpPr>
            <a:spLocks noChangeArrowheads="1"/>
          </p:cNvSpPr>
          <p:nvPr/>
        </p:nvSpPr>
        <p:spPr bwMode="auto">
          <a:xfrm>
            <a:off x="5508091" y="3116245"/>
            <a:ext cx="319154" cy="2921249"/>
          </a:xfrm>
          <a:prstGeom prst="rect">
            <a:avLst/>
          </a:prstGeom>
          <a:solidFill>
            <a:srgbClr val="F8F8F8"/>
          </a:solidFill>
          <a:ln w="6350">
            <a:solidFill>
              <a:srgbClr val="969696"/>
            </a:solidFill>
            <a:miter lim="800000"/>
            <a:headEnd/>
            <a:tailEnd type="none" w="med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 sz="240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23" name="Rectangle 85"/>
          <p:cNvSpPr>
            <a:spLocks noChangeArrowheads="1"/>
          </p:cNvSpPr>
          <p:nvPr/>
        </p:nvSpPr>
        <p:spPr bwMode="auto">
          <a:xfrm>
            <a:off x="5899007" y="3116245"/>
            <a:ext cx="321042" cy="2921249"/>
          </a:xfrm>
          <a:prstGeom prst="rect">
            <a:avLst/>
          </a:prstGeom>
          <a:solidFill>
            <a:srgbClr val="F8F8F8"/>
          </a:solidFill>
          <a:ln w="6350">
            <a:solidFill>
              <a:srgbClr val="969696"/>
            </a:solidFill>
            <a:miter lim="800000"/>
            <a:headEnd/>
            <a:tailEnd type="none" w="med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 sz="240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24" name="Rectangle 86"/>
          <p:cNvSpPr>
            <a:spLocks noChangeArrowheads="1"/>
          </p:cNvSpPr>
          <p:nvPr/>
        </p:nvSpPr>
        <p:spPr bwMode="auto">
          <a:xfrm>
            <a:off x="6303142" y="3116245"/>
            <a:ext cx="319153" cy="2921249"/>
          </a:xfrm>
          <a:prstGeom prst="rect">
            <a:avLst/>
          </a:prstGeom>
          <a:solidFill>
            <a:srgbClr val="F8F8F8"/>
          </a:solidFill>
          <a:ln w="9525">
            <a:solidFill>
              <a:srgbClr val="969696"/>
            </a:solidFill>
            <a:miter lim="800000"/>
            <a:headEnd/>
            <a:tailEnd type="none" w="med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 sz="240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25" name="Rectangle 87"/>
          <p:cNvSpPr>
            <a:spLocks noChangeArrowheads="1"/>
          </p:cNvSpPr>
          <p:nvPr/>
        </p:nvSpPr>
        <p:spPr bwMode="auto">
          <a:xfrm>
            <a:off x="6705388" y="3116245"/>
            <a:ext cx="319154" cy="2921249"/>
          </a:xfrm>
          <a:prstGeom prst="rect">
            <a:avLst/>
          </a:prstGeom>
          <a:solidFill>
            <a:srgbClr val="F8F8F8"/>
          </a:solidFill>
          <a:ln w="9525">
            <a:solidFill>
              <a:srgbClr val="969696"/>
            </a:solidFill>
            <a:miter lim="800000"/>
            <a:headEnd/>
            <a:tailEnd type="none" w="med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 sz="240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26" name="Rectangle 88"/>
          <p:cNvSpPr>
            <a:spLocks noChangeArrowheads="1"/>
          </p:cNvSpPr>
          <p:nvPr/>
        </p:nvSpPr>
        <p:spPr bwMode="auto">
          <a:xfrm>
            <a:off x="7107636" y="3116245"/>
            <a:ext cx="319153" cy="2921249"/>
          </a:xfrm>
          <a:prstGeom prst="rect">
            <a:avLst/>
          </a:prstGeom>
          <a:solidFill>
            <a:srgbClr val="F8F8F8"/>
          </a:solidFill>
          <a:ln w="9525">
            <a:solidFill>
              <a:srgbClr val="969696"/>
            </a:solidFill>
            <a:miter lim="800000"/>
            <a:headEnd/>
            <a:tailEnd type="none" w="med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 sz="240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27" name="Rectangle 89"/>
          <p:cNvSpPr>
            <a:spLocks noChangeArrowheads="1"/>
          </p:cNvSpPr>
          <p:nvPr/>
        </p:nvSpPr>
        <p:spPr bwMode="auto">
          <a:xfrm>
            <a:off x="7511771" y="3116245"/>
            <a:ext cx="321042" cy="2921249"/>
          </a:xfrm>
          <a:prstGeom prst="rect">
            <a:avLst/>
          </a:prstGeom>
          <a:solidFill>
            <a:srgbClr val="F8F8F8"/>
          </a:solidFill>
          <a:ln w="9525">
            <a:solidFill>
              <a:srgbClr val="969696"/>
            </a:solidFill>
            <a:miter lim="800000"/>
            <a:headEnd/>
            <a:tailEnd type="none" w="med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 sz="240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28" name="Rectangle 90"/>
          <p:cNvSpPr>
            <a:spLocks noChangeArrowheads="1"/>
          </p:cNvSpPr>
          <p:nvPr/>
        </p:nvSpPr>
        <p:spPr bwMode="auto">
          <a:xfrm>
            <a:off x="7927237" y="3116245"/>
            <a:ext cx="319153" cy="2921249"/>
          </a:xfrm>
          <a:prstGeom prst="rect">
            <a:avLst/>
          </a:prstGeom>
          <a:solidFill>
            <a:srgbClr val="F8F8F8"/>
          </a:solidFill>
          <a:ln w="6350">
            <a:solidFill>
              <a:srgbClr val="969696"/>
            </a:solidFill>
            <a:miter lim="800000"/>
            <a:headEnd/>
            <a:tailEnd type="none" w="med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 sz="240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30" name="Rectangle 91"/>
          <p:cNvSpPr>
            <a:spLocks noChangeArrowheads="1"/>
          </p:cNvSpPr>
          <p:nvPr/>
        </p:nvSpPr>
        <p:spPr bwMode="auto">
          <a:xfrm>
            <a:off x="5103955" y="3116245"/>
            <a:ext cx="319154" cy="2921249"/>
          </a:xfrm>
          <a:prstGeom prst="rect">
            <a:avLst/>
          </a:prstGeom>
          <a:solidFill>
            <a:srgbClr val="F8F8F8"/>
          </a:solidFill>
          <a:ln w="6350">
            <a:solidFill>
              <a:srgbClr val="969696"/>
            </a:solidFill>
            <a:miter lim="800000"/>
            <a:headEnd/>
            <a:tailEnd type="none" w="med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 sz="240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31" name="Oval 92"/>
          <p:cNvSpPr>
            <a:spLocks noChangeArrowheads="1"/>
          </p:cNvSpPr>
          <p:nvPr/>
        </p:nvSpPr>
        <p:spPr bwMode="auto">
          <a:xfrm>
            <a:off x="5185161" y="3325024"/>
            <a:ext cx="158633" cy="139733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  <a:round/>
            <a:headEnd/>
            <a:tailEnd type="none" w="med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 sz="240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32" name="Oval 93"/>
          <p:cNvSpPr>
            <a:spLocks noChangeArrowheads="1"/>
          </p:cNvSpPr>
          <p:nvPr/>
        </p:nvSpPr>
        <p:spPr bwMode="auto">
          <a:xfrm>
            <a:off x="5185161" y="3671891"/>
            <a:ext cx="158633" cy="13973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  <a:round/>
            <a:headEnd/>
            <a:tailEnd type="none" w="med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 sz="240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33" name="Oval 94"/>
          <p:cNvSpPr>
            <a:spLocks noChangeArrowheads="1"/>
          </p:cNvSpPr>
          <p:nvPr/>
        </p:nvSpPr>
        <p:spPr bwMode="auto">
          <a:xfrm>
            <a:off x="5185161" y="4020402"/>
            <a:ext cx="158633" cy="138089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  <a:round/>
            <a:headEnd/>
            <a:tailEnd type="none" w="med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 sz="240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34" name="Oval 95"/>
          <p:cNvSpPr>
            <a:spLocks noChangeArrowheads="1"/>
          </p:cNvSpPr>
          <p:nvPr/>
        </p:nvSpPr>
        <p:spPr bwMode="auto">
          <a:xfrm>
            <a:off x="5185161" y="4368913"/>
            <a:ext cx="158633" cy="138089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  <a:round/>
            <a:headEnd/>
            <a:tailEnd type="none" w="med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 sz="240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35" name="Oval 96"/>
          <p:cNvSpPr>
            <a:spLocks noChangeArrowheads="1"/>
          </p:cNvSpPr>
          <p:nvPr/>
        </p:nvSpPr>
        <p:spPr bwMode="auto">
          <a:xfrm>
            <a:off x="5185161" y="4715781"/>
            <a:ext cx="158633" cy="139733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  <a:round/>
            <a:headEnd/>
            <a:tailEnd type="none" w="med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 sz="240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36" name="Oval 97"/>
          <p:cNvSpPr>
            <a:spLocks noChangeArrowheads="1"/>
          </p:cNvSpPr>
          <p:nvPr/>
        </p:nvSpPr>
        <p:spPr bwMode="auto">
          <a:xfrm>
            <a:off x="5185161" y="5062648"/>
            <a:ext cx="158633" cy="13973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  <a:round/>
            <a:headEnd/>
            <a:tailEnd type="none" w="med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 sz="240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37" name="Oval 98"/>
          <p:cNvSpPr>
            <a:spLocks noChangeArrowheads="1"/>
          </p:cNvSpPr>
          <p:nvPr/>
        </p:nvSpPr>
        <p:spPr bwMode="auto">
          <a:xfrm>
            <a:off x="5185161" y="5411159"/>
            <a:ext cx="158633" cy="13973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  <a:round/>
            <a:headEnd/>
            <a:tailEnd type="none" w="med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 sz="240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38" name="Oval 99"/>
          <p:cNvSpPr>
            <a:spLocks noChangeArrowheads="1"/>
          </p:cNvSpPr>
          <p:nvPr/>
        </p:nvSpPr>
        <p:spPr bwMode="auto">
          <a:xfrm>
            <a:off x="5185161" y="5759671"/>
            <a:ext cx="158633" cy="138089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  <a:round/>
            <a:headEnd/>
            <a:tailEnd type="none" w="med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 sz="240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39" name="Rectangle 100"/>
          <p:cNvSpPr>
            <a:spLocks noChangeArrowheads="1"/>
          </p:cNvSpPr>
          <p:nvPr/>
        </p:nvSpPr>
        <p:spPr bwMode="auto">
          <a:xfrm>
            <a:off x="5583630" y="3325024"/>
            <a:ext cx="160522" cy="139733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  <a:miter lim="800000"/>
            <a:headEnd/>
            <a:tailEnd type="none" w="med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 sz="240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40" name="Rectangle 101"/>
          <p:cNvSpPr>
            <a:spLocks noChangeArrowheads="1"/>
          </p:cNvSpPr>
          <p:nvPr/>
        </p:nvSpPr>
        <p:spPr bwMode="auto">
          <a:xfrm>
            <a:off x="5583630" y="3671891"/>
            <a:ext cx="160522" cy="139734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  <a:miter lim="800000"/>
            <a:headEnd/>
            <a:tailEnd type="none" w="med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 sz="240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41" name="Rectangle 102"/>
          <p:cNvSpPr>
            <a:spLocks noChangeArrowheads="1"/>
          </p:cNvSpPr>
          <p:nvPr/>
        </p:nvSpPr>
        <p:spPr bwMode="auto">
          <a:xfrm>
            <a:off x="5583630" y="4020402"/>
            <a:ext cx="160522" cy="138089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  <a:miter lim="800000"/>
            <a:headEnd/>
            <a:tailEnd type="none" w="med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 sz="240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42" name="Rectangle 103"/>
          <p:cNvSpPr>
            <a:spLocks noChangeArrowheads="1"/>
          </p:cNvSpPr>
          <p:nvPr/>
        </p:nvSpPr>
        <p:spPr bwMode="auto">
          <a:xfrm>
            <a:off x="5583630" y="4368913"/>
            <a:ext cx="160522" cy="138089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  <a:miter lim="800000"/>
            <a:headEnd/>
            <a:tailEnd type="none" w="med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 sz="240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43" name="Rectangle 104"/>
          <p:cNvSpPr>
            <a:spLocks noChangeArrowheads="1"/>
          </p:cNvSpPr>
          <p:nvPr/>
        </p:nvSpPr>
        <p:spPr bwMode="auto">
          <a:xfrm>
            <a:off x="5583630" y="4715781"/>
            <a:ext cx="160522" cy="139733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  <a:miter lim="800000"/>
            <a:headEnd/>
            <a:tailEnd type="none" w="med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 sz="240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44" name="Rectangle 105"/>
          <p:cNvSpPr>
            <a:spLocks noChangeArrowheads="1"/>
          </p:cNvSpPr>
          <p:nvPr/>
        </p:nvSpPr>
        <p:spPr bwMode="auto">
          <a:xfrm>
            <a:off x="5583630" y="5062648"/>
            <a:ext cx="160522" cy="139734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  <a:miter lim="800000"/>
            <a:headEnd/>
            <a:tailEnd type="none" w="med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 sz="240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45" name="Rectangle 106"/>
          <p:cNvSpPr>
            <a:spLocks noChangeArrowheads="1"/>
          </p:cNvSpPr>
          <p:nvPr/>
        </p:nvSpPr>
        <p:spPr bwMode="auto">
          <a:xfrm>
            <a:off x="5583630" y="5411159"/>
            <a:ext cx="160522" cy="139734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  <a:miter lim="800000"/>
            <a:headEnd/>
            <a:tailEnd type="none" w="med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 sz="240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46" name="Rectangle 107"/>
          <p:cNvSpPr>
            <a:spLocks noChangeArrowheads="1"/>
          </p:cNvSpPr>
          <p:nvPr/>
        </p:nvSpPr>
        <p:spPr bwMode="auto">
          <a:xfrm>
            <a:off x="5583630" y="5759671"/>
            <a:ext cx="160522" cy="138089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  <a:miter lim="800000"/>
            <a:headEnd/>
            <a:tailEnd type="none" w="med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 sz="240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47" name="AutoShape 108"/>
          <p:cNvSpPr>
            <a:spLocks noChangeArrowheads="1"/>
          </p:cNvSpPr>
          <p:nvPr/>
        </p:nvSpPr>
        <p:spPr bwMode="auto">
          <a:xfrm>
            <a:off x="5983988" y="3325024"/>
            <a:ext cx="160522" cy="139733"/>
          </a:xfrm>
          <a:prstGeom prst="triangle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  <a:miter lim="800000"/>
            <a:headEnd/>
            <a:tailEnd type="none" w="med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 sz="240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48" name="AutoShape 109"/>
          <p:cNvSpPr>
            <a:spLocks noChangeArrowheads="1"/>
          </p:cNvSpPr>
          <p:nvPr/>
        </p:nvSpPr>
        <p:spPr bwMode="auto">
          <a:xfrm>
            <a:off x="5983988" y="3671891"/>
            <a:ext cx="160522" cy="139734"/>
          </a:xfrm>
          <a:prstGeom prst="triangle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  <a:miter lim="800000"/>
            <a:headEnd/>
            <a:tailEnd type="none" w="med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 sz="240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49" name="AutoShape 110"/>
          <p:cNvSpPr>
            <a:spLocks noChangeArrowheads="1"/>
          </p:cNvSpPr>
          <p:nvPr/>
        </p:nvSpPr>
        <p:spPr bwMode="auto">
          <a:xfrm>
            <a:off x="5983988" y="4020402"/>
            <a:ext cx="160522" cy="138089"/>
          </a:xfrm>
          <a:prstGeom prst="triangle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  <a:miter lim="800000"/>
            <a:headEnd/>
            <a:tailEnd type="none" w="med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 sz="240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50" name="AutoShape 111"/>
          <p:cNvSpPr>
            <a:spLocks noChangeArrowheads="1"/>
          </p:cNvSpPr>
          <p:nvPr/>
        </p:nvSpPr>
        <p:spPr bwMode="auto">
          <a:xfrm>
            <a:off x="5983988" y="4368913"/>
            <a:ext cx="160522" cy="138089"/>
          </a:xfrm>
          <a:prstGeom prst="triangle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  <a:miter lim="800000"/>
            <a:headEnd/>
            <a:tailEnd type="none" w="med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 sz="240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51" name="AutoShape 112"/>
          <p:cNvSpPr>
            <a:spLocks noChangeArrowheads="1"/>
          </p:cNvSpPr>
          <p:nvPr/>
        </p:nvSpPr>
        <p:spPr bwMode="auto">
          <a:xfrm>
            <a:off x="5983988" y="4715781"/>
            <a:ext cx="160522" cy="139733"/>
          </a:xfrm>
          <a:prstGeom prst="triangle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  <a:miter lim="800000"/>
            <a:headEnd/>
            <a:tailEnd type="none" w="med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 sz="240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52" name="AutoShape 113"/>
          <p:cNvSpPr>
            <a:spLocks noChangeArrowheads="1"/>
          </p:cNvSpPr>
          <p:nvPr/>
        </p:nvSpPr>
        <p:spPr bwMode="auto">
          <a:xfrm>
            <a:off x="5983988" y="5062648"/>
            <a:ext cx="160522" cy="139734"/>
          </a:xfrm>
          <a:prstGeom prst="triangle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  <a:miter lim="800000"/>
            <a:headEnd/>
            <a:tailEnd type="none" w="med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 sz="240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53" name="AutoShape 114"/>
          <p:cNvSpPr>
            <a:spLocks noChangeArrowheads="1"/>
          </p:cNvSpPr>
          <p:nvPr/>
        </p:nvSpPr>
        <p:spPr bwMode="auto">
          <a:xfrm>
            <a:off x="5983988" y="5411159"/>
            <a:ext cx="160522" cy="139734"/>
          </a:xfrm>
          <a:prstGeom prst="triangle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  <a:miter lim="800000"/>
            <a:headEnd/>
            <a:tailEnd type="none" w="med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 sz="240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54" name="AutoShape 115"/>
          <p:cNvSpPr>
            <a:spLocks noChangeArrowheads="1"/>
          </p:cNvSpPr>
          <p:nvPr/>
        </p:nvSpPr>
        <p:spPr bwMode="auto">
          <a:xfrm>
            <a:off x="5983988" y="5759671"/>
            <a:ext cx="160522" cy="138089"/>
          </a:xfrm>
          <a:prstGeom prst="triangle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  <a:miter lim="800000"/>
            <a:headEnd/>
            <a:tailEnd type="none" w="med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 sz="240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55" name="AutoShape 116"/>
          <p:cNvSpPr>
            <a:spLocks noChangeArrowheads="1"/>
          </p:cNvSpPr>
          <p:nvPr/>
        </p:nvSpPr>
        <p:spPr bwMode="auto">
          <a:xfrm>
            <a:off x="6384346" y="3325024"/>
            <a:ext cx="160522" cy="139733"/>
          </a:xfrm>
          <a:prstGeom prst="pentagon">
            <a:avLst/>
          </a:prstGeom>
          <a:solidFill>
            <a:schemeClr val="bg1"/>
          </a:solidFill>
          <a:ln w="6350">
            <a:solidFill>
              <a:schemeClr val="tx1"/>
            </a:solidFill>
            <a:miter lim="800000"/>
            <a:headEnd/>
            <a:tailEnd type="none" w="med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 sz="240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56" name="AutoShape 117"/>
          <p:cNvSpPr>
            <a:spLocks noChangeArrowheads="1"/>
          </p:cNvSpPr>
          <p:nvPr/>
        </p:nvSpPr>
        <p:spPr bwMode="auto">
          <a:xfrm>
            <a:off x="6384346" y="3671891"/>
            <a:ext cx="160522" cy="139734"/>
          </a:xfrm>
          <a:prstGeom prst="pentagon">
            <a:avLst/>
          </a:prstGeom>
          <a:solidFill>
            <a:schemeClr val="bg1"/>
          </a:solidFill>
          <a:ln w="6350">
            <a:solidFill>
              <a:schemeClr val="tx1"/>
            </a:solidFill>
            <a:miter lim="800000"/>
            <a:headEnd/>
            <a:tailEnd type="none" w="med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 sz="240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57" name="AutoShape 118"/>
          <p:cNvSpPr>
            <a:spLocks noChangeArrowheads="1"/>
          </p:cNvSpPr>
          <p:nvPr/>
        </p:nvSpPr>
        <p:spPr bwMode="auto">
          <a:xfrm>
            <a:off x="6384346" y="4020402"/>
            <a:ext cx="160522" cy="138089"/>
          </a:xfrm>
          <a:prstGeom prst="pentagon">
            <a:avLst/>
          </a:prstGeom>
          <a:solidFill>
            <a:schemeClr val="bg1"/>
          </a:solidFill>
          <a:ln w="6350">
            <a:solidFill>
              <a:schemeClr val="tx1"/>
            </a:solidFill>
            <a:miter lim="800000"/>
            <a:headEnd/>
            <a:tailEnd type="none" w="med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 sz="240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58" name="AutoShape 119"/>
          <p:cNvSpPr>
            <a:spLocks noChangeArrowheads="1"/>
          </p:cNvSpPr>
          <p:nvPr/>
        </p:nvSpPr>
        <p:spPr bwMode="auto">
          <a:xfrm>
            <a:off x="6384346" y="4368913"/>
            <a:ext cx="160522" cy="138089"/>
          </a:xfrm>
          <a:prstGeom prst="pentagon">
            <a:avLst/>
          </a:prstGeom>
          <a:solidFill>
            <a:schemeClr val="bg1"/>
          </a:solidFill>
          <a:ln w="6350">
            <a:solidFill>
              <a:schemeClr val="tx1"/>
            </a:solidFill>
            <a:miter lim="800000"/>
            <a:headEnd/>
            <a:tailEnd type="none" w="med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 sz="240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59" name="AutoShape 120"/>
          <p:cNvSpPr>
            <a:spLocks noChangeArrowheads="1"/>
          </p:cNvSpPr>
          <p:nvPr/>
        </p:nvSpPr>
        <p:spPr bwMode="auto">
          <a:xfrm>
            <a:off x="6384346" y="4715781"/>
            <a:ext cx="160522" cy="139733"/>
          </a:xfrm>
          <a:prstGeom prst="pentagon">
            <a:avLst/>
          </a:prstGeom>
          <a:solidFill>
            <a:schemeClr val="bg1"/>
          </a:solidFill>
          <a:ln w="6350">
            <a:solidFill>
              <a:schemeClr val="tx1"/>
            </a:solidFill>
            <a:miter lim="800000"/>
            <a:headEnd/>
            <a:tailEnd type="none" w="med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 sz="240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60" name="AutoShape 121"/>
          <p:cNvSpPr>
            <a:spLocks noChangeArrowheads="1"/>
          </p:cNvSpPr>
          <p:nvPr/>
        </p:nvSpPr>
        <p:spPr bwMode="auto">
          <a:xfrm>
            <a:off x="6384346" y="5062648"/>
            <a:ext cx="160522" cy="139734"/>
          </a:xfrm>
          <a:prstGeom prst="pentagon">
            <a:avLst/>
          </a:prstGeom>
          <a:solidFill>
            <a:schemeClr val="bg1"/>
          </a:solidFill>
          <a:ln w="6350">
            <a:solidFill>
              <a:schemeClr val="tx1"/>
            </a:solidFill>
            <a:miter lim="800000"/>
            <a:headEnd/>
            <a:tailEnd type="none" w="med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 sz="240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61" name="AutoShape 122"/>
          <p:cNvSpPr>
            <a:spLocks noChangeArrowheads="1"/>
          </p:cNvSpPr>
          <p:nvPr/>
        </p:nvSpPr>
        <p:spPr bwMode="auto">
          <a:xfrm>
            <a:off x="6384346" y="5411159"/>
            <a:ext cx="160522" cy="139734"/>
          </a:xfrm>
          <a:prstGeom prst="pentagon">
            <a:avLst/>
          </a:prstGeom>
          <a:solidFill>
            <a:schemeClr val="bg1"/>
          </a:solidFill>
          <a:ln w="6350">
            <a:solidFill>
              <a:schemeClr val="tx1"/>
            </a:solidFill>
            <a:miter lim="800000"/>
            <a:headEnd/>
            <a:tailEnd type="none" w="med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 sz="240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62" name="AutoShape 123"/>
          <p:cNvSpPr>
            <a:spLocks noChangeArrowheads="1"/>
          </p:cNvSpPr>
          <p:nvPr/>
        </p:nvSpPr>
        <p:spPr bwMode="auto">
          <a:xfrm>
            <a:off x="6384346" y="5759671"/>
            <a:ext cx="160522" cy="138089"/>
          </a:xfrm>
          <a:prstGeom prst="pentagon">
            <a:avLst/>
          </a:prstGeom>
          <a:solidFill>
            <a:schemeClr val="bg1"/>
          </a:solidFill>
          <a:ln w="6350">
            <a:solidFill>
              <a:schemeClr val="tx1"/>
            </a:solidFill>
            <a:miter lim="800000"/>
            <a:headEnd/>
            <a:tailEnd type="none" w="med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 sz="240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63" name="AutoShape 124"/>
          <p:cNvSpPr>
            <a:spLocks noChangeArrowheads="1"/>
          </p:cNvSpPr>
          <p:nvPr/>
        </p:nvSpPr>
        <p:spPr bwMode="auto">
          <a:xfrm>
            <a:off x="6784705" y="3325024"/>
            <a:ext cx="160522" cy="139733"/>
          </a:xfrm>
          <a:prstGeom prst="plus">
            <a:avLst>
              <a:gd name="adj" fmla="val 25000"/>
            </a:avLst>
          </a:prstGeom>
          <a:solidFill>
            <a:schemeClr val="bg1"/>
          </a:solidFill>
          <a:ln w="6350">
            <a:solidFill>
              <a:schemeClr val="tx1"/>
            </a:solidFill>
            <a:miter lim="800000"/>
            <a:headEnd/>
            <a:tailEnd type="none" w="med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 sz="240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64" name="AutoShape 125"/>
          <p:cNvSpPr>
            <a:spLocks noChangeArrowheads="1"/>
          </p:cNvSpPr>
          <p:nvPr/>
        </p:nvSpPr>
        <p:spPr bwMode="auto">
          <a:xfrm>
            <a:off x="6784705" y="3671891"/>
            <a:ext cx="160522" cy="139734"/>
          </a:xfrm>
          <a:prstGeom prst="plus">
            <a:avLst>
              <a:gd name="adj" fmla="val 25000"/>
            </a:avLst>
          </a:prstGeom>
          <a:solidFill>
            <a:schemeClr val="bg1"/>
          </a:solidFill>
          <a:ln w="6350">
            <a:solidFill>
              <a:schemeClr val="tx1"/>
            </a:solidFill>
            <a:miter lim="800000"/>
            <a:headEnd/>
            <a:tailEnd type="none" w="med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 sz="240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65" name="AutoShape 126"/>
          <p:cNvSpPr>
            <a:spLocks noChangeArrowheads="1"/>
          </p:cNvSpPr>
          <p:nvPr/>
        </p:nvSpPr>
        <p:spPr bwMode="auto">
          <a:xfrm>
            <a:off x="6784705" y="4020402"/>
            <a:ext cx="160522" cy="138089"/>
          </a:xfrm>
          <a:prstGeom prst="plus">
            <a:avLst>
              <a:gd name="adj" fmla="val 25000"/>
            </a:avLst>
          </a:prstGeom>
          <a:solidFill>
            <a:schemeClr val="bg1"/>
          </a:solidFill>
          <a:ln w="6350">
            <a:solidFill>
              <a:schemeClr val="tx1"/>
            </a:solidFill>
            <a:miter lim="800000"/>
            <a:headEnd/>
            <a:tailEnd type="none" w="med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 sz="240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66" name="AutoShape 127"/>
          <p:cNvSpPr>
            <a:spLocks noChangeArrowheads="1"/>
          </p:cNvSpPr>
          <p:nvPr/>
        </p:nvSpPr>
        <p:spPr bwMode="auto">
          <a:xfrm>
            <a:off x="6784705" y="4368913"/>
            <a:ext cx="160522" cy="138089"/>
          </a:xfrm>
          <a:prstGeom prst="plus">
            <a:avLst>
              <a:gd name="adj" fmla="val 25000"/>
            </a:avLst>
          </a:prstGeom>
          <a:solidFill>
            <a:schemeClr val="bg1"/>
          </a:solidFill>
          <a:ln w="6350">
            <a:solidFill>
              <a:schemeClr val="tx1"/>
            </a:solidFill>
            <a:miter lim="800000"/>
            <a:headEnd/>
            <a:tailEnd type="none" w="med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 sz="240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67" name="AutoShape 128"/>
          <p:cNvSpPr>
            <a:spLocks noChangeArrowheads="1"/>
          </p:cNvSpPr>
          <p:nvPr/>
        </p:nvSpPr>
        <p:spPr bwMode="auto">
          <a:xfrm>
            <a:off x="6784705" y="4715781"/>
            <a:ext cx="160522" cy="139733"/>
          </a:xfrm>
          <a:prstGeom prst="plus">
            <a:avLst>
              <a:gd name="adj" fmla="val 25000"/>
            </a:avLst>
          </a:prstGeom>
          <a:solidFill>
            <a:schemeClr val="bg1"/>
          </a:solidFill>
          <a:ln w="6350">
            <a:solidFill>
              <a:schemeClr val="tx1"/>
            </a:solidFill>
            <a:miter lim="800000"/>
            <a:headEnd/>
            <a:tailEnd type="none" w="med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 sz="240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68" name="AutoShape 129"/>
          <p:cNvSpPr>
            <a:spLocks noChangeArrowheads="1"/>
          </p:cNvSpPr>
          <p:nvPr/>
        </p:nvSpPr>
        <p:spPr bwMode="auto">
          <a:xfrm>
            <a:off x="6784705" y="5062648"/>
            <a:ext cx="160522" cy="139734"/>
          </a:xfrm>
          <a:prstGeom prst="plus">
            <a:avLst>
              <a:gd name="adj" fmla="val 25000"/>
            </a:avLst>
          </a:prstGeom>
          <a:solidFill>
            <a:schemeClr val="bg1"/>
          </a:solidFill>
          <a:ln w="6350">
            <a:solidFill>
              <a:schemeClr val="tx1"/>
            </a:solidFill>
            <a:miter lim="800000"/>
            <a:headEnd/>
            <a:tailEnd type="none" w="med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 sz="240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69" name="AutoShape 130"/>
          <p:cNvSpPr>
            <a:spLocks noChangeArrowheads="1"/>
          </p:cNvSpPr>
          <p:nvPr/>
        </p:nvSpPr>
        <p:spPr bwMode="auto">
          <a:xfrm>
            <a:off x="6784705" y="5411159"/>
            <a:ext cx="160522" cy="139734"/>
          </a:xfrm>
          <a:prstGeom prst="plus">
            <a:avLst>
              <a:gd name="adj" fmla="val 25000"/>
            </a:avLst>
          </a:prstGeom>
          <a:solidFill>
            <a:schemeClr val="bg1"/>
          </a:solidFill>
          <a:ln w="6350">
            <a:solidFill>
              <a:schemeClr val="tx1"/>
            </a:solidFill>
            <a:miter lim="800000"/>
            <a:headEnd/>
            <a:tailEnd type="none" w="med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 sz="240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70" name="AutoShape 131"/>
          <p:cNvSpPr>
            <a:spLocks noChangeArrowheads="1"/>
          </p:cNvSpPr>
          <p:nvPr/>
        </p:nvSpPr>
        <p:spPr bwMode="auto">
          <a:xfrm>
            <a:off x="6784705" y="5759671"/>
            <a:ext cx="160522" cy="138089"/>
          </a:xfrm>
          <a:prstGeom prst="plus">
            <a:avLst>
              <a:gd name="adj" fmla="val 25000"/>
            </a:avLst>
          </a:prstGeom>
          <a:solidFill>
            <a:schemeClr val="bg1"/>
          </a:solidFill>
          <a:ln w="6350">
            <a:solidFill>
              <a:schemeClr val="tx1"/>
            </a:solidFill>
            <a:miter lim="800000"/>
            <a:headEnd/>
            <a:tailEnd type="none" w="med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 sz="240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71" name="AutoShape 132"/>
          <p:cNvSpPr>
            <a:spLocks noChangeArrowheads="1"/>
          </p:cNvSpPr>
          <p:nvPr/>
        </p:nvSpPr>
        <p:spPr bwMode="auto">
          <a:xfrm>
            <a:off x="7183175" y="3325024"/>
            <a:ext cx="160520" cy="139733"/>
          </a:xfrm>
          <a:prstGeom prst="cube">
            <a:avLst>
              <a:gd name="adj" fmla="val 25000"/>
            </a:avLst>
          </a:prstGeom>
          <a:solidFill>
            <a:schemeClr val="bg1"/>
          </a:solidFill>
          <a:ln w="6350">
            <a:solidFill>
              <a:schemeClr val="tx1"/>
            </a:solidFill>
            <a:miter lim="800000"/>
            <a:headEnd/>
            <a:tailEnd type="none" w="med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 sz="240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72" name="AutoShape 133"/>
          <p:cNvSpPr>
            <a:spLocks noChangeArrowheads="1"/>
          </p:cNvSpPr>
          <p:nvPr/>
        </p:nvSpPr>
        <p:spPr bwMode="auto">
          <a:xfrm>
            <a:off x="7183175" y="3671891"/>
            <a:ext cx="160520" cy="139734"/>
          </a:xfrm>
          <a:prstGeom prst="cube">
            <a:avLst>
              <a:gd name="adj" fmla="val 25000"/>
            </a:avLst>
          </a:prstGeom>
          <a:solidFill>
            <a:schemeClr val="bg1"/>
          </a:solidFill>
          <a:ln w="6350">
            <a:solidFill>
              <a:schemeClr val="tx1"/>
            </a:solidFill>
            <a:miter lim="800000"/>
            <a:headEnd/>
            <a:tailEnd type="none" w="med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 sz="240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73" name="AutoShape 134"/>
          <p:cNvSpPr>
            <a:spLocks noChangeArrowheads="1"/>
          </p:cNvSpPr>
          <p:nvPr/>
        </p:nvSpPr>
        <p:spPr bwMode="auto">
          <a:xfrm>
            <a:off x="7183175" y="4020402"/>
            <a:ext cx="160520" cy="138089"/>
          </a:xfrm>
          <a:prstGeom prst="cube">
            <a:avLst>
              <a:gd name="adj" fmla="val 25000"/>
            </a:avLst>
          </a:prstGeom>
          <a:solidFill>
            <a:schemeClr val="bg1"/>
          </a:solidFill>
          <a:ln w="6350">
            <a:solidFill>
              <a:schemeClr val="tx1"/>
            </a:solidFill>
            <a:miter lim="800000"/>
            <a:headEnd/>
            <a:tailEnd type="none" w="med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 sz="240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74" name="AutoShape 135"/>
          <p:cNvSpPr>
            <a:spLocks noChangeArrowheads="1"/>
          </p:cNvSpPr>
          <p:nvPr/>
        </p:nvSpPr>
        <p:spPr bwMode="auto">
          <a:xfrm>
            <a:off x="7183175" y="4368913"/>
            <a:ext cx="160520" cy="138089"/>
          </a:xfrm>
          <a:prstGeom prst="cube">
            <a:avLst>
              <a:gd name="adj" fmla="val 25000"/>
            </a:avLst>
          </a:prstGeom>
          <a:solidFill>
            <a:schemeClr val="bg1"/>
          </a:solidFill>
          <a:ln w="6350">
            <a:solidFill>
              <a:schemeClr val="tx1"/>
            </a:solidFill>
            <a:miter lim="800000"/>
            <a:headEnd/>
            <a:tailEnd type="none" w="med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 sz="240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75" name="AutoShape 136"/>
          <p:cNvSpPr>
            <a:spLocks noChangeArrowheads="1"/>
          </p:cNvSpPr>
          <p:nvPr/>
        </p:nvSpPr>
        <p:spPr bwMode="auto">
          <a:xfrm>
            <a:off x="7183175" y="4715781"/>
            <a:ext cx="160520" cy="139733"/>
          </a:xfrm>
          <a:prstGeom prst="cube">
            <a:avLst>
              <a:gd name="adj" fmla="val 25000"/>
            </a:avLst>
          </a:prstGeom>
          <a:solidFill>
            <a:schemeClr val="bg1"/>
          </a:solidFill>
          <a:ln w="6350">
            <a:solidFill>
              <a:schemeClr val="tx1"/>
            </a:solidFill>
            <a:miter lim="800000"/>
            <a:headEnd/>
            <a:tailEnd type="none" w="med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 sz="240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76" name="AutoShape 137"/>
          <p:cNvSpPr>
            <a:spLocks noChangeArrowheads="1"/>
          </p:cNvSpPr>
          <p:nvPr/>
        </p:nvSpPr>
        <p:spPr bwMode="auto">
          <a:xfrm>
            <a:off x="7183175" y="5062648"/>
            <a:ext cx="160520" cy="139734"/>
          </a:xfrm>
          <a:prstGeom prst="cube">
            <a:avLst>
              <a:gd name="adj" fmla="val 25000"/>
            </a:avLst>
          </a:prstGeom>
          <a:solidFill>
            <a:schemeClr val="bg1"/>
          </a:solidFill>
          <a:ln w="6350">
            <a:solidFill>
              <a:schemeClr val="tx1"/>
            </a:solidFill>
            <a:miter lim="800000"/>
            <a:headEnd/>
            <a:tailEnd type="none" w="med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 sz="240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77" name="AutoShape 138"/>
          <p:cNvSpPr>
            <a:spLocks noChangeArrowheads="1"/>
          </p:cNvSpPr>
          <p:nvPr/>
        </p:nvSpPr>
        <p:spPr bwMode="auto">
          <a:xfrm>
            <a:off x="7183175" y="5411159"/>
            <a:ext cx="160520" cy="139734"/>
          </a:xfrm>
          <a:prstGeom prst="cube">
            <a:avLst>
              <a:gd name="adj" fmla="val 25000"/>
            </a:avLst>
          </a:prstGeom>
          <a:solidFill>
            <a:schemeClr val="bg1"/>
          </a:solidFill>
          <a:ln w="6350">
            <a:solidFill>
              <a:schemeClr val="tx1"/>
            </a:solidFill>
            <a:miter lim="800000"/>
            <a:headEnd/>
            <a:tailEnd type="none" w="med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 sz="240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78" name="AutoShape 139"/>
          <p:cNvSpPr>
            <a:spLocks noChangeArrowheads="1"/>
          </p:cNvSpPr>
          <p:nvPr/>
        </p:nvSpPr>
        <p:spPr bwMode="auto">
          <a:xfrm>
            <a:off x="7183175" y="5759671"/>
            <a:ext cx="160520" cy="138089"/>
          </a:xfrm>
          <a:prstGeom prst="cube">
            <a:avLst>
              <a:gd name="adj" fmla="val 25000"/>
            </a:avLst>
          </a:prstGeom>
          <a:solidFill>
            <a:schemeClr val="bg1"/>
          </a:solidFill>
          <a:ln w="6350">
            <a:solidFill>
              <a:schemeClr val="tx1"/>
            </a:solidFill>
            <a:miter lim="800000"/>
            <a:headEnd/>
            <a:tailEnd type="none" w="med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 sz="240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79" name="AutoShape 140"/>
          <p:cNvSpPr>
            <a:spLocks noChangeArrowheads="1"/>
          </p:cNvSpPr>
          <p:nvPr/>
        </p:nvSpPr>
        <p:spPr bwMode="auto">
          <a:xfrm>
            <a:off x="7585421" y="3325024"/>
            <a:ext cx="160522" cy="139733"/>
          </a:xfrm>
          <a:prstGeom prst="diamond">
            <a:avLst/>
          </a:prstGeom>
          <a:solidFill>
            <a:schemeClr val="bg1"/>
          </a:solidFill>
          <a:ln w="6350">
            <a:solidFill>
              <a:schemeClr val="tx1"/>
            </a:solidFill>
            <a:miter lim="800000"/>
            <a:headEnd/>
            <a:tailEnd type="none" w="med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 sz="240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0" name="AutoShape 141"/>
          <p:cNvSpPr>
            <a:spLocks noChangeArrowheads="1"/>
          </p:cNvSpPr>
          <p:nvPr/>
        </p:nvSpPr>
        <p:spPr bwMode="auto">
          <a:xfrm>
            <a:off x="7585421" y="3671891"/>
            <a:ext cx="160522" cy="139734"/>
          </a:xfrm>
          <a:prstGeom prst="diamond">
            <a:avLst/>
          </a:prstGeom>
          <a:solidFill>
            <a:schemeClr val="bg1"/>
          </a:solidFill>
          <a:ln w="6350">
            <a:solidFill>
              <a:schemeClr val="tx1"/>
            </a:solidFill>
            <a:miter lim="800000"/>
            <a:headEnd/>
            <a:tailEnd type="none" w="med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 sz="240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1" name="AutoShape 142"/>
          <p:cNvSpPr>
            <a:spLocks noChangeArrowheads="1"/>
          </p:cNvSpPr>
          <p:nvPr/>
        </p:nvSpPr>
        <p:spPr bwMode="auto">
          <a:xfrm>
            <a:off x="7585421" y="4020402"/>
            <a:ext cx="160522" cy="138089"/>
          </a:xfrm>
          <a:prstGeom prst="diamond">
            <a:avLst/>
          </a:prstGeom>
          <a:solidFill>
            <a:schemeClr val="bg1"/>
          </a:solidFill>
          <a:ln w="6350">
            <a:solidFill>
              <a:schemeClr val="tx1"/>
            </a:solidFill>
            <a:miter lim="800000"/>
            <a:headEnd/>
            <a:tailEnd type="none" w="med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 sz="240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2" name="AutoShape 143"/>
          <p:cNvSpPr>
            <a:spLocks noChangeArrowheads="1"/>
          </p:cNvSpPr>
          <p:nvPr/>
        </p:nvSpPr>
        <p:spPr bwMode="auto">
          <a:xfrm>
            <a:off x="7585421" y="4368913"/>
            <a:ext cx="160522" cy="138089"/>
          </a:xfrm>
          <a:prstGeom prst="diamond">
            <a:avLst/>
          </a:prstGeom>
          <a:solidFill>
            <a:schemeClr val="bg1"/>
          </a:solidFill>
          <a:ln w="6350">
            <a:solidFill>
              <a:schemeClr val="tx1"/>
            </a:solidFill>
            <a:miter lim="800000"/>
            <a:headEnd/>
            <a:tailEnd type="none" w="med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 sz="240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3" name="AutoShape 144"/>
          <p:cNvSpPr>
            <a:spLocks noChangeArrowheads="1"/>
          </p:cNvSpPr>
          <p:nvPr/>
        </p:nvSpPr>
        <p:spPr bwMode="auto">
          <a:xfrm>
            <a:off x="7585421" y="4715781"/>
            <a:ext cx="160522" cy="139733"/>
          </a:xfrm>
          <a:prstGeom prst="diamond">
            <a:avLst/>
          </a:prstGeom>
          <a:solidFill>
            <a:schemeClr val="bg1"/>
          </a:solidFill>
          <a:ln w="6350">
            <a:solidFill>
              <a:schemeClr val="tx1"/>
            </a:solidFill>
            <a:miter lim="800000"/>
            <a:headEnd/>
            <a:tailEnd type="none" w="med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 sz="240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4" name="AutoShape 145"/>
          <p:cNvSpPr>
            <a:spLocks noChangeArrowheads="1"/>
          </p:cNvSpPr>
          <p:nvPr/>
        </p:nvSpPr>
        <p:spPr bwMode="auto">
          <a:xfrm>
            <a:off x="7585421" y="5062648"/>
            <a:ext cx="160522" cy="139734"/>
          </a:xfrm>
          <a:prstGeom prst="diamond">
            <a:avLst/>
          </a:prstGeom>
          <a:solidFill>
            <a:schemeClr val="bg1"/>
          </a:solidFill>
          <a:ln w="6350">
            <a:solidFill>
              <a:schemeClr val="tx1"/>
            </a:solidFill>
            <a:miter lim="800000"/>
            <a:headEnd/>
            <a:tailEnd type="none" w="med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 sz="240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5" name="AutoShape 146"/>
          <p:cNvSpPr>
            <a:spLocks noChangeArrowheads="1"/>
          </p:cNvSpPr>
          <p:nvPr/>
        </p:nvSpPr>
        <p:spPr bwMode="auto">
          <a:xfrm>
            <a:off x="7585421" y="5411159"/>
            <a:ext cx="160522" cy="139734"/>
          </a:xfrm>
          <a:prstGeom prst="diamond">
            <a:avLst/>
          </a:prstGeom>
          <a:solidFill>
            <a:schemeClr val="bg1"/>
          </a:solidFill>
          <a:ln w="6350">
            <a:solidFill>
              <a:schemeClr val="tx1"/>
            </a:solidFill>
            <a:miter lim="800000"/>
            <a:headEnd/>
            <a:tailEnd type="none" w="med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 sz="240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6" name="AutoShape 147"/>
          <p:cNvSpPr>
            <a:spLocks noChangeArrowheads="1"/>
          </p:cNvSpPr>
          <p:nvPr/>
        </p:nvSpPr>
        <p:spPr bwMode="auto">
          <a:xfrm>
            <a:off x="7585421" y="5759671"/>
            <a:ext cx="160522" cy="138089"/>
          </a:xfrm>
          <a:prstGeom prst="diamond">
            <a:avLst/>
          </a:prstGeom>
          <a:solidFill>
            <a:schemeClr val="bg1"/>
          </a:solidFill>
          <a:ln w="6350">
            <a:solidFill>
              <a:schemeClr val="tx1"/>
            </a:solidFill>
            <a:miter lim="800000"/>
            <a:headEnd/>
            <a:tailEnd type="none" w="med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 sz="240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7" name="AutoShape 148"/>
          <p:cNvSpPr>
            <a:spLocks noChangeArrowheads="1"/>
          </p:cNvSpPr>
          <p:nvPr/>
        </p:nvSpPr>
        <p:spPr bwMode="auto">
          <a:xfrm>
            <a:off x="7985780" y="3325024"/>
            <a:ext cx="158633" cy="139733"/>
          </a:xfrm>
          <a:prstGeom prst="parallelogram">
            <a:avLst>
              <a:gd name="adj" fmla="val 25000"/>
            </a:avLst>
          </a:prstGeom>
          <a:solidFill>
            <a:schemeClr val="bg1"/>
          </a:solidFill>
          <a:ln w="6350">
            <a:solidFill>
              <a:schemeClr val="tx1"/>
            </a:solidFill>
            <a:miter lim="800000"/>
            <a:headEnd/>
            <a:tailEnd type="none" w="med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 sz="240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8" name="AutoShape 149"/>
          <p:cNvSpPr>
            <a:spLocks noChangeArrowheads="1"/>
          </p:cNvSpPr>
          <p:nvPr/>
        </p:nvSpPr>
        <p:spPr bwMode="auto">
          <a:xfrm>
            <a:off x="7985780" y="3671891"/>
            <a:ext cx="158633" cy="139734"/>
          </a:xfrm>
          <a:prstGeom prst="parallelogram">
            <a:avLst>
              <a:gd name="adj" fmla="val 25000"/>
            </a:avLst>
          </a:prstGeom>
          <a:solidFill>
            <a:schemeClr val="bg1"/>
          </a:solidFill>
          <a:ln w="6350">
            <a:solidFill>
              <a:schemeClr val="tx1"/>
            </a:solidFill>
            <a:miter lim="800000"/>
            <a:headEnd/>
            <a:tailEnd type="none" w="med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 sz="240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9" name="AutoShape 150"/>
          <p:cNvSpPr>
            <a:spLocks noChangeArrowheads="1"/>
          </p:cNvSpPr>
          <p:nvPr/>
        </p:nvSpPr>
        <p:spPr bwMode="auto">
          <a:xfrm>
            <a:off x="7985780" y="4020402"/>
            <a:ext cx="158633" cy="138089"/>
          </a:xfrm>
          <a:prstGeom prst="parallelogram">
            <a:avLst>
              <a:gd name="adj" fmla="val 25000"/>
            </a:avLst>
          </a:prstGeom>
          <a:solidFill>
            <a:schemeClr val="bg1"/>
          </a:solidFill>
          <a:ln w="6350">
            <a:solidFill>
              <a:schemeClr val="tx1"/>
            </a:solidFill>
            <a:miter lim="800000"/>
            <a:headEnd/>
            <a:tailEnd type="none" w="med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 sz="240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90" name="AutoShape 151"/>
          <p:cNvSpPr>
            <a:spLocks noChangeArrowheads="1"/>
          </p:cNvSpPr>
          <p:nvPr/>
        </p:nvSpPr>
        <p:spPr bwMode="auto">
          <a:xfrm>
            <a:off x="7985780" y="4368913"/>
            <a:ext cx="158633" cy="138089"/>
          </a:xfrm>
          <a:prstGeom prst="parallelogram">
            <a:avLst>
              <a:gd name="adj" fmla="val 25000"/>
            </a:avLst>
          </a:prstGeom>
          <a:solidFill>
            <a:schemeClr val="bg1"/>
          </a:solidFill>
          <a:ln w="6350">
            <a:solidFill>
              <a:schemeClr val="tx1"/>
            </a:solidFill>
            <a:miter lim="800000"/>
            <a:headEnd/>
            <a:tailEnd type="none" w="med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 sz="240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91" name="AutoShape 152"/>
          <p:cNvSpPr>
            <a:spLocks noChangeArrowheads="1"/>
          </p:cNvSpPr>
          <p:nvPr/>
        </p:nvSpPr>
        <p:spPr bwMode="auto">
          <a:xfrm>
            <a:off x="7985780" y="4715781"/>
            <a:ext cx="158633" cy="139733"/>
          </a:xfrm>
          <a:prstGeom prst="parallelogram">
            <a:avLst>
              <a:gd name="adj" fmla="val 25000"/>
            </a:avLst>
          </a:prstGeom>
          <a:solidFill>
            <a:schemeClr val="bg1"/>
          </a:solidFill>
          <a:ln w="6350">
            <a:solidFill>
              <a:schemeClr val="tx1"/>
            </a:solidFill>
            <a:miter lim="800000"/>
            <a:headEnd/>
            <a:tailEnd type="none" w="med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 sz="240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92" name="AutoShape 153"/>
          <p:cNvSpPr>
            <a:spLocks noChangeArrowheads="1"/>
          </p:cNvSpPr>
          <p:nvPr/>
        </p:nvSpPr>
        <p:spPr bwMode="auto">
          <a:xfrm>
            <a:off x="7985780" y="5062648"/>
            <a:ext cx="158633" cy="139734"/>
          </a:xfrm>
          <a:prstGeom prst="parallelogram">
            <a:avLst>
              <a:gd name="adj" fmla="val 25000"/>
            </a:avLst>
          </a:prstGeom>
          <a:solidFill>
            <a:schemeClr val="bg1"/>
          </a:solidFill>
          <a:ln w="6350">
            <a:solidFill>
              <a:schemeClr val="tx1"/>
            </a:solidFill>
            <a:miter lim="800000"/>
            <a:headEnd/>
            <a:tailEnd type="none" w="med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 sz="240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93" name="AutoShape 154"/>
          <p:cNvSpPr>
            <a:spLocks noChangeArrowheads="1"/>
          </p:cNvSpPr>
          <p:nvPr/>
        </p:nvSpPr>
        <p:spPr bwMode="auto">
          <a:xfrm>
            <a:off x="7985780" y="5411159"/>
            <a:ext cx="158633" cy="139734"/>
          </a:xfrm>
          <a:prstGeom prst="parallelogram">
            <a:avLst>
              <a:gd name="adj" fmla="val 25000"/>
            </a:avLst>
          </a:prstGeom>
          <a:solidFill>
            <a:schemeClr val="bg1"/>
          </a:solidFill>
          <a:ln w="6350">
            <a:solidFill>
              <a:schemeClr val="tx1"/>
            </a:solidFill>
            <a:miter lim="800000"/>
            <a:headEnd/>
            <a:tailEnd type="none" w="med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 sz="240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94" name="AutoShape 155"/>
          <p:cNvSpPr>
            <a:spLocks noChangeArrowheads="1"/>
          </p:cNvSpPr>
          <p:nvPr/>
        </p:nvSpPr>
        <p:spPr bwMode="auto">
          <a:xfrm>
            <a:off x="7985780" y="5759671"/>
            <a:ext cx="158633" cy="138089"/>
          </a:xfrm>
          <a:prstGeom prst="parallelogram">
            <a:avLst>
              <a:gd name="adj" fmla="val 25000"/>
            </a:avLst>
          </a:prstGeom>
          <a:solidFill>
            <a:schemeClr val="bg1"/>
          </a:solidFill>
          <a:ln w="6350">
            <a:solidFill>
              <a:schemeClr val="tx1"/>
            </a:solidFill>
            <a:miter lim="800000"/>
            <a:headEnd/>
            <a:tailEnd type="none" w="med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 sz="240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95" name="Rectangle 156"/>
          <p:cNvSpPr>
            <a:spLocks noChangeArrowheads="1"/>
          </p:cNvSpPr>
          <p:nvPr/>
        </p:nvSpPr>
        <p:spPr bwMode="auto">
          <a:xfrm rot="16200000">
            <a:off x="6605191" y="1514907"/>
            <a:ext cx="277822" cy="3759968"/>
          </a:xfrm>
          <a:prstGeom prst="rect">
            <a:avLst/>
          </a:prstGeom>
          <a:noFill/>
          <a:ln w="19050">
            <a:solidFill>
              <a:srgbClr val="FF6600"/>
            </a:solidFill>
            <a:miter lim="800000"/>
            <a:headEnd/>
            <a:tailEnd type="none" w="med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 sz="240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96" name="Rectangle 157"/>
          <p:cNvSpPr>
            <a:spLocks noChangeArrowheads="1"/>
          </p:cNvSpPr>
          <p:nvPr/>
        </p:nvSpPr>
        <p:spPr bwMode="auto">
          <a:xfrm rot="16200000">
            <a:off x="6605191" y="1873282"/>
            <a:ext cx="277822" cy="3759968"/>
          </a:xfrm>
          <a:prstGeom prst="rect">
            <a:avLst/>
          </a:prstGeom>
          <a:noFill/>
          <a:ln w="19050">
            <a:solidFill>
              <a:srgbClr val="FF6600"/>
            </a:solidFill>
            <a:miter lim="800000"/>
            <a:headEnd/>
            <a:tailEnd type="none" w="med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 sz="240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97" name="Rectangle 158"/>
          <p:cNvSpPr>
            <a:spLocks noChangeArrowheads="1"/>
          </p:cNvSpPr>
          <p:nvPr/>
        </p:nvSpPr>
        <p:spPr bwMode="auto">
          <a:xfrm rot="16200000">
            <a:off x="6605191" y="2213573"/>
            <a:ext cx="277823" cy="3759968"/>
          </a:xfrm>
          <a:prstGeom prst="rect">
            <a:avLst/>
          </a:prstGeom>
          <a:noFill/>
          <a:ln w="19050">
            <a:solidFill>
              <a:srgbClr val="FF6600"/>
            </a:solidFill>
            <a:miter lim="800000"/>
            <a:headEnd/>
            <a:tailEnd type="none" w="med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 sz="240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98" name="Rectangle 159"/>
          <p:cNvSpPr>
            <a:spLocks noChangeArrowheads="1"/>
          </p:cNvSpPr>
          <p:nvPr/>
        </p:nvSpPr>
        <p:spPr bwMode="auto">
          <a:xfrm rot="16200000">
            <a:off x="6604369" y="2564551"/>
            <a:ext cx="279467" cy="3759968"/>
          </a:xfrm>
          <a:prstGeom prst="rect">
            <a:avLst/>
          </a:prstGeom>
          <a:noFill/>
          <a:ln w="19050">
            <a:solidFill>
              <a:srgbClr val="FF6600"/>
            </a:solidFill>
            <a:miter lim="800000"/>
            <a:headEnd/>
            <a:tailEnd type="none" w="med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 sz="240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99" name="Rectangle 160"/>
          <p:cNvSpPr>
            <a:spLocks noChangeArrowheads="1"/>
          </p:cNvSpPr>
          <p:nvPr/>
        </p:nvSpPr>
        <p:spPr bwMode="auto">
          <a:xfrm rot="16200000">
            <a:off x="6605191" y="2915528"/>
            <a:ext cx="277822" cy="3759968"/>
          </a:xfrm>
          <a:prstGeom prst="rect">
            <a:avLst/>
          </a:prstGeom>
          <a:noFill/>
          <a:ln w="19050">
            <a:solidFill>
              <a:srgbClr val="FF6600"/>
            </a:solidFill>
            <a:miter lim="800000"/>
            <a:headEnd/>
            <a:tailEnd type="none" w="med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 sz="240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00" name="Rectangle 161"/>
          <p:cNvSpPr>
            <a:spLocks noChangeArrowheads="1"/>
          </p:cNvSpPr>
          <p:nvPr/>
        </p:nvSpPr>
        <p:spPr bwMode="auto">
          <a:xfrm rot="16200000">
            <a:off x="6605191" y="3264039"/>
            <a:ext cx="277822" cy="3759968"/>
          </a:xfrm>
          <a:prstGeom prst="rect">
            <a:avLst/>
          </a:prstGeom>
          <a:noFill/>
          <a:ln w="19050">
            <a:solidFill>
              <a:srgbClr val="FF6600"/>
            </a:solidFill>
            <a:miter lim="800000"/>
            <a:headEnd/>
            <a:tailEnd type="none" w="med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 sz="240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01" name="Rectangle 162"/>
          <p:cNvSpPr>
            <a:spLocks noChangeArrowheads="1"/>
          </p:cNvSpPr>
          <p:nvPr/>
        </p:nvSpPr>
        <p:spPr bwMode="auto">
          <a:xfrm rot="16200000">
            <a:off x="6604369" y="3605152"/>
            <a:ext cx="279467" cy="3759968"/>
          </a:xfrm>
          <a:prstGeom prst="rect">
            <a:avLst/>
          </a:prstGeom>
          <a:noFill/>
          <a:ln w="19050">
            <a:solidFill>
              <a:srgbClr val="FF6600"/>
            </a:solidFill>
            <a:miter lim="800000"/>
            <a:headEnd/>
            <a:tailEnd type="none" w="med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 sz="240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02" name="Rectangle 163"/>
          <p:cNvSpPr>
            <a:spLocks noChangeArrowheads="1"/>
          </p:cNvSpPr>
          <p:nvPr/>
        </p:nvSpPr>
        <p:spPr bwMode="auto">
          <a:xfrm rot="16200000">
            <a:off x="6605191" y="3946266"/>
            <a:ext cx="277823" cy="3759968"/>
          </a:xfrm>
          <a:prstGeom prst="rect">
            <a:avLst/>
          </a:prstGeom>
          <a:noFill/>
          <a:ln w="19050">
            <a:solidFill>
              <a:srgbClr val="FF6600"/>
            </a:solidFill>
            <a:miter lim="800000"/>
            <a:headEnd/>
            <a:tailEnd type="none" w="med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 sz="240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03" name="Text Box 164"/>
          <p:cNvSpPr txBox="1">
            <a:spLocks noChangeArrowheads="1"/>
          </p:cNvSpPr>
          <p:nvPr/>
        </p:nvSpPr>
        <p:spPr bwMode="auto">
          <a:xfrm rot="16200000">
            <a:off x="4865731" y="2462702"/>
            <a:ext cx="897581" cy="2484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chemeClr val="tx1"/>
                </a:solidFill>
                <a:miter lim="800000"/>
                <a:headEnd/>
                <a:tailEnd type="none" w="med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>
              <a:spcBef>
                <a:spcPct val="50000"/>
              </a:spcBef>
            </a:pPr>
            <a:r>
              <a:rPr lang="ko-KR" altLang="en-US" sz="1000" dirty="0">
                <a:solidFill>
                  <a:srgbClr val="969696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정보 </a:t>
            </a:r>
            <a:r>
              <a:rPr lang="ko-KR" altLang="en-US" sz="1000" dirty="0" err="1">
                <a:solidFill>
                  <a:srgbClr val="969696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컨텐츠</a:t>
            </a:r>
            <a:endParaRPr lang="ko-KR" altLang="en-US" sz="1000" dirty="0">
              <a:solidFill>
                <a:srgbClr val="969696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04" name="Text Box 165"/>
          <p:cNvSpPr txBox="1">
            <a:spLocks noChangeArrowheads="1"/>
          </p:cNvSpPr>
          <p:nvPr/>
        </p:nvSpPr>
        <p:spPr bwMode="auto">
          <a:xfrm rot="16200000">
            <a:off x="5300027" y="2567913"/>
            <a:ext cx="693735" cy="2484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chemeClr val="tx1"/>
                </a:solidFill>
                <a:miter lim="800000"/>
                <a:headEnd/>
                <a:tailEnd type="none" w="med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>
              <a:spcBef>
                <a:spcPct val="50000"/>
              </a:spcBef>
            </a:pPr>
            <a:r>
              <a:rPr lang="ko-KR" altLang="en-US" sz="1000">
                <a:solidFill>
                  <a:srgbClr val="969696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서비스</a:t>
            </a:r>
            <a:endParaRPr lang="ko-KR" altLang="en-US" sz="1000" dirty="0">
              <a:solidFill>
                <a:srgbClr val="969696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05" name="Text Box 166"/>
          <p:cNvSpPr txBox="1">
            <a:spLocks noChangeArrowheads="1"/>
          </p:cNvSpPr>
          <p:nvPr/>
        </p:nvSpPr>
        <p:spPr bwMode="auto">
          <a:xfrm rot="16200000">
            <a:off x="5687165" y="2567914"/>
            <a:ext cx="693735" cy="2484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chemeClr val="tx1"/>
                </a:solidFill>
                <a:miter lim="800000"/>
                <a:headEnd/>
                <a:tailEnd type="none" w="med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>
              <a:spcBef>
                <a:spcPct val="50000"/>
              </a:spcBef>
            </a:pPr>
            <a:r>
              <a:rPr lang="ko-KR" altLang="en-US" sz="1000">
                <a:solidFill>
                  <a:srgbClr val="969696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커뮤니티</a:t>
            </a:r>
          </a:p>
        </p:txBody>
      </p:sp>
      <p:sp>
        <p:nvSpPr>
          <p:cNvPr id="206" name="Text Box 167"/>
          <p:cNvSpPr txBox="1">
            <a:spLocks noChangeArrowheads="1"/>
          </p:cNvSpPr>
          <p:nvPr/>
        </p:nvSpPr>
        <p:spPr bwMode="auto">
          <a:xfrm rot="16200000">
            <a:off x="6132847" y="2567914"/>
            <a:ext cx="693735" cy="2484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chemeClr val="tx1"/>
                </a:solidFill>
                <a:miter lim="800000"/>
                <a:headEnd/>
                <a:tailEnd type="none" w="med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>
              <a:spcBef>
                <a:spcPct val="50000"/>
              </a:spcBef>
            </a:pPr>
            <a:r>
              <a:rPr lang="en" altLang="ko-KR" sz="1000" dirty="0">
                <a:solidFill>
                  <a:srgbClr val="969696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XXX</a:t>
            </a:r>
            <a:r>
              <a:rPr lang="ko-KR" altLang="en-US" sz="1000" dirty="0">
                <a:solidFill>
                  <a:srgbClr val="969696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가입</a:t>
            </a:r>
          </a:p>
        </p:txBody>
      </p:sp>
      <p:sp>
        <p:nvSpPr>
          <p:cNvPr id="207" name="Text Box 168"/>
          <p:cNvSpPr txBox="1">
            <a:spLocks noChangeArrowheads="1"/>
          </p:cNvSpPr>
          <p:nvPr/>
        </p:nvSpPr>
        <p:spPr bwMode="auto">
          <a:xfrm rot="16200000">
            <a:off x="6536982" y="2567914"/>
            <a:ext cx="693735" cy="2484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chemeClr val="tx1"/>
                </a:solidFill>
                <a:miter lim="800000"/>
                <a:headEnd/>
                <a:tailEnd type="none" w="med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>
              <a:spcBef>
                <a:spcPct val="50000"/>
              </a:spcBef>
            </a:pPr>
            <a:r>
              <a:rPr lang="ko-KR" altLang="en-US" sz="1000">
                <a:solidFill>
                  <a:srgbClr val="969696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고객지원</a:t>
            </a:r>
          </a:p>
        </p:txBody>
      </p:sp>
      <p:sp>
        <p:nvSpPr>
          <p:cNvPr id="208" name="Text Box 169"/>
          <p:cNvSpPr txBox="1">
            <a:spLocks noChangeArrowheads="1"/>
          </p:cNvSpPr>
          <p:nvPr/>
        </p:nvSpPr>
        <p:spPr bwMode="auto">
          <a:xfrm rot="16200000">
            <a:off x="6932741" y="2570380"/>
            <a:ext cx="695379" cy="2484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chemeClr val="tx1"/>
                </a:solidFill>
                <a:miter lim="800000"/>
                <a:headEnd/>
                <a:tailEnd type="none" w="med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>
              <a:spcBef>
                <a:spcPct val="50000"/>
              </a:spcBef>
            </a:pPr>
            <a:r>
              <a:rPr lang="ko-KR" altLang="en-US" sz="1000">
                <a:solidFill>
                  <a:srgbClr val="969696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모바일</a:t>
            </a:r>
          </a:p>
        </p:txBody>
      </p:sp>
      <p:sp>
        <p:nvSpPr>
          <p:cNvPr id="209" name="Text Box 170"/>
          <p:cNvSpPr txBox="1">
            <a:spLocks noChangeArrowheads="1"/>
          </p:cNvSpPr>
          <p:nvPr/>
        </p:nvSpPr>
        <p:spPr bwMode="auto">
          <a:xfrm rot="16200000">
            <a:off x="7231999" y="2387402"/>
            <a:ext cx="897581" cy="4022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chemeClr val="tx1"/>
                </a:solidFill>
                <a:miter lim="800000"/>
                <a:headEnd/>
                <a:tailEnd type="none" w="med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>
              <a:spcBef>
                <a:spcPct val="50000"/>
              </a:spcBef>
            </a:pPr>
            <a:r>
              <a:rPr lang="ko-KR" altLang="en-US" sz="1000">
                <a:solidFill>
                  <a:srgbClr val="969696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개인화 </a:t>
            </a:r>
          </a:p>
          <a:p>
            <a:pPr>
              <a:lnSpc>
                <a:spcPct val="40000"/>
              </a:lnSpc>
              <a:spcBef>
                <a:spcPct val="50000"/>
              </a:spcBef>
            </a:pPr>
            <a:r>
              <a:rPr lang="en-US" altLang="ko-KR" sz="1000">
                <a:solidFill>
                  <a:srgbClr val="969696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000">
                <a:solidFill>
                  <a:srgbClr val="969696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정보</a:t>
            </a:r>
            <a:r>
              <a:rPr lang="en-US" altLang="ko-KR" sz="1000">
                <a:solidFill>
                  <a:srgbClr val="969696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/tool)</a:t>
            </a:r>
          </a:p>
        </p:txBody>
      </p:sp>
      <p:sp>
        <p:nvSpPr>
          <p:cNvPr id="210" name="Text Box 171"/>
          <p:cNvSpPr txBox="1">
            <a:spLocks noChangeArrowheads="1"/>
          </p:cNvSpPr>
          <p:nvPr/>
        </p:nvSpPr>
        <p:spPr bwMode="auto">
          <a:xfrm rot="16200000">
            <a:off x="7734280" y="2567914"/>
            <a:ext cx="693735" cy="2484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chemeClr val="tx1"/>
                </a:solidFill>
                <a:miter lim="800000"/>
                <a:headEnd/>
                <a:tailEnd type="none" w="med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>
              <a:spcBef>
                <a:spcPct val="50000"/>
              </a:spcBef>
            </a:pPr>
            <a:r>
              <a:rPr lang="ko-KR" altLang="en-US" sz="1000">
                <a:solidFill>
                  <a:srgbClr val="969696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기타</a:t>
            </a:r>
          </a:p>
        </p:txBody>
      </p:sp>
      <p:sp>
        <p:nvSpPr>
          <p:cNvPr id="211" name="Text Box 172"/>
          <p:cNvSpPr txBox="1">
            <a:spLocks noChangeArrowheads="1"/>
          </p:cNvSpPr>
          <p:nvPr/>
        </p:nvSpPr>
        <p:spPr bwMode="auto">
          <a:xfrm>
            <a:off x="8671299" y="3295362"/>
            <a:ext cx="674188" cy="2484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chemeClr val="tx1"/>
                </a:solidFill>
                <a:miter lim="800000"/>
                <a:headEnd/>
                <a:tailEnd type="none" w="med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A </a:t>
            </a:r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상품</a:t>
            </a:r>
          </a:p>
        </p:txBody>
      </p:sp>
      <p:sp>
        <p:nvSpPr>
          <p:cNvPr id="212" name="Text Box 173"/>
          <p:cNvSpPr txBox="1">
            <a:spLocks noChangeArrowheads="1"/>
          </p:cNvSpPr>
          <p:nvPr/>
        </p:nvSpPr>
        <p:spPr bwMode="auto">
          <a:xfrm>
            <a:off x="8671298" y="3658669"/>
            <a:ext cx="746197" cy="2484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chemeClr val="tx1"/>
                </a:solidFill>
                <a:miter lim="800000"/>
                <a:headEnd/>
                <a:tailEnd type="none" w="med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000" tIns="46800" rIns="90000" bIns="4680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B </a:t>
            </a:r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상품</a:t>
            </a:r>
          </a:p>
        </p:txBody>
      </p:sp>
      <p:sp>
        <p:nvSpPr>
          <p:cNvPr id="213" name="Text Box 174"/>
          <p:cNvSpPr txBox="1">
            <a:spLocks noChangeArrowheads="1"/>
          </p:cNvSpPr>
          <p:nvPr/>
        </p:nvSpPr>
        <p:spPr bwMode="auto">
          <a:xfrm>
            <a:off x="8671299" y="3995672"/>
            <a:ext cx="674188" cy="2484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chemeClr val="tx1"/>
                </a:solidFill>
                <a:miter lim="800000"/>
                <a:headEnd/>
                <a:tailEnd type="none" w="med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C </a:t>
            </a:r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상품</a:t>
            </a:r>
          </a:p>
        </p:txBody>
      </p:sp>
      <p:sp>
        <p:nvSpPr>
          <p:cNvPr id="214" name="Text Box 175"/>
          <p:cNvSpPr txBox="1">
            <a:spLocks noChangeArrowheads="1"/>
          </p:cNvSpPr>
          <p:nvPr/>
        </p:nvSpPr>
        <p:spPr bwMode="auto">
          <a:xfrm>
            <a:off x="8671299" y="4349116"/>
            <a:ext cx="674188" cy="2484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chemeClr val="tx1"/>
                </a:solidFill>
                <a:miter lim="800000"/>
                <a:headEnd/>
                <a:tailEnd type="none" w="med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D </a:t>
            </a:r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상품</a:t>
            </a:r>
          </a:p>
        </p:txBody>
      </p:sp>
      <p:sp>
        <p:nvSpPr>
          <p:cNvPr id="215" name="Text Box 176"/>
          <p:cNvSpPr txBox="1">
            <a:spLocks noChangeArrowheads="1"/>
          </p:cNvSpPr>
          <p:nvPr/>
        </p:nvSpPr>
        <p:spPr bwMode="auto">
          <a:xfrm>
            <a:off x="8671299" y="4694339"/>
            <a:ext cx="674188" cy="2484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chemeClr val="tx1"/>
                </a:solidFill>
                <a:miter lim="800000"/>
                <a:headEnd/>
                <a:tailEnd type="none" w="med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E </a:t>
            </a:r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상품</a:t>
            </a:r>
          </a:p>
        </p:txBody>
      </p:sp>
      <p:sp>
        <p:nvSpPr>
          <p:cNvPr id="216" name="Text Box 177"/>
          <p:cNvSpPr txBox="1">
            <a:spLocks noChangeArrowheads="1"/>
          </p:cNvSpPr>
          <p:nvPr/>
        </p:nvSpPr>
        <p:spPr bwMode="auto">
          <a:xfrm>
            <a:off x="8671299" y="5074085"/>
            <a:ext cx="674188" cy="2484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chemeClr val="tx1"/>
                </a:solidFill>
                <a:miter lim="800000"/>
                <a:headEnd/>
                <a:tailEnd type="none" w="med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>
              <a:spcBef>
                <a:spcPct val="50000"/>
              </a:spcBef>
            </a:pPr>
            <a:r>
              <a:rPr lang="en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XXX</a:t>
            </a:r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가입</a:t>
            </a:r>
          </a:p>
        </p:txBody>
      </p:sp>
      <p:sp>
        <p:nvSpPr>
          <p:cNvPr id="217" name="Text Box 178"/>
          <p:cNvSpPr txBox="1">
            <a:spLocks noChangeArrowheads="1"/>
          </p:cNvSpPr>
          <p:nvPr/>
        </p:nvSpPr>
        <p:spPr bwMode="auto">
          <a:xfrm>
            <a:off x="8671299" y="5383142"/>
            <a:ext cx="674188" cy="2484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chemeClr val="tx1"/>
                </a:solidFill>
                <a:miter lim="800000"/>
                <a:headEnd/>
                <a:tailEnd type="none" w="med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>
              <a:spcBef>
                <a:spcPct val="50000"/>
              </a:spcBef>
            </a:pPr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상품정보</a:t>
            </a:r>
          </a:p>
        </p:txBody>
      </p:sp>
      <p:sp>
        <p:nvSpPr>
          <p:cNvPr id="218" name="Text Box 179"/>
          <p:cNvSpPr txBox="1">
            <a:spLocks noChangeArrowheads="1"/>
          </p:cNvSpPr>
          <p:nvPr/>
        </p:nvSpPr>
        <p:spPr bwMode="auto">
          <a:xfrm>
            <a:off x="8671299" y="5736585"/>
            <a:ext cx="674188" cy="2484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chemeClr val="tx1"/>
                </a:solidFill>
                <a:miter lim="800000"/>
                <a:headEnd/>
                <a:tailEnd type="none" w="med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>
              <a:spcBef>
                <a:spcPct val="50000"/>
              </a:spcBef>
            </a:pPr>
            <a:r>
              <a:rPr lang="ko-KR" altLang="en-US" sz="1000" b="1">
                <a:latin typeface="나눔고딕" panose="020D0604000000000000" pitchFamily="50" charset="-127"/>
                <a:ea typeface="나눔고딕" panose="020D0604000000000000" pitchFamily="50" charset="-127"/>
              </a:rPr>
              <a:t>기타</a:t>
            </a:r>
          </a:p>
        </p:txBody>
      </p:sp>
      <p:sp>
        <p:nvSpPr>
          <p:cNvPr id="219" name="AutoShape 183"/>
          <p:cNvSpPr>
            <a:spLocks noChangeArrowheads="1"/>
          </p:cNvSpPr>
          <p:nvPr/>
        </p:nvSpPr>
        <p:spPr bwMode="auto">
          <a:xfrm>
            <a:off x="3906657" y="3995934"/>
            <a:ext cx="713846" cy="652255"/>
          </a:xfrm>
          <a:prstGeom prst="rightArrow">
            <a:avLst>
              <a:gd name="adj1" fmla="val 70519"/>
              <a:gd name="adj2" fmla="val 27019"/>
            </a:avLst>
          </a:prstGeom>
          <a:gradFill rotWithShape="0">
            <a:gsLst>
              <a:gs pos="0">
                <a:schemeClr val="bg1"/>
              </a:gs>
              <a:gs pos="100000">
                <a:srgbClr val="B2B2B2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63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endParaRPr lang="ko-KR" altLang="en-US" sz="240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20" name="Text Box 184"/>
          <p:cNvSpPr txBox="1">
            <a:spLocks noChangeArrowheads="1"/>
          </p:cNvSpPr>
          <p:nvPr/>
        </p:nvSpPr>
        <p:spPr bwMode="auto">
          <a:xfrm>
            <a:off x="488504" y="6131197"/>
            <a:ext cx="3172651" cy="278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AEAEA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>
            <a:spAutoFit/>
          </a:bodyPr>
          <a:lstStyle/>
          <a:p>
            <a:pPr algn="ctr">
              <a:lnSpc>
                <a:spcPct val="110000"/>
              </a:lnSpc>
              <a:spcBef>
                <a:spcPct val="20000"/>
              </a:spcBef>
            </a:pPr>
            <a:r>
              <a:rPr lang="ko-KR" altLang="en-US" sz="1100" b="1">
                <a:latin typeface="나눔고딕" panose="020D0604000000000000" pitchFamily="50" charset="-127"/>
                <a:ea typeface="나눔고딕" panose="020D0604000000000000" pitchFamily="50" charset="-127"/>
              </a:rPr>
              <a:t>정보 유형별 </a:t>
            </a:r>
            <a:r>
              <a:rPr lang="en-US" altLang="ko-KR" sz="1100" b="1">
                <a:latin typeface="나눔고딕" panose="020D0604000000000000" pitchFamily="50" charset="-127"/>
                <a:ea typeface="나눔고딕" panose="020D0604000000000000" pitchFamily="50" charset="-127"/>
              </a:rPr>
              <a:t>grouping</a:t>
            </a:r>
          </a:p>
        </p:txBody>
      </p:sp>
      <p:sp>
        <p:nvSpPr>
          <p:cNvPr id="221" name="Text Box 185"/>
          <p:cNvSpPr txBox="1">
            <a:spLocks noChangeArrowheads="1"/>
          </p:cNvSpPr>
          <p:nvPr/>
        </p:nvSpPr>
        <p:spPr bwMode="auto">
          <a:xfrm>
            <a:off x="5085070" y="6131197"/>
            <a:ext cx="3172651" cy="2658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AEAEA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>
            <a:spAutoFit/>
          </a:bodyPr>
          <a:lstStyle/>
          <a:p>
            <a:pPr algn="ctr">
              <a:lnSpc>
                <a:spcPct val="110000"/>
              </a:lnSpc>
              <a:spcBef>
                <a:spcPct val="20000"/>
              </a:spcBef>
            </a:pPr>
            <a:r>
              <a:rPr lang="ko-KR" altLang="en-US" sz="1100" b="1">
                <a:latin typeface="나눔고딕" panose="020D0604000000000000" pitchFamily="50" charset="-127"/>
                <a:ea typeface="나눔고딕" panose="020D0604000000000000" pitchFamily="50" charset="-127"/>
              </a:rPr>
              <a:t>서비스 서비스 </a:t>
            </a:r>
            <a:r>
              <a:rPr lang="ko-KR" altLang="en-US" sz="11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유형별 </a:t>
            </a:r>
            <a:r>
              <a:rPr lang="en-US" altLang="ko-KR" sz="11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grouping</a:t>
            </a:r>
          </a:p>
        </p:txBody>
      </p:sp>
      <p:sp>
        <p:nvSpPr>
          <p:cNvPr id="222" name="Rectangle 186"/>
          <p:cNvSpPr>
            <a:spLocks noChangeArrowheads="1"/>
          </p:cNvSpPr>
          <p:nvPr/>
        </p:nvSpPr>
        <p:spPr bwMode="auto">
          <a:xfrm>
            <a:off x="4680934" y="2138112"/>
            <a:ext cx="4880577" cy="4262688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 type="none" w="med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 sz="240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31" name="직사각형 230"/>
          <p:cNvSpPr/>
          <p:nvPr/>
        </p:nvSpPr>
        <p:spPr>
          <a:xfrm>
            <a:off x="488504" y="1700808"/>
            <a:ext cx="2376264" cy="36004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4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Information grouping</a:t>
            </a:r>
          </a:p>
        </p:txBody>
      </p:sp>
    </p:spTree>
    <p:extLst>
      <p:ext uri="{BB962C8B-B14F-4D97-AF65-F5344CB8AC3E}">
        <p14:creationId xmlns:p14="http://schemas.microsoft.com/office/powerpoint/2010/main" val="320080656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AutoShape 2"/>
          <p:cNvSpPr>
            <a:spLocks noChangeArrowheads="1"/>
          </p:cNvSpPr>
          <p:nvPr/>
        </p:nvSpPr>
        <p:spPr bwMode="auto">
          <a:xfrm rot="16200000">
            <a:off x="3043436" y="3508679"/>
            <a:ext cx="1930400" cy="939800"/>
          </a:xfrm>
          <a:prstGeom prst="triangle">
            <a:avLst>
              <a:gd name="adj" fmla="val 50000"/>
            </a:avLst>
          </a:prstGeom>
          <a:gradFill rotWithShape="1">
            <a:gsLst>
              <a:gs pos="0">
                <a:schemeClr val="bg1"/>
              </a:gs>
              <a:gs pos="100000">
                <a:srgbClr val="B2B2B2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6350">
                <a:solidFill>
                  <a:schemeClr val="tx1"/>
                </a:solidFill>
                <a:miter lim="800000"/>
                <a:headEnd/>
                <a:tailEnd type="none" w="med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44017" y="91339"/>
            <a:ext cx="7401271" cy="385333"/>
          </a:xfrm>
          <a:prstGeom prst="rect">
            <a:avLst/>
          </a:prstGeom>
          <a:noFill/>
        </p:spPr>
        <p:txBody>
          <a:bodyPr wrap="square" lIns="0" tIns="53643" rIns="0" bIns="53643" rtlCol="0">
            <a:spAutoFit/>
          </a:bodyPr>
          <a:lstStyle/>
          <a:p>
            <a:r>
              <a:rPr kumimoji="1" lang="en-US" altLang="ko-KR" b="1" kern="0" dirty="0">
                <a:latin typeface="나눔고딕" panose="020D0604000000000000" pitchFamily="50" charset="-127"/>
                <a:ea typeface="나눔고딕" panose="020D0604000000000000" pitchFamily="50" charset="-127"/>
                <a:cs typeface="산돌고딕 M"/>
              </a:rPr>
              <a:t>Information architecture</a:t>
            </a:r>
            <a:endParaRPr kumimoji="1" lang="ko-KR" altLang="en-US" b="1" kern="0" dirty="0">
              <a:latin typeface="나눔고딕" panose="020D0604000000000000" pitchFamily="50" charset="-127"/>
              <a:ea typeface="나눔고딕" panose="020D0604000000000000" pitchFamily="50" charset="-127"/>
              <a:cs typeface="산돌고딕 M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44017" y="683985"/>
            <a:ext cx="96335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Service Grouping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8504" y="991762"/>
            <a:ext cx="8928992" cy="523220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ko-KR" altLang="en-US" sz="1400">
                <a:latin typeface="나눔고딕" panose="020D0604000000000000" pitchFamily="50" charset="-127"/>
                <a:ea typeface="나눔고딕" panose="020D0604000000000000" pitchFamily="50" charset="-127"/>
              </a:rPr>
              <a:t>서비스 서비스 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유형 별로 구조를 설계함으로써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고객의 구매 행동단계에 따라 카테고리 이동을 하지 않아도 </a:t>
            </a:r>
            <a:r>
              <a:rPr lang="ko-KR" altLang="en-US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한 곳에서</a:t>
            </a:r>
            <a:br>
              <a:rPr lang="en-US" altLang="ko-KR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모든 프로세스를 처리할 수 있도록 지원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합니다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488504" y="1700808"/>
            <a:ext cx="2376264" cy="36004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4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Information grouping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5614" y="3333642"/>
            <a:ext cx="2273250" cy="21115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0" name="Group 106"/>
          <p:cNvGrpSpPr>
            <a:grpSpLocks/>
          </p:cNvGrpSpPr>
          <p:nvPr/>
        </p:nvGrpSpPr>
        <p:grpSpPr bwMode="auto">
          <a:xfrm>
            <a:off x="6934399" y="2743504"/>
            <a:ext cx="381000" cy="762000"/>
            <a:chOff x="5875" y="720"/>
            <a:chExt cx="313" cy="1146"/>
          </a:xfrm>
        </p:grpSpPr>
        <p:grpSp>
          <p:nvGrpSpPr>
            <p:cNvPr id="11" name="Group 107"/>
            <p:cNvGrpSpPr>
              <a:grpSpLocks/>
            </p:cNvGrpSpPr>
            <p:nvPr/>
          </p:nvGrpSpPr>
          <p:grpSpPr bwMode="auto">
            <a:xfrm>
              <a:off x="5875" y="720"/>
              <a:ext cx="313" cy="1146"/>
              <a:chOff x="3872" y="1622"/>
              <a:chExt cx="98" cy="388"/>
            </a:xfrm>
          </p:grpSpPr>
          <p:sp>
            <p:nvSpPr>
              <p:cNvPr id="13" name="Freeform 108"/>
              <p:cNvSpPr>
                <a:spLocks/>
              </p:cNvSpPr>
              <p:nvPr/>
            </p:nvSpPr>
            <p:spPr bwMode="auto">
              <a:xfrm>
                <a:off x="3901" y="1622"/>
                <a:ext cx="40" cy="57"/>
              </a:xfrm>
              <a:custGeom>
                <a:avLst/>
                <a:gdLst>
                  <a:gd name="T0" fmla="*/ 40 w 40"/>
                  <a:gd name="T1" fmla="*/ 29 h 57"/>
                  <a:gd name="T2" fmla="*/ 39 w 40"/>
                  <a:gd name="T3" fmla="*/ 16 h 57"/>
                  <a:gd name="T4" fmla="*/ 33 w 40"/>
                  <a:gd name="T5" fmla="*/ 5 h 57"/>
                  <a:gd name="T6" fmla="*/ 24 w 40"/>
                  <a:gd name="T7" fmla="*/ 0 h 57"/>
                  <a:gd name="T8" fmla="*/ 16 w 40"/>
                  <a:gd name="T9" fmla="*/ 0 h 57"/>
                  <a:gd name="T10" fmla="*/ 7 w 40"/>
                  <a:gd name="T11" fmla="*/ 5 h 57"/>
                  <a:gd name="T12" fmla="*/ 1 w 40"/>
                  <a:gd name="T13" fmla="*/ 16 h 57"/>
                  <a:gd name="T14" fmla="*/ 0 w 40"/>
                  <a:gd name="T15" fmla="*/ 29 h 57"/>
                  <a:gd name="T16" fmla="*/ 1 w 40"/>
                  <a:gd name="T17" fmla="*/ 41 h 57"/>
                  <a:gd name="T18" fmla="*/ 7 w 40"/>
                  <a:gd name="T19" fmla="*/ 52 h 57"/>
                  <a:gd name="T20" fmla="*/ 16 w 40"/>
                  <a:gd name="T21" fmla="*/ 57 h 57"/>
                  <a:gd name="T22" fmla="*/ 24 w 40"/>
                  <a:gd name="T23" fmla="*/ 57 h 57"/>
                  <a:gd name="T24" fmla="*/ 33 w 40"/>
                  <a:gd name="T25" fmla="*/ 52 h 57"/>
                  <a:gd name="T26" fmla="*/ 39 w 40"/>
                  <a:gd name="T27" fmla="*/ 41 h 57"/>
                  <a:gd name="T28" fmla="*/ 40 w 40"/>
                  <a:gd name="T29" fmla="*/ 29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40" h="57">
                    <a:moveTo>
                      <a:pt x="40" y="29"/>
                    </a:moveTo>
                    <a:lnTo>
                      <a:pt x="39" y="16"/>
                    </a:lnTo>
                    <a:lnTo>
                      <a:pt x="33" y="5"/>
                    </a:lnTo>
                    <a:lnTo>
                      <a:pt x="24" y="0"/>
                    </a:lnTo>
                    <a:lnTo>
                      <a:pt x="16" y="0"/>
                    </a:lnTo>
                    <a:lnTo>
                      <a:pt x="7" y="5"/>
                    </a:lnTo>
                    <a:lnTo>
                      <a:pt x="1" y="16"/>
                    </a:lnTo>
                    <a:lnTo>
                      <a:pt x="0" y="29"/>
                    </a:lnTo>
                    <a:lnTo>
                      <a:pt x="1" y="41"/>
                    </a:lnTo>
                    <a:lnTo>
                      <a:pt x="7" y="52"/>
                    </a:lnTo>
                    <a:lnTo>
                      <a:pt x="16" y="57"/>
                    </a:lnTo>
                    <a:lnTo>
                      <a:pt x="24" y="57"/>
                    </a:lnTo>
                    <a:lnTo>
                      <a:pt x="33" y="52"/>
                    </a:lnTo>
                    <a:lnTo>
                      <a:pt x="39" y="41"/>
                    </a:lnTo>
                    <a:lnTo>
                      <a:pt x="40" y="29"/>
                    </a:lnTo>
                    <a:close/>
                  </a:path>
                </a:pathLst>
              </a:custGeom>
              <a:solidFill>
                <a:srgbClr val="FF9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3175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14" name="Freeform 109"/>
              <p:cNvSpPr>
                <a:spLocks/>
              </p:cNvSpPr>
              <p:nvPr/>
            </p:nvSpPr>
            <p:spPr bwMode="auto">
              <a:xfrm>
                <a:off x="3872" y="1690"/>
                <a:ext cx="98" cy="320"/>
              </a:xfrm>
              <a:custGeom>
                <a:avLst/>
                <a:gdLst>
                  <a:gd name="T0" fmla="*/ 68 w 98"/>
                  <a:gd name="T1" fmla="*/ 0 h 320"/>
                  <a:gd name="T2" fmla="*/ 75 w 98"/>
                  <a:gd name="T3" fmla="*/ 0 h 320"/>
                  <a:gd name="T4" fmla="*/ 84 w 98"/>
                  <a:gd name="T5" fmla="*/ 2 h 320"/>
                  <a:gd name="T6" fmla="*/ 96 w 98"/>
                  <a:gd name="T7" fmla="*/ 25 h 320"/>
                  <a:gd name="T8" fmla="*/ 98 w 98"/>
                  <a:gd name="T9" fmla="*/ 48 h 320"/>
                  <a:gd name="T10" fmla="*/ 98 w 98"/>
                  <a:gd name="T11" fmla="*/ 143 h 320"/>
                  <a:gd name="T12" fmla="*/ 89 w 98"/>
                  <a:gd name="T13" fmla="*/ 155 h 320"/>
                  <a:gd name="T14" fmla="*/ 82 w 98"/>
                  <a:gd name="T15" fmla="*/ 148 h 320"/>
                  <a:gd name="T16" fmla="*/ 80 w 98"/>
                  <a:gd name="T17" fmla="*/ 139 h 320"/>
                  <a:gd name="T18" fmla="*/ 75 w 98"/>
                  <a:gd name="T19" fmla="*/ 53 h 320"/>
                  <a:gd name="T20" fmla="*/ 75 w 98"/>
                  <a:gd name="T21" fmla="*/ 298 h 320"/>
                  <a:gd name="T22" fmla="*/ 75 w 98"/>
                  <a:gd name="T23" fmla="*/ 305 h 320"/>
                  <a:gd name="T24" fmla="*/ 69 w 98"/>
                  <a:gd name="T25" fmla="*/ 318 h 320"/>
                  <a:gd name="T26" fmla="*/ 59 w 98"/>
                  <a:gd name="T27" fmla="*/ 318 h 320"/>
                  <a:gd name="T28" fmla="*/ 53 w 98"/>
                  <a:gd name="T29" fmla="*/ 298 h 320"/>
                  <a:gd name="T30" fmla="*/ 53 w 98"/>
                  <a:gd name="T31" fmla="*/ 155 h 320"/>
                  <a:gd name="T32" fmla="*/ 50 w 98"/>
                  <a:gd name="T33" fmla="*/ 153 h 320"/>
                  <a:gd name="T34" fmla="*/ 45 w 98"/>
                  <a:gd name="T35" fmla="*/ 295 h 320"/>
                  <a:gd name="T36" fmla="*/ 45 w 98"/>
                  <a:gd name="T37" fmla="*/ 303 h 320"/>
                  <a:gd name="T38" fmla="*/ 43 w 98"/>
                  <a:gd name="T39" fmla="*/ 314 h 320"/>
                  <a:gd name="T40" fmla="*/ 34 w 98"/>
                  <a:gd name="T41" fmla="*/ 320 h 320"/>
                  <a:gd name="T42" fmla="*/ 25 w 98"/>
                  <a:gd name="T43" fmla="*/ 312 h 320"/>
                  <a:gd name="T44" fmla="*/ 23 w 98"/>
                  <a:gd name="T45" fmla="*/ 302 h 320"/>
                  <a:gd name="T46" fmla="*/ 23 w 98"/>
                  <a:gd name="T47" fmla="*/ 295 h 320"/>
                  <a:gd name="T48" fmla="*/ 18 w 98"/>
                  <a:gd name="T49" fmla="*/ 53 h 320"/>
                  <a:gd name="T50" fmla="*/ 18 w 98"/>
                  <a:gd name="T51" fmla="*/ 143 h 320"/>
                  <a:gd name="T52" fmla="*/ 18 w 98"/>
                  <a:gd name="T53" fmla="*/ 148 h 320"/>
                  <a:gd name="T54" fmla="*/ 13 w 98"/>
                  <a:gd name="T55" fmla="*/ 153 h 320"/>
                  <a:gd name="T56" fmla="*/ 2 w 98"/>
                  <a:gd name="T57" fmla="*/ 150 h 320"/>
                  <a:gd name="T58" fmla="*/ 0 w 98"/>
                  <a:gd name="T59" fmla="*/ 139 h 320"/>
                  <a:gd name="T60" fmla="*/ 0 w 98"/>
                  <a:gd name="T61" fmla="*/ 44 h 320"/>
                  <a:gd name="T62" fmla="*/ 7 w 98"/>
                  <a:gd name="T63" fmla="*/ 11 h 320"/>
                  <a:gd name="T64" fmla="*/ 20 w 98"/>
                  <a:gd name="T65" fmla="*/ 0 h 320"/>
                  <a:gd name="T66" fmla="*/ 25 w 98"/>
                  <a:gd name="T67" fmla="*/ 0 h 320"/>
                  <a:gd name="T68" fmla="*/ 52 w 98"/>
                  <a:gd name="T69" fmla="*/ 0 h 3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98" h="320">
                    <a:moveTo>
                      <a:pt x="46" y="0"/>
                    </a:moveTo>
                    <a:lnTo>
                      <a:pt x="68" y="0"/>
                    </a:lnTo>
                    <a:lnTo>
                      <a:pt x="73" y="0"/>
                    </a:lnTo>
                    <a:lnTo>
                      <a:pt x="75" y="0"/>
                    </a:lnTo>
                    <a:lnTo>
                      <a:pt x="78" y="0"/>
                    </a:lnTo>
                    <a:lnTo>
                      <a:pt x="84" y="2"/>
                    </a:lnTo>
                    <a:lnTo>
                      <a:pt x="91" y="11"/>
                    </a:lnTo>
                    <a:lnTo>
                      <a:pt x="96" y="25"/>
                    </a:lnTo>
                    <a:lnTo>
                      <a:pt x="98" y="44"/>
                    </a:lnTo>
                    <a:lnTo>
                      <a:pt x="98" y="48"/>
                    </a:lnTo>
                    <a:lnTo>
                      <a:pt x="98" y="139"/>
                    </a:lnTo>
                    <a:lnTo>
                      <a:pt x="98" y="143"/>
                    </a:lnTo>
                    <a:lnTo>
                      <a:pt x="96" y="150"/>
                    </a:lnTo>
                    <a:lnTo>
                      <a:pt x="89" y="155"/>
                    </a:lnTo>
                    <a:lnTo>
                      <a:pt x="84" y="153"/>
                    </a:lnTo>
                    <a:lnTo>
                      <a:pt x="82" y="148"/>
                    </a:lnTo>
                    <a:lnTo>
                      <a:pt x="80" y="143"/>
                    </a:lnTo>
                    <a:lnTo>
                      <a:pt x="80" y="139"/>
                    </a:lnTo>
                    <a:lnTo>
                      <a:pt x="80" y="53"/>
                    </a:lnTo>
                    <a:lnTo>
                      <a:pt x="75" y="53"/>
                    </a:lnTo>
                    <a:lnTo>
                      <a:pt x="75" y="295"/>
                    </a:lnTo>
                    <a:lnTo>
                      <a:pt x="75" y="298"/>
                    </a:lnTo>
                    <a:lnTo>
                      <a:pt x="75" y="300"/>
                    </a:lnTo>
                    <a:lnTo>
                      <a:pt x="75" y="305"/>
                    </a:lnTo>
                    <a:lnTo>
                      <a:pt x="73" y="312"/>
                    </a:lnTo>
                    <a:lnTo>
                      <a:pt x="69" y="318"/>
                    </a:lnTo>
                    <a:lnTo>
                      <a:pt x="64" y="320"/>
                    </a:lnTo>
                    <a:lnTo>
                      <a:pt x="59" y="318"/>
                    </a:lnTo>
                    <a:lnTo>
                      <a:pt x="55" y="316"/>
                    </a:lnTo>
                    <a:lnTo>
                      <a:pt x="53" y="298"/>
                    </a:lnTo>
                    <a:lnTo>
                      <a:pt x="53" y="295"/>
                    </a:lnTo>
                    <a:lnTo>
                      <a:pt x="53" y="155"/>
                    </a:lnTo>
                    <a:lnTo>
                      <a:pt x="48" y="153"/>
                    </a:lnTo>
                    <a:lnTo>
                      <a:pt x="50" y="153"/>
                    </a:lnTo>
                    <a:lnTo>
                      <a:pt x="45" y="155"/>
                    </a:lnTo>
                    <a:lnTo>
                      <a:pt x="45" y="295"/>
                    </a:lnTo>
                    <a:lnTo>
                      <a:pt x="45" y="298"/>
                    </a:lnTo>
                    <a:lnTo>
                      <a:pt x="45" y="303"/>
                    </a:lnTo>
                    <a:lnTo>
                      <a:pt x="45" y="307"/>
                    </a:lnTo>
                    <a:lnTo>
                      <a:pt x="43" y="314"/>
                    </a:lnTo>
                    <a:lnTo>
                      <a:pt x="39" y="318"/>
                    </a:lnTo>
                    <a:lnTo>
                      <a:pt x="34" y="320"/>
                    </a:lnTo>
                    <a:lnTo>
                      <a:pt x="29" y="318"/>
                    </a:lnTo>
                    <a:lnTo>
                      <a:pt x="25" y="312"/>
                    </a:lnTo>
                    <a:lnTo>
                      <a:pt x="23" y="305"/>
                    </a:lnTo>
                    <a:lnTo>
                      <a:pt x="23" y="302"/>
                    </a:lnTo>
                    <a:lnTo>
                      <a:pt x="23" y="298"/>
                    </a:lnTo>
                    <a:lnTo>
                      <a:pt x="23" y="295"/>
                    </a:lnTo>
                    <a:lnTo>
                      <a:pt x="23" y="53"/>
                    </a:lnTo>
                    <a:lnTo>
                      <a:pt x="18" y="53"/>
                    </a:lnTo>
                    <a:lnTo>
                      <a:pt x="18" y="139"/>
                    </a:lnTo>
                    <a:lnTo>
                      <a:pt x="18" y="143"/>
                    </a:lnTo>
                    <a:lnTo>
                      <a:pt x="18" y="144"/>
                    </a:lnTo>
                    <a:lnTo>
                      <a:pt x="18" y="148"/>
                    </a:lnTo>
                    <a:lnTo>
                      <a:pt x="14" y="152"/>
                    </a:lnTo>
                    <a:lnTo>
                      <a:pt x="13" y="153"/>
                    </a:lnTo>
                    <a:lnTo>
                      <a:pt x="9" y="155"/>
                    </a:lnTo>
                    <a:lnTo>
                      <a:pt x="2" y="150"/>
                    </a:lnTo>
                    <a:lnTo>
                      <a:pt x="0" y="143"/>
                    </a:lnTo>
                    <a:lnTo>
                      <a:pt x="0" y="139"/>
                    </a:lnTo>
                    <a:lnTo>
                      <a:pt x="0" y="48"/>
                    </a:lnTo>
                    <a:lnTo>
                      <a:pt x="0" y="44"/>
                    </a:lnTo>
                    <a:lnTo>
                      <a:pt x="2" y="27"/>
                    </a:lnTo>
                    <a:lnTo>
                      <a:pt x="7" y="11"/>
                    </a:lnTo>
                    <a:lnTo>
                      <a:pt x="14" y="3"/>
                    </a:lnTo>
                    <a:lnTo>
                      <a:pt x="20" y="0"/>
                    </a:lnTo>
                    <a:lnTo>
                      <a:pt x="21" y="0"/>
                    </a:lnTo>
                    <a:lnTo>
                      <a:pt x="25" y="0"/>
                    </a:lnTo>
                    <a:lnTo>
                      <a:pt x="29" y="0"/>
                    </a:lnTo>
                    <a:lnTo>
                      <a:pt x="52" y="0"/>
                    </a:lnTo>
                    <a:lnTo>
                      <a:pt x="46" y="0"/>
                    </a:lnTo>
                    <a:close/>
                  </a:path>
                </a:pathLst>
              </a:custGeom>
              <a:solidFill>
                <a:srgbClr val="FF9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3175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p:grpSp>
        <p:sp>
          <p:nvSpPr>
            <p:cNvPr id="12" name="Oval 110"/>
            <p:cNvSpPr>
              <a:spLocks noChangeArrowheads="1"/>
            </p:cNvSpPr>
            <p:nvPr/>
          </p:nvSpPr>
          <p:spPr bwMode="auto">
            <a:xfrm>
              <a:off x="5875" y="960"/>
              <a:ext cx="127" cy="144"/>
            </a:xfrm>
            <a:prstGeom prst="ellipse">
              <a:avLst/>
            </a:prstGeom>
            <a:solidFill>
              <a:srgbClr val="FF99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sp>
        <p:nvSpPr>
          <p:cNvPr id="15" name="Rectangle 111"/>
          <p:cNvSpPr>
            <a:spLocks noChangeArrowheads="1"/>
          </p:cNvSpPr>
          <p:nvPr/>
        </p:nvSpPr>
        <p:spPr bwMode="auto">
          <a:xfrm>
            <a:off x="4529336" y="2999092"/>
            <a:ext cx="2057400" cy="381000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rgbClr val="333333"/>
            </a:solidFill>
            <a:miter lim="800000"/>
            <a:headEnd/>
            <a:tailEnd/>
          </a:ln>
          <a:effectLst/>
        </p:spPr>
        <p:txBody>
          <a:bodyPr wrap="none" lIns="216000" anchor="ctr"/>
          <a:lstStyle/>
          <a:p>
            <a:r>
              <a:rPr lang="en-US" altLang="ko-KR" sz="11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1. </a:t>
            </a:r>
            <a:r>
              <a:rPr lang="ko-KR" altLang="en-US" sz="11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정보 탐색 단계</a:t>
            </a:r>
          </a:p>
        </p:txBody>
      </p:sp>
      <p:sp>
        <p:nvSpPr>
          <p:cNvPr id="17" name="Rectangle 113"/>
          <p:cNvSpPr>
            <a:spLocks noChangeArrowheads="1"/>
          </p:cNvSpPr>
          <p:nvPr/>
        </p:nvSpPr>
        <p:spPr bwMode="auto">
          <a:xfrm>
            <a:off x="4529336" y="3532492"/>
            <a:ext cx="2057400" cy="381000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rgbClr val="333333"/>
            </a:solidFill>
            <a:miter lim="800000"/>
            <a:headEnd/>
            <a:tailEnd/>
          </a:ln>
          <a:effectLst/>
        </p:spPr>
        <p:txBody>
          <a:bodyPr wrap="none" lIns="216000" anchor="ctr"/>
          <a:lstStyle/>
          <a:p>
            <a:r>
              <a:rPr lang="en-US" altLang="ko-KR" sz="11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2. </a:t>
            </a:r>
            <a:r>
              <a:rPr lang="ko-KR" altLang="en-US" sz="11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평가 단계</a:t>
            </a:r>
          </a:p>
        </p:txBody>
      </p:sp>
      <p:sp>
        <p:nvSpPr>
          <p:cNvPr id="19" name="Rectangle 115"/>
          <p:cNvSpPr>
            <a:spLocks noChangeArrowheads="1"/>
          </p:cNvSpPr>
          <p:nvPr/>
        </p:nvSpPr>
        <p:spPr bwMode="auto">
          <a:xfrm>
            <a:off x="4529336" y="4065892"/>
            <a:ext cx="2057400" cy="381000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rgbClr val="333333"/>
            </a:solidFill>
            <a:miter lim="800000"/>
            <a:headEnd/>
            <a:tailEnd/>
          </a:ln>
          <a:effectLst/>
        </p:spPr>
        <p:txBody>
          <a:bodyPr wrap="none" lIns="216000" anchor="ctr"/>
          <a:lstStyle/>
          <a:p>
            <a:r>
              <a:rPr lang="en-US" altLang="ko-KR" sz="11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3. </a:t>
            </a:r>
            <a:r>
              <a:rPr lang="ko-KR" altLang="en-US" sz="11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의사 결정 단계</a:t>
            </a:r>
          </a:p>
        </p:txBody>
      </p:sp>
      <p:sp>
        <p:nvSpPr>
          <p:cNvPr id="21" name="Rectangle 117"/>
          <p:cNvSpPr>
            <a:spLocks noChangeArrowheads="1"/>
          </p:cNvSpPr>
          <p:nvPr/>
        </p:nvSpPr>
        <p:spPr bwMode="auto">
          <a:xfrm>
            <a:off x="4529336" y="4599292"/>
            <a:ext cx="2057400" cy="381000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rgbClr val="333333"/>
            </a:solidFill>
            <a:miter lim="800000"/>
            <a:headEnd/>
            <a:tailEnd/>
          </a:ln>
          <a:effectLst/>
        </p:spPr>
        <p:txBody>
          <a:bodyPr wrap="none" lIns="216000" anchor="ctr"/>
          <a:lstStyle/>
          <a:p>
            <a:r>
              <a:rPr lang="en-US" altLang="ko-KR" sz="11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4</a:t>
            </a:r>
            <a:r>
              <a:rPr lang="en-US" altLang="ko-KR" sz="1100" b="1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ko-KR" altLang="en-US" sz="1100" b="1">
                <a:latin typeface="나눔고딕" panose="020D0604000000000000" pitchFamily="50" charset="-127"/>
                <a:ea typeface="나눔고딕" panose="020D0604000000000000" pitchFamily="50" charset="-127"/>
              </a:rPr>
              <a:t>서비스상품 </a:t>
            </a:r>
            <a:r>
              <a:rPr lang="ko-KR" altLang="en-US" sz="11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가입 단계</a:t>
            </a:r>
          </a:p>
        </p:txBody>
      </p:sp>
      <p:cxnSp>
        <p:nvCxnSpPr>
          <p:cNvPr id="23" name="AutoShape 119"/>
          <p:cNvCxnSpPr>
            <a:cxnSpLocks noChangeShapeType="1"/>
            <a:stCxn id="15" idx="2"/>
            <a:endCxn id="17" idx="0"/>
          </p:cNvCxnSpPr>
          <p:nvPr/>
        </p:nvCxnSpPr>
        <p:spPr bwMode="auto">
          <a:xfrm>
            <a:off x="5558036" y="3380092"/>
            <a:ext cx="0" cy="152400"/>
          </a:xfrm>
          <a:prstGeom prst="straightConnector1">
            <a:avLst/>
          </a:prstGeom>
          <a:noFill/>
          <a:ln w="6350">
            <a:solidFill>
              <a:srgbClr val="B2B2B2"/>
            </a:solidFill>
            <a:round/>
            <a:headEnd/>
            <a:tailEnd type="triangle" w="med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" name="AutoShape 120"/>
          <p:cNvCxnSpPr>
            <a:cxnSpLocks noChangeShapeType="1"/>
            <a:stCxn id="17" idx="2"/>
            <a:endCxn id="19" idx="0"/>
          </p:cNvCxnSpPr>
          <p:nvPr/>
        </p:nvCxnSpPr>
        <p:spPr bwMode="auto">
          <a:xfrm>
            <a:off x="5558036" y="3913492"/>
            <a:ext cx="0" cy="152400"/>
          </a:xfrm>
          <a:prstGeom prst="straightConnector1">
            <a:avLst/>
          </a:prstGeom>
          <a:noFill/>
          <a:ln w="6350">
            <a:solidFill>
              <a:srgbClr val="B2B2B2"/>
            </a:solidFill>
            <a:round/>
            <a:headEnd/>
            <a:tailEnd type="triangle" w="med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5" name="AutoShape 121"/>
          <p:cNvCxnSpPr>
            <a:cxnSpLocks noChangeShapeType="1"/>
            <a:stCxn id="19" idx="2"/>
            <a:endCxn id="21" idx="0"/>
          </p:cNvCxnSpPr>
          <p:nvPr/>
        </p:nvCxnSpPr>
        <p:spPr bwMode="auto">
          <a:xfrm>
            <a:off x="5558036" y="4446892"/>
            <a:ext cx="0" cy="152400"/>
          </a:xfrm>
          <a:prstGeom prst="straightConnector1">
            <a:avLst/>
          </a:prstGeom>
          <a:noFill/>
          <a:ln w="6350">
            <a:solidFill>
              <a:srgbClr val="B2B2B2"/>
            </a:solidFill>
            <a:round/>
            <a:headEnd/>
            <a:tailEnd type="triangle" w="med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6" name="AutoShape 122"/>
          <p:cNvCxnSpPr>
            <a:cxnSpLocks noChangeShapeType="1"/>
            <a:stCxn id="21" idx="2"/>
            <a:endCxn id="15" idx="0"/>
          </p:cNvCxnSpPr>
          <p:nvPr/>
        </p:nvCxnSpPr>
        <p:spPr bwMode="auto">
          <a:xfrm rot="5400000" flipH="1" flipV="1">
            <a:off x="4568230" y="3988898"/>
            <a:ext cx="1981200" cy="1588"/>
          </a:xfrm>
          <a:prstGeom prst="bentConnector5">
            <a:avLst>
              <a:gd name="adj1" fmla="val -11537"/>
              <a:gd name="adj2" fmla="val 79200000"/>
              <a:gd name="adj3" fmla="val 111537"/>
            </a:avLst>
          </a:prstGeom>
          <a:noFill/>
          <a:ln w="6350">
            <a:solidFill>
              <a:srgbClr val="B2B2B2"/>
            </a:solidFill>
            <a:miter lim="800000"/>
            <a:headEnd/>
            <a:tailEnd type="triangle" w="med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7" name="Text Box 123"/>
          <p:cNvSpPr txBox="1">
            <a:spLocks noChangeArrowheads="1"/>
          </p:cNvSpPr>
          <p:nvPr/>
        </p:nvSpPr>
        <p:spPr bwMode="auto">
          <a:xfrm>
            <a:off x="6923286" y="3516617"/>
            <a:ext cx="1600200" cy="3933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4701" tIns="42350" rIns="84701" bIns="42350">
            <a:spAutoFit/>
          </a:bodyPr>
          <a:lstStyle>
            <a:lvl1pPr defTabSz="847725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423863" defTabSz="847725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847725" defTabSz="847725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270000" defTabSz="847725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1693863" defTabSz="847725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151063" defTabSz="847725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608263" defTabSz="847725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065463" defTabSz="847725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522663" defTabSz="847725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r>
              <a:rPr lang="ko-KR" altLang="en-US" sz="1000" b="1">
                <a:latin typeface="나눔고딕" panose="020D0604000000000000" pitchFamily="50" charset="-127"/>
                <a:ea typeface="나눔고딕" panose="020D0604000000000000" pitchFamily="50" charset="-127"/>
              </a:rPr>
              <a:t>서비스상품에 </a:t>
            </a:r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관심 있는 고객</a:t>
            </a:r>
            <a:endParaRPr lang="ko-KR" altLang="en-US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8" name="Text Box 124"/>
          <p:cNvSpPr txBox="1">
            <a:spLocks noChangeArrowheads="1"/>
          </p:cNvSpPr>
          <p:nvPr/>
        </p:nvSpPr>
        <p:spPr bwMode="auto">
          <a:xfrm>
            <a:off x="4484886" y="5334304"/>
            <a:ext cx="4494210" cy="674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chemeClr val="tx1"/>
                </a:solidFill>
                <a:miter lim="800000"/>
                <a:headEnd/>
                <a:tailEnd type="none" w="med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000" tIns="46800" rIns="90000" bIns="46800">
            <a:spAutoFit/>
          </a:bodyPr>
          <a:lstStyle>
            <a:lvl1pPr marL="92075" indent="-92075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>
              <a:lnSpc>
                <a:spcPct val="110000"/>
              </a:lnSpc>
              <a:spcBef>
                <a:spcPct val="20000"/>
              </a:spcBef>
              <a:buFontTx/>
              <a:buChar char="•"/>
            </a:pPr>
            <a:r>
              <a:rPr kumimoji="0" lang="ko-KR" altLang="en-US" sz="11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정보탐색에서 가입까지 고객의 구매 행동단계를 한 곳에서</a:t>
            </a:r>
            <a:br>
              <a:rPr kumimoji="0" lang="en-US" altLang="ko-KR" sz="1100" b="1" dirty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kumimoji="0" lang="en-US" altLang="ko-KR" sz="11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kumimoji="0" lang="ko-KR" altLang="en-US" sz="11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모두 처리 할 수 있게 함</a:t>
            </a:r>
            <a:endParaRPr kumimoji="0" lang="en-US" altLang="ko-KR" sz="11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ct val="110000"/>
              </a:lnSpc>
              <a:spcBef>
                <a:spcPct val="20000"/>
              </a:spcBef>
              <a:buFontTx/>
              <a:buChar char="•"/>
            </a:pPr>
            <a:r>
              <a:rPr kumimoji="0" lang="ko-KR" altLang="en-US" sz="11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고객 편의성 증대와 </a:t>
            </a:r>
            <a:r>
              <a:rPr kumimoji="0" lang="ko-KR" altLang="en-US" sz="1100" b="1">
                <a:latin typeface="나눔고딕" panose="020D0604000000000000" pitchFamily="50" charset="-127"/>
                <a:ea typeface="나눔고딕" panose="020D0604000000000000" pitchFamily="50" charset="-127"/>
              </a:rPr>
              <a:t>고객의 서비스가입욕구 </a:t>
            </a:r>
            <a:r>
              <a:rPr kumimoji="0" lang="ko-KR" altLang="en-US" sz="11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증가  및 구매 유도의 효과</a:t>
            </a:r>
          </a:p>
        </p:txBody>
      </p:sp>
    </p:spTree>
    <p:extLst>
      <p:ext uri="{BB962C8B-B14F-4D97-AF65-F5344CB8AC3E}">
        <p14:creationId xmlns:p14="http://schemas.microsoft.com/office/powerpoint/2010/main" val="414639933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44017" y="91339"/>
            <a:ext cx="7401271" cy="385333"/>
          </a:xfrm>
          <a:prstGeom prst="rect">
            <a:avLst/>
          </a:prstGeom>
          <a:noFill/>
        </p:spPr>
        <p:txBody>
          <a:bodyPr wrap="square" lIns="0" tIns="53643" rIns="0" bIns="53643" rtlCol="0">
            <a:spAutoFit/>
          </a:bodyPr>
          <a:lstStyle/>
          <a:p>
            <a:r>
              <a:rPr kumimoji="1" lang="en-US" altLang="ko-KR" b="1" kern="0" dirty="0">
                <a:latin typeface="나눔고딕" panose="020D0604000000000000" pitchFamily="50" charset="-127"/>
                <a:ea typeface="나눔고딕" panose="020D0604000000000000" pitchFamily="50" charset="-127"/>
                <a:cs typeface="산돌고딕 M"/>
              </a:rPr>
              <a:t>Information architecture</a:t>
            </a:r>
            <a:endParaRPr kumimoji="1" lang="ko-KR" altLang="en-US" b="1" kern="0" dirty="0">
              <a:latin typeface="나눔고딕" panose="020D0604000000000000" pitchFamily="50" charset="-127"/>
              <a:ea typeface="나눔고딕" panose="020D0604000000000000" pitchFamily="50" charset="-127"/>
              <a:cs typeface="산돌고딕 M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44017" y="683985"/>
            <a:ext cx="96335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Service Grouping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8504" y="991762"/>
            <a:ext cx="8928992" cy="523220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ko-KR" altLang="en-US" sz="1400">
                <a:latin typeface="나눔고딕" panose="020D0604000000000000" pitchFamily="50" charset="-127"/>
                <a:ea typeface="나눔고딕" panose="020D0604000000000000" pitchFamily="50" charset="-127"/>
              </a:rPr>
              <a:t>서비스가입을 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하는 고객의 가장 기본적인 상황을 </a:t>
            </a:r>
            <a:r>
              <a:rPr lang="ko-KR" altLang="en-US" sz="1400">
                <a:latin typeface="나눔고딕" panose="020D0604000000000000" pitchFamily="50" charset="-127"/>
                <a:ea typeface="나눔고딕" panose="020D0604000000000000" pitchFamily="50" charset="-127"/>
              </a:rPr>
              <a:t>중심으로 서비스가입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en" altLang="ko-KR" sz="1400">
                <a:latin typeface="나눔고딕" panose="020D0604000000000000" pitchFamily="50" charset="-127"/>
                <a:ea typeface="나눔고딕" panose="020D0604000000000000" pitchFamily="50" charset="-127"/>
              </a:rPr>
              <a:t>XXX</a:t>
            </a:r>
            <a:r>
              <a:rPr lang="ko-KR" altLang="en-US" sz="1400">
                <a:latin typeface="나눔고딕" panose="020D0604000000000000" pitchFamily="50" charset="-127"/>
                <a:ea typeface="나눔고딕" panose="020D0604000000000000" pitchFamily="50" charset="-127"/>
              </a:rPr>
              <a:t> 서비스</a:t>
            </a:r>
            <a:r>
              <a:rPr lang="en-US" altLang="ko-KR" sz="140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에 접근할 수 있도록 </a:t>
            </a:r>
            <a:r>
              <a:rPr lang="ko-KR" altLang="en-US" sz="1400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네비게이션</a:t>
            </a:r>
            <a:r>
              <a:rPr lang="ko-KR" altLang="en-US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경로를 제공하며</a:t>
            </a:r>
            <a:r>
              <a:rPr lang="en-US" altLang="ko-KR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사이트 구조에도 반영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합니다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488504" y="1700808"/>
            <a:ext cx="2376264" cy="36004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4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Navigation strategy</a:t>
            </a:r>
          </a:p>
        </p:txBody>
      </p:sp>
      <p:sp>
        <p:nvSpPr>
          <p:cNvPr id="29" name="AutoShape 2"/>
          <p:cNvSpPr>
            <a:spLocks noChangeArrowheads="1"/>
          </p:cNvSpPr>
          <p:nvPr/>
        </p:nvSpPr>
        <p:spPr bwMode="auto">
          <a:xfrm rot="5400000">
            <a:off x="4938563" y="2707239"/>
            <a:ext cx="427038" cy="349250"/>
          </a:xfrm>
          <a:prstGeom prst="rightArrow">
            <a:avLst>
              <a:gd name="adj1" fmla="val 70519"/>
              <a:gd name="adj2" fmla="val 33036"/>
            </a:avLst>
          </a:prstGeom>
          <a:gradFill rotWithShape="0">
            <a:gsLst>
              <a:gs pos="0">
                <a:schemeClr val="bg1"/>
              </a:gs>
              <a:gs pos="100000">
                <a:srgbClr val="339933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63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noAutofit/>
          </a:bodyPr>
          <a:lstStyle/>
          <a:p>
            <a:endParaRPr lang="ko-KR" altLang="en-US" b="1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0" name="AutoShape 3"/>
          <p:cNvSpPr>
            <a:spLocks noChangeArrowheads="1"/>
          </p:cNvSpPr>
          <p:nvPr/>
        </p:nvSpPr>
        <p:spPr bwMode="auto">
          <a:xfrm rot="14400000">
            <a:off x="5754538" y="5428214"/>
            <a:ext cx="427038" cy="349250"/>
          </a:xfrm>
          <a:prstGeom prst="rightArrow">
            <a:avLst>
              <a:gd name="adj1" fmla="val 70519"/>
              <a:gd name="adj2" fmla="val 33036"/>
            </a:avLst>
          </a:prstGeom>
          <a:gradFill rotWithShape="0">
            <a:gsLst>
              <a:gs pos="0">
                <a:srgbClr val="CC00FF"/>
              </a:gs>
              <a:gs pos="100000">
                <a:schemeClr val="bg1"/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63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noAutofit/>
          </a:bodyPr>
          <a:lstStyle/>
          <a:p>
            <a:endParaRPr lang="ko-KR" altLang="en-US" b="1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1" name="AutoShape 4"/>
          <p:cNvSpPr>
            <a:spLocks noChangeArrowheads="1"/>
          </p:cNvSpPr>
          <p:nvPr/>
        </p:nvSpPr>
        <p:spPr bwMode="auto">
          <a:xfrm rot="18900000">
            <a:off x="3467745" y="5429008"/>
            <a:ext cx="427037" cy="349250"/>
          </a:xfrm>
          <a:prstGeom prst="rightArrow">
            <a:avLst>
              <a:gd name="adj1" fmla="val 70519"/>
              <a:gd name="adj2" fmla="val 33036"/>
            </a:avLst>
          </a:prstGeom>
          <a:gradFill rotWithShape="0">
            <a:gsLst>
              <a:gs pos="0">
                <a:schemeClr val="bg1"/>
              </a:gs>
              <a:gs pos="100000">
                <a:srgbClr val="FF9900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63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noAutofit/>
          </a:bodyPr>
          <a:lstStyle/>
          <a:p>
            <a:endParaRPr lang="ko-KR" altLang="en-US" b="1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0" name="Oval 18"/>
          <p:cNvSpPr>
            <a:spLocks noChangeArrowheads="1"/>
          </p:cNvSpPr>
          <p:nvPr/>
        </p:nvSpPr>
        <p:spPr bwMode="auto">
          <a:xfrm rot="13500000">
            <a:off x="3489970" y="3485908"/>
            <a:ext cx="1752600" cy="2743200"/>
          </a:xfrm>
          <a:prstGeom prst="ellipse">
            <a:avLst/>
          </a:prstGeom>
          <a:solidFill>
            <a:srgbClr val="FF9900">
              <a:alpha val="20000"/>
            </a:srgbClr>
          </a:solidFill>
          <a:ln w="19050">
            <a:solidFill>
              <a:srgbClr val="FF9900"/>
            </a:solidFill>
            <a:round/>
            <a:headEnd/>
            <a:tailEnd type="none" w="med" len="sm"/>
          </a:ln>
          <a:effectLst/>
        </p:spPr>
        <p:txBody>
          <a:bodyPr wrap="none" lIns="90000" tIns="46800" rIns="90000" bIns="46800" anchor="ctr">
            <a:noAutofit/>
          </a:bodyPr>
          <a:lstStyle/>
          <a:p>
            <a:endParaRPr lang="ko-KR" altLang="en-US" b="1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1" name="Oval 19"/>
          <p:cNvSpPr>
            <a:spLocks noChangeArrowheads="1"/>
          </p:cNvSpPr>
          <p:nvPr/>
        </p:nvSpPr>
        <p:spPr bwMode="auto">
          <a:xfrm>
            <a:off x="4290070" y="2609608"/>
            <a:ext cx="1752600" cy="2743200"/>
          </a:xfrm>
          <a:prstGeom prst="ellipse">
            <a:avLst/>
          </a:prstGeom>
          <a:solidFill>
            <a:srgbClr val="00B050">
              <a:alpha val="20000"/>
            </a:srgbClr>
          </a:solidFill>
          <a:ln w="19050">
            <a:solidFill>
              <a:srgbClr val="339933"/>
            </a:solidFill>
            <a:round/>
            <a:headEnd/>
            <a:tailEnd type="none" w="med" len="sm"/>
          </a:ln>
          <a:effectLst/>
        </p:spPr>
        <p:txBody>
          <a:bodyPr wrap="none" lIns="90000" tIns="46800" rIns="90000" bIns="46800" anchor="ctr">
            <a:noAutofit/>
          </a:bodyPr>
          <a:lstStyle/>
          <a:p>
            <a:endParaRPr lang="ko-KR" altLang="en-US" b="1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2" name="Oval 20"/>
          <p:cNvSpPr>
            <a:spLocks noChangeArrowheads="1"/>
          </p:cNvSpPr>
          <p:nvPr/>
        </p:nvSpPr>
        <p:spPr bwMode="auto">
          <a:xfrm rot="9000000">
            <a:off x="4785370" y="3455745"/>
            <a:ext cx="1752600" cy="2743200"/>
          </a:xfrm>
          <a:prstGeom prst="ellipse">
            <a:avLst/>
          </a:prstGeom>
          <a:solidFill>
            <a:srgbClr val="CC00FF">
              <a:alpha val="20000"/>
            </a:srgbClr>
          </a:solidFill>
          <a:ln w="19050">
            <a:solidFill>
              <a:srgbClr val="CC00FF"/>
            </a:solidFill>
            <a:round/>
            <a:headEnd/>
            <a:tailEnd type="none" w="med" len="sm"/>
          </a:ln>
          <a:effectLst/>
        </p:spPr>
        <p:txBody>
          <a:bodyPr wrap="none" lIns="90000" tIns="46800" rIns="90000" bIns="46800" anchor="ctr">
            <a:noAutofit/>
          </a:bodyPr>
          <a:lstStyle/>
          <a:p>
            <a:endParaRPr lang="ko-KR" altLang="en-US" b="1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3" name="Text Box 21"/>
          <p:cNvSpPr txBox="1">
            <a:spLocks noChangeArrowheads="1"/>
          </p:cNvSpPr>
          <p:nvPr/>
        </p:nvSpPr>
        <p:spPr bwMode="auto">
          <a:xfrm>
            <a:off x="730895" y="5709995"/>
            <a:ext cx="2460625" cy="277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AEAEA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>
            <a:noAutofit/>
          </a:bodyPr>
          <a:lstStyle/>
          <a:p>
            <a:pPr algn="r">
              <a:lnSpc>
                <a:spcPct val="110000"/>
              </a:lnSpc>
              <a:spcBef>
                <a:spcPct val="20000"/>
              </a:spcBef>
            </a:pPr>
            <a:r>
              <a:rPr lang="ko-KR" altLang="en-US" sz="1100" b="1" dirty="0" err="1">
                <a:solidFill>
                  <a:srgbClr val="FF99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보장성</a:t>
            </a:r>
            <a:r>
              <a:rPr lang="ko-KR" altLang="en-US" sz="1100" b="1" dirty="0">
                <a:solidFill>
                  <a:srgbClr val="FF99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자산에 </a:t>
            </a:r>
            <a:r>
              <a:rPr lang="ko-KR" altLang="en-US" sz="1100" b="1" dirty="0" err="1">
                <a:solidFill>
                  <a:srgbClr val="FF99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관심있는</a:t>
            </a:r>
            <a:r>
              <a:rPr lang="ko-KR" altLang="en-US" sz="1100" b="1" dirty="0">
                <a:solidFill>
                  <a:srgbClr val="FF99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고객</a:t>
            </a:r>
          </a:p>
        </p:txBody>
      </p:sp>
      <p:sp>
        <p:nvSpPr>
          <p:cNvPr id="44" name="Text Box 22"/>
          <p:cNvSpPr txBox="1">
            <a:spLocks noChangeArrowheads="1"/>
          </p:cNvSpPr>
          <p:nvPr/>
        </p:nvSpPr>
        <p:spPr bwMode="auto">
          <a:xfrm>
            <a:off x="6380807" y="5967170"/>
            <a:ext cx="2460625" cy="277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AEAEA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>
            <a:noAutofit/>
          </a:bodyPr>
          <a:lstStyle/>
          <a:p>
            <a:pPr>
              <a:lnSpc>
                <a:spcPct val="110000"/>
              </a:lnSpc>
              <a:spcBef>
                <a:spcPct val="20000"/>
              </a:spcBef>
            </a:pPr>
            <a:r>
              <a:rPr lang="ko-KR" altLang="en-US" sz="1100" b="1">
                <a:solidFill>
                  <a:srgbClr val="CC00F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새로운 서비스에 </a:t>
            </a:r>
            <a:r>
              <a:rPr lang="ko-KR" altLang="en-US" sz="1100" b="1" dirty="0">
                <a:solidFill>
                  <a:srgbClr val="CC00F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관심 있는 고객</a:t>
            </a:r>
          </a:p>
        </p:txBody>
      </p:sp>
      <p:sp>
        <p:nvSpPr>
          <p:cNvPr id="45" name="Text Box 23"/>
          <p:cNvSpPr txBox="1">
            <a:spLocks noChangeArrowheads="1"/>
          </p:cNvSpPr>
          <p:nvPr/>
        </p:nvSpPr>
        <p:spPr bwMode="auto">
          <a:xfrm>
            <a:off x="5347345" y="2188920"/>
            <a:ext cx="2460625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AEAEA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>
            <a:noAutofit/>
          </a:bodyPr>
          <a:lstStyle/>
          <a:p>
            <a:pPr>
              <a:lnSpc>
                <a:spcPct val="110000"/>
              </a:lnSpc>
              <a:spcBef>
                <a:spcPct val="20000"/>
              </a:spcBef>
            </a:pPr>
            <a:r>
              <a:rPr lang="ko-KR" altLang="en-US" sz="1100" b="1">
                <a:solidFill>
                  <a:srgbClr val="339933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서비스가입을 </a:t>
            </a:r>
            <a:r>
              <a:rPr lang="ko-KR" altLang="en-US" sz="1100" b="1" dirty="0">
                <a:solidFill>
                  <a:srgbClr val="339933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통해 미래 및 리스크 대비를 하고자 하는 고객</a:t>
            </a:r>
          </a:p>
        </p:txBody>
      </p:sp>
      <p:grpSp>
        <p:nvGrpSpPr>
          <p:cNvPr id="46" name="Group 24"/>
          <p:cNvGrpSpPr>
            <a:grpSpLocks/>
          </p:cNvGrpSpPr>
          <p:nvPr/>
        </p:nvGrpSpPr>
        <p:grpSpPr bwMode="auto">
          <a:xfrm>
            <a:off x="5009207" y="2233370"/>
            <a:ext cx="266700" cy="533400"/>
            <a:chOff x="5875" y="720"/>
            <a:chExt cx="313" cy="1146"/>
          </a:xfrm>
        </p:grpSpPr>
        <p:grpSp>
          <p:nvGrpSpPr>
            <p:cNvPr id="47" name="Group 25"/>
            <p:cNvGrpSpPr>
              <a:grpSpLocks/>
            </p:cNvGrpSpPr>
            <p:nvPr/>
          </p:nvGrpSpPr>
          <p:grpSpPr bwMode="auto">
            <a:xfrm>
              <a:off x="5875" y="720"/>
              <a:ext cx="313" cy="1146"/>
              <a:chOff x="3872" y="1622"/>
              <a:chExt cx="98" cy="388"/>
            </a:xfrm>
          </p:grpSpPr>
          <p:sp>
            <p:nvSpPr>
              <p:cNvPr id="49" name="Freeform 26"/>
              <p:cNvSpPr>
                <a:spLocks/>
              </p:cNvSpPr>
              <p:nvPr/>
            </p:nvSpPr>
            <p:spPr bwMode="auto">
              <a:xfrm>
                <a:off x="3901" y="1622"/>
                <a:ext cx="40" cy="57"/>
              </a:xfrm>
              <a:custGeom>
                <a:avLst/>
                <a:gdLst>
                  <a:gd name="T0" fmla="*/ 40 w 40"/>
                  <a:gd name="T1" fmla="*/ 29 h 57"/>
                  <a:gd name="T2" fmla="*/ 39 w 40"/>
                  <a:gd name="T3" fmla="*/ 16 h 57"/>
                  <a:gd name="T4" fmla="*/ 33 w 40"/>
                  <a:gd name="T5" fmla="*/ 5 h 57"/>
                  <a:gd name="T6" fmla="*/ 24 w 40"/>
                  <a:gd name="T7" fmla="*/ 0 h 57"/>
                  <a:gd name="T8" fmla="*/ 16 w 40"/>
                  <a:gd name="T9" fmla="*/ 0 h 57"/>
                  <a:gd name="T10" fmla="*/ 7 w 40"/>
                  <a:gd name="T11" fmla="*/ 5 h 57"/>
                  <a:gd name="T12" fmla="*/ 1 w 40"/>
                  <a:gd name="T13" fmla="*/ 16 h 57"/>
                  <a:gd name="T14" fmla="*/ 0 w 40"/>
                  <a:gd name="T15" fmla="*/ 29 h 57"/>
                  <a:gd name="T16" fmla="*/ 1 w 40"/>
                  <a:gd name="T17" fmla="*/ 41 h 57"/>
                  <a:gd name="T18" fmla="*/ 7 w 40"/>
                  <a:gd name="T19" fmla="*/ 52 h 57"/>
                  <a:gd name="T20" fmla="*/ 16 w 40"/>
                  <a:gd name="T21" fmla="*/ 57 h 57"/>
                  <a:gd name="T22" fmla="*/ 24 w 40"/>
                  <a:gd name="T23" fmla="*/ 57 h 57"/>
                  <a:gd name="T24" fmla="*/ 33 w 40"/>
                  <a:gd name="T25" fmla="*/ 52 h 57"/>
                  <a:gd name="T26" fmla="*/ 39 w 40"/>
                  <a:gd name="T27" fmla="*/ 41 h 57"/>
                  <a:gd name="T28" fmla="*/ 40 w 40"/>
                  <a:gd name="T29" fmla="*/ 29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40" h="57">
                    <a:moveTo>
                      <a:pt x="40" y="29"/>
                    </a:moveTo>
                    <a:lnTo>
                      <a:pt x="39" y="16"/>
                    </a:lnTo>
                    <a:lnTo>
                      <a:pt x="33" y="5"/>
                    </a:lnTo>
                    <a:lnTo>
                      <a:pt x="24" y="0"/>
                    </a:lnTo>
                    <a:lnTo>
                      <a:pt x="16" y="0"/>
                    </a:lnTo>
                    <a:lnTo>
                      <a:pt x="7" y="5"/>
                    </a:lnTo>
                    <a:lnTo>
                      <a:pt x="1" y="16"/>
                    </a:lnTo>
                    <a:lnTo>
                      <a:pt x="0" y="29"/>
                    </a:lnTo>
                    <a:lnTo>
                      <a:pt x="1" y="41"/>
                    </a:lnTo>
                    <a:lnTo>
                      <a:pt x="7" y="52"/>
                    </a:lnTo>
                    <a:lnTo>
                      <a:pt x="16" y="57"/>
                    </a:lnTo>
                    <a:lnTo>
                      <a:pt x="24" y="57"/>
                    </a:lnTo>
                    <a:lnTo>
                      <a:pt x="33" y="52"/>
                    </a:lnTo>
                    <a:lnTo>
                      <a:pt x="39" y="41"/>
                    </a:lnTo>
                    <a:lnTo>
                      <a:pt x="40" y="29"/>
                    </a:lnTo>
                    <a:close/>
                  </a:path>
                </a:pathLst>
              </a:cu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3175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>
                <a:noAutofit/>
              </a:bodyPr>
              <a:lstStyle/>
              <a:p>
                <a:endParaRPr lang="ko-KR" altLang="en-US" b="1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50" name="Freeform 27"/>
              <p:cNvSpPr>
                <a:spLocks/>
              </p:cNvSpPr>
              <p:nvPr/>
            </p:nvSpPr>
            <p:spPr bwMode="auto">
              <a:xfrm>
                <a:off x="3872" y="1690"/>
                <a:ext cx="98" cy="320"/>
              </a:xfrm>
              <a:custGeom>
                <a:avLst/>
                <a:gdLst>
                  <a:gd name="T0" fmla="*/ 68 w 98"/>
                  <a:gd name="T1" fmla="*/ 0 h 320"/>
                  <a:gd name="T2" fmla="*/ 75 w 98"/>
                  <a:gd name="T3" fmla="*/ 0 h 320"/>
                  <a:gd name="T4" fmla="*/ 84 w 98"/>
                  <a:gd name="T5" fmla="*/ 2 h 320"/>
                  <a:gd name="T6" fmla="*/ 96 w 98"/>
                  <a:gd name="T7" fmla="*/ 25 h 320"/>
                  <a:gd name="T8" fmla="*/ 98 w 98"/>
                  <a:gd name="T9" fmla="*/ 48 h 320"/>
                  <a:gd name="T10" fmla="*/ 98 w 98"/>
                  <a:gd name="T11" fmla="*/ 143 h 320"/>
                  <a:gd name="T12" fmla="*/ 89 w 98"/>
                  <a:gd name="T13" fmla="*/ 155 h 320"/>
                  <a:gd name="T14" fmla="*/ 82 w 98"/>
                  <a:gd name="T15" fmla="*/ 148 h 320"/>
                  <a:gd name="T16" fmla="*/ 80 w 98"/>
                  <a:gd name="T17" fmla="*/ 139 h 320"/>
                  <a:gd name="T18" fmla="*/ 75 w 98"/>
                  <a:gd name="T19" fmla="*/ 53 h 320"/>
                  <a:gd name="T20" fmla="*/ 75 w 98"/>
                  <a:gd name="T21" fmla="*/ 298 h 320"/>
                  <a:gd name="T22" fmla="*/ 75 w 98"/>
                  <a:gd name="T23" fmla="*/ 305 h 320"/>
                  <a:gd name="T24" fmla="*/ 69 w 98"/>
                  <a:gd name="T25" fmla="*/ 318 h 320"/>
                  <a:gd name="T26" fmla="*/ 59 w 98"/>
                  <a:gd name="T27" fmla="*/ 318 h 320"/>
                  <a:gd name="T28" fmla="*/ 53 w 98"/>
                  <a:gd name="T29" fmla="*/ 298 h 320"/>
                  <a:gd name="T30" fmla="*/ 53 w 98"/>
                  <a:gd name="T31" fmla="*/ 155 h 320"/>
                  <a:gd name="T32" fmla="*/ 50 w 98"/>
                  <a:gd name="T33" fmla="*/ 153 h 320"/>
                  <a:gd name="T34" fmla="*/ 45 w 98"/>
                  <a:gd name="T35" fmla="*/ 295 h 320"/>
                  <a:gd name="T36" fmla="*/ 45 w 98"/>
                  <a:gd name="T37" fmla="*/ 303 h 320"/>
                  <a:gd name="T38" fmla="*/ 43 w 98"/>
                  <a:gd name="T39" fmla="*/ 314 h 320"/>
                  <a:gd name="T40" fmla="*/ 34 w 98"/>
                  <a:gd name="T41" fmla="*/ 320 h 320"/>
                  <a:gd name="T42" fmla="*/ 25 w 98"/>
                  <a:gd name="T43" fmla="*/ 312 h 320"/>
                  <a:gd name="T44" fmla="*/ 23 w 98"/>
                  <a:gd name="T45" fmla="*/ 302 h 320"/>
                  <a:gd name="T46" fmla="*/ 23 w 98"/>
                  <a:gd name="T47" fmla="*/ 295 h 320"/>
                  <a:gd name="T48" fmla="*/ 18 w 98"/>
                  <a:gd name="T49" fmla="*/ 53 h 320"/>
                  <a:gd name="T50" fmla="*/ 18 w 98"/>
                  <a:gd name="T51" fmla="*/ 143 h 320"/>
                  <a:gd name="T52" fmla="*/ 18 w 98"/>
                  <a:gd name="T53" fmla="*/ 148 h 320"/>
                  <a:gd name="T54" fmla="*/ 13 w 98"/>
                  <a:gd name="T55" fmla="*/ 153 h 320"/>
                  <a:gd name="T56" fmla="*/ 2 w 98"/>
                  <a:gd name="T57" fmla="*/ 150 h 320"/>
                  <a:gd name="T58" fmla="*/ 0 w 98"/>
                  <a:gd name="T59" fmla="*/ 139 h 320"/>
                  <a:gd name="T60" fmla="*/ 0 w 98"/>
                  <a:gd name="T61" fmla="*/ 44 h 320"/>
                  <a:gd name="T62" fmla="*/ 7 w 98"/>
                  <a:gd name="T63" fmla="*/ 11 h 320"/>
                  <a:gd name="T64" fmla="*/ 20 w 98"/>
                  <a:gd name="T65" fmla="*/ 0 h 320"/>
                  <a:gd name="T66" fmla="*/ 25 w 98"/>
                  <a:gd name="T67" fmla="*/ 0 h 320"/>
                  <a:gd name="T68" fmla="*/ 52 w 98"/>
                  <a:gd name="T69" fmla="*/ 0 h 3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98" h="320">
                    <a:moveTo>
                      <a:pt x="46" y="0"/>
                    </a:moveTo>
                    <a:lnTo>
                      <a:pt x="68" y="0"/>
                    </a:lnTo>
                    <a:lnTo>
                      <a:pt x="73" y="0"/>
                    </a:lnTo>
                    <a:lnTo>
                      <a:pt x="75" y="0"/>
                    </a:lnTo>
                    <a:lnTo>
                      <a:pt x="78" y="0"/>
                    </a:lnTo>
                    <a:lnTo>
                      <a:pt x="84" y="2"/>
                    </a:lnTo>
                    <a:lnTo>
                      <a:pt x="91" y="11"/>
                    </a:lnTo>
                    <a:lnTo>
                      <a:pt x="96" y="25"/>
                    </a:lnTo>
                    <a:lnTo>
                      <a:pt x="98" y="44"/>
                    </a:lnTo>
                    <a:lnTo>
                      <a:pt x="98" y="48"/>
                    </a:lnTo>
                    <a:lnTo>
                      <a:pt x="98" y="139"/>
                    </a:lnTo>
                    <a:lnTo>
                      <a:pt x="98" y="143"/>
                    </a:lnTo>
                    <a:lnTo>
                      <a:pt x="96" y="150"/>
                    </a:lnTo>
                    <a:lnTo>
                      <a:pt x="89" y="155"/>
                    </a:lnTo>
                    <a:lnTo>
                      <a:pt x="84" y="153"/>
                    </a:lnTo>
                    <a:lnTo>
                      <a:pt x="82" y="148"/>
                    </a:lnTo>
                    <a:lnTo>
                      <a:pt x="80" y="143"/>
                    </a:lnTo>
                    <a:lnTo>
                      <a:pt x="80" y="139"/>
                    </a:lnTo>
                    <a:lnTo>
                      <a:pt x="80" y="53"/>
                    </a:lnTo>
                    <a:lnTo>
                      <a:pt x="75" y="53"/>
                    </a:lnTo>
                    <a:lnTo>
                      <a:pt x="75" y="295"/>
                    </a:lnTo>
                    <a:lnTo>
                      <a:pt x="75" y="298"/>
                    </a:lnTo>
                    <a:lnTo>
                      <a:pt x="75" y="300"/>
                    </a:lnTo>
                    <a:lnTo>
                      <a:pt x="75" y="305"/>
                    </a:lnTo>
                    <a:lnTo>
                      <a:pt x="73" y="312"/>
                    </a:lnTo>
                    <a:lnTo>
                      <a:pt x="69" y="318"/>
                    </a:lnTo>
                    <a:lnTo>
                      <a:pt x="64" y="320"/>
                    </a:lnTo>
                    <a:lnTo>
                      <a:pt x="59" y="318"/>
                    </a:lnTo>
                    <a:lnTo>
                      <a:pt x="55" y="316"/>
                    </a:lnTo>
                    <a:lnTo>
                      <a:pt x="53" y="298"/>
                    </a:lnTo>
                    <a:lnTo>
                      <a:pt x="53" y="295"/>
                    </a:lnTo>
                    <a:lnTo>
                      <a:pt x="53" y="155"/>
                    </a:lnTo>
                    <a:lnTo>
                      <a:pt x="48" y="153"/>
                    </a:lnTo>
                    <a:lnTo>
                      <a:pt x="50" y="153"/>
                    </a:lnTo>
                    <a:lnTo>
                      <a:pt x="45" y="155"/>
                    </a:lnTo>
                    <a:lnTo>
                      <a:pt x="45" y="295"/>
                    </a:lnTo>
                    <a:lnTo>
                      <a:pt x="45" y="298"/>
                    </a:lnTo>
                    <a:lnTo>
                      <a:pt x="45" y="303"/>
                    </a:lnTo>
                    <a:lnTo>
                      <a:pt x="45" y="307"/>
                    </a:lnTo>
                    <a:lnTo>
                      <a:pt x="43" y="314"/>
                    </a:lnTo>
                    <a:lnTo>
                      <a:pt x="39" y="318"/>
                    </a:lnTo>
                    <a:lnTo>
                      <a:pt x="34" y="320"/>
                    </a:lnTo>
                    <a:lnTo>
                      <a:pt x="29" y="318"/>
                    </a:lnTo>
                    <a:lnTo>
                      <a:pt x="25" y="312"/>
                    </a:lnTo>
                    <a:lnTo>
                      <a:pt x="23" y="305"/>
                    </a:lnTo>
                    <a:lnTo>
                      <a:pt x="23" y="302"/>
                    </a:lnTo>
                    <a:lnTo>
                      <a:pt x="23" y="298"/>
                    </a:lnTo>
                    <a:lnTo>
                      <a:pt x="23" y="295"/>
                    </a:lnTo>
                    <a:lnTo>
                      <a:pt x="23" y="53"/>
                    </a:lnTo>
                    <a:lnTo>
                      <a:pt x="18" y="53"/>
                    </a:lnTo>
                    <a:lnTo>
                      <a:pt x="18" y="139"/>
                    </a:lnTo>
                    <a:lnTo>
                      <a:pt x="18" y="143"/>
                    </a:lnTo>
                    <a:lnTo>
                      <a:pt x="18" y="144"/>
                    </a:lnTo>
                    <a:lnTo>
                      <a:pt x="18" y="148"/>
                    </a:lnTo>
                    <a:lnTo>
                      <a:pt x="14" y="152"/>
                    </a:lnTo>
                    <a:lnTo>
                      <a:pt x="13" y="153"/>
                    </a:lnTo>
                    <a:lnTo>
                      <a:pt x="9" y="155"/>
                    </a:lnTo>
                    <a:lnTo>
                      <a:pt x="2" y="150"/>
                    </a:lnTo>
                    <a:lnTo>
                      <a:pt x="0" y="143"/>
                    </a:lnTo>
                    <a:lnTo>
                      <a:pt x="0" y="139"/>
                    </a:lnTo>
                    <a:lnTo>
                      <a:pt x="0" y="48"/>
                    </a:lnTo>
                    <a:lnTo>
                      <a:pt x="0" y="44"/>
                    </a:lnTo>
                    <a:lnTo>
                      <a:pt x="2" y="27"/>
                    </a:lnTo>
                    <a:lnTo>
                      <a:pt x="7" y="11"/>
                    </a:lnTo>
                    <a:lnTo>
                      <a:pt x="14" y="3"/>
                    </a:lnTo>
                    <a:lnTo>
                      <a:pt x="20" y="0"/>
                    </a:lnTo>
                    <a:lnTo>
                      <a:pt x="21" y="0"/>
                    </a:lnTo>
                    <a:lnTo>
                      <a:pt x="25" y="0"/>
                    </a:lnTo>
                    <a:lnTo>
                      <a:pt x="29" y="0"/>
                    </a:lnTo>
                    <a:lnTo>
                      <a:pt x="52" y="0"/>
                    </a:lnTo>
                    <a:lnTo>
                      <a:pt x="46" y="0"/>
                    </a:lnTo>
                    <a:close/>
                  </a:path>
                </a:pathLst>
              </a:cu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3175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>
                <a:noAutofit/>
              </a:bodyPr>
              <a:lstStyle/>
              <a:p>
                <a:endParaRPr lang="ko-KR" altLang="en-US" b="1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p:grpSp>
        <p:sp>
          <p:nvSpPr>
            <p:cNvPr id="48" name="Oval 28"/>
            <p:cNvSpPr>
              <a:spLocks noChangeArrowheads="1"/>
            </p:cNvSpPr>
            <p:nvPr/>
          </p:nvSpPr>
          <p:spPr bwMode="auto">
            <a:xfrm>
              <a:off x="5875" y="960"/>
              <a:ext cx="127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noAutofit/>
            </a:bodyPr>
            <a:lstStyle/>
            <a:p>
              <a:endParaRPr lang="ko-KR" altLang="en-US" b="1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grpSp>
        <p:nvGrpSpPr>
          <p:cNvPr id="51" name="Group 29"/>
          <p:cNvGrpSpPr>
            <a:grpSpLocks/>
          </p:cNvGrpSpPr>
          <p:nvPr/>
        </p:nvGrpSpPr>
        <p:grpSpPr bwMode="auto">
          <a:xfrm>
            <a:off x="3278832" y="5541720"/>
            <a:ext cx="266700" cy="533400"/>
            <a:chOff x="5875" y="720"/>
            <a:chExt cx="313" cy="1146"/>
          </a:xfrm>
        </p:grpSpPr>
        <p:grpSp>
          <p:nvGrpSpPr>
            <p:cNvPr id="52" name="Group 30"/>
            <p:cNvGrpSpPr>
              <a:grpSpLocks/>
            </p:cNvGrpSpPr>
            <p:nvPr/>
          </p:nvGrpSpPr>
          <p:grpSpPr bwMode="auto">
            <a:xfrm>
              <a:off x="5875" y="720"/>
              <a:ext cx="313" cy="1146"/>
              <a:chOff x="3872" y="1622"/>
              <a:chExt cx="98" cy="388"/>
            </a:xfrm>
          </p:grpSpPr>
          <p:sp>
            <p:nvSpPr>
              <p:cNvPr id="54" name="Freeform 31"/>
              <p:cNvSpPr>
                <a:spLocks/>
              </p:cNvSpPr>
              <p:nvPr/>
            </p:nvSpPr>
            <p:spPr bwMode="auto">
              <a:xfrm>
                <a:off x="3901" y="1622"/>
                <a:ext cx="40" cy="57"/>
              </a:xfrm>
              <a:custGeom>
                <a:avLst/>
                <a:gdLst>
                  <a:gd name="T0" fmla="*/ 40 w 40"/>
                  <a:gd name="T1" fmla="*/ 29 h 57"/>
                  <a:gd name="T2" fmla="*/ 39 w 40"/>
                  <a:gd name="T3" fmla="*/ 16 h 57"/>
                  <a:gd name="T4" fmla="*/ 33 w 40"/>
                  <a:gd name="T5" fmla="*/ 5 h 57"/>
                  <a:gd name="T6" fmla="*/ 24 w 40"/>
                  <a:gd name="T7" fmla="*/ 0 h 57"/>
                  <a:gd name="T8" fmla="*/ 16 w 40"/>
                  <a:gd name="T9" fmla="*/ 0 h 57"/>
                  <a:gd name="T10" fmla="*/ 7 w 40"/>
                  <a:gd name="T11" fmla="*/ 5 h 57"/>
                  <a:gd name="T12" fmla="*/ 1 w 40"/>
                  <a:gd name="T13" fmla="*/ 16 h 57"/>
                  <a:gd name="T14" fmla="*/ 0 w 40"/>
                  <a:gd name="T15" fmla="*/ 29 h 57"/>
                  <a:gd name="T16" fmla="*/ 1 w 40"/>
                  <a:gd name="T17" fmla="*/ 41 h 57"/>
                  <a:gd name="T18" fmla="*/ 7 w 40"/>
                  <a:gd name="T19" fmla="*/ 52 h 57"/>
                  <a:gd name="T20" fmla="*/ 16 w 40"/>
                  <a:gd name="T21" fmla="*/ 57 h 57"/>
                  <a:gd name="T22" fmla="*/ 24 w 40"/>
                  <a:gd name="T23" fmla="*/ 57 h 57"/>
                  <a:gd name="T24" fmla="*/ 33 w 40"/>
                  <a:gd name="T25" fmla="*/ 52 h 57"/>
                  <a:gd name="T26" fmla="*/ 39 w 40"/>
                  <a:gd name="T27" fmla="*/ 41 h 57"/>
                  <a:gd name="T28" fmla="*/ 40 w 40"/>
                  <a:gd name="T29" fmla="*/ 29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40" h="57">
                    <a:moveTo>
                      <a:pt x="40" y="29"/>
                    </a:moveTo>
                    <a:lnTo>
                      <a:pt x="39" y="16"/>
                    </a:lnTo>
                    <a:lnTo>
                      <a:pt x="33" y="5"/>
                    </a:lnTo>
                    <a:lnTo>
                      <a:pt x="24" y="0"/>
                    </a:lnTo>
                    <a:lnTo>
                      <a:pt x="16" y="0"/>
                    </a:lnTo>
                    <a:lnTo>
                      <a:pt x="7" y="5"/>
                    </a:lnTo>
                    <a:lnTo>
                      <a:pt x="1" y="16"/>
                    </a:lnTo>
                    <a:lnTo>
                      <a:pt x="0" y="29"/>
                    </a:lnTo>
                    <a:lnTo>
                      <a:pt x="1" y="41"/>
                    </a:lnTo>
                    <a:lnTo>
                      <a:pt x="7" y="52"/>
                    </a:lnTo>
                    <a:lnTo>
                      <a:pt x="16" y="57"/>
                    </a:lnTo>
                    <a:lnTo>
                      <a:pt x="24" y="57"/>
                    </a:lnTo>
                    <a:lnTo>
                      <a:pt x="33" y="52"/>
                    </a:lnTo>
                    <a:lnTo>
                      <a:pt x="39" y="41"/>
                    </a:lnTo>
                    <a:lnTo>
                      <a:pt x="40" y="29"/>
                    </a:lnTo>
                    <a:close/>
                  </a:path>
                </a:pathLst>
              </a:custGeom>
              <a:solidFill>
                <a:srgbClr val="FF9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3175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>
                <a:noAutofit/>
              </a:bodyPr>
              <a:lstStyle/>
              <a:p>
                <a:endParaRPr lang="ko-KR" altLang="en-US" b="1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55" name="Freeform 32"/>
              <p:cNvSpPr>
                <a:spLocks/>
              </p:cNvSpPr>
              <p:nvPr/>
            </p:nvSpPr>
            <p:spPr bwMode="auto">
              <a:xfrm>
                <a:off x="3872" y="1690"/>
                <a:ext cx="98" cy="320"/>
              </a:xfrm>
              <a:custGeom>
                <a:avLst/>
                <a:gdLst>
                  <a:gd name="T0" fmla="*/ 68 w 98"/>
                  <a:gd name="T1" fmla="*/ 0 h 320"/>
                  <a:gd name="T2" fmla="*/ 75 w 98"/>
                  <a:gd name="T3" fmla="*/ 0 h 320"/>
                  <a:gd name="T4" fmla="*/ 84 w 98"/>
                  <a:gd name="T5" fmla="*/ 2 h 320"/>
                  <a:gd name="T6" fmla="*/ 96 w 98"/>
                  <a:gd name="T7" fmla="*/ 25 h 320"/>
                  <a:gd name="T8" fmla="*/ 98 w 98"/>
                  <a:gd name="T9" fmla="*/ 48 h 320"/>
                  <a:gd name="T10" fmla="*/ 98 w 98"/>
                  <a:gd name="T11" fmla="*/ 143 h 320"/>
                  <a:gd name="T12" fmla="*/ 89 w 98"/>
                  <a:gd name="T13" fmla="*/ 155 h 320"/>
                  <a:gd name="T14" fmla="*/ 82 w 98"/>
                  <a:gd name="T15" fmla="*/ 148 h 320"/>
                  <a:gd name="T16" fmla="*/ 80 w 98"/>
                  <a:gd name="T17" fmla="*/ 139 h 320"/>
                  <a:gd name="T18" fmla="*/ 75 w 98"/>
                  <a:gd name="T19" fmla="*/ 53 h 320"/>
                  <a:gd name="T20" fmla="*/ 75 w 98"/>
                  <a:gd name="T21" fmla="*/ 298 h 320"/>
                  <a:gd name="T22" fmla="*/ 75 w 98"/>
                  <a:gd name="T23" fmla="*/ 305 h 320"/>
                  <a:gd name="T24" fmla="*/ 69 w 98"/>
                  <a:gd name="T25" fmla="*/ 318 h 320"/>
                  <a:gd name="T26" fmla="*/ 59 w 98"/>
                  <a:gd name="T27" fmla="*/ 318 h 320"/>
                  <a:gd name="T28" fmla="*/ 53 w 98"/>
                  <a:gd name="T29" fmla="*/ 298 h 320"/>
                  <a:gd name="T30" fmla="*/ 53 w 98"/>
                  <a:gd name="T31" fmla="*/ 155 h 320"/>
                  <a:gd name="T32" fmla="*/ 50 w 98"/>
                  <a:gd name="T33" fmla="*/ 153 h 320"/>
                  <a:gd name="T34" fmla="*/ 45 w 98"/>
                  <a:gd name="T35" fmla="*/ 295 h 320"/>
                  <a:gd name="T36" fmla="*/ 45 w 98"/>
                  <a:gd name="T37" fmla="*/ 303 h 320"/>
                  <a:gd name="T38" fmla="*/ 43 w 98"/>
                  <a:gd name="T39" fmla="*/ 314 h 320"/>
                  <a:gd name="T40" fmla="*/ 34 w 98"/>
                  <a:gd name="T41" fmla="*/ 320 h 320"/>
                  <a:gd name="T42" fmla="*/ 25 w 98"/>
                  <a:gd name="T43" fmla="*/ 312 h 320"/>
                  <a:gd name="T44" fmla="*/ 23 w 98"/>
                  <a:gd name="T45" fmla="*/ 302 h 320"/>
                  <a:gd name="T46" fmla="*/ 23 w 98"/>
                  <a:gd name="T47" fmla="*/ 295 h 320"/>
                  <a:gd name="T48" fmla="*/ 18 w 98"/>
                  <a:gd name="T49" fmla="*/ 53 h 320"/>
                  <a:gd name="T50" fmla="*/ 18 w 98"/>
                  <a:gd name="T51" fmla="*/ 143 h 320"/>
                  <a:gd name="T52" fmla="*/ 18 w 98"/>
                  <a:gd name="T53" fmla="*/ 148 h 320"/>
                  <a:gd name="T54" fmla="*/ 13 w 98"/>
                  <a:gd name="T55" fmla="*/ 153 h 320"/>
                  <a:gd name="T56" fmla="*/ 2 w 98"/>
                  <a:gd name="T57" fmla="*/ 150 h 320"/>
                  <a:gd name="T58" fmla="*/ 0 w 98"/>
                  <a:gd name="T59" fmla="*/ 139 h 320"/>
                  <a:gd name="T60" fmla="*/ 0 w 98"/>
                  <a:gd name="T61" fmla="*/ 44 h 320"/>
                  <a:gd name="T62" fmla="*/ 7 w 98"/>
                  <a:gd name="T63" fmla="*/ 11 h 320"/>
                  <a:gd name="T64" fmla="*/ 20 w 98"/>
                  <a:gd name="T65" fmla="*/ 0 h 320"/>
                  <a:gd name="T66" fmla="*/ 25 w 98"/>
                  <a:gd name="T67" fmla="*/ 0 h 320"/>
                  <a:gd name="T68" fmla="*/ 52 w 98"/>
                  <a:gd name="T69" fmla="*/ 0 h 3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98" h="320">
                    <a:moveTo>
                      <a:pt x="46" y="0"/>
                    </a:moveTo>
                    <a:lnTo>
                      <a:pt x="68" y="0"/>
                    </a:lnTo>
                    <a:lnTo>
                      <a:pt x="73" y="0"/>
                    </a:lnTo>
                    <a:lnTo>
                      <a:pt x="75" y="0"/>
                    </a:lnTo>
                    <a:lnTo>
                      <a:pt x="78" y="0"/>
                    </a:lnTo>
                    <a:lnTo>
                      <a:pt x="84" y="2"/>
                    </a:lnTo>
                    <a:lnTo>
                      <a:pt x="91" y="11"/>
                    </a:lnTo>
                    <a:lnTo>
                      <a:pt x="96" y="25"/>
                    </a:lnTo>
                    <a:lnTo>
                      <a:pt x="98" y="44"/>
                    </a:lnTo>
                    <a:lnTo>
                      <a:pt x="98" y="48"/>
                    </a:lnTo>
                    <a:lnTo>
                      <a:pt x="98" y="139"/>
                    </a:lnTo>
                    <a:lnTo>
                      <a:pt x="98" y="143"/>
                    </a:lnTo>
                    <a:lnTo>
                      <a:pt x="96" y="150"/>
                    </a:lnTo>
                    <a:lnTo>
                      <a:pt x="89" y="155"/>
                    </a:lnTo>
                    <a:lnTo>
                      <a:pt x="84" y="153"/>
                    </a:lnTo>
                    <a:lnTo>
                      <a:pt x="82" y="148"/>
                    </a:lnTo>
                    <a:lnTo>
                      <a:pt x="80" y="143"/>
                    </a:lnTo>
                    <a:lnTo>
                      <a:pt x="80" y="139"/>
                    </a:lnTo>
                    <a:lnTo>
                      <a:pt x="80" y="53"/>
                    </a:lnTo>
                    <a:lnTo>
                      <a:pt x="75" y="53"/>
                    </a:lnTo>
                    <a:lnTo>
                      <a:pt x="75" y="295"/>
                    </a:lnTo>
                    <a:lnTo>
                      <a:pt x="75" y="298"/>
                    </a:lnTo>
                    <a:lnTo>
                      <a:pt x="75" y="300"/>
                    </a:lnTo>
                    <a:lnTo>
                      <a:pt x="75" y="305"/>
                    </a:lnTo>
                    <a:lnTo>
                      <a:pt x="73" y="312"/>
                    </a:lnTo>
                    <a:lnTo>
                      <a:pt x="69" y="318"/>
                    </a:lnTo>
                    <a:lnTo>
                      <a:pt x="64" y="320"/>
                    </a:lnTo>
                    <a:lnTo>
                      <a:pt x="59" y="318"/>
                    </a:lnTo>
                    <a:lnTo>
                      <a:pt x="55" y="316"/>
                    </a:lnTo>
                    <a:lnTo>
                      <a:pt x="53" y="298"/>
                    </a:lnTo>
                    <a:lnTo>
                      <a:pt x="53" y="295"/>
                    </a:lnTo>
                    <a:lnTo>
                      <a:pt x="53" y="155"/>
                    </a:lnTo>
                    <a:lnTo>
                      <a:pt x="48" y="153"/>
                    </a:lnTo>
                    <a:lnTo>
                      <a:pt x="50" y="153"/>
                    </a:lnTo>
                    <a:lnTo>
                      <a:pt x="45" y="155"/>
                    </a:lnTo>
                    <a:lnTo>
                      <a:pt x="45" y="295"/>
                    </a:lnTo>
                    <a:lnTo>
                      <a:pt x="45" y="298"/>
                    </a:lnTo>
                    <a:lnTo>
                      <a:pt x="45" y="303"/>
                    </a:lnTo>
                    <a:lnTo>
                      <a:pt x="45" y="307"/>
                    </a:lnTo>
                    <a:lnTo>
                      <a:pt x="43" y="314"/>
                    </a:lnTo>
                    <a:lnTo>
                      <a:pt x="39" y="318"/>
                    </a:lnTo>
                    <a:lnTo>
                      <a:pt x="34" y="320"/>
                    </a:lnTo>
                    <a:lnTo>
                      <a:pt x="29" y="318"/>
                    </a:lnTo>
                    <a:lnTo>
                      <a:pt x="25" y="312"/>
                    </a:lnTo>
                    <a:lnTo>
                      <a:pt x="23" y="305"/>
                    </a:lnTo>
                    <a:lnTo>
                      <a:pt x="23" y="302"/>
                    </a:lnTo>
                    <a:lnTo>
                      <a:pt x="23" y="298"/>
                    </a:lnTo>
                    <a:lnTo>
                      <a:pt x="23" y="295"/>
                    </a:lnTo>
                    <a:lnTo>
                      <a:pt x="23" y="53"/>
                    </a:lnTo>
                    <a:lnTo>
                      <a:pt x="18" y="53"/>
                    </a:lnTo>
                    <a:lnTo>
                      <a:pt x="18" y="139"/>
                    </a:lnTo>
                    <a:lnTo>
                      <a:pt x="18" y="143"/>
                    </a:lnTo>
                    <a:lnTo>
                      <a:pt x="18" y="144"/>
                    </a:lnTo>
                    <a:lnTo>
                      <a:pt x="18" y="148"/>
                    </a:lnTo>
                    <a:lnTo>
                      <a:pt x="14" y="152"/>
                    </a:lnTo>
                    <a:lnTo>
                      <a:pt x="13" y="153"/>
                    </a:lnTo>
                    <a:lnTo>
                      <a:pt x="9" y="155"/>
                    </a:lnTo>
                    <a:lnTo>
                      <a:pt x="2" y="150"/>
                    </a:lnTo>
                    <a:lnTo>
                      <a:pt x="0" y="143"/>
                    </a:lnTo>
                    <a:lnTo>
                      <a:pt x="0" y="139"/>
                    </a:lnTo>
                    <a:lnTo>
                      <a:pt x="0" y="48"/>
                    </a:lnTo>
                    <a:lnTo>
                      <a:pt x="0" y="44"/>
                    </a:lnTo>
                    <a:lnTo>
                      <a:pt x="2" y="27"/>
                    </a:lnTo>
                    <a:lnTo>
                      <a:pt x="7" y="11"/>
                    </a:lnTo>
                    <a:lnTo>
                      <a:pt x="14" y="3"/>
                    </a:lnTo>
                    <a:lnTo>
                      <a:pt x="20" y="0"/>
                    </a:lnTo>
                    <a:lnTo>
                      <a:pt x="21" y="0"/>
                    </a:lnTo>
                    <a:lnTo>
                      <a:pt x="25" y="0"/>
                    </a:lnTo>
                    <a:lnTo>
                      <a:pt x="29" y="0"/>
                    </a:lnTo>
                    <a:lnTo>
                      <a:pt x="52" y="0"/>
                    </a:lnTo>
                    <a:lnTo>
                      <a:pt x="46" y="0"/>
                    </a:lnTo>
                    <a:close/>
                  </a:path>
                </a:pathLst>
              </a:custGeom>
              <a:solidFill>
                <a:srgbClr val="FF9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3175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>
                <a:noAutofit/>
              </a:bodyPr>
              <a:lstStyle/>
              <a:p>
                <a:endParaRPr lang="ko-KR" altLang="en-US" b="1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p:grpSp>
        <p:sp>
          <p:nvSpPr>
            <p:cNvPr id="53" name="Oval 33"/>
            <p:cNvSpPr>
              <a:spLocks noChangeArrowheads="1"/>
            </p:cNvSpPr>
            <p:nvPr/>
          </p:nvSpPr>
          <p:spPr bwMode="auto">
            <a:xfrm>
              <a:off x="5875" y="960"/>
              <a:ext cx="127" cy="144"/>
            </a:xfrm>
            <a:prstGeom prst="ellipse">
              <a:avLst/>
            </a:prstGeom>
            <a:solidFill>
              <a:srgbClr val="FF99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noAutofit/>
            </a:bodyPr>
            <a:lstStyle/>
            <a:p>
              <a:endParaRPr lang="ko-KR" altLang="en-US" b="1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grpSp>
        <p:nvGrpSpPr>
          <p:cNvPr id="56" name="Group 34"/>
          <p:cNvGrpSpPr>
            <a:grpSpLocks/>
          </p:cNvGrpSpPr>
          <p:nvPr/>
        </p:nvGrpSpPr>
        <p:grpSpPr bwMode="auto">
          <a:xfrm>
            <a:off x="5999807" y="5662370"/>
            <a:ext cx="266700" cy="533400"/>
            <a:chOff x="5875" y="720"/>
            <a:chExt cx="313" cy="1146"/>
          </a:xfrm>
        </p:grpSpPr>
        <p:grpSp>
          <p:nvGrpSpPr>
            <p:cNvPr id="57" name="Group 35"/>
            <p:cNvGrpSpPr>
              <a:grpSpLocks/>
            </p:cNvGrpSpPr>
            <p:nvPr/>
          </p:nvGrpSpPr>
          <p:grpSpPr bwMode="auto">
            <a:xfrm>
              <a:off x="5875" y="720"/>
              <a:ext cx="313" cy="1146"/>
              <a:chOff x="3872" y="1622"/>
              <a:chExt cx="98" cy="388"/>
            </a:xfrm>
          </p:grpSpPr>
          <p:sp>
            <p:nvSpPr>
              <p:cNvPr id="59" name="Freeform 36"/>
              <p:cNvSpPr>
                <a:spLocks/>
              </p:cNvSpPr>
              <p:nvPr/>
            </p:nvSpPr>
            <p:spPr bwMode="auto">
              <a:xfrm>
                <a:off x="3901" y="1622"/>
                <a:ext cx="40" cy="57"/>
              </a:xfrm>
              <a:custGeom>
                <a:avLst/>
                <a:gdLst>
                  <a:gd name="T0" fmla="*/ 40 w 40"/>
                  <a:gd name="T1" fmla="*/ 29 h 57"/>
                  <a:gd name="T2" fmla="*/ 39 w 40"/>
                  <a:gd name="T3" fmla="*/ 16 h 57"/>
                  <a:gd name="T4" fmla="*/ 33 w 40"/>
                  <a:gd name="T5" fmla="*/ 5 h 57"/>
                  <a:gd name="T6" fmla="*/ 24 w 40"/>
                  <a:gd name="T7" fmla="*/ 0 h 57"/>
                  <a:gd name="T8" fmla="*/ 16 w 40"/>
                  <a:gd name="T9" fmla="*/ 0 h 57"/>
                  <a:gd name="T10" fmla="*/ 7 w 40"/>
                  <a:gd name="T11" fmla="*/ 5 h 57"/>
                  <a:gd name="T12" fmla="*/ 1 w 40"/>
                  <a:gd name="T13" fmla="*/ 16 h 57"/>
                  <a:gd name="T14" fmla="*/ 0 w 40"/>
                  <a:gd name="T15" fmla="*/ 29 h 57"/>
                  <a:gd name="T16" fmla="*/ 1 w 40"/>
                  <a:gd name="T17" fmla="*/ 41 h 57"/>
                  <a:gd name="T18" fmla="*/ 7 w 40"/>
                  <a:gd name="T19" fmla="*/ 52 h 57"/>
                  <a:gd name="T20" fmla="*/ 16 w 40"/>
                  <a:gd name="T21" fmla="*/ 57 h 57"/>
                  <a:gd name="T22" fmla="*/ 24 w 40"/>
                  <a:gd name="T23" fmla="*/ 57 h 57"/>
                  <a:gd name="T24" fmla="*/ 33 w 40"/>
                  <a:gd name="T25" fmla="*/ 52 h 57"/>
                  <a:gd name="T26" fmla="*/ 39 w 40"/>
                  <a:gd name="T27" fmla="*/ 41 h 57"/>
                  <a:gd name="T28" fmla="*/ 40 w 40"/>
                  <a:gd name="T29" fmla="*/ 29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40" h="57">
                    <a:moveTo>
                      <a:pt x="40" y="29"/>
                    </a:moveTo>
                    <a:lnTo>
                      <a:pt x="39" y="16"/>
                    </a:lnTo>
                    <a:lnTo>
                      <a:pt x="33" y="5"/>
                    </a:lnTo>
                    <a:lnTo>
                      <a:pt x="24" y="0"/>
                    </a:lnTo>
                    <a:lnTo>
                      <a:pt x="16" y="0"/>
                    </a:lnTo>
                    <a:lnTo>
                      <a:pt x="7" y="5"/>
                    </a:lnTo>
                    <a:lnTo>
                      <a:pt x="1" y="16"/>
                    </a:lnTo>
                    <a:lnTo>
                      <a:pt x="0" y="29"/>
                    </a:lnTo>
                    <a:lnTo>
                      <a:pt x="1" y="41"/>
                    </a:lnTo>
                    <a:lnTo>
                      <a:pt x="7" y="52"/>
                    </a:lnTo>
                    <a:lnTo>
                      <a:pt x="16" y="57"/>
                    </a:lnTo>
                    <a:lnTo>
                      <a:pt x="24" y="57"/>
                    </a:lnTo>
                    <a:lnTo>
                      <a:pt x="33" y="52"/>
                    </a:lnTo>
                    <a:lnTo>
                      <a:pt x="39" y="41"/>
                    </a:lnTo>
                    <a:lnTo>
                      <a:pt x="40" y="29"/>
                    </a:lnTo>
                    <a:close/>
                  </a:path>
                </a:pathLst>
              </a:custGeom>
              <a:solidFill>
                <a:srgbClr val="CC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3175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>
                <a:noAutofit/>
              </a:bodyPr>
              <a:lstStyle/>
              <a:p>
                <a:endParaRPr lang="ko-KR" altLang="en-US" b="1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60" name="Freeform 37"/>
              <p:cNvSpPr>
                <a:spLocks/>
              </p:cNvSpPr>
              <p:nvPr/>
            </p:nvSpPr>
            <p:spPr bwMode="auto">
              <a:xfrm>
                <a:off x="3872" y="1690"/>
                <a:ext cx="98" cy="320"/>
              </a:xfrm>
              <a:custGeom>
                <a:avLst/>
                <a:gdLst>
                  <a:gd name="T0" fmla="*/ 68 w 98"/>
                  <a:gd name="T1" fmla="*/ 0 h 320"/>
                  <a:gd name="T2" fmla="*/ 75 w 98"/>
                  <a:gd name="T3" fmla="*/ 0 h 320"/>
                  <a:gd name="T4" fmla="*/ 84 w 98"/>
                  <a:gd name="T5" fmla="*/ 2 h 320"/>
                  <a:gd name="T6" fmla="*/ 96 w 98"/>
                  <a:gd name="T7" fmla="*/ 25 h 320"/>
                  <a:gd name="T8" fmla="*/ 98 w 98"/>
                  <a:gd name="T9" fmla="*/ 48 h 320"/>
                  <a:gd name="T10" fmla="*/ 98 w 98"/>
                  <a:gd name="T11" fmla="*/ 143 h 320"/>
                  <a:gd name="T12" fmla="*/ 89 w 98"/>
                  <a:gd name="T13" fmla="*/ 155 h 320"/>
                  <a:gd name="T14" fmla="*/ 82 w 98"/>
                  <a:gd name="T15" fmla="*/ 148 h 320"/>
                  <a:gd name="T16" fmla="*/ 80 w 98"/>
                  <a:gd name="T17" fmla="*/ 139 h 320"/>
                  <a:gd name="T18" fmla="*/ 75 w 98"/>
                  <a:gd name="T19" fmla="*/ 53 h 320"/>
                  <a:gd name="T20" fmla="*/ 75 w 98"/>
                  <a:gd name="T21" fmla="*/ 298 h 320"/>
                  <a:gd name="T22" fmla="*/ 75 w 98"/>
                  <a:gd name="T23" fmla="*/ 305 h 320"/>
                  <a:gd name="T24" fmla="*/ 69 w 98"/>
                  <a:gd name="T25" fmla="*/ 318 h 320"/>
                  <a:gd name="T26" fmla="*/ 59 w 98"/>
                  <a:gd name="T27" fmla="*/ 318 h 320"/>
                  <a:gd name="T28" fmla="*/ 53 w 98"/>
                  <a:gd name="T29" fmla="*/ 298 h 320"/>
                  <a:gd name="T30" fmla="*/ 53 w 98"/>
                  <a:gd name="T31" fmla="*/ 155 h 320"/>
                  <a:gd name="T32" fmla="*/ 50 w 98"/>
                  <a:gd name="T33" fmla="*/ 153 h 320"/>
                  <a:gd name="T34" fmla="*/ 45 w 98"/>
                  <a:gd name="T35" fmla="*/ 295 h 320"/>
                  <a:gd name="T36" fmla="*/ 45 w 98"/>
                  <a:gd name="T37" fmla="*/ 303 h 320"/>
                  <a:gd name="T38" fmla="*/ 43 w 98"/>
                  <a:gd name="T39" fmla="*/ 314 h 320"/>
                  <a:gd name="T40" fmla="*/ 34 w 98"/>
                  <a:gd name="T41" fmla="*/ 320 h 320"/>
                  <a:gd name="T42" fmla="*/ 25 w 98"/>
                  <a:gd name="T43" fmla="*/ 312 h 320"/>
                  <a:gd name="T44" fmla="*/ 23 w 98"/>
                  <a:gd name="T45" fmla="*/ 302 h 320"/>
                  <a:gd name="T46" fmla="*/ 23 w 98"/>
                  <a:gd name="T47" fmla="*/ 295 h 320"/>
                  <a:gd name="T48" fmla="*/ 18 w 98"/>
                  <a:gd name="T49" fmla="*/ 53 h 320"/>
                  <a:gd name="T50" fmla="*/ 18 w 98"/>
                  <a:gd name="T51" fmla="*/ 143 h 320"/>
                  <a:gd name="T52" fmla="*/ 18 w 98"/>
                  <a:gd name="T53" fmla="*/ 148 h 320"/>
                  <a:gd name="T54" fmla="*/ 13 w 98"/>
                  <a:gd name="T55" fmla="*/ 153 h 320"/>
                  <a:gd name="T56" fmla="*/ 2 w 98"/>
                  <a:gd name="T57" fmla="*/ 150 h 320"/>
                  <a:gd name="T58" fmla="*/ 0 w 98"/>
                  <a:gd name="T59" fmla="*/ 139 h 320"/>
                  <a:gd name="T60" fmla="*/ 0 w 98"/>
                  <a:gd name="T61" fmla="*/ 44 h 320"/>
                  <a:gd name="T62" fmla="*/ 7 w 98"/>
                  <a:gd name="T63" fmla="*/ 11 h 320"/>
                  <a:gd name="T64" fmla="*/ 20 w 98"/>
                  <a:gd name="T65" fmla="*/ 0 h 320"/>
                  <a:gd name="T66" fmla="*/ 25 w 98"/>
                  <a:gd name="T67" fmla="*/ 0 h 320"/>
                  <a:gd name="T68" fmla="*/ 52 w 98"/>
                  <a:gd name="T69" fmla="*/ 0 h 3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98" h="320">
                    <a:moveTo>
                      <a:pt x="46" y="0"/>
                    </a:moveTo>
                    <a:lnTo>
                      <a:pt x="68" y="0"/>
                    </a:lnTo>
                    <a:lnTo>
                      <a:pt x="73" y="0"/>
                    </a:lnTo>
                    <a:lnTo>
                      <a:pt x="75" y="0"/>
                    </a:lnTo>
                    <a:lnTo>
                      <a:pt x="78" y="0"/>
                    </a:lnTo>
                    <a:lnTo>
                      <a:pt x="84" y="2"/>
                    </a:lnTo>
                    <a:lnTo>
                      <a:pt x="91" y="11"/>
                    </a:lnTo>
                    <a:lnTo>
                      <a:pt x="96" y="25"/>
                    </a:lnTo>
                    <a:lnTo>
                      <a:pt x="98" y="44"/>
                    </a:lnTo>
                    <a:lnTo>
                      <a:pt x="98" y="48"/>
                    </a:lnTo>
                    <a:lnTo>
                      <a:pt x="98" y="139"/>
                    </a:lnTo>
                    <a:lnTo>
                      <a:pt x="98" y="143"/>
                    </a:lnTo>
                    <a:lnTo>
                      <a:pt x="96" y="150"/>
                    </a:lnTo>
                    <a:lnTo>
                      <a:pt x="89" y="155"/>
                    </a:lnTo>
                    <a:lnTo>
                      <a:pt x="84" y="153"/>
                    </a:lnTo>
                    <a:lnTo>
                      <a:pt x="82" y="148"/>
                    </a:lnTo>
                    <a:lnTo>
                      <a:pt x="80" y="143"/>
                    </a:lnTo>
                    <a:lnTo>
                      <a:pt x="80" y="139"/>
                    </a:lnTo>
                    <a:lnTo>
                      <a:pt x="80" y="53"/>
                    </a:lnTo>
                    <a:lnTo>
                      <a:pt x="75" y="53"/>
                    </a:lnTo>
                    <a:lnTo>
                      <a:pt x="75" y="295"/>
                    </a:lnTo>
                    <a:lnTo>
                      <a:pt x="75" y="298"/>
                    </a:lnTo>
                    <a:lnTo>
                      <a:pt x="75" y="300"/>
                    </a:lnTo>
                    <a:lnTo>
                      <a:pt x="75" y="305"/>
                    </a:lnTo>
                    <a:lnTo>
                      <a:pt x="73" y="312"/>
                    </a:lnTo>
                    <a:lnTo>
                      <a:pt x="69" y="318"/>
                    </a:lnTo>
                    <a:lnTo>
                      <a:pt x="64" y="320"/>
                    </a:lnTo>
                    <a:lnTo>
                      <a:pt x="59" y="318"/>
                    </a:lnTo>
                    <a:lnTo>
                      <a:pt x="55" y="316"/>
                    </a:lnTo>
                    <a:lnTo>
                      <a:pt x="53" y="298"/>
                    </a:lnTo>
                    <a:lnTo>
                      <a:pt x="53" y="295"/>
                    </a:lnTo>
                    <a:lnTo>
                      <a:pt x="53" y="155"/>
                    </a:lnTo>
                    <a:lnTo>
                      <a:pt x="48" y="153"/>
                    </a:lnTo>
                    <a:lnTo>
                      <a:pt x="50" y="153"/>
                    </a:lnTo>
                    <a:lnTo>
                      <a:pt x="45" y="155"/>
                    </a:lnTo>
                    <a:lnTo>
                      <a:pt x="45" y="295"/>
                    </a:lnTo>
                    <a:lnTo>
                      <a:pt x="45" y="298"/>
                    </a:lnTo>
                    <a:lnTo>
                      <a:pt x="45" y="303"/>
                    </a:lnTo>
                    <a:lnTo>
                      <a:pt x="45" y="307"/>
                    </a:lnTo>
                    <a:lnTo>
                      <a:pt x="43" y="314"/>
                    </a:lnTo>
                    <a:lnTo>
                      <a:pt x="39" y="318"/>
                    </a:lnTo>
                    <a:lnTo>
                      <a:pt x="34" y="320"/>
                    </a:lnTo>
                    <a:lnTo>
                      <a:pt x="29" y="318"/>
                    </a:lnTo>
                    <a:lnTo>
                      <a:pt x="25" y="312"/>
                    </a:lnTo>
                    <a:lnTo>
                      <a:pt x="23" y="305"/>
                    </a:lnTo>
                    <a:lnTo>
                      <a:pt x="23" y="302"/>
                    </a:lnTo>
                    <a:lnTo>
                      <a:pt x="23" y="298"/>
                    </a:lnTo>
                    <a:lnTo>
                      <a:pt x="23" y="295"/>
                    </a:lnTo>
                    <a:lnTo>
                      <a:pt x="23" y="53"/>
                    </a:lnTo>
                    <a:lnTo>
                      <a:pt x="18" y="53"/>
                    </a:lnTo>
                    <a:lnTo>
                      <a:pt x="18" y="139"/>
                    </a:lnTo>
                    <a:lnTo>
                      <a:pt x="18" y="143"/>
                    </a:lnTo>
                    <a:lnTo>
                      <a:pt x="18" y="144"/>
                    </a:lnTo>
                    <a:lnTo>
                      <a:pt x="18" y="148"/>
                    </a:lnTo>
                    <a:lnTo>
                      <a:pt x="14" y="152"/>
                    </a:lnTo>
                    <a:lnTo>
                      <a:pt x="13" y="153"/>
                    </a:lnTo>
                    <a:lnTo>
                      <a:pt x="9" y="155"/>
                    </a:lnTo>
                    <a:lnTo>
                      <a:pt x="2" y="150"/>
                    </a:lnTo>
                    <a:lnTo>
                      <a:pt x="0" y="143"/>
                    </a:lnTo>
                    <a:lnTo>
                      <a:pt x="0" y="139"/>
                    </a:lnTo>
                    <a:lnTo>
                      <a:pt x="0" y="48"/>
                    </a:lnTo>
                    <a:lnTo>
                      <a:pt x="0" y="44"/>
                    </a:lnTo>
                    <a:lnTo>
                      <a:pt x="2" y="27"/>
                    </a:lnTo>
                    <a:lnTo>
                      <a:pt x="7" y="11"/>
                    </a:lnTo>
                    <a:lnTo>
                      <a:pt x="14" y="3"/>
                    </a:lnTo>
                    <a:lnTo>
                      <a:pt x="20" y="0"/>
                    </a:lnTo>
                    <a:lnTo>
                      <a:pt x="21" y="0"/>
                    </a:lnTo>
                    <a:lnTo>
                      <a:pt x="25" y="0"/>
                    </a:lnTo>
                    <a:lnTo>
                      <a:pt x="29" y="0"/>
                    </a:lnTo>
                    <a:lnTo>
                      <a:pt x="52" y="0"/>
                    </a:lnTo>
                    <a:lnTo>
                      <a:pt x="46" y="0"/>
                    </a:lnTo>
                    <a:close/>
                  </a:path>
                </a:pathLst>
              </a:custGeom>
              <a:solidFill>
                <a:srgbClr val="CC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3175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>
                <a:noAutofit/>
              </a:bodyPr>
              <a:lstStyle/>
              <a:p>
                <a:endParaRPr lang="ko-KR" altLang="en-US" b="1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p:grpSp>
        <p:sp>
          <p:nvSpPr>
            <p:cNvPr id="58" name="Oval 38"/>
            <p:cNvSpPr>
              <a:spLocks noChangeArrowheads="1"/>
            </p:cNvSpPr>
            <p:nvPr/>
          </p:nvSpPr>
          <p:spPr bwMode="auto">
            <a:xfrm>
              <a:off x="5875" y="960"/>
              <a:ext cx="127" cy="144"/>
            </a:xfrm>
            <a:prstGeom prst="ellipse">
              <a:avLst/>
            </a:prstGeom>
            <a:solidFill>
              <a:srgbClr val="CC00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noAutofit/>
            </a:bodyPr>
            <a:lstStyle/>
            <a:p>
              <a:endParaRPr lang="ko-KR" altLang="en-US" b="1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sp>
        <p:nvSpPr>
          <p:cNvPr id="32" name="Oval 10"/>
          <p:cNvSpPr>
            <a:spLocks noChangeArrowheads="1"/>
          </p:cNvSpPr>
          <p:nvPr/>
        </p:nvSpPr>
        <p:spPr bwMode="auto">
          <a:xfrm>
            <a:off x="3329632" y="4851158"/>
            <a:ext cx="728663" cy="293687"/>
          </a:xfrm>
          <a:prstGeom prst="ellipse">
            <a:avLst/>
          </a:prstGeom>
          <a:solidFill>
            <a:schemeClr val="bg1"/>
          </a:solidFill>
          <a:ln w="28575">
            <a:solidFill>
              <a:srgbClr val="B2B2B2"/>
            </a:solidFill>
            <a:round/>
            <a:headEnd/>
            <a:tailEnd type="none" w="med" len="sm"/>
          </a:ln>
          <a:effectLst/>
        </p:spPr>
        <p:txBody>
          <a:bodyPr lIns="90000" tIns="46800" rIns="90000" bIns="46800">
            <a:noAutofit/>
          </a:bodyPr>
          <a:lstStyle/>
          <a:p>
            <a:pPr algn="ctr">
              <a:spcBef>
                <a:spcPct val="50000"/>
              </a:spcBef>
            </a:pPr>
            <a:r>
              <a:rPr lang="en-US" altLang="ko-KR" sz="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E </a:t>
            </a:r>
            <a:r>
              <a:rPr lang="ko-KR" altLang="en-US" sz="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상품</a:t>
            </a:r>
          </a:p>
        </p:txBody>
      </p:sp>
      <p:sp>
        <p:nvSpPr>
          <p:cNvPr id="33" name="Oval 11"/>
          <p:cNvSpPr>
            <a:spLocks noChangeArrowheads="1"/>
          </p:cNvSpPr>
          <p:nvPr/>
        </p:nvSpPr>
        <p:spPr bwMode="auto">
          <a:xfrm>
            <a:off x="4015432" y="3860558"/>
            <a:ext cx="728663" cy="293687"/>
          </a:xfrm>
          <a:prstGeom prst="ellipse">
            <a:avLst/>
          </a:prstGeom>
          <a:solidFill>
            <a:schemeClr val="bg1"/>
          </a:solidFill>
          <a:ln w="28575">
            <a:solidFill>
              <a:srgbClr val="B2B2B2"/>
            </a:solidFill>
            <a:round/>
            <a:headEnd/>
            <a:tailEnd type="none" w="med" len="sm"/>
          </a:ln>
          <a:effectLst/>
        </p:spPr>
        <p:txBody>
          <a:bodyPr lIns="90000" tIns="46800" rIns="90000" bIns="46800">
            <a:noAutofit/>
          </a:bodyPr>
          <a:lstStyle/>
          <a:p>
            <a:pPr algn="ctr">
              <a:spcBef>
                <a:spcPct val="50000"/>
              </a:spcBef>
            </a:pPr>
            <a:r>
              <a:rPr lang="en-US" altLang="ko-KR" sz="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D </a:t>
            </a:r>
            <a:r>
              <a:rPr lang="ko-KR" altLang="en-US" sz="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상품</a:t>
            </a:r>
          </a:p>
        </p:txBody>
      </p:sp>
      <p:sp>
        <p:nvSpPr>
          <p:cNvPr id="35" name="Oval 13"/>
          <p:cNvSpPr>
            <a:spLocks noChangeArrowheads="1"/>
          </p:cNvSpPr>
          <p:nvPr/>
        </p:nvSpPr>
        <p:spPr bwMode="auto">
          <a:xfrm>
            <a:off x="4244032" y="3479558"/>
            <a:ext cx="728663" cy="293687"/>
          </a:xfrm>
          <a:prstGeom prst="ellipse">
            <a:avLst/>
          </a:prstGeom>
          <a:solidFill>
            <a:schemeClr val="bg1"/>
          </a:solidFill>
          <a:ln w="28575">
            <a:solidFill>
              <a:srgbClr val="B2B2B2"/>
            </a:solidFill>
            <a:round/>
            <a:headEnd/>
            <a:tailEnd type="none" w="med" len="sm"/>
          </a:ln>
          <a:effectLst/>
        </p:spPr>
        <p:txBody>
          <a:bodyPr lIns="90000" tIns="46800" rIns="90000" bIns="46800">
            <a:noAutofit/>
          </a:bodyPr>
          <a:lstStyle/>
          <a:p>
            <a:pPr algn="ctr">
              <a:spcBef>
                <a:spcPct val="50000"/>
              </a:spcBef>
            </a:pPr>
            <a:r>
              <a:rPr lang="en-US" altLang="ko-KR" sz="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A </a:t>
            </a:r>
            <a:r>
              <a:rPr lang="ko-KR" altLang="en-US" sz="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상품</a:t>
            </a:r>
          </a:p>
        </p:txBody>
      </p:sp>
      <p:sp>
        <p:nvSpPr>
          <p:cNvPr id="36" name="Oval 14"/>
          <p:cNvSpPr>
            <a:spLocks noChangeArrowheads="1"/>
          </p:cNvSpPr>
          <p:nvPr/>
        </p:nvSpPr>
        <p:spPr bwMode="auto">
          <a:xfrm>
            <a:off x="5844232" y="5008320"/>
            <a:ext cx="728663" cy="293688"/>
          </a:xfrm>
          <a:prstGeom prst="ellipse">
            <a:avLst/>
          </a:prstGeom>
          <a:solidFill>
            <a:schemeClr val="bg1"/>
          </a:solidFill>
          <a:ln w="28575">
            <a:solidFill>
              <a:srgbClr val="B2B2B2"/>
            </a:solidFill>
            <a:round/>
            <a:headEnd/>
            <a:tailEnd type="none" w="med" len="sm"/>
          </a:ln>
          <a:effectLst/>
        </p:spPr>
        <p:txBody>
          <a:bodyPr lIns="0" tIns="0" rIns="0" bIns="0" anchor="ctr">
            <a:noAutofit/>
          </a:bodyPr>
          <a:lstStyle/>
          <a:p>
            <a:pPr algn="ctr">
              <a:spcBef>
                <a:spcPct val="50000"/>
              </a:spcBef>
            </a:pPr>
            <a:r>
              <a:rPr lang="ko-KR" altLang="en-US" sz="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상품정보</a:t>
            </a:r>
          </a:p>
        </p:txBody>
      </p:sp>
      <p:sp>
        <p:nvSpPr>
          <p:cNvPr id="37" name="Oval 15"/>
          <p:cNvSpPr>
            <a:spLocks noChangeArrowheads="1"/>
          </p:cNvSpPr>
          <p:nvPr/>
        </p:nvSpPr>
        <p:spPr bwMode="auto">
          <a:xfrm>
            <a:off x="4701232" y="4546358"/>
            <a:ext cx="728663" cy="293687"/>
          </a:xfrm>
          <a:prstGeom prst="ellipse">
            <a:avLst/>
          </a:prstGeom>
          <a:solidFill>
            <a:schemeClr val="bg1"/>
          </a:solidFill>
          <a:ln w="28575">
            <a:solidFill>
              <a:srgbClr val="B2B2B2"/>
            </a:solidFill>
            <a:round/>
            <a:headEnd/>
            <a:tailEnd type="none" w="med" len="sm"/>
          </a:ln>
          <a:effectLst/>
        </p:spPr>
        <p:txBody>
          <a:bodyPr lIns="0" tIns="0" rIns="0" bIns="0" anchor="ctr">
            <a:noAutofit/>
          </a:bodyPr>
          <a:lstStyle/>
          <a:p>
            <a:pPr algn="ctr">
              <a:spcBef>
                <a:spcPct val="50000"/>
              </a:spcBef>
            </a:pPr>
            <a:r>
              <a:rPr lang="en" altLang="ko-KR" sz="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XXX</a:t>
            </a:r>
            <a:r>
              <a:rPr lang="ko-KR" altLang="en-US" sz="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가입</a:t>
            </a:r>
          </a:p>
        </p:txBody>
      </p:sp>
      <p:sp>
        <p:nvSpPr>
          <p:cNvPr id="38" name="Oval 16"/>
          <p:cNvSpPr>
            <a:spLocks noChangeArrowheads="1"/>
          </p:cNvSpPr>
          <p:nvPr/>
        </p:nvSpPr>
        <p:spPr bwMode="auto">
          <a:xfrm>
            <a:off x="5310832" y="3174758"/>
            <a:ext cx="728663" cy="293687"/>
          </a:xfrm>
          <a:prstGeom prst="ellipse">
            <a:avLst/>
          </a:prstGeom>
          <a:solidFill>
            <a:schemeClr val="bg1"/>
          </a:solidFill>
          <a:ln w="28575">
            <a:solidFill>
              <a:srgbClr val="B2B2B2"/>
            </a:solidFill>
            <a:round/>
            <a:headEnd/>
            <a:tailEnd type="none" w="med" len="sm"/>
          </a:ln>
          <a:effectLst/>
        </p:spPr>
        <p:txBody>
          <a:bodyPr lIns="90000" tIns="46800" rIns="90000" bIns="46800">
            <a:noAutofit/>
          </a:bodyPr>
          <a:lstStyle/>
          <a:p>
            <a:pPr algn="ctr">
              <a:spcBef>
                <a:spcPct val="50000"/>
              </a:spcBef>
            </a:pPr>
            <a:r>
              <a:rPr lang="en-US" altLang="ko-KR" sz="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B </a:t>
            </a:r>
            <a:r>
              <a:rPr lang="ko-KR" altLang="en-US" sz="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상품</a:t>
            </a:r>
          </a:p>
        </p:txBody>
      </p:sp>
      <p:sp>
        <p:nvSpPr>
          <p:cNvPr id="39" name="Oval 17"/>
          <p:cNvSpPr>
            <a:spLocks noChangeArrowheads="1"/>
          </p:cNvSpPr>
          <p:nvPr/>
        </p:nvSpPr>
        <p:spPr bwMode="auto">
          <a:xfrm>
            <a:off x="5006032" y="3860558"/>
            <a:ext cx="728663" cy="293687"/>
          </a:xfrm>
          <a:prstGeom prst="ellipse">
            <a:avLst/>
          </a:prstGeom>
          <a:solidFill>
            <a:schemeClr val="bg1"/>
          </a:solidFill>
          <a:ln w="28575">
            <a:solidFill>
              <a:srgbClr val="B2B2B2"/>
            </a:solidFill>
            <a:round/>
            <a:headEnd/>
            <a:tailEnd type="none" w="med" len="sm"/>
          </a:ln>
          <a:effectLst/>
        </p:spPr>
        <p:txBody>
          <a:bodyPr lIns="90000" tIns="46800" rIns="90000" bIns="46800">
            <a:noAutofit/>
          </a:bodyPr>
          <a:lstStyle/>
          <a:p>
            <a:pPr algn="ctr">
              <a:spcBef>
                <a:spcPct val="50000"/>
              </a:spcBef>
            </a:pPr>
            <a:r>
              <a:rPr lang="en-US" altLang="ko-KR" sz="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C </a:t>
            </a:r>
            <a:r>
              <a:rPr lang="ko-KR" altLang="en-US" sz="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상품</a:t>
            </a:r>
          </a:p>
        </p:txBody>
      </p:sp>
    </p:spTree>
    <p:extLst>
      <p:ext uri="{BB962C8B-B14F-4D97-AF65-F5344CB8AC3E}">
        <p14:creationId xmlns:p14="http://schemas.microsoft.com/office/powerpoint/2010/main" val="205964773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그림 37">
            <a:extLst>
              <a:ext uri="{FF2B5EF4-FFF2-40B4-BE49-F238E27FC236}">
                <a16:creationId xmlns:a16="http://schemas.microsoft.com/office/drawing/2014/main" id="{0C1A7705-62A3-C89B-B75A-534F74E288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1519" y="3207449"/>
            <a:ext cx="5175878" cy="261227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44017" y="91339"/>
            <a:ext cx="7401271" cy="385333"/>
          </a:xfrm>
          <a:prstGeom prst="rect">
            <a:avLst/>
          </a:prstGeom>
          <a:noFill/>
        </p:spPr>
        <p:txBody>
          <a:bodyPr wrap="square" lIns="0" tIns="53643" rIns="0" bIns="53643" rtlCol="0">
            <a:spAutoFit/>
          </a:bodyPr>
          <a:lstStyle/>
          <a:p>
            <a:r>
              <a:rPr kumimoji="1" lang="en-US" altLang="ko-KR" b="1" kern="0" dirty="0">
                <a:latin typeface="나눔고딕" panose="020D0604000000000000" pitchFamily="50" charset="-127"/>
                <a:ea typeface="나눔고딕" panose="020D0604000000000000" pitchFamily="50" charset="-127"/>
                <a:cs typeface="산돌고딕 M"/>
              </a:rPr>
              <a:t>Information architecture</a:t>
            </a:r>
            <a:endParaRPr kumimoji="1" lang="ko-KR" altLang="en-US" b="1" kern="0" dirty="0">
              <a:latin typeface="나눔고딕" panose="020D0604000000000000" pitchFamily="50" charset="-127"/>
              <a:ea typeface="나눔고딕" panose="020D0604000000000000" pitchFamily="50" charset="-127"/>
              <a:cs typeface="산돌고딕 M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44017" y="683985"/>
            <a:ext cx="96335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Service Grouping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8504" y="991762"/>
            <a:ext cx="8928992" cy="523220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ko-KR" altLang="en-US" sz="1400">
                <a:latin typeface="나눔고딕" panose="020D0604000000000000" pitchFamily="50" charset="-127"/>
                <a:ea typeface="나눔고딕" panose="020D0604000000000000" pitchFamily="50" charset="-127"/>
              </a:rPr>
              <a:t>서비스가입을 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하는 고객의 가장 기본적인 욕구에 가장 효율적으로 대응함으로써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고객을 </a:t>
            </a:r>
            <a:r>
              <a:rPr lang="ko-KR" altLang="en-US" sz="1400">
                <a:latin typeface="나눔고딕" panose="020D0604000000000000" pitchFamily="50" charset="-127"/>
                <a:ea typeface="나눔고딕" panose="020D0604000000000000" pitchFamily="50" charset="-127"/>
              </a:rPr>
              <a:t>효과적으로 서비스가입 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방향으로 인도하며 동시에 사이트의 로열티를 향상 시킵니다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488504" y="1700808"/>
            <a:ext cx="2376264" cy="36004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4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Navigation strategy</a:t>
            </a:r>
          </a:p>
        </p:txBody>
      </p:sp>
      <p:sp>
        <p:nvSpPr>
          <p:cNvPr id="61" name="Rectangle 39"/>
          <p:cNvSpPr>
            <a:spLocks noChangeArrowheads="1"/>
          </p:cNvSpPr>
          <p:nvPr/>
        </p:nvSpPr>
        <p:spPr bwMode="auto">
          <a:xfrm>
            <a:off x="2174875" y="2497088"/>
            <a:ext cx="2057400" cy="381000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rgbClr val="333333"/>
            </a:solidFill>
            <a:miter lim="800000"/>
            <a:headEnd/>
            <a:tailEnd/>
          </a:ln>
          <a:effectLst/>
        </p:spPr>
        <p:txBody>
          <a:bodyPr wrap="none" lIns="216000" anchor="ctr"/>
          <a:lstStyle/>
          <a:p>
            <a:r>
              <a:rPr lang="en-US" altLang="ko-KR" sz="11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en-US" altLang="ko-KR" sz="1100" b="1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ko-KR" altLang="en-US" sz="1100" b="1">
                <a:latin typeface="나눔고딕" panose="020D0604000000000000" pitchFamily="50" charset="-127"/>
                <a:ea typeface="나눔고딕" panose="020D0604000000000000" pitchFamily="50" charset="-127"/>
              </a:rPr>
              <a:t>서비스가입에 </a:t>
            </a:r>
            <a:r>
              <a:rPr lang="ko-KR" altLang="en-US" sz="11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대한 욕구</a:t>
            </a:r>
          </a:p>
        </p:txBody>
      </p:sp>
      <p:grpSp>
        <p:nvGrpSpPr>
          <p:cNvPr id="63" name="Group 41"/>
          <p:cNvGrpSpPr>
            <a:grpSpLocks/>
          </p:cNvGrpSpPr>
          <p:nvPr/>
        </p:nvGrpSpPr>
        <p:grpSpPr bwMode="auto">
          <a:xfrm>
            <a:off x="4375150" y="2420888"/>
            <a:ext cx="266700" cy="533400"/>
            <a:chOff x="5875" y="720"/>
            <a:chExt cx="313" cy="1146"/>
          </a:xfrm>
          <a:solidFill>
            <a:srgbClr val="00B050"/>
          </a:solidFill>
        </p:grpSpPr>
        <p:grpSp>
          <p:nvGrpSpPr>
            <p:cNvPr id="64" name="Group 42"/>
            <p:cNvGrpSpPr>
              <a:grpSpLocks/>
            </p:cNvGrpSpPr>
            <p:nvPr/>
          </p:nvGrpSpPr>
          <p:grpSpPr bwMode="auto">
            <a:xfrm>
              <a:off x="5875" y="720"/>
              <a:ext cx="313" cy="1146"/>
              <a:chOff x="3872" y="1622"/>
              <a:chExt cx="98" cy="388"/>
            </a:xfrm>
            <a:grpFill/>
          </p:grpSpPr>
          <p:sp>
            <p:nvSpPr>
              <p:cNvPr id="66" name="Freeform 43"/>
              <p:cNvSpPr>
                <a:spLocks/>
              </p:cNvSpPr>
              <p:nvPr/>
            </p:nvSpPr>
            <p:spPr bwMode="auto">
              <a:xfrm>
                <a:off x="3901" y="1622"/>
                <a:ext cx="40" cy="57"/>
              </a:xfrm>
              <a:custGeom>
                <a:avLst/>
                <a:gdLst>
                  <a:gd name="T0" fmla="*/ 40 w 40"/>
                  <a:gd name="T1" fmla="*/ 29 h 57"/>
                  <a:gd name="T2" fmla="*/ 39 w 40"/>
                  <a:gd name="T3" fmla="*/ 16 h 57"/>
                  <a:gd name="T4" fmla="*/ 33 w 40"/>
                  <a:gd name="T5" fmla="*/ 5 h 57"/>
                  <a:gd name="T6" fmla="*/ 24 w 40"/>
                  <a:gd name="T7" fmla="*/ 0 h 57"/>
                  <a:gd name="T8" fmla="*/ 16 w 40"/>
                  <a:gd name="T9" fmla="*/ 0 h 57"/>
                  <a:gd name="T10" fmla="*/ 7 w 40"/>
                  <a:gd name="T11" fmla="*/ 5 h 57"/>
                  <a:gd name="T12" fmla="*/ 1 w 40"/>
                  <a:gd name="T13" fmla="*/ 16 h 57"/>
                  <a:gd name="T14" fmla="*/ 0 w 40"/>
                  <a:gd name="T15" fmla="*/ 29 h 57"/>
                  <a:gd name="T16" fmla="*/ 1 w 40"/>
                  <a:gd name="T17" fmla="*/ 41 h 57"/>
                  <a:gd name="T18" fmla="*/ 7 w 40"/>
                  <a:gd name="T19" fmla="*/ 52 h 57"/>
                  <a:gd name="T20" fmla="*/ 16 w 40"/>
                  <a:gd name="T21" fmla="*/ 57 h 57"/>
                  <a:gd name="T22" fmla="*/ 24 w 40"/>
                  <a:gd name="T23" fmla="*/ 57 h 57"/>
                  <a:gd name="T24" fmla="*/ 33 w 40"/>
                  <a:gd name="T25" fmla="*/ 52 h 57"/>
                  <a:gd name="T26" fmla="*/ 39 w 40"/>
                  <a:gd name="T27" fmla="*/ 41 h 57"/>
                  <a:gd name="T28" fmla="*/ 40 w 40"/>
                  <a:gd name="T29" fmla="*/ 29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40" h="57">
                    <a:moveTo>
                      <a:pt x="40" y="29"/>
                    </a:moveTo>
                    <a:lnTo>
                      <a:pt x="39" y="16"/>
                    </a:lnTo>
                    <a:lnTo>
                      <a:pt x="33" y="5"/>
                    </a:lnTo>
                    <a:lnTo>
                      <a:pt x="24" y="0"/>
                    </a:lnTo>
                    <a:lnTo>
                      <a:pt x="16" y="0"/>
                    </a:lnTo>
                    <a:lnTo>
                      <a:pt x="7" y="5"/>
                    </a:lnTo>
                    <a:lnTo>
                      <a:pt x="1" y="16"/>
                    </a:lnTo>
                    <a:lnTo>
                      <a:pt x="0" y="29"/>
                    </a:lnTo>
                    <a:lnTo>
                      <a:pt x="1" y="41"/>
                    </a:lnTo>
                    <a:lnTo>
                      <a:pt x="7" y="52"/>
                    </a:lnTo>
                    <a:lnTo>
                      <a:pt x="16" y="57"/>
                    </a:lnTo>
                    <a:lnTo>
                      <a:pt x="24" y="57"/>
                    </a:lnTo>
                    <a:lnTo>
                      <a:pt x="33" y="52"/>
                    </a:lnTo>
                    <a:lnTo>
                      <a:pt x="39" y="41"/>
                    </a:lnTo>
                    <a:lnTo>
                      <a:pt x="40" y="2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3175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67" name="Freeform 44"/>
              <p:cNvSpPr>
                <a:spLocks/>
              </p:cNvSpPr>
              <p:nvPr/>
            </p:nvSpPr>
            <p:spPr bwMode="auto">
              <a:xfrm>
                <a:off x="3872" y="1690"/>
                <a:ext cx="98" cy="320"/>
              </a:xfrm>
              <a:custGeom>
                <a:avLst/>
                <a:gdLst>
                  <a:gd name="T0" fmla="*/ 68 w 98"/>
                  <a:gd name="T1" fmla="*/ 0 h 320"/>
                  <a:gd name="T2" fmla="*/ 75 w 98"/>
                  <a:gd name="T3" fmla="*/ 0 h 320"/>
                  <a:gd name="T4" fmla="*/ 84 w 98"/>
                  <a:gd name="T5" fmla="*/ 2 h 320"/>
                  <a:gd name="T6" fmla="*/ 96 w 98"/>
                  <a:gd name="T7" fmla="*/ 25 h 320"/>
                  <a:gd name="T8" fmla="*/ 98 w 98"/>
                  <a:gd name="T9" fmla="*/ 48 h 320"/>
                  <a:gd name="T10" fmla="*/ 98 w 98"/>
                  <a:gd name="T11" fmla="*/ 143 h 320"/>
                  <a:gd name="T12" fmla="*/ 89 w 98"/>
                  <a:gd name="T13" fmla="*/ 155 h 320"/>
                  <a:gd name="T14" fmla="*/ 82 w 98"/>
                  <a:gd name="T15" fmla="*/ 148 h 320"/>
                  <a:gd name="T16" fmla="*/ 80 w 98"/>
                  <a:gd name="T17" fmla="*/ 139 h 320"/>
                  <a:gd name="T18" fmla="*/ 75 w 98"/>
                  <a:gd name="T19" fmla="*/ 53 h 320"/>
                  <a:gd name="T20" fmla="*/ 75 w 98"/>
                  <a:gd name="T21" fmla="*/ 298 h 320"/>
                  <a:gd name="T22" fmla="*/ 75 w 98"/>
                  <a:gd name="T23" fmla="*/ 305 h 320"/>
                  <a:gd name="T24" fmla="*/ 69 w 98"/>
                  <a:gd name="T25" fmla="*/ 318 h 320"/>
                  <a:gd name="T26" fmla="*/ 59 w 98"/>
                  <a:gd name="T27" fmla="*/ 318 h 320"/>
                  <a:gd name="T28" fmla="*/ 53 w 98"/>
                  <a:gd name="T29" fmla="*/ 298 h 320"/>
                  <a:gd name="T30" fmla="*/ 53 w 98"/>
                  <a:gd name="T31" fmla="*/ 155 h 320"/>
                  <a:gd name="T32" fmla="*/ 50 w 98"/>
                  <a:gd name="T33" fmla="*/ 153 h 320"/>
                  <a:gd name="T34" fmla="*/ 45 w 98"/>
                  <a:gd name="T35" fmla="*/ 295 h 320"/>
                  <a:gd name="T36" fmla="*/ 45 w 98"/>
                  <a:gd name="T37" fmla="*/ 303 h 320"/>
                  <a:gd name="T38" fmla="*/ 43 w 98"/>
                  <a:gd name="T39" fmla="*/ 314 h 320"/>
                  <a:gd name="T40" fmla="*/ 34 w 98"/>
                  <a:gd name="T41" fmla="*/ 320 h 320"/>
                  <a:gd name="T42" fmla="*/ 25 w 98"/>
                  <a:gd name="T43" fmla="*/ 312 h 320"/>
                  <a:gd name="T44" fmla="*/ 23 w 98"/>
                  <a:gd name="T45" fmla="*/ 302 h 320"/>
                  <a:gd name="T46" fmla="*/ 23 w 98"/>
                  <a:gd name="T47" fmla="*/ 295 h 320"/>
                  <a:gd name="T48" fmla="*/ 18 w 98"/>
                  <a:gd name="T49" fmla="*/ 53 h 320"/>
                  <a:gd name="T50" fmla="*/ 18 w 98"/>
                  <a:gd name="T51" fmla="*/ 143 h 320"/>
                  <a:gd name="T52" fmla="*/ 18 w 98"/>
                  <a:gd name="T53" fmla="*/ 148 h 320"/>
                  <a:gd name="T54" fmla="*/ 13 w 98"/>
                  <a:gd name="T55" fmla="*/ 153 h 320"/>
                  <a:gd name="T56" fmla="*/ 2 w 98"/>
                  <a:gd name="T57" fmla="*/ 150 h 320"/>
                  <a:gd name="T58" fmla="*/ 0 w 98"/>
                  <a:gd name="T59" fmla="*/ 139 h 320"/>
                  <a:gd name="T60" fmla="*/ 0 w 98"/>
                  <a:gd name="T61" fmla="*/ 44 h 320"/>
                  <a:gd name="T62" fmla="*/ 7 w 98"/>
                  <a:gd name="T63" fmla="*/ 11 h 320"/>
                  <a:gd name="T64" fmla="*/ 20 w 98"/>
                  <a:gd name="T65" fmla="*/ 0 h 320"/>
                  <a:gd name="T66" fmla="*/ 25 w 98"/>
                  <a:gd name="T67" fmla="*/ 0 h 320"/>
                  <a:gd name="T68" fmla="*/ 52 w 98"/>
                  <a:gd name="T69" fmla="*/ 0 h 3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98" h="320">
                    <a:moveTo>
                      <a:pt x="46" y="0"/>
                    </a:moveTo>
                    <a:lnTo>
                      <a:pt x="68" y="0"/>
                    </a:lnTo>
                    <a:lnTo>
                      <a:pt x="73" y="0"/>
                    </a:lnTo>
                    <a:lnTo>
                      <a:pt x="75" y="0"/>
                    </a:lnTo>
                    <a:lnTo>
                      <a:pt x="78" y="0"/>
                    </a:lnTo>
                    <a:lnTo>
                      <a:pt x="84" y="2"/>
                    </a:lnTo>
                    <a:lnTo>
                      <a:pt x="91" y="11"/>
                    </a:lnTo>
                    <a:lnTo>
                      <a:pt x="96" y="25"/>
                    </a:lnTo>
                    <a:lnTo>
                      <a:pt x="98" y="44"/>
                    </a:lnTo>
                    <a:lnTo>
                      <a:pt x="98" y="48"/>
                    </a:lnTo>
                    <a:lnTo>
                      <a:pt x="98" y="139"/>
                    </a:lnTo>
                    <a:lnTo>
                      <a:pt x="98" y="143"/>
                    </a:lnTo>
                    <a:lnTo>
                      <a:pt x="96" y="150"/>
                    </a:lnTo>
                    <a:lnTo>
                      <a:pt x="89" y="155"/>
                    </a:lnTo>
                    <a:lnTo>
                      <a:pt x="84" y="153"/>
                    </a:lnTo>
                    <a:lnTo>
                      <a:pt x="82" y="148"/>
                    </a:lnTo>
                    <a:lnTo>
                      <a:pt x="80" y="143"/>
                    </a:lnTo>
                    <a:lnTo>
                      <a:pt x="80" y="139"/>
                    </a:lnTo>
                    <a:lnTo>
                      <a:pt x="80" y="53"/>
                    </a:lnTo>
                    <a:lnTo>
                      <a:pt x="75" y="53"/>
                    </a:lnTo>
                    <a:lnTo>
                      <a:pt x="75" y="295"/>
                    </a:lnTo>
                    <a:lnTo>
                      <a:pt x="75" y="298"/>
                    </a:lnTo>
                    <a:lnTo>
                      <a:pt x="75" y="300"/>
                    </a:lnTo>
                    <a:lnTo>
                      <a:pt x="75" y="305"/>
                    </a:lnTo>
                    <a:lnTo>
                      <a:pt x="73" y="312"/>
                    </a:lnTo>
                    <a:lnTo>
                      <a:pt x="69" y="318"/>
                    </a:lnTo>
                    <a:lnTo>
                      <a:pt x="64" y="320"/>
                    </a:lnTo>
                    <a:lnTo>
                      <a:pt x="59" y="318"/>
                    </a:lnTo>
                    <a:lnTo>
                      <a:pt x="55" y="316"/>
                    </a:lnTo>
                    <a:lnTo>
                      <a:pt x="53" y="298"/>
                    </a:lnTo>
                    <a:lnTo>
                      <a:pt x="53" y="295"/>
                    </a:lnTo>
                    <a:lnTo>
                      <a:pt x="53" y="155"/>
                    </a:lnTo>
                    <a:lnTo>
                      <a:pt x="48" y="153"/>
                    </a:lnTo>
                    <a:lnTo>
                      <a:pt x="50" y="153"/>
                    </a:lnTo>
                    <a:lnTo>
                      <a:pt x="45" y="155"/>
                    </a:lnTo>
                    <a:lnTo>
                      <a:pt x="45" y="295"/>
                    </a:lnTo>
                    <a:lnTo>
                      <a:pt x="45" y="298"/>
                    </a:lnTo>
                    <a:lnTo>
                      <a:pt x="45" y="303"/>
                    </a:lnTo>
                    <a:lnTo>
                      <a:pt x="45" y="307"/>
                    </a:lnTo>
                    <a:lnTo>
                      <a:pt x="43" y="314"/>
                    </a:lnTo>
                    <a:lnTo>
                      <a:pt x="39" y="318"/>
                    </a:lnTo>
                    <a:lnTo>
                      <a:pt x="34" y="320"/>
                    </a:lnTo>
                    <a:lnTo>
                      <a:pt x="29" y="318"/>
                    </a:lnTo>
                    <a:lnTo>
                      <a:pt x="25" y="312"/>
                    </a:lnTo>
                    <a:lnTo>
                      <a:pt x="23" y="305"/>
                    </a:lnTo>
                    <a:lnTo>
                      <a:pt x="23" y="302"/>
                    </a:lnTo>
                    <a:lnTo>
                      <a:pt x="23" y="298"/>
                    </a:lnTo>
                    <a:lnTo>
                      <a:pt x="23" y="295"/>
                    </a:lnTo>
                    <a:lnTo>
                      <a:pt x="23" y="53"/>
                    </a:lnTo>
                    <a:lnTo>
                      <a:pt x="18" y="53"/>
                    </a:lnTo>
                    <a:lnTo>
                      <a:pt x="18" y="139"/>
                    </a:lnTo>
                    <a:lnTo>
                      <a:pt x="18" y="143"/>
                    </a:lnTo>
                    <a:lnTo>
                      <a:pt x="18" y="144"/>
                    </a:lnTo>
                    <a:lnTo>
                      <a:pt x="18" y="148"/>
                    </a:lnTo>
                    <a:lnTo>
                      <a:pt x="14" y="152"/>
                    </a:lnTo>
                    <a:lnTo>
                      <a:pt x="13" y="153"/>
                    </a:lnTo>
                    <a:lnTo>
                      <a:pt x="9" y="155"/>
                    </a:lnTo>
                    <a:lnTo>
                      <a:pt x="2" y="150"/>
                    </a:lnTo>
                    <a:lnTo>
                      <a:pt x="0" y="143"/>
                    </a:lnTo>
                    <a:lnTo>
                      <a:pt x="0" y="139"/>
                    </a:lnTo>
                    <a:lnTo>
                      <a:pt x="0" y="48"/>
                    </a:lnTo>
                    <a:lnTo>
                      <a:pt x="0" y="44"/>
                    </a:lnTo>
                    <a:lnTo>
                      <a:pt x="2" y="27"/>
                    </a:lnTo>
                    <a:lnTo>
                      <a:pt x="7" y="11"/>
                    </a:lnTo>
                    <a:lnTo>
                      <a:pt x="14" y="3"/>
                    </a:lnTo>
                    <a:lnTo>
                      <a:pt x="20" y="0"/>
                    </a:lnTo>
                    <a:lnTo>
                      <a:pt x="21" y="0"/>
                    </a:lnTo>
                    <a:lnTo>
                      <a:pt x="25" y="0"/>
                    </a:lnTo>
                    <a:lnTo>
                      <a:pt x="29" y="0"/>
                    </a:lnTo>
                    <a:lnTo>
                      <a:pt x="52" y="0"/>
                    </a:lnTo>
                    <a:lnTo>
                      <a:pt x="46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3175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p:grpSp>
        <p:sp>
          <p:nvSpPr>
            <p:cNvPr id="65" name="Oval 45"/>
            <p:cNvSpPr>
              <a:spLocks noChangeArrowheads="1"/>
            </p:cNvSpPr>
            <p:nvPr/>
          </p:nvSpPr>
          <p:spPr bwMode="auto">
            <a:xfrm>
              <a:off x="5875" y="960"/>
              <a:ext cx="127" cy="144"/>
            </a:xfrm>
            <a:prstGeom prst="ellipse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sp>
        <p:nvSpPr>
          <p:cNvPr id="68" name="Rectangle 46"/>
          <p:cNvSpPr>
            <a:spLocks noChangeArrowheads="1"/>
          </p:cNvSpPr>
          <p:nvPr/>
        </p:nvSpPr>
        <p:spPr bwMode="auto">
          <a:xfrm>
            <a:off x="2174875" y="3030488"/>
            <a:ext cx="2057400" cy="381000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rgbClr val="333333"/>
            </a:solidFill>
            <a:miter lim="800000"/>
            <a:headEnd/>
            <a:tailEnd/>
          </a:ln>
          <a:effectLst/>
        </p:spPr>
        <p:txBody>
          <a:bodyPr wrap="none" lIns="216000" anchor="ctr"/>
          <a:lstStyle/>
          <a:p>
            <a:r>
              <a:rPr lang="en-US" altLang="ko-KR" sz="11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r>
            <a:r>
              <a:rPr lang="en-US" altLang="ko-KR" sz="1100" b="1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ko-KR" altLang="en-US" sz="1100" b="1">
                <a:latin typeface="나눔고딕" panose="020D0604000000000000" pitchFamily="50" charset="-127"/>
                <a:ea typeface="나눔고딕" panose="020D0604000000000000" pitchFamily="50" charset="-127"/>
              </a:rPr>
              <a:t>서비스가입 </a:t>
            </a:r>
            <a:r>
              <a:rPr lang="ko-KR" altLang="en-US" sz="11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방법의 모색</a:t>
            </a:r>
          </a:p>
        </p:txBody>
      </p:sp>
      <p:sp>
        <p:nvSpPr>
          <p:cNvPr id="70" name="Rectangle 48"/>
          <p:cNvSpPr>
            <a:spLocks noChangeArrowheads="1"/>
          </p:cNvSpPr>
          <p:nvPr/>
        </p:nvSpPr>
        <p:spPr bwMode="auto">
          <a:xfrm>
            <a:off x="2174875" y="3563888"/>
            <a:ext cx="2057400" cy="381000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rgbClr val="333333"/>
            </a:solidFill>
            <a:miter lim="800000"/>
            <a:headEnd/>
            <a:tailEnd/>
          </a:ln>
          <a:effectLst/>
        </p:spPr>
        <p:txBody>
          <a:bodyPr wrap="none" lIns="216000" anchor="ctr"/>
          <a:lstStyle/>
          <a:p>
            <a:r>
              <a:rPr lang="en-US" altLang="ko-KR" sz="11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r>
              <a:rPr lang="en-US" altLang="ko-KR" sz="1100" b="1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ko-KR" altLang="en-US" sz="1100" b="1">
                <a:latin typeface="나눔고딕" panose="020D0604000000000000" pitchFamily="50" charset="-127"/>
                <a:ea typeface="나눔고딕" panose="020D0604000000000000" pitchFamily="50" charset="-127"/>
              </a:rPr>
              <a:t>서비스의 </a:t>
            </a:r>
            <a:r>
              <a:rPr lang="ko-KR" altLang="en-US" sz="11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결정</a:t>
            </a:r>
          </a:p>
        </p:txBody>
      </p:sp>
      <p:sp>
        <p:nvSpPr>
          <p:cNvPr id="72" name="Rectangle 50"/>
          <p:cNvSpPr>
            <a:spLocks noChangeArrowheads="1"/>
          </p:cNvSpPr>
          <p:nvPr/>
        </p:nvSpPr>
        <p:spPr bwMode="auto">
          <a:xfrm>
            <a:off x="2468563" y="4402088"/>
            <a:ext cx="1470025" cy="273050"/>
          </a:xfrm>
          <a:prstGeom prst="rect">
            <a:avLst/>
          </a:prstGeom>
          <a:solidFill>
            <a:schemeClr val="bg1"/>
          </a:solidFill>
          <a:ln w="12700">
            <a:solidFill>
              <a:srgbClr val="333333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ko-KR" sz="1000" b="1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3-1. </a:t>
            </a:r>
            <a:r>
              <a:rPr lang="ko-KR" altLang="en-US" sz="1000" b="1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정보 탐색</a:t>
            </a:r>
          </a:p>
        </p:txBody>
      </p:sp>
      <p:sp>
        <p:nvSpPr>
          <p:cNvPr id="74" name="Rectangle 52"/>
          <p:cNvSpPr>
            <a:spLocks noChangeArrowheads="1"/>
          </p:cNvSpPr>
          <p:nvPr/>
        </p:nvSpPr>
        <p:spPr bwMode="auto">
          <a:xfrm>
            <a:off x="2468563" y="4784676"/>
            <a:ext cx="1470025" cy="273050"/>
          </a:xfrm>
          <a:prstGeom prst="rect">
            <a:avLst/>
          </a:prstGeom>
          <a:solidFill>
            <a:schemeClr val="bg1"/>
          </a:solidFill>
          <a:ln w="12700">
            <a:solidFill>
              <a:srgbClr val="333333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ko-KR" sz="1000" b="1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3-2. </a:t>
            </a:r>
            <a:r>
              <a:rPr lang="ko-KR" altLang="en-US" sz="1000" b="1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대안 평가</a:t>
            </a:r>
          </a:p>
        </p:txBody>
      </p:sp>
      <p:sp>
        <p:nvSpPr>
          <p:cNvPr id="76" name="Rectangle 54"/>
          <p:cNvSpPr>
            <a:spLocks noChangeArrowheads="1"/>
          </p:cNvSpPr>
          <p:nvPr/>
        </p:nvSpPr>
        <p:spPr bwMode="auto">
          <a:xfrm>
            <a:off x="2468563" y="5165676"/>
            <a:ext cx="1470025" cy="273050"/>
          </a:xfrm>
          <a:prstGeom prst="rect">
            <a:avLst/>
          </a:prstGeom>
          <a:solidFill>
            <a:schemeClr val="bg1"/>
          </a:solidFill>
          <a:ln w="12700">
            <a:solidFill>
              <a:srgbClr val="333333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ko-KR" sz="1000" b="1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3-3. </a:t>
            </a:r>
            <a:r>
              <a:rPr lang="ko-KR" altLang="en-US" sz="1000" b="1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의사 결정</a:t>
            </a:r>
          </a:p>
        </p:txBody>
      </p:sp>
      <p:sp>
        <p:nvSpPr>
          <p:cNvPr id="78" name="Rectangle 56"/>
          <p:cNvSpPr>
            <a:spLocks noChangeArrowheads="1"/>
          </p:cNvSpPr>
          <p:nvPr/>
        </p:nvSpPr>
        <p:spPr bwMode="auto">
          <a:xfrm>
            <a:off x="2468563" y="5548263"/>
            <a:ext cx="1470025" cy="271463"/>
          </a:xfrm>
          <a:prstGeom prst="rect">
            <a:avLst/>
          </a:prstGeom>
          <a:solidFill>
            <a:schemeClr val="bg1"/>
          </a:solidFill>
          <a:ln w="12700">
            <a:solidFill>
              <a:srgbClr val="333333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ko-KR" sz="1000" b="1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3-4. </a:t>
            </a:r>
            <a:r>
              <a:rPr lang="ko-KR" altLang="en-US" sz="1000" b="1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구매 단계</a:t>
            </a:r>
          </a:p>
        </p:txBody>
      </p:sp>
      <p:cxnSp>
        <p:nvCxnSpPr>
          <p:cNvPr id="80" name="AutoShape 58"/>
          <p:cNvCxnSpPr>
            <a:cxnSpLocks noChangeShapeType="1"/>
            <a:stCxn id="72" idx="2"/>
            <a:endCxn id="74" idx="0"/>
          </p:cNvCxnSpPr>
          <p:nvPr/>
        </p:nvCxnSpPr>
        <p:spPr bwMode="auto">
          <a:xfrm>
            <a:off x="3203575" y="4675138"/>
            <a:ext cx="0" cy="109538"/>
          </a:xfrm>
          <a:prstGeom prst="straightConnector1">
            <a:avLst/>
          </a:prstGeom>
          <a:noFill/>
          <a:ln w="6350">
            <a:solidFill>
              <a:srgbClr val="B2B2B2"/>
            </a:solidFill>
            <a:round/>
            <a:headEnd/>
            <a:tailEnd type="triangle" w="med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1" name="AutoShape 59"/>
          <p:cNvCxnSpPr>
            <a:cxnSpLocks noChangeShapeType="1"/>
            <a:stCxn id="74" idx="2"/>
            <a:endCxn id="76" idx="0"/>
          </p:cNvCxnSpPr>
          <p:nvPr/>
        </p:nvCxnSpPr>
        <p:spPr bwMode="auto">
          <a:xfrm>
            <a:off x="3203575" y="5057726"/>
            <a:ext cx="0" cy="107950"/>
          </a:xfrm>
          <a:prstGeom prst="straightConnector1">
            <a:avLst/>
          </a:prstGeom>
          <a:noFill/>
          <a:ln w="6350">
            <a:solidFill>
              <a:srgbClr val="B2B2B2"/>
            </a:solidFill>
            <a:round/>
            <a:headEnd/>
            <a:tailEnd type="triangle" w="med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2" name="AutoShape 60"/>
          <p:cNvCxnSpPr>
            <a:cxnSpLocks noChangeShapeType="1"/>
            <a:stCxn id="76" idx="2"/>
            <a:endCxn id="78" idx="0"/>
          </p:cNvCxnSpPr>
          <p:nvPr/>
        </p:nvCxnSpPr>
        <p:spPr bwMode="auto">
          <a:xfrm>
            <a:off x="3203575" y="5438726"/>
            <a:ext cx="0" cy="109537"/>
          </a:xfrm>
          <a:prstGeom prst="straightConnector1">
            <a:avLst/>
          </a:prstGeom>
          <a:noFill/>
          <a:ln w="6350">
            <a:solidFill>
              <a:srgbClr val="B2B2B2"/>
            </a:solidFill>
            <a:round/>
            <a:headEnd/>
            <a:tailEnd type="triangle" w="med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3" name="AutoShape 61"/>
          <p:cNvCxnSpPr>
            <a:cxnSpLocks noChangeShapeType="1"/>
            <a:stCxn id="61" idx="2"/>
            <a:endCxn id="68" idx="0"/>
          </p:cNvCxnSpPr>
          <p:nvPr/>
        </p:nvCxnSpPr>
        <p:spPr bwMode="auto">
          <a:xfrm>
            <a:off x="3203575" y="2878088"/>
            <a:ext cx="0" cy="152400"/>
          </a:xfrm>
          <a:prstGeom prst="straightConnector1">
            <a:avLst/>
          </a:prstGeom>
          <a:noFill/>
          <a:ln w="6350">
            <a:solidFill>
              <a:srgbClr val="B2B2B2"/>
            </a:solidFill>
            <a:round/>
            <a:headEnd/>
            <a:tailEnd type="triangle" w="med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4" name="AutoShape 62"/>
          <p:cNvCxnSpPr>
            <a:cxnSpLocks noChangeShapeType="1"/>
            <a:stCxn id="68" idx="2"/>
            <a:endCxn id="70" idx="0"/>
          </p:cNvCxnSpPr>
          <p:nvPr/>
        </p:nvCxnSpPr>
        <p:spPr bwMode="auto">
          <a:xfrm>
            <a:off x="3203575" y="3411488"/>
            <a:ext cx="0" cy="152400"/>
          </a:xfrm>
          <a:prstGeom prst="straightConnector1">
            <a:avLst/>
          </a:prstGeom>
          <a:noFill/>
          <a:ln w="6350">
            <a:solidFill>
              <a:srgbClr val="B2B2B2"/>
            </a:solidFill>
            <a:round/>
            <a:headEnd/>
            <a:tailEnd type="triangle" w="med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5" name="AutoShape 63"/>
          <p:cNvCxnSpPr>
            <a:cxnSpLocks noChangeShapeType="1"/>
            <a:stCxn id="70" idx="2"/>
            <a:endCxn id="72" idx="0"/>
          </p:cNvCxnSpPr>
          <p:nvPr/>
        </p:nvCxnSpPr>
        <p:spPr bwMode="auto">
          <a:xfrm>
            <a:off x="3203575" y="3944888"/>
            <a:ext cx="0" cy="457200"/>
          </a:xfrm>
          <a:prstGeom prst="straightConnector1">
            <a:avLst/>
          </a:prstGeom>
          <a:noFill/>
          <a:ln w="6350">
            <a:solidFill>
              <a:srgbClr val="B2B2B2"/>
            </a:solidFill>
            <a:round/>
            <a:headEnd/>
            <a:tailEnd type="triangle" w="med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86" name="Text Box 64"/>
          <p:cNvSpPr txBox="1">
            <a:spLocks noChangeArrowheads="1"/>
          </p:cNvSpPr>
          <p:nvPr/>
        </p:nvSpPr>
        <p:spPr bwMode="auto">
          <a:xfrm>
            <a:off x="3200399" y="4027340"/>
            <a:ext cx="2328663" cy="2654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268288" indent="-8890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>
              <a:lnSpc>
                <a:spcPct val="140000"/>
              </a:lnSpc>
            </a:pPr>
            <a:r>
              <a:rPr kumimoji="0" lang="ko-KR" altLang="en-US" sz="900">
                <a:latin typeface="나눔고딕" panose="020D0604000000000000" pitchFamily="50" charset="-127"/>
                <a:ea typeface="나눔고딕" panose="020D0604000000000000" pitchFamily="50" charset="-127"/>
              </a:rPr>
              <a:t>서비스를 </a:t>
            </a:r>
            <a:r>
              <a:rPr kumimoji="0"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통해 미래 및 리스크 대비를 결정</a:t>
            </a:r>
          </a:p>
        </p:txBody>
      </p:sp>
      <p:cxnSp>
        <p:nvCxnSpPr>
          <p:cNvPr id="87" name="AutoShape 65"/>
          <p:cNvCxnSpPr>
            <a:cxnSpLocks noChangeShapeType="1"/>
            <a:stCxn id="78" idx="2"/>
            <a:endCxn id="72" idx="3"/>
          </p:cNvCxnSpPr>
          <p:nvPr/>
        </p:nvCxnSpPr>
        <p:spPr bwMode="auto">
          <a:xfrm rot="5400000" flipH="1" flipV="1">
            <a:off x="2930525" y="4811663"/>
            <a:ext cx="1281113" cy="735013"/>
          </a:xfrm>
          <a:prstGeom prst="bentConnector4">
            <a:avLst>
              <a:gd name="adj1" fmla="val -17843"/>
              <a:gd name="adj2" fmla="val 131102"/>
            </a:avLst>
          </a:prstGeom>
          <a:noFill/>
          <a:ln w="6350">
            <a:solidFill>
              <a:srgbClr val="B2B2B2"/>
            </a:solidFill>
            <a:miter lim="800000"/>
            <a:headEnd/>
            <a:tailEnd type="triangle" w="med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88" name="Freeform 66"/>
          <p:cNvSpPr>
            <a:spLocks/>
          </p:cNvSpPr>
          <p:nvPr/>
        </p:nvSpPr>
        <p:spPr bwMode="auto">
          <a:xfrm>
            <a:off x="4724400" y="2697113"/>
            <a:ext cx="2604859" cy="409575"/>
          </a:xfrm>
          <a:custGeom>
            <a:avLst/>
            <a:gdLst>
              <a:gd name="T0" fmla="*/ 720 w 720"/>
              <a:gd name="T1" fmla="*/ 1296 h 1296"/>
              <a:gd name="T2" fmla="*/ 720 w 720"/>
              <a:gd name="T3" fmla="*/ 0 h 1296"/>
              <a:gd name="T4" fmla="*/ 0 w 720"/>
              <a:gd name="T5" fmla="*/ 0 h 12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720" h="1296">
                <a:moveTo>
                  <a:pt x="720" y="1296"/>
                </a:moveTo>
                <a:lnTo>
                  <a:pt x="720" y="0"/>
                </a:lnTo>
                <a:lnTo>
                  <a:pt x="0" y="0"/>
                </a:lnTo>
              </a:path>
            </a:pathLst>
          </a:custGeom>
          <a:noFill/>
          <a:ln w="6350" cap="flat" cmpd="sng">
            <a:solidFill>
              <a:srgbClr val="00B050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9" name="Text Box 67"/>
          <p:cNvSpPr txBox="1">
            <a:spLocks noChangeArrowheads="1"/>
          </p:cNvSpPr>
          <p:nvPr/>
        </p:nvSpPr>
        <p:spPr bwMode="auto">
          <a:xfrm>
            <a:off x="1699518" y="6154688"/>
            <a:ext cx="2965450" cy="2185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AEAEA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rIns="0">
            <a:spAutoFit/>
          </a:bodyPr>
          <a:lstStyle/>
          <a:p>
            <a:pPr algn="ctr">
              <a:lnSpc>
                <a:spcPct val="110000"/>
              </a:lnSpc>
              <a:spcBef>
                <a:spcPct val="20000"/>
              </a:spcBef>
            </a:pPr>
            <a:r>
              <a:rPr lang="en-US" altLang="ko-KR" sz="800" dirty="0">
                <a:solidFill>
                  <a:schemeClr val="accent2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&lt;</a:t>
            </a:r>
            <a:r>
              <a:rPr lang="ko-KR" altLang="en-US" sz="800" dirty="0">
                <a:solidFill>
                  <a:schemeClr val="accent2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예 </a:t>
            </a:r>
            <a:r>
              <a:rPr lang="en-US" altLang="ko-KR" sz="800">
                <a:solidFill>
                  <a:schemeClr val="accent2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800">
                <a:solidFill>
                  <a:schemeClr val="accent2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서비스가입을 </a:t>
            </a:r>
            <a:r>
              <a:rPr lang="ko-KR" altLang="en-US" sz="800" dirty="0">
                <a:solidFill>
                  <a:schemeClr val="accent2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통해 미래 및 리스크 대비를 하고자 하는 고객</a:t>
            </a:r>
            <a:r>
              <a:rPr lang="en-US" altLang="ko-KR" sz="800" dirty="0">
                <a:solidFill>
                  <a:schemeClr val="accent2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&gt;</a:t>
            </a:r>
            <a:endParaRPr lang="en-US" altLang="ko-KR" sz="800" dirty="0">
              <a:solidFill>
                <a:srgbClr val="FF99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0" name="AutoShape 68"/>
          <p:cNvSpPr>
            <a:spLocks/>
          </p:cNvSpPr>
          <p:nvPr/>
        </p:nvSpPr>
        <p:spPr bwMode="auto">
          <a:xfrm>
            <a:off x="1981200" y="2573288"/>
            <a:ext cx="76200" cy="1295400"/>
          </a:xfrm>
          <a:prstGeom prst="leftBrace">
            <a:avLst>
              <a:gd name="adj1" fmla="val 141667"/>
              <a:gd name="adj2" fmla="val 50000"/>
            </a:avLst>
          </a:prstGeom>
          <a:noFill/>
          <a:ln w="6350">
            <a:solidFill>
              <a:schemeClr val="tx1"/>
            </a:solidFill>
            <a:round/>
            <a:headEnd/>
            <a:tailEnd type="none" w="med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1" name="AutoShape 69"/>
          <p:cNvSpPr>
            <a:spLocks/>
          </p:cNvSpPr>
          <p:nvPr/>
        </p:nvSpPr>
        <p:spPr bwMode="auto">
          <a:xfrm>
            <a:off x="1981200" y="4402088"/>
            <a:ext cx="76200" cy="1371600"/>
          </a:xfrm>
          <a:prstGeom prst="leftBrace">
            <a:avLst>
              <a:gd name="adj1" fmla="val 150000"/>
              <a:gd name="adj2" fmla="val 50000"/>
            </a:avLst>
          </a:prstGeom>
          <a:noFill/>
          <a:ln w="6350">
            <a:solidFill>
              <a:schemeClr val="tx1"/>
            </a:solidFill>
            <a:round/>
            <a:headEnd/>
            <a:tailEnd type="none" w="med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2" name="Text Box 70"/>
          <p:cNvSpPr txBox="1">
            <a:spLocks noChangeArrowheads="1"/>
          </p:cNvSpPr>
          <p:nvPr/>
        </p:nvSpPr>
        <p:spPr bwMode="auto">
          <a:xfrm>
            <a:off x="144016" y="3049538"/>
            <a:ext cx="1889323" cy="3039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268288" indent="-8890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r">
              <a:lnSpc>
                <a:spcPct val="140000"/>
              </a:lnSpc>
            </a:pPr>
            <a:r>
              <a:rPr kumimoji="0" lang="ko-KR" altLang="en-US" sz="1100" b="1">
                <a:latin typeface="나눔고딕" panose="020D0604000000000000" pitchFamily="50" charset="-127"/>
                <a:ea typeface="나눔고딕" panose="020D0604000000000000" pitchFamily="50" charset="-127"/>
              </a:rPr>
              <a:t>서비스 </a:t>
            </a:r>
            <a:r>
              <a:rPr kumimoji="0" lang="ko-KR" altLang="en-US" sz="11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가입에 대한 욕구</a:t>
            </a:r>
          </a:p>
        </p:txBody>
      </p:sp>
      <p:sp>
        <p:nvSpPr>
          <p:cNvPr id="93" name="Text Box 71"/>
          <p:cNvSpPr txBox="1">
            <a:spLocks noChangeArrowheads="1"/>
          </p:cNvSpPr>
          <p:nvPr/>
        </p:nvSpPr>
        <p:spPr bwMode="auto">
          <a:xfrm>
            <a:off x="-87560" y="4935488"/>
            <a:ext cx="2120900" cy="2654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268288" indent="-8890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r">
              <a:lnSpc>
                <a:spcPct val="140000"/>
              </a:lnSpc>
            </a:pPr>
            <a:r>
              <a:rPr kumimoji="0" lang="ko-KR" altLang="en-US" sz="900" b="1">
                <a:latin typeface="나눔고딕" panose="020D0604000000000000" pitchFamily="50" charset="-127"/>
                <a:ea typeface="나눔고딕" panose="020D0604000000000000" pitchFamily="50" charset="-127"/>
              </a:rPr>
              <a:t>서비스에 </a:t>
            </a:r>
            <a:r>
              <a:rPr kumimoji="0" lang="ko-KR" altLang="en-US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대한 정보탐색에 대한 욕구</a:t>
            </a:r>
          </a:p>
        </p:txBody>
      </p:sp>
    </p:spTree>
    <p:extLst>
      <p:ext uri="{BB962C8B-B14F-4D97-AF65-F5344CB8AC3E}">
        <p14:creationId xmlns:p14="http://schemas.microsoft.com/office/powerpoint/2010/main" val="122233424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44017" y="91339"/>
            <a:ext cx="7401271" cy="385333"/>
          </a:xfrm>
          <a:prstGeom prst="rect">
            <a:avLst/>
          </a:prstGeom>
          <a:noFill/>
        </p:spPr>
        <p:txBody>
          <a:bodyPr wrap="square" lIns="0" tIns="53643" rIns="0" bIns="53643" rtlCol="0">
            <a:spAutoFit/>
          </a:bodyPr>
          <a:lstStyle/>
          <a:p>
            <a:r>
              <a:rPr kumimoji="1" lang="en-US" altLang="ko-KR" b="1" kern="0" dirty="0">
                <a:latin typeface="나눔고딕" panose="020D0604000000000000" pitchFamily="50" charset="-127"/>
                <a:ea typeface="나눔고딕" panose="020D0604000000000000" pitchFamily="50" charset="-127"/>
                <a:cs typeface="산돌고딕 M"/>
              </a:rPr>
              <a:t>Information architecture</a:t>
            </a:r>
            <a:endParaRPr kumimoji="1" lang="ko-KR" altLang="en-US" b="1" kern="0" dirty="0">
              <a:latin typeface="나눔고딕" panose="020D0604000000000000" pitchFamily="50" charset="-127"/>
              <a:ea typeface="나눔고딕" panose="020D0604000000000000" pitchFamily="50" charset="-127"/>
              <a:cs typeface="산돌고딕 M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44017" y="683985"/>
            <a:ext cx="96335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Service Grouping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8504" y="991762"/>
            <a:ext cx="8928992" cy="523220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ko-KR" altLang="en-US" sz="1400">
                <a:latin typeface="나눔고딕" panose="020D0604000000000000" pitchFamily="50" charset="-127"/>
                <a:ea typeface="나눔고딕" panose="020D0604000000000000" pitchFamily="50" charset="-127"/>
              </a:rPr>
              <a:t>서비스가입 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상품정보 및 간편설계 등의 테마를 지닌 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Gateway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를 통해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고객의 가장 기본적인 욕구에 반응하도록 합니다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또한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en-US" altLang="ko-KR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Policy gateway</a:t>
            </a:r>
            <a:r>
              <a:rPr lang="ko-KR" altLang="en-US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에서 정보를 통합해서 보여줌으로써</a:t>
            </a:r>
            <a:r>
              <a:rPr lang="en-US" altLang="ko-KR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Cross selling</a:t>
            </a:r>
            <a:r>
              <a:rPr lang="ko-KR" altLang="en-US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의 효과를 기대 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할 수 있다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488504" y="1700808"/>
            <a:ext cx="3024336" cy="36004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4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Navigation strategy - </a:t>
            </a:r>
            <a:r>
              <a:rPr lang="ko-KR" altLang="en-US" sz="14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실천방안</a:t>
            </a:r>
          </a:p>
        </p:txBody>
      </p:sp>
      <p:grpSp>
        <p:nvGrpSpPr>
          <p:cNvPr id="34" name="Group 2"/>
          <p:cNvGrpSpPr>
            <a:grpSpLocks/>
          </p:cNvGrpSpPr>
          <p:nvPr/>
        </p:nvGrpSpPr>
        <p:grpSpPr bwMode="auto">
          <a:xfrm>
            <a:off x="3503043" y="2672160"/>
            <a:ext cx="2409267" cy="2333625"/>
            <a:chOff x="2160" y="1728"/>
            <a:chExt cx="1758" cy="1702"/>
          </a:xfrm>
        </p:grpSpPr>
        <p:sp>
          <p:nvSpPr>
            <p:cNvPr id="35" name="AutoShape 3"/>
            <p:cNvSpPr>
              <a:spLocks noChangeArrowheads="1"/>
            </p:cNvSpPr>
            <p:nvPr/>
          </p:nvSpPr>
          <p:spPr bwMode="auto">
            <a:xfrm>
              <a:off x="2160" y="1728"/>
              <a:ext cx="1702" cy="1702"/>
            </a:xfrm>
            <a:prstGeom prst="roundRect">
              <a:avLst>
                <a:gd name="adj" fmla="val 3648"/>
              </a:avLst>
            </a:prstGeom>
            <a:solidFill>
              <a:srgbClr val="DDDDDD">
                <a:alpha val="50000"/>
              </a:srgbClr>
            </a:solidFill>
            <a:ln w="28575">
              <a:solidFill>
                <a:srgbClr val="B2B2B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noAutofit/>
            </a:bodyPr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grpSp>
          <p:nvGrpSpPr>
            <p:cNvPr id="36" name="Group 4"/>
            <p:cNvGrpSpPr>
              <a:grpSpLocks/>
            </p:cNvGrpSpPr>
            <p:nvPr/>
          </p:nvGrpSpPr>
          <p:grpSpPr bwMode="auto">
            <a:xfrm>
              <a:off x="2639" y="2688"/>
              <a:ext cx="392" cy="480"/>
              <a:chOff x="481" y="720"/>
              <a:chExt cx="433" cy="528"/>
            </a:xfrm>
          </p:grpSpPr>
          <p:sp>
            <p:nvSpPr>
              <p:cNvPr id="110" name="Rectangle 5"/>
              <p:cNvSpPr>
                <a:spLocks noChangeArrowheads="1"/>
              </p:cNvSpPr>
              <p:nvPr/>
            </p:nvSpPr>
            <p:spPr bwMode="auto">
              <a:xfrm>
                <a:off x="481" y="720"/>
                <a:ext cx="433" cy="528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rgbClr val="B2B2B2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>
                <a:noAutofit/>
              </a:bodyPr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111" name="Rectangle 6"/>
              <p:cNvSpPr>
                <a:spLocks noChangeArrowheads="1"/>
              </p:cNvSpPr>
              <p:nvPr/>
            </p:nvSpPr>
            <p:spPr bwMode="auto">
              <a:xfrm>
                <a:off x="528" y="768"/>
                <a:ext cx="336" cy="96"/>
              </a:xfrm>
              <a:prstGeom prst="rect">
                <a:avLst/>
              </a:prstGeom>
              <a:solidFill>
                <a:schemeClr val="accent2"/>
              </a:solidFill>
              <a:ln w="6350">
                <a:solidFill>
                  <a:srgbClr val="B2B2B2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>
                <a:noAutofit/>
              </a:bodyPr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112" name="Rectangle 7"/>
              <p:cNvSpPr>
                <a:spLocks noChangeArrowheads="1"/>
              </p:cNvSpPr>
              <p:nvPr/>
            </p:nvSpPr>
            <p:spPr bwMode="auto">
              <a:xfrm>
                <a:off x="528" y="864"/>
                <a:ext cx="48" cy="168"/>
              </a:xfrm>
              <a:prstGeom prst="rect">
                <a:avLst/>
              </a:prstGeom>
              <a:solidFill>
                <a:schemeClr val="accent1"/>
              </a:solidFill>
              <a:ln w="6350">
                <a:solidFill>
                  <a:srgbClr val="B2B2B2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 anchor="ctr">
                <a:noAutofit/>
              </a:bodyPr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113" name="Rectangle 8"/>
              <p:cNvSpPr>
                <a:spLocks noChangeArrowheads="1"/>
              </p:cNvSpPr>
              <p:nvPr/>
            </p:nvSpPr>
            <p:spPr bwMode="auto">
              <a:xfrm>
                <a:off x="576" y="864"/>
                <a:ext cx="192" cy="336"/>
              </a:xfrm>
              <a:prstGeom prst="rect">
                <a:avLst/>
              </a:prstGeom>
              <a:solidFill>
                <a:srgbClr val="FFFFCC"/>
              </a:solidFill>
              <a:ln w="6350">
                <a:solidFill>
                  <a:srgbClr val="B2B2B2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 anchor="ctr">
                <a:noAutofit/>
              </a:bodyPr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114" name="Rectangle 9"/>
              <p:cNvSpPr>
                <a:spLocks noChangeArrowheads="1"/>
              </p:cNvSpPr>
              <p:nvPr/>
            </p:nvSpPr>
            <p:spPr bwMode="auto">
              <a:xfrm>
                <a:off x="528" y="1008"/>
                <a:ext cx="48" cy="192"/>
              </a:xfrm>
              <a:prstGeom prst="rect">
                <a:avLst/>
              </a:prstGeom>
              <a:solidFill>
                <a:srgbClr val="CCECFF"/>
              </a:solidFill>
              <a:ln w="6350">
                <a:solidFill>
                  <a:srgbClr val="B2B2B2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 anchor="ctr">
                <a:noAutofit/>
              </a:bodyPr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115" name="Rectangle 10"/>
              <p:cNvSpPr>
                <a:spLocks noChangeArrowheads="1"/>
              </p:cNvSpPr>
              <p:nvPr/>
            </p:nvSpPr>
            <p:spPr bwMode="auto">
              <a:xfrm>
                <a:off x="768" y="864"/>
                <a:ext cx="96" cy="336"/>
              </a:xfrm>
              <a:prstGeom prst="rect">
                <a:avLst/>
              </a:prstGeom>
              <a:noFill/>
              <a:ln w="6350">
                <a:solidFill>
                  <a:srgbClr val="B2B2B2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969696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 anchor="ctr">
                <a:noAutofit/>
              </a:bodyPr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p:grpSp>
        <p:grpSp>
          <p:nvGrpSpPr>
            <p:cNvPr id="37" name="Group 11"/>
            <p:cNvGrpSpPr>
              <a:grpSpLocks/>
            </p:cNvGrpSpPr>
            <p:nvPr/>
          </p:nvGrpSpPr>
          <p:grpSpPr bwMode="auto">
            <a:xfrm>
              <a:off x="3311" y="2640"/>
              <a:ext cx="392" cy="480"/>
              <a:chOff x="481" y="720"/>
              <a:chExt cx="433" cy="528"/>
            </a:xfrm>
          </p:grpSpPr>
          <p:sp>
            <p:nvSpPr>
              <p:cNvPr id="104" name="Rectangle 12"/>
              <p:cNvSpPr>
                <a:spLocks noChangeArrowheads="1"/>
              </p:cNvSpPr>
              <p:nvPr/>
            </p:nvSpPr>
            <p:spPr bwMode="auto">
              <a:xfrm>
                <a:off x="481" y="720"/>
                <a:ext cx="433" cy="528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rgbClr val="B2B2B2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>
                <a:noAutofit/>
              </a:bodyPr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105" name="Rectangle 13"/>
              <p:cNvSpPr>
                <a:spLocks noChangeArrowheads="1"/>
              </p:cNvSpPr>
              <p:nvPr/>
            </p:nvSpPr>
            <p:spPr bwMode="auto">
              <a:xfrm>
                <a:off x="528" y="768"/>
                <a:ext cx="336" cy="96"/>
              </a:xfrm>
              <a:prstGeom prst="rect">
                <a:avLst/>
              </a:prstGeom>
              <a:solidFill>
                <a:schemeClr val="accent2"/>
              </a:solidFill>
              <a:ln w="6350">
                <a:solidFill>
                  <a:srgbClr val="B2B2B2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>
                <a:noAutofit/>
              </a:bodyPr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106" name="Rectangle 14"/>
              <p:cNvSpPr>
                <a:spLocks noChangeArrowheads="1"/>
              </p:cNvSpPr>
              <p:nvPr/>
            </p:nvSpPr>
            <p:spPr bwMode="auto">
              <a:xfrm>
                <a:off x="528" y="864"/>
                <a:ext cx="48" cy="168"/>
              </a:xfrm>
              <a:prstGeom prst="rect">
                <a:avLst/>
              </a:prstGeom>
              <a:solidFill>
                <a:schemeClr val="accent1"/>
              </a:solidFill>
              <a:ln w="6350">
                <a:solidFill>
                  <a:srgbClr val="B2B2B2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 anchor="ctr">
                <a:noAutofit/>
              </a:bodyPr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107" name="Rectangle 15"/>
              <p:cNvSpPr>
                <a:spLocks noChangeArrowheads="1"/>
              </p:cNvSpPr>
              <p:nvPr/>
            </p:nvSpPr>
            <p:spPr bwMode="auto">
              <a:xfrm>
                <a:off x="576" y="864"/>
                <a:ext cx="192" cy="336"/>
              </a:xfrm>
              <a:prstGeom prst="rect">
                <a:avLst/>
              </a:prstGeom>
              <a:solidFill>
                <a:srgbClr val="FFFFCC"/>
              </a:solidFill>
              <a:ln w="6350">
                <a:solidFill>
                  <a:srgbClr val="B2B2B2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 anchor="ctr">
                <a:noAutofit/>
              </a:bodyPr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108" name="Rectangle 16"/>
              <p:cNvSpPr>
                <a:spLocks noChangeArrowheads="1"/>
              </p:cNvSpPr>
              <p:nvPr/>
            </p:nvSpPr>
            <p:spPr bwMode="auto">
              <a:xfrm>
                <a:off x="528" y="1008"/>
                <a:ext cx="48" cy="192"/>
              </a:xfrm>
              <a:prstGeom prst="rect">
                <a:avLst/>
              </a:prstGeom>
              <a:solidFill>
                <a:srgbClr val="CCECFF"/>
              </a:solidFill>
              <a:ln w="6350">
                <a:solidFill>
                  <a:srgbClr val="B2B2B2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 anchor="ctr">
                <a:noAutofit/>
              </a:bodyPr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109" name="Rectangle 17"/>
              <p:cNvSpPr>
                <a:spLocks noChangeArrowheads="1"/>
              </p:cNvSpPr>
              <p:nvPr/>
            </p:nvSpPr>
            <p:spPr bwMode="auto">
              <a:xfrm>
                <a:off x="768" y="864"/>
                <a:ext cx="96" cy="336"/>
              </a:xfrm>
              <a:prstGeom prst="rect">
                <a:avLst/>
              </a:prstGeom>
              <a:noFill/>
              <a:ln w="6350">
                <a:solidFill>
                  <a:srgbClr val="B2B2B2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969696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 anchor="ctr">
                <a:noAutofit/>
              </a:bodyPr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p:grpSp>
        <p:sp>
          <p:nvSpPr>
            <p:cNvPr id="38" name="Arc 18"/>
            <p:cNvSpPr>
              <a:spLocks/>
            </p:cNvSpPr>
            <p:nvPr/>
          </p:nvSpPr>
          <p:spPr bwMode="auto">
            <a:xfrm>
              <a:off x="3041" y="2623"/>
              <a:ext cx="436" cy="218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12700">
              <a:solidFill>
                <a:schemeClr val="accent2"/>
              </a:solidFill>
              <a:prstDash val="dash"/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noAutofit/>
            </a:bodyPr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39" name="Arc 19"/>
            <p:cNvSpPr>
              <a:spLocks/>
            </p:cNvSpPr>
            <p:nvPr/>
          </p:nvSpPr>
          <p:spPr bwMode="auto">
            <a:xfrm rot="7624154">
              <a:off x="2928" y="2784"/>
              <a:ext cx="437" cy="349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12700">
              <a:solidFill>
                <a:schemeClr val="accent2"/>
              </a:solidFill>
              <a:prstDash val="dash"/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noAutofit/>
            </a:bodyPr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0" name="Arc 20"/>
            <p:cNvSpPr>
              <a:spLocks/>
            </p:cNvSpPr>
            <p:nvPr/>
          </p:nvSpPr>
          <p:spPr bwMode="auto">
            <a:xfrm rot="20302720">
              <a:off x="2976" y="2880"/>
              <a:ext cx="371" cy="83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12700">
              <a:solidFill>
                <a:schemeClr val="accent2"/>
              </a:solidFill>
              <a:prstDash val="dash"/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noAutofit/>
            </a:bodyPr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grpSp>
          <p:nvGrpSpPr>
            <p:cNvPr id="41" name="Group 21"/>
            <p:cNvGrpSpPr>
              <a:grpSpLocks/>
            </p:cNvGrpSpPr>
            <p:nvPr/>
          </p:nvGrpSpPr>
          <p:grpSpPr bwMode="auto">
            <a:xfrm>
              <a:off x="2255" y="2112"/>
              <a:ext cx="392" cy="480"/>
              <a:chOff x="481" y="720"/>
              <a:chExt cx="433" cy="528"/>
            </a:xfrm>
          </p:grpSpPr>
          <p:sp>
            <p:nvSpPr>
              <p:cNvPr id="98" name="Rectangle 22"/>
              <p:cNvSpPr>
                <a:spLocks noChangeArrowheads="1"/>
              </p:cNvSpPr>
              <p:nvPr/>
            </p:nvSpPr>
            <p:spPr bwMode="auto">
              <a:xfrm>
                <a:off x="481" y="720"/>
                <a:ext cx="433" cy="528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rgbClr val="B2B2B2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>
                <a:noAutofit/>
              </a:bodyPr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99" name="Rectangle 23"/>
              <p:cNvSpPr>
                <a:spLocks noChangeArrowheads="1"/>
              </p:cNvSpPr>
              <p:nvPr/>
            </p:nvSpPr>
            <p:spPr bwMode="auto">
              <a:xfrm>
                <a:off x="528" y="768"/>
                <a:ext cx="336" cy="96"/>
              </a:xfrm>
              <a:prstGeom prst="rect">
                <a:avLst/>
              </a:prstGeom>
              <a:solidFill>
                <a:schemeClr val="accent2"/>
              </a:solidFill>
              <a:ln w="6350">
                <a:solidFill>
                  <a:srgbClr val="B2B2B2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>
                <a:noAutofit/>
              </a:bodyPr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100" name="Rectangle 24"/>
              <p:cNvSpPr>
                <a:spLocks noChangeArrowheads="1"/>
              </p:cNvSpPr>
              <p:nvPr/>
            </p:nvSpPr>
            <p:spPr bwMode="auto">
              <a:xfrm>
                <a:off x="528" y="864"/>
                <a:ext cx="48" cy="168"/>
              </a:xfrm>
              <a:prstGeom prst="rect">
                <a:avLst/>
              </a:prstGeom>
              <a:solidFill>
                <a:schemeClr val="accent1"/>
              </a:solidFill>
              <a:ln w="6350">
                <a:solidFill>
                  <a:srgbClr val="B2B2B2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 anchor="ctr">
                <a:noAutofit/>
              </a:bodyPr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101" name="Rectangle 25"/>
              <p:cNvSpPr>
                <a:spLocks noChangeArrowheads="1"/>
              </p:cNvSpPr>
              <p:nvPr/>
            </p:nvSpPr>
            <p:spPr bwMode="auto">
              <a:xfrm>
                <a:off x="576" y="864"/>
                <a:ext cx="192" cy="336"/>
              </a:xfrm>
              <a:prstGeom prst="rect">
                <a:avLst/>
              </a:prstGeom>
              <a:solidFill>
                <a:srgbClr val="FFFFCC"/>
              </a:solidFill>
              <a:ln w="6350">
                <a:solidFill>
                  <a:srgbClr val="B2B2B2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 anchor="ctr">
                <a:noAutofit/>
              </a:bodyPr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102" name="Rectangle 26"/>
              <p:cNvSpPr>
                <a:spLocks noChangeArrowheads="1"/>
              </p:cNvSpPr>
              <p:nvPr/>
            </p:nvSpPr>
            <p:spPr bwMode="auto">
              <a:xfrm>
                <a:off x="528" y="1008"/>
                <a:ext cx="48" cy="192"/>
              </a:xfrm>
              <a:prstGeom prst="rect">
                <a:avLst/>
              </a:prstGeom>
              <a:solidFill>
                <a:srgbClr val="CCECFF"/>
              </a:solidFill>
              <a:ln w="6350">
                <a:solidFill>
                  <a:srgbClr val="B2B2B2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 anchor="ctr">
                <a:noAutofit/>
              </a:bodyPr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103" name="Rectangle 27"/>
              <p:cNvSpPr>
                <a:spLocks noChangeArrowheads="1"/>
              </p:cNvSpPr>
              <p:nvPr/>
            </p:nvSpPr>
            <p:spPr bwMode="auto">
              <a:xfrm>
                <a:off x="768" y="864"/>
                <a:ext cx="96" cy="336"/>
              </a:xfrm>
              <a:prstGeom prst="rect">
                <a:avLst/>
              </a:prstGeom>
              <a:noFill/>
              <a:ln w="6350">
                <a:solidFill>
                  <a:srgbClr val="B2B2B2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969696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 anchor="ctr">
                <a:noAutofit/>
              </a:bodyPr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p:grpSp>
        <p:grpSp>
          <p:nvGrpSpPr>
            <p:cNvPr id="42" name="Group 28"/>
            <p:cNvGrpSpPr>
              <a:grpSpLocks/>
            </p:cNvGrpSpPr>
            <p:nvPr/>
          </p:nvGrpSpPr>
          <p:grpSpPr bwMode="auto">
            <a:xfrm>
              <a:off x="2735" y="2012"/>
              <a:ext cx="392" cy="480"/>
              <a:chOff x="481" y="720"/>
              <a:chExt cx="433" cy="528"/>
            </a:xfrm>
          </p:grpSpPr>
          <p:sp>
            <p:nvSpPr>
              <p:cNvPr id="77" name="Rectangle 29"/>
              <p:cNvSpPr>
                <a:spLocks noChangeArrowheads="1"/>
              </p:cNvSpPr>
              <p:nvPr/>
            </p:nvSpPr>
            <p:spPr bwMode="auto">
              <a:xfrm>
                <a:off x="481" y="720"/>
                <a:ext cx="433" cy="528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rgbClr val="B2B2B2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>
                <a:noAutofit/>
              </a:bodyPr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79" name="Rectangle 30"/>
              <p:cNvSpPr>
                <a:spLocks noChangeArrowheads="1"/>
              </p:cNvSpPr>
              <p:nvPr/>
            </p:nvSpPr>
            <p:spPr bwMode="auto">
              <a:xfrm>
                <a:off x="528" y="768"/>
                <a:ext cx="336" cy="96"/>
              </a:xfrm>
              <a:prstGeom prst="rect">
                <a:avLst/>
              </a:prstGeom>
              <a:solidFill>
                <a:schemeClr val="accent2"/>
              </a:solidFill>
              <a:ln w="6350">
                <a:solidFill>
                  <a:srgbClr val="B2B2B2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>
                <a:noAutofit/>
              </a:bodyPr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94" name="Rectangle 31"/>
              <p:cNvSpPr>
                <a:spLocks noChangeArrowheads="1"/>
              </p:cNvSpPr>
              <p:nvPr/>
            </p:nvSpPr>
            <p:spPr bwMode="auto">
              <a:xfrm>
                <a:off x="528" y="864"/>
                <a:ext cx="48" cy="168"/>
              </a:xfrm>
              <a:prstGeom prst="rect">
                <a:avLst/>
              </a:prstGeom>
              <a:solidFill>
                <a:schemeClr val="accent1"/>
              </a:solidFill>
              <a:ln w="6350">
                <a:solidFill>
                  <a:srgbClr val="B2B2B2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 anchor="ctr">
                <a:noAutofit/>
              </a:bodyPr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95" name="Rectangle 32"/>
              <p:cNvSpPr>
                <a:spLocks noChangeArrowheads="1"/>
              </p:cNvSpPr>
              <p:nvPr/>
            </p:nvSpPr>
            <p:spPr bwMode="auto">
              <a:xfrm>
                <a:off x="576" y="864"/>
                <a:ext cx="192" cy="336"/>
              </a:xfrm>
              <a:prstGeom prst="rect">
                <a:avLst/>
              </a:prstGeom>
              <a:solidFill>
                <a:srgbClr val="FFFFCC"/>
              </a:solidFill>
              <a:ln w="6350">
                <a:solidFill>
                  <a:srgbClr val="B2B2B2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 anchor="ctr">
                <a:noAutofit/>
              </a:bodyPr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96" name="Rectangle 33"/>
              <p:cNvSpPr>
                <a:spLocks noChangeArrowheads="1"/>
              </p:cNvSpPr>
              <p:nvPr/>
            </p:nvSpPr>
            <p:spPr bwMode="auto">
              <a:xfrm>
                <a:off x="528" y="1008"/>
                <a:ext cx="48" cy="192"/>
              </a:xfrm>
              <a:prstGeom prst="rect">
                <a:avLst/>
              </a:prstGeom>
              <a:solidFill>
                <a:srgbClr val="CCECFF"/>
              </a:solidFill>
              <a:ln w="6350">
                <a:solidFill>
                  <a:srgbClr val="B2B2B2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 anchor="ctr">
                <a:noAutofit/>
              </a:bodyPr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97" name="Rectangle 34"/>
              <p:cNvSpPr>
                <a:spLocks noChangeArrowheads="1"/>
              </p:cNvSpPr>
              <p:nvPr/>
            </p:nvSpPr>
            <p:spPr bwMode="auto">
              <a:xfrm>
                <a:off x="768" y="864"/>
                <a:ext cx="96" cy="336"/>
              </a:xfrm>
              <a:prstGeom prst="rect">
                <a:avLst/>
              </a:prstGeom>
              <a:noFill/>
              <a:ln w="6350">
                <a:solidFill>
                  <a:srgbClr val="B2B2B2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969696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 anchor="ctr">
                <a:noAutofit/>
              </a:bodyPr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p:grpSp>
        <p:grpSp>
          <p:nvGrpSpPr>
            <p:cNvPr id="43" name="Group 35"/>
            <p:cNvGrpSpPr>
              <a:grpSpLocks/>
            </p:cNvGrpSpPr>
            <p:nvPr/>
          </p:nvGrpSpPr>
          <p:grpSpPr bwMode="auto">
            <a:xfrm>
              <a:off x="3215" y="2055"/>
              <a:ext cx="392" cy="480"/>
              <a:chOff x="481" y="720"/>
              <a:chExt cx="433" cy="528"/>
            </a:xfrm>
          </p:grpSpPr>
          <p:sp>
            <p:nvSpPr>
              <p:cNvPr id="60" name="Rectangle 36"/>
              <p:cNvSpPr>
                <a:spLocks noChangeArrowheads="1"/>
              </p:cNvSpPr>
              <p:nvPr/>
            </p:nvSpPr>
            <p:spPr bwMode="auto">
              <a:xfrm>
                <a:off x="481" y="720"/>
                <a:ext cx="433" cy="528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rgbClr val="B2B2B2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>
                <a:noAutofit/>
              </a:bodyPr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62" name="Rectangle 37"/>
              <p:cNvSpPr>
                <a:spLocks noChangeArrowheads="1"/>
              </p:cNvSpPr>
              <p:nvPr/>
            </p:nvSpPr>
            <p:spPr bwMode="auto">
              <a:xfrm>
                <a:off x="528" y="768"/>
                <a:ext cx="336" cy="96"/>
              </a:xfrm>
              <a:prstGeom prst="rect">
                <a:avLst/>
              </a:prstGeom>
              <a:solidFill>
                <a:schemeClr val="accent2"/>
              </a:solidFill>
              <a:ln w="6350">
                <a:solidFill>
                  <a:srgbClr val="B2B2B2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>
                <a:noAutofit/>
              </a:bodyPr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69" name="Rectangle 38"/>
              <p:cNvSpPr>
                <a:spLocks noChangeArrowheads="1"/>
              </p:cNvSpPr>
              <p:nvPr/>
            </p:nvSpPr>
            <p:spPr bwMode="auto">
              <a:xfrm>
                <a:off x="528" y="864"/>
                <a:ext cx="48" cy="168"/>
              </a:xfrm>
              <a:prstGeom prst="rect">
                <a:avLst/>
              </a:prstGeom>
              <a:solidFill>
                <a:schemeClr val="accent1"/>
              </a:solidFill>
              <a:ln w="6350">
                <a:solidFill>
                  <a:srgbClr val="B2B2B2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 anchor="ctr">
                <a:noAutofit/>
              </a:bodyPr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71" name="Rectangle 39"/>
              <p:cNvSpPr>
                <a:spLocks noChangeArrowheads="1"/>
              </p:cNvSpPr>
              <p:nvPr/>
            </p:nvSpPr>
            <p:spPr bwMode="auto">
              <a:xfrm>
                <a:off x="576" y="864"/>
                <a:ext cx="192" cy="336"/>
              </a:xfrm>
              <a:prstGeom prst="rect">
                <a:avLst/>
              </a:prstGeom>
              <a:solidFill>
                <a:srgbClr val="FFFFCC"/>
              </a:solidFill>
              <a:ln w="6350">
                <a:solidFill>
                  <a:srgbClr val="B2B2B2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 anchor="ctr">
                <a:noAutofit/>
              </a:bodyPr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73" name="Rectangle 40"/>
              <p:cNvSpPr>
                <a:spLocks noChangeArrowheads="1"/>
              </p:cNvSpPr>
              <p:nvPr/>
            </p:nvSpPr>
            <p:spPr bwMode="auto">
              <a:xfrm>
                <a:off x="528" y="1008"/>
                <a:ext cx="48" cy="192"/>
              </a:xfrm>
              <a:prstGeom prst="rect">
                <a:avLst/>
              </a:prstGeom>
              <a:solidFill>
                <a:srgbClr val="CCECFF"/>
              </a:solidFill>
              <a:ln w="6350">
                <a:solidFill>
                  <a:srgbClr val="B2B2B2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 anchor="ctr">
                <a:noAutofit/>
              </a:bodyPr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75" name="Rectangle 41"/>
              <p:cNvSpPr>
                <a:spLocks noChangeArrowheads="1"/>
              </p:cNvSpPr>
              <p:nvPr/>
            </p:nvSpPr>
            <p:spPr bwMode="auto">
              <a:xfrm>
                <a:off x="768" y="864"/>
                <a:ext cx="96" cy="336"/>
              </a:xfrm>
              <a:prstGeom prst="rect">
                <a:avLst/>
              </a:prstGeom>
              <a:noFill/>
              <a:ln w="6350">
                <a:solidFill>
                  <a:srgbClr val="B2B2B2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969696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 anchor="ctr">
                <a:noAutofit/>
              </a:bodyPr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p:grpSp>
        <p:sp>
          <p:nvSpPr>
            <p:cNvPr id="44" name="Text Box 42"/>
            <p:cNvSpPr txBox="1">
              <a:spLocks noChangeArrowheads="1"/>
            </p:cNvSpPr>
            <p:nvPr/>
          </p:nvSpPr>
          <p:spPr bwMode="auto">
            <a:xfrm>
              <a:off x="2240" y="2576"/>
              <a:ext cx="549" cy="1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noAutofit/>
            </a:bodyPr>
            <a:lstStyle/>
            <a:p>
              <a:r>
                <a:rPr lang="en-US" altLang="ko-KR" sz="900">
                  <a:latin typeface="나눔고딕" panose="020D0604000000000000" pitchFamily="50" charset="-127"/>
                  <a:ea typeface="나눔고딕" panose="020D0604000000000000" pitchFamily="50" charset="-127"/>
                </a:rPr>
                <a:t>Information</a:t>
              </a:r>
            </a:p>
          </p:txBody>
        </p:sp>
        <p:sp>
          <p:nvSpPr>
            <p:cNvPr id="45" name="Text Box 43"/>
            <p:cNvSpPr txBox="1">
              <a:spLocks noChangeArrowheads="1"/>
            </p:cNvSpPr>
            <p:nvPr/>
          </p:nvSpPr>
          <p:spPr bwMode="auto">
            <a:xfrm>
              <a:off x="2737" y="2496"/>
              <a:ext cx="410" cy="1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noAutofit/>
            </a:bodyPr>
            <a:lstStyle/>
            <a:p>
              <a:r>
                <a:rPr lang="en-US" altLang="ko-KR" sz="900">
                  <a:latin typeface="나눔고딕" panose="020D0604000000000000" pitchFamily="50" charset="-127"/>
                  <a:ea typeface="나눔고딕" panose="020D0604000000000000" pitchFamily="50" charset="-127"/>
                </a:rPr>
                <a:t>Service</a:t>
              </a:r>
            </a:p>
          </p:txBody>
        </p:sp>
        <p:sp>
          <p:nvSpPr>
            <p:cNvPr id="46" name="Text Box 44"/>
            <p:cNvSpPr txBox="1">
              <a:spLocks noChangeArrowheads="1"/>
            </p:cNvSpPr>
            <p:nvPr/>
          </p:nvSpPr>
          <p:spPr bwMode="auto">
            <a:xfrm>
              <a:off x="3174" y="2532"/>
              <a:ext cx="535" cy="1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noAutofit/>
            </a:bodyPr>
            <a:lstStyle/>
            <a:p>
              <a:r>
                <a:rPr lang="en-US" altLang="ko-KR" sz="900">
                  <a:latin typeface="나눔고딕" panose="020D0604000000000000" pitchFamily="50" charset="-127"/>
                  <a:ea typeface="나눔고딕" panose="020D0604000000000000" pitchFamily="50" charset="-127"/>
                </a:rPr>
                <a:t>community</a:t>
              </a:r>
            </a:p>
          </p:txBody>
        </p:sp>
        <p:sp>
          <p:nvSpPr>
            <p:cNvPr id="47" name="Arc 45"/>
            <p:cNvSpPr>
              <a:spLocks/>
            </p:cNvSpPr>
            <p:nvPr/>
          </p:nvSpPr>
          <p:spPr bwMode="auto">
            <a:xfrm>
              <a:off x="2474" y="2230"/>
              <a:ext cx="436" cy="218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12700">
              <a:solidFill>
                <a:schemeClr val="accent2"/>
              </a:solidFill>
              <a:prstDash val="dash"/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noAutofit/>
            </a:bodyPr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8" name="Arc 46"/>
            <p:cNvSpPr>
              <a:spLocks/>
            </p:cNvSpPr>
            <p:nvPr/>
          </p:nvSpPr>
          <p:spPr bwMode="auto">
            <a:xfrm rot="12746584">
              <a:off x="2386" y="2404"/>
              <a:ext cx="437" cy="349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12700">
              <a:solidFill>
                <a:schemeClr val="accent2"/>
              </a:solidFill>
              <a:prstDash val="dash"/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noAutofit/>
            </a:bodyPr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9" name="Arc 47"/>
            <p:cNvSpPr>
              <a:spLocks/>
            </p:cNvSpPr>
            <p:nvPr/>
          </p:nvSpPr>
          <p:spPr bwMode="auto">
            <a:xfrm rot="19554539">
              <a:off x="2537" y="2014"/>
              <a:ext cx="783" cy="434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2995"/>
                <a:gd name="T2" fmla="*/ 21555 w 21600"/>
                <a:gd name="T3" fmla="*/ 22995 h 22995"/>
                <a:gd name="T4" fmla="*/ 0 w 21600"/>
                <a:gd name="T5" fmla="*/ 21600 h 229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2995" fill="none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22065"/>
                    <a:pt x="21584" y="22530"/>
                    <a:pt x="21554" y="22994"/>
                  </a:cubicBezTo>
                </a:path>
                <a:path w="21600" h="22995" stroke="0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22065"/>
                    <a:pt x="21584" y="22530"/>
                    <a:pt x="21554" y="22994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12700">
              <a:solidFill>
                <a:schemeClr val="accent2"/>
              </a:solidFill>
              <a:prstDash val="dash"/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noAutofit/>
            </a:bodyPr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50" name="Arc 48"/>
            <p:cNvSpPr>
              <a:spLocks/>
            </p:cNvSpPr>
            <p:nvPr/>
          </p:nvSpPr>
          <p:spPr bwMode="auto">
            <a:xfrm rot="19372864">
              <a:off x="2997" y="2317"/>
              <a:ext cx="437" cy="218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12700">
              <a:solidFill>
                <a:schemeClr val="accent2"/>
              </a:solidFill>
              <a:prstDash val="dash"/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noAutofit/>
            </a:bodyPr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51" name="Arc 49"/>
            <p:cNvSpPr>
              <a:spLocks/>
            </p:cNvSpPr>
            <p:nvPr/>
          </p:nvSpPr>
          <p:spPr bwMode="auto">
            <a:xfrm rot="17477090">
              <a:off x="2653" y="2339"/>
              <a:ext cx="777" cy="419"/>
            </a:xfrm>
            <a:custGeom>
              <a:avLst/>
              <a:gdLst>
                <a:gd name="G0" fmla="+- 16804 0 0"/>
                <a:gd name="G1" fmla="+- 21600 0 0"/>
                <a:gd name="G2" fmla="+- 21600 0 0"/>
                <a:gd name="T0" fmla="*/ 0 w 38404"/>
                <a:gd name="T1" fmla="*/ 8028 h 34534"/>
                <a:gd name="T2" fmla="*/ 34104 w 38404"/>
                <a:gd name="T3" fmla="*/ 34534 h 34534"/>
                <a:gd name="T4" fmla="*/ 16804 w 38404"/>
                <a:gd name="T5" fmla="*/ 21600 h 345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404" h="34534" fill="none" extrusionOk="0">
                  <a:moveTo>
                    <a:pt x="0" y="8028"/>
                  </a:moveTo>
                  <a:cubicBezTo>
                    <a:pt x="4100" y="2950"/>
                    <a:pt x="10277" y="0"/>
                    <a:pt x="16804" y="0"/>
                  </a:cubicBezTo>
                  <a:cubicBezTo>
                    <a:pt x="28733" y="0"/>
                    <a:pt x="38404" y="9670"/>
                    <a:pt x="38404" y="21600"/>
                  </a:cubicBezTo>
                  <a:cubicBezTo>
                    <a:pt x="38404" y="26262"/>
                    <a:pt x="36895" y="30799"/>
                    <a:pt x="34103" y="34533"/>
                  </a:cubicBezTo>
                </a:path>
                <a:path w="38404" h="34534" stroke="0" extrusionOk="0">
                  <a:moveTo>
                    <a:pt x="0" y="8028"/>
                  </a:moveTo>
                  <a:cubicBezTo>
                    <a:pt x="4100" y="2950"/>
                    <a:pt x="10277" y="0"/>
                    <a:pt x="16804" y="0"/>
                  </a:cubicBezTo>
                  <a:cubicBezTo>
                    <a:pt x="28733" y="0"/>
                    <a:pt x="38404" y="9670"/>
                    <a:pt x="38404" y="21600"/>
                  </a:cubicBezTo>
                  <a:cubicBezTo>
                    <a:pt x="38404" y="26262"/>
                    <a:pt x="36895" y="30799"/>
                    <a:pt x="34103" y="34533"/>
                  </a:cubicBezTo>
                  <a:lnTo>
                    <a:pt x="16804" y="21600"/>
                  </a:lnTo>
                  <a:close/>
                </a:path>
              </a:pathLst>
            </a:custGeom>
            <a:noFill/>
            <a:ln w="12700">
              <a:solidFill>
                <a:schemeClr val="accent2"/>
              </a:solidFill>
              <a:prstDash val="dash"/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noAutofit/>
            </a:bodyPr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52" name="Arc 50"/>
            <p:cNvSpPr>
              <a:spLocks/>
            </p:cNvSpPr>
            <p:nvPr/>
          </p:nvSpPr>
          <p:spPr bwMode="auto">
            <a:xfrm rot="16160452">
              <a:off x="3129" y="2438"/>
              <a:ext cx="437" cy="349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12700">
              <a:solidFill>
                <a:schemeClr val="accent2"/>
              </a:solidFill>
              <a:prstDash val="dash"/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noAutofit/>
            </a:bodyPr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53" name="Arc 51"/>
            <p:cNvSpPr>
              <a:spLocks/>
            </p:cNvSpPr>
            <p:nvPr/>
          </p:nvSpPr>
          <p:spPr bwMode="auto">
            <a:xfrm rot="364681">
              <a:off x="2555" y="2448"/>
              <a:ext cx="571" cy="280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2380"/>
                <a:gd name="T2" fmla="*/ 21586 w 21600"/>
                <a:gd name="T3" fmla="*/ 22380 h 22380"/>
                <a:gd name="T4" fmla="*/ 0 w 21600"/>
                <a:gd name="T5" fmla="*/ 21600 h 223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2380" fill="none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21860"/>
                    <a:pt x="21595" y="22120"/>
                    <a:pt x="21585" y="22379"/>
                  </a:cubicBezTo>
                </a:path>
                <a:path w="21600" h="22380" stroke="0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21860"/>
                    <a:pt x="21595" y="22120"/>
                    <a:pt x="21585" y="22379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12700">
              <a:solidFill>
                <a:schemeClr val="accent2"/>
              </a:solidFill>
              <a:prstDash val="dash"/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noAutofit/>
            </a:bodyPr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54" name="Arc 52"/>
            <p:cNvSpPr>
              <a:spLocks/>
            </p:cNvSpPr>
            <p:nvPr/>
          </p:nvSpPr>
          <p:spPr bwMode="auto">
            <a:xfrm rot="-3659196">
              <a:off x="2808" y="2463"/>
              <a:ext cx="571" cy="280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2380"/>
                <a:gd name="T2" fmla="*/ 21586 w 21600"/>
                <a:gd name="T3" fmla="*/ 22380 h 22380"/>
                <a:gd name="T4" fmla="*/ 0 w 21600"/>
                <a:gd name="T5" fmla="*/ 21600 h 223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2380" fill="none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21860"/>
                    <a:pt x="21595" y="22120"/>
                    <a:pt x="21585" y="22379"/>
                  </a:cubicBezTo>
                </a:path>
                <a:path w="21600" h="22380" stroke="0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21860"/>
                    <a:pt x="21595" y="22120"/>
                    <a:pt x="21585" y="22379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12700">
              <a:solidFill>
                <a:schemeClr val="accent2"/>
              </a:solidFill>
              <a:prstDash val="dash"/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noAutofit/>
            </a:bodyPr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55" name="Arc 53"/>
            <p:cNvSpPr>
              <a:spLocks/>
            </p:cNvSpPr>
            <p:nvPr/>
          </p:nvSpPr>
          <p:spPr bwMode="auto">
            <a:xfrm rot="17341920">
              <a:off x="2553" y="2553"/>
              <a:ext cx="371" cy="83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12700">
              <a:solidFill>
                <a:schemeClr val="accent2"/>
              </a:solidFill>
              <a:prstDash val="dash"/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noAutofit/>
            </a:bodyPr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56" name="Arc 54"/>
            <p:cNvSpPr>
              <a:spLocks/>
            </p:cNvSpPr>
            <p:nvPr/>
          </p:nvSpPr>
          <p:spPr bwMode="auto">
            <a:xfrm rot="2729854">
              <a:off x="2871" y="2497"/>
              <a:ext cx="536" cy="43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12700">
              <a:solidFill>
                <a:schemeClr val="accent2"/>
              </a:solidFill>
              <a:prstDash val="dash"/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noAutofit/>
            </a:bodyPr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57" name="Text Box 55"/>
            <p:cNvSpPr txBox="1">
              <a:spLocks noChangeArrowheads="1"/>
            </p:cNvSpPr>
            <p:nvPr/>
          </p:nvSpPr>
          <p:spPr bwMode="auto">
            <a:xfrm>
              <a:off x="3218" y="1769"/>
              <a:ext cx="613" cy="17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noAutofit/>
            </a:bodyPr>
            <a:lstStyle/>
            <a:p>
              <a:r>
                <a:rPr lang="en-US" altLang="ko-KR" sz="1000" b="1" dirty="0">
                  <a:solidFill>
                    <a:srgbClr val="B2B2B2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Gateway02</a:t>
              </a:r>
            </a:p>
          </p:txBody>
        </p:sp>
        <p:sp>
          <p:nvSpPr>
            <p:cNvPr id="58" name="Text Box 56"/>
            <p:cNvSpPr txBox="1">
              <a:spLocks noChangeArrowheads="1"/>
            </p:cNvSpPr>
            <p:nvPr/>
          </p:nvSpPr>
          <p:spPr bwMode="auto">
            <a:xfrm>
              <a:off x="2613" y="3161"/>
              <a:ext cx="549" cy="16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noAutofit/>
            </a:bodyPr>
            <a:lstStyle/>
            <a:p>
              <a:r>
                <a:rPr lang="en-US" altLang="ko-KR" sz="900">
                  <a:latin typeface="나눔고딕" panose="020D0604000000000000" pitchFamily="50" charset="-127"/>
                  <a:ea typeface="나눔고딕" panose="020D0604000000000000" pitchFamily="50" charset="-127"/>
                </a:rPr>
                <a:t>Information</a:t>
              </a:r>
            </a:p>
          </p:txBody>
        </p:sp>
        <p:sp>
          <p:nvSpPr>
            <p:cNvPr id="59" name="Text Box 57"/>
            <p:cNvSpPr txBox="1">
              <a:spLocks noChangeArrowheads="1"/>
            </p:cNvSpPr>
            <p:nvPr/>
          </p:nvSpPr>
          <p:spPr bwMode="auto">
            <a:xfrm>
              <a:off x="3216" y="3120"/>
              <a:ext cx="702" cy="1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noAutofit/>
            </a:bodyPr>
            <a:lstStyle/>
            <a:p>
              <a:r>
                <a:rPr lang="en-US" altLang="ko-KR" sz="9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Personalization</a:t>
              </a:r>
            </a:p>
          </p:txBody>
        </p:sp>
      </p:grpSp>
      <p:sp>
        <p:nvSpPr>
          <p:cNvPr id="116" name="AutoShape 58"/>
          <p:cNvSpPr>
            <a:spLocks noChangeArrowheads="1"/>
          </p:cNvSpPr>
          <p:nvPr/>
        </p:nvSpPr>
        <p:spPr bwMode="auto">
          <a:xfrm>
            <a:off x="272480" y="2737247"/>
            <a:ext cx="7010400" cy="2095500"/>
          </a:xfrm>
          <a:prstGeom prst="rightArrow">
            <a:avLst>
              <a:gd name="adj1" fmla="val 59546"/>
              <a:gd name="adj2" fmla="val 37962"/>
            </a:avLst>
          </a:prstGeom>
          <a:gradFill rotWithShape="1">
            <a:gsLst>
              <a:gs pos="0">
                <a:srgbClr val="FFFFFF"/>
              </a:gs>
              <a:gs pos="100000">
                <a:srgbClr val="339933"/>
              </a:gs>
            </a:gsLst>
            <a:lin ang="0" scaled="1"/>
          </a:gradFill>
          <a:ln>
            <a:noFill/>
          </a:ln>
          <a:effectLst/>
        </p:spPr>
        <p:txBody>
          <a:bodyPr lIns="90000" tIns="46800" rIns="90000" bIns="46800" anchor="ctr">
            <a:noAutofit/>
          </a:bodyPr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17" name="AutoShape 59"/>
          <p:cNvSpPr>
            <a:spLocks noChangeArrowheads="1"/>
          </p:cNvSpPr>
          <p:nvPr/>
        </p:nvSpPr>
        <p:spPr bwMode="auto">
          <a:xfrm rot="-1800000">
            <a:off x="4387280" y="3276997"/>
            <a:ext cx="1952625" cy="1901825"/>
          </a:xfrm>
          <a:custGeom>
            <a:avLst/>
            <a:gdLst>
              <a:gd name="G0" fmla="+- 9054421 0 0"/>
              <a:gd name="G1" fmla="+- -4104043 0 0"/>
              <a:gd name="G2" fmla="+- 9054421 0 -4104043"/>
              <a:gd name="G3" fmla="+- 10800 0 0"/>
              <a:gd name="G4" fmla="+- 0 0 9054421"/>
              <a:gd name="T0" fmla="*/ 360 256 1"/>
              <a:gd name="T1" fmla="*/ 0 256 1"/>
              <a:gd name="G5" fmla="+- G2 T0 T1"/>
              <a:gd name="G6" fmla="?: G2 G2 G5"/>
              <a:gd name="G7" fmla="+- 0 0 G6"/>
              <a:gd name="G8" fmla="+- 5863 0 0"/>
              <a:gd name="G9" fmla="+- 0 0 -4104043"/>
              <a:gd name="G10" fmla="+- 5863 0 2700"/>
              <a:gd name="G11" fmla="cos G10 9054421"/>
              <a:gd name="G12" fmla="sin G10 9054421"/>
              <a:gd name="G13" fmla="cos 13500 9054421"/>
              <a:gd name="G14" fmla="sin 13500 9054421"/>
              <a:gd name="G15" fmla="+- G11 10800 0"/>
              <a:gd name="G16" fmla="+- G12 10800 0"/>
              <a:gd name="G17" fmla="+- G13 10800 0"/>
              <a:gd name="G18" fmla="+- G14 10800 0"/>
              <a:gd name="G19" fmla="*/ 5863 1 2"/>
              <a:gd name="G20" fmla="+- G19 5400 0"/>
              <a:gd name="G21" fmla="cos G20 9054421"/>
              <a:gd name="G22" fmla="sin G20 9054421"/>
              <a:gd name="G23" fmla="+- G21 10800 0"/>
              <a:gd name="G24" fmla="+- G12 G23 G22"/>
              <a:gd name="G25" fmla="+- G22 G23 G11"/>
              <a:gd name="G26" fmla="cos 10800 9054421"/>
              <a:gd name="G27" fmla="sin 10800 9054421"/>
              <a:gd name="G28" fmla="cos 5863 9054421"/>
              <a:gd name="G29" fmla="sin 5863 9054421"/>
              <a:gd name="G30" fmla="+- G26 10800 0"/>
              <a:gd name="G31" fmla="+- G27 10800 0"/>
              <a:gd name="G32" fmla="+- G28 10800 0"/>
              <a:gd name="G33" fmla="+- G29 10800 0"/>
              <a:gd name="G34" fmla="+- G19 5400 0"/>
              <a:gd name="G35" fmla="cos G34 -4104043"/>
              <a:gd name="G36" fmla="sin G34 -4104043"/>
              <a:gd name="G37" fmla="+/ -4104043 9054421 2"/>
              <a:gd name="T2" fmla="*/ 180 256 1"/>
              <a:gd name="T3" fmla="*/ 0 256 1"/>
              <a:gd name="G38" fmla="+- G37 T2 T3"/>
              <a:gd name="G39" fmla="?: G2 G37 G38"/>
              <a:gd name="G40" fmla="cos 10800 G39"/>
              <a:gd name="G41" fmla="sin 10800 G39"/>
              <a:gd name="G42" fmla="cos 5863 G39"/>
              <a:gd name="G43" fmla="sin 5863 G39"/>
              <a:gd name="G44" fmla="+- G40 10800 0"/>
              <a:gd name="G45" fmla="+- G41 10800 0"/>
              <a:gd name="G46" fmla="+- G42 10800 0"/>
              <a:gd name="G47" fmla="+- G43 10800 0"/>
              <a:gd name="G48" fmla="+- G35 10800 0"/>
              <a:gd name="G49" fmla="+- G36 10800 0"/>
              <a:gd name="T4" fmla="*/ 19337 w 21600"/>
              <a:gd name="T5" fmla="*/ 17414 h 21600"/>
              <a:gd name="T6" fmla="*/ 14631 w 21600"/>
              <a:gd name="T7" fmla="*/ 3401 h 21600"/>
              <a:gd name="T8" fmla="*/ 15434 w 21600"/>
              <a:gd name="T9" fmla="*/ 14390 h 21600"/>
              <a:gd name="T10" fmla="*/ 742 w 21600"/>
              <a:gd name="T11" fmla="*/ 19805 h 21600"/>
              <a:gd name="T12" fmla="*/ 1144 w 21600"/>
              <a:gd name="T13" fmla="*/ 12506 h 21600"/>
              <a:gd name="T14" fmla="*/ 8443 w 21600"/>
              <a:gd name="T15" fmla="*/ 12909 h 21600"/>
              <a:gd name="T16" fmla="*/ 3163 w 21600"/>
              <a:gd name="T17" fmla="*/ 3163 h 21600"/>
              <a:gd name="T18" fmla="*/ 18437 w 21600"/>
              <a:gd name="T19" fmla="*/ 18437 h 21600"/>
            </a:gdLst>
            <a:ahLst/>
            <a:cxnLst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T16" t="T17" r="T18" b="T19"/>
            <a:pathLst>
              <a:path w="21600" h="21600">
                <a:moveTo>
                  <a:pt x="6432" y="14710"/>
                </a:moveTo>
                <a:cubicBezTo>
                  <a:pt x="7544" y="15953"/>
                  <a:pt x="9132" y="16662"/>
                  <a:pt x="10800" y="16662"/>
                </a:cubicBezTo>
                <a:cubicBezTo>
                  <a:pt x="14038" y="16663"/>
                  <a:pt x="16663" y="14038"/>
                  <a:pt x="16663" y="10800"/>
                </a:cubicBezTo>
                <a:cubicBezTo>
                  <a:pt x="16663" y="8609"/>
                  <a:pt x="15441" y="6601"/>
                  <a:pt x="13496" y="5593"/>
                </a:cubicBezTo>
                <a:lnTo>
                  <a:pt x="15766" y="1209"/>
                </a:lnTo>
                <a:cubicBezTo>
                  <a:pt x="19349" y="3065"/>
                  <a:pt x="21600" y="6764"/>
                  <a:pt x="21600" y="10800"/>
                </a:cubicBezTo>
                <a:cubicBezTo>
                  <a:pt x="21600" y="16764"/>
                  <a:pt x="16764" y="21600"/>
                  <a:pt x="10800" y="21600"/>
                </a:cubicBezTo>
                <a:cubicBezTo>
                  <a:pt x="7728" y="21599"/>
                  <a:pt x="4802" y="20292"/>
                  <a:pt x="2753" y="18004"/>
                </a:cubicBezTo>
                <a:lnTo>
                  <a:pt x="742" y="19805"/>
                </a:lnTo>
                <a:lnTo>
                  <a:pt x="1144" y="12506"/>
                </a:lnTo>
                <a:lnTo>
                  <a:pt x="8443" y="12909"/>
                </a:lnTo>
                <a:lnTo>
                  <a:pt x="6432" y="14710"/>
                </a:lnTo>
                <a:close/>
              </a:path>
            </a:pathLst>
          </a:custGeom>
          <a:gradFill rotWithShape="1">
            <a:gsLst>
              <a:gs pos="0">
                <a:srgbClr val="92D050"/>
              </a:gs>
              <a:gs pos="100000">
                <a:srgbClr val="339933"/>
              </a:gs>
            </a:gsLst>
            <a:lin ang="5400000" scaled="1"/>
          </a:gradFill>
          <a:ln>
            <a:noFill/>
          </a:ln>
          <a:effectLst/>
        </p:spPr>
        <p:txBody>
          <a:bodyPr lIns="90000" tIns="46800" rIns="90000" bIns="46800" anchor="ctr">
            <a:noAutofit/>
          </a:bodyPr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pSp>
        <p:nvGrpSpPr>
          <p:cNvPr id="118" name="Group 65"/>
          <p:cNvGrpSpPr>
            <a:grpSpLocks/>
          </p:cNvGrpSpPr>
          <p:nvPr/>
        </p:nvGrpSpPr>
        <p:grpSpPr bwMode="auto">
          <a:xfrm>
            <a:off x="7700393" y="3000774"/>
            <a:ext cx="1411287" cy="1412876"/>
            <a:chOff x="5351" y="2034"/>
            <a:chExt cx="889" cy="890"/>
          </a:xfrm>
        </p:grpSpPr>
        <p:sp>
          <p:nvSpPr>
            <p:cNvPr id="119" name="AutoShape 66"/>
            <p:cNvSpPr>
              <a:spLocks noChangeArrowheads="1"/>
            </p:cNvSpPr>
            <p:nvPr/>
          </p:nvSpPr>
          <p:spPr bwMode="auto">
            <a:xfrm>
              <a:off x="5351" y="2034"/>
              <a:ext cx="889" cy="890"/>
            </a:xfrm>
            <a:prstGeom prst="roundRect">
              <a:avLst>
                <a:gd name="adj" fmla="val 3648"/>
              </a:avLst>
            </a:prstGeom>
            <a:solidFill>
              <a:srgbClr val="DDDDDD">
                <a:alpha val="50000"/>
              </a:srgbClr>
            </a:solidFill>
            <a:ln w="28575">
              <a:solidFill>
                <a:schemeClr val="bg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noAutofit/>
            </a:bodyPr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grpSp>
          <p:nvGrpSpPr>
            <p:cNvPr id="120" name="Group 67"/>
            <p:cNvGrpSpPr>
              <a:grpSpLocks/>
            </p:cNvGrpSpPr>
            <p:nvPr/>
          </p:nvGrpSpPr>
          <p:grpSpPr bwMode="auto">
            <a:xfrm>
              <a:off x="5612" y="2584"/>
              <a:ext cx="204" cy="251"/>
              <a:chOff x="480" y="719"/>
              <a:chExt cx="433" cy="528"/>
            </a:xfrm>
          </p:grpSpPr>
          <p:sp>
            <p:nvSpPr>
              <p:cNvPr id="154" name="Rectangle 68"/>
              <p:cNvSpPr>
                <a:spLocks noChangeArrowheads="1"/>
              </p:cNvSpPr>
              <p:nvPr/>
            </p:nvSpPr>
            <p:spPr bwMode="auto">
              <a:xfrm>
                <a:off x="480" y="719"/>
                <a:ext cx="433" cy="528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rgbClr val="B2B2B2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>
                <a:noAutofit/>
              </a:bodyPr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155" name="Rectangle 69"/>
              <p:cNvSpPr>
                <a:spLocks noChangeArrowheads="1"/>
              </p:cNvSpPr>
              <p:nvPr/>
            </p:nvSpPr>
            <p:spPr bwMode="auto">
              <a:xfrm>
                <a:off x="528" y="768"/>
                <a:ext cx="336" cy="96"/>
              </a:xfrm>
              <a:prstGeom prst="rect">
                <a:avLst/>
              </a:prstGeom>
              <a:solidFill>
                <a:schemeClr val="accent2"/>
              </a:solidFill>
              <a:ln w="6350">
                <a:solidFill>
                  <a:srgbClr val="B2B2B2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>
                <a:noAutofit/>
              </a:bodyPr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156" name="Rectangle 70"/>
              <p:cNvSpPr>
                <a:spLocks noChangeArrowheads="1"/>
              </p:cNvSpPr>
              <p:nvPr/>
            </p:nvSpPr>
            <p:spPr bwMode="auto">
              <a:xfrm>
                <a:off x="528" y="864"/>
                <a:ext cx="48" cy="168"/>
              </a:xfrm>
              <a:prstGeom prst="rect">
                <a:avLst/>
              </a:prstGeom>
              <a:solidFill>
                <a:schemeClr val="accent1"/>
              </a:solidFill>
              <a:ln w="6350">
                <a:solidFill>
                  <a:srgbClr val="B2B2B2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 anchor="ctr">
                <a:noAutofit/>
              </a:bodyPr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157" name="Rectangle 71"/>
              <p:cNvSpPr>
                <a:spLocks noChangeArrowheads="1"/>
              </p:cNvSpPr>
              <p:nvPr/>
            </p:nvSpPr>
            <p:spPr bwMode="auto">
              <a:xfrm>
                <a:off x="576" y="864"/>
                <a:ext cx="192" cy="336"/>
              </a:xfrm>
              <a:prstGeom prst="rect">
                <a:avLst/>
              </a:prstGeom>
              <a:solidFill>
                <a:srgbClr val="FFFFCC"/>
              </a:solidFill>
              <a:ln w="6350">
                <a:solidFill>
                  <a:srgbClr val="B2B2B2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 anchor="ctr">
                <a:noAutofit/>
              </a:bodyPr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158" name="Rectangle 72"/>
              <p:cNvSpPr>
                <a:spLocks noChangeArrowheads="1"/>
              </p:cNvSpPr>
              <p:nvPr/>
            </p:nvSpPr>
            <p:spPr bwMode="auto">
              <a:xfrm>
                <a:off x="528" y="1008"/>
                <a:ext cx="48" cy="192"/>
              </a:xfrm>
              <a:prstGeom prst="rect">
                <a:avLst/>
              </a:prstGeom>
              <a:solidFill>
                <a:srgbClr val="CCECFF"/>
              </a:solidFill>
              <a:ln w="6350">
                <a:solidFill>
                  <a:srgbClr val="B2B2B2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 anchor="ctr">
                <a:noAutofit/>
              </a:bodyPr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159" name="Rectangle 73"/>
              <p:cNvSpPr>
                <a:spLocks noChangeArrowheads="1"/>
              </p:cNvSpPr>
              <p:nvPr/>
            </p:nvSpPr>
            <p:spPr bwMode="auto">
              <a:xfrm>
                <a:off x="768" y="864"/>
                <a:ext cx="96" cy="336"/>
              </a:xfrm>
              <a:prstGeom prst="rect">
                <a:avLst/>
              </a:prstGeom>
              <a:noFill/>
              <a:ln w="6350">
                <a:solidFill>
                  <a:srgbClr val="B2B2B2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969696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 anchor="ctr">
                <a:noAutofit/>
              </a:bodyPr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p:grpSp>
        <p:grpSp>
          <p:nvGrpSpPr>
            <p:cNvPr id="121" name="Group 74"/>
            <p:cNvGrpSpPr>
              <a:grpSpLocks/>
            </p:cNvGrpSpPr>
            <p:nvPr/>
          </p:nvGrpSpPr>
          <p:grpSpPr bwMode="auto">
            <a:xfrm>
              <a:off x="5962" y="2559"/>
              <a:ext cx="205" cy="251"/>
              <a:chOff x="480" y="719"/>
              <a:chExt cx="433" cy="528"/>
            </a:xfrm>
          </p:grpSpPr>
          <p:sp>
            <p:nvSpPr>
              <p:cNvPr id="148" name="Rectangle 75"/>
              <p:cNvSpPr>
                <a:spLocks noChangeArrowheads="1"/>
              </p:cNvSpPr>
              <p:nvPr/>
            </p:nvSpPr>
            <p:spPr bwMode="auto">
              <a:xfrm>
                <a:off x="480" y="719"/>
                <a:ext cx="433" cy="528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rgbClr val="B2B2B2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>
                <a:noAutofit/>
              </a:bodyPr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149" name="Rectangle 76"/>
              <p:cNvSpPr>
                <a:spLocks noChangeArrowheads="1"/>
              </p:cNvSpPr>
              <p:nvPr/>
            </p:nvSpPr>
            <p:spPr bwMode="auto">
              <a:xfrm>
                <a:off x="528" y="768"/>
                <a:ext cx="336" cy="96"/>
              </a:xfrm>
              <a:prstGeom prst="rect">
                <a:avLst/>
              </a:prstGeom>
              <a:solidFill>
                <a:schemeClr val="accent2"/>
              </a:solidFill>
              <a:ln w="6350">
                <a:solidFill>
                  <a:srgbClr val="B2B2B2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>
                <a:noAutofit/>
              </a:bodyPr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150" name="Rectangle 77"/>
              <p:cNvSpPr>
                <a:spLocks noChangeArrowheads="1"/>
              </p:cNvSpPr>
              <p:nvPr/>
            </p:nvSpPr>
            <p:spPr bwMode="auto">
              <a:xfrm>
                <a:off x="528" y="864"/>
                <a:ext cx="48" cy="168"/>
              </a:xfrm>
              <a:prstGeom prst="rect">
                <a:avLst/>
              </a:prstGeom>
              <a:solidFill>
                <a:schemeClr val="accent1"/>
              </a:solidFill>
              <a:ln w="6350">
                <a:solidFill>
                  <a:srgbClr val="B2B2B2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 anchor="ctr">
                <a:noAutofit/>
              </a:bodyPr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151" name="Rectangle 78"/>
              <p:cNvSpPr>
                <a:spLocks noChangeArrowheads="1"/>
              </p:cNvSpPr>
              <p:nvPr/>
            </p:nvSpPr>
            <p:spPr bwMode="auto">
              <a:xfrm>
                <a:off x="576" y="864"/>
                <a:ext cx="192" cy="336"/>
              </a:xfrm>
              <a:prstGeom prst="rect">
                <a:avLst/>
              </a:prstGeom>
              <a:solidFill>
                <a:srgbClr val="FFFFCC"/>
              </a:solidFill>
              <a:ln w="6350">
                <a:solidFill>
                  <a:srgbClr val="B2B2B2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 anchor="ctr">
                <a:noAutofit/>
              </a:bodyPr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152" name="Rectangle 79"/>
              <p:cNvSpPr>
                <a:spLocks noChangeArrowheads="1"/>
              </p:cNvSpPr>
              <p:nvPr/>
            </p:nvSpPr>
            <p:spPr bwMode="auto">
              <a:xfrm>
                <a:off x="528" y="1008"/>
                <a:ext cx="48" cy="192"/>
              </a:xfrm>
              <a:prstGeom prst="rect">
                <a:avLst/>
              </a:prstGeom>
              <a:solidFill>
                <a:srgbClr val="CCECFF"/>
              </a:solidFill>
              <a:ln w="6350">
                <a:solidFill>
                  <a:srgbClr val="B2B2B2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 anchor="ctr">
                <a:noAutofit/>
              </a:bodyPr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153" name="Rectangle 80"/>
              <p:cNvSpPr>
                <a:spLocks noChangeArrowheads="1"/>
              </p:cNvSpPr>
              <p:nvPr/>
            </p:nvSpPr>
            <p:spPr bwMode="auto">
              <a:xfrm>
                <a:off x="768" y="864"/>
                <a:ext cx="96" cy="336"/>
              </a:xfrm>
              <a:prstGeom prst="rect">
                <a:avLst/>
              </a:prstGeom>
              <a:noFill/>
              <a:ln w="6350">
                <a:solidFill>
                  <a:srgbClr val="B2B2B2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969696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 anchor="ctr">
                <a:noAutofit/>
              </a:bodyPr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p:grpSp>
        <p:sp>
          <p:nvSpPr>
            <p:cNvPr id="122" name="Arc 81"/>
            <p:cNvSpPr>
              <a:spLocks/>
            </p:cNvSpPr>
            <p:nvPr/>
          </p:nvSpPr>
          <p:spPr bwMode="auto">
            <a:xfrm rot="7624154">
              <a:off x="5761" y="2635"/>
              <a:ext cx="229" cy="182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12700">
              <a:solidFill>
                <a:schemeClr val="accent2"/>
              </a:solidFill>
              <a:prstDash val="dash"/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noAutofit/>
            </a:bodyPr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grpSp>
          <p:nvGrpSpPr>
            <p:cNvPr id="123" name="Group 82"/>
            <p:cNvGrpSpPr>
              <a:grpSpLocks/>
            </p:cNvGrpSpPr>
            <p:nvPr/>
          </p:nvGrpSpPr>
          <p:grpSpPr bwMode="auto">
            <a:xfrm>
              <a:off x="5411" y="2283"/>
              <a:ext cx="204" cy="251"/>
              <a:chOff x="480" y="719"/>
              <a:chExt cx="433" cy="528"/>
            </a:xfrm>
          </p:grpSpPr>
          <p:sp>
            <p:nvSpPr>
              <p:cNvPr id="142" name="Rectangle 83"/>
              <p:cNvSpPr>
                <a:spLocks noChangeArrowheads="1"/>
              </p:cNvSpPr>
              <p:nvPr/>
            </p:nvSpPr>
            <p:spPr bwMode="auto">
              <a:xfrm>
                <a:off x="480" y="719"/>
                <a:ext cx="433" cy="528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rgbClr val="B2B2B2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>
                <a:noAutofit/>
              </a:bodyPr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143" name="Rectangle 84"/>
              <p:cNvSpPr>
                <a:spLocks noChangeArrowheads="1"/>
              </p:cNvSpPr>
              <p:nvPr/>
            </p:nvSpPr>
            <p:spPr bwMode="auto">
              <a:xfrm>
                <a:off x="528" y="768"/>
                <a:ext cx="336" cy="96"/>
              </a:xfrm>
              <a:prstGeom prst="rect">
                <a:avLst/>
              </a:prstGeom>
              <a:solidFill>
                <a:schemeClr val="accent2"/>
              </a:solidFill>
              <a:ln w="6350">
                <a:solidFill>
                  <a:srgbClr val="B2B2B2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>
                <a:noAutofit/>
              </a:bodyPr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144" name="Rectangle 85"/>
              <p:cNvSpPr>
                <a:spLocks noChangeArrowheads="1"/>
              </p:cNvSpPr>
              <p:nvPr/>
            </p:nvSpPr>
            <p:spPr bwMode="auto">
              <a:xfrm>
                <a:off x="528" y="864"/>
                <a:ext cx="48" cy="168"/>
              </a:xfrm>
              <a:prstGeom prst="rect">
                <a:avLst/>
              </a:prstGeom>
              <a:solidFill>
                <a:schemeClr val="accent1"/>
              </a:solidFill>
              <a:ln w="6350">
                <a:solidFill>
                  <a:srgbClr val="B2B2B2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 anchor="ctr">
                <a:noAutofit/>
              </a:bodyPr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145" name="Rectangle 86"/>
              <p:cNvSpPr>
                <a:spLocks noChangeArrowheads="1"/>
              </p:cNvSpPr>
              <p:nvPr/>
            </p:nvSpPr>
            <p:spPr bwMode="auto">
              <a:xfrm>
                <a:off x="576" y="864"/>
                <a:ext cx="192" cy="336"/>
              </a:xfrm>
              <a:prstGeom prst="rect">
                <a:avLst/>
              </a:prstGeom>
              <a:solidFill>
                <a:srgbClr val="FFFFCC"/>
              </a:solidFill>
              <a:ln w="6350">
                <a:solidFill>
                  <a:srgbClr val="B2B2B2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 anchor="ctr">
                <a:noAutofit/>
              </a:bodyPr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146" name="Rectangle 87"/>
              <p:cNvSpPr>
                <a:spLocks noChangeArrowheads="1"/>
              </p:cNvSpPr>
              <p:nvPr/>
            </p:nvSpPr>
            <p:spPr bwMode="auto">
              <a:xfrm>
                <a:off x="528" y="1008"/>
                <a:ext cx="48" cy="192"/>
              </a:xfrm>
              <a:prstGeom prst="rect">
                <a:avLst/>
              </a:prstGeom>
              <a:solidFill>
                <a:srgbClr val="CCECFF"/>
              </a:solidFill>
              <a:ln w="6350">
                <a:solidFill>
                  <a:srgbClr val="B2B2B2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 anchor="ctr">
                <a:noAutofit/>
              </a:bodyPr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147" name="Rectangle 88"/>
              <p:cNvSpPr>
                <a:spLocks noChangeArrowheads="1"/>
              </p:cNvSpPr>
              <p:nvPr/>
            </p:nvSpPr>
            <p:spPr bwMode="auto">
              <a:xfrm>
                <a:off x="768" y="864"/>
                <a:ext cx="96" cy="336"/>
              </a:xfrm>
              <a:prstGeom prst="rect">
                <a:avLst/>
              </a:prstGeom>
              <a:noFill/>
              <a:ln w="6350">
                <a:solidFill>
                  <a:srgbClr val="B2B2B2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969696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 anchor="ctr">
                <a:noAutofit/>
              </a:bodyPr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p:grpSp>
        <p:grpSp>
          <p:nvGrpSpPr>
            <p:cNvPr id="124" name="Group 89"/>
            <p:cNvGrpSpPr>
              <a:grpSpLocks/>
            </p:cNvGrpSpPr>
            <p:nvPr/>
          </p:nvGrpSpPr>
          <p:grpSpPr bwMode="auto">
            <a:xfrm>
              <a:off x="5662" y="2231"/>
              <a:ext cx="204" cy="251"/>
              <a:chOff x="480" y="719"/>
              <a:chExt cx="433" cy="528"/>
            </a:xfrm>
          </p:grpSpPr>
          <p:sp>
            <p:nvSpPr>
              <p:cNvPr id="136" name="Rectangle 90"/>
              <p:cNvSpPr>
                <a:spLocks noChangeArrowheads="1"/>
              </p:cNvSpPr>
              <p:nvPr/>
            </p:nvSpPr>
            <p:spPr bwMode="auto">
              <a:xfrm>
                <a:off x="480" y="719"/>
                <a:ext cx="433" cy="528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rgbClr val="B2B2B2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>
                <a:noAutofit/>
              </a:bodyPr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137" name="Rectangle 91"/>
              <p:cNvSpPr>
                <a:spLocks noChangeArrowheads="1"/>
              </p:cNvSpPr>
              <p:nvPr/>
            </p:nvSpPr>
            <p:spPr bwMode="auto">
              <a:xfrm>
                <a:off x="528" y="768"/>
                <a:ext cx="336" cy="96"/>
              </a:xfrm>
              <a:prstGeom prst="rect">
                <a:avLst/>
              </a:prstGeom>
              <a:solidFill>
                <a:schemeClr val="accent2"/>
              </a:solidFill>
              <a:ln w="6350">
                <a:solidFill>
                  <a:srgbClr val="B2B2B2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>
                <a:noAutofit/>
              </a:bodyPr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138" name="Rectangle 92"/>
              <p:cNvSpPr>
                <a:spLocks noChangeArrowheads="1"/>
              </p:cNvSpPr>
              <p:nvPr/>
            </p:nvSpPr>
            <p:spPr bwMode="auto">
              <a:xfrm>
                <a:off x="528" y="864"/>
                <a:ext cx="48" cy="168"/>
              </a:xfrm>
              <a:prstGeom prst="rect">
                <a:avLst/>
              </a:prstGeom>
              <a:solidFill>
                <a:schemeClr val="accent1"/>
              </a:solidFill>
              <a:ln w="6350">
                <a:solidFill>
                  <a:srgbClr val="B2B2B2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 anchor="ctr">
                <a:noAutofit/>
              </a:bodyPr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139" name="Rectangle 93"/>
              <p:cNvSpPr>
                <a:spLocks noChangeArrowheads="1"/>
              </p:cNvSpPr>
              <p:nvPr/>
            </p:nvSpPr>
            <p:spPr bwMode="auto">
              <a:xfrm>
                <a:off x="576" y="864"/>
                <a:ext cx="192" cy="336"/>
              </a:xfrm>
              <a:prstGeom prst="rect">
                <a:avLst/>
              </a:prstGeom>
              <a:solidFill>
                <a:srgbClr val="FFFFCC"/>
              </a:solidFill>
              <a:ln w="6350">
                <a:solidFill>
                  <a:srgbClr val="B2B2B2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 anchor="ctr">
                <a:noAutofit/>
              </a:bodyPr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140" name="Rectangle 94"/>
              <p:cNvSpPr>
                <a:spLocks noChangeArrowheads="1"/>
              </p:cNvSpPr>
              <p:nvPr/>
            </p:nvSpPr>
            <p:spPr bwMode="auto">
              <a:xfrm>
                <a:off x="528" y="1008"/>
                <a:ext cx="48" cy="192"/>
              </a:xfrm>
              <a:prstGeom prst="rect">
                <a:avLst/>
              </a:prstGeom>
              <a:solidFill>
                <a:srgbClr val="CCECFF"/>
              </a:solidFill>
              <a:ln w="6350">
                <a:solidFill>
                  <a:srgbClr val="B2B2B2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 anchor="ctr">
                <a:noAutofit/>
              </a:bodyPr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141" name="Rectangle 95"/>
              <p:cNvSpPr>
                <a:spLocks noChangeArrowheads="1"/>
              </p:cNvSpPr>
              <p:nvPr/>
            </p:nvSpPr>
            <p:spPr bwMode="auto">
              <a:xfrm>
                <a:off x="768" y="864"/>
                <a:ext cx="96" cy="336"/>
              </a:xfrm>
              <a:prstGeom prst="rect">
                <a:avLst/>
              </a:prstGeom>
              <a:noFill/>
              <a:ln w="6350">
                <a:solidFill>
                  <a:srgbClr val="B2B2B2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969696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 anchor="ctr">
                <a:noAutofit/>
              </a:bodyPr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p:grpSp>
        <p:grpSp>
          <p:nvGrpSpPr>
            <p:cNvPr id="125" name="Group 96"/>
            <p:cNvGrpSpPr>
              <a:grpSpLocks/>
            </p:cNvGrpSpPr>
            <p:nvPr/>
          </p:nvGrpSpPr>
          <p:grpSpPr bwMode="auto">
            <a:xfrm>
              <a:off x="5912" y="2253"/>
              <a:ext cx="205" cy="251"/>
              <a:chOff x="480" y="719"/>
              <a:chExt cx="433" cy="528"/>
            </a:xfrm>
          </p:grpSpPr>
          <p:sp>
            <p:nvSpPr>
              <p:cNvPr id="130" name="Rectangle 97"/>
              <p:cNvSpPr>
                <a:spLocks noChangeArrowheads="1"/>
              </p:cNvSpPr>
              <p:nvPr/>
            </p:nvSpPr>
            <p:spPr bwMode="auto">
              <a:xfrm>
                <a:off x="480" y="719"/>
                <a:ext cx="433" cy="528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rgbClr val="B2B2B2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>
                <a:noAutofit/>
              </a:bodyPr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131" name="Rectangle 98"/>
              <p:cNvSpPr>
                <a:spLocks noChangeArrowheads="1"/>
              </p:cNvSpPr>
              <p:nvPr/>
            </p:nvSpPr>
            <p:spPr bwMode="auto">
              <a:xfrm>
                <a:off x="528" y="768"/>
                <a:ext cx="336" cy="96"/>
              </a:xfrm>
              <a:prstGeom prst="rect">
                <a:avLst/>
              </a:prstGeom>
              <a:solidFill>
                <a:schemeClr val="accent2"/>
              </a:solidFill>
              <a:ln w="6350">
                <a:solidFill>
                  <a:srgbClr val="B2B2B2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>
                <a:noAutofit/>
              </a:bodyPr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132" name="Rectangle 99"/>
              <p:cNvSpPr>
                <a:spLocks noChangeArrowheads="1"/>
              </p:cNvSpPr>
              <p:nvPr/>
            </p:nvSpPr>
            <p:spPr bwMode="auto">
              <a:xfrm>
                <a:off x="528" y="864"/>
                <a:ext cx="48" cy="168"/>
              </a:xfrm>
              <a:prstGeom prst="rect">
                <a:avLst/>
              </a:prstGeom>
              <a:solidFill>
                <a:schemeClr val="accent1"/>
              </a:solidFill>
              <a:ln w="6350">
                <a:solidFill>
                  <a:srgbClr val="B2B2B2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 anchor="ctr">
                <a:noAutofit/>
              </a:bodyPr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133" name="Rectangle 100"/>
              <p:cNvSpPr>
                <a:spLocks noChangeArrowheads="1"/>
              </p:cNvSpPr>
              <p:nvPr/>
            </p:nvSpPr>
            <p:spPr bwMode="auto">
              <a:xfrm>
                <a:off x="576" y="864"/>
                <a:ext cx="192" cy="336"/>
              </a:xfrm>
              <a:prstGeom prst="rect">
                <a:avLst/>
              </a:prstGeom>
              <a:solidFill>
                <a:srgbClr val="FFFFCC"/>
              </a:solidFill>
              <a:ln w="6350">
                <a:solidFill>
                  <a:srgbClr val="B2B2B2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 anchor="ctr">
                <a:noAutofit/>
              </a:bodyPr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134" name="Rectangle 101"/>
              <p:cNvSpPr>
                <a:spLocks noChangeArrowheads="1"/>
              </p:cNvSpPr>
              <p:nvPr/>
            </p:nvSpPr>
            <p:spPr bwMode="auto">
              <a:xfrm>
                <a:off x="528" y="1008"/>
                <a:ext cx="48" cy="192"/>
              </a:xfrm>
              <a:prstGeom prst="rect">
                <a:avLst/>
              </a:prstGeom>
              <a:solidFill>
                <a:srgbClr val="CCECFF"/>
              </a:solidFill>
              <a:ln w="6350">
                <a:solidFill>
                  <a:srgbClr val="B2B2B2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 anchor="ctr">
                <a:noAutofit/>
              </a:bodyPr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135" name="Rectangle 102"/>
              <p:cNvSpPr>
                <a:spLocks noChangeArrowheads="1"/>
              </p:cNvSpPr>
              <p:nvPr/>
            </p:nvSpPr>
            <p:spPr bwMode="auto">
              <a:xfrm>
                <a:off x="768" y="864"/>
                <a:ext cx="96" cy="336"/>
              </a:xfrm>
              <a:prstGeom prst="rect">
                <a:avLst/>
              </a:prstGeom>
              <a:noFill/>
              <a:ln w="6350">
                <a:solidFill>
                  <a:srgbClr val="B2B2B2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969696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 anchor="ctr">
                <a:noAutofit/>
              </a:bodyPr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p:grpSp>
        <p:sp>
          <p:nvSpPr>
            <p:cNvPr id="126" name="Arc 103"/>
            <p:cNvSpPr>
              <a:spLocks/>
            </p:cNvSpPr>
            <p:nvPr/>
          </p:nvSpPr>
          <p:spPr bwMode="auto">
            <a:xfrm rot="12746584">
              <a:off x="5479" y="2436"/>
              <a:ext cx="228" cy="182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12700">
              <a:solidFill>
                <a:schemeClr val="accent2"/>
              </a:solidFill>
              <a:prstDash val="dash"/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noAutofit/>
            </a:bodyPr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27" name="Arc 104"/>
            <p:cNvSpPr>
              <a:spLocks/>
            </p:cNvSpPr>
            <p:nvPr/>
          </p:nvSpPr>
          <p:spPr bwMode="auto">
            <a:xfrm rot="19554539">
              <a:off x="5557" y="2232"/>
              <a:ext cx="409" cy="227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2995"/>
                <a:gd name="T2" fmla="*/ 21555 w 21600"/>
                <a:gd name="T3" fmla="*/ 22995 h 22995"/>
                <a:gd name="T4" fmla="*/ 0 w 21600"/>
                <a:gd name="T5" fmla="*/ 21600 h 229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2995" fill="none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22065"/>
                    <a:pt x="21584" y="22530"/>
                    <a:pt x="21554" y="22994"/>
                  </a:cubicBezTo>
                </a:path>
                <a:path w="21600" h="22995" stroke="0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22065"/>
                    <a:pt x="21584" y="22530"/>
                    <a:pt x="21554" y="22994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12700">
              <a:solidFill>
                <a:schemeClr val="accent2"/>
              </a:solidFill>
              <a:prstDash val="dash"/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noAutofit/>
            </a:bodyPr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28" name="Arc 105"/>
            <p:cNvSpPr>
              <a:spLocks/>
            </p:cNvSpPr>
            <p:nvPr/>
          </p:nvSpPr>
          <p:spPr bwMode="auto">
            <a:xfrm rot="17940804">
              <a:off x="5699" y="2467"/>
              <a:ext cx="299" cy="146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2380"/>
                <a:gd name="T2" fmla="*/ 21586 w 21600"/>
                <a:gd name="T3" fmla="*/ 22380 h 22380"/>
                <a:gd name="T4" fmla="*/ 0 w 21600"/>
                <a:gd name="T5" fmla="*/ 21600 h 223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2380" fill="none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21860"/>
                    <a:pt x="21595" y="22120"/>
                    <a:pt x="21585" y="22379"/>
                  </a:cubicBezTo>
                </a:path>
                <a:path w="21600" h="22380" stroke="0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21860"/>
                    <a:pt x="21595" y="22120"/>
                    <a:pt x="21585" y="22379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12700">
              <a:solidFill>
                <a:schemeClr val="accent2"/>
              </a:solidFill>
              <a:prstDash val="dash"/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noAutofit/>
            </a:bodyPr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29" name="Text Box 106"/>
            <p:cNvSpPr txBox="1">
              <a:spLocks noChangeArrowheads="1"/>
            </p:cNvSpPr>
            <p:nvPr/>
          </p:nvSpPr>
          <p:spPr bwMode="auto">
            <a:xfrm>
              <a:off x="5931" y="2045"/>
              <a:ext cx="274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noAutofit/>
            </a:bodyPr>
            <a:lstStyle/>
            <a:p>
              <a:r>
                <a:rPr lang="ko-KR" altLang="en-US" sz="1000" b="1">
                  <a:solidFill>
                    <a:srgbClr val="B2B2B2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기타</a:t>
              </a:r>
            </a:p>
          </p:txBody>
        </p:sp>
      </p:grpSp>
      <p:sp>
        <p:nvSpPr>
          <p:cNvPr id="160" name="AutoShape 107"/>
          <p:cNvSpPr>
            <a:spLocks noChangeArrowheads="1"/>
          </p:cNvSpPr>
          <p:nvPr/>
        </p:nvSpPr>
        <p:spPr bwMode="auto">
          <a:xfrm>
            <a:off x="7341618" y="3527822"/>
            <a:ext cx="1411287" cy="1411288"/>
          </a:xfrm>
          <a:prstGeom prst="roundRect">
            <a:avLst>
              <a:gd name="adj" fmla="val 3648"/>
            </a:avLst>
          </a:prstGeom>
          <a:solidFill>
            <a:srgbClr val="DDDDDD">
              <a:alpha val="50000"/>
            </a:srgbClr>
          </a:solidFill>
          <a:ln w="28575">
            <a:solidFill>
              <a:schemeClr val="bg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noAutofit/>
          </a:bodyPr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pSp>
        <p:nvGrpSpPr>
          <p:cNvPr id="161" name="Group 108"/>
          <p:cNvGrpSpPr>
            <a:grpSpLocks/>
          </p:cNvGrpSpPr>
          <p:nvPr/>
        </p:nvGrpSpPr>
        <p:grpSpPr bwMode="auto">
          <a:xfrm>
            <a:off x="7755955" y="4400947"/>
            <a:ext cx="323850" cy="396875"/>
            <a:chOff x="480" y="720"/>
            <a:chExt cx="432" cy="528"/>
          </a:xfrm>
        </p:grpSpPr>
        <p:sp>
          <p:nvSpPr>
            <p:cNvPr id="162" name="Rectangle 109"/>
            <p:cNvSpPr>
              <a:spLocks noChangeArrowheads="1"/>
            </p:cNvSpPr>
            <p:nvPr/>
          </p:nvSpPr>
          <p:spPr bwMode="auto">
            <a:xfrm>
              <a:off x="480" y="720"/>
              <a:ext cx="432" cy="52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B2B2B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noAutofit/>
            </a:bodyPr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63" name="Rectangle 110"/>
            <p:cNvSpPr>
              <a:spLocks noChangeArrowheads="1"/>
            </p:cNvSpPr>
            <p:nvPr/>
          </p:nvSpPr>
          <p:spPr bwMode="auto">
            <a:xfrm>
              <a:off x="528" y="768"/>
              <a:ext cx="336" cy="96"/>
            </a:xfrm>
            <a:prstGeom prst="rect">
              <a:avLst/>
            </a:prstGeom>
            <a:solidFill>
              <a:schemeClr val="accent2"/>
            </a:solidFill>
            <a:ln w="6350">
              <a:solidFill>
                <a:srgbClr val="B2B2B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noAutofit/>
            </a:bodyPr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64" name="Rectangle 111"/>
            <p:cNvSpPr>
              <a:spLocks noChangeArrowheads="1"/>
            </p:cNvSpPr>
            <p:nvPr/>
          </p:nvSpPr>
          <p:spPr bwMode="auto">
            <a:xfrm>
              <a:off x="528" y="864"/>
              <a:ext cx="48" cy="168"/>
            </a:xfrm>
            <a:prstGeom prst="rect">
              <a:avLst/>
            </a:prstGeom>
            <a:solidFill>
              <a:schemeClr val="accent1"/>
            </a:solidFill>
            <a:ln w="6350">
              <a:solidFill>
                <a:srgbClr val="B2B2B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noAutofit/>
            </a:bodyPr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65" name="Rectangle 112"/>
            <p:cNvSpPr>
              <a:spLocks noChangeArrowheads="1"/>
            </p:cNvSpPr>
            <p:nvPr/>
          </p:nvSpPr>
          <p:spPr bwMode="auto">
            <a:xfrm>
              <a:off x="576" y="864"/>
              <a:ext cx="192" cy="336"/>
            </a:xfrm>
            <a:prstGeom prst="rect">
              <a:avLst/>
            </a:prstGeom>
            <a:solidFill>
              <a:srgbClr val="FFFFCC"/>
            </a:solidFill>
            <a:ln w="6350">
              <a:solidFill>
                <a:srgbClr val="B2B2B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noAutofit/>
            </a:bodyPr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66" name="Rectangle 113"/>
            <p:cNvSpPr>
              <a:spLocks noChangeArrowheads="1"/>
            </p:cNvSpPr>
            <p:nvPr/>
          </p:nvSpPr>
          <p:spPr bwMode="auto">
            <a:xfrm>
              <a:off x="528" y="1008"/>
              <a:ext cx="48" cy="192"/>
            </a:xfrm>
            <a:prstGeom prst="rect">
              <a:avLst/>
            </a:prstGeom>
            <a:solidFill>
              <a:srgbClr val="CCECFF"/>
            </a:solidFill>
            <a:ln w="6350">
              <a:solidFill>
                <a:srgbClr val="B2B2B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noAutofit/>
            </a:bodyPr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67" name="Rectangle 114"/>
            <p:cNvSpPr>
              <a:spLocks noChangeArrowheads="1"/>
            </p:cNvSpPr>
            <p:nvPr/>
          </p:nvSpPr>
          <p:spPr bwMode="auto">
            <a:xfrm>
              <a:off x="768" y="864"/>
              <a:ext cx="96" cy="336"/>
            </a:xfrm>
            <a:prstGeom prst="rect">
              <a:avLst/>
            </a:prstGeom>
            <a:noFill/>
            <a:ln w="6350">
              <a:solidFill>
                <a:srgbClr val="B2B2B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69696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noAutofit/>
            </a:bodyPr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grpSp>
        <p:nvGrpSpPr>
          <p:cNvPr id="168" name="Group 115"/>
          <p:cNvGrpSpPr>
            <a:grpSpLocks/>
          </p:cNvGrpSpPr>
          <p:nvPr/>
        </p:nvGrpSpPr>
        <p:grpSpPr bwMode="auto">
          <a:xfrm>
            <a:off x="8311580" y="4361260"/>
            <a:ext cx="325438" cy="396875"/>
            <a:chOff x="480" y="720"/>
            <a:chExt cx="432" cy="528"/>
          </a:xfrm>
        </p:grpSpPr>
        <p:sp>
          <p:nvSpPr>
            <p:cNvPr id="169" name="Rectangle 116"/>
            <p:cNvSpPr>
              <a:spLocks noChangeArrowheads="1"/>
            </p:cNvSpPr>
            <p:nvPr/>
          </p:nvSpPr>
          <p:spPr bwMode="auto">
            <a:xfrm>
              <a:off x="480" y="720"/>
              <a:ext cx="432" cy="52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B2B2B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noAutofit/>
            </a:bodyPr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70" name="Rectangle 117"/>
            <p:cNvSpPr>
              <a:spLocks noChangeArrowheads="1"/>
            </p:cNvSpPr>
            <p:nvPr/>
          </p:nvSpPr>
          <p:spPr bwMode="auto">
            <a:xfrm>
              <a:off x="528" y="768"/>
              <a:ext cx="336" cy="96"/>
            </a:xfrm>
            <a:prstGeom prst="rect">
              <a:avLst/>
            </a:prstGeom>
            <a:solidFill>
              <a:schemeClr val="accent2"/>
            </a:solidFill>
            <a:ln w="6350">
              <a:solidFill>
                <a:srgbClr val="B2B2B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noAutofit/>
            </a:bodyPr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71" name="Rectangle 118"/>
            <p:cNvSpPr>
              <a:spLocks noChangeArrowheads="1"/>
            </p:cNvSpPr>
            <p:nvPr/>
          </p:nvSpPr>
          <p:spPr bwMode="auto">
            <a:xfrm>
              <a:off x="528" y="864"/>
              <a:ext cx="48" cy="168"/>
            </a:xfrm>
            <a:prstGeom prst="rect">
              <a:avLst/>
            </a:prstGeom>
            <a:solidFill>
              <a:schemeClr val="accent1"/>
            </a:solidFill>
            <a:ln w="6350">
              <a:solidFill>
                <a:srgbClr val="B2B2B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noAutofit/>
            </a:bodyPr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72" name="Rectangle 119"/>
            <p:cNvSpPr>
              <a:spLocks noChangeArrowheads="1"/>
            </p:cNvSpPr>
            <p:nvPr/>
          </p:nvSpPr>
          <p:spPr bwMode="auto">
            <a:xfrm>
              <a:off x="576" y="864"/>
              <a:ext cx="192" cy="336"/>
            </a:xfrm>
            <a:prstGeom prst="rect">
              <a:avLst/>
            </a:prstGeom>
            <a:solidFill>
              <a:srgbClr val="FFFFCC"/>
            </a:solidFill>
            <a:ln w="6350">
              <a:solidFill>
                <a:srgbClr val="B2B2B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noAutofit/>
            </a:bodyPr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73" name="Rectangle 120"/>
            <p:cNvSpPr>
              <a:spLocks noChangeArrowheads="1"/>
            </p:cNvSpPr>
            <p:nvPr/>
          </p:nvSpPr>
          <p:spPr bwMode="auto">
            <a:xfrm>
              <a:off x="528" y="1008"/>
              <a:ext cx="48" cy="192"/>
            </a:xfrm>
            <a:prstGeom prst="rect">
              <a:avLst/>
            </a:prstGeom>
            <a:solidFill>
              <a:srgbClr val="CCECFF"/>
            </a:solidFill>
            <a:ln w="6350">
              <a:solidFill>
                <a:srgbClr val="B2B2B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noAutofit/>
            </a:bodyPr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74" name="Rectangle 121"/>
            <p:cNvSpPr>
              <a:spLocks noChangeArrowheads="1"/>
            </p:cNvSpPr>
            <p:nvPr/>
          </p:nvSpPr>
          <p:spPr bwMode="auto">
            <a:xfrm>
              <a:off x="768" y="864"/>
              <a:ext cx="96" cy="336"/>
            </a:xfrm>
            <a:prstGeom prst="rect">
              <a:avLst/>
            </a:prstGeom>
            <a:noFill/>
            <a:ln w="6350">
              <a:solidFill>
                <a:srgbClr val="B2B2B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69696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noAutofit/>
            </a:bodyPr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grpSp>
        <p:nvGrpSpPr>
          <p:cNvPr id="175" name="Group 122"/>
          <p:cNvGrpSpPr>
            <a:grpSpLocks/>
          </p:cNvGrpSpPr>
          <p:nvPr/>
        </p:nvGrpSpPr>
        <p:grpSpPr bwMode="auto">
          <a:xfrm>
            <a:off x="7436868" y="3923110"/>
            <a:ext cx="323850" cy="398462"/>
            <a:chOff x="480" y="720"/>
            <a:chExt cx="432" cy="528"/>
          </a:xfrm>
        </p:grpSpPr>
        <p:sp>
          <p:nvSpPr>
            <p:cNvPr id="176" name="Rectangle 123"/>
            <p:cNvSpPr>
              <a:spLocks noChangeArrowheads="1"/>
            </p:cNvSpPr>
            <p:nvPr/>
          </p:nvSpPr>
          <p:spPr bwMode="auto">
            <a:xfrm>
              <a:off x="480" y="720"/>
              <a:ext cx="432" cy="52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B2B2B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noAutofit/>
            </a:bodyPr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77" name="Rectangle 124"/>
            <p:cNvSpPr>
              <a:spLocks noChangeArrowheads="1"/>
            </p:cNvSpPr>
            <p:nvPr/>
          </p:nvSpPr>
          <p:spPr bwMode="auto">
            <a:xfrm>
              <a:off x="528" y="768"/>
              <a:ext cx="336" cy="96"/>
            </a:xfrm>
            <a:prstGeom prst="rect">
              <a:avLst/>
            </a:prstGeom>
            <a:solidFill>
              <a:schemeClr val="accent2"/>
            </a:solidFill>
            <a:ln w="6350">
              <a:solidFill>
                <a:srgbClr val="B2B2B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noAutofit/>
            </a:bodyPr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78" name="Rectangle 125"/>
            <p:cNvSpPr>
              <a:spLocks noChangeArrowheads="1"/>
            </p:cNvSpPr>
            <p:nvPr/>
          </p:nvSpPr>
          <p:spPr bwMode="auto">
            <a:xfrm>
              <a:off x="528" y="864"/>
              <a:ext cx="48" cy="168"/>
            </a:xfrm>
            <a:prstGeom prst="rect">
              <a:avLst/>
            </a:prstGeom>
            <a:solidFill>
              <a:schemeClr val="accent1"/>
            </a:solidFill>
            <a:ln w="6350">
              <a:solidFill>
                <a:srgbClr val="B2B2B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noAutofit/>
            </a:bodyPr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79" name="Rectangle 126"/>
            <p:cNvSpPr>
              <a:spLocks noChangeArrowheads="1"/>
            </p:cNvSpPr>
            <p:nvPr/>
          </p:nvSpPr>
          <p:spPr bwMode="auto">
            <a:xfrm>
              <a:off x="576" y="864"/>
              <a:ext cx="192" cy="336"/>
            </a:xfrm>
            <a:prstGeom prst="rect">
              <a:avLst/>
            </a:prstGeom>
            <a:solidFill>
              <a:srgbClr val="FFFFCC"/>
            </a:solidFill>
            <a:ln w="6350">
              <a:solidFill>
                <a:srgbClr val="B2B2B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noAutofit/>
            </a:bodyPr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80" name="Rectangle 127"/>
            <p:cNvSpPr>
              <a:spLocks noChangeArrowheads="1"/>
            </p:cNvSpPr>
            <p:nvPr/>
          </p:nvSpPr>
          <p:spPr bwMode="auto">
            <a:xfrm>
              <a:off x="528" y="1008"/>
              <a:ext cx="48" cy="192"/>
            </a:xfrm>
            <a:prstGeom prst="rect">
              <a:avLst/>
            </a:prstGeom>
            <a:solidFill>
              <a:srgbClr val="CCECFF"/>
            </a:solidFill>
            <a:ln w="6350">
              <a:solidFill>
                <a:srgbClr val="B2B2B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noAutofit/>
            </a:bodyPr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81" name="Rectangle 128"/>
            <p:cNvSpPr>
              <a:spLocks noChangeArrowheads="1"/>
            </p:cNvSpPr>
            <p:nvPr/>
          </p:nvSpPr>
          <p:spPr bwMode="auto">
            <a:xfrm>
              <a:off x="768" y="864"/>
              <a:ext cx="96" cy="336"/>
            </a:xfrm>
            <a:prstGeom prst="rect">
              <a:avLst/>
            </a:prstGeom>
            <a:noFill/>
            <a:ln w="6350">
              <a:solidFill>
                <a:srgbClr val="B2B2B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69696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noAutofit/>
            </a:bodyPr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grpSp>
        <p:nvGrpSpPr>
          <p:cNvPr id="182" name="Group 129"/>
          <p:cNvGrpSpPr>
            <a:grpSpLocks/>
          </p:cNvGrpSpPr>
          <p:nvPr/>
        </p:nvGrpSpPr>
        <p:grpSpPr bwMode="auto">
          <a:xfrm>
            <a:off x="7835330" y="3840560"/>
            <a:ext cx="323850" cy="396875"/>
            <a:chOff x="480" y="720"/>
            <a:chExt cx="432" cy="528"/>
          </a:xfrm>
        </p:grpSpPr>
        <p:sp>
          <p:nvSpPr>
            <p:cNvPr id="183" name="Rectangle 130"/>
            <p:cNvSpPr>
              <a:spLocks noChangeArrowheads="1"/>
            </p:cNvSpPr>
            <p:nvPr/>
          </p:nvSpPr>
          <p:spPr bwMode="auto">
            <a:xfrm>
              <a:off x="480" y="720"/>
              <a:ext cx="432" cy="52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B2B2B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noAutofit/>
            </a:bodyPr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84" name="Rectangle 131"/>
            <p:cNvSpPr>
              <a:spLocks noChangeArrowheads="1"/>
            </p:cNvSpPr>
            <p:nvPr/>
          </p:nvSpPr>
          <p:spPr bwMode="auto">
            <a:xfrm>
              <a:off x="528" y="768"/>
              <a:ext cx="336" cy="96"/>
            </a:xfrm>
            <a:prstGeom prst="rect">
              <a:avLst/>
            </a:prstGeom>
            <a:solidFill>
              <a:schemeClr val="accent2"/>
            </a:solidFill>
            <a:ln w="6350">
              <a:solidFill>
                <a:srgbClr val="B2B2B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noAutofit/>
            </a:bodyPr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85" name="Rectangle 132"/>
            <p:cNvSpPr>
              <a:spLocks noChangeArrowheads="1"/>
            </p:cNvSpPr>
            <p:nvPr/>
          </p:nvSpPr>
          <p:spPr bwMode="auto">
            <a:xfrm>
              <a:off x="528" y="864"/>
              <a:ext cx="48" cy="168"/>
            </a:xfrm>
            <a:prstGeom prst="rect">
              <a:avLst/>
            </a:prstGeom>
            <a:solidFill>
              <a:schemeClr val="accent1"/>
            </a:solidFill>
            <a:ln w="6350">
              <a:solidFill>
                <a:srgbClr val="B2B2B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noAutofit/>
            </a:bodyPr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86" name="Rectangle 133"/>
            <p:cNvSpPr>
              <a:spLocks noChangeArrowheads="1"/>
            </p:cNvSpPr>
            <p:nvPr/>
          </p:nvSpPr>
          <p:spPr bwMode="auto">
            <a:xfrm>
              <a:off x="576" y="864"/>
              <a:ext cx="192" cy="336"/>
            </a:xfrm>
            <a:prstGeom prst="rect">
              <a:avLst/>
            </a:prstGeom>
            <a:solidFill>
              <a:srgbClr val="FFFFCC"/>
            </a:solidFill>
            <a:ln w="6350">
              <a:solidFill>
                <a:srgbClr val="B2B2B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noAutofit/>
            </a:bodyPr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87" name="Rectangle 134"/>
            <p:cNvSpPr>
              <a:spLocks noChangeArrowheads="1"/>
            </p:cNvSpPr>
            <p:nvPr/>
          </p:nvSpPr>
          <p:spPr bwMode="auto">
            <a:xfrm>
              <a:off x="528" y="1008"/>
              <a:ext cx="48" cy="192"/>
            </a:xfrm>
            <a:prstGeom prst="rect">
              <a:avLst/>
            </a:prstGeom>
            <a:solidFill>
              <a:srgbClr val="CCECFF"/>
            </a:solidFill>
            <a:ln w="6350">
              <a:solidFill>
                <a:srgbClr val="B2B2B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noAutofit/>
            </a:bodyPr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88" name="Rectangle 135"/>
            <p:cNvSpPr>
              <a:spLocks noChangeArrowheads="1"/>
            </p:cNvSpPr>
            <p:nvPr/>
          </p:nvSpPr>
          <p:spPr bwMode="auto">
            <a:xfrm>
              <a:off x="768" y="864"/>
              <a:ext cx="96" cy="336"/>
            </a:xfrm>
            <a:prstGeom prst="rect">
              <a:avLst/>
            </a:prstGeom>
            <a:noFill/>
            <a:ln w="6350">
              <a:solidFill>
                <a:srgbClr val="B2B2B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69696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noAutofit/>
            </a:bodyPr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grpSp>
        <p:nvGrpSpPr>
          <p:cNvPr id="189" name="Group 136"/>
          <p:cNvGrpSpPr>
            <a:grpSpLocks/>
          </p:cNvGrpSpPr>
          <p:nvPr/>
        </p:nvGrpSpPr>
        <p:grpSpPr bwMode="auto">
          <a:xfrm>
            <a:off x="8232205" y="3875485"/>
            <a:ext cx="325438" cy="398462"/>
            <a:chOff x="480" y="720"/>
            <a:chExt cx="432" cy="528"/>
          </a:xfrm>
        </p:grpSpPr>
        <p:sp>
          <p:nvSpPr>
            <p:cNvPr id="190" name="Rectangle 137"/>
            <p:cNvSpPr>
              <a:spLocks noChangeArrowheads="1"/>
            </p:cNvSpPr>
            <p:nvPr/>
          </p:nvSpPr>
          <p:spPr bwMode="auto">
            <a:xfrm>
              <a:off x="480" y="720"/>
              <a:ext cx="432" cy="52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B2B2B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noAutofit/>
            </a:bodyPr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91" name="Rectangle 138"/>
            <p:cNvSpPr>
              <a:spLocks noChangeArrowheads="1"/>
            </p:cNvSpPr>
            <p:nvPr/>
          </p:nvSpPr>
          <p:spPr bwMode="auto">
            <a:xfrm>
              <a:off x="528" y="768"/>
              <a:ext cx="336" cy="96"/>
            </a:xfrm>
            <a:prstGeom prst="rect">
              <a:avLst/>
            </a:prstGeom>
            <a:solidFill>
              <a:schemeClr val="accent2"/>
            </a:solidFill>
            <a:ln w="6350">
              <a:solidFill>
                <a:srgbClr val="B2B2B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noAutofit/>
            </a:bodyPr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92" name="Rectangle 139"/>
            <p:cNvSpPr>
              <a:spLocks noChangeArrowheads="1"/>
            </p:cNvSpPr>
            <p:nvPr/>
          </p:nvSpPr>
          <p:spPr bwMode="auto">
            <a:xfrm>
              <a:off x="528" y="864"/>
              <a:ext cx="48" cy="168"/>
            </a:xfrm>
            <a:prstGeom prst="rect">
              <a:avLst/>
            </a:prstGeom>
            <a:solidFill>
              <a:schemeClr val="accent1"/>
            </a:solidFill>
            <a:ln w="6350">
              <a:solidFill>
                <a:srgbClr val="B2B2B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noAutofit/>
            </a:bodyPr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93" name="Rectangle 140"/>
            <p:cNvSpPr>
              <a:spLocks noChangeArrowheads="1"/>
            </p:cNvSpPr>
            <p:nvPr/>
          </p:nvSpPr>
          <p:spPr bwMode="auto">
            <a:xfrm>
              <a:off x="576" y="864"/>
              <a:ext cx="192" cy="336"/>
            </a:xfrm>
            <a:prstGeom prst="rect">
              <a:avLst/>
            </a:prstGeom>
            <a:solidFill>
              <a:srgbClr val="FFFFCC"/>
            </a:solidFill>
            <a:ln w="6350">
              <a:solidFill>
                <a:srgbClr val="B2B2B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noAutofit/>
            </a:bodyPr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94" name="Rectangle 141"/>
            <p:cNvSpPr>
              <a:spLocks noChangeArrowheads="1"/>
            </p:cNvSpPr>
            <p:nvPr/>
          </p:nvSpPr>
          <p:spPr bwMode="auto">
            <a:xfrm>
              <a:off x="528" y="1008"/>
              <a:ext cx="48" cy="192"/>
            </a:xfrm>
            <a:prstGeom prst="rect">
              <a:avLst/>
            </a:prstGeom>
            <a:solidFill>
              <a:srgbClr val="CCECFF"/>
            </a:solidFill>
            <a:ln w="6350">
              <a:solidFill>
                <a:srgbClr val="B2B2B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noAutofit/>
            </a:bodyPr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95" name="Rectangle 142"/>
            <p:cNvSpPr>
              <a:spLocks noChangeArrowheads="1"/>
            </p:cNvSpPr>
            <p:nvPr/>
          </p:nvSpPr>
          <p:spPr bwMode="auto">
            <a:xfrm>
              <a:off x="768" y="864"/>
              <a:ext cx="96" cy="336"/>
            </a:xfrm>
            <a:prstGeom prst="rect">
              <a:avLst/>
            </a:prstGeom>
            <a:noFill/>
            <a:ln w="6350">
              <a:solidFill>
                <a:srgbClr val="B2B2B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69696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noAutofit/>
            </a:bodyPr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sp>
        <p:nvSpPr>
          <p:cNvPr id="196" name="Arc 143"/>
          <p:cNvSpPr>
            <a:spLocks/>
          </p:cNvSpPr>
          <p:nvPr/>
        </p:nvSpPr>
        <p:spPr bwMode="auto">
          <a:xfrm>
            <a:off x="7616255" y="4021535"/>
            <a:ext cx="361950" cy="180975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600"/>
              <a:gd name="T1" fmla="*/ 0 h 21600"/>
              <a:gd name="T2" fmla="*/ 21600 w 21600"/>
              <a:gd name="T3" fmla="*/ 21600 h 21600"/>
              <a:gd name="T4" fmla="*/ 0 w 21600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12700">
            <a:solidFill>
              <a:schemeClr val="accent2"/>
            </a:solidFill>
            <a:prstDash val="dash"/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noAutofit/>
          </a:bodyPr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97" name="Arc 144"/>
          <p:cNvSpPr>
            <a:spLocks/>
          </p:cNvSpPr>
          <p:nvPr/>
        </p:nvSpPr>
        <p:spPr bwMode="auto">
          <a:xfrm rot="-8853416">
            <a:off x="7544818" y="4164410"/>
            <a:ext cx="361950" cy="288925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600"/>
              <a:gd name="T1" fmla="*/ 0 h 21600"/>
              <a:gd name="T2" fmla="*/ 21600 w 21600"/>
              <a:gd name="T3" fmla="*/ 21600 h 21600"/>
              <a:gd name="T4" fmla="*/ 0 w 21600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12700">
            <a:solidFill>
              <a:schemeClr val="accent2"/>
            </a:solidFill>
            <a:prstDash val="dash"/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noAutofit/>
          </a:bodyPr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98" name="Arc 145"/>
          <p:cNvSpPr>
            <a:spLocks/>
          </p:cNvSpPr>
          <p:nvPr/>
        </p:nvSpPr>
        <p:spPr bwMode="auto">
          <a:xfrm rot="-2045461">
            <a:off x="7668643" y="3842147"/>
            <a:ext cx="649287" cy="360363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600"/>
              <a:gd name="T1" fmla="*/ 0 h 22995"/>
              <a:gd name="T2" fmla="*/ 21555 w 21600"/>
              <a:gd name="T3" fmla="*/ 22995 h 22995"/>
              <a:gd name="T4" fmla="*/ 0 w 21600"/>
              <a:gd name="T5" fmla="*/ 21600 h 229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2995" fill="none" extrusionOk="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22065"/>
                  <a:pt x="21584" y="22530"/>
                  <a:pt x="21554" y="22994"/>
                </a:cubicBezTo>
              </a:path>
              <a:path w="21600" h="22995" stroke="0" extrusionOk="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22065"/>
                  <a:pt x="21584" y="22530"/>
                  <a:pt x="21554" y="22994"/>
                </a:cubicBezTo>
                <a:lnTo>
                  <a:pt x="0" y="21600"/>
                </a:lnTo>
                <a:close/>
              </a:path>
            </a:pathLst>
          </a:custGeom>
          <a:noFill/>
          <a:ln w="12700">
            <a:solidFill>
              <a:schemeClr val="accent2"/>
            </a:solidFill>
            <a:prstDash val="dash"/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noAutofit/>
          </a:bodyPr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99" name="Arc 146"/>
          <p:cNvSpPr>
            <a:spLocks/>
          </p:cNvSpPr>
          <p:nvPr/>
        </p:nvSpPr>
        <p:spPr bwMode="auto">
          <a:xfrm rot="364681">
            <a:off x="7684518" y="4202510"/>
            <a:ext cx="473075" cy="231775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600"/>
              <a:gd name="T1" fmla="*/ 0 h 22380"/>
              <a:gd name="T2" fmla="*/ 21586 w 21600"/>
              <a:gd name="T3" fmla="*/ 22380 h 22380"/>
              <a:gd name="T4" fmla="*/ 0 w 21600"/>
              <a:gd name="T5" fmla="*/ 21600 h 223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2380" fill="none" extrusionOk="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21860"/>
                  <a:pt x="21595" y="22120"/>
                  <a:pt x="21585" y="22379"/>
                </a:cubicBezTo>
              </a:path>
              <a:path w="21600" h="22380" stroke="0" extrusionOk="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21860"/>
                  <a:pt x="21595" y="22120"/>
                  <a:pt x="21585" y="22379"/>
                </a:cubicBezTo>
                <a:lnTo>
                  <a:pt x="0" y="21600"/>
                </a:lnTo>
                <a:close/>
              </a:path>
            </a:pathLst>
          </a:custGeom>
          <a:noFill/>
          <a:ln w="12700">
            <a:solidFill>
              <a:schemeClr val="accent2"/>
            </a:solidFill>
            <a:prstDash val="dash"/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noAutofit/>
          </a:bodyPr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00" name="Arc 147"/>
          <p:cNvSpPr>
            <a:spLocks/>
          </p:cNvSpPr>
          <p:nvPr/>
        </p:nvSpPr>
        <p:spPr bwMode="auto">
          <a:xfrm rot="-4258080">
            <a:off x="7682136" y="4289029"/>
            <a:ext cx="307975" cy="68262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600"/>
              <a:gd name="T1" fmla="*/ 0 h 21600"/>
              <a:gd name="T2" fmla="*/ 21600 w 21600"/>
              <a:gd name="T3" fmla="*/ 21600 h 21600"/>
              <a:gd name="T4" fmla="*/ 0 w 21600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12700">
            <a:solidFill>
              <a:schemeClr val="accent2"/>
            </a:solidFill>
            <a:prstDash val="dash"/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noAutofit/>
          </a:bodyPr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01" name="Text Box 148"/>
          <p:cNvSpPr txBox="1">
            <a:spLocks noChangeArrowheads="1"/>
          </p:cNvSpPr>
          <p:nvPr/>
        </p:nvSpPr>
        <p:spPr bwMode="auto">
          <a:xfrm>
            <a:off x="8193360" y="3545285"/>
            <a:ext cx="434975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noAutofit/>
          </a:bodyPr>
          <a:lstStyle/>
          <a:p>
            <a:r>
              <a:rPr lang="en-US" altLang="ko-KR" sz="1000" b="1">
                <a:latin typeface="나눔고딕" panose="020D0604000000000000" pitchFamily="50" charset="-127"/>
                <a:ea typeface="나눔고딕" panose="020D0604000000000000" pitchFamily="50" charset="-127"/>
              </a:rPr>
              <a:t>C </a:t>
            </a:r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상품</a:t>
            </a:r>
          </a:p>
        </p:txBody>
      </p:sp>
      <p:grpSp>
        <p:nvGrpSpPr>
          <p:cNvPr id="202" name="Group 149"/>
          <p:cNvGrpSpPr>
            <a:grpSpLocks/>
          </p:cNvGrpSpPr>
          <p:nvPr/>
        </p:nvGrpSpPr>
        <p:grpSpPr bwMode="auto">
          <a:xfrm>
            <a:off x="1923480" y="3426224"/>
            <a:ext cx="539750" cy="657226"/>
            <a:chOff x="480" y="720"/>
            <a:chExt cx="432" cy="528"/>
          </a:xfrm>
        </p:grpSpPr>
        <p:sp>
          <p:nvSpPr>
            <p:cNvPr id="203" name="Rectangle 150"/>
            <p:cNvSpPr>
              <a:spLocks noChangeArrowheads="1"/>
            </p:cNvSpPr>
            <p:nvPr/>
          </p:nvSpPr>
          <p:spPr bwMode="auto">
            <a:xfrm>
              <a:off x="480" y="720"/>
              <a:ext cx="432" cy="52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B2B2B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noAutofit/>
            </a:bodyPr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04" name="Rectangle 151"/>
            <p:cNvSpPr>
              <a:spLocks noChangeArrowheads="1"/>
            </p:cNvSpPr>
            <p:nvPr/>
          </p:nvSpPr>
          <p:spPr bwMode="auto">
            <a:xfrm>
              <a:off x="528" y="768"/>
              <a:ext cx="336" cy="96"/>
            </a:xfrm>
            <a:prstGeom prst="rect">
              <a:avLst/>
            </a:prstGeom>
            <a:solidFill>
              <a:schemeClr val="accent2"/>
            </a:solidFill>
            <a:ln w="6350">
              <a:solidFill>
                <a:srgbClr val="B2B2B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noAutofit/>
            </a:bodyPr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05" name="Rectangle 152"/>
            <p:cNvSpPr>
              <a:spLocks noChangeArrowheads="1"/>
            </p:cNvSpPr>
            <p:nvPr/>
          </p:nvSpPr>
          <p:spPr bwMode="auto">
            <a:xfrm>
              <a:off x="528" y="864"/>
              <a:ext cx="48" cy="168"/>
            </a:xfrm>
            <a:prstGeom prst="rect">
              <a:avLst/>
            </a:prstGeom>
            <a:solidFill>
              <a:schemeClr val="accent1"/>
            </a:solidFill>
            <a:ln w="6350">
              <a:solidFill>
                <a:srgbClr val="B2B2B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noAutofit/>
            </a:bodyPr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06" name="Rectangle 153"/>
            <p:cNvSpPr>
              <a:spLocks noChangeArrowheads="1"/>
            </p:cNvSpPr>
            <p:nvPr/>
          </p:nvSpPr>
          <p:spPr bwMode="auto">
            <a:xfrm>
              <a:off x="576" y="864"/>
              <a:ext cx="192" cy="336"/>
            </a:xfrm>
            <a:prstGeom prst="rect">
              <a:avLst/>
            </a:prstGeom>
            <a:solidFill>
              <a:srgbClr val="FFFFCC"/>
            </a:solidFill>
            <a:ln w="6350">
              <a:solidFill>
                <a:srgbClr val="B2B2B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noAutofit/>
            </a:bodyPr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07" name="Rectangle 154"/>
            <p:cNvSpPr>
              <a:spLocks noChangeArrowheads="1"/>
            </p:cNvSpPr>
            <p:nvPr/>
          </p:nvSpPr>
          <p:spPr bwMode="auto">
            <a:xfrm>
              <a:off x="528" y="1008"/>
              <a:ext cx="48" cy="192"/>
            </a:xfrm>
            <a:prstGeom prst="rect">
              <a:avLst/>
            </a:prstGeom>
            <a:solidFill>
              <a:srgbClr val="CCECFF"/>
            </a:solidFill>
            <a:ln w="6350">
              <a:solidFill>
                <a:srgbClr val="B2B2B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noAutofit/>
            </a:bodyPr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08" name="Rectangle 155"/>
            <p:cNvSpPr>
              <a:spLocks noChangeArrowheads="1"/>
            </p:cNvSpPr>
            <p:nvPr/>
          </p:nvSpPr>
          <p:spPr bwMode="auto">
            <a:xfrm>
              <a:off x="768" y="864"/>
              <a:ext cx="96" cy="336"/>
            </a:xfrm>
            <a:prstGeom prst="rect">
              <a:avLst/>
            </a:prstGeom>
            <a:noFill/>
            <a:ln w="6350">
              <a:solidFill>
                <a:srgbClr val="B2B2B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69696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noAutofit/>
            </a:bodyPr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sp>
        <p:nvSpPr>
          <p:cNvPr id="209" name="AutoShape 156"/>
          <p:cNvSpPr>
            <a:spLocks noChangeArrowheads="1"/>
          </p:cNvSpPr>
          <p:nvPr/>
        </p:nvSpPr>
        <p:spPr bwMode="auto">
          <a:xfrm>
            <a:off x="3144268" y="2970610"/>
            <a:ext cx="2332037" cy="2333625"/>
          </a:xfrm>
          <a:prstGeom prst="roundRect">
            <a:avLst>
              <a:gd name="adj" fmla="val 3648"/>
            </a:avLst>
          </a:prstGeom>
          <a:solidFill>
            <a:srgbClr val="00B050">
              <a:alpha val="33000"/>
            </a:srgbClr>
          </a:solidFill>
          <a:ln w="28575">
            <a:solidFill>
              <a:srgbClr val="00B050"/>
            </a:solidFill>
            <a:round/>
            <a:headEnd/>
            <a:tailEnd/>
          </a:ln>
          <a:effectLst/>
        </p:spPr>
        <p:txBody>
          <a:bodyPr lIns="90000" tIns="46800" rIns="90000" bIns="46800" anchor="ctr">
            <a:noAutofit/>
          </a:bodyPr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10" name="Text Box 157"/>
          <p:cNvSpPr txBox="1">
            <a:spLocks noChangeArrowheads="1"/>
          </p:cNvSpPr>
          <p:nvPr/>
        </p:nvSpPr>
        <p:spPr bwMode="auto">
          <a:xfrm>
            <a:off x="3144268" y="2972197"/>
            <a:ext cx="23304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noAutofit/>
          </a:bodyPr>
          <a:lstStyle/>
          <a:p>
            <a:pPr algn="r"/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미래 및 리스크 대비를 원하는</a:t>
            </a:r>
            <a:b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고객을 위한 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Main Policy gateway</a:t>
            </a:r>
          </a:p>
        </p:txBody>
      </p:sp>
      <p:sp>
        <p:nvSpPr>
          <p:cNvPr id="211" name="Text Box 158"/>
          <p:cNvSpPr txBox="1">
            <a:spLocks noChangeArrowheads="1"/>
          </p:cNvSpPr>
          <p:nvPr/>
        </p:nvSpPr>
        <p:spPr bwMode="auto">
          <a:xfrm>
            <a:off x="1936180" y="4078685"/>
            <a:ext cx="4699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noAutofit/>
          </a:bodyPr>
          <a:lstStyle/>
          <a:p>
            <a:r>
              <a:rPr lang="en-US" altLang="ko-KR" sz="1000" b="1">
                <a:latin typeface="나눔고딕" panose="020D0604000000000000" pitchFamily="50" charset="-127"/>
                <a:ea typeface="나눔고딕" panose="020D0604000000000000" pitchFamily="50" charset="-127"/>
              </a:rPr>
              <a:t>Main</a:t>
            </a:r>
          </a:p>
        </p:txBody>
      </p:sp>
      <p:sp>
        <p:nvSpPr>
          <p:cNvPr id="212" name="AutoShape 159"/>
          <p:cNvSpPr>
            <a:spLocks noChangeArrowheads="1"/>
          </p:cNvSpPr>
          <p:nvPr/>
        </p:nvSpPr>
        <p:spPr bwMode="auto">
          <a:xfrm>
            <a:off x="6946330" y="2276872"/>
            <a:ext cx="1411288" cy="1412875"/>
          </a:xfrm>
          <a:prstGeom prst="roundRect">
            <a:avLst>
              <a:gd name="adj" fmla="val 3648"/>
            </a:avLst>
          </a:prstGeom>
          <a:solidFill>
            <a:srgbClr val="00B050">
              <a:alpha val="33000"/>
            </a:srgbClr>
          </a:solidFill>
          <a:ln w="28575">
            <a:solidFill>
              <a:srgbClr val="00B050"/>
            </a:solidFill>
            <a:round/>
            <a:headEnd/>
            <a:tailEnd/>
          </a:ln>
          <a:effectLst/>
        </p:spPr>
        <p:txBody>
          <a:bodyPr lIns="90000" tIns="46800" rIns="90000" bIns="46800" anchor="ctr">
            <a:noAutofit/>
          </a:bodyPr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pSp>
        <p:nvGrpSpPr>
          <p:cNvPr id="213" name="Group 160"/>
          <p:cNvGrpSpPr>
            <a:grpSpLocks/>
          </p:cNvGrpSpPr>
          <p:nvPr/>
        </p:nvGrpSpPr>
        <p:grpSpPr bwMode="auto">
          <a:xfrm>
            <a:off x="7360668" y="3149997"/>
            <a:ext cx="323850" cy="398463"/>
            <a:chOff x="480" y="720"/>
            <a:chExt cx="432" cy="528"/>
          </a:xfrm>
        </p:grpSpPr>
        <p:sp>
          <p:nvSpPr>
            <p:cNvPr id="214" name="Rectangle 161"/>
            <p:cNvSpPr>
              <a:spLocks noChangeArrowheads="1"/>
            </p:cNvSpPr>
            <p:nvPr/>
          </p:nvSpPr>
          <p:spPr bwMode="auto">
            <a:xfrm>
              <a:off x="480" y="720"/>
              <a:ext cx="432" cy="52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B2B2B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noAutofit/>
            </a:bodyPr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15" name="Rectangle 162"/>
            <p:cNvSpPr>
              <a:spLocks noChangeArrowheads="1"/>
            </p:cNvSpPr>
            <p:nvPr/>
          </p:nvSpPr>
          <p:spPr bwMode="auto">
            <a:xfrm>
              <a:off x="528" y="768"/>
              <a:ext cx="336" cy="96"/>
            </a:xfrm>
            <a:prstGeom prst="rect">
              <a:avLst/>
            </a:prstGeom>
            <a:solidFill>
              <a:schemeClr val="accent2"/>
            </a:solidFill>
            <a:ln w="6350">
              <a:solidFill>
                <a:srgbClr val="B2B2B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noAutofit/>
            </a:bodyPr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16" name="Rectangle 163"/>
            <p:cNvSpPr>
              <a:spLocks noChangeArrowheads="1"/>
            </p:cNvSpPr>
            <p:nvPr/>
          </p:nvSpPr>
          <p:spPr bwMode="auto">
            <a:xfrm>
              <a:off x="528" y="864"/>
              <a:ext cx="48" cy="168"/>
            </a:xfrm>
            <a:prstGeom prst="rect">
              <a:avLst/>
            </a:prstGeom>
            <a:solidFill>
              <a:schemeClr val="accent1"/>
            </a:solidFill>
            <a:ln w="6350">
              <a:solidFill>
                <a:srgbClr val="B2B2B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noAutofit/>
            </a:bodyPr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17" name="Rectangle 164"/>
            <p:cNvSpPr>
              <a:spLocks noChangeArrowheads="1"/>
            </p:cNvSpPr>
            <p:nvPr/>
          </p:nvSpPr>
          <p:spPr bwMode="auto">
            <a:xfrm>
              <a:off x="576" y="864"/>
              <a:ext cx="192" cy="336"/>
            </a:xfrm>
            <a:prstGeom prst="rect">
              <a:avLst/>
            </a:prstGeom>
            <a:solidFill>
              <a:srgbClr val="FFFFCC"/>
            </a:solidFill>
            <a:ln w="6350">
              <a:solidFill>
                <a:srgbClr val="B2B2B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noAutofit/>
            </a:bodyPr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18" name="Rectangle 165"/>
            <p:cNvSpPr>
              <a:spLocks noChangeArrowheads="1"/>
            </p:cNvSpPr>
            <p:nvPr/>
          </p:nvSpPr>
          <p:spPr bwMode="auto">
            <a:xfrm>
              <a:off x="528" y="1008"/>
              <a:ext cx="48" cy="192"/>
            </a:xfrm>
            <a:prstGeom prst="rect">
              <a:avLst/>
            </a:prstGeom>
            <a:solidFill>
              <a:srgbClr val="CCECFF"/>
            </a:solidFill>
            <a:ln w="6350">
              <a:solidFill>
                <a:srgbClr val="B2B2B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noAutofit/>
            </a:bodyPr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19" name="Rectangle 166"/>
            <p:cNvSpPr>
              <a:spLocks noChangeArrowheads="1"/>
            </p:cNvSpPr>
            <p:nvPr/>
          </p:nvSpPr>
          <p:spPr bwMode="auto">
            <a:xfrm>
              <a:off x="768" y="864"/>
              <a:ext cx="96" cy="336"/>
            </a:xfrm>
            <a:prstGeom prst="rect">
              <a:avLst/>
            </a:prstGeom>
            <a:noFill/>
            <a:ln w="6350">
              <a:solidFill>
                <a:srgbClr val="B2B2B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69696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noAutofit/>
            </a:bodyPr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grpSp>
        <p:nvGrpSpPr>
          <p:cNvPr id="220" name="Group 167"/>
          <p:cNvGrpSpPr>
            <a:grpSpLocks/>
          </p:cNvGrpSpPr>
          <p:nvPr/>
        </p:nvGrpSpPr>
        <p:grpSpPr bwMode="auto">
          <a:xfrm>
            <a:off x="7916293" y="3110310"/>
            <a:ext cx="325437" cy="398462"/>
            <a:chOff x="480" y="720"/>
            <a:chExt cx="432" cy="528"/>
          </a:xfrm>
        </p:grpSpPr>
        <p:sp>
          <p:nvSpPr>
            <p:cNvPr id="221" name="Rectangle 168"/>
            <p:cNvSpPr>
              <a:spLocks noChangeArrowheads="1"/>
            </p:cNvSpPr>
            <p:nvPr/>
          </p:nvSpPr>
          <p:spPr bwMode="auto">
            <a:xfrm>
              <a:off x="480" y="720"/>
              <a:ext cx="432" cy="52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B2B2B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noAutofit/>
            </a:bodyPr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22" name="Rectangle 169"/>
            <p:cNvSpPr>
              <a:spLocks noChangeArrowheads="1"/>
            </p:cNvSpPr>
            <p:nvPr/>
          </p:nvSpPr>
          <p:spPr bwMode="auto">
            <a:xfrm>
              <a:off x="528" y="768"/>
              <a:ext cx="336" cy="96"/>
            </a:xfrm>
            <a:prstGeom prst="rect">
              <a:avLst/>
            </a:prstGeom>
            <a:solidFill>
              <a:schemeClr val="accent2"/>
            </a:solidFill>
            <a:ln w="6350">
              <a:solidFill>
                <a:srgbClr val="B2B2B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noAutofit/>
            </a:bodyPr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23" name="Rectangle 170"/>
            <p:cNvSpPr>
              <a:spLocks noChangeArrowheads="1"/>
            </p:cNvSpPr>
            <p:nvPr/>
          </p:nvSpPr>
          <p:spPr bwMode="auto">
            <a:xfrm>
              <a:off x="528" y="864"/>
              <a:ext cx="48" cy="168"/>
            </a:xfrm>
            <a:prstGeom prst="rect">
              <a:avLst/>
            </a:prstGeom>
            <a:solidFill>
              <a:schemeClr val="accent1"/>
            </a:solidFill>
            <a:ln w="6350">
              <a:solidFill>
                <a:srgbClr val="B2B2B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noAutofit/>
            </a:bodyPr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24" name="Rectangle 171"/>
            <p:cNvSpPr>
              <a:spLocks noChangeArrowheads="1"/>
            </p:cNvSpPr>
            <p:nvPr/>
          </p:nvSpPr>
          <p:spPr bwMode="auto">
            <a:xfrm>
              <a:off x="576" y="864"/>
              <a:ext cx="192" cy="336"/>
            </a:xfrm>
            <a:prstGeom prst="rect">
              <a:avLst/>
            </a:prstGeom>
            <a:solidFill>
              <a:srgbClr val="FFFFCC"/>
            </a:solidFill>
            <a:ln w="6350">
              <a:solidFill>
                <a:srgbClr val="B2B2B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noAutofit/>
            </a:bodyPr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25" name="Rectangle 172"/>
            <p:cNvSpPr>
              <a:spLocks noChangeArrowheads="1"/>
            </p:cNvSpPr>
            <p:nvPr/>
          </p:nvSpPr>
          <p:spPr bwMode="auto">
            <a:xfrm>
              <a:off x="528" y="1008"/>
              <a:ext cx="48" cy="192"/>
            </a:xfrm>
            <a:prstGeom prst="rect">
              <a:avLst/>
            </a:prstGeom>
            <a:solidFill>
              <a:srgbClr val="CCECFF"/>
            </a:solidFill>
            <a:ln w="6350">
              <a:solidFill>
                <a:srgbClr val="B2B2B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noAutofit/>
            </a:bodyPr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26" name="Rectangle 173"/>
            <p:cNvSpPr>
              <a:spLocks noChangeArrowheads="1"/>
            </p:cNvSpPr>
            <p:nvPr/>
          </p:nvSpPr>
          <p:spPr bwMode="auto">
            <a:xfrm>
              <a:off x="768" y="864"/>
              <a:ext cx="96" cy="336"/>
            </a:xfrm>
            <a:prstGeom prst="rect">
              <a:avLst/>
            </a:prstGeom>
            <a:noFill/>
            <a:ln w="6350">
              <a:solidFill>
                <a:srgbClr val="B2B2B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69696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noAutofit/>
            </a:bodyPr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sp>
        <p:nvSpPr>
          <p:cNvPr id="227" name="Arc 174"/>
          <p:cNvSpPr>
            <a:spLocks/>
          </p:cNvSpPr>
          <p:nvPr/>
        </p:nvSpPr>
        <p:spPr bwMode="auto">
          <a:xfrm rot="-13975846">
            <a:off x="7597999" y="3230166"/>
            <a:ext cx="363537" cy="288925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600"/>
              <a:gd name="T1" fmla="*/ 0 h 21600"/>
              <a:gd name="T2" fmla="*/ 21600 w 21600"/>
              <a:gd name="T3" fmla="*/ 21600 h 21600"/>
              <a:gd name="T4" fmla="*/ 0 w 21600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12700">
            <a:solidFill>
              <a:schemeClr val="accent2"/>
            </a:solidFill>
            <a:prstDash val="dash"/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noAutofit/>
          </a:bodyPr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pSp>
        <p:nvGrpSpPr>
          <p:cNvPr id="228" name="Group 175"/>
          <p:cNvGrpSpPr>
            <a:grpSpLocks/>
          </p:cNvGrpSpPr>
          <p:nvPr/>
        </p:nvGrpSpPr>
        <p:grpSpPr bwMode="auto">
          <a:xfrm>
            <a:off x="7041580" y="2672160"/>
            <a:ext cx="323850" cy="398462"/>
            <a:chOff x="480" y="720"/>
            <a:chExt cx="432" cy="528"/>
          </a:xfrm>
        </p:grpSpPr>
        <p:sp>
          <p:nvSpPr>
            <p:cNvPr id="229" name="Rectangle 176"/>
            <p:cNvSpPr>
              <a:spLocks noChangeArrowheads="1"/>
            </p:cNvSpPr>
            <p:nvPr/>
          </p:nvSpPr>
          <p:spPr bwMode="auto">
            <a:xfrm>
              <a:off x="480" y="720"/>
              <a:ext cx="432" cy="52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B2B2B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noAutofit/>
            </a:bodyPr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30" name="Rectangle 177"/>
            <p:cNvSpPr>
              <a:spLocks noChangeArrowheads="1"/>
            </p:cNvSpPr>
            <p:nvPr/>
          </p:nvSpPr>
          <p:spPr bwMode="auto">
            <a:xfrm>
              <a:off x="528" y="768"/>
              <a:ext cx="336" cy="96"/>
            </a:xfrm>
            <a:prstGeom prst="rect">
              <a:avLst/>
            </a:prstGeom>
            <a:solidFill>
              <a:schemeClr val="accent2"/>
            </a:solidFill>
            <a:ln w="6350">
              <a:solidFill>
                <a:srgbClr val="B2B2B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noAutofit/>
            </a:bodyPr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31" name="Rectangle 178"/>
            <p:cNvSpPr>
              <a:spLocks noChangeArrowheads="1"/>
            </p:cNvSpPr>
            <p:nvPr/>
          </p:nvSpPr>
          <p:spPr bwMode="auto">
            <a:xfrm>
              <a:off x="528" y="864"/>
              <a:ext cx="48" cy="168"/>
            </a:xfrm>
            <a:prstGeom prst="rect">
              <a:avLst/>
            </a:prstGeom>
            <a:solidFill>
              <a:schemeClr val="accent1"/>
            </a:solidFill>
            <a:ln w="6350">
              <a:solidFill>
                <a:srgbClr val="B2B2B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noAutofit/>
            </a:bodyPr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32" name="Rectangle 179"/>
            <p:cNvSpPr>
              <a:spLocks noChangeArrowheads="1"/>
            </p:cNvSpPr>
            <p:nvPr/>
          </p:nvSpPr>
          <p:spPr bwMode="auto">
            <a:xfrm>
              <a:off x="576" y="864"/>
              <a:ext cx="192" cy="336"/>
            </a:xfrm>
            <a:prstGeom prst="rect">
              <a:avLst/>
            </a:prstGeom>
            <a:solidFill>
              <a:srgbClr val="FFFFCC"/>
            </a:solidFill>
            <a:ln w="6350">
              <a:solidFill>
                <a:srgbClr val="B2B2B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noAutofit/>
            </a:bodyPr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33" name="Rectangle 180"/>
            <p:cNvSpPr>
              <a:spLocks noChangeArrowheads="1"/>
            </p:cNvSpPr>
            <p:nvPr/>
          </p:nvSpPr>
          <p:spPr bwMode="auto">
            <a:xfrm>
              <a:off x="528" y="1008"/>
              <a:ext cx="48" cy="192"/>
            </a:xfrm>
            <a:prstGeom prst="rect">
              <a:avLst/>
            </a:prstGeom>
            <a:solidFill>
              <a:srgbClr val="CCECFF"/>
            </a:solidFill>
            <a:ln w="6350">
              <a:solidFill>
                <a:srgbClr val="B2B2B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noAutofit/>
            </a:bodyPr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34" name="Rectangle 181"/>
            <p:cNvSpPr>
              <a:spLocks noChangeArrowheads="1"/>
            </p:cNvSpPr>
            <p:nvPr/>
          </p:nvSpPr>
          <p:spPr bwMode="auto">
            <a:xfrm>
              <a:off x="768" y="864"/>
              <a:ext cx="96" cy="336"/>
            </a:xfrm>
            <a:prstGeom prst="rect">
              <a:avLst/>
            </a:prstGeom>
            <a:noFill/>
            <a:ln w="6350">
              <a:solidFill>
                <a:srgbClr val="B2B2B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69696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noAutofit/>
            </a:bodyPr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grpSp>
        <p:nvGrpSpPr>
          <p:cNvPr id="235" name="Group 182"/>
          <p:cNvGrpSpPr>
            <a:grpSpLocks/>
          </p:cNvGrpSpPr>
          <p:nvPr/>
        </p:nvGrpSpPr>
        <p:grpSpPr bwMode="auto">
          <a:xfrm>
            <a:off x="7440043" y="2589610"/>
            <a:ext cx="323850" cy="398462"/>
            <a:chOff x="480" y="720"/>
            <a:chExt cx="432" cy="528"/>
          </a:xfrm>
        </p:grpSpPr>
        <p:sp>
          <p:nvSpPr>
            <p:cNvPr id="236" name="Rectangle 183"/>
            <p:cNvSpPr>
              <a:spLocks noChangeArrowheads="1"/>
            </p:cNvSpPr>
            <p:nvPr/>
          </p:nvSpPr>
          <p:spPr bwMode="auto">
            <a:xfrm>
              <a:off x="480" y="720"/>
              <a:ext cx="432" cy="52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B2B2B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noAutofit/>
            </a:bodyPr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37" name="Rectangle 184"/>
            <p:cNvSpPr>
              <a:spLocks noChangeArrowheads="1"/>
            </p:cNvSpPr>
            <p:nvPr/>
          </p:nvSpPr>
          <p:spPr bwMode="auto">
            <a:xfrm>
              <a:off x="528" y="768"/>
              <a:ext cx="336" cy="96"/>
            </a:xfrm>
            <a:prstGeom prst="rect">
              <a:avLst/>
            </a:prstGeom>
            <a:solidFill>
              <a:schemeClr val="accent2"/>
            </a:solidFill>
            <a:ln w="6350">
              <a:solidFill>
                <a:srgbClr val="B2B2B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noAutofit/>
            </a:bodyPr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38" name="Rectangle 185"/>
            <p:cNvSpPr>
              <a:spLocks noChangeArrowheads="1"/>
            </p:cNvSpPr>
            <p:nvPr/>
          </p:nvSpPr>
          <p:spPr bwMode="auto">
            <a:xfrm>
              <a:off x="528" y="864"/>
              <a:ext cx="48" cy="168"/>
            </a:xfrm>
            <a:prstGeom prst="rect">
              <a:avLst/>
            </a:prstGeom>
            <a:solidFill>
              <a:schemeClr val="accent1"/>
            </a:solidFill>
            <a:ln w="6350">
              <a:solidFill>
                <a:srgbClr val="B2B2B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noAutofit/>
            </a:bodyPr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39" name="Rectangle 186"/>
            <p:cNvSpPr>
              <a:spLocks noChangeArrowheads="1"/>
            </p:cNvSpPr>
            <p:nvPr/>
          </p:nvSpPr>
          <p:spPr bwMode="auto">
            <a:xfrm>
              <a:off x="576" y="864"/>
              <a:ext cx="192" cy="336"/>
            </a:xfrm>
            <a:prstGeom prst="rect">
              <a:avLst/>
            </a:prstGeom>
            <a:solidFill>
              <a:srgbClr val="FFFFCC"/>
            </a:solidFill>
            <a:ln w="6350">
              <a:solidFill>
                <a:srgbClr val="B2B2B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noAutofit/>
            </a:bodyPr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40" name="Rectangle 187"/>
            <p:cNvSpPr>
              <a:spLocks noChangeArrowheads="1"/>
            </p:cNvSpPr>
            <p:nvPr/>
          </p:nvSpPr>
          <p:spPr bwMode="auto">
            <a:xfrm>
              <a:off x="528" y="1008"/>
              <a:ext cx="48" cy="192"/>
            </a:xfrm>
            <a:prstGeom prst="rect">
              <a:avLst/>
            </a:prstGeom>
            <a:solidFill>
              <a:srgbClr val="CCECFF"/>
            </a:solidFill>
            <a:ln w="6350">
              <a:solidFill>
                <a:srgbClr val="B2B2B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noAutofit/>
            </a:bodyPr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41" name="Rectangle 188"/>
            <p:cNvSpPr>
              <a:spLocks noChangeArrowheads="1"/>
            </p:cNvSpPr>
            <p:nvPr/>
          </p:nvSpPr>
          <p:spPr bwMode="auto">
            <a:xfrm>
              <a:off x="768" y="864"/>
              <a:ext cx="96" cy="336"/>
            </a:xfrm>
            <a:prstGeom prst="rect">
              <a:avLst/>
            </a:prstGeom>
            <a:noFill/>
            <a:ln w="6350">
              <a:solidFill>
                <a:srgbClr val="B2B2B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69696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noAutofit/>
            </a:bodyPr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grpSp>
        <p:nvGrpSpPr>
          <p:cNvPr id="242" name="Group 189"/>
          <p:cNvGrpSpPr>
            <a:grpSpLocks/>
          </p:cNvGrpSpPr>
          <p:nvPr/>
        </p:nvGrpSpPr>
        <p:grpSpPr bwMode="auto">
          <a:xfrm>
            <a:off x="7836918" y="2624535"/>
            <a:ext cx="325437" cy="398462"/>
            <a:chOff x="480" y="720"/>
            <a:chExt cx="432" cy="528"/>
          </a:xfrm>
        </p:grpSpPr>
        <p:sp>
          <p:nvSpPr>
            <p:cNvPr id="243" name="Rectangle 190"/>
            <p:cNvSpPr>
              <a:spLocks noChangeArrowheads="1"/>
            </p:cNvSpPr>
            <p:nvPr/>
          </p:nvSpPr>
          <p:spPr bwMode="auto">
            <a:xfrm>
              <a:off x="480" y="720"/>
              <a:ext cx="432" cy="52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B2B2B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noAutofit/>
            </a:bodyPr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44" name="Rectangle 191"/>
            <p:cNvSpPr>
              <a:spLocks noChangeArrowheads="1"/>
            </p:cNvSpPr>
            <p:nvPr/>
          </p:nvSpPr>
          <p:spPr bwMode="auto">
            <a:xfrm>
              <a:off x="528" y="768"/>
              <a:ext cx="336" cy="96"/>
            </a:xfrm>
            <a:prstGeom prst="rect">
              <a:avLst/>
            </a:prstGeom>
            <a:solidFill>
              <a:schemeClr val="accent2"/>
            </a:solidFill>
            <a:ln w="6350">
              <a:solidFill>
                <a:srgbClr val="B2B2B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noAutofit/>
            </a:bodyPr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45" name="Rectangle 192"/>
            <p:cNvSpPr>
              <a:spLocks noChangeArrowheads="1"/>
            </p:cNvSpPr>
            <p:nvPr/>
          </p:nvSpPr>
          <p:spPr bwMode="auto">
            <a:xfrm>
              <a:off x="528" y="864"/>
              <a:ext cx="48" cy="168"/>
            </a:xfrm>
            <a:prstGeom prst="rect">
              <a:avLst/>
            </a:prstGeom>
            <a:solidFill>
              <a:schemeClr val="accent1"/>
            </a:solidFill>
            <a:ln w="6350">
              <a:solidFill>
                <a:srgbClr val="B2B2B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noAutofit/>
            </a:bodyPr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46" name="Rectangle 193"/>
            <p:cNvSpPr>
              <a:spLocks noChangeArrowheads="1"/>
            </p:cNvSpPr>
            <p:nvPr/>
          </p:nvSpPr>
          <p:spPr bwMode="auto">
            <a:xfrm>
              <a:off x="576" y="864"/>
              <a:ext cx="192" cy="336"/>
            </a:xfrm>
            <a:prstGeom prst="rect">
              <a:avLst/>
            </a:prstGeom>
            <a:solidFill>
              <a:srgbClr val="FFFFCC"/>
            </a:solidFill>
            <a:ln w="6350">
              <a:solidFill>
                <a:srgbClr val="B2B2B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noAutofit/>
            </a:bodyPr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47" name="Rectangle 194"/>
            <p:cNvSpPr>
              <a:spLocks noChangeArrowheads="1"/>
            </p:cNvSpPr>
            <p:nvPr/>
          </p:nvSpPr>
          <p:spPr bwMode="auto">
            <a:xfrm>
              <a:off x="528" y="1008"/>
              <a:ext cx="48" cy="192"/>
            </a:xfrm>
            <a:prstGeom prst="rect">
              <a:avLst/>
            </a:prstGeom>
            <a:solidFill>
              <a:srgbClr val="CCECFF"/>
            </a:solidFill>
            <a:ln w="6350">
              <a:solidFill>
                <a:srgbClr val="B2B2B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noAutofit/>
            </a:bodyPr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48" name="Rectangle 195"/>
            <p:cNvSpPr>
              <a:spLocks noChangeArrowheads="1"/>
            </p:cNvSpPr>
            <p:nvPr/>
          </p:nvSpPr>
          <p:spPr bwMode="auto">
            <a:xfrm>
              <a:off x="768" y="864"/>
              <a:ext cx="96" cy="336"/>
            </a:xfrm>
            <a:prstGeom prst="rect">
              <a:avLst/>
            </a:prstGeom>
            <a:noFill/>
            <a:ln w="6350">
              <a:solidFill>
                <a:srgbClr val="B2B2B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69696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noAutofit/>
            </a:bodyPr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sp>
        <p:nvSpPr>
          <p:cNvPr id="249" name="Arc 196"/>
          <p:cNvSpPr>
            <a:spLocks/>
          </p:cNvSpPr>
          <p:nvPr/>
        </p:nvSpPr>
        <p:spPr bwMode="auto">
          <a:xfrm rot="-8853416">
            <a:off x="7149530" y="2915047"/>
            <a:ext cx="361950" cy="288925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600"/>
              <a:gd name="T1" fmla="*/ 0 h 21600"/>
              <a:gd name="T2" fmla="*/ 21600 w 21600"/>
              <a:gd name="T3" fmla="*/ 21600 h 21600"/>
              <a:gd name="T4" fmla="*/ 0 w 21600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12700">
            <a:solidFill>
              <a:schemeClr val="accent2"/>
            </a:solidFill>
            <a:prstDash val="dash"/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noAutofit/>
          </a:bodyPr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50" name="Arc 197"/>
          <p:cNvSpPr>
            <a:spLocks/>
          </p:cNvSpPr>
          <p:nvPr/>
        </p:nvSpPr>
        <p:spPr bwMode="auto">
          <a:xfrm rot="-2045461">
            <a:off x="7273355" y="2591197"/>
            <a:ext cx="649288" cy="360363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600"/>
              <a:gd name="T1" fmla="*/ 0 h 22995"/>
              <a:gd name="T2" fmla="*/ 21555 w 21600"/>
              <a:gd name="T3" fmla="*/ 22995 h 22995"/>
              <a:gd name="T4" fmla="*/ 0 w 21600"/>
              <a:gd name="T5" fmla="*/ 21600 h 229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2995" fill="none" extrusionOk="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22065"/>
                  <a:pt x="21584" y="22530"/>
                  <a:pt x="21554" y="22994"/>
                </a:cubicBezTo>
              </a:path>
              <a:path w="21600" h="22995" stroke="0" extrusionOk="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22065"/>
                  <a:pt x="21584" y="22530"/>
                  <a:pt x="21554" y="22994"/>
                </a:cubicBezTo>
                <a:lnTo>
                  <a:pt x="0" y="21600"/>
                </a:lnTo>
                <a:close/>
              </a:path>
            </a:pathLst>
          </a:custGeom>
          <a:noFill/>
          <a:ln w="12700">
            <a:solidFill>
              <a:schemeClr val="accent2"/>
            </a:solidFill>
            <a:prstDash val="dash"/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noAutofit/>
          </a:bodyPr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51" name="Arc 198"/>
          <p:cNvSpPr>
            <a:spLocks/>
          </p:cNvSpPr>
          <p:nvPr/>
        </p:nvSpPr>
        <p:spPr bwMode="auto">
          <a:xfrm rot="-2227136">
            <a:off x="7655943" y="2842022"/>
            <a:ext cx="361950" cy="180975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600"/>
              <a:gd name="T1" fmla="*/ 0 h 21600"/>
              <a:gd name="T2" fmla="*/ 21600 w 21600"/>
              <a:gd name="T3" fmla="*/ 21600 h 21600"/>
              <a:gd name="T4" fmla="*/ 0 w 21600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12700">
            <a:solidFill>
              <a:schemeClr val="accent2"/>
            </a:solidFill>
            <a:prstDash val="dash"/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noAutofit/>
          </a:bodyPr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52" name="Arc 199"/>
          <p:cNvSpPr>
            <a:spLocks/>
          </p:cNvSpPr>
          <p:nvPr/>
        </p:nvSpPr>
        <p:spPr bwMode="auto">
          <a:xfrm rot="364681">
            <a:off x="7289230" y="2951560"/>
            <a:ext cx="473075" cy="231775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600"/>
              <a:gd name="T1" fmla="*/ 0 h 22380"/>
              <a:gd name="T2" fmla="*/ 21586 w 21600"/>
              <a:gd name="T3" fmla="*/ 22380 h 22380"/>
              <a:gd name="T4" fmla="*/ 0 w 21600"/>
              <a:gd name="T5" fmla="*/ 21600 h 223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2380" fill="none" extrusionOk="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21860"/>
                  <a:pt x="21595" y="22120"/>
                  <a:pt x="21585" y="22379"/>
                </a:cubicBezTo>
              </a:path>
              <a:path w="21600" h="22380" stroke="0" extrusionOk="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21860"/>
                  <a:pt x="21595" y="22120"/>
                  <a:pt x="21585" y="22379"/>
                </a:cubicBezTo>
                <a:lnTo>
                  <a:pt x="0" y="21600"/>
                </a:lnTo>
                <a:close/>
              </a:path>
            </a:pathLst>
          </a:custGeom>
          <a:noFill/>
          <a:ln w="12700">
            <a:solidFill>
              <a:schemeClr val="accent2"/>
            </a:solidFill>
            <a:prstDash val="dash"/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noAutofit/>
          </a:bodyPr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53" name="Text Box 200"/>
          <p:cNvSpPr txBox="1">
            <a:spLocks noChangeArrowheads="1"/>
          </p:cNvSpPr>
          <p:nvPr/>
        </p:nvSpPr>
        <p:spPr bwMode="auto">
          <a:xfrm>
            <a:off x="7833320" y="2294335"/>
            <a:ext cx="434975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noAutofit/>
          </a:bodyPr>
          <a:lstStyle/>
          <a:p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A </a:t>
            </a:r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상품</a:t>
            </a:r>
          </a:p>
        </p:txBody>
      </p:sp>
      <p:sp>
        <p:nvSpPr>
          <p:cNvPr id="254" name="AutoShape 201"/>
          <p:cNvSpPr>
            <a:spLocks noChangeArrowheads="1"/>
          </p:cNvSpPr>
          <p:nvPr/>
        </p:nvSpPr>
        <p:spPr bwMode="auto">
          <a:xfrm>
            <a:off x="6749480" y="3921522"/>
            <a:ext cx="1411288" cy="1412875"/>
          </a:xfrm>
          <a:prstGeom prst="roundRect">
            <a:avLst>
              <a:gd name="adj" fmla="val 3648"/>
            </a:avLst>
          </a:prstGeom>
          <a:solidFill>
            <a:srgbClr val="00B050">
              <a:alpha val="33000"/>
            </a:srgbClr>
          </a:solidFill>
          <a:ln w="28575">
            <a:solidFill>
              <a:srgbClr val="00B050"/>
            </a:solidFill>
            <a:round/>
            <a:headEnd/>
            <a:tailEnd/>
          </a:ln>
          <a:effectLst/>
        </p:spPr>
        <p:txBody>
          <a:bodyPr lIns="90000" tIns="46800" rIns="90000" bIns="46800" anchor="ctr">
            <a:noAutofit/>
          </a:bodyPr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pSp>
        <p:nvGrpSpPr>
          <p:cNvPr id="255" name="Group 202"/>
          <p:cNvGrpSpPr>
            <a:grpSpLocks/>
          </p:cNvGrpSpPr>
          <p:nvPr/>
        </p:nvGrpSpPr>
        <p:grpSpPr bwMode="auto">
          <a:xfrm>
            <a:off x="7162230" y="4796235"/>
            <a:ext cx="325438" cy="396875"/>
            <a:chOff x="480" y="720"/>
            <a:chExt cx="432" cy="528"/>
          </a:xfrm>
        </p:grpSpPr>
        <p:sp>
          <p:nvSpPr>
            <p:cNvPr id="256" name="Rectangle 203"/>
            <p:cNvSpPr>
              <a:spLocks noChangeArrowheads="1"/>
            </p:cNvSpPr>
            <p:nvPr/>
          </p:nvSpPr>
          <p:spPr bwMode="auto">
            <a:xfrm>
              <a:off x="480" y="720"/>
              <a:ext cx="432" cy="52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B2B2B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noAutofit/>
            </a:bodyPr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57" name="Rectangle 204"/>
            <p:cNvSpPr>
              <a:spLocks noChangeArrowheads="1"/>
            </p:cNvSpPr>
            <p:nvPr/>
          </p:nvSpPr>
          <p:spPr bwMode="auto">
            <a:xfrm>
              <a:off x="528" y="768"/>
              <a:ext cx="336" cy="96"/>
            </a:xfrm>
            <a:prstGeom prst="rect">
              <a:avLst/>
            </a:prstGeom>
            <a:solidFill>
              <a:schemeClr val="accent2"/>
            </a:solidFill>
            <a:ln w="6350">
              <a:solidFill>
                <a:srgbClr val="B2B2B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noAutofit/>
            </a:bodyPr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58" name="Rectangle 205"/>
            <p:cNvSpPr>
              <a:spLocks noChangeArrowheads="1"/>
            </p:cNvSpPr>
            <p:nvPr/>
          </p:nvSpPr>
          <p:spPr bwMode="auto">
            <a:xfrm>
              <a:off x="528" y="864"/>
              <a:ext cx="48" cy="168"/>
            </a:xfrm>
            <a:prstGeom prst="rect">
              <a:avLst/>
            </a:prstGeom>
            <a:solidFill>
              <a:schemeClr val="accent1"/>
            </a:solidFill>
            <a:ln w="6350">
              <a:solidFill>
                <a:srgbClr val="B2B2B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noAutofit/>
            </a:bodyPr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59" name="Rectangle 206"/>
            <p:cNvSpPr>
              <a:spLocks noChangeArrowheads="1"/>
            </p:cNvSpPr>
            <p:nvPr/>
          </p:nvSpPr>
          <p:spPr bwMode="auto">
            <a:xfrm>
              <a:off x="576" y="864"/>
              <a:ext cx="192" cy="336"/>
            </a:xfrm>
            <a:prstGeom prst="rect">
              <a:avLst/>
            </a:prstGeom>
            <a:solidFill>
              <a:srgbClr val="FFFFCC"/>
            </a:solidFill>
            <a:ln w="6350">
              <a:solidFill>
                <a:srgbClr val="B2B2B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noAutofit/>
            </a:bodyPr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60" name="Rectangle 207"/>
            <p:cNvSpPr>
              <a:spLocks noChangeArrowheads="1"/>
            </p:cNvSpPr>
            <p:nvPr/>
          </p:nvSpPr>
          <p:spPr bwMode="auto">
            <a:xfrm>
              <a:off x="528" y="1008"/>
              <a:ext cx="48" cy="192"/>
            </a:xfrm>
            <a:prstGeom prst="rect">
              <a:avLst/>
            </a:prstGeom>
            <a:solidFill>
              <a:srgbClr val="CCECFF"/>
            </a:solidFill>
            <a:ln w="6350">
              <a:solidFill>
                <a:srgbClr val="B2B2B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noAutofit/>
            </a:bodyPr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61" name="Rectangle 208"/>
            <p:cNvSpPr>
              <a:spLocks noChangeArrowheads="1"/>
            </p:cNvSpPr>
            <p:nvPr/>
          </p:nvSpPr>
          <p:spPr bwMode="auto">
            <a:xfrm>
              <a:off x="768" y="864"/>
              <a:ext cx="96" cy="336"/>
            </a:xfrm>
            <a:prstGeom prst="rect">
              <a:avLst/>
            </a:prstGeom>
            <a:noFill/>
            <a:ln w="6350">
              <a:solidFill>
                <a:srgbClr val="B2B2B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69696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noAutofit/>
            </a:bodyPr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grpSp>
        <p:nvGrpSpPr>
          <p:cNvPr id="262" name="Group 209"/>
          <p:cNvGrpSpPr>
            <a:grpSpLocks/>
          </p:cNvGrpSpPr>
          <p:nvPr/>
        </p:nvGrpSpPr>
        <p:grpSpPr bwMode="auto">
          <a:xfrm>
            <a:off x="7719443" y="4756547"/>
            <a:ext cx="325437" cy="396875"/>
            <a:chOff x="480" y="720"/>
            <a:chExt cx="432" cy="528"/>
          </a:xfrm>
        </p:grpSpPr>
        <p:sp>
          <p:nvSpPr>
            <p:cNvPr id="263" name="Rectangle 210"/>
            <p:cNvSpPr>
              <a:spLocks noChangeArrowheads="1"/>
            </p:cNvSpPr>
            <p:nvPr/>
          </p:nvSpPr>
          <p:spPr bwMode="auto">
            <a:xfrm>
              <a:off x="480" y="720"/>
              <a:ext cx="432" cy="52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B2B2B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noAutofit/>
            </a:bodyPr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64" name="Rectangle 211"/>
            <p:cNvSpPr>
              <a:spLocks noChangeArrowheads="1"/>
            </p:cNvSpPr>
            <p:nvPr/>
          </p:nvSpPr>
          <p:spPr bwMode="auto">
            <a:xfrm>
              <a:off x="528" y="768"/>
              <a:ext cx="336" cy="96"/>
            </a:xfrm>
            <a:prstGeom prst="rect">
              <a:avLst/>
            </a:prstGeom>
            <a:solidFill>
              <a:schemeClr val="accent2"/>
            </a:solidFill>
            <a:ln w="6350">
              <a:solidFill>
                <a:srgbClr val="B2B2B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noAutofit/>
            </a:bodyPr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65" name="Rectangle 212"/>
            <p:cNvSpPr>
              <a:spLocks noChangeArrowheads="1"/>
            </p:cNvSpPr>
            <p:nvPr/>
          </p:nvSpPr>
          <p:spPr bwMode="auto">
            <a:xfrm>
              <a:off x="528" y="864"/>
              <a:ext cx="48" cy="168"/>
            </a:xfrm>
            <a:prstGeom prst="rect">
              <a:avLst/>
            </a:prstGeom>
            <a:solidFill>
              <a:schemeClr val="accent1"/>
            </a:solidFill>
            <a:ln w="6350">
              <a:solidFill>
                <a:srgbClr val="B2B2B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noAutofit/>
            </a:bodyPr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66" name="Rectangle 213"/>
            <p:cNvSpPr>
              <a:spLocks noChangeArrowheads="1"/>
            </p:cNvSpPr>
            <p:nvPr/>
          </p:nvSpPr>
          <p:spPr bwMode="auto">
            <a:xfrm>
              <a:off x="576" y="864"/>
              <a:ext cx="192" cy="336"/>
            </a:xfrm>
            <a:prstGeom prst="rect">
              <a:avLst/>
            </a:prstGeom>
            <a:solidFill>
              <a:srgbClr val="FFFFCC"/>
            </a:solidFill>
            <a:ln w="6350">
              <a:solidFill>
                <a:srgbClr val="B2B2B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noAutofit/>
            </a:bodyPr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67" name="Rectangle 214"/>
            <p:cNvSpPr>
              <a:spLocks noChangeArrowheads="1"/>
            </p:cNvSpPr>
            <p:nvPr/>
          </p:nvSpPr>
          <p:spPr bwMode="auto">
            <a:xfrm>
              <a:off x="528" y="1008"/>
              <a:ext cx="48" cy="192"/>
            </a:xfrm>
            <a:prstGeom prst="rect">
              <a:avLst/>
            </a:prstGeom>
            <a:solidFill>
              <a:srgbClr val="CCECFF"/>
            </a:solidFill>
            <a:ln w="6350">
              <a:solidFill>
                <a:srgbClr val="B2B2B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noAutofit/>
            </a:bodyPr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68" name="Rectangle 215"/>
            <p:cNvSpPr>
              <a:spLocks noChangeArrowheads="1"/>
            </p:cNvSpPr>
            <p:nvPr/>
          </p:nvSpPr>
          <p:spPr bwMode="auto">
            <a:xfrm>
              <a:off x="768" y="864"/>
              <a:ext cx="96" cy="336"/>
            </a:xfrm>
            <a:prstGeom prst="rect">
              <a:avLst/>
            </a:prstGeom>
            <a:noFill/>
            <a:ln w="6350">
              <a:solidFill>
                <a:srgbClr val="B2B2B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69696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noAutofit/>
            </a:bodyPr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sp>
        <p:nvSpPr>
          <p:cNvPr id="269" name="Arc 216"/>
          <p:cNvSpPr>
            <a:spLocks/>
          </p:cNvSpPr>
          <p:nvPr/>
        </p:nvSpPr>
        <p:spPr bwMode="auto">
          <a:xfrm rot="-13975846">
            <a:off x="7401149" y="4874816"/>
            <a:ext cx="363537" cy="288925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600"/>
              <a:gd name="T1" fmla="*/ 0 h 21600"/>
              <a:gd name="T2" fmla="*/ 21600 w 21600"/>
              <a:gd name="T3" fmla="*/ 21600 h 21600"/>
              <a:gd name="T4" fmla="*/ 0 w 21600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12700">
            <a:solidFill>
              <a:schemeClr val="accent2"/>
            </a:solidFill>
            <a:prstDash val="dash"/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noAutofit/>
          </a:bodyPr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pSp>
        <p:nvGrpSpPr>
          <p:cNvPr id="270" name="Group 217"/>
          <p:cNvGrpSpPr>
            <a:grpSpLocks/>
          </p:cNvGrpSpPr>
          <p:nvPr/>
        </p:nvGrpSpPr>
        <p:grpSpPr bwMode="auto">
          <a:xfrm>
            <a:off x="6843143" y="4316810"/>
            <a:ext cx="325437" cy="398462"/>
            <a:chOff x="480" y="720"/>
            <a:chExt cx="432" cy="528"/>
          </a:xfrm>
        </p:grpSpPr>
        <p:sp>
          <p:nvSpPr>
            <p:cNvPr id="271" name="Rectangle 218"/>
            <p:cNvSpPr>
              <a:spLocks noChangeArrowheads="1"/>
            </p:cNvSpPr>
            <p:nvPr/>
          </p:nvSpPr>
          <p:spPr bwMode="auto">
            <a:xfrm>
              <a:off x="480" y="720"/>
              <a:ext cx="432" cy="52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B2B2B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noAutofit/>
            </a:bodyPr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72" name="Rectangle 219"/>
            <p:cNvSpPr>
              <a:spLocks noChangeArrowheads="1"/>
            </p:cNvSpPr>
            <p:nvPr/>
          </p:nvSpPr>
          <p:spPr bwMode="auto">
            <a:xfrm>
              <a:off x="528" y="768"/>
              <a:ext cx="336" cy="96"/>
            </a:xfrm>
            <a:prstGeom prst="rect">
              <a:avLst/>
            </a:prstGeom>
            <a:solidFill>
              <a:schemeClr val="accent2"/>
            </a:solidFill>
            <a:ln w="6350">
              <a:solidFill>
                <a:srgbClr val="B2B2B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noAutofit/>
            </a:bodyPr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73" name="Rectangle 220"/>
            <p:cNvSpPr>
              <a:spLocks noChangeArrowheads="1"/>
            </p:cNvSpPr>
            <p:nvPr/>
          </p:nvSpPr>
          <p:spPr bwMode="auto">
            <a:xfrm>
              <a:off x="528" y="864"/>
              <a:ext cx="48" cy="168"/>
            </a:xfrm>
            <a:prstGeom prst="rect">
              <a:avLst/>
            </a:prstGeom>
            <a:solidFill>
              <a:schemeClr val="accent1"/>
            </a:solidFill>
            <a:ln w="6350">
              <a:solidFill>
                <a:srgbClr val="B2B2B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noAutofit/>
            </a:bodyPr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74" name="Rectangle 221"/>
            <p:cNvSpPr>
              <a:spLocks noChangeArrowheads="1"/>
            </p:cNvSpPr>
            <p:nvPr/>
          </p:nvSpPr>
          <p:spPr bwMode="auto">
            <a:xfrm>
              <a:off x="576" y="864"/>
              <a:ext cx="192" cy="336"/>
            </a:xfrm>
            <a:prstGeom prst="rect">
              <a:avLst/>
            </a:prstGeom>
            <a:solidFill>
              <a:srgbClr val="FFFFCC"/>
            </a:solidFill>
            <a:ln w="6350">
              <a:solidFill>
                <a:srgbClr val="B2B2B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noAutofit/>
            </a:bodyPr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75" name="Rectangle 222"/>
            <p:cNvSpPr>
              <a:spLocks noChangeArrowheads="1"/>
            </p:cNvSpPr>
            <p:nvPr/>
          </p:nvSpPr>
          <p:spPr bwMode="auto">
            <a:xfrm>
              <a:off x="528" y="1008"/>
              <a:ext cx="48" cy="192"/>
            </a:xfrm>
            <a:prstGeom prst="rect">
              <a:avLst/>
            </a:prstGeom>
            <a:solidFill>
              <a:srgbClr val="CCECFF"/>
            </a:solidFill>
            <a:ln w="6350">
              <a:solidFill>
                <a:srgbClr val="B2B2B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noAutofit/>
            </a:bodyPr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76" name="Rectangle 223"/>
            <p:cNvSpPr>
              <a:spLocks noChangeArrowheads="1"/>
            </p:cNvSpPr>
            <p:nvPr/>
          </p:nvSpPr>
          <p:spPr bwMode="auto">
            <a:xfrm>
              <a:off x="768" y="864"/>
              <a:ext cx="96" cy="336"/>
            </a:xfrm>
            <a:prstGeom prst="rect">
              <a:avLst/>
            </a:prstGeom>
            <a:noFill/>
            <a:ln w="6350">
              <a:solidFill>
                <a:srgbClr val="B2B2B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69696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noAutofit/>
            </a:bodyPr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grpSp>
        <p:nvGrpSpPr>
          <p:cNvPr id="277" name="Group 224"/>
          <p:cNvGrpSpPr>
            <a:grpSpLocks/>
          </p:cNvGrpSpPr>
          <p:nvPr/>
        </p:nvGrpSpPr>
        <p:grpSpPr bwMode="auto">
          <a:xfrm>
            <a:off x="7241605" y="4234260"/>
            <a:ext cx="325438" cy="398462"/>
            <a:chOff x="480" y="720"/>
            <a:chExt cx="432" cy="528"/>
          </a:xfrm>
        </p:grpSpPr>
        <p:sp>
          <p:nvSpPr>
            <p:cNvPr id="278" name="Rectangle 225"/>
            <p:cNvSpPr>
              <a:spLocks noChangeArrowheads="1"/>
            </p:cNvSpPr>
            <p:nvPr/>
          </p:nvSpPr>
          <p:spPr bwMode="auto">
            <a:xfrm>
              <a:off x="480" y="720"/>
              <a:ext cx="432" cy="52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B2B2B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noAutofit/>
            </a:bodyPr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79" name="Rectangle 226"/>
            <p:cNvSpPr>
              <a:spLocks noChangeArrowheads="1"/>
            </p:cNvSpPr>
            <p:nvPr/>
          </p:nvSpPr>
          <p:spPr bwMode="auto">
            <a:xfrm>
              <a:off x="528" y="768"/>
              <a:ext cx="336" cy="96"/>
            </a:xfrm>
            <a:prstGeom prst="rect">
              <a:avLst/>
            </a:prstGeom>
            <a:solidFill>
              <a:schemeClr val="accent2"/>
            </a:solidFill>
            <a:ln w="6350">
              <a:solidFill>
                <a:srgbClr val="B2B2B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noAutofit/>
            </a:bodyPr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80" name="Rectangle 227"/>
            <p:cNvSpPr>
              <a:spLocks noChangeArrowheads="1"/>
            </p:cNvSpPr>
            <p:nvPr/>
          </p:nvSpPr>
          <p:spPr bwMode="auto">
            <a:xfrm>
              <a:off x="528" y="864"/>
              <a:ext cx="48" cy="168"/>
            </a:xfrm>
            <a:prstGeom prst="rect">
              <a:avLst/>
            </a:prstGeom>
            <a:solidFill>
              <a:schemeClr val="accent1"/>
            </a:solidFill>
            <a:ln w="6350">
              <a:solidFill>
                <a:srgbClr val="B2B2B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noAutofit/>
            </a:bodyPr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81" name="Rectangle 228"/>
            <p:cNvSpPr>
              <a:spLocks noChangeArrowheads="1"/>
            </p:cNvSpPr>
            <p:nvPr/>
          </p:nvSpPr>
          <p:spPr bwMode="auto">
            <a:xfrm>
              <a:off x="576" y="864"/>
              <a:ext cx="192" cy="336"/>
            </a:xfrm>
            <a:prstGeom prst="rect">
              <a:avLst/>
            </a:prstGeom>
            <a:solidFill>
              <a:srgbClr val="FFFFCC"/>
            </a:solidFill>
            <a:ln w="6350">
              <a:solidFill>
                <a:srgbClr val="B2B2B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noAutofit/>
            </a:bodyPr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82" name="Rectangle 229"/>
            <p:cNvSpPr>
              <a:spLocks noChangeArrowheads="1"/>
            </p:cNvSpPr>
            <p:nvPr/>
          </p:nvSpPr>
          <p:spPr bwMode="auto">
            <a:xfrm>
              <a:off x="528" y="1008"/>
              <a:ext cx="48" cy="192"/>
            </a:xfrm>
            <a:prstGeom prst="rect">
              <a:avLst/>
            </a:prstGeom>
            <a:solidFill>
              <a:srgbClr val="CCECFF"/>
            </a:solidFill>
            <a:ln w="6350">
              <a:solidFill>
                <a:srgbClr val="B2B2B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noAutofit/>
            </a:bodyPr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83" name="Rectangle 230"/>
            <p:cNvSpPr>
              <a:spLocks noChangeArrowheads="1"/>
            </p:cNvSpPr>
            <p:nvPr/>
          </p:nvSpPr>
          <p:spPr bwMode="auto">
            <a:xfrm>
              <a:off x="768" y="864"/>
              <a:ext cx="96" cy="336"/>
            </a:xfrm>
            <a:prstGeom prst="rect">
              <a:avLst/>
            </a:prstGeom>
            <a:noFill/>
            <a:ln w="6350">
              <a:solidFill>
                <a:srgbClr val="B2B2B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69696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noAutofit/>
            </a:bodyPr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grpSp>
        <p:nvGrpSpPr>
          <p:cNvPr id="284" name="Group 231"/>
          <p:cNvGrpSpPr>
            <a:grpSpLocks/>
          </p:cNvGrpSpPr>
          <p:nvPr/>
        </p:nvGrpSpPr>
        <p:grpSpPr bwMode="auto">
          <a:xfrm>
            <a:off x="7640068" y="4270772"/>
            <a:ext cx="325437" cy="396875"/>
            <a:chOff x="480" y="720"/>
            <a:chExt cx="432" cy="528"/>
          </a:xfrm>
        </p:grpSpPr>
        <p:sp>
          <p:nvSpPr>
            <p:cNvPr id="285" name="Rectangle 232"/>
            <p:cNvSpPr>
              <a:spLocks noChangeArrowheads="1"/>
            </p:cNvSpPr>
            <p:nvPr/>
          </p:nvSpPr>
          <p:spPr bwMode="auto">
            <a:xfrm>
              <a:off x="480" y="720"/>
              <a:ext cx="432" cy="52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B2B2B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noAutofit/>
            </a:bodyPr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86" name="Rectangle 233"/>
            <p:cNvSpPr>
              <a:spLocks noChangeArrowheads="1"/>
            </p:cNvSpPr>
            <p:nvPr/>
          </p:nvSpPr>
          <p:spPr bwMode="auto">
            <a:xfrm>
              <a:off x="528" y="768"/>
              <a:ext cx="336" cy="96"/>
            </a:xfrm>
            <a:prstGeom prst="rect">
              <a:avLst/>
            </a:prstGeom>
            <a:solidFill>
              <a:schemeClr val="accent2"/>
            </a:solidFill>
            <a:ln w="6350">
              <a:solidFill>
                <a:srgbClr val="B2B2B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noAutofit/>
            </a:bodyPr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87" name="Rectangle 234"/>
            <p:cNvSpPr>
              <a:spLocks noChangeArrowheads="1"/>
            </p:cNvSpPr>
            <p:nvPr/>
          </p:nvSpPr>
          <p:spPr bwMode="auto">
            <a:xfrm>
              <a:off x="528" y="864"/>
              <a:ext cx="48" cy="168"/>
            </a:xfrm>
            <a:prstGeom prst="rect">
              <a:avLst/>
            </a:prstGeom>
            <a:solidFill>
              <a:schemeClr val="accent1"/>
            </a:solidFill>
            <a:ln w="6350">
              <a:solidFill>
                <a:srgbClr val="B2B2B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noAutofit/>
            </a:bodyPr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88" name="Rectangle 235"/>
            <p:cNvSpPr>
              <a:spLocks noChangeArrowheads="1"/>
            </p:cNvSpPr>
            <p:nvPr/>
          </p:nvSpPr>
          <p:spPr bwMode="auto">
            <a:xfrm>
              <a:off x="576" y="864"/>
              <a:ext cx="192" cy="336"/>
            </a:xfrm>
            <a:prstGeom prst="rect">
              <a:avLst/>
            </a:prstGeom>
            <a:solidFill>
              <a:srgbClr val="FFFFCC"/>
            </a:solidFill>
            <a:ln w="6350">
              <a:solidFill>
                <a:srgbClr val="B2B2B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noAutofit/>
            </a:bodyPr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89" name="Rectangle 236"/>
            <p:cNvSpPr>
              <a:spLocks noChangeArrowheads="1"/>
            </p:cNvSpPr>
            <p:nvPr/>
          </p:nvSpPr>
          <p:spPr bwMode="auto">
            <a:xfrm>
              <a:off x="528" y="1008"/>
              <a:ext cx="48" cy="192"/>
            </a:xfrm>
            <a:prstGeom prst="rect">
              <a:avLst/>
            </a:prstGeom>
            <a:solidFill>
              <a:srgbClr val="CCECFF"/>
            </a:solidFill>
            <a:ln w="6350">
              <a:solidFill>
                <a:srgbClr val="B2B2B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noAutofit/>
            </a:bodyPr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90" name="Rectangle 237"/>
            <p:cNvSpPr>
              <a:spLocks noChangeArrowheads="1"/>
            </p:cNvSpPr>
            <p:nvPr/>
          </p:nvSpPr>
          <p:spPr bwMode="auto">
            <a:xfrm>
              <a:off x="768" y="864"/>
              <a:ext cx="96" cy="336"/>
            </a:xfrm>
            <a:prstGeom prst="rect">
              <a:avLst/>
            </a:prstGeom>
            <a:noFill/>
            <a:ln w="6350">
              <a:solidFill>
                <a:srgbClr val="B2B2B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69696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noAutofit/>
            </a:bodyPr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sp>
        <p:nvSpPr>
          <p:cNvPr id="291" name="Arc 238"/>
          <p:cNvSpPr>
            <a:spLocks/>
          </p:cNvSpPr>
          <p:nvPr/>
        </p:nvSpPr>
        <p:spPr bwMode="auto">
          <a:xfrm rot="-8853416">
            <a:off x="6951093" y="4559697"/>
            <a:ext cx="361950" cy="288925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600"/>
              <a:gd name="T1" fmla="*/ 0 h 21600"/>
              <a:gd name="T2" fmla="*/ 21600 w 21600"/>
              <a:gd name="T3" fmla="*/ 21600 h 21600"/>
              <a:gd name="T4" fmla="*/ 0 w 21600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12700">
            <a:solidFill>
              <a:schemeClr val="accent2"/>
            </a:solidFill>
            <a:prstDash val="dash"/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noAutofit/>
          </a:bodyPr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92" name="Arc 239"/>
          <p:cNvSpPr>
            <a:spLocks/>
          </p:cNvSpPr>
          <p:nvPr/>
        </p:nvSpPr>
        <p:spPr bwMode="auto">
          <a:xfrm rot="-2045461">
            <a:off x="7076505" y="4235847"/>
            <a:ext cx="649288" cy="360363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600"/>
              <a:gd name="T1" fmla="*/ 0 h 22995"/>
              <a:gd name="T2" fmla="*/ 21555 w 21600"/>
              <a:gd name="T3" fmla="*/ 22995 h 22995"/>
              <a:gd name="T4" fmla="*/ 0 w 21600"/>
              <a:gd name="T5" fmla="*/ 21600 h 229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2995" fill="none" extrusionOk="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22065"/>
                  <a:pt x="21584" y="22530"/>
                  <a:pt x="21554" y="22994"/>
                </a:cubicBezTo>
              </a:path>
              <a:path w="21600" h="22995" stroke="0" extrusionOk="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22065"/>
                  <a:pt x="21584" y="22530"/>
                  <a:pt x="21554" y="22994"/>
                </a:cubicBezTo>
                <a:lnTo>
                  <a:pt x="0" y="21600"/>
                </a:lnTo>
                <a:close/>
              </a:path>
            </a:pathLst>
          </a:custGeom>
          <a:noFill/>
          <a:ln w="12700">
            <a:solidFill>
              <a:schemeClr val="accent2"/>
            </a:solidFill>
            <a:prstDash val="dash"/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noAutofit/>
          </a:bodyPr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93" name="Arc 240"/>
          <p:cNvSpPr>
            <a:spLocks/>
          </p:cNvSpPr>
          <p:nvPr/>
        </p:nvSpPr>
        <p:spPr bwMode="auto">
          <a:xfrm rot="-5439548">
            <a:off x="7567043" y="4588272"/>
            <a:ext cx="363537" cy="290513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600"/>
              <a:gd name="T1" fmla="*/ 0 h 21600"/>
              <a:gd name="T2" fmla="*/ 21600 w 21600"/>
              <a:gd name="T3" fmla="*/ 21600 h 21600"/>
              <a:gd name="T4" fmla="*/ 0 w 21600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12700">
            <a:solidFill>
              <a:schemeClr val="accent2"/>
            </a:solidFill>
            <a:prstDash val="dash"/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noAutofit/>
          </a:bodyPr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94" name="Arc 241"/>
          <p:cNvSpPr>
            <a:spLocks/>
          </p:cNvSpPr>
          <p:nvPr/>
        </p:nvSpPr>
        <p:spPr bwMode="auto">
          <a:xfrm rot="364681">
            <a:off x="7090793" y="4596210"/>
            <a:ext cx="474662" cy="231775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600"/>
              <a:gd name="T1" fmla="*/ 0 h 22380"/>
              <a:gd name="T2" fmla="*/ 21586 w 21600"/>
              <a:gd name="T3" fmla="*/ 22380 h 22380"/>
              <a:gd name="T4" fmla="*/ 0 w 21600"/>
              <a:gd name="T5" fmla="*/ 21600 h 223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2380" fill="none" extrusionOk="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21860"/>
                  <a:pt x="21595" y="22120"/>
                  <a:pt x="21585" y="22379"/>
                </a:cubicBezTo>
              </a:path>
              <a:path w="21600" h="22380" stroke="0" extrusionOk="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21860"/>
                  <a:pt x="21595" y="22120"/>
                  <a:pt x="21585" y="22379"/>
                </a:cubicBezTo>
                <a:lnTo>
                  <a:pt x="0" y="21600"/>
                </a:lnTo>
                <a:close/>
              </a:path>
            </a:pathLst>
          </a:custGeom>
          <a:noFill/>
          <a:ln w="12700">
            <a:solidFill>
              <a:schemeClr val="accent2"/>
            </a:solidFill>
            <a:prstDash val="dash"/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noAutofit/>
          </a:bodyPr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95" name="Text Box 242"/>
          <p:cNvSpPr txBox="1">
            <a:spLocks noChangeArrowheads="1"/>
          </p:cNvSpPr>
          <p:nvPr/>
        </p:nvSpPr>
        <p:spPr bwMode="auto">
          <a:xfrm>
            <a:off x="7670230" y="3940572"/>
            <a:ext cx="561975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noAutofit/>
          </a:bodyPr>
          <a:lstStyle/>
          <a:p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B </a:t>
            </a:r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상품</a:t>
            </a:r>
          </a:p>
        </p:txBody>
      </p:sp>
      <p:sp>
        <p:nvSpPr>
          <p:cNvPr id="301" name="Text Box 248"/>
          <p:cNvSpPr txBox="1">
            <a:spLocks noChangeArrowheads="1"/>
          </p:cNvSpPr>
          <p:nvPr/>
        </p:nvSpPr>
        <p:spPr bwMode="auto">
          <a:xfrm>
            <a:off x="942405" y="2348880"/>
            <a:ext cx="2560638" cy="427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AEAEA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>
            <a:noAutofit/>
          </a:bodyPr>
          <a:lstStyle/>
          <a:p>
            <a:pPr algn="ctr">
              <a:lnSpc>
                <a:spcPct val="110000"/>
              </a:lnSpc>
              <a:spcBef>
                <a:spcPct val="20000"/>
              </a:spcBef>
            </a:pPr>
            <a:r>
              <a:rPr lang="ko-KR" altLang="en-US" sz="1100" b="1">
                <a:solidFill>
                  <a:srgbClr val="339933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서비스가입을 </a:t>
            </a:r>
            <a:r>
              <a:rPr lang="ko-KR" altLang="en-US" sz="1100" b="1" dirty="0">
                <a:solidFill>
                  <a:srgbClr val="339933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통해 미래 및</a:t>
            </a:r>
            <a:br>
              <a:rPr lang="en-US" altLang="ko-KR" sz="1100" b="1" dirty="0">
                <a:solidFill>
                  <a:srgbClr val="339933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sz="1100" b="1" dirty="0" err="1">
                <a:solidFill>
                  <a:srgbClr val="339933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리스크</a:t>
            </a:r>
            <a:r>
              <a:rPr lang="ko-KR" altLang="en-US" sz="1100" b="1" dirty="0">
                <a:solidFill>
                  <a:srgbClr val="339933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대비를 하고자 하는 고객</a:t>
            </a:r>
          </a:p>
        </p:txBody>
      </p:sp>
      <p:sp>
        <p:nvSpPr>
          <p:cNvPr id="302" name="Rectangle 249"/>
          <p:cNvSpPr>
            <a:spLocks noChangeArrowheads="1"/>
          </p:cNvSpPr>
          <p:nvPr/>
        </p:nvSpPr>
        <p:spPr bwMode="auto">
          <a:xfrm>
            <a:off x="3158555" y="5604272"/>
            <a:ext cx="19812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chemeClr val="tx1"/>
                </a:solidFill>
                <a:miter lim="800000"/>
                <a:headEnd/>
                <a:tailEnd type="none" w="med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noAutofit/>
          </a:bodyPr>
          <a:lstStyle/>
          <a:p>
            <a:r>
              <a:rPr lang="ko-KR" altLang="en-US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미래 및 </a:t>
            </a:r>
            <a:r>
              <a:rPr lang="ko-KR" altLang="en-US" sz="900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리스크에</a:t>
            </a:r>
            <a:r>
              <a:rPr lang="ko-KR" altLang="en-US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대한 욕구</a:t>
            </a:r>
          </a:p>
        </p:txBody>
      </p:sp>
      <p:sp>
        <p:nvSpPr>
          <p:cNvPr id="303" name="Rectangle 250"/>
          <p:cNvSpPr>
            <a:spLocks noChangeArrowheads="1"/>
          </p:cNvSpPr>
          <p:nvPr/>
        </p:nvSpPr>
        <p:spPr bwMode="auto">
          <a:xfrm>
            <a:off x="3163318" y="5836047"/>
            <a:ext cx="2511425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chemeClr val="tx1"/>
                </a:solidFill>
                <a:miter lim="800000"/>
                <a:headEnd/>
                <a:tailEnd type="none" w="med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noAutofit/>
          </a:bodyPr>
          <a:lstStyle/>
          <a:p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미래 및 </a:t>
            </a:r>
            <a:r>
              <a:rPr lang="ko-KR" altLang="en-US" sz="9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리스크에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대한 상품정보 및</a:t>
            </a:r>
            <a:b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손쉬운 상품설계등을 한자리에서 제공 </a:t>
            </a:r>
          </a:p>
        </p:txBody>
      </p:sp>
      <p:sp>
        <p:nvSpPr>
          <p:cNvPr id="304" name="Rectangle 251"/>
          <p:cNvSpPr>
            <a:spLocks noChangeArrowheads="1"/>
          </p:cNvSpPr>
          <p:nvPr/>
        </p:nvSpPr>
        <p:spPr bwMode="auto">
          <a:xfrm>
            <a:off x="6444680" y="5610622"/>
            <a:ext cx="1533525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chemeClr val="tx1"/>
                </a:solidFill>
                <a:miter lim="800000"/>
                <a:headEnd/>
                <a:tailEnd type="none" w="med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noAutofit/>
          </a:bodyPr>
          <a:lstStyle/>
          <a:p>
            <a:r>
              <a:rPr lang="ko-KR" altLang="en-US" sz="900" b="1">
                <a:latin typeface="나눔고딕" panose="020D0604000000000000" pitchFamily="50" charset="-127"/>
                <a:ea typeface="나눔고딕" panose="020D0604000000000000" pitchFamily="50" charset="-127"/>
              </a:rPr>
              <a:t>개별 서비스 </a:t>
            </a:r>
            <a:r>
              <a:rPr lang="ko-KR" altLang="en-US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이용에 대한 욕구</a:t>
            </a:r>
          </a:p>
        </p:txBody>
      </p:sp>
      <p:sp>
        <p:nvSpPr>
          <p:cNvPr id="305" name="Rectangle 252"/>
          <p:cNvSpPr>
            <a:spLocks noChangeArrowheads="1"/>
          </p:cNvSpPr>
          <p:nvPr/>
        </p:nvSpPr>
        <p:spPr bwMode="auto">
          <a:xfrm>
            <a:off x="6451030" y="5836047"/>
            <a:ext cx="2524125" cy="501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chemeClr val="tx1"/>
                </a:solidFill>
                <a:miter lim="800000"/>
                <a:headEnd/>
                <a:tailEnd type="none" w="med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noAutofit/>
          </a:bodyPr>
          <a:lstStyle/>
          <a:p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자신이 원하는 상품 이외의 상품에 대한 정보제공 및</a:t>
            </a:r>
            <a:b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sz="900">
                <a:latin typeface="나눔고딕" panose="020D0604000000000000" pitchFamily="50" charset="-127"/>
                <a:ea typeface="나눔고딕" panose="020D0604000000000000" pitchFamily="50" charset="-127"/>
              </a:rPr>
              <a:t>다채널 서비스를 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제공</a:t>
            </a:r>
          </a:p>
        </p:txBody>
      </p:sp>
      <p:sp>
        <p:nvSpPr>
          <p:cNvPr id="306" name="Line 253"/>
          <p:cNvSpPr>
            <a:spLocks noChangeShapeType="1"/>
          </p:cNvSpPr>
          <p:nvPr/>
        </p:nvSpPr>
        <p:spPr bwMode="auto">
          <a:xfrm>
            <a:off x="1491680" y="5562997"/>
            <a:ext cx="7848600" cy="0"/>
          </a:xfrm>
          <a:prstGeom prst="line">
            <a:avLst/>
          </a:prstGeom>
          <a:noFill/>
          <a:ln w="28575">
            <a:solidFill>
              <a:srgbClr val="B2B2B2"/>
            </a:solidFill>
            <a:round/>
            <a:headEnd/>
            <a:tailEnd type="none" w="med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noAutofit/>
          </a:bodyPr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07" name="Line 254"/>
          <p:cNvSpPr>
            <a:spLocks noChangeShapeType="1"/>
          </p:cNvSpPr>
          <p:nvPr/>
        </p:nvSpPr>
        <p:spPr bwMode="auto">
          <a:xfrm>
            <a:off x="1491680" y="5856685"/>
            <a:ext cx="7848600" cy="0"/>
          </a:xfrm>
          <a:prstGeom prst="line">
            <a:avLst/>
          </a:prstGeom>
          <a:noFill/>
          <a:ln w="9525">
            <a:solidFill>
              <a:srgbClr val="B2B2B2"/>
            </a:solidFill>
            <a:round/>
            <a:headEnd/>
            <a:tailEnd type="none" w="med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noAutofit/>
          </a:bodyPr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08" name="Line 255"/>
          <p:cNvSpPr>
            <a:spLocks noChangeShapeType="1"/>
          </p:cNvSpPr>
          <p:nvPr/>
        </p:nvSpPr>
        <p:spPr bwMode="auto">
          <a:xfrm>
            <a:off x="2787080" y="5562997"/>
            <a:ext cx="0" cy="762000"/>
          </a:xfrm>
          <a:prstGeom prst="line">
            <a:avLst/>
          </a:prstGeom>
          <a:noFill/>
          <a:ln w="6350">
            <a:solidFill>
              <a:srgbClr val="B2B2B2"/>
            </a:solidFill>
            <a:round/>
            <a:headEnd/>
            <a:tailEnd type="none" w="med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noAutofit/>
          </a:bodyPr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09" name="Line 256"/>
          <p:cNvSpPr>
            <a:spLocks noChangeShapeType="1"/>
          </p:cNvSpPr>
          <p:nvPr/>
        </p:nvSpPr>
        <p:spPr bwMode="auto">
          <a:xfrm>
            <a:off x="6063680" y="5562997"/>
            <a:ext cx="0" cy="762000"/>
          </a:xfrm>
          <a:prstGeom prst="line">
            <a:avLst/>
          </a:prstGeom>
          <a:noFill/>
          <a:ln w="6350">
            <a:solidFill>
              <a:srgbClr val="B2B2B2"/>
            </a:solidFill>
            <a:round/>
            <a:headEnd/>
            <a:tailEnd type="none" w="med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noAutofit/>
          </a:bodyPr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10" name="Rectangle 257"/>
          <p:cNvSpPr>
            <a:spLocks noChangeArrowheads="1"/>
          </p:cNvSpPr>
          <p:nvPr/>
        </p:nvSpPr>
        <p:spPr bwMode="auto">
          <a:xfrm>
            <a:off x="1448818" y="5585222"/>
            <a:ext cx="19812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chemeClr val="tx1"/>
                </a:solidFill>
                <a:miter lim="800000"/>
                <a:headEnd/>
                <a:tailEnd type="none" w="med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noAutofit/>
          </a:bodyPr>
          <a:lstStyle/>
          <a:p>
            <a:r>
              <a:rPr lang="en-US" altLang="ko-KR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Customer’s desire</a:t>
            </a:r>
          </a:p>
        </p:txBody>
      </p:sp>
      <p:sp>
        <p:nvSpPr>
          <p:cNvPr id="311" name="Rectangle 258"/>
          <p:cNvSpPr>
            <a:spLocks noChangeArrowheads="1"/>
          </p:cNvSpPr>
          <p:nvPr/>
        </p:nvSpPr>
        <p:spPr bwMode="auto">
          <a:xfrm>
            <a:off x="1448818" y="5921772"/>
            <a:ext cx="19812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chemeClr val="tx1"/>
                </a:solidFill>
                <a:miter lim="800000"/>
                <a:headEnd/>
                <a:tailEnd type="none" w="med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noAutofit/>
          </a:bodyPr>
          <a:lstStyle/>
          <a:p>
            <a:r>
              <a:rPr lang="en-US" altLang="ko-KR" sz="900" b="1">
                <a:latin typeface="나눔고딕" panose="020D0604000000000000" pitchFamily="50" charset="-127"/>
                <a:ea typeface="나눔고딕" panose="020D0604000000000000" pitchFamily="50" charset="-127"/>
              </a:rPr>
              <a:t>Site respond</a:t>
            </a:r>
          </a:p>
        </p:txBody>
      </p:sp>
      <p:sp>
        <p:nvSpPr>
          <p:cNvPr id="312" name="AutoShape 259"/>
          <p:cNvSpPr>
            <a:spLocks noChangeArrowheads="1"/>
          </p:cNvSpPr>
          <p:nvPr/>
        </p:nvSpPr>
        <p:spPr bwMode="auto">
          <a:xfrm>
            <a:off x="3287143" y="5377260"/>
            <a:ext cx="152400" cy="131762"/>
          </a:xfrm>
          <a:prstGeom prst="triangle">
            <a:avLst>
              <a:gd name="adj" fmla="val 50000"/>
            </a:avLst>
          </a:prstGeom>
          <a:solidFill>
            <a:srgbClr val="339933"/>
          </a:solidFill>
          <a:ln>
            <a:noFill/>
          </a:ln>
          <a:effectLst/>
        </p:spPr>
        <p:txBody>
          <a:bodyPr wrap="none" lIns="90000" tIns="46800" rIns="90000" bIns="46800" anchor="ctr">
            <a:noAutofit/>
          </a:bodyPr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13" name="AutoShape 260"/>
          <p:cNvSpPr>
            <a:spLocks noChangeArrowheads="1"/>
          </p:cNvSpPr>
          <p:nvPr/>
        </p:nvSpPr>
        <p:spPr bwMode="auto">
          <a:xfrm>
            <a:off x="6531993" y="5377260"/>
            <a:ext cx="152400" cy="131762"/>
          </a:xfrm>
          <a:prstGeom prst="triangle">
            <a:avLst>
              <a:gd name="adj" fmla="val 50000"/>
            </a:avLst>
          </a:prstGeom>
          <a:solidFill>
            <a:srgbClr val="339933"/>
          </a:solidFill>
          <a:ln>
            <a:noFill/>
          </a:ln>
          <a:effectLst/>
        </p:spPr>
        <p:txBody>
          <a:bodyPr wrap="none" lIns="90000" tIns="46800" rIns="90000" bIns="46800" anchor="ctr">
            <a:noAutofit/>
          </a:bodyPr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14" name="Text Box 261"/>
          <p:cNvSpPr txBox="1">
            <a:spLocks noChangeArrowheads="1"/>
          </p:cNvSpPr>
          <p:nvPr/>
        </p:nvSpPr>
        <p:spPr bwMode="auto">
          <a:xfrm>
            <a:off x="1502792" y="6304360"/>
            <a:ext cx="3506787" cy="2270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AEAEA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>
            <a:noAutofit/>
          </a:bodyPr>
          <a:lstStyle/>
          <a:p>
            <a:pPr>
              <a:lnSpc>
                <a:spcPct val="110000"/>
              </a:lnSpc>
              <a:spcBef>
                <a:spcPct val="20000"/>
              </a:spcBef>
            </a:pPr>
            <a:r>
              <a:rPr lang="en-US" altLang="ko-KR" sz="800" dirty="0">
                <a:solidFill>
                  <a:schemeClr val="accent2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&lt;</a:t>
            </a:r>
            <a:r>
              <a:rPr lang="ko-KR" altLang="en-US" sz="800" dirty="0">
                <a:solidFill>
                  <a:schemeClr val="accent2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예 </a:t>
            </a:r>
            <a:r>
              <a:rPr lang="en-US" altLang="ko-KR" sz="800">
                <a:solidFill>
                  <a:schemeClr val="accent2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800">
                <a:solidFill>
                  <a:schemeClr val="accent2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서비스가입을 </a:t>
            </a:r>
            <a:r>
              <a:rPr lang="ko-KR" altLang="en-US" sz="800" dirty="0">
                <a:solidFill>
                  <a:schemeClr val="accent2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통해 미래 및 리스크 대비를 하고자 하는 고객</a:t>
            </a:r>
            <a:r>
              <a:rPr lang="en-US" altLang="ko-KR" sz="800" dirty="0">
                <a:solidFill>
                  <a:schemeClr val="accent2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&gt;</a:t>
            </a:r>
          </a:p>
        </p:txBody>
      </p:sp>
      <p:sp>
        <p:nvSpPr>
          <p:cNvPr id="315" name="Line 262"/>
          <p:cNvSpPr>
            <a:spLocks noChangeShapeType="1"/>
          </p:cNvSpPr>
          <p:nvPr/>
        </p:nvSpPr>
        <p:spPr bwMode="auto">
          <a:xfrm>
            <a:off x="1491680" y="6324997"/>
            <a:ext cx="7848600" cy="0"/>
          </a:xfrm>
          <a:prstGeom prst="line">
            <a:avLst/>
          </a:prstGeom>
          <a:noFill/>
          <a:ln w="9525">
            <a:solidFill>
              <a:srgbClr val="B2B2B2"/>
            </a:solidFill>
            <a:round/>
            <a:headEnd/>
            <a:tailEnd type="none" w="med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noAutofit/>
          </a:bodyPr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pSp>
        <p:nvGrpSpPr>
          <p:cNvPr id="316" name="Group 263"/>
          <p:cNvGrpSpPr>
            <a:grpSpLocks/>
          </p:cNvGrpSpPr>
          <p:nvPr/>
        </p:nvGrpSpPr>
        <p:grpSpPr bwMode="auto">
          <a:xfrm>
            <a:off x="3253805" y="3357960"/>
            <a:ext cx="2236788" cy="1806576"/>
            <a:chOff x="2214" y="2259"/>
            <a:chExt cx="1409" cy="1138"/>
          </a:xfrm>
        </p:grpSpPr>
        <p:grpSp>
          <p:nvGrpSpPr>
            <p:cNvPr id="317" name="Group 264"/>
            <p:cNvGrpSpPr>
              <a:grpSpLocks/>
            </p:cNvGrpSpPr>
            <p:nvPr/>
          </p:nvGrpSpPr>
          <p:grpSpPr bwMode="auto">
            <a:xfrm>
              <a:off x="2558" y="2843"/>
              <a:ext cx="338" cy="415"/>
              <a:chOff x="481" y="718"/>
              <a:chExt cx="433" cy="528"/>
            </a:xfrm>
          </p:grpSpPr>
          <p:sp>
            <p:nvSpPr>
              <p:cNvPr id="355" name="Rectangle 265"/>
              <p:cNvSpPr>
                <a:spLocks noChangeArrowheads="1"/>
              </p:cNvSpPr>
              <p:nvPr/>
            </p:nvSpPr>
            <p:spPr bwMode="auto">
              <a:xfrm>
                <a:off x="481" y="718"/>
                <a:ext cx="433" cy="528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rgbClr val="B2B2B2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>
                <a:noAutofit/>
              </a:bodyPr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356" name="Rectangle 266"/>
              <p:cNvSpPr>
                <a:spLocks noChangeArrowheads="1"/>
              </p:cNvSpPr>
              <p:nvPr/>
            </p:nvSpPr>
            <p:spPr bwMode="auto">
              <a:xfrm>
                <a:off x="528" y="769"/>
                <a:ext cx="336" cy="96"/>
              </a:xfrm>
              <a:prstGeom prst="rect">
                <a:avLst/>
              </a:prstGeom>
              <a:solidFill>
                <a:schemeClr val="accent2"/>
              </a:solidFill>
              <a:ln w="6350">
                <a:solidFill>
                  <a:srgbClr val="B2B2B2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>
                <a:noAutofit/>
              </a:bodyPr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357" name="Rectangle 267"/>
              <p:cNvSpPr>
                <a:spLocks noChangeArrowheads="1"/>
              </p:cNvSpPr>
              <p:nvPr/>
            </p:nvSpPr>
            <p:spPr bwMode="auto">
              <a:xfrm>
                <a:off x="528" y="864"/>
                <a:ext cx="48" cy="168"/>
              </a:xfrm>
              <a:prstGeom prst="rect">
                <a:avLst/>
              </a:prstGeom>
              <a:solidFill>
                <a:schemeClr val="accent1"/>
              </a:solidFill>
              <a:ln w="6350">
                <a:solidFill>
                  <a:srgbClr val="B2B2B2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 anchor="ctr">
                <a:noAutofit/>
              </a:bodyPr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358" name="Rectangle 268"/>
              <p:cNvSpPr>
                <a:spLocks noChangeArrowheads="1"/>
              </p:cNvSpPr>
              <p:nvPr/>
            </p:nvSpPr>
            <p:spPr bwMode="auto">
              <a:xfrm>
                <a:off x="576" y="864"/>
                <a:ext cx="192" cy="336"/>
              </a:xfrm>
              <a:prstGeom prst="rect">
                <a:avLst/>
              </a:prstGeom>
              <a:solidFill>
                <a:srgbClr val="FFFFCC"/>
              </a:solidFill>
              <a:ln w="6350">
                <a:solidFill>
                  <a:srgbClr val="B2B2B2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 anchor="ctr">
                <a:noAutofit/>
              </a:bodyPr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359" name="Rectangle 269"/>
              <p:cNvSpPr>
                <a:spLocks noChangeArrowheads="1"/>
              </p:cNvSpPr>
              <p:nvPr/>
            </p:nvSpPr>
            <p:spPr bwMode="auto">
              <a:xfrm>
                <a:off x="528" y="1008"/>
                <a:ext cx="48" cy="192"/>
              </a:xfrm>
              <a:prstGeom prst="rect">
                <a:avLst/>
              </a:prstGeom>
              <a:solidFill>
                <a:srgbClr val="CCECFF"/>
              </a:solidFill>
              <a:ln w="6350">
                <a:solidFill>
                  <a:srgbClr val="B2B2B2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 anchor="ctr">
                <a:noAutofit/>
              </a:bodyPr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360" name="Rectangle 270"/>
              <p:cNvSpPr>
                <a:spLocks noChangeArrowheads="1"/>
              </p:cNvSpPr>
              <p:nvPr/>
            </p:nvSpPr>
            <p:spPr bwMode="auto">
              <a:xfrm>
                <a:off x="768" y="864"/>
                <a:ext cx="96" cy="336"/>
              </a:xfrm>
              <a:prstGeom prst="rect">
                <a:avLst/>
              </a:prstGeom>
              <a:noFill/>
              <a:ln w="6350">
                <a:solidFill>
                  <a:srgbClr val="B2B2B2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969696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 anchor="ctr">
                <a:noAutofit/>
              </a:bodyPr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p:grpSp>
        <p:grpSp>
          <p:nvGrpSpPr>
            <p:cNvPr id="318" name="Group 271"/>
            <p:cNvGrpSpPr>
              <a:grpSpLocks/>
            </p:cNvGrpSpPr>
            <p:nvPr/>
          </p:nvGrpSpPr>
          <p:grpSpPr bwMode="auto">
            <a:xfrm>
              <a:off x="3138" y="2803"/>
              <a:ext cx="338" cy="414"/>
              <a:chOff x="481" y="721"/>
              <a:chExt cx="433" cy="528"/>
            </a:xfrm>
          </p:grpSpPr>
          <p:sp>
            <p:nvSpPr>
              <p:cNvPr id="349" name="Rectangle 272"/>
              <p:cNvSpPr>
                <a:spLocks noChangeArrowheads="1"/>
              </p:cNvSpPr>
              <p:nvPr/>
            </p:nvSpPr>
            <p:spPr bwMode="auto">
              <a:xfrm>
                <a:off x="481" y="721"/>
                <a:ext cx="433" cy="528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rgbClr val="B2B2B2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>
                <a:noAutofit/>
              </a:bodyPr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350" name="Rectangle 273"/>
              <p:cNvSpPr>
                <a:spLocks noChangeArrowheads="1"/>
              </p:cNvSpPr>
              <p:nvPr/>
            </p:nvSpPr>
            <p:spPr bwMode="auto">
              <a:xfrm>
                <a:off x="528" y="769"/>
                <a:ext cx="336" cy="96"/>
              </a:xfrm>
              <a:prstGeom prst="rect">
                <a:avLst/>
              </a:prstGeom>
              <a:solidFill>
                <a:schemeClr val="accent2"/>
              </a:solidFill>
              <a:ln w="6350">
                <a:solidFill>
                  <a:srgbClr val="B2B2B2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>
                <a:noAutofit/>
              </a:bodyPr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351" name="Rectangle 274"/>
              <p:cNvSpPr>
                <a:spLocks noChangeArrowheads="1"/>
              </p:cNvSpPr>
              <p:nvPr/>
            </p:nvSpPr>
            <p:spPr bwMode="auto">
              <a:xfrm>
                <a:off x="528" y="864"/>
                <a:ext cx="48" cy="168"/>
              </a:xfrm>
              <a:prstGeom prst="rect">
                <a:avLst/>
              </a:prstGeom>
              <a:solidFill>
                <a:schemeClr val="accent1"/>
              </a:solidFill>
              <a:ln w="6350">
                <a:solidFill>
                  <a:srgbClr val="B2B2B2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 anchor="ctr">
                <a:noAutofit/>
              </a:bodyPr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352" name="Rectangle 275"/>
              <p:cNvSpPr>
                <a:spLocks noChangeArrowheads="1"/>
              </p:cNvSpPr>
              <p:nvPr/>
            </p:nvSpPr>
            <p:spPr bwMode="auto">
              <a:xfrm>
                <a:off x="576" y="864"/>
                <a:ext cx="192" cy="336"/>
              </a:xfrm>
              <a:prstGeom prst="rect">
                <a:avLst/>
              </a:prstGeom>
              <a:solidFill>
                <a:srgbClr val="FFFFCC"/>
              </a:solidFill>
              <a:ln w="6350">
                <a:solidFill>
                  <a:srgbClr val="B2B2B2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 anchor="ctr">
                <a:noAutofit/>
              </a:bodyPr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353" name="Rectangle 276"/>
              <p:cNvSpPr>
                <a:spLocks noChangeArrowheads="1"/>
              </p:cNvSpPr>
              <p:nvPr/>
            </p:nvSpPr>
            <p:spPr bwMode="auto">
              <a:xfrm>
                <a:off x="528" y="1008"/>
                <a:ext cx="48" cy="192"/>
              </a:xfrm>
              <a:prstGeom prst="rect">
                <a:avLst/>
              </a:prstGeom>
              <a:solidFill>
                <a:srgbClr val="CCECFF"/>
              </a:solidFill>
              <a:ln w="6350">
                <a:solidFill>
                  <a:srgbClr val="B2B2B2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 anchor="ctr">
                <a:noAutofit/>
              </a:bodyPr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354" name="Rectangle 277"/>
              <p:cNvSpPr>
                <a:spLocks noChangeArrowheads="1"/>
              </p:cNvSpPr>
              <p:nvPr/>
            </p:nvSpPr>
            <p:spPr bwMode="auto">
              <a:xfrm>
                <a:off x="768" y="864"/>
                <a:ext cx="96" cy="336"/>
              </a:xfrm>
              <a:prstGeom prst="rect">
                <a:avLst/>
              </a:prstGeom>
              <a:noFill/>
              <a:ln w="6350">
                <a:solidFill>
                  <a:srgbClr val="B2B2B2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969696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 anchor="ctr">
                <a:noAutofit/>
              </a:bodyPr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p:grpSp>
        <p:sp>
          <p:nvSpPr>
            <p:cNvPr id="319" name="Arc 278"/>
            <p:cNvSpPr>
              <a:spLocks/>
            </p:cNvSpPr>
            <p:nvPr/>
          </p:nvSpPr>
          <p:spPr bwMode="auto">
            <a:xfrm rot="7624154">
              <a:off x="2808" y="2927"/>
              <a:ext cx="377" cy="301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12700">
              <a:solidFill>
                <a:schemeClr val="accent2"/>
              </a:solidFill>
              <a:prstDash val="dash"/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noAutofit/>
            </a:bodyPr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grpSp>
          <p:nvGrpSpPr>
            <p:cNvPr id="320" name="Group 279"/>
            <p:cNvGrpSpPr>
              <a:grpSpLocks/>
            </p:cNvGrpSpPr>
            <p:nvPr/>
          </p:nvGrpSpPr>
          <p:grpSpPr bwMode="auto">
            <a:xfrm>
              <a:off x="2227" y="2347"/>
              <a:ext cx="338" cy="414"/>
              <a:chOff x="481" y="721"/>
              <a:chExt cx="433" cy="528"/>
            </a:xfrm>
          </p:grpSpPr>
          <p:sp>
            <p:nvSpPr>
              <p:cNvPr id="343" name="Rectangle 280"/>
              <p:cNvSpPr>
                <a:spLocks noChangeArrowheads="1"/>
              </p:cNvSpPr>
              <p:nvPr/>
            </p:nvSpPr>
            <p:spPr bwMode="auto">
              <a:xfrm>
                <a:off x="481" y="721"/>
                <a:ext cx="433" cy="528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rgbClr val="B2B2B2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>
                <a:noAutofit/>
              </a:bodyPr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344" name="Rectangle 281"/>
              <p:cNvSpPr>
                <a:spLocks noChangeArrowheads="1"/>
              </p:cNvSpPr>
              <p:nvPr/>
            </p:nvSpPr>
            <p:spPr bwMode="auto">
              <a:xfrm>
                <a:off x="528" y="769"/>
                <a:ext cx="336" cy="96"/>
              </a:xfrm>
              <a:prstGeom prst="rect">
                <a:avLst/>
              </a:prstGeom>
              <a:solidFill>
                <a:schemeClr val="accent2"/>
              </a:solidFill>
              <a:ln w="6350">
                <a:solidFill>
                  <a:srgbClr val="B2B2B2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>
                <a:noAutofit/>
              </a:bodyPr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345" name="Rectangle 282"/>
              <p:cNvSpPr>
                <a:spLocks noChangeArrowheads="1"/>
              </p:cNvSpPr>
              <p:nvPr/>
            </p:nvSpPr>
            <p:spPr bwMode="auto">
              <a:xfrm>
                <a:off x="528" y="864"/>
                <a:ext cx="48" cy="168"/>
              </a:xfrm>
              <a:prstGeom prst="rect">
                <a:avLst/>
              </a:prstGeom>
              <a:solidFill>
                <a:schemeClr val="accent1"/>
              </a:solidFill>
              <a:ln w="6350">
                <a:solidFill>
                  <a:srgbClr val="B2B2B2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 anchor="ctr">
                <a:noAutofit/>
              </a:bodyPr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346" name="Rectangle 283"/>
              <p:cNvSpPr>
                <a:spLocks noChangeArrowheads="1"/>
              </p:cNvSpPr>
              <p:nvPr/>
            </p:nvSpPr>
            <p:spPr bwMode="auto">
              <a:xfrm>
                <a:off x="576" y="864"/>
                <a:ext cx="192" cy="336"/>
              </a:xfrm>
              <a:prstGeom prst="rect">
                <a:avLst/>
              </a:prstGeom>
              <a:solidFill>
                <a:srgbClr val="FFFFCC"/>
              </a:solidFill>
              <a:ln w="6350">
                <a:solidFill>
                  <a:srgbClr val="B2B2B2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 anchor="ctr">
                <a:noAutofit/>
              </a:bodyPr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347" name="Rectangle 284"/>
              <p:cNvSpPr>
                <a:spLocks noChangeArrowheads="1"/>
              </p:cNvSpPr>
              <p:nvPr/>
            </p:nvSpPr>
            <p:spPr bwMode="auto">
              <a:xfrm>
                <a:off x="528" y="1008"/>
                <a:ext cx="48" cy="192"/>
              </a:xfrm>
              <a:prstGeom prst="rect">
                <a:avLst/>
              </a:prstGeom>
              <a:solidFill>
                <a:srgbClr val="CCECFF"/>
              </a:solidFill>
              <a:ln w="6350">
                <a:solidFill>
                  <a:srgbClr val="B2B2B2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 anchor="ctr">
                <a:noAutofit/>
              </a:bodyPr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348" name="Rectangle 285"/>
              <p:cNvSpPr>
                <a:spLocks noChangeArrowheads="1"/>
              </p:cNvSpPr>
              <p:nvPr/>
            </p:nvSpPr>
            <p:spPr bwMode="auto">
              <a:xfrm>
                <a:off x="768" y="864"/>
                <a:ext cx="96" cy="336"/>
              </a:xfrm>
              <a:prstGeom prst="rect">
                <a:avLst/>
              </a:prstGeom>
              <a:noFill/>
              <a:ln w="6350">
                <a:solidFill>
                  <a:srgbClr val="B2B2B2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969696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 anchor="ctr">
                <a:noAutofit/>
              </a:bodyPr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p:grpSp>
        <p:grpSp>
          <p:nvGrpSpPr>
            <p:cNvPr id="321" name="Group 286"/>
            <p:cNvGrpSpPr>
              <a:grpSpLocks/>
            </p:cNvGrpSpPr>
            <p:nvPr/>
          </p:nvGrpSpPr>
          <p:grpSpPr bwMode="auto">
            <a:xfrm>
              <a:off x="2641" y="2259"/>
              <a:ext cx="338" cy="415"/>
              <a:chOff x="481" y="718"/>
              <a:chExt cx="433" cy="528"/>
            </a:xfrm>
          </p:grpSpPr>
          <p:sp>
            <p:nvSpPr>
              <p:cNvPr id="337" name="Rectangle 287"/>
              <p:cNvSpPr>
                <a:spLocks noChangeArrowheads="1"/>
              </p:cNvSpPr>
              <p:nvPr/>
            </p:nvSpPr>
            <p:spPr bwMode="auto">
              <a:xfrm>
                <a:off x="481" y="718"/>
                <a:ext cx="433" cy="528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rgbClr val="B2B2B2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>
                <a:noAutofit/>
              </a:bodyPr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338" name="Rectangle 288"/>
              <p:cNvSpPr>
                <a:spLocks noChangeArrowheads="1"/>
              </p:cNvSpPr>
              <p:nvPr/>
            </p:nvSpPr>
            <p:spPr bwMode="auto">
              <a:xfrm>
                <a:off x="528" y="769"/>
                <a:ext cx="336" cy="96"/>
              </a:xfrm>
              <a:prstGeom prst="rect">
                <a:avLst/>
              </a:prstGeom>
              <a:solidFill>
                <a:schemeClr val="accent2"/>
              </a:solidFill>
              <a:ln w="6350">
                <a:solidFill>
                  <a:srgbClr val="B2B2B2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>
                <a:noAutofit/>
              </a:bodyPr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339" name="Rectangle 289"/>
              <p:cNvSpPr>
                <a:spLocks noChangeArrowheads="1"/>
              </p:cNvSpPr>
              <p:nvPr/>
            </p:nvSpPr>
            <p:spPr bwMode="auto">
              <a:xfrm>
                <a:off x="528" y="864"/>
                <a:ext cx="48" cy="168"/>
              </a:xfrm>
              <a:prstGeom prst="rect">
                <a:avLst/>
              </a:prstGeom>
              <a:solidFill>
                <a:schemeClr val="accent1"/>
              </a:solidFill>
              <a:ln w="6350">
                <a:solidFill>
                  <a:srgbClr val="B2B2B2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 anchor="ctr">
                <a:noAutofit/>
              </a:bodyPr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340" name="Rectangle 290"/>
              <p:cNvSpPr>
                <a:spLocks noChangeArrowheads="1"/>
              </p:cNvSpPr>
              <p:nvPr/>
            </p:nvSpPr>
            <p:spPr bwMode="auto">
              <a:xfrm>
                <a:off x="576" y="864"/>
                <a:ext cx="192" cy="336"/>
              </a:xfrm>
              <a:prstGeom prst="rect">
                <a:avLst/>
              </a:prstGeom>
              <a:solidFill>
                <a:srgbClr val="FFFFCC"/>
              </a:solidFill>
              <a:ln w="6350">
                <a:solidFill>
                  <a:srgbClr val="B2B2B2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 anchor="ctr">
                <a:noAutofit/>
              </a:bodyPr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341" name="Rectangle 291"/>
              <p:cNvSpPr>
                <a:spLocks noChangeArrowheads="1"/>
              </p:cNvSpPr>
              <p:nvPr/>
            </p:nvSpPr>
            <p:spPr bwMode="auto">
              <a:xfrm>
                <a:off x="528" y="1008"/>
                <a:ext cx="48" cy="192"/>
              </a:xfrm>
              <a:prstGeom prst="rect">
                <a:avLst/>
              </a:prstGeom>
              <a:solidFill>
                <a:srgbClr val="CCECFF"/>
              </a:solidFill>
              <a:ln w="6350">
                <a:solidFill>
                  <a:srgbClr val="B2B2B2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 anchor="ctr">
                <a:noAutofit/>
              </a:bodyPr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342" name="Rectangle 292"/>
              <p:cNvSpPr>
                <a:spLocks noChangeArrowheads="1"/>
              </p:cNvSpPr>
              <p:nvPr/>
            </p:nvSpPr>
            <p:spPr bwMode="auto">
              <a:xfrm>
                <a:off x="768" y="864"/>
                <a:ext cx="96" cy="336"/>
              </a:xfrm>
              <a:prstGeom prst="rect">
                <a:avLst/>
              </a:prstGeom>
              <a:noFill/>
              <a:ln w="6350">
                <a:solidFill>
                  <a:srgbClr val="B2B2B2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969696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 anchor="ctr">
                <a:noAutofit/>
              </a:bodyPr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p:grpSp>
        <p:grpSp>
          <p:nvGrpSpPr>
            <p:cNvPr id="322" name="Group 293"/>
            <p:cNvGrpSpPr>
              <a:grpSpLocks/>
            </p:cNvGrpSpPr>
            <p:nvPr/>
          </p:nvGrpSpPr>
          <p:grpSpPr bwMode="auto">
            <a:xfrm>
              <a:off x="3055" y="2296"/>
              <a:ext cx="338" cy="415"/>
              <a:chOff x="481" y="718"/>
              <a:chExt cx="433" cy="528"/>
            </a:xfrm>
          </p:grpSpPr>
          <p:sp>
            <p:nvSpPr>
              <p:cNvPr id="331" name="Rectangle 294"/>
              <p:cNvSpPr>
                <a:spLocks noChangeArrowheads="1"/>
              </p:cNvSpPr>
              <p:nvPr/>
            </p:nvSpPr>
            <p:spPr bwMode="auto">
              <a:xfrm>
                <a:off x="481" y="718"/>
                <a:ext cx="433" cy="528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rgbClr val="B2B2B2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>
                <a:noAutofit/>
              </a:bodyPr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332" name="Rectangle 295"/>
              <p:cNvSpPr>
                <a:spLocks noChangeArrowheads="1"/>
              </p:cNvSpPr>
              <p:nvPr/>
            </p:nvSpPr>
            <p:spPr bwMode="auto">
              <a:xfrm>
                <a:off x="528" y="769"/>
                <a:ext cx="336" cy="96"/>
              </a:xfrm>
              <a:prstGeom prst="rect">
                <a:avLst/>
              </a:prstGeom>
              <a:solidFill>
                <a:schemeClr val="accent2"/>
              </a:solidFill>
              <a:ln w="6350">
                <a:solidFill>
                  <a:srgbClr val="B2B2B2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>
                <a:noAutofit/>
              </a:bodyPr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333" name="Rectangle 296"/>
              <p:cNvSpPr>
                <a:spLocks noChangeArrowheads="1"/>
              </p:cNvSpPr>
              <p:nvPr/>
            </p:nvSpPr>
            <p:spPr bwMode="auto">
              <a:xfrm>
                <a:off x="528" y="864"/>
                <a:ext cx="48" cy="168"/>
              </a:xfrm>
              <a:prstGeom prst="rect">
                <a:avLst/>
              </a:prstGeom>
              <a:solidFill>
                <a:schemeClr val="accent1"/>
              </a:solidFill>
              <a:ln w="6350">
                <a:solidFill>
                  <a:srgbClr val="B2B2B2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 anchor="ctr">
                <a:noAutofit/>
              </a:bodyPr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334" name="Rectangle 297"/>
              <p:cNvSpPr>
                <a:spLocks noChangeArrowheads="1"/>
              </p:cNvSpPr>
              <p:nvPr/>
            </p:nvSpPr>
            <p:spPr bwMode="auto">
              <a:xfrm>
                <a:off x="576" y="864"/>
                <a:ext cx="192" cy="336"/>
              </a:xfrm>
              <a:prstGeom prst="rect">
                <a:avLst/>
              </a:prstGeom>
              <a:solidFill>
                <a:srgbClr val="FFFFCC"/>
              </a:solidFill>
              <a:ln w="6350">
                <a:solidFill>
                  <a:srgbClr val="B2B2B2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 anchor="ctr">
                <a:noAutofit/>
              </a:bodyPr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335" name="Rectangle 298"/>
              <p:cNvSpPr>
                <a:spLocks noChangeArrowheads="1"/>
              </p:cNvSpPr>
              <p:nvPr/>
            </p:nvSpPr>
            <p:spPr bwMode="auto">
              <a:xfrm>
                <a:off x="528" y="1008"/>
                <a:ext cx="48" cy="192"/>
              </a:xfrm>
              <a:prstGeom prst="rect">
                <a:avLst/>
              </a:prstGeom>
              <a:solidFill>
                <a:srgbClr val="CCECFF"/>
              </a:solidFill>
              <a:ln w="6350">
                <a:solidFill>
                  <a:srgbClr val="B2B2B2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 anchor="ctr">
                <a:noAutofit/>
              </a:bodyPr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336" name="Rectangle 299"/>
              <p:cNvSpPr>
                <a:spLocks noChangeArrowheads="1"/>
              </p:cNvSpPr>
              <p:nvPr/>
            </p:nvSpPr>
            <p:spPr bwMode="auto">
              <a:xfrm>
                <a:off x="768" y="864"/>
                <a:ext cx="96" cy="336"/>
              </a:xfrm>
              <a:prstGeom prst="rect">
                <a:avLst/>
              </a:prstGeom>
              <a:noFill/>
              <a:ln w="6350">
                <a:solidFill>
                  <a:srgbClr val="B2B2B2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969696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 anchor="ctr">
                <a:noAutofit/>
              </a:bodyPr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p:grpSp>
        <p:sp>
          <p:nvSpPr>
            <p:cNvPr id="323" name="Text Box 300"/>
            <p:cNvSpPr txBox="1">
              <a:spLocks noChangeArrowheads="1"/>
            </p:cNvSpPr>
            <p:nvPr/>
          </p:nvSpPr>
          <p:spPr bwMode="auto">
            <a:xfrm>
              <a:off x="2214" y="2747"/>
              <a:ext cx="474" cy="1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noAutofit/>
            </a:bodyPr>
            <a:lstStyle/>
            <a:p>
              <a:r>
                <a:rPr lang="en-US" altLang="ko-KR" sz="900">
                  <a:latin typeface="나눔고딕" panose="020D0604000000000000" pitchFamily="50" charset="-127"/>
                  <a:ea typeface="나눔고딕" panose="020D0604000000000000" pitchFamily="50" charset="-127"/>
                </a:rPr>
                <a:t>Information</a:t>
              </a:r>
            </a:p>
          </p:txBody>
        </p:sp>
        <p:sp>
          <p:nvSpPr>
            <p:cNvPr id="324" name="Text Box 301"/>
            <p:cNvSpPr txBox="1">
              <a:spLocks noChangeArrowheads="1"/>
            </p:cNvSpPr>
            <p:nvPr/>
          </p:nvSpPr>
          <p:spPr bwMode="auto">
            <a:xfrm>
              <a:off x="2644" y="2678"/>
              <a:ext cx="354" cy="1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noAutofit/>
            </a:bodyPr>
            <a:lstStyle/>
            <a:p>
              <a:r>
                <a:rPr lang="en-US" altLang="ko-KR" sz="900">
                  <a:latin typeface="나눔고딕" panose="020D0604000000000000" pitchFamily="50" charset="-127"/>
                  <a:ea typeface="나눔고딕" panose="020D0604000000000000" pitchFamily="50" charset="-127"/>
                </a:rPr>
                <a:t>Service</a:t>
              </a:r>
            </a:p>
          </p:txBody>
        </p:sp>
        <p:sp>
          <p:nvSpPr>
            <p:cNvPr id="325" name="Text Box 302"/>
            <p:cNvSpPr txBox="1">
              <a:spLocks noChangeArrowheads="1"/>
            </p:cNvSpPr>
            <p:nvPr/>
          </p:nvSpPr>
          <p:spPr bwMode="auto">
            <a:xfrm>
              <a:off x="3020" y="2681"/>
              <a:ext cx="462" cy="1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noAutofit/>
            </a:bodyPr>
            <a:lstStyle/>
            <a:p>
              <a:r>
                <a:rPr lang="en-US" altLang="ko-KR" sz="900">
                  <a:latin typeface="나눔고딕" panose="020D0604000000000000" pitchFamily="50" charset="-127"/>
                  <a:ea typeface="나눔고딕" panose="020D0604000000000000" pitchFamily="50" charset="-127"/>
                </a:rPr>
                <a:t>community</a:t>
              </a:r>
            </a:p>
          </p:txBody>
        </p:sp>
        <p:sp>
          <p:nvSpPr>
            <p:cNvPr id="326" name="Arc 303"/>
            <p:cNvSpPr>
              <a:spLocks/>
            </p:cNvSpPr>
            <p:nvPr/>
          </p:nvSpPr>
          <p:spPr bwMode="auto">
            <a:xfrm rot="12746584">
              <a:off x="2340" y="2599"/>
              <a:ext cx="377" cy="301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12700">
              <a:solidFill>
                <a:schemeClr val="accent2"/>
              </a:solidFill>
              <a:prstDash val="dash"/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noAutofit/>
            </a:bodyPr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327" name="Arc 304"/>
            <p:cNvSpPr>
              <a:spLocks/>
            </p:cNvSpPr>
            <p:nvPr/>
          </p:nvSpPr>
          <p:spPr bwMode="auto">
            <a:xfrm rot="19554539">
              <a:off x="2470" y="2262"/>
              <a:ext cx="676" cy="375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2995"/>
                <a:gd name="T2" fmla="*/ 21555 w 21600"/>
                <a:gd name="T3" fmla="*/ 22995 h 22995"/>
                <a:gd name="T4" fmla="*/ 0 w 21600"/>
                <a:gd name="T5" fmla="*/ 21600 h 229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2995" fill="none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22065"/>
                    <a:pt x="21584" y="22530"/>
                    <a:pt x="21554" y="22994"/>
                  </a:cubicBezTo>
                </a:path>
                <a:path w="21600" h="22995" stroke="0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22065"/>
                    <a:pt x="21584" y="22530"/>
                    <a:pt x="21554" y="22994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12700">
              <a:solidFill>
                <a:schemeClr val="accent2"/>
              </a:solidFill>
              <a:prstDash val="dash"/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noAutofit/>
            </a:bodyPr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328" name="Arc 305"/>
            <p:cNvSpPr>
              <a:spLocks/>
            </p:cNvSpPr>
            <p:nvPr/>
          </p:nvSpPr>
          <p:spPr bwMode="auto">
            <a:xfrm rot="2729854">
              <a:off x="2758" y="2680"/>
              <a:ext cx="463" cy="37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12700">
              <a:solidFill>
                <a:schemeClr val="accent2"/>
              </a:solidFill>
              <a:prstDash val="dash"/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noAutofit/>
            </a:bodyPr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329" name="Text Box 306"/>
            <p:cNvSpPr txBox="1">
              <a:spLocks noChangeArrowheads="1"/>
            </p:cNvSpPr>
            <p:nvPr/>
          </p:nvSpPr>
          <p:spPr bwMode="auto">
            <a:xfrm>
              <a:off x="2535" y="3253"/>
              <a:ext cx="474" cy="1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noAutofit/>
            </a:bodyPr>
            <a:lstStyle/>
            <a:p>
              <a:r>
                <a:rPr lang="en-US" altLang="ko-KR" sz="900">
                  <a:latin typeface="나눔고딕" panose="020D0604000000000000" pitchFamily="50" charset="-127"/>
                  <a:ea typeface="나눔고딕" panose="020D0604000000000000" pitchFamily="50" charset="-127"/>
                </a:rPr>
                <a:t>Information</a:t>
              </a:r>
            </a:p>
          </p:txBody>
        </p:sp>
        <p:sp>
          <p:nvSpPr>
            <p:cNvPr id="330" name="Text Box 307"/>
            <p:cNvSpPr txBox="1">
              <a:spLocks noChangeArrowheads="1"/>
            </p:cNvSpPr>
            <p:nvPr/>
          </p:nvSpPr>
          <p:spPr bwMode="auto">
            <a:xfrm>
              <a:off x="3017" y="3203"/>
              <a:ext cx="606" cy="1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noAutofit/>
            </a:bodyPr>
            <a:lstStyle/>
            <a:p>
              <a:r>
                <a:rPr lang="en-US" altLang="ko-KR" sz="900">
                  <a:latin typeface="나눔고딕" panose="020D0604000000000000" pitchFamily="50" charset="-127"/>
                  <a:ea typeface="나눔고딕" panose="020D0604000000000000" pitchFamily="50" charset="-127"/>
                </a:rPr>
                <a:t>Personalization</a:t>
              </a:r>
            </a:p>
          </p:txBody>
        </p:sp>
      </p:grpSp>
      <p:grpSp>
        <p:nvGrpSpPr>
          <p:cNvPr id="367" name="Group 24"/>
          <p:cNvGrpSpPr>
            <a:grpSpLocks/>
          </p:cNvGrpSpPr>
          <p:nvPr/>
        </p:nvGrpSpPr>
        <p:grpSpPr bwMode="auto">
          <a:xfrm>
            <a:off x="2001746" y="2831980"/>
            <a:ext cx="370518" cy="741036"/>
            <a:chOff x="5875" y="720"/>
            <a:chExt cx="313" cy="1146"/>
          </a:xfrm>
        </p:grpSpPr>
        <p:grpSp>
          <p:nvGrpSpPr>
            <p:cNvPr id="368" name="Group 25"/>
            <p:cNvGrpSpPr>
              <a:grpSpLocks/>
            </p:cNvGrpSpPr>
            <p:nvPr/>
          </p:nvGrpSpPr>
          <p:grpSpPr bwMode="auto">
            <a:xfrm>
              <a:off x="5875" y="720"/>
              <a:ext cx="313" cy="1146"/>
              <a:chOff x="3872" y="1622"/>
              <a:chExt cx="98" cy="388"/>
            </a:xfrm>
          </p:grpSpPr>
          <p:sp>
            <p:nvSpPr>
              <p:cNvPr id="370" name="Freeform 26"/>
              <p:cNvSpPr>
                <a:spLocks/>
              </p:cNvSpPr>
              <p:nvPr/>
            </p:nvSpPr>
            <p:spPr bwMode="auto">
              <a:xfrm>
                <a:off x="3901" y="1622"/>
                <a:ext cx="40" cy="57"/>
              </a:xfrm>
              <a:custGeom>
                <a:avLst/>
                <a:gdLst>
                  <a:gd name="T0" fmla="*/ 40 w 40"/>
                  <a:gd name="T1" fmla="*/ 29 h 57"/>
                  <a:gd name="T2" fmla="*/ 39 w 40"/>
                  <a:gd name="T3" fmla="*/ 16 h 57"/>
                  <a:gd name="T4" fmla="*/ 33 w 40"/>
                  <a:gd name="T5" fmla="*/ 5 h 57"/>
                  <a:gd name="T6" fmla="*/ 24 w 40"/>
                  <a:gd name="T7" fmla="*/ 0 h 57"/>
                  <a:gd name="T8" fmla="*/ 16 w 40"/>
                  <a:gd name="T9" fmla="*/ 0 h 57"/>
                  <a:gd name="T10" fmla="*/ 7 w 40"/>
                  <a:gd name="T11" fmla="*/ 5 h 57"/>
                  <a:gd name="T12" fmla="*/ 1 w 40"/>
                  <a:gd name="T13" fmla="*/ 16 h 57"/>
                  <a:gd name="T14" fmla="*/ 0 w 40"/>
                  <a:gd name="T15" fmla="*/ 29 h 57"/>
                  <a:gd name="T16" fmla="*/ 1 w 40"/>
                  <a:gd name="T17" fmla="*/ 41 h 57"/>
                  <a:gd name="T18" fmla="*/ 7 w 40"/>
                  <a:gd name="T19" fmla="*/ 52 h 57"/>
                  <a:gd name="T20" fmla="*/ 16 w 40"/>
                  <a:gd name="T21" fmla="*/ 57 h 57"/>
                  <a:gd name="T22" fmla="*/ 24 w 40"/>
                  <a:gd name="T23" fmla="*/ 57 h 57"/>
                  <a:gd name="T24" fmla="*/ 33 w 40"/>
                  <a:gd name="T25" fmla="*/ 52 h 57"/>
                  <a:gd name="T26" fmla="*/ 39 w 40"/>
                  <a:gd name="T27" fmla="*/ 41 h 57"/>
                  <a:gd name="T28" fmla="*/ 40 w 40"/>
                  <a:gd name="T29" fmla="*/ 29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40" h="57">
                    <a:moveTo>
                      <a:pt x="40" y="29"/>
                    </a:moveTo>
                    <a:lnTo>
                      <a:pt x="39" y="16"/>
                    </a:lnTo>
                    <a:lnTo>
                      <a:pt x="33" y="5"/>
                    </a:lnTo>
                    <a:lnTo>
                      <a:pt x="24" y="0"/>
                    </a:lnTo>
                    <a:lnTo>
                      <a:pt x="16" y="0"/>
                    </a:lnTo>
                    <a:lnTo>
                      <a:pt x="7" y="5"/>
                    </a:lnTo>
                    <a:lnTo>
                      <a:pt x="1" y="16"/>
                    </a:lnTo>
                    <a:lnTo>
                      <a:pt x="0" y="29"/>
                    </a:lnTo>
                    <a:lnTo>
                      <a:pt x="1" y="41"/>
                    </a:lnTo>
                    <a:lnTo>
                      <a:pt x="7" y="52"/>
                    </a:lnTo>
                    <a:lnTo>
                      <a:pt x="16" y="57"/>
                    </a:lnTo>
                    <a:lnTo>
                      <a:pt x="24" y="57"/>
                    </a:lnTo>
                    <a:lnTo>
                      <a:pt x="33" y="52"/>
                    </a:lnTo>
                    <a:lnTo>
                      <a:pt x="39" y="41"/>
                    </a:lnTo>
                    <a:lnTo>
                      <a:pt x="40" y="29"/>
                    </a:lnTo>
                    <a:close/>
                  </a:path>
                </a:pathLst>
              </a:cu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3175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>
                <a:noAutofit/>
              </a:bodyPr>
              <a:lstStyle/>
              <a:p>
                <a:endParaRPr lang="ko-KR" altLang="en-US" b="1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371" name="Freeform 27"/>
              <p:cNvSpPr>
                <a:spLocks/>
              </p:cNvSpPr>
              <p:nvPr/>
            </p:nvSpPr>
            <p:spPr bwMode="auto">
              <a:xfrm>
                <a:off x="3872" y="1690"/>
                <a:ext cx="98" cy="320"/>
              </a:xfrm>
              <a:custGeom>
                <a:avLst/>
                <a:gdLst>
                  <a:gd name="T0" fmla="*/ 68 w 98"/>
                  <a:gd name="T1" fmla="*/ 0 h 320"/>
                  <a:gd name="T2" fmla="*/ 75 w 98"/>
                  <a:gd name="T3" fmla="*/ 0 h 320"/>
                  <a:gd name="T4" fmla="*/ 84 w 98"/>
                  <a:gd name="T5" fmla="*/ 2 h 320"/>
                  <a:gd name="T6" fmla="*/ 96 w 98"/>
                  <a:gd name="T7" fmla="*/ 25 h 320"/>
                  <a:gd name="T8" fmla="*/ 98 w 98"/>
                  <a:gd name="T9" fmla="*/ 48 h 320"/>
                  <a:gd name="T10" fmla="*/ 98 w 98"/>
                  <a:gd name="T11" fmla="*/ 143 h 320"/>
                  <a:gd name="T12" fmla="*/ 89 w 98"/>
                  <a:gd name="T13" fmla="*/ 155 h 320"/>
                  <a:gd name="T14" fmla="*/ 82 w 98"/>
                  <a:gd name="T15" fmla="*/ 148 h 320"/>
                  <a:gd name="T16" fmla="*/ 80 w 98"/>
                  <a:gd name="T17" fmla="*/ 139 h 320"/>
                  <a:gd name="T18" fmla="*/ 75 w 98"/>
                  <a:gd name="T19" fmla="*/ 53 h 320"/>
                  <a:gd name="T20" fmla="*/ 75 w 98"/>
                  <a:gd name="T21" fmla="*/ 298 h 320"/>
                  <a:gd name="T22" fmla="*/ 75 w 98"/>
                  <a:gd name="T23" fmla="*/ 305 h 320"/>
                  <a:gd name="T24" fmla="*/ 69 w 98"/>
                  <a:gd name="T25" fmla="*/ 318 h 320"/>
                  <a:gd name="T26" fmla="*/ 59 w 98"/>
                  <a:gd name="T27" fmla="*/ 318 h 320"/>
                  <a:gd name="T28" fmla="*/ 53 w 98"/>
                  <a:gd name="T29" fmla="*/ 298 h 320"/>
                  <a:gd name="T30" fmla="*/ 53 w 98"/>
                  <a:gd name="T31" fmla="*/ 155 h 320"/>
                  <a:gd name="T32" fmla="*/ 50 w 98"/>
                  <a:gd name="T33" fmla="*/ 153 h 320"/>
                  <a:gd name="T34" fmla="*/ 45 w 98"/>
                  <a:gd name="T35" fmla="*/ 295 h 320"/>
                  <a:gd name="T36" fmla="*/ 45 w 98"/>
                  <a:gd name="T37" fmla="*/ 303 h 320"/>
                  <a:gd name="T38" fmla="*/ 43 w 98"/>
                  <a:gd name="T39" fmla="*/ 314 h 320"/>
                  <a:gd name="T40" fmla="*/ 34 w 98"/>
                  <a:gd name="T41" fmla="*/ 320 h 320"/>
                  <a:gd name="T42" fmla="*/ 25 w 98"/>
                  <a:gd name="T43" fmla="*/ 312 h 320"/>
                  <a:gd name="T44" fmla="*/ 23 w 98"/>
                  <a:gd name="T45" fmla="*/ 302 h 320"/>
                  <a:gd name="T46" fmla="*/ 23 w 98"/>
                  <a:gd name="T47" fmla="*/ 295 h 320"/>
                  <a:gd name="T48" fmla="*/ 18 w 98"/>
                  <a:gd name="T49" fmla="*/ 53 h 320"/>
                  <a:gd name="T50" fmla="*/ 18 w 98"/>
                  <a:gd name="T51" fmla="*/ 143 h 320"/>
                  <a:gd name="T52" fmla="*/ 18 w 98"/>
                  <a:gd name="T53" fmla="*/ 148 h 320"/>
                  <a:gd name="T54" fmla="*/ 13 w 98"/>
                  <a:gd name="T55" fmla="*/ 153 h 320"/>
                  <a:gd name="T56" fmla="*/ 2 w 98"/>
                  <a:gd name="T57" fmla="*/ 150 h 320"/>
                  <a:gd name="T58" fmla="*/ 0 w 98"/>
                  <a:gd name="T59" fmla="*/ 139 h 320"/>
                  <a:gd name="T60" fmla="*/ 0 w 98"/>
                  <a:gd name="T61" fmla="*/ 44 h 320"/>
                  <a:gd name="T62" fmla="*/ 7 w 98"/>
                  <a:gd name="T63" fmla="*/ 11 h 320"/>
                  <a:gd name="T64" fmla="*/ 20 w 98"/>
                  <a:gd name="T65" fmla="*/ 0 h 320"/>
                  <a:gd name="T66" fmla="*/ 25 w 98"/>
                  <a:gd name="T67" fmla="*/ 0 h 320"/>
                  <a:gd name="T68" fmla="*/ 52 w 98"/>
                  <a:gd name="T69" fmla="*/ 0 h 3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98" h="320">
                    <a:moveTo>
                      <a:pt x="46" y="0"/>
                    </a:moveTo>
                    <a:lnTo>
                      <a:pt x="68" y="0"/>
                    </a:lnTo>
                    <a:lnTo>
                      <a:pt x="73" y="0"/>
                    </a:lnTo>
                    <a:lnTo>
                      <a:pt x="75" y="0"/>
                    </a:lnTo>
                    <a:lnTo>
                      <a:pt x="78" y="0"/>
                    </a:lnTo>
                    <a:lnTo>
                      <a:pt x="84" y="2"/>
                    </a:lnTo>
                    <a:lnTo>
                      <a:pt x="91" y="11"/>
                    </a:lnTo>
                    <a:lnTo>
                      <a:pt x="96" y="25"/>
                    </a:lnTo>
                    <a:lnTo>
                      <a:pt x="98" y="44"/>
                    </a:lnTo>
                    <a:lnTo>
                      <a:pt x="98" y="48"/>
                    </a:lnTo>
                    <a:lnTo>
                      <a:pt x="98" y="139"/>
                    </a:lnTo>
                    <a:lnTo>
                      <a:pt x="98" y="143"/>
                    </a:lnTo>
                    <a:lnTo>
                      <a:pt x="96" y="150"/>
                    </a:lnTo>
                    <a:lnTo>
                      <a:pt x="89" y="155"/>
                    </a:lnTo>
                    <a:lnTo>
                      <a:pt x="84" y="153"/>
                    </a:lnTo>
                    <a:lnTo>
                      <a:pt x="82" y="148"/>
                    </a:lnTo>
                    <a:lnTo>
                      <a:pt x="80" y="143"/>
                    </a:lnTo>
                    <a:lnTo>
                      <a:pt x="80" y="139"/>
                    </a:lnTo>
                    <a:lnTo>
                      <a:pt x="80" y="53"/>
                    </a:lnTo>
                    <a:lnTo>
                      <a:pt x="75" y="53"/>
                    </a:lnTo>
                    <a:lnTo>
                      <a:pt x="75" y="295"/>
                    </a:lnTo>
                    <a:lnTo>
                      <a:pt x="75" y="298"/>
                    </a:lnTo>
                    <a:lnTo>
                      <a:pt x="75" y="300"/>
                    </a:lnTo>
                    <a:lnTo>
                      <a:pt x="75" y="305"/>
                    </a:lnTo>
                    <a:lnTo>
                      <a:pt x="73" y="312"/>
                    </a:lnTo>
                    <a:lnTo>
                      <a:pt x="69" y="318"/>
                    </a:lnTo>
                    <a:lnTo>
                      <a:pt x="64" y="320"/>
                    </a:lnTo>
                    <a:lnTo>
                      <a:pt x="59" y="318"/>
                    </a:lnTo>
                    <a:lnTo>
                      <a:pt x="55" y="316"/>
                    </a:lnTo>
                    <a:lnTo>
                      <a:pt x="53" y="298"/>
                    </a:lnTo>
                    <a:lnTo>
                      <a:pt x="53" y="295"/>
                    </a:lnTo>
                    <a:lnTo>
                      <a:pt x="53" y="155"/>
                    </a:lnTo>
                    <a:lnTo>
                      <a:pt x="48" y="153"/>
                    </a:lnTo>
                    <a:lnTo>
                      <a:pt x="50" y="153"/>
                    </a:lnTo>
                    <a:lnTo>
                      <a:pt x="45" y="155"/>
                    </a:lnTo>
                    <a:lnTo>
                      <a:pt x="45" y="295"/>
                    </a:lnTo>
                    <a:lnTo>
                      <a:pt x="45" y="298"/>
                    </a:lnTo>
                    <a:lnTo>
                      <a:pt x="45" y="303"/>
                    </a:lnTo>
                    <a:lnTo>
                      <a:pt x="45" y="307"/>
                    </a:lnTo>
                    <a:lnTo>
                      <a:pt x="43" y="314"/>
                    </a:lnTo>
                    <a:lnTo>
                      <a:pt x="39" y="318"/>
                    </a:lnTo>
                    <a:lnTo>
                      <a:pt x="34" y="320"/>
                    </a:lnTo>
                    <a:lnTo>
                      <a:pt x="29" y="318"/>
                    </a:lnTo>
                    <a:lnTo>
                      <a:pt x="25" y="312"/>
                    </a:lnTo>
                    <a:lnTo>
                      <a:pt x="23" y="305"/>
                    </a:lnTo>
                    <a:lnTo>
                      <a:pt x="23" y="302"/>
                    </a:lnTo>
                    <a:lnTo>
                      <a:pt x="23" y="298"/>
                    </a:lnTo>
                    <a:lnTo>
                      <a:pt x="23" y="295"/>
                    </a:lnTo>
                    <a:lnTo>
                      <a:pt x="23" y="53"/>
                    </a:lnTo>
                    <a:lnTo>
                      <a:pt x="18" y="53"/>
                    </a:lnTo>
                    <a:lnTo>
                      <a:pt x="18" y="139"/>
                    </a:lnTo>
                    <a:lnTo>
                      <a:pt x="18" y="143"/>
                    </a:lnTo>
                    <a:lnTo>
                      <a:pt x="18" y="144"/>
                    </a:lnTo>
                    <a:lnTo>
                      <a:pt x="18" y="148"/>
                    </a:lnTo>
                    <a:lnTo>
                      <a:pt x="14" y="152"/>
                    </a:lnTo>
                    <a:lnTo>
                      <a:pt x="13" y="153"/>
                    </a:lnTo>
                    <a:lnTo>
                      <a:pt x="9" y="155"/>
                    </a:lnTo>
                    <a:lnTo>
                      <a:pt x="2" y="150"/>
                    </a:lnTo>
                    <a:lnTo>
                      <a:pt x="0" y="143"/>
                    </a:lnTo>
                    <a:lnTo>
                      <a:pt x="0" y="139"/>
                    </a:lnTo>
                    <a:lnTo>
                      <a:pt x="0" y="48"/>
                    </a:lnTo>
                    <a:lnTo>
                      <a:pt x="0" y="44"/>
                    </a:lnTo>
                    <a:lnTo>
                      <a:pt x="2" y="27"/>
                    </a:lnTo>
                    <a:lnTo>
                      <a:pt x="7" y="11"/>
                    </a:lnTo>
                    <a:lnTo>
                      <a:pt x="14" y="3"/>
                    </a:lnTo>
                    <a:lnTo>
                      <a:pt x="20" y="0"/>
                    </a:lnTo>
                    <a:lnTo>
                      <a:pt x="21" y="0"/>
                    </a:lnTo>
                    <a:lnTo>
                      <a:pt x="25" y="0"/>
                    </a:lnTo>
                    <a:lnTo>
                      <a:pt x="29" y="0"/>
                    </a:lnTo>
                    <a:lnTo>
                      <a:pt x="52" y="0"/>
                    </a:lnTo>
                    <a:lnTo>
                      <a:pt x="46" y="0"/>
                    </a:lnTo>
                    <a:close/>
                  </a:path>
                </a:pathLst>
              </a:cu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3175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>
                <a:noAutofit/>
              </a:bodyPr>
              <a:lstStyle/>
              <a:p>
                <a:endParaRPr lang="ko-KR" altLang="en-US" b="1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p:grpSp>
        <p:sp>
          <p:nvSpPr>
            <p:cNvPr id="369" name="Oval 28"/>
            <p:cNvSpPr>
              <a:spLocks noChangeArrowheads="1"/>
            </p:cNvSpPr>
            <p:nvPr/>
          </p:nvSpPr>
          <p:spPr bwMode="auto">
            <a:xfrm>
              <a:off x="5875" y="960"/>
              <a:ext cx="127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noAutofit/>
            </a:bodyPr>
            <a:lstStyle/>
            <a:p>
              <a:endParaRPr lang="ko-KR" altLang="en-US" b="1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8309641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오른쪽 화살표 67"/>
          <p:cNvSpPr/>
          <p:nvPr/>
        </p:nvSpPr>
        <p:spPr>
          <a:xfrm>
            <a:off x="4160912" y="3101122"/>
            <a:ext cx="2016224" cy="1512360"/>
          </a:xfrm>
          <a:prstGeom prst="rightArrow">
            <a:avLst>
              <a:gd name="adj1" fmla="val 72816"/>
              <a:gd name="adj2" fmla="val 46348"/>
            </a:avLst>
          </a:prstGeom>
          <a:solidFill>
            <a:schemeClr val="bg1">
              <a:lumMod val="7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0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44017" y="91339"/>
            <a:ext cx="7401271" cy="385333"/>
          </a:xfrm>
          <a:prstGeom prst="rect">
            <a:avLst/>
          </a:prstGeom>
          <a:noFill/>
        </p:spPr>
        <p:txBody>
          <a:bodyPr wrap="square" lIns="0" tIns="53643" rIns="0" bIns="53643" rtlCol="0">
            <a:spAutoFit/>
          </a:bodyPr>
          <a:lstStyle/>
          <a:p>
            <a:r>
              <a:rPr kumimoji="1" lang="en-US" altLang="ko-KR" b="1" kern="0" dirty="0">
                <a:latin typeface="나눔고딕" panose="020D0604000000000000" pitchFamily="50" charset="-127"/>
                <a:ea typeface="나눔고딕" panose="020D0604000000000000" pitchFamily="50" charset="-127"/>
                <a:cs typeface="산돌고딕 M"/>
              </a:rPr>
              <a:t>Information architecture</a:t>
            </a:r>
            <a:endParaRPr kumimoji="1" lang="ko-KR" altLang="en-US" b="1" kern="0" dirty="0">
              <a:latin typeface="나눔고딕" panose="020D0604000000000000" pitchFamily="50" charset="-127"/>
              <a:ea typeface="나눔고딕" panose="020D0604000000000000" pitchFamily="50" charset="-127"/>
              <a:cs typeface="산돌고딕 M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44017" y="683985"/>
            <a:ext cx="96335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Service Grouping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8504" y="991762"/>
            <a:ext cx="8928992" cy="523220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사이트의 구조를 작게는 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Policy Gateway 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로 볼 수 있으며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크게는 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Insurance Web site 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로 볼 수 있으므로 가장 적합하게 사용자를 유입시키고 </a:t>
            </a:r>
            <a:r>
              <a:rPr lang="ko-KR" altLang="en-US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사용자가 웹사이트를 이용할 수 있도록 각각의 완결된 구조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를 지니게 됩니다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488504" y="1700808"/>
            <a:ext cx="3600400" cy="36004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4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Navigation strategy – concept diagram</a:t>
            </a:r>
          </a:p>
        </p:txBody>
      </p:sp>
      <p:sp>
        <p:nvSpPr>
          <p:cNvPr id="361" name="Oval 6"/>
          <p:cNvSpPr>
            <a:spLocks noChangeArrowheads="1"/>
          </p:cNvSpPr>
          <p:nvPr/>
        </p:nvSpPr>
        <p:spPr bwMode="auto">
          <a:xfrm>
            <a:off x="1034533" y="3396659"/>
            <a:ext cx="912617" cy="912617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round/>
            <a:headEnd/>
            <a:tailEnd type="none" w="med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 sz="2000" b="1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pSp>
        <p:nvGrpSpPr>
          <p:cNvPr id="362" name="Group 7"/>
          <p:cNvGrpSpPr>
            <a:grpSpLocks/>
          </p:cNvGrpSpPr>
          <p:nvPr/>
        </p:nvGrpSpPr>
        <p:grpSpPr bwMode="auto">
          <a:xfrm>
            <a:off x="1254023" y="3370875"/>
            <a:ext cx="442831" cy="824805"/>
            <a:chOff x="2256" y="2855"/>
            <a:chExt cx="479" cy="953"/>
          </a:xfrm>
        </p:grpSpPr>
        <p:grpSp>
          <p:nvGrpSpPr>
            <p:cNvPr id="363" name="Group 8"/>
            <p:cNvGrpSpPr>
              <a:grpSpLocks/>
            </p:cNvGrpSpPr>
            <p:nvPr/>
          </p:nvGrpSpPr>
          <p:grpSpPr bwMode="auto">
            <a:xfrm flipH="1">
              <a:off x="2256" y="2855"/>
              <a:ext cx="479" cy="953"/>
              <a:chOff x="4320" y="697"/>
              <a:chExt cx="964" cy="1449"/>
            </a:xfrm>
          </p:grpSpPr>
          <p:sp>
            <p:nvSpPr>
              <p:cNvPr id="378" name="Rectangle 9"/>
              <p:cNvSpPr>
                <a:spLocks noChangeArrowheads="1"/>
              </p:cNvSpPr>
              <p:nvPr/>
            </p:nvSpPr>
            <p:spPr bwMode="auto">
              <a:xfrm>
                <a:off x="5193" y="1326"/>
                <a:ext cx="90" cy="703"/>
              </a:xfrm>
              <a:prstGeom prst="rect">
                <a:avLst/>
              </a:prstGeom>
              <a:solidFill>
                <a:srgbClr val="4D4D4D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ko-KR" altLang="en-US" sz="2000" b="1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379" name="Freeform 10"/>
              <p:cNvSpPr>
                <a:spLocks/>
              </p:cNvSpPr>
              <p:nvPr/>
            </p:nvSpPr>
            <p:spPr bwMode="auto">
              <a:xfrm rot="21540000">
                <a:off x="4321" y="697"/>
                <a:ext cx="963" cy="703"/>
              </a:xfrm>
              <a:custGeom>
                <a:avLst/>
                <a:gdLst>
                  <a:gd name="T0" fmla="*/ 0 w 963"/>
                  <a:gd name="T1" fmla="*/ 12 h 318"/>
                  <a:gd name="T2" fmla="*/ 870 w 963"/>
                  <a:gd name="T3" fmla="*/ 318 h 318"/>
                  <a:gd name="T4" fmla="*/ 963 w 963"/>
                  <a:gd name="T5" fmla="*/ 315 h 318"/>
                  <a:gd name="T6" fmla="*/ 78 w 963"/>
                  <a:gd name="T7" fmla="*/ 0 h 318"/>
                  <a:gd name="T8" fmla="*/ 0 w 963"/>
                  <a:gd name="T9" fmla="*/ 12 h 3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63" h="318">
                    <a:moveTo>
                      <a:pt x="0" y="12"/>
                    </a:moveTo>
                    <a:lnTo>
                      <a:pt x="870" y="318"/>
                    </a:lnTo>
                    <a:lnTo>
                      <a:pt x="963" y="315"/>
                    </a:lnTo>
                    <a:lnTo>
                      <a:pt x="78" y="0"/>
                    </a:lnTo>
                    <a:lnTo>
                      <a:pt x="0" y="12"/>
                    </a:lnTo>
                    <a:close/>
                  </a:path>
                </a:pathLst>
              </a:custGeom>
              <a:solidFill>
                <a:srgbClr val="969696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905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ko-KR" altLang="en-US" sz="2000" b="1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grpSp>
            <p:nvGrpSpPr>
              <p:cNvPr id="380" name="Group 11"/>
              <p:cNvGrpSpPr>
                <a:grpSpLocks/>
              </p:cNvGrpSpPr>
              <p:nvPr/>
            </p:nvGrpSpPr>
            <p:grpSpPr bwMode="auto">
              <a:xfrm>
                <a:off x="4322" y="905"/>
                <a:ext cx="871" cy="1238"/>
                <a:chOff x="4176" y="936"/>
                <a:chExt cx="719" cy="1022"/>
              </a:xfrm>
            </p:grpSpPr>
            <p:sp>
              <p:nvSpPr>
                <p:cNvPr id="386" name="AutoShape 12"/>
                <p:cNvSpPr>
                  <a:spLocks noChangeArrowheads="1"/>
                </p:cNvSpPr>
                <p:nvPr/>
              </p:nvSpPr>
              <p:spPr bwMode="auto">
                <a:xfrm rot="16200000">
                  <a:off x="4025" y="1087"/>
                  <a:ext cx="1022" cy="719"/>
                </a:xfrm>
                <a:prstGeom prst="parallelogram">
                  <a:avLst>
                    <a:gd name="adj" fmla="val 35535"/>
                  </a:avLst>
                </a:prstGeom>
                <a:solidFill>
                  <a:srgbClr val="DDDDDD"/>
                </a:solidFill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ko-KR" altLang="en-US" sz="2000" b="1">
                    <a:latin typeface="나눔고딕" panose="020D0604000000000000" pitchFamily="50" charset="-127"/>
                    <a:ea typeface="나눔고딕" panose="020D0604000000000000" pitchFamily="50" charset="-127"/>
                  </a:endParaRPr>
                </a:p>
              </p:txBody>
            </p:sp>
            <p:sp>
              <p:nvSpPr>
                <p:cNvPr id="387" name="Line 13"/>
                <p:cNvSpPr>
                  <a:spLocks noChangeShapeType="1"/>
                </p:cNvSpPr>
                <p:nvPr/>
              </p:nvSpPr>
              <p:spPr bwMode="auto">
                <a:xfrm>
                  <a:off x="4176" y="1001"/>
                  <a:ext cx="718" cy="25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ko-KR" altLang="en-US" sz="2000" b="1">
                    <a:latin typeface="나눔고딕" panose="020D0604000000000000" pitchFamily="50" charset="-127"/>
                    <a:ea typeface="나눔고딕" panose="020D0604000000000000" pitchFamily="50" charset="-127"/>
                  </a:endParaRPr>
                </a:p>
              </p:txBody>
            </p:sp>
          </p:grpSp>
          <p:sp>
            <p:nvSpPr>
              <p:cNvPr id="381" name="Line 14"/>
              <p:cNvSpPr>
                <a:spLocks noChangeShapeType="1"/>
              </p:cNvSpPr>
              <p:nvPr/>
            </p:nvSpPr>
            <p:spPr bwMode="auto">
              <a:xfrm>
                <a:off x="5192" y="2143"/>
                <a:ext cx="9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ko-KR" altLang="en-US" sz="2000" b="1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382" name="Line 15"/>
              <p:cNvSpPr>
                <a:spLocks noChangeShapeType="1"/>
              </p:cNvSpPr>
              <p:nvPr/>
            </p:nvSpPr>
            <p:spPr bwMode="auto">
              <a:xfrm>
                <a:off x="5192" y="1211"/>
                <a:ext cx="9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ko-KR" altLang="en-US" sz="2000" b="1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383" name="Line 16"/>
              <p:cNvSpPr>
                <a:spLocks noChangeShapeType="1"/>
              </p:cNvSpPr>
              <p:nvPr/>
            </p:nvSpPr>
            <p:spPr bwMode="auto">
              <a:xfrm flipV="1">
                <a:off x="5281" y="1208"/>
                <a:ext cx="0" cy="938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ko-KR" altLang="en-US" sz="2000" b="1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384" name="Line 17"/>
              <p:cNvSpPr>
                <a:spLocks noChangeShapeType="1"/>
              </p:cNvSpPr>
              <p:nvPr/>
            </p:nvSpPr>
            <p:spPr bwMode="auto">
              <a:xfrm>
                <a:off x="4320" y="897"/>
                <a:ext cx="9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ko-KR" altLang="en-US" sz="2000" b="1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385" name="Line 18"/>
              <p:cNvSpPr>
                <a:spLocks noChangeShapeType="1"/>
              </p:cNvSpPr>
              <p:nvPr/>
            </p:nvSpPr>
            <p:spPr bwMode="auto">
              <a:xfrm>
                <a:off x="4412" y="897"/>
                <a:ext cx="868" cy="309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ko-KR" altLang="en-US" sz="2000" b="1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p:grpSp>
        <p:sp>
          <p:nvSpPr>
            <p:cNvPr id="364" name="Freeform 19"/>
            <p:cNvSpPr>
              <a:spLocks/>
            </p:cNvSpPr>
            <p:nvPr/>
          </p:nvSpPr>
          <p:spPr bwMode="auto">
            <a:xfrm>
              <a:off x="2329" y="3096"/>
              <a:ext cx="380" cy="247"/>
            </a:xfrm>
            <a:custGeom>
              <a:avLst/>
              <a:gdLst>
                <a:gd name="T0" fmla="*/ 0 w 614"/>
                <a:gd name="T1" fmla="*/ 240 h 336"/>
                <a:gd name="T2" fmla="*/ 0 w 614"/>
                <a:gd name="T3" fmla="*/ 336 h 336"/>
                <a:gd name="T4" fmla="*/ 614 w 614"/>
                <a:gd name="T5" fmla="*/ 84 h 336"/>
                <a:gd name="T6" fmla="*/ 614 w 614"/>
                <a:gd name="T7" fmla="*/ 0 h 336"/>
                <a:gd name="T8" fmla="*/ 0 w 614"/>
                <a:gd name="T9" fmla="*/ 240 h 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4" h="336">
                  <a:moveTo>
                    <a:pt x="0" y="240"/>
                  </a:moveTo>
                  <a:lnTo>
                    <a:pt x="0" y="336"/>
                  </a:lnTo>
                  <a:lnTo>
                    <a:pt x="614" y="84"/>
                  </a:lnTo>
                  <a:lnTo>
                    <a:pt x="614" y="0"/>
                  </a:lnTo>
                  <a:lnTo>
                    <a:pt x="0" y="240"/>
                  </a:lnTo>
                  <a:close/>
                </a:path>
              </a:pathLst>
            </a:custGeom>
            <a:solidFill>
              <a:srgbClr val="EAEAEA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sm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 sz="2000" b="1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365" name="Line 20"/>
            <p:cNvSpPr>
              <a:spLocks noChangeShapeType="1"/>
            </p:cNvSpPr>
            <p:nvPr/>
          </p:nvSpPr>
          <p:spPr bwMode="auto">
            <a:xfrm>
              <a:off x="2452" y="3318"/>
              <a:ext cx="0" cy="3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 sz="2000" b="1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366" name="Line 21"/>
            <p:cNvSpPr>
              <a:spLocks noChangeShapeType="1"/>
            </p:cNvSpPr>
            <p:nvPr/>
          </p:nvSpPr>
          <p:spPr bwMode="auto">
            <a:xfrm flipV="1">
              <a:off x="2332" y="3336"/>
              <a:ext cx="93" cy="45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/>
              <a:tailEnd type="non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 sz="2000" b="1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372" name="Line 22"/>
            <p:cNvSpPr>
              <a:spLocks noChangeShapeType="1"/>
            </p:cNvSpPr>
            <p:nvPr/>
          </p:nvSpPr>
          <p:spPr bwMode="auto">
            <a:xfrm flipV="1">
              <a:off x="2332" y="3367"/>
              <a:ext cx="93" cy="45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/>
              <a:tailEnd type="non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 sz="2000" b="1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373" name="Line 23"/>
            <p:cNvSpPr>
              <a:spLocks noChangeShapeType="1"/>
            </p:cNvSpPr>
            <p:nvPr/>
          </p:nvSpPr>
          <p:spPr bwMode="auto">
            <a:xfrm flipV="1">
              <a:off x="2332" y="3400"/>
              <a:ext cx="93" cy="46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/>
              <a:tailEnd type="non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 sz="2000" b="1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374" name="Line 24"/>
            <p:cNvSpPr>
              <a:spLocks noChangeShapeType="1"/>
            </p:cNvSpPr>
            <p:nvPr/>
          </p:nvSpPr>
          <p:spPr bwMode="auto">
            <a:xfrm flipV="1">
              <a:off x="2332" y="3434"/>
              <a:ext cx="93" cy="46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/>
              <a:tailEnd type="non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 sz="2000" b="1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375" name="Line 25"/>
            <p:cNvSpPr>
              <a:spLocks noChangeShapeType="1"/>
            </p:cNvSpPr>
            <p:nvPr/>
          </p:nvSpPr>
          <p:spPr bwMode="auto">
            <a:xfrm flipV="1">
              <a:off x="2332" y="3469"/>
              <a:ext cx="93" cy="46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/>
              <a:tailEnd type="non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 sz="2000" b="1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376" name="Freeform 26"/>
            <p:cNvSpPr>
              <a:spLocks/>
            </p:cNvSpPr>
            <p:nvPr/>
          </p:nvSpPr>
          <p:spPr bwMode="auto">
            <a:xfrm>
              <a:off x="2475" y="3197"/>
              <a:ext cx="232" cy="268"/>
            </a:xfrm>
            <a:custGeom>
              <a:avLst/>
              <a:gdLst>
                <a:gd name="T0" fmla="*/ 379 w 379"/>
                <a:gd name="T1" fmla="*/ 0 h 365"/>
                <a:gd name="T2" fmla="*/ 379 w 379"/>
                <a:gd name="T3" fmla="*/ 195 h 365"/>
                <a:gd name="T4" fmla="*/ 0 w 379"/>
                <a:gd name="T5" fmla="*/ 365 h 365"/>
                <a:gd name="T6" fmla="*/ 0 w 379"/>
                <a:gd name="T7" fmla="*/ 155 h 365"/>
                <a:gd name="T8" fmla="*/ 379 w 379"/>
                <a:gd name="T9" fmla="*/ 0 h 3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9" h="365">
                  <a:moveTo>
                    <a:pt x="379" y="0"/>
                  </a:moveTo>
                  <a:lnTo>
                    <a:pt x="379" y="195"/>
                  </a:lnTo>
                  <a:lnTo>
                    <a:pt x="0" y="365"/>
                  </a:lnTo>
                  <a:lnTo>
                    <a:pt x="0" y="155"/>
                  </a:lnTo>
                  <a:lnTo>
                    <a:pt x="379" y="0"/>
                  </a:lnTo>
                  <a:close/>
                </a:path>
              </a:pathLst>
            </a:custGeom>
            <a:solidFill>
              <a:srgbClr val="EAEAEA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sm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 sz="2000" b="1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377" name="Freeform 27"/>
            <p:cNvSpPr>
              <a:spLocks/>
            </p:cNvSpPr>
            <p:nvPr/>
          </p:nvSpPr>
          <p:spPr bwMode="auto">
            <a:xfrm>
              <a:off x="2475" y="3380"/>
              <a:ext cx="232" cy="268"/>
            </a:xfrm>
            <a:custGeom>
              <a:avLst/>
              <a:gdLst>
                <a:gd name="T0" fmla="*/ 379 w 379"/>
                <a:gd name="T1" fmla="*/ 0 h 365"/>
                <a:gd name="T2" fmla="*/ 379 w 379"/>
                <a:gd name="T3" fmla="*/ 195 h 365"/>
                <a:gd name="T4" fmla="*/ 0 w 379"/>
                <a:gd name="T5" fmla="*/ 365 h 365"/>
                <a:gd name="T6" fmla="*/ 0 w 379"/>
                <a:gd name="T7" fmla="*/ 155 h 365"/>
                <a:gd name="T8" fmla="*/ 379 w 379"/>
                <a:gd name="T9" fmla="*/ 0 h 3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9" h="365">
                  <a:moveTo>
                    <a:pt x="379" y="0"/>
                  </a:moveTo>
                  <a:lnTo>
                    <a:pt x="379" y="195"/>
                  </a:lnTo>
                  <a:lnTo>
                    <a:pt x="0" y="365"/>
                  </a:lnTo>
                  <a:lnTo>
                    <a:pt x="0" y="155"/>
                  </a:lnTo>
                  <a:lnTo>
                    <a:pt x="379" y="0"/>
                  </a:lnTo>
                  <a:close/>
                </a:path>
              </a:pathLst>
            </a:custGeom>
            <a:solidFill>
              <a:srgbClr val="EAEAEA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sm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 sz="2000" b="1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sp>
        <p:nvSpPr>
          <p:cNvPr id="388" name="Oval 28"/>
          <p:cNvSpPr>
            <a:spLocks noChangeArrowheads="1"/>
          </p:cNvSpPr>
          <p:nvPr/>
        </p:nvSpPr>
        <p:spPr bwMode="auto">
          <a:xfrm>
            <a:off x="6013496" y="2880664"/>
            <a:ext cx="1969637" cy="1967711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round/>
            <a:headEnd/>
            <a:tailEnd type="none" w="med" len="sm"/>
          </a:ln>
          <a:effectLst/>
        </p:spPr>
        <p:txBody>
          <a:bodyPr wrap="none" lIns="90000" tIns="46800" rIns="90000" bIns="46800" anchor="ctr"/>
          <a:lstStyle/>
          <a:p>
            <a:endParaRPr lang="ko-KR" altLang="en-US" sz="2000" b="1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89" name="Oval 29"/>
          <p:cNvSpPr>
            <a:spLocks noChangeArrowheads="1"/>
          </p:cNvSpPr>
          <p:nvPr/>
        </p:nvSpPr>
        <p:spPr bwMode="auto">
          <a:xfrm>
            <a:off x="3121616" y="3186796"/>
            <a:ext cx="1426687" cy="1426686"/>
          </a:xfrm>
          <a:prstGeom prst="ellipse">
            <a:avLst/>
          </a:prstGeom>
          <a:solidFill>
            <a:srgbClr val="FFA725"/>
          </a:solidFill>
          <a:ln w="19050">
            <a:solidFill>
              <a:schemeClr val="tx1"/>
            </a:solidFill>
            <a:round/>
            <a:headEnd/>
            <a:tailEnd type="none" w="med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 sz="2000" b="1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90" name="Oval 30"/>
          <p:cNvSpPr>
            <a:spLocks noChangeArrowheads="1"/>
          </p:cNvSpPr>
          <p:nvPr/>
        </p:nvSpPr>
        <p:spPr bwMode="auto">
          <a:xfrm>
            <a:off x="6271493" y="2707382"/>
            <a:ext cx="517921" cy="517921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  <a:round/>
            <a:headEnd/>
            <a:tailEnd type="none" w="med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/>
          <a:p>
            <a:pPr algn="ctr"/>
            <a:r>
              <a:rPr lang="en-US" altLang="ko-KR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A </a:t>
            </a:r>
            <a:r>
              <a:rPr lang="ko-KR" altLang="en-US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상품</a:t>
            </a:r>
          </a:p>
        </p:txBody>
      </p:sp>
      <p:sp>
        <p:nvSpPr>
          <p:cNvPr id="391" name="Oval 31"/>
          <p:cNvSpPr>
            <a:spLocks noChangeArrowheads="1"/>
          </p:cNvSpPr>
          <p:nvPr/>
        </p:nvSpPr>
        <p:spPr bwMode="auto">
          <a:xfrm>
            <a:off x="6876054" y="2620742"/>
            <a:ext cx="515995" cy="517919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  <a:round/>
            <a:headEnd/>
            <a:tailEnd type="none" w="med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/>
          <a:p>
            <a:pPr algn="ctr"/>
            <a:r>
              <a:rPr lang="en-US" altLang="ko-KR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B </a:t>
            </a:r>
            <a:r>
              <a:rPr lang="ko-KR" altLang="en-US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상품</a:t>
            </a:r>
          </a:p>
        </p:txBody>
      </p:sp>
      <p:sp>
        <p:nvSpPr>
          <p:cNvPr id="392" name="Oval 32"/>
          <p:cNvSpPr>
            <a:spLocks noChangeArrowheads="1"/>
          </p:cNvSpPr>
          <p:nvPr/>
        </p:nvSpPr>
        <p:spPr bwMode="auto">
          <a:xfrm>
            <a:off x="7392048" y="2880664"/>
            <a:ext cx="517921" cy="515995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  <a:round/>
            <a:headEnd/>
            <a:tailEnd type="none" w="med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/>
          <a:p>
            <a:pPr algn="ctr"/>
            <a:r>
              <a:rPr lang="en-US" altLang="ko-KR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C </a:t>
            </a:r>
            <a:r>
              <a:rPr lang="ko-KR" altLang="en-US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상품</a:t>
            </a:r>
          </a:p>
        </p:txBody>
      </p:sp>
      <p:sp>
        <p:nvSpPr>
          <p:cNvPr id="393" name="Oval 33"/>
          <p:cNvSpPr>
            <a:spLocks noChangeArrowheads="1"/>
          </p:cNvSpPr>
          <p:nvPr/>
        </p:nvSpPr>
        <p:spPr bwMode="auto">
          <a:xfrm>
            <a:off x="7738612" y="3396659"/>
            <a:ext cx="515995" cy="517921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  <a:round/>
            <a:headEnd/>
            <a:tailEnd type="none" w="med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/>
          <a:p>
            <a:pPr algn="ctr"/>
            <a:r>
              <a:rPr lang="en-US" altLang="ko-KR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D </a:t>
            </a:r>
            <a:r>
              <a:rPr lang="ko-KR" altLang="en-US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상품</a:t>
            </a:r>
          </a:p>
        </p:txBody>
      </p:sp>
      <p:sp>
        <p:nvSpPr>
          <p:cNvPr id="394" name="Oval 34"/>
          <p:cNvSpPr>
            <a:spLocks noChangeArrowheads="1"/>
          </p:cNvSpPr>
          <p:nvPr/>
        </p:nvSpPr>
        <p:spPr bwMode="auto">
          <a:xfrm>
            <a:off x="7651971" y="4001219"/>
            <a:ext cx="517919" cy="517921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  <a:round/>
            <a:headEnd/>
            <a:tailEnd type="none" w="med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/>
          <a:p>
            <a:pPr algn="ctr"/>
            <a:r>
              <a:rPr lang="en-US" altLang="ko-KR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E </a:t>
            </a:r>
            <a:r>
              <a:rPr lang="ko-KR" altLang="en-US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상품</a:t>
            </a:r>
          </a:p>
        </p:txBody>
      </p:sp>
      <p:sp>
        <p:nvSpPr>
          <p:cNvPr id="395" name="Oval 35"/>
          <p:cNvSpPr>
            <a:spLocks noChangeArrowheads="1"/>
          </p:cNvSpPr>
          <p:nvPr/>
        </p:nvSpPr>
        <p:spPr bwMode="auto">
          <a:xfrm>
            <a:off x="7307333" y="4519140"/>
            <a:ext cx="515995" cy="515995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  <a:round/>
            <a:headEnd/>
            <a:tailEnd type="none" w="med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/>
          <a:p>
            <a:pPr algn="ctr"/>
            <a:r>
              <a:rPr lang="ko-KR" altLang="en-US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상품</a:t>
            </a:r>
            <a:endParaRPr lang="en-US" altLang="ko-KR" sz="9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r>
              <a:rPr lang="ko-KR" altLang="en-US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정보</a:t>
            </a:r>
          </a:p>
        </p:txBody>
      </p:sp>
      <p:sp>
        <p:nvSpPr>
          <p:cNvPr id="396" name="Oval 36"/>
          <p:cNvSpPr>
            <a:spLocks noChangeArrowheads="1"/>
          </p:cNvSpPr>
          <p:nvPr/>
        </p:nvSpPr>
        <p:spPr bwMode="auto">
          <a:xfrm>
            <a:off x="6702772" y="4603855"/>
            <a:ext cx="517921" cy="517919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  <a:round/>
            <a:headEnd/>
            <a:tailEnd type="none" w="med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/>
          <a:p>
            <a:pPr algn="ctr"/>
            <a:r>
              <a:rPr lang="en" altLang="ko-KR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XXX</a:t>
            </a:r>
            <a:endParaRPr lang="en-US" altLang="ko-KR" sz="9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r>
              <a:rPr lang="ko-KR" altLang="en-US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가입</a:t>
            </a:r>
            <a:endParaRPr lang="en-US" altLang="ko-KR" sz="9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04" name="Oval 44"/>
          <p:cNvSpPr>
            <a:spLocks noChangeArrowheads="1"/>
          </p:cNvSpPr>
          <p:nvPr/>
        </p:nvSpPr>
        <p:spPr bwMode="auto">
          <a:xfrm>
            <a:off x="7388197" y="1844824"/>
            <a:ext cx="866409" cy="868335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  <a:round/>
            <a:headEnd/>
            <a:tailEnd type="none" w="med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/>
          <a:p>
            <a:pPr algn="ctr"/>
            <a:r>
              <a:rPr lang="en-US" altLang="ko-KR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Needs</a:t>
            </a:r>
          </a:p>
          <a:p>
            <a:pPr algn="ctr"/>
            <a:r>
              <a:rPr lang="en-US" altLang="ko-KR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Response</a:t>
            </a:r>
          </a:p>
          <a:p>
            <a:pPr algn="ctr"/>
            <a:r>
              <a:rPr lang="en-US" altLang="ko-KR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Interface</a:t>
            </a:r>
          </a:p>
        </p:txBody>
      </p:sp>
      <p:sp>
        <p:nvSpPr>
          <p:cNvPr id="406" name="Oval 46"/>
          <p:cNvSpPr>
            <a:spLocks noChangeArrowheads="1"/>
          </p:cNvSpPr>
          <p:nvPr/>
        </p:nvSpPr>
        <p:spPr bwMode="auto">
          <a:xfrm>
            <a:off x="7990833" y="4600005"/>
            <a:ext cx="868334" cy="866409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  <a:round/>
            <a:headEnd/>
            <a:tailEnd type="none" w="med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/>
          <a:p>
            <a:pPr algn="ctr"/>
            <a:r>
              <a:rPr lang="en-US" altLang="ko-KR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Landing</a:t>
            </a:r>
          </a:p>
          <a:p>
            <a:pPr algn="ctr"/>
            <a:r>
              <a:rPr lang="en-US" altLang="ko-KR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page</a:t>
            </a:r>
          </a:p>
        </p:txBody>
      </p:sp>
      <p:sp>
        <p:nvSpPr>
          <p:cNvPr id="408" name="Line 48"/>
          <p:cNvSpPr>
            <a:spLocks noChangeShapeType="1"/>
          </p:cNvSpPr>
          <p:nvPr/>
        </p:nvSpPr>
        <p:spPr bwMode="auto">
          <a:xfrm flipH="1" flipV="1">
            <a:off x="7990833" y="4684720"/>
            <a:ext cx="86640" cy="8664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 type="triangle" w="med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 sz="2000" b="1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09" name="Line 49"/>
          <p:cNvSpPr>
            <a:spLocks noChangeShapeType="1"/>
          </p:cNvSpPr>
          <p:nvPr/>
        </p:nvSpPr>
        <p:spPr bwMode="auto">
          <a:xfrm flipH="1">
            <a:off x="7472913" y="2626517"/>
            <a:ext cx="86641" cy="173282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 type="triangle" w="med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 sz="2000" b="1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10" name="Text Box 50"/>
          <p:cNvSpPr txBox="1">
            <a:spLocks noChangeArrowheads="1"/>
          </p:cNvSpPr>
          <p:nvPr/>
        </p:nvSpPr>
        <p:spPr bwMode="auto">
          <a:xfrm>
            <a:off x="6460177" y="3534268"/>
            <a:ext cx="1201420" cy="6093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AEAEA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>
            <a:spAutoFit/>
          </a:bodyPr>
          <a:lstStyle/>
          <a:p>
            <a:pPr>
              <a:lnSpc>
                <a:spcPct val="110000"/>
              </a:lnSpc>
              <a:spcBef>
                <a:spcPct val="20000"/>
              </a:spcBef>
            </a:pPr>
            <a:r>
              <a:rPr lang="en-US" altLang="ko-KR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Insurance</a:t>
            </a:r>
          </a:p>
          <a:p>
            <a:pPr>
              <a:lnSpc>
                <a:spcPct val="110000"/>
              </a:lnSpc>
              <a:spcBef>
                <a:spcPct val="20000"/>
              </a:spcBef>
            </a:pPr>
            <a:r>
              <a:rPr lang="en-US" altLang="ko-KR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Web Site</a:t>
            </a:r>
          </a:p>
        </p:txBody>
      </p:sp>
      <p:sp>
        <p:nvSpPr>
          <p:cNvPr id="413" name="Text Box 53"/>
          <p:cNvSpPr txBox="1">
            <a:spLocks noChangeArrowheads="1"/>
          </p:cNvSpPr>
          <p:nvPr/>
        </p:nvSpPr>
        <p:spPr bwMode="auto">
          <a:xfrm>
            <a:off x="3369987" y="3534268"/>
            <a:ext cx="1020437" cy="7663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AEAEA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>
            <a:spAutoFit/>
          </a:bodyPr>
          <a:lstStyle/>
          <a:p>
            <a:pPr>
              <a:lnSpc>
                <a:spcPct val="110000"/>
              </a:lnSpc>
              <a:spcBef>
                <a:spcPct val="20000"/>
              </a:spcBef>
            </a:pPr>
            <a:r>
              <a:rPr lang="en-US" altLang="ko-KR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Policy Gateway</a:t>
            </a:r>
          </a:p>
          <a:p>
            <a:pPr>
              <a:lnSpc>
                <a:spcPct val="110000"/>
              </a:lnSpc>
              <a:spcBef>
                <a:spcPct val="20000"/>
              </a:spcBef>
            </a:pP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(Main page)</a:t>
            </a:r>
          </a:p>
        </p:txBody>
      </p:sp>
      <p:sp>
        <p:nvSpPr>
          <p:cNvPr id="414" name="Text Box 54"/>
          <p:cNvSpPr txBox="1">
            <a:spLocks noChangeArrowheads="1"/>
          </p:cNvSpPr>
          <p:nvPr/>
        </p:nvSpPr>
        <p:spPr bwMode="auto">
          <a:xfrm>
            <a:off x="980235" y="4274619"/>
            <a:ext cx="1020437" cy="313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AEAEA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>
            <a:spAutoFit/>
          </a:bodyPr>
          <a:lstStyle/>
          <a:p>
            <a:pPr algn="ctr">
              <a:lnSpc>
                <a:spcPct val="110000"/>
              </a:lnSpc>
              <a:spcBef>
                <a:spcPct val="20000"/>
              </a:spcBef>
            </a:pPr>
            <a:r>
              <a:rPr lang="en-US" altLang="ko-KR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Web Site</a:t>
            </a:r>
          </a:p>
        </p:txBody>
      </p:sp>
      <p:sp>
        <p:nvSpPr>
          <p:cNvPr id="415" name="Line 55"/>
          <p:cNvSpPr>
            <a:spLocks noChangeShapeType="1"/>
          </p:cNvSpPr>
          <p:nvPr/>
        </p:nvSpPr>
        <p:spPr bwMode="auto">
          <a:xfrm>
            <a:off x="776536" y="5894467"/>
            <a:ext cx="0" cy="344638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 type="none" w="med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 sz="2000" b="1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16" name="Line 56"/>
          <p:cNvSpPr>
            <a:spLocks noChangeShapeType="1"/>
          </p:cNvSpPr>
          <p:nvPr/>
        </p:nvSpPr>
        <p:spPr bwMode="auto">
          <a:xfrm>
            <a:off x="5174042" y="5894467"/>
            <a:ext cx="0" cy="344638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 type="none" w="med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 sz="2000" b="1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17" name="Line 57"/>
          <p:cNvSpPr>
            <a:spLocks noChangeShapeType="1"/>
          </p:cNvSpPr>
          <p:nvPr/>
        </p:nvSpPr>
        <p:spPr bwMode="auto">
          <a:xfrm>
            <a:off x="5260683" y="5894467"/>
            <a:ext cx="0" cy="344638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 type="none" w="med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 sz="2000" b="1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18" name="Line 58"/>
          <p:cNvSpPr>
            <a:spLocks noChangeShapeType="1"/>
          </p:cNvSpPr>
          <p:nvPr/>
        </p:nvSpPr>
        <p:spPr bwMode="auto">
          <a:xfrm>
            <a:off x="8795631" y="5894467"/>
            <a:ext cx="0" cy="344638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 type="none" w="med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 sz="2000" b="1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19" name="Line 59"/>
          <p:cNvSpPr>
            <a:spLocks noChangeShapeType="1"/>
          </p:cNvSpPr>
          <p:nvPr/>
        </p:nvSpPr>
        <p:spPr bwMode="auto">
          <a:xfrm>
            <a:off x="776536" y="6065823"/>
            <a:ext cx="4397506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 type="none" w="med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 sz="2000" b="1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20" name="Line 60"/>
          <p:cNvSpPr>
            <a:spLocks noChangeShapeType="1"/>
          </p:cNvSpPr>
          <p:nvPr/>
        </p:nvSpPr>
        <p:spPr bwMode="auto">
          <a:xfrm>
            <a:off x="5260683" y="6065823"/>
            <a:ext cx="3556126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 type="none" w="med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 sz="2000" b="1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21" name="Text Box 61"/>
          <p:cNvSpPr txBox="1">
            <a:spLocks noChangeArrowheads="1"/>
          </p:cNvSpPr>
          <p:nvPr/>
        </p:nvSpPr>
        <p:spPr bwMode="auto">
          <a:xfrm>
            <a:off x="1053787" y="6054271"/>
            <a:ext cx="2599226" cy="278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AEAEA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>
            <a:spAutoFit/>
          </a:bodyPr>
          <a:lstStyle/>
          <a:p>
            <a:pPr>
              <a:lnSpc>
                <a:spcPct val="110000"/>
              </a:lnSpc>
              <a:spcBef>
                <a:spcPct val="20000"/>
              </a:spcBef>
            </a:pPr>
            <a:r>
              <a:rPr lang="ko-KR" altLang="en-US" sz="105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고객의</a:t>
            </a:r>
            <a:r>
              <a:rPr lang="en-US" altLang="ko-KR" sz="105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05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목적중심에 의한 정보탐색</a:t>
            </a:r>
            <a:endParaRPr lang="en-US" altLang="ko-KR" sz="105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22" name="Text Box 62"/>
          <p:cNvSpPr txBox="1">
            <a:spLocks noChangeArrowheads="1"/>
          </p:cNvSpPr>
          <p:nvPr/>
        </p:nvSpPr>
        <p:spPr bwMode="auto">
          <a:xfrm>
            <a:off x="5489800" y="6246806"/>
            <a:ext cx="2414392" cy="278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AEAEA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>
            <a:spAutoFit/>
          </a:bodyPr>
          <a:lstStyle/>
          <a:p>
            <a:pPr>
              <a:lnSpc>
                <a:spcPct val="110000"/>
              </a:lnSpc>
              <a:spcBef>
                <a:spcPct val="20000"/>
              </a:spcBef>
            </a:pPr>
            <a:r>
              <a:rPr lang="en-US" altLang="ko-KR" sz="105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+ </a:t>
            </a:r>
            <a:r>
              <a:rPr lang="ko-KR" altLang="en-US" sz="105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상품중심의 네비게이션</a:t>
            </a:r>
            <a:endParaRPr lang="en-US" altLang="ko-KR" sz="105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23" name="Oval 64"/>
          <p:cNvSpPr>
            <a:spLocks noChangeArrowheads="1"/>
          </p:cNvSpPr>
          <p:nvPr/>
        </p:nvSpPr>
        <p:spPr bwMode="auto">
          <a:xfrm>
            <a:off x="3833996" y="2942275"/>
            <a:ext cx="517921" cy="517921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  <a:round/>
            <a:headEnd/>
            <a:tailEnd type="none" w="med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/>
          <a:p>
            <a:pPr algn="ctr"/>
            <a:r>
              <a:rPr lang="ko-KR" altLang="en-US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상품</a:t>
            </a:r>
          </a:p>
        </p:txBody>
      </p:sp>
      <p:sp>
        <p:nvSpPr>
          <p:cNvPr id="425" name="Oval 66"/>
          <p:cNvSpPr>
            <a:spLocks noChangeArrowheads="1"/>
          </p:cNvSpPr>
          <p:nvPr/>
        </p:nvSpPr>
        <p:spPr bwMode="auto">
          <a:xfrm>
            <a:off x="4287455" y="3344122"/>
            <a:ext cx="517921" cy="517921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  <a:round/>
            <a:headEnd/>
            <a:tailEnd type="none" w="med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/>
          <a:p>
            <a:pPr algn="ctr"/>
            <a:r>
              <a:rPr lang="en-US" altLang="ko-KR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Lock-in</a:t>
            </a:r>
          </a:p>
          <a:p>
            <a:pPr algn="ctr"/>
            <a:r>
              <a:rPr lang="en-US" altLang="ko-KR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Point</a:t>
            </a:r>
            <a:endParaRPr lang="ko-KR" altLang="en-US" sz="9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27" name="Oval 68"/>
          <p:cNvSpPr>
            <a:spLocks noChangeArrowheads="1"/>
          </p:cNvSpPr>
          <p:nvPr/>
        </p:nvSpPr>
        <p:spPr bwMode="auto">
          <a:xfrm>
            <a:off x="4296081" y="3958862"/>
            <a:ext cx="517921" cy="517921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  <a:round/>
            <a:headEnd/>
            <a:tailEnd type="none" w="med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/>
          <a:p>
            <a:pPr algn="ctr"/>
            <a:r>
              <a:rPr lang="en" altLang="ko-KR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XXX</a:t>
            </a:r>
            <a:endParaRPr lang="en-US" altLang="ko-KR" sz="9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r>
              <a:rPr lang="ko-KR" altLang="en-US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가입</a:t>
            </a:r>
            <a:endParaRPr lang="en-US" altLang="ko-KR" sz="9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29" name="Text Box 70"/>
          <p:cNvSpPr txBox="1">
            <a:spLocks noChangeArrowheads="1"/>
          </p:cNvSpPr>
          <p:nvPr/>
        </p:nvSpPr>
        <p:spPr bwMode="auto">
          <a:xfrm>
            <a:off x="5505202" y="6065671"/>
            <a:ext cx="3179299" cy="278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AEAEA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rIns="0">
            <a:spAutoFit/>
          </a:bodyPr>
          <a:lstStyle/>
          <a:p>
            <a:pPr>
              <a:lnSpc>
                <a:spcPct val="110000"/>
              </a:lnSpc>
              <a:spcBef>
                <a:spcPct val="20000"/>
              </a:spcBef>
            </a:pPr>
            <a:r>
              <a:rPr lang="ko-KR" altLang="en-US" sz="1050" b="1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고객의 목적중심에 의한 정보탐색</a:t>
            </a:r>
          </a:p>
        </p:txBody>
      </p:sp>
      <p:sp>
        <p:nvSpPr>
          <p:cNvPr id="430" name="Oval 71"/>
          <p:cNvSpPr>
            <a:spLocks noChangeArrowheads="1"/>
          </p:cNvSpPr>
          <p:nvPr/>
        </p:nvSpPr>
        <p:spPr bwMode="auto">
          <a:xfrm>
            <a:off x="4473213" y="2380072"/>
            <a:ext cx="681575" cy="683501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  <a:round/>
            <a:headEnd/>
            <a:tailEnd type="none" w="med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/>
          <a:p>
            <a:pPr algn="ctr"/>
            <a:r>
              <a:rPr lang="en-US" altLang="ko-KR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Needs</a:t>
            </a:r>
          </a:p>
          <a:p>
            <a:pPr algn="ctr"/>
            <a:r>
              <a:rPr lang="en-US" altLang="ko-KR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Response</a:t>
            </a:r>
          </a:p>
          <a:p>
            <a:pPr algn="ctr"/>
            <a:r>
              <a:rPr lang="en-US" altLang="ko-KR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Interface</a:t>
            </a:r>
          </a:p>
        </p:txBody>
      </p:sp>
      <p:sp>
        <p:nvSpPr>
          <p:cNvPr id="432" name="Line 73"/>
          <p:cNvSpPr>
            <a:spLocks noChangeShapeType="1"/>
          </p:cNvSpPr>
          <p:nvPr/>
        </p:nvSpPr>
        <p:spPr bwMode="auto">
          <a:xfrm flipH="1">
            <a:off x="4465512" y="3013514"/>
            <a:ext cx="161730" cy="217564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 type="triangle" w="med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 sz="2000" b="1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33" name="Oval 74"/>
          <p:cNvSpPr>
            <a:spLocks noChangeArrowheads="1"/>
          </p:cNvSpPr>
          <p:nvPr/>
        </p:nvSpPr>
        <p:spPr bwMode="auto">
          <a:xfrm>
            <a:off x="4461661" y="4517214"/>
            <a:ext cx="739335" cy="737411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  <a:round/>
            <a:headEnd/>
            <a:tailEnd type="none" w="med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/>
          <a:p>
            <a:pPr algn="ctr"/>
            <a:r>
              <a:rPr lang="en-US" altLang="ko-KR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Landing</a:t>
            </a:r>
          </a:p>
          <a:p>
            <a:pPr algn="ctr"/>
            <a:r>
              <a:rPr lang="en-US" altLang="ko-KR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page</a:t>
            </a:r>
          </a:p>
        </p:txBody>
      </p:sp>
      <p:sp>
        <p:nvSpPr>
          <p:cNvPr id="435" name="Line 76"/>
          <p:cNvSpPr>
            <a:spLocks noChangeShapeType="1"/>
          </p:cNvSpPr>
          <p:nvPr/>
        </p:nvSpPr>
        <p:spPr bwMode="auto">
          <a:xfrm flipH="1" flipV="1">
            <a:off x="4380796" y="4505662"/>
            <a:ext cx="154028" cy="169431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 type="triangle" w="med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 sz="2000" b="1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2" name="Oval 68"/>
          <p:cNvSpPr>
            <a:spLocks noChangeArrowheads="1"/>
          </p:cNvSpPr>
          <p:nvPr/>
        </p:nvSpPr>
        <p:spPr bwMode="auto">
          <a:xfrm>
            <a:off x="3769534" y="4341044"/>
            <a:ext cx="517921" cy="517921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  <a:round/>
            <a:headEnd/>
            <a:tailEnd type="none" w="med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/>
          <a:p>
            <a:pPr algn="ctr"/>
            <a:r>
              <a:rPr lang="ko-KR" altLang="en-US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고객</a:t>
            </a:r>
            <a:endParaRPr lang="en-US" altLang="ko-KR" sz="9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r>
              <a:rPr lang="ko-KR" altLang="en-US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센터</a:t>
            </a:r>
            <a:endParaRPr lang="en-US" altLang="ko-KR" sz="9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3" name="Oval 46"/>
          <p:cNvSpPr>
            <a:spLocks noChangeArrowheads="1"/>
          </p:cNvSpPr>
          <p:nvPr/>
        </p:nvSpPr>
        <p:spPr bwMode="auto">
          <a:xfrm>
            <a:off x="6969224" y="5103655"/>
            <a:ext cx="659027" cy="657566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  <a:round/>
            <a:headEnd/>
            <a:tailEnd type="none" w="med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/>
          <a:p>
            <a:pPr algn="ctr"/>
            <a:r>
              <a:rPr lang="en-US" altLang="ko-KR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Mobile</a:t>
            </a:r>
          </a:p>
          <a:p>
            <a:pPr algn="ctr"/>
            <a:r>
              <a:rPr lang="en-US" altLang="ko-KR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Web</a:t>
            </a:r>
          </a:p>
        </p:txBody>
      </p:sp>
      <p:sp>
        <p:nvSpPr>
          <p:cNvPr id="64" name="Line 48"/>
          <p:cNvSpPr>
            <a:spLocks noChangeShapeType="1"/>
          </p:cNvSpPr>
          <p:nvPr/>
        </p:nvSpPr>
        <p:spPr bwMode="auto">
          <a:xfrm rot="2700000" flipH="1" flipV="1">
            <a:off x="7240906" y="4993616"/>
            <a:ext cx="86640" cy="8664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 type="triangle" w="med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 sz="2000" b="1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6" name="오른쪽 화살표 65"/>
          <p:cNvSpPr/>
          <p:nvPr/>
        </p:nvSpPr>
        <p:spPr>
          <a:xfrm>
            <a:off x="2061510" y="3471677"/>
            <a:ext cx="947274" cy="771250"/>
          </a:xfrm>
          <a:prstGeom prst="rightArrow">
            <a:avLst/>
          </a:prstGeom>
          <a:solidFill>
            <a:schemeClr val="bg1">
              <a:lumMod val="7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0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600185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44017" y="91339"/>
            <a:ext cx="7401271" cy="385333"/>
          </a:xfrm>
          <a:prstGeom prst="rect">
            <a:avLst/>
          </a:prstGeom>
          <a:noFill/>
        </p:spPr>
        <p:txBody>
          <a:bodyPr wrap="square" lIns="0" tIns="53643" rIns="0" bIns="53643" rtlCol="0">
            <a:spAutoFit/>
          </a:bodyPr>
          <a:lstStyle/>
          <a:p>
            <a:r>
              <a:rPr kumimoji="1" lang="en-US" altLang="ko-KR" b="1" kern="0" dirty="0">
                <a:latin typeface="나눔고딕" panose="020D0604000000000000" pitchFamily="50" charset="-127"/>
                <a:ea typeface="나눔고딕" panose="020D0604000000000000" pitchFamily="50" charset="-127"/>
                <a:cs typeface="산돌고딕 M"/>
              </a:rPr>
              <a:t>Information architecture</a:t>
            </a:r>
            <a:endParaRPr kumimoji="1" lang="ko-KR" altLang="en-US" b="1" kern="0" dirty="0">
              <a:latin typeface="나눔고딕" panose="020D0604000000000000" pitchFamily="50" charset="-127"/>
              <a:ea typeface="나눔고딕" panose="020D0604000000000000" pitchFamily="50" charset="-127"/>
              <a:cs typeface="산돌고딕 M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44017" y="683985"/>
            <a:ext cx="96335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Information Architecture Mapping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06D599C6-9746-BD5D-90DE-6E6AF31F248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731" b="851"/>
          <a:stretch/>
        </p:blipFill>
        <p:spPr>
          <a:xfrm>
            <a:off x="1066801" y="1511973"/>
            <a:ext cx="8839199" cy="5346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999865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44017" y="91339"/>
            <a:ext cx="7401271" cy="385333"/>
          </a:xfrm>
          <a:prstGeom prst="rect">
            <a:avLst/>
          </a:prstGeom>
          <a:noFill/>
        </p:spPr>
        <p:txBody>
          <a:bodyPr wrap="square" lIns="0" tIns="53643" rIns="0" bIns="53643" rtlCol="0">
            <a:spAutoFit/>
          </a:bodyPr>
          <a:lstStyle/>
          <a:p>
            <a:r>
              <a:rPr kumimoji="1" lang="en-US" altLang="ko-KR" b="1" kern="0" dirty="0">
                <a:latin typeface="나눔고딕" panose="020D0604000000000000" pitchFamily="50" charset="-127"/>
                <a:ea typeface="나눔고딕" panose="020D0604000000000000" pitchFamily="50" charset="-127"/>
                <a:cs typeface="산돌고딕 M"/>
              </a:rPr>
              <a:t>Information architecture</a:t>
            </a:r>
            <a:endParaRPr kumimoji="1" lang="ko-KR" altLang="en-US" b="1" kern="0" dirty="0">
              <a:latin typeface="나눔고딕" panose="020D0604000000000000" pitchFamily="50" charset="-127"/>
              <a:ea typeface="나눔고딕" panose="020D0604000000000000" pitchFamily="50" charset="-127"/>
              <a:cs typeface="산돌고딕 M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44017" y="683985"/>
            <a:ext cx="96335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사이트 유형별 분류</a:t>
            </a:r>
            <a:endParaRPr lang="en-US" altLang="ko-KR" sz="14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" name="Line 3"/>
          <p:cNvSpPr>
            <a:spLocks noChangeShapeType="1"/>
          </p:cNvSpPr>
          <p:nvPr/>
        </p:nvSpPr>
        <p:spPr bwMode="auto">
          <a:xfrm>
            <a:off x="364094" y="6238537"/>
            <a:ext cx="8239353" cy="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" name="Text Box 4"/>
          <p:cNvSpPr txBox="1">
            <a:spLocks noChangeArrowheads="1"/>
          </p:cNvSpPr>
          <p:nvPr/>
        </p:nvSpPr>
        <p:spPr bwMode="auto">
          <a:xfrm>
            <a:off x="268288" y="6314384"/>
            <a:ext cx="8526773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1" lang="en" altLang="ko-KR" sz="1000">
                <a:latin typeface="나눔고딕" panose="020D0604000000000000" pitchFamily="50" charset="-127"/>
                <a:ea typeface="나눔고딕" panose="020D0604000000000000" pitchFamily="50" charset="-127"/>
              </a:rPr>
              <a:t>XXX</a:t>
            </a:r>
            <a:r>
              <a:rPr kumimoji="1" lang="ko-KR" altLang="en-US" sz="1000">
                <a:latin typeface="나눔고딕" panose="020D0604000000000000" pitchFamily="50" charset="-127"/>
                <a:ea typeface="나눔고딕" panose="020D0604000000000000" pitchFamily="50" charset="-127"/>
              </a:rPr>
              <a:t>서비스를 </a:t>
            </a:r>
            <a:r>
              <a:rPr kumimoji="1"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구성하고 있는 사이트는 </a:t>
            </a:r>
            <a:r>
              <a:rPr kumimoji="1"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User</a:t>
            </a:r>
            <a:r>
              <a:rPr kumimoji="1"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의 </a:t>
            </a:r>
            <a:r>
              <a:rPr kumimoji="1"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Need</a:t>
            </a:r>
            <a:r>
              <a:rPr kumimoji="1"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에 부합하기 위해 각각의 목적과 성격에 따라 </a:t>
            </a:r>
            <a:r>
              <a:rPr kumimoji="1" lang="ko-KR" altLang="en-US" sz="1000" err="1">
                <a:latin typeface="나눔고딕" panose="020D0604000000000000" pitchFamily="50" charset="-127"/>
                <a:ea typeface="나눔고딕" panose="020D0604000000000000" pitchFamily="50" charset="-127"/>
              </a:rPr>
              <a:t>메인사이트와</a:t>
            </a:r>
            <a:r>
              <a:rPr kumimoji="1" lang="ko-KR" altLang="en-US" sz="1000">
                <a:latin typeface="나눔고딕" panose="020D0604000000000000" pitchFamily="50" charset="-127"/>
                <a:ea typeface="나눔고딕" panose="020D0604000000000000" pitchFamily="50" charset="-127"/>
              </a:rPr>
              <a:t> 온라인서비스 </a:t>
            </a:r>
            <a:r>
              <a:rPr kumimoji="1" lang="en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XXX</a:t>
            </a:r>
            <a:r>
              <a:rPr kumimoji="1"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가입을 위한</a:t>
            </a:r>
            <a:br>
              <a:rPr kumimoji="1" lang="en-US" altLang="ko-KR" sz="100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kumimoji="1" lang="ko-KR" altLang="en-US" sz="1000">
                <a:latin typeface="나눔고딕" panose="020D0604000000000000" pitchFamily="50" charset="-127"/>
                <a:ea typeface="나눔고딕" panose="020D0604000000000000" pitchFamily="50" charset="-127"/>
              </a:rPr>
              <a:t>온라인서비스 </a:t>
            </a:r>
            <a:r>
              <a:rPr kumimoji="1"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판매사이트</a:t>
            </a:r>
            <a:r>
              <a:rPr kumimoji="1"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kumimoji="1"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그리고 </a:t>
            </a:r>
            <a:r>
              <a:rPr kumimoji="1" lang="ko-KR" altLang="en-US" sz="1000">
                <a:latin typeface="나눔고딕" panose="020D0604000000000000" pitchFamily="50" charset="-127"/>
                <a:ea typeface="나눔고딕" panose="020D0604000000000000" pitchFamily="50" charset="-127"/>
              </a:rPr>
              <a:t>커뮤니티 서비스로 </a:t>
            </a:r>
            <a:r>
              <a:rPr kumimoji="1"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구성되게 됩니다</a:t>
            </a:r>
            <a:r>
              <a:rPr kumimoji="1"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</p:txBody>
      </p:sp>
      <p:sp>
        <p:nvSpPr>
          <p:cNvPr id="10" name="Rectangle 5"/>
          <p:cNvSpPr>
            <a:spLocks noChangeArrowheads="1"/>
          </p:cNvSpPr>
          <p:nvPr/>
        </p:nvSpPr>
        <p:spPr bwMode="auto">
          <a:xfrm>
            <a:off x="1352600" y="4492999"/>
            <a:ext cx="2778387" cy="287419"/>
          </a:xfrm>
          <a:prstGeom prst="rect">
            <a:avLst/>
          </a:prstGeom>
          <a:solidFill>
            <a:srgbClr val="D8EBB3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kumimoji="1" lang="ko-KR" altLang="en-US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메인 사이트</a:t>
            </a:r>
            <a:endParaRPr kumimoji="1" lang="en-US" altLang="ko-KR" sz="12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1" name="Rectangle 6"/>
          <p:cNvSpPr>
            <a:spLocks noChangeArrowheads="1"/>
          </p:cNvSpPr>
          <p:nvPr/>
        </p:nvSpPr>
        <p:spPr bwMode="auto">
          <a:xfrm>
            <a:off x="1352600" y="4968967"/>
            <a:ext cx="2778387" cy="287419"/>
          </a:xfrm>
          <a:prstGeom prst="rect">
            <a:avLst/>
          </a:prstGeom>
          <a:solidFill>
            <a:srgbClr val="D8EBB3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kumimoji="1" lang="ko-KR" altLang="en-US" sz="1200" b="1">
                <a:latin typeface="나눔고딕" panose="020D0604000000000000" pitchFamily="50" charset="-127"/>
                <a:ea typeface="나눔고딕" panose="020D0604000000000000" pitchFamily="50" charset="-127"/>
              </a:rPr>
              <a:t>온라인서비스 </a:t>
            </a:r>
            <a:r>
              <a:rPr kumimoji="1" lang="ko-KR" altLang="en-US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판매사이트</a:t>
            </a:r>
            <a:endParaRPr kumimoji="1" lang="en-US" altLang="ko-KR" sz="12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2" name="Rectangle 7"/>
          <p:cNvSpPr>
            <a:spLocks noChangeArrowheads="1"/>
          </p:cNvSpPr>
          <p:nvPr/>
        </p:nvSpPr>
        <p:spPr bwMode="auto">
          <a:xfrm>
            <a:off x="1352600" y="5496209"/>
            <a:ext cx="2778387" cy="287419"/>
          </a:xfrm>
          <a:prstGeom prst="rect">
            <a:avLst/>
          </a:prstGeom>
          <a:solidFill>
            <a:srgbClr val="D8EBB3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kumimoji="1" lang="ko-KR" altLang="en-US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커뮤니티 </a:t>
            </a:r>
            <a:r>
              <a:rPr kumimoji="1" lang="en-US" altLang="ko-KR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(SNS </a:t>
            </a:r>
            <a:r>
              <a:rPr kumimoji="1" lang="ko-KR" altLang="en-US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등</a:t>
            </a:r>
            <a:r>
              <a:rPr kumimoji="1" lang="en-US" altLang="ko-KR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</p:txBody>
      </p:sp>
      <p:sp>
        <p:nvSpPr>
          <p:cNvPr id="15" name="Text Box 10"/>
          <p:cNvSpPr txBox="1">
            <a:spLocks noChangeArrowheads="1"/>
          </p:cNvSpPr>
          <p:nvPr/>
        </p:nvSpPr>
        <p:spPr bwMode="auto">
          <a:xfrm>
            <a:off x="4130987" y="4982979"/>
            <a:ext cx="4194568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kumimoji="1"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온라인 </a:t>
            </a:r>
            <a:r>
              <a:rPr kumimoji="1" lang="ko-KR" altLang="en-US" sz="1000">
                <a:latin typeface="나눔고딕" panose="020D0604000000000000" pitchFamily="50" charset="-127"/>
                <a:ea typeface="나눔고딕" panose="020D0604000000000000" pitchFamily="50" charset="-127"/>
              </a:rPr>
              <a:t>전용 서비스</a:t>
            </a:r>
            <a:r>
              <a:rPr kumimoji="1" lang="en" altLang="ko-KR" sz="1000">
                <a:latin typeface="나눔고딕" panose="020D0604000000000000" pitchFamily="50" charset="-127"/>
                <a:ea typeface="나눔고딕" panose="020D0604000000000000" pitchFamily="50" charset="-127"/>
              </a:rPr>
              <a:t>XXX</a:t>
            </a:r>
            <a:r>
              <a:rPr kumimoji="1"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을 위한 사이트</a:t>
            </a:r>
          </a:p>
        </p:txBody>
      </p:sp>
      <p:sp>
        <p:nvSpPr>
          <p:cNvPr id="16" name="Text Box 11"/>
          <p:cNvSpPr txBox="1">
            <a:spLocks noChangeArrowheads="1"/>
          </p:cNvSpPr>
          <p:nvPr/>
        </p:nvSpPr>
        <p:spPr bwMode="auto">
          <a:xfrm>
            <a:off x="4130986" y="5517232"/>
            <a:ext cx="3161612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1"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다채널 유입을 위한 커뮤니티</a:t>
            </a:r>
            <a:r>
              <a:rPr kumimoji="1"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(SNS) </a:t>
            </a:r>
            <a:r>
              <a:rPr kumimoji="1"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등</a:t>
            </a:r>
          </a:p>
        </p:txBody>
      </p:sp>
      <p:grpSp>
        <p:nvGrpSpPr>
          <p:cNvPr id="18" name="Group 16"/>
          <p:cNvGrpSpPr>
            <a:grpSpLocks/>
          </p:cNvGrpSpPr>
          <p:nvPr/>
        </p:nvGrpSpPr>
        <p:grpSpPr bwMode="auto">
          <a:xfrm>
            <a:off x="1537723" y="2362644"/>
            <a:ext cx="754476" cy="1111481"/>
            <a:chOff x="2256" y="2942"/>
            <a:chExt cx="479" cy="866"/>
          </a:xfrm>
        </p:grpSpPr>
        <p:grpSp>
          <p:nvGrpSpPr>
            <p:cNvPr id="19" name="Group 17"/>
            <p:cNvGrpSpPr>
              <a:grpSpLocks/>
            </p:cNvGrpSpPr>
            <p:nvPr/>
          </p:nvGrpSpPr>
          <p:grpSpPr bwMode="auto">
            <a:xfrm flipH="1">
              <a:off x="2256" y="2942"/>
              <a:ext cx="479" cy="866"/>
              <a:chOff x="4320" y="829"/>
              <a:chExt cx="964" cy="1317"/>
            </a:xfrm>
          </p:grpSpPr>
          <p:sp>
            <p:nvSpPr>
              <p:cNvPr id="29" name="Rectangle 18"/>
              <p:cNvSpPr>
                <a:spLocks noChangeArrowheads="1"/>
              </p:cNvSpPr>
              <p:nvPr/>
            </p:nvSpPr>
            <p:spPr bwMode="auto">
              <a:xfrm>
                <a:off x="5193" y="1459"/>
                <a:ext cx="90" cy="438"/>
              </a:xfrm>
              <a:prstGeom prst="rect">
                <a:avLst/>
              </a:prstGeom>
              <a:solidFill>
                <a:srgbClr val="D4D28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30" name="Freeform 19"/>
              <p:cNvSpPr>
                <a:spLocks/>
              </p:cNvSpPr>
              <p:nvPr/>
            </p:nvSpPr>
            <p:spPr bwMode="auto">
              <a:xfrm rot="21540000">
                <a:off x="4321" y="829"/>
                <a:ext cx="963" cy="438"/>
              </a:xfrm>
              <a:custGeom>
                <a:avLst/>
                <a:gdLst>
                  <a:gd name="T0" fmla="*/ 0 w 963"/>
                  <a:gd name="T1" fmla="*/ 12 h 318"/>
                  <a:gd name="T2" fmla="*/ 870 w 963"/>
                  <a:gd name="T3" fmla="*/ 318 h 318"/>
                  <a:gd name="T4" fmla="*/ 963 w 963"/>
                  <a:gd name="T5" fmla="*/ 315 h 318"/>
                  <a:gd name="T6" fmla="*/ 78 w 963"/>
                  <a:gd name="T7" fmla="*/ 0 h 318"/>
                  <a:gd name="T8" fmla="*/ 0 w 963"/>
                  <a:gd name="T9" fmla="*/ 12 h 3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63" h="318">
                    <a:moveTo>
                      <a:pt x="0" y="12"/>
                    </a:moveTo>
                    <a:lnTo>
                      <a:pt x="870" y="318"/>
                    </a:lnTo>
                    <a:lnTo>
                      <a:pt x="963" y="315"/>
                    </a:lnTo>
                    <a:lnTo>
                      <a:pt x="78" y="0"/>
                    </a:lnTo>
                    <a:lnTo>
                      <a:pt x="0" y="12"/>
                    </a:lnTo>
                    <a:close/>
                  </a:path>
                </a:pathLst>
              </a:custGeom>
              <a:solidFill>
                <a:srgbClr val="D4D28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905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grpSp>
            <p:nvGrpSpPr>
              <p:cNvPr id="31" name="Group 20"/>
              <p:cNvGrpSpPr>
                <a:grpSpLocks/>
              </p:cNvGrpSpPr>
              <p:nvPr/>
            </p:nvGrpSpPr>
            <p:grpSpPr bwMode="auto">
              <a:xfrm>
                <a:off x="4322" y="905"/>
                <a:ext cx="871" cy="1238"/>
                <a:chOff x="4176" y="936"/>
                <a:chExt cx="719" cy="1022"/>
              </a:xfrm>
            </p:grpSpPr>
            <p:sp>
              <p:nvSpPr>
                <p:cNvPr id="37" name="AutoShape 21"/>
                <p:cNvSpPr>
                  <a:spLocks noChangeArrowheads="1"/>
                </p:cNvSpPr>
                <p:nvPr/>
              </p:nvSpPr>
              <p:spPr bwMode="auto">
                <a:xfrm rot="16200000">
                  <a:off x="4025" y="1087"/>
                  <a:ext cx="1022" cy="719"/>
                </a:xfrm>
                <a:prstGeom prst="parallelogram">
                  <a:avLst>
                    <a:gd name="adj" fmla="val 35535"/>
                  </a:avLst>
                </a:prstGeom>
                <a:solidFill>
                  <a:srgbClr val="D4D282"/>
                </a:solidFill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ko-KR" altLang="en-US">
                    <a:latin typeface="나눔고딕" panose="020D0604000000000000" pitchFamily="50" charset="-127"/>
                    <a:ea typeface="나눔고딕" panose="020D0604000000000000" pitchFamily="50" charset="-127"/>
                  </a:endParaRPr>
                </a:p>
              </p:txBody>
            </p:sp>
            <p:sp>
              <p:nvSpPr>
                <p:cNvPr id="38" name="Line 22"/>
                <p:cNvSpPr>
                  <a:spLocks noChangeShapeType="1"/>
                </p:cNvSpPr>
                <p:nvPr/>
              </p:nvSpPr>
              <p:spPr bwMode="auto">
                <a:xfrm>
                  <a:off x="4176" y="1001"/>
                  <a:ext cx="718" cy="25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ko-KR" altLang="en-US">
                    <a:latin typeface="나눔고딕" panose="020D0604000000000000" pitchFamily="50" charset="-127"/>
                    <a:ea typeface="나눔고딕" panose="020D0604000000000000" pitchFamily="50" charset="-127"/>
                  </a:endParaRPr>
                </a:p>
              </p:txBody>
            </p:sp>
          </p:grpSp>
          <p:sp>
            <p:nvSpPr>
              <p:cNvPr id="32" name="Line 23"/>
              <p:cNvSpPr>
                <a:spLocks noChangeShapeType="1"/>
              </p:cNvSpPr>
              <p:nvPr/>
            </p:nvSpPr>
            <p:spPr bwMode="auto">
              <a:xfrm>
                <a:off x="5192" y="2143"/>
                <a:ext cx="9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33" name="Line 24"/>
              <p:cNvSpPr>
                <a:spLocks noChangeShapeType="1"/>
              </p:cNvSpPr>
              <p:nvPr/>
            </p:nvSpPr>
            <p:spPr bwMode="auto">
              <a:xfrm>
                <a:off x="5192" y="1211"/>
                <a:ext cx="9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34" name="Line 25"/>
              <p:cNvSpPr>
                <a:spLocks noChangeShapeType="1"/>
              </p:cNvSpPr>
              <p:nvPr/>
            </p:nvSpPr>
            <p:spPr bwMode="auto">
              <a:xfrm flipV="1">
                <a:off x="5281" y="1208"/>
                <a:ext cx="0" cy="938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35" name="Line 26"/>
              <p:cNvSpPr>
                <a:spLocks noChangeShapeType="1"/>
              </p:cNvSpPr>
              <p:nvPr/>
            </p:nvSpPr>
            <p:spPr bwMode="auto">
              <a:xfrm>
                <a:off x="4320" y="897"/>
                <a:ext cx="9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36" name="Line 27"/>
              <p:cNvSpPr>
                <a:spLocks noChangeShapeType="1"/>
              </p:cNvSpPr>
              <p:nvPr/>
            </p:nvSpPr>
            <p:spPr bwMode="auto">
              <a:xfrm>
                <a:off x="4412" y="897"/>
                <a:ext cx="868" cy="309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p:grpSp>
        <p:sp>
          <p:nvSpPr>
            <p:cNvPr id="20" name="Freeform 28"/>
            <p:cNvSpPr>
              <a:spLocks/>
            </p:cNvSpPr>
            <p:nvPr/>
          </p:nvSpPr>
          <p:spPr bwMode="auto">
            <a:xfrm>
              <a:off x="2329" y="3096"/>
              <a:ext cx="380" cy="247"/>
            </a:xfrm>
            <a:custGeom>
              <a:avLst/>
              <a:gdLst>
                <a:gd name="T0" fmla="*/ 0 w 614"/>
                <a:gd name="T1" fmla="*/ 240 h 336"/>
                <a:gd name="T2" fmla="*/ 0 w 614"/>
                <a:gd name="T3" fmla="*/ 336 h 336"/>
                <a:gd name="T4" fmla="*/ 614 w 614"/>
                <a:gd name="T5" fmla="*/ 84 h 336"/>
                <a:gd name="T6" fmla="*/ 614 w 614"/>
                <a:gd name="T7" fmla="*/ 0 h 336"/>
                <a:gd name="T8" fmla="*/ 0 w 614"/>
                <a:gd name="T9" fmla="*/ 240 h 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4" h="336">
                  <a:moveTo>
                    <a:pt x="0" y="240"/>
                  </a:moveTo>
                  <a:lnTo>
                    <a:pt x="0" y="336"/>
                  </a:lnTo>
                  <a:lnTo>
                    <a:pt x="614" y="84"/>
                  </a:lnTo>
                  <a:lnTo>
                    <a:pt x="614" y="0"/>
                  </a:lnTo>
                  <a:lnTo>
                    <a:pt x="0" y="240"/>
                  </a:lnTo>
                  <a:close/>
                </a:path>
              </a:pathLst>
            </a:custGeom>
            <a:solidFill>
              <a:srgbClr val="D4D282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sm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1" name="Line 29"/>
            <p:cNvSpPr>
              <a:spLocks noChangeShapeType="1"/>
            </p:cNvSpPr>
            <p:nvPr/>
          </p:nvSpPr>
          <p:spPr bwMode="auto">
            <a:xfrm>
              <a:off x="2452" y="3318"/>
              <a:ext cx="0" cy="3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2" name="Line 30"/>
            <p:cNvSpPr>
              <a:spLocks noChangeShapeType="1"/>
            </p:cNvSpPr>
            <p:nvPr/>
          </p:nvSpPr>
          <p:spPr bwMode="auto">
            <a:xfrm flipV="1">
              <a:off x="2332" y="3336"/>
              <a:ext cx="93" cy="45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/>
              <a:tailEnd type="non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3" name="Line 31"/>
            <p:cNvSpPr>
              <a:spLocks noChangeShapeType="1"/>
            </p:cNvSpPr>
            <p:nvPr/>
          </p:nvSpPr>
          <p:spPr bwMode="auto">
            <a:xfrm flipV="1">
              <a:off x="2332" y="3367"/>
              <a:ext cx="93" cy="45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/>
              <a:tailEnd type="non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4" name="Line 32"/>
            <p:cNvSpPr>
              <a:spLocks noChangeShapeType="1"/>
            </p:cNvSpPr>
            <p:nvPr/>
          </p:nvSpPr>
          <p:spPr bwMode="auto">
            <a:xfrm flipV="1">
              <a:off x="2332" y="3400"/>
              <a:ext cx="93" cy="46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/>
              <a:tailEnd type="non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5" name="Line 33"/>
            <p:cNvSpPr>
              <a:spLocks noChangeShapeType="1"/>
            </p:cNvSpPr>
            <p:nvPr/>
          </p:nvSpPr>
          <p:spPr bwMode="auto">
            <a:xfrm flipV="1">
              <a:off x="2332" y="3434"/>
              <a:ext cx="93" cy="46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/>
              <a:tailEnd type="non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6" name="Line 34"/>
            <p:cNvSpPr>
              <a:spLocks noChangeShapeType="1"/>
            </p:cNvSpPr>
            <p:nvPr/>
          </p:nvSpPr>
          <p:spPr bwMode="auto">
            <a:xfrm flipV="1">
              <a:off x="2332" y="3469"/>
              <a:ext cx="93" cy="46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/>
              <a:tailEnd type="non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7" name="Freeform 35"/>
            <p:cNvSpPr>
              <a:spLocks/>
            </p:cNvSpPr>
            <p:nvPr/>
          </p:nvSpPr>
          <p:spPr bwMode="auto">
            <a:xfrm>
              <a:off x="2475" y="3197"/>
              <a:ext cx="232" cy="268"/>
            </a:xfrm>
            <a:custGeom>
              <a:avLst/>
              <a:gdLst>
                <a:gd name="T0" fmla="*/ 379 w 379"/>
                <a:gd name="T1" fmla="*/ 0 h 365"/>
                <a:gd name="T2" fmla="*/ 379 w 379"/>
                <a:gd name="T3" fmla="*/ 195 h 365"/>
                <a:gd name="T4" fmla="*/ 0 w 379"/>
                <a:gd name="T5" fmla="*/ 365 h 365"/>
                <a:gd name="T6" fmla="*/ 0 w 379"/>
                <a:gd name="T7" fmla="*/ 155 h 365"/>
                <a:gd name="T8" fmla="*/ 379 w 379"/>
                <a:gd name="T9" fmla="*/ 0 h 3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9" h="365">
                  <a:moveTo>
                    <a:pt x="379" y="0"/>
                  </a:moveTo>
                  <a:lnTo>
                    <a:pt x="379" y="195"/>
                  </a:lnTo>
                  <a:lnTo>
                    <a:pt x="0" y="365"/>
                  </a:lnTo>
                  <a:lnTo>
                    <a:pt x="0" y="155"/>
                  </a:lnTo>
                  <a:lnTo>
                    <a:pt x="379" y="0"/>
                  </a:lnTo>
                  <a:close/>
                </a:path>
              </a:pathLst>
            </a:custGeom>
            <a:solidFill>
              <a:srgbClr val="D4D282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sm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8" name="Freeform 36"/>
            <p:cNvSpPr>
              <a:spLocks/>
            </p:cNvSpPr>
            <p:nvPr/>
          </p:nvSpPr>
          <p:spPr bwMode="auto">
            <a:xfrm>
              <a:off x="2475" y="3380"/>
              <a:ext cx="232" cy="268"/>
            </a:xfrm>
            <a:custGeom>
              <a:avLst/>
              <a:gdLst>
                <a:gd name="T0" fmla="*/ 379 w 379"/>
                <a:gd name="T1" fmla="*/ 0 h 365"/>
                <a:gd name="T2" fmla="*/ 379 w 379"/>
                <a:gd name="T3" fmla="*/ 195 h 365"/>
                <a:gd name="T4" fmla="*/ 0 w 379"/>
                <a:gd name="T5" fmla="*/ 365 h 365"/>
                <a:gd name="T6" fmla="*/ 0 w 379"/>
                <a:gd name="T7" fmla="*/ 155 h 365"/>
                <a:gd name="T8" fmla="*/ 379 w 379"/>
                <a:gd name="T9" fmla="*/ 0 h 3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9" h="365">
                  <a:moveTo>
                    <a:pt x="379" y="0"/>
                  </a:moveTo>
                  <a:lnTo>
                    <a:pt x="379" y="195"/>
                  </a:lnTo>
                  <a:lnTo>
                    <a:pt x="0" y="365"/>
                  </a:lnTo>
                  <a:lnTo>
                    <a:pt x="0" y="155"/>
                  </a:lnTo>
                  <a:lnTo>
                    <a:pt x="379" y="0"/>
                  </a:lnTo>
                  <a:close/>
                </a:path>
              </a:pathLst>
            </a:custGeom>
            <a:solidFill>
              <a:srgbClr val="D4D282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sm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grpSp>
        <p:nvGrpSpPr>
          <p:cNvPr id="39" name="Group 37"/>
          <p:cNvGrpSpPr>
            <a:grpSpLocks/>
          </p:cNvGrpSpPr>
          <p:nvPr/>
        </p:nvGrpSpPr>
        <p:grpSpPr bwMode="auto">
          <a:xfrm>
            <a:off x="4312917" y="2362644"/>
            <a:ext cx="754476" cy="1111481"/>
            <a:chOff x="2256" y="2942"/>
            <a:chExt cx="479" cy="866"/>
          </a:xfrm>
          <a:solidFill>
            <a:schemeClr val="accent2">
              <a:lumMod val="60000"/>
              <a:lumOff val="40000"/>
            </a:schemeClr>
          </a:solidFill>
        </p:grpSpPr>
        <p:grpSp>
          <p:nvGrpSpPr>
            <p:cNvPr id="40" name="Group 38"/>
            <p:cNvGrpSpPr>
              <a:grpSpLocks/>
            </p:cNvGrpSpPr>
            <p:nvPr/>
          </p:nvGrpSpPr>
          <p:grpSpPr bwMode="auto">
            <a:xfrm flipH="1">
              <a:off x="2256" y="2942"/>
              <a:ext cx="479" cy="866"/>
              <a:chOff x="4320" y="829"/>
              <a:chExt cx="964" cy="1317"/>
            </a:xfrm>
            <a:grpFill/>
          </p:grpSpPr>
          <p:sp>
            <p:nvSpPr>
              <p:cNvPr id="50" name="Rectangle 39"/>
              <p:cNvSpPr>
                <a:spLocks noChangeArrowheads="1"/>
              </p:cNvSpPr>
              <p:nvPr/>
            </p:nvSpPr>
            <p:spPr bwMode="auto">
              <a:xfrm>
                <a:off x="5193" y="1459"/>
                <a:ext cx="90" cy="438"/>
              </a:xfrm>
              <a:prstGeom prst="rect">
                <a:avLst/>
              </a:pr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51" name="Freeform 40"/>
              <p:cNvSpPr>
                <a:spLocks/>
              </p:cNvSpPr>
              <p:nvPr/>
            </p:nvSpPr>
            <p:spPr bwMode="auto">
              <a:xfrm rot="21540000">
                <a:off x="4321" y="829"/>
                <a:ext cx="963" cy="438"/>
              </a:xfrm>
              <a:custGeom>
                <a:avLst/>
                <a:gdLst>
                  <a:gd name="T0" fmla="*/ 0 w 963"/>
                  <a:gd name="T1" fmla="*/ 12 h 318"/>
                  <a:gd name="T2" fmla="*/ 870 w 963"/>
                  <a:gd name="T3" fmla="*/ 318 h 318"/>
                  <a:gd name="T4" fmla="*/ 963 w 963"/>
                  <a:gd name="T5" fmla="*/ 315 h 318"/>
                  <a:gd name="T6" fmla="*/ 78 w 963"/>
                  <a:gd name="T7" fmla="*/ 0 h 318"/>
                  <a:gd name="T8" fmla="*/ 0 w 963"/>
                  <a:gd name="T9" fmla="*/ 12 h 3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63" h="318">
                    <a:moveTo>
                      <a:pt x="0" y="12"/>
                    </a:moveTo>
                    <a:lnTo>
                      <a:pt x="870" y="318"/>
                    </a:lnTo>
                    <a:lnTo>
                      <a:pt x="963" y="315"/>
                    </a:lnTo>
                    <a:lnTo>
                      <a:pt x="78" y="0"/>
                    </a:lnTo>
                    <a:lnTo>
                      <a:pt x="0" y="12"/>
                    </a:lnTo>
                    <a:close/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905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grpSp>
            <p:nvGrpSpPr>
              <p:cNvPr id="52" name="Group 41"/>
              <p:cNvGrpSpPr>
                <a:grpSpLocks/>
              </p:cNvGrpSpPr>
              <p:nvPr/>
            </p:nvGrpSpPr>
            <p:grpSpPr bwMode="auto">
              <a:xfrm>
                <a:off x="4322" y="905"/>
                <a:ext cx="871" cy="1238"/>
                <a:chOff x="4176" y="936"/>
                <a:chExt cx="719" cy="1022"/>
              </a:xfrm>
              <a:grpFill/>
            </p:grpSpPr>
            <p:sp>
              <p:nvSpPr>
                <p:cNvPr id="58" name="AutoShape 42"/>
                <p:cNvSpPr>
                  <a:spLocks noChangeArrowheads="1"/>
                </p:cNvSpPr>
                <p:nvPr/>
              </p:nvSpPr>
              <p:spPr bwMode="auto">
                <a:xfrm rot="16200000">
                  <a:off x="4025" y="1087"/>
                  <a:ext cx="1022" cy="719"/>
                </a:xfrm>
                <a:prstGeom prst="parallelogram">
                  <a:avLst>
                    <a:gd name="adj" fmla="val 35535"/>
                  </a:avLst>
                </a:prstGeom>
                <a:grp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ko-KR" altLang="en-US">
                    <a:latin typeface="나눔고딕" panose="020D0604000000000000" pitchFamily="50" charset="-127"/>
                    <a:ea typeface="나눔고딕" panose="020D0604000000000000" pitchFamily="50" charset="-127"/>
                  </a:endParaRPr>
                </a:p>
              </p:txBody>
            </p:sp>
            <p:sp>
              <p:nvSpPr>
                <p:cNvPr id="59" name="Line 43"/>
                <p:cNvSpPr>
                  <a:spLocks noChangeShapeType="1"/>
                </p:cNvSpPr>
                <p:nvPr/>
              </p:nvSpPr>
              <p:spPr bwMode="auto">
                <a:xfrm>
                  <a:off x="4176" y="1001"/>
                  <a:ext cx="718" cy="250"/>
                </a:xfrm>
                <a:prstGeom prst="line">
                  <a:avLst/>
                </a:prstGeom>
                <a:grp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ko-KR" altLang="en-US">
                    <a:latin typeface="나눔고딕" panose="020D0604000000000000" pitchFamily="50" charset="-127"/>
                    <a:ea typeface="나눔고딕" panose="020D0604000000000000" pitchFamily="50" charset="-127"/>
                  </a:endParaRPr>
                </a:p>
              </p:txBody>
            </p:sp>
          </p:grpSp>
          <p:sp>
            <p:nvSpPr>
              <p:cNvPr id="53" name="Line 44"/>
              <p:cNvSpPr>
                <a:spLocks noChangeShapeType="1"/>
              </p:cNvSpPr>
              <p:nvPr/>
            </p:nvSpPr>
            <p:spPr bwMode="auto">
              <a:xfrm>
                <a:off x="5192" y="2143"/>
                <a:ext cx="92" cy="0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54" name="Line 45"/>
              <p:cNvSpPr>
                <a:spLocks noChangeShapeType="1"/>
              </p:cNvSpPr>
              <p:nvPr/>
            </p:nvSpPr>
            <p:spPr bwMode="auto">
              <a:xfrm>
                <a:off x="5192" y="1211"/>
                <a:ext cx="92" cy="0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55" name="Line 46"/>
              <p:cNvSpPr>
                <a:spLocks noChangeShapeType="1"/>
              </p:cNvSpPr>
              <p:nvPr/>
            </p:nvSpPr>
            <p:spPr bwMode="auto">
              <a:xfrm flipV="1">
                <a:off x="5281" y="1208"/>
                <a:ext cx="0" cy="938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56" name="Line 47"/>
              <p:cNvSpPr>
                <a:spLocks noChangeShapeType="1"/>
              </p:cNvSpPr>
              <p:nvPr/>
            </p:nvSpPr>
            <p:spPr bwMode="auto">
              <a:xfrm>
                <a:off x="4320" y="897"/>
                <a:ext cx="92" cy="0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57" name="Line 48"/>
              <p:cNvSpPr>
                <a:spLocks noChangeShapeType="1"/>
              </p:cNvSpPr>
              <p:nvPr/>
            </p:nvSpPr>
            <p:spPr bwMode="auto">
              <a:xfrm>
                <a:off x="4412" y="897"/>
                <a:ext cx="868" cy="309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p:grpSp>
        <p:sp>
          <p:nvSpPr>
            <p:cNvPr id="41" name="Freeform 49"/>
            <p:cNvSpPr>
              <a:spLocks/>
            </p:cNvSpPr>
            <p:nvPr/>
          </p:nvSpPr>
          <p:spPr bwMode="auto">
            <a:xfrm>
              <a:off x="2329" y="3096"/>
              <a:ext cx="380" cy="247"/>
            </a:xfrm>
            <a:custGeom>
              <a:avLst/>
              <a:gdLst>
                <a:gd name="T0" fmla="*/ 0 w 614"/>
                <a:gd name="T1" fmla="*/ 240 h 336"/>
                <a:gd name="T2" fmla="*/ 0 w 614"/>
                <a:gd name="T3" fmla="*/ 336 h 336"/>
                <a:gd name="T4" fmla="*/ 614 w 614"/>
                <a:gd name="T5" fmla="*/ 84 h 336"/>
                <a:gd name="T6" fmla="*/ 614 w 614"/>
                <a:gd name="T7" fmla="*/ 0 h 336"/>
                <a:gd name="T8" fmla="*/ 0 w 614"/>
                <a:gd name="T9" fmla="*/ 240 h 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4" h="336">
                  <a:moveTo>
                    <a:pt x="0" y="240"/>
                  </a:moveTo>
                  <a:lnTo>
                    <a:pt x="0" y="336"/>
                  </a:lnTo>
                  <a:lnTo>
                    <a:pt x="614" y="84"/>
                  </a:lnTo>
                  <a:lnTo>
                    <a:pt x="614" y="0"/>
                  </a:lnTo>
                  <a:lnTo>
                    <a:pt x="0" y="240"/>
                  </a:lnTo>
                  <a:close/>
                </a:path>
              </a:pathLst>
            </a:custGeom>
            <a:grpFill/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sm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2" name="Line 50"/>
            <p:cNvSpPr>
              <a:spLocks noChangeShapeType="1"/>
            </p:cNvSpPr>
            <p:nvPr/>
          </p:nvSpPr>
          <p:spPr bwMode="auto">
            <a:xfrm>
              <a:off x="2452" y="3318"/>
              <a:ext cx="0" cy="388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 type="none" w="sm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3" name="Line 51"/>
            <p:cNvSpPr>
              <a:spLocks noChangeShapeType="1"/>
            </p:cNvSpPr>
            <p:nvPr/>
          </p:nvSpPr>
          <p:spPr bwMode="auto">
            <a:xfrm flipV="1">
              <a:off x="2332" y="3336"/>
              <a:ext cx="93" cy="45"/>
            </a:xfrm>
            <a:prstGeom prst="line">
              <a:avLst/>
            </a:prstGeom>
            <a:grpFill/>
            <a:ln w="19050">
              <a:solidFill>
                <a:schemeClr val="bg2"/>
              </a:solidFill>
              <a:round/>
              <a:headEnd/>
              <a:tailEnd type="none" w="sm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4" name="Line 52"/>
            <p:cNvSpPr>
              <a:spLocks noChangeShapeType="1"/>
            </p:cNvSpPr>
            <p:nvPr/>
          </p:nvSpPr>
          <p:spPr bwMode="auto">
            <a:xfrm flipV="1">
              <a:off x="2332" y="3367"/>
              <a:ext cx="93" cy="45"/>
            </a:xfrm>
            <a:prstGeom prst="line">
              <a:avLst/>
            </a:prstGeom>
            <a:grpFill/>
            <a:ln w="19050">
              <a:solidFill>
                <a:schemeClr val="bg2"/>
              </a:solidFill>
              <a:round/>
              <a:headEnd/>
              <a:tailEnd type="none" w="sm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5" name="Line 53"/>
            <p:cNvSpPr>
              <a:spLocks noChangeShapeType="1"/>
            </p:cNvSpPr>
            <p:nvPr/>
          </p:nvSpPr>
          <p:spPr bwMode="auto">
            <a:xfrm flipV="1">
              <a:off x="2332" y="3400"/>
              <a:ext cx="93" cy="46"/>
            </a:xfrm>
            <a:prstGeom prst="line">
              <a:avLst/>
            </a:prstGeom>
            <a:grpFill/>
            <a:ln w="19050">
              <a:solidFill>
                <a:schemeClr val="bg2"/>
              </a:solidFill>
              <a:round/>
              <a:headEnd/>
              <a:tailEnd type="none" w="sm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6" name="Line 54"/>
            <p:cNvSpPr>
              <a:spLocks noChangeShapeType="1"/>
            </p:cNvSpPr>
            <p:nvPr/>
          </p:nvSpPr>
          <p:spPr bwMode="auto">
            <a:xfrm flipV="1">
              <a:off x="2332" y="3434"/>
              <a:ext cx="93" cy="46"/>
            </a:xfrm>
            <a:prstGeom prst="line">
              <a:avLst/>
            </a:prstGeom>
            <a:grpFill/>
            <a:ln w="19050">
              <a:solidFill>
                <a:schemeClr val="bg2"/>
              </a:solidFill>
              <a:round/>
              <a:headEnd/>
              <a:tailEnd type="none" w="sm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7" name="Line 55"/>
            <p:cNvSpPr>
              <a:spLocks noChangeShapeType="1"/>
            </p:cNvSpPr>
            <p:nvPr/>
          </p:nvSpPr>
          <p:spPr bwMode="auto">
            <a:xfrm flipV="1">
              <a:off x="2332" y="3469"/>
              <a:ext cx="93" cy="46"/>
            </a:xfrm>
            <a:prstGeom prst="line">
              <a:avLst/>
            </a:prstGeom>
            <a:grpFill/>
            <a:ln w="19050">
              <a:solidFill>
                <a:schemeClr val="bg2"/>
              </a:solidFill>
              <a:round/>
              <a:headEnd/>
              <a:tailEnd type="none" w="sm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8" name="Freeform 56"/>
            <p:cNvSpPr>
              <a:spLocks/>
            </p:cNvSpPr>
            <p:nvPr/>
          </p:nvSpPr>
          <p:spPr bwMode="auto">
            <a:xfrm>
              <a:off x="2475" y="3197"/>
              <a:ext cx="232" cy="268"/>
            </a:xfrm>
            <a:custGeom>
              <a:avLst/>
              <a:gdLst>
                <a:gd name="T0" fmla="*/ 379 w 379"/>
                <a:gd name="T1" fmla="*/ 0 h 365"/>
                <a:gd name="T2" fmla="*/ 379 w 379"/>
                <a:gd name="T3" fmla="*/ 195 h 365"/>
                <a:gd name="T4" fmla="*/ 0 w 379"/>
                <a:gd name="T5" fmla="*/ 365 h 365"/>
                <a:gd name="T6" fmla="*/ 0 w 379"/>
                <a:gd name="T7" fmla="*/ 155 h 365"/>
                <a:gd name="T8" fmla="*/ 379 w 379"/>
                <a:gd name="T9" fmla="*/ 0 h 3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9" h="365">
                  <a:moveTo>
                    <a:pt x="379" y="0"/>
                  </a:moveTo>
                  <a:lnTo>
                    <a:pt x="379" y="195"/>
                  </a:lnTo>
                  <a:lnTo>
                    <a:pt x="0" y="365"/>
                  </a:lnTo>
                  <a:lnTo>
                    <a:pt x="0" y="155"/>
                  </a:lnTo>
                  <a:lnTo>
                    <a:pt x="379" y="0"/>
                  </a:lnTo>
                  <a:close/>
                </a:path>
              </a:pathLst>
            </a:custGeom>
            <a:grpFill/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sm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9" name="Freeform 57"/>
            <p:cNvSpPr>
              <a:spLocks/>
            </p:cNvSpPr>
            <p:nvPr/>
          </p:nvSpPr>
          <p:spPr bwMode="auto">
            <a:xfrm>
              <a:off x="2475" y="3380"/>
              <a:ext cx="232" cy="268"/>
            </a:xfrm>
            <a:custGeom>
              <a:avLst/>
              <a:gdLst>
                <a:gd name="T0" fmla="*/ 379 w 379"/>
                <a:gd name="T1" fmla="*/ 0 h 365"/>
                <a:gd name="T2" fmla="*/ 379 w 379"/>
                <a:gd name="T3" fmla="*/ 195 h 365"/>
                <a:gd name="T4" fmla="*/ 0 w 379"/>
                <a:gd name="T5" fmla="*/ 365 h 365"/>
                <a:gd name="T6" fmla="*/ 0 w 379"/>
                <a:gd name="T7" fmla="*/ 155 h 365"/>
                <a:gd name="T8" fmla="*/ 379 w 379"/>
                <a:gd name="T9" fmla="*/ 0 h 3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9" h="365">
                  <a:moveTo>
                    <a:pt x="379" y="0"/>
                  </a:moveTo>
                  <a:lnTo>
                    <a:pt x="379" y="195"/>
                  </a:lnTo>
                  <a:lnTo>
                    <a:pt x="0" y="365"/>
                  </a:lnTo>
                  <a:lnTo>
                    <a:pt x="0" y="155"/>
                  </a:lnTo>
                  <a:lnTo>
                    <a:pt x="379" y="0"/>
                  </a:lnTo>
                  <a:close/>
                </a:path>
              </a:pathLst>
            </a:custGeom>
            <a:grpFill/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sm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grpSp>
        <p:nvGrpSpPr>
          <p:cNvPr id="60" name="Group 58"/>
          <p:cNvGrpSpPr>
            <a:grpSpLocks/>
          </p:cNvGrpSpPr>
          <p:nvPr/>
        </p:nvGrpSpPr>
        <p:grpSpPr bwMode="auto">
          <a:xfrm>
            <a:off x="7473280" y="2362644"/>
            <a:ext cx="754476" cy="1111481"/>
            <a:chOff x="2256" y="2942"/>
            <a:chExt cx="479" cy="866"/>
          </a:xfrm>
        </p:grpSpPr>
        <p:grpSp>
          <p:nvGrpSpPr>
            <p:cNvPr id="61" name="Group 59"/>
            <p:cNvGrpSpPr>
              <a:grpSpLocks/>
            </p:cNvGrpSpPr>
            <p:nvPr/>
          </p:nvGrpSpPr>
          <p:grpSpPr bwMode="auto">
            <a:xfrm flipH="1">
              <a:off x="2256" y="2942"/>
              <a:ext cx="479" cy="866"/>
              <a:chOff x="4320" y="829"/>
              <a:chExt cx="964" cy="1317"/>
            </a:xfrm>
          </p:grpSpPr>
          <p:sp>
            <p:nvSpPr>
              <p:cNvPr id="71" name="Rectangle 60"/>
              <p:cNvSpPr>
                <a:spLocks noChangeArrowheads="1"/>
              </p:cNvSpPr>
              <p:nvPr/>
            </p:nvSpPr>
            <p:spPr bwMode="auto">
              <a:xfrm>
                <a:off x="5193" y="1459"/>
                <a:ext cx="90" cy="438"/>
              </a:xfrm>
              <a:prstGeom prst="rect">
                <a:avLst/>
              </a:prstGeom>
              <a:solidFill>
                <a:srgbClr val="D4D28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72" name="Freeform 61"/>
              <p:cNvSpPr>
                <a:spLocks/>
              </p:cNvSpPr>
              <p:nvPr/>
            </p:nvSpPr>
            <p:spPr bwMode="auto">
              <a:xfrm rot="21540000">
                <a:off x="4321" y="829"/>
                <a:ext cx="963" cy="438"/>
              </a:xfrm>
              <a:custGeom>
                <a:avLst/>
                <a:gdLst>
                  <a:gd name="T0" fmla="*/ 0 w 963"/>
                  <a:gd name="T1" fmla="*/ 12 h 318"/>
                  <a:gd name="T2" fmla="*/ 870 w 963"/>
                  <a:gd name="T3" fmla="*/ 318 h 318"/>
                  <a:gd name="T4" fmla="*/ 963 w 963"/>
                  <a:gd name="T5" fmla="*/ 315 h 318"/>
                  <a:gd name="T6" fmla="*/ 78 w 963"/>
                  <a:gd name="T7" fmla="*/ 0 h 318"/>
                  <a:gd name="T8" fmla="*/ 0 w 963"/>
                  <a:gd name="T9" fmla="*/ 12 h 3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63" h="318">
                    <a:moveTo>
                      <a:pt x="0" y="12"/>
                    </a:moveTo>
                    <a:lnTo>
                      <a:pt x="870" y="318"/>
                    </a:lnTo>
                    <a:lnTo>
                      <a:pt x="963" y="315"/>
                    </a:lnTo>
                    <a:lnTo>
                      <a:pt x="78" y="0"/>
                    </a:lnTo>
                    <a:lnTo>
                      <a:pt x="0" y="12"/>
                    </a:lnTo>
                    <a:close/>
                  </a:path>
                </a:pathLst>
              </a:custGeom>
              <a:solidFill>
                <a:srgbClr val="D4D28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905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grpSp>
            <p:nvGrpSpPr>
              <p:cNvPr id="73" name="Group 62"/>
              <p:cNvGrpSpPr>
                <a:grpSpLocks/>
              </p:cNvGrpSpPr>
              <p:nvPr/>
            </p:nvGrpSpPr>
            <p:grpSpPr bwMode="auto">
              <a:xfrm>
                <a:off x="4322" y="905"/>
                <a:ext cx="871" cy="1238"/>
                <a:chOff x="4176" y="936"/>
                <a:chExt cx="719" cy="1022"/>
              </a:xfrm>
            </p:grpSpPr>
            <p:sp>
              <p:nvSpPr>
                <p:cNvPr id="79" name="AutoShape 63"/>
                <p:cNvSpPr>
                  <a:spLocks noChangeArrowheads="1"/>
                </p:cNvSpPr>
                <p:nvPr/>
              </p:nvSpPr>
              <p:spPr bwMode="auto">
                <a:xfrm rot="16200000">
                  <a:off x="4025" y="1087"/>
                  <a:ext cx="1022" cy="719"/>
                </a:xfrm>
                <a:prstGeom prst="parallelogram">
                  <a:avLst>
                    <a:gd name="adj" fmla="val 35535"/>
                  </a:avLst>
                </a:prstGeom>
                <a:solidFill>
                  <a:srgbClr val="D4D282"/>
                </a:solidFill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ko-KR" altLang="en-US">
                    <a:latin typeface="나눔고딕" panose="020D0604000000000000" pitchFamily="50" charset="-127"/>
                    <a:ea typeface="나눔고딕" panose="020D0604000000000000" pitchFamily="50" charset="-127"/>
                  </a:endParaRPr>
                </a:p>
              </p:txBody>
            </p:sp>
            <p:sp>
              <p:nvSpPr>
                <p:cNvPr id="80" name="Line 64"/>
                <p:cNvSpPr>
                  <a:spLocks noChangeShapeType="1"/>
                </p:cNvSpPr>
                <p:nvPr/>
              </p:nvSpPr>
              <p:spPr bwMode="auto">
                <a:xfrm>
                  <a:off x="4176" y="1001"/>
                  <a:ext cx="718" cy="25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ko-KR" altLang="en-US">
                    <a:latin typeface="나눔고딕" panose="020D0604000000000000" pitchFamily="50" charset="-127"/>
                    <a:ea typeface="나눔고딕" panose="020D0604000000000000" pitchFamily="50" charset="-127"/>
                  </a:endParaRPr>
                </a:p>
              </p:txBody>
            </p:sp>
          </p:grpSp>
          <p:sp>
            <p:nvSpPr>
              <p:cNvPr id="74" name="Line 65"/>
              <p:cNvSpPr>
                <a:spLocks noChangeShapeType="1"/>
              </p:cNvSpPr>
              <p:nvPr/>
            </p:nvSpPr>
            <p:spPr bwMode="auto">
              <a:xfrm>
                <a:off x="5192" y="2143"/>
                <a:ext cx="9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75" name="Line 66"/>
              <p:cNvSpPr>
                <a:spLocks noChangeShapeType="1"/>
              </p:cNvSpPr>
              <p:nvPr/>
            </p:nvSpPr>
            <p:spPr bwMode="auto">
              <a:xfrm>
                <a:off x="5192" y="1211"/>
                <a:ext cx="9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76" name="Line 67"/>
              <p:cNvSpPr>
                <a:spLocks noChangeShapeType="1"/>
              </p:cNvSpPr>
              <p:nvPr/>
            </p:nvSpPr>
            <p:spPr bwMode="auto">
              <a:xfrm flipV="1">
                <a:off x="5281" y="1208"/>
                <a:ext cx="0" cy="938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77" name="Line 68"/>
              <p:cNvSpPr>
                <a:spLocks noChangeShapeType="1"/>
              </p:cNvSpPr>
              <p:nvPr/>
            </p:nvSpPr>
            <p:spPr bwMode="auto">
              <a:xfrm>
                <a:off x="4320" y="897"/>
                <a:ext cx="9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78" name="Line 69"/>
              <p:cNvSpPr>
                <a:spLocks noChangeShapeType="1"/>
              </p:cNvSpPr>
              <p:nvPr/>
            </p:nvSpPr>
            <p:spPr bwMode="auto">
              <a:xfrm>
                <a:off x="4412" y="897"/>
                <a:ext cx="868" cy="309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p:grpSp>
        <p:sp>
          <p:nvSpPr>
            <p:cNvPr id="62" name="Freeform 70"/>
            <p:cNvSpPr>
              <a:spLocks/>
            </p:cNvSpPr>
            <p:nvPr/>
          </p:nvSpPr>
          <p:spPr bwMode="auto">
            <a:xfrm>
              <a:off x="2329" y="3096"/>
              <a:ext cx="380" cy="247"/>
            </a:xfrm>
            <a:custGeom>
              <a:avLst/>
              <a:gdLst>
                <a:gd name="T0" fmla="*/ 0 w 614"/>
                <a:gd name="T1" fmla="*/ 240 h 336"/>
                <a:gd name="T2" fmla="*/ 0 w 614"/>
                <a:gd name="T3" fmla="*/ 336 h 336"/>
                <a:gd name="T4" fmla="*/ 614 w 614"/>
                <a:gd name="T5" fmla="*/ 84 h 336"/>
                <a:gd name="T6" fmla="*/ 614 w 614"/>
                <a:gd name="T7" fmla="*/ 0 h 336"/>
                <a:gd name="T8" fmla="*/ 0 w 614"/>
                <a:gd name="T9" fmla="*/ 240 h 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4" h="336">
                  <a:moveTo>
                    <a:pt x="0" y="240"/>
                  </a:moveTo>
                  <a:lnTo>
                    <a:pt x="0" y="336"/>
                  </a:lnTo>
                  <a:lnTo>
                    <a:pt x="614" y="84"/>
                  </a:lnTo>
                  <a:lnTo>
                    <a:pt x="614" y="0"/>
                  </a:lnTo>
                  <a:lnTo>
                    <a:pt x="0" y="240"/>
                  </a:lnTo>
                  <a:close/>
                </a:path>
              </a:pathLst>
            </a:custGeom>
            <a:solidFill>
              <a:srgbClr val="D4D282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sm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63" name="Line 71"/>
            <p:cNvSpPr>
              <a:spLocks noChangeShapeType="1"/>
            </p:cNvSpPr>
            <p:nvPr/>
          </p:nvSpPr>
          <p:spPr bwMode="auto">
            <a:xfrm>
              <a:off x="2452" y="3318"/>
              <a:ext cx="0" cy="3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64" name="Line 72"/>
            <p:cNvSpPr>
              <a:spLocks noChangeShapeType="1"/>
            </p:cNvSpPr>
            <p:nvPr/>
          </p:nvSpPr>
          <p:spPr bwMode="auto">
            <a:xfrm flipV="1">
              <a:off x="2332" y="3336"/>
              <a:ext cx="93" cy="45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/>
              <a:tailEnd type="non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65" name="Line 73"/>
            <p:cNvSpPr>
              <a:spLocks noChangeShapeType="1"/>
            </p:cNvSpPr>
            <p:nvPr/>
          </p:nvSpPr>
          <p:spPr bwMode="auto">
            <a:xfrm flipV="1">
              <a:off x="2332" y="3367"/>
              <a:ext cx="93" cy="45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/>
              <a:tailEnd type="non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66" name="Line 74"/>
            <p:cNvSpPr>
              <a:spLocks noChangeShapeType="1"/>
            </p:cNvSpPr>
            <p:nvPr/>
          </p:nvSpPr>
          <p:spPr bwMode="auto">
            <a:xfrm flipV="1">
              <a:off x="2332" y="3400"/>
              <a:ext cx="93" cy="46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/>
              <a:tailEnd type="non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67" name="Line 75"/>
            <p:cNvSpPr>
              <a:spLocks noChangeShapeType="1"/>
            </p:cNvSpPr>
            <p:nvPr/>
          </p:nvSpPr>
          <p:spPr bwMode="auto">
            <a:xfrm flipV="1">
              <a:off x="2332" y="3434"/>
              <a:ext cx="93" cy="46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/>
              <a:tailEnd type="non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68" name="Line 76"/>
            <p:cNvSpPr>
              <a:spLocks noChangeShapeType="1"/>
            </p:cNvSpPr>
            <p:nvPr/>
          </p:nvSpPr>
          <p:spPr bwMode="auto">
            <a:xfrm flipV="1">
              <a:off x="2332" y="3469"/>
              <a:ext cx="93" cy="46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/>
              <a:tailEnd type="non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69" name="Freeform 77"/>
            <p:cNvSpPr>
              <a:spLocks/>
            </p:cNvSpPr>
            <p:nvPr/>
          </p:nvSpPr>
          <p:spPr bwMode="auto">
            <a:xfrm>
              <a:off x="2475" y="3197"/>
              <a:ext cx="232" cy="268"/>
            </a:xfrm>
            <a:custGeom>
              <a:avLst/>
              <a:gdLst>
                <a:gd name="T0" fmla="*/ 379 w 379"/>
                <a:gd name="T1" fmla="*/ 0 h 365"/>
                <a:gd name="T2" fmla="*/ 379 w 379"/>
                <a:gd name="T3" fmla="*/ 195 h 365"/>
                <a:gd name="T4" fmla="*/ 0 w 379"/>
                <a:gd name="T5" fmla="*/ 365 h 365"/>
                <a:gd name="T6" fmla="*/ 0 w 379"/>
                <a:gd name="T7" fmla="*/ 155 h 365"/>
                <a:gd name="T8" fmla="*/ 379 w 379"/>
                <a:gd name="T9" fmla="*/ 0 h 3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9" h="365">
                  <a:moveTo>
                    <a:pt x="379" y="0"/>
                  </a:moveTo>
                  <a:lnTo>
                    <a:pt x="379" y="195"/>
                  </a:lnTo>
                  <a:lnTo>
                    <a:pt x="0" y="365"/>
                  </a:lnTo>
                  <a:lnTo>
                    <a:pt x="0" y="155"/>
                  </a:lnTo>
                  <a:lnTo>
                    <a:pt x="379" y="0"/>
                  </a:lnTo>
                  <a:close/>
                </a:path>
              </a:pathLst>
            </a:custGeom>
            <a:solidFill>
              <a:srgbClr val="D4D282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sm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70" name="Freeform 78"/>
            <p:cNvSpPr>
              <a:spLocks/>
            </p:cNvSpPr>
            <p:nvPr/>
          </p:nvSpPr>
          <p:spPr bwMode="auto">
            <a:xfrm>
              <a:off x="2475" y="3380"/>
              <a:ext cx="232" cy="268"/>
            </a:xfrm>
            <a:custGeom>
              <a:avLst/>
              <a:gdLst>
                <a:gd name="T0" fmla="*/ 379 w 379"/>
                <a:gd name="T1" fmla="*/ 0 h 365"/>
                <a:gd name="T2" fmla="*/ 379 w 379"/>
                <a:gd name="T3" fmla="*/ 195 h 365"/>
                <a:gd name="T4" fmla="*/ 0 w 379"/>
                <a:gd name="T5" fmla="*/ 365 h 365"/>
                <a:gd name="T6" fmla="*/ 0 w 379"/>
                <a:gd name="T7" fmla="*/ 155 h 365"/>
                <a:gd name="T8" fmla="*/ 379 w 379"/>
                <a:gd name="T9" fmla="*/ 0 h 3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9" h="365">
                  <a:moveTo>
                    <a:pt x="379" y="0"/>
                  </a:moveTo>
                  <a:lnTo>
                    <a:pt x="379" y="195"/>
                  </a:lnTo>
                  <a:lnTo>
                    <a:pt x="0" y="365"/>
                  </a:lnTo>
                  <a:lnTo>
                    <a:pt x="0" y="155"/>
                  </a:lnTo>
                  <a:lnTo>
                    <a:pt x="379" y="0"/>
                  </a:lnTo>
                  <a:close/>
                </a:path>
              </a:pathLst>
            </a:custGeom>
            <a:solidFill>
              <a:srgbClr val="D4D282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sm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grpSp>
        <p:nvGrpSpPr>
          <p:cNvPr id="128" name="Group 126"/>
          <p:cNvGrpSpPr>
            <a:grpSpLocks/>
          </p:cNvGrpSpPr>
          <p:nvPr/>
        </p:nvGrpSpPr>
        <p:grpSpPr bwMode="auto">
          <a:xfrm>
            <a:off x="4292158" y="829741"/>
            <a:ext cx="754476" cy="1111481"/>
            <a:chOff x="2256" y="2942"/>
            <a:chExt cx="479" cy="866"/>
          </a:xfrm>
        </p:grpSpPr>
        <p:grpSp>
          <p:nvGrpSpPr>
            <p:cNvPr id="129" name="Group 127"/>
            <p:cNvGrpSpPr>
              <a:grpSpLocks/>
            </p:cNvGrpSpPr>
            <p:nvPr/>
          </p:nvGrpSpPr>
          <p:grpSpPr bwMode="auto">
            <a:xfrm flipH="1">
              <a:off x="2256" y="2942"/>
              <a:ext cx="479" cy="866"/>
              <a:chOff x="4320" y="829"/>
              <a:chExt cx="964" cy="1317"/>
            </a:xfrm>
          </p:grpSpPr>
          <p:sp>
            <p:nvSpPr>
              <p:cNvPr id="139" name="Rectangle 128"/>
              <p:cNvSpPr>
                <a:spLocks noChangeArrowheads="1"/>
              </p:cNvSpPr>
              <p:nvPr/>
            </p:nvSpPr>
            <p:spPr bwMode="auto">
              <a:xfrm>
                <a:off x="5193" y="1459"/>
                <a:ext cx="90" cy="438"/>
              </a:xfrm>
              <a:prstGeom prst="rect">
                <a:avLst/>
              </a:prstGeom>
              <a:solidFill>
                <a:srgbClr val="D4D28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140" name="Freeform 129"/>
              <p:cNvSpPr>
                <a:spLocks/>
              </p:cNvSpPr>
              <p:nvPr/>
            </p:nvSpPr>
            <p:spPr bwMode="auto">
              <a:xfrm rot="21540000">
                <a:off x="4321" y="829"/>
                <a:ext cx="963" cy="438"/>
              </a:xfrm>
              <a:custGeom>
                <a:avLst/>
                <a:gdLst>
                  <a:gd name="T0" fmla="*/ 0 w 963"/>
                  <a:gd name="T1" fmla="*/ 12 h 318"/>
                  <a:gd name="T2" fmla="*/ 870 w 963"/>
                  <a:gd name="T3" fmla="*/ 318 h 318"/>
                  <a:gd name="T4" fmla="*/ 963 w 963"/>
                  <a:gd name="T5" fmla="*/ 315 h 318"/>
                  <a:gd name="T6" fmla="*/ 78 w 963"/>
                  <a:gd name="T7" fmla="*/ 0 h 318"/>
                  <a:gd name="T8" fmla="*/ 0 w 963"/>
                  <a:gd name="T9" fmla="*/ 12 h 3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63" h="318">
                    <a:moveTo>
                      <a:pt x="0" y="12"/>
                    </a:moveTo>
                    <a:lnTo>
                      <a:pt x="870" y="318"/>
                    </a:lnTo>
                    <a:lnTo>
                      <a:pt x="963" y="315"/>
                    </a:lnTo>
                    <a:lnTo>
                      <a:pt x="78" y="0"/>
                    </a:lnTo>
                    <a:lnTo>
                      <a:pt x="0" y="12"/>
                    </a:lnTo>
                    <a:close/>
                  </a:path>
                </a:pathLst>
              </a:custGeom>
              <a:solidFill>
                <a:srgbClr val="D4D28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905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grpSp>
            <p:nvGrpSpPr>
              <p:cNvPr id="141" name="Group 130"/>
              <p:cNvGrpSpPr>
                <a:grpSpLocks/>
              </p:cNvGrpSpPr>
              <p:nvPr/>
            </p:nvGrpSpPr>
            <p:grpSpPr bwMode="auto">
              <a:xfrm>
                <a:off x="4322" y="905"/>
                <a:ext cx="871" cy="1238"/>
                <a:chOff x="4176" y="936"/>
                <a:chExt cx="719" cy="1022"/>
              </a:xfrm>
            </p:grpSpPr>
            <p:sp>
              <p:nvSpPr>
                <p:cNvPr id="147" name="AutoShape 131"/>
                <p:cNvSpPr>
                  <a:spLocks noChangeArrowheads="1"/>
                </p:cNvSpPr>
                <p:nvPr/>
              </p:nvSpPr>
              <p:spPr bwMode="auto">
                <a:xfrm rot="16200000">
                  <a:off x="4025" y="1087"/>
                  <a:ext cx="1022" cy="719"/>
                </a:xfrm>
                <a:prstGeom prst="parallelogram">
                  <a:avLst>
                    <a:gd name="adj" fmla="val 35535"/>
                  </a:avLst>
                </a:prstGeom>
                <a:solidFill>
                  <a:srgbClr val="D4D282"/>
                </a:solidFill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ko-KR" altLang="en-US">
                    <a:latin typeface="나눔고딕" panose="020D0604000000000000" pitchFamily="50" charset="-127"/>
                    <a:ea typeface="나눔고딕" panose="020D0604000000000000" pitchFamily="50" charset="-127"/>
                  </a:endParaRPr>
                </a:p>
              </p:txBody>
            </p:sp>
            <p:sp>
              <p:nvSpPr>
                <p:cNvPr id="148" name="Line 132"/>
                <p:cNvSpPr>
                  <a:spLocks noChangeShapeType="1"/>
                </p:cNvSpPr>
                <p:nvPr/>
              </p:nvSpPr>
              <p:spPr bwMode="auto">
                <a:xfrm>
                  <a:off x="4176" y="1001"/>
                  <a:ext cx="718" cy="25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ko-KR" altLang="en-US">
                    <a:latin typeface="나눔고딕" panose="020D0604000000000000" pitchFamily="50" charset="-127"/>
                    <a:ea typeface="나눔고딕" panose="020D0604000000000000" pitchFamily="50" charset="-127"/>
                  </a:endParaRPr>
                </a:p>
              </p:txBody>
            </p:sp>
          </p:grpSp>
          <p:sp>
            <p:nvSpPr>
              <p:cNvPr id="142" name="Line 133"/>
              <p:cNvSpPr>
                <a:spLocks noChangeShapeType="1"/>
              </p:cNvSpPr>
              <p:nvPr/>
            </p:nvSpPr>
            <p:spPr bwMode="auto">
              <a:xfrm>
                <a:off x="5192" y="2143"/>
                <a:ext cx="9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143" name="Line 134"/>
              <p:cNvSpPr>
                <a:spLocks noChangeShapeType="1"/>
              </p:cNvSpPr>
              <p:nvPr/>
            </p:nvSpPr>
            <p:spPr bwMode="auto">
              <a:xfrm>
                <a:off x="5192" y="1211"/>
                <a:ext cx="9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144" name="Line 135"/>
              <p:cNvSpPr>
                <a:spLocks noChangeShapeType="1"/>
              </p:cNvSpPr>
              <p:nvPr/>
            </p:nvSpPr>
            <p:spPr bwMode="auto">
              <a:xfrm flipV="1">
                <a:off x="5281" y="1208"/>
                <a:ext cx="0" cy="938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145" name="Line 136"/>
              <p:cNvSpPr>
                <a:spLocks noChangeShapeType="1"/>
              </p:cNvSpPr>
              <p:nvPr/>
            </p:nvSpPr>
            <p:spPr bwMode="auto">
              <a:xfrm>
                <a:off x="4320" y="897"/>
                <a:ext cx="9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146" name="Line 137"/>
              <p:cNvSpPr>
                <a:spLocks noChangeShapeType="1"/>
              </p:cNvSpPr>
              <p:nvPr/>
            </p:nvSpPr>
            <p:spPr bwMode="auto">
              <a:xfrm>
                <a:off x="4412" y="897"/>
                <a:ext cx="868" cy="309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p:grpSp>
        <p:sp>
          <p:nvSpPr>
            <p:cNvPr id="130" name="Freeform 138"/>
            <p:cNvSpPr>
              <a:spLocks/>
            </p:cNvSpPr>
            <p:nvPr/>
          </p:nvSpPr>
          <p:spPr bwMode="auto">
            <a:xfrm>
              <a:off x="2329" y="3096"/>
              <a:ext cx="380" cy="247"/>
            </a:xfrm>
            <a:custGeom>
              <a:avLst/>
              <a:gdLst>
                <a:gd name="T0" fmla="*/ 0 w 614"/>
                <a:gd name="T1" fmla="*/ 240 h 336"/>
                <a:gd name="T2" fmla="*/ 0 w 614"/>
                <a:gd name="T3" fmla="*/ 336 h 336"/>
                <a:gd name="T4" fmla="*/ 614 w 614"/>
                <a:gd name="T5" fmla="*/ 84 h 336"/>
                <a:gd name="T6" fmla="*/ 614 w 614"/>
                <a:gd name="T7" fmla="*/ 0 h 336"/>
                <a:gd name="T8" fmla="*/ 0 w 614"/>
                <a:gd name="T9" fmla="*/ 240 h 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4" h="336">
                  <a:moveTo>
                    <a:pt x="0" y="240"/>
                  </a:moveTo>
                  <a:lnTo>
                    <a:pt x="0" y="336"/>
                  </a:lnTo>
                  <a:lnTo>
                    <a:pt x="614" y="84"/>
                  </a:lnTo>
                  <a:lnTo>
                    <a:pt x="614" y="0"/>
                  </a:lnTo>
                  <a:lnTo>
                    <a:pt x="0" y="240"/>
                  </a:lnTo>
                  <a:close/>
                </a:path>
              </a:pathLst>
            </a:custGeom>
            <a:solidFill>
              <a:srgbClr val="D4D282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sm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31" name="Line 139"/>
            <p:cNvSpPr>
              <a:spLocks noChangeShapeType="1"/>
            </p:cNvSpPr>
            <p:nvPr/>
          </p:nvSpPr>
          <p:spPr bwMode="auto">
            <a:xfrm>
              <a:off x="2452" y="3318"/>
              <a:ext cx="0" cy="3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32" name="Line 140"/>
            <p:cNvSpPr>
              <a:spLocks noChangeShapeType="1"/>
            </p:cNvSpPr>
            <p:nvPr/>
          </p:nvSpPr>
          <p:spPr bwMode="auto">
            <a:xfrm flipV="1">
              <a:off x="2332" y="3336"/>
              <a:ext cx="93" cy="45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/>
              <a:tailEnd type="non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33" name="Line 141"/>
            <p:cNvSpPr>
              <a:spLocks noChangeShapeType="1"/>
            </p:cNvSpPr>
            <p:nvPr/>
          </p:nvSpPr>
          <p:spPr bwMode="auto">
            <a:xfrm flipV="1">
              <a:off x="2332" y="3367"/>
              <a:ext cx="93" cy="45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/>
              <a:tailEnd type="non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34" name="Line 142"/>
            <p:cNvSpPr>
              <a:spLocks noChangeShapeType="1"/>
            </p:cNvSpPr>
            <p:nvPr/>
          </p:nvSpPr>
          <p:spPr bwMode="auto">
            <a:xfrm flipV="1">
              <a:off x="2332" y="3400"/>
              <a:ext cx="93" cy="46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/>
              <a:tailEnd type="non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35" name="Line 143"/>
            <p:cNvSpPr>
              <a:spLocks noChangeShapeType="1"/>
            </p:cNvSpPr>
            <p:nvPr/>
          </p:nvSpPr>
          <p:spPr bwMode="auto">
            <a:xfrm flipV="1">
              <a:off x="2332" y="3434"/>
              <a:ext cx="93" cy="46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/>
              <a:tailEnd type="non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36" name="Line 144"/>
            <p:cNvSpPr>
              <a:spLocks noChangeShapeType="1"/>
            </p:cNvSpPr>
            <p:nvPr/>
          </p:nvSpPr>
          <p:spPr bwMode="auto">
            <a:xfrm flipV="1">
              <a:off x="2332" y="3469"/>
              <a:ext cx="93" cy="46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/>
              <a:tailEnd type="non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37" name="Freeform 145"/>
            <p:cNvSpPr>
              <a:spLocks/>
            </p:cNvSpPr>
            <p:nvPr/>
          </p:nvSpPr>
          <p:spPr bwMode="auto">
            <a:xfrm>
              <a:off x="2475" y="3197"/>
              <a:ext cx="232" cy="268"/>
            </a:xfrm>
            <a:custGeom>
              <a:avLst/>
              <a:gdLst>
                <a:gd name="T0" fmla="*/ 379 w 379"/>
                <a:gd name="T1" fmla="*/ 0 h 365"/>
                <a:gd name="T2" fmla="*/ 379 w 379"/>
                <a:gd name="T3" fmla="*/ 195 h 365"/>
                <a:gd name="T4" fmla="*/ 0 w 379"/>
                <a:gd name="T5" fmla="*/ 365 h 365"/>
                <a:gd name="T6" fmla="*/ 0 w 379"/>
                <a:gd name="T7" fmla="*/ 155 h 365"/>
                <a:gd name="T8" fmla="*/ 379 w 379"/>
                <a:gd name="T9" fmla="*/ 0 h 3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9" h="365">
                  <a:moveTo>
                    <a:pt x="379" y="0"/>
                  </a:moveTo>
                  <a:lnTo>
                    <a:pt x="379" y="195"/>
                  </a:lnTo>
                  <a:lnTo>
                    <a:pt x="0" y="365"/>
                  </a:lnTo>
                  <a:lnTo>
                    <a:pt x="0" y="155"/>
                  </a:lnTo>
                  <a:lnTo>
                    <a:pt x="379" y="0"/>
                  </a:lnTo>
                  <a:close/>
                </a:path>
              </a:pathLst>
            </a:custGeom>
            <a:solidFill>
              <a:srgbClr val="D4D282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sm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38" name="Freeform 146"/>
            <p:cNvSpPr>
              <a:spLocks/>
            </p:cNvSpPr>
            <p:nvPr/>
          </p:nvSpPr>
          <p:spPr bwMode="auto">
            <a:xfrm>
              <a:off x="2475" y="3380"/>
              <a:ext cx="232" cy="268"/>
            </a:xfrm>
            <a:custGeom>
              <a:avLst/>
              <a:gdLst>
                <a:gd name="T0" fmla="*/ 379 w 379"/>
                <a:gd name="T1" fmla="*/ 0 h 365"/>
                <a:gd name="T2" fmla="*/ 379 w 379"/>
                <a:gd name="T3" fmla="*/ 195 h 365"/>
                <a:gd name="T4" fmla="*/ 0 w 379"/>
                <a:gd name="T5" fmla="*/ 365 h 365"/>
                <a:gd name="T6" fmla="*/ 0 w 379"/>
                <a:gd name="T7" fmla="*/ 155 h 365"/>
                <a:gd name="T8" fmla="*/ 379 w 379"/>
                <a:gd name="T9" fmla="*/ 0 h 3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9" h="365">
                  <a:moveTo>
                    <a:pt x="379" y="0"/>
                  </a:moveTo>
                  <a:lnTo>
                    <a:pt x="379" y="195"/>
                  </a:lnTo>
                  <a:lnTo>
                    <a:pt x="0" y="365"/>
                  </a:lnTo>
                  <a:lnTo>
                    <a:pt x="0" y="155"/>
                  </a:lnTo>
                  <a:lnTo>
                    <a:pt x="379" y="0"/>
                  </a:lnTo>
                  <a:close/>
                </a:path>
              </a:pathLst>
            </a:custGeom>
            <a:solidFill>
              <a:srgbClr val="D4D282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sm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sp>
        <p:nvSpPr>
          <p:cNvPr id="149" name="Rectangle 147"/>
          <p:cNvSpPr>
            <a:spLocks noChangeArrowheads="1"/>
          </p:cNvSpPr>
          <p:nvPr/>
        </p:nvSpPr>
        <p:spPr bwMode="auto">
          <a:xfrm>
            <a:off x="5058610" y="1064991"/>
            <a:ext cx="2011935" cy="2874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AEAEA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FF66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kumimoji="1" lang="en" altLang="ko-KR" sz="1100" b="1">
                <a:latin typeface="나눔고딕" panose="020D0604000000000000" pitchFamily="50" charset="-127"/>
                <a:ea typeface="나눔고딕" panose="020D0604000000000000" pitchFamily="50" charset="-127"/>
              </a:rPr>
              <a:t>XXX</a:t>
            </a:r>
            <a:r>
              <a:rPr kumimoji="1" lang="ko-KR" altLang="en-US" sz="1100" b="1">
                <a:latin typeface="나눔고딕" panose="020D0604000000000000" pitchFamily="50" charset="-127"/>
                <a:ea typeface="나눔고딕" panose="020D0604000000000000" pitchFamily="50" charset="-127"/>
              </a:rPr>
              <a:t>서비스</a:t>
            </a:r>
            <a:endParaRPr kumimoji="1" lang="ko-KR" altLang="en-US" sz="11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50" name="Line 148"/>
          <p:cNvSpPr>
            <a:spLocks noChangeShapeType="1"/>
          </p:cNvSpPr>
          <p:nvPr/>
        </p:nvSpPr>
        <p:spPr bwMode="auto">
          <a:xfrm>
            <a:off x="1801191" y="2214668"/>
            <a:ext cx="5939999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 type="none" w="med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51" name="Line 149"/>
          <p:cNvSpPr>
            <a:spLocks noChangeShapeType="1"/>
          </p:cNvSpPr>
          <p:nvPr/>
        </p:nvSpPr>
        <p:spPr bwMode="auto">
          <a:xfrm flipV="1">
            <a:off x="1801191" y="2214668"/>
            <a:ext cx="0" cy="287419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 type="none" w="med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52" name="Line 150"/>
          <p:cNvSpPr>
            <a:spLocks noChangeShapeType="1"/>
          </p:cNvSpPr>
          <p:nvPr/>
        </p:nvSpPr>
        <p:spPr bwMode="auto">
          <a:xfrm flipV="1">
            <a:off x="4672191" y="2214668"/>
            <a:ext cx="0" cy="287419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 type="none" w="med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53" name="Line 151"/>
          <p:cNvSpPr>
            <a:spLocks noChangeShapeType="1"/>
          </p:cNvSpPr>
          <p:nvPr/>
        </p:nvSpPr>
        <p:spPr bwMode="auto">
          <a:xfrm flipV="1">
            <a:off x="7748724" y="2214668"/>
            <a:ext cx="0" cy="287419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 type="none" w="med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56" name="Line 154"/>
          <p:cNvSpPr>
            <a:spLocks noChangeShapeType="1"/>
          </p:cNvSpPr>
          <p:nvPr/>
        </p:nvSpPr>
        <p:spPr bwMode="auto">
          <a:xfrm flipV="1">
            <a:off x="4675384" y="1927249"/>
            <a:ext cx="0" cy="287419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 type="none" w="med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57" name="Text Box 155"/>
          <p:cNvSpPr txBox="1">
            <a:spLocks noChangeArrowheads="1"/>
          </p:cNvSpPr>
          <p:nvPr/>
        </p:nvSpPr>
        <p:spPr bwMode="auto">
          <a:xfrm>
            <a:off x="4130987" y="4509120"/>
            <a:ext cx="4194568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kumimoji="1" lang="en" altLang="ko-KR" sz="1000">
                <a:latin typeface="나눔고딕" panose="020D0604000000000000" pitchFamily="50" charset="-127"/>
                <a:ea typeface="나눔고딕" panose="020D0604000000000000" pitchFamily="50" charset="-127"/>
              </a:rPr>
              <a:t>XXX</a:t>
            </a:r>
            <a:r>
              <a:rPr kumimoji="1" lang="ko-KR" altLang="en-US" sz="1000">
                <a:latin typeface="나눔고딕" panose="020D0604000000000000" pitchFamily="50" charset="-127"/>
                <a:ea typeface="나눔고딕" panose="020D0604000000000000" pitchFamily="50" charset="-127"/>
              </a:rPr>
              <a:t>서비스의 기본적인 서비스를 </a:t>
            </a:r>
            <a:r>
              <a:rPr kumimoji="1"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위한 사이트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11019" y="3573016"/>
            <a:ext cx="82105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메인 사이트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4209160" y="3573016"/>
            <a:ext cx="90601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>
                <a:latin typeface="나눔고딕" panose="020D0604000000000000" pitchFamily="50" charset="-127"/>
                <a:ea typeface="나눔고딕" panose="020D0604000000000000" pitchFamily="50" charset="-127"/>
              </a:rPr>
              <a:t>온라인서비스</a:t>
            </a:r>
            <a:endParaRPr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판매사이트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7518086" y="3573016"/>
            <a:ext cx="66556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커뮤니티</a:t>
            </a:r>
            <a:endParaRPr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(SNS 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등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6869710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7F398430-6A16-2DD0-7717-EFEEA094113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duotone>
              <a:prstClr val="black"/>
              <a:schemeClr val="tx1">
                <a:tint val="45000"/>
                <a:satMod val="400000"/>
              </a:schemeClr>
            </a:duotone>
          </a:blip>
          <a:srcRect l="6560"/>
          <a:stretch/>
        </p:blipFill>
        <p:spPr>
          <a:xfrm>
            <a:off x="118677" y="2740819"/>
            <a:ext cx="2947566" cy="15920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4017" y="91339"/>
            <a:ext cx="7401271" cy="385333"/>
          </a:xfrm>
          <a:prstGeom prst="rect">
            <a:avLst/>
          </a:prstGeom>
          <a:noFill/>
        </p:spPr>
        <p:txBody>
          <a:bodyPr wrap="square" lIns="0" tIns="53643" rIns="0" bIns="53643" rtlCol="0">
            <a:spAutoFit/>
          </a:bodyPr>
          <a:lstStyle/>
          <a:p>
            <a:r>
              <a:rPr kumimoji="1" lang="en-US" altLang="ko-KR" b="1" kern="0" dirty="0">
                <a:latin typeface="나눔고딕" panose="020D0604000000000000" pitchFamily="50" charset="-127"/>
                <a:ea typeface="나눔고딕" panose="020D0604000000000000" pitchFamily="50" charset="-127"/>
                <a:cs typeface="산돌고딕 M"/>
              </a:rPr>
              <a:t>Information architecture</a:t>
            </a:r>
            <a:endParaRPr kumimoji="1" lang="ko-KR" altLang="en-US" b="1" kern="0" dirty="0">
              <a:latin typeface="나눔고딕" panose="020D0604000000000000" pitchFamily="50" charset="-127"/>
              <a:ea typeface="나눔고딕" panose="020D0604000000000000" pitchFamily="50" charset="-127"/>
              <a:cs typeface="산돌고딕 M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44017" y="683985"/>
            <a:ext cx="96335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사이트 유형별 분류</a:t>
            </a:r>
            <a:endParaRPr lang="en-US" altLang="ko-KR" sz="14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pSp>
        <p:nvGrpSpPr>
          <p:cNvPr id="105" name="Group 5"/>
          <p:cNvGrpSpPr>
            <a:grpSpLocks/>
          </p:cNvGrpSpPr>
          <p:nvPr/>
        </p:nvGrpSpPr>
        <p:grpSpPr bwMode="auto">
          <a:xfrm>
            <a:off x="3371850" y="2868489"/>
            <a:ext cx="600075" cy="921790"/>
            <a:chOff x="2256" y="2905"/>
            <a:chExt cx="479" cy="903"/>
          </a:xfrm>
        </p:grpSpPr>
        <p:grpSp>
          <p:nvGrpSpPr>
            <p:cNvPr id="106" name="Group 6"/>
            <p:cNvGrpSpPr>
              <a:grpSpLocks/>
            </p:cNvGrpSpPr>
            <p:nvPr/>
          </p:nvGrpSpPr>
          <p:grpSpPr bwMode="auto">
            <a:xfrm flipH="1">
              <a:off x="2256" y="2905"/>
              <a:ext cx="479" cy="903"/>
              <a:chOff x="4320" y="773"/>
              <a:chExt cx="964" cy="1373"/>
            </a:xfrm>
          </p:grpSpPr>
          <p:sp>
            <p:nvSpPr>
              <p:cNvPr id="116" name="Rectangle 7"/>
              <p:cNvSpPr>
                <a:spLocks noChangeArrowheads="1"/>
              </p:cNvSpPr>
              <p:nvPr/>
            </p:nvSpPr>
            <p:spPr bwMode="auto">
              <a:xfrm>
                <a:off x="5193" y="1402"/>
                <a:ext cx="90" cy="550"/>
              </a:xfrm>
              <a:prstGeom prst="rect">
                <a:avLst/>
              </a:prstGeom>
              <a:solidFill>
                <a:srgbClr val="D4D28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117" name="Freeform 8"/>
              <p:cNvSpPr>
                <a:spLocks/>
              </p:cNvSpPr>
              <p:nvPr/>
            </p:nvSpPr>
            <p:spPr bwMode="auto">
              <a:xfrm rot="21540000">
                <a:off x="4321" y="773"/>
                <a:ext cx="963" cy="550"/>
              </a:xfrm>
              <a:custGeom>
                <a:avLst/>
                <a:gdLst>
                  <a:gd name="T0" fmla="*/ 0 w 963"/>
                  <a:gd name="T1" fmla="*/ 12 h 318"/>
                  <a:gd name="T2" fmla="*/ 870 w 963"/>
                  <a:gd name="T3" fmla="*/ 318 h 318"/>
                  <a:gd name="T4" fmla="*/ 963 w 963"/>
                  <a:gd name="T5" fmla="*/ 315 h 318"/>
                  <a:gd name="T6" fmla="*/ 78 w 963"/>
                  <a:gd name="T7" fmla="*/ 0 h 318"/>
                  <a:gd name="T8" fmla="*/ 0 w 963"/>
                  <a:gd name="T9" fmla="*/ 12 h 3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63" h="318">
                    <a:moveTo>
                      <a:pt x="0" y="12"/>
                    </a:moveTo>
                    <a:lnTo>
                      <a:pt x="870" y="318"/>
                    </a:lnTo>
                    <a:lnTo>
                      <a:pt x="963" y="315"/>
                    </a:lnTo>
                    <a:lnTo>
                      <a:pt x="78" y="0"/>
                    </a:lnTo>
                    <a:lnTo>
                      <a:pt x="0" y="12"/>
                    </a:lnTo>
                    <a:close/>
                  </a:path>
                </a:pathLst>
              </a:custGeom>
              <a:solidFill>
                <a:srgbClr val="D4D28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905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grpSp>
            <p:nvGrpSpPr>
              <p:cNvPr id="118" name="Group 9"/>
              <p:cNvGrpSpPr>
                <a:grpSpLocks/>
              </p:cNvGrpSpPr>
              <p:nvPr/>
            </p:nvGrpSpPr>
            <p:grpSpPr bwMode="auto">
              <a:xfrm>
                <a:off x="4322" y="905"/>
                <a:ext cx="871" cy="1238"/>
                <a:chOff x="4176" y="936"/>
                <a:chExt cx="719" cy="1022"/>
              </a:xfrm>
            </p:grpSpPr>
            <p:sp>
              <p:nvSpPr>
                <p:cNvPr id="124" name="AutoShape 10"/>
                <p:cNvSpPr>
                  <a:spLocks noChangeArrowheads="1"/>
                </p:cNvSpPr>
                <p:nvPr/>
              </p:nvSpPr>
              <p:spPr bwMode="auto">
                <a:xfrm rot="16200000">
                  <a:off x="4025" y="1087"/>
                  <a:ext cx="1022" cy="719"/>
                </a:xfrm>
                <a:prstGeom prst="parallelogram">
                  <a:avLst>
                    <a:gd name="adj" fmla="val 35535"/>
                  </a:avLst>
                </a:prstGeom>
                <a:solidFill>
                  <a:srgbClr val="D4D282"/>
                </a:solidFill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ko-KR" altLang="en-US">
                    <a:latin typeface="나눔고딕" panose="020D0604000000000000" pitchFamily="50" charset="-127"/>
                    <a:ea typeface="나눔고딕" panose="020D0604000000000000" pitchFamily="50" charset="-127"/>
                  </a:endParaRPr>
                </a:p>
              </p:txBody>
            </p:sp>
            <p:sp>
              <p:nvSpPr>
                <p:cNvPr id="125" name="Line 11"/>
                <p:cNvSpPr>
                  <a:spLocks noChangeShapeType="1"/>
                </p:cNvSpPr>
                <p:nvPr/>
              </p:nvSpPr>
              <p:spPr bwMode="auto">
                <a:xfrm>
                  <a:off x="4176" y="1001"/>
                  <a:ext cx="718" cy="25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ko-KR" altLang="en-US">
                    <a:latin typeface="나눔고딕" panose="020D0604000000000000" pitchFamily="50" charset="-127"/>
                    <a:ea typeface="나눔고딕" panose="020D0604000000000000" pitchFamily="50" charset="-127"/>
                  </a:endParaRPr>
                </a:p>
              </p:txBody>
            </p:sp>
          </p:grpSp>
          <p:sp>
            <p:nvSpPr>
              <p:cNvPr id="119" name="Line 12"/>
              <p:cNvSpPr>
                <a:spLocks noChangeShapeType="1"/>
              </p:cNvSpPr>
              <p:nvPr/>
            </p:nvSpPr>
            <p:spPr bwMode="auto">
              <a:xfrm>
                <a:off x="5192" y="2143"/>
                <a:ext cx="9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120" name="Line 13"/>
              <p:cNvSpPr>
                <a:spLocks noChangeShapeType="1"/>
              </p:cNvSpPr>
              <p:nvPr/>
            </p:nvSpPr>
            <p:spPr bwMode="auto">
              <a:xfrm>
                <a:off x="5192" y="1211"/>
                <a:ext cx="9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121" name="Line 14"/>
              <p:cNvSpPr>
                <a:spLocks noChangeShapeType="1"/>
              </p:cNvSpPr>
              <p:nvPr/>
            </p:nvSpPr>
            <p:spPr bwMode="auto">
              <a:xfrm flipV="1">
                <a:off x="5281" y="1208"/>
                <a:ext cx="0" cy="938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122" name="Line 15"/>
              <p:cNvSpPr>
                <a:spLocks noChangeShapeType="1"/>
              </p:cNvSpPr>
              <p:nvPr/>
            </p:nvSpPr>
            <p:spPr bwMode="auto">
              <a:xfrm>
                <a:off x="4320" y="897"/>
                <a:ext cx="9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123" name="Line 16"/>
              <p:cNvSpPr>
                <a:spLocks noChangeShapeType="1"/>
              </p:cNvSpPr>
              <p:nvPr/>
            </p:nvSpPr>
            <p:spPr bwMode="auto">
              <a:xfrm>
                <a:off x="4412" y="897"/>
                <a:ext cx="868" cy="309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p:grpSp>
        <p:sp>
          <p:nvSpPr>
            <p:cNvPr id="107" name="Freeform 17"/>
            <p:cNvSpPr>
              <a:spLocks/>
            </p:cNvSpPr>
            <p:nvPr/>
          </p:nvSpPr>
          <p:spPr bwMode="auto">
            <a:xfrm>
              <a:off x="2329" y="3096"/>
              <a:ext cx="380" cy="247"/>
            </a:xfrm>
            <a:custGeom>
              <a:avLst/>
              <a:gdLst>
                <a:gd name="T0" fmla="*/ 0 w 614"/>
                <a:gd name="T1" fmla="*/ 240 h 336"/>
                <a:gd name="T2" fmla="*/ 0 w 614"/>
                <a:gd name="T3" fmla="*/ 336 h 336"/>
                <a:gd name="T4" fmla="*/ 614 w 614"/>
                <a:gd name="T5" fmla="*/ 84 h 336"/>
                <a:gd name="T6" fmla="*/ 614 w 614"/>
                <a:gd name="T7" fmla="*/ 0 h 336"/>
                <a:gd name="T8" fmla="*/ 0 w 614"/>
                <a:gd name="T9" fmla="*/ 240 h 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4" h="336">
                  <a:moveTo>
                    <a:pt x="0" y="240"/>
                  </a:moveTo>
                  <a:lnTo>
                    <a:pt x="0" y="336"/>
                  </a:lnTo>
                  <a:lnTo>
                    <a:pt x="614" y="84"/>
                  </a:lnTo>
                  <a:lnTo>
                    <a:pt x="614" y="0"/>
                  </a:lnTo>
                  <a:lnTo>
                    <a:pt x="0" y="240"/>
                  </a:lnTo>
                  <a:close/>
                </a:path>
              </a:pathLst>
            </a:custGeom>
            <a:solidFill>
              <a:srgbClr val="D4D282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sm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08" name="Line 18"/>
            <p:cNvSpPr>
              <a:spLocks noChangeShapeType="1"/>
            </p:cNvSpPr>
            <p:nvPr/>
          </p:nvSpPr>
          <p:spPr bwMode="auto">
            <a:xfrm>
              <a:off x="2452" y="3318"/>
              <a:ext cx="0" cy="3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09" name="Line 19"/>
            <p:cNvSpPr>
              <a:spLocks noChangeShapeType="1"/>
            </p:cNvSpPr>
            <p:nvPr/>
          </p:nvSpPr>
          <p:spPr bwMode="auto">
            <a:xfrm flipV="1">
              <a:off x="2332" y="3336"/>
              <a:ext cx="93" cy="45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/>
              <a:tailEnd type="non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10" name="Line 20"/>
            <p:cNvSpPr>
              <a:spLocks noChangeShapeType="1"/>
            </p:cNvSpPr>
            <p:nvPr/>
          </p:nvSpPr>
          <p:spPr bwMode="auto">
            <a:xfrm flipV="1">
              <a:off x="2332" y="3367"/>
              <a:ext cx="93" cy="45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/>
              <a:tailEnd type="non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11" name="Line 21"/>
            <p:cNvSpPr>
              <a:spLocks noChangeShapeType="1"/>
            </p:cNvSpPr>
            <p:nvPr/>
          </p:nvSpPr>
          <p:spPr bwMode="auto">
            <a:xfrm flipV="1">
              <a:off x="2332" y="3400"/>
              <a:ext cx="93" cy="46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/>
              <a:tailEnd type="non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12" name="Line 22"/>
            <p:cNvSpPr>
              <a:spLocks noChangeShapeType="1"/>
            </p:cNvSpPr>
            <p:nvPr/>
          </p:nvSpPr>
          <p:spPr bwMode="auto">
            <a:xfrm flipV="1">
              <a:off x="2332" y="3434"/>
              <a:ext cx="93" cy="46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/>
              <a:tailEnd type="non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13" name="Line 23"/>
            <p:cNvSpPr>
              <a:spLocks noChangeShapeType="1"/>
            </p:cNvSpPr>
            <p:nvPr/>
          </p:nvSpPr>
          <p:spPr bwMode="auto">
            <a:xfrm flipV="1">
              <a:off x="2332" y="3469"/>
              <a:ext cx="93" cy="46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/>
              <a:tailEnd type="non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14" name="Freeform 24"/>
            <p:cNvSpPr>
              <a:spLocks/>
            </p:cNvSpPr>
            <p:nvPr/>
          </p:nvSpPr>
          <p:spPr bwMode="auto">
            <a:xfrm>
              <a:off x="2475" y="3197"/>
              <a:ext cx="232" cy="268"/>
            </a:xfrm>
            <a:custGeom>
              <a:avLst/>
              <a:gdLst>
                <a:gd name="T0" fmla="*/ 379 w 379"/>
                <a:gd name="T1" fmla="*/ 0 h 365"/>
                <a:gd name="T2" fmla="*/ 379 w 379"/>
                <a:gd name="T3" fmla="*/ 195 h 365"/>
                <a:gd name="T4" fmla="*/ 0 w 379"/>
                <a:gd name="T5" fmla="*/ 365 h 365"/>
                <a:gd name="T6" fmla="*/ 0 w 379"/>
                <a:gd name="T7" fmla="*/ 155 h 365"/>
                <a:gd name="T8" fmla="*/ 379 w 379"/>
                <a:gd name="T9" fmla="*/ 0 h 3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9" h="365">
                  <a:moveTo>
                    <a:pt x="379" y="0"/>
                  </a:moveTo>
                  <a:lnTo>
                    <a:pt x="379" y="195"/>
                  </a:lnTo>
                  <a:lnTo>
                    <a:pt x="0" y="365"/>
                  </a:lnTo>
                  <a:lnTo>
                    <a:pt x="0" y="155"/>
                  </a:lnTo>
                  <a:lnTo>
                    <a:pt x="379" y="0"/>
                  </a:lnTo>
                  <a:close/>
                </a:path>
              </a:pathLst>
            </a:custGeom>
            <a:solidFill>
              <a:srgbClr val="D4D282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sm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15" name="Freeform 25"/>
            <p:cNvSpPr>
              <a:spLocks/>
            </p:cNvSpPr>
            <p:nvPr/>
          </p:nvSpPr>
          <p:spPr bwMode="auto">
            <a:xfrm>
              <a:off x="2475" y="3380"/>
              <a:ext cx="232" cy="268"/>
            </a:xfrm>
            <a:custGeom>
              <a:avLst/>
              <a:gdLst>
                <a:gd name="T0" fmla="*/ 379 w 379"/>
                <a:gd name="T1" fmla="*/ 0 h 365"/>
                <a:gd name="T2" fmla="*/ 379 w 379"/>
                <a:gd name="T3" fmla="*/ 195 h 365"/>
                <a:gd name="T4" fmla="*/ 0 w 379"/>
                <a:gd name="T5" fmla="*/ 365 h 365"/>
                <a:gd name="T6" fmla="*/ 0 w 379"/>
                <a:gd name="T7" fmla="*/ 155 h 365"/>
                <a:gd name="T8" fmla="*/ 379 w 379"/>
                <a:gd name="T9" fmla="*/ 0 h 3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9" h="365">
                  <a:moveTo>
                    <a:pt x="379" y="0"/>
                  </a:moveTo>
                  <a:lnTo>
                    <a:pt x="379" y="195"/>
                  </a:lnTo>
                  <a:lnTo>
                    <a:pt x="0" y="365"/>
                  </a:lnTo>
                  <a:lnTo>
                    <a:pt x="0" y="155"/>
                  </a:lnTo>
                  <a:lnTo>
                    <a:pt x="379" y="0"/>
                  </a:lnTo>
                  <a:close/>
                </a:path>
              </a:pathLst>
            </a:custGeom>
            <a:solidFill>
              <a:srgbClr val="D4D282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sm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grpSp>
        <p:nvGrpSpPr>
          <p:cNvPr id="126" name="Group 26"/>
          <p:cNvGrpSpPr>
            <a:grpSpLocks/>
          </p:cNvGrpSpPr>
          <p:nvPr/>
        </p:nvGrpSpPr>
        <p:grpSpPr bwMode="auto">
          <a:xfrm>
            <a:off x="4953000" y="2868489"/>
            <a:ext cx="600075" cy="921790"/>
            <a:chOff x="2256" y="2905"/>
            <a:chExt cx="479" cy="903"/>
          </a:xfrm>
        </p:grpSpPr>
        <p:grpSp>
          <p:nvGrpSpPr>
            <p:cNvPr id="127" name="Group 27"/>
            <p:cNvGrpSpPr>
              <a:grpSpLocks/>
            </p:cNvGrpSpPr>
            <p:nvPr/>
          </p:nvGrpSpPr>
          <p:grpSpPr bwMode="auto">
            <a:xfrm flipH="1">
              <a:off x="2256" y="2905"/>
              <a:ext cx="479" cy="903"/>
              <a:chOff x="4320" y="773"/>
              <a:chExt cx="964" cy="1373"/>
            </a:xfrm>
          </p:grpSpPr>
          <p:sp>
            <p:nvSpPr>
              <p:cNvPr id="167" name="Rectangle 28"/>
              <p:cNvSpPr>
                <a:spLocks noChangeArrowheads="1"/>
              </p:cNvSpPr>
              <p:nvPr/>
            </p:nvSpPr>
            <p:spPr bwMode="auto">
              <a:xfrm>
                <a:off x="5193" y="1402"/>
                <a:ext cx="90" cy="550"/>
              </a:xfrm>
              <a:prstGeom prst="rect">
                <a:avLst/>
              </a:prstGeom>
              <a:solidFill>
                <a:srgbClr val="D4D28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168" name="Freeform 29"/>
              <p:cNvSpPr>
                <a:spLocks/>
              </p:cNvSpPr>
              <p:nvPr/>
            </p:nvSpPr>
            <p:spPr bwMode="auto">
              <a:xfrm rot="21540000">
                <a:off x="4321" y="773"/>
                <a:ext cx="963" cy="550"/>
              </a:xfrm>
              <a:custGeom>
                <a:avLst/>
                <a:gdLst>
                  <a:gd name="T0" fmla="*/ 0 w 963"/>
                  <a:gd name="T1" fmla="*/ 12 h 318"/>
                  <a:gd name="T2" fmla="*/ 870 w 963"/>
                  <a:gd name="T3" fmla="*/ 318 h 318"/>
                  <a:gd name="T4" fmla="*/ 963 w 963"/>
                  <a:gd name="T5" fmla="*/ 315 h 318"/>
                  <a:gd name="T6" fmla="*/ 78 w 963"/>
                  <a:gd name="T7" fmla="*/ 0 h 318"/>
                  <a:gd name="T8" fmla="*/ 0 w 963"/>
                  <a:gd name="T9" fmla="*/ 12 h 3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63" h="318">
                    <a:moveTo>
                      <a:pt x="0" y="12"/>
                    </a:moveTo>
                    <a:lnTo>
                      <a:pt x="870" y="318"/>
                    </a:lnTo>
                    <a:lnTo>
                      <a:pt x="963" y="315"/>
                    </a:lnTo>
                    <a:lnTo>
                      <a:pt x="78" y="0"/>
                    </a:lnTo>
                    <a:lnTo>
                      <a:pt x="0" y="12"/>
                    </a:lnTo>
                    <a:close/>
                  </a:path>
                </a:pathLst>
              </a:custGeom>
              <a:solidFill>
                <a:srgbClr val="D4D28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905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grpSp>
            <p:nvGrpSpPr>
              <p:cNvPr id="169" name="Group 30"/>
              <p:cNvGrpSpPr>
                <a:grpSpLocks/>
              </p:cNvGrpSpPr>
              <p:nvPr/>
            </p:nvGrpSpPr>
            <p:grpSpPr bwMode="auto">
              <a:xfrm>
                <a:off x="4322" y="905"/>
                <a:ext cx="871" cy="1238"/>
                <a:chOff x="4176" y="936"/>
                <a:chExt cx="719" cy="1022"/>
              </a:xfrm>
            </p:grpSpPr>
            <p:sp>
              <p:nvSpPr>
                <p:cNvPr id="175" name="AutoShape 31"/>
                <p:cNvSpPr>
                  <a:spLocks noChangeArrowheads="1"/>
                </p:cNvSpPr>
                <p:nvPr/>
              </p:nvSpPr>
              <p:spPr bwMode="auto">
                <a:xfrm rot="16200000">
                  <a:off x="4025" y="1087"/>
                  <a:ext cx="1022" cy="719"/>
                </a:xfrm>
                <a:prstGeom prst="parallelogram">
                  <a:avLst>
                    <a:gd name="adj" fmla="val 35535"/>
                  </a:avLst>
                </a:prstGeom>
                <a:solidFill>
                  <a:srgbClr val="D4D282"/>
                </a:solidFill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ko-KR" altLang="en-US">
                    <a:latin typeface="나눔고딕" panose="020D0604000000000000" pitchFamily="50" charset="-127"/>
                    <a:ea typeface="나눔고딕" panose="020D0604000000000000" pitchFamily="50" charset="-127"/>
                  </a:endParaRPr>
                </a:p>
              </p:txBody>
            </p:sp>
            <p:sp>
              <p:nvSpPr>
                <p:cNvPr id="176" name="Line 32"/>
                <p:cNvSpPr>
                  <a:spLocks noChangeShapeType="1"/>
                </p:cNvSpPr>
                <p:nvPr/>
              </p:nvSpPr>
              <p:spPr bwMode="auto">
                <a:xfrm>
                  <a:off x="4176" y="1001"/>
                  <a:ext cx="718" cy="25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ko-KR" altLang="en-US">
                    <a:latin typeface="나눔고딕" panose="020D0604000000000000" pitchFamily="50" charset="-127"/>
                    <a:ea typeface="나눔고딕" panose="020D0604000000000000" pitchFamily="50" charset="-127"/>
                  </a:endParaRPr>
                </a:p>
              </p:txBody>
            </p:sp>
          </p:grpSp>
          <p:sp>
            <p:nvSpPr>
              <p:cNvPr id="170" name="Line 33"/>
              <p:cNvSpPr>
                <a:spLocks noChangeShapeType="1"/>
              </p:cNvSpPr>
              <p:nvPr/>
            </p:nvSpPr>
            <p:spPr bwMode="auto">
              <a:xfrm>
                <a:off x="5192" y="2143"/>
                <a:ext cx="9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171" name="Line 34"/>
              <p:cNvSpPr>
                <a:spLocks noChangeShapeType="1"/>
              </p:cNvSpPr>
              <p:nvPr/>
            </p:nvSpPr>
            <p:spPr bwMode="auto">
              <a:xfrm>
                <a:off x="5192" y="1211"/>
                <a:ext cx="9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172" name="Line 35"/>
              <p:cNvSpPr>
                <a:spLocks noChangeShapeType="1"/>
              </p:cNvSpPr>
              <p:nvPr/>
            </p:nvSpPr>
            <p:spPr bwMode="auto">
              <a:xfrm flipV="1">
                <a:off x="5281" y="1208"/>
                <a:ext cx="0" cy="938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173" name="Line 36"/>
              <p:cNvSpPr>
                <a:spLocks noChangeShapeType="1"/>
              </p:cNvSpPr>
              <p:nvPr/>
            </p:nvSpPr>
            <p:spPr bwMode="auto">
              <a:xfrm>
                <a:off x="4320" y="897"/>
                <a:ext cx="9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174" name="Line 37"/>
              <p:cNvSpPr>
                <a:spLocks noChangeShapeType="1"/>
              </p:cNvSpPr>
              <p:nvPr/>
            </p:nvSpPr>
            <p:spPr bwMode="auto">
              <a:xfrm>
                <a:off x="4412" y="897"/>
                <a:ext cx="868" cy="309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p:grpSp>
        <p:sp>
          <p:nvSpPr>
            <p:cNvPr id="154" name="Freeform 38"/>
            <p:cNvSpPr>
              <a:spLocks/>
            </p:cNvSpPr>
            <p:nvPr/>
          </p:nvSpPr>
          <p:spPr bwMode="auto">
            <a:xfrm>
              <a:off x="2329" y="3096"/>
              <a:ext cx="380" cy="247"/>
            </a:xfrm>
            <a:custGeom>
              <a:avLst/>
              <a:gdLst>
                <a:gd name="T0" fmla="*/ 0 w 614"/>
                <a:gd name="T1" fmla="*/ 240 h 336"/>
                <a:gd name="T2" fmla="*/ 0 w 614"/>
                <a:gd name="T3" fmla="*/ 336 h 336"/>
                <a:gd name="T4" fmla="*/ 614 w 614"/>
                <a:gd name="T5" fmla="*/ 84 h 336"/>
                <a:gd name="T6" fmla="*/ 614 w 614"/>
                <a:gd name="T7" fmla="*/ 0 h 336"/>
                <a:gd name="T8" fmla="*/ 0 w 614"/>
                <a:gd name="T9" fmla="*/ 240 h 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4" h="336">
                  <a:moveTo>
                    <a:pt x="0" y="240"/>
                  </a:moveTo>
                  <a:lnTo>
                    <a:pt x="0" y="336"/>
                  </a:lnTo>
                  <a:lnTo>
                    <a:pt x="614" y="84"/>
                  </a:lnTo>
                  <a:lnTo>
                    <a:pt x="614" y="0"/>
                  </a:lnTo>
                  <a:lnTo>
                    <a:pt x="0" y="240"/>
                  </a:lnTo>
                  <a:close/>
                </a:path>
              </a:pathLst>
            </a:custGeom>
            <a:solidFill>
              <a:srgbClr val="D4D282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sm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55" name="Line 39"/>
            <p:cNvSpPr>
              <a:spLocks noChangeShapeType="1"/>
            </p:cNvSpPr>
            <p:nvPr/>
          </p:nvSpPr>
          <p:spPr bwMode="auto">
            <a:xfrm>
              <a:off x="2452" y="3318"/>
              <a:ext cx="0" cy="3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60" name="Line 40"/>
            <p:cNvSpPr>
              <a:spLocks noChangeShapeType="1"/>
            </p:cNvSpPr>
            <p:nvPr/>
          </p:nvSpPr>
          <p:spPr bwMode="auto">
            <a:xfrm flipV="1">
              <a:off x="2332" y="3336"/>
              <a:ext cx="93" cy="45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/>
              <a:tailEnd type="non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61" name="Line 41"/>
            <p:cNvSpPr>
              <a:spLocks noChangeShapeType="1"/>
            </p:cNvSpPr>
            <p:nvPr/>
          </p:nvSpPr>
          <p:spPr bwMode="auto">
            <a:xfrm flipV="1">
              <a:off x="2332" y="3367"/>
              <a:ext cx="93" cy="45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/>
              <a:tailEnd type="non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62" name="Line 42"/>
            <p:cNvSpPr>
              <a:spLocks noChangeShapeType="1"/>
            </p:cNvSpPr>
            <p:nvPr/>
          </p:nvSpPr>
          <p:spPr bwMode="auto">
            <a:xfrm flipV="1">
              <a:off x="2332" y="3400"/>
              <a:ext cx="93" cy="46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/>
              <a:tailEnd type="non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63" name="Line 43"/>
            <p:cNvSpPr>
              <a:spLocks noChangeShapeType="1"/>
            </p:cNvSpPr>
            <p:nvPr/>
          </p:nvSpPr>
          <p:spPr bwMode="auto">
            <a:xfrm flipV="1">
              <a:off x="2332" y="3434"/>
              <a:ext cx="93" cy="46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/>
              <a:tailEnd type="non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64" name="Line 44"/>
            <p:cNvSpPr>
              <a:spLocks noChangeShapeType="1"/>
            </p:cNvSpPr>
            <p:nvPr/>
          </p:nvSpPr>
          <p:spPr bwMode="auto">
            <a:xfrm flipV="1">
              <a:off x="2332" y="3469"/>
              <a:ext cx="93" cy="46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/>
              <a:tailEnd type="non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65" name="Freeform 45"/>
            <p:cNvSpPr>
              <a:spLocks/>
            </p:cNvSpPr>
            <p:nvPr/>
          </p:nvSpPr>
          <p:spPr bwMode="auto">
            <a:xfrm>
              <a:off x="2475" y="3197"/>
              <a:ext cx="232" cy="268"/>
            </a:xfrm>
            <a:custGeom>
              <a:avLst/>
              <a:gdLst>
                <a:gd name="T0" fmla="*/ 379 w 379"/>
                <a:gd name="T1" fmla="*/ 0 h 365"/>
                <a:gd name="T2" fmla="*/ 379 w 379"/>
                <a:gd name="T3" fmla="*/ 195 h 365"/>
                <a:gd name="T4" fmla="*/ 0 w 379"/>
                <a:gd name="T5" fmla="*/ 365 h 365"/>
                <a:gd name="T6" fmla="*/ 0 w 379"/>
                <a:gd name="T7" fmla="*/ 155 h 365"/>
                <a:gd name="T8" fmla="*/ 379 w 379"/>
                <a:gd name="T9" fmla="*/ 0 h 3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9" h="365">
                  <a:moveTo>
                    <a:pt x="379" y="0"/>
                  </a:moveTo>
                  <a:lnTo>
                    <a:pt x="379" y="195"/>
                  </a:lnTo>
                  <a:lnTo>
                    <a:pt x="0" y="365"/>
                  </a:lnTo>
                  <a:lnTo>
                    <a:pt x="0" y="155"/>
                  </a:lnTo>
                  <a:lnTo>
                    <a:pt x="379" y="0"/>
                  </a:lnTo>
                  <a:close/>
                </a:path>
              </a:pathLst>
            </a:custGeom>
            <a:solidFill>
              <a:srgbClr val="D4D282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sm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66" name="Freeform 46"/>
            <p:cNvSpPr>
              <a:spLocks/>
            </p:cNvSpPr>
            <p:nvPr/>
          </p:nvSpPr>
          <p:spPr bwMode="auto">
            <a:xfrm>
              <a:off x="2475" y="3380"/>
              <a:ext cx="232" cy="268"/>
            </a:xfrm>
            <a:custGeom>
              <a:avLst/>
              <a:gdLst>
                <a:gd name="T0" fmla="*/ 379 w 379"/>
                <a:gd name="T1" fmla="*/ 0 h 365"/>
                <a:gd name="T2" fmla="*/ 379 w 379"/>
                <a:gd name="T3" fmla="*/ 195 h 365"/>
                <a:gd name="T4" fmla="*/ 0 w 379"/>
                <a:gd name="T5" fmla="*/ 365 h 365"/>
                <a:gd name="T6" fmla="*/ 0 w 379"/>
                <a:gd name="T7" fmla="*/ 155 h 365"/>
                <a:gd name="T8" fmla="*/ 379 w 379"/>
                <a:gd name="T9" fmla="*/ 0 h 3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9" h="365">
                  <a:moveTo>
                    <a:pt x="379" y="0"/>
                  </a:moveTo>
                  <a:lnTo>
                    <a:pt x="379" y="195"/>
                  </a:lnTo>
                  <a:lnTo>
                    <a:pt x="0" y="365"/>
                  </a:lnTo>
                  <a:lnTo>
                    <a:pt x="0" y="155"/>
                  </a:lnTo>
                  <a:lnTo>
                    <a:pt x="379" y="0"/>
                  </a:lnTo>
                  <a:close/>
                </a:path>
              </a:pathLst>
            </a:custGeom>
            <a:solidFill>
              <a:srgbClr val="D4D282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sm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grpSp>
        <p:nvGrpSpPr>
          <p:cNvPr id="177" name="Group 47"/>
          <p:cNvGrpSpPr>
            <a:grpSpLocks/>
          </p:cNvGrpSpPr>
          <p:nvPr/>
        </p:nvGrpSpPr>
        <p:grpSpPr bwMode="auto">
          <a:xfrm>
            <a:off x="6705600" y="4320512"/>
            <a:ext cx="600075" cy="921789"/>
            <a:chOff x="2256" y="2905"/>
            <a:chExt cx="479" cy="903"/>
          </a:xfrm>
        </p:grpSpPr>
        <p:grpSp>
          <p:nvGrpSpPr>
            <p:cNvPr id="178" name="Group 48"/>
            <p:cNvGrpSpPr>
              <a:grpSpLocks/>
            </p:cNvGrpSpPr>
            <p:nvPr/>
          </p:nvGrpSpPr>
          <p:grpSpPr bwMode="auto">
            <a:xfrm flipH="1">
              <a:off x="2256" y="2905"/>
              <a:ext cx="479" cy="903"/>
              <a:chOff x="4320" y="773"/>
              <a:chExt cx="964" cy="1373"/>
            </a:xfrm>
          </p:grpSpPr>
          <p:sp>
            <p:nvSpPr>
              <p:cNvPr id="188" name="Rectangle 49"/>
              <p:cNvSpPr>
                <a:spLocks noChangeArrowheads="1"/>
              </p:cNvSpPr>
              <p:nvPr/>
            </p:nvSpPr>
            <p:spPr bwMode="auto">
              <a:xfrm>
                <a:off x="5193" y="1402"/>
                <a:ext cx="90" cy="550"/>
              </a:xfrm>
              <a:prstGeom prst="rect">
                <a:avLst/>
              </a:prstGeom>
              <a:solidFill>
                <a:srgbClr val="D4D28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189" name="Freeform 50"/>
              <p:cNvSpPr>
                <a:spLocks/>
              </p:cNvSpPr>
              <p:nvPr/>
            </p:nvSpPr>
            <p:spPr bwMode="auto">
              <a:xfrm rot="21540000">
                <a:off x="4321" y="773"/>
                <a:ext cx="963" cy="550"/>
              </a:xfrm>
              <a:custGeom>
                <a:avLst/>
                <a:gdLst>
                  <a:gd name="T0" fmla="*/ 0 w 963"/>
                  <a:gd name="T1" fmla="*/ 12 h 318"/>
                  <a:gd name="T2" fmla="*/ 870 w 963"/>
                  <a:gd name="T3" fmla="*/ 318 h 318"/>
                  <a:gd name="T4" fmla="*/ 963 w 963"/>
                  <a:gd name="T5" fmla="*/ 315 h 318"/>
                  <a:gd name="T6" fmla="*/ 78 w 963"/>
                  <a:gd name="T7" fmla="*/ 0 h 318"/>
                  <a:gd name="T8" fmla="*/ 0 w 963"/>
                  <a:gd name="T9" fmla="*/ 12 h 3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63" h="318">
                    <a:moveTo>
                      <a:pt x="0" y="12"/>
                    </a:moveTo>
                    <a:lnTo>
                      <a:pt x="870" y="318"/>
                    </a:lnTo>
                    <a:lnTo>
                      <a:pt x="963" y="315"/>
                    </a:lnTo>
                    <a:lnTo>
                      <a:pt x="78" y="0"/>
                    </a:lnTo>
                    <a:lnTo>
                      <a:pt x="0" y="12"/>
                    </a:lnTo>
                    <a:close/>
                  </a:path>
                </a:pathLst>
              </a:custGeom>
              <a:solidFill>
                <a:srgbClr val="D4D28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905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grpSp>
            <p:nvGrpSpPr>
              <p:cNvPr id="190" name="Group 51"/>
              <p:cNvGrpSpPr>
                <a:grpSpLocks/>
              </p:cNvGrpSpPr>
              <p:nvPr/>
            </p:nvGrpSpPr>
            <p:grpSpPr bwMode="auto">
              <a:xfrm>
                <a:off x="4322" y="905"/>
                <a:ext cx="871" cy="1238"/>
                <a:chOff x="4176" y="936"/>
                <a:chExt cx="719" cy="1022"/>
              </a:xfrm>
            </p:grpSpPr>
            <p:sp>
              <p:nvSpPr>
                <p:cNvPr id="196" name="AutoShape 52"/>
                <p:cNvSpPr>
                  <a:spLocks noChangeArrowheads="1"/>
                </p:cNvSpPr>
                <p:nvPr/>
              </p:nvSpPr>
              <p:spPr bwMode="auto">
                <a:xfrm rot="16200000">
                  <a:off x="4025" y="1087"/>
                  <a:ext cx="1022" cy="719"/>
                </a:xfrm>
                <a:prstGeom prst="parallelogram">
                  <a:avLst>
                    <a:gd name="adj" fmla="val 35535"/>
                  </a:avLst>
                </a:prstGeom>
                <a:solidFill>
                  <a:srgbClr val="D4D282"/>
                </a:solidFill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ko-KR" altLang="en-US">
                    <a:latin typeface="나눔고딕" panose="020D0604000000000000" pitchFamily="50" charset="-127"/>
                    <a:ea typeface="나눔고딕" panose="020D0604000000000000" pitchFamily="50" charset="-127"/>
                  </a:endParaRPr>
                </a:p>
              </p:txBody>
            </p:sp>
            <p:sp>
              <p:nvSpPr>
                <p:cNvPr id="197" name="Line 53"/>
                <p:cNvSpPr>
                  <a:spLocks noChangeShapeType="1"/>
                </p:cNvSpPr>
                <p:nvPr/>
              </p:nvSpPr>
              <p:spPr bwMode="auto">
                <a:xfrm>
                  <a:off x="4176" y="1001"/>
                  <a:ext cx="718" cy="25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ko-KR" altLang="en-US">
                    <a:latin typeface="나눔고딕" panose="020D0604000000000000" pitchFamily="50" charset="-127"/>
                    <a:ea typeface="나눔고딕" panose="020D0604000000000000" pitchFamily="50" charset="-127"/>
                  </a:endParaRPr>
                </a:p>
              </p:txBody>
            </p:sp>
          </p:grpSp>
          <p:sp>
            <p:nvSpPr>
              <p:cNvPr id="191" name="Line 54"/>
              <p:cNvSpPr>
                <a:spLocks noChangeShapeType="1"/>
              </p:cNvSpPr>
              <p:nvPr/>
            </p:nvSpPr>
            <p:spPr bwMode="auto">
              <a:xfrm>
                <a:off x="5192" y="2143"/>
                <a:ext cx="9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192" name="Line 55"/>
              <p:cNvSpPr>
                <a:spLocks noChangeShapeType="1"/>
              </p:cNvSpPr>
              <p:nvPr/>
            </p:nvSpPr>
            <p:spPr bwMode="auto">
              <a:xfrm>
                <a:off x="5192" y="1211"/>
                <a:ext cx="9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193" name="Line 56"/>
              <p:cNvSpPr>
                <a:spLocks noChangeShapeType="1"/>
              </p:cNvSpPr>
              <p:nvPr/>
            </p:nvSpPr>
            <p:spPr bwMode="auto">
              <a:xfrm flipV="1">
                <a:off x="5281" y="1208"/>
                <a:ext cx="0" cy="938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194" name="Line 57"/>
              <p:cNvSpPr>
                <a:spLocks noChangeShapeType="1"/>
              </p:cNvSpPr>
              <p:nvPr/>
            </p:nvSpPr>
            <p:spPr bwMode="auto">
              <a:xfrm>
                <a:off x="4320" y="897"/>
                <a:ext cx="9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195" name="Line 58"/>
              <p:cNvSpPr>
                <a:spLocks noChangeShapeType="1"/>
              </p:cNvSpPr>
              <p:nvPr/>
            </p:nvSpPr>
            <p:spPr bwMode="auto">
              <a:xfrm>
                <a:off x="4412" y="897"/>
                <a:ext cx="868" cy="309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p:grpSp>
        <p:sp>
          <p:nvSpPr>
            <p:cNvPr id="179" name="Freeform 59"/>
            <p:cNvSpPr>
              <a:spLocks/>
            </p:cNvSpPr>
            <p:nvPr/>
          </p:nvSpPr>
          <p:spPr bwMode="auto">
            <a:xfrm>
              <a:off x="2329" y="3096"/>
              <a:ext cx="380" cy="247"/>
            </a:xfrm>
            <a:custGeom>
              <a:avLst/>
              <a:gdLst>
                <a:gd name="T0" fmla="*/ 0 w 614"/>
                <a:gd name="T1" fmla="*/ 240 h 336"/>
                <a:gd name="T2" fmla="*/ 0 w 614"/>
                <a:gd name="T3" fmla="*/ 336 h 336"/>
                <a:gd name="T4" fmla="*/ 614 w 614"/>
                <a:gd name="T5" fmla="*/ 84 h 336"/>
                <a:gd name="T6" fmla="*/ 614 w 614"/>
                <a:gd name="T7" fmla="*/ 0 h 336"/>
                <a:gd name="T8" fmla="*/ 0 w 614"/>
                <a:gd name="T9" fmla="*/ 240 h 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4" h="336">
                  <a:moveTo>
                    <a:pt x="0" y="240"/>
                  </a:moveTo>
                  <a:lnTo>
                    <a:pt x="0" y="336"/>
                  </a:lnTo>
                  <a:lnTo>
                    <a:pt x="614" y="84"/>
                  </a:lnTo>
                  <a:lnTo>
                    <a:pt x="614" y="0"/>
                  </a:lnTo>
                  <a:lnTo>
                    <a:pt x="0" y="240"/>
                  </a:lnTo>
                  <a:close/>
                </a:path>
              </a:pathLst>
            </a:custGeom>
            <a:solidFill>
              <a:srgbClr val="D4D282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sm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80" name="Line 60"/>
            <p:cNvSpPr>
              <a:spLocks noChangeShapeType="1"/>
            </p:cNvSpPr>
            <p:nvPr/>
          </p:nvSpPr>
          <p:spPr bwMode="auto">
            <a:xfrm>
              <a:off x="2452" y="3318"/>
              <a:ext cx="0" cy="3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81" name="Line 61"/>
            <p:cNvSpPr>
              <a:spLocks noChangeShapeType="1"/>
            </p:cNvSpPr>
            <p:nvPr/>
          </p:nvSpPr>
          <p:spPr bwMode="auto">
            <a:xfrm flipV="1">
              <a:off x="2332" y="3336"/>
              <a:ext cx="93" cy="45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/>
              <a:tailEnd type="non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82" name="Line 62"/>
            <p:cNvSpPr>
              <a:spLocks noChangeShapeType="1"/>
            </p:cNvSpPr>
            <p:nvPr/>
          </p:nvSpPr>
          <p:spPr bwMode="auto">
            <a:xfrm flipV="1">
              <a:off x="2332" y="3367"/>
              <a:ext cx="93" cy="45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/>
              <a:tailEnd type="non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83" name="Line 63"/>
            <p:cNvSpPr>
              <a:spLocks noChangeShapeType="1"/>
            </p:cNvSpPr>
            <p:nvPr/>
          </p:nvSpPr>
          <p:spPr bwMode="auto">
            <a:xfrm flipV="1">
              <a:off x="2332" y="3400"/>
              <a:ext cx="93" cy="46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/>
              <a:tailEnd type="non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84" name="Line 64"/>
            <p:cNvSpPr>
              <a:spLocks noChangeShapeType="1"/>
            </p:cNvSpPr>
            <p:nvPr/>
          </p:nvSpPr>
          <p:spPr bwMode="auto">
            <a:xfrm flipV="1">
              <a:off x="2332" y="3434"/>
              <a:ext cx="93" cy="46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/>
              <a:tailEnd type="non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85" name="Line 65"/>
            <p:cNvSpPr>
              <a:spLocks noChangeShapeType="1"/>
            </p:cNvSpPr>
            <p:nvPr/>
          </p:nvSpPr>
          <p:spPr bwMode="auto">
            <a:xfrm flipV="1">
              <a:off x="2332" y="3469"/>
              <a:ext cx="93" cy="46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/>
              <a:tailEnd type="non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86" name="Freeform 66"/>
            <p:cNvSpPr>
              <a:spLocks/>
            </p:cNvSpPr>
            <p:nvPr/>
          </p:nvSpPr>
          <p:spPr bwMode="auto">
            <a:xfrm>
              <a:off x="2475" y="3197"/>
              <a:ext cx="232" cy="268"/>
            </a:xfrm>
            <a:custGeom>
              <a:avLst/>
              <a:gdLst>
                <a:gd name="T0" fmla="*/ 379 w 379"/>
                <a:gd name="T1" fmla="*/ 0 h 365"/>
                <a:gd name="T2" fmla="*/ 379 w 379"/>
                <a:gd name="T3" fmla="*/ 195 h 365"/>
                <a:gd name="T4" fmla="*/ 0 w 379"/>
                <a:gd name="T5" fmla="*/ 365 h 365"/>
                <a:gd name="T6" fmla="*/ 0 w 379"/>
                <a:gd name="T7" fmla="*/ 155 h 365"/>
                <a:gd name="T8" fmla="*/ 379 w 379"/>
                <a:gd name="T9" fmla="*/ 0 h 3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9" h="365">
                  <a:moveTo>
                    <a:pt x="379" y="0"/>
                  </a:moveTo>
                  <a:lnTo>
                    <a:pt x="379" y="195"/>
                  </a:lnTo>
                  <a:lnTo>
                    <a:pt x="0" y="365"/>
                  </a:lnTo>
                  <a:lnTo>
                    <a:pt x="0" y="155"/>
                  </a:lnTo>
                  <a:lnTo>
                    <a:pt x="379" y="0"/>
                  </a:lnTo>
                  <a:close/>
                </a:path>
              </a:pathLst>
            </a:custGeom>
            <a:solidFill>
              <a:srgbClr val="D4D282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sm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87" name="Freeform 67"/>
            <p:cNvSpPr>
              <a:spLocks/>
            </p:cNvSpPr>
            <p:nvPr/>
          </p:nvSpPr>
          <p:spPr bwMode="auto">
            <a:xfrm>
              <a:off x="2475" y="3380"/>
              <a:ext cx="232" cy="268"/>
            </a:xfrm>
            <a:custGeom>
              <a:avLst/>
              <a:gdLst>
                <a:gd name="T0" fmla="*/ 379 w 379"/>
                <a:gd name="T1" fmla="*/ 0 h 365"/>
                <a:gd name="T2" fmla="*/ 379 w 379"/>
                <a:gd name="T3" fmla="*/ 195 h 365"/>
                <a:gd name="T4" fmla="*/ 0 w 379"/>
                <a:gd name="T5" fmla="*/ 365 h 365"/>
                <a:gd name="T6" fmla="*/ 0 w 379"/>
                <a:gd name="T7" fmla="*/ 155 h 365"/>
                <a:gd name="T8" fmla="*/ 379 w 379"/>
                <a:gd name="T9" fmla="*/ 0 h 3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9" h="365">
                  <a:moveTo>
                    <a:pt x="379" y="0"/>
                  </a:moveTo>
                  <a:lnTo>
                    <a:pt x="379" y="195"/>
                  </a:lnTo>
                  <a:lnTo>
                    <a:pt x="0" y="365"/>
                  </a:lnTo>
                  <a:lnTo>
                    <a:pt x="0" y="155"/>
                  </a:lnTo>
                  <a:lnTo>
                    <a:pt x="379" y="0"/>
                  </a:lnTo>
                  <a:close/>
                </a:path>
              </a:pathLst>
            </a:custGeom>
            <a:solidFill>
              <a:srgbClr val="D4D282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sm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grpSp>
        <p:nvGrpSpPr>
          <p:cNvPr id="198" name="Group 68"/>
          <p:cNvGrpSpPr>
            <a:grpSpLocks/>
          </p:cNvGrpSpPr>
          <p:nvPr/>
        </p:nvGrpSpPr>
        <p:grpSpPr bwMode="auto">
          <a:xfrm>
            <a:off x="6715125" y="1344489"/>
            <a:ext cx="600075" cy="921790"/>
            <a:chOff x="2256" y="2905"/>
            <a:chExt cx="479" cy="903"/>
          </a:xfrm>
        </p:grpSpPr>
        <p:grpSp>
          <p:nvGrpSpPr>
            <p:cNvPr id="199" name="Group 69"/>
            <p:cNvGrpSpPr>
              <a:grpSpLocks/>
            </p:cNvGrpSpPr>
            <p:nvPr/>
          </p:nvGrpSpPr>
          <p:grpSpPr bwMode="auto">
            <a:xfrm flipH="1">
              <a:off x="2256" y="2905"/>
              <a:ext cx="479" cy="903"/>
              <a:chOff x="4320" y="773"/>
              <a:chExt cx="964" cy="1373"/>
            </a:xfrm>
          </p:grpSpPr>
          <p:sp>
            <p:nvSpPr>
              <p:cNvPr id="209" name="Rectangle 70"/>
              <p:cNvSpPr>
                <a:spLocks noChangeArrowheads="1"/>
              </p:cNvSpPr>
              <p:nvPr/>
            </p:nvSpPr>
            <p:spPr bwMode="auto">
              <a:xfrm>
                <a:off x="5193" y="1402"/>
                <a:ext cx="90" cy="550"/>
              </a:xfrm>
              <a:prstGeom prst="rect">
                <a:avLst/>
              </a:prstGeom>
              <a:solidFill>
                <a:srgbClr val="D4D28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210" name="Freeform 71"/>
              <p:cNvSpPr>
                <a:spLocks/>
              </p:cNvSpPr>
              <p:nvPr/>
            </p:nvSpPr>
            <p:spPr bwMode="auto">
              <a:xfrm rot="21540000">
                <a:off x="4321" y="773"/>
                <a:ext cx="963" cy="550"/>
              </a:xfrm>
              <a:custGeom>
                <a:avLst/>
                <a:gdLst>
                  <a:gd name="T0" fmla="*/ 0 w 963"/>
                  <a:gd name="T1" fmla="*/ 12 h 318"/>
                  <a:gd name="T2" fmla="*/ 870 w 963"/>
                  <a:gd name="T3" fmla="*/ 318 h 318"/>
                  <a:gd name="T4" fmla="*/ 963 w 963"/>
                  <a:gd name="T5" fmla="*/ 315 h 318"/>
                  <a:gd name="T6" fmla="*/ 78 w 963"/>
                  <a:gd name="T7" fmla="*/ 0 h 318"/>
                  <a:gd name="T8" fmla="*/ 0 w 963"/>
                  <a:gd name="T9" fmla="*/ 12 h 3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63" h="318">
                    <a:moveTo>
                      <a:pt x="0" y="12"/>
                    </a:moveTo>
                    <a:lnTo>
                      <a:pt x="870" y="318"/>
                    </a:lnTo>
                    <a:lnTo>
                      <a:pt x="963" y="315"/>
                    </a:lnTo>
                    <a:lnTo>
                      <a:pt x="78" y="0"/>
                    </a:lnTo>
                    <a:lnTo>
                      <a:pt x="0" y="12"/>
                    </a:lnTo>
                    <a:close/>
                  </a:path>
                </a:pathLst>
              </a:custGeom>
              <a:solidFill>
                <a:srgbClr val="D4D28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905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grpSp>
            <p:nvGrpSpPr>
              <p:cNvPr id="211" name="Group 72"/>
              <p:cNvGrpSpPr>
                <a:grpSpLocks/>
              </p:cNvGrpSpPr>
              <p:nvPr/>
            </p:nvGrpSpPr>
            <p:grpSpPr bwMode="auto">
              <a:xfrm>
                <a:off x="4322" y="905"/>
                <a:ext cx="871" cy="1238"/>
                <a:chOff x="4176" y="936"/>
                <a:chExt cx="719" cy="1022"/>
              </a:xfrm>
            </p:grpSpPr>
            <p:sp>
              <p:nvSpPr>
                <p:cNvPr id="217" name="AutoShape 73"/>
                <p:cNvSpPr>
                  <a:spLocks noChangeArrowheads="1"/>
                </p:cNvSpPr>
                <p:nvPr/>
              </p:nvSpPr>
              <p:spPr bwMode="auto">
                <a:xfrm rot="16200000">
                  <a:off x="4025" y="1087"/>
                  <a:ext cx="1022" cy="719"/>
                </a:xfrm>
                <a:prstGeom prst="parallelogram">
                  <a:avLst>
                    <a:gd name="adj" fmla="val 35535"/>
                  </a:avLst>
                </a:prstGeom>
                <a:solidFill>
                  <a:srgbClr val="D4D282"/>
                </a:solidFill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ko-KR" altLang="en-US">
                    <a:latin typeface="나눔고딕" panose="020D0604000000000000" pitchFamily="50" charset="-127"/>
                    <a:ea typeface="나눔고딕" panose="020D0604000000000000" pitchFamily="50" charset="-127"/>
                  </a:endParaRPr>
                </a:p>
              </p:txBody>
            </p:sp>
            <p:sp>
              <p:nvSpPr>
                <p:cNvPr id="218" name="Line 74"/>
                <p:cNvSpPr>
                  <a:spLocks noChangeShapeType="1"/>
                </p:cNvSpPr>
                <p:nvPr/>
              </p:nvSpPr>
              <p:spPr bwMode="auto">
                <a:xfrm>
                  <a:off x="4176" y="1001"/>
                  <a:ext cx="718" cy="25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ko-KR" altLang="en-US">
                    <a:latin typeface="나눔고딕" panose="020D0604000000000000" pitchFamily="50" charset="-127"/>
                    <a:ea typeface="나눔고딕" panose="020D0604000000000000" pitchFamily="50" charset="-127"/>
                  </a:endParaRPr>
                </a:p>
              </p:txBody>
            </p:sp>
          </p:grpSp>
          <p:sp>
            <p:nvSpPr>
              <p:cNvPr id="212" name="Line 75"/>
              <p:cNvSpPr>
                <a:spLocks noChangeShapeType="1"/>
              </p:cNvSpPr>
              <p:nvPr/>
            </p:nvSpPr>
            <p:spPr bwMode="auto">
              <a:xfrm>
                <a:off x="5192" y="2143"/>
                <a:ext cx="9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213" name="Line 76"/>
              <p:cNvSpPr>
                <a:spLocks noChangeShapeType="1"/>
              </p:cNvSpPr>
              <p:nvPr/>
            </p:nvSpPr>
            <p:spPr bwMode="auto">
              <a:xfrm>
                <a:off x="5192" y="1211"/>
                <a:ext cx="9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214" name="Line 77"/>
              <p:cNvSpPr>
                <a:spLocks noChangeShapeType="1"/>
              </p:cNvSpPr>
              <p:nvPr/>
            </p:nvSpPr>
            <p:spPr bwMode="auto">
              <a:xfrm flipV="1">
                <a:off x="5281" y="1208"/>
                <a:ext cx="0" cy="938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215" name="Line 78"/>
              <p:cNvSpPr>
                <a:spLocks noChangeShapeType="1"/>
              </p:cNvSpPr>
              <p:nvPr/>
            </p:nvSpPr>
            <p:spPr bwMode="auto">
              <a:xfrm>
                <a:off x="4320" y="897"/>
                <a:ext cx="9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216" name="Line 79"/>
              <p:cNvSpPr>
                <a:spLocks noChangeShapeType="1"/>
              </p:cNvSpPr>
              <p:nvPr/>
            </p:nvSpPr>
            <p:spPr bwMode="auto">
              <a:xfrm>
                <a:off x="4412" y="897"/>
                <a:ext cx="868" cy="309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p:grpSp>
        <p:sp>
          <p:nvSpPr>
            <p:cNvPr id="200" name="Freeform 80"/>
            <p:cNvSpPr>
              <a:spLocks/>
            </p:cNvSpPr>
            <p:nvPr/>
          </p:nvSpPr>
          <p:spPr bwMode="auto">
            <a:xfrm>
              <a:off x="2329" y="3096"/>
              <a:ext cx="380" cy="247"/>
            </a:xfrm>
            <a:custGeom>
              <a:avLst/>
              <a:gdLst>
                <a:gd name="T0" fmla="*/ 0 w 614"/>
                <a:gd name="T1" fmla="*/ 240 h 336"/>
                <a:gd name="T2" fmla="*/ 0 w 614"/>
                <a:gd name="T3" fmla="*/ 336 h 336"/>
                <a:gd name="T4" fmla="*/ 614 w 614"/>
                <a:gd name="T5" fmla="*/ 84 h 336"/>
                <a:gd name="T6" fmla="*/ 614 w 614"/>
                <a:gd name="T7" fmla="*/ 0 h 336"/>
                <a:gd name="T8" fmla="*/ 0 w 614"/>
                <a:gd name="T9" fmla="*/ 240 h 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4" h="336">
                  <a:moveTo>
                    <a:pt x="0" y="240"/>
                  </a:moveTo>
                  <a:lnTo>
                    <a:pt x="0" y="336"/>
                  </a:lnTo>
                  <a:lnTo>
                    <a:pt x="614" y="84"/>
                  </a:lnTo>
                  <a:lnTo>
                    <a:pt x="614" y="0"/>
                  </a:lnTo>
                  <a:lnTo>
                    <a:pt x="0" y="240"/>
                  </a:lnTo>
                  <a:close/>
                </a:path>
              </a:pathLst>
            </a:custGeom>
            <a:solidFill>
              <a:srgbClr val="D4D282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sm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01" name="Line 81"/>
            <p:cNvSpPr>
              <a:spLocks noChangeShapeType="1"/>
            </p:cNvSpPr>
            <p:nvPr/>
          </p:nvSpPr>
          <p:spPr bwMode="auto">
            <a:xfrm>
              <a:off x="2452" y="3318"/>
              <a:ext cx="0" cy="3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02" name="Line 82"/>
            <p:cNvSpPr>
              <a:spLocks noChangeShapeType="1"/>
            </p:cNvSpPr>
            <p:nvPr/>
          </p:nvSpPr>
          <p:spPr bwMode="auto">
            <a:xfrm flipV="1">
              <a:off x="2332" y="3336"/>
              <a:ext cx="93" cy="45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/>
              <a:tailEnd type="non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03" name="Line 83"/>
            <p:cNvSpPr>
              <a:spLocks noChangeShapeType="1"/>
            </p:cNvSpPr>
            <p:nvPr/>
          </p:nvSpPr>
          <p:spPr bwMode="auto">
            <a:xfrm flipV="1">
              <a:off x="2332" y="3367"/>
              <a:ext cx="93" cy="45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/>
              <a:tailEnd type="non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04" name="Line 84"/>
            <p:cNvSpPr>
              <a:spLocks noChangeShapeType="1"/>
            </p:cNvSpPr>
            <p:nvPr/>
          </p:nvSpPr>
          <p:spPr bwMode="auto">
            <a:xfrm flipV="1">
              <a:off x="2332" y="3400"/>
              <a:ext cx="93" cy="46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/>
              <a:tailEnd type="non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05" name="Line 85"/>
            <p:cNvSpPr>
              <a:spLocks noChangeShapeType="1"/>
            </p:cNvSpPr>
            <p:nvPr/>
          </p:nvSpPr>
          <p:spPr bwMode="auto">
            <a:xfrm flipV="1">
              <a:off x="2332" y="3434"/>
              <a:ext cx="93" cy="46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/>
              <a:tailEnd type="non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06" name="Line 86"/>
            <p:cNvSpPr>
              <a:spLocks noChangeShapeType="1"/>
            </p:cNvSpPr>
            <p:nvPr/>
          </p:nvSpPr>
          <p:spPr bwMode="auto">
            <a:xfrm flipV="1">
              <a:off x="2332" y="3469"/>
              <a:ext cx="93" cy="46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/>
              <a:tailEnd type="non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07" name="Freeform 87"/>
            <p:cNvSpPr>
              <a:spLocks/>
            </p:cNvSpPr>
            <p:nvPr/>
          </p:nvSpPr>
          <p:spPr bwMode="auto">
            <a:xfrm>
              <a:off x="2475" y="3197"/>
              <a:ext cx="232" cy="268"/>
            </a:xfrm>
            <a:custGeom>
              <a:avLst/>
              <a:gdLst>
                <a:gd name="T0" fmla="*/ 379 w 379"/>
                <a:gd name="T1" fmla="*/ 0 h 365"/>
                <a:gd name="T2" fmla="*/ 379 w 379"/>
                <a:gd name="T3" fmla="*/ 195 h 365"/>
                <a:gd name="T4" fmla="*/ 0 w 379"/>
                <a:gd name="T5" fmla="*/ 365 h 365"/>
                <a:gd name="T6" fmla="*/ 0 w 379"/>
                <a:gd name="T7" fmla="*/ 155 h 365"/>
                <a:gd name="T8" fmla="*/ 379 w 379"/>
                <a:gd name="T9" fmla="*/ 0 h 3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9" h="365">
                  <a:moveTo>
                    <a:pt x="379" y="0"/>
                  </a:moveTo>
                  <a:lnTo>
                    <a:pt x="379" y="195"/>
                  </a:lnTo>
                  <a:lnTo>
                    <a:pt x="0" y="365"/>
                  </a:lnTo>
                  <a:lnTo>
                    <a:pt x="0" y="155"/>
                  </a:lnTo>
                  <a:lnTo>
                    <a:pt x="379" y="0"/>
                  </a:lnTo>
                  <a:close/>
                </a:path>
              </a:pathLst>
            </a:custGeom>
            <a:solidFill>
              <a:srgbClr val="D4D282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sm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08" name="Freeform 88"/>
            <p:cNvSpPr>
              <a:spLocks/>
            </p:cNvSpPr>
            <p:nvPr/>
          </p:nvSpPr>
          <p:spPr bwMode="auto">
            <a:xfrm>
              <a:off x="2475" y="3380"/>
              <a:ext cx="232" cy="268"/>
            </a:xfrm>
            <a:custGeom>
              <a:avLst/>
              <a:gdLst>
                <a:gd name="T0" fmla="*/ 379 w 379"/>
                <a:gd name="T1" fmla="*/ 0 h 365"/>
                <a:gd name="T2" fmla="*/ 379 w 379"/>
                <a:gd name="T3" fmla="*/ 195 h 365"/>
                <a:gd name="T4" fmla="*/ 0 w 379"/>
                <a:gd name="T5" fmla="*/ 365 h 365"/>
                <a:gd name="T6" fmla="*/ 0 w 379"/>
                <a:gd name="T7" fmla="*/ 155 h 365"/>
                <a:gd name="T8" fmla="*/ 379 w 379"/>
                <a:gd name="T9" fmla="*/ 0 h 3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9" h="365">
                  <a:moveTo>
                    <a:pt x="379" y="0"/>
                  </a:moveTo>
                  <a:lnTo>
                    <a:pt x="379" y="195"/>
                  </a:lnTo>
                  <a:lnTo>
                    <a:pt x="0" y="365"/>
                  </a:lnTo>
                  <a:lnTo>
                    <a:pt x="0" y="155"/>
                  </a:lnTo>
                  <a:lnTo>
                    <a:pt x="379" y="0"/>
                  </a:lnTo>
                  <a:close/>
                </a:path>
              </a:pathLst>
            </a:custGeom>
            <a:solidFill>
              <a:srgbClr val="D4D282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sm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sp>
        <p:nvSpPr>
          <p:cNvPr id="240" name="Line 110"/>
          <p:cNvSpPr>
            <a:spLocks noChangeShapeType="1"/>
          </p:cNvSpPr>
          <p:nvPr/>
        </p:nvSpPr>
        <p:spPr bwMode="auto">
          <a:xfrm>
            <a:off x="4191000" y="3356992"/>
            <a:ext cx="609600" cy="0"/>
          </a:xfrm>
          <a:prstGeom prst="line">
            <a:avLst/>
          </a:prstGeom>
          <a:noFill/>
          <a:ln w="6350">
            <a:solidFill>
              <a:schemeClr val="bg1">
                <a:lumMod val="65000"/>
              </a:schemeClr>
            </a:solidFill>
            <a:round/>
            <a:headEnd/>
            <a:tailEnd type="triangle" w="med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41" name="Line 111"/>
          <p:cNvSpPr>
            <a:spLocks noChangeShapeType="1"/>
          </p:cNvSpPr>
          <p:nvPr/>
        </p:nvSpPr>
        <p:spPr bwMode="auto">
          <a:xfrm>
            <a:off x="5867400" y="3356992"/>
            <a:ext cx="609600" cy="0"/>
          </a:xfrm>
          <a:prstGeom prst="line">
            <a:avLst/>
          </a:prstGeom>
          <a:noFill/>
          <a:ln w="6350">
            <a:solidFill>
              <a:schemeClr val="bg1">
                <a:lumMod val="65000"/>
              </a:schemeClr>
            </a:solidFill>
            <a:round/>
            <a:headEnd/>
            <a:tailEnd type="triangle" w="med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42" name="Line 112"/>
          <p:cNvSpPr>
            <a:spLocks noChangeShapeType="1"/>
          </p:cNvSpPr>
          <p:nvPr/>
        </p:nvSpPr>
        <p:spPr bwMode="auto">
          <a:xfrm flipH="1" flipV="1">
            <a:off x="6781800" y="2331368"/>
            <a:ext cx="0" cy="609600"/>
          </a:xfrm>
          <a:prstGeom prst="line">
            <a:avLst/>
          </a:prstGeom>
          <a:noFill/>
          <a:ln w="6350">
            <a:solidFill>
              <a:schemeClr val="bg1">
                <a:lumMod val="65000"/>
              </a:schemeClr>
            </a:solidFill>
            <a:round/>
            <a:headEnd type="triangl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43" name="Line 113"/>
          <p:cNvSpPr>
            <a:spLocks noChangeShapeType="1"/>
          </p:cNvSpPr>
          <p:nvPr/>
        </p:nvSpPr>
        <p:spPr bwMode="auto">
          <a:xfrm flipH="1" flipV="1">
            <a:off x="6781800" y="3870702"/>
            <a:ext cx="0" cy="609600"/>
          </a:xfrm>
          <a:prstGeom prst="line">
            <a:avLst/>
          </a:prstGeom>
          <a:noFill/>
          <a:ln w="6350">
            <a:solidFill>
              <a:schemeClr val="bg1">
                <a:lumMod val="65000"/>
              </a:schemeClr>
            </a:solidFill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44" name="Oval 114"/>
          <p:cNvSpPr>
            <a:spLocks noChangeArrowheads="1"/>
          </p:cNvSpPr>
          <p:nvPr/>
        </p:nvSpPr>
        <p:spPr bwMode="auto">
          <a:xfrm>
            <a:off x="3048000" y="1340768"/>
            <a:ext cx="1066800" cy="1066800"/>
          </a:xfrm>
          <a:prstGeom prst="ellipse">
            <a:avLst/>
          </a:prstGeom>
          <a:solidFill>
            <a:schemeClr val="bg1">
              <a:lumMod val="85000"/>
            </a:schemeClr>
          </a:solidFill>
          <a:ln w="28575">
            <a:solidFill>
              <a:schemeClr val="bg1">
                <a:lumMod val="65000"/>
              </a:schemeClr>
            </a:solidFill>
            <a:round/>
            <a:headEnd/>
            <a:tailEnd type="none" w="med" len="sm"/>
          </a:ln>
          <a:effectLst/>
        </p:spPr>
        <p:txBody>
          <a:bodyPr wrap="none" lIns="90000" tIns="46800" rIns="90000" bIns="46800" anchor="ctr"/>
          <a:lstStyle/>
          <a:p>
            <a:pPr algn="ctr"/>
            <a:r>
              <a:rPr lang="ko-KR" altLang="en-US" sz="1050" b="1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신규 </a:t>
            </a:r>
          </a:p>
          <a:p>
            <a:pPr algn="ctr"/>
            <a:r>
              <a:rPr lang="ko-KR" altLang="en-US" sz="1050" b="1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비즈니스</a:t>
            </a:r>
          </a:p>
          <a:p>
            <a:pPr algn="ctr"/>
            <a:r>
              <a:rPr lang="ko-KR" altLang="en-US" sz="1050" b="1">
                <a:latin typeface="나눔고딕" panose="020D0604000000000000" pitchFamily="50" charset="-127"/>
                <a:ea typeface="나눔고딕" panose="020D0604000000000000" pitchFamily="50" charset="-127"/>
              </a:rPr>
              <a:t>온라인 서비스판매</a:t>
            </a:r>
            <a:endParaRPr lang="en-US" altLang="ko-KR" sz="105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r>
              <a:rPr lang="ko-KR" altLang="en-US" sz="105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사이트</a:t>
            </a:r>
          </a:p>
        </p:txBody>
      </p:sp>
      <p:sp>
        <p:nvSpPr>
          <p:cNvPr id="245" name="Line 115"/>
          <p:cNvSpPr>
            <a:spLocks noChangeShapeType="1"/>
          </p:cNvSpPr>
          <p:nvPr/>
        </p:nvSpPr>
        <p:spPr bwMode="auto">
          <a:xfrm>
            <a:off x="4191000" y="1874168"/>
            <a:ext cx="2286000" cy="0"/>
          </a:xfrm>
          <a:prstGeom prst="line">
            <a:avLst/>
          </a:prstGeom>
          <a:noFill/>
          <a:ln w="6350">
            <a:solidFill>
              <a:schemeClr val="bg1">
                <a:lumMod val="65000"/>
              </a:schemeClr>
            </a:solidFill>
            <a:round/>
            <a:headEnd/>
            <a:tailEnd type="triangle" w="med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46" name="Line 116"/>
          <p:cNvSpPr>
            <a:spLocks noChangeShapeType="1"/>
          </p:cNvSpPr>
          <p:nvPr/>
        </p:nvSpPr>
        <p:spPr bwMode="auto">
          <a:xfrm flipH="1" flipV="1">
            <a:off x="3581400" y="2483768"/>
            <a:ext cx="0" cy="457200"/>
          </a:xfrm>
          <a:prstGeom prst="line">
            <a:avLst/>
          </a:prstGeom>
          <a:noFill/>
          <a:ln w="6350">
            <a:solidFill>
              <a:schemeClr val="bg1">
                <a:lumMod val="65000"/>
              </a:schemeClr>
            </a:solidFill>
            <a:round/>
            <a:headEnd type="triangle" w="med" len="med"/>
            <a:tailEnd type="none" w="med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47" name="Line 117"/>
          <p:cNvSpPr>
            <a:spLocks noChangeShapeType="1"/>
          </p:cNvSpPr>
          <p:nvPr/>
        </p:nvSpPr>
        <p:spPr bwMode="auto">
          <a:xfrm flipH="1" flipV="1">
            <a:off x="4114800" y="2255168"/>
            <a:ext cx="990600" cy="685800"/>
          </a:xfrm>
          <a:prstGeom prst="line">
            <a:avLst/>
          </a:prstGeom>
          <a:noFill/>
          <a:ln w="6350">
            <a:solidFill>
              <a:schemeClr val="bg1">
                <a:lumMod val="65000"/>
              </a:schemeClr>
            </a:solidFill>
            <a:round/>
            <a:headEnd type="triangle" w="med" len="med"/>
            <a:tailEnd type="none" w="med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48" name="Text Box 118"/>
          <p:cNvSpPr txBox="1">
            <a:spLocks noChangeArrowheads="1"/>
          </p:cNvSpPr>
          <p:nvPr/>
        </p:nvSpPr>
        <p:spPr bwMode="auto">
          <a:xfrm>
            <a:off x="3276600" y="3779168"/>
            <a:ext cx="14478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1"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Landing page</a:t>
            </a:r>
          </a:p>
        </p:txBody>
      </p:sp>
      <p:sp>
        <p:nvSpPr>
          <p:cNvPr id="249" name="Line 119"/>
          <p:cNvSpPr>
            <a:spLocks noChangeShapeType="1"/>
          </p:cNvSpPr>
          <p:nvPr/>
        </p:nvSpPr>
        <p:spPr bwMode="auto">
          <a:xfrm>
            <a:off x="704528" y="5975027"/>
            <a:ext cx="8591872" cy="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50" name="Text Box 120"/>
          <p:cNvSpPr txBox="1">
            <a:spLocks noChangeArrowheads="1"/>
          </p:cNvSpPr>
          <p:nvPr/>
        </p:nvSpPr>
        <p:spPr bwMode="auto">
          <a:xfrm>
            <a:off x="704528" y="6053226"/>
            <a:ext cx="8744272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kumimoji="1" lang="en" altLang="ko-KR" sz="1000">
                <a:latin typeface="나눔고딕" panose="020D0604000000000000" pitchFamily="50" charset="-127"/>
                <a:ea typeface="나눔고딕" panose="020D0604000000000000" pitchFamily="50" charset="-127"/>
              </a:rPr>
              <a:t>XXX</a:t>
            </a:r>
            <a:r>
              <a:rPr kumimoji="1" lang="ko-KR" altLang="en-US" sz="1000">
                <a:latin typeface="나눔고딕" panose="020D0604000000000000" pitchFamily="50" charset="-127"/>
                <a:ea typeface="나눔고딕" panose="020D0604000000000000" pitchFamily="50" charset="-127"/>
              </a:rPr>
              <a:t>서비스 온라인 서비스판매 </a:t>
            </a:r>
            <a:r>
              <a:rPr kumimoji="1"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사이트를 구성하고 있는 각각의 사이트는 유기적인 연계를 바탕으로 상호간에 </a:t>
            </a:r>
            <a:r>
              <a:rPr kumimoji="1"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transaction</a:t>
            </a:r>
            <a:r>
              <a:rPr kumimoji="1"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을 가지게 됩니다</a:t>
            </a:r>
            <a:r>
              <a:rPr kumimoji="1"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br>
              <a:rPr kumimoji="1"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kumimoji="1"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이를 통해 효과적인 </a:t>
            </a:r>
            <a:r>
              <a:rPr kumimoji="1"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Usability</a:t>
            </a:r>
            <a:r>
              <a:rPr kumimoji="1"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를 제공함과 동시에 </a:t>
            </a:r>
            <a:r>
              <a:rPr kumimoji="1" lang="ko-KR" altLang="en-US" sz="1000">
                <a:latin typeface="나눔고딕" panose="020D0604000000000000" pitchFamily="50" charset="-127"/>
                <a:ea typeface="나눔고딕" panose="020D0604000000000000" pitchFamily="50" charset="-127"/>
              </a:rPr>
              <a:t>개별 서비스의 </a:t>
            </a:r>
            <a:r>
              <a:rPr kumimoji="1"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진행상황에 맞춰 적절하게 </a:t>
            </a:r>
            <a:r>
              <a:rPr kumimoji="1"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Marketing</a:t>
            </a:r>
            <a:r>
              <a:rPr kumimoji="1"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을 진행할 수 있는 구조를 구축하게 됩니다</a:t>
            </a:r>
            <a:r>
              <a:rPr kumimoji="1"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</p:txBody>
      </p:sp>
      <p:sp>
        <p:nvSpPr>
          <p:cNvPr id="251" name="Text Box 121"/>
          <p:cNvSpPr txBox="1">
            <a:spLocks noChangeArrowheads="1"/>
          </p:cNvSpPr>
          <p:nvPr/>
        </p:nvSpPr>
        <p:spPr bwMode="auto">
          <a:xfrm>
            <a:off x="3276600" y="4007768"/>
            <a:ext cx="14478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1" lang="ko-KR" altLang="en-US" sz="800">
                <a:latin typeface="나눔고딕" panose="020D0604000000000000" pitchFamily="50" charset="-127"/>
                <a:ea typeface="나눔고딕" panose="020D0604000000000000" pitchFamily="50" charset="-127"/>
              </a:rPr>
              <a:t>신규 서비스의 </a:t>
            </a:r>
            <a:r>
              <a:rPr kumimoji="1"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런칭을</a:t>
            </a:r>
            <a:br>
              <a:rPr kumimoji="1"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kumimoji="1"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홍보하거나 광고효과를</a:t>
            </a:r>
            <a:endParaRPr kumimoji="1" lang="en-US" altLang="ko-KR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kumimoji="1"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기대하기 위한 페이지</a:t>
            </a:r>
          </a:p>
        </p:txBody>
      </p:sp>
      <p:sp>
        <p:nvSpPr>
          <p:cNvPr id="253" name="Text Box 123"/>
          <p:cNvSpPr txBox="1">
            <a:spLocks noChangeArrowheads="1"/>
          </p:cNvSpPr>
          <p:nvPr/>
        </p:nvSpPr>
        <p:spPr bwMode="auto">
          <a:xfrm>
            <a:off x="4876800" y="4007768"/>
            <a:ext cx="1447800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1"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사용자의</a:t>
            </a:r>
            <a:r>
              <a:rPr kumimoji="1"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kumimoji="1"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욕구에 반응하여</a:t>
            </a:r>
            <a:br>
              <a:rPr kumimoji="1"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kumimoji="1"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노출되는 페이지</a:t>
            </a:r>
          </a:p>
        </p:txBody>
      </p:sp>
      <p:sp>
        <p:nvSpPr>
          <p:cNvPr id="254" name="Text Box 124"/>
          <p:cNvSpPr txBox="1">
            <a:spLocks noChangeArrowheads="1"/>
          </p:cNvSpPr>
          <p:nvPr/>
        </p:nvSpPr>
        <p:spPr bwMode="auto">
          <a:xfrm>
            <a:off x="6781800" y="3861048"/>
            <a:ext cx="14478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1"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온라인 판매 사이트</a:t>
            </a:r>
            <a:endParaRPr kumimoji="1" lang="en-US" altLang="ko-KR" sz="1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55" name="Text Box 125"/>
          <p:cNvSpPr txBox="1">
            <a:spLocks noChangeArrowheads="1"/>
          </p:cNvSpPr>
          <p:nvPr/>
        </p:nvSpPr>
        <p:spPr bwMode="auto">
          <a:xfrm>
            <a:off x="6781799" y="4067418"/>
            <a:ext cx="2504449" cy="2154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kumimoji="1" lang="en" altLang="ko-KR" sz="800">
                <a:latin typeface="나눔고딕" panose="020D0604000000000000" pitchFamily="50" charset="-127"/>
                <a:ea typeface="나눔고딕" panose="020D0604000000000000" pitchFamily="50" charset="-127"/>
              </a:rPr>
              <a:t>XXX</a:t>
            </a:r>
            <a:r>
              <a:rPr kumimoji="1" lang="ko-KR" altLang="en-US" sz="800">
                <a:latin typeface="나눔고딕" panose="020D0604000000000000" pitchFamily="50" charset="-127"/>
                <a:ea typeface="나눔고딕" panose="020D0604000000000000" pitchFamily="50" charset="-127"/>
              </a:rPr>
              <a:t>서비스의 상품과 서비스를 </a:t>
            </a:r>
            <a:r>
              <a:rPr kumimoji="1"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제공하는 사이트</a:t>
            </a:r>
          </a:p>
        </p:txBody>
      </p:sp>
      <p:sp>
        <p:nvSpPr>
          <p:cNvPr id="256" name="Text Box 126"/>
          <p:cNvSpPr txBox="1">
            <a:spLocks noChangeArrowheads="1"/>
          </p:cNvSpPr>
          <p:nvPr/>
        </p:nvSpPr>
        <p:spPr bwMode="auto">
          <a:xfrm>
            <a:off x="6781800" y="2255168"/>
            <a:ext cx="18288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1"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SNS Page</a:t>
            </a:r>
          </a:p>
        </p:txBody>
      </p:sp>
      <p:sp>
        <p:nvSpPr>
          <p:cNvPr id="257" name="Text Box 127"/>
          <p:cNvSpPr txBox="1">
            <a:spLocks noChangeArrowheads="1"/>
          </p:cNvSpPr>
          <p:nvPr/>
        </p:nvSpPr>
        <p:spPr bwMode="auto">
          <a:xfrm>
            <a:off x="6781800" y="2483768"/>
            <a:ext cx="1627584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kumimoji="1" lang="ko-KR" altLang="en-US" sz="8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페이스북</a:t>
            </a:r>
            <a:r>
              <a:rPr kumimoji="1"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kumimoji="1" lang="ko-KR" altLang="en-US" sz="8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트위터</a:t>
            </a:r>
            <a:r>
              <a:rPr kumimoji="1"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kumimoji="1"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카카오톡 </a:t>
            </a:r>
            <a:r>
              <a:rPr kumimoji="1" lang="ko-KR" altLang="en-US" sz="800">
                <a:latin typeface="나눔고딕" panose="020D0604000000000000" pitchFamily="50" charset="-127"/>
                <a:ea typeface="나눔고딕" panose="020D0604000000000000" pitchFamily="50" charset="-127"/>
              </a:rPr>
              <a:t>등의 서비스 </a:t>
            </a:r>
            <a:r>
              <a:rPr kumimoji="1"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페이지</a:t>
            </a:r>
          </a:p>
        </p:txBody>
      </p:sp>
      <p:sp>
        <p:nvSpPr>
          <p:cNvPr id="258" name="Text Box 128"/>
          <p:cNvSpPr txBox="1">
            <a:spLocks noChangeArrowheads="1"/>
          </p:cNvSpPr>
          <p:nvPr/>
        </p:nvSpPr>
        <p:spPr bwMode="auto">
          <a:xfrm>
            <a:off x="6781800" y="5166102"/>
            <a:ext cx="20574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1"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Mobile web page</a:t>
            </a:r>
          </a:p>
        </p:txBody>
      </p:sp>
      <p:sp>
        <p:nvSpPr>
          <p:cNvPr id="259" name="Text Box 129"/>
          <p:cNvSpPr txBox="1">
            <a:spLocks noChangeArrowheads="1"/>
          </p:cNvSpPr>
          <p:nvPr/>
        </p:nvSpPr>
        <p:spPr bwMode="auto">
          <a:xfrm>
            <a:off x="6781800" y="5394702"/>
            <a:ext cx="2057400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kumimoji="1"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Mobile Device </a:t>
            </a:r>
            <a:r>
              <a:rPr kumimoji="1"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를 사용하는 사용자를</a:t>
            </a:r>
            <a:br>
              <a:rPr kumimoji="1"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kumimoji="1"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대상으로 다수의 접근을 유도하는 페이지</a:t>
            </a:r>
          </a:p>
        </p:txBody>
      </p:sp>
      <p:grpSp>
        <p:nvGrpSpPr>
          <p:cNvPr id="281" name="Group 37"/>
          <p:cNvGrpSpPr>
            <a:grpSpLocks/>
          </p:cNvGrpSpPr>
          <p:nvPr/>
        </p:nvGrpSpPr>
        <p:grpSpPr bwMode="auto">
          <a:xfrm>
            <a:off x="6698751" y="2863287"/>
            <a:ext cx="632200" cy="931346"/>
            <a:chOff x="2256" y="2942"/>
            <a:chExt cx="479" cy="866"/>
          </a:xfrm>
          <a:solidFill>
            <a:schemeClr val="accent2">
              <a:lumMod val="60000"/>
              <a:lumOff val="40000"/>
            </a:schemeClr>
          </a:solidFill>
        </p:grpSpPr>
        <p:grpSp>
          <p:nvGrpSpPr>
            <p:cNvPr id="282" name="Group 38"/>
            <p:cNvGrpSpPr>
              <a:grpSpLocks/>
            </p:cNvGrpSpPr>
            <p:nvPr/>
          </p:nvGrpSpPr>
          <p:grpSpPr bwMode="auto">
            <a:xfrm flipH="1">
              <a:off x="2256" y="2942"/>
              <a:ext cx="479" cy="866"/>
              <a:chOff x="4320" y="829"/>
              <a:chExt cx="964" cy="1317"/>
            </a:xfrm>
            <a:grpFill/>
          </p:grpSpPr>
          <p:sp>
            <p:nvSpPr>
              <p:cNvPr id="292" name="Rectangle 39"/>
              <p:cNvSpPr>
                <a:spLocks noChangeArrowheads="1"/>
              </p:cNvSpPr>
              <p:nvPr/>
            </p:nvSpPr>
            <p:spPr bwMode="auto">
              <a:xfrm>
                <a:off x="5193" y="1459"/>
                <a:ext cx="90" cy="438"/>
              </a:xfrm>
              <a:prstGeom prst="rect">
                <a:avLst/>
              </a:pr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293" name="Freeform 40"/>
              <p:cNvSpPr>
                <a:spLocks/>
              </p:cNvSpPr>
              <p:nvPr/>
            </p:nvSpPr>
            <p:spPr bwMode="auto">
              <a:xfrm rot="21540000">
                <a:off x="4321" y="829"/>
                <a:ext cx="963" cy="438"/>
              </a:xfrm>
              <a:custGeom>
                <a:avLst/>
                <a:gdLst>
                  <a:gd name="T0" fmla="*/ 0 w 963"/>
                  <a:gd name="T1" fmla="*/ 12 h 318"/>
                  <a:gd name="T2" fmla="*/ 870 w 963"/>
                  <a:gd name="T3" fmla="*/ 318 h 318"/>
                  <a:gd name="T4" fmla="*/ 963 w 963"/>
                  <a:gd name="T5" fmla="*/ 315 h 318"/>
                  <a:gd name="T6" fmla="*/ 78 w 963"/>
                  <a:gd name="T7" fmla="*/ 0 h 318"/>
                  <a:gd name="T8" fmla="*/ 0 w 963"/>
                  <a:gd name="T9" fmla="*/ 12 h 3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63" h="318">
                    <a:moveTo>
                      <a:pt x="0" y="12"/>
                    </a:moveTo>
                    <a:lnTo>
                      <a:pt x="870" y="318"/>
                    </a:lnTo>
                    <a:lnTo>
                      <a:pt x="963" y="315"/>
                    </a:lnTo>
                    <a:lnTo>
                      <a:pt x="78" y="0"/>
                    </a:lnTo>
                    <a:lnTo>
                      <a:pt x="0" y="12"/>
                    </a:lnTo>
                    <a:close/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905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grpSp>
            <p:nvGrpSpPr>
              <p:cNvPr id="294" name="Group 41"/>
              <p:cNvGrpSpPr>
                <a:grpSpLocks/>
              </p:cNvGrpSpPr>
              <p:nvPr/>
            </p:nvGrpSpPr>
            <p:grpSpPr bwMode="auto">
              <a:xfrm>
                <a:off x="4322" y="905"/>
                <a:ext cx="871" cy="1238"/>
                <a:chOff x="4176" y="936"/>
                <a:chExt cx="719" cy="1022"/>
              </a:xfrm>
              <a:grpFill/>
            </p:grpSpPr>
            <p:sp>
              <p:nvSpPr>
                <p:cNvPr id="300" name="AutoShape 42"/>
                <p:cNvSpPr>
                  <a:spLocks noChangeArrowheads="1"/>
                </p:cNvSpPr>
                <p:nvPr/>
              </p:nvSpPr>
              <p:spPr bwMode="auto">
                <a:xfrm rot="16200000">
                  <a:off x="4025" y="1087"/>
                  <a:ext cx="1022" cy="719"/>
                </a:xfrm>
                <a:prstGeom prst="parallelogram">
                  <a:avLst>
                    <a:gd name="adj" fmla="val 35535"/>
                  </a:avLst>
                </a:prstGeom>
                <a:grp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ko-KR" altLang="en-US">
                    <a:latin typeface="나눔고딕" panose="020D0604000000000000" pitchFamily="50" charset="-127"/>
                    <a:ea typeface="나눔고딕" panose="020D0604000000000000" pitchFamily="50" charset="-127"/>
                  </a:endParaRPr>
                </a:p>
              </p:txBody>
            </p:sp>
            <p:sp>
              <p:nvSpPr>
                <p:cNvPr id="301" name="Line 43"/>
                <p:cNvSpPr>
                  <a:spLocks noChangeShapeType="1"/>
                </p:cNvSpPr>
                <p:nvPr/>
              </p:nvSpPr>
              <p:spPr bwMode="auto">
                <a:xfrm>
                  <a:off x="4176" y="1001"/>
                  <a:ext cx="718" cy="250"/>
                </a:xfrm>
                <a:prstGeom prst="line">
                  <a:avLst/>
                </a:prstGeom>
                <a:grp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ko-KR" altLang="en-US">
                    <a:latin typeface="나눔고딕" panose="020D0604000000000000" pitchFamily="50" charset="-127"/>
                    <a:ea typeface="나눔고딕" panose="020D0604000000000000" pitchFamily="50" charset="-127"/>
                  </a:endParaRPr>
                </a:p>
              </p:txBody>
            </p:sp>
          </p:grpSp>
          <p:sp>
            <p:nvSpPr>
              <p:cNvPr id="295" name="Line 44"/>
              <p:cNvSpPr>
                <a:spLocks noChangeShapeType="1"/>
              </p:cNvSpPr>
              <p:nvPr/>
            </p:nvSpPr>
            <p:spPr bwMode="auto">
              <a:xfrm>
                <a:off x="5192" y="2143"/>
                <a:ext cx="92" cy="0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296" name="Line 45"/>
              <p:cNvSpPr>
                <a:spLocks noChangeShapeType="1"/>
              </p:cNvSpPr>
              <p:nvPr/>
            </p:nvSpPr>
            <p:spPr bwMode="auto">
              <a:xfrm>
                <a:off x="5192" y="1211"/>
                <a:ext cx="92" cy="0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297" name="Line 46"/>
              <p:cNvSpPr>
                <a:spLocks noChangeShapeType="1"/>
              </p:cNvSpPr>
              <p:nvPr/>
            </p:nvSpPr>
            <p:spPr bwMode="auto">
              <a:xfrm flipV="1">
                <a:off x="5281" y="1208"/>
                <a:ext cx="0" cy="938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298" name="Line 47"/>
              <p:cNvSpPr>
                <a:spLocks noChangeShapeType="1"/>
              </p:cNvSpPr>
              <p:nvPr/>
            </p:nvSpPr>
            <p:spPr bwMode="auto">
              <a:xfrm>
                <a:off x="4320" y="897"/>
                <a:ext cx="92" cy="0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299" name="Line 48"/>
              <p:cNvSpPr>
                <a:spLocks noChangeShapeType="1"/>
              </p:cNvSpPr>
              <p:nvPr/>
            </p:nvSpPr>
            <p:spPr bwMode="auto">
              <a:xfrm>
                <a:off x="4412" y="897"/>
                <a:ext cx="868" cy="309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p:grpSp>
        <p:sp>
          <p:nvSpPr>
            <p:cNvPr id="283" name="Freeform 49"/>
            <p:cNvSpPr>
              <a:spLocks/>
            </p:cNvSpPr>
            <p:nvPr/>
          </p:nvSpPr>
          <p:spPr bwMode="auto">
            <a:xfrm>
              <a:off x="2329" y="3096"/>
              <a:ext cx="380" cy="247"/>
            </a:xfrm>
            <a:custGeom>
              <a:avLst/>
              <a:gdLst>
                <a:gd name="T0" fmla="*/ 0 w 614"/>
                <a:gd name="T1" fmla="*/ 240 h 336"/>
                <a:gd name="T2" fmla="*/ 0 w 614"/>
                <a:gd name="T3" fmla="*/ 336 h 336"/>
                <a:gd name="T4" fmla="*/ 614 w 614"/>
                <a:gd name="T5" fmla="*/ 84 h 336"/>
                <a:gd name="T6" fmla="*/ 614 w 614"/>
                <a:gd name="T7" fmla="*/ 0 h 336"/>
                <a:gd name="T8" fmla="*/ 0 w 614"/>
                <a:gd name="T9" fmla="*/ 240 h 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4" h="336">
                  <a:moveTo>
                    <a:pt x="0" y="240"/>
                  </a:moveTo>
                  <a:lnTo>
                    <a:pt x="0" y="336"/>
                  </a:lnTo>
                  <a:lnTo>
                    <a:pt x="614" y="84"/>
                  </a:lnTo>
                  <a:lnTo>
                    <a:pt x="614" y="0"/>
                  </a:lnTo>
                  <a:lnTo>
                    <a:pt x="0" y="240"/>
                  </a:lnTo>
                  <a:close/>
                </a:path>
              </a:pathLst>
            </a:custGeom>
            <a:grpFill/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sm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84" name="Line 50"/>
            <p:cNvSpPr>
              <a:spLocks noChangeShapeType="1"/>
            </p:cNvSpPr>
            <p:nvPr/>
          </p:nvSpPr>
          <p:spPr bwMode="auto">
            <a:xfrm>
              <a:off x="2452" y="3318"/>
              <a:ext cx="0" cy="388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 type="none" w="sm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85" name="Line 51"/>
            <p:cNvSpPr>
              <a:spLocks noChangeShapeType="1"/>
            </p:cNvSpPr>
            <p:nvPr/>
          </p:nvSpPr>
          <p:spPr bwMode="auto">
            <a:xfrm flipV="1">
              <a:off x="2332" y="3336"/>
              <a:ext cx="93" cy="45"/>
            </a:xfrm>
            <a:prstGeom prst="line">
              <a:avLst/>
            </a:prstGeom>
            <a:grpFill/>
            <a:ln w="19050">
              <a:solidFill>
                <a:schemeClr val="bg2"/>
              </a:solidFill>
              <a:round/>
              <a:headEnd/>
              <a:tailEnd type="none" w="sm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86" name="Line 52"/>
            <p:cNvSpPr>
              <a:spLocks noChangeShapeType="1"/>
            </p:cNvSpPr>
            <p:nvPr/>
          </p:nvSpPr>
          <p:spPr bwMode="auto">
            <a:xfrm flipV="1">
              <a:off x="2332" y="3367"/>
              <a:ext cx="93" cy="45"/>
            </a:xfrm>
            <a:prstGeom prst="line">
              <a:avLst/>
            </a:prstGeom>
            <a:grpFill/>
            <a:ln w="19050">
              <a:solidFill>
                <a:schemeClr val="bg2"/>
              </a:solidFill>
              <a:round/>
              <a:headEnd/>
              <a:tailEnd type="none" w="sm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87" name="Line 53"/>
            <p:cNvSpPr>
              <a:spLocks noChangeShapeType="1"/>
            </p:cNvSpPr>
            <p:nvPr/>
          </p:nvSpPr>
          <p:spPr bwMode="auto">
            <a:xfrm flipV="1">
              <a:off x="2332" y="3400"/>
              <a:ext cx="93" cy="46"/>
            </a:xfrm>
            <a:prstGeom prst="line">
              <a:avLst/>
            </a:prstGeom>
            <a:grpFill/>
            <a:ln w="19050">
              <a:solidFill>
                <a:schemeClr val="bg2"/>
              </a:solidFill>
              <a:round/>
              <a:headEnd/>
              <a:tailEnd type="none" w="sm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88" name="Line 54"/>
            <p:cNvSpPr>
              <a:spLocks noChangeShapeType="1"/>
            </p:cNvSpPr>
            <p:nvPr/>
          </p:nvSpPr>
          <p:spPr bwMode="auto">
            <a:xfrm flipV="1">
              <a:off x="2332" y="3434"/>
              <a:ext cx="93" cy="46"/>
            </a:xfrm>
            <a:prstGeom prst="line">
              <a:avLst/>
            </a:prstGeom>
            <a:grpFill/>
            <a:ln w="19050">
              <a:solidFill>
                <a:schemeClr val="bg2"/>
              </a:solidFill>
              <a:round/>
              <a:headEnd/>
              <a:tailEnd type="none" w="sm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89" name="Line 55"/>
            <p:cNvSpPr>
              <a:spLocks noChangeShapeType="1"/>
            </p:cNvSpPr>
            <p:nvPr/>
          </p:nvSpPr>
          <p:spPr bwMode="auto">
            <a:xfrm flipV="1">
              <a:off x="2332" y="3469"/>
              <a:ext cx="93" cy="46"/>
            </a:xfrm>
            <a:prstGeom prst="line">
              <a:avLst/>
            </a:prstGeom>
            <a:grpFill/>
            <a:ln w="19050">
              <a:solidFill>
                <a:schemeClr val="bg2"/>
              </a:solidFill>
              <a:round/>
              <a:headEnd/>
              <a:tailEnd type="none" w="sm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90" name="Freeform 56"/>
            <p:cNvSpPr>
              <a:spLocks/>
            </p:cNvSpPr>
            <p:nvPr/>
          </p:nvSpPr>
          <p:spPr bwMode="auto">
            <a:xfrm>
              <a:off x="2475" y="3197"/>
              <a:ext cx="232" cy="268"/>
            </a:xfrm>
            <a:custGeom>
              <a:avLst/>
              <a:gdLst>
                <a:gd name="T0" fmla="*/ 379 w 379"/>
                <a:gd name="T1" fmla="*/ 0 h 365"/>
                <a:gd name="T2" fmla="*/ 379 w 379"/>
                <a:gd name="T3" fmla="*/ 195 h 365"/>
                <a:gd name="T4" fmla="*/ 0 w 379"/>
                <a:gd name="T5" fmla="*/ 365 h 365"/>
                <a:gd name="T6" fmla="*/ 0 w 379"/>
                <a:gd name="T7" fmla="*/ 155 h 365"/>
                <a:gd name="T8" fmla="*/ 379 w 379"/>
                <a:gd name="T9" fmla="*/ 0 h 3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9" h="365">
                  <a:moveTo>
                    <a:pt x="379" y="0"/>
                  </a:moveTo>
                  <a:lnTo>
                    <a:pt x="379" y="195"/>
                  </a:lnTo>
                  <a:lnTo>
                    <a:pt x="0" y="365"/>
                  </a:lnTo>
                  <a:lnTo>
                    <a:pt x="0" y="155"/>
                  </a:lnTo>
                  <a:lnTo>
                    <a:pt x="379" y="0"/>
                  </a:lnTo>
                  <a:close/>
                </a:path>
              </a:pathLst>
            </a:custGeom>
            <a:grpFill/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sm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91" name="Freeform 57"/>
            <p:cNvSpPr>
              <a:spLocks/>
            </p:cNvSpPr>
            <p:nvPr/>
          </p:nvSpPr>
          <p:spPr bwMode="auto">
            <a:xfrm>
              <a:off x="2475" y="3380"/>
              <a:ext cx="232" cy="268"/>
            </a:xfrm>
            <a:custGeom>
              <a:avLst/>
              <a:gdLst>
                <a:gd name="T0" fmla="*/ 379 w 379"/>
                <a:gd name="T1" fmla="*/ 0 h 365"/>
                <a:gd name="T2" fmla="*/ 379 w 379"/>
                <a:gd name="T3" fmla="*/ 195 h 365"/>
                <a:gd name="T4" fmla="*/ 0 w 379"/>
                <a:gd name="T5" fmla="*/ 365 h 365"/>
                <a:gd name="T6" fmla="*/ 0 w 379"/>
                <a:gd name="T7" fmla="*/ 155 h 365"/>
                <a:gd name="T8" fmla="*/ 379 w 379"/>
                <a:gd name="T9" fmla="*/ 0 h 3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9" h="365">
                  <a:moveTo>
                    <a:pt x="379" y="0"/>
                  </a:moveTo>
                  <a:lnTo>
                    <a:pt x="379" y="195"/>
                  </a:lnTo>
                  <a:lnTo>
                    <a:pt x="0" y="365"/>
                  </a:lnTo>
                  <a:lnTo>
                    <a:pt x="0" y="155"/>
                  </a:lnTo>
                  <a:lnTo>
                    <a:pt x="379" y="0"/>
                  </a:lnTo>
                  <a:close/>
                </a:path>
              </a:pathLst>
            </a:custGeom>
            <a:grpFill/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sm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sp>
        <p:nvSpPr>
          <p:cNvPr id="304" name="TextBox 303"/>
          <p:cNvSpPr txBox="1"/>
          <p:nvPr/>
        </p:nvSpPr>
        <p:spPr>
          <a:xfrm>
            <a:off x="488504" y="991762"/>
            <a:ext cx="8928992" cy="307777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en-US" altLang="ko-KR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Site linkage action flow</a:t>
            </a:r>
          </a:p>
        </p:txBody>
      </p:sp>
      <p:sp>
        <p:nvSpPr>
          <p:cNvPr id="148" name="오른쪽 화살표 147"/>
          <p:cNvSpPr/>
          <p:nvPr/>
        </p:nvSpPr>
        <p:spPr>
          <a:xfrm>
            <a:off x="2277534" y="3099452"/>
            <a:ext cx="947274" cy="771250"/>
          </a:xfrm>
          <a:prstGeom prst="rightArrow">
            <a:avLst/>
          </a:prstGeom>
          <a:gradFill>
            <a:gsLst>
              <a:gs pos="0">
                <a:schemeClr val="bg1">
                  <a:lumMod val="65000"/>
                </a:schemeClr>
              </a:gs>
              <a:gs pos="100000">
                <a:schemeClr val="bg1"/>
              </a:gs>
            </a:gsLst>
            <a:lin ang="10800000" scaled="0"/>
          </a:gra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0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4514469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Line 382"/>
          <p:cNvSpPr>
            <a:spLocks noChangeShapeType="1"/>
          </p:cNvSpPr>
          <p:nvPr/>
        </p:nvSpPr>
        <p:spPr bwMode="auto">
          <a:xfrm flipV="1">
            <a:off x="3426828" y="4495800"/>
            <a:ext cx="0" cy="76200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 type="none" w="med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44017" y="91339"/>
            <a:ext cx="7401271" cy="385333"/>
          </a:xfrm>
          <a:prstGeom prst="rect">
            <a:avLst/>
          </a:prstGeom>
          <a:noFill/>
        </p:spPr>
        <p:txBody>
          <a:bodyPr wrap="square" lIns="0" tIns="53643" rIns="0" bIns="53643" rtlCol="0">
            <a:spAutoFit/>
          </a:bodyPr>
          <a:lstStyle/>
          <a:p>
            <a:r>
              <a:rPr kumimoji="1" lang="en-US" altLang="ko-KR" b="1" kern="0" dirty="0">
                <a:latin typeface="나눔고딕" panose="020D0604000000000000" pitchFamily="50" charset="-127"/>
                <a:ea typeface="나눔고딕" panose="020D0604000000000000" pitchFamily="50" charset="-127"/>
                <a:cs typeface="산돌고딕 M"/>
              </a:rPr>
              <a:t>Information architecture</a:t>
            </a:r>
            <a:endParaRPr kumimoji="1" lang="ko-KR" altLang="en-US" b="1" kern="0" dirty="0">
              <a:latin typeface="나눔고딕" panose="020D0604000000000000" pitchFamily="50" charset="-127"/>
              <a:ea typeface="나눔고딕" panose="020D0604000000000000" pitchFamily="50" charset="-127"/>
              <a:cs typeface="산돌고딕 M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44017" y="683985"/>
            <a:ext cx="96335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페이지 타입 정의</a:t>
            </a:r>
            <a:endParaRPr lang="en-US" altLang="ko-KR" sz="14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04" name="TextBox 303"/>
          <p:cNvSpPr txBox="1"/>
          <p:nvPr/>
        </p:nvSpPr>
        <p:spPr>
          <a:xfrm>
            <a:off x="488504" y="991762"/>
            <a:ext cx="9001000" cy="523220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Information Architecture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를 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Layer System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에서 활용하기 위해 각 페이지의 성격에 따라 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Main(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온라인 판매사이트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), Policy, Landing page, , Mobile web page, Contents 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등의 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Page Type 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을 규정합니다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57" name="Rectangle 7"/>
          <p:cNvSpPr>
            <a:spLocks noChangeArrowheads="1"/>
          </p:cNvSpPr>
          <p:nvPr/>
        </p:nvSpPr>
        <p:spPr bwMode="auto">
          <a:xfrm>
            <a:off x="1874838" y="1628800"/>
            <a:ext cx="2346325" cy="26035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3175">
                <a:solidFill>
                  <a:srgbClr val="C0C0C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1" lang="en-US" altLang="ko-KR" sz="11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A Type - Main</a:t>
            </a:r>
          </a:p>
        </p:txBody>
      </p:sp>
      <p:sp>
        <p:nvSpPr>
          <p:cNvPr id="223" name="Line 14"/>
          <p:cNvSpPr>
            <a:spLocks noChangeShapeType="1"/>
          </p:cNvSpPr>
          <p:nvPr/>
        </p:nvSpPr>
        <p:spPr bwMode="auto">
          <a:xfrm>
            <a:off x="1066800" y="3092450"/>
            <a:ext cx="8686800" cy="0"/>
          </a:xfrm>
          <a:prstGeom prst="line">
            <a:avLst/>
          </a:prstGeom>
          <a:noFill/>
          <a:ln w="6350">
            <a:solidFill>
              <a:schemeClr val="tx1"/>
            </a:solidFill>
            <a:prstDash val="sysDot"/>
            <a:round/>
            <a:headEnd/>
            <a:tailEnd type="none" w="med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24" name="Line 15"/>
          <p:cNvSpPr>
            <a:spLocks noChangeShapeType="1"/>
          </p:cNvSpPr>
          <p:nvPr/>
        </p:nvSpPr>
        <p:spPr bwMode="auto">
          <a:xfrm>
            <a:off x="1066800" y="4616450"/>
            <a:ext cx="8763000" cy="0"/>
          </a:xfrm>
          <a:prstGeom prst="line">
            <a:avLst/>
          </a:prstGeom>
          <a:noFill/>
          <a:ln w="6350">
            <a:solidFill>
              <a:schemeClr val="tx1"/>
            </a:solidFill>
            <a:prstDash val="sysDot"/>
            <a:round/>
            <a:headEnd/>
            <a:tailEnd type="none" w="med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pSp>
        <p:nvGrpSpPr>
          <p:cNvPr id="227" name="Group 19"/>
          <p:cNvGrpSpPr>
            <a:grpSpLocks/>
          </p:cNvGrpSpPr>
          <p:nvPr/>
        </p:nvGrpSpPr>
        <p:grpSpPr bwMode="auto">
          <a:xfrm>
            <a:off x="1066800" y="3172371"/>
            <a:ext cx="600075" cy="921790"/>
            <a:chOff x="2256" y="2905"/>
            <a:chExt cx="479" cy="903"/>
          </a:xfrm>
        </p:grpSpPr>
        <p:grpSp>
          <p:nvGrpSpPr>
            <p:cNvPr id="228" name="Group 20"/>
            <p:cNvGrpSpPr>
              <a:grpSpLocks/>
            </p:cNvGrpSpPr>
            <p:nvPr/>
          </p:nvGrpSpPr>
          <p:grpSpPr bwMode="auto">
            <a:xfrm flipH="1">
              <a:off x="2256" y="2905"/>
              <a:ext cx="479" cy="903"/>
              <a:chOff x="4320" y="773"/>
              <a:chExt cx="964" cy="1373"/>
            </a:xfrm>
          </p:grpSpPr>
          <p:sp>
            <p:nvSpPr>
              <p:cNvPr id="238" name="Rectangle 21"/>
              <p:cNvSpPr>
                <a:spLocks noChangeArrowheads="1"/>
              </p:cNvSpPr>
              <p:nvPr/>
            </p:nvSpPr>
            <p:spPr bwMode="auto">
              <a:xfrm>
                <a:off x="5193" y="1402"/>
                <a:ext cx="90" cy="550"/>
              </a:xfrm>
              <a:prstGeom prst="rect">
                <a:avLst/>
              </a:prstGeom>
              <a:solidFill>
                <a:srgbClr val="D4D28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239" name="Freeform 22"/>
              <p:cNvSpPr>
                <a:spLocks/>
              </p:cNvSpPr>
              <p:nvPr/>
            </p:nvSpPr>
            <p:spPr bwMode="auto">
              <a:xfrm rot="21540000">
                <a:off x="4321" y="773"/>
                <a:ext cx="963" cy="550"/>
              </a:xfrm>
              <a:custGeom>
                <a:avLst/>
                <a:gdLst>
                  <a:gd name="T0" fmla="*/ 0 w 963"/>
                  <a:gd name="T1" fmla="*/ 12 h 318"/>
                  <a:gd name="T2" fmla="*/ 870 w 963"/>
                  <a:gd name="T3" fmla="*/ 318 h 318"/>
                  <a:gd name="T4" fmla="*/ 963 w 963"/>
                  <a:gd name="T5" fmla="*/ 315 h 318"/>
                  <a:gd name="T6" fmla="*/ 78 w 963"/>
                  <a:gd name="T7" fmla="*/ 0 h 318"/>
                  <a:gd name="T8" fmla="*/ 0 w 963"/>
                  <a:gd name="T9" fmla="*/ 12 h 3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63" h="318">
                    <a:moveTo>
                      <a:pt x="0" y="12"/>
                    </a:moveTo>
                    <a:lnTo>
                      <a:pt x="870" y="318"/>
                    </a:lnTo>
                    <a:lnTo>
                      <a:pt x="963" y="315"/>
                    </a:lnTo>
                    <a:lnTo>
                      <a:pt x="78" y="0"/>
                    </a:lnTo>
                    <a:lnTo>
                      <a:pt x="0" y="12"/>
                    </a:lnTo>
                    <a:close/>
                  </a:path>
                </a:pathLst>
              </a:custGeom>
              <a:solidFill>
                <a:srgbClr val="D4D28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905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grpSp>
            <p:nvGrpSpPr>
              <p:cNvPr id="260" name="Group 23"/>
              <p:cNvGrpSpPr>
                <a:grpSpLocks/>
              </p:cNvGrpSpPr>
              <p:nvPr/>
            </p:nvGrpSpPr>
            <p:grpSpPr bwMode="auto">
              <a:xfrm>
                <a:off x="4322" y="905"/>
                <a:ext cx="871" cy="1238"/>
                <a:chOff x="4176" y="936"/>
                <a:chExt cx="719" cy="1022"/>
              </a:xfrm>
            </p:grpSpPr>
            <p:sp>
              <p:nvSpPr>
                <p:cNvPr id="266" name="AutoShape 24"/>
                <p:cNvSpPr>
                  <a:spLocks noChangeArrowheads="1"/>
                </p:cNvSpPr>
                <p:nvPr/>
              </p:nvSpPr>
              <p:spPr bwMode="auto">
                <a:xfrm rot="16200000">
                  <a:off x="4025" y="1087"/>
                  <a:ext cx="1022" cy="719"/>
                </a:xfrm>
                <a:prstGeom prst="parallelogram">
                  <a:avLst>
                    <a:gd name="adj" fmla="val 35535"/>
                  </a:avLst>
                </a:prstGeom>
                <a:solidFill>
                  <a:srgbClr val="D4D282"/>
                </a:solidFill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ko-KR" altLang="en-US">
                    <a:latin typeface="나눔고딕" panose="020D0604000000000000" pitchFamily="50" charset="-127"/>
                    <a:ea typeface="나눔고딕" panose="020D0604000000000000" pitchFamily="50" charset="-127"/>
                  </a:endParaRPr>
                </a:p>
              </p:txBody>
            </p:sp>
            <p:sp>
              <p:nvSpPr>
                <p:cNvPr id="267" name="Line 25"/>
                <p:cNvSpPr>
                  <a:spLocks noChangeShapeType="1"/>
                </p:cNvSpPr>
                <p:nvPr/>
              </p:nvSpPr>
              <p:spPr bwMode="auto">
                <a:xfrm>
                  <a:off x="4176" y="1001"/>
                  <a:ext cx="718" cy="25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ko-KR" altLang="en-US">
                    <a:latin typeface="나눔고딕" panose="020D0604000000000000" pitchFamily="50" charset="-127"/>
                    <a:ea typeface="나눔고딕" panose="020D0604000000000000" pitchFamily="50" charset="-127"/>
                  </a:endParaRPr>
                </a:p>
              </p:txBody>
            </p:sp>
          </p:grpSp>
          <p:sp>
            <p:nvSpPr>
              <p:cNvPr id="261" name="Line 26"/>
              <p:cNvSpPr>
                <a:spLocks noChangeShapeType="1"/>
              </p:cNvSpPr>
              <p:nvPr/>
            </p:nvSpPr>
            <p:spPr bwMode="auto">
              <a:xfrm>
                <a:off x="5192" y="2143"/>
                <a:ext cx="9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262" name="Line 27"/>
              <p:cNvSpPr>
                <a:spLocks noChangeShapeType="1"/>
              </p:cNvSpPr>
              <p:nvPr/>
            </p:nvSpPr>
            <p:spPr bwMode="auto">
              <a:xfrm>
                <a:off x="5192" y="1211"/>
                <a:ext cx="9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263" name="Line 28"/>
              <p:cNvSpPr>
                <a:spLocks noChangeShapeType="1"/>
              </p:cNvSpPr>
              <p:nvPr/>
            </p:nvSpPr>
            <p:spPr bwMode="auto">
              <a:xfrm flipV="1">
                <a:off x="5281" y="1208"/>
                <a:ext cx="0" cy="938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264" name="Line 29"/>
              <p:cNvSpPr>
                <a:spLocks noChangeShapeType="1"/>
              </p:cNvSpPr>
              <p:nvPr/>
            </p:nvSpPr>
            <p:spPr bwMode="auto">
              <a:xfrm>
                <a:off x="4320" y="897"/>
                <a:ext cx="9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265" name="Line 30"/>
              <p:cNvSpPr>
                <a:spLocks noChangeShapeType="1"/>
              </p:cNvSpPr>
              <p:nvPr/>
            </p:nvSpPr>
            <p:spPr bwMode="auto">
              <a:xfrm>
                <a:off x="4412" y="897"/>
                <a:ext cx="868" cy="309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p:grpSp>
        <p:sp>
          <p:nvSpPr>
            <p:cNvPr id="229" name="Freeform 31"/>
            <p:cNvSpPr>
              <a:spLocks/>
            </p:cNvSpPr>
            <p:nvPr/>
          </p:nvSpPr>
          <p:spPr bwMode="auto">
            <a:xfrm>
              <a:off x="2329" y="3096"/>
              <a:ext cx="380" cy="247"/>
            </a:xfrm>
            <a:custGeom>
              <a:avLst/>
              <a:gdLst>
                <a:gd name="T0" fmla="*/ 0 w 614"/>
                <a:gd name="T1" fmla="*/ 240 h 336"/>
                <a:gd name="T2" fmla="*/ 0 w 614"/>
                <a:gd name="T3" fmla="*/ 336 h 336"/>
                <a:gd name="T4" fmla="*/ 614 w 614"/>
                <a:gd name="T5" fmla="*/ 84 h 336"/>
                <a:gd name="T6" fmla="*/ 614 w 614"/>
                <a:gd name="T7" fmla="*/ 0 h 336"/>
                <a:gd name="T8" fmla="*/ 0 w 614"/>
                <a:gd name="T9" fmla="*/ 240 h 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4" h="336">
                  <a:moveTo>
                    <a:pt x="0" y="240"/>
                  </a:moveTo>
                  <a:lnTo>
                    <a:pt x="0" y="336"/>
                  </a:lnTo>
                  <a:lnTo>
                    <a:pt x="614" y="84"/>
                  </a:lnTo>
                  <a:lnTo>
                    <a:pt x="614" y="0"/>
                  </a:lnTo>
                  <a:lnTo>
                    <a:pt x="0" y="240"/>
                  </a:lnTo>
                  <a:close/>
                </a:path>
              </a:pathLst>
            </a:custGeom>
            <a:solidFill>
              <a:srgbClr val="D4D282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sm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30" name="Line 32"/>
            <p:cNvSpPr>
              <a:spLocks noChangeShapeType="1"/>
            </p:cNvSpPr>
            <p:nvPr/>
          </p:nvSpPr>
          <p:spPr bwMode="auto">
            <a:xfrm>
              <a:off x="2452" y="3318"/>
              <a:ext cx="0" cy="3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31" name="Line 33"/>
            <p:cNvSpPr>
              <a:spLocks noChangeShapeType="1"/>
            </p:cNvSpPr>
            <p:nvPr/>
          </p:nvSpPr>
          <p:spPr bwMode="auto">
            <a:xfrm flipV="1">
              <a:off x="2332" y="3336"/>
              <a:ext cx="93" cy="45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/>
              <a:tailEnd type="non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32" name="Line 34"/>
            <p:cNvSpPr>
              <a:spLocks noChangeShapeType="1"/>
            </p:cNvSpPr>
            <p:nvPr/>
          </p:nvSpPr>
          <p:spPr bwMode="auto">
            <a:xfrm flipV="1">
              <a:off x="2332" y="3367"/>
              <a:ext cx="93" cy="45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/>
              <a:tailEnd type="non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33" name="Line 35"/>
            <p:cNvSpPr>
              <a:spLocks noChangeShapeType="1"/>
            </p:cNvSpPr>
            <p:nvPr/>
          </p:nvSpPr>
          <p:spPr bwMode="auto">
            <a:xfrm flipV="1">
              <a:off x="2332" y="3400"/>
              <a:ext cx="93" cy="46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/>
              <a:tailEnd type="non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34" name="Line 36"/>
            <p:cNvSpPr>
              <a:spLocks noChangeShapeType="1"/>
            </p:cNvSpPr>
            <p:nvPr/>
          </p:nvSpPr>
          <p:spPr bwMode="auto">
            <a:xfrm flipV="1">
              <a:off x="2332" y="3434"/>
              <a:ext cx="93" cy="46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/>
              <a:tailEnd type="non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35" name="Line 37"/>
            <p:cNvSpPr>
              <a:spLocks noChangeShapeType="1"/>
            </p:cNvSpPr>
            <p:nvPr/>
          </p:nvSpPr>
          <p:spPr bwMode="auto">
            <a:xfrm flipV="1">
              <a:off x="2332" y="3469"/>
              <a:ext cx="93" cy="46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/>
              <a:tailEnd type="non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36" name="Freeform 38"/>
            <p:cNvSpPr>
              <a:spLocks/>
            </p:cNvSpPr>
            <p:nvPr/>
          </p:nvSpPr>
          <p:spPr bwMode="auto">
            <a:xfrm>
              <a:off x="2475" y="3197"/>
              <a:ext cx="232" cy="268"/>
            </a:xfrm>
            <a:custGeom>
              <a:avLst/>
              <a:gdLst>
                <a:gd name="T0" fmla="*/ 379 w 379"/>
                <a:gd name="T1" fmla="*/ 0 h 365"/>
                <a:gd name="T2" fmla="*/ 379 w 379"/>
                <a:gd name="T3" fmla="*/ 195 h 365"/>
                <a:gd name="T4" fmla="*/ 0 w 379"/>
                <a:gd name="T5" fmla="*/ 365 h 365"/>
                <a:gd name="T6" fmla="*/ 0 w 379"/>
                <a:gd name="T7" fmla="*/ 155 h 365"/>
                <a:gd name="T8" fmla="*/ 379 w 379"/>
                <a:gd name="T9" fmla="*/ 0 h 3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9" h="365">
                  <a:moveTo>
                    <a:pt x="379" y="0"/>
                  </a:moveTo>
                  <a:lnTo>
                    <a:pt x="379" y="195"/>
                  </a:lnTo>
                  <a:lnTo>
                    <a:pt x="0" y="365"/>
                  </a:lnTo>
                  <a:lnTo>
                    <a:pt x="0" y="155"/>
                  </a:lnTo>
                  <a:lnTo>
                    <a:pt x="379" y="0"/>
                  </a:lnTo>
                  <a:close/>
                </a:path>
              </a:pathLst>
            </a:custGeom>
            <a:solidFill>
              <a:srgbClr val="D4D282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sm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37" name="Freeform 39"/>
            <p:cNvSpPr>
              <a:spLocks/>
            </p:cNvSpPr>
            <p:nvPr/>
          </p:nvSpPr>
          <p:spPr bwMode="auto">
            <a:xfrm>
              <a:off x="2475" y="3380"/>
              <a:ext cx="232" cy="268"/>
            </a:xfrm>
            <a:custGeom>
              <a:avLst/>
              <a:gdLst>
                <a:gd name="T0" fmla="*/ 379 w 379"/>
                <a:gd name="T1" fmla="*/ 0 h 365"/>
                <a:gd name="T2" fmla="*/ 379 w 379"/>
                <a:gd name="T3" fmla="*/ 195 h 365"/>
                <a:gd name="T4" fmla="*/ 0 w 379"/>
                <a:gd name="T5" fmla="*/ 365 h 365"/>
                <a:gd name="T6" fmla="*/ 0 w 379"/>
                <a:gd name="T7" fmla="*/ 155 h 365"/>
                <a:gd name="T8" fmla="*/ 379 w 379"/>
                <a:gd name="T9" fmla="*/ 0 h 3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9" h="365">
                  <a:moveTo>
                    <a:pt x="379" y="0"/>
                  </a:moveTo>
                  <a:lnTo>
                    <a:pt x="379" y="195"/>
                  </a:lnTo>
                  <a:lnTo>
                    <a:pt x="0" y="365"/>
                  </a:lnTo>
                  <a:lnTo>
                    <a:pt x="0" y="155"/>
                  </a:lnTo>
                  <a:lnTo>
                    <a:pt x="379" y="0"/>
                  </a:lnTo>
                  <a:close/>
                </a:path>
              </a:pathLst>
            </a:custGeom>
            <a:solidFill>
              <a:srgbClr val="D4D282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sm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grpSp>
        <p:nvGrpSpPr>
          <p:cNvPr id="268" name="Group 40"/>
          <p:cNvGrpSpPr>
            <a:grpSpLocks/>
          </p:cNvGrpSpPr>
          <p:nvPr/>
        </p:nvGrpSpPr>
        <p:grpSpPr bwMode="auto">
          <a:xfrm>
            <a:off x="1914525" y="3172371"/>
            <a:ext cx="600075" cy="921790"/>
            <a:chOff x="2256" y="2905"/>
            <a:chExt cx="479" cy="903"/>
          </a:xfrm>
        </p:grpSpPr>
        <p:grpSp>
          <p:nvGrpSpPr>
            <p:cNvPr id="269" name="Group 41"/>
            <p:cNvGrpSpPr>
              <a:grpSpLocks/>
            </p:cNvGrpSpPr>
            <p:nvPr/>
          </p:nvGrpSpPr>
          <p:grpSpPr bwMode="auto">
            <a:xfrm flipH="1">
              <a:off x="2256" y="2905"/>
              <a:ext cx="479" cy="903"/>
              <a:chOff x="4320" y="773"/>
              <a:chExt cx="964" cy="1373"/>
            </a:xfrm>
          </p:grpSpPr>
          <p:sp>
            <p:nvSpPr>
              <p:cNvPr id="279" name="Rectangle 42"/>
              <p:cNvSpPr>
                <a:spLocks noChangeArrowheads="1"/>
              </p:cNvSpPr>
              <p:nvPr/>
            </p:nvSpPr>
            <p:spPr bwMode="auto">
              <a:xfrm>
                <a:off x="5193" y="1402"/>
                <a:ext cx="90" cy="550"/>
              </a:xfrm>
              <a:prstGeom prst="rect">
                <a:avLst/>
              </a:prstGeom>
              <a:solidFill>
                <a:srgbClr val="D4D28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280" name="Freeform 43"/>
              <p:cNvSpPr>
                <a:spLocks/>
              </p:cNvSpPr>
              <p:nvPr/>
            </p:nvSpPr>
            <p:spPr bwMode="auto">
              <a:xfrm rot="21540000">
                <a:off x="4321" y="773"/>
                <a:ext cx="963" cy="550"/>
              </a:xfrm>
              <a:custGeom>
                <a:avLst/>
                <a:gdLst>
                  <a:gd name="T0" fmla="*/ 0 w 963"/>
                  <a:gd name="T1" fmla="*/ 12 h 318"/>
                  <a:gd name="T2" fmla="*/ 870 w 963"/>
                  <a:gd name="T3" fmla="*/ 318 h 318"/>
                  <a:gd name="T4" fmla="*/ 963 w 963"/>
                  <a:gd name="T5" fmla="*/ 315 h 318"/>
                  <a:gd name="T6" fmla="*/ 78 w 963"/>
                  <a:gd name="T7" fmla="*/ 0 h 318"/>
                  <a:gd name="T8" fmla="*/ 0 w 963"/>
                  <a:gd name="T9" fmla="*/ 12 h 3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63" h="318">
                    <a:moveTo>
                      <a:pt x="0" y="12"/>
                    </a:moveTo>
                    <a:lnTo>
                      <a:pt x="870" y="318"/>
                    </a:lnTo>
                    <a:lnTo>
                      <a:pt x="963" y="315"/>
                    </a:lnTo>
                    <a:lnTo>
                      <a:pt x="78" y="0"/>
                    </a:lnTo>
                    <a:lnTo>
                      <a:pt x="0" y="12"/>
                    </a:lnTo>
                    <a:close/>
                  </a:path>
                </a:pathLst>
              </a:custGeom>
              <a:solidFill>
                <a:srgbClr val="D4D28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905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grpSp>
            <p:nvGrpSpPr>
              <p:cNvPr id="302" name="Group 44"/>
              <p:cNvGrpSpPr>
                <a:grpSpLocks/>
              </p:cNvGrpSpPr>
              <p:nvPr/>
            </p:nvGrpSpPr>
            <p:grpSpPr bwMode="auto">
              <a:xfrm>
                <a:off x="4322" y="905"/>
                <a:ext cx="871" cy="1238"/>
                <a:chOff x="4176" y="936"/>
                <a:chExt cx="719" cy="1022"/>
              </a:xfrm>
            </p:grpSpPr>
            <p:sp>
              <p:nvSpPr>
                <p:cNvPr id="309" name="AutoShape 45"/>
                <p:cNvSpPr>
                  <a:spLocks noChangeArrowheads="1"/>
                </p:cNvSpPr>
                <p:nvPr/>
              </p:nvSpPr>
              <p:spPr bwMode="auto">
                <a:xfrm rot="16200000">
                  <a:off x="4025" y="1087"/>
                  <a:ext cx="1022" cy="719"/>
                </a:xfrm>
                <a:prstGeom prst="parallelogram">
                  <a:avLst>
                    <a:gd name="adj" fmla="val 35535"/>
                  </a:avLst>
                </a:prstGeom>
                <a:solidFill>
                  <a:srgbClr val="D4D282"/>
                </a:solidFill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ko-KR" altLang="en-US">
                    <a:latin typeface="나눔고딕" panose="020D0604000000000000" pitchFamily="50" charset="-127"/>
                    <a:ea typeface="나눔고딕" panose="020D0604000000000000" pitchFamily="50" charset="-127"/>
                  </a:endParaRPr>
                </a:p>
              </p:txBody>
            </p:sp>
            <p:sp>
              <p:nvSpPr>
                <p:cNvPr id="310" name="Line 46"/>
                <p:cNvSpPr>
                  <a:spLocks noChangeShapeType="1"/>
                </p:cNvSpPr>
                <p:nvPr/>
              </p:nvSpPr>
              <p:spPr bwMode="auto">
                <a:xfrm>
                  <a:off x="4176" y="1001"/>
                  <a:ext cx="718" cy="25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ko-KR" altLang="en-US">
                    <a:latin typeface="나눔고딕" panose="020D0604000000000000" pitchFamily="50" charset="-127"/>
                    <a:ea typeface="나눔고딕" panose="020D0604000000000000" pitchFamily="50" charset="-127"/>
                  </a:endParaRPr>
                </a:p>
              </p:txBody>
            </p:sp>
          </p:grpSp>
          <p:sp>
            <p:nvSpPr>
              <p:cNvPr id="303" name="Line 47"/>
              <p:cNvSpPr>
                <a:spLocks noChangeShapeType="1"/>
              </p:cNvSpPr>
              <p:nvPr/>
            </p:nvSpPr>
            <p:spPr bwMode="auto">
              <a:xfrm>
                <a:off x="5192" y="2143"/>
                <a:ext cx="9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305" name="Line 48"/>
              <p:cNvSpPr>
                <a:spLocks noChangeShapeType="1"/>
              </p:cNvSpPr>
              <p:nvPr/>
            </p:nvSpPr>
            <p:spPr bwMode="auto">
              <a:xfrm>
                <a:off x="5192" y="1211"/>
                <a:ext cx="9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306" name="Line 49"/>
              <p:cNvSpPr>
                <a:spLocks noChangeShapeType="1"/>
              </p:cNvSpPr>
              <p:nvPr/>
            </p:nvSpPr>
            <p:spPr bwMode="auto">
              <a:xfrm flipV="1">
                <a:off x="5281" y="1208"/>
                <a:ext cx="0" cy="938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307" name="Line 50"/>
              <p:cNvSpPr>
                <a:spLocks noChangeShapeType="1"/>
              </p:cNvSpPr>
              <p:nvPr/>
            </p:nvSpPr>
            <p:spPr bwMode="auto">
              <a:xfrm>
                <a:off x="4320" y="897"/>
                <a:ext cx="9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308" name="Line 51"/>
              <p:cNvSpPr>
                <a:spLocks noChangeShapeType="1"/>
              </p:cNvSpPr>
              <p:nvPr/>
            </p:nvSpPr>
            <p:spPr bwMode="auto">
              <a:xfrm>
                <a:off x="4412" y="897"/>
                <a:ext cx="868" cy="309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p:grpSp>
        <p:sp>
          <p:nvSpPr>
            <p:cNvPr id="270" name="Freeform 52"/>
            <p:cNvSpPr>
              <a:spLocks/>
            </p:cNvSpPr>
            <p:nvPr/>
          </p:nvSpPr>
          <p:spPr bwMode="auto">
            <a:xfrm>
              <a:off x="2329" y="3096"/>
              <a:ext cx="380" cy="247"/>
            </a:xfrm>
            <a:custGeom>
              <a:avLst/>
              <a:gdLst>
                <a:gd name="T0" fmla="*/ 0 w 614"/>
                <a:gd name="T1" fmla="*/ 240 h 336"/>
                <a:gd name="T2" fmla="*/ 0 w 614"/>
                <a:gd name="T3" fmla="*/ 336 h 336"/>
                <a:gd name="T4" fmla="*/ 614 w 614"/>
                <a:gd name="T5" fmla="*/ 84 h 336"/>
                <a:gd name="T6" fmla="*/ 614 w 614"/>
                <a:gd name="T7" fmla="*/ 0 h 336"/>
                <a:gd name="T8" fmla="*/ 0 w 614"/>
                <a:gd name="T9" fmla="*/ 240 h 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4" h="336">
                  <a:moveTo>
                    <a:pt x="0" y="240"/>
                  </a:moveTo>
                  <a:lnTo>
                    <a:pt x="0" y="336"/>
                  </a:lnTo>
                  <a:lnTo>
                    <a:pt x="614" y="84"/>
                  </a:lnTo>
                  <a:lnTo>
                    <a:pt x="614" y="0"/>
                  </a:lnTo>
                  <a:lnTo>
                    <a:pt x="0" y="240"/>
                  </a:lnTo>
                  <a:close/>
                </a:path>
              </a:pathLst>
            </a:custGeom>
            <a:solidFill>
              <a:srgbClr val="D4D282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sm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71" name="Line 53"/>
            <p:cNvSpPr>
              <a:spLocks noChangeShapeType="1"/>
            </p:cNvSpPr>
            <p:nvPr/>
          </p:nvSpPr>
          <p:spPr bwMode="auto">
            <a:xfrm>
              <a:off x="2452" y="3318"/>
              <a:ext cx="0" cy="3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72" name="Line 54"/>
            <p:cNvSpPr>
              <a:spLocks noChangeShapeType="1"/>
            </p:cNvSpPr>
            <p:nvPr/>
          </p:nvSpPr>
          <p:spPr bwMode="auto">
            <a:xfrm flipV="1">
              <a:off x="2332" y="3336"/>
              <a:ext cx="93" cy="45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/>
              <a:tailEnd type="non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73" name="Line 55"/>
            <p:cNvSpPr>
              <a:spLocks noChangeShapeType="1"/>
            </p:cNvSpPr>
            <p:nvPr/>
          </p:nvSpPr>
          <p:spPr bwMode="auto">
            <a:xfrm flipV="1">
              <a:off x="2332" y="3367"/>
              <a:ext cx="93" cy="45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/>
              <a:tailEnd type="non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74" name="Line 56"/>
            <p:cNvSpPr>
              <a:spLocks noChangeShapeType="1"/>
            </p:cNvSpPr>
            <p:nvPr/>
          </p:nvSpPr>
          <p:spPr bwMode="auto">
            <a:xfrm flipV="1">
              <a:off x="2332" y="3400"/>
              <a:ext cx="93" cy="46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/>
              <a:tailEnd type="non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75" name="Line 57"/>
            <p:cNvSpPr>
              <a:spLocks noChangeShapeType="1"/>
            </p:cNvSpPr>
            <p:nvPr/>
          </p:nvSpPr>
          <p:spPr bwMode="auto">
            <a:xfrm flipV="1">
              <a:off x="2332" y="3434"/>
              <a:ext cx="93" cy="46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/>
              <a:tailEnd type="non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76" name="Line 58"/>
            <p:cNvSpPr>
              <a:spLocks noChangeShapeType="1"/>
            </p:cNvSpPr>
            <p:nvPr/>
          </p:nvSpPr>
          <p:spPr bwMode="auto">
            <a:xfrm flipV="1">
              <a:off x="2332" y="3469"/>
              <a:ext cx="93" cy="46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/>
              <a:tailEnd type="non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77" name="Freeform 59"/>
            <p:cNvSpPr>
              <a:spLocks/>
            </p:cNvSpPr>
            <p:nvPr/>
          </p:nvSpPr>
          <p:spPr bwMode="auto">
            <a:xfrm>
              <a:off x="2475" y="3197"/>
              <a:ext cx="232" cy="268"/>
            </a:xfrm>
            <a:custGeom>
              <a:avLst/>
              <a:gdLst>
                <a:gd name="T0" fmla="*/ 379 w 379"/>
                <a:gd name="T1" fmla="*/ 0 h 365"/>
                <a:gd name="T2" fmla="*/ 379 w 379"/>
                <a:gd name="T3" fmla="*/ 195 h 365"/>
                <a:gd name="T4" fmla="*/ 0 w 379"/>
                <a:gd name="T5" fmla="*/ 365 h 365"/>
                <a:gd name="T6" fmla="*/ 0 w 379"/>
                <a:gd name="T7" fmla="*/ 155 h 365"/>
                <a:gd name="T8" fmla="*/ 379 w 379"/>
                <a:gd name="T9" fmla="*/ 0 h 3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9" h="365">
                  <a:moveTo>
                    <a:pt x="379" y="0"/>
                  </a:moveTo>
                  <a:lnTo>
                    <a:pt x="379" y="195"/>
                  </a:lnTo>
                  <a:lnTo>
                    <a:pt x="0" y="365"/>
                  </a:lnTo>
                  <a:lnTo>
                    <a:pt x="0" y="155"/>
                  </a:lnTo>
                  <a:lnTo>
                    <a:pt x="379" y="0"/>
                  </a:lnTo>
                  <a:close/>
                </a:path>
              </a:pathLst>
            </a:custGeom>
            <a:solidFill>
              <a:srgbClr val="D4D282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sm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78" name="Freeform 60"/>
            <p:cNvSpPr>
              <a:spLocks/>
            </p:cNvSpPr>
            <p:nvPr/>
          </p:nvSpPr>
          <p:spPr bwMode="auto">
            <a:xfrm>
              <a:off x="2475" y="3380"/>
              <a:ext cx="232" cy="268"/>
            </a:xfrm>
            <a:custGeom>
              <a:avLst/>
              <a:gdLst>
                <a:gd name="T0" fmla="*/ 379 w 379"/>
                <a:gd name="T1" fmla="*/ 0 h 365"/>
                <a:gd name="T2" fmla="*/ 379 w 379"/>
                <a:gd name="T3" fmla="*/ 195 h 365"/>
                <a:gd name="T4" fmla="*/ 0 w 379"/>
                <a:gd name="T5" fmla="*/ 365 h 365"/>
                <a:gd name="T6" fmla="*/ 0 w 379"/>
                <a:gd name="T7" fmla="*/ 155 h 365"/>
                <a:gd name="T8" fmla="*/ 379 w 379"/>
                <a:gd name="T9" fmla="*/ 0 h 3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9" h="365">
                  <a:moveTo>
                    <a:pt x="379" y="0"/>
                  </a:moveTo>
                  <a:lnTo>
                    <a:pt x="379" y="195"/>
                  </a:lnTo>
                  <a:lnTo>
                    <a:pt x="0" y="365"/>
                  </a:lnTo>
                  <a:lnTo>
                    <a:pt x="0" y="155"/>
                  </a:lnTo>
                  <a:lnTo>
                    <a:pt x="379" y="0"/>
                  </a:lnTo>
                  <a:close/>
                </a:path>
              </a:pathLst>
            </a:custGeom>
            <a:solidFill>
              <a:srgbClr val="D4D282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sm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grpSp>
        <p:nvGrpSpPr>
          <p:cNvPr id="311" name="Group 61"/>
          <p:cNvGrpSpPr>
            <a:grpSpLocks/>
          </p:cNvGrpSpPr>
          <p:nvPr/>
        </p:nvGrpSpPr>
        <p:grpSpPr bwMode="auto">
          <a:xfrm>
            <a:off x="7914857" y="3172371"/>
            <a:ext cx="600075" cy="921790"/>
            <a:chOff x="2256" y="2905"/>
            <a:chExt cx="479" cy="903"/>
          </a:xfrm>
        </p:grpSpPr>
        <p:grpSp>
          <p:nvGrpSpPr>
            <p:cNvPr id="312" name="Group 62"/>
            <p:cNvGrpSpPr>
              <a:grpSpLocks/>
            </p:cNvGrpSpPr>
            <p:nvPr/>
          </p:nvGrpSpPr>
          <p:grpSpPr bwMode="auto">
            <a:xfrm flipH="1">
              <a:off x="2256" y="2905"/>
              <a:ext cx="479" cy="903"/>
              <a:chOff x="4320" y="773"/>
              <a:chExt cx="964" cy="1373"/>
            </a:xfrm>
          </p:grpSpPr>
          <p:sp>
            <p:nvSpPr>
              <p:cNvPr id="322" name="Rectangle 63"/>
              <p:cNvSpPr>
                <a:spLocks noChangeArrowheads="1"/>
              </p:cNvSpPr>
              <p:nvPr/>
            </p:nvSpPr>
            <p:spPr bwMode="auto">
              <a:xfrm>
                <a:off x="5193" y="1402"/>
                <a:ext cx="90" cy="550"/>
              </a:xfrm>
              <a:prstGeom prst="rect">
                <a:avLst/>
              </a:prstGeom>
              <a:solidFill>
                <a:srgbClr val="99CC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323" name="Freeform 64"/>
              <p:cNvSpPr>
                <a:spLocks/>
              </p:cNvSpPr>
              <p:nvPr/>
            </p:nvSpPr>
            <p:spPr bwMode="auto">
              <a:xfrm rot="21540000">
                <a:off x="4321" y="773"/>
                <a:ext cx="963" cy="550"/>
              </a:xfrm>
              <a:custGeom>
                <a:avLst/>
                <a:gdLst>
                  <a:gd name="T0" fmla="*/ 0 w 963"/>
                  <a:gd name="T1" fmla="*/ 12 h 318"/>
                  <a:gd name="T2" fmla="*/ 870 w 963"/>
                  <a:gd name="T3" fmla="*/ 318 h 318"/>
                  <a:gd name="T4" fmla="*/ 963 w 963"/>
                  <a:gd name="T5" fmla="*/ 315 h 318"/>
                  <a:gd name="T6" fmla="*/ 78 w 963"/>
                  <a:gd name="T7" fmla="*/ 0 h 318"/>
                  <a:gd name="T8" fmla="*/ 0 w 963"/>
                  <a:gd name="T9" fmla="*/ 12 h 3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63" h="318">
                    <a:moveTo>
                      <a:pt x="0" y="12"/>
                    </a:moveTo>
                    <a:lnTo>
                      <a:pt x="870" y="318"/>
                    </a:lnTo>
                    <a:lnTo>
                      <a:pt x="963" y="315"/>
                    </a:lnTo>
                    <a:lnTo>
                      <a:pt x="78" y="0"/>
                    </a:lnTo>
                    <a:lnTo>
                      <a:pt x="0" y="12"/>
                    </a:lnTo>
                    <a:close/>
                  </a:path>
                </a:pathLst>
              </a:custGeom>
              <a:solidFill>
                <a:srgbClr val="99CC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905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grpSp>
            <p:nvGrpSpPr>
              <p:cNvPr id="324" name="Group 65"/>
              <p:cNvGrpSpPr>
                <a:grpSpLocks/>
              </p:cNvGrpSpPr>
              <p:nvPr/>
            </p:nvGrpSpPr>
            <p:grpSpPr bwMode="auto">
              <a:xfrm>
                <a:off x="4322" y="905"/>
                <a:ext cx="871" cy="1238"/>
                <a:chOff x="4176" y="936"/>
                <a:chExt cx="719" cy="1022"/>
              </a:xfrm>
            </p:grpSpPr>
            <p:sp>
              <p:nvSpPr>
                <p:cNvPr id="330" name="AutoShape 66"/>
                <p:cNvSpPr>
                  <a:spLocks noChangeArrowheads="1"/>
                </p:cNvSpPr>
                <p:nvPr/>
              </p:nvSpPr>
              <p:spPr bwMode="auto">
                <a:xfrm rot="16200000">
                  <a:off x="4025" y="1087"/>
                  <a:ext cx="1022" cy="719"/>
                </a:xfrm>
                <a:prstGeom prst="parallelogram">
                  <a:avLst>
                    <a:gd name="adj" fmla="val 35535"/>
                  </a:avLst>
                </a:prstGeom>
                <a:solidFill>
                  <a:srgbClr val="99CC00"/>
                </a:solidFill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ko-KR" altLang="en-US">
                    <a:latin typeface="나눔고딕" panose="020D0604000000000000" pitchFamily="50" charset="-127"/>
                    <a:ea typeface="나눔고딕" panose="020D0604000000000000" pitchFamily="50" charset="-127"/>
                  </a:endParaRPr>
                </a:p>
              </p:txBody>
            </p:sp>
            <p:sp>
              <p:nvSpPr>
                <p:cNvPr id="331" name="Line 67"/>
                <p:cNvSpPr>
                  <a:spLocks noChangeShapeType="1"/>
                </p:cNvSpPr>
                <p:nvPr/>
              </p:nvSpPr>
              <p:spPr bwMode="auto">
                <a:xfrm>
                  <a:off x="4176" y="1001"/>
                  <a:ext cx="718" cy="25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ko-KR" altLang="en-US">
                    <a:latin typeface="나눔고딕" panose="020D0604000000000000" pitchFamily="50" charset="-127"/>
                    <a:ea typeface="나눔고딕" panose="020D0604000000000000" pitchFamily="50" charset="-127"/>
                  </a:endParaRPr>
                </a:p>
              </p:txBody>
            </p:sp>
          </p:grpSp>
          <p:sp>
            <p:nvSpPr>
              <p:cNvPr id="325" name="Line 68"/>
              <p:cNvSpPr>
                <a:spLocks noChangeShapeType="1"/>
              </p:cNvSpPr>
              <p:nvPr/>
            </p:nvSpPr>
            <p:spPr bwMode="auto">
              <a:xfrm>
                <a:off x="5192" y="2143"/>
                <a:ext cx="9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326" name="Line 69"/>
              <p:cNvSpPr>
                <a:spLocks noChangeShapeType="1"/>
              </p:cNvSpPr>
              <p:nvPr/>
            </p:nvSpPr>
            <p:spPr bwMode="auto">
              <a:xfrm>
                <a:off x="5192" y="1211"/>
                <a:ext cx="9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327" name="Line 70"/>
              <p:cNvSpPr>
                <a:spLocks noChangeShapeType="1"/>
              </p:cNvSpPr>
              <p:nvPr/>
            </p:nvSpPr>
            <p:spPr bwMode="auto">
              <a:xfrm flipV="1">
                <a:off x="5281" y="1208"/>
                <a:ext cx="0" cy="938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328" name="Line 71"/>
              <p:cNvSpPr>
                <a:spLocks noChangeShapeType="1"/>
              </p:cNvSpPr>
              <p:nvPr/>
            </p:nvSpPr>
            <p:spPr bwMode="auto">
              <a:xfrm>
                <a:off x="4320" y="897"/>
                <a:ext cx="9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329" name="Line 72"/>
              <p:cNvSpPr>
                <a:spLocks noChangeShapeType="1"/>
              </p:cNvSpPr>
              <p:nvPr/>
            </p:nvSpPr>
            <p:spPr bwMode="auto">
              <a:xfrm>
                <a:off x="4412" y="897"/>
                <a:ext cx="868" cy="309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p:grpSp>
        <p:sp>
          <p:nvSpPr>
            <p:cNvPr id="313" name="Freeform 73"/>
            <p:cNvSpPr>
              <a:spLocks/>
            </p:cNvSpPr>
            <p:nvPr/>
          </p:nvSpPr>
          <p:spPr bwMode="auto">
            <a:xfrm>
              <a:off x="2329" y="3096"/>
              <a:ext cx="380" cy="247"/>
            </a:xfrm>
            <a:custGeom>
              <a:avLst/>
              <a:gdLst>
                <a:gd name="T0" fmla="*/ 0 w 614"/>
                <a:gd name="T1" fmla="*/ 240 h 336"/>
                <a:gd name="T2" fmla="*/ 0 w 614"/>
                <a:gd name="T3" fmla="*/ 336 h 336"/>
                <a:gd name="T4" fmla="*/ 614 w 614"/>
                <a:gd name="T5" fmla="*/ 84 h 336"/>
                <a:gd name="T6" fmla="*/ 614 w 614"/>
                <a:gd name="T7" fmla="*/ 0 h 336"/>
                <a:gd name="T8" fmla="*/ 0 w 614"/>
                <a:gd name="T9" fmla="*/ 240 h 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4" h="336">
                  <a:moveTo>
                    <a:pt x="0" y="240"/>
                  </a:moveTo>
                  <a:lnTo>
                    <a:pt x="0" y="336"/>
                  </a:lnTo>
                  <a:lnTo>
                    <a:pt x="614" y="84"/>
                  </a:lnTo>
                  <a:lnTo>
                    <a:pt x="614" y="0"/>
                  </a:lnTo>
                  <a:lnTo>
                    <a:pt x="0" y="240"/>
                  </a:lnTo>
                  <a:close/>
                </a:path>
              </a:pathLst>
            </a:custGeom>
            <a:solidFill>
              <a:srgbClr val="99CC00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sm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314" name="Line 74"/>
            <p:cNvSpPr>
              <a:spLocks noChangeShapeType="1"/>
            </p:cNvSpPr>
            <p:nvPr/>
          </p:nvSpPr>
          <p:spPr bwMode="auto">
            <a:xfrm>
              <a:off x="2452" y="3318"/>
              <a:ext cx="0" cy="3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315" name="Line 75"/>
            <p:cNvSpPr>
              <a:spLocks noChangeShapeType="1"/>
            </p:cNvSpPr>
            <p:nvPr/>
          </p:nvSpPr>
          <p:spPr bwMode="auto">
            <a:xfrm flipV="1">
              <a:off x="2332" y="3336"/>
              <a:ext cx="93" cy="45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/>
              <a:tailEnd type="non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316" name="Line 76"/>
            <p:cNvSpPr>
              <a:spLocks noChangeShapeType="1"/>
            </p:cNvSpPr>
            <p:nvPr/>
          </p:nvSpPr>
          <p:spPr bwMode="auto">
            <a:xfrm flipV="1">
              <a:off x="2332" y="3367"/>
              <a:ext cx="93" cy="45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/>
              <a:tailEnd type="non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317" name="Line 77"/>
            <p:cNvSpPr>
              <a:spLocks noChangeShapeType="1"/>
            </p:cNvSpPr>
            <p:nvPr/>
          </p:nvSpPr>
          <p:spPr bwMode="auto">
            <a:xfrm flipV="1">
              <a:off x="2332" y="3400"/>
              <a:ext cx="93" cy="46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/>
              <a:tailEnd type="non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318" name="Line 78"/>
            <p:cNvSpPr>
              <a:spLocks noChangeShapeType="1"/>
            </p:cNvSpPr>
            <p:nvPr/>
          </p:nvSpPr>
          <p:spPr bwMode="auto">
            <a:xfrm flipV="1">
              <a:off x="2332" y="3434"/>
              <a:ext cx="93" cy="46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/>
              <a:tailEnd type="non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319" name="Line 79"/>
            <p:cNvSpPr>
              <a:spLocks noChangeShapeType="1"/>
            </p:cNvSpPr>
            <p:nvPr/>
          </p:nvSpPr>
          <p:spPr bwMode="auto">
            <a:xfrm flipV="1">
              <a:off x="2332" y="3469"/>
              <a:ext cx="93" cy="46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/>
              <a:tailEnd type="non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320" name="Freeform 80"/>
            <p:cNvSpPr>
              <a:spLocks/>
            </p:cNvSpPr>
            <p:nvPr/>
          </p:nvSpPr>
          <p:spPr bwMode="auto">
            <a:xfrm>
              <a:off x="2475" y="3197"/>
              <a:ext cx="232" cy="268"/>
            </a:xfrm>
            <a:custGeom>
              <a:avLst/>
              <a:gdLst>
                <a:gd name="T0" fmla="*/ 379 w 379"/>
                <a:gd name="T1" fmla="*/ 0 h 365"/>
                <a:gd name="T2" fmla="*/ 379 w 379"/>
                <a:gd name="T3" fmla="*/ 195 h 365"/>
                <a:gd name="T4" fmla="*/ 0 w 379"/>
                <a:gd name="T5" fmla="*/ 365 h 365"/>
                <a:gd name="T6" fmla="*/ 0 w 379"/>
                <a:gd name="T7" fmla="*/ 155 h 365"/>
                <a:gd name="T8" fmla="*/ 379 w 379"/>
                <a:gd name="T9" fmla="*/ 0 h 3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9" h="365">
                  <a:moveTo>
                    <a:pt x="379" y="0"/>
                  </a:moveTo>
                  <a:lnTo>
                    <a:pt x="379" y="195"/>
                  </a:lnTo>
                  <a:lnTo>
                    <a:pt x="0" y="365"/>
                  </a:lnTo>
                  <a:lnTo>
                    <a:pt x="0" y="155"/>
                  </a:lnTo>
                  <a:lnTo>
                    <a:pt x="379" y="0"/>
                  </a:lnTo>
                  <a:close/>
                </a:path>
              </a:pathLst>
            </a:custGeom>
            <a:solidFill>
              <a:srgbClr val="99CC00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sm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321" name="Freeform 81"/>
            <p:cNvSpPr>
              <a:spLocks/>
            </p:cNvSpPr>
            <p:nvPr/>
          </p:nvSpPr>
          <p:spPr bwMode="auto">
            <a:xfrm>
              <a:off x="2475" y="3380"/>
              <a:ext cx="232" cy="268"/>
            </a:xfrm>
            <a:custGeom>
              <a:avLst/>
              <a:gdLst>
                <a:gd name="T0" fmla="*/ 379 w 379"/>
                <a:gd name="T1" fmla="*/ 0 h 365"/>
                <a:gd name="T2" fmla="*/ 379 w 379"/>
                <a:gd name="T3" fmla="*/ 195 h 365"/>
                <a:gd name="T4" fmla="*/ 0 w 379"/>
                <a:gd name="T5" fmla="*/ 365 h 365"/>
                <a:gd name="T6" fmla="*/ 0 w 379"/>
                <a:gd name="T7" fmla="*/ 155 h 365"/>
                <a:gd name="T8" fmla="*/ 379 w 379"/>
                <a:gd name="T9" fmla="*/ 0 h 3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9" h="365">
                  <a:moveTo>
                    <a:pt x="379" y="0"/>
                  </a:moveTo>
                  <a:lnTo>
                    <a:pt x="379" y="195"/>
                  </a:lnTo>
                  <a:lnTo>
                    <a:pt x="0" y="365"/>
                  </a:lnTo>
                  <a:lnTo>
                    <a:pt x="0" y="155"/>
                  </a:lnTo>
                  <a:lnTo>
                    <a:pt x="379" y="0"/>
                  </a:lnTo>
                  <a:close/>
                </a:path>
              </a:pathLst>
            </a:custGeom>
            <a:solidFill>
              <a:srgbClr val="99CC00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sm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grpSp>
        <p:nvGrpSpPr>
          <p:cNvPr id="395" name="Group 145"/>
          <p:cNvGrpSpPr>
            <a:grpSpLocks/>
          </p:cNvGrpSpPr>
          <p:nvPr/>
        </p:nvGrpSpPr>
        <p:grpSpPr bwMode="auto">
          <a:xfrm>
            <a:off x="2743200" y="3172371"/>
            <a:ext cx="600075" cy="921790"/>
            <a:chOff x="2256" y="2905"/>
            <a:chExt cx="479" cy="903"/>
          </a:xfrm>
        </p:grpSpPr>
        <p:grpSp>
          <p:nvGrpSpPr>
            <p:cNvPr id="396" name="Group 146"/>
            <p:cNvGrpSpPr>
              <a:grpSpLocks/>
            </p:cNvGrpSpPr>
            <p:nvPr/>
          </p:nvGrpSpPr>
          <p:grpSpPr bwMode="auto">
            <a:xfrm flipH="1">
              <a:off x="2256" y="2905"/>
              <a:ext cx="479" cy="903"/>
              <a:chOff x="4320" y="773"/>
              <a:chExt cx="964" cy="1373"/>
            </a:xfrm>
          </p:grpSpPr>
          <p:sp>
            <p:nvSpPr>
              <p:cNvPr id="406" name="Rectangle 147"/>
              <p:cNvSpPr>
                <a:spLocks noChangeArrowheads="1"/>
              </p:cNvSpPr>
              <p:nvPr/>
            </p:nvSpPr>
            <p:spPr bwMode="auto">
              <a:xfrm>
                <a:off x="5193" y="1402"/>
                <a:ext cx="90" cy="550"/>
              </a:xfrm>
              <a:prstGeom prst="rect">
                <a:avLst/>
              </a:prstGeom>
              <a:solidFill>
                <a:srgbClr val="D4D28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407" name="Freeform 148"/>
              <p:cNvSpPr>
                <a:spLocks/>
              </p:cNvSpPr>
              <p:nvPr/>
            </p:nvSpPr>
            <p:spPr bwMode="auto">
              <a:xfrm rot="21540000">
                <a:off x="4321" y="773"/>
                <a:ext cx="963" cy="550"/>
              </a:xfrm>
              <a:custGeom>
                <a:avLst/>
                <a:gdLst>
                  <a:gd name="T0" fmla="*/ 0 w 963"/>
                  <a:gd name="T1" fmla="*/ 12 h 318"/>
                  <a:gd name="T2" fmla="*/ 870 w 963"/>
                  <a:gd name="T3" fmla="*/ 318 h 318"/>
                  <a:gd name="T4" fmla="*/ 963 w 963"/>
                  <a:gd name="T5" fmla="*/ 315 h 318"/>
                  <a:gd name="T6" fmla="*/ 78 w 963"/>
                  <a:gd name="T7" fmla="*/ 0 h 318"/>
                  <a:gd name="T8" fmla="*/ 0 w 963"/>
                  <a:gd name="T9" fmla="*/ 12 h 3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63" h="318">
                    <a:moveTo>
                      <a:pt x="0" y="12"/>
                    </a:moveTo>
                    <a:lnTo>
                      <a:pt x="870" y="318"/>
                    </a:lnTo>
                    <a:lnTo>
                      <a:pt x="963" y="315"/>
                    </a:lnTo>
                    <a:lnTo>
                      <a:pt x="78" y="0"/>
                    </a:lnTo>
                    <a:lnTo>
                      <a:pt x="0" y="12"/>
                    </a:lnTo>
                    <a:close/>
                  </a:path>
                </a:pathLst>
              </a:custGeom>
              <a:solidFill>
                <a:srgbClr val="D4D28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905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grpSp>
            <p:nvGrpSpPr>
              <p:cNvPr id="408" name="Group 149"/>
              <p:cNvGrpSpPr>
                <a:grpSpLocks/>
              </p:cNvGrpSpPr>
              <p:nvPr/>
            </p:nvGrpSpPr>
            <p:grpSpPr bwMode="auto">
              <a:xfrm>
                <a:off x="4322" y="905"/>
                <a:ext cx="871" cy="1238"/>
                <a:chOff x="4176" y="936"/>
                <a:chExt cx="719" cy="1022"/>
              </a:xfrm>
            </p:grpSpPr>
            <p:sp>
              <p:nvSpPr>
                <p:cNvPr id="414" name="AutoShape 150"/>
                <p:cNvSpPr>
                  <a:spLocks noChangeArrowheads="1"/>
                </p:cNvSpPr>
                <p:nvPr/>
              </p:nvSpPr>
              <p:spPr bwMode="auto">
                <a:xfrm rot="16200000">
                  <a:off x="4025" y="1087"/>
                  <a:ext cx="1022" cy="719"/>
                </a:xfrm>
                <a:prstGeom prst="parallelogram">
                  <a:avLst>
                    <a:gd name="adj" fmla="val 35535"/>
                  </a:avLst>
                </a:prstGeom>
                <a:solidFill>
                  <a:srgbClr val="D4D282"/>
                </a:solidFill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ko-KR" altLang="en-US">
                    <a:latin typeface="나눔고딕" panose="020D0604000000000000" pitchFamily="50" charset="-127"/>
                    <a:ea typeface="나눔고딕" panose="020D0604000000000000" pitchFamily="50" charset="-127"/>
                  </a:endParaRPr>
                </a:p>
              </p:txBody>
            </p:sp>
            <p:sp>
              <p:nvSpPr>
                <p:cNvPr id="415" name="Line 151"/>
                <p:cNvSpPr>
                  <a:spLocks noChangeShapeType="1"/>
                </p:cNvSpPr>
                <p:nvPr/>
              </p:nvSpPr>
              <p:spPr bwMode="auto">
                <a:xfrm>
                  <a:off x="4176" y="1001"/>
                  <a:ext cx="718" cy="25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ko-KR" altLang="en-US">
                    <a:latin typeface="나눔고딕" panose="020D0604000000000000" pitchFamily="50" charset="-127"/>
                    <a:ea typeface="나눔고딕" panose="020D0604000000000000" pitchFamily="50" charset="-127"/>
                  </a:endParaRPr>
                </a:p>
              </p:txBody>
            </p:sp>
          </p:grpSp>
          <p:sp>
            <p:nvSpPr>
              <p:cNvPr id="409" name="Line 152"/>
              <p:cNvSpPr>
                <a:spLocks noChangeShapeType="1"/>
              </p:cNvSpPr>
              <p:nvPr/>
            </p:nvSpPr>
            <p:spPr bwMode="auto">
              <a:xfrm>
                <a:off x="5192" y="2143"/>
                <a:ext cx="9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410" name="Line 153"/>
              <p:cNvSpPr>
                <a:spLocks noChangeShapeType="1"/>
              </p:cNvSpPr>
              <p:nvPr/>
            </p:nvSpPr>
            <p:spPr bwMode="auto">
              <a:xfrm>
                <a:off x="5192" y="1211"/>
                <a:ext cx="9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411" name="Line 154"/>
              <p:cNvSpPr>
                <a:spLocks noChangeShapeType="1"/>
              </p:cNvSpPr>
              <p:nvPr/>
            </p:nvSpPr>
            <p:spPr bwMode="auto">
              <a:xfrm flipV="1">
                <a:off x="5281" y="1208"/>
                <a:ext cx="0" cy="938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412" name="Line 155"/>
              <p:cNvSpPr>
                <a:spLocks noChangeShapeType="1"/>
              </p:cNvSpPr>
              <p:nvPr/>
            </p:nvSpPr>
            <p:spPr bwMode="auto">
              <a:xfrm>
                <a:off x="4320" y="897"/>
                <a:ext cx="9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413" name="Line 156"/>
              <p:cNvSpPr>
                <a:spLocks noChangeShapeType="1"/>
              </p:cNvSpPr>
              <p:nvPr/>
            </p:nvSpPr>
            <p:spPr bwMode="auto">
              <a:xfrm>
                <a:off x="4412" y="897"/>
                <a:ext cx="868" cy="309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p:grpSp>
        <p:sp>
          <p:nvSpPr>
            <p:cNvPr id="397" name="Freeform 157"/>
            <p:cNvSpPr>
              <a:spLocks/>
            </p:cNvSpPr>
            <p:nvPr/>
          </p:nvSpPr>
          <p:spPr bwMode="auto">
            <a:xfrm>
              <a:off x="2329" y="3096"/>
              <a:ext cx="380" cy="247"/>
            </a:xfrm>
            <a:custGeom>
              <a:avLst/>
              <a:gdLst>
                <a:gd name="T0" fmla="*/ 0 w 614"/>
                <a:gd name="T1" fmla="*/ 240 h 336"/>
                <a:gd name="T2" fmla="*/ 0 w 614"/>
                <a:gd name="T3" fmla="*/ 336 h 336"/>
                <a:gd name="T4" fmla="*/ 614 w 614"/>
                <a:gd name="T5" fmla="*/ 84 h 336"/>
                <a:gd name="T6" fmla="*/ 614 w 614"/>
                <a:gd name="T7" fmla="*/ 0 h 336"/>
                <a:gd name="T8" fmla="*/ 0 w 614"/>
                <a:gd name="T9" fmla="*/ 240 h 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4" h="336">
                  <a:moveTo>
                    <a:pt x="0" y="240"/>
                  </a:moveTo>
                  <a:lnTo>
                    <a:pt x="0" y="336"/>
                  </a:lnTo>
                  <a:lnTo>
                    <a:pt x="614" y="84"/>
                  </a:lnTo>
                  <a:lnTo>
                    <a:pt x="614" y="0"/>
                  </a:lnTo>
                  <a:lnTo>
                    <a:pt x="0" y="240"/>
                  </a:lnTo>
                  <a:close/>
                </a:path>
              </a:pathLst>
            </a:custGeom>
            <a:solidFill>
              <a:srgbClr val="D4D282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sm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398" name="Line 158"/>
            <p:cNvSpPr>
              <a:spLocks noChangeShapeType="1"/>
            </p:cNvSpPr>
            <p:nvPr/>
          </p:nvSpPr>
          <p:spPr bwMode="auto">
            <a:xfrm>
              <a:off x="2452" y="3318"/>
              <a:ext cx="0" cy="3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399" name="Line 159"/>
            <p:cNvSpPr>
              <a:spLocks noChangeShapeType="1"/>
            </p:cNvSpPr>
            <p:nvPr/>
          </p:nvSpPr>
          <p:spPr bwMode="auto">
            <a:xfrm flipV="1">
              <a:off x="2332" y="3336"/>
              <a:ext cx="93" cy="45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/>
              <a:tailEnd type="non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00" name="Line 160"/>
            <p:cNvSpPr>
              <a:spLocks noChangeShapeType="1"/>
            </p:cNvSpPr>
            <p:nvPr/>
          </p:nvSpPr>
          <p:spPr bwMode="auto">
            <a:xfrm flipV="1">
              <a:off x="2332" y="3367"/>
              <a:ext cx="93" cy="45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/>
              <a:tailEnd type="non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01" name="Line 161"/>
            <p:cNvSpPr>
              <a:spLocks noChangeShapeType="1"/>
            </p:cNvSpPr>
            <p:nvPr/>
          </p:nvSpPr>
          <p:spPr bwMode="auto">
            <a:xfrm flipV="1">
              <a:off x="2332" y="3400"/>
              <a:ext cx="93" cy="46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/>
              <a:tailEnd type="non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02" name="Line 162"/>
            <p:cNvSpPr>
              <a:spLocks noChangeShapeType="1"/>
            </p:cNvSpPr>
            <p:nvPr/>
          </p:nvSpPr>
          <p:spPr bwMode="auto">
            <a:xfrm flipV="1">
              <a:off x="2332" y="3434"/>
              <a:ext cx="93" cy="46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/>
              <a:tailEnd type="non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03" name="Line 163"/>
            <p:cNvSpPr>
              <a:spLocks noChangeShapeType="1"/>
            </p:cNvSpPr>
            <p:nvPr/>
          </p:nvSpPr>
          <p:spPr bwMode="auto">
            <a:xfrm flipV="1">
              <a:off x="2332" y="3469"/>
              <a:ext cx="93" cy="46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/>
              <a:tailEnd type="non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04" name="Freeform 164"/>
            <p:cNvSpPr>
              <a:spLocks/>
            </p:cNvSpPr>
            <p:nvPr/>
          </p:nvSpPr>
          <p:spPr bwMode="auto">
            <a:xfrm>
              <a:off x="2475" y="3197"/>
              <a:ext cx="232" cy="268"/>
            </a:xfrm>
            <a:custGeom>
              <a:avLst/>
              <a:gdLst>
                <a:gd name="T0" fmla="*/ 379 w 379"/>
                <a:gd name="T1" fmla="*/ 0 h 365"/>
                <a:gd name="T2" fmla="*/ 379 w 379"/>
                <a:gd name="T3" fmla="*/ 195 h 365"/>
                <a:gd name="T4" fmla="*/ 0 w 379"/>
                <a:gd name="T5" fmla="*/ 365 h 365"/>
                <a:gd name="T6" fmla="*/ 0 w 379"/>
                <a:gd name="T7" fmla="*/ 155 h 365"/>
                <a:gd name="T8" fmla="*/ 379 w 379"/>
                <a:gd name="T9" fmla="*/ 0 h 3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9" h="365">
                  <a:moveTo>
                    <a:pt x="379" y="0"/>
                  </a:moveTo>
                  <a:lnTo>
                    <a:pt x="379" y="195"/>
                  </a:lnTo>
                  <a:lnTo>
                    <a:pt x="0" y="365"/>
                  </a:lnTo>
                  <a:lnTo>
                    <a:pt x="0" y="155"/>
                  </a:lnTo>
                  <a:lnTo>
                    <a:pt x="379" y="0"/>
                  </a:lnTo>
                  <a:close/>
                </a:path>
              </a:pathLst>
            </a:custGeom>
            <a:solidFill>
              <a:srgbClr val="D4D282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sm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05" name="Freeform 165"/>
            <p:cNvSpPr>
              <a:spLocks/>
            </p:cNvSpPr>
            <p:nvPr/>
          </p:nvSpPr>
          <p:spPr bwMode="auto">
            <a:xfrm>
              <a:off x="2475" y="3380"/>
              <a:ext cx="232" cy="268"/>
            </a:xfrm>
            <a:custGeom>
              <a:avLst/>
              <a:gdLst>
                <a:gd name="T0" fmla="*/ 379 w 379"/>
                <a:gd name="T1" fmla="*/ 0 h 365"/>
                <a:gd name="T2" fmla="*/ 379 w 379"/>
                <a:gd name="T3" fmla="*/ 195 h 365"/>
                <a:gd name="T4" fmla="*/ 0 w 379"/>
                <a:gd name="T5" fmla="*/ 365 h 365"/>
                <a:gd name="T6" fmla="*/ 0 w 379"/>
                <a:gd name="T7" fmla="*/ 155 h 365"/>
                <a:gd name="T8" fmla="*/ 379 w 379"/>
                <a:gd name="T9" fmla="*/ 0 h 3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9" h="365">
                  <a:moveTo>
                    <a:pt x="379" y="0"/>
                  </a:moveTo>
                  <a:lnTo>
                    <a:pt x="379" y="195"/>
                  </a:lnTo>
                  <a:lnTo>
                    <a:pt x="0" y="365"/>
                  </a:lnTo>
                  <a:lnTo>
                    <a:pt x="0" y="155"/>
                  </a:lnTo>
                  <a:lnTo>
                    <a:pt x="379" y="0"/>
                  </a:lnTo>
                  <a:close/>
                </a:path>
              </a:pathLst>
            </a:custGeom>
            <a:solidFill>
              <a:srgbClr val="D4D282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sm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grpSp>
        <p:nvGrpSpPr>
          <p:cNvPr id="416" name="Group 166"/>
          <p:cNvGrpSpPr>
            <a:grpSpLocks/>
          </p:cNvGrpSpPr>
          <p:nvPr/>
        </p:nvGrpSpPr>
        <p:grpSpPr bwMode="auto">
          <a:xfrm>
            <a:off x="3581400" y="3172371"/>
            <a:ext cx="600075" cy="921790"/>
            <a:chOff x="2256" y="2905"/>
            <a:chExt cx="479" cy="903"/>
          </a:xfrm>
        </p:grpSpPr>
        <p:grpSp>
          <p:nvGrpSpPr>
            <p:cNvPr id="417" name="Group 167"/>
            <p:cNvGrpSpPr>
              <a:grpSpLocks/>
            </p:cNvGrpSpPr>
            <p:nvPr/>
          </p:nvGrpSpPr>
          <p:grpSpPr bwMode="auto">
            <a:xfrm flipH="1">
              <a:off x="2256" y="2905"/>
              <a:ext cx="479" cy="903"/>
              <a:chOff x="4320" y="773"/>
              <a:chExt cx="964" cy="1373"/>
            </a:xfrm>
          </p:grpSpPr>
          <p:sp>
            <p:nvSpPr>
              <p:cNvPr id="427" name="Rectangle 168"/>
              <p:cNvSpPr>
                <a:spLocks noChangeArrowheads="1"/>
              </p:cNvSpPr>
              <p:nvPr/>
            </p:nvSpPr>
            <p:spPr bwMode="auto">
              <a:xfrm>
                <a:off x="5193" y="1402"/>
                <a:ext cx="90" cy="550"/>
              </a:xfrm>
              <a:prstGeom prst="rect">
                <a:avLst/>
              </a:prstGeom>
              <a:solidFill>
                <a:srgbClr val="D4D28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428" name="Freeform 169"/>
              <p:cNvSpPr>
                <a:spLocks/>
              </p:cNvSpPr>
              <p:nvPr/>
            </p:nvSpPr>
            <p:spPr bwMode="auto">
              <a:xfrm rot="21540000">
                <a:off x="4321" y="773"/>
                <a:ext cx="963" cy="550"/>
              </a:xfrm>
              <a:custGeom>
                <a:avLst/>
                <a:gdLst>
                  <a:gd name="T0" fmla="*/ 0 w 963"/>
                  <a:gd name="T1" fmla="*/ 12 h 318"/>
                  <a:gd name="T2" fmla="*/ 870 w 963"/>
                  <a:gd name="T3" fmla="*/ 318 h 318"/>
                  <a:gd name="T4" fmla="*/ 963 w 963"/>
                  <a:gd name="T5" fmla="*/ 315 h 318"/>
                  <a:gd name="T6" fmla="*/ 78 w 963"/>
                  <a:gd name="T7" fmla="*/ 0 h 318"/>
                  <a:gd name="T8" fmla="*/ 0 w 963"/>
                  <a:gd name="T9" fmla="*/ 12 h 3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63" h="318">
                    <a:moveTo>
                      <a:pt x="0" y="12"/>
                    </a:moveTo>
                    <a:lnTo>
                      <a:pt x="870" y="318"/>
                    </a:lnTo>
                    <a:lnTo>
                      <a:pt x="963" y="315"/>
                    </a:lnTo>
                    <a:lnTo>
                      <a:pt x="78" y="0"/>
                    </a:lnTo>
                    <a:lnTo>
                      <a:pt x="0" y="12"/>
                    </a:lnTo>
                    <a:close/>
                  </a:path>
                </a:pathLst>
              </a:custGeom>
              <a:solidFill>
                <a:srgbClr val="D4D28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905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grpSp>
            <p:nvGrpSpPr>
              <p:cNvPr id="429" name="Group 170"/>
              <p:cNvGrpSpPr>
                <a:grpSpLocks/>
              </p:cNvGrpSpPr>
              <p:nvPr/>
            </p:nvGrpSpPr>
            <p:grpSpPr bwMode="auto">
              <a:xfrm>
                <a:off x="4322" y="905"/>
                <a:ext cx="871" cy="1238"/>
                <a:chOff x="4176" y="936"/>
                <a:chExt cx="719" cy="1022"/>
              </a:xfrm>
            </p:grpSpPr>
            <p:sp>
              <p:nvSpPr>
                <p:cNvPr id="435" name="AutoShape 171"/>
                <p:cNvSpPr>
                  <a:spLocks noChangeArrowheads="1"/>
                </p:cNvSpPr>
                <p:nvPr/>
              </p:nvSpPr>
              <p:spPr bwMode="auto">
                <a:xfrm rot="16200000">
                  <a:off x="4025" y="1087"/>
                  <a:ext cx="1022" cy="719"/>
                </a:xfrm>
                <a:prstGeom prst="parallelogram">
                  <a:avLst>
                    <a:gd name="adj" fmla="val 35535"/>
                  </a:avLst>
                </a:prstGeom>
                <a:solidFill>
                  <a:srgbClr val="D4D282"/>
                </a:solidFill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ko-KR" altLang="en-US">
                    <a:latin typeface="나눔고딕" panose="020D0604000000000000" pitchFamily="50" charset="-127"/>
                    <a:ea typeface="나눔고딕" panose="020D0604000000000000" pitchFamily="50" charset="-127"/>
                  </a:endParaRPr>
                </a:p>
              </p:txBody>
            </p:sp>
            <p:sp>
              <p:nvSpPr>
                <p:cNvPr id="436" name="Line 172"/>
                <p:cNvSpPr>
                  <a:spLocks noChangeShapeType="1"/>
                </p:cNvSpPr>
                <p:nvPr/>
              </p:nvSpPr>
              <p:spPr bwMode="auto">
                <a:xfrm>
                  <a:off x="4176" y="1001"/>
                  <a:ext cx="718" cy="25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ko-KR" altLang="en-US">
                    <a:latin typeface="나눔고딕" panose="020D0604000000000000" pitchFamily="50" charset="-127"/>
                    <a:ea typeface="나눔고딕" panose="020D0604000000000000" pitchFamily="50" charset="-127"/>
                  </a:endParaRPr>
                </a:p>
              </p:txBody>
            </p:sp>
          </p:grpSp>
          <p:sp>
            <p:nvSpPr>
              <p:cNvPr id="430" name="Line 173"/>
              <p:cNvSpPr>
                <a:spLocks noChangeShapeType="1"/>
              </p:cNvSpPr>
              <p:nvPr/>
            </p:nvSpPr>
            <p:spPr bwMode="auto">
              <a:xfrm>
                <a:off x="5192" y="2143"/>
                <a:ext cx="9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431" name="Line 174"/>
              <p:cNvSpPr>
                <a:spLocks noChangeShapeType="1"/>
              </p:cNvSpPr>
              <p:nvPr/>
            </p:nvSpPr>
            <p:spPr bwMode="auto">
              <a:xfrm>
                <a:off x="5192" y="1211"/>
                <a:ext cx="9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432" name="Line 175"/>
              <p:cNvSpPr>
                <a:spLocks noChangeShapeType="1"/>
              </p:cNvSpPr>
              <p:nvPr/>
            </p:nvSpPr>
            <p:spPr bwMode="auto">
              <a:xfrm flipV="1">
                <a:off x="5281" y="1208"/>
                <a:ext cx="0" cy="938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433" name="Line 176"/>
              <p:cNvSpPr>
                <a:spLocks noChangeShapeType="1"/>
              </p:cNvSpPr>
              <p:nvPr/>
            </p:nvSpPr>
            <p:spPr bwMode="auto">
              <a:xfrm>
                <a:off x="4320" y="897"/>
                <a:ext cx="9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434" name="Line 177"/>
              <p:cNvSpPr>
                <a:spLocks noChangeShapeType="1"/>
              </p:cNvSpPr>
              <p:nvPr/>
            </p:nvSpPr>
            <p:spPr bwMode="auto">
              <a:xfrm>
                <a:off x="4412" y="897"/>
                <a:ext cx="868" cy="309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p:grpSp>
        <p:sp>
          <p:nvSpPr>
            <p:cNvPr id="418" name="Freeform 178"/>
            <p:cNvSpPr>
              <a:spLocks/>
            </p:cNvSpPr>
            <p:nvPr/>
          </p:nvSpPr>
          <p:spPr bwMode="auto">
            <a:xfrm>
              <a:off x="2329" y="3096"/>
              <a:ext cx="380" cy="247"/>
            </a:xfrm>
            <a:custGeom>
              <a:avLst/>
              <a:gdLst>
                <a:gd name="T0" fmla="*/ 0 w 614"/>
                <a:gd name="T1" fmla="*/ 240 h 336"/>
                <a:gd name="T2" fmla="*/ 0 w 614"/>
                <a:gd name="T3" fmla="*/ 336 h 336"/>
                <a:gd name="T4" fmla="*/ 614 w 614"/>
                <a:gd name="T5" fmla="*/ 84 h 336"/>
                <a:gd name="T6" fmla="*/ 614 w 614"/>
                <a:gd name="T7" fmla="*/ 0 h 336"/>
                <a:gd name="T8" fmla="*/ 0 w 614"/>
                <a:gd name="T9" fmla="*/ 240 h 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4" h="336">
                  <a:moveTo>
                    <a:pt x="0" y="240"/>
                  </a:moveTo>
                  <a:lnTo>
                    <a:pt x="0" y="336"/>
                  </a:lnTo>
                  <a:lnTo>
                    <a:pt x="614" y="84"/>
                  </a:lnTo>
                  <a:lnTo>
                    <a:pt x="614" y="0"/>
                  </a:lnTo>
                  <a:lnTo>
                    <a:pt x="0" y="240"/>
                  </a:lnTo>
                  <a:close/>
                </a:path>
              </a:pathLst>
            </a:custGeom>
            <a:solidFill>
              <a:srgbClr val="D4D282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sm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19" name="Line 179"/>
            <p:cNvSpPr>
              <a:spLocks noChangeShapeType="1"/>
            </p:cNvSpPr>
            <p:nvPr/>
          </p:nvSpPr>
          <p:spPr bwMode="auto">
            <a:xfrm>
              <a:off x="2452" y="3318"/>
              <a:ext cx="0" cy="3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20" name="Line 180"/>
            <p:cNvSpPr>
              <a:spLocks noChangeShapeType="1"/>
            </p:cNvSpPr>
            <p:nvPr/>
          </p:nvSpPr>
          <p:spPr bwMode="auto">
            <a:xfrm flipV="1">
              <a:off x="2332" y="3336"/>
              <a:ext cx="93" cy="45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/>
              <a:tailEnd type="non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21" name="Line 181"/>
            <p:cNvSpPr>
              <a:spLocks noChangeShapeType="1"/>
            </p:cNvSpPr>
            <p:nvPr/>
          </p:nvSpPr>
          <p:spPr bwMode="auto">
            <a:xfrm flipV="1">
              <a:off x="2332" y="3367"/>
              <a:ext cx="93" cy="45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/>
              <a:tailEnd type="non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22" name="Line 182"/>
            <p:cNvSpPr>
              <a:spLocks noChangeShapeType="1"/>
            </p:cNvSpPr>
            <p:nvPr/>
          </p:nvSpPr>
          <p:spPr bwMode="auto">
            <a:xfrm flipV="1">
              <a:off x="2332" y="3400"/>
              <a:ext cx="93" cy="46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/>
              <a:tailEnd type="non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23" name="Line 183"/>
            <p:cNvSpPr>
              <a:spLocks noChangeShapeType="1"/>
            </p:cNvSpPr>
            <p:nvPr/>
          </p:nvSpPr>
          <p:spPr bwMode="auto">
            <a:xfrm flipV="1">
              <a:off x="2332" y="3434"/>
              <a:ext cx="93" cy="46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/>
              <a:tailEnd type="non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24" name="Line 184"/>
            <p:cNvSpPr>
              <a:spLocks noChangeShapeType="1"/>
            </p:cNvSpPr>
            <p:nvPr/>
          </p:nvSpPr>
          <p:spPr bwMode="auto">
            <a:xfrm flipV="1">
              <a:off x="2332" y="3469"/>
              <a:ext cx="93" cy="46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/>
              <a:tailEnd type="non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25" name="Freeform 185"/>
            <p:cNvSpPr>
              <a:spLocks/>
            </p:cNvSpPr>
            <p:nvPr/>
          </p:nvSpPr>
          <p:spPr bwMode="auto">
            <a:xfrm>
              <a:off x="2475" y="3197"/>
              <a:ext cx="232" cy="268"/>
            </a:xfrm>
            <a:custGeom>
              <a:avLst/>
              <a:gdLst>
                <a:gd name="T0" fmla="*/ 379 w 379"/>
                <a:gd name="T1" fmla="*/ 0 h 365"/>
                <a:gd name="T2" fmla="*/ 379 w 379"/>
                <a:gd name="T3" fmla="*/ 195 h 365"/>
                <a:gd name="T4" fmla="*/ 0 w 379"/>
                <a:gd name="T5" fmla="*/ 365 h 365"/>
                <a:gd name="T6" fmla="*/ 0 w 379"/>
                <a:gd name="T7" fmla="*/ 155 h 365"/>
                <a:gd name="T8" fmla="*/ 379 w 379"/>
                <a:gd name="T9" fmla="*/ 0 h 3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9" h="365">
                  <a:moveTo>
                    <a:pt x="379" y="0"/>
                  </a:moveTo>
                  <a:lnTo>
                    <a:pt x="379" y="195"/>
                  </a:lnTo>
                  <a:lnTo>
                    <a:pt x="0" y="365"/>
                  </a:lnTo>
                  <a:lnTo>
                    <a:pt x="0" y="155"/>
                  </a:lnTo>
                  <a:lnTo>
                    <a:pt x="379" y="0"/>
                  </a:lnTo>
                  <a:close/>
                </a:path>
              </a:pathLst>
            </a:custGeom>
            <a:solidFill>
              <a:srgbClr val="D4D282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sm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26" name="Freeform 186"/>
            <p:cNvSpPr>
              <a:spLocks/>
            </p:cNvSpPr>
            <p:nvPr/>
          </p:nvSpPr>
          <p:spPr bwMode="auto">
            <a:xfrm>
              <a:off x="2475" y="3380"/>
              <a:ext cx="232" cy="268"/>
            </a:xfrm>
            <a:custGeom>
              <a:avLst/>
              <a:gdLst>
                <a:gd name="T0" fmla="*/ 379 w 379"/>
                <a:gd name="T1" fmla="*/ 0 h 365"/>
                <a:gd name="T2" fmla="*/ 379 w 379"/>
                <a:gd name="T3" fmla="*/ 195 h 365"/>
                <a:gd name="T4" fmla="*/ 0 w 379"/>
                <a:gd name="T5" fmla="*/ 365 h 365"/>
                <a:gd name="T6" fmla="*/ 0 w 379"/>
                <a:gd name="T7" fmla="*/ 155 h 365"/>
                <a:gd name="T8" fmla="*/ 379 w 379"/>
                <a:gd name="T9" fmla="*/ 0 h 3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9" h="365">
                  <a:moveTo>
                    <a:pt x="379" y="0"/>
                  </a:moveTo>
                  <a:lnTo>
                    <a:pt x="379" y="195"/>
                  </a:lnTo>
                  <a:lnTo>
                    <a:pt x="0" y="365"/>
                  </a:lnTo>
                  <a:lnTo>
                    <a:pt x="0" y="155"/>
                  </a:lnTo>
                  <a:lnTo>
                    <a:pt x="379" y="0"/>
                  </a:lnTo>
                  <a:close/>
                </a:path>
              </a:pathLst>
            </a:custGeom>
            <a:solidFill>
              <a:srgbClr val="D4D282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sm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grpSp>
        <p:nvGrpSpPr>
          <p:cNvPr id="437" name="Group 187"/>
          <p:cNvGrpSpPr>
            <a:grpSpLocks/>
          </p:cNvGrpSpPr>
          <p:nvPr/>
        </p:nvGrpSpPr>
        <p:grpSpPr bwMode="auto">
          <a:xfrm>
            <a:off x="4924163" y="3172371"/>
            <a:ext cx="600075" cy="921790"/>
            <a:chOff x="2256" y="2905"/>
            <a:chExt cx="479" cy="903"/>
          </a:xfrm>
        </p:grpSpPr>
        <p:grpSp>
          <p:nvGrpSpPr>
            <p:cNvPr id="438" name="Group 188"/>
            <p:cNvGrpSpPr>
              <a:grpSpLocks/>
            </p:cNvGrpSpPr>
            <p:nvPr/>
          </p:nvGrpSpPr>
          <p:grpSpPr bwMode="auto">
            <a:xfrm flipH="1">
              <a:off x="2256" y="2905"/>
              <a:ext cx="479" cy="903"/>
              <a:chOff x="4320" y="773"/>
              <a:chExt cx="964" cy="1373"/>
            </a:xfrm>
          </p:grpSpPr>
          <p:sp>
            <p:nvSpPr>
              <p:cNvPr id="448" name="Rectangle 189"/>
              <p:cNvSpPr>
                <a:spLocks noChangeArrowheads="1"/>
              </p:cNvSpPr>
              <p:nvPr/>
            </p:nvSpPr>
            <p:spPr bwMode="auto">
              <a:xfrm>
                <a:off x="5193" y="1402"/>
                <a:ext cx="90" cy="550"/>
              </a:xfrm>
              <a:prstGeom prst="rect">
                <a:avLst/>
              </a:prstGeom>
              <a:solidFill>
                <a:srgbClr val="FFFFCC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449" name="Freeform 190"/>
              <p:cNvSpPr>
                <a:spLocks/>
              </p:cNvSpPr>
              <p:nvPr/>
            </p:nvSpPr>
            <p:spPr bwMode="auto">
              <a:xfrm rot="21540000">
                <a:off x="4321" y="773"/>
                <a:ext cx="963" cy="550"/>
              </a:xfrm>
              <a:custGeom>
                <a:avLst/>
                <a:gdLst>
                  <a:gd name="T0" fmla="*/ 0 w 963"/>
                  <a:gd name="T1" fmla="*/ 12 h 318"/>
                  <a:gd name="T2" fmla="*/ 870 w 963"/>
                  <a:gd name="T3" fmla="*/ 318 h 318"/>
                  <a:gd name="T4" fmla="*/ 963 w 963"/>
                  <a:gd name="T5" fmla="*/ 315 h 318"/>
                  <a:gd name="T6" fmla="*/ 78 w 963"/>
                  <a:gd name="T7" fmla="*/ 0 h 318"/>
                  <a:gd name="T8" fmla="*/ 0 w 963"/>
                  <a:gd name="T9" fmla="*/ 12 h 3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63" h="318">
                    <a:moveTo>
                      <a:pt x="0" y="12"/>
                    </a:moveTo>
                    <a:lnTo>
                      <a:pt x="870" y="318"/>
                    </a:lnTo>
                    <a:lnTo>
                      <a:pt x="963" y="315"/>
                    </a:lnTo>
                    <a:lnTo>
                      <a:pt x="78" y="0"/>
                    </a:lnTo>
                    <a:lnTo>
                      <a:pt x="0" y="12"/>
                    </a:lnTo>
                    <a:close/>
                  </a:path>
                </a:pathLst>
              </a:custGeom>
              <a:solidFill>
                <a:srgbClr val="FFFFCC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905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grpSp>
            <p:nvGrpSpPr>
              <p:cNvPr id="450" name="Group 191"/>
              <p:cNvGrpSpPr>
                <a:grpSpLocks/>
              </p:cNvGrpSpPr>
              <p:nvPr/>
            </p:nvGrpSpPr>
            <p:grpSpPr bwMode="auto">
              <a:xfrm>
                <a:off x="4322" y="905"/>
                <a:ext cx="871" cy="1238"/>
                <a:chOff x="4176" y="936"/>
                <a:chExt cx="719" cy="1022"/>
              </a:xfrm>
            </p:grpSpPr>
            <p:sp>
              <p:nvSpPr>
                <p:cNvPr id="456" name="AutoShape 192"/>
                <p:cNvSpPr>
                  <a:spLocks noChangeArrowheads="1"/>
                </p:cNvSpPr>
                <p:nvPr/>
              </p:nvSpPr>
              <p:spPr bwMode="auto">
                <a:xfrm rot="16200000">
                  <a:off x="4025" y="1087"/>
                  <a:ext cx="1022" cy="719"/>
                </a:xfrm>
                <a:prstGeom prst="parallelogram">
                  <a:avLst>
                    <a:gd name="adj" fmla="val 35535"/>
                  </a:avLst>
                </a:prstGeom>
                <a:solidFill>
                  <a:srgbClr val="FFFFCC"/>
                </a:solidFill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ko-KR" altLang="en-US">
                    <a:latin typeface="나눔고딕" panose="020D0604000000000000" pitchFamily="50" charset="-127"/>
                    <a:ea typeface="나눔고딕" panose="020D0604000000000000" pitchFamily="50" charset="-127"/>
                  </a:endParaRPr>
                </a:p>
              </p:txBody>
            </p:sp>
            <p:sp>
              <p:nvSpPr>
                <p:cNvPr id="457" name="Line 193"/>
                <p:cNvSpPr>
                  <a:spLocks noChangeShapeType="1"/>
                </p:cNvSpPr>
                <p:nvPr/>
              </p:nvSpPr>
              <p:spPr bwMode="auto">
                <a:xfrm>
                  <a:off x="4176" y="1001"/>
                  <a:ext cx="718" cy="25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ko-KR" altLang="en-US">
                    <a:latin typeface="나눔고딕" panose="020D0604000000000000" pitchFamily="50" charset="-127"/>
                    <a:ea typeface="나눔고딕" panose="020D0604000000000000" pitchFamily="50" charset="-127"/>
                  </a:endParaRPr>
                </a:p>
              </p:txBody>
            </p:sp>
          </p:grpSp>
          <p:sp>
            <p:nvSpPr>
              <p:cNvPr id="451" name="Line 194"/>
              <p:cNvSpPr>
                <a:spLocks noChangeShapeType="1"/>
              </p:cNvSpPr>
              <p:nvPr/>
            </p:nvSpPr>
            <p:spPr bwMode="auto">
              <a:xfrm>
                <a:off x="5192" y="2143"/>
                <a:ext cx="9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452" name="Line 195"/>
              <p:cNvSpPr>
                <a:spLocks noChangeShapeType="1"/>
              </p:cNvSpPr>
              <p:nvPr/>
            </p:nvSpPr>
            <p:spPr bwMode="auto">
              <a:xfrm>
                <a:off x="5192" y="1211"/>
                <a:ext cx="9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453" name="Line 196"/>
              <p:cNvSpPr>
                <a:spLocks noChangeShapeType="1"/>
              </p:cNvSpPr>
              <p:nvPr/>
            </p:nvSpPr>
            <p:spPr bwMode="auto">
              <a:xfrm flipV="1">
                <a:off x="5281" y="1208"/>
                <a:ext cx="0" cy="938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454" name="Line 197"/>
              <p:cNvSpPr>
                <a:spLocks noChangeShapeType="1"/>
              </p:cNvSpPr>
              <p:nvPr/>
            </p:nvSpPr>
            <p:spPr bwMode="auto">
              <a:xfrm>
                <a:off x="4320" y="897"/>
                <a:ext cx="9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455" name="Line 198"/>
              <p:cNvSpPr>
                <a:spLocks noChangeShapeType="1"/>
              </p:cNvSpPr>
              <p:nvPr/>
            </p:nvSpPr>
            <p:spPr bwMode="auto">
              <a:xfrm>
                <a:off x="4412" y="897"/>
                <a:ext cx="868" cy="309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p:grpSp>
        <p:sp>
          <p:nvSpPr>
            <p:cNvPr id="439" name="Freeform 199"/>
            <p:cNvSpPr>
              <a:spLocks/>
            </p:cNvSpPr>
            <p:nvPr/>
          </p:nvSpPr>
          <p:spPr bwMode="auto">
            <a:xfrm>
              <a:off x="2329" y="3096"/>
              <a:ext cx="380" cy="247"/>
            </a:xfrm>
            <a:custGeom>
              <a:avLst/>
              <a:gdLst>
                <a:gd name="T0" fmla="*/ 0 w 614"/>
                <a:gd name="T1" fmla="*/ 240 h 336"/>
                <a:gd name="T2" fmla="*/ 0 w 614"/>
                <a:gd name="T3" fmla="*/ 336 h 336"/>
                <a:gd name="T4" fmla="*/ 614 w 614"/>
                <a:gd name="T5" fmla="*/ 84 h 336"/>
                <a:gd name="T6" fmla="*/ 614 w 614"/>
                <a:gd name="T7" fmla="*/ 0 h 336"/>
                <a:gd name="T8" fmla="*/ 0 w 614"/>
                <a:gd name="T9" fmla="*/ 240 h 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4" h="336">
                  <a:moveTo>
                    <a:pt x="0" y="240"/>
                  </a:moveTo>
                  <a:lnTo>
                    <a:pt x="0" y="336"/>
                  </a:lnTo>
                  <a:lnTo>
                    <a:pt x="614" y="84"/>
                  </a:lnTo>
                  <a:lnTo>
                    <a:pt x="614" y="0"/>
                  </a:lnTo>
                  <a:lnTo>
                    <a:pt x="0" y="240"/>
                  </a:lnTo>
                  <a:close/>
                </a:path>
              </a:pathLst>
            </a:custGeom>
            <a:solidFill>
              <a:srgbClr val="FFFFCC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sm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40" name="Line 200"/>
            <p:cNvSpPr>
              <a:spLocks noChangeShapeType="1"/>
            </p:cNvSpPr>
            <p:nvPr/>
          </p:nvSpPr>
          <p:spPr bwMode="auto">
            <a:xfrm>
              <a:off x="2452" y="3318"/>
              <a:ext cx="0" cy="3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41" name="Line 201"/>
            <p:cNvSpPr>
              <a:spLocks noChangeShapeType="1"/>
            </p:cNvSpPr>
            <p:nvPr/>
          </p:nvSpPr>
          <p:spPr bwMode="auto">
            <a:xfrm flipV="1">
              <a:off x="2332" y="3336"/>
              <a:ext cx="93" cy="45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/>
              <a:tailEnd type="non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42" name="Line 202"/>
            <p:cNvSpPr>
              <a:spLocks noChangeShapeType="1"/>
            </p:cNvSpPr>
            <p:nvPr/>
          </p:nvSpPr>
          <p:spPr bwMode="auto">
            <a:xfrm flipV="1">
              <a:off x="2332" y="3367"/>
              <a:ext cx="93" cy="45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/>
              <a:tailEnd type="non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43" name="Line 203"/>
            <p:cNvSpPr>
              <a:spLocks noChangeShapeType="1"/>
            </p:cNvSpPr>
            <p:nvPr/>
          </p:nvSpPr>
          <p:spPr bwMode="auto">
            <a:xfrm flipV="1">
              <a:off x="2332" y="3400"/>
              <a:ext cx="93" cy="46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/>
              <a:tailEnd type="non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44" name="Line 204"/>
            <p:cNvSpPr>
              <a:spLocks noChangeShapeType="1"/>
            </p:cNvSpPr>
            <p:nvPr/>
          </p:nvSpPr>
          <p:spPr bwMode="auto">
            <a:xfrm flipV="1">
              <a:off x="2332" y="3434"/>
              <a:ext cx="93" cy="46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/>
              <a:tailEnd type="non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45" name="Line 205"/>
            <p:cNvSpPr>
              <a:spLocks noChangeShapeType="1"/>
            </p:cNvSpPr>
            <p:nvPr/>
          </p:nvSpPr>
          <p:spPr bwMode="auto">
            <a:xfrm flipV="1">
              <a:off x="2332" y="3469"/>
              <a:ext cx="93" cy="46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/>
              <a:tailEnd type="non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46" name="Freeform 206"/>
            <p:cNvSpPr>
              <a:spLocks/>
            </p:cNvSpPr>
            <p:nvPr/>
          </p:nvSpPr>
          <p:spPr bwMode="auto">
            <a:xfrm>
              <a:off x="2475" y="3197"/>
              <a:ext cx="232" cy="268"/>
            </a:xfrm>
            <a:custGeom>
              <a:avLst/>
              <a:gdLst>
                <a:gd name="T0" fmla="*/ 379 w 379"/>
                <a:gd name="T1" fmla="*/ 0 h 365"/>
                <a:gd name="T2" fmla="*/ 379 w 379"/>
                <a:gd name="T3" fmla="*/ 195 h 365"/>
                <a:gd name="T4" fmla="*/ 0 w 379"/>
                <a:gd name="T5" fmla="*/ 365 h 365"/>
                <a:gd name="T6" fmla="*/ 0 w 379"/>
                <a:gd name="T7" fmla="*/ 155 h 365"/>
                <a:gd name="T8" fmla="*/ 379 w 379"/>
                <a:gd name="T9" fmla="*/ 0 h 3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9" h="365">
                  <a:moveTo>
                    <a:pt x="379" y="0"/>
                  </a:moveTo>
                  <a:lnTo>
                    <a:pt x="379" y="195"/>
                  </a:lnTo>
                  <a:lnTo>
                    <a:pt x="0" y="365"/>
                  </a:lnTo>
                  <a:lnTo>
                    <a:pt x="0" y="155"/>
                  </a:lnTo>
                  <a:lnTo>
                    <a:pt x="379" y="0"/>
                  </a:lnTo>
                  <a:close/>
                </a:path>
              </a:pathLst>
            </a:custGeom>
            <a:solidFill>
              <a:srgbClr val="FFFFCC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sm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47" name="Freeform 207"/>
            <p:cNvSpPr>
              <a:spLocks/>
            </p:cNvSpPr>
            <p:nvPr/>
          </p:nvSpPr>
          <p:spPr bwMode="auto">
            <a:xfrm>
              <a:off x="2475" y="3380"/>
              <a:ext cx="232" cy="268"/>
            </a:xfrm>
            <a:custGeom>
              <a:avLst/>
              <a:gdLst>
                <a:gd name="T0" fmla="*/ 379 w 379"/>
                <a:gd name="T1" fmla="*/ 0 h 365"/>
                <a:gd name="T2" fmla="*/ 379 w 379"/>
                <a:gd name="T3" fmla="*/ 195 h 365"/>
                <a:gd name="T4" fmla="*/ 0 w 379"/>
                <a:gd name="T5" fmla="*/ 365 h 365"/>
                <a:gd name="T6" fmla="*/ 0 w 379"/>
                <a:gd name="T7" fmla="*/ 155 h 365"/>
                <a:gd name="T8" fmla="*/ 379 w 379"/>
                <a:gd name="T9" fmla="*/ 0 h 3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9" h="365">
                  <a:moveTo>
                    <a:pt x="379" y="0"/>
                  </a:moveTo>
                  <a:lnTo>
                    <a:pt x="379" y="195"/>
                  </a:lnTo>
                  <a:lnTo>
                    <a:pt x="0" y="365"/>
                  </a:lnTo>
                  <a:lnTo>
                    <a:pt x="0" y="155"/>
                  </a:lnTo>
                  <a:lnTo>
                    <a:pt x="379" y="0"/>
                  </a:lnTo>
                  <a:close/>
                </a:path>
              </a:pathLst>
            </a:custGeom>
            <a:solidFill>
              <a:srgbClr val="FFFFCC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sm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grpSp>
        <p:nvGrpSpPr>
          <p:cNvPr id="458" name="Group 208"/>
          <p:cNvGrpSpPr>
            <a:grpSpLocks/>
          </p:cNvGrpSpPr>
          <p:nvPr/>
        </p:nvGrpSpPr>
        <p:grpSpPr bwMode="auto">
          <a:xfrm>
            <a:off x="5762363" y="3172371"/>
            <a:ext cx="600075" cy="921790"/>
            <a:chOff x="2256" y="2905"/>
            <a:chExt cx="479" cy="903"/>
          </a:xfrm>
        </p:grpSpPr>
        <p:grpSp>
          <p:nvGrpSpPr>
            <p:cNvPr id="459" name="Group 209"/>
            <p:cNvGrpSpPr>
              <a:grpSpLocks/>
            </p:cNvGrpSpPr>
            <p:nvPr/>
          </p:nvGrpSpPr>
          <p:grpSpPr bwMode="auto">
            <a:xfrm flipH="1">
              <a:off x="2256" y="2905"/>
              <a:ext cx="479" cy="903"/>
              <a:chOff x="4320" y="773"/>
              <a:chExt cx="964" cy="1373"/>
            </a:xfrm>
          </p:grpSpPr>
          <p:sp>
            <p:nvSpPr>
              <p:cNvPr id="469" name="Rectangle 210"/>
              <p:cNvSpPr>
                <a:spLocks noChangeArrowheads="1"/>
              </p:cNvSpPr>
              <p:nvPr/>
            </p:nvSpPr>
            <p:spPr bwMode="auto">
              <a:xfrm>
                <a:off x="5193" y="1402"/>
                <a:ext cx="90" cy="550"/>
              </a:xfrm>
              <a:prstGeom prst="rect">
                <a:avLst/>
              </a:prstGeom>
              <a:solidFill>
                <a:srgbClr val="FFFFCC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470" name="Freeform 211"/>
              <p:cNvSpPr>
                <a:spLocks/>
              </p:cNvSpPr>
              <p:nvPr/>
            </p:nvSpPr>
            <p:spPr bwMode="auto">
              <a:xfrm rot="21540000">
                <a:off x="4321" y="773"/>
                <a:ext cx="963" cy="550"/>
              </a:xfrm>
              <a:custGeom>
                <a:avLst/>
                <a:gdLst>
                  <a:gd name="T0" fmla="*/ 0 w 963"/>
                  <a:gd name="T1" fmla="*/ 12 h 318"/>
                  <a:gd name="T2" fmla="*/ 870 w 963"/>
                  <a:gd name="T3" fmla="*/ 318 h 318"/>
                  <a:gd name="T4" fmla="*/ 963 w 963"/>
                  <a:gd name="T5" fmla="*/ 315 h 318"/>
                  <a:gd name="T6" fmla="*/ 78 w 963"/>
                  <a:gd name="T7" fmla="*/ 0 h 318"/>
                  <a:gd name="T8" fmla="*/ 0 w 963"/>
                  <a:gd name="T9" fmla="*/ 12 h 3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63" h="318">
                    <a:moveTo>
                      <a:pt x="0" y="12"/>
                    </a:moveTo>
                    <a:lnTo>
                      <a:pt x="870" y="318"/>
                    </a:lnTo>
                    <a:lnTo>
                      <a:pt x="963" y="315"/>
                    </a:lnTo>
                    <a:lnTo>
                      <a:pt x="78" y="0"/>
                    </a:lnTo>
                    <a:lnTo>
                      <a:pt x="0" y="12"/>
                    </a:lnTo>
                    <a:close/>
                  </a:path>
                </a:pathLst>
              </a:custGeom>
              <a:solidFill>
                <a:srgbClr val="FFFFCC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905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grpSp>
            <p:nvGrpSpPr>
              <p:cNvPr id="471" name="Group 212"/>
              <p:cNvGrpSpPr>
                <a:grpSpLocks/>
              </p:cNvGrpSpPr>
              <p:nvPr/>
            </p:nvGrpSpPr>
            <p:grpSpPr bwMode="auto">
              <a:xfrm>
                <a:off x="4322" y="905"/>
                <a:ext cx="871" cy="1238"/>
                <a:chOff x="4176" y="936"/>
                <a:chExt cx="719" cy="1022"/>
              </a:xfrm>
            </p:grpSpPr>
            <p:sp>
              <p:nvSpPr>
                <p:cNvPr id="477" name="AutoShape 213"/>
                <p:cNvSpPr>
                  <a:spLocks noChangeArrowheads="1"/>
                </p:cNvSpPr>
                <p:nvPr/>
              </p:nvSpPr>
              <p:spPr bwMode="auto">
                <a:xfrm rot="16200000">
                  <a:off x="4025" y="1087"/>
                  <a:ext cx="1022" cy="719"/>
                </a:xfrm>
                <a:prstGeom prst="parallelogram">
                  <a:avLst>
                    <a:gd name="adj" fmla="val 35535"/>
                  </a:avLst>
                </a:prstGeom>
                <a:solidFill>
                  <a:srgbClr val="FFFFCC"/>
                </a:solidFill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ko-KR" altLang="en-US">
                    <a:latin typeface="나눔고딕" panose="020D0604000000000000" pitchFamily="50" charset="-127"/>
                    <a:ea typeface="나눔고딕" panose="020D0604000000000000" pitchFamily="50" charset="-127"/>
                  </a:endParaRPr>
                </a:p>
              </p:txBody>
            </p:sp>
            <p:sp>
              <p:nvSpPr>
                <p:cNvPr id="478" name="Line 214"/>
                <p:cNvSpPr>
                  <a:spLocks noChangeShapeType="1"/>
                </p:cNvSpPr>
                <p:nvPr/>
              </p:nvSpPr>
              <p:spPr bwMode="auto">
                <a:xfrm>
                  <a:off x="4176" y="1001"/>
                  <a:ext cx="718" cy="25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ko-KR" altLang="en-US">
                    <a:latin typeface="나눔고딕" panose="020D0604000000000000" pitchFamily="50" charset="-127"/>
                    <a:ea typeface="나눔고딕" panose="020D0604000000000000" pitchFamily="50" charset="-127"/>
                  </a:endParaRPr>
                </a:p>
              </p:txBody>
            </p:sp>
          </p:grpSp>
          <p:sp>
            <p:nvSpPr>
              <p:cNvPr id="472" name="Line 215"/>
              <p:cNvSpPr>
                <a:spLocks noChangeShapeType="1"/>
              </p:cNvSpPr>
              <p:nvPr/>
            </p:nvSpPr>
            <p:spPr bwMode="auto">
              <a:xfrm>
                <a:off x="5192" y="2143"/>
                <a:ext cx="9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473" name="Line 216"/>
              <p:cNvSpPr>
                <a:spLocks noChangeShapeType="1"/>
              </p:cNvSpPr>
              <p:nvPr/>
            </p:nvSpPr>
            <p:spPr bwMode="auto">
              <a:xfrm>
                <a:off x="5192" y="1211"/>
                <a:ext cx="9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474" name="Line 217"/>
              <p:cNvSpPr>
                <a:spLocks noChangeShapeType="1"/>
              </p:cNvSpPr>
              <p:nvPr/>
            </p:nvSpPr>
            <p:spPr bwMode="auto">
              <a:xfrm flipV="1">
                <a:off x="5281" y="1208"/>
                <a:ext cx="0" cy="938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475" name="Line 218"/>
              <p:cNvSpPr>
                <a:spLocks noChangeShapeType="1"/>
              </p:cNvSpPr>
              <p:nvPr/>
            </p:nvSpPr>
            <p:spPr bwMode="auto">
              <a:xfrm>
                <a:off x="4320" y="897"/>
                <a:ext cx="9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476" name="Line 219"/>
              <p:cNvSpPr>
                <a:spLocks noChangeShapeType="1"/>
              </p:cNvSpPr>
              <p:nvPr/>
            </p:nvSpPr>
            <p:spPr bwMode="auto">
              <a:xfrm>
                <a:off x="4412" y="897"/>
                <a:ext cx="868" cy="309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p:grpSp>
        <p:sp>
          <p:nvSpPr>
            <p:cNvPr id="460" name="Freeform 220"/>
            <p:cNvSpPr>
              <a:spLocks/>
            </p:cNvSpPr>
            <p:nvPr/>
          </p:nvSpPr>
          <p:spPr bwMode="auto">
            <a:xfrm>
              <a:off x="2329" y="3096"/>
              <a:ext cx="380" cy="247"/>
            </a:xfrm>
            <a:custGeom>
              <a:avLst/>
              <a:gdLst>
                <a:gd name="T0" fmla="*/ 0 w 614"/>
                <a:gd name="T1" fmla="*/ 240 h 336"/>
                <a:gd name="T2" fmla="*/ 0 w 614"/>
                <a:gd name="T3" fmla="*/ 336 h 336"/>
                <a:gd name="T4" fmla="*/ 614 w 614"/>
                <a:gd name="T5" fmla="*/ 84 h 336"/>
                <a:gd name="T6" fmla="*/ 614 w 614"/>
                <a:gd name="T7" fmla="*/ 0 h 336"/>
                <a:gd name="T8" fmla="*/ 0 w 614"/>
                <a:gd name="T9" fmla="*/ 240 h 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4" h="336">
                  <a:moveTo>
                    <a:pt x="0" y="240"/>
                  </a:moveTo>
                  <a:lnTo>
                    <a:pt x="0" y="336"/>
                  </a:lnTo>
                  <a:lnTo>
                    <a:pt x="614" y="84"/>
                  </a:lnTo>
                  <a:lnTo>
                    <a:pt x="614" y="0"/>
                  </a:lnTo>
                  <a:lnTo>
                    <a:pt x="0" y="240"/>
                  </a:lnTo>
                  <a:close/>
                </a:path>
              </a:pathLst>
            </a:custGeom>
            <a:solidFill>
              <a:srgbClr val="FFFFCC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sm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61" name="Line 221"/>
            <p:cNvSpPr>
              <a:spLocks noChangeShapeType="1"/>
            </p:cNvSpPr>
            <p:nvPr/>
          </p:nvSpPr>
          <p:spPr bwMode="auto">
            <a:xfrm>
              <a:off x="2452" y="3318"/>
              <a:ext cx="0" cy="3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62" name="Line 222"/>
            <p:cNvSpPr>
              <a:spLocks noChangeShapeType="1"/>
            </p:cNvSpPr>
            <p:nvPr/>
          </p:nvSpPr>
          <p:spPr bwMode="auto">
            <a:xfrm flipV="1">
              <a:off x="2332" y="3336"/>
              <a:ext cx="93" cy="45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/>
              <a:tailEnd type="non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63" name="Line 223"/>
            <p:cNvSpPr>
              <a:spLocks noChangeShapeType="1"/>
            </p:cNvSpPr>
            <p:nvPr/>
          </p:nvSpPr>
          <p:spPr bwMode="auto">
            <a:xfrm flipV="1">
              <a:off x="2332" y="3367"/>
              <a:ext cx="93" cy="45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/>
              <a:tailEnd type="non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64" name="Line 224"/>
            <p:cNvSpPr>
              <a:spLocks noChangeShapeType="1"/>
            </p:cNvSpPr>
            <p:nvPr/>
          </p:nvSpPr>
          <p:spPr bwMode="auto">
            <a:xfrm flipV="1">
              <a:off x="2332" y="3400"/>
              <a:ext cx="93" cy="46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/>
              <a:tailEnd type="non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65" name="Line 225"/>
            <p:cNvSpPr>
              <a:spLocks noChangeShapeType="1"/>
            </p:cNvSpPr>
            <p:nvPr/>
          </p:nvSpPr>
          <p:spPr bwMode="auto">
            <a:xfrm flipV="1">
              <a:off x="2332" y="3434"/>
              <a:ext cx="93" cy="46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/>
              <a:tailEnd type="non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66" name="Line 226"/>
            <p:cNvSpPr>
              <a:spLocks noChangeShapeType="1"/>
            </p:cNvSpPr>
            <p:nvPr/>
          </p:nvSpPr>
          <p:spPr bwMode="auto">
            <a:xfrm flipV="1">
              <a:off x="2332" y="3469"/>
              <a:ext cx="93" cy="46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/>
              <a:tailEnd type="non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67" name="Freeform 227"/>
            <p:cNvSpPr>
              <a:spLocks/>
            </p:cNvSpPr>
            <p:nvPr/>
          </p:nvSpPr>
          <p:spPr bwMode="auto">
            <a:xfrm>
              <a:off x="2475" y="3197"/>
              <a:ext cx="232" cy="268"/>
            </a:xfrm>
            <a:custGeom>
              <a:avLst/>
              <a:gdLst>
                <a:gd name="T0" fmla="*/ 379 w 379"/>
                <a:gd name="T1" fmla="*/ 0 h 365"/>
                <a:gd name="T2" fmla="*/ 379 w 379"/>
                <a:gd name="T3" fmla="*/ 195 h 365"/>
                <a:gd name="T4" fmla="*/ 0 w 379"/>
                <a:gd name="T5" fmla="*/ 365 h 365"/>
                <a:gd name="T6" fmla="*/ 0 w 379"/>
                <a:gd name="T7" fmla="*/ 155 h 365"/>
                <a:gd name="T8" fmla="*/ 379 w 379"/>
                <a:gd name="T9" fmla="*/ 0 h 3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9" h="365">
                  <a:moveTo>
                    <a:pt x="379" y="0"/>
                  </a:moveTo>
                  <a:lnTo>
                    <a:pt x="379" y="195"/>
                  </a:lnTo>
                  <a:lnTo>
                    <a:pt x="0" y="365"/>
                  </a:lnTo>
                  <a:lnTo>
                    <a:pt x="0" y="155"/>
                  </a:lnTo>
                  <a:lnTo>
                    <a:pt x="379" y="0"/>
                  </a:lnTo>
                  <a:close/>
                </a:path>
              </a:pathLst>
            </a:custGeom>
            <a:solidFill>
              <a:srgbClr val="FFFFCC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sm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68" name="Freeform 228"/>
            <p:cNvSpPr>
              <a:spLocks/>
            </p:cNvSpPr>
            <p:nvPr/>
          </p:nvSpPr>
          <p:spPr bwMode="auto">
            <a:xfrm>
              <a:off x="2475" y="3380"/>
              <a:ext cx="232" cy="268"/>
            </a:xfrm>
            <a:custGeom>
              <a:avLst/>
              <a:gdLst>
                <a:gd name="T0" fmla="*/ 379 w 379"/>
                <a:gd name="T1" fmla="*/ 0 h 365"/>
                <a:gd name="T2" fmla="*/ 379 w 379"/>
                <a:gd name="T3" fmla="*/ 195 h 365"/>
                <a:gd name="T4" fmla="*/ 0 w 379"/>
                <a:gd name="T5" fmla="*/ 365 h 365"/>
                <a:gd name="T6" fmla="*/ 0 w 379"/>
                <a:gd name="T7" fmla="*/ 155 h 365"/>
                <a:gd name="T8" fmla="*/ 379 w 379"/>
                <a:gd name="T9" fmla="*/ 0 h 3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9" h="365">
                  <a:moveTo>
                    <a:pt x="379" y="0"/>
                  </a:moveTo>
                  <a:lnTo>
                    <a:pt x="379" y="195"/>
                  </a:lnTo>
                  <a:lnTo>
                    <a:pt x="0" y="365"/>
                  </a:lnTo>
                  <a:lnTo>
                    <a:pt x="0" y="155"/>
                  </a:lnTo>
                  <a:lnTo>
                    <a:pt x="379" y="0"/>
                  </a:lnTo>
                  <a:close/>
                </a:path>
              </a:pathLst>
            </a:custGeom>
            <a:solidFill>
              <a:srgbClr val="FFFFCC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sm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cxnSp>
        <p:nvCxnSpPr>
          <p:cNvPr id="479" name="AutoShape 229"/>
          <p:cNvCxnSpPr>
            <a:cxnSpLocks noChangeShapeType="1"/>
          </p:cNvCxnSpPr>
          <p:nvPr/>
        </p:nvCxnSpPr>
        <p:spPr bwMode="auto">
          <a:xfrm>
            <a:off x="1828800" y="2635250"/>
            <a:ext cx="1720850" cy="666750"/>
          </a:xfrm>
          <a:prstGeom prst="bentConnector2">
            <a:avLst/>
          </a:prstGeom>
          <a:noFill/>
          <a:ln w="6350">
            <a:solidFill>
              <a:schemeClr val="tx1"/>
            </a:solidFill>
            <a:miter lim="800000"/>
            <a:headEnd/>
            <a:tailEnd type="none" w="med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80" name="Rectangle 230"/>
          <p:cNvSpPr>
            <a:spLocks noChangeArrowheads="1"/>
          </p:cNvSpPr>
          <p:nvPr/>
        </p:nvSpPr>
        <p:spPr bwMode="auto">
          <a:xfrm>
            <a:off x="2661419" y="2755900"/>
            <a:ext cx="1787525" cy="26035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3175">
                <a:solidFill>
                  <a:srgbClr val="C0C0C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1" lang="en-US" altLang="ko-KR" sz="11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B Type – Policy Page</a:t>
            </a:r>
          </a:p>
        </p:txBody>
      </p:sp>
      <p:cxnSp>
        <p:nvCxnSpPr>
          <p:cNvPr id="481" name="AutoShape 231"/>
          <p:cNvCxnSpPr>
            <a:cxnSpLocks noChangeShapeType="1"/>
          </p:cNvCxnSpPr>
          <p:nvPr/>
        </p:nvCxnSpPr>
        <p:spPr bwMode="auto">
          <a:xfrm>
            <a:off x="2428875" y="2482850"/>
            <a:ext cx="5800725" cy="763588"/>
          </a:xfrm>
          <a:prstGeom prst="bentConnector2">
            <a:avLst/>
          </a:prstGeom>
          <a:noFill/>
          <a:ln w="6350">
            <a:solidFill>
              <a:schemeClr val="tx1"/>
            </a:solidFill>
            <a:miter lim="800000"/>
            <a:headEnd/>
            <a:tailEnd type="none" w="med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82" name="Rectangle 232"/>
          <p:cNvSpPr>
            <a:spLocks noChangeArrowheads="1"/>
          </p:cNvSpPr>
          <p:nvPr/>
        </p:nvSpPr>
        <p:spPr bwMode="auto">
          <a:xfrm>
            <a:off x="7262813" y="2787650"/>
            <a:ext cx="2075282" cy="26161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3175">
                <a:solidFill>
                  <a:srgbClr val="C0C0C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kumimoji="1" lang="en-US" altLang="ko-KR" sz="11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D Type – Mobile Web Page</a:t>
            </a:r>
          </a:p>
        </p:txBody>
      </p:sp>
      <p:cxnSp>
        <p:nvCxnSpPr>
          <p:cNvPr id="483" name="AutoShape 233"/>
          <p:cNvCxnSpPr>
            <a:cxnSpLocks noChangeShapeType="1"/>
          </p:cNvCxnSpPr>
          <p:nvPr/>
        </p:nvCxnSpPr>
        <p:spPr bwMode="auto">
          <a:xfrm>
            <a:off x="1920875" y="2541588"/>
            <a:ext cx="3695700" cy="666750"/>
          </a:xfrm>
          <a:prstGeom prst="bentConnector2">
            <a:avLst/>
          </a:prstGeom>
          <a:noFill/>
          <a:ln w="6350">
            <a:solidFill>
              <a:schemeClr val="tx1"/>
            </a:solidFill>
            <a:miter lim="800000"/>
            <a:headEnd/>
            <a:tailEnd type="none" w="med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484" name="Group 234"/>
          <p:cNvGrpSpPr>
            <a:grpSpLocks/>
          </p:cNvGrpSpPr>
          <p:nvPr/>
        </p:nvGrpSpPr>
        <p:grpSpPr bwMode="auto">
          <a:xfrm>
            <a:off x="1838325" y="1950444"/>
            <a:ext cx="600075" cy="921789"/>
            <a:chOff x="2256" y="2905"/>
            <a:chExt cx="479" cy="903"/>
          </a:xfrm>
        </p:grpSpPr>
        <p:grpSp>
          <p:nvGrpSpPr>
            <p:cNvPr id="485" name="Group 235"/>
            <p:cNvGrpSpPr>
              <a:grpSpLocks/>
            </p:cNvGrpSpPr>
            <p:nvPr/>
          </p:nvGrpSpPr>
          <p:grpSpPr bwMode="auto">
            <a:xfrm flipH="1">
              <a:off x="2256" y="2905"/>
              <a:ext cx="479" cy="903"/>
              <a:chOff x="4320" y="773"/>
              <a:chExt cx="964" cy="1373"/>
            </a:xfrm>
          </p:grpSpPr>
          <p:sp>
            <p:nvSpPr>
              <p:cNvPr id="495" name="Rectangle 236"/>
              <p:cNvSpPr>
                <a:spLocks noChangeArrowheads="1"/>
              </p:cNvSpPr>
              <p:nvPr/>
            </p:nvSpPr>
            <p:spPr bwMode="auto">
              <a:xfrm>
                <a:off x="5193" y="1402"/>
                <a:ext cx="90" cy="550"/>
              </a:xfrm>
              <a:prstGeom prst="rect">
                <a:avLst/>
              </a:prstGeom>
              <a:solidFill>
                <a:srgbClr val="4D4D4D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496" name="Freeform 237"/>
              <p:cNvSpPr>
                <a:spLocks/>
              </p:cNvSpPr>
              <p:nvPr/>
            </p:nvSpPr>
            <p:spPr bwMode="auto">
              <a:xfrm rot="21540000">
                <a:off x="4321" y="773"/>
                <a:ext cx="963" cy="550"/>
              </a:xfrm>
              <a:custGeom>
                <a:avLst/>
                <a:gdLst>
                  <a:gd name="T0" fmla="*/ 0 w 963"/>
                  <a:gd name="T1" fmla="*/ 12 h 318"/>
                  <a:gd name="T2" fmla="*/ 870 w 963"/>
                  <a:gd name="T3" fmla="*/ 318 h 318"/>
                  <a:gd name="T4" fmla="*/ 963 w 963"/>
                  <a:gd name="T5" fmla="*/ 315 h 318"/>
                  <a:gd name="T6" fmla="*/ 78 w 963"/>
                  <a:gd name="T7" fmla="*/ 0 h 318"/>
                  <a:gd name="T8" fmla="*/ 0 w 963"/>
                  <a:gd name="T9" fmla="*/ 12 h 3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63" h="318">
                    <a:moveTo>
                      <a:pt x="0" y="12"/>
                    </a:moveTo>
                    <a:lnTo>
                      <a:pt x="870" y="318"/>
                    </a:lnTo>
                    <a:lnTo>
                      <a:pt x="963" y="315"/>
                    </a:lnTo>
                    <a:lnTo>
                      <a:pt x="78" y="0"/>
                    </a:lnTo>
                    <a:lnTo>
                      <a:pt x="0" y="12"/>
                    </a:lnTo>
                    <a:close/>
                  </a:path>
                </a:pathLst>
              </a:custGeom>
              <a:solidFill>
                <a:srgbClr val="969696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905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grpSp>
            <p:nvGrpSpPr>
              <p:cNvPr id="497" name="Group 238"/>
              <p:cNvGrpSpPr>
                <a:grpSpLocks/>
              </p:cNvGrpSpPr>
              <p:nvPr/>
            </p:nvGrpSpPr>
            <p:grpSpPr bwMode="auto">
              <a:xfrm>
                <a:off x="4322" y="905"/>
                <a:ext cx="871" cy="1238"/>
                <a:chOff x="4176" y="936"/>
                <a:chExt cx="719" cy="1022"/>
              </a:xfrm>
            </p:grpSpPr>
            <p:sp>
              <p:nvSpPr>
                <p:cNvPr id="503" name="AutoShape 239"/>
                <p:cNvSpPr>
                  <a:spLocks noChangeArrowheads="1"/>
                </p:cNvSpPr>
                <p:nvPr/>
              </p:nvSpPr>
              <p:spPr bwMode="auto">
                <a:xfrm rot="16200000">
                  <a:off x="4025" y="1087"/>
                  <a:ext cx="1022" cy="719"/>
                </a:xfrm>
                <a:prstGeom prst="parallelogram">
                  <a:avLst>
                    <a:gd name="adj" fmla="val 35535"/>
                  </a:avLst>
                </a:prstGeom>
                <a:solidFill>
                  <a:srgbClr val="DDDDDD"/>
                </a:solidFill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ko-KR" altLang="en-US">
                    <a:latin typeface="나눔고딕" panose="020D0604000000000000" pitchFamily="50" charset="-127"/>
                    <a:ea typeface="나눔고딕" panose="020D0604000000000000" pitchFamily="50" charset="-127"/>
                  </a:endParaRPr>
                </a:p>
              </p:txBody>
            </p:sp>
            <p:sp>
              <p:nvSpPr>
                <p:cNvPr id="504" name="Line 240"/>
                <p:cNvSpPr>
                  <a:spLocks noChangeShapeType="1"/>
                </p:cNvSpPr>
                <p:nvPr/>
              </p:nvSpPr>
              <p:spPr bwMode="auto">
                <a:xfrm>
                  <a:off x="4176" y="1001"/>
                  <a:ext cx="718" cy="25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ko-KR" altLang="en-US">
                    <a:latin typeface="나눔고딕" panose="020D0604000000000000" pitchFamily="50" charset="-127"/>
                    <a:ea typeface="나눔고딕" panose="020D0604000000000000" pitchFamily="50" charset="-127"/>
                  </a:endParaRPr>
                </a:p>
              </p:txBody>
            </p:sp>
          </p:grpSp>
          <p:sp>
            <p:nvSpPr>
              <p:cNvPr id="498" name="Line 241"/>
              <p:cNvSpPr>
                <a:spLocks noChangeShapeType="1"/>
              </p:cNvSpPr>
              <p:nvPr/>
            </p:nvSpPr>
            <p:spPr bwMode="auto">
              <a:xfrm>
                <a:off x="5192" y="2143"/>
                <a:ext cx="9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499" name="Line 242"/>
              <p:cNvSpPr>
                <a:spLocks noChangeShapeType="1"/>
              </p:cNvSpPr>
              <p:nvPr/>
            </p:nvSpPr>
            <p:spPr bwMode="auto">
              <a:xfrm>
                <a:off x="5192" y="1211"/>
                <a:ext cx="9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500" name="Line 243"/>
              <p:cNvSpPr>
                <a:spLocks noChangeShapeType="1"/>
              </p:cNvSpPr>
              <p:nvPr/>
            </p:nvSpPr>
            <p:spPr bwMode="auto">
              <a:xfrm flipV="1">
                <a:off x="5281" y="1208"/>
                <a:ext cx="0" cy="938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501" name="Line 244"/>
              <p:cNvSpPr>
                <a:spLocks noChangeShapeType="1"/>
              </p:cNvSpPr>
              <p:nvPr/>
            </p:nvSpPr>
            <p:spPr bwMode="auto">
              <a:xfrm>
                <a:off x="4320" y="897"/>
                <a:ext cx="9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502" name="Line 245"/>
              <p:cNvSpPr>
                <a:spLocks noChangeShapeType="1"/>
              </p:cNvSpPr>
              <p:nvPr/>
            </p:nvSpPr>
            <p:spPr bwMode="auto">
              <a:xfrm>
                <a:off x="4412" y="897"/>
                <a:ext cx="868" cy="309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p:grpSp>
        <p:sp>
          <p:nvSpPr>
            <p:cNvPr id="486" name="Freeform 246"/>
            <p:cNvSpPr>
              <a:spLocks/>
            </p:cNvSpPr>
            <p:nvPr/>
          </p:nvSpPr>
          <p:spPr bwMode="auto">
            <a:xfrm>
              <a:off x="2329" y="3096"/>
              <a:ext cx="380" cy="247"/>
            </a:xfrm>
            <a:custGeom>
              <a:avLst/>
              <a:gdLst>
                <a:gd name="T0" fmla="*/ 0 w 614"/>
                <a:gd name="T1" fmla="*/ 240 h 336"/>
                <a:gd name="T2" fmla="*/ 0 w 614"/>
                <a:gd name="T3" fmla="*/ 336 h 336"/>
                <a:gd name="T4" fmla="*/ 614 w 614"/>
                <a:gd name="T5" fmla="*/ 84 h 336"/>
                <a:gd name="T6" fmla="*/ 614 w 614"/>
                <a:gd name="T7" fmla="*/ 0 h 336"/>
                <a:gd name="T8" fmla="*/ 0 w 614"/>
                <a:gd name="T9" fmla="*/ 240 h 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4" h="336">
                  <a:moveTo>
                    <a:pt x="0" y="240"/>
                  </a:moveTo>
                  <a:lnTo>
                    <a:pt x="0" y="336"/>
                  </a:lnTo>
                  <a:lnTo>
                    <a:pt x="614" y="84"/>
                  </a:lnTo>
                  <a:lnTo>
                    <a:pt x="614" y="0"/>
                  </a:lnTo>
                  <a:lnTo>
                    <a:pt x="0" y="240"/>
                  </a:lnTo>
                  <a:close/>
                </a:path>
              </a:pathLst>
            </a:custGeom>
            <a:solidFill>
              <a:srgbClr val="EAEAEA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sm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87" name="Line 247"/>
            <p:cNvSpPr>
              <a:spLocks noChangeShapeType="1"/>
            </p:cNvSpPr>
            <p:nvPr/>
          </p:nvSpPr>
          <p:spPr bwMode="auto">
            <a:xfrm>
              <a:off x="2452" y="3318"/>
              <a:ext cx="0" cy="3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88" name="Line 248"/>
            <p:cNvSpPr>
              <a:spLocks noChangeShapeType="1"/>
            </p:cNvSpPr>
            <p:nvPr/>
          </p:nvSpPr>
          <p:spPr bwMode="auto">
            <a:xfrm flipV="1">
              <a:off x="2332" y="3336"/>
              <a:ext cx="93" cy="45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/>
              <a:tailEnd type="non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89" name="Line 249"/>
            <p:cNvSpPr>
              <a:spLocks noChangeShapeType="1"/>
            </p:cNvSpPr>
            <p:nvPr/>
          </p:nvSpPr>
          <p:spPr bwMode="auto">
            <a:xfrm flipV="1">
              <a:off x="2332" y="3367"/>
              <a:ext cx="93" cy="45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/>
              <a:tailEnd type="non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90" name="Line 250"/>
            <p:cNvSpPr>
              <a:spLocks noChangeShapeType="1"/>
            </p:cNvSpPr>
            <p:nvPr/>
          </p:nvSpPr>
          <p:spPr bwMode="auto">
            <a:xfrm flipV="1">
              <a:off x="2332" y="3400"/>
              <a:ext cx="93" cy="46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/>
              <a:tailEnd type="non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91" name="Line 251"/>
            <p:cNvSpPr>
              <a:spLocks noChangeShapeType="1"/>
            </p:cNvSpPr>
            <p:nvPr/>
          </p:nvSpPr>
          <p:spPr bwMode="auto">
            <a:xfrm flipV="1">
              <a:off x="2332" y="3434"/>
              <a:ext cx="93" cy="46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/>
              <a:tailEnd type="non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92" name="Line 252"/>
            <p:cNvSpPr>
              <a:spLocks noChangeShapeType="1"/>
            </p:cNvSpPr>
            <p:nvPr/>
          </p:nvSpPr>
          <p:spPr bwMode="auto">
            <a:xfrm flipV="1">
              <a:off x="2332" y="3469"/>
              <a:ext cx="93" cy="46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/>
              <a:tailEnd type="non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93" name="Freeform 253"/>
            <p:cNvSpPr>
              <a:spLocks/>
            </p:cNvSpPr>
            <p:nvPr/>
          </p:nvSpPr>
          <p:spPr bwMode="auto">
            <a:xfrm>
              <a:off x="2475" y="3197"/>
              <a:ext cx="232" cy="268"/>
            </a:xfrm>
            <a:custGeom>
              <a:avLst/>
              <a:gdLst>
                <a:gd name="T0" fmla="*/ 379 w 379"/>
                <a:gd name="T1" fmla="*/ 0 h 365"/>
                <a:gd name="T2" fmla="*/ 379 w 379"/>
                <a:gd name="T3" fmla="*/ 195 h 365"/>
                <a:gd name="T4" fmla="*/ 0 w 379"/>
                <a:gd name="T5" fmla="*/ 365 h 365"/>
                <a:gd name="T6" fmla="*/ 0 w 379"/>
                <a:gd name="T7" fmla="*/ 155 h 365"/>
                <a:gd name="T8" fmla="*/ 379 w 379"/>
                <a:gd name="T9" fmla="*/ 0 h 3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9" h="365">
                  <a:moveTo>
                    <a:pt x="379" y="0"/>
                  </a:moveTo>
                  <a:lnTo>
                    <a:pt x="379" y="195"/>
                  </a:lnTo>
                  <a:lnTo>
                    <a:pt x="0" y="365"/>
                  </a:lnTo>
                  <a:lnTo>
                    <a:pt x="0" y="155"/>
                  </a:lnTo>
                  <a:lnTo>
                    <a:pt x="379" y="0"/>
                  </a:lnTo>
                  <a:close/>
                </a:path>
              </a:pathLst>
            </a:custGeom>
            <a:solidFill>
              <a:srgbClr val="EAEAEA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sm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94" name="Freeform 254"/>
            <p:cNvSpPr>
              <a:spLocks/>
            </p:cNvSpPr>
            <p:nvPr/>
          </p:nvSpPr>
          <p:spPr bwMode="auto">
            <a:xfrm>
              <a:off x="2475" y="3380"/>
              <a:ext cx="232" cy="268"/>
            </a:xfrm>
            <a:custGeom>
              <a:avLst/>
              <a:gdLst>
                <a:gd name="T0" fmla="*/ 379 w 379"/>
                <a:gd name="T1" fmla="*/ 0 h 365"/>
                <a:gd name="T2" fmla="*/ 379 w 379"/>
                <a:gd name="T3" fmla="*/ 195 h 365"/>
                <a:gd name="T4" fmla="*/ 0 w 379"/>
                <a:gd name="T5" fmla="*/ 365 h 365"/>
                <a:gd name="T6" fmla="*/ 0 w 379"/>
                <a:gd name="T7" fmla="*/ 155 h 365"/>
                <a:gd name="T8" fmla="*/ 379 w 379"/>
                <a:gd name="T9" fmla="*/ 0 h 3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9" h="365">
                  <a:moveTo>
                    <a:pt x="379" y="0"/>
                  </a:moveTo>
                  <a:lnTo>
                    <a:pt x="379" y="195"/>
                  </a:lnTo>
                  <a:lnTo>
                    <a:pt x="0" y="365"/>
                  </a:lnTo>
                  <a:lnTo>
                    <a:pt x="0" y="155"/>
                  </a:lnTo>
                  <a:lnTo>
                    <a:pt x="379" y="0"/>
                  </a:lnTo>
                  <a:close/>
                </a:path>
              </a:pathLst>
            </a:custGeom>
            <a:solidFill>
              <a:srgbClr val="EAEAEA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sm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sp>
        <p:nvSpPr>
          <p:cNvPr id="505" name="Rectangle 255"/>
          <p:cNvSpPr>
            <a:spLocks noChangeArrowheads="1"/>
          </p:cNvSpPr>
          <p:nvPr/>
        </p:nvSpPr>
        <p:spPr bwMode="auto">
          <a:xfrm>
            <a:off x="4689475" y="2787650"/>
            <a:ext cx="2397125" cy="26035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3175">
                <a:solidFill>
                  <a:srgbClr val="C0C0C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1" lang="en-US" altLang="ko-KR" sz="11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C Type – Promotion Page</a:t>
            </a:r>
          </a:p>
        </p:txBody>
      </p:sp>
      <p:grpSp>
        <p:nvGrpSpPr>
          <p:cNvPr id="506" name="Group 256"/>
          <p:cNvGrpSpPr>
            <a:grpSpLocks/>
          </p:cNvGrpSpPr>
          <p:nvPr/>
        </p:nvGrpSpPr>
        <p:grpSpPr bwMode="auto">
          <a:xfrm>
            <a:off x="856928" y="5250410"/>
            <a:ext cx="600075" cy="921789"/>
            <a:chOff x="2256" y="2905"/>
            <a:chExt cx="479" cy="903"/>
          </a:xfrm>
        </p:grpSpPr>
        <p:grpSp>
          <p:nvGrpSpPr>
            <p:cNvPr id="507" name="Group 257"/>
            <p:cNvGrpSpPr>
              <a:grpSpLocks/>
            </p:cNvGrpSpPr>
            <p:nvPr/>
          </p:nvGrpSpPr>
          <p:grpSpPr bwMode="auto">
            <a:xfrm flipH="1">
              <a:off x="2256" y="2905"/>
              <a:ext cx="479" cy="903"/>
              <a:chOff x="4320" y="773"/>
              <a:chExt cx="964" cy="1373"/>
            </a:xfrm>
          </p:grpSpPr>
          <p:sp>
            <p:nvSpPr>
              <p:cNvPr id="517" name="Rectangle 258"/>
              <p:cNvSpPr>
                <a:spLocks noChangeArrowheads="1"/>
              </p:cNvSpPr>
              <p:nvPr/>
            </p:nvSpPr>
            <p:spPr bwMode="auto">
              <a:xfrm>
                <a:off x="5193" y="1402"/>
                <a:ext cx="90" cy="550"/>
              </a:xfrm>
              <a:prstGeom prst="rect">
                <a:avLst/>
              </a:prstGeom>
              <a:solidFill>
                <a:srgbClr val="9C9A3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518" name="Freeform 259"/>
              <p:cNvSpPr>
                <a:spLocks/>
              </p:cNvSpPr>
              <p:nvPr/>
            </p:nvSpPr>
            <p:spPr bwMode="auto">
              <a:xfrm rot="21540000">
                <a:off x="4321" y="773"/>
                <a:ext cx="963" cy="550"/>
              </a:xfrm>
              <a:custGeom>
                <a:avLst/>
                <a:gdLst>
                  <a:gd name="T0" fmla="*/ 0 w 963"/>
                  <a:gd name="T1" fmla="*/ 12 h 318"/>
                  <a:gd name="T2" fmla="*/ 870 w 963"/>
                  <a:gd name="T3" fmla="*/ 318 h 318"/>
                  <a:gd name="T4" fmla="*/ 963 w 963"/>
                  <a:gd name="T5" fmla="*/ 315 h 318"/>
                  <a:gd name="T6" fmla="*/ 78 w 963"/>
                  <a:gd name="T7" fmla="*/ 0 h 318"/>
                  <a:gd name="T8" fmla="*/ 0 w 963"/>
                  <a:gd name="T9" fmla="*/ 12 h 3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63" h="318">
                    <a:moveTo>
                      <a:pt x="0" y="12"/>
                    </a:moveTo>
                    <a:lnTo>
                      <a:pt x="870" y="318"/>
                    </a:lnTo>
                    <a:lnTo>
                      <a:pt x="963" y="315"/>
                    </a:lnTo>
                    <a:lnTo>
                      <a:pt x="78" y="0"/>
                    </a:lnTo>
                    <a:lnTo>
                      <a:pt x="0" y="12"/>
                    </a:lnTo>
                    <a:close/>
                  </a:path>
                </a:pathLst>
              </a:custGeom>
              <a:solidFill>
                <a:srgbClr val="9C9A3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905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grpSp>
            <p:nvGrpSpPr>
              <p:cNvPr id="519" name="Group 260"/>
              <p:cNvGrpSpPr>
                <a:grpSpLocks/>
              </p:cNvGrpSpPr>
              <p:nvPr/>
            </p:nvGrpSpPr>
            <p:grpSpPr bwMode="auto">
              <a:xfrm>
                <a:off x="4322" y="905"/>
                <a:ext cx="871" cy="1238"/>
                <a:chOff x="4176" y="936"/>
                <a:chExt cx="719" cy="1022"/>
              </a:xfrm>
            </p:grpSpPr>
            <p:sp>
              <p:nvSpPr>
                <p:cNvPr id="525" name="AutoShape 261"/>
                <p:cNvSpPr>
                  <a:spLocks noChangeArrowheads="1"/>
                </p:cNvSpPr>
                <p:nvPr/>
              </p:nvSpPr>
              <p:spPr bwMode="auto">
                <a:xfrm rot="16200000">
                  <a:off x="4025" y="1087"/>
                  <a:ext cx="1022" cy="719"/>
                </a:xfrm>
                <a:prstGeom prst="parallelogram">
                  <a:avLst>
                    <a:gd name="adj" fmla="val 35535"/>
                  </a:avLst>
                </a:prstGeom>
                <a:solidFill>
                  <a:srgbClr val="9C9A32"/>
                </a:solidFill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ko-KR" altLang="en-US">
                    <a:latin typeface="나눔고딕" panose="020D0604000000000000" pitchFamily="50" charset="-127"/>
                    <a:ea typeface="나눔고딕" panose="020D0604000000000000" pitchFamily="50" charset="-127"/>
                  </a:endParaRPr>
                </a:p>
              </p:txBody>
            </p:sp>
            <p:sp>
              <p:nvSpPr>
                <p:cNvPr id="526" name="Line 262"/>
                <p:cNvSpPr>
                  <a:spLocks noChangeShapeType="1"/>
                </p:cNvSpPr>
                <p:nvPr/>
              </p:nvSpPr>
              <p:spPr bwMode="auto">
                <a:xfrm>
                  <a:off x="4176" y="1001"/>
                  <a:ext cx="718" cy="25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ko-KR" altLang="en-US">
                    <a:latin typeface="나눔고딕" panose="020D0604000000000000" pitchFamily="50" charset="-127"/>
                    <a:ea typeface="나눔고딕" panose="020D0604000000000000" pitchFamily="50" charset="-127"/>
                  </a:endParaRPr>
                </a:p>
              </p:txBody>
            </p:sp>
          </p:grpSp>
          <p:sp>
            <p:nvSpPr>
              <p:cNvPr id="520" name="Line 263"/>
              <p:cNvSpPr>
                <a:spLocks noChangeShapeType="1"/>
              </p:cNvSpPr>
              <p:nvPr/>
            </p:nvSpPr>
            <p:spPr bwMode="auto">
              <a:xfrm>
                <a:off x="5192" y="2143"/>
                <a:ext cx="9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521" name="Line 264"/>
              <p:cNvSpPr>
                <a:spLocks noChangeShapeType="1"/>
              </p:cNvSpPr>
              <p:nvPr/>
            </p:nvSpPr>
            <p:spPr bwMode="auto">
              <a:xfrm>
                <a:off x="5192" y="1211"/>
                <a:ext cx="9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522" name="Line 265"/>
              <p:cNvSpPr>
                <a:spLocks noChangeShapeType="1"/>
              </p:cNvSpPr>
              <p:nvPr/>
            </p:nvSpPr>
            <p:spPr bwMode="auto">
              <a:xfrm flipV="1">
                <a:off x="5281" y="1208"/>
                <a:ext cx="0" cy="938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523" name="Line 266"/>
              <p:cNvSpPr>
                <a:spLocks noChangeShapeType="1"/>
              </p:cNvSpPr>
              <p:nvPr/>
            </p:nvSpPr>
            <p:spPr bwMode="auto">
              <a:xfrm>
                <a:off x="4320" y="897"/>
                <a:ext cx="9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524" name="Line 267"/>
              <p:cNvSpPr>
                <a:spLocks noChangeShapeType="1"/>
              </p:cNvSpPr>
              <p:nvPr/>
            </p:nvSpPr>
            <p:spPr bwMode="auto">
              <a:xfrm>
                <a:off x="4412" y="897"/>
                <a:ext cx="868" cy="309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p:grpSp>
        <p:sp>
          <p:nvSpPr>
            <p:cNvPr id="508" name="Freeform 268"/>
            <p:cNvSpPr>
              <a:spLocks/>
            </p:cNvSpPr>
            <p:nvPr/>
          </p:nvSpPr>
          <p:spPr bwMode="auto">
            <a:xfrm>
              <a:off x="2329" y="3096"/>
              <a:ext cx="380" cy="247"/>
            </a:xfrm>
            <a:custGeom>
              <a:avLst/>
              <a:gdLst>
                <a:gd name="T0" fmla="*/ 0 w 614"/>
                <a:gd name="T1" fmla="*/ 240 h 336"/>
                <a:gd name="T2" fmla="*/ 0 w 614"/>
                <a:gd name="T3" fmla="*/ 336 h 336"/>
                <a:gd name="T4" fmla="*/ 614 w 614"/>
                <a:gd name="T5" fmla="*/ 84 h 336"/>
                <a:gd name="T6" fmla="*/ 614 w 614"/>
                <a:gd name="T7" fmla="*/ 0 h 336"/>
                <a:gd name="T8" fmla="*/ 0 w 614"/>
                <a:gd name="T9" fmla="*/ 240 h 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4" h="336">
                  <a:moveTo>
                    <a:pt x="0" y="240"/>
                  </a:moveTo>
                  <a:lnTo>
                    <a:pt x="0" y="336"/>
                  </a:lnTo>
                  <a:lnTo>
                    <a:pt x="614" y="84"/>
                  </a:lnTo>
                  <a:lnTo>
                    <a:pt x="614" y="0"/>
                  </a:lnTo>
                  <a:lnTo>
                    <a:pt x="0" y="240"/>
                  </a:lnTo>
                  <a:close/>
                </a:path>
              </a:pathLst>
            </a:custGeom>
            <a:solidFill>
              <a:srgbClr val="9C9A32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sm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509" name="Line 269"/>
            <p:cNvSpPr>
              <a:spLocks noChangeShapeType="1"/>
            </p:cNvSpPr>
            <p:nvPr/>
          </p:nvSpPr>
          <p:spPr bwMode="auto">
            <a:xfrm>
              <a:off x="2452" y="3318"/>
              <a:ext cx="0" cy="3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510" name="Line 270"/>
            <p:cNvSpPr>
              <a:spLocks noChangeShapeType="1"/>
            </p:cNvSpPr>
            <p:nvPr/>
          </p:nvSpPr>
          <p:spPr bwMode="auto">
            <a:xfrm flipV="1">
              <a:off x="2332" y="3336"/>
              <a:ext cx="93" cy="45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/>
              <a:tailEnd type="non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511" name="Line 271"/>
            <p:cNvSpPr>
              <a:spLocks noChangeShapeType="1"/>
            </p:cNvSpPr>
            <p:nvPr/>
          </p:nvSpPr>
          <p:spPr bwMode="auto">
            <a:xfrm flipV="1">
              <a:off x="2332" y="3367"/>
              <a:ext cx="93" cy="45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/>
              <a:tailEnd type="non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512" name="Line 272"/>
            <p:cNvSpPr>
              <a:spLocks noChangeShapeType="1"/>
            </p:cNvSpPr>
            <p:nvPr/>
          </p:nvSpPr>
          <p:spPr bwMode="auto">
            <a:xfrm flipV="1">
              <a:off x="2332" y="3400"/>
              <a:ext cx="93" cy="46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/>
              <a:tailEnd type="non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513" name="Line 273"/>
            <p:cNvSpPr>
              <a:spLocks noChangeShapeType="1"/>
            </p:cNvSpPr>
            <p:nvPr/>
          </p:nvSpPr>
          <p:spPr bwMode="auto">
            <a:xfrm flipV="1">
              <a:off x="2332" y="3434"/>
              <a:ext cx="93" cy="46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/>
              <a:tailEnd type="non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514" name="Line 274"/>
            <p:cNvSpPr>
              <a:spLocks noChangeShapeType="1"/>
            </p:cNvSpPr>
            <p:nvPr/>
          </p:nvSpPr>
          <p:spPr bwMode="auto">
            <a:xfrm flipV="1">
              <a:off x="2332" y="3469"/>
              <a:ext cx="93" cy="46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/>
              <a:tailEnd type="non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515" name="Freeform 275"/>
            <p:cNvSpPr>
              <a:spLocks/>
            </p:cNvSpPr>
            <p:nvPr/>
          </p:nvSpPr>
          <p:spPr bwMode="auto">
            <a:xfrm>
              <a:off x="2475" y="3197"/>
              <a:ext cx="232" cy="268"/>
            </a:xfrm>
            <a:custGeom>
              <a:avLst/>
              <a:gdLst>
                <a:gd name="T0" fmla="*/ 379 w 379"/>
                <a:gd name="T1" fmla="*/ 0 h 365"/>
                <a:gd name="T2" fmla="*/ 379 w 379"/>
                <a:gd name="T3" fmla="*/ 195 h 365"/>
                <a:gd name="T4" fmla="*/ 0 w 379"/>
                <a:gd name="T5" fmla="*/ 365 h 365"/>
                <a:gd name="T6" fmla="*/ 0 w 379"/>
                <a:gd name="T7" fmla="*/ 155 h 365"/>
                <a:gd name="T8" fmla="*/ 379 w 379"/>
                <a:gd name="T9" fmla="*/ 0 h 3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9" h="365">
                  <a:moveTo>
                    <a:pt x="379" y="0"/>
                  </a:moveTo>
                  <a:lnTo>
                    <a:pt x="379" y="195"/>
                  </a:lnTo>
                  <a:lnTo>
                    <a:pt x="0" y="365"/>
                  </a:lnTo>
                  <a:lnTo>
                    <a:pt x="0" y="155"/>
                  </a:lnTo>
                  <a:lnTo>
                    <a:pt x="379" y="0"/>
                  </a:lnTo>
                  <a:close/>
                </a:path>
              </a:pathLst>
            </a:custGeom>
            <a:solidFill>
              <a:srgbClr val="9C9A32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sm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516" name="Freeform 276"/>
            <p:cNvSpPr>
              <a:spLocks/>
            </p:cNvSpPr>
            <p:nvPr/>
          </p:nvSpPr>
          <p:spPr bwMode="auto">
            <a:xfrm>
              <a:off x="2475" y="3380"/>
              <a:ext cx="232" cy="268"/>
            </a:xfrm>
            <a:custGeom>
              <a:avLst/>
              <a:gdLst>
                <a:gd name="T0" fmla="*/ 379 w 379"/>
                <a:gd name="T1" fmla="*/ 0 h 365"/>
                <a:gd name="T2" fmla="*/ 379 w 379"/>
                <a:gd name="T3" fmla="*/ 195 h 365"/>
                <a:gd name="T4" fmla="*/ 0 w 379"/>
                <a:gd name="T5" fmla="*/ 365 h 365"/>
                <a:gd name="T6" fmla="*/ 0 w 379"/>
                <a:gd name="T7" fmla="*/ 155 h 365"/>
                <a:gd name="T8" fmla="*/ 379 w 379"/>
                <a:gd name="T9" fmla="*/ 0 h 3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9" h="365">
                  <a:moveTo>
                    <a:pt x="379" y="0"/>
                  </a:moveTo>
                  <a:lnTo>
                    <a:pt x="379" y="195"/>
                  </a:lnTo>
                  <a:lnTo>
                    <a:pt x="0" y="365"/>
                  </a:lnTo>
                  <a:lnTo>
                    <a:pt x="0" y="155"/>
                  </a:lnTo>
                  <a:lnTo>
                    <a:pt x="379" y="0"/>
                  </a:lnTo>
                  <a:close/>
                </a:path>
              </a:pathLst>
            </a:custGeom>
            <a:solidFill>
              <a:srgbClr val="9C9A32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sm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grpSp>
        <p:nvGrpSpPr>
          <p:cNvPr id="527" name="Group 277"/>
          <p:cNvGrpSpPr>
            <a:grpSpLocks/>
          </p:cNvGrpSpPr>
          <p:nvPr/>
        </p:nvGrpSpPr>
        <p:grpSpPr bwMode="auto">
          <a:xfrm>
            <a:off x="1618928" y="5250410"/>
            <a:ext cx="600075" cy="921789"/>
            <a:chOff x="2256" y="2905"/>
            <a:chExt cx="479" cy="903"/>
          </a:xfrm>
        </p:grpSpPr>
        <p:grpSp>
          <p:nvGrpSpPr>
            <p:cNvPr id="528" name="Group 278"/>
            <p:cNvGrpSpPr>
              <a:grpSpLocks/>
            </p:cNvGrpSpPr>
            <p:nvPr/>
          </p:nvGrpSpPr>
          <p:grpSpPr bwMode="auto">
            <a:xfrm flipH="1">
              <a:off x="2256" y="2905"/>
              <a:ext cx="479" cy="903"/>
              <a:chOff x="4320" y="773"/>
              <a:chExt cx="964" cy="1373"/>
            </a:xfrm>
          </p:grpSpPr>
          <p:sp>
            <p:nvSpPr>
              <p:cNvPr id="538" name="Rectangle 279"/>
              <p:cNvSpPr>
                <a:spLocks noChangeArrowheads="1"/>
              </p:cNvSpPr>
              <p:nvPr/>
            </p:nvSpPr>
            <p:spPr bwMode="auto">
              <a:xfrm>
                <a:off x="5193" y="1402"/>
                <a:ext cx="90" cy="550"/>
              </a:xfrm>
              <a:prstGeom prst="rect">
                <a:avLst/>
              </a:prstGeom>
              <a:solidFill>
                <a:srgbClr val="9C9A3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539" name="Freeform 280"/>
              <p:cNvSpPr>
                <a:spLocks/>
              </p:cNvSpPr>
              <p:nvPr/>
            </p:nvSpPr>
            <p:spPr bwMode="auto">
              <a:xfrm rot="21540000">
                <a:off x="4321" y="773"/>
                <a:ext cx="963" cy="550"/>
              </a:xfrm>
              <a:custGeom>
                <a:avLst/>
                <a:gdLst>
                  <a:gd name="T0" fmla="*/ 0 w 963"/>
                  <a:gd name="T1" fmla="*/ 12 h 318"/>
                  <a:gd name="T2" fmla="*/ 870 w 963"/>
                  <a:gd name="T3" fmla="*/ 318 h 318"/>
                  <a:gd name="T4" fmla="*/ 963 w 963"/>
                  <a:gd name="T5" fmla="*/ 315 h 318"/>
                  <a:gd name="T6" fmla="*/ 78 w 963"/>
                  <a:gd name="T7" fmla="*/ 0 h 318"/>
                  <a:gd name="T8" fmla="*/ 0 w 963"/>
                  <a:gd name="T9" fmla="*/ 12 h 3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63" h="318">
                    <a:moveTo>
                      <a:pt x="0" y="12"/>
                    </a:moveTo>
                    <a:lnTo>
                      <a:pt x="870" y="318"/>
                    </a:lnTo>
                    <a:lnTo>
                      <a:pt x="963" y="315"/>
                    </a:lnTo>
                    <a:lnTo>
                      <a:pt x="78" y="0"/>
                    </a:lnTo>
                    <a:lnTo>
                      <a:pt x="0" y="12"/>
                    </a:lnTo>
                    <a:close/>
                  </a:path>
                </a:pathLst>
              </a:custGeom>
              <a:solidFill>
                <a:srgbClr val="9C9A3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905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grpSp>
            <p:nvGrpSpPr>
              <p:cNvPr id="540" name="Group 281"/>
              <p:cNvGrpSpPr>
                <a:grpSpLocks/>
              </p:cNvGrpSpPr>
              <p:nvPr/>
            </p:nvGrpSpPr>
            <p:grpSpPr bwMode="auto">
              <a:xfrm>
                <a:off x="4322" y="905"/>
                <a:ext cx="871" cy="1238"/>
                <a:chOff x="4176" y="936"/>
                <a:chExt cx="719" cy="1022"/>
              </a:xfrm>
            </p:grpSpPr>
            <p:sp>
              <p:nvSpPr>
                <p:cNvPr id="546" name="AutoShape 282"/>
                <p:cNvSpPr>
                  <a:spLocks noChangeArrowheads="1"/>
                </p:cNvSpPr>
                <p:nvPr/>
              </p:nvSpPr>
              <p:spPr bwMode="auto">
                <a:xfrm rot="16200000">
                  <a:off x="4025" y="1087"/>
                  <a:ext cx="1022" cy="719"/>
                </a:xfrm>
                <a:prstGeom prst="parallelogram">
                  <a:avLst>
                    <a:gd name="adj" fmla="val 35535"/>
                  </a:avLst>
                </a:prstGeom>
                <a:solidFill>
                  <a:srgbClr val="9C9A32"/>
                </a:solidFill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ko-KR" altLang="en-US">
                    <a:latin typeface="나눔고딕" panose="020D0604000000000000" pitchFamily="50" charset="-127"/>
                    <a:ea typeface="나눔고딕" panose="020D0604000000000000" pitchFamily="50" charset="-127"/>
                  </a:endParaRPr>
                </a:p>
              </p:txBody>
            </p:sp>
            <p:sp>
              <p:nvSpPr>
                <p:cNvPr id="547" name="Line 283"/>
                <p:cNvSpPr>
                  <a:spLocks noChangeShapeType="1"/>
                </p:cNvSpPr>
                <p:nvPr/>
              </p:nvSpPr>
              <p:spPr bwMode="auto">
                <a:xfrm>
                  <a:off x="4176" y="1001"/>
                  <a:ext cx="718" cy="25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ko-KR" altLang="en-US">
                    <a:latin typeface="나눔고딕" panose="020D0604000000000000" pitchFamily="50" charset="-127"/>
                    <a:ea typeface="나눔고딕" panose="020D0604000000000000" pitchFamily="50" charset="-127"/>
                  </a:endParaRPr>
                </a:p>
              </p:txBody>
            </p:sp>
          </p:grpSp>
          <p:sp>
            <p:nvSpPr>
              <p:cNvPr id="541" name="Line 284"/>
              <p:cNvSpPr>
                <a:spLocks noChangeShapeType="1"/>
              </p:cNvSpPr>
              <p:nvPr/>
            </p:nvSpPr>
            <p:spPr bwMode="auto">
              <a:xfrm>
                <a:off x="5192" y="2143"/>
                <a:ext cx="9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542" name="Line 285"/>
              <p:cNvSpPr>
                <a:spLocks noChangeShapeType="1"/>
              </p:cNvSpPr>
              <p:nvPr/>
            </p:nvSpPr>
            <p:spPr bwMode="auto">
              <a:xfrm>
                <a:off x="5192" y="1211"/>
                <a:ext cx="9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543" name="Line 286"/>
              <p:cNvSpPr>
                <a:spLocks noChangeShapeType="1"/>
              </p:cNvSpPr>
              <p:nvPr/>
            </p:nvSpPr>
            <p:spPr bwMode="auto">
              <a:xfrm flipV="1">
                <a:off x="5281" y="1208"/>
                <a:ext cx="0" cy="938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544" name="Line 287"/>
              <p:cNvSpPr>
                <a:spLocks noChangeShapeType="1"/>
              </p:cNvSpPr>
              <p:nvPr/>
            </p:nvSpPr>
            <p:spPr bwMode="auto">
              <a:xfrm>
                <a:off x="4320" y="897"/>
                <a:ext cx="9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545" name="Line 288"/>
              <p:cNvSpPr>
                <a:spLocks noChangeShapeType="1"/>
              </p:cNvSpPr>
              <p:nvPr/>
            </p:nvSpPr>
            <p:spPr bwMode="auto">
              <a:xfrm>
                <a:off x="4412" y="897"/>
                <a:ext cx="868" cy="309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p:grpSp>
        <p:sp>
          <p:nvSpPr>
            <p:cNvPr id="529" name="Freeform 289"/>
            <p:cNvSpPr>
              <a:spLocks/>
            </p:cNvSpPr>
            <p:nvPr/>
          </p:nvSpPr>
          <p:spPr bwMode="auto">
            <a:xfrm>
              <a:off x="2329" y="3096"/>
              <a:ext cx="380" cy="247"/>
            </a:xfrm>
            <a:custGeom>
              <a:avLst/>
              <a:gdLst>
                <a:gd name="T0" fmla="*/ 0 w 614"/>
                <a:gd name="T1" fmla="*/ 240 h 336"/>
                <a:gd name="T2" fmla="*/ 0 w 614"/>
                <a:gd name="T3" fmla="*/ 336 h 336"/>
                <a:gd name="T4" fmla="*/ 614 w 614"/>
                <a:gd name="T5" fmla="*/ 84 h 336"/>
                <a:gd name="T6" fmla="*/ 614 w 614"/>
                <a:gd name="T7" fmla="*/ 0 h 336"/>
                <a:gd name="T8" fmla="*/ 0 w 614"/>
                <a:gd name="T9" fmla="*/ 240 h 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4" h="336">
                  <a:moveTo>
                    <a:pt x="0" y="240"/>
                  </a:moveTo>
                  <a:lnTo>
                    <a:pt x="0" y="336"/>
                  </a:lnTo>
                  <a:lnTo>
                    <a:pt x="614" y="84"/>
                  </a:lnTo>
                  <a:lnTo>
                    <a:pt x="614" y="0"/>
                  </a:lnTo>
                  <a:lnTo>
                    <a:pt x="0" y="240"/>
                  </a:lnTo>
                  <a:close/>
                </a:path>
              </a:pathLst>
            </a:custGeom>
            <a:solidFill>
              <a:srgbClr val="9C9A32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sm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530" name="Line 290"/>
            <p:cNvSpPr>
              <a:spLocks noChangeShapeType="1"/>
            </p:cNvSpPr>
            <p:nvPr/>
          </p:nvSpPr>
          <p:spPr bwMode="auto">
            <a:xfrm>
              <a:off x="2452" y="3318"/>
              <a:ext cx="0" cy="3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531" name="Line 291"/>
            <p:cNvSpPr>
              <a:spLocks noChangeShapeType="1"/>
            </p:cNvSpPr>
            <p:nvPr/>
          </p:nvSpPr>
          <p:spPr bwMode="auto">
            <a:xfrm flipV="1">
              <a:off x="2332" y="3336"/>
              <a:ext cx="93" cy="45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/>
              <a:tailEnd type="non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532" name="Line 292"/>
            <p:cNvSpPr>
              <a:spLocks noChangeShapeType="1"/>
            </p:cNvSpPr>
            <p:nvPr/>
          </p:nvSpPr>
          <p:spPr bwMode="auto">
            <a:xfrm flipV="1">
              <a:off x="2332" y="3367"/>
              <a:ext cx="93" cy="45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/>
              <a:tailEnd type="non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533" name="Line 293"/>
            <p:cNvSpPr>
              <a:spLocks noChangeShapeType="1"/>
            </p:cNvSpPr>
            <p:nvPr/>
          </p:nvSpPr>
          <p:spPr bwMode="auto">
            <a:xfrm flipV="1">
              <a:off x="2332" y="3400"/>
              <a:ext cx="93" cy="46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/>
              <a:tailEnd type="non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534" name="Line 294"/>
            <p:cNvSpPr>
              <a:spLocks noChangeShapeType="1"/>
            </p:cNvSpPr>
            <p:nvPr/>
          </p:nvSpPr>
          <p:spPr bwMode="auto">
            <a:xfrm flipV="1">
              <a:off x="2332" y="3434"/>
              <a:ext cx="93" cy="46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/>
              <a:tailEnd type="non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535" name="Line 295"/>
            <p:cNvSpPr>
              <a:spLocks noChangeShapeType="1"/>
            </p:cNvSpPr>
            <p:nvPr/>
          </p:nvSpPr>
          <p:spPr bwMode="auto">
            <a:xfrm flipV="1">
              <a:off x="2332" y="3469"/>
              <a:ext cx="93" cy="46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/>
              <a:tailEnd type="non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536" name="Freeform 296"/>
            <p:cNvSpPr>
              <a:spLocks/>
            </p:cNvSpPr>
            <p:nvPr/>
          </p:nvSpPr>
          <p:spPr bwMode="auto">
            <a:xfrm>
              <a:off x="2475" y="3197"/>
              <a:ext cx="232" cy="268"/>
            </a:xfrm>
            <a:custGeom>
              <a:avLst/>
              <a:gdLst>
                <a:gd name="T0" fmla="*/ 379 w 379"/>
                <a:gd name="T1" fmla="*/ 0 h 365"/>
                <a:gd name="T2" fmla="*/ 379 w 379"/>
                <a:gd name="T3" fmla="*/ 195 h 365"/>
                <a:gd name="T4" fmla="*/ 0 w 379"/>
                <a:gd name="T5" fmla="*/ 365 h 365"/>
                <a:gd name="T6" fmla="*/ 0 w 379"/>
                <a:gd name="T7" fmla="*/ 155 h 365"/>
                <a:gd name="T8" fmla="*/ 379 w 379"/>
                <a:gd name="T9" fmla="*/ 0 h 3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9" h="365">
                  <a:moveTo>
                    <a:pt x="379" y="0"/>
                  </a:moveTo>
                  <a:lnTo>
                    <a:pt x="379" y="195"/>
                  </a:lnTo>
                  <a:lnTo>
                    <a:pt x="0" y="365"/>
                  </a:lnTo>
                  <a:lnTo>
                    <a:pt x="0" y="155"/>
                  </a:lnTo>
                  <a:lnTo>
                    <a:pt x="379" y="0"/>
                  </a:lnTo>
                  <a:close/>
                </a:path>
              </a:pathLst>
            </a:custGeom>
            <a:solidFill>
              <a:srgbClr val="9C9A32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sm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537" name="Freeform 297"/>
            <p:cNvSpPr>
              <a:spLocks/>
            </p:cNvSpPr>
            <p:nvPr/>
          </p:nvSpPr>
          <p:spPr bwMode="auto">
            <a:xfrm>
              <a:off x="2475" y="3380"/>
              <a:ext cx="232" cy="268"/>
            </a:xfrm>
            <a:custGeom>
              <a:avLst/>
              <a:gdLst>
                <a:gd name="T0" fmla="*/ 379 w 379"/>
                <a:gd name="T1" fmla="*/ 0 h 365"/>
                <a:gd name="T2" fmla="*/ 379 w 379"/>
                <a:gd name="T3" fmla="*/ 195 h 365"/>
                <a:gd name="T4" fmla="*/ 0 w 379"/>
                <a:gd name="T5" fmla="*/ 365 h 365"/>
                <a:gd name="T6" fmla="*/ 0 w 379"/>
                <a:gd name="T7" fmla="*/ 155 h 365"/>
                <a:gd name="T8" fmla="*/ 379 w 379"/>
                <a:gd name="T9" fmla="*/ 0 h 3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9" h="365">
                  <a:moveTo>
                    <a:pt x="379" y="0"/>
                  </a:moveTo>
                  <a:lnTo>
                    <a:pt x="379" y="195"/>
                  </a:lnTo>
                  <a:lnTo>
                    <a:pt x="0" y="365"/>
                  </a:lnTo>
                  <a:lnTo>
                    <a:pt x="0" y="155"/>
                  </a:lnTo>
                  <a:lnTo>
                    <a:pt x="379" y="0"/>
                  </a:lnTo>
                  <a:close/>
                </a:path>
              </a:pathLst>
            </a:custGeom>
            <a:solidFill>
              <a:srgbClr val="9C9A32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sm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grpSp>
        <p:nvGrpSpPr>
          <p:cNvPr id="548" name="Group 298"/>
          <p:cNvGrpSpPr>
            <a:grpSpLocks/>
          </p:cNvGrpSpPr>
          <p:nvPr/>
        </p:nvGrpSpPr>
        <p:grpSpPr bwMode="auto">
          <a:xfrm>
            <a:off x="4964049" y="5250410"/>
            <a:ext cx="600075" cy="921789"/>
            <a:chOff x="2256" y="2905"/>
            <a:chExt cx="479" cy="903"/>
          </a:xfrm>
        </p:grpSpPr>
        <p:grpSp>
          <p:nvGrpSpPr>
            <p:cNvPr id="549" name="Group 299"/>
            <p:cNvGrpSpPr>
              <a:grpSpLocks/>
            </p:cNvGrpSpPr>
            <p:nvPr/>
          </p:nvGrpSpPr>
          <p:grpSpPr bwMode="auto">
            <a:xfrm flipH="1">
              <a:off x="2256" y="2905"/>
              <a:ext cx="479" cy="903"/>
              <a:chOff x="4320" y="773"/>
              <a:chExt cx="964" cy="1373"/>
            </a:xfrm>
          </p:grpSpPr>
          <p:sp>
            <p:nvSpPr>
              <p:cNvPr id="559" name="Rectangle 300"/>
              <p:cNvSpPr>
                <a:spLocks noChangeArrowheads="1"/>
              </p:cNvSpPr>
              <p:nvPr/>
            </p:nvSpPr>
            <p:spPr bwMode="auto">
              <a:xfrm>
                <a:off x="5193" y="1402"/>
                <a:ext cx="90" cy="550"/>
              </a:xfrm>
              <a:prstGeom prst="rect">
                <a:avLst/>
              </a:prstGeom>
              <a:solidFill>
                <a:srgbClr val="EBF25E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560" name="Freeform 301"/>
              <p:cNvSpPr>
                <a:spLocks/>
              </p:cNvSpPr>
              <p:nvPr/>
            </p:nvSpPr>
            <p:spPr bwMode="auto">
              <a:xfrm rot="21540000">
                <a:off x="4321" y="773"/>
                <a:ext cx="963" cy="550"/>
              </a:xfrm>
              <a:custGeom>
                <a:avLst/>
                <a:gdLst>
                  <a:gd name="T0" fmla="*/ 0 w 963"/>
                  <a:gd name="T1" fmla="*/ 12 h 318"/>
                  <a:gd name="T2" fmla="*/ 870 w 963"/>
                  <a:gd name="T3" fmla="*/ 318 h 318"/>
                  <a:gd name="T4" fmla="*/ 963 w 963"/>
                  <a:gd name="T5" fmla="*/ 315 h 318"/>
                  <a:gd name="T6" fmla="*/ 78 w 963"/>
                  <a:gd name="T7" fmla="*/ 0 h 318"/>
                  <a:gd name="T8" fmla="*/ 0 w 963"/>
                  <a:gd name="T9" fmla="*/ 12 h 3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63" h="318">
                    <a:moveTo>
                      <a:pt x="0" y="12"/>
                    </a:moveTo>
                    <a:lnTo>
                      <a:pt x="870" y="318"/>
                    </a:lnTo>
                    <a:lnTo>
                      <a:pt x="963" y="315"/>
                    </a:lnTo>
                    <a:lnTo>
                      <a:pt x="78" y="0"/>
                    </a:lnTo>
                    <a:lnTo>
                      <a:pt x="0" y="12"/>
                    </a:lnTo>
                    <a:close/>
                  </a:path>
                </a:pathLst>
              </a:custGeom>
              <a:solidFill>
                <a:srgbClr val="EBF25E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905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grpSp>
            <p:nvGrpSpPr>
              <p:cNvPr id="561" name="Group 302"/>
              <p:cNvGrpSpPr>
                <a:grpSpLocks/>
              </p:cNvGrpSpPr>
              <p:nvPr/>
            </p:nvGrpSpPr>
            <p:grpSpPr bwMode="auto">
              <a:xfrm>
                <a:off x="4322" y="905"/>
                <a:ext cx="871" cy="1238"/>
                <a:chOff x="4176" y="936"/>
                <a:chExt cx="719" cy="1022"/>
              </a:xfrm>
            </p:grpSpPr>
            <p:sp>
              <p:nvSpPr>
                <p:cNvPr id="567" name="AutoShape 303"/>
                <p:cNvSpPr>
                  <a:spLocks noChangeArrowheads="1"/>
                </p:cNvSpPr>
                <p:nvPr/>
              </p:nvSpPr>
              <p:spPr bwMode="auto">
                <a:xfrm rot="16200000">
                  <a:off x="4025" y="1087"/>
                  <a:ext cx="1022" cy="719"/>
                </a:xfrm>
                <a:prstGeom prst="parallelogram">
                  <a:avLst>
                    <a:gd name="adj" fmla="val 35535"/>
                  </a:avLst>
                </a:prstGeom>
                <a:solidFill>
                  <a:srgbClr val="EBF25E"/>
                </a:solidFill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ko-KR" altLang="en-US">
                    <a:latin typeface="나눔고딕" panose="020D0604000000000000" pitchFamily="50" charset="-127"/>
                    <a:ea typeface="나눔고딕" panose="020D0604000000000000" pitchFamily="50" charset="-127"/>
                  </a:endParaRPr>
                </a:p>
              </p:txBody>
            </p:sp>
            <p:sp>
              <p:nvSpPr>
                <p:cNvPr id="568" name="Line 304"/>
                <p:cNvSpPr>
                  <a:spLocks noChangeShapeType="1"/>
                </p:cNvSpPr>
                <p:nvPr/>
              </p:nvSpPr>
              <p:spPr bwMode="auto">
                <a:xfrm>
                  <a:off x="4176" y="1001"/>
                  <a:ext cx="718" cy="25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ko-KR" altLang="en-US">
                    <a:latin typeface="나눔고딕" panose="020D0604000000000000" pitchFamily="50" charset="-127"/>
                    <a:ea typeface="나눔고딕" panose="020D0604000000000000" pitchFamily="50" charset="-127"/>
                  </a:endParaRPr>
                </a:p>
              </p:txBody>
            </p:sp>
          </p:grpSp>
          <p:sp>
            <p:nvSpPr>
              <p:cNvPr id="562" name="Line 305"/>
              <p:cNvSpPr>
                <a:spLocks noChangeShapeType="1"/>
              </p:cNvSpPr>
              <p:nvPr/>
            </p:nvSpPr>
            <p:spPr bwMode="auto">
              <a:xfrm>
                <a:off x="5192" y="2143"/>
                <a:ext cx="9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563" name="Line 306"/>
              <p:cNvSpPr>
                <a:spLocks noChangeShapeType="1"/>
              </p:cNvSpPr>
              <p:nvPr/>
            </p:nvSpPr>
            <p:spPr bwMode="auto">
              <a:xfrm>
                <a:off x="5192" y="1211"/>
                <a:ext cx="9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564" name="Line 307"/>
              <p:cNvSpPr>
                <a:spLocks noChangeShapeType="1"/>
              </p:cNvSpPr>
              <p:nvPr/>
            </p:nvSpPr>
            <p:spPr bwMode="auto">
              <a:xfrm flipV="1">
                <a:off x="5281" y="1208"/>
                <a:ext cx="0" cy="938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565" name="Line 308"/>
              <p:cNvSpPr>
                <a:spLocks noChangeShapeType="1"/>
              </p:cNvSpPr>
              <p:nvPr/>
            </p:nvSpPr>
            <p:spPr bwMode="auto">
              <a:xfrm>
                <a:off x="4320" y="897"/>
                <a:ext cx="9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566" name="Line 309"/>
              <p:cNvSpPr>
                <a:spLocks noChangeShapeType="1"/>
              </p:cNvSpPr>
              <p:nvPr/>
            </p:nvSpPr>
            <p:spPr bwMode="auto">
              <a:xfrm>
                <a:off x="4412" y="897"/>
                <a:ext cx="868" cy="309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p:grpSp>
        <p:sp>
          <p:nvSpPr>
            <p:cNvPr id="550" name="Freeform 310"/>
            <p:cNvSpPr>
              <a:spLocks/>
            </p:cNvSpPr>
            <p:nvPr/>
          </p:nvSpPr>
          <p:spPr bwMode="auto">
            <a:xfrm>
              <a:off x="2329" y="3096"/>
              <a:ext cx="380" cy="247"/>
            </a:xfrm>
            <a:custGeom>
              <a:avLst/>
              <a:gdLst>
                <a:gd name="T0" fmla="*/ 0 w 614"/>
                <a:gd name="T1" fmla="*/ 240 h 336"/>
                <a:gd name="T2" fmla="*/ 0 w 614"/>
                <a:gd name="T3" fmla="*/ 336 h 336"/>
                <a:gd name="T4" fmla="*/ 614 w 614"/>
                <a:gd name="T5" fmla="*/ 84 h 336"/>
                <a:gd name="T6" fmla="*/ 614 w 614"/>
                <a:gd name="T7" fmla="*/ 0 h 336"/>
                <a:gd name="T8" fmla="*/ 0 w 614"/>
                <a:gd name="T9" fmla="*/ 240 h 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4" h="336">
                  <a:moveTo>
                    <a:pt x="0" y="240"/>
                  </a:moveTo>
                  <a:lnTo>
                    <a:pt x="0" y="336"/>
                  </a:lnTo>
                  <a:lnTo>
                    <a:pt x="614" y="84"/>
                  </a:lnTo>
                  <a:lnTo>
                    <a:pt x="614" y="0"/>
                  </a:lnTo>
                  <a:lnTo>
                    <a:pt x="0" y="240"/>
                  </a:lnTo>
                  <a:close/>
                </a:path>
              </a:pathLst>
            </a:custGeom>
            <a:solidFill>
              <a:srgbClr val="EBF25E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sm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551" name="Line 311"/>
            <p:cNvSpPr>
              <a:spLocks noChangeShapeType="1"/>
            </p:cNvSpPr>
            <p:nvPr/>
          </p:nvSpPr>
          <p:spPr bwMode="auto">
            <a:xfrm>
              <a:off x="2452" y="3318"/>
              <a:ext cx="0" cy="3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552" name="Line 312"/>
            <p:cNvSpPr>
              <a:spLocks noChangeShapeType="1"/>
            </p:cNvSpPr>
            <p:nvPr/>
          </p:nvSpPr>
          <p:spPr bwMode="auto">
            <a:xfrm flipV="1">
              <a:off x="2332" y="3336"/>
              <a:ext cx="93" cy="45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/>
              <a:tailEnd type="non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553" name="Line 313"/>
            <p:cNvSpPr>
              <a:spLocks noChangeShapeType="1"/>
            </p:cNvSpPr>
            <p:nvPr/>
          </p:nvSpPr>
          <p:spPr bwMode="auto">
            <a:xfrm flipV="1">
              <a:off x="2332" y="3367"/>
              <a:ext cx="93" cy="45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/>
              <a:tailEnd type="non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554" name="Line 314"/>
            <p:cNvSpPr>
              <a:spLocks noChangeShapeType="1"/>
            </p:cNvSpPr>
            <p:nvPr/>
          </p:nvSpPr>
          <p:spPr bwMode="auto">
            <a:xfrm flipV="1">
              <a:off x="2332" y="3400"/>
              <a:ext cx="93" cy="46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/>
              <a:tailEnd type="non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555" name="Line 315"/>
            <p:cNvSpPr>
              <a:spLocks noChangeShapeType="1"/>
            </p:cNvSpPr>
            <p:nvPr/>
          </p:nvSpPr>
          <p:spPr bwMode="auto">
            <a:xfrm flipV="1">
              <a:off x="2332" y="3434"/>
              <a:ext cx="93" cy="46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/>
              <a:tailEnd type="non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556" name="Line 316"/>
            <p:cNvSpPr>
              <a:spLocks noChangeShapeType="1"/>
            </p:cNvSpPr>
            <p:nvPr/>
          </p:nvSpPr>
          <p:spPr bwMode="auto">
            <a:xfrm flipV="1">
              <a:off x="2332" y="3469"/>
              <a:ext cx="93" cy="46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/>
              <a:tailEnd type="non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557" name="Freeform 317"/>
            <p:cNvSpPr>
              <a:spLocks/>
            </p:cNvSpPr>
            <p:nvPr/>
          </p:nvSpPr>
          <p:spPr bwMode="auto">
            <a:xfrm>
              <a:off x="2475" y="3197"/>
              <a:ext cx="232" cy="268"/>
            </a:xfrm>
            <a:custGeom>
              <a:avLst/>
              <a:gdLst>
                <a:gd name="T0" fmla="*/ 379 w 379"/>
                <a:gd name="T1" fmla="*/ 0 h 365"/>
                <a:gd name="T2" fmla="*/ 379 w 379"/>
                <a:gd name="T3" fmla="*/ 195 h 365"/>
                <a:gd name="T4" fmla="*/ 0 w 379"/>
                <a:gd name="T5" fmla="*/ 365 h 365"/>
                <a:gd name="T6" fmla="*/ 0 w 379"/>
                <a:gd name="T7" fmla="*/ 155 h 365"/>
                <a:gd name="T8" fmla="*/ 379 w 379"/>
                <a:gd name="T9" fmla="*/ 0 h 3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9" h="365">
                  <a:moveTo>
                    <a:pt x="379" y="0"/>
                  </a:moveTo>
                  <a:lnTo>
                    <a:pt x="379" y="195"/>
                  </a:lnTo>
                  <a:lnTo>
                    <a:pt x="0" y="365"/>
                  </a:lnTo>
                  <a:lnTo>
                    <a:pt x="0" y="155"/>
                  </a:lnTo>
                  <a:lnTo>
                    <a:pt x="379" y="0"/>
                  </a:lnTo>
                  <a:close/>
                </a:path>
              </a:pathLst>
            </a:custGeom>
            <a:solidFill>
              <a:srgbClr val="EBF25E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sm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558" name="Freeform 318"/>
            <p:cNvSpPr>
              <a:spLocks/>
            </p:cNvSpPr>
            <p:nvPr/>
          </p:nvSpPr>
          <p:spPr bwMode="auto">
            <a:xfrm>
              <a:off x="2475" y="3380"/>
              <a:ext cx="232" cy="268"/>
            </a:xfrm>
            <a:custGeom>
              <a:avLst/>
              <a:gdLst>
                <a:gd name="T0" fmla="*/ 379 w 379"/>
                <a:gd name="T1" fmla="*/ 0 h 365"/>
                <a:gd name="T2" fmla="*/ 379 w 379"/>
                <a:gd name="T3" fmla="*/ 195 h 365"/>
                <a:gd name="T4" fmla="*/ 0 w 379"/>
                <a:gd name="T5" fmla="*/ 365 h 365"/>
                <a:gd name="T6" fmla="*/ 0 w 379"/>
                <a:gd name="T7" fmla="*/ 155 h 365"/>
                <a:gd name="T8" fmla="*/ 379 w 379"/>
                <a:gd name="T9" fmla="*/ 0 h 3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9" h="365">
                  <a:moveTo>
                    <a:pt x="379" y="0"/>
                  </a:moveTo>
                  <a:lnTo>
                    <a:pt x="379" y="195"/>
                  </a:lnTo>
                  <a:lnTo>
                    <a:pt x="0" y="365"/>
                  </a:lnTo>
                  <a:lnTo>
                    <a:pt x="0" y="155"/>
                  </a:lnTo>
                  <a:lnTo>
                    <a:pt x="379" y="0"/>
                  </a:lnTo>
                  <a:close/>
                </a:path>
              </a:pathLst>
            </a:custGeom>
            <a:solidFill>
              <a:srgbClr val="EBF25E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sm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grpSp>
        <p:nvGrpSpPr>
          <p:cNvPr id="569" name="Group 319"/>
          <p:cNvGrpSpPr>
            <a:grpSpLocks/>
          </p:cNvGrpSpPr>
          <p:nvPr/>
        </p:nvGrpSpPr>
        <p:grpSpPr bwMode="auto">
          <a:xfrm>
            <a:off x="5726049" y="5250410"/>
            <a:ext cx="600075" cy="921789"/>
            <a:chOff x="2256" y="2905"/>
            <a:chExt cx="479" cy="903"/>
          </a:xfrm>
        </p:grpSpPr>
        <p:grpSp>
          <p:nvGrpSpPr>
            <p:cNvPr id="570" name="Group 320"/>
            <p:cNvGrpSpPr>
              <a:grpSpLocks/>
            </p:cNvGrpSpPr>
            <p:nvPr/>
          </p:nvGrpSpPr>
          <p:grpSpPr bwMode="auto">
            <a:xfrm flipH="1">
              <a:off x="2256" y="2905"/>
              <a:ext cx="479" cy="903"/>
              <a:chOff x="4320" y="773"/>
              <a:chExt cx="964" cy="1373"/>
            </a:xfrm>
          </p:grpSpPr>
          <p:sp>
            <p:nvSpPr>
              <p:cNvPr id="580" name="Rectangle 321"/>
              <p:cNvSpPr>
                <a:spLocks noChangeArrowheads="1"/>
              </p:cNvSpPr>
              <p:nvPr/>
            </p:nvSpPr>
            <p:spPr bwMode="auto">
              <a:xfrm>
                <a:off x="5193" y="1402"/>
                <a:ext cx="90" cy="550"/>
              </a:xfrm>
              <a:prstGeom prst="rect">
                <a:avLst/>
              </a:prstGeom>
              <a:solidFill>
                <a:srgbClr val="EBF25E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581" name="Freeform 322"/>
              <p:cNvSpPr>
                <a:spLocks/>
              </p:cNvSpPr>
              <p:nvPr/>
            </p:nvSpPr>
            <p:spPr bwMode="auto">
              <a:xfrm rot="21540000">
                <a:off x="4321" y="773"/>
                <a:ext cx="963" cy="550"/>
              </a:xfrm>
              <a:custGeom>
                <a:avLst/>
                <a:gdLst>
                  <a:gd name="T0" fmla="*/ 0 w 963"/>
                  <a:gd name="T1" fmla="*/ 12 h 318"/>
                  <a:gd name="T2" fmla="*/ 870 w 963"/>
                  <a:gd name="T3" fmla="*/ 318 h 318"/>
                  <a:gd name="T4" fmla="*/ 963 w 963"/>
                  <a:gd name="T5" fmla="*/ 315 h 318"/>
                  <a:gd name="T6" fmla="*/ 78 w 963"/>
                  <a:gd name="T7" fmla="*/ 0 h 318"/>
                  <a:gd name="T8" fmla="*/ 0 w 963"/>
                  <a:gd name="T9" fmla="*/ 12 h 3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63" h="318">
                    <a:moveTo>
                      <a:pt x="0" y="12"/>
                    </a:moveTo>
                    <a:lnTo>
                      <a:pt x="870" y="318"/>
                    </a:lnTo>
                    <a:lnTo>
                      <a:pt x="963" y="315"/>
                    </a:lnTo>
                    <a:lnTo>
                      <a:pt x="78" y="0"/>
                    </a:lnTo>
                    <a:lnTo>
                      <a:pt x="0" y="12"/>
                    </a:lnTo>
                    <a:close/>
                  </a:path>
                </a:pathLst>
              </a:custGeom>
              <a:solidFill>
                <a:srgbClr val="EBF25E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905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grpSp>
            <p:nvGrpSpPr>
              <p:cNvPr id="582" name="Group 323"/>
              <p:cNvGrpSpPr>
                <a:grpSpLocks/>
              </p:cNvGrpSpPr>
              <p:nvPr/>
            </p:nvGrpSpPr>
            <p:grpSpPr bwMode="auto">
              <a:xfrm>
                <a:off x="4322" y="905"/>
                <a:ext cx="871" cy="1238"/>
                <a:chOff x="4176" y="936"/>
                <a:chExt cx="719" cy="1022"/>
              </a:xfrm>
            </p:grpSpPr>
            <p:sp>
              <p:nvSpPr>
                <p:cNvPr id="588" name="AutoShape 324"/>
                <p:cNvSpPr>
                  <a:spLocks noChangeArrowheads="1"/>
                </p:cNvSpPr>
                <p:nvPr/>
              </p:nvSpPr>
              <p:spPr bwMode="auto">
                <a:xfrm rot="16200000">
                  <a:off x="4025" y="1087"/>
                  <a:ext cx="1022" cy="719"/>
                </a:xfrm>
                <a:prstGeom prst="parallelogram">
                  <a:avLst>
                    <a:gd name="adj" fmla="val 35535"/>
                  </a:avLst>
                </a:prstGeom>
                <a:solidFill>
                  <a:srgbClr val="EBF25E"/>
                </a:solidFill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ko-KR" altLang="en-US">
                    <a:latin typeface="나눔고딕" panose="020D0604000000000000" pitchFamily="50" charset="-127"/>
                    <a:ea typeface="나눔고딕" panose="020D0604000000000000" pitchFamily="50" charset="-127"/>
                  </a:endParaRPr>
                </a:p>
              </p:txBody>
            </p:sp>
            <p:sp>
              <p:nvSpPr>
                <p:cNvPr id="589" name="Line 325"/>
                <p:cNvSpPr>
                  <a:spLocks noChangeShapeType="1"/>
                </p:cNvSpPr>
                <p:nvPr/>
              </p:nvSpPr>
              <p:spPr bwMode="auto">
                <a:xfrm>
                  <a:off x="4176" y="1001"/>
                  <a:ext cx="718" cy="25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ko-KR" altLang="en-US">
                    <a:latin typeface="나눔고딕" panose="020D0604000000000000" pitchFamily="50" charset="-127"/>
                    <a:ea typeface="나눔고딕" panose="020D0604000000000000" pitchFamily="50" charset="-127"/>
                  </a:endParaRPr>
                </a:p>
              </p:txBody>
            </p:sp>
          </p:grpSp>
          <p:sp>
            <p:nvSpPr>
              <p:cNvPr id="583" name="Line 326"/>
              <p:cNvSpPr>
                <a:spLocks noChangeShapeType="1"/>
              </p:cNvSpPr>
              <p:nvPr/>
            </p:nvSpPr>
            <p:spPr bwMode="auto">
              <a:xfrm>
                <a:off x="5192" y="2143"/>
                <a:ext cx="9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584" name="Line 327"/>
              <p:cNvSpPr>
                <a:spLocks noChangeShapeType="1"/>
              </p:cNvSpPr>
              <p:nvPr/>
            </p:nvSpPr>
            <p:spPr bwMode="auto">
              <a:xfrm>
                <a:off x="5192" y="1211"/>
                <a:ext cx="9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585" name="Line 328"/>
              <p:cNvSpPr>
                <a:spLocks noChangeShapeType="1"/>
              </p:cNvSpPr>
              <p:nvPr/>
            </p:nvSpPr>
            <p:spPr bwMode="auto">
              <a:xfrm flipV="1">
                <a:off x="5281" y="1208"/>
                <a:ext cx="0" cy="938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586" name="Line 329"/>
              <p:cNvSpPr>
                <a:spLocks noChangeShapeType="1"/>
              </p:cNvSpPr>
              <p:nvPr/>
            </p:nvSpPr>
            <p:spPr bwMode="auto">
              <a:xfrm>
                <a:off x="4320" y="897"/>
                <a:ext cx="9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587" name="Line 330"/>
              <p:cNvSpPr>
                <a:spLocks noChangeShapeType="1"/>
              </p:cNvSpPr>
              <p:nvPr/>
            </p:nvSpPr>
            <p:spPr bwMode="auto">
              <a:xfrm>
                <a:off x="4412" y="897"/>
                <a:ext cx="868" cy="309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p:grpSp>
        <p:sp>
          <p:nvSpPr>
            <p:cNvPr id="571" name="Freeform 331"/>
            <p:cNvSpPr>
              <a:spLocks/>
            </p:cNvSpPr>
            <p:nvPr/>
          </p:nvSpPr>
          <p:spPr bwMode="auto">
            <a:xfrm>
              <a:off x="2329" y="3096"/>
              <a:ext cx="380" cy="247"/>
            </a:xfrm>
            <a:custGeom>
              <a:avLst/>
              <a:gdLst>
                <a:gd name="T0" fmla="*/ 0 w 614"/>
                <a:gd name="T1" fmla="*/ 240 h 336"/>
                <a:gd name="T2" fmla="*/ 0 w 614"/>
                <a:gd name="T3" fmla="*/ 336 h 336"/>
                <a:gd name="T4" fmla="*/ 614 w 614"/>
                <a:gd name="T5" fmla="*/ 84 h 336"/>
                <a:gd name="T6" fmla="*/ 614 w 614"/>
                <a:gd name="T7" fmla="*/ 0 h 336"/>
                <a:gd name="T8" fmla="*/ 0 w 614"/>
                <a:gd name="T9" fmla="*/ 240 h 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4" h="336">
                  <a:moveTo>
                    <a:pt x="0" y="240"/>
                  </a:moveTo>
                  <a:lnTo>
                    <a:pt x="0" y="336"/>
                  </a:lnTo>
                  <a:lnTo>
                    <a:pt x="614" y="84"/>
                  </a:lnTo>
                  <a:lnTo>
                    <a:pt x="614" y="0"/>
                  </a:lnTo>
                  <a:lnTo>
                    <a:pt x="0" y="240"/>
                  </a:lnTo>
                  <a:close/>
                </a:path>
              </a:pathLst>
            </a:custGeom>
            <a:solidFill>
              <a:srgbClr val="EBF25E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sm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572" name="Line 332"/>
            <p:cNvSpPr>
              <a:spLocks noChangeShapeType="1"/>
            </p:cNvSpPr>
            <p:nvPr/>
          </p:nvSpPr>
          <p:spPr bwMode="auto">
            <a:xfrm>
              <a:off x="2452" y="3318"/>
              <a:ext cx="0" cy="3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573" name="Line 333"/>
            <p:cNvSpPr>
              <a:spLocks noChangeShapeType="1"/>
            </p:cNvSpPr>
            <p:nvPr/>
          </p:nvSpPr>
          <p:spPr bwMode="auto">
            <a:xfrm flipV="1">
              <a:off x="2332" y="3336"/>
              <a:ext cx="93" cy="45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/>
              <a:tailEnd type="non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574" name="Line 334"/>
            <p:cNvSpPr>
              <a:spLocks noChangeShapeType="1"/>
            </p:cNvSpPr>
            <p:nvPr/>
          </p:nvSpPr>
          <p:spPr bwMode="auto">
            <a:xfrm flipV="1">
              <a:off x="2332" y="3367"/>
              <a:ext cx="93" cy="45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/>
              <a:tailEnd type="non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575" name="Line 335"/>
            <p:cNvSpPr>
              <a:spLocks noChangeShapeType="1"/>
            </p:cNvSpPr>
            <p:nvPr/>
          </p:nvSpPr>
          <p:spPr bwMode="auto">
            <a:xfrm flipV="1">
              <a:off x="2332" y="3400"/>
              <a:ext cx="93" cy="46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/>
              <a:tailEnd type="non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576" name="Line 336"/>
            <p:cNvSpPr>
              <a:spLocks noChangeShapeType="1"/>
            </p:cNvSpPr>
            <p:nvPr/>
          </p:nvSpPr>
          <p:spPr bwMode="auto">
            <a:xfrm flipV="1">
              <a:off x="2332" y="3434"/>
              <a:ext cx="93" cy="46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/>
              <a:tailEnd type="non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577" name="Line 337"/>
            <p:cNvSpPr>
              <a:spLocks noChangeShapeType="1"/>
            </p:cNvSpPr>
            <p:nvPr/>
          </p:nvSpPr>
          <p:spPr bwMode="auto">
            <a:xfrm flipV="1">
              <a:off x="2332" y="3469"/>
              <a:ext cx="93" cy="46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/>
              <a:tailEnd type="non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578" name="Freeform 338"/>
            <p:cNvSpPr>
              <a:spLocks/>
            </p:cNvSpPr>
            <p:nvPr/>
          </p:nvSpPr>
          <p:spPr bwMode="auto">
            <a:xfrm>
              <a:off x="2475" y="3197"/>
              <a:ext cx="232" cy="268"/>
            </a:xfrm>
            <a:custGeom>
              <a:avLst/>
              <a:gdLst>
                <a:gd name="T0" fmla="*/ 379 w 379"/>
                <a:gd name="T1" fmla="*/ 0 h 365"/>
                <a:gd name="T2" fmla="*/ 379 w 379"/>
                <a:gd name="T3" fmla="*/ 195 h 365"/>
                <a:gd name="T4" fmla="*/ 0 w 379"/>
                <a:gd name="T5" fmla="*/ 365 h 365"/>
                <a:gd name="T6" fmla="*/ 0 w 379"/>
                <a:gd name="T7" fmla="*/ 155 h 365"/>
                <a:gd name="T8" fmla="*/ 379 w 379"/>
                <a:gd name="T9" fmla="*/ 0 h 3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9" h="365">
                  <a:moveTo>
                    <a:pt x="379" y="0"/>
                  </a:moveTo>
                  <a:lnTo>
                    <a:pt x="379" y="195"/>
                  </a:lnTo>
                  <a:lnTo>
                    <a:pt x="0" y="365"/>
                  </a:lnTo>
                  <a:lnTo>
                    <a:pt x="0" y="155"/>
                  </a:lnTo>
                  <a:lnTo>
                    <a:pt x="379" y="0"/>
                  </a:lnTo>
                  <a:close/>
                </a:path>
              </a:pathLst>
            </a:custGeom>
            <a:solidFill>
              <a:srgbClr val="EBF25E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sm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579" name="Freeform 339"/>
            <p:cNvSpPr>
              <a:spLocks/>
            </p:cNvSpPr>
            <p:nvPr/>
          </p:nvSpPr>
          <p:spPr bwMode="auto">
            <a:xfrm>
              <a:off x="2475" y="3380"/>
              <a:ext cx="232" cy="268"/>
            </a:xfrm>
            <a:custGeom>
              <a:avLst/>
              <a:gdLst>
                <a:gd name="T0" fmla="*/ 379 w 379"/>
                <a:gd name="T1" fmla="*/ 0 h 365"/>
                <a:gd name="T2" fmla="*/ 379 w 379"/>
                <a:gd name="T3" fmla="*/ 195 h 365"/>
                <a:gd name="T4" fmla="*/ 0 w 379"/>
                <a:gd name="T5" fmla="*/ 365 h 365"/>
                <a:gd name="T6" fmla="*/ 0 w 379"/>
                <a:gd name="T7" fmla="*/ 155 h 365"/>
                <a:gd name="T8" fmla="*/ 379 w 379"/>
                <a:gd name="T9" fmla="*/ 0 h 3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9" h="365">
                  <a:moveTo>
                    <a:pt x="379" y="0"/>
                  </a:moveTo>
                  <a:lnTo>
                    <a:pt x="379" y="195"/>
                  </a:lnTo>
                  <a:lnTo>
                    <a:pt x="0" y="365"/>
                  </a:lnTo>
                  <a:lnTo>
                    <a:pt x="0" y="155"/>
                  </a:lnTo>
                  <a:lnTo>
                    <a:pt x="379" y="0"/>
                  </a:lnTo>
                  <a:close/>
                </a:path>
              </a:pathLst>
            </a:custGeom>
            <a:solidFill>
              <a:srgbClr val="EBF25E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sm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grpSp>
        <p:nvGrpSpPr>
          <p:cNvPr id="590" name="Group 340"/>
          <p:cNvGrpSpPr>
            <a:grpSpLocks/>
          </p:cNvGrpSpPr>
          <p:nvPr/>
        </p:nvGrpSpPr>
        <p:grpSpPr bwMode="auto">
          <a:xfrm>
            <a:off x="7473280" y="5250410"/>
            <a:ext cx="600075" cy="921789"/>
            <a:chOff x="2256" y="2905"/>
            <a:chExt cx="479" cy="903"/>
          </a:xfrm>
        </p:grpSpPr>
        <p:grpSp>
          <p:nvGrpSpPr>
            <p:cNvPr id="591" name="Group 341"/>
            <p:cNvGrpSpPr>
              <a:grpSpLocks/>
            </p:cNvGrpSpPr>
            <p:nvPr/>
          </p:nvGrpSpPr>
          <p:grpSpPr bwMode="auto">
            <a:xfrm flipH="1">
              <a:off x="2256" y="2905"/>
              <a:ext cx="479" cy="903"/>
              <a:chOff x="4320" y="773"/>
              <a:chExt cx="964" cy="1373"/>
            </a:xfrm>
          </p:grpSpPr>
          <p:sp>
            <p:nvSpPr>
              <p:cNvPr id="601" name="Rectangle 342"/>
              <p:cNvSpPr>
                <a:spLocks noChangeArrowheads="1"/>
              </p:cNvSpPr>
              <p:nvPr/>
            </p:nvSpPr>
            <p:spPr bwMode="auto">
              <a:xfrm>
                <a:off x="5193" y="1402"/>
                <a:ext cx="90" cy="550"/>
              </a:xfrm>
              <a:prstGeom prst="rect">
                <a:avLst/>
              </a:prstGeom>
              <a:solidFill>
                <a:srgbClr val="66FF3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602" name="Freeform 343"/>
              <p:cNvSpPr>
                <a:spLocks/>
              </p:cNvSpPr>
              <p:nvPr/>
            </p:nvSpPr>
            <p:spPr bwMode="auto">
              <a:xfrm rot="21540000">
                <a:off x="4321" y="773"/>
                <a:ext cx="963" cy="550"/>
              </a:xfrm>
              <a:custGeom>
                <a:avLst/>
                <a:gdLst>
                  <a:gd name="T0" fmla="*/ 0 w 963"/>
                  <a:gd name="T1" fmla="*/ 12 h 318"/>
                  <a:gd name="T2" fmla="*/ 870 w 963"/>
                  <a:gd name="T3" fmla="*/ 318 h 318"/>
                  <a:gd name="T4" fmla="*/ 963 w 963"/>
                  <a:gd name="T5" fmla="*/ 315 h 318"/>
                  <a:gd name="T6" fmla="*/ 78 w 963"/>
                  <a:gd name="T7" fmla="*/ 0 h 318"/>
                  <a:gd name="T8" fmla="*/ 0 w 963"/>
                  <a:gd name="T9" fmla="*/ 12 h 3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63" h="318">
                    <a:moveTo>
                      <a:pt x="0" y="12"/>
                    </a:moveTo>
                    <a:lnTo>
                      <a:pt x="870" y="318"/>
                    </a:lnTo>
                    <a:lnTo>
                      <a:pt x="963" y="315"/>
                    </a:lnTo>
                    <a:lnTo>
                      <a:pt x="78" y="0"/>
                    </a:lnTo>
                    <a:lnTo>
                      <a:pt x="0" y="12"/>
                    </a:lnTo>
                    <a:close/>
                  </a:path>
                </a:pathLst>
              </a:custGeom>
              <a:solidFill>
                <a:srgbClr val="66FF3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905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grpSp>
            <p:nvGrpSpPr>
              <p:cNvPr id="603" name="Group 344"/>
              <p:cNvGrpSpPr>
                <a:grpSpLocks/>
              </p:cNvGrpSpPr>
              <p:nvPr/>
            </p:nvGrpSpPr>
            <p:grpSpPr bwMode="auto">
              <a:xfrm>
                <a:off x="4322" y="905"/>
                <a:ext cx="871" cy="1238"/>
                <a:chOff x="4176" y="936"/>
                <a:chExt cx="719" cy="1022"/>
              </a:xfrm>
            </p:grpSpPr>
            <p:sp>
              <p:nvSpPr>
                <p:cNvPr id="609" name="AutoShape 345"/>
                <p:cNvSpPr>
                  <a:spLocks noChangeArrowheads="1"/>
                </p:cNvSpPr>
                <p:nvPr/>
              </p:nvSpPr>
              <p:spPr bwMode="auto">
                <a:xfrm rot="16200000">
                  <a:off x="4025" y="1087"/>
                  <a:ext cx="1022" cy="719"/>
                </a:xfrm>
                <a:prstGeom prst="parallelogram">
                  <a:avLst>
                    <a:gd name="adj" fmla="val 35535"/>
                  </a:avLst>
                </a:prstGeom>
                <a:solidFill>
                  <a:srgbClr val="66FF33"/>
                </a:solidFill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ko-KR" altLang="en-US">
                    <a:latin typeface="나눔고딕" panose="020D0604000000000000" pitchFamily="50" charset="-127"/>
                    <a:ea typeface="나눔고딕" panose="020D0604000000000000" pitchFamily="50" charset="-127"/>
                  </a:endParaRPr>
                </a:p>
              </p:txBody>
            </p:sp>
            <p:sp>
              <p:nvSpPr>
                <p:cNvPr id="610" name="Line 346"/>
                <p:cNvSpPr>
                  <a:spLocks noChangeShapeType="1"/>
                </p:cNvSpPr>
                <p:nvPr/>
              </p:nvSpPr>
              <p:spPr bwMode="auto">
                <a:xfrm>
                  <a:off x="4176" y="1001"/>
                  <a:ext cx="718" cy="25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ko-KR" altLang="en-US">
                    <a:latin typeface="나눔고딕" panose="020D0604000000000000" pitchFamily="50" charset="-127"/>
                    <a:ea typeface="나눔고딕" panose="020D0604000000000000" pitchFamily="50" charset="-127"/>
                  </a:endParaRPr>
                </a:p>
              </p:txBody>
            </p:sp>
          </p:grpSp>
          <p:sp>
            <p:nvSpPr>
              <p:cNvPr id="604" name="Line 347"/>
              <p:cNvSpPr>
                <a:spLocks noChangeShapeType="1"/>
              </p:cNvSpPr>
              <p:nvPr/>
            </p:nvSpPr>
            <p:spPr bwMode="auto">
              <a:xfrm>
                <a:off x="5192" y="2143"/>
                <a:ext cx="9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605" name="Line 348"/>
              <p:cNvSpPr>
                <a:spLocks noChangeShapeType="1"/>
              </p:cNvSpPr>
              <p:nvPr/>
            </p:nvSpPr>
            <p:spPr bwMode="auto">
              <a:xfrm>
                <a:off x="5192" y="1211"/>
                <a:ext cx="9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606" name="Line 349"/>
              <p:cNvSpPr>
                <a:spLocks noChangeShapeType="1"/>
              </p:cNvSpPr>
              <p:nvPr/>
            </p:nvSpPr>
            <p:spPr bwMode="auto">
              <a:xfrm flipV="1">
                <a:off x="5281" y="1208"/>
                <a:ext cx="0" cy="938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607" name="Line 350"/>
              <p:cNvSpPr>
                <a:spLocks noChangeShapeType="1"/>
              </p:cNvSpPr>
              <p:nvPr/>
            </p:nvSpPr>
            <p:spPr bwMode="auto">
              <a:xfrm>
                <a:off x="4320" y="897"/>
                <a:ext cx="9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608" name="Line 351"/>
              <p:cNvSpPr>
                <a:spLocks noChangeShapeType="1"/>
              </p:cNvSpPr>
              <p:nvPr/>
            </p:nvSpPr>
            <p:spPr bwMode="auto">
              <a:xfrm>
                <a:off x="4412" y="897"/>
                <a:ext cx="868" cy="309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p:grpSp>
        <p:sp>
          <p:nvSpPr>
            <p:cNvPr id="592" name="Freeform 352"/>
            <p:cNvSpPr>
              <a:spLocks/>
            </p:cNvSpPr>
            <p:nvPr/>
          </p:nvSpPr>
          <p:spPr bwMode="auto">
            <a:xfrm>
              <a:off x="2329" y="3096"/>
              <a:ext cx="380" cy="247"/>
            </a:xfrm>
            <a:custGeom>
              <a:avLst/>
              <a:gdLst>
                <a:gd name="T0" fmla="*/ 0 w 614"/>
                <a:gd name="T1" fmla="*/ 240 h 336"/>
                <a:gd name="T2" fmla="*/ 0 w 614"/>
                <a:gd name="T3" fmla="*/ 336 h 336"/>
                <a:gd name="T4" fmla="*/ 614 w 614"/>
                <a:gd name="T5" fmla="*/ 84 h 336"/>
                <a:gd name="T6" fmla="*/ 614 w 614"/>
                <a:gd name="T7" fmla="*/ 0 h 336"/>
                <a:gd name="T8" fmla="*/ 0 w 614"/>
                <a:gd name="T9" fmla="*/ 240 h 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4" h="336">
                  <a:moveTo>
                    <a:pt x="0" y="240"/>
                  </a:moveTo>
                  <a:lnTo>
                    <a:pt x="0" y="336"/>
                  </a:lnTo>
                  <a:lnTo>
                    <a:pt x="614" y="84"/>
                  </a:lnTo>
                  <a:lnTo>
                    <a:pt x="614" y="0"/>
                  </a:lnTo>
                  <a:lnTo>
                    <a:pt x="0" y="240"/>
                  </a:lnTo>
                  <a:close/>
                </a:path>
              </a:pathLst>
            </a:custGeom>
            <a:solidFill>
              <a:srgbClr val="66FF33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sm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593" name="Line 353"/>
            <p:cNvSpPr>
              <a:spLocks noChangeShapeType="1"/>
            </p:cNvSpPr>
            <p:nvPr/>
          </p:nvSpPr>
          <p:spPr bwMode="auto">
            <a:xfrm>
              <a:off x="2452" y="3318"/>
              <a:ext cx="0" cy="3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sm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594" name="Line 354"/>
            <p:cNvSpPr>
              <a:spLocks noChangeShapeType="1"/>
            </p:cNvSpPr>
            <p:nvPr/>
          </p:nvSpPr>
          <p:spPr bwMode="auto">
            <a:xfrm flipV="1">
              <a:off x="2332" y="3336"/>
              <a:ext cx="93" cy="45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/>
              <a:tailEnd type="none" w="sm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595" name="Line 355"/>
            <p:cNvSpPr>
              <a:spLocks noChangeShapeType="1"/>
            </p:cNvSpPr>
            <p:nvPr/>
          </p:nvSpPr>
          <p:spPr bwMode="auto">
            <a:xfrm flipV="1">
              <a:off x="2332" y="3367"/>
              <a:ext cx="93" cy="45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/>
              <a:tailEnd type="none" w="sm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596" name="Line 356"/>
            <p:cNvSpPr>
              <a:spLocks noChangeShapeType="1"/>
            </p:cNvSpPr>
            <p:nvPr/>
          </p:nvSpPr>
          <p:spPr bwMode="auto">
            <a:xfrm flipV="1">
              <a:off x="2332" y="3400"/>
              <a:ext cx="93" cy="46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/>
              <a:tailEnd type="none" w="sm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597" name="Line 357"/>
            <p:cNvSpPr>
              <a:spLocks noChangeShapeType="1"/>
            </p:cNvSpPr>
            <p:nvPr/>
          </p:nvSpPr>
          <p:spPr bwMode="auto">
            <a:xfrm flipV="1">
              <a:off x="2332" y="3434"/>
              <a:ext cx="93" cy="46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/>
              <a:tailEnd type="none" w="sm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598" name="Line 358"/>
            <p:cNvSpPr>
              <a:spLocks noChangeShapeType="1"/>
            </p:cNvSpPr>
            <p:nvPr/>
          </p:nvSpPr>
          <p:spPr bwMode="auto">
            <a:xfrm flipV="1">
              <a:off x="2332" y="3469"/>
              <a:ext cx="93" cy="46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/>
              <a:tailEnd type="none" w="sm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599" name="Freeform 359"/>
            <p:cNvSpPr>
              <a:spLocks/>
            </p:cNvSpPr>
            <p:nvPr/>
          </p:nvSpPr>
          <p:spPr bwMode="auto">
            <a:xfrm>
              <a:off x="2475" y="3197"/>
              <a:ext cx="232" cy="268"/>
            </a:xfrm>
            <a:custGeom>
              <a:avLst/>
              <a:gdLst>
                <a:gd name="T0" fmla="*/ 379 w 379"/>
                <a:gd name="T1" fmla="*/ 0 h 365"/>
                <a:gd name="T2" fmla="*/ 379 w 379"/>
                <a:gd name="T3" fmla="*/ 195 h 365"/>
                <a:gd name="T4" fmla="*/ 0 w 379"/>
                <a:gd name="T5" fmla="*/ 365 h 365"/>
                <a:gd name="T6" fmla="*/ 0 w 379"/>
                <a:gd name="T7" fmla="*/ 155 h 365"/>
                <a:gd name="T8" fmla="*/ 379 w 379"/>
                <a:gd name="T9" fmla="*/ 0 h 3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9" h="365">
                  <a:moveTo>
                    <a:pt x="379" y="0"/>
                  </a:moveTo>
                  <a:lnTo>
                    <a:pt x="379" y="195"/>
                  </a:lnTo>
                  <a:lnTo>
                    <a:pt x="0" y="365"/>
                  </a:lnTo>
                  <a:lnTo>
                    <a:pt x="0" y="155"/>
                  </a:lnTo>
                  <a:lnTo>
                    <a:pt x="379" y="0"/>
                  </a:lnTo>
                  <a:close/>
                </a:path>
              </a:pathLst>
            </a:custGeom>
            <a:solidFill>
              <a:srgbClr val="66FF33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sm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600" name="Freeform 360"/>
            <p:cNvSpPr>
              <a:spLocks/>
            </p:cNvSpPr>
            <p:nvPr/>
          </p:nvSpPr>
          <p:spPr bwMode="auto">
            <a:xfrm>
              <a:off x="2475" y="3380"/>
              <a:ext cx="232" cy="268"/>
            </a:xfrm>
            <a:custGeom>
              <a:avLst/>
              <a:gdLst>
                <a:gd name="T0" fmla="*/ 379 w 379"/>
                <a:gd name="T1" fmla="*/ 0 h 365"/>
                <a:gd name="T2" fmla="*/ 379 w 379"/>
                <a:gd name="T3" fmla="*/ 195 h 365"/>
                <a:gd name="T4" fmla="*/ 0 w 379"/>
                <a:gd name="T5" fmla="*/ 365 h 365"/>
                <a:gd name="T6" fmla="*/ 0 w 379"/>
                <a:gd name="T7" fmla="*/ 155 h 365"/>
                <a:gd name="T8" fmla="*/ 379 w 379"/>
                <a:gd name="T9" fmla="*/ 0 h 3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9" h="365">
                  <a:moveTo>
                    <a:pt x="379" y="0"/>
                  </a:moveTo>
                  <a:lnTo>
                    <a:pt x="379" y="195"/>
                  </a:lnTo>
                  <a:lnTo>
                    <a:pt x="0" y="365"/>
                  </a:lnTo>
                  <a:lnTo>
                    <a:pt x="0" y="155"/>
                  </a:lnTo>
                  <a:lnTo>
                    <a:pt x="379" y="0"/>
                  </a:lnTo>
                  <a:close/>
                </a:path>
              </a:pathLst>
            </a:custGeom>
            <a:solidFill>
              <a:srgbClr val="66FF33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sm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grpSp>
        <p:nvGrpSpPr>
          <p:cNvPr id="611" name="Group 361"/>
          <p:cNvGrpSpPr>
            <a:grpSpLocks/>
          </p:cNvGrpSpPr>
          <p:nvPr/>
        </p:nvGrpSpPr>
        <p:grpSpPr bwMode="auto">
          <a:xfrm>
            <a:off x="8235280" y="5250410"/>
            <a:ext cx="600075" cy="921789"/>
            <a:chOff x="2256" y="2905"/>
            <a:chExt cx="479" cy="903"/>
          </a:xfrm>
        </p:grpSpPr>
        <p:grpSp>
          <p:nvGrpSpPr>
            <p:cNvPr id="612" name="Group 362"/>
            <p:cNvGrpSpPr>
              <a:grpSpLocks/>
            </p:cNvGrpSpPr>
            <p:nvPr/>
          </p:nvGrpSpPr>
          <p:grpSpPr bwMode="auto">
            <a:xfrm flipH="1">
              <a:off x="2256" y="2905"/>
              <a:ext cx="479" cy="903"/>
              <a:chOff x="4320" y="773"/>
              <a:chExt cx="964" cy="1373"/>
            </a:xfrm>
          </p:grpSpPr>
          <p:sp>
            <p:nvSpPr>
              <p:cNvPr id="622" name="Rectangle 363"/>
              <p:cNvSpPr>
                <a:spLocks noChangeArrowheads="1"/>
              </p:cNvSpPr>
              <p:nvPr/>
            </p:nvSpPr>
            <p:spPr bwMode="auto">
              <a:xfrm>
                <a:off x="5193" y="1402"/>
                <a:ext cx="90" cy="550"/>
              </a:xfrm>
              <a:prstGeom prst="rect">
                <a:avLst/>
              </a:prstGeom>
              <a:solidFill>
                <a:srgbClr val="66FF3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623" name="Freeform 364"/>
              <p:cNvSpPr>
                <a:spLocks/>
              </p:cNvSpPr>
              <p:nvPr/>
            </p:nvSpPr>
            <p:spPr bwMode="auto">
              <a:xfrm rot="21540000">
                <a:off x="4321" y="773"/>
                <a:ext cx="963" cy="550"/>
              </a:xfrm>
              <a:custGeom>
                <a:avLst/>
                <a:gdLst>
                  <a:gd name="T0" fmla="*/ 0 w 963"/>
                  <a:gd name="T1" fmla="*/ 12 h 318"/>
                  <a:gd name="T2" fmla="*/ 870 w 963"/>
                  <a:gd name="T3" fmla="*/ 318 h 318"/>
                  <a:gd name="T4" fmla="*/ 963 w 963"/>
                  <a:gd name="T5" fmla="*/ 315 h 318"/>
                  <a:gd name="T6" fmla="*/ 78 w 963"/>
                  <a:gd name="T7" fmla="*/ 0 h 318"/>
                  <a:gd name="T8" fmla="*/ 0 w 963"/>
                  <a:gd name="T9" fmla="*/ 12 h 3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63" h="318">
                    <a:moveTo>
                      <a:pt x="0" y="12"/>
                    </a:moveTo>
                    <a:lnTo>
                      <a:pt x="870" y="318"/>
                    </a:lnTo>
                    <a:lnTo>
                      <a:pt x="963" y="315"/>
                    </a:lnTo>
                    <a:lnTo>
                      <a:pt x="78" y="0"/>
                    </a:lnTo>
                    <a:lnTo>
                      <a:pt x="0" y="12"/>
                    </a:lnTo>
                    <a:close/>
                  </a:path>
                </a:pathLst>
              </a:custGeom>
              <a:solidFill>
                <a:srgbClr val="66FF3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905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grpSp>
            <p:nvGrpSpPr>
              <p:cNvPr id="624" name="Group 365"/>
              <p:cNvGrpSpPr>
                <a:grpSpLocks/>
              </p:cNvGrpSpPr>
              <p:nvPr/>
            </p:nvGrpSpPr>
            <p:grpSpPr bwMode="auto">
              <a:xfrm>
                <a:off x="4322" y="905"/>
                <a:ext cx="871" cy="1238"/>
                <a:chOff x="4176" y="936"/>
                <a:chExt cx="719" cy="1022"/>
              </a:xfrm>
            </p:grpSpPr>
            <p:sp>
              <p:nvSpPr>
                <p:cNvPr id="630" name="AutoShape 366"/>
                <p:cNvSpPr>
                  <a:spLocks noChangeArrowheads="1"/>
                </p:cNvSpPr>
                <p:nvPr/>
              </p:nvSpPr>
              <p:spPr bwMode="auto">
                <a:xfrm rot="16200000">
                  <a:off x="4025" y="1087"/>
                  <a:ext cx="1022" cy="719"/>
                </a:xfrm>
                <a:prstGeom prst="parallelogram">
                  <a:avLst>
                    <a:gd name="adj" fmla="val 35535"/>
                  </a:avLst>
                </a:prstGeom>
                <a:solidFill>
                  <a:srgbClr val="66FF33"/>
                </a:solidFill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ko-KR" altLang="en-US">
                    <a:latin typeface="나눔고딕" panose="020D0604000000000000" pitchFamily="50" charset="-127"/>
                    <a:ea typeface="나눔고딕" panose="020D0604000000000000" pitchFamily="50" charset="-127"/>
                  </a:endParaRPr>
                </a:p>
              </p:txBody>
            </p:sp>
            <p:sp>
              <p:nvSpPr>
                <p:cNvPr id="631" name="Line 367"/>
                <p:cNvSpPr>
                  <a:spLocks noChangeShapeType="1"/>
                </p:cNvSpPr>
                <p:nvPr/>
              </p:nvSpPr>
              <p:spPr bwMode="auto">
                <a:xfrm>
                  <a:off x="4176" y="1001"/>
                  <a:ext cx="718" cy="25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ko-KR" altLang="en-US">
                    <a:latin typeface="나눔고딕" panose="020D0604000000000000" pitchFamily="50" charset="-127"/>
                    <a:ea typeface="나눔고딕" panose="020D0604000000000000" pitchFamily="50" charset="-127"/>
                  </a:endParaRPr>
                </a:p>
              </p:txBody>
            </p:sp>
          </p:grpSp>
          <p:sp>
            <p:nvSpPr>
              <p:cNvPr id="625" name="Line 368"/>
              <p:cNvSpPr>
                <a:spLocks noChangeShapeType="1"/>
              </p:cNvSpPr>
              <p:nvPr/>
            </p:nvSpPr>
            <p:spPr bwMode="auto">
              <a:xfrm>
                <a:off x="5192" y="2143"/>
                <a:ext cx="9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626" name="Line 369"/>
              <p:cNvSpPr>
                <a:spLocks noChangeShapeType="1"/>
              </p:cNvSpPr>
              <p:nvPr/>
            </p:nvSpPr>
            <p:spPr bwMode="auto">
              <a:xfrm>
                <a:off x="5192" y="1211"/>
                <a:ext cx="9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627" name="Line 370"/>
              <p:cNvSpPr>
                <a:spLocks noChangeShapeType="1"/>
              </p:cNvSpPr>
              <p:nvPr/>
            </p:nvSpPr>
            <p:spPr bwMode="auto">
              <a:xfrm flipV="1">
                <a:off x="5281" y="1208"/>
                <a:ext cx="0" cy="938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628" name="Line 371"/>
              <p:cNvSpPr>
                <a:spLocks noChangeShapeType="1"/>
              </p:cNvSpPr>
              <p:nvPr/>
            </p:nvSpPr>
            <p:spPr bwMode="auto">
              <a:xfrm>
                <a:off x="4320" y="897"/>
                <a:ext cx="9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629" name="Line 372"/>
              <p:cNvSpPr>
                <a:spLocks noChangeShapeType="1"/>
              </p:cNvSpPr>
              <p:nvPr/>
            </p:nvSpPr>
            <p:spPr bwMode="auto">
              <a:xfrm>
                <a:off x="4412" y="897"/>
                <a:ext cx="868" cy="309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p:grpSp>
        <p:sp>
          <p:nvSpPr>
            <p:cNvPr id="613" name="Freeform 373"/>
            <p:cNvSpPr>
              <a:spLocks/>
            </p:cNvSpPr>
            <p:nvPr/>
          </p:nvSpPr>
          <p:spPr bwMode="auto">
            <a:xfrm>
              <a:off x="2329" y="3096"/>
              <a:ext cx="380" cy="247"/>
            </a:xfrm>
            <a:custGeom>
              <a:avLst/>
              <a:gdLst>
                <a:gd name="T0" fmla="*/ 0 w 614"/>
                <a:gd name="T1" fmla="*/ 240 h 336"/>
                <a:gd name="T2" fmla="*/ 0 w 614"/>
                <a:gd name="T3" fmla="*/ 336 h 336"/>
                <a:gd name="T4" fmla="*/ 614 w 614"/>
                <a:gd name="T5" fmla="*/ 84 h 336"/>
                <a:gd name="T6" fmla="*/ 614 w 614"/>
                <a:gd name="T7" fmla="*/ 0 h 336"/>
                <a:gd name="T8" fmla="*/ 0 w 614"/>
                <a:gd name="T9" fmla="*/ 240 h 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4" h="336">
                  <a:moveTo>
                    <a:pt x="0" y="240"/>
                  </a:moveTo>
                  <a:lnTo>
                    <a:pt x="0" y="336"/>
                  </a:lnTo>
                  <a:lnTo>
                    <a:pt x="614" y="84"/>
                  </a:lnTo>
                  <a:lnTo>
                    <a:pt x="614" y="0"/>
                  </a:lnTo>
                  <a:lnTo>
                    <a:pt x="0" y="240"/>
                  </a:lnTo>
                  <a:close/>
                </a:path>
              </a:pathLst>
            </a:custGeom>
            <a:solidFill>
              <a:srgbClr val="66FF33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sm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614" name="Line 374"/>
            <p:cNvSpPr>
              <a:spLocks noChangeShapeType="1"/>
            </p:cNvSpPr>
            <p:nvPr/>
          </p:nvSpPr>
          <p:spPr bwMode="auto">
            <a:xfrm>
              <a:off x="2452" y="3318"/>
              <a:ext cx="0" cy="3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sm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615" name="Line 375"/>
            <p:cNvSpPr>
              <a:spLocks noChangeShapeType="1"/>
            </p:cNvSpPr>
            <p:nvPr/>
          </p:nvSpPr>
          <p:spPr bwMode="auto">
            <a:xfrm flipV="1">
              <a:off x="2332" y="3336"/>
              <a:ext cx="93" cy="45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/>
              <a:tailEnd type="none" w="sm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616" name="Line 376"/>
            <p:cNvSpPr>
              <a:spLocks noChangeShapeType="1"/>
            </p:cNvSpPr>
            <p:nvPr/>
          </p:nvSpPr>
          <p:spPr bwMode="auto">
            <a:xfrm flipV="1">
              <a:off x="2332" y="3367"/>
              <a:ext cx="93" cy="45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/>
              <a:tailEnd type="none" w="sm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617" name="Line 377"/>
            <p:cNvSpPr>
              <a:spLocks noChangeShapeType="1"/>
            </p:cNvSpPr>
            <p:nvPr/>
          </p:nvSpPr>
          <p:spPr bwMode="auto">
            <a:xfrm flipV="1">
              <a:off x="2332" y="3400"/>
              <a:ext cx="93" cy="46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/>
              <a:tailEnd type="none" w="sm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618" name="Line 378"/>
            <p:cNvSpPr>
              <a:spLocks noChangeShapeType="1"/>
            </p:cNvSpPr>
            <p:nvPr/>
          </p:nvSpPr>
          <p:spPr bwMode="auto">
            <a:xfrm flipV="1">
              <a:off x="2332" y="3434"/>
              <a:ext cx="93" cy="46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/>
              <a:tailEnd type="none" w="sm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619" name="Line 379"/>
            <p:cNvSpPr>
              <a:spLocks noChangeShapeType="1"/>
            </p:cNvSpPr>
            <p:nvPr/>
          </p:nvSpPr>
          <p:spPr bwMode="auto">
            <a:xfrm flipV="1">
              <a:off x="2332" y="3469"/>
              <a:ext cx="93" cy="46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/>
              <a:tailEnd type="none" w="sm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620" name="Freeform 380"/>
            <p:cNvSpPr>
              <a:spLocks/>
            </p:cNvSpPr>
            <p:nvPr/>
          </p:nvSpPr>
          <p:spPr bwMode="auto">
            <a:xfrm>
              <a:off x="2475" y="3197"/>
              <a:ext cx="232" cy="268"/>
            </a:xfrm>
            <a:custGeom>
              <a:avLst/>
              <a:gdLst>
                <a:gd name="T0" fmla="*/ 379 w 379"/>
                <a:gd name="T1" fmla="*/ 0 h 365"/>
                <a:gd name="T2" fmla="*/ 379 w 379"/>
                <a:gd name="T3" fmla="*/ 195 h 365"/>
                <a:gd name="T4" fmla="*/ 0 w 379"/>
                <a:gd name="T5" fmla="*/ 365 h 365"/>
                <a:gd name="T6" fmla="*/ 0 w 379"/>
                <a:gd name="T7" fmla="*/ 155 h 365"/>
                <a:gd name="T8" fmla="*/ 379 w 379"/>
                <a:gd name="T9" fmla="*/ 0 h 3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9" h="365">
                  <a:moveTo>
                    <a:pt x="379" y="0"/>
                  </a:moveTo>
                  <a:lnTo>
                    <a:pt x="379" y="195"/>
                  </a:lnTo>
                  <a:lnTo>
                    <a:pt x="0" y="365"/>
                  </a:lnTo>
                  <a:lnTo>
                    <a:pt x="0" y="155"/>
                  </a:lnTo>
                  <a:lnTo>
                    <a:pt x="379" y="0"/>
                  </a:lnTo>
                  <a:close/>
                </a:path>
              </a:pathLst>
            </a:custGeom>
            <a:solidFill>
              <a:srgbClr val="66FF33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sm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621" name="Freeform 381"/>
            <p:cNvSpPr>
              <a:spLocks/>
            </p:cNvSpPr>
            <p:nvPr/>
          </p:nvSpPr>
          <p:spPr bwMode="auto">
            <a:xfrm>
              <a:off x="2475" y="3380"/>
              <a:ext cx="232" cy="268"/>
            </a:xfrm>
            <a:custGeom>
              <a:avLst/>
              <a:gdLst>
                <a:gd name="T0" fmla="*/ 379 w 379"/>
                <a:gd name="T1" fmla="*/ 0 h 365"/>
                <a:gd name="T2" fmla="*/ 379 w 379"/>
                <a:gd name="T3" fmla="*/ 195 h 365"/>
                <a:gd name="T4" fmla="*/ 0 w 379"/>
                <a:gd name="T5" fmla="*/ 365 h 365"/>
                <a:gd name="T6" fmla="*/ 0 w 379"/>
                <a:gd name="T7" fmla="*/ 155 h 365"/>
                <a:gd name="T8" fmla="*/ 379 w 379"/>
                <a:gd name="T9" fmla="*/ 0 h 3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9" h="365">
                  <a:moveTo>
                    <a:pt x="379" y="0"/>
                  </a:moveTo>
                  <a:lnTo>
                    <a:pt x="379" y="195"/>
                  </a:lnTo>
                  <a:lnTo>
                    <a:pt x="0" y="365"/>
                  </a:lnTo>
                  <a:lnTo>
                    <a:pt x="0" y="155"/>
                  </a:lnTo>
                  <a:lnTo>
                    <a:pt x="379" y="0"/>
                  </a:lnTo>
                  <a:close/>
                </a:path>
              </a:pathLst>
            </a:custGeom>
            <a:solidFill>
              <a:srgbClr val="66FF33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sm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sp>
        <p:nvSpPr>
          <p:cNvPr id="632" name="Line 382"/>
          <p:cNvSpPr>
            <a:spLocks noChangeShapeType="1"/>
          </p:cNvSpPr>
          <p:nvPr/>
        </p:nvSpPr>
        <p:spPr bwMode="auto">
          <a:xfrm flipV="1">
            <a:off x="1161728" y="4495800"/>
            <a:ext cx="0" cy="76200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 type="none" w="med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33" name="Line 383"/>
          <p:cNvSpPr>
            <a:spLocks noChangeShapeType="1"/>
          </p:cNvSpPr>
          <p:nvPr/>
        </p:nvSpPr>
        <p:spPr bwMode="auto">
          <a:xfrm flipV="1">
            <a:off x="5638800" y="4495800"/>
            <a:ext cx="0" cy="76200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 type="none" w="med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34" name="Line 384"/>
          <p:cNvSpPr>
            <a:spLocks noChangeShapeType="1"/>
          </p:cNvSpPr>
          <p:nvPr/>
        </p:nvSpPr>
        <p:spPr bwMode="auto">
          <a:xfrm flipV="1">
            <a:off x="8146504" y="4495800"/>
            <a:ext cx="0" cy="76200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 type="none" w="med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35" name="Rectangle 385"/>
          <p:cNvSpPr>
            <a:spLocks noChangeArrowheads="1"/>
          </p:cNvSpPr>
          <p:nvPr/>
        </p:nvSpPr>
        <p:spPr bwMode="auto">
          <a:xfrm>
            <a:off x="704528" y="4800600"/>
            <a:ext cx="1804988" cy="26035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3175">
                <a:solidFill>
                  <a:srgbClr val="C0C0C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1" lang="en-US" altLang="ko-KR" sz="11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E Type – Contents page</a:t>
            </a:r>
          </a:p>
        </p:txBody>
      </p:sp>
      <p:sp>
        <p:nvSpPr>
          <p:cNvPr id="636" name="Rectangle 386"/>
          <p:cNvSpPr>
            <a:spLocks noChangeArrowheads="1"/>
          </p:cNvSpPr>
          <p:nvPr/>
        </p:nvSpPr>
        <p:spPr bwMode="auto">
          <a:xfrm>
            <a:off x="4736976" y="4800600"/>
            <a:ext cx="1804988" cy="26035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3175">
                <a:solidFill>
                  <a:srgbClr val="C0C0C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1" lang="en-US" altLang="ko-KR" sz="1100" b="1">
                <a:latin typeface="나눔고딕" panose="020D0604000000000000" pitchFamily="50" charset="-127"/>
                <a:ea typeface="나눔고딕" panose="020D0604000000000000" pitchFamily="50" charset="-127"/>
              </a:rPr>
              <a:t>F Type – Content page</a:t>
            </a:r>
          </a:p>
        </p:txBody>
      </p:sp>
      <p:sp>
        <p:nvSpPr>
          <p:cNvPr id="637" name="Rectangle 387"/>
          <p:cNvSpPr>
            <a:spLocks noChangeArrowheads="1"/>
          </p:cNvSpPr>
          <p:nvPr/>
        </p:nvSpPr>
        <p:spPr bwMode="auto">
          <a:xfrm>
            <a:off x="7252468" y="4800600"/>
            <a:ext cx="1804988" cy="26035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3175">
                <a:solidFill>
                  <a:srgbClr val="C0C0C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1" lang="en-US" altLang="ko-KR" sz="1100" b="1">
                <a:latin typeface="나눔고딕" panose="020D0604000000000000" pitchFamily="50" charset="-127"/>
                <a:ea typeface="나눔고딕" panose="020D0604000000000000" pitchFamily="50" charset="-127"/>
              </a:rPr>
              <a:t>G Type – Content page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838332" y="4144282"/>
            <a:ext cx="8803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A 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상품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Page</a:t>
            </a:r>
            <a:endParaRPr lang="ko-KR" altLang="en-US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39" name="TextBox 638"/>
          <p:cNvSpPr txBox="1"/>
          <p:nvPr/>
        </p:nvSpPr>
        <p:spPr>
          <a:xfrm>
            <a:off x="1755003" y="4144282"/>
            <a:ext cx="86433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B 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상품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Page</a:t>
            </a:r>
            <a:endParaRPr lang="ko-KR" altLang="en-US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40" name="TextBox 639"/>
          <p:cNvSpPr txBox="1"/>
          <p:nvPr/>
        </p:nvSpPr>
        <p:spPr>
          <a:xfrm>
            <a:off x="2605947" y="4144282"/>
            <a:ext cx="8739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C 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상품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Page</a:t>
            </a:r>
            <a:endParaRPr lang="ko-KR" altLang="en-US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41" name="TextBox 640"/>
          <p:cNvSpPr txBox="1"/>
          <p:nvPr/>
        </p:nvSpPr>
        <p:spPr>
          <a:xfrm>
            <a:off x="3440941" y="4144282"/>
            <a:ext cx="88037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D 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상품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Page</a:t>
            </a:r>
            <a:endParaRPr lang="ko-KR" altLang="en-US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42" name="TextBox 641"/>
          <p:cNvSpPr txBox="1"/>
          <p:nvPr/>
        </p:nvSpPr>
        <p:spPr>
          <a:xfrm>
            <a:off x="4584542" y="4149080"/>
            <a:ext cx="98616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Landing page</a:t>
            </a:r>
            <a:endParaRPr lang="ko-KR" altLang="en-US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43" name="TextBox 642"/>
          <p:cNvSpPr txBox="1"/>
          <p:nvPr/>
        </p:nvSpPr>
        <p:spPr>
          <a:xfrm>
            <a:off x="5534724" y="4149080"/>
            <a:ext cx="114646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Needs Response</a:t>
            </a:r>
          </a:p>
          <a:p>
            <a:pPr algn="ctr"/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Interface</a:t>
            </a:r>
            <a:endParaRPr lang="ko-KR" altLang="en-US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44" name="TextBox 643"/>
          <p:cNvSpPr txBox="1"/>
          <p:nvPr/>
        </p:nvSpPr>
        <p:spPr>
          <a:xfrm>
            <a:off x="7571101" y="4144282"/>
            <a:ext cx="123623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Mobile Web Page</a:t>
            </a:r>
            <a:endParaRPr lang="ko-KR" altLang="en-US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47" name="Rectangle 385"/>
          <p:cNvSpPr>
            <a:spLocks noChangeArrowheads="1"/>
          </p:cNvSpPr>
          <p:nvPr/>
        </p:nvSpPr>
        <p:spPr bwMode="auto">
          <a:xfrm>
            <a:off x="2771761" y="4800600"/>
            <a:ext cx="1605175" cy="26161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3175">
                <a:solidFill>
                  <a:srgbClr val="C0C0C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kumimoji="1" lang="en-US" altLang="ko-KR" sz="11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E-1 Type – </a:t>
            </a:r>
            <a:r>
              <a:rPr kumimoji="1" lang="en" altLang="ko-KR" sz="11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XXX</a:t>
            </a:r>
            <a:r>
              <a:rPr kumimoji="1" lang="ko-KR" altLang="en-US" sz="11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가입</a:t>
            </a:r>
            <a:endParaRPr kumimoji="1" lang="en-US" altLang="ko-KR" sz="11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pSp>
        <p:nvGrpSpPr>
          <p:cNvPr id="648" name="Group 277"/>
          <p:cNvGrpSpPr>
            <a:grpSpLocks/>
          </p:cNvGrpSpPr>
          <p:nvPr/>
        </p:nvGrpSpPr>
        <p:grpSpPr bwMode="auto">
          <a:xfrm>
            <a:off x="3112687" y="5250410"/>
            <a:ext cx="600075" cy="921789"/>
            <a:chOff x="2256" y="2905"/>
            <a:chExt cx="479" cy="903"/>
          </a:xfrm>
          <a:solidFill>
            <a:schemeClr val="tx1">
              <a:lumMod val="50000"/>
              <a:lumOff val="50000"/>
            </a:schemeClr>
          </a:solidFill>
        </p:grpSpPr>
        <p:grpSp>
          <p:nvGrpSpPr>
            <p:cNvPr id="649" name="Group 278"/>
            <p:cNvGrpSpPr>
              <a:grpSpLocks/>
            </p:cNvGrpSpPr>
            <p:nvPr/>
          </p:nvGrpSpPr>
          <p:grpSpPr bwMode="auto">
            <a:xfrm flipH="1">
              <a:off x="2256" y="2905"/>
              <a:ext cx="479" cy="903"/>
              <a:chOff x="4320" y="773"/>
              <a:chExt cx="964" cy="1373"/>
            </a:xfrm>
            <a:grpFill/>
          </p:grpSpPr>
          <p:sp>
            <p:nvSpPr>
              <p:cNvPr id="659" name="Rectangle 279"/>
              <p:cNvSpPr>
                <a:spLocks noChangeArrowheads="1"/>
              </p:cNvSpPr>
              <p:nvPr/>
            </p:nvSpPr>
            <p:spPr bwMode="auto">
              <a:xfrm>
                <a:off x="5193" y="1402"/>
                <a:ext cx="90" cy="550"/>
              </a:xfrm>
              <a:prstGeom prst="rect">
                <a:avLst/>
              </a:pr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660" name="Freeform 280"/>
              <p:cNvSpPr>
                <a:spLocks/>
              </p:cNvSpPr>
              <p:nvPr/>
            </p:nvSpPr>
            <p:spPr bwMode="auto">
              <a:xfrm rot="21540000">
                <a:off x="4321" y="773"/>
                <a:ext cx="963" cy="550"/>
              </a:xfrm>
              <a:custGeom>
                <a:avLst/>
                <a:gdLst>
                  <a:gd name="T0" fmla="*/ 0 w 963"/>
                  <a:gd name="T1" fmla="*/ 12 h 318"/>
                  <a:gd name="T2" fmla="*/ 870 w 963"/>
                  <a:gd name="T3" fmla="*/ 318 h 318"/>
                  <a:gd name="T4" fmla="*/ 963 w 963"/>
                  <a:gd name="T5" fmla="*/ 315 h 318"/>
                  <a:gd name="T6" fmla="*/ 78 w 963"/>
                  <a:gd name="T7" fmla="*/ 0 h 318"/>
                  <a:gd name="T8" fmla="*/ 0 w 963"/>
                  <a:gd name="T9" fmla="*/ 12 h 3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63" h="318">
                    <a:moveTo>
                      <a:pt x="0" y="12"/>
                    </a:moveTo>
                    <a:lnTo>
                      <a:pt x="870" y="318"/>
                    </a:lnTo>
                    <a:lnTo>
                      <a:pt x="963" y="315"/>
                    </a:lnTo>
                    <a:lnTo>
                      <a:pt x="78" y="0"/>
                    </a:lnTo>
                    <a:lnTo>
                      <a:pt x="0" y="12"/>
                    </a:lnTo>
                    <a:close/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905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grpSp>
            <p:nvGrpSpPr>
              <p:cNvPr id="661" name="Group 281"/>
              <p:cNvGrpSpPr>
                <a:grpSpLocks/>
              </p:cNvGrpSpPr>
              <p:nvPr/>
            </p:nvGrpSpPr>
            <p:grpSpPr bwMode="auto">
              <a:xfrm>
                <a:off x="4322" y="905"/>
                <a:ext cx="871" cy="1238"/>
                <a:chOff x="4176" y="936"/>
                <a:chExt cx="719" cy="1022"/>
              </a:xfrm>
              <a:grpFill/>
            </p:grpSpPr>
            <p:sp>
              <p:nvSpPr>
                <p:cNvPr id="667" name="AutoShape 282"/>
                <p:cNvSpPr>
                  <a:spLocks noChangeArrowheads="1"/>
                </p:cNvSpPr>
                <p:nvPr/>
              </p:nvSpPr>
              <p:spPr bwMode="auto">
                <a:xfrm rot="16200000">
                  <a:off x="4025" y="1087"/>
                  <a:ext cx="1022" cy="719"/>
                </a:xfrm>
                <a:prstGeom prst="parallelogram">
                  <a:avLst>
                    <a:gd name="adj" fmla="val 35535"/>
                  </a:avLst>
                </a:prstGeom>
                <a:grp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ko-KR" altLang="en-US">
                    <a:latin typeface="나눔고딕" panose="020D0604000000000000" pitchFamily="50" charset="-127"/>
                    <a:ea typeface="나눔고딕" panose="020D0604000000000000" pitchFamily="50" charset="-127"/>
                  </a:endParaRPr>
                </a:p>
              </p:txBody>
            </p:sp>
            <p:sp>
              <p:nvSpPr>
                <p:cNvPr id="668" name="Line 283"/>
                <p:cNvSpPr>
                  <a:spLocks noChangeShapeType="1"/>
                </p:cNvSpPr>
                <p:nvPr/>
              </p:nvSpPr>
              <p:spPr bwMode="auto">
                <a:xfrm>
                  <a:off x="4176" y="1001"/>
                  <a:ext cx="718" cy="250"/>
                </a:xfrm>
                <a:prstGeom prst="line">
                  <a:avLst/>
                </a:prstGeom>
                <a:grp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ko-KR" altLang="en-US">
                    <a:latin typeface="나눔고딕" panose="020D0604000000000000" pitchFamily="50" charset="-127"/>
                    <a:ea typeface="나눔고딕" panose="020D0604000000000000" pitchFamily="50" charset="-127"/>
                  </a:endParaRPr>
                </a:p>
              </p:txBody>
            </p:sp>
          </p:grpSp>
          <p:sp>
            <p:nvSpPr>
              <p:cNvPr id="662" name="Line 284"/>
              <p:cNvSpPr>
                <a:spLocks noChangeShapeType="1"/>
              </p:cNvSpPr>
              <p:nvPr/>
            </p:nvSpPr>
            <p:spPr bwMode="auto">
              <a:xfrm>
                <a:off x="5192" y="2143"/>
                <a:ext cx="92" cy="0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663" name="Line 285"/>
              <p:cNvSpPr>
                <a:spLocks noChangeShapeType="1"/>
              </p:cNvSpPr>
              <p:nvPr/>
            </p:nvSpPr>
            <p:spPr bwMode="auto">
              <a:xfrm>
                <a:off x="5192" y="1211"/>
                <a:ext cx="92" cy="0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664" name="Line 286"/>
              <p:cNvSpPr>
                <a:spLocks noChangeShapeType="1"/>
              </p:cNvSpPr>
              <p:nvPr/>
            </p:nvSpPr>
            <p:spPr bwMode="auto">
              <a:xfrm flipV="1">
                <a:off x="5281" y="1208"/>
                <a:ext cx="0" cy="938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665" name="Line 287"/>
              <p:cNvSpPr>
                <a:spLocks noChangeShapeType="1"/>
              </p:cNvSpPr>
              <p:nvPr/>
            </p:nvSpPr>
            <p:spPr bwMode="auto">
              <a:xfrm>
                <a:off x="4320" y="897"/>
                <a:ext cx="92" cy="0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666" name="Line 288"/>
              <p:cNvSpPr>
                <a:spLocks noChangeShapeType="1"/>
              </p:cNvSpPr>
              <p:nvPr/>
            </p:nvSpPr>
            <p:spPr bwMode="auto">
              <a:xfrm>
                <a:off x="4412" y="897"/>
                <a:ext cx="868" cy="309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p:grpSp>
        <p:sp>
          <p:nvSpPr>
            <p:cNvPr id="650" name="Freeform 289"/>
            <p:cNvSpPr>
              <a:spLocks/>
            </p:cNvSpPr>
            <p:nvPr/>
          </p:nvSpPr>
          <p:spPr bwMode="auto">
            <a:xfrm>
              <a:off x="2329" y="3096"/>
              <a:ext cx="380" cy="247"/>
            </a:xfrm>
            <a:custGeom>
              <a:avLst/>
              <a:gdLst>
                <a:gd name="T0" fmla="*/ 0 w 614"/>
                <a:gd name="T1" fmla="*/ 240 h 336"/>
                <a:gd name="T2" fmla="*/ 0 w 614"/>
                <a:gd name="T3" fmla="*/ 336 h 336"/>
                <a:gd name="T4" fmla="*/ 614 w 614"/>
                <a:gd name="T5" fmla="*/ 84 h 336"/>
                <a:gd name="T6" fmla="*/ 614 w 614"/>
                <a:gd name="T7" fmla="*/ 0 h 336"/>
                <a:gd name="T8" fmla="*/ 0 w 614"/>
                <a:gd name="T9" fmla="*/ 240 h 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4" h="336">
                  <a:moveTo>
                    <a:pt x="0" y="240"/>
                  </a:moveTo>
                  <a:lnTo>
                    <a:pt x="0" y="336"/>
                  </a:lnTo>
                  <a:lnTo>
                    <a:pt x="614" y="84"/>
                  </a:lnTo>
                  <a:lnTo>
                    <a:pt x="614" y="0"/>
                  </a:lnTo>
                  <a:lnTo>
                    <a:pt x="0" y="240"/>
                  </a:lnTo>
                  <a:close/>
                </a:path>
              </a:pathLst>
            </a:custGeom>
            <a:grpFill/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sm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651" name="Line 290"/>
            <p:cNvSpPr>
              <a:spLocks noChangeShapeType="1"/>
            </p:cNvSpPr>
            <p:nvPr/>
          </p:nvSpPr>
          <p:spPr bwMode="auto">
            <a:xfrm>
              <a:off x="2452" y="3318"/>
              <a:ext cx="0" cy="388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 type="none" w="sm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652" name="Line 291"/>
            <p:cNvSpPr>
              <a:spLocks noChangeShapeType="1"/>
            </p:cNvSpPr>
            <p:nvPr/>
          </p:nvSpPr>
          <p:spPr bwMode="auto">
            <a:xfrm flipV="1">
              <a:off x="2332" y="3336"/>
              <a:ext cx="93" cy="45"/>
            </a:xfrm>
            <a:prstGeom prst="line">
              <a:avLst/>
            </a:prstGeom>
            <a:grpFill/>
            <a:ln w="19050">
              <a:solidFill>
                <a:schemeClr val="bg2"/>
              </a:solidFill>
              <a:round/>
              <a:headEnd/>
              <a:tailEnd type="none" w="sm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653" name="Line 292"/>
            <p:cNvSpPr>
              <a:spLocks noChangeShapeType="1"/>
            </p:cNvSpPr>
            <p:nvPr/>
          </p:nvSpPr>
          <p:spPr bwMode="auto">
            <a:xfrm flipV="1">
              <a:off x="2332" y="3367"/>
              <a:ext cx="93" cy="45"/>
            </a:xfrm>
            <a:prstGeom prst="line">
              <a:avLst/>
            </a:prstGeom>
            <a:grpFill/>
            <a:ln w="19050">
              <a:solidFill>
                <a:schemeClr val="bg2"/>
              </a:solidFill>
              <a:round/>
              <a:headEnd/>
              <a:tailEnd type="none" w="sm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654" name="Line 293"/>
            <p:cNvSpPr>
              <a:spLocks noChangeShapeType="1"/>
            </p:cNvSpPr>
            <p:nvPr/>
          </p:nvSpPr>
          <p:spPr bwMode="auto">
            <a:xfrm flipV="1">
              <a:off x="2332" y="3400"/>
              <a:ext cx="93" cy="46"/>
            </a:xfrm>
            <a:prstGeom prst="line">
              <a:avLst/>
            </a:prstGeom>
            <a:grpFill/>
            <a:ln w="19050">
              <a:solidFill>
                <a:schemeClr val="bg2"/>
              </a:solidFill>
              <a:round/>
              <a:headEnd/>
              <a:tailEnd type="none" w="sm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655" name="Line 294"/>
            <p:cNvSpPr>
              <a:spLocks noChangeShapeType="1"/>
            </p:cNvSpPr>
            <p:nvPr/>
          </p:nvSpPr>
          <p:spPr bwMode="auto">
            <a:xfrm flipV="1">
              <a:off x="2332" y="3434"/>
              <a:ext cx="93" cy="46"/>
            </a:xfrm>
            <a:prstGeom prst="line">
              <a:avLst/>
            </a:prstGeom>
            <a:grpFill/>
            <a:ln w="19050">
              <a:solidFill>
                <a:schemeClr val="bg2"/>
              </a:solidFill>
              <a:round/>
              <a:headEnd/>
              <a:tailEnd type="none" w="sm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656" name="Line 295"/>
            <p:cNvSpPr>
              <a:spLocks noChangeShapeType="1"/>
            </p:cNvSpPr>
            <p:nvPr/>
          </p:nvSpPr>
          <p:spPr bwMode="auto">
            <a:xfrm flipV="1">
              <a:off x="2332" y="3469"/>
              <a:ext cx="93" cy="46"/>
            </a:xfrm>
            <a:prstGeom prst="line">
              <a:avLst/>
            </a:prstGeom>
            <a:grpFill/>
            <a:ln w="19050">
              <a:solidFill>
                <a:schemeClr val="bg2"/>
              </a:solidFill>
              <a:round/>
              <a:headEnd/>
              <a:tailEnd type="none" w="sm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657" name="Freeform 296"/>
            <p:cNvSpPr>
              <a:spLocks/>
            </p:cNvSpPr>
            <p:nvPr/>
          </p:nvSpPr>
          <p:spPr bwMode="auto">
            <a:xfrm>
              <a:off x="2475" y="3197"/>
              <a:ext cx="232" cy="268"/>
            </a:xfrm>
            <a:custGeom>
              <a:avLst/>
              <a:gdLst>
                <a:gd name="T0" fmla="*/ 379 w 379"/>
                <a:gd name="T1" fmla="*/ 0 h 365"/>
                <a:gd name="T2" fmla="*/ 379 w 379"/>
                <a:gd name="T3" fmla="*/ 195 h 365"/>
                <a:gd name="T4" fmla="*/ 0 w 379"/>
                <a:gd name="T5" fmla="*/ 365 h 365"/>
                <a:gd name="T6" fmla="*/ 0 w 379"/>
                <a:gd name="T7" fmla="*/ 155 h 365"/>
                <a:gd name="T8" fmla="*/ 379 w 379"/>
                <a:gd name="T9" fmla="*/ 0 h 3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9" h="365">
                  <a:moveTo>
                    <a:pt x="379" y="0"/>
                  </a:moveTo>
                  <a:lnTo>
                    <a:pt x="379" y="195"/>
                  </a:lnTo>
                  <a:lnTo>
                    <a:pt x="0" y="365"/>
                  </a:lnTo>
                  <a:lnTo>
                    <a:pt x="0" y="155"/>
                  </a:lnTo>
                  <a:lnTo>
                    <a:pt x="379" y="0"/>
                  </a:lnTo>
                  <a:close/>
                </a:path>
              </a:pathLst>
            </a:custGeom>
            <a:grpFill/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sm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658" name="Freeform 297"/>
            <p:cNvSpPr>
              <a:spLocks/>
            </p:cNvSpPr>
            <p:nvPr/>
          </p:nvSpPr>
          <p:spPr bwMode="auto">
            <a:xfrm>
              <a:off x="2475" y="3380"/>
              <a:ext cx="232" cy="268"/>
            </a:xfrm>
            <a:custGeom>
              <a:avLst/>
              <a:gdLst>
                <a:gd name="T0" fmla="*/ 379 w 379"/>
                <a:gd name="T1" fmla="*/ 0 h 365"/>
                <a:gd name="T2" fmla="*/ 379 w 379"/>
                <a:gd name="T3" fmla="*/ 195 h 365"/>
                <a:gd name="T4" fmla="*/ 0 w 379"/>
                <a:gd name="T5" fmla="*/ 365 h 365"/>
                <a:gd name="T6" fmla="*/ 0 w 379"/>
                <a:gd name="T7" fmla="*/ 155 h 365"/>
                <a:gd name="T8" fmla="*/ 379 w 379"/>
                <a:gd name="T9" fmla="*/ 0 h 3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9" h="365">
                  <a:moveTo>
                    <a:pt x="379" y="0"/>
                  </a:moveTo>
                  <a:lnTo>
                    <a:pt x="379" y="195"/>
                  </a:lnTo>
                  <a:lnTo>
                    <a:pt x="0" y="365"/>
                  </a:lnTo>
                  <a:lnTo>
                    <a:pt x="0" y="155"/>
                  </a:lnTo>
                  <a:lnTo>
                    <a:pt x="379" y="0"/>
                  </a:lnTo>
                  <a:close/>
                </a:path>
              </a:pathLst>
            </a:custGeom>
            <a:grpFill/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sm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sp>
        <p:nvSpPr>
          <p:cNvPr id="3" name="오른쪽 화살표 2"/>
          <p:cNvSpPr/>
          <p:nvPr/>
        </p:nvSpPr>
        <p:spPr>
          <a:xfrm>
            <a:off x="2530515" y="5517232"/>
            <a:ext cx="262245" cy="377827"/>
          </a:xfrm>
          <a:prstGeom prst="rightArrow">
            <a:avLst/>
          </a:prstGeom>
          <a:solidFill>
            <a:schemeClr val="bg1">
              <a:lumMod val="7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0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45" name="오른쪽 화살표 344"/>
          <p:cNvSpPr/>
          <p:nvPr/>
        </p:nvSpPr>
        <p:spPr>
          <a:xfrm rot="10800000">
            <a:off x="4245813" y="5373216"/>
            <a:ext cx="262245" cy="377827"/>
          </a:xfrm>
          <a:prstGeom prst="rightArrow">
            <a:avLst/>
          </a:prstGeom>
          <a:solidFill>
            <a:schemeClr val="bg1">
              <a:lumMod val="7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0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46" name="오른쪽 화살표 345"/>
          <p:cNvSpPr/>
          <p:nvPr/>
        </p:nvSpPr>
        <p:spPr>
          <a:xfrm rot="10800000">
            <a:off x="4245812" y="5753753"/>
            <a:ext cx="2840787" cy="377827"/>
          </a:xfrm>
          <a:prstGeom prst="rightArrow">
            <a:avLst/>
          </a:prstGeom>
          <a:solidFill>
            <a:schemeClr val="bg1">
              <a:lumMod val="7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0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9383022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64E63AAD-BC62-C5C6-B881-0944DF44189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731" b="851"/>
          <a:stretch/>
        </p:blipFill>
        <p:spPr>
          <a:xfrm>
            <a:off x="1066801" y="1511973"/>
            <a:ext cx="8839199" cy="534602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4017" y="91339"/>
            <a:ext cx="7401271" cy="385333"/>
          </a:xfrm>
          <a:prstGeom prst="rect">
            <a:avLst/>
          </a:prstGeom>
          <a:noFill/>
        </p:spPr>
        <p:txBody>
          <a:bodyPr wrap="square" lIns="0" tIns="53643" rIns="0" bIns="53643" rtlCol="0">
            <a:spAutoFit/>
          </a:bodyPr>
          <a:lstStyle/>
          <a:p>
            <a:r>
              <a:rPr kumimoji="1" lang="en-US" altLang="ko-KR" b="1" kern="0" dirty="0">
                <a:latin typeface="나눔고딕" panose="020D0604000000000000" pitchFamily="50" charset="-127"/>
                <a:ea typeface="나눔고딕" panose="020D0604000000000000" pitchFamily="50" charset="-127"/>
                <a:cs typeface="산돌고딕 M"/>
              </a:rPr>
              <a:t>Information architecture</a:t>
            </a:r>
            <a:endParaRPr kumimoji="1" lang="ko-KR" altLang="en-US" b="1" kern="0" dirty="0">
              <a:latin typeface="나눔고딕" panose="020D0604000000000000" pitchFamily="50" charset="-127"/>
              <a:ea typeface="나눔고딕" panose="020D0604000000000000" pitchFamily="50" charset="-127"/>
              <a:cs typeface="산돌고딕 M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44017" y="683985"/>
            <a:ext cx="96335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핵심 특성 및 혜택</a:t>
            </a:r>
            <a:endParaRPr lang="en-US" altLang="ko-KR" sz="14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46" name="Oval 5"/>
          <p:cNvSpPr>
            <a:spLocks noChangeArrowheads="1"/>
          </p:cNvSpPr>
          <p:nvPr/>
        </p:nvSpPr>
        <p:spPr bwMode="auto">
          <a:xfrm rot="1424663">
            <a:off x="2971800" y="2667000"/>
            <a:ext cx="2990850" cy="1536700"/>
          </a:xfrm>
          <a:prstGeom prst="ellipse">
            <a:avLst/>
          </a:prstGeom>
          <a:noFill/>
          <a:ln w="28575">
            <a:solidFill>
              <a:srgbClr val="CC3300"/>
            </a:solidFill>
            <a:prstDash val="sysDot"/>
            <a:round/>
            <a:headEnd/>
            <a:tailEnd type="none" w="med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47" name="Text Box 6"/>
          <p:cNvSpPr txBox="1">
            <a:spLocks noChangeArrowheads="1"/>
          </p:cNvSpPr>
          <p:nvPr/>
        </p:nvSpPr>
        <p:spPr bwMode="auto">
          <a:xfrm>
            <a:off x="5791200" y="1219200"/>
            <a:ext cx="373380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AEAEA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1089025" indent="-45720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725613" indent="-45720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2362200" indent="-45720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998788" indent="-45720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3455988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3913188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4370388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4827588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>
              <a:lnSpc>
                <a:spcPct val="110000"/>
              </a:lnSpc>
              <a:spcBef>
                <a:spcPct val="20000"/>
              </a:spcBef>
            </a:pPr>
            <a:r>
              <a:rPr kumimoji="0"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장기</a:t>
            </a:r>
            <a:r>
              <a:rPr kumimoji="0"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kumimoji="0"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의료비</a:t>
            </a:r>
            <a:r>
              <a:rPr kumimoji="0"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kumimoji="0"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학자금 등 고객의 </a:t>
            </a:r>
            <a:r>
              <a:rPr kumimoji="0" lang="ko-KR" altLang="en-US" sz="1000" b="1">
                <a:latin typeface="나눔고딕" panose="020D0604000000000000" pitchFamily="50" charset="-127"/>
                <a:ea typeface="나눔고딕" panose="020D0604000000000000" pitchFamily="50" charset="-127"/>
              </a:rPr>
              <a:t>기본적인 서비스가입 </a:t>
            </a:r>
            <a:r>
              <a:rPr kumimoji="0"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욕구에 대한 상품을 쉽게 찾을 수 있도록 </a:t>
            </a:r>
            <a:r>
              <a:rPr kumimoji="0"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Policy Page</a:t>
            </a:r>
            <a:r>
              <a:rPr kumimoji="0"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를 구성하여</a:t>
            </a:r>
            <a:r>
              <a:rPr kumimoji="0"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</a:t>
            </a:r>
          </a:p>
          <a:p>
            <a:pPr>
              <a:lnSpc>
                <a:spcPct val="110000"/>
              </a:lnSpc>
              <a:spcBef>
                <a:spcPct val="20000"/>
              </a:spcBef>
            </a:pPr>
            <a:r>
              <a:rPr kumimoji="0"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1. </a:t>
            </a:r>
            <a:r>
              <a:rPr kumimoji="0"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처음 방문하는 방문자 또한 쉽게 방향을 찾을 수 있도록 구성</a:t>
            </a:r>
            <a:endParaRPr kumimoji="0"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ct val="110000"/>
              </a:lnSpc>
              <a:spcBef>
                <a:spcPct val="20000"/>
              </a:spcBef>
            </a:pPr>
            <a:r>
              <a:rPr kumimoji="0"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2. </a:t>
            </a:r>
            <a:r>
              <a:rPr kumimoji="0"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고객의 </a:t>
            </a:r>
            <a:r>
              <a:rPr kumimoji="0" lang="ko-KR" altLang="en-US" sz="1000">
                <a:latin typeface="나눔고딕" panose="020D0604000000000000" pitchFamily="50" charset="-127"/>
                <a:ea typeface="나눔고딕" panose="020D0604000000000000" pitchFamily="50" charset="-127"/>
              </a:rPr>
              <a:t>기본적 서비스니즈에 </a:t>
            </a:r>
            <a:r>
              <a:rPr kumimoji="0"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따른 다양한 금융상품 소개를 통한</a:t>
            </a:r>
            <a:br>
              <a:rPr kumimoji="0"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kumimoji="0"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   </a:t>
            </a:r>
            <a:r>
              <a:rPr kumimoji="0"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크로스 </a:t>
            </a:r>
            <a:r>
              <a:rPr kumimoji="0" lang="ko-KR" altLang="en-US" sz="1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셀링</a:t>
            </a:r>
            <a:r>
              <a:rPr kumimoji="0"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효과를 기대할 수 있다</a:t>
            </a:r>
            <a:endParaRPr kumimoji="0"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ct val="110000"/>
              </a:lnSpc>
              <a:spcBef>
                <a:spcPct val="20000"/>
              </a:spcBef>
            </a:pPr>
            <a:r>
              <a:rPr kumimoji="0"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3. One page process </a:t>
            </a:r>
            <a:r>
              <a:rPr kumimoji="0"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를 통하여 가입할 수 있도록 구성</a:t>
            </a:r>
          </a:p>
        </p:txBody>
      </p:sp>
      <p:sp>
        <p:nvSpPr>
          <p:cNvPr id="348" name="Text Box 7"/>
          <p:cNvSpPr txBox="1">
            <a:spLocks noChangeArrowheads="1"/>
          </p:cNvSpPr>
          <p:nvPr/>
        </p:nvSpPr>
        <p:spPr bwMode="auto">
          <a:xfrm>
            <a:off x="7391400" y="2743200"/>
            <a:ext cx="2362200" cy="13388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AEAEA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1089025" indent="-45720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725613" indent="-45720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2362200" indent="-45720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998788" indent="-45720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3455988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3913188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4370388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4827588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>
              <a:lnSpc>
                <a:spcPct val="110000"/>
              </a:lnSpc>
              <a:spcBef>
                <a:spcPct val="20000"/>
              </a:spcBef>
            </a:pPr>
            <a:r>
              <a:rPr kumimoji="0"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광고를 통해 유입할 수 있도록 구성되는 </a:t>
            </a:r>
            <a:r>
              <a:rPr kumimoji="0"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Landing page </a:t>
            </a:r>
            <a:r>
              <a:rPr kumimoji="0"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와 고객의 </a:t>
            </a:r>
            <a:r>
              <a:rPr kumimoji="0"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Needs </a:t>
            </a:r>
            <a:r>
              <a:rPr kumimoji="0"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에 반응하는 </a:t>
            </a:r>
            <a:r>
              <a:rPr kumimoji="0"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Response Interface </a:t>
            </a:r>
            <a:r>
              <a:rPr kumimoji="0"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를 구성</a:t>
            </a:r>
            <a:r>
              <a:rPr kumimoji="0"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하여</a:t>
            </a:r>
            <a:r>
              <a:rPr kumimoji="0"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</a:t>
            </a:r>
          </a:p>
          <a:p>
            <a:pPr>
              <a:lnSpc>
                <a:spcPct val="110000"/>
              </a:lnSpc>
              <a:spcBef>
                <a:spcPct val="20000"/>
              </a:spcBef>
            </a:pPr>
            <a:r>
              <a:rPr kumimoji="0"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1. </a:t>
            </a:r>
            <a:r>
              <a:rPr kumimoji="0" lang="ko-KR" altLang="en-US" sz="1000">
                <a:latin typeface="나눔고딕" panose="020D0604000000000000" pitchFamily="50" charset="-127"/>
                <a:ea typeface="나눔고딕" panose="020D0604000000000000" pitchFamily="50" charset="-127"/>
              </a:rPr>
              <a:t>사용자에게 </a:t>
            </a:r>
            <a:r>
              <a:rPr kumimoji="0" lang="en" altLang="ko-KR" sz="1000">
                <a:latin typeface="나눔고딕" panose="020D0604000000000000" pitchFamily="50" charset="-127"/>
                <a:ea typeface="나눔고딕" panose="020D0604000000000000" pitchFamily="50" charset="-127"/>
              </a:rPr>
              <a:t>XXX</a:t>
            </a:r>
            <a:r>
              <a:rPr kumimoji="0" lang="ko-KR" altLang="en-US" sz="1000">
                <a:latin typeface="나눔고딕" panose="020D0604000000000000" pitchFamily="50" charset="-127"/>
                <a:ea typeface="나눔고딕" panose="020D0604000000000000" pitchFamily="50" charset="-127"/>
              </a:rPr>
              <a:t>서비스의 </a:t>
            </a:r>
            <a:r>
              <a:rPr kumimoji="0"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정보를 빠르게</a:t>
            </a:r>
            <a:br>
              <a:rPr kumimoji="0"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kumimoji="0"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  </a:t>
            </a:r>
            <a:r>
              <a:rPr kumimoji="0"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전달하여 </a:t>
            </a:r>
            <a:r>
              <a:rPr kumimoji="0" lang="ko-KR" altLang="en-US" sz="1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접근성을</a:t>
            </a:r>
            <a:r>
              <a:rPr kumimoji="0"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높임</a:t>
            </a:r>
            <a:endParaRPr kumimoji="0"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ct val="110000"/>
              </a:lnSpc>
              <a:spcBef>
                <a:spcPct val="20000"/>
              </a:spcBef>
            </a:pPr>
            <a:r>
              <a:rPr kumimoji="0"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2. </a:t>
            </a:r>
            <a:r>
              <a:rPr kumimoji="0"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고객의 키워드에 반응하여 보여주기</a:t>
            </a:r>
            <a:br>
              <a:rPr kumimoji="0"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kumimoji="0"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   </a:t>
            </a:r>
            <a:r>
              <a:rPr kumimoji="0"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때문에 상품에 대한 </a:t>
            </a:r>
            <a:r>
              <a:rPr kumimoji="0" lang="ko-KR" altLang="en-US" sz="1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가입률</a:t>
            </a:r>
            <a:r>
              <a:rPr kumimoji="0"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상승</a:t>
            </a:r>
          </a:p>
        </p:txBody>
      </p:sp>
      <p:sp>
        <p:nvSpPr>
          <p:cNvPr id="349" name="Oval 8"/>
          <p:cNvSpPr>
            <a:spLocks noChangeArrowheads="1"/>
          </p:cNvSpPr>
          <p:nvPr/>
        </p:nvSpPr>
        <p:spPr bwMode="auto">
          <a:xfrm rot="1424663">
            <a:off x="5638800" y="4648200"/>
            <a:ext cx="2990850" cy="1536700"/>
          </a:xfrm>
          <a:prstGeom prst="ellipse">
            <a:avLst/>
          </a:prstGeom>
          <a:noFill/>
          <a:ln w="28575">
            <a:solidFill>
              <a:srgbClr val="CC3300"/>
            </a:solidFill>
            <a:prstDash val="sysDot"/>
            <a:round/>
            <a:headEnd/>
            <a:tailEnd type="none" w="med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50" name="Line 9"/>
          <p:cNvSpPr>
            <a:spLocks noChangeShapeType="1"/>
          </p:cNvSpPr>
          <p:nvPr/>
        </p:nvSpPr>
        <p:spPr bwMode="auto">
          <a:xfrm>
            <a:off x="7334250" y="2838450"/>
            <a:ext cx="0" cy="1009650"/>
          </a:xfrm>
          <a:prstGeom prst="line">
            <a:avLst/>
          </a:prstGeom>
          <a:noFill/>
          <a:ln w="6350">
            <a:solidFill>
              <a:srgbClr val="CC3300"/>
            </a:solidFill>
            <a:round/>
            <a:headEnd/>
            <a:tailEnd type="none" w="med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51" name="Line 10"/>
          <p:cNvSpPr>
            <a:spLocks noChangeShapeType="1"/>
          </p:cNvSpPr>
          <p:nvPr/>
        </p:nvSpPr>
        <p:spPr bwMode="auto">
          <a:xfrm>
            <a:off x="5724525" y="1314450"/>
            <a:ext cx="0" cy="1009650"/>
          </a:xfrm>
          <a:prstGeom prst="line">
            <a:avLst/>
          </a:prstGeom>
          <a:noFill/>
          <a:ln w="6350">
            <a:solidFill>
              <a:srgbClr val="CC3300"/>
            </a:solidFill>
            <a:round/>
            <a:headEnd/>
            <a:tailEnd type="none" w="med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52" name="Line 11"/>
          <p:cNvSpPr>
            <a:spLocks noChangeShapeType="1"/>
          </p:cNvSpPr>
          <p:nvPr/>
        </p:nvSpPr>
        <p:spPr bwMode="auto">
          <a:xfrm flipH="1">
            <a:off x="4953000" y="1905000"/>
            <a:ext cx="762000" cy="914400"/>
          </a:xfrm>
          <a:prstGeom prst="line">
            <a:avLst/>
          </a:prstGeom>
          <a:noFill/>
          <a:ln w="6350">
            <a:solidFill>
              <a:srgbClr val="CC3300"/>
            </a:solidFill>
            <a:round/>
            <a:headEnd/>
            <a:tailEnd type="none" w="med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53" name="Line 12"/>
          <p:cNvSpPr>
            <a:spLocks noChangeShapeType="1"/>
          </p:cNvSpPr>
          <p:nvPr/>
        </p:nvSpPr>
        <p:spPr bwMode="auto">
          <a:xfrm flipH="1">
            <a:off x="6657975" y="3286125"/>
            <a:ext cx="685800" cy="1238250"/>
          </a:xfrm>
          <a:prstGeom prst="line">
            <a:avLst/>
          </a:prstGeom>
          <a:noFill/>
          <a:ln w="6350">
            <a:solidFill>
              <a:srgbClr val="CC3300"/>
            </a:solidFill>
            <a:round/>
            <a:headEnd/>
            <a:tailEnd type="none" w="med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728864" y="3189129"/>
            <a:ext cx="1358064" cy="246221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B Type – Policy Page</a:t>
            </a:r>
          </a:p>
        </p:txBody>
      </p:sp>
      <p:sp>
        <p:nvSpPr>
          <p:cNvPr id="368" name="TextBox 367"/>
          <p:cNvSpPr txBox="1"/>
          <p:nvPr/>
        </p:nvSpPr>
        <p:spPr>
          <a:xfrm>
            <a:off x="6150956" y="5220825"/>
            <a:ext cx="1656224" cy="246221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C Type – Promotion Page</a:t>
            </a:r>
          </a:p>
        </p:txBody>
      </p:sp>
      <p:sp>
        <p:nvSpPr>
          <p:cNvPr id="369" name="Oval 5"/>
          <p:cNvSpPr>
            <a:spLocks noChangeArrowheads="1"/>
          </p:cNvSpPr>
          <p:nvPr/>
        </p:nvSpPr>
        <p:spPr bwMode="auto">
          <a:xfrm rot="1424663">
            <a:off x="1278874" y="3945439"/>
            <a:ext cx="2581994" cy="1536700"/>
          </a:xfrm>
          <a:prstGeom prst="ellipse">
            <a:avLst/>
          </a:prstGeom>
          <a:noFill/>
          <a:ln w="28575">
            <a:solidFill>
              <a:srgbClr val="CC3300"/>
            </a:solidFill>
            <a:prstDash val="sysDot"/>
            <a:round/>
            <a:headEnd/>
            <a:tailEnd type="none" w="med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70" name="Text Box 6"/>
          <p:cNvSpPr txBox="1">
            <a:spLocks noChangeArrowheads="1"/>
          </p:cNvSpPr>
          <p:nvPr/>
        </p:nvSpPr>
        <p:spPr bwMode="auto">
          <a:xfrm>
            <a:off x="3163416" y="5910371"/>
            <a:ext cx="2509664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AEAEA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rIns="0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1089025" indent="-45720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725613" indent="-45720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2362200" indent="-45720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998788" indent="-45720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3455988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3913188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4370388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4827588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>
              <a:lnSpc>
                <a:spcPct val="110000"/>
              </a:lnSpc>
              <a:spcBef>
                <a:spcPct val="20000"/>
              </a:spcBef>
            </a:pPr>
            <a:r>
              <a:rPr kumimoji="0"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사용자의 접근성과 상품정보 인지성을 높이는 </a:t>
            </a:r>
            <a:r>
              <a:rPr kumimoji="0" lang="ko-KR" altLang="en-US" sz="1000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메인페이지를</a:t>
            </a:r>
            <a:r>
              <a:rPr kumimoji="0"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구성</a:t>
            </a:r>
            <a:r>
              <a:rPr kumimoji="0"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하여</a:t>
            </a:r>
            <a:r>
              <a:rPr kumimoji="0"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</a:t>
            </a:r>
          </a:p>
          <a:p>
            <a:pPr>
              <a:lnSpc>
                <a:spcPct val="110000"/>
              </a:lnSpc>
              <a:spcBef>
                <a:spcPct val="20000"/>
              </a:spcBef>
            </a:pPr>
            <a:r>
              <a:rPr kumimoji="0"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1. </a:t>
            </a:r>
            <a:r>
              <a:rPr kumimoji="0"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상품으로의 </a:t>
            </a:r>
            <a:r>
              <a:rPr kumimoji="0" lang="ko-KR" altLang="en-US" sz="1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접근성을</a:t>
            </a:r>
            <a:r>
              <a:rPr kumimoji="0"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높임</a:t>
            </a:r>
            <a:endParaRPr kumimoji="0"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ct val="110000"/>
              </a:lnSpc>
              <a:spcBef>
                <a:spcPct val="20000"/>
              </a:spcBef>
            </a:pPr>
            <a:r>
              <a:rPr kumimoji="0"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2. </a:t>
            </a:r>
            <a:r>
              <a:rPr kumimoji="0"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브랜드 이미지 각인효과</a:t>
            </a:r>
          </a:p>
        </p:txBody>
      </p:sp>
      <p:sp>
        <p:nvSpPr>
          <p:cNvPr id="371" name="Line 10"/>
          <p:cNvSpPr>
            <a:spLocks noChangeShapeType="1"/>
          </p:cNvSpPr>
          <p:nvPr/>
        </p:nvSpPr>
        <p:spPr bwMode="auto">
          <a:xfrm>
            <a:off x="3080792" y="5910370"/>
            <a:ext cx="0" cy="830997"/>
          </a:xfrm>
          <a:prstGeom prst="line">
            <a:avLst/>
          </a:prstGeom>
          <a:noFill/>
          <a:ln w="6350">
            <a:solidFill>
              <a:srgbClr val="CC3300"/>
            </a:solidFill>
            <a:round/>
            <a:headEnd/>
            <a:tailEnd type="none" w="med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72" name="Line 11"/>
          <p:cNvSpPr>
            <a:spLocks noChangeShapeType="1"/>
          </p:cNvSpPr>
          <p:nvPr/>
        </p:nvSpPr>
        <p:spPr bwMode="auto">
          <a:xfrm flipH="1" flipV="1">
            <a:off x="2720752" y="5589241"/>
            <a:ext cx="360040" cy="736628"/>
          </a:xfrm>
          <a:prstGeom prst="line">
            <a:avLst/>
          </a:prstGeom>
          <a:noFill/>
          <a:ln w="6350">
            <a:solidFill>
              <a:srgbClr val="CC3300"/>
            </a:solidFill>
            <a:round/>
            <a:headEnd/>
            <a:tailEnd type="none" w="med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73" name="TextBox 372"/>
          <p:cNvSpPr txBox="1"/>
          <p:nvPr/>
        </p:nvSpPr>
        <p:spPr>
          <a:xfrm>
            <a:off x="2064764" y="4535038"/>
            <a:ext cx="1010213" cy="246221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A Type - Main</a:t>
            </a:r>
          </a:p>
        </p:txBody>
      </p:sp>
    </p:spTree>
    <p:extLst>
      <p:ext uri="{BB962C8B-B14F-4D97-AF65-F5344CB8AC3E}">
        <p14:creationId xmlns:p14="http://schemas.microsoft.com/office/powerpoint/2010/main" val="218716629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B648DB29-9252-7DAD-C50E-36B876FC37C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731" b="851"/>
          <a:stretch/>
        </p:blipFill>
        <p:spPr>
          <a:xfrm>
            <a:off x="1066801" y="1511973"/>
            <a:ext cx="8839199" cy="534602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4017" y="91339"/>
            <a:ext cx="7401271" cy="385333"/>
          </a:xfrm>
          <a:prstGeom prst="rect">
            <a:avLst/>
          </a:prstGeom>
          <a:noFill/>
        </p:spPr>
        <p:txBody>
          <a:bodyPr wrap="square" lIns="0" tIns="53643" rIns="0" bIns="53643" rtlCol="0">
            <a:spAutoFit/>
          </a:bodyPr>
          <a:lstStyle/>
          <a:p>
            <a:r>
              <a:rPr kumimoji="1" lang="en-US" altLang="ko-KR" b="1" kern="0" dirty="0">
                <a:latin typeface="나눔고딕" panose="020D0604000000000000" pitchFamily="50" charset="-127"/>
                <a:ea typeface="나눔고딕" panose="020D0604000000000000" pitchFamily="50" charset="-127"/>
                <a:cs typeface="산돌고딕 M"/>
              </a:rPr>
              <a:t>Information architecture</a:t>
            </a:r>
            <a:endParaRPr kumimoji="1" lang="ko-KR" altLang="en-US" b="1" kern="0" dirty="0">
              <a:latin typeface="나눔고딕" panose="020D0604000000000000" pitchFamily="50" charset="-127"/>
              <a:ea typeface="나눔고딕" panose="020D0604000000000000" pitchFamily="50" charset="-127"/>
              <a:cs typeface="산돌고딕 M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44017" y="683985"/>
            <a:ext cx="96335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핵심 특성 및 혜택</a:t>
            </a:r>
            <a:endParaRPr lang="en-US" altLang="ko-KR" sz="14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1" name="Oval 5"/>
          <p:cNvSpPr>
            <a:spLocks noChangeArrowheads="1"/>
          </p:cNvSpPr>
          <p:nvPr/>
        </p:nvSpPr>
        <p:spPr bwMode="auto">
          <a:xfrm rot="3560223">
            <a:off x="2139950" y="1593850"/>
            <a:ext cx="1066800" cy="1536700"/>
          </a:xfrm>
          <a:prstGeom prst="ellipse">
            <a:avLst/>
          </a:prstGeom>
          <a:noFill/>
          <a:ln w="28575">
            <a:solidFill>
              <a:srgbClr val="CC3300"/>
            </a:solidFill>
            <a:prstDash val="sysDot"/>
            <a:round/>
            <a:headEnd/>
            <a:tailEnd type="none" w="med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2" name="Text Box 6"/>
          <p:cNvSpPr txBox="1">
            <a:spLocks noChangeArrowheads="1"/>
          </p:cNvSpPr>
          <p:nvPr/>
        </p:nvSpPr>
        <p:spPr bwMode="auto">
          <a:xfrm>
            <a:off x="5791200" y="1219200"/>
            <a:ext cx="3338264" cy="8002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AEAEA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rIns="0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1089025" indent="-45720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725613" indent="-45720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2362200" indent="-45720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998788" indent="-45720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3455988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3913188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4370388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4827588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>
              <a:lnSpc>
                <a:spcPct val="110000"/>
              </a:lnSpc>
              <a:spcBef>
                <a:spcPct val="20000"/>
              </a:spcBef>
            </a:pPr>
            <a:r>
              <a:rPr kumimoji="0"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3 step ~ 4 step </a:t>
            </a:r>
            <a:r>
              <a:rPr kumimoji="0"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으로 단순화된 </a:t>
            </a:r>
            <a:r>
              <a:rPr kumimoji="0" lang="en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XXX</a:t>
            </a:r>
            <a:r>
              <a:rPr kumimoji="0"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가입 프로세스로 구성</a:t>
            </a:r>
            <a:r>
              <a:rPr kumimoji="0"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하여</a:t>
            </a:r>
            <a:r>
              <a:rPr kumimoji="0"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</a:t>
            </a:r>
            <a:br>
              <a:rPr kumimoji="0"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br>
              <a:rPr kumimoji="0"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kumimoji="0"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1. </a:t>
            </a:r>
            <a:r>
              <a:rPr kumimoji="0"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사용자의 </a:t>
            </a:r>
            <a:r>
              <a:rPr kumimoji="0" lang="en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XXX</a:t>
            </a:r>
            <a:r>
              <a:rPr kumimoji="0"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가입 중 이탈 방지</a:t>
            </a:r>
            <a:endParaRPr kumimoji="0"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ct val="110000"/>
              </a:lnSpc>
              <a:spcBef>
                <a:spcPct val="20000"/>
              </a:spcBef>
            </a:pPr>
            <a:r>
              <a:rPr kumimoji="0"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2. </a:t>
            </a:r>
            <a:r>
              <a:rPr kumimoji="0"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사용자의 손쉬운 가입을 유도</a:t>
            </a:r>
          </a:p>
        </p:txBody>
      </p:sp>
      <p:sp>
        <p:nvSpPr>
          <p:cNvPr id="23" name="Text Box 7"/>
          <p:cNvSpPr txBox="1">
            <a:spLocks noChangeArrowheads="1"/>
          </p:cNvSpPr>
          <p:nvPr/>
        </p:nvSpPr>
        <p:spPr bwMode="auto">
          <a:xfrm>
            <a:off x="7391400" y="2743200"/>
            <a:ext cx="2462213" cy="10002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AEAEA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1089025" indent="-45720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725613" indent="-45720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2362200" indent="-45720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998788" indent="-45720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3455988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3913188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4370388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4827588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>
              <a:lnSpc>
                <a:spcPct val="110000"/>
              </a:lnSpc>
              <a:spcBef>
                <a:spcPct val="20000"/>
              </a:spcBef>
            </a:pPr>
            <a:r>
              <a:rPr kumimoji="0" lang="ko-KR" altLang="en-US" sz="1000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스마트폰을</a:t>
            </a:r>
            <a:r>
              <a:rPr kumimoji="0"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활용하여 언제 어디서든지</a:t>
            </a:r>
            <a:br>
              <a:rPr kumimoji="0" lang="en-US" altLang="ko-KR" sz="1000" b="1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kumimoji="0" lang="en" altLang="ko-KR" sz="1000" b="1">
                <a:latin typeface="나눔고딕" panose="020D0604000000000000" pitchFamily="50" charset="-127"/>
                <a:ea typeface="나눔고딕" panose="020D0604000000000000" pitchFamily="50" charset="-127"/>
              </a:rPr>
              <a:t>XXX</a:t>
            </a:r>
            <a:r>
              <a:rPr kumimoji="0" lang="ko-KR" altLang="en-US" sz="1000" b="1">
                <a:latin typeface="나눔고딕" panose="020D0604000000000000" pitchFamily="50" charset="-127"/>
                <a:ea typeface="나눔고딕" panose="020D0604000000000000" pitchFamily="50" charset="-127"/>
              </a:rPr>
              <a:t>서비스 </a:t>
            </a:r>
            <a:r>
              <a:rPr kumimoji="0"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온라인 판매사이트에 접속할 수</a:t>
            </a:r>
            <a:br>
              <a:rPr kumimoji="0"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kumimoji="0"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있도록 </a:t>
            </a:r>
            <a:r>
              <a:rPr kumimoji="0" lang="ko-KR" altLang="en-US" sz="1000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모바일웹</a:t>
            </a:r>
            <a:r>
              <a:rPr kumimoji="0"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페이지를 구성</a:t>
            </a:r>
            <a:r>
              <a:rPr kumimoji="0"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하여</a:t>
            </a:r>
            <a:r>
              <a:rPr kumimoji="0"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</a:t>
            </a:r>
          </a:p>
          <a:p>
            <a:pPr>
              <a:lnSpc>
                <a:spcPct val="110000"/>
              </a:lnSpc>
              <a:spcBef>
                <a:spcPct val="20000"/>
              </a:spcBef>
            </a:pPr>
            <a:r>
              <a:rPr kumimoji="0"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1. </a:t>
            </a:r>
            <a:r>
              <a:rPr kumimoji="0"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사용자의 </a:t>
            </a:r>
            <a:r>
              <a:rPr kumimoji="0" lang="ko-KR" altLang="en-US" sz="1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접근성을</a:t>
            </a:r>
            <a:r>
              <a:rPr kumimoji="0"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높임</a:t>
            </a:r>
            <a:endParaRPr kumimoji="0"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ct val="110000"/>
              </a:lnSpc>
              <a:spcBef>
                <a:spcPct val="20000"/>
              </a:spcBef>
            </a:pPr>
            <a:r>
              <a:rPr kumimoji="0"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2. </a:t>
            </a:r>
            <a:r>
              <a:rPr kumimoji="0"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사용자의 정보 </a:t>
            </a:r>
            <a:r>
              <a:rPr kumimoji="0" lang="ko-KR" altLang="en-US" sz="1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인식율을</a:t>
            </a:r>
            <a:r>
              <a:rPr kumimoji="0"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높임</a:t>
            </a:r>
          </a:p>
        </p:txBody>
      </p:sp>
      <p:sp>
        <p:nvSpPr>
          <p:cNvPr id="24" name="Oval 8"/>
          <p:cNvSpPr>
            <a:spLocks noChangeArrowheads="1"/>
          </p:cNvSpPr>
          <p:nvPr/>
        </p:nvSpPr>
        <p:spPr bwMode="auto">
          <a:xfrm rot="1424663">
            <a:off x="2658832" y="2965558"/>
            <a:ext cx="5695096" cy="3158037"/>
          </a:xfrm>
          <a:prstGeom prst="ellipse">
            <a:avLst/>
          </a:prstGeom>
          <a:noFill/>
          <a:ln w="28575">
            <a:solidFill>
              <a:srgbClr val="CC3300"/>
            </a:solidFill>
            <a:prstDash val="sysDot"/>
            <a:round/>
            <a:headEnd/>
            <a:tailEnd type="none" w="med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5" name="Line 9"/>
          <p:cNvSpPr>
            <a:spLocks noChangeShapeType="1"/>
          </p:cNvSpPr>
          <p:nvPr/>
        </p:nvSpPr>
        <p:spPr bwMode="auto">
          <a:xfrm>
            <a:off x="7334250" y="2838450"/>
            <a:ext cx="0" cy="1009650"/>
          </a:xfrm>
          <a:prstGeom prst="line">
            <a:avLst/>
          </a:prstGeom>
          <a:noFill/>
          <a:ln w="6350">
            <a:solidFill>
              <a:srgbClr val="CC3300"/>
            </a:solidFill>
            <a:round/>
            <a:headEnd/>
            <a:tailEnd type="none" w="med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6" name="Line 10"/>
          <p:cNvSpPr>
            <a:spLocks noChangeShapeType="1"/>
          </p:cNvSpPr>
          <p:nvPr/>
        </p:nvSpPr>
        <p:spPr bwMode="auto">
          <a:xfrm>
            <a:off x="5724525" y="1314450"/>
            <a:ext cx="0" cy="742950"/>
          </a:xfrm>
          <a:prstGeom prst="line">
            <a:avLst/>
          </a:prstGeom>
          <a:noFill/>
          <a:ln w="6350">
            <a:solidFill>
              <a:srgbClr val="CC3300"/>
            </a:solidFill>
            <a:round/>
            <a:headEnd/>
            <a:tailEnd type="none" w="med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7" name="Line 11"/>
          <p:cNvSpPr>
            <a:spLocks noChangeShapeType="1"/>
          </p:cNvSpPr>
          <p:nvPr/>
        </p:nvSpPr>
        <p:spPr bwMode="auto">
          <a:xfrm flipH="1">
            <a:off x="3352799" y="1685925"/>
            <a:ext cx="2371725" cy="371475"/>
          </a:xfrm>
          <a:prstGeom prst="line">
            <a:avLst/>
          </a:prstGeom>
          <a:noFill/>
          <a:ln w="6350">
            <a:solidFill>
              <a:srgbClr val="CC3300"/>
            </a:solidFill>
            <a:round/>
            <a:headEnd/>
            <a:tailEnd type="none" w="med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8" name="Line 12"/>
          <p:cNvSpPr>
            <a:spLocks noChangeShapeType="1"/>
          </p:cNvSpPr>
          <p:nvPr/>
        </p:nvSpPr>
        <p:spPr bwMode="auto">
          <a:xfrm flipH="1">
            <a:off x="7010624" y="3286125"/>
            <a:ext cx="333149" cy="214883"/>
          </a:xfrm>
          <a:prstGeom prst="line">
            <a:avLst/>
          </a:prstGeom>
          <a:noFill/>
          <a:ln w="6350">
            <a:solidFill>
              <a:srgbClr val="CC3300"/>
            </a:solidFill>
            <a:round/>
            <a:headEnd/>
            <a:tailEnd type="none" w="med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4510133" y="4184190"/>
            <a:ext cx="1765228" cy="246221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D Type – Mobile Web Page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93458" y="2246675"/>
            <a:ext cx="1313181" cy="246221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E-1 Type – </a:t>
            </a:r>
            <a:r>
              <a:rPr lang="en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XXX</a:t>
            </a:r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가입</a:t>
            </a:r>
          </a:p>
        </p:txBody>
      </p:sp>
    </p:spTree>
    <p:extLst>
      <p:ext uri="{BB962C8B-B14F-4D97-AF65-F5344CB8AC3E}">
        <p14:creationId xmlns:p14="http://schemas.microsoft.com/office/powerpoint/2010/main" val="59880257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322"/>
          <p:cNvSpPr>
            <a:spLocks noChangeArrowheads="1"/>
          </p:cNvSpPr>
          <p:nvPr/>
        </p:nvSpPr>
        <p:spPr bwMode="auto">
          <a:xfrm>
            <a:off x="3482825" y="6299543"/>
            <a:ext cx="1889807" cy="2615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/>
            <a:r>
              <a:rPr kumimoji="0" lang="en-US" altLang="ko-KR" sz="1100" b="1" i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Policy</a:t>
            </a:r>
          </a:p>
        </p:txBody>
      </p:sp>
      <p:sp>
        <p:nvSpPr>
          <p:cNvPr id="6" name="Line 126"/>
          <p:cNvSpPr>
            <a:spLocks noChangeShapeType="1"/>
          </p:cNvSpPr>
          <p:nvPr/>
        </p:nvSpPr>
        <p:spPr bwMode="auto">
          <a:xfrm>
            <a:off x="503809" y="1959347"/>
            <a:ext cx="8999451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36000" tIns="36000" rIns="36000" bIns="36000" anchor="ctr"/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" name="Rectangle 144"/>
          <p:cNvSpPr>
            <a:spLocks noChangeArrowheads="1"/>
          </p:cNvSpPr>
          <p:nvPr/>
        </p:nvSpPr>
        <p:spPr bwMode="auto">
          <a:xfrm>
            <a:off x="7256753" y="2218328"/>
            <a:ext cx="2232112" cy="430230"/>
          </a:xfrm>
          <a:prstGeom prst="rect">
            <a:avLst/>
          </a:prstGeom>
          <a:solidFill>
            <a:srgbClr val="808080"/>
          </a:solidFill>
          <a:ln w="6350" algn="ctr">
            <a:solidFill>
              <a:schemeClr val="tx1"/>
            </a:solidFill>
            <a:miter lim="800000"/>
            <a:headEnd/>
            <a:tailEnd/>
          </a:ln>
        </p:spPr>
        <p:txBody>
          <a:bodyPr lIns="360000" tIns="36000" rIns="36000" bIns="36000" anchor="ctr"/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fontAlgn="t" latinLnBrk="0">
              <a:spcBef>
                <a:spcPct val="50000"/>
              </a:spcBef>
              <a:spcAft>
                <a:spcPct val="5000"/>
              </a:spcAft>
            </a:pPr>
            <a:r>
              <a:rPr kumimoji="0" lang="ko-KR" altLang="en-US" sz="1100" b="1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사업 서비스 </a:t>
            </a:r>
            <a:r>
              <a:rPr kumimoji="0" lang="ko-KR" altLang="en-US" sz="1100" b="1" dirty="0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수직 다각화</a:t>
            </a:r>
          </a:p>
        </p:txBody>
      </p:sp>
      <p:sp>
        <p:nvSpPr>
          <p:cNvPr id="8" name="Rectangle 145"/>
          <p:cNvSpPr>
            <a:spLocks noChangeArrowheads="1"/>
          </p:cNvSpPr>
          <p:nvPr/>
        </p:nvSpPr>
        <p:spPr bwMode="auto">
          <a:xfrm>
            <a:off x="7256753" y="3482012"/>
            <a:ext cx="2232112" cy="430230"/>
          </a:xfrm>
          <a:prstGeom prst="rect">
            <a:avLst/>
          </a:prstGeom>
          <a:solidFill>
            <a:srgbClr val="808080"/>
          </a:solidFill>
          <a:ln w="6350" algn="ctr">
            <a:solidFill>
              <a:schemeClr val="tx1"/>
            </a:solidFill>
            <a:miter lim="800000"/>
            <a:headEnd/>
            <a:tailEnd/>
          </a:ln>
        </p:spPr>
        <p:txBody>
          <a:bodyPr lIns="360000" tIns="36000" rIns="36000" bIns="36000" anchor="ctr"/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fontAlgn="t" latinLnBrk="0">
              <a:spcBef>
                <a:spcPct val="50000"/>
              </a:spcBef>
              <a:spcAft>
                <a:spcPct val="5000"/>
              </a:spcAft>
            </a:pPr>
            <a:r>
              <a:rPr kumimoji="0" lang="ko-KR" altLang="en-US" sz="1100" b="1" dirty="0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미래 </a:t>
            </a:r>
            <a:r>
              <a:rPr kumimoji="0" lang="ko-KR" altLang="en-US" sz="1100" b="1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사업으로의 서비스 </a:t>
            </a:r>
            <a:r>
              <a:rPr kumimoji="0" lang="ko-KR" altLang="en-US" sz="1100" b="1" dirty="0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수평 다각화</a:t>
            </a:r>
          </a:p>
        </p:txBody>
      </p:sp>
      <p:sp>
        <p:nvSpPr>
          <p:cNvPr id="9" name="Rectangle 146"/>
          <p:cNvSpPr>
            <a:spLocks noChangeArrowheads="1"/>
          </p:cNvSpPr>
          <p:nvPr/>
        </p:nvSpPr>
        <p:spPr bwMode="auto">
          <a:xfrm>
            <a:off x="7256753" y="4812338"/>
            <a:ext cx="2232112" cy="430231"/>
          </a:xfrm>
          <a:prstGeom prst="rect">
            <a:avLst/>
          </a:prstGeom>
          <a:solidFill>
            <a:srgbClr val="808080"/>
          </a:solidFill>
          <a:ln w="6350" algn="ctr">
            <a:solidFill>
              <a:schemeClr val="tx1"/>
            </a:solidFill>
            <a:miter lim="800000"/>
            <a:headEnd/>
            <a:tailEnd/>
          </a:ln>
        </p:spPr>
        <p:txBody>
          <a:bodyPr lIns="360000" tIns="36000" rIns="36000" bIns="36000" anchor="ctr"/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fontAlgn="t" latinLnBrk="0">
              <a:spcBef>
                <a:spcPct val="50000"/>
              </a:spcBef>
              <a:spcAft>
                <a:spcPct val="5000"/>
              </a:spcAft>
            </a:pPr>
            <a:r>
              <a:rPr kumimoji="0" lang="ko-KR" altLang="en-US" sz="1100" b="1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모바일 서비스 </a:t>
            </a:r>
            <a:r>
              <a:rPr kumimoji="0" lang="ko-KR" altLang="en-US" sz="1100" b="1" dirty="0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적용 </a:t>
            </a:r>
            <a:r>
              <a:rPr kumimoji="0" lang="en-US" altLang="ko-KR" sz="1100" b="1" dirty="0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Device</a:t>
            </a:r>
            <a:r>
              <a:rPr kumimoji="0" lang="ko-KR" altLang="en-US" sz="1100" b="1" dirty="0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다각화</a:t>
            </a:r>
          </a:p>
        </p:txBody>
      </p:sp>
      <p:sp>
        <p:nvSpPr>
          <p:cNvPr id="10" name="Oval 147"/>
          <p:cNvSpPr>
            <a:spLocks noChangeArrowheads="1"/>
          </p:cNvSpPr>
          <p:nvPr/>
        </p:nvSpPr>
        <p:spPr bwMode="auto">
          <a:xfrm>
            <a:off x="7305675" y="2303463"/>
            <a:ext cx="252413" cy="252412"/>
          </a:xfrm>
          <a:prstGeom prst="ellipse">
            <a:avLst/>
          </a:prstGeom>
          <a:solidFill>
            <a:schemeClr val="tx1"/>
          </a:solidFill>
          <a:ln w="19050" algn="ctr">
            <a:solidFill>
              <a:schemeClr val="bg1">
                <a:lumMod val="75000"/>
              </a:schemeClr>
            </a:solidFill>
            <a:round/>
            <a:headEnd/>
            <a:tailEnd/>
          </a:ln>
          <a:effectLst/>
        </p:spPr>
        <p:txBody>
          <a:bodyPr wrap="none" lIns="36000" tIns="36000" rIns="36000" bIns="36000" anchor="ctr"/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fontAlgn="t" latinLnBrk="0">
              <a:spcBef>
                <a:spcPct val="50000"/>
              </a:spcBef>
              <a:spcAft>
                <a:spcPct val="5000"/>
              </a:spcAft>
            </a:pPr>
            <a:r>
              <a:rPr kumimoji="0" lang="en-US" altLang="ko-KR" sz="1200" b="1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</a:p>
        </p:txBody>
      </p:sp>
      <p:sp>
        <p:nvSpPr>
          <p:cNvPr id="11" name="Oval 148"/>
          <p:cNvSpPr>
            <a:spLocks noChangeArrowheads="1"/>
          </p:cNvSpPr>
          <p:nvPr/>
        </p:nvSpPr>
        <p:spPr bwMode="auto">
          <a:xfrm>
            <a:off x="7305675" y="3570288"/>
            <a:ext cx="252413" cy="252412"/>
          </a:xfrm>
          <a:prstGeom prst="ellipse">
            <a:avLst/>
          </a:prstGeom>
          <a:solidFill>
            <a:schemeClr val="tx1"/>
          </a:solidFill>
          <a:ln w="19050" algn="ctr">
            <a:solidFill>
              <a:schemeClr val="bg1">
                <a:lumMod val="75000"/>
              </a:schemeClr>
            </a:solidFill>
            <a:round/>
            <a:headEnd/>
            <a:tailEnd/>
          </a:ln>
          <a:effectLst/>
        </p:spPr>
        <p:txBody>
          <a:bodyPr wrap="none" lIns="36000" tIns="36000" rIns="36000" bIns="36000" anchor="ctr"/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fontAlgn="t" latinLnBrk="0">
              <a:spcBef>
                <a:spcPct val="50000"/>
              </a:spcBef>
              <a:spcAft>
                <a:spcPct val="5000"/>
              </a:spcAft>
            </a:pPr>
            <a:r>
              <a:rPr kumimoji="0" lang="en-US" altLang="ko-KR" sz="1200" b="1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r>
          </a:p>
        </p:txBody>
      </p:sp>
      <p:sp>
        <p:nvSpPr>
          <p:cNvPr id="12" name="Oval 149"/>
          <p:cNvSpPr>
            <a:spLocks noChangeArrowheads="1"/>
          </p:cNvSpPr>
          <p:nvPr/>
        </p:nvSpPr>
        <p:spPr bwMode="auto">
          <a:xfrm>
            <a:off x="7305675" y="4900613"/>
            <a:ext cx="252413" cy="252412"/>
          </a:xfrm>
          <a:prstGeom prst="ellipse">
            <a:avLst/>
          </a:prstGeom>
          <a:solidFill>
            <a:schemeClr val="tx1"/>
          </a:solidFill>
          <a:ln w="19050" algn="ctr">
            <a:solidFill>
              <a:schemeClr val="bg1">
                <a:lumMod val="75000"/>
              </a:schemeClr>
            </a:solidFill>
            <a:round/>
            <a:headEnd/>
            <a:tailEnd/>
          </a:ln>
          <a:effectLst/>
        </p:spPr>
        <p:txBody>
          <a:bodyPr wrap="none" lIns="36000" tIns="36000" rIns="36000" bIns="36000" anchor="ctr"/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fontAlgn="t" latinLnBrk="0">
              <a:spcBef>
                <a:spcPct val="50000"/>
              </a:spcBef>
              <a:spcAft>
                <a:spcPct val="5000"/>
              </a:spcAft>
            </a:pPr>
            <a:r>
              <a:rPr kumimoji="0" lang="en-US" altLang="ko-KR" sz="1200" b="1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</a:p>
        </p:txBody>
      </p:sp>
      <p:sp>
        <p:nvSpPr>
          <p:cNvPr id="13" name="Text Box 234"/>
          <p:cNvSpPr txBox="1">
            <a:spLocks noChangeArrowheads="1"/>
          </p:cNvSpPr>
          <p:nvPr/>
        </p:nvSpPr>
        <p:spPr bwMode="auto">
          <a:xfrm>
            <a:off x="7256753" y="2654196"/>
            <a:ext cx="2265072" cy="4281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0" tIns="36000" rIns="36000" bIns="36000">
            <a:spAutoFit/>
          </a:bodyPr>
          <a:lstStyle>
            <a:lvl1pPr marL="177800" indent="-1778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fontAlgn="t" latinLnBrk="0">
              <a:lnSpc>
                <a:spcPct val="105000"/>
              </a:lnSpc>
              <a:spcBef>
                <a:spcPct val="20000"/>
              </a:spcBef>
              <a:spcAft>
                <a:spcPct val="20000"/>
              </a:spcAft>
              <a:buFont typeface="Wingdings" pitchFamily="2" charset="2"/>
              <a:buChar char="§"/>
            </a:pPr>
            <a:r>
              <a:rPr kumimoji="0" lang="ko-KR" altLang="en-US" sz="1100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다채널을 통하여 사용자의 </a:t>
            </a:r>
            <a:r>
              <a:rPr kumimoji="0" lang="ko-KR" altLang="en-US" sz="1100" dirty="0" err="1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유입률을</a:t>
            </a:r>
            <a:r>
              <a:rPr kumimoji="0" lang="ko-KR" altLang="en-US" sz="1100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올릴 수 있도록 구현</a:t>
            </a:r>
            <a:endParaRPr kumimoji="0" lang="en-US" altLang="ko-KR" sz="1100" dirty="0">
              <a:solidFill>
                <a:srgbClr val="0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4" name="Text Box 235"/>
          <p:cNvSpPr txBox="1">
            <a:spLocks noChangeArrowheads="1"/>
          </p:cNvSpPr>
          <p:nvPr/>
        </p:nvSpPr>
        <p:spPr bwMode="auto">
          <a:xfrm>
            <a:off x="7256753" y="3943061"/>
            <a:ext cx="2265072" cy="4281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0" tIns="36000" rIns="36000" bIns="36000">
            <a:spAutoFit/>
          </a:bodyPr>
          <a:lstStyle>
            <a:lvl1pPr marL="177800" indent="-1778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fontAlgn="t" latinLnBrk="0">
              <a:lnSpc>
                <a:spcPct val="105000"/>
              </a:lnSpc>
              <a:spcBef>
                <a:spcPct val="20000"/>
              </a:spcBef>
              <a:spcAft>
                <a:spcPct val="20000"/>
              </a:spcAft>
              <a:buFont typeface="Wingdings" pitchFamily="2" charset="2"/>
              <a:buChar char="§"/>
            </a:pPr>
            <a:r>
              <a:rPr kumimoji="0" lang="en" altLang="ko-KR" sz="110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XXX</a:t>
            </a:r>
            <a:r>
              <a:rPr kumimoji="0" lang="ko-KR" altLang="en-US" sz="110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서비스의 </a:t>
            </a:r>
            <a:r>
              <a:rPr kumimoji="0" lang="ko-KR" altLang="en-US" sz="1100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향후 사업확장 영역을 </a:t>
            </a:r>
            <a:r>
              <a:rPr kumimoji="0" lang="ko-KR" altLang="en-US" sz="110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고려한 서비스 </a:t>
            </a:r>
            <a:r>
              <a:rPr kumimoji="0" lang="ko-KR" altLang="en-US" sz="1100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다각화</a:t>
            </a:r>
            <a:endParaRPr kumimoji="0" lang="en-US" altLang="ko-KR" sz="1100" dirty="0">
              <a:solidFill>
                <a:srgbClr val="0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5" name="Text Box 236"/>
          <p:cNvSpPr txBox="1">
            <a:spLocks noChangeArrowheads="1"/>
          </p:cNvSpPr>
          <p:nvPr/>
        </p:nvSpPr>
        <p:spPr bwMode="auto">
          <a:xfrm>
            <a:off x="7256753" y="5281105"/>
            <a:ext cx="2265072" cy="6058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0" tIns="36000" rIns="36000" bIns="36000">
            <a:spAutoFit/>
          </a:bodyPr>
          <a:lstStyle>
            <a:lvl1pPr marL="177800" indent="-1778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fontAlgn="t" latinLnBrk="0">
              <a:lnSpc>
                <a:spcPct val="105000"/>
              </a:lnSpc>
              <a:spcBef>
                <a:spcPct val="20000"/>
              </a:spcBef>
              <a:spcAft>
                <a:spcPct val="20000"/>
              </a:spcAft>
              <a:buFont typeface="Wingdings" pitchFamily="2" charset="2"/>
              <a:buChar char="§"/>
            </a:pPr>
            <a:r>
              <a:rPr kumimoji="0" lang="ko-KR" altLang="en-US" sz="1100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스마트 폰을 기초로 하되</a:t>
            </a:r>
            <a:r>
              <a:rPr kumimoji="0" lang="en-US" altLang="ko-KR" sz="1100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kumimoji="0" lang="ko-KR" altLang="en-US" sz="1100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후속 디지털 매체를 고려한 </a:t>
            </a:r>
            <a:r>
              <a:rPr kumimoji="0" lang="ko-KR" altLang="en-US" sz="110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모바일 서비스 </a:t>
            </a:r>
            <a:r>
              <a:rPr kumimoji="0" lang="ko-KR" altLang="en-US" sz="1100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적용 </a:t>
            </a:r>
            <a:r>
              <a:rPr kumimoji="0" lang="en-US" altLang="ko-KR" sz="1100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Device </a:t>
            </a:r>
            <a:r>
              <a:rPr kumimoji="0" lang="ko-KR" altLang="en-US" sz="1100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확대 </a:t>
            </a:r>
            <a:endParaRPr kumimoji="0" lang="en-US" altLang="ko-KR" sz="1100" dirty="0">
              <a:solidFill>
                <a:srgbClr val="0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6" name="Line 191"/>
          <p:cNvSpPr>
            <a:spLocks noChangeShapeType="1"/>
          </p:cNvSpPr>
          <p:nvPr/>
        </p:nvSpPr>
        <p:spPr bwMode="auto">
          <a:xfrm flipV="1">
            <a:off x="699069" y="2078023"/>
            <a:ext cx="681606" cy="659452"/>
          </a:xfrm>
          <a:prstGeom prst="line">
            <a:avLst/>
          </a:prstGeom>
          <a:noFill/>
          <a:ln w="38100">
            <a:solidFill>
              <a:srgbClr val="B2B2B2"/>
            </a:solidFill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36000" tIns="36000" rIns="36000" bIns="36000" anchor="ctr"/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7" name="Line 216"/>
          <p:cNvSpPr>
            <a:spLocks noChangeShapeType="1"/>
          </p:cNvSpPr>
          <p:nvPr/>
        </p:nvSpPr>
        <p:spPr bwMode="auto">
          <a:xfrm flipV="1">
            <a:off x="4586288" y="2166938"/>
            <a:ext cx="358775" cy="0"/>
          </a:xfrm>
          <a:prstGeom prst="line">
            <a:avLst/>
          </a:prstGeom>
          <a:noFill/>
          <a:ln w="31750">
            <a:solidFill>
              <a:schemeClr val="tx1">
                <a:lumMod val="65000"/>
                <a:lumOff val="35000"/>
              </a:schemeClr>
            </a:solidFill>
            <a:prstDash val="sysDot"/>
            <a:round/>
            <a:headEnd/>
            <a:tailEnd/>
          </a:ln>
          <a:effectLst/>
        </p:spPr>
        <p:txBody>
          <a:bodyPr wrap="none" lIns="36000" tIns="36000" rIns="36000" bIns="36000" anchor="ctr"/>
          <a:lstStyle/>
          <a:p>
            <a:pPr algn="ctr" eaLnBrk="0" fontAlgn="t" latinLnBrk="0" hangingPunct="0">
              <a:spcBef>
                <a:spcPct val="50000"/>
              </a:spcBef>
              <a:spcAft>
                <a:spcPct val="5000"/>
              </a:spcAft>
              <a:defRPr/>
            </a:pPr>
            <a:endParaRPr kumimoji="0" lang="ko-KR" altLang="en-US" sz="1200" b="1" dirty="0">
              <a:solidFill>
                <a:srgbClr val="0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" name="Rectangle 18"/>
          <p:cNvSpPr>
            <a:spLocks noChangeArrowheads="1"/>
          </p:cNvSpPr>
          <p:nvPr/>
        </p:nvSpPr>
        <p:spPr bwMode="auto">
          <a:xfrm>
            <a:off x="2841625" y="5811838"/>
            <a:ext cx="928688" cy="338137"/>
          </a:xfrm>
          <a:prstGeom prst="flowChartProcess">
            <a:avLst/>
          </a:prstGeom>
          <a:solidFill>
            <a:srgbClr val="D1D7C7"/>
          </a:solidFill>
          <a:ln w="9525" algn="ctr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>
            <a:outerShdw dist="17961" dir="2700000" algn="ctr" rotWithShape="0">
              <a:srgbClr val="000000"/>
            </a:outerShdw>
          </a:effectLst>
        </p:spPr>
        <p:txBody>
          <a:bodyPr lIns="72000" tIns="0" rIns="72000" bIns="0" anchor="ctr"/>
          <a:lstStyle/>
          <a:p>
            <a:pPr algn="ctr" defTabSz="979488" latinLnBrk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60000"/>
              <a:defRPr/>
            </a:pPr>
            <a:r>
              <a:rPr kumimoji="0" lang="ko-KR" altLang="en-US" sz="1100" b="1" kern="0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수신</a:t>
            </a:r>
            <a:endParaRPr kumimoji="0" lang="en-US" altLang="ko-KR" sz="1100" b="1" kern="0" dirty="0">
              <a:solidFill>
                <a:srgbClr val="0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auto">
          <a:xfrm>
            <a:off x="1585913" y="2960688"/>
            <a:ext cx="1162050" cy="431800"/>
          </a:xfrm>
          <a:prstGeom prst="flowChartProcess">
            <a:avLst/>
          </a:prstGeom>
          <a:solidFill>
            <a:srgbClr val="D1D7C7"/>
          </a:solidFill>
          <a:ln w="9525" algn="ctr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>
            <a:outerShdw dist="17961" dir="2700000" algn="ctr" rotWithShape="0">
              <a:srgbClr val="000000"/>
            </a:outerShdw>
          </a:effectLst>
        </p:spPr>
        <p:txBody>
          <a:bodyPr lIns="72000" tIns="0" rIns="72000" bIns="0" anchor="ctr"/>
          <a:lstStyle/>
          <a:p>
            <a:pPr algn="ctr" defTabSz="979488" latinLnBrk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60000"/>
              <a:buFont typeface="Wingdings" pitchFamily="2" charset="2"/>
              <a:buNone/>
              <a:defRPr/>
            </a:pPr>
            <a:r>
              <a:rPr lang="en-US" altLang="ko-KR" sz="1100" b="1" kern="0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Landing page</a:t>
            </a:r>
          </a:p>
        </p:txBody>
      </p:sp>
      <p:sp>
        <p:nvSpPr>
          <p:cNvPr id="20" name="Rectangle 18"/>
          <p:cNvSpPr>
            <a:spLocks noChangeArrowheads="1"/>
          </p:cNvSpPr>
          <p:nvPr/>
        </p:nvSpPr>
        <p:spPr bwMode="auto">
          <a:xfrm>
            <a:off x="1585913" y="3548063"/>
            <a:ext cx="1162050" cy="431800"/>
          </a:xfrm>
          <a:prstGeom prst="flowChartProcess">
            <a:avLst/>
          </a:prstGeom>
          <a:solidFill>
            <a:srgbClr val="D1D7C7"/>
          </a:solidFill>
          <a:ln w="9525" algn="ctr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>
            <a:outerShdw dist="17961" dir="2700000" algn="ctr" rotWithShape="0">
              <a:srgbClr val="000000"/>
            </a:outerShdw>
          </a:effectLst>
        </p:spPr>
        <p:txBody>
          <a:bodyPr lIns="72000" tIns="0" rIns="72000" bIns="0" anchor="ctr"/>
          <a:lstStyle/>
          <a:p>
            <a:pPr algn="ctr" defTabSz="979488" latinLnBrk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60000"/>
              <a:buFont typeface="Wingdings" pitchFamily="2" charset="2"/>
              <a:buNone/>
              <a:defRPr/>
            </a:pPr>
            <a:r>
              <a:rPr lang="en-US" altLang="ko-KR" sz="1050" b="1" kern="0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Needs Response</a:t>
            </a:r>
          </a:p>
          <a:p>
            <a:pPr algn="ctr" defTabSz="979488" latinLnBrk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60000"/>
              <a:buFont typeface="Wingdings" pitchFamily="2" charset="2"/>
              <a:buNone/>
              <a:defRPr/>
            </a:pPr>
            <a:r>
              <a:rPr lang="en-US" altLang="ko-KR" sz="1050" b="1" kern="0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Interface</a:t>
            </a:r>
          </a:p>
        </p:txBody>
      </p:sp>
      <p:sp>
        <p:nvSpPr>
          <p:cNvPr id="21" name="Rectangle 18"/>
          <p:cNvSpPr>
            <a:spLocks noChangeArrowheads="1"/>
          </p:cNvSpPr>
          <p:nvPr/>
        </p:nvSpPr>
        <p:spPr bwMode="auto">
          <a:xfrm>
            <a:off x="1585913" y="4137025"/>
            <a:ext cx="1162050" cy="431800"/>
          </a:xfrm>
          <a:prstGeom prst="flowChartProcess">
            <a:avLst/>
          </a:prstGeom>
          <a:solidFill>
            <a:srgbClr val="D1D7C7"/>
          </a:solidFill>
          <a:ln w="9525" algn="ctr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>
            <a:outerShdw dist="17961" dir="2700000" algn="ctr" rotWithShape="0">
              <a:srgbClr val="000000"/>
            </a:outerShdw>
          </a:effectLst>
        </p:spPr>
        <p:txBody>
          <a:bodyPr lIns="72000" tIns="0" rIns="72000" bIns="0" anchor="ctr"/>
          <a:lstStyle/>
          <a:p>
            <a:pPr algn="ctr" defTabSz="979488" latinLnBrk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60000"/>
              <a:buFont typeface="Wingdings" pitchFamily="2" charset="2"/>
              <a:buNone/>
              <a:defRPr/>
            </a:pPr>
            <a:r>
              <a:rPr kumimoji="0" lang="en-US" altLang="ko-KR" sz="1100" b="1" kern="0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SNS page</a:t>
            </a:r>
            <a:endParaRPr kumimoji="0" lang="ko-KR" altLang="en-US" sz="1100" b="1" kern="0" dirty="0">
              <a:solidFill>
                <a:srgbClr val="0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2" name="Rectangle 18"/>
          <p:cNvSpPr>
            <a:spLocks noChangeArrowheads="1"/>
          </p:cNvSpPr>
          <p:nvPr/>
        </p:nvSpPr>
        <p:spPr bwMode="auto">
          <a:xfrm>
            <a:off x="1585913" y="4724400"/>
            <a:ext cx="1162050" cy="431800"/>
          </a:xfrm>
          <a:prstGeom prst="flowChartProcess">
            <a:avLst/>
          </a:prstGeom>
          <a:solidFill>
            <a:srgbClr val="D1D7C7"/>
          </a:solidFill>
          <a:ln w="9525" algn="ctr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>
            <a:outerShdw dist="17961" dir="2700000" algn="ctr" rotWithShape="0">
              <a:srgbClr val="000000"/>
            </a:outerShdw>
          </a:effectLst>
        </p:spPr>
        <p:txBody>
          <a:bodyPr lIns="72000" tIns="0" rIns="72000" bIns="0" anchor="ctr"/>
          <a:lstStyle/>
          <a:p>
            <a:pPr algn="ctr" defTabSz="979488" latinLnBrk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60000"/>
              <a:buFont typeface="Wingdings" pitchFamily="2" charset="2"/>
              <a:buNone/>
              <a:defRPr/>
            </a:pPr>
            <a:r>
              <a:rPr lang="en-US" altLang="ko-KR" sz="1100" b="1" kern="0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Web page</a:t>
            </a:r>
            <a:endParaRPr lang="ko-KR" altLang="en-US" sz="1100" b="1" kern="0" dirty="0">
              <a:solidFill>
                <a:srgbClr val="0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3" name="Rectangle 18"/>
          <p:cNvSpPr>
            <a:spLocks noChangeArrowheads="1"/>
          </p:cNvSpPr>
          <p:nvPr/>
        </p:nvSpPr>
        <p:spPr bwMode="auto">
          <a:xfrm>
            <a:off x="1585913" y="5313363"/>
            <a:ext cx="1162050" cy="431800"/>
          </a:xfrm>
          <a:prstGeom prst="flowChartProcess">
            <a:avLst/>
          </a:prstGeom>
          <a:solidFill>
            <a:srgbClr val="D1D7C7"/>
          </a:solidFill>
          <a:ln w="9525" algn="ctr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>
            <a:outerShdw dist="17961" dir="2700000" algn="ctr" rotWithShape="0">
              <a:srgbClr val="000000"/>
            </a:outerShdw>
          </a:effectLst>
        </p:spPr>
        <p:txBody>
          <a:bodyPr lIns="72000" tIns="0" rIns="72000" bIns="0" anchor="ctr"/>
          <a:lstStyle/>
          <a:p>
            <a:pPr algn="ctr" defTabSz="979488" latinLnBrk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60000"/>
              <a:buFont typeface="Wingdings" pitchFamily="2" charset="2"/>
              <a:buNone/>
              <a:defRPr/>
            </a:pPr>
            <a:r>
              <a:rPr kumimoji="0" lang="en" altLang="ko-KR" sz="1100" b="1" kern="0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XXX</a:t>
            </a:r>
            <a:r>
              <a:rPr kumimoji="0" lang="ko-KR" altLang="en-US" sz="1100" b="1" kern="0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가입</a:t>
            </a:r>
          </a:p>
        </p:txBody>
      </p:sp>
      <p:sp>
        <p:nvSpPr>
          <p:cNvPr id="24" name="정육면체 23"/>
          <p:cNvSpPr/>
          <p:nvPr/>
        </p:nvSpPr>
        <p:spPr bwMode="auto">
          <a:xfrm>
            <a:off x="2841625" y="2147888"/>
            <a:ext cx="1716088" cy="3609975"/>
          </a:xfrm>
          <a:prstGeom prst="cube">
            <a:avLst>
              <a:gd name="adj" fmla="val 45657"/>
            </a:avLst>
          </a:prstGeom>
          <a:solidFill>
            <a:schemeClr val="bg1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5" name="정육면체 24"/>
          <p:cNvSpPr/>
          <p:nvPr/>
        </p:nvSpPr>
        <p:spPr bwMode="auto">
          <a:xfrm>
            <a:off x="4189413" y="2147888"/>
            <a:ext cx="2759075" cy="3613150"/>
          </a:xfrm>
          <a:prstGeom prst="cube">
            <a:avLst>
              <a:gd name="adj" fmla="val 28581"/>
            </a:avLst>
          </a:prstGeom>
          <a:solidFill>
            <a:schemeClr val="bg1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6" name="Rectangle 18"/>
          <p:cNvSpPr>
            <a:spLocks noChangeArrowheads="1"/>
          </p:cNvSpPr>
          <p:nvPr/>
        </p:nvSpPr>
        <p:spPr bwMode="auto">
          <a:xfrm>
            <a:off x="4203700" y="5811838"/>
            <a:ext cx="927100" cy="338137"/>
          </a:xfrm>
          <a:prstGeom prst="flowChartProcess">
            <a:avLst/>
          </a:prstGeom>
          <a:pattFill prst="ltUpDiag">
            <a:fgClr>
              <a:srgbClr val="C0C0C0"/>
            </a:fgClr>
            <a:bgClr>
              <a:srgbClr val="FFFFFF"/>
            </a:bgClr>
          </a:pattFill>
          <a:ln w="9525" algn="ctr">
            <a:solidFill>
              <a:schemeClr val="tx1">
                <a:lumMod val="75000"/>
                <a:lumOff val="25000"/>
              </a:schemeClr>
            </a:solidFill>
            <a:prstDash val="dash"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36000" tIns="18000" rIns="18000" bIns="36000" anchor="ctr" anchorCtr="1"/>
          <a:lstStyle/>
          <a:p>
            <a:pPr marL="100013" indent="-100013">
              <a:lnSpc>
                <a:spcPct val="110000"/>
              </a:lnSpc>
              <a:spcBef>
                <a:spcPct val="10000"/>
              </a:spcBef>
              <a:spcAft>
                <a:spcPts val="0"/>
              </a:spcAft>
              <a:buClr>
                <a:srgbClr val="000000"/>
              </a:buClr>
              <a:buSzPct val="65000"/>
              <a:defRPr/>
            </a:pPr>
            <a:r>
              <a:rPr kumimoji="0" lang="ko-KR" altLang="en-US" sz="1100" b="1" kern="0" dirty="0">
                <a:solidFill>
                  <a:sysClr val="windowText" lastClr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상품정보</a:t>
            </a:r>
            <a:endParaRPr kumimoji="0" lang="en-US" altLang="ko-KR" sz="1100" b="1" kern="0" dirty="0">
              <a:solidFill>
                <a:sysClr val="windowText" lastClr="0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7" name="Rectangle 18"/>
          <p:cNvSpPr>
            <a:spLocks noChangeArrowheads="1"/>
          </p:cNvSpPr>
          <p:nvPr/>
        </p:nvSpPr>
        <p:spPr bwMode="auto">
          <a:xfrm>
            <a:off x="5207000" y="5811838"/>
            <a:ext cx="928688" cy="338137"/>
          </a:xfrm>
          <a:prstGeom prst="flowChartProcess">
            <a:avLst/>
          </a:prstGeom>
          <a:pattFill prst="ltUpDiag">
            <a:fgClr>
              <a:srgbClr val="C0C0C0"/>
            </a:fgClr>
            <a:bgClr>
              <a:srgbClr val="FFFFFF"/>
            </a:bgClr>
          </a:pattFill>
          <a:ln w="9525" algn="ctr">
            <a:solidFill>
              <a:schemeClr val="tx1">
                <a:lumMod val="75000"/>
                <a:lumOff val="25000"/>
              </a:schemeClr>
            </a:solidFill>
            <a:prstDash val="dash"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36000" tIns="18000" rIns="18000" bIns="36000" anchor="ctr" anchorCtr="1"/>
          <a:lstStyle/>
          <a:p>
            <a:pPr algn="ctr">
              <a:lnSpc>
                <a:spcPct val="110000"/>
              </a:lnSpc>
              <a:spcBef>
                <a:spcPct val="10000"/>
              </a:spcBef>
              <a:spcAft>
                <a:spcPts val="0"/>
              </a:spcAft>
              <a:buClr>
                <a:srgbClr val="000000"/>
              </a:buClr>
              <a:buSzPct val="65000"/>
              <a:defRPr/>
            </a:pPr>
            <a:r>
              <a:rPr kumimoji="0" lang="ko-KR" altLang="en-US" sz="1100" b="1" kern="0">
                <a:solidFill>
                  <a:sysClr val="windowText" lastClr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서비스 </a:t>
            </a:r>
            <a:r>
              <a:rPr kumimoji="0" lang="ko-KR" altLang="en-US" sz="1100" b="1" kern="0" dirty="0">
                <a:solidFill>
                  <a:sysClr val="windowText" lastClr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정보</a:t>
            </a:r>
            <a:endParaRPr kumimoji="0" lang="en-US" altLang="ko-KR" sz="1100" b="1" kern="0" dirty="0">
              <a:solidFill>
                <a:sysClr val="windowText" lastClr="0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8" name="자유형 27"/>
          <p:cNvSpPr/>
          <p:nvPr/>
        </p:nvSpPr>
        <p:spPr bwMode="auto">
          <a:xfrm>
            <a:off x="1409700" y="2962275"/>
            <a:ext cx="144463" cy="1546845"/>
          </a:xfrm>
          <a:custGeom>
            <a:avLst/>
            <a:gdLst>
              <a:gd name="connsiteX0" fmla="*/ 282388 w 282388"/>
              <a:gd name="connsiteY0" fmla="*/ 0 h 1600200"/>
              <a:gd name="connsiteX1" fmla="*/ 0 w 282388"/>
              <a:gd name="connsiteY1" fmla="*/ 0 h 1600200"/>
              <a:gd name="connsiteX2" fmla="*/ 0 w 282388"/>
              <a:gd name="connsiteY2" fmla="*/ 1600200 h 1600200"/>
              <a:gd name="connsiteX3" fmla="*/ 242047 w 282388"/>
              <a:gd name="connsiteY3" fmla="*/ 1600200 h 1600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2388" h="1600200">
                <a:moveTo>
                  <a:pt x="282388" y="0"/>
                </a:moveTo>
                <a:lnTo>
                  <a:pt x="0" y="0"/>
                </a:lnTo>
                <a:lnTo>
                  <a:pt x="0" y="1600200"/>
                </a:lnTo>
                <a:lnTo>
                  <a:pt x="242047" y="1600200"/>
                </a:lnTo>
              </a:path>
            </a:pathLst>
          </a:custGeom>
          <a:noFill/>
          <a:ln w="34925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76200" dist="38100" dir="3000000" algn="tl" rotWithShape="0">
              <a:prstClr val="black">
                <a:alpha val="37000"/>
              </a:prstClr>
            </a:outerShdw>
          </a:effectLst>
        </p:spPr>
        <p:txBody>
          <a:bodyPr wrap="none" lIns="36000" tIns="36000" rIns="36000" bIns="36000" anchor="ctr"/>
          <a:lstStyle/>
          <a:p>
            <a:pPr eaLnBrk="0" fontAlgn="t" latinLnBrk="0" hangingPunct="0">
              <a:spcBef>
                <a:spcPct val="50000"/>
              </a:spcBef>
              <a:spcAft>
                <a:spcPct val="5000"/>
              </a:spcAft>
              <a:defRPr/>
            </a:pPr>
            <a:endParaRPr kumimoji="0" lang="ko-KR" altLang="en-US" sz="12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9" name="직사각형 285"/>
          <p:cNvSpPr>
            <a:spLocks noChangeArrowheads="1"/>
          </p:cNvSpPr>
          <p:nvPr/>
        </p:nvSpPr>
        <p:spPr bwMode="auto">
          <a:xfrm>
            <a:off x="683830" y="3532504"/>
            <a:ext cx="721672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r" eaLnBrk="1" hangingPunct="1"/>
            <a:r>
              <a:rPr kumimoji="0" lang="en-US" altLang="ko-KR" sz="1100" b="1" i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Multi</a:t>
            </a:r>
          </a:p>
          <a:p>
            <a:pPr algn="r" eaLnBrk="1" hangingPunct="1"/>
            <a:r>
              <a:rPr kumimoji="0" lang="en-US" altLang="ko-KR" sz="1100" b="1" i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channel</a:t>
            </a:r>
            <a:endParaRPr kumimoji="0" lang="ko-KR" altLang="en-US" sz="1100" b="1" i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0" name="자유형 29"/>
          <p:cNvSpPr/>
          <p:nvPr/>
        </p:nvSpPr>
        <p:spPr bwMode="auto">
          <a:xfrm>
            <a:off x="1409700" y="4724563"/>
            <a:ext cx="144463" cy="996787"/>
          </a:xfrm>
          <a:custGeom>
            <a:avLst/>
            <a:gdLst>
              <a:gd name="connsiteX0" fmla="*/ 282388 w 282388"/>
              <a:gd name="connsiteY0" fmla="*/ 0 h 1600200"/>
              <a:gd name="connsiteX1" fmla="*/ 0 w 282388"/>
              <a:gd name="connsiteY1" fmla="*/ 0 h 1600200"/>
              <a:gd name="connsiteX2" fmla="*/ 0 w 282388"/>
              <a:gd name="connsiteY2" fmla="*/ 1600200 h 1600200"/>
              <a:gd name="connsiteX3" fmla="*/ 242047 w 282388"/>
              <a:gd name="connsiteY3" fmla="*/ 1600200 h 1600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2388" h="1600200">
                <a:moveTo>
                  <a:pt x="282388" y="0"/>
                </a:moveTo>
                <a:lnTo>
                  <a:pt x="0" y="0"/>
                </a:lnTo>
                <a:lnTo>
                  <a:pt x="0" y="1600200"/>
                </a:lnTo>
                <a:lnTo>
                  <a:pt x="242047" y="1600200"/>
                </a:lnTo>
              </a:path>
            </a:pathLst>
          </a:custGeom>
          <a:noFill/>
          <a:ln w="34925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76200" dist="38100" dir="3000000" algn="tl" rotWithShape="0">
              <a:prstClr val="black">
                <a:alpha val="37000"/>
              </a:prstClr>
            </a:outerShdw>
          </a:effectLst>
        </p:spPr>
        <p:txBody>
          <a:bodyPr wrap="none" lIns="36000" tIns="36000" rIns="36000" bIns="36000" anchor="ctr"/>
          <a:lstStyle/>
          <a:p>
            <a:pPr eaLnBrk="0" fontAlgn="t" latinLnBrk="0" hangingPunct="0">
              <a:spcBef>
                <a:spcPct val="50000"/>
              </a:spcBef>
              <a:spcAft>
                <a:spcPct val="5000"/>
              </a:spcAft>
              <a:defRPr/>
            </a:pPr>
            <a:endParaRPr kumimoji="0" lang="ko-KR" altLang="en-US" sz="12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1" name="직사각형 288"/>
          <p:cNvSpPr>
            <a:spLocks noChangeArrowheads="1"/>
          </p:cNvSpPr>
          <p:nvPr/>
        </p:nvSpPr>
        <p:spPr bwMode="auto">
          <a:xfrm>
            <a:off x="900235" y="5007512"/>
            <a:ext cx="505267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r" eaLnBrk="1" hangingPunct="1"/>
            <a:r>
              <a:rPr kumimoji="0" lang="en-US" altLang="ko-KR" sz="1100" b="1" i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Web</a:t>
            </a:r>
          </a:p>
          <a:p>
            <a:pPr algn="r" eaLnBrk="1" hangingPunct="1"/>
            <a:r>
              <a:rPr kumimoji="0" lang="en-US" altLang="ko-KR" sz="1100" b="1" i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Page</a:t>
            </a:r>
            <a:endParaRPr kumimoji="0" lang="ko-KR" altLang="en-US" sz="1100" b="1" i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2" name="순서도: 데이터 31"/>
          <p:cNvSpPr/>
          <p:nvPr/>
        </p:nvSpPr>
        <p:spPr bwMode="auto">
          <a:xfrm>
            <a:off x="1970088" y="2149475"/>
            <a:ext cx="1462087" cy="274638"/>
          </a:xfrm>
          <a:prstGeom prst="flowChartInputOutput">
            <a:avLst/>
          </a:prstGeom>
          <a:solidFill>
            <a:srgbClr val="D1D7C7"/>
          </a:solidFill>
          <a:ln w="9525" algn="ctr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>
            <a:outerShdw dist="17961" dir="2700000" algn="ctr" rotWithShape="0">
              <a:srgbClr val="000000"/>
            </a:outerShdw>
          </a:effectLst>
        </p:spPr>
        <p:txBody>
          <a:bodyPr lIns="0" tIns="0" rIns="0" bIns="0" anchor="ctr"/>
          <a:lstStyle/>
          <a:p>
            <a:pPr algn="ctr" defTabSz="979488" latinLnBrk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60000"/>
              <a:defRPr/>
            </a:pPr>
            <a:r>
              <a:rPr lang="en-US" altLang="ko-KR" sz="1100" b="1" kern="0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Smart Phone</a:t>
            </a:r>
            <a:endParaRPr kumimoji="0" lang="ko-KR" altLang="en-US" sz="1100" b="1" kern="0" dirty="0">
              <a:solidFill>
                <a:srgbClr val="0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3" name="순서도: 데이터 32"/>
          <p:cNvSpPr/>
          <p:nvPr/>
        </p:nvSpPr>
        <p:spPr bwMode="auto">
          <a:xfrm>
            <a:off x="1601788" y="2516188"/>
            <a:ext cx="1462087" cy="273050"/>
          </a:xfrm>
          <a:prstGeom prst="flowChartInputOutput">
            <a:avLst/>
          </a:prstGeom>
          <a:solidFill>
            <a:srgbClr val="D1D7C7"/>
          </a:solidFill>
          <a:ln w="9525" algn="ctr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>
            <a:outerShdw dist="17961" dir="2700000" algn="ctr" rotWithShape="0">
              <a:srgbClr val="000000"/>
            </a:outerShdw>
          </a:effectLst>
        </p:spPr>
        <p:txBody>
          <a:bodyPr lIns="0" tIns="0" rIns="0" bIns="0" anchor="ctr"/>
          <a:lstStyle/>
          <a:p>
            <a:pPr algn="ctr" defTabSz="979488" latinLnBrk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60000"/>
              <a:defRPr/>
            </a:pPr>
            <a:r>
              <a:rPr kumimoji="0" lang="en-US" altLang="ko-KR" sz="1100" b="1" kern="0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Tablet Device</a:t>
            </a:r>
            <a:endParaRPr kumimoji="0" lang="ko-KR" altLang="en-US" sz="1100" b="1" kern="0" dirty="0">
              <a:solidFill>
                <a:srgbClr val="0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34" name="직선 연결선 33"/>
          <p:cNvCxnSpPr/>
          <p:nvPr/>
        </p:nvCxnSpPr>
        <p:spPr bwMode="auto">
          <a:xfrm>
            <a:off x="2855913" y="3462338"/>
            <a:ext cx="928687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연결선 34"/>
          <p:cNvCxnSpPr/>
          <p:nvPr/>
        </p:nvCxnSpPr>
        <p:spPr bwMode="auto">
          <a:xfrm>
            <a:off x="2855913" y="4057650"/>
            <a:ext cx="928687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직선 연결선 35"/>
          <p:cNvCxnSpPr/>
          <p:nvPr/>
        </p:nvCxnSpPr>
        <p:spPr bwMode="auto">
          <a:xfrm>
            <a:off x="2855913" y="4651375"/>
            <a:ext cx="928687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/>
          <p:cNvCxnSpPr/>
          <p:nvPr/>
        </p:nvCxnSpPr>
        <p:spPr bwMode="auto">
          <a:xfrm>
            <a:off x="2855913" y="5246688"/>
            <a:ext cx="928687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연결선 37"/>
          <p:cNvCxnSpPr/>
          <p:nvPr/>
        </p:nvCxnSpPr>
        <p:spPr bwMode="auto">
          <a:xfrm>
            <a:off x="4203700" y="3460750"/>
            <a:ext cx="19431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연결선 38"/>
          <p:cNvCxnSpPr/>
          <p:nvPr/>
        </p:nvCxnSpPr>
        <p:spPr bwMode="auto">
          <a:xfrm>
            <a:off x="4203700" y="4054475"/>
            <a:ext cx="19431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직선 연결선 39"/>
          <p:cNvCxnSpPr/>
          <p:nvPr/>
        </p:nvCxnSpPr>
        <p:spPr bwMode="auto">
          <a:xfrm>
            <a:off x="4203700" y="4649788"/>
            <a:ext cx="19431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연결선 40"/>
          <p:cNvCxnSpPr/>
          <p:nvPr/>
        </p:nvCxnSpPr>
        <p:spPr bwMode="auto">
          <a:xfrm>
            <a:off x="4203700" y="5243513"/>
            <a:ext cx="19431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직선 연결선 41"/>
          <p:cNvCxnSpPr/>
          <p:nvPr/>
        </p:nvCxnSpPr>
        <p:spPr bwMode="auto">
          <a:xfrm>
            <a:off x="3246438" y="2516188"/>
            <a:ext cx="928687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연결선 42"/>
          <p:cNvCxnSpPr/>
          <p:nvPr/>
        </p:nvCxnSpPr>
        <p:spPr bwMode="auto">
          <a:xfrm>
            <a:off x="4608513" y="2516188"/>
            <a:ext cx="1944687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직선 연결선 43"/>
          <p:cNvCxnSpPr>
            <a:stCxn id="25" idx="3"/>
            <a:endCxn id="25" idx="1"/>
          </p:cNvCxnSpPr>
          <p:nvPr/>
        </p:nvCxnSpPr>
        <p:spPr bwMode="auto">
          <a:xfrm rot="5400000" flipH="1">
            <a:off x="3750468" y="4336257"/>
            <a:ext cx="2849563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직선 연결선 44"/>
          <p:cNvCxnSpPr>
            <a:stCxn id="25" idx="1"/>
            <a:endCxn id="25" idx="0"/>
          </p:cNvCxnSpPr>
          <p:nvPr/>
        </p:nvCxnSpPr>
        <p:spPr bwMode="auto">
          <a:xfrm rot="5400000" flipH="1" flipV="1">
            <a:off x="5187950" y="2135188"/>
            <a:ext cx="763587" cy="788988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AutoShape 233"/>
          <p:cNvSpPr>
            <a:spLocks noChangeArrowheads="1"/>
          </p:cNvSpPr>
          <p:nvPr/>
        </p:nvSpPr>
        <p:spPr bwMode="auto">
          <a:xfrm rot="5400000" flipV="1">
            <a:off x="3496469" y="4171156"/>
            <a:ext cx="998538" cy="307975"/>
          </a:xfrm>
          <a:prstGeom prst="downArrow">
            <a:avLst>
              <a:gd name="adj1" fmla="val 78806"/>
              <a:gd name="adj2" fmla="val 45866"/>
            </a:avLst>
          </a:prstGeom>
          <a:solidFill>
            <a:schemeClr val="tx1">
              <a:lumMod val="65000"/>
              <a:lumOff val="35000"/>
            </a:schemeClr>
          </a:solidFill>
          <a:ln w="6350" algn="ctr">
            <a:noFill/>
            <a:miter lim="800000"/>
            <a:headEnd/>
            <a:tailEnd/>
          </a:ln>
          <a:effectLst/>
        </p:spPr>
        <p:txBody>
          <a:bodyPr wrap="none" lIns="36000" tIns="36000" rIns="36000" bIns="36000" anchor="ctr"/>
          <a:lstStyle/>
          <a:p>
            <a:pPr algn="ctr" eaLnBrk="0" fontAlgn="t" latinLnBrk="0" hangingPunct="0">
              <a:spcBef>
                <a:spcPct val="50000"/>
              </a:spcBef>
              <a:spcAft>
                <a:spcPct val="5000"/>
              </a:spcAft>
              <a:defRPr/>
            </a:pPr>
            <a:endParaRPr kumimoji="0" lang="ko-KR" altLang="en-US" sz="1200" b="1" dirty="0">
              <a:solidFill>
                <a:srgbClr val="0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7" name="Line 216"/>
          <p:cNvSpPr>
            <a:spLocks noChangeShapeType="1"/>
          </p:cNvSpPr>
          <p:nvPr/>
        </p:nvSpPr>
        <p:spPr bwMode="auto">
          <a:xfrm flipV="1">
            <a:off x="3824288" y="2941638"/>
            <a:ext cx="358775" cy="0"/>
          </a:xfrm>
          <a:prstGeom prst="line">
            <a:avLst/>
          </a:prstGeom>
          <a:noFill/>
          <a:ln w="31750">
            <a:solidFill>
              <a:schemeClr val="tx1">
                <a:lumMod val="65000"/>
                <a:lumOff val="35000"/>
              </a:schemeClr>
            </a:solidFill>
            <a:prstDash val="sysDot"/>
            <a:round/>
            <a:headEnd/>
            <a:tailEnd/>
          </a:ln>
          <a:effectLst/>
        </p:spPr>
        <p:txBody>
          <a:bodyPr wrap="none" lIns="36000" tIns="36000" rIns="36000" bIns="36000" anchor="ctr"/>
          <a:lstStyle/>
          <a:p>
            <a:pPr algn="ctr" eaLnBrk="0" fontAlgn="t" latinLnBrk="0" hangingPunct="0">
              <a:spcBef>
                <a:spcPct val="50000"/>
              </a:spcBef>
              <a:spcAft>
                <a:spcPct val="5000"/>
              </a:spcAft>
              <a:defRPr/>
            </a:pPr>
            <a:endParaRPr kumimoji="0" lang="ko-KR" altLang="en-US" sz="1200" b="1" dirty="0">
              <a:solidFill>
                <a:srgbClr val="0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8" name="Line 191"/>
          <p:cNvSpPr>
            <a:spLocks noChangeShapeType="1"/>
          </p:cNvSpPr>
          <p:nvPr/>
        </p:nvSpPr>
        <p:spPr bwMode="auto">
          <a:xfrm flipH="1" flipV="1">
            <a:off x="656978" y="2987554"/>
            <a:ext cx="1" cy="2774208"/>
          </a:xfrm>
          <a:prstGeom prst="line">
            <a:avLst/>
          </a:prstGeom>
          <a:noFill/>
          <a:ln w="38100">
            <a:solidFill>
              <a:srgbClr val="B2B2B2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36000" tIns="36000" rIns="36000" bIns="36000" anchor="ctr"/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9" name="Line 191"/>
          <p:cNvSpPr>
            <a:spLocks noChangeShapeType="1"/>
          </p:cNvSpPr>
          <p:nvPr/>
        </p:nvSpPr>
        <p:spPr bwMode="auto">
          <a:xfrm flipH="1">
            <a:off x="2841440" y="6293345"/>
            <a:ext cx="3361974" cy="0"/>
          </a:xfrm>
          <a:prstGeom prst="line">
            <a:avLst/>
          </a:prstGeom>
          <a:noFill/>
          <a:ln w="38100">
            <a:solidFill>
              <a:srgbClr val="B2B2B2"/>
            </a:solidFill>
            <a:round/>
            <a:headEnd type="triangle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36000" tIns="36000" rIns="36000" bIns="36000" anchor="ctr"/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0" name="직사각형 320"/>
          <p:cNvSpPr>
            <a:spLocks noChangeArrowheads="1"/>
          </p:cNvSpPr>
          <p:nvPr/>
        </p:nvSpPr>
        <p:spPr bwMode="auto">
          <a:xfrm>
            <a:off x="392518" y="2076361"/>
            <a:ext cx="671979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r" eaLnBrk="1" hangingPunct="1"/>
            <a:r>
              <a:rPr kumimoji="0" lang="en-US" altLang="ko-KR" sz="1100" b="1" i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Smart</a:t>
            </a:r>
          </a:p>
          <a:p>
            <a:pPr algn="r" eaLnBrk="1" hangingPunct="1"/>
            <a:r>
              <a:rPr kumimoji="0" lang="en-US" altLang="ko-KR" sz="1100" b="1" i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Devices</a:t>
            </a:r>
            <a:endParaRPr kumimoji="0" lang="ko-KR" altLang="en-US" sz="1100" b="1" i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1" name="직사각형 321"/>
          <p:cNvSpPr>
            <a:spLocks noChangeArrowheads="1"/>
          </p:cNvSpPr>
          <p:nvPr/>
        </p:nvSpPr>
        <p:spPr bwMode="auto">
          <a:xfrm rot="16200000">
            <a:off x="-28983" y="4208702"/>
            <a:ext cx="1079142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r" eaLnBrk="1" hangingPunct="1"/>
            <a:r>
              <a:rPr kumimoji="0" lang="en-US" altLang="ko-KR" sz="1100" b="1" i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Web Services</a:t>
            </a:r>
            <a:endParaRPr kumimoji="0" lang="ko-KR" altLang="en-US" sz="1100" b="1" i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2" name="Rectangle 214"/>
          <p:cNvSpPr>
            <a:spLocks noChangeArrowheads="1"/>
          </p:cNvSpPr>
          <p:nvPr/>
        </p:nvSpPr>
        <p:spPr bwMode="auto">
          <a:xfrm>
            <a:off x="2922470" y="3014495"/>
            <a:ext cx="755954" cy="2699842"/>
          </a:xfrm>
          <a:prstGeom prst="rect">
            <a:avLst/>
          </a:prstGeom>
          <a:noFill/>
          <a:ln w="28575" algn="ctr">
            <a:solidFill>
              <a:srgbClr val="CC0000"/>
            </a:solidFill>
            <a:prstDash val="sys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36000" tIns="36000" rIns="36000" bIns="36000" anchor="ctr"/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fontAlgn="t" latinLnBrk="0">
              <a:spcBef>
                <a:spcPct val="50000"/>
              </a:spcBef>
              <a:spcAft>
                <a:spcPct val="5000"/>
              </a:spcAft>
            </a:pPr>
            <a:endParaRPr kumimoji="0" lang="ko-KR" altLang="en-US" sz="1200" b="1">
              <a:solidFill>
                <a:srgbClr val="0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3" name="Rectangle 214"/>
          <p:cNvSpPr>
            <a:spLocks noChangeArrowheads="1"/>
          </p:cNvSpPr>
          <p:nvPr/>
        </p:nvSpPr>
        <p:spPr bwMode="auto">
          <a:xfrm>
            <a:off x="4288870" y="3014495"/>
            <a:ext cx="1799890" cy="2699842"/>
          </a:xfrm>
          <a:prstGeom prst="rect">
            <a:avLst/>
          </a:prstGeom>
          <a:noFill/>
          <a:ln w="28575" algn="ctr">
            <a:solidFill>
              <a:srgbClr val="CC0000"/>
            </a:solidFill>
            <a:prstDash val="sys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36000" tIns="36000" rIns="36000" bIns="36000" anchor="ctr"/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fontAlgn="t" latinLnBrk="0">
              <a:spcBef>
                <a:spcPct val="50000"/>
              </a:spcBef>
              <a:spcAft>
                <a:spcPct val="5000"/>
              </a:spcAft>
            </a:pPr>
            <a:endParaRPr kumimoji="0" lang="ko-KR" altLang="en-US" sz="1200" b="1">
              <a:solidFill>
                <a:srgbClr val="0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4" name="자유형 330"/>
          <p:cNvSpPr>
            <a:spLocks/>
          </p:cNvSpPr>
          <p:nvPr/>
        </p:nvSpPr>
        <p:spPr bwMode="auto">
          <a:xfrm>
            <a:off x="3052443" y="2238614"/>
            <a:ext cx="3669742" cy="618942"/>
          </a:xfrm>
          <a:custGeom>
            <a:avLst/>
            <a:gdLst>
              <a:gd name="T0" fmla="*/ 541001 w 3770142"/>
              <a:gd name="T1" fmla="*/ 0 h 647114"/>
              <a:gd name="T2" fmla="*/ 3295180 w 3770142"/>
              <a:gd name="T3" fmla="*/ 0 h 647114"/>
              <a:gd name="T4" fmla="*/ 2717295 w 3770142"/>
              <a:gd name="T5" fmla="*/ 518147 h 647114"/>
              <a:gd name="T6" fmla="*/ 0 w 3770142"/>
              <a:gd name="T7" fmla="*/ 518147 h 647114"/>
              <a:gd name="T8" fmla="*/ 541001 w 3770142"/>
              <a:gd name="T9" fmla="*/ 0 h 64711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770142"/>
              <a:gd name="T16" fmla="*/ 0 h 647114"/>
              <a:gd name="T17" fmla="*/ 3770142 w 3770142"/>
              <a:gd name="T18" fmla="*/ 647114 h 64711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770142" h="647114">
                <a:moveTo>
                  <a:pt x="618979" y="0"/>
                </a:moveTo>
                <a:lnTo>
                  <a:pt x="3770142" y="0"/>
                </a:lnTo>
                <a:lnTo>
                  <a:pt x="3108960" y="647114"/>
                </a:lnTo>
                <a:lnTo>
                  <a:pt x="0" y="647114"/>
                </a:lnTo>
                <a:lnTo>
                  <a:pt x="618979" y="0"/>
                </a:lnTo>
                <a:close/>
              </a:path>
            </a:pathLst>
          </a:custGeom>
          <a:noFill/>
          <a:ln w="28575" algn="ctr">
            <a:solidFill>
              <a:srgbClr val="CC0000"/>
            </a:solidFill>
            <a:prstDash val="sys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36000" tIns="36000" rIns="36000" bIns="36000" anchor="ctr"/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5" name="Oval 225"/>
          <p:cNvSpPr>
            <a:spLocks noChangeArrowheads="1"/>
          </p:cNvSpPr>
          <p:nvPr/>
        </p:nvSpPr>
        <p:spPr bwMode="auto">
          <a:xfrm>
            <a:off x="2795588" y="2928938"/>
            <a:ext cx="252412" cy="250825"/>
          </a:xfrm>
          <a:prstGeom prst="ellipse">
            <a:avLst/>
          </a:prstGeom>
          <a:solidFill>
            <a:schemeClr val="tx1"/>
          </a:solidFill>
          <a:ln w="19050" algn="ctr">
            <a:solidFill>
              <a:schemeClr val="bg1">
                <a:lumMod val="75000"/>
              </a:schemeClr>
            </a:solidFill>
            <a:round/>
            <a:headEnd/>
            <a:tailEnd/>
          </a:ln>
          <a:effectLst/>
        </p:spPr>
        <p:txBody>
          <a:bodyPr wrap="none" lIns="36000" tIns="36000" rIns="36000" bIns="36000" anchor="ctr"/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fontAlgn="t" latinLnBrk="0">
              <a:spcBef>
                <a:spcPct val="50000"/>
              </a:spcBef>
              <a:spcAft>
                <a:spcPct val="5000"/>
              </a:spcAft>
            </a:pPr>
            <a:r>
              <a:rPr kumimoji="0" lang="en-US" altLang="ko-KR" sz="1100" b="1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</a:p>
        </p:txBody>
      </p:sp>
      <p:sp>
        <p:nvSpPr>
          <p:cNvPr id="56" name="Oval 227"/>
          <p:cNvSpPr>
            <a:spLocks noChangeArrowheads="1"/>
          </p:cNvSpPr>
          <p:nvPr/>
        </p:nvSpPr>
        <p:spPr bwMode="auto">
          <a:xfrm>
            <a:off x="5945188" y="2928938"/>
            <a:ext cx="252412" cy="250825"/>
          </a:xfrm>
          <a:prstGeom prst="ellipse">
            <a:avLst/>
          </a:prstGeom>
          <a:solidFill>
            <a:schemeClr val="tx1"/>
          </a:solidFill>
          <a:ln w="19050" algn="ctr">
            <a:solidFill>
              <a:schemeClr val="bg1">
                <a:lumMod val="75000"/>
              </a:schemeClr>
            </a:solidFill>
            <a:round/>
            <a:headEnd/>
            <a:tailEnd/>
          </a:ln>
          <a:effectLst/>
        </p:spPr>
        <p:txBody>
          <a:bodyPr wrap="none" lIns="36000" tIns="36000" rIns="36000" bIns="36000" anchor="ctr"/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fontAlgn="t" latinLnBrk="0">
              <a:spcBef>
                <a:spcPct val="50000"/>
              </a:spcBef>
              <a:spcAft>
                <a:spcPct val="5000"/>
              </a:spcAft>
            </a:pPr>
            <a:r>
              <a:rPr kumimoji="0" lang="en-US" altLang="ko-KR" sz="1100" b="1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r>
          </a:p>
        </p:txBody>
      </p:sp>
      <p:sp>
        <p:nvSpPr>
          <p:cNvPr id="57" name="Oval 231"/>
          <p:cNvSpPr>
            <a:spLocks noChangeArrowheads="1"/>
          </p:cNvSpPr>
          <p:nvPr/>
        </p:nvSpPr>
        <p:spPr bwMode="auto">
          <a:xfrm>
            <a:off x="3578225" y="2106613"/>
            <a:ext cx="252413" cy="252412"/>
          </a:xfrm>
          <a:prstGeom prst="ellipse">
            <a:avLst/>
          </a:prstGeom>
          <a:solidFill>
            <a:schemeClr val="tx1"/>
          </a:solidFill>
          <a:ln w="19050" algn="ctr">
            <a:solidFill>
              <a:schemeClr val="bg1">
                <a:lumMod val="75000"/>
              </a:schemeClr>
            </a:solidFill>
            <a:round/>
            <a:headEnd/>
            <a:tailEnd/>
          </a:ln>
          <a:effectLst/>
        </p:spPr>
        <p:txBody>
          <a:bodyPr wrap="none" lIns="36000" tIns="36000" rIns="36000" bIns="36000" anchor="ctr"/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fontAlgn="t" latinLnBrk="0">
              <a:spcBef>
                <a:spcPct val="50000"/>
              </a:spcBef>
              <a:spcAft>
                <a:spcPct val="5000"/>
              </a:spcAft>
            </a:pPr>
            <a:r>
              <a:rPr kumimoji="0" lang="en-US" altLang="ko-KR" sz="1100" b="1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</a:p>
        </p:txBody>
      </p:sp>
      <p:sp>
        <p:nvSpPr>
          <p:cNvPr id="58" name="Line 216"/>
          <p:cNvSpPr>
            <a:spLocks noChangeShapeType="1"/>
          </p:cNvSpPr>
          <p:nvPr/>
        </p:nvSpPr>
        <p:spPr bwMode="auto">
          <a:xfrm flipV="1">
            <a:off x="3810000" y="5751513"/>
            <a:ext cx="358775" cy="0"/>
          </a:xfrm>
          <a:prstGeom prst="line">
            <a:avLst/>
          </a:prstGeom>
          <a:noFill/>
          <a:ln w="31750">
            <a:solidFill>
              <a:schemeClr val="tx1">
                <a:lumMod val="65000"/>
                <a:lumOff val="35000"/>
              </a:schemeClr>
            </a:solidFill>
            <a:prstDash val="sysDot"/>
            <a:round/>
            <a:headEnd/>
            <a:tailEnd/>
          </a:ln>
          <a:effectLst/>
        </p:spPr>
        <p:txBody>
          <a:bodyPr wrap="none" lIns="36000" tIns="36000" rIns="36000" bIns="36000" anchor="ctr"/>
          <a:lstStyle/>
          <a:p>
            <a:pPr algn="ctr" eaLnBrk="0" fontAlgn="t" latinLnBrk="0" hangingPunct="0">
              <a:spcBef>
                <a:spcPct val="50000"/>
              </a:spcBef>
              <a:spcAft>
                <a:spcPct val="5000"/>
              </a:spcAft>
              <a:defRPr/>
            </a:pPr>
            <a:endParaRPr kumimoji="0" lang="ko-KR" altLang="en-US" sz="1200" b="1" dirty="0">
              <a:solidFill>
                <a:srgbClr val="0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9" name="Text Box 188"/>
          <p:cNvSpPr txBox="1">
            <a:spLocks noChangeArrowheads="1"/>
          </p:cNvSpPr>
          <p:nvPr/>
        </p:nvSpPr>
        <p:spPr bwMode="auto">
          <a:xfrm>
            <a:off x="2300264" y="1666875"/>
            <a:ext cx="5423826" cy="2923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kumimoji="0" lang="en-US" altLang="ko-KR" sz="1300" b="1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Service Framework</a:t>
            </a:r>
            <a:endParaRPr kumimoji="0" lang="ko-KR" altLang="en-US" sz="1300" b="1" dirty="0">
              <a:solidFill>
                <a:srgbClr val="0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0" name="Freeform 1087"/>
          <p:cNvSpPr>
            <a:spLocks/>
          </p:cNvSpPr>
          <p:nvPr/>
        </p:nvSpPr>
        <p:spPr bwMode="auto">
          <a:xfrm>
            <a:off x="3760788" y="2619375"/>
            <a:ext cx="749300" cy="280988"/>
          </a:xfrm>
          <a:custGeom>
            <a:avLst/>
            <a:gdLst/>
            <a:ahLst/>
            <a:cxnLst>
              <a:cxn ang="0">
                <a:pos x="0" y="432"/>
              </a:cxn>
              <a:cxn ang="0">
                <a:pos x="336" y="150"/>
              </a:cxn>
              <a:cxn ang="0">
                <a:pos x="210" y="150"/>
              </a:cxn>
              <a:cxn ang="0">
                <a:pos x="978" y="0"/>
              </a:cxn>
              <a:cxn ang="0">
                <a:pos x="1398" y="156"/>
              </a:cxn>
              <a:cxn ang="0">
                <a:pos x="1260" y="156"/>
              </a:cxn>
              <a:cxn ang="0">
                <a:pos x="966" y="432"/>
              </a:cxn>
              <a:cxn ang="0">
                <a:pos x="0" y="432"/>
              </a:cxn>
            </a:cxnLst>
            <a:rect l="0" t="0" r="r" b="b"/>
            <a:pathLst>
              <a:path w="1398" h="432">
                <a:moveTo>
                  <a:pt x="0" y="432"/>
                </a:moveTo>
                <a:lnTo>
                  <a:pt x="336" y="150"/>
                </a:lnTo>
                <a:lnTo>
                  <a:pt x="210" y="150"/>
                </a:lnTo>
                <a:lnTo>
                  <a:pt x="978" y="0"/>
                </a:lnTo>
                <a:lnTo>
                  <a:pt x="1398" y="156"/>
                </a:lnTo>
                <a:lnTo>
                  <a:pt x="1260" y="156"/>
                </a:lnTo>
                <a:lnTo>
                  <a:pt x="966" y="432"/>
                </a:lnTo>
                <a:lnTo>
                  <a:pt x="0" y="432"/>
                </a:lnTo>
                <a:close/>
              </a:path>
            </a:pathLst>
          </a:custGeom>
          <a:solidFill>
            <a:schemeClr val="tx1">
              <a:lumMod val="65000"/>
              <a:lumOff val="35000"/>
            </a:schemeClr>
          </a:solidFill>
          <a:ln w="6350" algn="ctr">
            <a:noFill/>
            <a:miter lim="800000"/>
            <a:headEnd/>
            <a:tailEnd/>
          </a:ln>
          <a:effectLst/>
        </p:spPr>
        <p:txBody>
          <a:bodyPr wrap="none" lIns="36000" tIns="36000" rIns="36000" bIns="36000" anchor="ctr"/>
          <a:lstStyle/>
          <a:p>
            <a:pPr algn="ctr" eaLnBrk="0" fontAlgn="t" latinLnBrk="0" hangingPunct="0">
              <a:spcBef>
                <a:spcPct val="50000"/>
              </a:spcBef>
              <a:spcAft>
                <a:spcPct val="5000"/>
              </a:spcAft>
              <a:defRPr/>
            </a:pPr>
            <a:endParaRPr kumimoji="0" lang="ko-KR" altLang="en-US" sz="1200" b="1" dirty="0">
              <a:solidFill>
                <a:srgbClr val="0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144017" y="683985"/>
            <a:ext cx="96335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Service</a:t>
            </a:r>
            <a:r>
              <a:rPr lang="ko-KR" altLang="en-US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Framework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88504" y="991762"/>
            <a:ext cx="9289032" cy="307777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ko-KR" altLang="en-US" sz="1400">
                <a:latin typeface="나눔고딕" panose="020D0604000000000000" pitchFamily="50" charset="-127"/>
                <a:ea typeface="나눔고딕" panose="020D0604000000000000" pitchFamily="50" charset="-127"/>
              </a:rPr>
              <a:t>사업의 서비스 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수직 다각화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미래사업을 고려한 수평 다각화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400">
                <a:latin typeface="나눔고딕" panose="020D0604000000000000" pitchFamily="50" charset="-127"/>
                <a:ea typeface="나눔고딕" panose="020D0604000000000000" pitchFamily="50" charset="-127"/>
              </a:rPr>
              <a:t>모바일 서비스 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적용 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Device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의 다각화를 고려하여 구성합니다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144017" y="91339"/>
            <a:ext cx="7401271" cy="385333"/>
          </a:xfrm>
          <a:prstGeom prst="rect">
            <a:avLst/>
          </a:prstGeom>
          <a:noFill/>
        </p:spPr>
        <p:txBody>
          <a:bodyPr wrap="square" lIns="0" tIns="53643" rIns="0" bIns="53643" rtlCol="0">
            <a:spAutoFit/>
          </a:bodyPr>
          <a:lstStyle/>
          <a:p>
            <a:r>
              <a:rPr kumimoji="1" lang="en-US" altLang="ko-KR" b="1" kern="0" dirty="0">
                <a:latin typeface="나눔고딕" panose="020D0604000000000000" pitchFamily="50" charset="-127"/>
                <a:ea typeface="나눔고딕" panose="020D0604000000000000" pitchFamily="50" charset="-127"/>
                <a:cs typeface="산돌고딕 M"/>
              </a:rPr>
              <a:t>Information architecture</a:t>
            </a:r>
            <a:endParaRPr kumimoji="1" lang="ko-KR" altLang="en-US" b="1" kern="0" dirty="0">
              <a:latin typeface="나눔고딕" panose="020D0604000000000000" pitchFamily="50" charset="-127"/>
              <a:ea typeface="나눔고딕" panose="020D0604000000000000" pitchFamily="50" charset="-127"/>
              <a:cs typeface="산돌고딕 M"/>
            </a:endParaRPr>
          </a:p>
        </p:txBody>
      </p:sp>
    </p:spTree>
    <p:extLst>
      <p:ext uri="{BB962C8B-B14F-4D97-AF65-F5344CB8AC3E}">
        <p14:creationId xmlns:p14="http://schemas.microsoft.com/office/powerpoint/2010/main" val="270421186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TextBox 60"/>
          <p:cNvSpPr txBox="1"/>
          <p:nvPr/>
        </p:nvSpPr>
        <p:spPr>
          <a:xfrm>
            <a:off x="144017" y="683985"/>
            <a:ext cx="96335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>
                <a:latin typeface="나눔고딕" panose="020D0604000000000000" pitchFamily="50" charset="-127"/>
                <a:ea typeface="나눔고딕" panose="020D0604000000000000" pitchFamily="50" charset="-127"/>
              </a:rPr>
              <a:t>사업 서비스 </a:t>
            </a:r>
            <a:r>
              <a:rPr lang="ko-KR" altLang="en-US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수직 다각화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88504" y="991762"/>
            <a:ext cx="9289032" cy="307777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ko-KR" altLang="en-US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다각적인 채널을 통한 사용자의 유입에서 반응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하여 상품 가입을 유도하게 됩니다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144017" y="91339"/>
            <a:ext cx="7401271" cy="385333"/>
          </a:xfrm>
          <a:prstGeom prst="rect">
            <a:avLst/>
          </a:prstGeom>
          <a:noFill/>
        </p:spPr>
        <p:txBody>
          <a:bodyPr wrap="square" lIns="0" tIns="53643" rIns="0" bIns="53643" rtlCol="0">
            <a:spAutoFit/>
          </a:bodyPr>
          <a:lstStyle/>
          <a:p>
            <a:r>
              <a:rPr kumimoji="1" lang="en-US" altLang="ko-KR" b="1" kern="0" dirty="0">
                <a:latin typeface="나눔고딕" panose="020D0604000000000000" pitchFamily="50" charset="-127"/>
                <a:ea typeface="나눔고딕" panose="020D0604000000000000" pitchFamily="50" charset="-127"/>
                <a:cs typeface="산돌고딕 M"/>
              </a:rPr>
              <a:t>Information architecture</a:t>
            </a:r>
            <a:endParaRPr kumimoji="1" lang="ko-KR" altLang="en-US" b="1" kern="0" dirty="0">
              <a:latin typeface="나눔고딕" panose="020D0604000000000000" pitchFamily="50" charset="-127"/>
              <a:ea typeface="나눔고딕" panose="020D0604000000000000" pitchFamily="50" charset="-127"/>
              <a:cs typeface="산돌고딕 M"/>
            </a:endParaRPr>
          </a:p>
        </p:txBody>
      </p:sp>
      <p:sp>
        <p:nvSpPr>
          <p:cNvPr id="65" name="직사각형 101"/>
          <p:cNvSpPr>
            <a:spLocks noChangeArrowheads="1"/>
          </p:cNvSpPr>
          <p:nvPr/>
        </p:nvSpPr>
        <p:spPr bwMode="auto">
          <a:xfrm>
            <a:off x="5882009" y="6329174"/>
            <a:ext cx="1889906" cy="2462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/>
            <a:r>
              <a:rPr kumimoji="0" lang="en-US" altLang="ko-KR" sz="1000" b="1" i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Policy</a:t>
            </a:r>
            <a:endParaRPr kumimoji="0" lang="ko-KR" altLang="en-US" sz="1000" b="1" i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6" name="Line 126"/>
          <p:cNvSpPr>
            <a:spLocks noChangeShapeType="1"/>
          </p:cNvSpPr>
          <p:nvPr/>
        </p:nvSpPr>
        <p:spPr bwMode="auto">
          <a:xfrm>
            <a:off x="474493" y="1959161"/>
            <a:ext cx="8999926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36000" tIns="36000" rIns="36000" bIns="36000" anchor="ctr"/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7" name="Text Box 188"/>
          <p:cNvSpPr txBox="1">
            <a:spLocks noChangeArrowheads="1"/>
          </p:cNvSpPr>
          <p:nvPr/>
        </p:nvSpPr>
        <p:spPr bwMode="auto">
          <a:xfrm>
            <a:off x="1138959" y="1654175"/>
            <a:ext cx="7634501" cy="2924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kumimoji="0" lang="ko-KR" altLang="en-US" sz="1300" b="1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사업 서비스 </a:t>
            </a:r>
            <a:r>
              <a:rPr kumimoji="0" lang="ko-KR" altLang="en-US" sz="1300" b="1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수직 다각화</a:t>
            </a:r>
          </a:p>
        </p:txBody>
      </p:sp>
      <p:grpSp>
        <p:nvGrpSpPr>
          <p:cNvPr id="68" name="그룹 68"/>
          <p:cNvGrpSpPr>
            <a:grpSpLocks/>
          </p:cNvGrpSpPr>
          <p:nvPr/>
        </p:nvGrpSpPr>
        <p:grpSpPr bwMode="auto">
          <a:xfrm>
            <a:off x="458788" y="2406650"/>
            <a:ext cx="762000" cy="677863"/>
            <a:chOff x="2841673" y="2145408"/>
            <a:chExt cx="4111400" cy="3618927"/>
          </a:xfrm>
        </p:grpSpPr>
        <p:sp>
          <p:nvSpPr>
            <p:cNvPr id="96" name="Line 216"/>
            <p:cNvSpPr>
              <a:spLocks noChangeShapeType="1"/>
            </p:cNvSpPr>
            <p:nvPr/>
          </p:nvSpPr>
          <p:spPr bwMode="auto">
            <a:xfrm flipV="1">
              <a:off x="4589018" y="2162358"/>
              <a:ext cx="359747" cy="0"/>
            </a:xfrm>
            <a:prstGeom prst="line">
              <a:avLst/>
            </a:prstGeom>
            <a:noFill/>
            <a:ln w="31750">
              <a:solidFill>
                <a:schemeClr val="tx1">
                  <a:lumMod val="65000"/>
                  <a:lumOff val="35000"/>
                </a:schemeClr>
              </a:solidFill>
              <a:prstDash val="sysDot"/>
              <a:round/>
              <a:headEnd/>
              <a:tailEnd/>
            </a:ln>
            <a:effectLst/>
          </p:spPr>
          <p:txBody>
            <a:bodyPr wrap="none" lIns="36000" tIns="36000" rIns="36000" bIns="36000" anchor="ctr"/>
            <a:lstStyle/>
            <a:p>
              <a:pPr algn="ctr" eaLnBrk="0" fontAlgn="t" latinLnBrk="0" hangingPunct="0">
                <a:spcBef>
                  <a:spcPct val="50000"/>
                </a:spcBef>
                <a:spcAft>
                  <a:spcPct val="5000"/>
                </a:spcAft>
                <a:defRPr/>
              </a:pPr>
              <a:endParaRPr kumimoji="0" lang="ko-KR" altLang="en-US" sz="1200" b="1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97" name="정육면체 96"/>
            <p:cNvSpPr/>
            <p:nvPr/>
          </p:nvSpPr>
          <p:spPr>
            <a:xfrm>
              <a:off x="2841673" y="2145408"/>
              <a:ext cx="1721646" cy="3618927"/>
            </a:xfrm>
            <a:prstGeom prst="cube">
              <a:avLst>
                <a:gd name="adj" fmla="val 45657"/>
              </a:avLst>
            </a:prstGeom>
            <a:solidFill>
              <a:schemeClr val="bg1"/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98" name="정육면체 97"/>
            <p:cNvSpPr/>
            <p:nvPr/>
          </p:nvSpPr>
          <p:spPr>
            <a:xfrm>
              <a:off x="4195009" y="2145408"/>
              <a:ext cx="2758064" cy="3618927"/>
            </a:xfrm>
            <a:prstGeom prst="cube">
              <a:avLst>
                <a:gd name="adj" fmla="val 28581"/>
              </a:avLst>
            </a:prstGeom>
            <a:solidFill>
              <a:schemeClr val="bg1"/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cxnSp>
          <p:nvCxnSpPr>
            <p:cNvPr id="99" name="직선 연결선 98"/>
            <p:cNvCxnSpPr/>
            <p:nvPr/>
          </p:nvCxnSpPr>
          <p:spPr>
            <a:xfrm>
              <a:off x="2858804" y="3323468"/>
              <a:ext cx="925065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직선 연결선 99"/>
            <p:cNvCxnSpPr/>
            <p:nvPr/>
          </p:nvCxnSpPr>
          <p:spPr>
            <a:xfrm>
              <a:off x="2858804" y="3823504"/>
              <a:ext cx="925065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직선 연결선 100"/>
            <p:cNvCxnSpPr/>
            <p:nvPr/>
          </p:nvCxnSpPr>
          <p:spPr>
            <a:xfrm>
              <a:off x="2858804" y="4323545"/>
              <a:ext cx="925065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직선 연결선 101"/>
            <p:cNvCxnSpPr/>
            <p:nvPr/>
          </p:nvCxnSpPr>
          <p:spPr>
            <a:xfrm>
              <a:off x="2858804" y="4815109"/>
              <a:ext cx="925065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직선 연결선 102"/>
            <p:cNvCxnSpPr/>
            <p:nvPr/>
          </p:nvCxnSpPr>
          <p:spPr>
            <a:xfrm>
              <a:off x="2858804" y="5315145"/>
              <a:ext cx="925065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직선 연결선 103"/>
            <p:cNvCxnSpPr/>
            <p:nvPr/>
          </p:nvCxnSpPr>
          <p:spPr>
            <a:xfrm>
              <a:off x="4203571" y="3314990"/>
              <a:ext cx="1944352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직선 연결선 104"/>
            <p:cNvCxnSpPr/>
            <p:nvPr/>
          </p:nvCxnSpPr>
          <p:spPr>
            <a:xfrm>
              <a:off x="4203571" y="3815031"/>
              <a:ext cx="1944352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직선 연결선 105"/>
            <p:cNvCxnSpPr/>
            <p:nvPr/>
          </p:nvCxnSpPr>
          <p:spPr>
            <a:xfrm>
              <a:off x="4203571" y="4315067"/>
              <a:ext cx="1944352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직선 연결선 106"/>
            <p:cNvCxnSpPr/>
            <p:nvPr/>
          </p:nvCxnSpPr>
          <p:spPr>
            <a:xfrm>
              <a:off x="4203571" y="4815109"/>
              <a:ext cx="1944352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직선 연결선 107"/>
            <p:cNvCxnSpPr/>
            <p:nvPr/>
          </p:nvCxnSpPr>
          <p:spPr>
            <a:xfrm>
              <a:off x="4203571" y="5315145"/>
              <a:ext cx="1944352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직선 연결선 108"/>
            <p:cNvCxnSpPr/>
            <p:nvPr/>
          </p:nvCxnSpPr>
          <p:spPr>
            <a:xfrm>
              <a:off x="3244245" y="2509845"/>
              <a:ext cx="933633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직선 연결선 109"/>
            <p:cNvCxnSpPr/>
            <p:nvPr/>
          </p:nvCxnSpPr>
          <p:spPr>
            <a:xfrm>
              <a:off x="4614711" y="2509845"/>
              <a:ext cx="1944352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직선 연결선 110"/>
            <p:cNvCxnSpPr>
              <a:stCxn id="98" idx="3"/>
              <a:endCxn id="98" idx="1"/>
            </p:cNvCxnSpPr>
            <p:nvPr/>
          </p:nvCxnSpPr>
          <p:spPr>
            <a:xfrm rot="5400000" flipH="1">
              <a:off x="3751951" y="4336257"/>
              <a:ext cx="2856156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직선 연결선 111"/>
            <p:cNvCxnSpPr>
              <a:stCxn id="98" idx="1"/>
              <a:endCxn id="98" idx="0"/>
            </p:cNvCxnSpPr>
            <p:nvPr/>
          </p:nvCxnSpPr>
          <p:spPr>
            <a:xfrm rot="5400000" flipH="1" flipV="1">
              <a:off x="5192650" y="2132787"/>
              <a:ext cx="762771" cy="788018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3" name="Line 216"/>
            <p:cNvSpPr>
              <a:spLocks noChangeShapeType="1"/>
            </p:cNvSpPr>
            <p:nvPr/>
          </p:nvSpPr>
          <p:spPr bwMode="auto">
            <a:xfrm flipV="1">
              <a:off x="3826693" y="2942080"/>
              <a:ext cx="359747" cy="0"/>
            </a:xfrm>
            <a:prstGeom prst="line">
              <a:avLst/>
            </a:prstGeom>
            <a:noFill/>
            <a:ln w="31750">
              <a:solidFill>
                <a:schemeClr val="tx1">
                  <a:lumMod val="65000"/>
                  <a:lumOff val="35000"/>
                </a:schemeClr>
              </a:solidFill>
              <a:prstDash val="sysDot"/>
              <a:round/>
              <a:headEnd/>
              <a:tailEnd/>
            </a:ln>
            <a:effectLst/>
          </p:spPr>
          <p:txBody>
            <a:bodyPr wrap="none" lIns="36000" tIns="36000" rIns="36000" bIns="36000" anchor="ctr"/>
            <a:lstStyle/>
            <a:p>
              <a:pPr algn="ctr" eaLnBrk="0" fontAlgn="t" latinLnBrk="0" hangingPunct="0">
                <a:spcBef>
                  <a:spcPct val="50000"/>
                </a:spcBef>
                <a:spcAft>
                  <a:spcPct val="5000"/>
                </a:spcAft>
                <a:defRPr/>
              </a:pPr>
              <a:endParaRPr kumimoji="0" lang="ko-KR" altLang="en-US" sz="1200" b="1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14" name="Rectangle 214"/>
            <p:cNvSpPr>
              <a:spLocks noChangeArrowheads="1"/>
            </p:cNvSpPr>
            <p:nvPr/>
          </p:nvSpPr>
          <p:spPr bwMode="auto">
            <a:xfrm>
              <a:off x="2911329" y="3009882"/>
              <a:ext cx="753757" cy="2703602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 w="28575" algn="ctr">
              <a:noFill/>
              <a:prstDash val="sysDash"/>
              <a:miter lim="800000"/>
              <a:headEnd/>
              <a:tailEnd/>
            </a:ln>
            <a:effectLst/>
          </p:spPr>
          <p:txBody>
            <a:bodyPr wrap="none" lIns="36000" tIns="36000" rIns="36000" bIns="36000" anchor="ctr"/>
            <a:lstStyle/>
            <a:p>
              <a:pPr algn="ctr" eaLnBrk="0" fontAlgn="t" latinLnBrk="0" hangingPunct="0">
                <a:spcBef>
                  <a:spcPct val="50000"/>
                </a:spcBef>
                <a:spcAft>
                  <a:spcPct val="5000"/>
                </a:spcAft>
                <a:defRPr/>
              </a:pPr>
              <a:endParaRPr kumimoji="0" lang="ko-KR" altLang="en-US" sz="1200" b="1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15" name="Line 216"/>
            <p:cNvSpPr>
              <a:spLocks noChangeShapeType="1"/>
            </p:cNvSpPr>
            <p:nvPr/>
          </p:nvSpPr>
          <p:spPr bwMode="auto">
            <a:xfrm flipV="1">
              <a:off x="3809562" y="5755857"/>
              <a:ext cx="359747" cy="0"/>
            </a:xfrm>
            <a:prstGeom prst="line">
              <a:avLst/>
            </a:prstGeom>
            <a:noFill/>
            <a:ln w="31750">
              <a:solidFill>
                <a:schemeClr val="tx1">
                  <a:lumMod val="65000"/>
                  <a:lumOff val="35000"/>
                </a:schemeClr>
              </a:solidFill>
              <a:prstDash val="sysDot"/>
              <a:round/>
              <a:headEnd/>
              <a:tailEnd/>
            </a:ln>
            <a:effectLst/>
          </p:spPr>
          <p:txBody>
            <a:bodyPr wrap="none" lIns="36000" tIns="36000" rIns="36000" bIns="36000" anchor="ctr"/>
            <a:lstStyle/>
            <a:p>
              <a:pPr algn="ctr" eaLnBrk="0" fontAlgn="t" latinLnBrk="0" hangingPunct="0">
                <a:spcBef>
                  <a:spcPct val="50000"/>
                </a:spcBef>
                <a:spcAft>
                  <a:spcPct val="5000"/>
                </a:spcAft>
                <a:defRPr/>
              </a:pPr>
              <a:endParaRPr kumimoji="0" lang="ko-KR" altLang="en-US" sz="1200" b="1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sp>
        <p:nvSpPr>
          <p:cNvPr id="69" name="Rectangle 18"/>
          <p:cNvSpPr>
            <a:spLocks noChangeArrowheads="1"/>
          </p:cNvSpPr>
          <p:nvPr/>
        </p:nvSpPr>
        <p:spPr bwMode="auto">
          <a:xfrm>
            <a:off x="4151313" y="5764213"/>
            <a:ext cx="5302250" cy="392112"/>
          </a:xfrm>
          <a:prstGeom prst="flowChartProcess">
            <a:avLst/>
          </a:prstGeom>
          <a:solidFill>
            <a:srgbClr val="D1D7C7"/>
          </a:solidFill>
          <a:ln w="9525" algn="ctr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>
            <a:outerShdw dist="17961" dir="2700000" algn="ctr" rotWithShape="0">
              <a:srgbClr val="000000"/>
            </a:outerShdw>
          </a:effectLst>
        </p:spPr>
        <p:txBody>
          <a:bodyPr lIns="72000" tIns="0" rIns="72000" bIns="0" anchor="ctr"/>
          <a:lstStyle/>
          <a:p>
            <a:pPr algn="ctr" defTabSz="979488" latinLnBrk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60000"/>
              <a:defRPr/>
            </a:pPr>
            <a:r>
              <a:rPr kumimoji="0" lang="ko-KR" altLang="en-US" sz="1100" b="1" kern="0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수신</a:t>
            </a:r>
            <a:endParaRPr kumimoji="0" lang="en-US" altLang="ko-KR" sz="1100" b="1" kern="0" dirty="0">
              <a:solidFill>
                <a:srgbClr val="0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4" name="Line 191"/>
          <p:cNvSpPr>
            <a:spLocks noChangeShapeType="1"/>
          </p:cNvSpPr>
          <p:nvPr/>
        </p:nvSpPr>
        <p:spPr bwMode="auto">
          <a:xfrm flipH="1" flipV="1">
            <a:off x="1858881" y="2237462"/>
            <a:ext cx="1" cy="3495838"/>
          </a:xfrm>
          <a:prstGeom prst="line">
            <a:avLst/>
          </a:prstGeom>
          <a:noFill/>
          <a:ln w="38100">
            <a:solidFill>
              <a:srgbClr val="B2B2B2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36000" tIns="36000" rIns="36000" bIns="36000" anchor="ctr"/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5" name="직사각형 321"/>
          <p:cNvSpPr>
            <a:spLocks noChangeArrowheads="1"/>
          </p:cNvSpPr>
          <p:nvPr/>
        </p:nvSpPr>
        <p:spPr bwMode="auto">
          <a:xfrm rot="16200000">
            <a:off x="1189744" y="3810282"/>
            <a:ext cx="1045478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/>
            <a:r>
              <a:rPr kumimoji="0" lang="en-US" altLang="ko-KR" sz="1100" b="1" i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Web Services</a:t>
            </a:r>
          </a:p>
        </p:txBody>
      </p:sp>
      <p:sp>
        <p:nvSpPr>
          <p:cNvPr id="76" name="Rectangle 18"/>
          <p:cNvSpPr>
            <a:spLocks noChangeArrowheads="1"/>
          </p:cNvSpPr>
          <p:nvPr/>
        </p:nvSpPr>
        <p:spPr bwMode="auto">
          <a:xfrm>
            <a:off x="4151313" y="2116138"/>
            <a:ext cx="5302250" cy="612775"/>
          </a:xfrm>
          <a:prstGeom prst="flowChartProcess">
            <a:avLst/>
          </a:prstGeom>
          <a:solidFill>
            <a:schemeClr val="bg1"/>
          </a:solidFill>
          <a:ln w="9525" algn="ctr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/>
        </p:spPr>
        <p:txBody>
          <a:bodyPr lIns="72000" tIns="0" rIns="72000" bIns="0" anchor="ctr"/>
          <a:lstStyle/>
          <a:p>
            <a:pPr algn="ctr" defTabSz="979488" latinLnBrk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60000"/>
              <a:buFont typeface="Wingdings" pitchFamily="2" charset="2"/>
              <a:buNone/>
              <a:defRPr/>
            </a:pPr>
            <a:endParaRPr kumimoji="0" lang="ko-KR" altLang="en-US" sz="1100" b="1" kern="0" dirty="0">
              <a:solidFill>
                <a:srgbClr val="0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7" name="Rectangle 18"/>
          <p:cNvSpPr>
            <a:spLocks noChangeArrowheads="1"/>
          </p:cNvSpPr>
          <p:nvPr/>
        </p:nvSpPr>
        <p:spPr bwMode="auto">
          <a:xfrm>
            <a:off x="4151313" y="2854325"/>
            <a:ext cx="5302250" cy="611188"/>
          </a:xfrm>
          <a:prstGeom prst="flowChartProcess">
            <a:avLst/>
          </a:prstGeom>
          <a:solidFill>
            <a:schemeClr val="bg1"/>
          </a:solidFill>
          <a:ln w="9525" algn="ctr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/>
        </p:spPr>
        <p:txBody>
          <a:bodyPr lIns="72000" tIns="0" rIns="72000" bIns="0" anchor="ctr"/>
          <a:lstStyle/>
          <a:p>
            <a:pPr algn="ctr" defTabSz="979488" latinLnBrk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60000"/>
              <a:buFont typeface="Wingdings" pitchFamily="2" charset="2"/>
              <a:buNone/>
              <a:defRPr/>
            </a:pPr>
            <a:endParaRPr kumimoji="0" lang="ko-KR" altLang="en-US" sz="1100" b="1" kern="0" dirty="0">
              <a:solidFill>
                <a:srgbClr val="0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8" name="Rectangle 18"/>
          <p:cNvSpPr>
            <a:spLocks noChangeArrowheads="1"/>
          </p:cNvSpPr>
          <p:nvPr/>
        </p:nvSpPr>
        <p:spPr bwMode="auto">
          <a:xfrm>
            <a:off x="4151313" y="3592513"/>
            <a:ext cx="5302250" cy="611187"/>
          </a:xfrm>
          <a:prstGeom prst="flowChartProcess">
            <a:avLst/>
          </a:prstGeom>
          <a:solidFill>
            <a:schemeClr val="bg1"/>
          </a:solidFill>
          <a:ln w="9525" algn="ctr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/>
        </p:spPr>
        <p:txBody>
          <a:bodyPr lIns="72000" tIns="0" rIns="72000" bIns="0" anchor="ctr"/>
          <a:lstStyle/>
          <a:p>
            <a:pPr algn="ctr" defTabSz="979488" latinLnBrk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60000"/>
              <a:buFont typeface="Wingdings" pitchFamily="2" charset="2"/>
              <a:buNone/>
              <a:defRPr/>
            </a:pPr>
            <a:endParaRPr kumimoji="0" lang="ko-KR" altLang="en-US" sz="1100" b="1" kern="0" dirty="0">
              <a:solidFill>
                <a:srgbClr val="0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9" name="Rectangle 18"/>
          <p:cNvSpPr>
            <a:spLocks noChangeArrowheads="1"/>
          </p:cNvSpPr>
          <p:nvPr/>
        </p:nvSpPr>
        <p:spPr bwMode="auto">
          <a:xfrm>
            <a:off x="4151313" y="4329113"/>
            <a:ext cx="5302250" cy="612775"/>
          </a:xfrm>
          <a:prstGeom prst="flowChartProcess">
            <a:avLst/>
          </a:prstGeom>
          <a:solidFill>
            <a:schemeClr val="bg1"/>
          </a:solidFill>
          <a:ln w="9525" algn="ctr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/>
        </p:spPr>
        <p:txBody>
          <a:bodyPr lIns="72000" tIns="0" rIns="72000" bIns="0" anchor="ctr"/>
          <a:lstStyle/>
          <a:p>
            <a:pPr algn="ctr" defTabSz="979488" latinLnBrk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60000"/>
              <a:buFont typeface="Wingdings" pitchFamily="2" charset="2"/>
              <a:buNone/>
              <a:defRPr/>
            </a:pPr>
            <a:endParaRPr kumimoji="0" lang="ko-KR" altLang="en-US" sz="1100" b="1" kern="0" dirty="0">
              <a:solidFill>
                <a:srgbClr val="0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0" name="Rectangle 18"/>
          <p:cNvSpPr>
            <a:spLocks noChangeArrowheads="1"/>
          </p:cNvSpPr>
          <p:nvPr/>
        </p:nvSpPr>
        <p:spPr bwMode="auto">
          <a:xfrm>
            <a:off x="4151313" y="5067300"/>
            <a:ext cx="5302250" cy="611188"/>
          </a:xfrm>
          <a:prstGeom prst="flowChartProcess">
            <a:avLst/>
          </a:prstGeom>
          <a:solidFill>
            <a:schemeClr val="bg1"/>
          </a:solidFill>
          <a:ln w="9525" algn="ctr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/>
        </p:spPr>
        <p:txBody>
          <a:bodyPr lIns="72000" tIns="0" rIns="72000" bIns="0" anchor="ctr"/>
          <a:lstStyle/>
          <a:p>
            <a:pPr algn="ctr" defTabSz="979488" latinLnBrk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60000"/>
              <a:buFont typeface="Wingdings" pitchFamily="2" charset="2"/>
              <a:buNone/>
              <a:defRPr/>
            </a:pPr>
            <a:endParaRPr kumimoji="0" lang="ko-KR" altLang="en-US" sz="1100" b="1" kern="0" dirty="0">
              <a:solidFill>
                <a:srgbClr val="0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1" name="Text Box 8"/>
          <p:cNvSpPr txBox="1">
            <a:spLocks noChangeArrowheads="1"/>
          </p:cNvSpPr>
          <p:nvPr/>
        </p:nvSpPr>
        <p:spPr bwMode="auto">
          <a:xfrm>
            <a:off x="4173732" y="2300990"/>
            <a:ext cx="4883724" cy="2266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36000" tIns="36000" rIns="36000" bIns="36000">
            <a:spAutoFit/>
          </a:bodyPr>
          <a:lstStyle>
            <a:lvl1pPr marL="84138" indent="-84138" defTabSz="9398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defTabSz="9398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defTabSz="9398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defTabSz="9398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defTabSz="9398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fontAlgn="b" latinLnBrk="0">
              <a:spcAft>
                <a:spcPts val="300"/>
              </a:spcAft>
              <a:buFont typeface="Arial" pitchFamily="34" charset="0"/>
              <a:buChar char="•"/>
            </a:pPr>
            <a:r>
              <a:rPr kumimoji="0"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광고를 통하여 사용자의 접근을 유도함</a:t>
            </a:r>
            <a:endParaRPr kumimoji="0"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2" name="Text Box 8"/>
          <p:cNvSpPr txBox="1">
            <a:spLocks noChangeArrowheads="1"/>
          </p:cNvSpPr>
          <p:nvPr/>
        </p:nvSpPr>
        <p:spPr bwMode="auto">
          <a:xfrm>
            <a:off x="4173732" y="2851089"/>
            <a:ext cx="1820244" cy="380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0" tIns="36000" rIns="36000" bIns="36000">
            <a:spAutoFit/>
          </a:bodyPr>
          <a:lstStyle>
            <a:lvl1pPr marL="84138" indent="-84138" defTabSz="9398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defTabSz="9398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defTabSz="9398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defTabSz="9398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defTabSz="9398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fontAlgn="b" latinLnBrk="0">
              <a:spcAft>
                <a:spcPts val="300"/>
              </a:spcAft>
              <a:buFont typeface="Arial" pitchFamily="34" charset="0"/>
              <a:buChar char="•"/>
            </a:pPr>
            <a:r>
              <a:rPr kumimoji="0" lang="ko-KR" altLang="en-US" sz="1000">
                <a:latin typeface="나눔고딕" panose="020D0604000000000000" pitchFamily="50" charset="-127"/>
                <a:ea typeface="나눔고딕" panose="020D0604000000000000" pitchFamily="50" charset="-127"/>
              </a:rPr>
              <a:t>각종 서비스상품에 </a:t>
            </a:r>
            <a:r>
              <a:rPr kumimoji="0"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대한</a:t>
            </a:r>
            <a:br>
              <a:rPr kumimoji="0"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kumimoji="0"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Needs </a:t>
            </a:r>
            <a:r>
              <a:rPr kumimoji="0"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반영</a:t>
            </a:r>
            <a:endParaRPr kumimoji="0"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3" name="Text Box 8"/>
          <p:cNvSpPr txBox="1">
            <a:spLocks noChangeArrowheads="1"/>
          </p:cNvSpPr>
          <p:nvPr/>
        </p:nvSpPr>
        <p:spPr bwMode="auto">
          <a:xfrm>
            <a:off x="4173732" y="3775398"/>
            <a:ext cx="4349982" cy="2266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36000" tIns="36000" rIns="36000" bIns="36000">
            <a:spAutoFit/>
          </a:bodyPr>
          <a:lstStyle>
            <a:lvl1pPr marL="84138" indent="-84138" defTabSz="9398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defTabSz="9398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defTabSz="9398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defTabSz="9398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defTabSz="9398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fontAlgn="b" latinLnBrk="0">
              <a:spcAft>
                <a:spcPts val="300"/>
              </a:spcAft>
              <a:buFont typeface="Arial" pitchFamily="34" charset="0"/>
              <a:buChar char="•"/>
            </a:pPr>
            <a:r>
              <a:rPr kumimoji="0" lang="ko-KR" altLang="en-US" sz="1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페이스북</a:t>
            </a:r>
            <a:r>
              <a:rPr kumimoji="0"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kumimoji="0" lang="ko-KR" altLang="en-US" sz="1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트위터</a:t>
            </a:r>
            <a:r>
              <a:rPr kumimoji="0"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kumimoji="0" lang="ko-KR" altLang="en-US" sz="1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블로그</a:t>
            </a:r>
            <a:r>
              <a:rPr kumimoji="0"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등 사용자 유입채널 다각화</a:t>
            </a:r>
            <a:endParaRPr kumimoji="0"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4" name="Text Box 8"/>
          <p:cNvSpPr txBox="1">
            <a:spLocks noChangeArrowheads="1"/>
          </p:cNvSpPr>
          <p:nvPr/>
        </p:nvSpPr>
        <p:spPr bwMode="auto">
          <a:xfrm>
            <a:off x="4173732" y="4534639"/>
            <a:ext cx="5260104" cy="2266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36000" tIns="36000" rIns="36000" bIns="36000">
            <a:spAutoFit/>
          </a:bodyPr>
          <a:lstStyle>
            <a:lvl1pPr marL="84138" indent="-84138" defTabSz="9398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defTabSz="9398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defTabSz="9398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defTabSz="9398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defTabSz="9398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fontAlgn="b" latinLnBrk="0">
              <a:spcAft>
                <a:spcPts val="300"/>
              </a:spcAft>
              <a:buFont typeface="Arial" pitchFamily="34" charset="0"/>
              <a:buChar char="•"/>
            </a:pPr>
            <a:r>
              <a:rPr kumimoji="0"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사용자가 쉽게 예측할 수 있는 구조의 </a:t>
            </a:r>
            <a:r>
              <a:rPr kumimoji="0"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GNB </a:t>
            </a:r>
            <a:r>
              <a:rPr kumimoji="0"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구성</a:t>
            </a:r>
            <a:endParaRPr kumimoji="0"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5" name="Text Box 8"/>
          <p:cNvSpPr txBox="1">
            <a:spLocks noChangeArrowheads="1"/>
          </p:cNvSpPr>
          <p:nvPr/>
        </p:nvSpPr>
        <p:spPr bwMode="auto">
          <a:xfrm>
            <a:off x="4173732" y="5251225"/>
            <a:ext cx="4883724" cy="2266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36000" tIns="36000" rIns="36000" bIns="36000">
            <a:spAutoFit/>
          </a:bodyPr>
          <a:lstStyle>
            <a:lvl1pPr marL="84138" indent="-84138" defTabSz="9398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defTabSz="9398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defTabSz="9398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defTabSz="9398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defTabSz="9398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fontAlgn="b" latinLnBrk="0">
              <a:spcAft>
                <a:spcPts val="300"/>
              </a:spcAft>
              <a:buFont typeface="Arial" pitchFamily="34" charset="0"/>
              <a:buChar char="•"/>
            </a:pPr>
            <a:r>
              <a:rPr kumimoji="0"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단순화된 </a:t>
            </a:r>
            <a:r>
              <a:rPr kumimoji="0"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Step </a:t>
            </a:r>
            <a:r>
              <a:rPr kumimoji="0"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으로 구현되는 </a:t>
            </a:r>
            <a:r>
              <a:rPr kumimoji="0" lang="en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XXX</a:t>
            </a:r>
            <a:r>
              <a:rPr kumimoji="0"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가입 프로세스</a:t>
            </a:r>
            <a:endParaRPr kumimoji="0"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86" name="직선 연결선 85"/>
          <p:cNvCxnSpPr/>
          <p:nvPr/>
        </p:nvCxnSpPr>
        <p:spPr bwMode="auto">
          <a:xfrm flipV="1">
            <a:off x="1247775" y="2089150"/>
            <a:ext cx="420688" cy="276225"/>
          </a:xfrm>
          <a:prstGeom prst="line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직선 연결선 86"/>
          <p:cNvCxnSpPr/>
          <p:nvPr/>
        </p:nvCxnSpPr>
        <p:spPr bwMode="auto">
          <a:xfrm rot="16200000" flipH="1">
            <a:off x="-110331" y="4463256"/>
            <a:ext cx="2962275" cy="449263"/>
          </a:xfrm>
          <a:prstGeom prst="line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Line 191"/>
          <p:cNvSpPr>
            <a:spLocks noChangeShapeType="1"/>
          </p:cNvSpPr>
          <p:nvPr/>
        </p:nvSpPr>
        <p:spPr bwMode="auto">
          <a:xfrm flipH="1">
            <a:off x="4176549" y="6299312"/>
            <a:ext cx="5300826" cy="0"/>
          </a:xfrm>
          <a:prstGeom prst="line">
            <a:avLst/>
          </a:prstGeom>
          <a:noFill/>
          <a:ln w="38100">
            <a:solidFill>
              <a:srgbClr val="B2B2B2"/>
            </a:solidFill>
            <a:round/>
            <a:headEnd type="triangle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36000" tIns="36000" rIns="36000" bIns="36000" anchor="ctr"/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9" name="Text Box 8"/>
          <p:cNvSpPr txBox="1">
            <a:spLocks noChangeArrowheads="1"/>
          </p:cNvSpPr>
          <p:nvPr/>
        </p:nvSpPr>
        <p:spPr bwMode="auto">
          <a:xfrm>
            <a:off x="5734008" y="2851089"/>
            <a:ext cx="1820244" cy="380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0" tIns="36000" rIns="36000" bIns="36000">
            <a:spAutoFit/>
          </a:bodyPr>
          <a:lstStyle>
            <a:lvl1pPr marL="84138" indent="-84138" defTabSz="9398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defTabSz="9398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defTabSz="9398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defTabSz="9398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defTabSz="9398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fontAlgn="b" latinLnBrk="0">
              <a:spcAft>
                <a:spcPts val="300"/>
              </a:spcAft>
              <a:buFont typeface="Arial" pitchFamily="34" charset="0"/>
              <a:buChar char="•"/>
            </a:pPr>
            <a:r>
              <a:rPr kumimoji="0"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사용자의 시선에 따라</a:t>
            </a:r>
            <a:br>
              <a:rPr kumimoji="0"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kumimoji="0"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배너 등 </a:t>
            </a:r>
            <a:r>
              <a:rPr kumimoji="0"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Click </a:t>
            </a:r>
            <a:r>
              <a:rPr kumimoji="0"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유도</a:t>
            </a:r>
            <a:endParaRPr kumimoji="0"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0" name="Text Box 8"/>
          <p:cNvSpPr txBox="1">
            <a:spLocks noChangeArrowheads="1"/>
          </p:cNvSpPr>
          <p:nvPr/>
        </p:nvSpPr>
        <p:spPr bwMode="auto">
          <a:xfrm>
            <a:off x="7613592" y="2851089"/>
            <a:ext cx="1820244" cy="380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0" tIns="36000" rIns="36000" bIns="36000">
            <a:spAutoFit/>
          </a:bodyPr>
          <a:lstStyle>
            <a:lvl1pPr marL="84138" indent="-84138" defTabSz="9398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defTabSz="9398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defTabSz="9398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defTabSz="9398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defTabSz="9398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fontAlgn="b" latinLnBrk="0">
              <a:spcAft>
                <a:spcPts val="300"/>
              </a:spcAft>
              <a:buFont typeface="Arial" pitchFamily="34" charset="0"/>
              <a:buChar char="•"/>
            </a:pPr>
            <a:r>
              <a:rPr kumimoji="0" lang="ko-KR" altLang="en-US" sz="1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컨텐츠</a:t>
            </a:r>
            <a:r>
              <a:rPr kumimoji="0"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페이지</a:t>
            </a:r>
            <a:r>
              <a:rPr kumimoji="0"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kumimoji="0"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상품페이지 내에서도 관련상품 노출</a:t>
            </a:r>
            <a:endParaRPr kumimoji="0"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26" name="Rectangle 18"/>
          <p:cNvSpPr>
            <a:spLocks noChangeArrowheads="1"/>
          </p:cNvSpPr>
          <p:nvPr/>
        </p:nvSpPr>
        <p:spPr bwMode="auto">
          <a:xfrm>
            <a:off x="2857599" y="2115604"/>
            <a:ext cx="1162050" cy="549836"/>
          </a:xfrm>
          <a:prstGeom prst="flowChartProcess">
            <a:avLst/>
          </a:prstGeom>
          <a:solidFill>
            <a:srgbClr val="D1D7C7"/>
          </a:solidFill>
          <a:ln w="9525" algn="ctr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>
            <a:outerShdw dist="17961" dir="2700000" algn="ctr" rotWithShape="0">
              <a:srgbClr val="000000"/>
            </a:outerShdw>
          </a:effectLst>
        </p:spPr>
        <p:txBody>
          <a:bodyPr lIns="72000" tIns="0" rIns="72000" bIns="0" anchor="ctr"/>
          <a:lstStyle/>
          <a:p>
            <a:pPr algn="ctr" defTabSz="979488" latinLnBrk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60000"/>
              <a:buFont typeface="Wingdings" pitchFamily="2" charset="2"/>
              <a:buNone/>
              <a:defRPr/>
            </a:pPr>
            <a:r>
              <a:rPr lang="en-US" altLang="ko-KR" sz="1100" b="1" kern="0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Landing page</a:t>
            </a:r>
          </a:p>
        </p:txBody>
      </p:sp>
      <p:sp>
        <p:nvSpPr>
          <p:cNvPr id="127" name="Rectangle 18"/>
          <p:cNvSpPr>
            <a:spLocks noChangeArrowheads="1"/>
          </p:cNvSpPr>
          <p:nvPr/>
        </p:nvSpPr>
        <p:spPr bwMode="auto">
          <a:xfrm>
            <a:off x="2857599" y="2863542"/>
            <a:ext cx="1162050" cy="549836"/>
          </a:xfrm>
          <a:prstGeom prst="flowChartProcess">
            <a:avLst/>
          </a:prstGeom>
          <a:solidFill>
            <a:srgbClr val="D1D7C7"/>
          </a:solidFill>
          <a:ln w="9525" algn="ctr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>
            <a:outerShdw dist="17961" dir="2700000" algn="ctr" rotWithShape="0">
              <a:srgbClr val="000000"/>
            </a:outerShdw>
          </a:effectLst>
        </p:spPr>
        <p:txBody>
          <a:bodyPr lIns="72000" tIns="0" rIns="72000" bIns="0" anchor="ctr"/>
          <a:lstStyle/>
          <a:p>
            <a:pPr algn="ctr" defTabSz="979488" latinLnBrk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60000"/>
              <a:buFont typeface="Wingdings" pitchFamily="2" charset="2"/>
              <a:buNone/>
              <a:defRPr/>
            </a:pPr>
            <a:r>
              <a:rPr lang="en-US" altLang="ko-KR" sz="1050" b="1" kern="0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Needs Response</a:t>
            </a:r>
          </a:p>
          <a:p>
            <a:pPr algn="ctr" defTabSz="979488" latinLnBrk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60000"/>
              <a:buFont typeface="Wingdings" pitchFamily="2" charset="2"/>
              <a:buNone/>
              <a:defRPr/>
            </a:pPr>
            <a:r>
              <a:rPr lang="en-US" altLang="ko-KR" sz="1050" b="1" kern="0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Interface</a:t>
            </a:r>
          </a:p>
        </p:txBody>
      </p:sp>
      <p:sp>
        <p:nvSpPr>
          <p:cNvPr id="128" name="Rectangle 18"/>
          <p:cNvSpPr>
            <a:spLocks noChangeArrowheads="1"/>
          </p:cNvSpPr>
          <p:nvPr/>
        </p:nvSpPr>
        <p:spPr bwMode="auto">
          <a:xfrm>
            <a:off x="2857599" y="3613501"/>
            <a:ext cx="1162050" cy="549836"/>
          </a:xfrm>
          <a:prstGeom prst="flowChartProcess">
            <a:avLst/>
          </a:prstGeom>
          <a:solidFill>
            <a:srgbClr val="D1D7C7"/>
          </a:solidFill>
          <a:ln w="9525" algn="ctr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>
            <a:outerShdw dist="17961" dir="2700000" algn="ctr" rotWithShape="0">
              <a:srgbClr val="000000"/>
            </a:outerShdw>
          </a:effectLst>
        </p:spPr>
        <p:txBody>
          <a:bodyPr lIns="72000" tIns="0" rIns="72000" bIns="0" anchor="ctr"/>
          <a:lstStyle/>
          <a:p>
            <a:pPr algn="ctr" defTabSz="979488" latinLnBrk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60000"/>
              <a:buFont typeface="Wingdings" pitchFamily="2" charset="2"/>
              <a:buNone/>
              <a:defRPr/>
            </a:pPr>
            <a:r>
              <a:rPr kumimoji="0" lang="en-US" altLang="ko-KR" sz="1100" b="1" kern="0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SNS page</a:t>
            </a:r>
            <a:endParaRPr kumimoji="0" lang="ko-KR" altLang="en-US" sz="1100" b="1" kern="0" dirty="0">
              <a:solidFill>
                <a:srgbClr val="0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29" name="Rectangle 18"/>
          <p:cNvSpPr>
            <a:spLocks noChangeArrowheads="1"/>
          </p:cNvSpPr>
          <p:nvPr/>
        </p:nvSpPr>
        <p:spPr bwMode="auto">
          <a:xfrm>
            <a:off x="2857599" y="4361440"/>
            <a:ext cx="1162050" cy="549836"/>
          </a:xfrm>
          <a:prstGeom prst="flowChartProcess">
            <a:avLst/>
          </a:prstGeom>
          <a:solidFill>
            <a:srgbClr val="D1D7C7"/>
          </a:solidFill>
          <a:ln w="9525" algn="ctr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>
            <a:outerShdw dist="17961" dir="2700000" algn="ctr" rotWithShape="0">
              <a:srgbClr val="000000"/>
            </a:outerShdw>
          </a:effectLst>
        </p:spPr>
        <p:txBody>
          <a:bodyPr lIns="72000" tIns="0" rIns="72000" bIns="0" anchor="ctr"/>
          <a:lstStyle/>
          <a:p>
            <a:pPr algn="ctr" defTabSz="979488" latinLnBrk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60000"/>
              <a:buFont typeface="Wingdings" pitchFamily="2" charset="2"/>
              <a:buNone/>
              <a:defRPr/>
            </a:pPr>
            <a:r>
              <a:rPr lang="en-US" altLang="ko-KR" sz="1100" b="1" kern="0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Web page</a:t>
            </a:r>
            <a:endParaRPr lang="ko-KR" altLang="en-US" sz="1100" b="1" kern="0" dirty="0">
              <a:solidFill>
                <a:srgbClr val="0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30" name="Rectangle 18"/>
          <p:cNvSpPr>
            <a:spLocks noChangeArrowheads="1"/>
          </p:cNvSpPr>
          <p:nvPr/>
        </p:nvSpPr>
        <p:spPr bwMode="auto">
          <a:xfrm>
            <a:off x="2857599" y="5111400"/>
            <a:ext cx="1162050" cy="549836"/>
          </a:xfrm>
          <a:prstGeom prst="flowChartProcess">
            <a:avLst/>
          </a:prstGeom>
          <a:solidFill>
            <a:srgbClr val="D1D7C7"/>
          </a:solidFill>
          <a:ln w="9525" algn="ctr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>
            <a:outerShdw dist="17961" dir="2700000" algn="ctr" rotWithShape="0">
              <a:srgbClr val="000000"/>
            </a:outerShdw>
          </a:effectLst>
        </p:spPr>
        <p:txBody>
          <a:bodyPr lIns="72000" tIns="0" rIns="72000" bIns="0" anchor="ctr"/>
          <a:lstStyle/>
          <a:p>
            <a:pPr algn="ctr" defTabSz="979488" latinLnBrk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60000"/>
              <a:buFont typeface="Wingdings" pitchFamily="2" charset="2"/>
              <a:buNone/>
              <a:defRPr/>
            </a:pPr>
            <a:r>
              <a:rPr kumimoji="0" lang="en" altLang="ko-KR" sz="1100" b="1" kern="0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XXX</a:t>
            </a:r>
            <a:r>
              <a:rPr kumimoji="0" lang="ko-KR" altLang="en-US" sz="1100" b="1" kern="0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가입</a:t>
            </a:r>
          </a:p>
        </p:txBody>
      </p:sp>
      <p:sp>
        <p:nvSpPr>
          <p:cNvPr id="131" name="자유형 130"/>
          <p:cNvSpPr/>
          <p:nvPr/>
        </p:nvSpPr>
        <p:spPr bwMode="auto">
          <a:xfrm>
            <a:off x="2681386" y="2134443"/>
            <a:ext cx="144463" cy="2028894"/>
          </a:xfrm>
          <a:custGeom>
            <a:avLst/>
            <a:gdLst>
              <a:gd name="connsiteX0" fmla="*/ 282388 w 282388"/>
              <a:gd name="connsiteY0" fmla="*/ 0 h 1600200"/>
              <a:gd name="connsiteX1" fmla="*/ 0 w 282388"/>
              <a:gd name="connsiteY1" fmla="*/ 0 h 1600200"/>
              <a:gd name="connsiteX2" fmla="*/ 0 w 282388"/>
              <a:gd name="connsiteY2" fmla="*/ 1600200 h 1600200"/>
              <a:gd name="connsiteX3" fmla="*/ 242047 w 282388"/>
              <a:gd name="connsiteY3" fmla="*/ 1600200 h 1600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2388" h="1600200">
                <a:moveTo>
                  <a:pt x="282388" y="0"/>
                </a:moveTo>
                <a:lnTo>
                  <a:pt x="0" y="0"/>
                </a:lnTo>
                <a:lnTo>
                  <a:pt x="0" y="1600200"/>
                </a:lnTo>
                <a:lnTo>
                  <a:pt x="242047" y="1600200"/>
                </a:lnTo>
              </a:path>
            </a:pathLst>
          </a:custGeom>
          <a:noFill/>
          <a:ln w="34925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76200" dist="38100" dir="3000000" algn="tl" rotWithShape="0">
              <a:prstClr val="black">
                <a:alpha val="37000"/>
              </a:prstClr>
            </a:outerShdw>
          </a:effectLst>
        </p:spPr>
        <p:txBody>
          <a:bodyPr wrap="none" lIns="36000" tIns="36000" rIns="36000" bIns="36000" anchor="ctr"/>
          <a:lstStyle/>
          <a:p>
            <a:pPr eaLnBrk="0" fontAlgn="t" latinLnBrk="0" hangingPunct="0">
              <a:spcBef>
                <a:spcPct val="50000"/>
              </a:spcBef>
              <a:spcAft>
                <a:spcPct val="5000"/>
              </a:spcAft>
              <a:defRPr/>
            </a:pPr>
            <a:endParaRPr kumimoji="0" lang="ko-KR" altLang="en-US" sz="12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32" name="직사각형 285"/>
          <p:cNvSpPr>
            <a:spLocks noChangeArrowheads="1"/>
          </p:cNvSpPr>
          <p:nvPr/>
        </p:nvSpPr>
        <p:spPr bwMode="auto">
          <a:xfrm>
            <a:off x="1955516" y="2852936"/>
            <a:ext cx="721672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r" eaLnBrk="1" hangingPunct="1"/>
            <a:r>
              <a:rPr kumimoji="0" lang="en-US" altLang="ko-KR" sz="1100" b="1" i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Multi</a:t>
            </a:r>
          </a:p>
          <a:p>
            <a:pPr algn="r" eaLnBrk="1" hangingPunct="1"/>
            <a:r>
              <a:rPr kumimoji="0" lang="en-US" altLang="ko-KR" sz="1100" b="1" i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channel</a:t>
            </a:r>
            <a:endParaRPr kumimoji="0" lang="ko-KR" altLang="en-US" sz="1100" b="1" i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33" name="자유형 132"/>
          <p:cNvSpPr/>
          <p:nvPr/>
        </p:nvSpPr>
        <p:spPr bwMode="auto">
          <a:xfrm>
            <a:off x="2681386" y="4534639"/>
            <a:ext cx="144463" cy="996787"/>
          </a:xfrm>
          <a:custGeom>
            <a:avLst/>
            <a:gdLst>
              <a:gd name="connsiteX0" fmla="*/ 282388 w 282388"/>
              <a:gd name="connsiteY0" fmla="*/ 0 h 1600200"/>
              <a:gd name="connsiteX1" fmla="*/ 0 w 282388"/>
              <a:gd name="connsiteY1" fmla="*/ 0 h 1600200"/>
              <a:gd name="connsiteX2" fmla="*/ 0 w 282388"/>
              <a:gd name="connsiteY2" fmla="*/ 1600200 h 1600200"/>
              <a:gd name="connsiteX3" fmla="*/ 242047 w 282388"/>
              <a:gd name="connsiteY3" fmla="*/ 1600200 h 1600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2388" h="1600200">
                <a:moveTo>
                  <a:pt x="282388" y="0"/>
                </a:moveTo>
                <a:lnTo>
                  <a:pt x="0" y="0"/>
                </a:lnTo>
                <a:lnTo>
                  <a:pt x="0" y="1600200"/>
                </a:lnTo>
                <a:lnTo>
                  <a:pt x="242047" y="1600200"/>
                </a:lnTo>
              </a:path>
            </a:pathLst>
          </a:custGeom>
          <a:noFill/>
          <a:ln w="34925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76200" dist="38100" dir="3000000" algn="tl" rotWithShape="0">
              <a:prstClr val="black">
                <a:alpha val="37000"/>
              </a:prstClr>
            </a:outerShdw>
          </a:effectLst>
        </p:spPr>
        <p:txBody>
          <a:bodyPr wrap="none" lIns="36000" tIns="36000" rIns="36000" bIns="36000" anchor="ctr"/>
          <a:lstStyle/>
          <a:p>
            <a:pPr eaLnBrk="0" fontAlgn="t" latinLnBrk="0" hangingPunct="0">
              <a:spcBef>
                <a:spcPct val="50000"/>
              </a:spcBef>
              <a:spcAft>
                <a:spcPct val="5000"/>
              </a:spcAft>
              <a:defRPr/>
            </a:pPr>
            <a:endParaRPr kumimoji="0" lang="ko-KR" altLang="en-US" sz="12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34" name="직사각형 288"/>
          <p:cNvSpPr>
            <a:spLocks noChangeArrowheads="1"/>
          </p:cNvSpPr>
          <p:nvPr/>
        </p:nvSpPr>
        <p:spPr bwMode="auto">
          <a:xfrm>
            <a:off x="2171921" y="4817588"/>
            <a:ext cx="505267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r" eaLnBrk="1" hangingPunct="1"/>
            <a:r>
              <a:rPr kumimoji="0" lang="en-US" altLang="ko-KR" sz="1100" b="1" i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Web</a:t>
            </a:r>
          </a:p>
          <a:p>
            <a:pPr algn="r" eaLnBrk="1" hangingPunct="1"/>
            <a:r>
              <a:rPr kumimoji="0" lang="en-US" altLang="ko-KR" sz="1100" b="1" i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Page</a:t>
            </a:r>
            <a:endParaRPr kumimoji="0" lang="ko-KR" altLang="en-US" sz="1100" b="1" i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3894526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TextBox 60"/>
          <p:cNvSpPr txBox="1"/>
          <p:nvPr/>
        </p:nvSpPr>
        <p:spPr>
          <a:xfrm>
            <a:off x="144017" y="683985"/>
            <a:ext cx="96335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미래 </a:t>
            </a:r>
            <a:r>
              <a:rPr lang="ko-KR" altLang="en-US" sz="1400" b="1">
                <a:latin typeface="나눔고딕" panose="020D0604000000000000" pitchFamily="50" charset="-127"/>
                <a:ea typeface="나눔고딕" panose="020D0604000000000000" pitchFamily="50" charset="-127"/>
              </a:rPr>
              <a:t>사업으로의 서비스 </a:t>
            </a:r>
            <a:r>
              <a:rPr lang="ko-KR" altLang="en-US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수평 다각화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88504" y="991762"/>
            <a:ext cx="9289032" cy="307777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향후 상품확대와 채널확대를 감안하여 </a:t>
            </a:r>
            <a:r>
              <a:rPr lang="ko-KR" altLang="en-US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수평적 다각화로 접근하여 </a:t>
            </a:r>
            <a:r>
              <a:rPr lang="en-US" altLang="ko-KR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Pool</a:t>
            </a:r>
            <a:r>
              <a:rPr lang="ko-KR" altLang="en-US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을 도출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합니다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144017" y="91339"/>
            <a:ext cx="7401271" cy="385333"/>
          </a:xfrm>
          <a:prstGeom prst="rect">
            <a:avLst/>
          </a:prstGeom>
          <a:noFill/>
        </p:spPr>
        <p:txBody>
          <a:bodyPr wrap="square" lIns="0" tIns="53643" rIns="0" bIns="53643" rtlCol="0">
            <a:spAutoFit/>
          </a:bodyPr>
          <a:lstStyle/>
          <a:p>
            <a:r>
              <a:rPr kumimoji="1" lang="en-US" altLang="ko-KR" b="1" kern="0" dirty="0">
                <a:latin typeface="나눔고딕" panose="020D0604000000000000" pitchFamily="50" charset="-127"/>
                <a:ea typeface="나눔고딕" panose="020D0604000000000000" pitchFamily="50" charset="-127"/>
                <a:cs typeface="산돌고딕 M"/>
              </a:rPr>
              <a:t>Information architecture</a:t>
            </a:r>
            <a:endParaRPr kumimoji="1" lang="ko-KR" altLang="en-US" b="1" kern="0" dirty="0">
              <a:latin typeface="나눔고딕" panose="020D0604000000000000" pitchFamily="50" charset="-127"/>
              <a:ea typeface="나눔고딕" panose="020D0604000000000000" pitchFamily="50" charset="-127"/>
              <a:cs typeface="산돌고딕 M"/>
            </a:endParaRPr>
          </a:p>
        </p:txBody>
      </p:sp>
      <p:sp>
        <p:nvSpPr>
          <p:cNvPr id="66" name="Line 126"/>
          <p:cNvSpPr>
            <a:spLocks noChangeShapeType="1"/>
          </p:cNvSpPr>
          <p:nvPr/>
        </p:nvSpPr>
        <p:spPr bwMode="auto">
          <a:xfrm>
            <a:off x="474493" y="1959161"/>
            <a:ext cx="8999926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36000" tIns="36000" rIns="36000" bIns="36000" anchor="ctr"/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7" name="Text Box 188"/>
          <p:cNvSpPr txBox="1">
            <a:spLocks noChangeArrowheads="1"/>
          </p:cNvSpPr>
          <p:nvPr/>
        </p:nvSpPr>
        <p:spPr bwMode="auto">
          <a:xfrm>
            <a:off x="1138959" y="1654175"/>
            <a:ext cx="7634501" cy="2924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kumimoji="0" lang="ko-KR" altLang="en-US" sz="1300" b="1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사업 서비스 </a:t>
            </a:r>
            <a:r>
              <a:rPr kumimoji="0" lang="ko-KR" altLang="en-US" sz="1300" b="1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수평 다각화</a:t>
            </a:r>
          </a:p>
        </p:txBody>
      </p:sp>
      <p:grpSp>
        <p:nvGrpSpPr>
          <p:cNvPr id="68" name="그룹 68"/>
          <p:cNvGrpSpPr>
            <a:grpSpLocks/>
          </p:cNvGrpSpPr>
          <p:nvPr/>
        </p:nvGrpSpPr>
        <p:grpSpPr bwMode="auto">
          <a:xfrm>
            <a:off x="458788" y="2406650"/>
            <a:ext cx="762000" cy="677863"/>
            <a:chOff x="2841673" y="2145408"/>
            <a:chExt cx="4111400" cy="3618927"/>
          </a:xfrm>
        </p:grpSpPr>
        <p:sp>
          <p:nvSpPr>
            <p:cNvPr id="96" name="Line 216"/>
            <p:cNvSpPr>
              <a:spLocks noChangeShapeType="1"/>
            </p:cNvSpPr>
            <p:nvPr/>
          </p:nvSpPr>
          <p:spPr bwMode="auto">
            <a:xfrm flipV="1">
              <a:off x="4589018" y="2162358"/>
              <a:ext cx="359747" cy="0"/>
            </a:xfrm>
            <a:prstGeom prst="line">
              <a:avLst/>
            </a:prstGeom>
            <a:noFill/>
            <a:ln w="31750">
              <a:solidFill>
                <a:schemeClr val="tx1">
                  <a:lumMod val="65000"/>
                  <a:lumOff val="35000"/>
                </a:schemeClr>
              </a:solidFill>
              <a:prstDash val="sysDot"/>
              <a:round/>
              <a:headEnd/>
              <a:tailEnd/>
            </a:ln>
            <a:effectLst/>
          </p:spPr>
          <p:txBody>
            <a:bodyPr wrap="none" lIns="36000" tIns="36000" rIns="36000" bIns="36000" anchor="ctr"/>
            <a:lstStyle/>
            <a:p>
              <a:pPr algn="ctr" eaLnBrk="0" fontAlgn="t" latinLnBrk="0" hangingPunct="0">
                <a:spcBef>
                  <a:spcPct val="50000"/>
                </a:spcBef>
                <a:spcAft>
                  <a:spcPct val="5000"/>
                </a:spcAft>
                <a:defRPr/>
              </a:pPr>
              <a:endParaRPr kumimoji="0" lang="ko-KR" altLang="en-US" sz="1200" b="1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97" name="정육면체 96"/>
            <p:cNvSpPr/>
            <p:nvPr/>
          </p:nvSpPr>
          <p:spPr>
            <a:xfrm>
              <a:off x="2841673" y="2145408"/>
              <a:ext cx="1721646" cy="3618927"/>
            </a:xfrm>
            <a:prstGeom prst="cube">
              <a:avLst>
                <a:gd name="adj" fmla="val 45657"/>
              </a:avLst>
            </a:prstGeom>
            <a:solidFill>
              <a:schemeClr val="bg1"/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98" name="정육면체 97"/>
            <p:cNvSpPr/>
            <p:nvPr/>
          </p:nvSpPr>
          <p:spPr>
            <a:xfrm>
              <a:off x="4195009" y="2145408"/>
              <a:ext cx="2758064" cy="3618927"/>
            </a:xfrm>
            <a:prstGeom prst="cube">
              <a:avLst>
                <a:gd name="adj" fmla="val 28581"/>
              </a:avLst>
            </a:prstGeom>
            <a:solidFill>
              <a:schemeClr val="bg1"/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cxnSp>
          <p:nvCxnSpPr>
            <p:cNvPr id="99" name="직선 연결선 98"/>
            <p:cNvCxnSpPr/>
            <p:nvPr/>
          </p:nvCxnSpPr>
          <p:spPr>
            <a:xfrm>
              <a:off x="2858804" y="3323468"/>
              <a:ext cx="925065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직선 연결선 99"/>
            <p:cNvCxnSpPr/>
            <p:nvPr/>
          </p:nvCxnSpPr>
          <p:spPr>
            <a:xfrm>
              <a:off x="2858804" y="3823504"/>
              <a:ext cx="925065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직선 연결선 100"/>
            <p:cNvCxnSpPr/>
            <p:nvPr/>
          </p:nvCxnSpPr>
          <p:spPr>
            <a:xfrm>
              <a:off x="2858804" y="4323545"/>
              <a:ext cx="925065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직선 연결선 101"/>
            <p:cNvCxnSpPr/>
            <p:nvPr/>
          </p:nvCxnSpPr>
          <p:spPr>
            <a:xfrm>
              <a:off x="2858804" y="4815109"/>
              <a:ext cx="925065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직선 연결선 102"/>
            <p:cNvCxnSpPr/>
            <p:nvPr/>
          </p:nvCxnSpPr>
          <p:spPr>
            <a:xfrm>
              <a:off x="2858804" y="5315145"/>
              <a:ext cx="925065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직선 연결선 103"/>
            <p:cNvCxnSpPr/>
            <p:nvPr/>
          </p:nvCxnSpPr>
          <p:spPr>
            <a:xfrm>
              <a:off x="4203571" y="3314990"/>
              <a:ext cx="1944352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직선 연결선 104"/>
            <p:cNvCxnSpPr/>
            <p:nvPr/>
          </p:nvCxnSpPr>
          <p:spPr>
            <a:xfrm>
              <a:off x="4203571" y="3815031"/>
              <a:ext cx="1944352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직선 연결선 105"/>
            <p:cNvCxnSpPr/>
            <p:nvPr/>
          </p:nvCxnSpPr>
          <p:spPr>
            <a:xfrm>
              <a:off x="4203571" y="4315067"/>
              <a:ext cx="1944352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직선 연결선 106"/>
            <p:cNvCxnSpPr/>
            <p:nvPr/>
          </p:nvCxnSpPr>
          <p:spPr>
            <a:xfrm>
              <a:off x="4203571" y="4815109"/>
              <a:ext cx="1944352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직선 연결선 107"/>
            <p:cNvCxnSpPr/>
            <p:nvPr/>
          </p:nvCxnSpPr>
          <p:spPr>
            <a:xfrm>
              <a:off x="4203571" y="5315145"/>
              <a:ext cx="1944352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직선 연결선 108"/>
            <p:cNvCxnSpPr/>
            <p:nvPr/>
          </p:nvCxnSpPr>
          <p:spPr>
            <a:xfrm>
              <a:off x="3244245" y="2509845"/>
              <a:ext cx="933633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직선 연결선 109"/>
            <p:cNvCxnSpPr/>
            <p:nvPr/>
          </p:nvCxnSpPr>
          <p:spPr>
            <a:xfrm>
              <a:off x="4614711" y="2509845"/>
              <a:ext cx="1944352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직선 연결선 110"/>
            <p:cNvCxnSpPr>
              <a:stCxn id="98" idx="3"/>
              <a:endCxn id="98" idx="1"/>
            </p:cNvCxnSpPr>
            <p:nvPr/>
          </p:nvCxnSpPr>
          <p:spPr>
            <a:xfrm rot="5400000" flipH="1">
              <a:off x="3751951" y="4336257"/>
              <a:ext cx="2856156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직선 연결선 111"/>
            <p:cNvCxnSpPr>
              <a:stCxn id="98" idx="1"/>
              <a:endCxn id="98" idx="0"/>
            </p:cNvCxnSpPr>
            <p:nvPr/>
          </p:nvCxnSpPr>
          <p:spPr>
            <a:xfrm rot="5400000" flipH="1" flipV="1">
              <a:off x="5192650" y="2132787"/>
              <a:ext cx="762771" cy="788018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3" name="Line 216"/>
            <p:cNvSpPr>
              <a:spLocks noChangeShapeType="1"/>
            </p:cNvSpPr>
            <p:nvPr/>
          </p:nvSpPr>
          <p:spPr bwMode="auto">
            <a:xfrm flipV="1">
              <a:off x="3826693" y="2942080"/>
              <a:ext cx="359747" cy="0"/>
            </a:xfrm>
            <a:prstGeom prst="line">
              <a:avLst/>
            </a:prstGeom>
            <a:noFill/>
            <a:ln w="31750">
              <a:solidFill>
                <a:schemeClr val="tx1">
                  <a:lumMod val="65000"/>
                  <a:lumOff val="35000"/>
                </a:schemeClr>
              </a:solidFill>
              <a:prstDash val="sysDot"/>
              <a:round/>
              <a:headEnd/>
              <a:tailEnd/>
            </a:ln>
            <a:effectLst/>
          </p:spPr>
          <p:txBody>
            <a:bodyPr wrap="none" lIns="36000" tIns="36000" rIns="36000" bIns="36000" anchor="ctr"/>
            <a:lstStyle/>
            <a:p>
              <a:pPr algn="ctr" eaLnBrk="0" fontAlgn="t" latinLnBrk="0" hangingPunct="0">
                <a:spcBef>
                  <a:spcPct val="50000"/>
                </a:spcBef>
                <a:spcAft>
                  <a:spcPct val="5000"/>
                </a:spcAft>
                <a:defRPr/>
              </a:pPr>
              <a:endParaRPr kumimoji="0" lang="ko-KR" altLang="en-US" sz="1200" b="1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14" name="Rectangle 214"/>
            <p:cNvSpPr>
              <a:spLocks noChangeArrowheads="1"/>
            </p:cNvSpPr>
            <p:nvPr/>
          </p:nvSpPr>
          <p:spPr bwMode="auto">
            <a:xfrm>
              <a:off x="4355424" y="3055934"/>
              <a:ext cx="1710553" cy="2703602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 w="28575" algn="ctr">
              <a:noFill/>
              <a:prstDash val="sysDash"/>
              <a:miter lim="800000"/>
              <a:headEnd/>
              <a:tailEnd/>
            </a:ln>
            <a:effectLst/>
          </p:spPr>
          <p:txBody>
            <a:bodyPr wrap="none" lIns="36000" tIns="36000" rIns="36000" bIns="36000" anchor="ctr"/>
            <a:lstStyle/>
            <a:p>
              <a:pPr algn="ctr" eaLnBrk="0" fontAlgn="t" latinLnBrk="0" hangingPunct="0">
                <a:spcBef>
                  <a:spcPct val="50000"/>
                </a:spcBef>
                <a:spcAft>
                  <a:spcPct val="5000"/>
                </a:spcAft>
                <a:defRPr/>
              </a:pPr>
              <a:endParaRPr kumimoji="0" lang="ko-KR" altLang="en-US" sz="1200" b="1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15" name="Line 216"/>
            <p:cNvSpPr>
              <a:spLocks noChangeShapeType="1"/>
            </p:cNvSpPr>
            <p:nvPr/>
          </p:nvSpPr>
          <p:spPr bwMode="auto">
            <a:xfrm flipV="1">
              <a:off x="3809562" y="5755857"/>
              <a:ext cx="359747" cy="0"/>
            </a:xfrm>
            <a:prstGeom prst="line">
              <a:avLst/>
            </a:prstGeom>
            <a:noFill/>
            <a:ln w="31750">
              <a:solidFill>
                <a:schemeClr val="tx1">
                  <a:lumMod val="65000"/>
                  <a:lumOff val="35000"/>
                </a:schemeClr>
              </a:solidFill>
              <a:prstDash val="sysDot"/>
              <a:round/>
              <a:headEnd/>
              <a:tailEnd/>
            </a:ln>
            <a:effectLst/>
          </p:spPr>
          <p:txBody>
            <a:bodyPr wrap="none" lIns="36000" tIns="36000" rIns="36000" bIns="36000" anchor="ctr"/>
            <a:lstStyle/>
            <a:p>
              <a:pPr algn="ctr" eaLnBrk="0" fontAlgn="t" latinLnBrk="0" hangingPunct="0">
                <a:spcBef>
                  <a:spcPct val="50000"/>
                </a:spcBef>
                <a:spcAft>
                  <a:spcPct val="5000"/>
                </a:spcAft>
                <a:defRPr/>
              </a:pPr>
              <a:endParaRPr kumimoji="0" lang="ko-KR" altLang="en-US" sz="1200" b="1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sp>
        <p:nvSpPr>
          <p:cNvPr id="74" name="Line 191"/>
          <p:cNvSpPr>
            <a:spLocks noChangeShapeType="1"/>
          </p:cNvSpPr>
          <p:nvPr/>
        </p:nvSpPr>
        <p:spPr bwMode="auto">
          <a:xfrm flipH="1" flipV="1">
            <a:off x="1858881" y="2237462"/>
            <a:ext cx="1" cy="3495838"/>
          </a:xfrm>
          <a:prstGeom prst="line">
            <a:avLst/>
          </a:prstGeom>
          <a:noFill/>
          <a:ln w="38100">
            <a:solidFill>
              <a:srgbClr val="B2B2B2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36000" tIns="36000" rIns="36000" bIns="36000" anchor="ctr"/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5" name="직사각형 321"/>
          <p:cNvSpPr>
            <a:spLocks noChangeArrowheads="1"/>
          </p:cNvSpPr>
          <p:nvPr/>
        </p:nvSpPr>
        <p:spPr bwMode="auto">
          <a:xfrm rot="16200000">
            <a:off x="1189744" y="3810282"/>
            <a:ext cx="1045478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/>
            <a:r>
              <a:rPr kumimoji="0" lang="en-US" altLang="ko-KR" sz="1100" b="1" i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Web Services</a:t>
            </a:r>
          </a:p>
        </p:txBody>
      </p:sp>
      <p:cxnSp>
        <p:nvCxnSpPr>
          <p:cNvPr id="86" name="직선 연결선 85"/>
          <p:cNvCxnSpPr/>
          <p:nvPr/>
        </p:nvCxnSpPr>
        <p:spPr bwMode="auto">
          <a:xfrm flipV="1">
            <a:off x="1247775" y="2089150"/>
            <a:ext cx="420688" cy="276225"/>
          </a:xfrm>
          <a:prstGeom prst="line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직선 연결선 86"/>
          <p:cNvCxnSpPr/>
          <p:nvPr/>
        </p:nvCxnSpPr>
        <p:spPr bwMode="auto">
          <a:xfrm rot="16200000" flipH="1">
            <a:off x="-110331" y="4463256"/>
            <a:ext cx="2962275" cy="449263"/>
          </a:xfrm>
          <a:prstGeom prst="line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6" name="Rectangle 18"/>
          <p:cNvSpPr>
            <a:spLocks noChangeArrowheads="1"/>
          </p:cNvSpPr>
          <p:nvPr/>
        </p:nvSpPr>
        <p:spPr bwMode="auto">
          <a:xfrm>
            <a:off x="2857599" y="2115604"/>
            <a:ext cx="1162050" cy="549836"/>
          </a:xfrm>
          <a:prstGeom prst="flowChartProcess">
            <a:avLst/>
          </a:prstGeom>
          <a:solidFill>
            <a:srgbClr val="D1D7C7"/>
          </a:solidFill>
          <a:ln w="9525" algn="ctr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>
            <a:outerShdw dist="17961" dir="2700000" algn="ctr" rotWithShape="0">
              <a:srgbClr val="000000"/>
            </a:outerShdw>
          </a:effectLst>
        </p:spPr>
        <p:txBody>
          <a:bodyPr lIns="72000" tIns="0" rIns="72000" bIns="0" anchor="ctr"/>
          <a:lstStyle/>
          <a:p>
            <a:pPr algn="ctr" defTabSz="979488" latinLnBrk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60000"/>
              <a:buFont typeface="Wingdings" pitchFamily="2" charset="2"/>
              <a:buNone/>
              <a:defRPr/>
            </a:pPr>
            <a:r>
              <a:rPr lang="en-US" altLang="ko-KR" sz="1100" b="1" kern="0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Landing page</a:t>
            </a:r>
          </a:p>
        </p:txBody>
      </p:sp>
      <p:sp>
        <p:nvSpPr>
          <p:cNvPr id="127" name="Rectangle 18"/>
          <p:cNvSpPr>
            <a:spLocks noChangeArrowheads="1"/>
          </p:cNvSpPr>
          <p:nvPr/>
        </p:nvSpPr>
        <p:spPr bwMode="auto">
          <a:xfrm>
            <a:off x="2857599" y="2863542"/>
            <a:ext cx="1162050" cy="549836"/>
          </a:xfrm>
          <a:prstGeom prst="flowChartProcess">
            <a:avLst/>
          </a:prstGeom>
          <a:solidFill>
            <a:srgbClr val="D1D7C7"/>
          </a:solidFill>
          <a:ln w="9525" algn="ctr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>
            <a:outerShdw dist="17961" dir="2700000" algn="ctr" rotWithShape="0">
              <a:srgbClr val="000000"/>
            </a:outerShdw>
          </a:effectLst>
        </p:spPr>
        <p:txBody>
          <a:bodyPr lIns="72000" tIns="0" rIns="72000" bIns="0" anchor="ctr"/>
          <a:lstStyle/>
          <a:p>
            <a:pPr algn="ctr" defTabSz="979488" latinLnBrk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60000"/>
              <a:buFont typeface="Wingdings" pitchFamily="2" charset="2"/>
              <a:buNone/>
              <a:defRPr/>
            </a:pPr>
            <a:r>
              <a:rPr lang="en-US" altLang="ko-KR" sz="1050" b="1" kern="0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Needs Response</a:t>
            </a:r>
          </a:p>
          <a:p>
            <a:pPr algn="ctr" defTabSz="979488" latinLnBrk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60000"/>
              <a:buFont typeface="Wingdings" pitchFamily="2" charset="2"/>
              <a:buNone/>
              <a:defRPr/>
            </a:pPr>
            <a:r>
              <a:rPr lang="en-US" altLang="ko-KR" sz="1050" b="1" kern="0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Interface</a:t>
            </a:r>
          </a:p>
        </p:txBody>
      </p:sp>
      <p:sp>
        <p:nvSpPr>
          <p:cNvPr id="128" name="Rectangle 18"/>
          <p:cNvSpPr>
            <a:spLocks noChangeArrowheads="1"/>
          </p:cNvSpPr>
          <p:nvPr/>
        </p:nvSpPr>
        <p:spPr bwMode="auto">
          <a:xfrm>
            <a:off x="2857599" y="3613501"/>
            <a:ext cx="1162050" cy="549836"/>
          </a:xfrm>
          <a:prstGeom prst="flowChartProcess">
            <a:avLst/>
          </a:prstGeom>
          <a:solidFill>
            <a:srgbClr val="D1D7C7"/>
          </a:solidFill>
          <a:ln w="9525" algn="ctr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>
            <a:outerShdw dist="17961" dir="2700000" algn="ctr" rotWithShape="0">
              <a:srgbClr val="000000"/>
            </a:outerShdw>
          </a:effectLst>
        </p:spPr>
        <p:txBody>
          <a:bodyPr lIns="72000" tIns="0" rIns="72000" bIns="0" anchor="ctr"/>
          <a:lstStyle/>
          <a:p>
            <a:pPr algn="ctr" defTabSz="979488" latinLnBrk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60000"/>
              <a:buFont typeface="Wingdings" pitchFamily="2" charset="2"/>
              <a:buNone/>
              <a:defRPr/>
            </a:pPr>
            <a:r>
              <a:rPr kumimoji="0" lang="en-US" altLang="ko-KR" sz="1100" b="1" kern="0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SNS page</a:t>
            </a:r>
            <a:endParaRPr kumimoji="0" lang="ko-KR" altLang="en-US" sz="1100" b="1" kern="0" dirty="0">
              <a:solidFill>
                <a:srgbClr val="0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29" name="Rectangle 18"/>
          <p:cNvSpPr>
            <a:spLocks noChangeArrowheads="1"/>
          </p:cNvSpPr>
          <p:nvPr/>
        </p:nvSpPr>
        <p:spPr bwMode="auto">
          <a:xfrm>
            <a:off x="2857599" y="4361440"/>
            <a:ext cx="1162050" cy="549836"/>
          </a:xfrm>
          <a:prstGeom prst="flowChartProcess">
            <a:avLst/>
          </a:prstGeom>
          <a:solidFill>
            <a:srgbClr val="D1D7C7"/>
          </a:solidFill>
          <a:ln w="9525" algn="ctr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>
            <a:outerShdw dist="17961" dir="2700000" algn="ctr" rotWithShape="0">
              <a:srgbClr val="000000"/>
            </a:outerShdw>
          </a:effectLst>
        </p:spPr>
        <p:txBody>
          <a:bodyPr lIns="72000" tIns="0" rIns="72000" bIns="0" anchor="ctr"/>
          <a:lstStyle/>
          <a:p>
            <a:pPr algn="ctr" defTabSz="979488" latinLnBrk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60000"/>
              <a:buFont typeface="Wingdings" pitchFamily="2" charset="2"/>
              <a:buNone/>
              <a:defRPr/>
            </a:pPr>
            <a:r>
              <a:rPr lang="en-US" altLang="ko-KR" sz="1100" b="1" kern="0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Web page</a:t>
            </a:r>
            <a:endParaRPr lang="ko-KR" altLang="en-US" sz="1100" b="1" kern="0" dirty="0">
              <a:solidFill>
                <a:srgbClr val="0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30" name="Rectangle 18"/>
          <p:cNvSpPr>
            <a:spLocks noChangeArrowheads="1"/>
          </p:cNvSpPr>
          <p:nvPr/>
        </p:nvSpPr>
        <p:spPr bwMode="auto">
          <a:xfrm>
            <a:off x="2857599" y="5111400"/>
            <a:ext cx="1162050" cy="549836"/>
          </a:xfrm>
          <a:prstGeom prst="flowChartProcess">
            <a:avLst/>
          </a:prstGeom>
          <a:solidFill>
            <a:srgbClr val="D1D7C7"/>
          </a:solidFill>
          <a:ln w="9525" algn="ctr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>
            <a:outerShdw dist="17961" dir="2700000" algn="ctr" rotWithShape="0">
              <a:srgbClr val="000000"/>
            </a:outerShdw>
          </a:effectLst>
        </p:spPr>
        <p:txBody>
          <a:bodyPr lIns="72000" tIns="0" rIns="72000" bIns="0" anchor="ctr"/>
          <a:lstStyle/>
          <a:p>
            <a:pPr algn="ctr" defTabSz="979488" latinLnBrk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60000"/>
              <a:buFont typeface="Wingdings" pitchFamily="2" charset="2"/>
              <a:buNone/>
              <a:defRPr/>
            </a:pPr>
            <a:r>
              <a:rPr kumimoji="0" lang="en" altLang="ko-KR" sz="1100" b="1" kern="0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XXX</a:t>
            </a:r>
            <a:r>
              <a:rPr kumimoji="0" lang="ko-KR" altLang="en-US" sz="1100" b="1" kern="0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가입</a:t>
            </a:r>
          </a:p>
        </p:txBody>
      </p:sp>
      <p:sp>
        <p:nvSpPr>
          <p:cNvPr id="131" name="자유형 130"/>
          <p:cNvSpPr/>
          <p:nvPr/>
        </p:nvSpPr>
        <p:spPr bwMode="auto">
          <a:xfrm>
            <a:off x="2681386" y="2134443"/>
            <a:ext cx="144463" cy="2028894"/>
          </a:xfrm>
          <a:custGeom>
            <a:avLst/>
            <a:gdLst>
              <a:gd name="connsiteX0" fmla="*/ 282388 w 282388"/>
              <a:gd name="connsiteY0" fmla="*/ 0 h 1600200"/>
              <a:gd name="connsiteX1" fmla="*/ 0 w 282388"/>
              <a:gd name="connsiteY1" fmla="*/ 0 h 1600200"/>
              <a:gd name="connsiteX2" fmla="*/ 0 w 282388"/>
              <a:gd name="connsiteY2" fmla="*/ 1600200 h 1600200"/>
              <a:gd name="connsiteX3" fmla="*/ 242047 w 282388"/>
              <a:gd name="connsiteY3" fmla="*/ 1600200 h 1600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2388" h="1600200">
                <a:moveTo>
                  <a:pt x="282388" y="0"/>
                </a:moveTo>
                <a:lnTo>
                  <a:pt x="0" y="0"/>
                </a:lnTo>
                <a:lnTo>
                  <a:pt x="0" y="1600200"/>
                </a:lnTo>
                <a:lnTo>
                  <a:pt x="242047" y="1600200"/>
                </a:lnTo>
              </a:path>
            </a:pathLst>
          </a:custGeom>
          <a:noFill/>
          <a:ln w="34925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76200" dist="38100" dir="3000000" algn="tl" rotWithShape="0">
              <a:prstClr val="black">
                <a:alpha val="37000"/>
              </a:prstClr>
            </a:outerShdw>
          </a:effectLst>
        </p:spPr>
        <p:txBody>
          <a:bodyPr wrap="none" lIns="36000" tIns="36000" rIns="36000" bIns="36000" anchor="ctr"/>
          <a:lstStyle/>
          <a:p>
            <a:pPr eaLnBrk="0" fontAlgn="t" latinLnBrk="0" hangingPunct="0">
              <a:spcBef>
                <a:spcPct val="50000"/>
              </a:spcBef>
              <a:spcAft>
                <a:spcPct val="5000"/>
              </a:spcAft>
              <a:defRPr/>
            </a:pPr>
            <a:endParaRPr kumimoji="0" lang="ko-KR" altLang="en-US" sz="12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32" name="직사각형 285"/>
          <p:cNvSpPr>
            <a:spLocks noChangeArrowheads="1"/>
          </p:cNvSpPr>
          <p:nvPr/>
        </p:nvSpPr>
        <p:spPr bwMode="auto">
          <a:xfrm>
            <a:off x="1955516" y="2852936"/>
            <a:ext cx="721672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r" eaLnBrk="1" hangingPunct="1"/>
            <a:r>
              <a:rPr kumimoji="0" lang="en-US" altLang="ko-KR" sz="1100" b="1" i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Multi</a:t>
            </a:r>
          </a:p>
          <a:p>
            <a:pPr algn="r" eaLnBrk="1" hangingPunct="1"/>
            <a:r>
              <a:rPr kumimoji="0" lang="en-US" altLang="ko-KR" sz="1100" b="1" i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channel</a:t>
            </a:r>
            <a:endParaRPr kumimoji="0" lang="ko-KR" altLang="en-US" sz="1100" b="1" i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33" name="자유형 132"/>
          <p:cNvSpPr/>
          <p:nvPr/>
        </p:nvSpPr>
        <p:spPr bwMode="auto">
          <a:xfrm>
            <a:off x="2681386" y="4534639"/>
            <a:ext cx="144463" cy="996787"/>
          </a:xfrm>
          <a:custGeom>
            <a:avLst/>
            <a:gdLst>
              <a:gd name="connsiteX0" fmla="*/ 282388 w 282388"/>
              <a:gd name="connsiteY0" fmla="*/ 0 h 1600200"/>
              <a:gd name="connsiteX1" fmla="*/ 0 w 282388"/>
              <a:gd name="connsiteY1" fmla="*/ 0 h 1600200"/>
              <a:gd name="connsiteX2" fmla="*/ 0 w 282388"/>
              <a:gd name="connsiteY2" fmla="*/ 1600200 h 1600200"/>
              <a:gd name="connsiteX3" fmla="*/ 242047 w 282388"/>
              <a:gd name="connsiteY3" fmla="*/ 1600200 h 1600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2388" h="1600200">
                <a:moveTo>
                  <a:pt x="282388" y="0"/>
                </a:moveTo>
                <a:lnTo>
                  <a:pt x="0" y="0"/>
                </a:lnTo>
                <a:lnTo>
                  <a:pt x="0" y="1600200"/>
                </a:lnTo>
                <a:lnTo>
                  <a:pt x="242047" y="1600200"/>
                </a:lnTo>
              </a:path>
            </a:pathLst>
          </a:custGeom>
          <a:noFill/>
          <a:ln w="34925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76200" dist="38100" dir="3000000" algn="tl" rotWithShape="0">
              <a:prstClr val="black">
                <a:alpha val="37000"/>
              </a:prstClr>
            </a:outerShdw>
          </a:effectLst>
        </p:spPr>
        <p:txBody>
          <a:bodyPr wrap="none" lIns="36000" tIns="36000" rIns="36000" bIns="36000" anchor="ctr"/>
          <a:lstStyle/>
          <a:p>
            <a:pPr eaLnBrk="0" fontAlgn="t" latinLnBrk="0" hangingPunct="0">
              <a:spcBef>
                <a:spcPct val="50000"/>
              </a:spcBef>
              <a:spcAft>
                <a:spcPct val="5000"/>
              </a:spcAft>
              <a:defRPr/>
            </a:pPr>
            <a:endParaRPr kumimoji="0" lang="ko-KR" altLang="en-US" sz="12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34" name="직사각형 288"/>
          <p:cNvSpPr>
            <a:spLocks noChangeArrowheads="1"/>
          </p:cNvSpPr>
          <p:nvPr/>
        </p:nvSpPr>
        <p:spPr bwMode="auto">
          <a:xfrm>
            <a:off x="2171921" y="4817588"/>
            <a:ext cx="505267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r" eaLnBrk="1" hangingPunct="1"/>
            <a:r>
              <a:rPr kumimoji="0" lang="en-US" altLang="ko-KR" sz="1100" b="1" i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Web</a:t>
            </a:r>
          </a:p>
          <a:p>
            <a:pPr algn="r" eaLnBrk="1" hangingPunct="1"/>
            <a:r>
              <a:rPr kumimoji="0" lang="en-US" altLang="ko-KR" sz="1100" b="1" i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Page</a:t>
            </a:r>
            <a:endParaRPr kumimoji="0" lang="ko-KR" altLang="en-US" sz="1100" b="1" i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6" name="Rectangle 18"/>
          <p:cNvSpPr>
            <a:spLocks noChangeArrowheads="1"/>
          </p:cNvSpPr>
          <p:nvPr/>
        </p:nvSpPr>
        <p:spPr bwMode="auto">
          <a:xfrm>
            <a:off x="4151313" y="5764213"/>
            <a:ext cx="2592387" cy="392112"/>
          </a:xfrm>
          <a:prstGeom prst="flowChartProcess">
            <a:avLst/>
          </a:prstGeom>
          <a:pattFill prst="ltUpDiag">
            <a:fgClr>
              <a:srgbClr val="C0C0C0"/>
            </a:fgClr>
            <a:bgClr>
              <a:srgbClr val="FFFFFF"/>
            </a:bgClr>
          </a:pattFill>
          <a:ln w="9525" algn="ctr">
            <a:solidFill>
              <a:schemeClr val="tx1">
                <a:lumMod val="75000"/>
                <a:lumOff val="25000"/>
              </a:schemeClr>
            </a:solidFill>
            <a:prstDash val="dash"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36000" tIns="18000" rIns="18000" bIns="36000" anchor="ctr" anchorCtr="1"/>
          <a:lstStyle/>
          <a:p>
            <a:pPr marL="100013" indent="-100013">
              <a:lnSpc>
                <a:spcPct val="110000"/>
              </a:lnSpc>
              <a:spcBef>
                <a:spcPct val="10000"/>
              </a:spcBef>
              <a:spcAft>
                <a:spcPts val="0"/>
              </a:spcAft>
              <a:buClr>
                <a:srgbClr val="000000"/>
              </a:buClr>
              <a:buSzPct val="65000"/>
              <a:defRPr/>
            </a:pPr>
            <a:r>
              <a:rPr kumimoji="0" lang="ko-KR" altLang="en-US" sz="1100" b="1" kern="0" dirty="0">
                <a:solidFill>
                  <a:sysClr val="windowText" lastClr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상품정보</a:t>
            </a:r>
            <a:endParaRPr kumimoji="0" lang="en-US" altLang="ko-KR" sz="1100" b="1" kern="0" dirty="0">
              <a:solidFill>
                <a:sysClr val="windowText" lastClr="0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7" name="Rectangle 18"/>
          <p:cNvSpPr>
            <a:spLocks noChangeArrowheads="1"/>
          </p:cNvSpPr>
          <p:nvPr/>
        </p:nvSpPr>
        <p:spPr bwMode="auto">
          <a:xfrm>
            <a:off x="4151313" y="2116138"/>
            <a:ext cx="2592387" cy="612775"/>
          </a:xfrm>
          <a:prstGeom prst="flowChartProcess">
            <a:avLst/>
          </a:prstGeom>
          <a:solidFill>
            <a:schemeClr val="bg1"/>
          </a:solidFill>
          <a:ln w="9525" algn="ctr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/>
        </p:spPr>
        <p:txBody>
          <a:bodyPr lIns="72000" tIns="0" rIns="72000" bIns="0" anchor="ctr"/>
          <a:lstStyle/>
          <a:p>
            <a:pPr algn="ctr" defTabSz="979488" latinLnBrk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60000"/>
              <a:buFont typeface="Wingdings" pitchFamily="2" charset="2"/>
              <a:buNone/>
              <a:defRPr/>
            </a:pPr>
            <a:endParaRPr kumimoji="0" lang="ko-KR" altLang="en-US" sz="1100" b="1" kern="0" dirty="0">
              <a:solidFill>
                <a:srgbClr val="0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8" name="Rectangle 18"/>
          <p:cNvSpPr>
            <a:spLocks noChangeArrowheads="1"/>
          </p:cNvSpPr>
          <p:nvPr/>
        </p:nvSpPr>
        <p:spPr bwMode="auto">
          <a:xfrm>
            <a:off x="4151313" y="2854325"/>
            <a:ext cx="2592387" cy="611188"/>
          </a:xfrm>
          <a:prstGeom prst="flowChartProcess">
            <a:avLst/>
          </a:prstGeom>
          <a:solidFill>
            <a:schemeClr val="bg1"/>
          </a:solidFill>
          <a:ln w="9525" algn="ctr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/>
        </p:spPr>
        <p:txBody>
          <a:bodyPr lIns="72000" tIns="0" rIns="72000" bIns="0" anchor="ctr"/>
          <a:lstStyle/>
          <a:p>
            <a:pPr algn="ctr" defTabSz="979488" latinLnBrk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60000"/>
              <a:buFont typeface="Wingdings" pitchFamily="2" charset="2"/>
              <a:buNone/>
              <a:defRPr/>
            </a:pPr>
            <a:endParaRPr kumimoji="0" lang="ko-KR" altLang="en-US" sz="1100" b="1" kern="0" dirty="0">
              <a:solidFill>
                <a:srgbClr val="0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9" name="Rectangle 18"/>
          <p:cNvSpPr>
            <a:spLocks noChangeArrowheads="1"/>
          </p:cNvSpPr>
          <p:nvPr/>
        </p:nvSpPr>
        <p:spPr bwMode="auto">
          <a:xfrm>
            <a:off x="4151313" y="3592513"/>
            <a:ext cx="2592387" cy="611187"/>
          </a:xfrm>
          <a:prstGeom prst="flowChartProcess">
            <a:avLst/>
          </a:prstGeom>
          <a:solidFill>
            <a:schemeClr val="bg1"/>
          </a:solidFill>
          <a:ln w="9525" algn="ctr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/>
        </p:spPr>
        <p:txBody>
          <a:bodyPr lIns="72000" tIns="0" rIns="72000" bIns="0" anchor="ctr"/>
          <a:lstStyle/>
          <a:p>
            <a:pPr algn="ctr" defTabSz="979488" latinLnBrk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60000"/>
              <a:buFont typeface="Wingdings" pitchFamily="2" charset="2"/>
              <a:buNone/>
              <a:defRPr/>
            </a:pPr>
            <a:endParaRPr kumimoji="0" lang="ko-KR" altLang="en-US" sz="1100" b="1" kern="0" dirty="0">
              <a:solidFill>
                <a:srgbClr val="0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0" name="Rectangle 18"/>
          <p:cNvSpPr>
            <a:spLocks noChangeArrowheads="1"/>
          </p:cNvSpPr>
          <p:nvPr/>
        </p:nvSpPr>
        <p:spPr bwMode="auto">
          <a:xfrm>
            <a:off x="4151313" y="4329113"/>
            <a:ext cx="2592387" cy="612775"/>
          </a:xfrm>
          <a:prstGeom prst="flowChartProcess">
            <a:avLst/>
          </a:prstGeom>
          <a:solidFill>
            <a:schemeClr val="bg1"/>
          </a:solidFill>
          <a:ln w="9525" algn="ctr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/>
        </p:spPr>
        <p:txBody>
          <a:bodyPr lIns="72000" tIns="0" rIns="72000" bIns="0" anchor="ctr"/>
          <a:lstStyle/>
          <a:p>
            <a:pPr algn="ctr" defTabSz="979488" latinLnBrk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60000"/>
              <a:buFont typeface="Wingdings" pitchFamily="2" charset="2"/>
              <a:buNone/>
              <a:defRPr/>
            </a:pPr>
            <a:endParaRPr kumimoji="0" lang="ko-KR" altLang="en-US" sz="1100" b="1" kern="0" dirty="0">
              <a:solidFill>
                <a:srgbClr val="0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4" name="Rectangle 18"/>
          <p:cNvSpPr>
            <a:spLocks noChangeArrowheads="1"/>
          </p:cNvSpPr>
          <p:nvPr/>
        </p:nvSpPr>
        <p:spPr bwMode="auto">
          <a:xfrm>
            <a:off x="4151313" y="5067300"/>
            <a:ext cx="2592387" cy="611188"/>
          </a:xfrm>
          <a:prstGeom prst="flowChartProcess">
            <a:avLst/>
          </a:prstGeom>
          <a:solidFill>
            <a:schemeClr val="bg1"/>
          </a:solidFill>
          <a:ln w="9525" algn="ctr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/>
        </p:spPr>
        <p:txBody>
          <a:bodyPr lIns="72000" tIns="0" rIns="72000" bIns="0" anchor="ctr"/>
          <a:lstStyle/>
          <a:p>
            <a:pPr algn="ctr" defTabSz="979488" latinLnBrk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60000"/>
              <a:buFont typeface="Wingdings" pitchFamily="2" charset="2"/>
              <a:buNone/>
              <a:defRPr/>
            </a:pPr>
            <a:endParaRPr kumimoji="0" lang="ko-KR" altLang="en-US" sz="1100" b="1" kern="0" dirty="0">
              <a:solidFill>
                <a:srgbClr val="0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0" name="Text Box 8"/>
          <p:cNvSpPr txBox="1">
            <a:spLocks noChangeArrowheads="1"/>
          </p:cNvSpPr>
          <p:nvPr/>
        </p:nvSpPr>
        <p:spPr bwMode="auto">
          <a:xfrm>
            <a:off x="4174032" y="2305276"/>
            <a:ext cx="2569668" cy="2266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36000" tIns="36000" rIns="36000" bIns="36000">
            <a:spAutoFit/>
          </a:bodyPr>
          <a:lstStyle>
            <a:lvl1pPr marL="84138" indent="-84138" defTabSz="9398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defTabSz="9398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defTabSz="9398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defTabSz="9398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defTabSz="9398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fontAlgn="b" latinLnBrk="0">
              <a:spcAft>
                <a:spcPts val="300"/>
              </a:spcAft>
              <a:buFont typeface="Arial" pitchFamily="34" charset="0"/>
              <a:buChar char="•"/>
            </a:pPr>
            <a:r>
              <a:rPr kumimoji="0"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상품에 대한 정보 노출</a:t>
            </a:r>
            <a:endParaRPr kumimoji="0"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1" name="Text Box 8"/>
          <p:cNvSpPr txBox="1">
            <a:spLocks noChangeArrowheads="1"/>
          </p:cNvSpPr>
          <p:nvPr/>
        </p:nvSpPr>
        <p:spPr bwMode="auto">
          <a:xfrm>
            <a:off x="4174032" y="3058393"/>
            <a:ext cx="2589704" cy="2265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0" tIns="36000" rIns="36000" bIns="36000">
            <a:spAutoFit/>
          </a:bodyPr>
          <a:lstStyle>
            <a:lvl1pPr marL="84138" indent="-84138" defTabSz="9398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defTabSz="9398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defTabSz="9398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defTabSz="9398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defTabSz="9398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fontAlgn="b" latinLnBrk="0">
              <a:spcAft>
                <a:spcPts val="300"/>
              </a:spcAft>
              <a:buFont typeface="Arial" pitchFamily="34" charset="0"/>
              <a:buChar char="•"/>
            </a:pPr>
            <a:r>
              <a:rPr kumimoji="0"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사용자의 </a:t>
            </a:r>
            <a:r>
              <a:rPr kumimoji="0"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Needs </a:t>
            </a:r>
            <a:r>
              <a:rPr kumimoji="0"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에 반응하여 상품정보 노출</a:t>
            </a:r>
            <a:endParaRPr kumimoji="0"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2" name="Text Box 8"/>
          <p:cNvSpPr txBox="1">
            <a:spLocks noChangeArrowheads="1"/>
          </p:cNvSpPr>
          <p:nvPr/>
        </p:nvSpPr>
        <p:spPr bwMode="auto">
          <a:xfrm>
            <a:off x="4174032" y="3779921"/>
            <a:ext cx="2560674" cy="2266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36000" tIns="36000" rIns="36000" bIns="36000">
            <a:spAutoFit/>
          </a:bodyPr>
          <a:lstStyle>
            <a:lvl1pPr marL="84138" indent="-84138" defTabSz="9398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defTabSz="9398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defTabSz="9398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defTabSz="9398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defTabSz="9398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fontAlgn="b" latinLnBrk="0">
              <a:spcAft>
                <a:spcPts val="300"/>
              </a:spcAft>
              <a:buFont typeface="Arial" pitchFamily="34" charset="0"/>
              <a:buChar char="•"/>
            </a:pPr>
            <a:r>
              <a:rPr kumimoji="0"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상품과 관련된 정보 노출</a:t>
            </a:r>
            <a:endParaRPr kumimoji="0"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3" name="Text Box 8"/>
          <p:cNvSpPr txBox="1">
            <a:spLocks noChangeArrowheads="1"/>
          </p:cNvSpPr>
          <p:nvPr/>
        </p:nvSpPr>
        <p:spPr bwMode="auto">
          <a:xfrm>
            <a:off x="4174032" y="4433474"/>
            <a:ext cx="2560674" cy="4189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0" tIns="36000" rIns="36000" bIns="36000">
            <a:spAutoFit/>
          </a:bodyPr>
          <a:lstStyle>
            <a:lvl1pPr marL="84138" indent="-84138" defTabSz="9398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defTabSz="9398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defTabSz="9398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defTabSz="9398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defTabSz="9398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fontAlgn="b" latinLnBrk="0">
              <a:spcAft>
                <a:spcPts val="300"/>
              </a:spcAft>
              <a:buFont typeface="Arial" pitchFamily="34" charset="0"/>
              <a:buChar char="•"/>
            </a:pPr>
            <a:r>
              <a:rPr kumimoji="0"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사용자 유입으로 인한 상품정보 연계</a:t>
            </a:r>
            <a:endParaRPr kumimoji="0"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eaLnBrk="1" fontAlgn="b" latinLnBrk="0">
              <a:spcAft>
                <a:spcPts val="300"/>
              </a:spcAft>
              <a:buFont typeface="Arial" pitchFamily="34" charset="0"/>
              <a:buChar char="•"/>
            </a:pPr>
            <a:r>
              <a:rPr kumimoji="0"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다채널 유입으로 인한 정보 연계</a:t>
            </a:r>
            <a:endParaRPr kumimoji="0"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1" name="Text Box 8"/>
          <p:cNvSpPr txBox="1">
            <a:spLocks noChangeArrowheads="1"/>
          </p:cNvSpPr>
          <p:nvPr/>
        </p:nvSpPr>
        <p:spPr bwMode="auto">
          <a:xfrm>
            <a:off x="4174032" y="5255302"/>
            <a:ext cx="1820391" cy="2266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0" tIns="36000" rIns="36000" bIns="36000">
            <a:spAutoFit/>
          </a:bodyPr>
          <a:lstStyle>
            <a:lvl1pPr marL="84138" indent="-84138" defTabSz="9398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defTabSz="9398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defTabSz="9398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defTabSz="9398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defTabSz="9398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fontAlgn="b" latinLnBrk="0">
              <a:spcAft>
                <a:spcPts val="300"/>
              </a:spcAft>
              <a:buFont typeface="Arial" pitchFamily="34" charset="0"/>
              <a:buChar char="•"/>
            </a:pPr>
            <a:r>
              <a:rPr kumimoji="0" lang="en-US" altLang="ko-KR" sz="1000">
                <a:latin typeface="나눔고딕" panose="020D0604000000000000" pitchFamily="50" charset="-127"/>
                <a:ea typeface="나눔고딕" panose="020D0604000000000000" pitchFamily="50" charset="-127"/>
              </a:rPr>
              <a:t>N/A</a:t>
            </a:r>
          </a:p>
        </p:txBody>
      </p:sp>
      <p:sp>
        <p:nvSpPr>
          <p:cNvPr id="92" name="Line 191"/>
          <p:cNvSpPr>
            <a:spLocks noChangeShapeType="1"/>
          </p:cNvSpPr>
          <p:nvPr/>
        </p:nvSpPr>
        <p:spPr bwMode="auto">
          <a:xfrm flipH="1">
            <a:off x="4176851" y="6299312"/>
            <a:ext cx="5301255" cy="0"/>
          </a:xfrm>
          <a:prstGeom prst="line">
            <a:avLst/>
          </a:prstGeom>
          <a:noFill/>
          <a:ln w="38100">
            <a:solidFill>
              <a:srgbClr val="B2B2B2"/>
            </a:solidFill>
            <a:round/>
            <a:headEnd type="triangle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36000" tIns="36000" rIns="36000" bIns="36000" anchor="ctr"/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3" name="직사각형 101"/>
          <p:cNvSpPr>
            <a:spLocks noChangeArrowheads="1"/>
          </p:cNvSpPr>
          <p:nvPr/>
        </p:nvSpPr>
        <p:spPr bwMode="auto">
          <a:xfrm>
            <a:off x="5882448" y="6329174"/>
            <a:ext cx="1890060" cy="2462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/>
            <a:r>
              <a:rPr kumimoji="0" lang="en-US" altLang="ko-KR" sz="1000" b="1" i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Policy</a:t>
            </a:r>
          </a:p>
        </p:txBody>
      </p:sp>
      <p:sp>
        <p:nvSpPr>
          <p:cNvPr id="94" name="Rectangle 18"/>
          <p:cNvSpPr>
            <a:spLocks noChangeArrowheads="1"/>
          </p:cNvSpPr>
          <p:nvPr/>
        </p:nvSpPr>
        <p:spPr bwMode="auto">
          <a:xfrm>
            <a:off x="6862763" y="5764213"/>
            <a:ext cx="2592387" cy="392112"/>
          </a:xfrm>
          <a:prstGeom prst="flowChartProcess">
            <a:avLst/>
          </a:prstGeom>
          <a:pattFill prst="ltUpDiag">
            <a:fgClr>
              <a:srgbClr val="C0C0C0"/>
            </a:fgClr>
            <a:bgClr>
              <a:srgbClr val="FFFFFF"/>
            </a:bgClr>
          </a:pattFill>
          <a:ln w="9525" algn="ctr">
            <a:solidFill>
              <a:schemeClr val="tx1">
                <a:lumMod val="75000"/>
                <a:lumOff val="25000"/>
              </a:schemeClr>
            </a:solidFill>
            <a:prstDash val="dash"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36000" tIns="18000" rIns="18000" bIns="36000" anchor="ctr" anchorCtr="1"/>
          <a:lstStyle/>
          <a:p>
            <a:pPr marL="100013" indent="-100013">
              <a:lnSpc>
                <a:spcPct val="110000"/>
              </a:lnSpc>
              <a:spcBef>
                <a:spcPct val="10000"/>
              </a:spcBef>
              <a:spcAft>
                <a:spcPts val="0"/>
              </a:spcAft>
              <a:buClr>
                <a:srgbClr val="000000"/>
              </a:buClr>
              <a:buSzPct val="65000"/>
              <a:defRPr/>
            </a:pPr>
            <a:r>
              <a:rPr kumimoji="0" lang="ko-KR" altLang="en-US" sz="1100" b="1" kern="0">
                <a:solidFill>
                  <a:sysClr val="windowText" lastClr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서비스 </a:t>
            </a:r>
            <a:r>
              <a:rPr kumimoji="0" lang="ko-KR" altLang="en-US" sz="1100" b="1" kern="0" dirty="0">
                <a:solidFill>
                  <a:sysClr val="windowText" lastClr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정보</a:t>
            </a:r>
            <a:endParaRPr kumimoji="0" lang="en-US" altLang="ko-KR" sz="1100" b="1" kern="0" dirty="0">
              <a:solidFill>
                <a:sysClr val="windowText" lastClr="0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5" name="Rectangle 18"/>
          <p:cNvSpPr>
            <a:spLocks noChangeArrowheads="1"/>
          </p:cNvSpPr>
          <p:nvPr/>
        </p:nvSpPr>
        <p:spPr bwMode="auto">
          <a:xfrm>
            <a:off x="6862763" y="2116138"/>
            <a:ext cx="2592387" cy="612775"/>
          </a:xfrm>
          <a:prstGeom prst="flowChartProcess">
            <a:avLst/>
          </a:prstGeom>
          <a:solidFill>
            <a:schemeClr val="bg1"/>
          </a:solidFill>
          <a:ln w="9525" algn="ctr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/>
        </p:spPr>
        <p:txBody>
          <a:bodyPr lIns="72000" tIns="0" rIns="72000" bIns="0" anchor="ctr"/>
          <a:lstStyle/>
          <a:p>
            <a:pPr algn="ctr" defTabSz="979488" latinLnBrk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60000"/>
              <a:buFont typeface="Wingdings" pitchFamily="2" charset="2"/>
              <a:buNone/>
              <a:defRPr/>
            </a:pPr>
            <a:endParaRPr kumimoji="0" lang="ko-KR" altLang="en-US" sz="1100" b="1" kern="0" dirty="0">
              <a:solidFill>
                <a:srgbClr val="0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16" name="Rectangle 18"/>
          <p:cNvSpPr>
            <a:spLocks noChangeArrowheads="1"/>
          </p:cNvSpPr>
          <p:nvPr/>
        </p:nvSpPr>
        <p:spPr bwMode="auto">
          <a:xfrm>
            <a:off x="6862763" y="2854325"/>
            <a:ext cx="2592387" cy="611188"/>
          </a:xfrm>
          <a:prstGeom prst="flowChartProcess">
            <a:avLst/>
          </a:prstGeom>
          <a:solidFill>
            <a:schemeClr val="bg1"/>
          </a:solidFill>
          <a:ln w="9525" algn="ctr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/>
        </p:spPr>
        <p:txBody>
          <a:bodyPr lIns="72000" tIns="0" rIns="72000" bIns="0" anchor="ctr"/>
          <a:lstStyle/>
          <a:p>
            <a:pPr algn="ctr" defTabSz="979488" latinLnBrk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60000"/>
              <a:buFont typeface="Wingdings" pitchFamily="2" charset="2"/>
              <a:buNone/>
              <a:defRPr/>
            </a:pPr>
            <a:endParaRPr kumimoji="0" lang="ko-KR" altLang="en-US" sz="1100" b="1" kern="0" dirty="0">
              <a:solidFill>
                <a:srgbClr val="0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17" name="Rectangle 18"/>
          <p:cNvSpPr>
            <a:spLocks noChangeArrowheads="1"/>
          </p:cNvSpPr>
          <p:nvPr/>
        </p:nvSpPr>
        <p:spPr bwMode="auto">
          <a:xfrm>
            <a:off x="6862763" y="3592513"/>
            <a:ext cx="2592387" cy="611187"/>
          </a:xfrm>
          <a:prstGeom prst="flowChartProcess">
            <a:avLst/>
          </a:prstGeom>
          <a:solidFill>
            <a:schemeClr val="bg1"/>
          </a:solidFill>
          <a:ln w="9525" algn="ctr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/>
        </p:spPr>
        <p:txBody>
          <a:bodyPr lIns="72000" tIns="0" rIns="72000" bIns="0" anchor="ctr"/>
          <a:lstStyle/>
          <a:p>
            <a:pPr algn="ctr" defTabSz="979488" latinLnBrk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60000"/>
              <a:buFont typeface="Wingdings" pitchFamily="2" charset="2"/>
              <a:buNone/>
              <a:defRPr/>
            </a:pPr>
            <a:endParaRPr kumimoji="0" lang="ko-KR" altLang="en-US" sz="1100" b="1" kern="0" dirty="0">
              <a:solidFill>
                <a:srgbClr val="0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18" name="Rectangle 18"/>
          <p:cNvSpPr>
            <a:spLocks noChangeArrowheads="1"/>
          </p:cNvSpPr>
          <p:nvPr/>
        </p:nvSpPr>
        <p:spPr bwMode="auto">
          <a:xfrm>
            <a:off x="6862763" y="4329113"/>
            <a:ext cx="2592387" cy="612775"/>
          </a:xfrm>
          <a:prstGeom prst="flowChartProcess">
            <a:avLst/>
          </a:prstGeom>
          <a:solidFill>
            <a:schemeClr val="bg1"/>
          </a:solidFill>
          <a:ln w="9525" algn="ctr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/>
        </p:spPr>
        <p:txBody>
          <a:bodyPr lIns="72000" tIns="0" rIns="72000" bIns="0" anchor="ctr"/>
          <a:lstStyle/>
          <a:p>
            <a:pPr algn="ctr" defTabSz="979488" latinLnBrk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60000"/>
              <a:buFont typeface="Wingdings" pitchFamily="2" charset="2"/>
              <a:buNone/>
              <a:defRPr/>
            </a:pPr>
            <a:endParaRPr kumimoji="0" lang="ko-KR" altLang="en-US" sz="1100" b="1" kern="0" dirty="0">
              <a:solidFill>
                <a:srgbClr val="0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19" name="Rectangle 18"/>
          <p:cNvSpPr>
            <a:spLocks noChangeArrowheads="1"/>
          </p:cNvSpPr>
          <p:nvPr/>
        </p:nvSpPr>
        <p:spPr bwMode="auto">
          <a:xfrm>
            <a:off x="6862763" y="5067300"/>
            <a:ext cx="2592387" cy="611188"/>
          </a:xfrm>
          <a:prstGeom prst="flowChartProcess">
            <a:avLst/>
          </a:prstGeom>
          <a:solidFill>
            <a:schemeClr val="bg1"/>
          </a:solidFill>
          <a:ln w="9525" algn="ctr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/>
        </p:spPr>
        <p:txBody>
          <a:bodyPr lIns="72000" tIns="0" rIns="72000" bIns="0" anchor="ctr"/>
          <a:lstStyle/>
          <a:p>
            <a:pPr algn="ctr" defTabSz="979488" latinLnBrk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60000"/>
              <a:buFont typeface="Wingdings" pitchFamily="2" charset="2"/>
              <a:buNone/>
              <a:defRPr/>
            </a:pPr>
            <a:endParaRPr kumimoji="0" lang="ko-KR" altLang="en-US" sz="1100" b="1" kern="0" dirty="0">
              <a:solidFill>
                <a:srgbClr val="0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21" name="Text Box 8"/>
          <p:cNvSpPr txBox="1">
            <a:spLocks noChangeArrowheads="1"/>
          </p:cNvSpPr>
          <p:nvPr/>
        </p:nvSpPr>
        <p:spPr bwMode="auto">
          <a:xfrm>
            <a:off x="6895609" y="3779921"/>
            <a:ext cx="1820391" cy="2266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0" tIns="36000" rIns="36000" bIns="36000">
            <a:spAutoFit/>
          </a:bodyPr>
          <a:lstStyle>
            <a:lvl1pPr marL="84138" indent="-84138" defTabSz="9398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defTabSz="9398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defTabSz="9398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defTabSz="9398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defTabSz="9398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fontAlgn="b" latinLnBrk="0">
              <a:spcAft>
                <a:spcPts val="300"/>
              </a:spcAft>
              <a:buFont typeface="Arial" pitchFamily="34" charset="0"/>
              <a:buChar char="•"/>
            </a:pPr>
            <a:r>
              <a:rPr kumimoji="0"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N/A</a:t>
            </a:r>
          </a:p>
        </p:txBody>
      </p:sp>
      <p:sp>
        <p:nvSpPr>
          <p:cNvPr id="122" name="Text Box 8"/>
          <p:cNvSpPr txBox="1">
            <a:spLocks noChangeArrowheads="1"/>
          </p:cNvSpPr>
          <p:nvPr/>
        </p:nvSpPr>
        <p:spPr bwMode="auto">
          <a:xfrm>
            <a:off x="6895609" y="4529667"/>
            <a:ext cx="2560674" cy="2266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0" tIns="36000" rIns="36000" bIns="36000">
            <a:spAutoFit/>
          </a:bodyPr>
          <a:lstStyle>
            <a:lvl1pPr marL="84138" indent="-84138" defTabSz="9398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defTabSz="9398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defTabSz="9398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defTabSz="9398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defTabSz="9398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fontAlgn="b" latinLnBrk="0">
              <a:spcAft>
                <a:spcPts val="300"/>
              </a:spcAft>
              <a:buFont typeface="Arial" pitchFamily="34" charset="0"/>
              <a:buChar char="•"/>
            </a:pPr>
            <a:r>
              <a:rPr kumimoji="0"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N/A</a:t>
            </a:r>
          </a:p>
        </p:txBody>
      </p:sp>
      <p:sp>
        <p:nvSpPr>
          <p:cNvPr id="123" name="Text Box 8"/>
          <p:cNvSpPr txBox="1">
            <a:spLocks noChangeArrowheads="1"/>
          </p:cNvSpPr>
          <p:nvPr/>
        </p:nvSpPr>
        <p:spPr bwMode="auto">
          <a:xfrm>
            <a:off x="6895609" y="5255302"/>
            <a:ext cx="1820391" cy="2266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0" tIns="36000" rIns="36000" bIns="36000">
            <a:spAutoFit/>
          </a:bodyPr>
          <a:lstStyle>
            <a:lvl1pPr marL="84138" indent="-84138" defTabSz="9398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defTabSz="9398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defTabSz="9398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defTabSz="9398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defTabSz="9398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fontAlgn="b" latinLnBrk="0">
              <a:spcAft>
                <a:spcPts val="300"/>
              </a:spcAft>
              <a:buFont typeface="Arial" pitchFamily="34" charset="0"/>
              <a:buChar char="•"/>
            </a:pPr>
            <a:r>
              <a:rPr kumimoji="0" lang="en-US" altLang="ko-KR" sz="1000">
                <a:latin typeface="나눔고딕" panose="020D0604000000000000" pitchFamily="50" charset="-127"/>
                <a:ea typeface="나눔고딕" panose="020D0604000000000000" pitchFamily="50" charset="-127"/>
              </a:rPr>
              <a:t>N/A</a:t>
            </a:r>
          </a:p>
        </p:txBody>
      </p:sp>
      <p:sp>
        <p:nvSpPr>
          <p:cNvPr id="135" name="Text Box 8"/>
          <p:cNvSpPr txBox="1">
            <a:spLocks noChangeArrowheads="1"/>
          </p:cNvSpPr>
          <p:nvPr/>
        </p:nvSpPr>
        <p:spPr bwMode="auto">
          <a:xfrm>
            <a:off x="6862763" y="2196238"/>
            <a:ext cx="2569668" cy="4189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36000" tIns="36000" rIns="36000" bIns="36000">
            <a:spAutoFit/>
          </a:bodyPr>
          <a:lstStyle>
            <a:lvl1pPr marL="84138" indent="-84138" defTabSz="9398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defTabSz="9398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defTabSz="9398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defTabSz="9398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defTabSz="9398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fontAlgn="b" latinLnBrk="0">
              <a:spcAft>
                <a:spcPts val="300"/>
              </a:spcAft>
              <a:buFont typeface="Arial" pitchFamily="34" charset="0"/>
              <a:buChar char="•"/>
            </a:pPr>
            <a:r>
              <a:rPr kumimoji="0"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상품 정보</a:t>
            </a:r>
            <a:r>
              <a:rPr kumimoji="0"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kumimoji="0"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상품 가입</a:t>
            </a:r>
            <a:r>
              <a:rPr kumimoji="0" lang="en-US" altLang="ko-KR" sz="100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kumimoji="0" lang="ko-KR" altLang="en-US" sz="1000">
                <a:latin typeface="나눔고딕" panose="020D0604000000000000" pitchFamily="50" charset="-127"/>
                <a:ea typeface="나눔고딕" panose="020D0604000000000000" pitchFamily="50" charset="-127"/>
              </a:rPr>
              <a:t>서비스 </a:t>
            </a:r>
            <a:r>
              <a:rPr kumimoji="0"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이용</a:t>
            </a:r>
            <a:endParaRPr kumimoji="0"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eaLnBrk="1" fontAlgn="b" latinLnBrk="0">
              <a:spcAft>
                <a:spcPts val="300"/>
              </a:spcAft>
              <a:buFont typeface="Arial" pitchFamily="34" charset="0"/>
              <a:buChar char="•"/>
            </a:pPr>
            <a:r>
              <a:rPr kumimoji="0"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고객 개인정보 수집 등</a:t>
            </a:r>
            <a:endParaRPr kumimoji="0"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36" name="Text Box 8"/>
          <p:cNvSpPr txBox="1">
            <a:spLocks noChangeArrowheads="1"/>
          </p:cNvSpPr>
          <p:nvPr/>
        </p:nvSpPr>
        <p:spPr bwMode="auto">
          <a:xfrm>
            <a:off x="6888402" y="2955292"/>
            <a:ext cx="2589704" cy="4189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0" tIns="36000" rIns="36000" bIns="36000">
            <a:spAutoFit/>
          </a:bodyPr>
          <a:lstStyle>
            <a:lvl1pPr marL="84138" indent="-84138" defTabSz="9398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defTabSz="9398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defTabSz="9398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defTabSz="9398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defTabSz="9398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fontAlgn="b" latinLnBrk="0">
              <a:spcAft>
                <a:spcPts val="300"/>
              </a:spcAft>
              <a:buFont typeface="Arial" pitchFamily="34" charset="0"/>
              <a:buChar char="•"/>
            </a:pPr>
            <a:r>
              <a:rPr kumimoji="0"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Needs </a:t>
            </a:r>
            <a:r>
              <a:rPr kumimoji="0"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정보에 따른 화면 구성 다양화</a:t>
            </a:r>
            <a:endParaRPr kumimoji="0"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eaLnBrk="1" fontAlgn="b" latinLnBrk="0">
              <a:spcAft>
                <a:spcPts val="300"/>
              </a:spcAft>
              <a:buFont typeface="Arial" pitchFamily="34" charset="0"/>
              <a:buChar char="•"/>
            </a:pPr>
            <a:r>
              <a:rPr kumimoji="0"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상품 수 증가</a:t>
            </a:r>
            <a:endParaRPr kumimoji="0"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4065858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TextBox 60"/>
          <p:cNvSpPr txBox="1"/>
          <p:nvPr/>
        </p:nvSpPr>
        <p:spPr>
          <a:xfrm>
            <a:off x="144017" y="683985"/>
            <a:ext cx="96335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Device </a:t>
            </a:r>
            <a:r>
              <a:rPr lang="ko-KR" altLang="en-US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기반 </a:t>
            </a:r>
            <a:r>
              <a:rPr lang="ko-KR" altLang="en-US" sz="1400" b="1">
                <a:latin typeface="나눔고딕" panose="020D0604000000000000" pitchFamily="50" charset="-127"/>
                <a:ea typeface="나눔고딕" panose="020D0604000000000000" pitchFamily="50" charset="-127"/>
              </a:rPr>
              <a:t>모바일 서비스 </a:t>
            </a:r>
            <a:r>
              <a:rPr lang="en-US" altLang="ko-KR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Pool</a:t>
            </a:r>
            <a:endParaRPr lang="ko-KR" altLang="en-US" sz="14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488504" y="991762"/>
            <a:ext cx="9289032" cy="307777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Smart phone 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중심에서 향후 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Tablet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Device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의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확</a:t>
            </a:r>
            <a:r>
              <a:rPr lang="ko-KR" altLang="en-US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대 </a:t>
            </a:r>
            <a:r>
              <a:rPr lang="ko-KR" altLang="en-US" sz="1400" b="1">
                <a:latin typeface="나눔고딕" panose="020D0604000000000000" pitchFamily="50" charset="-127"/>
                <a:ea typeface="나눔고딕" panose="020D0604000000000000" pitchFamily="50" charset="-127"/>
              </a:rPr>
              <a:t>측면에서 서비스 </a:t>
            </a:r>
            <a:r>
              <a:rPr lang="en-US" altLang="ko-KR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Pool</a:t>
            </a:r>
            <a:r>
              <a:rPr lang="ko-KR" altLang="en-US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로 도출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합니다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144017" y="91339"/>
            <a:ext cx="7401271" cy="385333"/>
          </a:xfrm>
          <a:prstGeom prst="rect">
            <a:avLst/>
          </a:prstGeom>
          <a:noFill/>
        </p:spPr>
        <p:txBody>
          <a:bodyPr wrap="square" lIns="0" tIns="53643" rIns="0" bIns="53643" rtlCol="0">
            <a:spAutoFit/>
          </a:bodyPr>
          <a:lstStyle/>
          <a:p>
            <a:r>
              <a:rPr kumimoji="1" lang="en-US" altLang="ko-KR" b="1" kern="0" dirty="0">
                <a:latin typeface="나눔고딕" panose="020D0604000000000000" pitchFamily="50" charset="-127"/>
                <a:ea typeface="나눔고딕" panose="020D0604000000000000" pitchFamily="50" charset="-127"/>
                <a:cs typeface="산돌고딕 M"/>
              </a:rPr>
              <a:t>Information architecture</a:t>
            </a:r>
            <a:endParaRPr kumimoji="1" lang="ko-KR" altLang="en-US" b="1" kern="0" dirty="0">
              <a:latin typeface="나눔고딕" panose="020D0604000000000000" pitchFamily="50" charset="-127"/>
              <a:ea typeface="나눔고딕" panose="020D0604000000000000" pitchFamily="50" charset="-127"/>
              <a:cs typeface="산돌고딕 M"/>
            </a:endParaRPr>
          </a:p>
        </p:txBody>
      </p:sp>
      <p:sp>
        <p:nvSpPr>
          <p:cNvPr id="66" name="Line 126"/>
          <p:cNvSpPr>
            <a:spLocks noChangeShapeType="1"/>
          </p:cNvSpPr>
          <p:nvPr/>
        </p:nvSpPr>
        <p:spPr bwMode="auto">
          <a:xfrm>
            <a:off x="474493" y="1959161"/>
            <a:ext cx="8999926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36000" tIns="36000" rIns="36000" bIns="36000" anchor="ctr"/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7" name="Text Box 188"/>
          <p:cNvSpPr txBox="1">
            <a:spLocks noChangeArrowheads="1"/>
          </p:cNvSpPr>
          <p:nvPr/>
        </p:nvSpPr>
        <p:spPr bwMode="auto">
          <a:xfrm>
            <a:off x="1138959" y="1654175"/>
            <a:ext cx="7634501" cy="2924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kumimoji="0" lang="ko-KR" altLang="en-US" sz="1300" b="1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모바일 서비스 </a:t>
            </a:r>
            <a:r>
              <a:rPr kumimoji="0" lang="ko-KR" altLang="en-US" sz="1300" b="1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적용 </a:t>
            </a:r>
            <a:r>
              <a:rPr kumimoji="0" lang="en-US" altLang="ko-KR" sz="1300" b="1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Device</a:t>
            </a:r>
            <a:r>
              <a:rPr kumimoji="0" lang="ko-KR" altLang="en-US" sz="1300" b="1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의 다각화</a:t>
            </a:r>
          </a:p>
        </p:txBody>
      </p:sp>
      <p:grpSp>
        <p:nvGrpSpPr>
          <p:cNvPr id="68" name="그룹 68"/>
          <p:cNvGrpSpPr>
            <a:grpSpLocks/>
          </p:cNvGrpSpPr>
          <p:nvPr/>
        </p:nvGrpSpPr>
        <p:grpSpPr bwMode="auto">
          <a:xfrm>
            <a:off x="458788" y="2406650"/>
            <a:ext cx="762000" cy="677863"/>
            <a:chOff x="2841673" y="2145408"/>
            <a:chExt cx="4111400" cy="3618927"/>
          </a:xfrm>
        </p:grpSpPr>
        <p:sp>
          <p:nvSpPr>
            <p:cNvPr id="96" name="Line 216"/>
            <p:cNvSpPr>
              <a:spLocks noChangeShapeType="1"/>
            </p:cNvSpPr>
            <p:nvPr/>
          </p:nvSpPr>
          <p:spPr bwMode="auto">
            <a:xfrm flipV="1">
              <a:off x="4589018" y="2162358"/>
              <a:ext cx="359747" cy="0"/>
            </a:xfrm>
            <a:prstGeom prst="line">
              <a:avLst/>
            </a:prstGeom>
            <a:noFill/>
            <a:ln w="31750">
              <a:solidFill>
                <a:schemeClr val="tx1">
                  <a:lumMod val="65000"/>
                  <a:lumOff val="35000"/>
                </a:schemeClr>
              </a:solidFill>
              <a:prstDash val="sysDot"/>
              <a:round/>
              <a:headEnd/>
              <a:tailEnd/>
            </a:ln>
            <a:effectLst/>
          </p:spPr>
          <p:txBody>
            <a:bodyPr wrap="none" lIns="36000" tIns="36000" rIns="36000" bIns="36000" anchor="ctr"/>
            <a:lstStyle/>
            <a:p>
              <a:pPr algn="ctr" eaLnBrk="0" fontAlgn="t" latinLnBrk="0" hangingPunct="0">
                <a:spcBef>
                  <a:spcPct val="50000"/>
                </a:spcBef>
                <a:spcAft>
                  <a:spcPct val="5000"/>
                </a:spcAft>
                <a:defRPr/>
              </a:pPr>
              <a:endParaRPr kumimoji="0" lang="ko-KR" altLang="en-US" sz="1200" b="1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97" name="정육면체 96"/>
            <p:cNvSpPr/>
            <p:nvPr/>
          </p:nvSpPr>
          <p:spPr>
            <a:xfrm>
              <a:off x="2841673" y="2145408"/>
              <a:ext cx="1721646" cy="3618927"/>
            </a:xfrm>
            <a:prstGeom prst="cube">
              <a:avLst>
                <a:gd name="adj" fmla="val 45657"/>
              </a:avLst>
            </a:prstGeom>
            <a:solidFill>
              <a:schemeClr val="bg1"/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98" name="정육면체 97"/>
            <p:cNvSpPr/>
            <p:nvPr/>
          </p:nvSpPr>
          <p:spPr>
            <a:xfrm>
              <a:off x="4195009" y="2145408"/>
              <a:ext cx="2758064" cy="3618927"/>
            </a:xfrm>
            <a:prstGeom prst="cube">
              <a:avLst>
                <a:gd name="adj" fmla="val 28581"/>
              </a:avLst>
            </a:prstGeom>
            <a:solidFill>
              <a:schemeClr val="bg1"/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cxnSp>
          <p:nvCxnSpPr>
            <p:cNvPr id="99" name="직선 연결선 98"/>
            <p:cNvCxnSpPr/>
            <p:nvPr/>
          </p:nvCxnSpPr>
          <p:spPr>
            <a:xfrm>
              <a:off x="2858804" y="3323468"/>
              <a:ext cx="925065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직선 연결선 99"/>
            <p:cNvCxnSpPr/>
            <p:nvPr/>
          </p:nvCxnSpPr>
          <p:spPr>
            <a:xfrm>
              <a:off x="2858804" y="3823504"/>
              <a:ext cx="925065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직선 연결선 100"/>
            <p:cNvCxnSpPr/>
            <p:nvPr/>
          </p:nvCxnSpPr>
          <p:spPr>
            <a:xfrm>
              <a:off x="2858804" y="4323545"/>
              <a:ext cx="925065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직선 연결선 101"/>
            <p:cNvCxnSpPr/>
            <p:nvPr/>
          </p:nvCxnSpPr>
          <p:spPr>
            <a:xfrm>
              <a:off x="2858804" y="4815109"/>
              <a:ext cx="925065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직선 연결선 102"/>
            <p:cNvCxnSpPr/>
            <p:nvPr/>
          </p:nvCxnSpPr>
          <p:spPr>
            <a:xfrm>
              <a:off x="2858804" y="5315145"/>
              <a:ext cx="925065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직선 연결선 103"/>
            <p:cNvCxnSpPr/>
            <p:nvPr/>
          </p:nvCxnSpPr>
          <p:spPr>
            <a:xfrm>
              <a:off x="4203571" y="3314990"/>
              <a:ext cx="1944352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직선 연결선 104"/>
            <p:cNvCxnSpPr/>
            <p:nvPr/>
          </p:nvCxnSpPr>
          <p:spPr>
            <a:xfrm>
              <a:off x="4203571" y="3815031"/>
              <a:ext cx="1944352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직선 연결선 105"/>
            <p:cNvCxnSpPr/>
            <p:nvPr/>
          </p:nvCxnSpPr>
          <p:spPr>
            <a:xfrm>
              <a:off x="4203571" y="4315067"/>
              <a:ext cx="1944352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직선 연결선 106"/>
            <p:cNvCxnSpPr/>
            <p:nvPr/>
          </p:nvCxnSpPr>
          <p:spPr>
            <a:xfrm>
              <a:off x="4203571" y="4815109"/>
              <a:ext cx="1944352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직선 연결선 107"/>
            <p:cNvCxnSpPr/>
            <p:nvPr/>
          </p:nvCxnSpPr>
          <p:spPr>
            <a:xfrm>
              <a:off x="4203571" y="5315145"/>
              <a:ext cx="1944352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직선 연결선 108"/>
            <p:cNvCxnSpPr/>
            <p:nvPr/>
          </p:nvCxnSpPr>
          <p:spPr>
            <a:xfrm>
              <a:off x="3244245" y="2509845"/>
              <a:ext cx="933633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직선 연결선 109"/>
            <p:cNvCxnSpPr/>
            <p:nvPr/>
          </p:nvCxnSpPr>
          <p:spPr>
            <a:xfrm>
              <a:off x="4614711" y="2509845"/>
              <a:ext cx="1944352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직선 연결선 110"/>
            <p:cNvCxnSpPr>
              <a:stCxn id="98" idx="3"/>
              <a:endCxn id="98" idx="1"/>
            </p:cNvCxnSpPr>
            <p:nvPr/>
          </p:nvCxnSpPr>
          <p:spPr>
            <a:xfrm rot="5400000" flipH="1">
              <a:off x="3751951" y="4336257"/>
              <a:ext cx="2856156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직선 연결선 111"/>
            <p:cNvCxnSpPr>
              <a:stCxn id="98" idx="1"/>
              <a:endCxn id="98" idx="0"/>
            </p:cNvCxnSpPr>
            <p:nvPr/>
          </p:nvCxnSpPr>
          <p:spPr>
            <a:xfrm rot="5400000" flipH="1" flipV="1">
              <a:off x="5192650" y="2132787"/>
              <a:ext cx="762771" cy="788018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3" name="Line 216"/>
            <p:cNvSpPr>
              <a:spLocks noChangeShapeType="1"/>
            </p:cNvSpPr>
            <p:nvPr/>
          </p:nvSpPr>
          <p:spPr bwMode="auto">
            <a:xfrm flipV="1">
              <a:off x="3826693" y="2942080"/>
              <a:ext cx="359747" cy="0"/>
            </a:xfrm>
            <a:prstGeom prst="line">
              <a:avLst/>
            </a:prstGeom>
            <a:noFill/>
            <a:ln w="31750">
              <a:solidFill>
                <a:schemeClr val="tx1">
                  <a:lumMod val="65000"/>
                  <a:lumOff val="35000"/>
                </a:schemeClr>
              </a:solidFill>
              <a:prstDash val="sysDot"/>
              <a:round/>
              <a:headEnd/>
              <a:tailEnd/>
            </a:ln>
            <a:effectLst/>
          </p:spPr>
          <p:txBody>
            <a:bodyPr wrap="none" lIns="36000" tIns="36000" rIns="36000" bIns="36000" anchor="ctr"/>
            <a:lstStyle/>
            <a:p>
              <a:pPr algn="ctr" eaLnBrk="0" fontAlgn="t" latinLnBrk="0" hangingPunct="0">
                <a:spcBef>
                  <a:spcPct val="50000"/>
                </a:spcBef>
                <a:spcAft>
                  <a:spcPct val="5000"/>
                </a:spcAft>
                <a:defRPr/>
              </a:pPr>
              <a:endParaRPr kumimoji="0" lang="ko-KR" altLang="en-US" sz="1200" b="1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15" name="Line 216"/>
            <p:cNvSpPr>
              <a:spLocks noChangeShapeType="1"/>
            </p:cNvSpPr>
            <p:nvPr/>
          </p:nvSpPr>
          <p:spPr bwMode="auto">
            <a:xfrm flipV="1">
              <a:off x="3809562" y="5755857"/>
              <a:ext cx="359747" cy="0"/>
            </a:xfrm>
            <a:prstGeom prst="line">
              <a:avLst/>
            </a:prstGeom>
            <a:noFill/>
            <a:ln w="31750">
              <a:solidFill>
                <a:schemeClr val="tx1">
                  <a:lumMod val="65000"/>
                  <a:lumOff val="35000"/>
                </a:schemeClr>
              </a:solidFill>
              <a:prstDash val="sysDot"/>
              <a:round/>
              <a:headEnd/>
              <a:tailEnd/>
            </a:ln>
            <a:effectLst/>
          </p:spPr>
          <p:txBody>
            <a:bodyPr wrap="none" lIns="36000" tIns="36000" rIns="36000" bIns="36000" anchor="ctr"/>
            <a:lstStyle/>
            <a:p>
              <a:pPr algn="ctr" eaLnBrk="0" fontAlgn="t" latinLnBrk="0" hangingPunct="0">
                <a:spcBef>
                  <a:spcPct val="50000"/>
                </a:spcBef>
                <a:spcAft>
                  <a:spcPct val="5000"/>
                </a:spcAft>
                <a:defRPr/>
              </a:pPr>
              <a:endParaRPr kumimoji="0" lang="ko-KR" altLang="en-US" sz="1200" b="1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cxnSp>
        <p:nvCxnSpPr>
          <p:cNvPr id="86" name="직선 연결선 85"/>
          <p:cNvCxnSpPr/>
          <p:nvPr/>
        </p:nvCxnSpPr>
        <p:spPr bwMode="auto">
          <a:xfrm flipV="1">
            <a:off x="1247775" y="2089150"/>
            <a:ext cx="420688" cy="276225"/>
          </a:xfrm>
          <a:prstGeom prst="line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직선 연결선 86"/>
          <p:cNvCxnSpPr/>
          <p:nvPr/>
        </p:nvCxnSpPr>
        <p:spPr bwMode="auto">
          <a:xfrm rot="16200000" flipH="1">
            <a:off x="-110331" y="4463256"/>
            <a:ext cx="2962275" cy="449263"/>
          </a:xfrm>
          <a:prstGeom prst="line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Rectangle 18"/>
          <p:cNvSpPr>
            <a:spLocks noChangeArrowheads="1"/>
          </p:cNvSpPr>
          <p:nvPr/>
        </p:nvSpPr>
        <p:spPr bwMode="auto">
          <a:xfrm>
            <a:off x="2460625" y="2665413"/>
            <a:ext cx="1162050" cy="1082675"/>
          </a:xfrm>
          <a:prstGeom prst="flowChartProcess">
            <a:avLst/>
          </a:prstGeom>
          <a:solidFill>
            <a:srgbClr val="D1D7C7"/>
          </a:solidFill>
          <a:ln w="9525" algn="ctr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>
            <a:outerShdw dist="17961" dir="2700000" algn="ctr" rotWithShape="0">
              <a:srgbClr val="000000"/>
            </a:outerShdw>
          </a:effectLst>
        </p:spPr>
        <p:txBody>
          <a:bodyPr lIns="72000" tIns="0" rIns="72000" bIns="0" anchor="ctr"/>
          <a:lstStyle/>
          <a:p>
            <a:pPr algn="ctr" defTabSz="979488" latinLnBrk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60000"/>
              <a:buFont typeface="Wingdings" pitchFamily="2" charset="2"/>
              <a:buNone/>
              <a:defRPr/>
            </a:pPr>
            <a:r>
              <a:rPr lang="en-US" altLang="ko-KR" sz="1100" b="1" kern="0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Smart Phone</a:t>
            </a:r>
          </a:p>
        </p:txBody>
      </p:sp>
      <p:sp>
        <p:nvSpPr>
          <p:cNvPr id="69" name="Rectangle 18"/>
          <p:cNvSpPr>
            <a:spLocks noChangeArrowheads="1"/>
          </p:cNvSpPr>
          <p:nvPr/>
        </p:nvSpPr>
        <p:spPr bwMode="auto">
          <a:xfrm>
            <a:off x="2460625" y="3881438"/>
            <a:ext cx="1162050" cy="1084262"/>
          </a:xfrm>
          <a:prstGeom prst="flowChartProcess">
            <a:avLst/>
          </a:prstGeom>
          <a:solidFill>
            <a:srgbClr val="D1D7C7"/>
          </a:solidFill>
          <a:ln w="9525" algn="ctr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>
            <a:outerShdw dist="17961" dir="2700000" algn="ctr" rotWithShape="0">
              <a:srgbClr val="000000"/>
            </a:outerShdw>
          </a:effectLst>
        </p:spPr>
        <p:txBody>
          <a:bodyPr lIns="72000" tIns="0" rIns="72000" bIns="0" anchor="ctr"/>
          <a:lstStyle/>
          <a:p>
            <a:pPr algn="ctr" defTabSz="979488" latinLnBrk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60000"/>
              <a:buFont typeface="Wingdings" pitchFamily="2" charset="2"/>
              <a:buNone/>
              <a:defRPr/>
            </a:pPr>
            <a:r>
              <a:rPr lang="en-US" altLang="ko-KR" sz="1100" b="1" kern="0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Tablet Device</a:t>
            </a:r>
          </a:p>
        </p:txBody>
      </p:sp>
      <p:sp>
        <p:nvSpPr>
          <p:cNvPr id="76" name="Line 191"/>
          <p:cNvSpPr>
            <a:spLocks noChangeShapeType="1"/>
          </p:cNvSpPr>
          <p:nvPr/>
        </p:nvSpPr>
        <p:spPr bwMode="auto">
          <a:xfrm flipH="1" flipV="1">
            <a:off x="2189994" y="2614956"/>
            <a:ext cx="1235" cy="2349140"/>
          </a:xfrm>
          <a:prstGeom prst="line">
            <a:avLst/>
          </a:prstGeom>
          <a:noFill/>
          <a:ln w="38100">
            <a:solidFill>
              <a:srgbClr val="B2B2B2"/>
            </a:solidFill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36000" tIns="36000" rIns="36000" bIns="36000" anchor="ctr"/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7" name="직사각형 321"/>
          <p:cNvSpPr>
            <a:spLocks noChangeArrowheads="1"/>
          </p:cNvSpPr>
          <p:nvPr/>
        </p:nvSpPr>
        <p:spPr bwMode="auto">
          <a:xfrm rot="16200000">
            <a:off x="1480257" y="3666184"/>
            <a:ext cx="1096775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/>
            <a:r>
              <a:rPr kumimoji="0" lang="en-US" altLang="ko-KR" sz="1100" b="1" i="1">
                <a:latin typeface="나눔고딕" panose="020D0604000000000000" pitchFamily="50" charset="-127"/>
                <a:ea typeface="나눔고딕" panose="020D0604000000000000" pitchFamily="50" charset="-127"/>
              </a:rPr>
              <a:t>Smart Devices</a:t>
            </a:r>
            <a:endParaRPr kumimoji="0" lang="ko-KR" altLang="en-US" sz="1100" b="1" i="1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8" name="Rectangle 18"/>
          <p:cNvSpPr>
            <a:spLocks noChangeArrowheads="1"/>
          </p:cNvSpPr>
          <p:nvPr/>
        </p:nvSpPr>
        <p:spPr bwMode="auto">
          <a:xfrm>
            <a:off x="5619750" y="5095875"/>
            <a:ext cx="1644650" cy="392113"/>
          </a:xfrm>
          <a:prstGeom prst="flowChartProcess">
            <a:avLst/>
          </a:prstGeom>
          <a:pattFill prst="ltUpDiag">
            <a:fgClr>
              <a:srgbClr val="C0C0C0"/>
            </a:fgClr>
            <a:bgClr>
              <a:srgbClr val="FFFFFF"/>
            </a:bgClr>
          </a:pattFill>
          <a:ln w="9525" algn="ctr">
            <a:solidFill>
              <a:schemeClr val="tx1">
                <a:lumMod val="75000"/>
                <a:lumOff val="25000"/>
              </a:schemeClr>
            </a:solidFill>
            <a:prstDash val="dash"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36000" tIns="18000" rIns="18000" bIns="36000" anchor="ctr" anchorCtr="1"/>
          <a:lstStyle/>
          <a:p>
            <a:pPr marL="100013" indent="-100013">
              <a:lnSpc>
                <a:spcPct val="110000"/>
              </a:lnSpc>
              <a:spcBef>
                <a:spcPct val="10000"/>
              </a:spcBef>
              <a:spcAft>
                <a:spcPts val="0"/>
              </a:spcAft>
              <a:buClr>
                <a:srgbClr val="000000"/>
              </a:buClr>
              <a:buSzPct val="65000"/>
              <a:defRPr/>
            </a:pPr>
            <a:r>
              <a:rPr lang="ko-KR" altLang="en-US" sz="1100" b="1" kern="0" dirty="0">
                <a:solidFill>
                  <a:sysClr val="windowText" lastClr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상품정보</a:t>
            </a:r>
          </a:p>
        </p:txBody>
      </p:sp>
      <p:sp>
        <p:nvSpPr>
          <p:cNvPr id="79" name="Line 191"/>
          <p:cNvSpPr>
            <a:spLocks noChangeShapeType="1"/>
          </p:cNvSpPr>
          <p:nvPr/>
        </p:nvSpPr>
        <p:spPr bwMode="auto">
          <a:xfrm flipH="1">
            <a:off x="3871675" y="5646415"/>
            <a:ext cx="5183832" cy="0"/>
          </a:xfrm>
          <a:prstGeom prst="line">
            <a:avLst/>
          </a:prstGeom>
          <a:noFill/>
          <a:ln w="38100">
            <a:solidFill>
              <a:srgbClr val="B2B2B2"/>
            </a:solidFill>
            <a:round/>
            <a:headEnd type="triangle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36000" tIns="36000" rIns="36000" bIns="36000" anchor="ctr"/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0" name="직사각형 101"/>
          <p:cNvSpPr>
            <a:spLocks noChangeArrowheads="1"/>
          </p:cNvSpPr>
          <p:nvPr/>
        </p:nvSpPr>
        <p:spPr bwMode="auto">
          <a:xfrm>
            <a:off x="5475498" y="5676279"/>
            <a:ext cx="1889861" cy="2462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/>
            <a:r>
              <a:rPr kumimoji="0" lang="en-US" altLang="ko-KR" sz="1000" b="1" i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Policy</a:t>
            </a:r>
          </a:p>
        </p:txBody>
      </p:sp>
      <p:sp>
        <p:nvSpPr>
          <p:cNvPr id="81" name="Rectangle 18"/>
          <p:cNvSpPr>
            <a:spLocks noChangeArrowheads="1"/>
          </p:cNvSpPr>
          <p:nvPr/>
        </p:nvSpPr>
        <p:spPr bwMode="auto">
          <a:xfrm>
            <a:off x="7415213" y="5095875"/>
            <a:ext cx="1643062" cy="392113"/>
          </a:xfrm>
          <a:prstGeom prst="flowChartProcess">
            <a:avLst/>
          </a:prstGeom>
          <a:pattFill prst="ltUpDiag">
            <a:fgClr>
              <a:srgbClr val="C0C0C0"/>
            </a:fgClr>
            <a:bgClr>
              <a:srgbClr val="FFFFFF"/>
            </a:bgClr>
          </a:pattFill>
          <a:ln w="9525" algn="ctr">
            <a:solidFill>
              <a:schemeClr val="tx1">
                <a:lumMod val="75000"/>
                <a:lumOff val="25000"/>
              </a:schemeClr>
            </a:solidFill>
            <a:prstDash val="dash"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36000" tIns="18000" rIns="18000" bIns="36000" anchor="ctr" anchorCtr="1"/>
          <a:lstStyle/>
          <a:p>
            <a:pPr marL="100013" indent="-100013">
              <a:lnSpc>
                <a:spcPct val="110000"/>
              </a:lnSpc>
              <a:spcBef>
                <a:spcPct val="10000"/>
              </a:spcBef>
              <a:spcAft>
                <a:spcPts val="0"/>
              </a:spcAft>
              <a:buClr>
                <a:srgbClr val="000000"/>
              </a:buClr>
              <a:buSzPct val="65000"/>
              <a:defRPr/>
            </a:pPr>
            <a:r>
              <a:rPr lang="ko-KR" altLang="en-US" sz="1100" b="1" kern="0">
                <a:solidFill>
                  <a:sysClr val="windowText" lastClr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서비스 </a:t>
            </a:r>
            <a:r>
              <a:rPr lang="ko-KR" altLang="en-US" sz="1100" b="1" kern="0" dirty="0">
                <a:solidFill>
                  <a:sysClr val="windowText" lastClr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정보</a:t>
            </a:r>
          </a:p>
        </p:txBody>
      </p:sp>
      <p:sp>
        <p:nvSpPr>
          <p:cNvPr id="82" name="Rectangle 18"/>
          <p:cNvSpPr>
            <a:spLocks noChangeArrowheads="1"/>
          </p:cNvSpPr>
          <p:nvPr/>
        </p:nvSpPr>
        <p:spPr bwMode="auto">
          <a:xfrm>
            <a:off x="3825875" y="5095875"/>
            <a:ext cx="1643063" cy="392113"/>
          </a:xfrm>
          <a:prstGeom prst="flowChartProcess">
            <a:avLst/>
          </a:prstGeom>
          <a:solidFill>
            <a:srgbClr val="D1D7C7"/>
          </a:solidFill>
          <a:ln w="9525" algn="ctr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>
            <a:outerShdw dist="17961" dir="2700000" algn="ctr" rotWithShape="0">
              <a:srgbClr val="000000"/>
            </a:outerShdw>
          </a:effectLst>
        </p:spPr>
        <p:txBody>
          <a:bodyPr lIns="72000" tIns="0" rIns="72000" bIns="0" anchor="ctr"/>
          <a:lstStyle/>
          <a:p>
            <a:pPr indent="-100013" algn="ctr" defTabSz="979488" latinLnBrk="0">
              <a:lnSpc>
                <a:spcPct val="110000"/>
              </a:lnSpc>
              <a:spcBef>
                <a:spcPct val="10000"/>
              </a:spcBef>
              <a:spcAft>
                <a:spcPts val="0"/>
              </a:spcAft>
              <a:buClr>
                <a:srgbClr val="000000"/>
              </a:buClr>
              <a:buSzPct val="60000"/>
              <a:defRPr/>
            </a:pPr>
            <a:r>
              <a:rPr kumimoji="0" lang="ko-KR" altLang="en-US" sz="1100" b="1" kern="0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수신</a:t>
            </a:r>
            <a:endParaRPr kumimoji="0" lang="en-US" altLang="ko-KR" sz="1100" b="1" kern="0" dirty="0">
              <a:solidFill>
                <a:srgbClr val="0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3" name="Rectangle 18"/>
          <p:cNvSpPr>
            <a:spLocks noChangeArrowheads="1"/>
          </p:cNvSpPr>
          <p:nvPr/>
        </p:nvSpPr>
        <p:spPr bwMode="auto">
          <a:xfrm>
            <a:off x="3825875" y="3881438"/>
            <a:ext cx="5230813" cy="1084262"/>
          </a:xfrm>
          <a:prstGeom prst="flowChartProcess">
            <a:avLst/>
          </a:prstGeom>
          <a:solidFill>
            <a:schemeClr val="bg1"/>
          </a:solidFill>
          <a:ln w="9525" algn="ctr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/>
        </p:spPr>
        <p:txBody>
          <a:bodyPr lIns="72000" tIns="0" rIns="72000" bIns="0" anchor="ctr"/>
          <a:lstStyle/>
          <a:p>
            <a:pPr algn="ctr" defTabSz="979488" latinLnBrk="0">
              <a:buClr>
                <a:srgbClr val="000000"/>
              </a:buClr>
              <a:buSzPct val="60000"/>
              <a:buFont typeface="Wingdings" pitchFamily="2" charset="2"/>
              <a:buNone/>
            </a:pPr>
            <a:r>
              <a:rPr lang="ko-KR" altLang="en-US" sz="1100" i="1" kern="0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이동성을 가지고 있는 </a:t>
            </a:r>
            <a:r>
              <a:rPr lang="en-US" altLang="ko-KR" sz="1100" i="1" kern="0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Tablet Device </a:t>
            </a:r>
            <a:r>
              <a:rPr lang="ko-KR" altLang="en-US" sz="1100" i="1" kern="0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에서도</a:t>
            </a:r>
            <a:endParaRPr lang="en-US" altLang="ko-KR" sz="1100" i="1" kern="0" dirty="0">
              <a:solidFill>
                <a:srgbClr val="0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 defTabSz="979488" latinLnBrk="0">
              <a:buClr>
                <a:srgbClr val="000000"/>
              </a:buClr>
              <a:buSzPct val="60000"/>
              <a:buFont typeface="Wingdings" pitchFamily="2" charset="2"/>
              <a:buNone/>
            </a:pPr>
            <a:r>
              <a:rPr lang="ko-KR" altLang="en-US" sz="1100" i="1" kern="0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웹사이트와 </a:t>
            </a:r>
            <a:r>
              <a:rPr lang="ko-KR" altLang="en-US" sz="1100" i="1" kern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동일한 서비스를 </a:t>
            </a:r>
            <a:r>
              <a:rPr lang="ko-KR" altLang="en-US" sz="1100" i="1" kern="0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이용할 수 있도록 구성</a:t>
            </a:r>
          </a:p>
        </p:txBody>
      </p:sp>
      <p:sp>
        <p:nvSpPr>
          <p:cNvPr id="84" name="Rectangle 18"/>
          <p:cNvSpPr>
            <a:spLocks noChangeArrowheads="1"/>
          </p:cNvSpPr>
          <p:nvPr/>
        </p:nvSpPr>
        <p:spPr bwMode="auto">
          <a:xfrm>
            <a:off x="3825875" y="2665413"/>
            <a:ext cx="5230813" cy="1084262"/>
          </a:xfrm>
          <a:prstGeom prst="flowChartProcess">
            <a:avLst/>
          </a:prstGeom>
          <a:solidFill>
            <a:schemeClr val="bg1"/>
          </a:solidFill>
          <a:ln w="9525" algn="ctr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/>
        </p:spPr>
        <p:txBody>
          <a:bodyPr lIns="72000" tIns="0" rIns="72000" bIns="0" anchor="ctr"/>
          <a:lstStyle/>
          <a:p>
            <a:pPr algn="ctr" defTabSz="979488" latinLnBrk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60000"/>
              <a:buFont typeface="Wingdings" pitchFamily="2" charset="2"/>
              <a:buNone/>
              <a:defRPr/>
            </a:pPr>
            <a:r>
              <a:rPr lang="ko-KR" altLang="en-US" sz="1100" i="1" kern="0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언제 </a:t>
            </a:r>
            <a:r>
              <a:rPr lang="ko-KR" altLang="en-US" sz="1100" i="1" kern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어디서나 </a:t>
            </a:r>
            <a:r>
              <a:rPr lang="en" altLang="ko-KR" sz="1100" i="1" kern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XXX</a:t>
            </a:r>
            <a:r>
              <a:rPr lang="ko-KR" altLang="en-US" sz="1100" i="1" kern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서비스에 </a:t>
            </a:r>
            <a:r>
              <a:rPr lang="ko-KR" altLang="en-US" sz="1100" i="1" kern="0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접근하여</a:t>
            </a:r>
          </a:p>
          <a:p>
            <a:pPr algn="ctr" defTabSz="979488" latinLnBrk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60000"/>
              <a:buFont typeface="Wingdings" pitchFamily="2" charset="2"/>
              <a:buNone/>
              <a:defRPr/>
            </a:pPr>
            <a:r>
              <a:rPr lang="ko-KR" altLang="en-US" sz="1100" i="1" kern="0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상품정보 </a:t>
            </a:r>
            <a:r>
              <a:rPr lang="ko-KR" altLang="en-US" sz="1100" i="1" kern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및 서비스를 </a:t>
            </a:r>
            <a:r>
              <a:rPr lang="ko-KR" altLang="en-US" sz="1100" i="1" kern="0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이용할 수 있도록 구성</a:t>
            </a:r>
          </a:p>
        </p:txBody>
      </p:sp>
      <p:sp>
        <p:nvSpPr>
          <p:cNvPr id="89" name="자유형 88"/>
          <p:cNvSpPr/>
          <p:nvPr/>
        </p:nvSpPr>
        <p:spPr bwMode="auto">
          <a:xfrm>
            <a:off x="520700" y="2437426"/>
            <a:ext cx="650875" cy="101600"/>
          </a:xfrm>
          <a:custGeom>
            <a:avLst/>
            <a:gdLst>
              <a:gd name="connsiteX0" fmla="*/ 618979 w 3770142"/>
              <a:gd name="connsiteY0" fmla="*/ 0 h 647114"/>
              <a:gd name="connsiteX1" fmla="*/ 3770142 w 3770142"/>
              <a:gd name="connsiteY1" fmla="*/ 0 h 647114"/>
              <a:gd name="connsiteX2" fmla="*/ 3108960 w 3770142"/>
              <a:gd name="connsiteY2" fmla="*/ 647114 h 647114"/>
              <a:gd name="connsiteX3" fmla="*/ 0 w 3770142"/>
              <a:gd name="connsiteY3" fmla="*/ 647114 h 647114"/>
              <a:gd name="connsiteX4" fmla="*/ 618979 w 3770142"/>
              <a:gd name="connsiteY4" fmla="*/ 0 h 6471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70142" h="647114">
                <a:moveTo>
                  <a:pt x="618979" y="0"/>
                </a:moveTo>
                <a:lnTo>
                  <a:pt x="3770142" y="0"/>
                </a:lnTo>
                <a:lnTo>
                  <a:pt x="3108960" y="647114"/>
                </a:lnTo>
                <a:lnTo>
                  <a:pt x="0" y="647114"/>
                </a:lnTo>
                <a:lnTo>
                  <a:pt x="618979" y="0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  <a:ln w="28575" algn="ctr">
            <a:noFill/>
            <a:prstDash val="sysDash"/>
            <a:miter lim="800000"/>
            <a:headEnd/>
            <a:tailEnd/>
          </a:ln>
          <a:effectLst/>
        </p:spPr>
        <p:txBody>
          <a:bodyPr wrap="none" lIns="36000" tIns="36000" rIns="36000" bIns="36000" anchor="ctr"/>
          <a:lstStyle/>
          <a:p>
            <a:pPr algn="ctr" eaLnBrk="0" fontAlgn="t" latinLnBrk="0" hangingPunct="0">
              <a:spcBef>
                <a:spcPct val="50000"/>
              </a:spcBef>
              <a:spcAft>
                <a:spcPct val="5000"/>
              </a:spcAft>
              <a:defRPr/>
            </a:pPr>
            <a:endParaRPr kumimoji="0" lang="ko-KR" altLang="en-US" sz="1200" b="1" dirty="0">
              <a:solidFill>
                <a:srgbClr val="0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5495811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13"/>
          <p:cNvSpPr/>
          <p:nvPr/>
        </p:nvSpPr>
        <p:spPr>
          <a:xfrm>
            <a:off x="6105128" y="1916832"/>
            <a:ext cx="3600400" cy="288032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/>
          <p:cNvSpPr/>
          <p:nvPr/>
        </p:nvSpPr>
        <p:spPr>
          <a:xfrm>
            <a:off x="0" y="620688"/>
            <a:ext cx="4232920" cy="86409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479425" y="784373"/>
            <a:ext cx="2661604" cy="6177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chemeClr val="tx1"/>
                </a:solidFill>
                <a:miter lim="800000"/>
                <a:headEnd/>
                <a:tailEnd type="none" w="med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r>
              <a:rPr lang="en-US" altLang="ko-KR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User Experience Modeling</a:t>
            </a:r>
            <a:br>
              <a:rPr lang="en-US" altLang="ko-KR" b="1" dirty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Table of Contents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2432720" y="1988840"/>
            <a:ext cx="2587568" cy="35932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Approach</a:t>
            </a:r>
          </a:p>
          <a:p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en-US" altLang="ko-KR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User Experience modeling</a:t>
            </a:r>
          </a:p>
          <a:p>
            <a:r>
              <a:rPr lang="en-US" altLang="ko-KR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    Abstract Key Question</a:t>
            </a:r>
          </a:p>
          <a:p>
            <a:r>
              <a:rPr lang="ko-KR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    고객분석</a:t>
            </a:r>
          </a:p>
          <a:p>
            <a:r>
              <a:rPr lang="en-US" altLang="ko-KR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    Mega Trend</a:t>
            </a:r>
          </a:p>
          <a:p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en-US" altLang="ko-KR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Information architecture</a:t>
            </a:r>
          </a:p>
          <a:p>
            <a:r>
              <a:rPr lang="en-US" altLang="ko-KR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    Approach</a:t>
            </a:r>
          </a:p>
          <a:p>
            <a:r>
              <a:rPr lang="ko-KR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    고객 </a:t>
            </a:r>
            <a:r>
              <a:rPr lang="en-US" altLang="ko-KR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Need </a:t>
            </a:r>
            <a:r>
              <a:rPr lang="ko-KR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분석</a:t>
            </a:r>
          </a:p>
          <a:p>
            <a:r>
              <a:rPr lang="en-US" altLang="ko-KR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    Case Study</a:t>
            </a:r>
          </a:p>
          <a:p>
            <a:r>
              <a:rPr lang="en-US" altLang="ko-KR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    Service Grouping</a:t>
            </a:r>
          </a:p>
          <a:p>
            <a:r>
              <a:rPr lang="en-US" altLang="ko-KR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    Information Architecture Mapping</a:t>
            </a:r>
          </a:p>
          <a:p>
            <a:r>
              <a:rPr lang="ko-KR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    사이트 유형별 분류</a:t>
            </a:r>
          </a:p>
          <a:p>
            <a:r>
              <a:rPr lang="ko-KR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    페이지 타입 정의</a:t>
            </a:r>
          </a:p>
          <a:p>
            <a:r>
              <a:rPr lang="ko-KR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    핵심 특성 및 혜택</a:t>
            </a:r>
          </a:p>
          <a:p>
            <a:r>
              <a:rPr lang="en-US" altLang="ko-KR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    Service Framework</a:t>
            </a:r>
          </a:p>
          <a:p>
            <a:r>
              <a:rPr lang="ko-KR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    사업 서비스 수직 다각화</a:t>
            </a:r>
          </a:p>
          <a:p>
            <a:r>
              <a:rPr lang="ko-KR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    미래 사업으로의 서비스 수평 다각화</a:t>
            </a:r>
          </a:p>
          <a:p>
            <a:r>
              <a:rPr lang="ko-KR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    </a:t>
            </a:r>
            <a:r>
              <a:rPr lang="en-US" altLang="ko-KR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Device </a:t>
            </a:r>
            <a:r>
              <a:rPr lang="ko-KR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기반 모바일 서비스 </a:t>
            </a:r>
            <a:r>
              <a:rPr lang="en-US" altLang="ko-KR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Pool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04661" y="1988840"/>
            <a:ext cx="2900153" cy="41319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User Interface Design</a:t>
            </a:r>
          </a:p>
          <a:p>
            <a:r>
              <a:rPr lang="en-US" altLang="ko-KR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    Approach</a:t>
            </a:r>
          </a:p>
          <a:p>
            <a:r>
              <a:rPr lang="en-US" altLang="ko-KR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        Approach – framework (</a:t>
            </a:r>
            <a:r>
              <a:rPr lang="ko-KR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정의</a:t>
            </a:r>
            <a:r>
              <a:rPr lang="en-US" altLang="ko-KR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  <a:p>
            <a:r>
              <a:rPr lang="en-US" altLang="ko-KR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        Approach – framework (</a:t>
            </a:r>
            <a:r>
              <a:rPr lang="ko-KR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정보분석</a:t>
            </a:r>
            <a:r>
              <a:rPr lang="en-US" altLang="ko-KR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  <a:p>
            <a:r>
              <a:rPr lang="en-US" altLang="ko-KR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        Approach – framework (</a:t>
            </a:r>
            <a:r>
              <a:rPr lang="ko-KR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분석</a:t>
            </a:r>
            <a:r>
              <a:rPr lang="en-US" altLang="ko-KR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판단</a:t>
            </a:r>
            <a:r>
              <a:rPr lang="en-US" altLang="ko-KR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  <a:p>
            <a:r>
              <a:rPr lang="en-US" altLang="ko-KR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        Approach – framework (</a:t>
            </a:r>
            <a:r>
              <a:rPr lang="ko-KR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세부기획</a:t>
            </a:r>
            <a:r>
              <a:rPr lang="en-US" altLang="ko-KR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  <a:p>
            <a:r>
              <a:rPr lang="en-US" altLang="ko-KR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        Approach – framework (</a:t>
            </a:r>
            <a:r>
              <a:rPr lang="ko-KR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확인단계</a:t>
            </a:r>
            <a:r>
              <a:rPr lang="en-US" altLang="ko-KR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  <a:p>
            <a:r>
              <a:rPr lang="en-US" altLang="ko-KR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    U.I / U.X Design Process</a:t>
            </a:r>
          </a:p>
          <a:p>
            <a:r>
              <a:rPr lang="en-US" altLang="ko-KR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        Dynamic modeling</a:t>
            </a:r>
          </a:p>
          <a:p>
            <a:r>
              <a:rPr lang="en-US" altLang="ko-KR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    U.I / U.X Design Case</a:t>
            </a:r>
          </a:p>
          <a:p>
            <a:r>
              <a:rPr lang="en-US" altLang="ko-KR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    Case Study</a:t>
            </a:r>
          </a:p>
          <a:p>
            <a:r>
              <a:rPr lang="en-US" altLang="ko-KR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    Navigation System</a:t>
            </a:r>
          </a:p>
          <a:p>
            <a:r>
              <a:rPr lang="en-US" altLang="ko-KR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    </a:t>
            </a:r>
          </a:p>
          <a:p>
            <a:r>
              <a:rPr lang="en-US" altLang="ko-KR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    Mobile Web page</a:t>
            </a:r>
          </a:p>
          <a:p>
            <a:r>
              <a:rPr lang="en-US" altLang="ko-KR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    One source Multi Device (N-Screen)</a:t>
            </a:r>
          </a:p>
          <a:p>
            <a:r>
              <a:rPr lang="en-US" altLang="ko-KR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    Layer System</a:t>
            </a:r>
          </a:p>
          <a:p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en-US" altLang="ko-KR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Multi channel integration</a:t>
            </a:r>
          </a:p>
          <a:p>
            <a:r>
              <a:rPr lang="en-US" altLang="ko-KR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    Approach</a:t>
            </a:r>
          </a:p>
          <a:p>
            <a:r>
              <a:rPr lang="en-US" altLang="ko-KR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    Customer Scenario Modeling</a:t>
            </a:r>
          </a:p>
          <a:p>
            <a:r>
              <a:rPr lang="en-US" altLang="ko-KR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    Customer’s Need</a:t>
            </a:r>
          </a:p>
          <a:p>
            <a:r>
              <a:rPr lang="en-US" altLang="ko-KR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    Multi Channel Strategy (</a:t>
            </a:r>
            <a:r>
              <a:rPr lang="ko-KR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멀티채널의 구성</a:t>
            </a:r>
            <a:r>
              <a:rPr lang="en-US" altLang="ko-KR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  <a:p>
            <a:r>
              <a:rPr lang="ko-KR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    </a:t>
            </a:r>
            <a:r>
              <a:rPr lang="en-US" altLang="ko-KR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Integration (</a:t>
            </a:r>
            <a:r>
              <a:rPr lang="ko-KR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통합 서비스의 제공</a:t>
            </a:r>
            <a:r>
              <a:rPr lang="en-US" altLang="ko-KR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  <a:p>
            <a:r>
              <a:rPr lang="ko-KR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    </a:t>
            </a:r>
            <a:r>
              <a:rPr lang="en-US" altLang="ko-KR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Separation (</a:t>
            </a:r>
            <a:r>
              <a:rPr lang="ko-KR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각 </a:t>
            </a:r>
            <a:r>
              <a:rPr lang="ko-KR" altLang="en-US" sz="105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채널별</a:t>
            </a:r>
            <a:r>
              <a:rPr lang="ko-KR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서비스 분리</a:t>
            </a:r>
            <a:r>
              <a:rPr lang="en-US" altLang="ko-KR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26767027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44017" y="91339"/>
            <a:ext cx="7401271" cy="385333"/>
          </a:xfrm>
          <a:prstGeom prst="rect">
            <a:avLst/>
          </a:prstGeom>
          <a:noFill/>
        </p:spPr>
        <p:txBody>
          <a:bodyPr wrap="square" lIns="0" tIns="53643" rIns="0" bIns="53643" rtlCol="0">
            <a:spAutoFit/>
          </a:bodyPr>
          <a:lstStyle/>
          <a:p>
            <a:r>
              <a:rPr kumimoji="1" lang="en-US" altLang="ko-KR" b="1" kern="0" dirty="0">
                <a:latin typeface="나눔고딕" panose="020D0604000000000000" pitchFamily="50" charset="-127"/>
                <a:ea typeface="나눔고딕" panose="020D0604000000000000" pitchFamily="50" charset="-127"/>
                <a:cs typeface="산돌고딕 M"/>
              </a:rPr>
              <a:t>User Interface Design</a:t>
            </a:r>
            <a:endParaRPr kumimoji="1" lang="ko-KR" altLang="en-US" b="1" kern="0" dirty="0">
              <a:latin typeface="나눔고딕" panose="020D0604000000000000" pitchFamily="50" charset="-127"/>
              <a:ea typeface="나눔고딕" panose="020D0604000000000000" pitchFamily="50" charset="-127"/>
              <a:cs typeface="산돌고딕 M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44017" y="683985"/>
            <a:ext cx="96335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Approach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8504" y="991762"/>
            <a:ext cx="8928992" cy="307777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What is U.I / U.X design?</a:t>
            </a:r>
          </a:p>
        </p:txBody>
      </p:sp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2605336" y="2458491"/>
            <a:ext cx="2362200" cy="2819400"/>
          </a:xfrm>
          <a:prstGeom prst="rect">
            <a:avLst/>
          </a:prstGeom>
          <a:solidFill>
            <a:srgbClr val="FFFFCC"/>
          </a:solidFill>
          <a:ln w="6350">
            <a:solidFill>
              <a:schemeClr val="bg1">
                <a:lumMod val="75000"/>
              </a:schemeClr>
            </a:solidFill>
            <a:miter lim="800000"/>
            <a:headEnd/>
            <a:tailEnd type="none" w="med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noAutofit/>
          </a:bodyPr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" name="Line 6"/>
          <p:cNvSpPr>
            <a:spLocks noChangeShapeType="1"/>
          </p:cNvSpPr>
          <p:nvPr/>
        </p:nvSpPr>
        <p:spPr bwMode="auto">
          <a:xfrm>
            <a:off x="3775324" y="3841204"/>
            <a:ext cx="0" cy="130175"/>
          </a:xfrm>
          <a:prstGeom prst="line">
            <a:avLst/>
          </a:prstGeom>
          <a:noFill/>
          <a:ln w="6350">
            <a:solidFill>
              <a:schemeClr val="bg1">
                <a:lumMod val="50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noAutofit/>
          </a:bodyPr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" name="Line 7"/>
          <p:cNvSpPr>
            <a:spLocks noChangeShapeType="1"/>
          </p:cNvSpPr>
          <p:nvPr/>
        </p:nvSpPr>
        <p:spPr bwMode="auto">
          <a:xfrm>
            <a:off x="3111749" y="3971379"/>
            <a:ext cx="1327150" cy="0"/>
          </a:xfrm>
          <a:prstGeom prst="line">
            <a:avLst/>
          </a:prstGeom>
          <a:noFill/>
          <a:ln w="6350">
            <a:solidFill>
              <a:schemeClr val="bg1">
                <a:lumMod val="50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noAutofit/>
          </a:bodyPr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" name="Line 8"/>
          <p:cNvSpPr>
            <a:spLocks noChangeShapeType="1"/>
          </p:cNvSpPr>
          <p:nvPr/>
        </p:nvSpPr>
        <p:spPr bwMode="auto">
          <a:xfrm>
            <a:off x="3111749" y="3971379"/>
            <a:ext cx="0" cy="128587"/>
          </a:xfrm>
          <a:prstGeom prst="line">
            <a:avLst/>
          </a:prstGeom>
          <a:noFill/>
          <a:ln w="6350">
            <a:solidFill>
              <a:schemeClr val="bg1">
                <a:lumMod val="50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noAutofit/>
          </a:bodyPr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1" name="Line 9"/>
          <p:cNvSpPr>
            <a:spLocks noChangeShapeType="1"/>
          </p:cNvSpPr>
          <p:nvPr/>
        </p:nvSpPr>
        <p:spPr bwMode="auto">
          <a:xfrm>
            <a:off x="3376861" y="3971379"/>
            <a:ext cx="0" cy="128587"/>
          </a:xfrm>
          <a:prstGeom prst="line">
            <a:avLst/>
          </a:prstGeom>
          <a:noFill/>
          <a:ln w="6350">
            <a:solidFill>
              <a:schemeClr val="bg1">
                <a:lumMod val="50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noAutofit/>
          </a:bodyPr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2" name="Line 10"/>
          <p:cNvSpPr>
            <a:spLocks noChangeShapeType="1"/>
          </p:cNvSpPr>
          <p:nvPr/>
        </p:nvSpPr>
        <p:spPr bwMode="auto">
          <a:xfrm>
            <a:off x="3641974" y="3971379"/>
            <a:ext cx="0" cy="128587"/>
          </a:xfrm>
          <a:prstGeom prst="line">
            <a:avLst/>
          </a:prstGeom>
          <a:noFill/>
          <a:ln w="6350">
            <a:solidFill>
              <a:schemeClr val="bg1">
                <a:lumMod val="50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noAutofit/>
          </a:bodyPr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3" name="Line 11"/>
          <p:cNvSpPr>
            <a:spLocks noChangeShapeType="1"/>
          </p:cNvSpPr>
          <p:nvPr/>
        </p:nvSpPr>
        <p:spPr bwMode="auto">
          <a:xfrm>
            <a:off x="3908674" y="3971379"/>
            <a:ext cx="0" cy="128587"/>
          </a:xfrm>
          <a:prstGeom prst="line">
            <a:avLst/>
          </a:prstGeom>
          <a:noFill/>
          <a:ln w="6350">
            <a:solidFill>
              <a:schemeClr val="bg1">
                <a:lumMod val="50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noAutofit/>
          </a:bodyPr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4" name="Line 12"/>
          <p:cNvSpPr>
            <a:spLocks noChangeShapeType="1"/>
          </p:cNvSpPr>
          <p:nvPr/>
        </p:nvSpPr>
        <p:spPr bwMode="auto">
          <a:xfrm>
            <a:off x="4438899" y="3971379"/>
            <a:ext cx="0" cy="128587"/>
          </a:xfrm>
          <a:prstGeom prst="line">
            <a:avLst/>
          </a:prstGeom>
          <a:noFill/>
          <a:ln w="6350">
            <a:solidFill>
              <a:schemeClr val="bg1">
                <a:lumMod val="50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noAutofit/>
          </a:bodyPr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5" name="Rectangle 13"/>
          <p:cNvSpPr>
            <a:spLocks noChangeArrowheads="1"/>
          </p:cNvSpPr>
          <p:nvPr/>
        </p:nvSpPr>
        <p:spPr bwMode="auto">
          <a:xfrm>
            <a:off x="3641974" y="3711029"/>
            <a:ext cx="266700" cy="130175"/>
          </a:xfrm>
          <a:prstGeom prst="rect">
            <a:avLst/>
          </a:prstGeom>
          <a:solidFill>
            <a:srgbClr val="96969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63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noAutofit/>
          </a:bodyPr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6" name="Rectangle 14"/>
          <p:cNvSpPr>
            <a:spLocks noChangeArrowheads="1"/>
          </p:cNvSpPr>
          <p:nvPr/>
        </p:nvSpPr>
        <p:spPr bwMode="auto">
          <a:xfrm>
            <a:off x="3045074" y="4099966"/>
            <a:ext cx="133350" cy="130175"/>
          </a:xfrm>
          <a:prstGeom prst="rect">
            <a:avLst/>
          </a:prstGeom>
          <a:solidFill>
            <a:srgbClr val="96969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63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noAutofit/>
          </a:bodyPr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7" name="Rectangle 15"/>
          <p:cNvSpPr>
            <a:spLocks noChangeArrowheads="1"/>
          </p:cNvSpPr>
          <p:nvPr/>
        </p:nvSpPr>
        <p:spPr bwMode="auto">
          <a:xfrm>
            <a:off x="3310186" y="4099966"/>
            <a:ext cx="133350" cy="130175"/>
          </a:xfrm>
          <a:prstGeom prst="rect">
            <a:avLst/>
          </a:prstGeom>
          <a:solidFill>
            <a:srgbClr val="96969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63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noAutofit/>
          </a:bodyPr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" name="Rectangle 16"/>
          <p:cNvSpPr>
            <a:spLocks noChangeArrowheads="1"/>
          </p:cNvSpPr>
          <p:nvPr/>
        </p:nvSpPr>
        <p:spPr bwMode="auto">
          <a:xfrm>
            <a:off x="3576886" y="4099966"/>
            <a:ext cx="131763" cy="130175"/>
          </a:xfrm>
          <a:prstGeom prst="rect">
            <a:avLst/>
          </a:prstGeom>
          <a:solidFill>
            <a:srgbClr val="96969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63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noAutofit/>
          </a:bodyPr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9" name="Rectangle 17"/>
          <p:cNvSpPr>
            <a:spLocks noChangeArrowheads="1"/>
          </p:cNvSpPr>
          <p:nvPr/>
        </p:nvSpPr>
        <p:spPr bwMode="auto">
          <a:xfrm>
            <a:off x="3841999" y="4099966"/>
            <a:ext cx="131762" cy="130175"/>
          </a:xfrm>
          <a:prstGeom prst="rect">
            <a:avLst/>
          </a:prstGeom>
          <a:solidFill>
            <a:srgbClr val="96969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63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noAutofit/>
          </a:bodyPr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0" name="Rectangle 18"/>
          <p:cNvSpPr>
            <a:spLocks noChangeArrowheads="1"/>
          </p:cNvSpPr>
          <p:nvPr/>
        </p:nvSpPr>
        <p:spPr bwMode="auto">
          <a:xfrm>
            <a:off x="4273799" y="4165054"/>
            <a:ext cx="131762" cy="128587"/>
          </a:xfrm>
          <a:prstGeom prst="rect">
            <a:avLst/>
          </a:prstGeom>
          <a:solidFill>
            <a:srgbClr val="96969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63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noAutofit/>
          </a:bodyPr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1" name="Rectangle 19"/>
          <p:cNvSpPr>
            <a:spLocks noChangeArrowheads="1"/>
          </p:cNvSpPr>
          <p:nvPr/>
        </p:nvSpPr>
        <p:spPr bwMode="auto">
          <a:xfrm>
            <a:off x="4405561" y="4293641"/>
            <a:ext cx="133350" cy="130175"/>
          </a:xfrm>
          <a:prstGeom prst="rect">
            <a:avLst/>
          </a:prstGeom>
          <a:solidFill>
            <a:srgbClr val="96969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63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noAutofit/>
          </a:bodyPr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2" name="Rectangle 20"/>
          <p:cNvSpPr>
            <a:spLocks noChangeArrowheads="1"/>
          </p:cNvSpPr>
          <p:nvPr/>
        </p:nvSpPr>
        <p:spPr bwMode="auto">
          <a:xfrm>
            <a:off x="4538911" y="4423816"/>
            <a:ext cx="131763" cy="130175"/>
          </a:xfrm>
          <a:prstGeom prst="rect">
            <a:avLst/>
          </a:prstGeom>
          <a:solidFill>
            <a:srgbClr val="96969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63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noAutofit/>
          </a:bodyPr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3" name="Rectangle 21"/>
          <p:cNvSpPr>
            <a:spLocks noChangeArrowheads="1"/>
          </p:cNvSpPr>
          <p:nvPr/>
        </p:nvSpPr>
        <p:spPr bwMode="auto">
          <a:xfrm>
            <a:off x="4472236" y="4684166"/>
            <a:ext cx="133350" cy="128588"/>
          </a:xfrm>
          <a:prstGeom prst="rect">
            <a:avLst/>
          </a:prstGeom>
          <a:solidFill>
            <a:srgbClr val="96969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63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noAutofit/>
          </a:bodyPr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4" name="Rectangle 22"/>
          <p:cNvSpPr>
            <a:spLocks noChangeArrowheads="1"/>
          </p:cNvSpPr>
          <p:nvPr/>
        </p:nvSpPr>
        <p:spPr bwMode="auto">
          <a:xfrm>
            <a:off x="4273799" y="4553991"/>
            <a:ext cx="131762" cy="130175"/>
          </a:xfrm>
          <a:prstGeom prst="rect">
            <a:avLst/>
          </a:prstGeom>
          <a:solidFill>
            <a:srgbClr val="96969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63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noAutofit/>
          </a:bodyPr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5" name="Rectangle 23"/>
          <p:cNvSpPr>
            <a:spLocks noChangeArrowheads="1"/>
          </p:cNvSpPr>
          <p:nvPr/>
        </p:nvSpPr>
        <p:spPr bwMode="auto">
          <a:xfrm>
            <a:off x="4605586" y="4293641"/>
            <a:ext cx="131763" cy="130175"/>
          </a:xfrm>
          <a:prstGeom prst="rect">
            <a:avLst/>
          </a:prstGeom>
          <a:solidFill>
            <a:srgbClr val="96969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63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noAutofit/>
          </a:bodyPr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6" name="Rectangle 24"/>
          <p:cNvSpPr>
            <a:spLocks noChangeArrowheads="1"/>
          </p:cNvSpPr>
          <p:nvPr/>
        </p:nvSpPr>
        <p:spPr bwMode="auto">
          <a:xfrm>
            <a:off x="4140449" y="4423816"/>
            <a:ext cx="133350" cy="130175"/>
          </a:xfrm>
          <a:prstGeom prst="rect">
            <a:avLst/>
          </a:prstGeom>
          <a:solidFill>
            <a:srgbClr val="96969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63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noAutofit/>
          </a:bodyPr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7" name="Rectangle 25"/>
          <p:cNvSpPr>
            <a:spLocks noChangeArrowheads="1"/>
          </p:cNvSpPr>
          <p:nvPr/>
        </p:nvSpPr>
        <p:spPr bwMode="auto">
          <a:xfrm>
            <a:off x="4207124" y="4293641"/>
            <a:ext cx="131762" cy="130175"/>
          </a:xfrm>
          <a:prstGeom prst="rect">
            <a:avLst/>
          </a:prstGeom>
          <a:solidFill>
            <a:srgbClr val="96969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63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noAutofit/>
          </a:bodyPr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8" name="Oval 26"/>
          <p:cNvSpPr>
            <a:spLocks noChangeArrowheads="1"/>
          </p:cNvSpPr>
          <p:nvPr/>
        </p:nvSpPr>
        <p:spPr bwMode="auto">
          <a:xfrm>
            <a:off x="4007099" y="4099966"/>
            <a:ext cx="863600" cy="777875"/>
          </a:xfrm>
          <a:prstGeom prst="ellipse">
            <a:avLst/>
          </a:prstGeom>
          <a:noFill/>
          <a:ln w="6350">
            <a:solidFill>
              <a:schemeClr val="bg1">
                <a:lumMod val="50000"/>
              </a:schemeClr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noAutofit/>
          </a:bodyPr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9" name="Line 27"/>
          <p:cNvSpPr>
            <a:spLocks noChangeShapeType="1"/>
          </p:cNvSpPr>
          <p:nvPr/>
        </p:nvSpPr>
        <p:spPr bwMode="auto">
          <a:xfrm>
            <a:off x="3111749" y="4230141"/>
            <a:ext cx="0" cy="128588"/>
          </a:xfrm>
          <a:prstGeom prst="line">
            <a:avLst/>
          </a:prstGeom>
          <a:noFill/>
          <a:ln w="6350">
            <a:solidFill>
              <a:schemeClr val="bg1">
                <a:lumMod val="50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noAutofit/>
          </a:bodyPr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0" name="Line 28"/>
          <p:cNvSpPr>
            <a:spLocks noChangeShapeType="1"/>
          </p:cNvSpPr>
          <p:nvPr/>
        </p:nvSpPr>
        <p:spPr bwMode="auto">
          <a:xfrm>
            <a:off x="2846636" y="4358729"/>
            <a:ext cx="530225" cy="0"/>
          </a:xfrm>
          <a:prstGeom prst="line">
            <a:avLst/>
          </a:prstGeom>
          <a:noFill/>
          <a:ln w="6350">
            <a:solidFill>
              <a:schemeClr val="bg1">
                <a:lumMod val="50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noAutofit/>
          </a:bodyPr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1" name="Line 29"/>
          <p:cNvSpPr>
            <a:spLocks noChangeShapeType="1"/>
          </p:cNvSpPr>
          <p:nvPr/>
        </p:nvSpPr>
        <p:spPr bwMode="auto">
          <a:xfrm>
            <a:off x="2846636" y="4358729"/>
            <a:ext cx="0" cy="130175"/>
          </a:xfrm>
          <a:prstGeom prst="line">
            <a:avLst/>
          </a:prstGeom>
          <a:noFill/>
          <a:ln w="6350">
            <a:solidFill>
              <a:schemeClr val="bg1">
                <a:lumMod val="50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noAutofit/>
          </a:bodyPr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2" name="Line 30"/>
          <p:cNvSpPr>
            <a:spLocks noChangeShapeType="1"/>
          </p:cNvSpPr>
          <p:nvPr/>
        </p:nvSpPr>
        <p:spPr bwMode="auto">
          <a:xfrm>
            <a:off x="3111749" y="4358729"/>
            <a:ext cx="0" cy="130175"/>
          </a:xfrm>
          <a:prstGeom prst="line">
            <a:avLst/>
          </a:prstGeom>
          <a:noFill/>
          <a:ln w="6350">
            <a:solidFill>
              <a:schemeClr val="bg1">
                <a:lumMod val="50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noAutofit/>
          </a:bodyPr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3" name="Line 31"/>
          <p:cNvSpPr>
            <a:spLocks noChangeShapeType="1"/>
          </p:cNvSpPr>
          <p:nvPr/>
        </p:nvSpPr>
        <p:spPr bwMode="auto">
          <a:xfrm>
            <a:off x="3376861" y="4358729"/>
            <a:ext cx="0" cy="130175"/>
          </a:xfrm>
          <a:prstGeom prst="line">
            <a:avLst/>
          </a:prstGeom>
          <a:noFill/>
          <a:ln w="6350">
            <a:solidFill>
              <a:schemeClr val="bg1">
                <a:lumMod val="50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noAutofit/>
          </a:bodyPr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4" name="Rectangle 32"/>
          <p:cNvSpPr>
            <a:spLocks noChangeArrowheads="1"/>
          </p:cNvSpPr>
          <p:nvPr/>
        </p:nvSpPr>
        <p:spPr bwMode="auto">
          <a:xfrm>
            <a:off x="2779961" y="4488904"/>
            <a:ext cx="133350" cy="128587"/>
          </a:xfrm>
          <a:prstGeom prst="rect">
            <a:avLst/>
          </a:prstGeom>
          <a:solidFill>
            <a:srgbClr val="96969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63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noAutofit/>
          </a:bodyPr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5" name="Rectangle 33"/>
          <p:cNvSpPr>
            <a:spLocks noChangeArrowheads="1"/>
          </p:cNvSpPr>
          <p:nvPr/>
        </p:nvSpPr>
        <p:spPr bwMode="auto">
          <a:xfrm>
            <a:off x="3045074" y="4488904"/>
            <a:ext cx="133350" cy="128587"/>
          </a:xfrm>
          <a:prstGeom prst="rect">
            <a:avLst/>
          </a:prstGeom>
          <a:solidFill>
            <a:srgbClr val="96969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63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noAutofit/>
          </a:bodyPr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6" name="Rectangle 34"/>
          <p:cNvSpPr>
            <a:spLocks noChangeArrowheads="1"/>
          </p:cNvSpPr>
          <p:nvPr/>
        </p:nvSpPr>
        <p:spPr bwMode="auto">
          <a:xfrm>
            <a:off x="3310186" y="4488904"/>
            <a:ext cx="133350" cy="128587"/>
          </a:xfrm>
          <a:prstGeom prst="rect">
            <a:avLst/>
          </a:prstGeom>
          <a:solidFill>
            <a:srgbClr val="96969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63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noAutofit/>
          </a:bodyPr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37" name="AutoShape 35"/>
          <p:cNvCxnSpPr>
            <a:cxnSpLocks noChangeShapeType="1"/>
            <a:stCxn id="28" idx="2"/>
            <a:endCxn id="36" idx="3"/>
          </p:cNvCxnSpPr>
          <p:nvPr/>
        </p:nvCxnSpPr>
        <p:spPr bwMode="auto">
          <a:xfrm rot="10800000" flipV="1">
            <a:off x="3443536" y="4488904"/>
            <a:ext cx="563563" cy="65087"/>
          </a:xfrm>
          <a:prstGeom prst="bentConnector3">
            <a:avLst>
              <a:gd name="adj1" fmla="val 50000"/>
            </a:avLst>
          </a:prstGeom>
          <a:noFill/>
          <a:ln w="6350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8" name="Freeform 36"/>
          <p:cNvSpPr>
            <a:spLocks/>
          </p:cNvSpPr>
          <p:nvPr/>
        </p:nvSpPr>
        <p:spPr bwMode="auto">
          <a:xfrm>
            <a:off x="3032374" y="3653879"/>
            <a:ext cx="33337" cy="11112"/>
          </a:xfrm>
          <a:custGeom>
            <a:avLst/>
            <a:gdLst>
              <a:gd name="T0" fmla="*/ 0 w 24"/>
              <a:gd name="T1" fmla="*/ 8 h 8"/>
              <a:gd name="T2" fmla="*/ 24 w 24"/>
              <a:gd name="T3" fmla="*/ 0 h 8"/>
              <a:gd name="T4" fmla="*/ 0 w 24"/>
              <a:gd name="T5" fmla="*/ 8 h 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4" h="8">
                <a:moveTo>
                  <a:pt x="0" y="8"/>
                </a:moveTo>
                <a:cubicBezTo>
                  <a:pt x="8" y="5"/>
                  <a:pt x="24" y="0"/>
                  <a:pt x="24" y="0"/>
                </a:cubicBezTo>
                <a:cubicBezTo>
                  <a:pt x="24" y="0"/>
                  <a:pt x="8" y="5"/>
                  <a:pt x="0" y="8"/>
                </a:cubicBezTo>
                <a:close/>
              </a:path>
            </a:pathLst>
          </a:cu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6350" cap="flat" cmpd="sng">
                <a:solidFill>
                  <a:schemeClr val="tx1"/>
                </a:solidFill>
                <a:prstDash val="solid"/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noAutofit/>
          </a:bodyPr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9" name="Oval 37"/>
          <p:cNvSpPr>
            <a:spLocks noChangeArrowheads="1"/>
          </p:cNvSpPr>
          <p:nvPr/>
        </p:nvSpPr>
        <p:spPr bwMode="auto">
          <a:xfrm>
            <a:off x="2614861" y="2048916"/>
            <a:ext cx="2352675" cy="85725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  <a:round/>
            <a:headEnd/>
            <a:tailEnd type="none" w="med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noAutofit/>
          </a:bodyPr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40" name="Picture 38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76861" y="2191791"/>
            <a:ext cx="877888" cy="590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1" name="Rectangle 39"/>
          <p:cNvSpPr>
            <a:spLocks noChangeArrowheads="1"/>
          </p:cNvSpPr>
          <p:nvPr/>
        </p:nvSpPr>
        <p:spPr bwMode="auto">
          <a:xfrm>
            <a:off x="2605336" y="5354091"/>
            <a:ext cx="2362200" cy="457200"/>
          </a:xfrm>
          <a:prstGeom prst="rect">
            <a:avLst/>
          </a:prstGeom>
          <a:solidFill>
            <a:srgbClr val="FFFFCC"/>
          </a:solidFill>
          <a:ln w="6350">
            <a:solidFill>
              <a:srgbClr val="B2B2B2"/>
            </a:solidFill>
            <a:miter lim="800000"/>
            <a:headEnd/>
            <a:tailEnd type="none" w="med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noAutofit/>
          </a:bodyPr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2" name="Rectangle 40"/>
          <p:cNvSpPr>
            <a:spLocks noChangeArrowheads="1"/>
          </p:cNvSpPr>
          <p:nvPr/>
        </p:nvSpPr>
        <p:spPr bwMode="auto">
          <a:xfrm>
            <a:off x="4510336" y="5582691"/>
            <a:ext cx="131763" cy="128588"/>
          </a:xfrm>
          <a:prstGeom prst="rect">
            <a:avLst/>
          </a:prstGeom>
          <a:solidFill>
            <a:srgbClr val="96969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63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noAutofit/>
          </a:bodyPr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3" name="Rectangle 41"/>
          <p:cNvSpPr>
            <a:spLocks noChangeArrowheads="1"/>
          </p:cNvSpPr>
          <p:nvPr/>
        </p:nvSpPr>
        <p:spPr bwMode="auto">
          <a:xfrm>
            <a:off x="3672136" y="5506491"/>
            <a:ext cx="133350" cy="130175"/>
          </a:xfrm>
          <a:prstGeom prst="rect">
            <a:avLst/>
          </a:prstGeom>
          <a:solidFill>
            <a:srgbClr val="96969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63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noAutofit/>
          </a:bodyPr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4" name="Rectangle 42"/>
          <p:cNvSpPr>
            <a:spLocks noChangeArrowheads="1"/>
          </p:cNvSpPr>
          <p:nvPr/>
        </p:nvSpPr>
        <p:spPr bwMode="auto">
          <a:xfrm>
            <a:off x="4434136" y="5430291"/>
            <a:ext cx="131763" cy="130175"/>
          </a:xfrm>
          <a:prstGeom prst="rect">
            <a:avLst/>
          </a:prstGeom>
          <a:solidFill>
            <a:srgbClr val="96969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63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noAutofit/>
          </a:bodyPr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5" name="Rectangle 43"/>
          <p:cNvSpPr>
            <a:spLocks noChangeArrowheads="1"/>
          </p:cNvSpPr>
          <p:nvPr/>
        </p:nvSpPr>
        <p:spPr bwMode="auto">
          <a:xfrm>
            <a:off x="3205411" y="5592216"/>
            <a:ext cx="133350" cy="128588"/>
          </a:xfrm>
          <a:prstGeom prst="rect">
            <a:avLst/>
          </a:prstGeom>
          <a:solidFill>
            <a:srgbClr val="96969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63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noAutofit/>
          </a:bodyPr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6" name="Rectangle 44"/>
          <p:cNvSpPr>
            <a:spLocks noChangeArrowheads="1"/>
          </p:cNvSpPr>
          <p:nvPr/>
        </p:nvSpPr>
        <p:spPr bwMode="auto">
          <a:xfrm>
            <a:off x="3006974" y="5538241"/>
            <a:ext cx="131762" cy="130175"/>
          </a:xfrm>
          <a:prstGeom prst="rect">
            <a:avLst/>
          </a:prstGeom>
          <a:solidFill>
            <a:srgbClr val="96969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63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noAutofit/>
          </a:bodyPr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7" name="Rectangle 45"/>
          <p:cNvSpPr>
            <a:spLocks noChangeArrowheads="1"/>
          </p:cNvSpPr>
          <p:nvPr/>
        </p:nvSpPr>
        <p:spPr bwMode="auto">
          <a:xfrm>
            <a:off x="2833936" y="5430291"/>
            <a:ext cx="131763" cy="130175"/>
          </a:xfrm>
          <a:prstGeom prst="rect">
            <a:avLst/>
          </a:prstGeom>
          <a:solidFill>
            <a:srgbClr val="96969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63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noAutofit/>
          </a:bodyPr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8" name="AutoShape 46"/>
          <p:cNvSpPr>
            <a:spLocks noChangeArrowheads="1"/>
          </p:cNvSpPr>
          <p:nvPr/>
        </p:nvSpPr>
        <p:spPr bwMode="auto">
          <a:xfrm>
            <a:off x="5129461" y="2591841"/>
            <a:ext cx="523875" cy="3190875"/>
          </a:xfrm>
          <a:prstGeom prst="upDownArrow">
            <a:avLst>
              <a:gd name="adj1" fmla="val 50000"/>
              <a:gd name="adj2" fmla="val 71794"/>
            </a:avLst>
          </a:prstGeom>
          <a:gradFill rotWithShape="1">
            <a:gsLst>
              <a:gs pos="0">
                <a:srgbClr val="FFFFCC"/>
              </a:gs>
              <a:gs pos="50000">
                <a:srgbClr val="FFFFCC">
                  <a:gamma/>
                  <a:shade val="78824"/>
                  <a:invGamma/>
                </a:srgbClr>
              </a:gs>
              <a:gs pos="100000">
                <a:srgbClr val="FFFFCC"/>
              </a:gs>
            </a:gsLst>
            <a:lin ang="5400000" scaled="1"/>
          </a:gradFill>
          <a:ln w="6350">
            <a:solidFill>
              <a:schemeClr val="accent2"/>
            </a:solidFill>
            <a:miter lim="800000"/>
            <a:headEnd/>
            <a:tailEnd type="none" w="med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noAutofit/>
          </a:bodyPr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3" name="Line 51"/>
          <p:cNvSpPr>
            <a:spLocks noChangeShapeType="1"/>
          </p:cNvSpPr>
          <p:nvPr/>
        </p:nvSpPr>
        <p:spPr bwMode="auto">
          <a:xfrm>
            <a:off x="1386136" y="2353716"/>
            <a:ext cx="20574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 type="none" w="med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noAutofit/>
          </a:bodyPr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4" name="Line 52"/>
          <p:cNvSpPr>
            <a:spLocks noChangeShapeType="1"/>
          </p:cNvSpPr>
          <p:nvPr/>
        </p:nvSpPr>
        <p:spPr bwMode="auto">
          <a:xfrm>
            <a:off x="1462336" y="4030116"/>
            <a:ext cx="13716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 type="none" w="med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noAutofit/>
          </a:bodyPr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5" name="Line 53"/>
          <p:cNvSpPr>
            <a:spLocks noChangeShapeType="1"/>
          </p:cNvSpPr>
          <p:nvPr/>
        </p:nvSpPr>
        <p:spPr bwMode="auto">
          <a:xfrm>
            <a:off x="1643311" y="5630316"/>
            <a:ext cx="1190625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 type="none" w="med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noAutofit/>
          </a:bodyPr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6" name="Line 54"/>
          <p:cNvSpPr>
            <a:spLocks noChangeShapeType="1"/>
          </p:cNvSpPr>
          <p:nvPr/>
        </p:nvSpPr>
        <p:spPr bwMode="auto">
          <a:xfrm>
            <a:off x="5424736" y="4344441"/>
            <a:ext cx="8382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 type="none" w="med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noAutofit/>
          </a:bodyPr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7" name="Freeform 55"/>
          <p:cNvSpPr>
            <a:spLocks/>
          </p:cNvSpPr>
          <p:nvPr/>
        </p:nvSpPr>
        <p:spPr bwMode="auto">
          <a:xfrm>
            <a:off x="3824536" y="2810916"/>
            <a:ext cx="2057400" cy="2819400"/>
          </a:xfrm>
          <a:custGeom>
            <a:avLst/>
            <a:gdLst>
              <a:gd name="T0" fmla="*/ 288 w 1176"/>
              <a:gd name="T1" fmla="*/ 1776 h 1776"/>
              <a:gd name="T2" fmla="*/ 1152 w 1176"/>
              <a:gd name="T3" fmla="*/ 1536 h 1776"/>
              <a:gd name="T4" fmla="*/ 432 w 1176"/>
              <a:gd name="T5" fmla="*/ 1248 h 1776"/>
              <a:gd name="T6" fmla="*/ 96 w 1176"/>
              <a:gd name="T7" fmla="*/ 768 h 1776"/>
              <a:gd name="T8" fmla="*/ 0 w 1176"/>
              <a:gd name="T9" fmla="*/ 0 h 17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176" h="1776">
                <a:moveTo>
                  <a:pt x="288" y="1776"/>
                </a:moveTo>
                <a:cubicBezTo>
                  <a:pt x="708" y="1700"/>
                  <a:pt x="1128" y="1624"/>
                  <a:pt x="1152" y="1536"/>
                </a:cubicBezTo>
                <a:cubicBezTo>
                  <a:pt x="1176" y="1448"/>
                  <a:pt x="608" y="1376"/>
                  <a:pt x="432" y="1248"/>
                </a:cubicBezTo>
                <a:cubicBezTo>
                  <a:pt x="256" y="1120"/>
                  <a:pt x="168" y="976"/>
                  <a:pt x="96" y="768"/>
                </a:cubicBezTo>
                <a:cubicBezTo>
                  <a:pt x="24" y="560"/>
                  <a:pt x="12" y="280"/>
                  <a:pt x="0" y="0"/>
                </a:cubicBezTo>
              </a:path>
            </a:pathLst>
          </a:custGeom>
          <a:noFill/>
          <a:ln w="28575" cap="flat" cmpd="sng">
            <a:solidFill>
              <a:schemeClr val="tx1">
                <a:lumMod val="50000"/>
                <a:lumOff val="50000"/>
              </a:schemeClr>
            </a:solidFill>
            <a:prstDash val="sysDot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noAutofit/>
          </a:bodyPr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8" name="Text Box 56"/>
          <p:cNvSpPr txBox="1">
            <a:spLocks noChangeArrowheads="1"/>
          </p:cNvSpPr>
          <p:nvPr/>
        </p:nvSpPr>
        <p:spPr bwMode="auto">
          <a:xfrm>
            <a:off x="6339136" y="1220241"/>
            <a:ext cx="2819400" cy="2751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AEAEA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>
            <a:noAutofit/>
          </a:bodyPr>
          <a:lstStyle>
            <a:lvl1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1084263" indent="-45720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720850" indent="-45720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2357438" indent="-45720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994025" indent="-45720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3451225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3908425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4365625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4822825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>
              <a:lnSpc>
                <a:spcPct val="110000"/>
              </a:lnSpc>
              <a:spcBef>
                <a:spcPct val="20000"/>
              </a:spcBef>
            </a:pPr>
            <a:r>
              <a:rPr kumimoji="0"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U.I / U.X design</a:t>
            </a:r>
            <a:r>
              <a:rPr kumimoji="0"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은 단순히 화면 레이아웃을 그리는 것을</a:t>
            </a:r>
            <a:r>
              <a:rPr kumimoji="0"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kumimoji="0"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의미하는 것은 아닙니다</a:t>
            </a:r>
            <a:r>
              <a:rPr kumimoji="0"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  <a:p>
            <a:pPr>
              <a:lnSpc>
                <a:spcPct val="110000"/>
              </a:lnSpc>
              <a:spcBef>
                <a:spcPct val="20000"/>
              </a:spcBef>
            </a:pPr>
            <a:endParaRPr kumimoji="0"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ct val="110000"/>
              </a:lnSpc>
              <a:spcBef>
                <a:spcPct val="20000"/>
              </a:spcBef>
            </a:pPr>
            <a:r>
              <a:rPr kumimoji="0"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U.I / U.X design</a:t>
            </a:r>
            <a:r>
              <a:rPr kumimoji="0"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이란 다음과 같은 것입니다</a:t>
            </a:r>
            <a:r>
              <a:rPr kumimoji="0"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  <a:p>
            <a:pPr>
              <a:lnSpc>
                <a:spcPct val="110000"/>
              </a:lnSpc>
              <a:spcBef>
                <a:spcPct val="20000"/>
              </a:spcBef>
            </a:pPr>
            <a:endParaRPr kumimoji="0" lang="en-US" altLang="ko-KR" sz="1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ct val="110000"/>
              </a:lnSpc>
              <a:spcBef>
                <a:spcPct val="20000"/>
              </a:spcBef>
            </a:pPr>
            <a:r>
              <a:rPr kumimoji="0"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1</a:t>
            </a:r>
            <a:r>
              <a:rPr kumimoji="0"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kumimoji="0"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사이트의 정보를</a:t>
            </a:r>
          </a:p>
          <a:p>
            <a:pPr>
              <a:lnSpc>
                <a:spcPct val="110000"/>
              </a:lnSpc>
              <a:spcBef>
                <a:spcPct val="20000"/>
              </a:spcBef>
            </a:pPr>
            <a:endParaRPr kumimoji="0" lang="en-US" altLang="ko-KR" sz="1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ct val="110000"/>
              </a:lnSpc>
              <a:spcBef>
                <a:spcPct val="20000"/>
              </a:spcBef>
            </a:pPr>
            <a:r>
              <a:rPr kumimoji="0"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2</a:t>
            </a:r>
            <a:r>
              <a:rPr kumimoji="0"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kumimoji="0"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사용자의 </a:t>
            </a:r>
            <a:r>
              <a:rPr kumimoji="0"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Task Flow</a:t>
            </a:r>
            <a:r>
              <a:rPr kumimoji="0"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에 맞추어 </a:t>
            </a:r>
          </a:p>
          <a:p>
            <a:pPr>
              <a:lnSpc>
                <a:spcPct val="110000"/>
              </a:lnSpc>
              <a:spcBef>
                <a:spcPct val="20000"/>
              </a:spcBef>
            </a:pPr>
            <a:endParaRPr kumimoji="0" lang="en-US" altLang="ko-KR" sz="1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ct val="110000"/>
              </a:lnSpc>
              <a:spcBef>
                <a:spcPct val="20000"/>
              </a:spcBef>
            </a:pPr>
            <a:r>
              <a:rPr kumimoji="0"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3</a:t>
            </a:r>
            <a:r>
              <a:rPr kumimoji="0"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kumimoji="0"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사이트의 정보구조에 </a:t>
            </a:r>
            <a:r>
              <a:rPr kumimoji="0"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mapping </a:t>
            </a:r>
            <a:r>
              <a:rPr kumimoji="0"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시켜서</a:t>
            </a:r>
            <a:br>
              <a:rPr kumimoji="0"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kumimoji="0"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    </a:t>
            </a:r>
            <a:r>
              <a:rPr kumimoji="0"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각 페이지의 외형이 결정되는 것을 </a:t>
            </a:r>
          </a:p>
          <a:p>
            <a:pPr>
              <a:lnSpc>
                <a:spcPct val="110000"/>
              </a:lnSpc>
              <a:spcBef>
                <a:spcPct val="20000"/>
              </a:spcBef>
            </a:pPr>
            <a:endParaRPr kumimoji="0" lang="en-US" altLang="ko-KR" sz="1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ct val="110000"/>
              </a:lnSpc>
              <a:spcBef>
                <a:spcPct val="20000"/>
              </a:spcBef>
            </a:pPr>
            <a:r>
              <a:rPr kumimoji="0"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4</a:t>
            </a:r>
            <a:r>
              <a:rPr kumimoji="0"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U.I / U.X design</a:t>
            </a:r>
            <a:r>
              <a:rPr kumimoji="0"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이라고 할 수 있습니다</a:t>
            </a:r>
            <a:r>
              <a:rPr kumimoji="0"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</p:txBody>
      </p:sp>
      <p:sp>
        <p:nvSpPr>
          <p:cNvPr id="59" name="Oval 57"/>
          <p:cNvSpPr>
            <a:spLocks noChangeArrowheads="1"/>
          </p:cNvSpPr>
          <p:nvPr/>
        </p:nvSpPr>
        <p:spPr bwMode="auto">
          <a:xfrm>
            <a:off x="4691311" y="5487441"/>
            <a:ext cx="228600" cy="228600"/>
          </a:xfrm>
          <a:prstGeom prst="ellipse">
            <a:avLst/>
          </a:prstGeom>
          <a:solidFill>
            <a:srgbClr val="FF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6350">
                <a:solidFill>
                  <a:schemeClr val="bg2"/>
                </a:solidFill>
                <a:round/>
                <a:headEnd/>
                <a:tailEnd type="none" w="med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noAutofit/>
          </a:bodyPr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0" name="Text Box 58"/>
          <p:cNvSpPr txBox="1">
            <a:spLocks noChangeArrowheads="1"/>
          </p:cNvSpPr>
          <p:nvPr/>
        </p:nvSpPr>
        <p:spPr bwMode="auto">
          <a:xfrm>
            <a:off x="4767511" y="5439816"/>
            <a:ext cx="228600" cy="26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AEAEA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>
            <a:noAutofit/>
          </a:bodyPr>
          <a:lstStyle/>
          <a:p>
            <a:pPr>
              <a:lnSpc>
                <a:spcPct val="110000"/>
              </a:lnSpc>
              <a:spcBef>
                <a:spcPct val="20000"/>
              </a:spcBef>
            </a:pPr>
            <a:r>
              <a:rPr lang="en-US" altLang="ko-KR" sz="1000" b="1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</a:p>
        </p:txBody>
      </p:sp>
      <p:sp>
        <p:nvSpPr>
          <p:cNvPr id="61" name="Oval 59"/>
          <p:cNvSpPr>
            <a:spLocks noChangeArrowheads="1"/>
          </p:cNvSpPr>
          <p:nvPr/>
        </p:nvSpPr>
        <p:spPr bwMode="auto">
          <a:xfrm>
            <a:off x="5415211" y="4811166"/>
            <a:ext cx="228600" cy="228600"/>
          </a:xfrm>
          <a:prstGeom prst="ellipse">
            <a:avLst/>
          </a:prstGeom>
          <a:solidFill>
            <a:srgbClr val="FF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6350">
                <a:solidFill>
                  <a:schemeClr val="bg2"/>
                </a:solidFill>
                <a:round/>
                <a:headEnd/>
                <a:tailEnd type="none" w="med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noAutofit/>
          </a:bodyPr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2" name="Text Box 60"/>
          <p:cNvSpPr txBox="1">
            <a:spLocks noChangeArrowheads="1"/>
          </p:cNvSpPr>
          <p:nvPr/>
        </p:nvSpPr>
        <p:spPr bwMode="auto">
          <a:xfrm>
            <a:off x="5491411" y="4763541"/>
            <a:ext cx="228600" cy="26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AEAEA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>
            <a:noAutofit/>
          </a:bodyPr>
          <a:lstStyle/>
          <a:p>
            <a:pPr>
              <a:lnSpc>
                <a:spcPct val="110000"/>
              </a:lnSpc>
              <a:spcBef>
                <a:spcPct val="20000"/>
              </a:spcBef>
            </a:pPr>
            <a:r>
              <a:rPr lang="en-US" altLang="ko-KR" sz="1000" b="1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r>
          </a:p>
        </p:txBody>
      </p:sp>
      <p:sp>
        <p:nvSpPr>
          <p:cNvPr id="63" name="Oval 61"/>
          <p:cNvSpPr>
            <a:spLocks noChangeArrowheads="1"/>
          </p:cNvSpPr>
          <p:nvPr/>
        </p:nvSpPr>
        <p:spPr bwMode="auto">
          <a:xfrm>
            <a:off x="4662736" y="4611141"/>
            <a:ext cx="228600" cy="228600"/>
          </a:xfrm>
          <a:prstGeom prst="ellipse">
            <a:avLst/>
          </a:prstGeom>
          <a:solidFill>
            <a:srgbClr val="FF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6350">
                <a:solidFill>
                  <a:schemeClr val="bg2"/>
                </a:solidFill>
                <a:round/>
                <a:headEnd/>
                <a:tailEnd type="none" w="med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noAutofit/>
          </a:bodyPr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4" name="Text Box 62"/>
          <p:cNvSpPr txBox="1">
            <a:spLocks noChangeArrowheads="1"/>
          </p:cNvSpPr>
          <p:nvPr/>
        </p:nvSpPr>
        <p:spPr bwMode="auto">
          <a:xfrm>
            <a:off x="4738936" y="4563516"/>
            <a:ext cx="228600" cy="26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AEAEA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>
            <a:noAutofit/>
          </a:bodyPr>
          <a:lstStyle/>
          <a:p>
            <a:pPr>
              <a:lnSpc>
                <a:spcPct val="110000"/>
              </a:lnSpc>
              <a:spcBef>
                <a:spcPct val="20000"/>
              </a:spcBef>
            </a:pPr>
            <a:r>
              <a:rPr lang="en-US" altLang="ko-KR" sz="1000" b="1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</a:p>
        </p:txBody>
      </p:sp>
      <p:sp>
        <p:nvSpPr>
          <p:cNvPr id="65" name="Oval 63"/>
          <p:cNvSpPr>
            <a:spLocks noChangeArrowheads="1"/>
          </p:cNvSpPr>
          <p:nvPr/>
        </p:nvSpPr>
        <p:spPr bwMode="auto">
          <a:xfrm>
            <a:off x="3900736" y="2782341"/>
            <a:ext cx="228600" cy="228600"/>
          </a:xfrm>
          <a:prstGeom prst="ellipse">
            <a:avLst/>
          </a:prstGeom>
          <a:solidFill>
            <a:srgbClr val="FF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6350">
                <a:solidFill>
                  <a:schemeClr val="bg2"/>
                </a:solidFill>
                <a:round/>
                <a:headEnd/>
                <a:tailEnd type="none" w="med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noAutofit/>
          </a:bodyPr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6" name="Text Box 64"/>
          <p:cNvSpPr txBox="1">
            <a:spLocks noChangeArrowheads="1"/>
          </p:cNvSpPr>
          <p:nvPr/>
        </p:nvSpPr>
        <p:spPr bwMode="auto">
          <a:xfrm>
            <a:off x="3976936" y="2734716"/>
            <a:ext cx="228600" cy="26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AEAEA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>
            <a:noAutofit/>
          </a:bodyPr>
          <a:lstStyle/>
          <a:p>
            <a:pPr>
              <a:lnSpc>
                <a:spcPct val="110000"/>
              </a:lnSpc>
              <a:spcBef>
                <a:spcPct val="20000"/>
              </a:spcBef>
            </a:pPr>
            <a:r>
              <a:rPr lang="en-US" altLang="ko-KR" sz="1000" b="1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4</a:t>
            </a:r>
          </a:p>
        </p:txBody>
      </p:sp>
      <p:sp>
        <p:nvSpPr>
          <p:cNvPr id="67" name="Text Box 65"/>
          <p:cNvSpPr txBox="1">
            <a:spLocks noChangeArrowheads="1"/>
          </p:cNvSpPr>
          <p:nvPr/>
        </p:nvSpPr>
        <p:spPr bwMode="auto">
          <a:xfrm>
            <a:off x="6339136" y="5201691"/>
            <a:ext cx="3150368" cy="963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AEAEA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>
            <a:noAutofit/>
          </a:bodyPr>
          <a:lstStyle>
            <a:lvl1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1084263" indent="-45720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720850" indent="-45720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2357438" indent="-45720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994025" indent="-45720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3451225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3908425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4365625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4822825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>
              <a:lnSpc>
                <a:spcPct val="110000"/>
              </a:lnSpc>
              <a:spcBef>
                <a:spcPct val="20000"/>
              </a:spcBef>
            </a:pPr>
            <a:r>
              <a:rPr kumimoji="0"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좋은 </a:t>
            </a:r>
            <a:r>
              <a:rPr kumimoji="0"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U.I / U.X</a:t>
            </a:r>
            <a:r>
              <a:rPr kumimoji="0" lang="ko-KR" altLang="en-US" sz="1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를</a:t>
            </a:r>
            <a:r>
              <a:rPr kumimoji="0"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설계하기 위해서는 컨텐츠 기획과</a:t>
            </a:r>
            <a:br>
              <a:rPr kumimoji="0"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kumimoji="0"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인포메이션 </a:t>
            </a:r>
            <a:r>
              <a:rPr kumimoji="0" lang="ko-KR" altLang="en-US" sz="1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아키텍쳐와</a:t>
            </a:r>
            <a:r>
              <a:rPr kumimoji="0"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더불어</a:t>
            </a:r>
            <a:r>
              <a:rPr kumimoji="0"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</a:t>
            </a:r>
            <a:br>
              <a:rPr kumimoji="0"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kumimoji="0"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고객의 </a:t>
            </a:r>
            <a:r>
              <a:rPr kumimoji="0" lang="en-US" altLang="ko-KR" sz="1000" u="sng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Task flow</a:t>
            </a:r>
            <a:r>
              <a:rPr kumimoji="0" lang="ko-KR" altLang="en-US" sz="1000" u="sng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에 대한 정교한 모델링 과정이 필수적</a:t>
            </a:r>
            <a:r>
              <a:rPr kumimoji="0"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이며</a:t>
            </a:r>
            <a:r>
              <a:rPr kumimoji="0"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</a:p>
          <a:p>
            <a:pPr>
              <a:lnSpc>
                <a:spcPct val="110000"/>
              </a:lnSpc>
              <a:spcBef>
                <a:spcPct val="20000"/>
              </a:spcBef>
            </a:pPr>
            <a:r>
              <a:rPr kumimoji="0"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이러한 과정을 거쳐 설계된 </a:t>
            </a:r>
            <a:r>
              <a:rPr kumimoji="0"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U.I / U.X</a:t>
            </a:r>
            <a:r>
              <a:rPr kumimoji="0"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는 고객이 좀 더 </a:t>
            </a:r>
            <a:r>
              <a:rPr kumimoji="0" lang="ko-KR" altLang="en-US" sz="1000">
                <a:latin typeface="나눔고딕" panose="020D0604000000000000" pitchFamily="50" charset="-127"/>
                <a:ea typeface="나눔고딕" panose="020D0604000000000000" pitchFamily="50" charset="-127"/>
              </a:rPr>
              <a:t>편리하게 </a:t>
            </a:r>
            <a:r>
              <a:rPr kumimoji="0" lang="en-US" altLang="ko-KR" sz="100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kumimoji="0" lang="en" altLang="ko-KR" sz="1000">
                <a:latin typeface="나눔고딕" panose="020D0604000000000000" pitchFamily="50" charset="-127"/>
                <a:ea typeface="나눔고딕" panose="020D0604000000000000" pitchFamily="50" charset="-127"/>
              </a:rPr>
              <a:t>XXX</a:t>
            </a:r>
            <a:r>
              <a:rPr kumimoji="0" lang="ko-KR" altLang="en-US" sz="1000">
                <a:latin typeface="나눔고딕" panose="020D0604000000000000" pitchFamily="50" charset="-127"/>
                <a:ea typeface="나눔고딕" panose="020D0604000000000000" pitchFamily="50" charset="-127"/>
              </a:rPr>
              <a:t>서비스 </a:t>
            </a:r>
            <a:r>
              <a:rPr kumimoji="0"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온라인 판매사이트를 사용할 수 있도록 해 줍니다</a:t>
            </a:r>
            <a:r>
              <a:rPr kumimoji="0"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kumimoji="0" lang="ko-KR" altLang="en-US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8" name="직사각형 67"/>
          <p:cNvSpPr/>
          <p:nvPr/>
        </p:nvSpPr>
        <p:spPr>
          <a:xfrm>
            <a:off x="776536" y="2191791"/>
            <a:ext cx="1462087" cy="29527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U.I / U.X layer</a:t>
            </a:r>
          </a:p>
        </p:txBody>
      </p:sp>
      <p:sp>
        <p:nvSpPr>
          <p:cNvPr id="69" name="직사각형 68"/>
          <p:cNvSpPr/>
          <p:nvPr/>
        </p:nvSpPr>
        <p:spPr>
          <a:xfrm>
            <a:off x="776536" y="3784846"/>
            <a:ext cx="1462087" cy="50959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Information Architecture layer</a:t>
            </a:r>
          </a:p>
        </p:txBody>
      </p:sp>
      <p:sp>
        <p:nvSpPr>
          <p:cNvPr id="71" name="직사각형 70"/>
          <p:cNvSpPr/>
          <p:nvPr/>
        </p:nvSpPr>
        <p:spPr>
          <a:xfrm>
            <a:off x="776536" y="5479728"/>
            <a:ext cx="1462087" cy="29527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Contents layer</a:t>
            </a:r>
          </a:p>
        </p:txBody>
      </p:sp>
      <p:sp>
        <p:nvSpPr>
          <p:cNvPr id="73" name="직사각형 72"/>
          <p:cNvSpPr/>
          <p:nvPr/>
        </p:nvSpPr>
        <p:spPr>
          <a:xfrm>
            <a:off x="6262936" y="4220616"/>
            <a:ext cx="1462087" cy="29527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Process (flow) layer</a:t>
            </a:r>
          </a:p>
        </p:txBody>
      </p:sp>
    </p:spTree>
    <p:extLst>
      <p:ext uri="{BB962C8B-B14F-4D97-AF65-F5344CB8AC3E}">
        <p14:creationId xmlns:p14="http://schemas.microsoft.com/office/powerpoint/2010/main" val="51901678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44017" y="91339"/>
            <a:ext cx="7401271" cy="385333"/>
          </a:xfrm>
          <a:prstGeom prst="rect">
            <a:avLst/>
          </a:prstGeom>
          <a:noFill/>
        </p:spPr>
        <p:txBody>
          <a:bodyPr wrap="square" lIns="0" tIns="53643" rIns="0" bIns="53643" rtlCol="0">
            <a:spAutoFit/>
          </a:bodyPr>
          <a:lstStyle/>
          <a:p>
            <a:r>
              <a:rPr kumimoji="1" lang="en-US" altLang="ko-KR" b="1" kern="0" dirty="0">
                <a:latin typeface="나눔고딕" panose="020D0604000000000000" pitchFamily="50" charset="-127"/>
                <a:ea typeface="나눔고딕" panose="020D0604000000000000" pitchFamily="50" charset="-127"/>
                <a:cs typeface="산돌고딕 M"/>
              </a:rPr>
              <a:t>User Interface Design</a:t>
            </a:r>
            <a:endParaRPr kumimoji="1" lang="ko-KR" altLang="en-US" b="1" kern="0" dirty="0">
              <a:latin typeface="나눔고딕" panose="020D0604000000000000" pitchFamily="50" charset="-127"/>
              <a:ea typeface="나눔고딕" panose="020D0604000000000000" pitchFamily="50" charset="-127"/>
              <a:cs typeface="산돌고딕 M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44017" y="683985"/>
            <a:ext cx="96335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Approach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8504" y="991762"/>
            <a:ext cx="8928992" cy="307777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Objective : 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고객의 방문목적 성취 가능성 극대화</a:t>
            </a:r>
          </a:p>
        </p:txBody>
      </p:sp>
      <p:grpSp>
        <p:nvGrpSpPr>
          <p:cNvPr id="70" name="Group 2"/>
          <p:cNvGrpSpPr>
            <a:grpSpLocks/>
          </p:cNvGrpSpPr>
          <p:nvPr/>
        </p:nvGrpSpPr>
        <p:grpSpPr bwMode="auto">
          <a:xfrm>
            <a:off x="477315" y="1556792"/>
            <a:ext cx="8940181" cy="4274530"/>
            <a:chOff x="1121" y="875"/>
            <a:chExt cx="4452" cy="2306"/>
          </a:xfrm>
        </p:grpSpPr>
        <p:sp>
          <p:nvSpPr>
            <p:cNvPr id="72" name="Rectangle 3"/>
            <p:cNvSpPr>
              <a:spLocks noChangeArrowheads="1"/>
            </p:cNvSpPr>
            <p:nvPr/>
          </p:nvSpPr>
          <p:spPr bwMode="auto">
            <a:xfrm>
              <a:off x="1121" y="875"/>
              <a:ext cx="4452" cy="230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71842" dir="2700000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pic>
          <p:nvPicPr>
            <p:cNvPr id="74" name="Picture 4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44" y="941"/>
              <a:ext cx="4206" cy="215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sp>
        <p:nvSpPr>
          <p:cNvPr id="75" name="Line 8"/>
          <p:cNvSpPr>
            <a:spLocks noChangeShapeType="1"/>
          </p:cNvSpPr>
          <p:nvPr/>
        </p:nvSpPr>
        <p:spPr bwMode="auto">
          <a:xfrm>
            <a:off x="488504" y="6021288"/>
            <a:ext cx="892899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6" name="Text Box 9"/>
          <p:cNvSpPr txBox="1">
            <a:spLocks noChangeArrowheads="1"/>
          </p:cNvSpPr>
          <p:nvPr/>
        </p:nvSpPr>
        <p:spPr bwMode="auto">
          <a:xfrm>
            <a:off x="477315" y="6065440"/>
            <a:ext cx="8305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</a:pPr>
            <a:r>
              <a:rPr kumimoji="1"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U.I / U.X </a:t>
            </a:r>
            <a:r>
              <a:rPr kumimoji="1"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디자인의 하는 가장 큰 목적은 고객이 자신의 방문 목적을 모두 달성할 수 있게 목적지향적으로 인터페이스를 구조화 하는 것입니다</a:t>
            </a:r>
            <a:r>
              <a:rPr kumimoji="1"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br>
              <a:rPr kumimoji="1"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kumimoji="1"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또한</a:t>
            </a:r>
            <a:r>
              <a:rPr kumimoji="1"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kumimoji="1"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고객의 목적과 더불어 사이트의 비즈니스 목적을 고려</a:t>
            </a:r>
            <a:r>
              <a:rPr kumimoji="1"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kumimoji="1"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균형을 잡아줌으로써 고객의 가치와 비즈니스 가치가 균형을 이룰 수 있도록 해 줍니다</a:t>
            </a:r>
            <a:r>
              <a:rPr kumimoji="1"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kumimoji="1" lang="ko-KR" altLang="en-US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516588" y="5552504"/>
            <a:ext cx="331853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HCI : 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인간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‒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컴퓨터 상호작용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(Human-Computer Interaction, HCI, CHI)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7146117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44017" y="91339"/>
            <a:ext cx="7401271" cy="385333"/>
          </a:xfrm>
          <a:prstGeom prst="rect">
            <a:avLst/>
          </a:prstGeom>
          <a:noFill/>
        </p:spPr>
        <p:txBody>
          <a:bodyPr wrap="square" lIns="0" tIns="53643" rIns="0" bIns="53643" rtlCol="0">
            <a:spAutoFit/>
          </a:bodyPr>
          <a:lstStyle/>
          <a:p>
            <a:r>
              <a:rPr kumimoji="1" lang="en-US" altLang="ko-KR" b="1" kern="0" dirty="0">
                <a:latin typeface="나눔고딕" panose="020D0604000000000000" pitchFamily="50" charset="-127"/>
                <a:ea typeface="나눔고딕" panose="020D0604000000000000" pitchFamily="50" charset="-127"/>
                <a:cs typeface="산돌고딕 M"/>
              </a:rPr>
              <a:t>User Interface Design</a:t>
            </a:r>
            <a:endParaRPr kumimoji="1" lang="ko-KR" altLang="en-US" b="1" kern="0" dirty="0">
              <a:latin typeface="나눔고딕" panose="020D0604000000000000" pitchFamily="50" charset="-127"/>
              <a:ea typeface="나눔고딕" panose="020D0604000000000000" pitchFamily="50" charset="-127"/>
              <a:cs typeface="산돌고딕 M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44017" y="683985"/>
            <a:ext cx="96335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Approach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8504" y="991762"/>
            <a:ext cx="8928992" cy="307777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Objective : Customer centered service</a:t>
            </a:r>
          </a:p>
        </p:txBody>
      </p:sp>
      <p:sp>
        <p:nvSpPr>
          <p:cNvPr id="75" name="Line 8"/>
          <p:cNvSpPr>
            <a:spLocks noChangeShapeType="1"/>
          </p:cNvSpPr>
          <p:nvPr/>
        </p:nvSpPr>
        <p:spPr bwMode="auto">
          <a:xfrm>
            <a:off x="488504" y="5502404"/>
            <a:ext cx="892899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6" name="Text Box 9"/>
          <p:cNvSpPr txBox="1">
            <a:spLocks noChangeArrowheads="1"/>
          </p:cNvSpPr>
          <p:nvPr/>
        </p:nvSpPr>
        <p:spPr bwMode="auto">
          <a:xfrm>
            <a:off x="477315" y="5546556"/>
            <a:ext cx="83058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</a:pPr>
            <a:r>
              <a:rPr kumimoji="1"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추후 </a:t>
            </a:r>
            <a:r>
              <a:rPr kumimoji="1" lang="ko-KR" altLang="en-US" sz="1000">
                <a:latin typeface="나눔고딕" panose="020D0604000000000000" pitchFamily="50" charset="-127"/>
                <a:ea typeface="나눔고딕" panose="020D0604000000000000" pitchFamily="50" charset="-127"/>
              </a:rPr>
              <a:t>확장되는 서비스의 </a:t>
            </a:r>
            <a:r>
              <a:rPr kumimoji="1"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효율적인 통합을 위해서는 </a:t>
            </a:r>
            <a:r>
              <a:rPr kumimoji="1" lang="ko-KR" altLang="en-US" sz="1000">
                <a:latin typeface="나눔고딕" panose="020D0604000000000000" pitchFamily="50" charset="-127"/>
                <a:ea typeface="나눔고딕" panose="020D0604000000000000" pitchFamily="50" charset="-127"/>
              </a:rPr>
              <a:t>고객중심의 서비스가 </a:t>
            </a:r>
            <a:r>
              <a:rPr kumimoji="1"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구심점이 되어야 합니다</a:t>
            </a:r>
            <a:r>
              <a:rPr kumimoji="1"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br>
              <a:rPr kumimoji="1"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kumimoji="1"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사용자는 </a:t>
            </a:r>
            <a:r>
              <a:rPr kumimoji="1"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Multi device</a:t>
            </a:r>
            <a:r>
              <a:rPr kumimoji="1"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를 통해 </a:t>
            </a:r>
            <a:r>
              <a:rPr kumimoji="1" lang="ko-KR" altLang="en-US" sz="1000">
                <a:latin typeface="나눔고딕" panose="020D0604000000000000" pitchFamily="50" charset="-127"/>
                <a:ea typeface="나눔고딕" panose="020D0604000000000000" pitchFamily="50" charset="-127"/>
              </a:rPr>
              <a:t>각각의 서비스를 </a:t>
            </a:r>
            <a:r>
              <a:rPr kumimoji="1"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손쉽게 접근할 수 있고</a:t>
            </a:r>
            <a:r>
              <a:rPr kumimoji="1"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kumimoji="1" lang="ko-KR" altLang="en-US" sz="1000">
                <a:latin typeface="나눔고딕" panose="020D0604000000000000" pitchFamily="50" charset="-127"/>
                <a:ea typeface="나눔고딕" panose="020D0604000000000000" pitchFamily="50" charset="-127"/>
              </a:rPr>
              <a:t>개인화된 서비스를 </a:t>
            </a:r>
            <a:r>
              <a:rPr kumimoji="1"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통해 사용자의 만족도를 극대화시킬 수 있습니다</a:t>
            </a:r>
            <a:r>
              <a:rPr kumimoji="1"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br>
              <a:rPr kumimoji="1"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kumimoji="1"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기업의 측면에서는 </a:t>
            </a:r>
            <a:r>
              <a:rPr kumimoji="1"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Multi device</a:t>
            </a:r>
            <a:r>
              <a:rPr kumimoji="1"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의 특성을 활용한 </a:t>
            </a:r>
            <a:r>
              <a:rPr kumimoji="1"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 to 1 Marketing</a:t>
            </a:r>
            <a:r>
              <a:rPr kumimoji="1"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을 시행할 수 있게 되며</a:t>
            </a:r>
            <a:r>
              <a:rPr kumimoji="1"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kumimoji="1"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이를 위해서 </a:t>
            </a:r>
            <a:r>
              <a:rPr kumimoji="1" lang="ko-KR" altLang="en-US" sz="1000">
                <a:latin typeface="나눔고딕" panose="020D0604000000000000" pitchFamily="50" charset="-127"/>
                <a:ea typeface="나눔고딕" panose="020D0604000000000000" pitchFamily="50" charset="-127"/>
              </a:rPr>
              <a:t>각 서비스가 </a:t>
            </a:r>
            <a:r>
              <a:rPr kumimoji="1"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고객중심이 되고</a:t>
            </a:r>
            <a:r>
              <a:rPr kumimoji="1"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data</a:t>
            </a:r>
            <a:r>
              <a:rPr kumimoji="1"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가 </a:t>
            </a:r>
            <a:r>
              <a:rPr kumimoji="1" lang="ko-KR" altLang="en-US" sz="1000">
                <a:latin typeface="나눔고딕" panose="020D0604000000000000" pitchFamily="50" charset="-127"/>
                <a:ea typeface="나눔고딕" panose="020D0604000000000000" pitchFamily="50" charset="-127"/>
              </a:rPr>
              <a:t>각 서비스를 </a:t>
            </a:r>
            <a:r>
              <a:rPr kumimoji="1"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support</a:t>
            </a:r>
            <a:r>
              <a:rPr kumimoji="1"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하는 유기적인 구조가 요구됩니다</a:t>
            </a:r>
            <a:r>
              <a:rPr kumimoji="1"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</p:txBody>
      </p:sp>
      <p:sp>
        <p:nvSpPr>
          <p:cNvPr id="10" name="Oval 2"/>
          <p:cNvSpPr>
            <a:spLocks noChangeArrowheads="1"/>
          </p:cNvSpPr>
          <p:nvPr/>
        </p:nvSpPr>
        <p:spPr bwMode="auto">
          <a:xfrm rot="2809085">
            <a:off x="1419699" y="2498692"/>
            <a:ext cx="1344472" cy="1375354"/>
          </a:xfrm>
          <a:prstGeom prst="ellipse">
            <a:avLst/>
          </a:prstGeom>
          <a:solidFill>
            <a:srgbClr val="EAEAE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/>
            <a:endParaRPr kumimoji="1" lang="ko-KR" altLang="ko-KR" sz="140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1" name="Oval 3"/>
          <p:cNvSpPr>
            <a:spLocks noChangeArrowheads="1"/>
          </p:cNvSpPr>
          <p:nvPr/>
        </p:nvSpPr>
        <p:spPr bwMode="auto">
          <a:xfrm rot="2421673">
            <a:off x="1241603" y="2464719"/>
            <a:ext cx="1375354" cy="1136521"/>
          </a:xfrm>
          <a:prstGeom prst="ellipse">
            <a:avLst/>
          </a:prstGeom>
          <a:noFill/>
          <a:ln w="9525">
            <a:solidFill>
              <a:srgbClr val="96969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2" name="Oval 4"/>
          <p:cNvSpPr>
            <a:spLocks noChangeArrowheads="1"/>
          </p:cNvSpPr>
          <p:nvPr/>
        </p:nvSpPr>
        <p:spPr bwMode="auto">
          <a:xfrm rot="2421673">
            <a:off x="1519557" y="2717966"/>
            <a:ext cx="1375354" cy="1134461"/>
          </a:xfrm>
          <a:prstGeom prst="ellipse">
            <a:avLst/>
          </a:prstGeom>
          <a:noFill/>
          <a:ln w="9525">
            <a:solidFill>
              <a:srgbClr val="96969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3" name="Oval 5"/>
          <p:cNvSpPr>
            <a:spLocks noChangeArrowheads="1"/>
          </p:cNvSpPr>
          <p:nvPr/>
        </p:nvSpPr>
        <p:spPr bwMode="auto">
          <a:xfrm rot="7821673">
            <a:off x="1469113" y="2548106"/>
            <a:ext cx="1375355" cy="1117990"/>
          </a:xfrm>
          <a:prstGeom prst="ellipse">
            <a:avLst/>
          </a:prstGeom>
          <a:noFill/>
          <a:ln w="9525">
            <a:solidFill>
              <a:srgbClr val="96969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4" name="Oval 6"/>
          <p:cNvSpPr>
            <a:spLocks noChangeArrowheads="1"/>
          </p:cNvSpPr>
          <p:nvPr/>
        </p:nvSpPr>
        <p:spPr bwMode="auto">
          <a:xfrm rot="7821673">
            <a:off x="1340431" y="2717966"/>
            <a:ext cx="1375355" cy="1136520"/>
          </a:xfrm>
          <a:prstGeom prst="ellipse">
            <a:avLst/>
          </a:prstGeom>
          <a:noFill/>
          <a:ln w="9525">
            <a:solidFill>
              <a:srgbClr val="96969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5" name="Oval 7"/>
          <p:cNvSpPr>
            <a:spLocks noChangeArrowheads="1"/>
          </p:cNvSpPr>
          <p:nvPr/>
        </p:nvSpPr>
        <p:spPr bwMode="auto">
          <a:xfrm>
            <a:off x="1579265" y="2658257"/>
            <a:ext cx="1017103" cy="1017104"/>
          </a:xfrm>
          <a:prstGeom prst="ellipse">
            <a:avLst/>
          </a:prstGeom>
          <a:noFill/>
          <a:ln w="28575">
            <a:solidFill>
              <a:srgbClr val="FF66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1" name="Oval 13"/>
          <p:cNvSpPr>
            <a:spLocks noChangeArrowheads="1"/>
          </p:cNvSpPr>
          <p:nvPr/>
        </p:nvSpPr>
        <p:spPr bwMode="auto">
          <a:xfrm>
            <a:off x="7270103" y="2320595"/>
            <a:ext cx="1877729" cy="1877730"/>
          </a:xfrm>
          <a:prstGeom prst="ellipse">
            <a:avLst/>
          </a:prstGeom>
          <a:solidFill>
            <a:schemeClr val="bg1"/>
          </a:solidFill>
          <a:ln w="28575">
            <a:solidFill>
              <a:srgbClr val="FF6600"/>
            </a:solidFill>
            <a:round/>
            <a:headEnd/>
            <a:tailEnd/>
          </a:ln>
          <a:effectLst/>
        </p:spPr>
        <p:txBody>
          <a:bodyPr wrap="none" lIns="0" tIns="0" rIns="0" bIns="0" anchor="ctr"/>
          <a:lstStyle/>
          <a:p>
            <a:pPr algn="ctr"/>
            <a:r>
              <a:rPr lang="en-US" altLang="ko-KR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Customer</a:t>
            </a:r>
          </a:p>
          <a:p>
            <a:pPr algn="ctr"/>
            <a:r>
              <a:rPr lang="en-US" altLang="ko-KR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Centered</a:t>
            </a:r>
          </a:p>
          <a:p>
            <a:pPr algn="ctr"/>
            <a:r>
              <a:rPr lang="en-US" altLang="ko-KR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Service</a:t>
            </a:r>
          </a:p>
        </p:txBody>
      </p:sp>
      <p:sp>
        <p:nvSpPr>
          <p:cNvPr id="22" name="Line 14"/>
          <p:cNvSpPr>
            <a:spLocks noChangeShapeType="1"/>
          </p:cNvSpPr>
          <p:nvPr/>
        </p:nvSpPr>
        <p:spPr bwMode="auto">
          <a:xfrm flipV="1">
            <a:off x="2131054" y="2320595"/>
            <a:ext cx="5929672" cy="296484"/>
          </a:xfrm>
          <a:prstGeom prst="line">
            <a:avLst/>
          </a:prstGeom>
          <a:noFill/>
          <a:ln w="9525">
            <a:solidFill>
              <a:srgbClr val="FF66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3" name="Line 15"/>
          <p:cNvSpPr>
            <a:spLocks noChangeShapeType="1"/>
          </p:cNvSpPr>
          <p:nvPr/>
        </p:nvSpPr>
        <p:spPr bwMode="auto">
          <a:xfrm>
            <a:off x="2131054" y="3704185"/>
            <a:ext cx="6127328" cy="494139"/>
          </a:xfrm>
          <a:prstGeom prst="line">
            <a:avLst/>
          </a:prstGeom>
          <a:noFill/>
          <a:ln w="9525">
            <a:solidFill>
              <a:srgbClr val="FF66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339387" y="1983323"/>
            <a:ext cx="9637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Policy Page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3398" y="2172353"/>
            <a:ext cx="8976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Web Page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5480" y="3259460"/>
            <a:ext cx="114646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Landing page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78789" y="4008643"/>
            <a:ext cx="13388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="1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Needs Response</a:t>
            </a:r>
          </a:p>
          <a:p>
            <a:pPr algn="ctr"/>
            <a:r>
              <a:rPr lang="en-US" altLang="ko-KR" sz="1200" b="1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Interface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102632" y="4024256"/>
            <a:ext cx="143302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="1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Mobile Web Page</a:t>
            </a:r>
          </a:p>
        </p:txBody>
      </p:sp>
      <p:grpSp>
        <p:nvGrpSpPr>
          <p:cNvPr id="24" name="Group 3"/>
          <p:cNvGrpSpPr>
            <a:grpSpLocks/>
          </p:cNvGrpSpPr>
          <p:nvPr/>
        </p:nvGrpSpPr>
        <p:grpSpPr bwMode="auto">
          <a:xfrm>
            <a:off x="3948162" y="1872297"/>
            <a:ext cx="2857936" cy="2774326"/>
            <a:chOff x="2244" y="1767"/>
            <a:chExt cx="2029" cy="2029"/>
          </a:xfrm>
          <a:solidFill>
            <a:schemeClr val="bg1">
              <a:lumMod val="85000"/>
            </a:schemeClr>
          </a:solidFill>
        </p:grpSpPr>
        <p:sp>
          <p:nvSpPr>
            <p:cNvPr id="25" name="Freeform 4"/>
            <p:cNvSpPr>
              <a:spLocks/>
            </p:cNvSpPr>
            <p:nvPr/>
          </p:nvSpPr>
          <p:spPr bwMode="blackWhite">
            <a:xfrm>
              <a:off x="2366" y="1767"/>
              <a:ext cx="1057" cy="900"/>
            </a:xfrm>
            <a:custGeom>
              <a:avLst/>
              <a:gdLst>
                <a:gd name="T0" fmla="*/ 455 w 1057"/>
                <a:gd name="T1" fmla="*/ 879 h 900"/>
                <a:gd name="T2" fmla="*/ 471 w 1057"/>
                <a:gd name="T3" fmla="*/ 838 h 900"/>
                <a:gd name="T4" fmla="*/ 490 w 1057"/>
                <a:gd name="T5" fmla="*/ 799 h 900"/>
                <a:gd name="T6" fmla="*/ 514 w 1057"/>
                <a:gd name="T7" fmla="*/ 762 h 900"/>
                <a:gd name="T8" fmla="*/ 541 w 1057"/>
                <a:gd name="T9" fmla="*/ 728 h 900"/>
                <a:gd name="T10" fmla="*/ 570 w 1057"/>
                <a:gd name="T11" fmla="*/ 696 h 900"/>
                <a:gd name="T12" fmla="*/ 603 w 1057"/>
                <a:gd name="T13" fmla="*/ 667 h 900"/>
                <a:gd name="T14" fmla="*/ 639 w 1057"/>
                <a:gd name="T15" fmla="*/ 642 h 900"/>
                <a:gd name="T16" fmla="*/ 676 w 1057"/>
                <a:gd name="T17" fmla="*/ 621 h 900"/>
                <a:gd name="T18" fmla="*/ 713 w 1057"/>
                <a:gd name="T19" fmla="*/ 605 h 900"/>
                <a:gd name="T20" fmla="*/ 753 w 1057"/>
                <a:gd name="T21" fmla="*/ 591 h 900"/>
                <a:gd name="T22" fmla="*/ 793 w 1057"/>
                <a:gd name="T23" fmla="*/ 581 h 900"/>
                <a:gd name="T24" fmla="*/ 834 w 1057"/>
                <a:gd name="T25" fmla="*/ 575 h 900"/>
                <a:gd name="T26" fmla="*/ 833 w 1057"/>
                <a:gd name="T27" fmla="*/ 711 h 900"/>
                <a:gd name="T28" fmla="*/ 1056 w 1057"/>
                <a:gd name="T29" fmla="*/ 374 h 900"/>
                <a:gd name="T30" fmla="*/ 818 w 1057"/>
                <a:gd name="T31" fmla="*/ 0 h 900"/>
                <a:gd name="T32" fmla="*/ 819 w 1057"/>
                <a:gd name="T33" fmla="*/ 137 h 900"/>
                <a:gd name="T34" fmla="*/ 757 w 1057"/>
                <a:gd name="T35" fmla="*/ 143 h 900"/>
                <a:gd name="T36" fmla="*/ 694 w 1057"/>
                <a:gd name="T37" fmla="*/ 154 h 900"/>
                <a:gd name="T38" fmla="*/ 634 w 1057"/>
                <a:gd name="T39" fmla="*/ 168 h 900"/>
                <a:gd name="T40" fmla="*/ 574 w 1057"/>
                <a:gd name="T41" fmla="*/ 188 h 900"/>
                <a:gd name="T42" fmla="*/ 516 w 1057"/>
                <a:gd name="T43" fmla="*/ 211 h 900"/>
                <a:gd name="T44" fmla="*/ 460 w 1057"/>
                <a:gd name="T45" fmla="*/ 238 h 900"/>
                <a:gd name="T46" fmla="*/ 405 w 1057"/>
                <a:gd name="T47" fmla="*/ 270 h 900"/>
                <a:gd name="T48" fmla="*/ 352 w 1057"/>
                <a:gd name="T49" fmla="*/ 306 h 900"/>
                <a:gd name="T50" fmla="*/ 302 w 1057"/>
                <a:gd name="T51" fmla="*/ 346 h 900"/>
                <a:gd name="T52" fmla="*/ 255 w 1057"/>
                <a:gd name="T53" fmla="*/ 390 h 900"/>
                <a:gd name="T54" fmla="*/ 211 w 1057"/>
                <a:gd name="T55" fmla="*/ 437 h 900"/>
                <a:gd name="T56" fmla="*/ 170 w 1057"/>
                <a:gd name="T57" fmla="*/ 486 h 900"/>
                <a:gd name="T58" fmla="*/ 134 w 1057"/>
                <a:gd name="T59" fmla="*/ 539 h 900"/>
                <a:gd name="T60" fmla="*/ 101 w 1057"/>
                <a:gd name="T61" fmla="*/ 595 h 900"/>
                <a:gd name="T62" fmla="*/ 72 w 1057"/>
                <a:gd name="T63" fmla="*/ 653 h 900"/>
                <a:gd name="T64" fmla="*/ 47 w 1057"/>
                <a:gd name="T65" fmla="*/ 711 h 900"/>
                <a:gd name="T66" fmla="*/ 27 w 1057"/>
                <a:gd name="T67" fmla="*/ 773 h 900"/>
                <a:gd name="T68" fmla="*/ 11 w 1057"/>
                <a:gd name="T69" fmla="*/ 835 h 900"/>
                <a:gd name="T70" fmla="*/ 0 w 1057"/>
                <a:gd name="T71" fmla="*/ 899 h 900"/>
                <a:gd name="T72" fmla="*/ 238 w 1057"/>
                <a:gd name="T73" fmla="*/ 741 h 900"/>
                <a:gd name="T74" fmla="*/ 455 w 1057"/>
                <a:gd name="T75" fmla="*/ 879 h 900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w 1057"/>
                <a:gd name="T115" fmla="*/ 0 h 900"/>
                <a:gd name="T116" fmla="*/ 1057 w 1057"/>
                <a:gd name="T117" fmla="*/ 900 h 900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T114" t="T115" r="T116" b="T117"/>
              <a:pathLst>
                <a:path w="1057" h="900">
                  <a:moveTo>
                    <a:pt x="455" y="879"/>
                  </a:moveTo>
                  <a:lnTo>
                    <a:pt x="471" y="838"/>
                  </a:lnTo>
                  <a:lnTo>
                    <a:pt x="490" y="799"/>
                  </a:lnTo>
                  <a:lnTo>
                    <a:pt x="514" y="762"/>
                  </a:lnTo>
                  <a:lnTo>
                    <a:pt x="541" y="728"/>
                  </a:lnTo>
                  <a:lnTo>
                    <a:pt x="570" y="696"/>
                  </a:lnTo>
                  <a:lnTo>
                    <a:pt x="603" y="667"/>
                  </a:lnTo>
                  <a:lnTo>
                    <a:pt x="639" y="642"/>
                  </a:lnTo>
                  <a:lnTo>
                    <a:pt x="676" y="621"/>
                  </a:lnTo>
                  <a:lnTo>
                    <a:pt x="713" y="605"/>
                  </a:lnTo>
                  <a:lnTo>
                    <a:pt x="753" y="591"/>
                  </a:lnTo>
                  <a:lnTo>
                    <a:pt x="793" y="581"/>
                  </a:lnTo>
                  <a:lnTo>
                    <a:pt x="834" y="575"/>
                  </a:lnTo>
                  <a:lnTo>
                    <a:pt x="833" y="711"/>
                  </a:lnTo>
                  <a:lnTo>
                    <a:pt x="1056" y="374"/>
                  </a:lnTo>
                  <a:lnTo>
                    <a:pt x="818" y="0"/>
                  </a:lnTo>
                  <a:lnTo>
                    <a:pt x="819" y="137"/>
                  </a:lnTo>
                  <a:lnTo>
                    <a:pt x="757" y="143"/>
                  </a:lnTo>
                  <a:lnTo>
                    <a:pt x="694" y="154"/>
                  </a:lnTo>
                  <a:lnTo>
                    <a:pt x="634" y="168"/>
                  </a:lnTo>
                  <a:lnTo>
                    <a:pt x="574" y="188"/>
                  </a:lnTo>
                  <a:lnTo>
                    <a:pt x="516" y="211"/>
                  </a:lnTo>
                  <a:lnTo>
                    <a:pt x="460" y="238"/>
                  </a:lnTo>
                  <a:lnTo>
                    <a:pt x="405" y="270"/>
                  </a:lnTo>
                  <a:lnTo>
                    <a:pt x="352" y="306"/>
                  </a:lnTo>
                  <a:lnTo>
                    <a:pt x="302" y="346"/>
                  </a:lnTo>
                  <a:lnTo>
                    <a:pt x="255" y="390"/>
                  </a:lnTo>
                  <a:lnTo>
                    <a:pt x="211" y="437"/>
                  </a:lnTo>
                  <a:lnTo>
                    <a:pt x="170" y="486"/>
                  </a:lnTo>
                  <a:lnTo>
                    <a:pt x="134" y="539"/>
                  </a:lnTo>
                  <a:lnTo>
                    <a:pt x="101" y="595"/>
                  </a:lnTo>
                  <a:lnTo>
                    <a:pt x="72" y="653"/>
                  </a:lnTo>
                  <a:lnTo>
                    <a:pt x="47" y="711"/>
                  </a:lnTo>
                  <a:lnTo>
                    <a:pt x="27" y="773"/>
                  </a:lnTo>
                  <a:lnTo>
                    <a:pt x="11" y="835"/>
                  </a:lnTo>
                  <a:lnTo>
                    <a:pt x="0" y="899"/>
                  </a:lnTo>
                  <a:lnTo>
                    <a:pt x="238" y="741"/>
                  </a:lnTo>
                  <a:lnTo>
                    <a:pt x="455" y="879"/>
                  </a:lnTo>
                </a:path>
              </a:pathLst>
            </a:custGeom>
            <a:grpFill/>
            <a:ln w="12700" cap="rnd">
              <a:solidFill>
                <a:schemeClr val="tx1">
                  <a:lumMod val="50000"/>
                  <a:lumOff val="50000"/>
                </a:schemeClr>
              </a:solidFill>
              <a:round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itchFamily="34" charset="0"/>
                  <a:ea typeface="楷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itchFamily="34" charset="0"/>
                  <a:ea typeface="楷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itchFamily="34" charset="0"/>
                  <a:ea typeface="楷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itchFamily="34" charset="0"/>
                  <a:ea typeface="楷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itchFamily="34" charset="0"/>
                  <a:ea typeface="楷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楷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楷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楷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楷体" pitchFamily="2" charset="-122"/>
                </a:defRPr>
              </a:lvl9pPr>
            </a:lstStyle>
            <a:p>
              <a:endParaRPr lang="zh-CN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6" name="Freeform 5"/>
            <p:cNvSpPr>
              <a:spLocks/>
            </p:cNvSpPr>
            <p:nvPr/>
          </p:nvSpPr>
          <p:spPr bwMode="blackWhite">
            <a:xfrm>
              <a:off x="3073" y="2892"/>
              <a:ext cx="1033" cy="904"/>
            </a:xfrm>
            <a:custGeom>
              <a:avLst/>
              <a:gdLst>
                <a:gd name="T0" fmla="*/ 585 w 1033"/>
                <a:gd name="T1" fmla="*/ 1 h 904"/>
                <a:gd name="T2" fmla="*/ 573 w 1033"/>
                <a:gd name="T3" fmla="*/ 41 h 904"/>
                <a:gd name="T4" fmla="*/ 556 w 1033"/>
                <a:gd name="T5" fmla="*/ 78 h 904"/>
                <a:gd name="T6" fmla="*/ 537 w 1033"/>
                <a:gd name="T7" fmla="*/ 116 h 904"/>
                <a:gd name="T8" fmla="*/ 514 w 1033"/>
                <a:gd name="T9" fmla="*/ 150 h 904"/>
                <a:gd name="T10" fmla="*/ 488 w 1033"/>
                <a:gd name="T11" fmla="*/ 182 h 904"/>
                <a:gd name="T12" fmla="*/ 459 w 1033"/>
                <a:gd name="T13" fmla="*/ 212 h 904"/>
                <a:gd name="T14" fmla="*/ 427 w 1033"/>
                <a:gd name="T15" fmla="*/ 239 h 904"/>
                <a:gd name="T16" fmla="*/ 393 w 1033"/>
                <a:gd name="T17" fmla="*/ 262 h 904"/>
                <a:gd name="T18" fmla="*/ 356 w 1033"/>
                <a:gd name="T19" fmla="*/ 283 h 904"/>
                <a:gd name="T20" fmla="*/ 317 w 1033"/>
                <a:gd name="T21" fmla="*/ 301 h 904"/>
                <a:gd name="T22" fmla="*/ 277 w 1033"/>
                <a:gd name="T23" fmla="*/ 314 h 904"/>
                <a:gd name="T24" fmla="*/ 236 w 1033"/>
                <a:gd name="T25" fmla="*/ 323 h 904"/>
                <a:gd name="T26" fmla="*/ 235 w 1033"/>
                <a:gd name="T27" fmla="*/ 187 h 904"/>
                <a:gd name="T28" fmla="*/ 159 w 1033"/>
                <a:gd name="T29" fmla="*/ 298 h 904"/>
                <a:gd name="T30" fmla="*/ 80 w 1033"/>
                <a:gd name="T31" fmla="*/ 409 h 904"/>
                <a:gd name="T32" fmla="*/ 0 w 1033"/>
                <a:gd name="T33" fmla="*/ 517 h 904"/>
                <a:gd name="T34" fmla="*/ 236 w 1033"/>
                <a:gd name="T35" fmla="*/ 903 h 904"/>
                <a:gd name="T36" fmla="*/ 236 w 1033"/>
                <a:gd name="T37" fmla="*/ 766 h 904"/>
                <a:gd name="T38" fmla="*/ 295 w 1033"/>
                <a:gd name="T39" fmla="*/ 759 h 904"/>
                <a:gd name="T40" fmla="*/ 353 w 1033"/>
                <a:gd name="T41" fmla="*/ 747 h 904"/>
                <a:gd name="T42" fmla="*/ 411 w 1033"/>
                <a:gd name="T43" fmla="*/ 733 h 904"/>
                <a:gd name="T44" fmla="*/ 467 w 1033"/>
                <a:gd name="T45" fmla="*/ 713 h 904"/>
                <a:gd name="T46" fmla="*/ 522 w 1033"/>
                <a:gd name="T47" fmla="*/ 691 h 904"/>
                <a:gd name="T48" fmla="*/ 575 w 1033"/>
                <a:gd name="T49" fmla="*/ 665 h 904"/>
                <a:gd name="T50" fmla="*/ 626 w 1033"/>
                <a:gd name="T51" fmla="*/ 635 h 904"/>
                <a:gd name="T52" fmla="*/ 676 w 1033"/>
                <a:gd name="T53" fmla="*/ 601 h 904"/>
                <a:gd name="T54" fmla="*/ 724 w 1033"/>
                <a:gd name="T55" fmla="*/ 564 h 904"/>
                <a:gd name="T56" fmla="*/ 768 w 1033"/>
                <a:gd name="T57" fmla="*/ 525 h 904"/>
                <a:gd name="T58" fmla="*/ 811 w 1033"/>
                <a:gd name="T59" fmla="*/ 481 h 904"/>
                <a:gd name="T60" fmla="*/ 849 w 1033"/>
                <a:gd name="T61" fmla="*/ 435 h 904"/>
                <a:gd name="T62" fmla="*/ 884 w 1033"/>
                <a:gd name="T63" fmla="*/ 387 h 904"/>
                <a:gd name="T64" fmla="*/ 916 w 1033"/>
                <a:gd name="T65" fmla="*/ 337 h 904"/>
                <a:gd name="T66" fmla="*/ 945 w 1033"/>
                <a:gd name="T67" fmla="*/ 284 h 904"/>
                <a:gd name="T68" fmla="*/ 970 w 1033"/>
                <a:gd name="T69" fmla="*/ 231 h 904"/>
                <a:gd name="T70" fmla="*/ 991 w 1033"/>
                <a:gd name="T71" fmla="*/ 174 h 904"/>
                <a:gd name="T72" fmla="*/ 1009 w 1033"/>
                <a:gd name="T73" fmla="*/ 117 h 904"/>
                <a:gd name="T74" fmla="*/ 1023 w 1033"/>
                <a:gd name="T75" fmla="*/ 58 h 904"/>
                <a:gd name="T76" fmla="*/ 1032 w 1033"/>
                <a:gd name="T77" fmla="*/ 0 h 904"/>
                <a:gd name="T78" fmla="*/ 812 w 1033"/>
                <a:gd name="T79" fmla="*/ 132 h 904"/>
                <a:gd name="T80" fmla="*/ 585 w 1033"/>
                <a:gd name="T81" fmla="*/ 1 h 904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w 1033"/>
                <a:gd name="T124" fmla="*/ 0 h 904"/>
                <a:gd name="T125" fmla="*/ 1033 w 1033"/>
                <a:gd name="T126" fmla="*/ 904 h 904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T123" t="T124" r="T125" b="T126"/>
              <a:pathLst>
                <a:path w="1033" h="904">
                  <a:moveTo>
                    <a:pt x="585" y="1"/>
                  </a:moveTo>
                  <a:lnTo>
                    <a:pt x="573" y="41"/>
                  </a:lnTo>
                  <a:lnTo>
                    <a:pt x="556" y="78"/>
                  </a:lnTo>
                  <a:lnTo>
                    <a:pt x="537" y="116"/>
                  </a:lnTo>
                  <a:lnTo>
                    <a:pt x="514" y="150"/>
                  </a:lnTo>
                  <a:lnTo>
                    <a:pt x="488" y="182"/>
                  </a:lnTo>
                  <a:lnTo>
                    <a:pt x="459" y="212"/>
                  </a:lnTo>
                  <a:lnTo>
                    <a:pt x="427" y="239"/>
                  </a:lnTo>
                  <a:lnTo>
                    <a:pt x="393" y="262"/>
                  </a:lnTo>
                  <a:lnTo>
                    <a:pt x="356" y="283"/>
                  </a:lnTo>
                  <a:lnTo>
                    <a:pt x="317" y="301"/>
                  </a:lnTo>
                  <a:lnTo>
                    <a:pt x="277" y="314"/>
                  </a:lnTo>
                  <a:lnTo>
                    <a:pt x="236" y="323"/>
                  </a:lnTo>
                  <a:lnTo>
                    <a:pt x="235" y="187"/>
                  </a:lnTo>
                  <a:lnTo>
                    <a:pt x="159" y="298"/>
                  </a:lnTo>
                  <a:lnTo>
                    <a:pt x="80" y="409"/>
                  </a:lnTo>
                  <a:lnTo>
                    <a:pt x="0" y="517"/>
                  </a:lnTo>
                  <a:lnTo>
                    <a:pt x="236" y="903"/>
                  </a:lnTo>
                  <a:lnTo>
                    <a:pt x="236" y="766"/>
                  </a:lnTo>
                  <a:lnTo>
                    <a:pt x="295" y="759"/>
                  </a:lnTo>
                  <a:lnTo>
                    <a:pt x="353" y="747"/>
                  </a:lnTo>
                  <a:lnTo>
                    <a:pt x="411" y="733"/>
                  </a:lnTo>
                  <a:lnTo>
                    <a:pt x="467" y="713"/>
                  </a:lnTo>
                  <a:lnTo>
                    <a:pt x="522" y="691"/>
                  </a:lnTo>
                  <a:lnTo>
                    <a:pt x="575" y="665"/>
                  </a:lnTo>
                  <a:lnTo>
                    <a:pt x="626" y="635"/>
                  </a:lnTo>
                  <a:lnTo>
                    <a:pt x="676" y="601"/>
                  </a:lnTo>
                  <a:lnTo>
                    <a:pt x="724" y="564"/>
                  </a:lnTo>
                  <a:lnTo>
                    <a:pt x="768" y="525"/>
                  </a:lnTo>
                  <a:lnTo>
                    <a:pt x="811" y="481"/>
                  </a:lnTo>
                  <a:lnTo>
                    <a:pt x="849" y="435"/>
                  </a:lnTo>
                  <a:lnTo>
                    <a:pt x="884" y="387"/>
                  </a:lnTo>
                  <a:lnTo>
                    <a:pt x="916" y="337"/>
                  </a:lnTo>
                  <a:lnTo>
                    <a:pt x="945" y="284"/>
                  </a:lnTo>
                  <a:lnTo>
                    <a:pt x="970" y="231"/>
                  </a:lnTo>
                  <a:lnTo>
                    <a:pt x="991" y="174"/>
                  </a:lnTo>
                  <a:lnTo>
                    <a:pt x="1009" y="117"/>
                  </a:lnTo>
                  <a:lnTo>
                    <a:pt x="1023" y="58"/>
                  </a:lnTo>
                  <a:lnTo>
                    <a:pt x="1032" y="0"/>
                  </a:lnTo>
                  <a:lnTo>
                    <a:pt x="812" y="132"/>
                  </a:lnTo>
                  <a:lnTo>
                    <a:pt x="585" y="1"/>
                  </a:lnTo>
                </a:path>
              </a:pathLst>
            </a:custGeom>
            <a:grpFill/>
            <a:ln w="12700" cap="rnd">
              <a:solidFill>
                <a:schemeClr val="tx1">
                  <a:lumMod val="50000"/>
                  <a:lumOff val="50000"/>
                </a:schemeClr>
              </a:solidFill>
              <a:round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itchFamily="34" charset="0"/>
                  <a:ea typeface="楷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itchFamily="34" charset="0"/>
                  <a:ea typeface="楷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itchFamily="34" charset="0"/>
                  <a:ea typeface="楷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itchFamily="34" charset="0"/>
                  <a:ea typeface="楷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itchFamily="34" charset="0"/>
                  <a:ea typeface="楷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楷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楷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楷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楷体" pitchFamily="2" charset="-122"/>
                </a:defRPr>
              </a:lvl9pPr>
            </a:lstStyle>
            <a:p>
              <a:endParaRPr lang="zh-CN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8" name="Freeform 6"/>
            <p:cNvSpPr>
              <a:spLocks/>
            </p:cNvSpPr>
            <p:nvPr/>
          </p:nvSpPr>
          <p:spPr bwMode="blackWhite">
            <a:xfrm>
              <a:off x="2244" y="2563"/>
              <a:ext cx="930" cy="1075"/>
            </a:xfrm>
            <a:custGeom>
              <a:avLst/>
              <a:gdLst>
                <a:gd name="T0" fmla="*/ 929 w 930"/>
                <a:gd name="T1" fmla="*/ 645 h 1075"/>
                <a:gd name="T2" fmla="*/ 887 w 930"/>
                <a:gd name="T3" fmla="*/ 634 h 1075"/>
                <a:gd name="T4" fmla="*/ 847 w 930"/>
                <a:gd name="T5" fmla="*/ 620 h 1075"/>
                <a:gd name="T6" fmla="*/ 807 w 930"/>
                <a:gd name="T7" fmla="*/ 603 h 1075"/>
                <a:gd name="T8" fmla="*/ 771 w 930"/>
                <a:gd name="T9" fmla="*/ 582 h 1075"/>
                <a:gd name="T10" fmla="*/ 735 w 930"/>
                <a:gd name="T11" fmla="*/ 557 h 1075"/>
                <a:gd name="T12" fmla="*/ 703 w 930"/>
                <a:gd name="T13" fmla="*/ 529 h 1075"/>
                <a:gd name="T14" fmla="*/ 673 w 930"/>
                <a:gd name="T15" fmla="*/ 497 h 1075"/>
                <a:gd name="T16" fmla="*/ 648 w 930"/>
                <a:gd name="T17" fmla="*/ 465 h 1075"/>
                <a:gd name="T18" fmla="*/ 624 w 930"/>
                <a:gd name="T19" fmla="*/ 428 h 1075"/>
                <a:gd name="T20" fmla="*/ 607 w 930"/>
                <a:gd name="T21" fmla="*/ 398 h 1075"/>
                <a:gd name="T22" fmla="*/ 594 w 930"/>
                <a:gd name="T23" fmla="*/ 366 h 1075"/>
                <a:gd name="T24" fmla="*/ 583 w 930"/>
                <a:gd name="T25" fmla="*/ 332 h 1075"/>
                <a:gd name="T26" fmla="*/ 577 w 930"/>
                <a:gd name="T27" fmla="*/ 298 h 1075"/>
                <a:gd name="T28" fmla="*/ 575 w 930"/>
                <a:gd name="T29" fmla="*/ 264 h 1075"/>
                <a:gd name="T30" fmla="*/ 576 w 930"/>
                <a:gd name="T31" fmla="*/ 229 h 1075"/>
                <a:gd name="T32" fmla="*/ 748 w 930"/>
                <a:gd name="T33" fmla="*/ 229 h 1075"/>
                <a:gd name="T34" fmla="*/ 360 w 930"/>
                <a:gd name="T35" fmla="*/ 0 h 1075"/>
                <a:gd name="T36" fmla="*/ 0 w 930"/>
                <a:gd name="T37" fmla="*/ 236 h 1075"/>
                <a:gd name="T38" fmla="*/ 136 w 930"/>
                <a:gd name="T39" fmla="*/ 237 h 1075"/>
                <a:gd name="T40" fmla="*/ 141 w 930"/>
                <a:gd name="T41" fmla="*/ 299 h 1075"/>
                <a:gd name="T42" fmla="*/ 150 w 930"/>
                <a:gd name="T43" fmla="*/ 362 h 1075"/>
                <a:gd name="T44" fmla="*/ 165 w 930"/>
                <a:gd name="T45" fmla="*/ 422 h 1075"/>
                <a:gd name="T46" fmla="*/ 182 w 930"/>
                <a:gd name="T47" fmla="*/ 483 h 1075"/>
                <a:gd name="T48" fmla="*/ 204 w 930"/>
                <a:gd name="T49" fmla="*/ 541 h 1075"/>
                <a:gd name="T50" fmla="*/ 231 w 930"/>
                <a:gd name="T51" fmla="*/ 598 h 1075"/>
                <a:gd name="T52" fmla="*/ 262 w 930"/>
                <a:gd name="T53" fmla="*/ 653 h 1075"/>
                <a:gd name="T54" fmla="*/ 296 w 930"/>
                <a:gd name="T55" fmla="*/ 704 h 1075"/>
                <a:gd name="T56" fmla="*/ 333 w 930"/>
                <a:gd name="T57" fmla="*/ 752 h 1075"/>
                <a:gd name="T58" fmla="*/ 374 w 930"/>
                <a:gd name="T59" fmla="*/ 797 h 1075"/>
                <a:gd name="T60" fmla="*/ 419 w 930"/>
                <a:gd name="T61" fmla="*/ 841 h 1075"/>
                <a:gd name="T62" fmla="*/ 465 w 930"/>
                <a:gd name="T63" fmla="*/ 880 h 1075"/>
                <a:gd name="T64" fmla="*/ 514 w 930"/>
                <a:gd name="T65" fmla="*/ 917 h 1075"/>
                <a:gd name="T66" fmla="*/ 566 w 930"/>
                <a:gd name="T67" fmla="*/ 951 h 1075"/>
                <a:gd name="T68" fmla="*/ 620 w 930"/>
                <a:gd name="T69" fmla="*/ 980 h 1075"/>
                <a:gd name="T70" fmla="*/ 675 w 930"/>
                <a:gd name="T71" fmla="*/ 1007 h 1075"/>
                <a:gd name="T72" fmla="*/ 732 w 930"/>
                <a:gd name="T73" fmla="*/ 1029 h 1075"/>
                <a:gd name="T74" fmla="*/ 790 w 930"/>
                <a:gd name="T75" fmla="*/ 1048 h 1075"/>
                <a:gd name="T76" fmla="*/ 849 w 930"/>
                <a:gd name="T77" fmla="*/ 1062 h 1075"/>
                <a:gd name="T78" fmla="*/ 910 w 930"/>
                <a:gd name="T79" fmla="*/ 1074 h 1075"/>
                <a:gd name="T80" fmla="*/ 772 w 930"/>
                <a:gd name="T81" fmla="*/ 845 h 1075"/>
                <a:gd name="T82" fmla="*/ 929 w 930"/>
                <a:gd name="T83" fmla="*/ 645 h 1075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930"/>
                <a:gd name="T127" fmla="*/ 0 h 1075"/>
                <a:gd name="T128" fmla="*/ 930 w 930"/>
                <a:gd name="T129" fmla="*/ 1075 h 1075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930" h="1075">
                  <a:moveTo>
                    <a:pt x="929" y="645"/>
                  </a:moveTo>
                  <a:lnTo>
                    <a:pt x="887" y="634"/>
                  </a:lnTo>
                  <a:lnTo>
                    <a:pt x="847" y="620"/>
                  </a:lnTo>
                  <a:lnTo>
                    <a:pt x="807" y="603"/>
                  </a:lnTo>
                  <a:lnTo>
                    <a:pt x="771" y="582"/>
                  </a:lnTo>
                  <a:lnTo>
                    <a:pt x="735" y="557"/>
                  </a:lnTo>
                  <a:lnTo>
                    <a:pt x="703" y="529"/>
                  </a:lnTo>
                  <a:lnTo>
                    <a:pt x="673" y="497"/>
                  </a:lnTo>
                  <a:lnTo>
                    <a:pt x="648" y="465"/>
                  </a:lnTo>
                  <a:lnTo>
                    <a:pt x="624" y="428"/>
                  </a:lnTo>
                  <a:lnTo>
                    <a:pt x="607" y="398"/>
                  </a:lnTo>
                  <a:lnTo>
                    <a:pt x="594" y="366"/>
                  </a:lnTo>
                  <a:lnTo>
                    <a:pt x="583" y="332"/>
                  </a:lnTo>
                  <a:lnTo>
                    <a:pt x="577" y="298"/>
                  </a:lnTo>
                  <a:lnTo>
                    <a:pt x="575" y="264"/>
                  </a:lnTo>
                  <a:lnTo>
                    <a:pt x="576" y="229"/>
                  </a:lnTo>
                  <a:lnTo>
                    <a:pt x="748" y="229"/>
                  </a:lnTo>
                  <a:lnTo>
                    <a:pt x="360" y="0"/>
                  </a:lnTo>
                  <a:lnTo>
                    <a:pt x="0" y="236"/>
                  </a:lnTo>
                  <a:lnTo>
                    <a:pt x="136" y="237"/>
                  </a:lnTo>
                  <a:lnTo>
                    <a:pt x="141" y="299"/>
                  </a:lnTo>
                  <a:lnTo>
                    <a:pt x="150" y="362"/>
                  </a:lnTo>
                  <a:lnTo>
                    <a:pt x="165" y="422"/>
                  </a:lnTo>
                  <a:lnTo>
                    <a:pt x="182" y="483"/>
                  </a:lnTo>
                  <a:lnTo>
                    <a:pt x="204" y="541"/>
                  </a:lnTo>
                  <a:lnTo>
                    <a:pt x="231" y="598"/>
                  </a:lnTo>
                  <a:lnTo>
                    <a:pt x="262" y="653"/>
                  </a:lnTo>
                  <a:lnTo>
                    <a:pt x="296" y="704"/>
                  </a:lnTo>
                  <a:lnTo>
                    <a:pt x="333" y="752"/>
                  </a:lnTo>
                  <a:lnTo>
                    <a:pt x="374" y="797"/>
                  </a:lnTo>
                  <a:lnTo>
                    <a:pt x="419" y="841"/>
                  </a:lnTo>
                  <a:lnTo>
                    <a:pt x="465" y="880"/>
                  </a:lnTo>
                  <a:lnTo>
                    <a:pt x="514" y="917"/>
                  </a:lnTo>
                  <a:lnTo>
                    <a:pt x="566" y="951"/>
                  </a:lnTo>
                  <a:lnTo>
                    <a:pt x="620" y="980"/>
                  </a:lnTo>
                  <a:lnTo>
                    <a:pt x="675" y="1007"/>
                  </a:lnTo>
                  <a:lnTo>
                    <a:pt x="732" y="1029"/>
                  </a:lnTo>
                  <a:lnTo>
                    <a:pt x="790" y="1048"/>
                  </a:lnTo>
                  <a:lnTo>
                    <a:pt x="849" y="1062"/>
                  </a:lnTo>
                  <a:lnTo>
                    <a:pt x="910" y="1074"/>
                  </a:lnTo>
                  <a:lnTo>
                    <a:pt x="772" y="845"/>
                  </a:lnTo>
                  <a:lnTo>
                    <a:pt x="929" y="645"/>
                  </a:lnTo>
                </a:path>
              </a:pathLst>
            </a:custGeom>
            <a:grpFill/>
            <a:ln w="12700" cap="rnd">
              <a:solidFill>
                <a:schemeClr val="tx1">
                  <a:lumMod val="50000"/>
                  <a:lumOff val="50000"/>
                </a:schemeClr>
              </a:solidFill>
              <a:round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itchFamily="34" charset="0"/>
                  <a:ea typeface="楷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itchFamily="34" charset="0"/>
                  <a:ea typeface="楷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itchFamily="34" charset="0"/>
                  <a:ea typeface="楷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itchFamily="34" charset="0"/>
                  <a:ea typeface="楷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itchFamily="34" charset="0"/>
                  <a:ea typeface="楷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楷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楷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楷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楷体" pitchFamily="2" charset="-122"/>
                </a:defRPr>
              </a:lvl9pPr>
            </a:lstStyle>
            <a:p>
              <a:endParaRPr lang="zh-CN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9" name="Freeform 7"/>
            <p:cNvSpPr>
              <a:spLocks/>
            </p:cNvSpPr>
            <p:nvPr/>
          </p:nvSpPr>
          <p:spPr bwMode="blackWhite">
            <a:xfrm>
              <a:off x="3330" y="1909"/>
              <a:ext cx="943" cy="1065"/>
            </a:xfrm>
            <a:custGeom>
              <a:avLst/>
              <a:gdLst>
                <a:gd name="T0" fmla="*/ 554 w 943"/>
                <a:gd name="T1" fmla="*/ 1064 h 1065"/>
                <a:gd name="T2" fmla="*/ 942 w 943"/>
                <a:gd name="T3" fmla="*/ 840 h 1065"/>
                <a:gd name="T4" fmla="*/ 781 w 943"/>
                <a:gd name="T5" fmla="*/ 840 h 1065"/>
                <a:gd name="T6" fmla="*/ 776 w 943"/>
                <a:gd name="T7" fmla="*/ 778 h 1065"/>
                <a:gd name="T8" fmla="*/ 767 w 943"/>
                <a:gd name="T9" fmla="*/ 716 h 1065"/>
                <a:gd name="T10" fmla="*/ 754 w 943"/>
                <a:gd name="T11" fmla="*/ 655 h 1065"/>
                <a:gd name="T12" fmla="*/ 737 w 943"/>
                <a:gd name="T13" fmla="*/ 595 h 1065"/>
                <a:gd name="T14" fmla="*/ 714 w 943"/>
                <a:gd name="T15" fmla="*/ 536 h 1065"/>
                <a:gd name="T16" fmla="*/ 688 w 943"/>
                <a:gd name="T17" fmla="*/ 480 h 1065"/>
                <a:gd name="T18" fmla="*/ 658 w 943"/>
                <a:gd name="T19" fmla="*/ 425 h 1065"/>
                <a:gd name="T20" fmla="*/ 624 w 943"/>
                <a:gd name="T21" fmla="*/ 372 h 1065"/>
                <a:gd name="T22" fmla="*/ 586 w 943"/>
                <a:gd name="T23" fmla="*/ 323 h 1065"/>
                <a:gd name="T24" fmla="*/ 547 w 943"/>
                <a:gd name="T25" fmla="*/ 275 h 1065"/>
                <a:gd name="T26" fmla="*/ 502 w 943"/>
                <a:gd name="T27" fmla="*/ 232 h 1065"/>
                <a:gd name="T28" fmla="*/ 455 w 943"/>
                <a:gd name="T29" fmla="*/ 191 h 1065"/>
                <a:gd name="T30" fmla="*/ 405 w 943"/>
                <a:gd name="T31" fmla="*/ 153 h 1065"/>
                <a:gd name="T32" fmla="*/ 352 w 943"/>
                <a:gd name="T33" fmla="*/ 120 h 1065"/>
                <a:gd name="T34" fmla="*/ 298 w 943"/>
                <a:gd name="T35" fmla="*/ 89 h 1065"/>
                <a:gd name="T36" fmla="*/ 241 w 943"/>
                <a:gd name="T37" fmla="*/ 63 h 1065"/>
                <a:gd name="T38" fmla="*/ 182 w 943"/>
                <a:gd name="T39" fmla="*/ 41 h 1065"/>
                <a:gd name="T40" fmla="*/ 122 w 943"/>
                <a:gd name="T41" fmla="*/ 23 h 1065"/>
                <a:gd name="T42" fmla="*/ 61 w 943"/>
                <a:gd name="T43" fmla="*/ 9 h 1065"/>
                <a:gd name="T44" fmla="*/ 0 w 943"/>
                <a:gd name="T45" fmla="*/ 0 h 1065"/>
                <a:gd name="T46" fmla="*/ 137 w 943"/>
                <a:gd name="T47" fmla="*/ 226 h 1065"/>
                <a:gd name="T48" fmla="*/ 5 w 943"/>
                <a:gd name="T49" fmla="*/ 451 h 1065"/>
                <a:gd name="T50" fmla="*/ 48 w 943"/>
                <a:gd name="T51" fmla="*/ 465 h 1065"/>
                <a:gd name="T52" fmla="*/ 90 w 943"/>
                <a:gd name="T53" fmla="*/ 483 h 1065"/>
                <a:gd name="T54" fmla="*/ 130 w 943"/>
                <a:gd name="T55" fmla="*/ 505 h 1065"/>
                <a:gd name="T56" fmla="*/ 168 w 943"/>
                <a:gd name="T57" fmla="*/ 531 h 1065"/>
                <a:gd name="T58" fmla="*/ 202 w 943"/>
                <a:gd name="T59" fmla="*/ 561 h 1065"/>
                <a:gd name="T60" fmla="*/ 233 w 943"/>
                <a:gd name="T61" fmla="*/ 594 h 1065"/>
                <a:gd name="T62" fmla="*/ 262 w 943"/>
                <a:gd name="T63" fmla="*/ 629 h 1065"/>
                <a:gd name="T64" fmla="*/ 285 w 943"/>
                <a:gd name="T65" fmla="*/ 668 h 1065"/>
                <a:gd name="T66" fmla="*/ 305 w 943"/>
                <a:gd name="T67" fmla="*/ 709 h 1065"/>
                <a:gd name="T68" fmla="*/ 321 w 943"/>
                <a:gd name="T69" fmla="*/ 751 h 1065"/>
                <a:gd name="T70" fmla="*/ 333 w 943"/>
                <a:gd name="T71" fmla="*/ 795 h 1065"/>
                <a:gd name="T72" fmla="*/ 340 w 943"/>
                <a:gd name="T73" fmla="*/ 840 h 1065"/>
                <a:gd name="T74" fmla="*/ 188 w 943"/>
                <a:gd name="T75" fmla="*/ 841 h 1065"/>
                <a:gd name="T76" fmla="*/ 554 w 943"/>
                <a:gd name="T77" fmla="*/ 1064 h 1065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w 943"/>
                <a:gd name="T118" fmla="*/ 0 h 1065"/>
                <a:gd name="T119" fmla="*/ 943 w 943"/>
                <a:gd name="T120" fmla="*/ 1065 h 1065"/>
              </a:gdLst>
              <a:ahLst/>
              <a:cxnLst>
                <a:cxn ang="T78">
                  <a:pos x="T0" y="T1"/>
                </a:cxn>
                <a:cxn ang="T79">
                  <a:pos x="T2" y="T3"/>
                </a:cxn>
                <a:cxn ang="T80">
                  <a:pos x="T4" y="T5"/>
                </a:cxn>
                <a:cxn ang="T81">
                  <a:pos x="T6" y="T7"/>
                </a:cxn>
                <a:cxn ang="T82">
                  <a:pos x="T8" y="T9"/>
                </a:cxn>
                <a:cxn ang="T83">
                  <a:pos x="T10" y="T11"/>
                </a:cxn>
                <a:cxn ang="T84">
                  <a:pos x="T12" y="T13"/>
                </a:cxn>
                <a:cxn ang="T85">
                  <a:pos x="T14" y="T15"/>
                </a:cxn>
                <a:cxn ang="T86">
                  <a:pos x="T16" y="T17"/>
                </a:cxn>
                <a:cxn ang="T87">
                  <a:pos x="T18" y="T19"/>
                </a:cxn>
                <a:cxn ang="T88">
                  <a:pos x="T20" y="T21"/>
                </a:cxn>
                <a:cxn ang="T89">
                  <a:pos x="T22" y="T23"/>
                </a:cxn>
                <a:cxn ang="T90">
                  <a:pos x="T24" y="T25"/>
                </a:cxn>
                <a:cxn ang="T91">
                  <a:pos x="T26" y="T27"/>
                </a:cxn>
                <a:cxn ang="T92">
                  <a:pos x="T28" y="T29"/>
                </a:cxn>
                <a:cxn ang="T93">
                  <a:pos x="T30" y="T31"/>
                </a:cxn>
                <a:cxn ang="T94">
                  <a:pos x="T32" y="T33"/>
                </a:cxn>
                <a:cxn ang="T95">
                  <a:pos x="T34" y="T35"/>
                </a:cxn>
                <a:cxn ang="T96">
                  <a:pos x="T36" y="T37"/>
                </a:cxn>
                <a:cxn ang="T97">
                  <a:pos x="T38" y="T39"/>
                </a:cxn>
                <a:cxn ang="T98">
                  <a:pos x="T40" y="T41"/>
                </a:cxn>
                <a:cxn ang="T99">
                  <a:pos x="T42" y="T43"/>
                </a:cxn>
                <a:cxn ang="T100">
                  <a:pos x="T44" y="T45"/>
                </a:cxn>
                <a:cxn ang="T101">
                  <a:pos x="T46" y="T47"/>
                </a:cxn>
                <a:cxn ang="T102">
                  <a:pos x="T48" y="T49"/>
                </a:cxn>
                <a:cxn ang="T103">
                  <a:pos x="T50" y="T51"/>
                </a:cxn>
                <a:cxn ang="T104">
                  <a:pos x="T52" y="T53"/>
                </a:cxn>
                <a:cxn ang="T105">
                  <a:pos x="T54" y="T55"/>
                </a:cxn>
                <a:cxn ang="T106">
                  <a:pos x="T56" y="T57"/>
                </a:cxn>
                <a:cxn ang="T107">
                  <a:pos x="T58" y="T59"/>
                </a:cxn>
                <a:cxn ang="T108">
                  <a:pos x="T60" y="T61"/>
                </a:cxn>
                <a:cxn ang="T109">
                  <a:pos x="T62" y="T63"/>
                </a:cxn>
                <a:cxn ang="T110">
                  <a:pos x="T64" y="T65"/>
                </a:cxn>
                <a:cxn ang="T111">
                  <a:pos x="T66" y="T67"/>
                </a:cxn>
                <a:cxn ang="T112">
                  <a:pos x="T68" y="T69"/>
                </a:cxn>
                <a:cxn ang="T113">
                  <a:pos x="T70" y="T71"/>
                </a:cxn>
                <a:cxn ang="T114">
                  <a:pos x="T72" y="T73"/>
                </a:cxn>
                <a:cxn ang="T115">
                  <a:pos x="T74" y="T75"/>
                </a:cxn>
                <a:cxn ang="T116">
                  <a:pos x="T76" y="T77"/>
                </a:cxn>
              </a:cxnLst>
              <a:rect l="T117" t="T118" r="T119" b="T120"/>
              <a:pathLst>
                <a:path w="943" h="1065">
                  <a:moveTo>
                    <a:pt x="554" y="1064"/>
                  </a:moveTo>
                  <a:lnTo>
                    <a:pt x="942" y="840"/>
                  </a:lnTo>
                  <a:lnTo>
                    <a:pt x="781" y="840"/>
                  </a:lnTo>
                  <a:lnTo>
                    <a:pt x="776" y="778"/>
                  </a:lnTo>
                  <a:lnTo>
                    <a:pt x="767" y="716"/>
                  </a:lnTo>
                  <a:lnTo>
                    <a:pt x="754" y="655"/>
                  </a:lnTo>
                  <a:lnTo>
                    <a:pt x="737" y="595"/>
                  </a:lnTo>
                  <a:lnTo>
                    <a:pt x="714" y="536"/>
                  </a:lnTo>
                  <a:lnTo>
                    <a:pt x="688" y="480"/>
                  </a:lnTo>
                  <a:lnTo>
                    <a:pt x="658" y="425"/>
                  </a:lnTo>
                  <a:lnTo>
                    <a:pt x="624" y="372"/>
                  </a:lnTo>
                  <a:lnTo>
                    <a:pt x="586" y="323"/>
                  </a:lnTo>
                  <a:lnTo>
                    <a:pt x="547" y="275"/>
                  </a:lnTo>
                  <a:lnTo>
                    <a:pt x="502" y="232"/>
                  </a:lnTo>
                  <a:lnTo>
                    <a:pt x="455" y="191"/>
                  </a:lnTo>
                  <a:lnTo>
                    <a:pt x="405" y="153"/>
                  </a:lnTo>
                  <a:lnTo>
                    <a:pt x="352" y="120"/>
                  </a:lnTo>
                  <a:lnTo>
                    <a:pt x="298" y="89"/>
                  </a:lnTo>
                  <a:lnTo>
                    <a:pt x="241" y="63"/>
                  </a:lnTo>
                  <a:lnTo>
                    <a:pt x="182" y="41"/>
                  </a:lnTo>
                  <a:lnTo>
                    <a:pt x="122" y="23"/>
                  </a:lnTo>
                  <a:lnTo>
                    <a:pt x="61" y="9"/>
                  </a:lnTo>
                  <a:lnTo>
                    <a:pt x="0" y="0"/>
                  </a:lnTo>
                  <a:lnTo>
                    <a:pt x="137" y="226"/>
                  </a:lnTo>
                  <a:lnTo>
                    <a:pt x="5" y="451"/>
                  </a:lnTo>
                  <a:lnTo>
                    <a:pt x="48" y="465"/>
                  </a:lnTo>
                  <a:lnTo>
                    <a:pt x="90" y="483"/>
                  </a:lnTo>
                  <a:lnTo>
                    <a:pt x="130" y="505"/>
                  </a:lnTo>
                  <a:lnTo>
                    <a:pt x="168" y="531"/>
                  </a:lnTo>
                  <a:lnTo>
                    <a:pt x="202" y="561"/>
                  </a:lnTo>
                  <a:lnTo>
                    <a:pt x="233" y="594"/>
                  </a:lnTo>
                  <a:lnTo>
                    <a:pt x="262" y="629"/>
                  </a:lnTo>
                  <a:lnTo>
                    <a:pt x="285" y="668"/>
                  </a:lnTo>
                  <a:lnTo>
                    <a:pt x="305" y="709"/>
                  </a:lnTo>
                  <a:lnTo>
                    <a:pt x="321" y="751"/>
                  </a:lnTo>
                  <a:lnTo>
                    <a:pt x="333" y="795"/>
                  </a:lnTo>
                  <a:lnTo>
                    <a:pt x="340" y="840"/>
                  </a:lnTo>
                  <a:lnTo>
                    <a:pt x="188" y="841"/>
                  </a:lnTo>
                  <a:lnTo>
                    <a:pt x="554" y="1064"/>
                  </a:lnTo>
                </a:path>
              </a:pathLst>
            </a:custGeom>
            <a:grpFill/>
            <a:ln w="12700" cap="rnd">
              <a:solidFill>
                <a:schemeClr val="tx1">
                  <a:lumMod val="50000"/>
                  <a:lumOff val="50000"/>
                </a:schemeClr>
              </a:solidFill>
              <a:round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itchFamily="34" charset="0"/>
                  <a:ea typeface="楷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itchFamily="34" charset="0"/>
                  <a:ea typeface="楷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itchFamily="34" charset="0"/>
                  <a:ea typeface="楷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itchFamily="34" charset="0"/>
                  <a:ea typeface="楷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itchFamily="34" charset="0"/>
                  <a:ea typeface="楷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楷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楷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楷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楷体" pitchFamily="2" charset="-122"/>
                </a:defRPr>
              </a:lvl9pPr>
            </a:lstStyle>
            <a:p>
              <a:endParaRPr lang="zh-CN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4555680" y="2394224"/>
            <a:ext cx="61747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접근성</a:t>
            </a:r>
            <a:endParaRPr lang="ko-KR" altLang="en-US" sz="12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5833230" y="2683698"/>
            <a:ext cx="61747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지속성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21476" y="3578110"/>
            <a:ext cx="61747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만족도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08835" y="3812754"/>
            <a:ext cx="61747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충성도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62525" y="3059405"/>
            <a:ext cx="6174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사용자</a:t>
            </a:r>
            <a:endParaRPr lang="en-US" altLang="ko-KR" sz="12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r>
              <a:rPr lang="ko-KR" altLang="en-US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중   심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622262" y="3031456"/>
            <a:ext cx="9252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" altLang="ko-KR" sz="1200" b="1">
                <a:latin typeface="나눔고딕" panose="020D0604000000000000" pitchFamily="50" charset="-127"/>
                <a:ea typeface="나눔고딕" panose="020D0604000000000000" pitchFamily="50" charset="-127"/>
              </a:rPr>
              <a:t>XXX</a:t>
            </a:r>
            <a:r>
              <a:rPr lang="ko-KR" altLang="en-US" sz="1200" b="1">
                <a:latin typeface="나눔고딕" panose="020D0604000000000000" pitchFamily="50" charset="-127"/>
                <a:ea typeface="나눔고딕" panose="020D0604000000000000" pitchFamily="50" charset="-127"/>
              </a:rPr>
              <a:t>서비스</a:t>
            </a:r>
            <a:endParaRPr lang="ko-KR" altLang="en-US" sz="12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8286614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44017" y="91339"/>
            <a:ext cx="7401271" cy="385333"/>
          </a:xfrm>
          <a:prstGeom prst="rect">
            <a:avLst/>
          </a:prstGeom>
          <a:noFill/>
        </p:spPr>
        <p:txBody>
          <a:bodyPr wrap="square" lIns="0" tIns="53643" rIns="0" bIns="53643" rtlCol="0">
            <a:spAutoFit/>
          </a:bodyPr>
          <a:lstStyle/>
          <a:p>
            <a:r>
              <a:rPr kumimoji="1" lang="en-US" altLang="ko-KR" b="1" kern="0" dirty="0">
                <a:latin typeface="나눔고딕" panose="020D0604000000000000" pitchFamily="50" charset="-127"/>
                <a:ea typeface="나눔고딕" panose="020D0604000000000000" pitchFamily="50" charset="-127"/>
                <a:cs typeface="산돌고딕 M"/>
              </a:rPr>
              <a:t>User Interface Design</a:t>
            </a:r>
            <a:endParaRPr kumimoji="1" lang="ko-KR" altLang="en-US" b="1" kern="0" dirty="0">
              <a:latin typeface="나눔고딕" panose="020D0604000000000000" pitchFamily="50" charset="-127"/>
              <a:ea typeface="나눔고딕" panose="020D0604000000000000" pitchFamily="50" charset="-127"/>
              <a:cs typeface="산돌고딕 M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44017" y="683985"/>
            <a:ext cx="96335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Approach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8504" y="991762"/>
            <a:ext cx="9217024" cy="738664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User interface design 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설계는 고객의 실질적인 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behavior flow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와 </a:t>
            </a:r>
            <a:r>
              <a:rPr lang="ko-KR" altLang="en-US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고객이 필요한 것을 효과적으로 웹 페이지에 적용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시키는 과정입니다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구조가 정의 된 사이트에 고객의 행동 프로세스를 가장 적절하게 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mapping 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시킬 수 있는 정교한 방법이 필요하게 됩니다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6" name="AutoShape 5"/>
          <p:cNvSpPr>
            <a:spLocks noChangeArrowheads="1"/>
          </p:cNvSpPr>
          <p:nvPr/>
        </p:nvSpPr>
        <p:spPr bwMode="auto">
          <a:xfrm>
            <a:off x="632520" y="2204864"/>
            <a:ext cx="874713" cy="565150"/>
          </a:xfrm>
          <a:prstGeom prst="flowChartDocument">
            <a:avLst/>
          </a:prstGeom>
          <a:solidFill>
            <a:schemeClr val="bg1"/>
          </a:solidFill>
          <a:ln w="6350">
            <a:solidFill>
              <a:schemeClr val="tx1"/>
            </a:solidFill>
            <a:miter lim="800000"/>
            <a:headEnd/>
            <a:tailEnd type="none" w="med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noAutofit/>
          </a:bodyPr>
          <a:lstStyle/>
          <a:p>
            <a:pPr algn="ctr"/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계획수립</a:t>
            </a:r>
            <a:endParaRPr lang="en-US" altLang="ko-KR" sz="1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7" name="AutoShape 6"/>
          <p:cNvSpPr>
            <a:spLocks noChangeArrowheads="1"/>
          </p:cNvSpPr>
          <p:nvPr/>
        </p:nvSpPr>
        <p:spPr bwMode="auto">
          <a:xfrm>
            <a:off x="3023295" y="5656089"/>
            <a:ext cx="874713" cy="452438"/>
          </a:xfrm>
          <a:prstGeom prst="flowChartDocument">
            <a:avLst/>
          </a:prstGeom>
          <a:solidFill>
            <a:schemeClr val="bg1"/>
          </a:solidFill>
          <a:ln w="6350">
            <a:solidFill>
              <a:schemeClr val="tx1"/>
            </a:solidFill>
            <a:miter lim="800000"/>
            <a:headEnd/>
            <a:tailEnd type="none" w="med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noAutofit/>
          </a:bodyPr>
          <a:lstStyle/>
          <a:p>
            <a:pPr algn="ctr"/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IA map</a:t>
            </a:r>
          </a:p>
        </p:txBody>
      </p:sp>
      <p:sp>
        <p:nvSpPr>
          <p:cNvPr id="29" name="Text Box 8"/>
          <p:cNvSpPr txBox="1">
            <a:spLocks noChangeArrowheads="1"/>
          </p:cNvSpPr>
          <p:nvPr/>
        </p:nvSpPr>
        <p:spPr bwMode="auto">
          <a:xfrm>
            <a:off x="1248470" y="2935114"/>
            <a:ext cx="1138238" cy="214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noAutofit/>
          </a:bodyPr>
          <a:lstStyle/>
          <a:p>
            <a:pPr algn="r">
              <a:lnSpc>
                <a:spcPct val="80000"/>
              </a:lnSpc>
            </a:pPr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정의</a:t>
            </a:r>
            <a:endParaRPr lang="en-US" altLang="ko-KR" sz="1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1" name="Text Box 10"/>
          <p:cNvSpPr txBox="1">
            <a:spLocks noChangeArrowheads="1"/>
          </p:cNvSpPr>
          <p:nvPr/>
        </p:nvSpPr>
        <p:spPr bwMode="auto">
          <a:xfrm>
            <a:off x="3528120" y="4300364"/>
            <a:ext cx="7080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noAutofit/>
          </a:bodyPr>
          <a:lstStyle/>
          <a:p>
            <a:pPr algn="r">
              <a:lnSpc>
                <a:spcPct val="80000"/>
              </a:lnSpc>
            </a:pPr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정보분석</a:t>
            </a:r>
            <a:endParaRPr lang="en-US" altLang="ko-KR" sz="1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2" name="Freeform 11"/>
          <p:cNvSpPr>
            <a:spLocks/>
          </p:cNvSpPr>
          <p:nvPr/>
        </p:nvSpPr>
        <p:spPr bwMode="auto">
          <a:xfrm>
            <a:off x="1507233" y="2385839"/>
            <a:ext cx="1092200" cy="363538"/>
          </a:xfrm>
          <a:custGeom>
            <a:avLst/>
            <a:gdLst>
              <a:gd name="T0" fmla="*/ 0 w 864"/>
              <a:gd name="T1" fmla="*/ 0 h 240"/>
              <a:gd name="T2" fmla="*/ 864 w 864"/>
              <a:gd name="T3" fmla="*/ 0 h 240"/>
              <a:gd name="T4" fmla="*/ 864 w 864"/>
              <a:gd name="T5" fmla="*/ 240 h 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864" h="240">
                <a:moveTo>
                  <a:pt x="0" y="0"/>
                </a:moveTo>
                <a:lnTo>
                  <a:pt x="864" y="0"/>
                </a:lnTo>
                <a:lnTo>
                  <a:pt x="864" y="240"/>
                </a:lnTo>
              </a:path>
            </a:pathLst>
          </a:custGeom>
          <a:noFill/>
          <a:ln w="63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noAutofit/>
          </a:bodyPr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3" name="Freeform 12"/>
          <p:cNvSpPr>
            <a:spLocks/>
          </p:cNvSpPr>
          <p:nvPr/>
        </p:nvSpPr>
        <p:spPr bwMode="auto">
          <a:xfrm rot="5400000" flipV="1">
            <a:off x="2788345" y="3124027"/>
            <a:ext cx="585788" cy="1046162"/>
          </a:xfrm>
          <a:custGeom>
            <a:avLst/>
            <a:gdLst>
              <a:gd name="T0" fmla="*/ 0 w 864"/>
              <a:gd name="T1" fmla="*/ 0 h 240"/>
              <a:gd name="T2" fmla="*/ 864 w 864"/>
              <a:gd name="T3" fmla="*/ 0 h 240"/>
              <a:gd name="T4" fmla="*/ 864 w 864"/>
              <a:gd name="T5" fmla="*/ 240 h 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864" h="240">
                <a:moveTo>
                  <a:pt x="0" y="0"/>
                </a:moveTo>
                <a:lnTo>
                  <a:pt x="864" y="0"/>
                </a:lnTo>
                <a:lnTo>
                  <a:pt x="864" y="240"/>
                </a:lnTo>
              </a:path>
            </a:pathLst>
          </a:custGeom>
          <a:noFill/>
          <a:ln w="63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noAutofit/>
          </a:bodyPr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4" name="Text Box 13"/>
          <p:cNvSpPr txBox="1">
            <a:spLocks noChangeArrowheads="1"/>
          </p:cNvSpPr>
          <p:nvPr/>
        </p:nvSpPr>
        <p:spPr bwMode="auto">
          <a:xfrm>
            <a:off x="4603304" y="3559002"/>
            <a:ext cx="117924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noAutofit/>
          </a:bodyPr>
          <a:lstStyle/>
          <a:p>
            <a:pPr algn="r"/>
            <a:r>
              <a:rPr lang="ko-KR" altLang="en-US" sz="1000" b="1">
                <a:latin typeface="나눔고딕" panose="020D0604000000000000" pitchFamily="50" charset="-127"/>
                <a:ea typeface="나눔고딕" panose="020D0604000000000000" pitchFamily="50" charset="-127"/>
              </a:rPr>
              <a:t>미가공</a:t>
            </a:r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데이터 추출</a:t>
            </a:r>
            <a:endParaRPr lang="en-US" altLang="ko-KR" sz="1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pSp>
        <p:nvGrpSpPr>
          <p:cNvPr id="35" name="Group 14"/>
          <p:cNvGrpSpPr>
            <a:grpSpLocks/>
          </p:cNvGrpSpPr>
          <p:nvPr/>
        </p:nvGrpSpPr>
        <p:grpSpPr bwMode="auto">
          <a:xfrm>
            <a:off x="4975920" y="2949402"/>
            <a:ext cx="433388" cy="577850"/>
            <a:chOff x="3625" y="2406"/>
            <a:chExt cx="413" cy="550"/>
          </a:xfrm>
        </p:grpSpPr>
        <p:sp>
          <p:nvSpPr>
            <p:cNvPr id="36" name="Rectangle 15"/>
            <p:cNvSpPr>
              <a:spLocks noChangeArrowheads="1"/>
            </p:cNvSpPr>
            <p:nvPr/>
          </p:nvSpPr>
          <p:spPr bwMode="auto">
            <a:xfrm>
              <a:off x="3625" y="2406"/>
              <a:ext cx="413" cy="550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rgbClr val="969696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noAutofit/>
            </a:bodyPr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37" name="Line 16"/>
            <p:cNvSpPr>
              <a:spLocks noChangeShapeType="1"/>
            </p:cNvSpPr>
            <p:nvPr/>
          </p:nvSpPr>
          <p:spPr bwMode="auto">
            <a:xfrm>
              <a:off x="3717" y="2498"/>
              <a:ext cx="229" cy="1"/>
            </a:xfrm>
            <a:prstGeom prst="line">
              <a:avLst/>
            </a:prstGeom>
            <a:noFill/>
            <a:ln w="6350">
              <a:solidFill>
                <a:srgbClr val="96969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noAutofit/>
            </a:bodyPr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6" name="Line 17"/>
            <p:cNvSpPr>
              <a:spLocks noChangeShapeType="1"/>
            </p:cNvSpPr>
            <p:nvPr/>
          </p:nvSpPr>
          <p:spPr bwMode="auto">
            <a:xfrm>
              <a:off x="3717" y="2544"/>
              <a:ext cx="229" cy="1"/>
            </a:xfrm>
            <a:prstGeom prst="line">
              <a:avLst/>
            </a:prstGeom>
            <a:noFill/>
            <a:ln w="6350">
              <a:solidFill>
                <a:srgbClr val="96969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noAutofit/>
            </a:bodyPr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7" name="Line 18"/>
            <p:cNvSpPr>
              <a:spLocks noChangeShapeType="1"/>
            </p:cNvSpPr>
            <p:nvPr/>
          </p:nvSpPr>
          <p:spPr bwMode="auto">
            <a:xfrm>
              <a:off x="3717" y="2590"/>
              <a:ext cx="229" cy="1"/>
            </a:xfrm>
            <a:prstGeom prst="line">
              <a:avLst/>
            </a:prstGeom>
            <a:noFill/>
            <a:ln w="6350">
              <a:solidFill>
                <a:srgbClr val="96969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noAutofit/>
            </a:bodyPr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8" name="Line 19"/>
            <p:cNvSpPr>
              <a:spLocks noChangeShapeType="1"/>
            </p:cNvSpPr>
            <p:nvPr/>
          </p:nvSpPr>
          <p:spPr bwMode="auto">
            <a:xfrm>
              <a:off x="3717" y="2636"/>
              <a:ext cx="229" cy="1"/>
            </a:xfrm>
            <a:prstGeom prst="line">
              <a:avLst/>
            </a:prstGeom>
            <a:noFill/>
            <a:ln w="6350">
              <a:solidFill>
                <a:srgbClr val="96969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noAutofit/>
            </a:bodyPr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9" name="Line 20"/>
            <p:cNvSpPr>
              <a:spLocks noChangeShapeType="1"/>
            </p:cNvSpPr>
            <p:nvPr/>
          </p:nvSpPr>
          <p:spPr bwMode="auto">
            <a:xfrm>
              <a:off x="3717" y="2682"/>
              <a:ext cx="229" cy="1"/>
            </a:xfrm>
            <a:prstGeom prst="line">
              <a:avLst/>
            </a:prstGeom>
            <a:noFill/>
            <a:ln w="6350">
              <a:solidFill>
                <a:srgbClr val="96969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noAutofit/>
            </a:bodyPr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50" name="Line 21"/>
            <p:cNvSpPr>
              <a:spLocks noChangeShapeType="1"/>
            </p:cNvSpPr>
            <p:nvPr/>
          </p:nvSpPr>
          <p:spPr bwMode="auto">
            <a:xfrm>
              <a:off x="3717" y="2728"/>
              <a:ext cx="229" cy="1"/>
            </a:xfrm>
            <a:prstGeom prst="line">
              <a:avLst/>
            </a:prstGeom>
            <a:noFill/>
            <a:ln w="6350">
              <a:solidFill>
                <a:srgbClr val="96969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noAutofit/>
            </a:bodyPr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51" name="Line 22"/>
            <p:cNvSpPr>
              <a:spLocks noChangeShapeType="1"/>
            </p:cNvSpPr>
            <p:nvPr/>
          </p:nvSpPr>
          <p:spPr bwMode="auto">
            <a:xfrm>
              <a:off x="3717" y="2774"/>
              <a:ext cx="229" cy="1"/>
            </a:xfrm>
            <a:prstGeom prst="line">
              <a:avLst/>
            </a:prstGeom>
            <a:noFill/>
            <a:ln w="6350">
              <a:solidFill>
                <a:srgbClr val="96969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noAutofit/>
            </a:bodyPr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52" name="Line 23"/>
            <p:cNvSpPr>
              <a:spLocks noChangeShapeType="1"/>
            </p:cNvSpPr>
            <p:nvPr/>
          </p:nvSpPr>
          <p:spPr bwMode="auto">
            <a:xfrm>
              <a:off x="3717" y="2819"/>
              <a:ext cx="229" cy="1"/>
            </a:xfrm>
            <a:prstGeom prst="line">
              <a:avLst/>
            </a:prstGeom>
            <a:noFill/>
            <a:ln w="6350">
              <a:solidFill>
                <a:srgbClr val="96969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noAutofit/>
            </a:bodyPr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53" name="Line 24"/>
            <p:cNvSpPr>
              <a:spLocks noChangeShapeType="1"/>
            </p:cNvSpPr>
            <p:nvPr/>
          </p:nvSpPr>
          <p:spPr bwMode="auto">
            <a:xfrm>
              <a:off x="3717" y="2865"/>
              <a:ext cx="229" cy="1"/>
            </a:xfrm>
            <a:prstGeom prst="line">
              <a:avLst/>
            </a:prstGeom>
            <a:noFill/>
            <a:ln w="6350">
              <a:solidFill>
                <a:srgbClr val="96969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noAutofit/>
            </a:bodyPr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sp>
        <p:nvSpPr>
          <p:cNvPr id="54" name="Line 25"/>
          <p:cNvSpPr>
            <a:spLocks noChangeShapeType="1"/>
          </p:cNvSpPr>
          <p:nvPr/>
        </p:nvSpPr>
        <p:spPr bwMode="auto">
          <a:xfrm flipV="1">
            <a:off x="4442520" y="3254202"/>
            <a:ext cx="381000" cy="530225"/>
          </a:xfrm>
          <a:prstGeom prst="line">
            <a:avLst/>
          </a:prstGeom>
          <a:noFill/>
          <a:ln w="6350">
            <a:solidFill>
              <a:schemeClr val="accent2"/>
            </a:solidFill>
            <a:round/>
            <a:headEnd/>
            <a:tailEnd type="triangle" w="med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noAutofit/>
          </a:bodyPr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6" name="Text Box 27"/>
          <p:cNvSpPr txBox="1">
            <a:spLocks noChangeArrowheads="1"/>
          </p:cNvSpPr>
          <p:nvPr/>
        </p:nvSpPr>
        <p:spPr bwMode="auto">
          <a:xfrm>
            <a:off x="6336408" y="4408314"/>
            <a:ext cx="1311275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noAutofit/>
          </a:bodyPr>
          <a:lstStyle/>
          <a:p>
            <a:pPr algn="r"/>
            <a:r>
              <a:rPr lang="ko-KR" altLang="en-US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세부기획</a:t>
            </a:r>
            <a:endParaRPr lang="en-US" altLang="ko-KR" sz="12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7" name="Line 28"/>
          <p:cNvSpPr>
            <a:spLocks noChangeShapeType="1"/>
          </p:cNvSpPr>
          <p:nvPr/>
        </p:nvSpPr>
        <p:spPr bwMode="auto">
          <a:xfrm flipV="1">
            <a:off x="5661720" y="4092402"/>
            <a:ext cx="1066800" cy="457200"/>
          </a:xfrm>
          <a:prstGeom prst="line">
            <a:avLst/>
          </a:prstGeom>
          <a:noFill/>
          <a:ln w="6350">
            <a:solidFill>
              <a:schemeClr val="accent2"/>
            </a:solidFill>
            <a:round/>
            <a:headEnd/>
            <a:tailEnd type="triangle" w="med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noAutofit/>
          </a:bodyPr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8" name="Freeform 29"/>
          <p:cNvSpPr>
            <a:spLocks/>
          </p:cNvSpPr>
          <p:nvPr/>
        </p:nvSpPr>
        <p:spPr bwMode="auto">
          <a:xfrm flipV="1">
            <a:off x="3910708" y="4778202"/>
            <a:ext cx="3351212" cy="1030287"/>
          </a:xfrm>
          <a:custGeom>
            <a:avLst/>
            <a:gdLst>
              <a:gd name="T0" fmla="*/ 0 w 864"/>
              <a:gd name="T1" fmla="*/ 0 h 240"/>
              <a:gd name="T2" fmla="*/ 864 w 864"/>
              <a:gd name="T3" fmla="*/ 0 h 240"/>
              <a:gd name="T4" fmla="*/ 864 w 864"/>
              <a:gd name="T5" fmla="*/ 240 h 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864" h="240">
                <a:moveTo>
                  <a:pt x="0" y="0"/>
                </a:moveTo>
                <a:lnTo>
                  <a:pt x="864" y="0"/>
                </a:lnTo>
                <a:lnTo>
                  <a:pt x="864" y="240"/>
                </a:lnTo>
              </a:path>
            </a:pathLst>
          </a:custGeom>
          <a:noFill/>
          <a:ln w="63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noAutofit/>
          </a:bodyPr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0" name="Text Box 31"/>
          <p:cNvSpPr txBox="1">
            <a:spLocks noChangeArrowheads="1"/>
          </p:cNvSpPr>
          <p:nvPr/>
        </p:nvSpPr>
        <p:spPr bwMode="auto">
          <a:xfrm>
            <a:off x="7917558" y="4271789"/>
            <a:ext cx="1020762" cy="214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noAutofit/>
          </a:bodyPr>
          <a:lstStyle/>
          <a:p>
            <a:pPr algn="r">
              <a:lnSpc>
                <a:spcPct val="80000"/>
              </a:lnSpc>
            </a:pPr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확인단계</a:t>
            </a:r>
            <a:endParaRPr lang="en-US" altLang="ko-KR" sz="1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1" name="Line 32"/>
          <p:cNvSpPr>
            <a:spLocks noChangeShapeType="1"/>
          </p:cNvSpPr>
          <p:nvPr/>
        </p:nvSpPr>
        <p:spPr bwMode="auto">
          <a:xfrm>
            <a:off x="7847708" y="3936827"/>
            <a:ext cx="590550" cy="1587"/>
          </a:xfrm>
          <a:prstGeom prst="line">
            <a:avLst/>
          </a:prstGeom>
          <a:noFill/>
          <a:ln w="6350">
            <a:solidFill>
              <a:schemeClr val="accent2"/>
            </a:solidFill>
            <a:round/>
            <a:headEnd/>
            <a:tailEnd type="triangle" w="med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noAutofit/>
          </a:bodyPr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3" name="Text Box 34"/>
          <p:cNvSpPr txBox="1">
            <a:spLocks noChangeArrowheads="1"/>
          </p:cNvSpPr>
          <p:nvPr/>
        </p:nvSpPr>
        <p:spPr bwMode="auto">
          <a:xfrm>
            <a:off x="4144070" y="4982989"/>
            <a:ext cx="1311275" cy="214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noAutofit/>
          </a:bodyPr>
          <a:lstStyle/>
          <a:p>
            <a:pPr algn="r">
              <a:lnSpc>
                <a:spcPct val="80000"/>
              </a:lnSpc>
            </a:pPr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분석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판단</a:t>
            </a:r>
            <a:endParaRPr lang="en-US" altLang="ko-KR" sz="1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4" name="Line 35"/>
          <p:cNvSpPr>
            <a:spLocks noChangeShapeType="1"/>
          </p:cNvSpPr>
          <p:nvPr/>
        </p:nvSpPr>
        <p:spPr bwMode="auto">
          <a:xfrm>
            <a:off x="5204520" y="3860627"/>
            <a:ext cx="0" cy="307975"/>
          </a:xfrm>
          <a:prstGeom prst="line">
            <a:avLst/>
          </a:prstGeom>
          <a:noFill/>
          <a:ln w="6350">
            <a:solidFill>
              <a:schemeClr val="accent2"/>
            </a:solidFill>
            <a:round/>
            <a:headEnd/>
            <a:tailEnd type="triangle" w="med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noAutofit/>
          </a:bodyPr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5" name="AutoShape 36"/>
          <p:cNvSpPr>
            <a:spLocks noChangeArrowheads="1"/>
          </p:cNvSpPr>
          <p:nvPr/>
        </p:nvSpPr>
        <p:spPr bwMode="auto">
          <a:xfrm>
            <a:off x="3528120" y="2227089"/>
            <a:ext cx="874713" cy="452438"/>
          </a:xfrm>
          <a:prstGeom prst="flowChartDocument">
            <a:avLst/>
          </a:prstGeom>
          <a:solidFill>
            <a:schemeClr val="bg1"/>
          </a:solidFill>
          <a:ln w="6350">
            <a:solidFill>
              <a:schemeClr val="tx1"/>
            </a:solidFill>
            <a:miter lim="800000"/>
            <a:headEnd/>
            <a:tailEnd type="none" w="med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noAutofit/>
          </a:bodyPr>
          <a:lstStyle/>
          <a:p>
            <a:pPr algn="ctr"/>
            <a:r>
              <a:rPr lang="ko-KR" altLang="en-US" sz="1000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컨텐츠</a:t>
            </a:r>
            <a:endParaRPr lang="en-US" altLang="ko-KR" sz="1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6" name="Line 37"/>
          <p:cNvSpPr>
            <a:spLocks noChangeShapeType="1"/>
          </p:cNvSpPr>
          <p:nvPr/>
        </p:nvSpPr>
        <p:spPr bwMode="auto">
          <a:xfrm>
            <a:off x="4061520" y="2760489"/>
            <a:ext cx="0" cy="762000"/>
          </a:xfrm>
          <a:prstGeom prst="line">
            <a:avLst/>
          </a:prstGeom>
          <a:noFill/>
          <a:ln w="6350">
            <a:solidFill>
              <a:schemeClr val="accent2"/>
            </a:solidFill>
            <a:round/>
            <a:headEnd/>
            <a:tailEnd type="triangle" w="med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noAutofit/>
          </a:bodyPr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7" name="Arc 38"/>
          <p:cNvSpPr>
            <a:spLocks/>
          </p:cNvSpPr>
          <p:nvPr/>
        </p:nvSpPr>
        <p:spPr bwMode="auto">
          <a:xfrm rot="9054098" flipH="1" flipV="1">
            <a:off x="7723883" y="2989089"/>
            <a:ext cx="1443037" cy="795338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600"/>
              <a:gd name="T1" fmla="*/ 0 h 35214"/>
              <a:gd name="T2" fmla="*/ 16770 w 21600"/>
              <a:gd name="T3" fmla="*/ 35214 h 35214"/>
              <a:gd name="T4" fmla="*/ 0 w 21600"/>
              <a:gd name="T5" fmla="*/ 21600 h 352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35214" fill="none" extrusionOk="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26557"/>
                  <a:pt x="19894" y="31364"/>
                  <a:pt x="16769" y="35213"/>
                </a:cubicBezTo>
              </a:path>
              <a:path w="21600" h="35214" stroke="0" extrusionOk="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26557"/>
                  <a:pt x="19894" y="31364"/>
                  <a:pt x="16769" y="35213"/>
                </a:cubicBezTo>
                <a:lnTo>
                  <a:pt x="0" y="21600"/>
                </a:lnTo>
                <a:close/>
              </a:path>
            </a:pathLst>
          </a:custGeom>
          <a:noFill/>
          <a:ln w="6350">
            <a:solidFill>
              <a:srgbClr val="969696"/>
            </a:solidFill>
            <a:round/>
            <a:headEnd type="triangle" w="med" len="med"/>
            <a:tailEnd type="none" w="med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noAutofit/>
          </a:bodyPr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8" name="정육면체 67"/>
          <p:cNvSpPr/>
          <p:nvPr/>
        </p:nvSpPr>
        <p:spPr>
          <a:xfrm>
            <a:off x="2340670" y="2775111"/>
            <a:ext cx="452090" cy="509873"/>
          </a:xfrm>
          <a:prstGeom prst="cube">
            <a:avLst/>
          </a:prstGeom>
          <a:solidFill>
            <a:srgbClr val="FFC000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0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0" name="정육면체 69"/>
          <p:cNvSpPr/>
          <p:nvPr/>
        </p:nvSpPr>
        <p:spPr>
          <a:xfrm>
            <a:off x="3756720" y="3644727"/>
            <a:ext cx="548208" cy="655923"/>
          </a:xfrm>
          <a:prstGeom prst="cube">
            <a:avLst/>
          </a:prstGeom>
          <a:solidFill>
            <a:srgbClr val="FFC000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0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2" name="정육면체 71"/>
          <p:cNvSpPr/>
          <p:nvPr/>
        </p:nvSpPr>
        <p:spPr>
          <a:xfrm>
            <a:off x="4960776" y="4300364"/>
            <a:ext cx="548208" cy="655923"/>
          </a:xfrm>
          <a:prstGeom prst="cube">
            <a:avLst/>
          </a:prstGeom>
          <a:solidFill>
            <a:srgbClr val="FFC000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0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4" name="정육면체 73"/>
          <p:cNvSpPr/>
          <p:nvPr/>
        </p:nvSpPr>
        <p:spPr>
          <a:xfrm>
            <a:off x="6964362" y="3432695"/>
            <a:ext cx="724941" cy="1013719"/>
          </a:xfrm>
          <a:prstGeom prst="cube">
            <a:avLst/>
          </a:prstGeom>
          <a:solidFill>
            <a:srgbClr val="92D050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0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9" name="정육면체 78"/>
          <p:cNvSpPr/>
          <p:nvPr/>
        </p:nvSpPr>
        <p:spPr>
          <a:xfrm>
            <a:off x="8605675" y="3681890"/>
            <a:ext cx="452090" cy="509873"/>
          </a:xfrm>
          <a:prstGeom prst="cube">
            <a:avLst/>
          </a:prstGeom>
          <a:solidFill>
            <a:schemeClr val="accent6">
              <a:lumMod val="7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0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0144911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AutoShape 40"/>
          <p:cNvSpPr>
            <a:spLocks noChangeArrowheads="1"/>
          </p:cNvSpPr>
          <p:nvPr/>
        </p:nvSpPr>
        <p:spPr bwMode="auto">
          <a:xfrm>
            <a:off x="4664968" y="1933723"/>
            <a:ext cx="4608512" cy="4462463"/>
          </a:xfrm>
          <a:prstGeom prst="homePlate">
            <a:avLst>
              <a:gd name="adj" fmla="val 15463"/>
            </a:avLst>
          </a:prstGeom>
          <a:solidFill>
            <a:schemeClr val="bg1"/>
          </a:solidFill>
          <a:ln w="9525" algn="ctr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>
            <a:outerShdw dist="7184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>
            <a:noAutofit/>
          </a:bodyPr>
          <a:lstStyle/>
          <a:p>
            <a:pPr algn="ctr"/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44017" y="91339"/>
            <a:ext cx="7401271" cy="385333"/>
          </a:xfrm>
          <a:prstGeom prst="rect">
            <a:avLst/>
          </a:prstGeom>
          <a:noFill/>
        </p:spPr>
        <p:txBody>
          <a:bodyPr wrap="square" lIns="0" tIns="53643" rIns="0" bIns="53643" rtlCol="0">
            <a:spAutoFit/>
          </a:bodyPr>
          <a:lstStyle/>
          <a:p>
            <a:r>
              <a:rPr kumimoji="1" lang="en-US" altLang="ko-KR" b="1" kern="0" dirty="0">
                <a:latin typeface="나눔고딕" panose="020D0604000000000000" pitchFamily="50" charset="-127"/>
                <a:ea typeface="나눔고딕" panose="020D0604000000000000" pitchFamily="50" charset="-127"/>
                <a:cs typeface="산돌고딕 M"/>
              </a:rPr>
              <a:t>User Interface Design</a:t>
            </a:r>
            <a:endParaRPr kumimoji="1" lang="ko-KR" altLang="en-US" b="1" kern="0" dirty="0">
              <a:latin typeface="나눔고딕" panose="020D0604000000000000" pitchFamily="50" charset="-127"/>
              <a:ea typeface="나눔고딕" panose="020D0604000000000000" pitchFamily="50" charset="-127"/>
              <a:cs typeface="산돌고딕 M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44017" y="683985"/>
            <a:ext cx="96335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Approach – framework (</a:t>
            </a:r>
            <a:r>
              <a:rPr lang="ko-KR" altLang="en-US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정의</a:t>
            </a:r>
            <a:r>
              <a:rPr lang="en-US" altLang="ko-KR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8504" y="991762"/>
            <a:ext cx="9217024" cy="523220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U.I / U.X 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전략을 </a:t>
            </a:r>
            <a:r>
              <a:rPr lang="ko-KR" altLang="en-US" sz="14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세팅하며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전략 측면에서의 비즈니스 목적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시장상황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프로젝트 목적 등과 고객 분석 자료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경쟁사 분석 자료 등을 통합하여 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U.I / U.X 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전략의 방향을 설정하기 위한 접근입니다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32" name="AutoShape 41"/>
          <p:cNvSpPr>
            <a:spLocks noChangeArrowheads="1"/>
          </p:cNvSpPr>
          <p:nvPr/>
        </p:nvSpPr>
        <p:spPr bwMode="auto">
          <a:xfrm>
            <a:off x="5579368" y="2203598"/>
            <a:ext cx="970137" cy="343972"/>
          </a:xfrm>
          <a:prstGeom prst="flowChartDocumen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>
            <a:noAutofit/>
          </a:bodyPr>
          <a:lstStyle/>
          <a:p>
            <a:pPr algn="ctr">
              <a:lnSpc>
                <a:spcPct val="120000"/>
              </a:lnSpc>
            </a:pPr>
            <a:r>
              <a:rPr kumimoji="1"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사업의 성공</a:t>
            </a:r>
            <a:endParaRPr kumimoji="1" lang="en-US" altLang="ko-KR" sz="1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33" name="AutoShape 42"/>
          <p:cNvSpPr>
            <a:spLocks noChangeArrowheads="1"/>
          </p:cNvSpPr>
          <p:nvPr/>
        </p:nvSpPr>
        <p:spPr bwMode="auto">
          <a:xfrm>
            <a:off x="6064436" y="3407292"/>
            <a:ext cx="1371914" cy="366159"/>
          </a:xfrm>
          <a:prstGeom prst="flowChartDocumen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>
            <a:noAutofit/>
          </a:bodyPr>
          <a:lstStyle/>
          <a:p>
            <a:pPr algn="ctr">
              <a:lnSpc>
                <a:spcPct val="80000"/>
              </a:lnSpc>
              <a:spcBef>
                <a:spcPct val="50000"/>
              </a:spcBef>
              <a:buClr>
                <a:schemeClr val="accent1"/>
              </a:buClr>
              <a:buFont typeface="Wingdings" pitchFamily="2" charset="2"/>
              <a:buNone/>
            </a:pPr>
            <a:r>
              <a:rPr kumimoji="1" lang="ko-KR" altLang="en-US" sz="1000" b="1">
                <a:latin typeface="나눔고딕" panose="020D0604000000000000" pitchFamily="50" charset="-127"/>
                <a:ea typeface="나눔고딕" panose="020D0604000000000000" pitchFamily="50" charset="-127"/>
              </a:rPr>
              <a:t>프로젝트의 성공</a:t>
            </a:r>
            <a:endParaRPr kumimoji="1" lang="en-US" altLang="ko-KR" sz="1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34" name="Rectangle 43"/>
          <p:cNvSpPr>
            <a:spLocks noChangeArrowheads="1"/>
          </p:cNvSpPr>
          <p:nvPr/>
        </p:nvSpPr>
        <p:spPr bwMode="auto">
          <a:xfrm>
            <a:off x="6993054" y="3991373"/>
            <a:ext cx="2035172" cy="303816"/>
          </a:xfrm>
          <a:prstGeom prst="rect">
            <a:avLst/>
          </a:prstGeom>
          <a:solidFill>
            <a:srgbClr val="FFFFCC"/>
          </a:solidFill>
          <a:ln w="12700" algn="ctr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>
            <a:noAutofit/>
          </a:bodyPr>
          <a:lstStyle/>
          <a:p>
            <a:pPr algn="ctr">
              <a:lnSpc>
                <a:spcPct val="80000"/>
              </a:lnSpc>
              <a:spcBef>
                <a:spcPct val="50000"/>
              </a:spcBef>
              <a:buClr>
                <a:schemeClr val="accent1"/>
              </a:buClr>
              <a:buFont typeface="Wingdings" pitchFamily="2" charset="2"/>
              <a:buNone/>
            </a:pPr>
            <a:r>
              <a:rPr kumimoji="1" lang="en-US" altLang="ko-KR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U.I / U.X strategy direction</a:t>
            </a:r>
          </a:p>
        </p:txBody>
      </p:sp>
      <p:sp>
        <p:nvSpPr>
          <p:cNvPr id="135" name="AutoShape 44"/>
          <p:cNvSpPr>
            <a:spLocks noChangeArrowheads="1"/>
          </p:cNvSpPr>
          <p:nvPr/>
        </p:nvSpPr>
        <p:spPr bwMode="auto">
          <a:xfrm>
            <a:off x="5579368" y="5286523"/>
            <a:ext cx="1116011" cy="343972"/>
          </a:xfrm>
          <a:prstGeom prst="flowChartDocumen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>
            <a:noAutofit/>
          </a:bodyPr>
          <a:lstStyle/>
          <a:p>
            <a:pPr algn="ctr">
              <a:lnSpc>
                <a:spcPct val="120000"/>
              </a:lnSpc>
            </a:pPr>
            <a:r>
              <a:rPr kumimoji="1"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시장 분석</a:t>
            </a:r>
            <a:endParaRPr kumimoji="1" lang="en-US" altLang="ko-KR" sz="1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36" name="Rectangle 45"/>
          <p:cNvSpPr>
            <a:spLocks noChangeArrowheads="1"/>
          </p:cNvSpPr>
          <p:nvPr/>
        </p:nvSpPr>
        <p:spPr bwMode="auto">
          <a:xfrm>
            <a:off x="6530280" y="5697686"/>
            <a:ext cx="1425390" cy="276999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>
            <a:noAutofit/>
          </a:bodyPr>
          <a:lstStyle/>
          <a:p>
            <a:pPr algn="ctr">
              <a:lnSpc>
                <a:spcPct val="120000"/>
              </a:lnSpc>
            </a:pPr>
            <a:r>
              <a:rPr kumimoji="1"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경쟁사 분석</a:t>
            </a:r>
            <a:endParaRPr kumimoji="1" lang="en-US" altLang="ko-KR" sz="1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138" name="AutoShape 47"/>
          <p:cNvCxnSpPr>
            <a:cxnSpLocks noChangeShapeType="1"/>
            <a:stCxn id="132" idx="2"/>
            <a:endCxn id="133" idx="0"/>
          </p:cNvCxnSpPr>
          <p:nvPr/>
        </p:nvCxnSpPr>
        <p:spPr bwMode="auto">
          <a:xfrm rot="16200000" flipH="1">
            <a:off x="5966184" y="2623083"/>
            <a:ext cx="882462" cy="685956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9" name="AutoShape 48"/>
          <p:cNvSpPr>
            <a:spLocks noChangeArrowheads="1"/>
          </p:cNvSpPr>
          <p:nvPr/>
        </p:nvSpPr>
        <p:spPr bwMode="auto">
          <a:xfrm>
            <a:off x="5768280" y="2805261"/>
            <a:ext cx="1213794" cy="343972"/>
          </a:xfrm>
          <a:prstGeom prst="flowChartDocumen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>
            <a:noAutofit/>
          </a:bodyPr>
          <a:lstStyle/>
          <a:p>
            <a:pPr algn="ctr">
              <a:lnSpc>
                <a:spcPct val="120000"/>
              </a:lnSpc>
            </a:pPr>
            <a:r>
              <a:rPr kumimoji="1"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고객 요구 정의</a:t>
            </a:r>
            <a:endParaRPr kumimoji="1" lang="en-US" altLang="ko-KR" sz="1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140" name="AutoShape 49"/>
          <p:cNvCxnSpPr>
            <a:cxnSpLocks noChangeShapeType="1"/>
            <a:stCxn id="139" idx="2"/>
            <a:endCxn id="133" idx="0"/>
          </p:cNvCxnSpPr>
          <p:nvPr/>
        </p:nvCxnSpPr>
        <p:spPr bwMode="auto">
          <a:xfrm rot="16200000" flipH="1">
            <a:off x="6422386" y="3079284"/>
            <a:ext cx="280799" cy="375216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1" name="AutoShape 50"/>
          <p:cNvCxnSpPr>
            <a:cxnSpLocks noChangeShapeType="1"/>
            <a:stCxn id="133" idx="2"/>
            <a:endCxn id="134" idx="0"/>
          </p:cNvCxnSpPr>
          <p:nvPr/>
        </p:nvCxnSpPr>
        <p:spPr bwMode="auto">
          <a:xfrm rot="16200000" flipH="1">
            <a:off x="7259452" y="3240184"/>
            <a:ext cx="242129" cy="1260247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2" name="AutoShape 51"/>
          <p:cNvCxnSpPr>
            <a:cxnSpLocks noChangeShapeType="1"/>
            <a:stCxn id="137" idx="0"/>
            <a:endCxn id="134" idx="2"/>
          </p:cNvCxnSpPr>
          <p:nvPr/>
        </p:nvCxnSpPr>
        <p:spPr bwMode="auto">
          <a:xfrm rot="5400000" flipH="1" flipV="1">
            <a:off x="6792942" y="3535426"/>
            <a:ext cx="457934" cy="1977461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3" name="AutoShape 52"/>
          <p:cNvCxnSpPr>
            <a:cxnSpLocks noChangeShapeType="1"/>
            <a:stCxn id="135" idx="0"/>
            <a:endCxn id="134" idx="2"/>
          </p:cNvCxnSpPr>
          <p:nvPr/>
        </p:nvCxnSpPr>
        <p:spPr bwMode="auto">
          <a:xfrm rot="5400000" flipH="1" flipV="1">
            <a:off x="6578340" y="3854223"/>
            <a:ext cx="991334" cy="1873266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4" name="AutoShape 53"/>
          <p:cNvCxnSpPr>
            <a:cxnSpLocks noChangeShapeType="1"/>
            <a:stCxn id="136" idx="0"/>
            <a:endCxn id="134" idx="2"/>
          </p:cNvCxnSpPr>
          <p:nvPr/>
        </p:nvCxnSpPr>
        <p:spPr bwMode="auto">
          <a:xfrm rot="5400000" flipH="1" flipV="1">
            <a:off x="6925559" y="4612606"/>
            <a:ext cx="1402497" cy="767665"/>
          </a:xfrm>
          <a:prstGeom prst="bentConnector3">
            <a:avLst>
              <a:gd name="adj1" fmla="val 17724"/>
            </a:avLst>
          </a:prstGeom>
          <a:noFill/>
          <a:ln w="6350">
            <a:solidFill>
              <a:schemeClr val="tx1"/>
            </a:solidFill>
            <a:miter lim="800000"/>
            <a:headEnd/>
            <a:tailEnd type="triangle" w="med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45" name="Freeform 54"/>
          <p:cNvSpPr>
            <a:spLocks/>
          </p:cNvSpPr>
          <p:nvPr/>
        </p:nvSpPr>
        <p:spPr bwMode="auto">
          <a:xfrm>
            <a:off x="967680" y="2390923"/>
            <a:ext cx="3625280" cy="1905000"/>
          </a:xfrm>
          <a:custGeom>
            <a:avLst/>
            <a:gdLst>
              <a:gd name="T0" fmla="*/ 0 w 2736"/>
              <a:gd name="T1" fmla="*/ 0 h 1200"/>
              <a:gd name="T2" fmla="*/ 0 w 2736"/>
              <a:gd name="T3" fmla="*/ 1200 h 1200"/>
              <a:gd name="T4" fmla="*/ 2736 w 2736"/>
              <a:gd name="T5" fmla="*/ 1200 h 12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736" h="1200">
                <a:moveTo>
                  <a:pt x="0" y="0"/>
                </a:moveTo>
                <a:lnTo>
                  <a:pt x="0" y="1200"/>
                </a:lnTo>
                <a:lnTo>
                  <a:pt x="2736" y="1200"/>
                </a:lnTo>
              </a:path>
            </a:pathLst>
          </a:custGeom>
          <a:noFill/>
          <a:ln w="28575" cap="flat" cmpd="sng">
            <a:solidFill>
              <a:srgbClr val="969696"/>
            </a:solidFill>
            <a:prstDash val="sysDot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46" name="Rectangle 55"/>
          <p:cNvSpPr>
            <a:spLocks noChangeArrowheads="1"/>
          </p:cNvSpPr>
          <p:nvPr/>
        </p:nvSpPr>
        <p:spPr bwMode="auto">
          <a:xfrm>
            <a:off x="2064659" y="6048523"/>
            <a:ext cx="2438400" cy="404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66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kumimoji="1" sz="33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9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5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1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1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kumimoji="1" sz="21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kumimoji="1" sz="21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kumimoji="1" sz="21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kumimoji="1" sz="21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r">
              <a:buFontTx/>
              <a:buNone/>
            </a:pPr>
            <a:r>
              <a:rPr lang="ko-KR" altLang="en-US" sz="1200" b="1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정의</a:t>
            </a:r>
            <a:endParaRPr lang="en-US" altLang="ko-KR" sz="1200" b="1" dirty="0">
              <a:solidFill>
                <a:srgbClr val="0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pSp>
        <p:nvGrpSpPr>
          <p:cNvPr id="2" name="그룹 1"/>
          <p:cNvGrpSpPr/>
          <p:nvPr/>
        </p:nvGrpSpPr>
        <p:grpSpPr>
          <a:xfrm>
            <a:off x="265312" y="1883831"/>
            <a:ext cx="3535560" cy="1617177"/>
            <a:chOff x="632520" y="2204864"/>
            <a:chExt cx="8534400" cy="3903663"/>
          </a:xfrm>
        </p:grpSpPr>
        <p:sp>
          <p:nvSpPr>
            <p:cNvPr id="217" name="AutoShape 5"/>
            <p:cNvSpPr>
              <a:spLocks noChangeArrowheads="1"/>
            </p:cNvSpPr>
            <p:nvPr/>
          </p:nvSpPr>
          <p:spPr bwMode="auto">
            <a:xfrm>
              <a:off x="632520" y="2204864"/>
              <a:ext cx="874713" cy="565150"/>
            </a:xfrm>
            <a:prstGeom prst="flowChartDocumen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  <a:miter lim="800000"/>
              <a:headEnd/>
              <a:tailEnd type="none" w="med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noAutofit/>
            </a:bodyPr>
            <a:lstStyle/>
            <a:p>
              <a:pPr algn="ctr"/>
              <a:r>
                <a:rPr lang="ko-KR" altLang="en-US" sz="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계획수립</a:t>
              </a:r>
              <a:endParaRPr lang="en-US" altLang="ko-KR" sz="400" b="1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18" name="AutoShape 6"/>
            <p:cNvSpPr>
              <a:spLocks noChangeArrowheads="1"/>
            </p:cNvSpPr>
            <p:nvPr/>
          </p:nvSpPr>
          <p:spPr bwMode="auto">
            <a:xfrm>
              <a:off x="3023295" y="5656089"/>
              <a:ext cx="874713" cy="452438"/>
            </a:xfrm>
            <a:prstGeom prst="flowChartDocumen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  <a:miter lim="800000"/>
              <a:headEnd/>
              <a:tailEnd type="none" w="med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noAutofit/>
            </a:bodyPr>
            <a:lstStyle/>
            <a:p>
              <a:pPr algn="ctr"/>
              <a:r>
                <a:rPr lang="en-US" altLang="ko-KR" sz="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IA map</a:t>
              </a:r>
            </a:p>
          </p:txBody>
        </p:sp>
        <p:sp>
          <p:nvSpPr>
            <p:cNvPr id="219" name="Text Box 8"/>
            <p:cNvSpPr txBox="1">
              <a:spLocks noChangeArrowheads="1"/>
            </p:cNvSpPr>
            <p:nvPr/>
          </p:nvSpPr>
          <p:spPr bwMode="auto">
            <a:xfrm>
              <a:off x="1248470" y="2935114"/>
              <a:ext cx="1138238" cy="2143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noAutofit/>
            </a:bodyPr>
            <a:lstStyle/>
            <a:p>
              <a:pPr algn="r">
                <a:lnSpc>
                  <a:spcPct val="80000"/>
                </a:lnSpc>
              </a:pPr>
              <a:r>
                <a:rPr lang="ko-KR" altLang="en-US" sz="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정의</a:t>
              </a:r>
              <a:endParaRPr lang="en-US" altLang="ko-KR" sz="400" b="1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20" name="Text Box 10"/>
            <p:cNvSpPr txBox="1">
              <a:spLocks noChangeArrowheads="1"/>
            </p:cNvSpPr>
            <p:nvPr/>
          </p:nvSpPr>
          <p:spPr bwMode="auto">
            <a:xfrm>
              <a:off x="3528120" y="4300364"/>
              <a:ext cx="708025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noAutofit/>
            </a:bodyPr>
            <a:lstStyle/>
            <a:p>
              <a:pPr algn="r">
                <a:lnSpc>
                  <a:spcPct val="80000"/>
                </a:lnSpc>
              </a:pPr>
              <a:r>
                <a:rPr lang="ko-KR" altLang="en-US" sz="400" b="1">
                  <a:latin typeface="나눔고딕" panose="020D0604000000000000" pitchFamily="50" charset="-127"/>
                  <a:ea typeface="나눔고딕" panose="020D0604000000000000" pitchFamily="50" charset="-127"/>
                </a:rPr>
                <a:t>정보분석</a:t>
              </a:r>
              <a:endParaRPr lang="en-US" altLang="ko-KR" sz="400" b="1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21" name="Freeform 11"/>
            <p:cNvSpPr>
              <a:spLocks/>
            </p:cNvSpPr>
            <p:nvPr/>
          </p:nvSpPr>
          <p:spPr bwMode="auto">
            <a:xfrm>
              <a:off x="1507233" y="2385839"/>
              <a:ext cx="1092200" cy="363538"/>
            </a:xfrm>
            <a:custGeom>
              <a:avLst/>
              <a:gdLst>
                <a:gd name="T0" fmla="*/ 0 w 864"/>
                <a:gd name="T1" fmla="*/ 0 h 240"/>
                <a:gd name="T2" fmla="*/ 864 w 864"/>
                <a:gd name="T3" fmla="*/ 0 h 240"/>
                <a:gd name="T4" fmla="*/ 864 w 864"/>
                <a:gd name="T5" fmla="*/ 240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864" h="240">
                  <a:moveTo>
                    <a:pt x="0" y="0"/>
                  </a:moveTo>
                  <a:lnTo>
                    <a:pt x="864" y="0"/>
                  </a:lnTo>
                  <a:lnTo>
                    <a:pt x="864" y="240"/>
                  </a:lnTo>
                </a:path>
              </a:pathLst>
            </a:custGeom>
            <a:noFill/>
            <a:ln w="635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noAutofit/>
            </a:bodyPr>
            <a:lstStyle/>
            <a:p>
              <a:endParaRPr lang="ko-KR" altLang="en-US" sz="100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22" name="Freeform 12"/>
            <p:cNvSpPr>
              <a:spLocks/>
            </p:cNvSpPr>
            <p:nvPr/>
          </p:nvSpPr>
          <p:spPr bwMode="auto">
            <a:xfrm rot="5400000" flipV="1">
              <a:off x="2788345" y="3124027"/>
              <a:ext cx="585788" cy="1046162"/>
            </a:xfrm>
            <a:custGeom>
              <a:avLst/>
              <a:gdLst>
                <a:gd name="T0" fmla="*/ 0 w 864"/>
                <a:gd name="T1" fmla="*/ 0 h 240"/>
                <a:gd name="T2" fmla="*/ 864 w 864"/>
                <a:gd name="T3" fmla="*/ 0 h 240"/>
                <a:gd name="T4" fmla="*/ 864 w 864"/>
                <a:gd name="T5" fmla="*/ 240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864" h="240">
                  <a:moveTo>
                    <a:pt x="0" y="0"/>
                  </a:moveTo>
                  <a:lnTo>
                    <a:pt x="864" y="0"/>
                  </a:lnTo>
                  <a:lnTo>
                    <a:pt x="864" y="240"/>
                  </a:lnTo>
                </a:path>
              </a:pathLst>
            </a:custGeom>
            <a:noFill/>
            <a:ln w="635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noAutofit/>
            </a:bodyPr>
            <a:lstStyle/>
            <a:p>
              <a:endParaRPr lang="ko-KR" altLang="en-US" sz="100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23" name="Text Box 13"/>
            <p:cNvSpPr txBox="1">
              <a:spLocks noChangeArrowheads="1"/>
            </p:cNvSpPr>
            <p:nvPr/>
          </p:nvSpPr>
          <p:spPr bwMode="auto">
            <a:xfrm>
              <a:off x="4603304" y="3559002"/>
              <a:ext cx="1179240" cy="2444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noAutofit/>
            </a:bodyPr>
            <a:lstStyle/>
            <a:p>
              <a:pPr algn="r"/>
              <a:r>
                <a:rPr lang="ko-KR" altLang="en-US" sz="400" b="1">
                  <a:latin typeface="나눔고딕" panose="020D0604000000000000" pitchFamily="50" charset="-127"/>
                  <a:ea typeface="나눔고딕" panose="020D0604000000000000" pitchFamily="50" charset="-127"/>
                </a:rPr>
                <a:t>미가공</a:t>
              </a:r>
              <a:r>
                <a:rPr lang="ko-KR" altLang="en-US" sz="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 데이터 추출</a:t>
              </a:r>
              <a:endParaRPr lang="en-US" altLang="ko-KR" sz="400" b="1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grpSp>
          <p:nvGrpSpPr>
            <p:cNvPr id="224" name="Group 14"/>
            <p:cNvGrpSpPr>
              <a:grpSpLocks/>
            </p:cNvGrpSpPr>
            <p:nvPr/>
          </p:nvGrpSpPr>
          <p:grpSpPr bwMode="auto">
            <a:xfrm>
              <a:off x="4975920" y="2949402"/>
              <a:ext cx="433388" cy="577850"/>
              <a:chOff x="3625" y="2406"/>
              <a:chExt cx="413" cy="550"/>
            </a:xfrm>
          </p:grpSpPr>
          <p:sp>
            <p:nvSpPr>
              <p:cNvPr id="225" name="Rectangle 15"/>
              <p:cNvSpPr>
                <a:spLocks noChangeArrowheads="1"/>
              </p:cNvSpPr>
              <p:nvPr/>
            </p:nvSpPr>
            <p:spPr bwMode="auto">
              <a:xfrm>
                <a:off x="3625" y="2406"/>
                <a:ext cx="413" cy="550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rgbClr val="969696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 anchor="ctr">
                <a:noAutofit/>
              </a:bodyPr>
              <a:lstStyle/>
              <a:p>
                <a:endParaRPr lang="ko-KR" altLang="en-US" sz="100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226" name="Line 16"/>
              <p:cNvSpPr>
                <a:spLocks noChangeShapeType="1"/>
              </p:cNvSpPr>
              <p:nvPr/>
            </p:nvSpPr>
            <p:spPr bwMode="auto">
              <a:xfrm>
                <a:off x="3717" y="2498"/>
                <a:ext cx="229" cy="1"/>
              </a:xfrm>
              <a:prstGeom prst="line">
                <a:avLst/>
              </a:prstGeom>
              <a:noFill/>
              <a:ln w="6350">
                <a:solidFill>
                  <a:srgbClr val="969696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>
                <a:noAutofit/>
              </a:bodyPr>
              <a:lstStyle/>
              <a:p>
                <a:endParaRPr lang="ko-KR" altLang="en-US" sz="100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227" name="Line 17"/>
              <p:cNvSpPr>
                <a:spLocks noChangeShapeType="1"/>
              </p:cNvSpPr>
              <p:nvPr/>
            </p:nvSpPr>
            <p:spPr bwMode="auto">
              <a:xfrm>
                <a:off x="3717" y="2544"/>
                <a:ext cx="229" cy="1"/>
              </a:xfrm>
              <a:prstGeom prst="line">
                <a:avLst/>
              </a:prstGeom>
              <a:noFill/>
              <a:ln w="6350">
                <a:solidFill>
                  <a:srgbClr val="969696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>
                <a:noAutofit/>
              </a:bodyPr>
              <a:lstStyle/>
              <a:p>
                <a:endParaRPr lang="ko-KR" altLang="en-US" sz="100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228" name="Line 18"/>
              <p:cNvSpPr>
                <a:spLocks noChangeShapeType="1"/>
              </p:cNvSpPr>
              <p:nvPr/>
            </p:nvSpPr>
            <p:spPr bwMode="auto">
              <a:xfrm>
                <a:off x="3717" y="2590"/>
                <a:ext cx="229" cy="1"/>
              </a:xfrm>
              <a:prstGeom prst="line">
                <a:avLst/>
              </a:prstGeom>
              <a:noFill/>
              <a:ln w="6350">
                <a:solidFill>
                  <a:srgbClr val="969696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>
                <a:noAutofit/>
              </a:bodyPr>
              <a:lstStyle/>
              <a:p>
                <a:endParaRPr lang="ko-KR" altLang="en-US" sz="100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229" name="Line 19"/>
              <p:cNvSpPr>
                <a:spLocks noChangeShapeType="1"/>
              </p:cNvSpPr>
              <p:nvPr/>
            </p:nvSpPr>
            <p:spPr bwMode="auto">
              <a:xfrm>
                <a:off x="3717" y="2636"/>
                <a:ext cx="229" cy="1"/>
              </a:xfrm>
              <a:prstGeom prst="line">
                <a:avLst/>
              </a:prstGeom>
              <a:noFill/>
              <a:ln w="6350">
                <a:solidFill>
                  <a:srgbClr val="969696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>
                <a:noAutofit/>
              </a:bodyPr>
              <a:lstStyle/>
              <a:p>
                <a:endParaRPr lang="ko-KR" altLang="en-US" sz="100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230" name="Line 20"/>
              <p:cNvSpPr>
                <a:spLocks noChangeShapeType="1"/>
              </p:cNvSpPr>
              <p:nvPr/>
            </p:nvSpPr>
            <p:spPr bwMode="auto">
              <a:xfrm>
                <a:off x="3717" y="2682"/>
                <a:ext cx="229" cy="1"/>
              </a:xfrm>
              <a:prstGeom prst="line">
                <a:avLst/>
              </a:prstGeom>
              <a:noFill/>
              <a:ln w="6350">
                <a:solidFill>
                  <a:srgbClr val="969696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>
                <a:noAutofit/>
              </a:bodyPr>
              <a:lstStyle/>
              <a:p>
                <a:endParaRPr lang="ko-KR" altLang="en-US" sz="100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231" name="Line 21"/>
              <p:cNvSpPr>
                <a:spLocks noChangeShapeType="1"/>
              </p:cNvSpPr>
              <p:nvPr/>
            </p:nvSpPr>
            <p:spPr bwMode="auto">
              <a:xfrm>
                <a:off x="3717" y="2728"/>
                <a:ext cx="229" cy="1"/>
              </a:xfrm>
              <a:prstGeom prst="line">
                <a:avLst/>
              </a:prstGeom>
              <a:noFill/>
              <a:ln w="6350">
                <a:solidFill>
                  <a:srgbClr val="969696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>
                <a:noAutofit/>
              </a:bodyPr>
              <a:lstStyle/>
              <a:p>
                <a:endParaRPr lang="ko-KR" altLang="en-US" sz="100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232" name="Line 22"/>
              <p:cNvSpPr>
                <a:spLocks noChangeShapeType="1"/>
              </p:cNvSpPr>
              <p:nvPr/>
            </p:nvSpPr>
            <p:spPr bwMode="auto">
              <a:xfrm>
                <a:off x="3717" y="2774"/>
                <a:ext cx="229" cy="1"/>
              </a:xfrm>
              <a:prstGeom prst="line">
                <a:avLst/>
              </a:prstGeom>
              <a:noFill/>
              <a:ln w="6350">
                <a:solidFill>
                  <a:srgbClr val="969696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>
                <a:noAutofit/>
              </a:bodyPr>
              <a:lstStyle/>
              <a:p>
                <a:endParaRPr lang="ko-KR" altLang="en-US" sz="100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233" name="Line 23"/>
              <p:cNvSpPr>
                <a:spLocks noChangeShapeType="1"/>
              </p:cNvSpPr>
              <p:nvPr/>
            </p:nvSpPr>
            <p:spPr bwMode="auto">
              <a:xfrm>
                <a:off x="3717" y="2819"/>
                <a:ext cx="229" cy="1"/>
              </a:xfrm>
              <a:prstGeom prst="line">
                <a:avLst/>
              </a:prstGeom>
              <a:noFill/>
              <a:ln w="6350">
                <a:solidFill>
                  <a:srgbClr val="969696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>
                <a:noAutofit/>
              </a:bodyPr>
              <a:lstStyle/>
              <a:p>
                <a:endParaRPr lang="ko-KR" altLang="en-US" sz="100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234" name="Line 24"/>
              <p:cNvSpPr>
                <a:spLocks noChangeShapeType="1"/>
              </p:cNvSpPr>
              <p:nvPr/>
            </p:nvSpPr>
            <p:spPr bwMode="auto">
              <a:xfrm>
                <a:off x="3717" y="2865"/>
                <a:ext cx="229" cy="1"/>
              </a:xfrm>
              <a:prstGeom prst="line">
                <a:avLst/>
              </a:prstGeom>
              <a:noFill/>
              <a:ln w="6350">
                <a:solidFill>
                  <a:srgbClr val="969696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>
                <a:noAutofit/>
              </a:bodyPr>
              <a:lstStyle/>
              <a:p>
                <a:endParaRPr lang="ko-KR" altLang="en-US" sz="100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p:grpSp>
        <p:sp>
          <p:nvSpPr>
            <p:cNvPr id="235" name="Line 25"/>
            <p:cNvSpPr>
              <a:spLocks noChangeShapeType="1"/>
            </p:cNvSpPr>
            <p:nvPr/>
          </p:nvSpPr>
          <p:spPr bwMode="auto">
            <a:xfrm flipV="1">
              <a:off x="4442520" y="3254202"/>
              <a:ext cx="381000" cy="530225"/>
            </a:xfrm>
            <a:prstGeom prst="line">
              <a:avLst/>
            </a:prstGeom>
            <a:noFill/>
            <a:ln w="6350">
              <a:solidFill>
                <a:schemeClr val="accent2"/>
              </a:solidFill>
              <a:round/>
              <a:headEnd/>
              <a:tailEnd type="triangl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noAutofit/>
            </a:bodyPr>
            <a:lstStyle/>
            <a:p>
              <a:endParaRPr lang="ko-KR" altLang="en-US" sz="100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36" name="Text Box 27"/>
            <p:cNvSpPr txBox="1">
              <a:spLocks noChangeArrowheads="1"/>
            </p:cNvSpPr>
            <p:nvPr/>
          </p:nvSpPr>
          <p:spPr bwMode="auto">
            <a:xfrm>
              <a:off x="6336408" y="4408314"/>
              <a:ext cx="1311275" cy="2746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noAutofit/>
            </a:bodyPr>
            <a:lstStyle/>
            <a:p>
              <a:pPr algn="r"/>
              <a:r>
                <a:rPr lang="ko-KR" altLang="en-US" sz="7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세부기획</a:t>
              </a:r>
              <a:endParaRPr lang="en-US" altLang="ko-KR" sz="700" b="1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37" name="Line 28"/>
            <p:cNvSpPr>
              <a:spLocks noChangeShapeType="1"/>
            </p:cNvSpPr>
            <p:nvPr/>
          </p:nvSpPr>
          <p:spPr bwMode="auto">
            <a:xfrm flipV="1">
              <a:off x="5661720" y="4092402"/>
              <a:ext cx="1066800" cy="457200"/>
            </a:xfrm>
            <a:prstGeom prst="line">
              <a:avLst/>
            </a:prstGeom>
            <a:noFill/>
            <a:ln w="6350">
              <a:solidFill>
                <a:schemeClr val="accent2"/>
              </a:solidFill>
              <a:round/>
              <a:headEnd/>
              <a:tailEnd type="triangl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noAutofit/>
            </a:bodyPr>
            <a:lstStyle/>
            <a:p>
              <a:endParaRPr lang="ko-KR" altLang="en-US" sz="100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38" name="Freeform 29"/>
            <p:cNvSpPr>
              <a:spLocks/>
            </p:cNvSpPr>
            <p:nvPr/>
          </p:nvSpPr>
          <p:spPr bwMode="auto">
            <a:xfrm flipV="1">
              <a:off x="3910708" y="4778202"/>
              <a:ext cx="3351212" cy="1030287"/>
            </a:xfrm>
            <a:custGeom>
              <a:avLst/>
              <a:gdLst>
                <a:gd name="T0" fmla="*/ 0 w 864"/>
                <a:gd name="T1" fmla="*/ 0 h 240"/>
                <a:gd name="T2" fmla="*/ 864 w 864"/>
                <a:gd name="T3" fmla="*/ 0 h 240"/>
                <a:gd name="T4" fmla="*/ 864 w 864"/>
                <a:gd name="T5" fmla="*/ 240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864" h="240">
                  <a:moveTo>
                    <a:pt x="0" y="0"/>
                  </a:moveTo>
                  <a:lnTo>
                    <a:pt x="864" y="0"/>
                  </a:lnTo>
                  <a:lnTo>
                    <a:pt x="864" y="240"/>
                  </a:lnTo>
                </a:path>
              </a:pathLst>
            </a:custGeom>
            <a:noFill/>
            <a:ln w="635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noAutofit/>
            </a:bodyPr>
            <a:lstStyle/>
            <a:p>
              <a:endParaRPr lang="ko-KR" altLang="en-US" sz="100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39" name="Text Box 31"/>
            <p:cNvSpPr txBox="1">
              <a:spLocks noChangeArrowheads="1"/>
            </p:cNvSpPr>
            <p:nvPr/>
          </p:nvSpPr>
          <p:spPr bwMode="auto">
            <a:xfrm>
              <a:off x="7917558" y="4271789"/>
              <a:ext cx="1020762" cy="2143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noAutofit/>
            </a:bodyPr>
            <a:lstStyle/>
            <a:p>
              <a:pPr algn="r">
                <a:lnSpc>
                  <a:spcPct val="80000"/>
                </a:lnSpc>
              </a:pPr>
              <a:r>
                <a:rPr lang="ko-KR" altLang="en-US" sz="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확인단계</a:t>
              </a:r>
              <a:endParaRPr lang="en-US" altLang="ko-KR" sz="400" b="1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40" name="Line 32"/>
            <p:cNvSpPr>
              <a:spLocks noChangeShapeType="1"/>
            </p:cNvSpPr>
            <p:nvPr/>
          </p:nvSpPr>
          <p:spPr bwMode="auto">
            <a:xfrm>
              <a:off x="7847708" y="3936827"/>
              <a:ext cx="590550" cy="1587"/>
            </a:xfrm>
            <a:prstGeom prst="line">
              <a:avLst/>
            </a:prstGeom>
            <a:noFill/>
            <a:ln w="6350">
              <a:solidFill>
                <a:schemeClr val="accent2"/>
              </a:solidFill>
              <a:round/>
              <a:headEnd/>
              <a:tailEnd type="triangl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noAutofit/>
            </a:bodyPr>
            <a:lstStyle/>
            <a:p>
              <a:endParaRPr lang="ko-KR" altLang="en-US" sz="100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41" name="Text Box 34"/>
            <p:cNvSpPr txBox="1">
              <a:spLocks noChangeArrowheads="1"/>
            </p:cNvSpPr>
            <p:nvPr/>
          </p:nvSpPr>
          <p:spPr bwMode="auto">
            <a:xfrm>
              <a:off x="4144070" y="4982989"/>
              <a:ext cx="1311275" cy="2143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noAutofit/>
            </a:bodyPr>
            <a:lstStyle/>
            <a:p>
              <a:pPr algn="r">
                <a:lnSpc>
                  <a:spcPct val="80000"/>
                </a:lnSpc>
              </a:pPr>
              <a:r>
                <a:rPr lang="ko-KR" altLang="en-US" sz="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분석</a:t>
              </a:r>
              <a:r>
                <a:rPr lang="en-US" altLang="ko-KR" sz="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/</a:t>
              </a:r>
              <a:r>
                <a:rPr lang="ko-KR" altLang="en-US" sz="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판단</a:t>
              </a:r>
              <a:endParaRPr lang="en-US" altLang="ko-KR" sz="400" b="1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42" name="Line 35"/>
            <p:cNvSpPr>
              <a:spLocks noChangeShapeType="1"/>
            </p:cNvSpPr>
            <p:nvPr/>
          </p:nvSpPr>
          <p:spPr bwMode="auto">
            <a:xfrm>
              <a:off x="5204520" y="3860627"/>
              <a:ext cx="0" cy="307975"/>
            </a:xfrm>
            <a:prstGeom prst="line">
              <a:avLst/>
            </a:prstGeom>
            <a:noFill/>
            <a:ln w="6350">
              <a:solidFill>
                <a:schemeClr val="accent2"/>
              </a:solidFill>
              <a:round/>
              <a:headEnd/>
              <a:tailEnd type="triangl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noAutofit/>
            </a:bodyPr>
            <a:lstStyle/>
            <a:p>
              <a:endParaRPr lang="ko-KR" altLang="en-US" sz="100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43" name="AutoShape 36"/>
            <p:cNvSpPr>
              <a:spLocks noChangeArrowheads="1"/>
            </p:cNvSpPr>
            <p:nvPr/>
          </p:nvSpPr>
          <p:spPr bwMode="auto">
            <a:xfrm>
              <a:off x="3528120" y="2227089"/>
              <a:ext cx="874713" cy="452438"/>
            </a:xfrm>
            <a:prstGeom prst="flowChartDocumen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  <a:miter lim="800000"/>
              <a:headEnd/>
              <a:tailEnd type="none" w="med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noAutofit/>
            </a:bodyPr>
            <a:lstStyle/>
            <a:p>
              <a:pPr algn="ctr"/>
              <a:r>
                <a:rPr lang="ko-KR" altLang="en-US" sz="400" b="1" dirty="0" err="1">
                  <a:latin typeface="나눔고딕" panose="020D0604000000000000" pitchFamily="50" charset="-127"/>
                  <a:ea typeface="나눔고딕" panose="020D0604000000000000" pitchFamily="50" charset="-127"/>
                </a:rPr>
                <a:t>컨텐츠</a:t>
              </a:r>
              <a:endParaRPr lang="en-US" altLang="ko-KR" sz="400" b="1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44" name="Line 37"/>
            <p:cNvSpPr>
              <a:spLocks noChangeShapeType="1"/>
            </p:cNvSpPr>
            <p:nvPr/>
          </p:nvSpPr>
          <p:spPr bwMode="auto">
            <a:xfrm>
              <a:off x="4061520" y="2760489"/>
              <a:ext cx="0" cy="762000"/>
            </a:xfrm>
            <a:prstGeom prst="line">
              <a:avLst/>
            </a:prstGeom>
            <a:noFill/>
            <a:ln w="6350">
              <a:solidFill>
                <a:schemeClr val="accent2"/>
              </a:solidFill>
              <a:round/>
              <a:headEnd/>
              <a:tailEnd type="triangl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noAutofit/>
            </a:bodyPr>
            <a:lstStyle/>
            <a:p>
              <a:endParaRPr lang="ko-KR" altLang="en-US" sz="100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45" name="Arc 38"/>
            <p:cNvSpPr>
              <a:spLocks/>
            </p:cNvSpPr>
            <p:nvPr/>
          </p:nvSpPr>
          <p:spPr bwMode="auto">
            <a:xfrm rot="9054098" flipH="1" flipV="1">
              <a:off x="7723883" y="2989089"/>
              <a:ext cx="1443037" cy="795338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35214"/>
                <a:gd name="T2" fmla="*/ 16770 w 21600"/>
                <a:gd name="T3" fmla="*/ 35214 h 35214"/>
                <a:gd name="T4" fmla="*/ 0 w 21600"/>
                <a:gd name="T5" fmla="*/ 21600 h 352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35214" fill="none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26557"/>
                    <a:pt x="19894" y="31364"/>
                    <a:pt x="16769" y="35213"/>
                  </a:cubicBezTo>
                </a:path>
                <a:path w="21600" h="35214" stroke="0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26557"/>
                    <a:pt x="19894" y="31364"/>
                    <a:pt x="16769" y="35213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6350">
              <a:solidFill>
                <a:srgbClr val="969696"/>
              </a:solidFill>
              <a:round/>
              <a:headEnd type="triangle" w="med" len="med"/>
              <a:tailEnd type="none" w="med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noAutofit/>
            </a:bodyPr>
            <a:lstStyle/>
            <a:p>
              <a:endParaRPr lang="ko-KR" altLang="en-US" sz="100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46" name="정육면체 245"/>
            <p:cNvSpPr/>
            <p:nvPr/>
          </p:nvSpPr>
          <p:spPr>
            <a:xfrm>
              <a:off x="2340670" y="2775111"/>
              <a:ext cx="452090" cy="509873"/>
            </a:xfrm>
            <a:prstGeom prst="cube">
              <a:avLst/>
            </a:prstGeom>
            <a:solidFill>
              <a:srgbClr val="FFC000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4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47" name="정육면체 246"/>
            <p:cNvSpPr/>
            <p:nvPr/>
          </p:nvSpPr>
          <p:spPr>
            <a:xfrm>
              <a:off x="3756720" y="3644727"/>
              <a:ext cx="548208" cy="655923"/>
            </a:xfrm>
            <a:prstGeom prst="cube">
              <a:avLst/>
            </a:prstGeom>
            <a:solidFill>
              <a:schemeClr val="bg1">
                <a:lumMod val="7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4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48" name="정육면체 247"/>
            <p:cNvSpPr/>
            <p:nvPr/>
          </p:nvSpPr>
          <p:spPr>
            <a:xfrm>
              <a:off x="4960776" y="4300364"/>
              <a:ext cx="548208" cy="655923"/>
            </a:xfrm>
            <a:prstGeom prst="cube">
              <a:avLst/>
            </a:prstGeom>
            <a:solidFill>
              <a:schemeClr val="bg1">
                <a:lumMod val="7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4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49" name="정육면체 248"/>
            <p:cNvSpPr/>
            <p:nvPr/>
          </p:nvSpPr>
          <p:spPr>
            <a:xfrm>
              <a:off x="6964362" y="3432695"/>
              <a:ext cx="724941" cy="1013719"/>
            </a:xfrm>
            <a:prstGeom prst="cube">
              <a:avLst/>
            </a:prstGeom>
            <a:solidFill>
              <a:schemeClr val="bg1">
                <a:lumMod val="7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4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50" name="정육면체 249"/>
            <p:cNvSpPr/>
            <p:nvPr/>
          </p:nvSpPr>
          <p:spPr>
            <a:xfrm>
              <a:off x="8605675" y="3681890"/>
              <a:ext cx="452090" cy="509873"/>
            </a:xfrm>
            <a:prstGeom prst="cube">
              <a:avLst/>
            </a:prstGeom>
            <a:solidFill>
              <a:schemeClr val="bg1">
                <a:lumMod val="7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4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sp>
        <p:nvSpPr>
          <p:cNvPr id="137" name="Rectangle 46"/>
          <p:cNvSpPr>
            <a:spLocks noChangeArrowheads="1"/>
          </p:cNvSpPr>
          <p:nvPr/>
        </p:nvSpPr>
        <p:spPr bwMode="auto">
          <a:xfrm>
            <a:off x="5579368" y="4753123"/>
            <a:ext cx="907621" cy="276999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>
            <a:noAutofit/>
          </a:bodyPr>
          <a:lstStyle/>
          <a:p>
            <a:pPr algn="ctr">
              <a:lnSpc>
                <a:spcPct val="120000"/>
              </a:lnSpc>
            </a:pPr>
            <a:r>
              <a:rPr kumimoji="1"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사이트 분석</a:t>
            </a:r>
            <a:endParaRPr kumimoji="1" lang="en-US" altLang="ko-KR" sz="1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9550219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44017" y="91339"/>
            <a:ext cx="7401271" cy="385333"/>
          </a:xfrm>
          <a:prstGeom prst="rect">
            <a:avLst/>
          </a:prstGeom>
          <a:noFill/>
        </p:spPr>
        <p:txBody>
          <a:bodyPr wrap="square" lIns="0" tIns="53643" rIns="0" bIns="53643" rtlCol="0">
            <a:spAutoFit/>
          </a:bodyPr>
          <a:lstStyle/>
          <a:p>
            <a:r>
              <a:rPr kumimoji="1" lang="en-US" altLang="ko-KR" b="1" kern="0" dirty="0">
                <a:latin typeface="나눔고딕" panose="020D0604000000000000" pitchFamily="50" charset="-127"/>
                <a:ea typeface="나눔고딕" panose="020D0604000000000000" pitchFamily="50" charset="-127"/>
                <a:cs typeface="산돌고딕 M"/>
              </a:rPr>
              <a:t>User Interface Design</a:t>
            </a:r>
            <a:endParaRPr kumimoji="1" lang="ko-KR" altLang="en-US" b="1" kern="0" dirty="0">
              <a:latin typeface="나눔고딕" panose="020D0604000000000000" pitchFamily="50" charset="-127"/>
              <a:ea typeface="나눔고딕" panose="020D0604000000000000" pitchFamily="50" charset="-127"/>
              <a:cs typeface="산돌고딕 M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44017" y="683985"/>
            <a:ext cx="96335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Approach – framework (</a:t>
            </a:r>
            <a:r>
              <a:rPr lang="ko-KR" altLang="en-US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정보분석</a:t>
            </a:r>
            <a:r>
              <a:rPr lang="en-US" altLang="ko-KR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8504" y="991762"/>
            <a:ext cx="9217024" cy="738664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성공적인 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U.I / U.X 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설계를 위해서는 모든 의사 결정 과정이 고객 지향적으로 진행되어야 합니다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  <a:p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고객을 분석하는 과정이 필수적으로 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Field research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를 통해 고객에 대한 정보를 최대한 획득하도록 합니다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  <a:p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또한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사이트를 설계하기 위한 모델링 작업의 기초 작업 수행하기 위한 접근방법입니다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31" name="AutoShape 40"/>
          <p:cNvSpPr>
            <a:spLocks noChangeArrowheads="1"/>
          </p:cNvSpPr>
          <p:nvPr/>
        </p:nvSpPr>
        <p:spPr bwMode="auto">
          <a:xfrm>
            <a:off x="4664968" y="1933723"/>
            <a:ext cx="4608512" cy="4462463"/>
          </a:xfrm>
          <a:prstGeom prst="homePlate">
            <a:avLst>
              <a:gd name="adj" fmla="val 15463"/>
            </a:avLst>
          </a:prstGeom>
          <a:solidFill>
            <a:schemeClr val="bg1"/>
          </a:solidFill>
          <a:ln w="9525" algn="ctr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>
            <a:outerShdw dist="7184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>
            <a:noAutofit/>
          </a:bodyPr>
          <a:lstStyle/>
          <a:p>
            <a:pPr algn="ctr"/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46" name="Rectangle 55"/>
          <p:cNvSpPr>
            <a:spLocks noChangeArrowheads="1"/>
          </p:cNvSpPr>
          <p:nvPr/>
        </p:nvSpPr>
        <p:spPr bwMode="auto">
          <a:xfrm>
            <a:off x="2072680" y="6048523"/>
            <a:ext cx="2438400" cy="404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66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kumimoji="1" sz="33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9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5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1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1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kumimoji="1" sz="21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kumimoji="1" sz="21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kumimoji="1" sz="21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kumimoji="1" sz="21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r">
              <a:buFontTx/>
              <a:buNone/>
            </a:pPr>
            <a:r>
              <a:rPr lang="ko-KR" altLang="en-US" sz="1200" b="1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정보분석</a:t>
            </a:r>
          </a:p>
        </p:txBody>
      </p:sp>
      <p:grpSp>
        <p:nvGrpSpPr>
          <p:cNvPr id="2" name="그룹 1"/>
          <p:cNvGrpSpPr/>
          <p:nvPr/>
        </p:nvGrpSpPr>
        <p:grpSpPr>
          <a:xfrm>
            <a:off x="265312" y="1883831"/>
            <a:ext cx="3535560" cy="1617177"/>
            <a:chOff x="632520" y="2204864"/>
            <a:chExt cx="8534400" cy="3903663"/>
          </a:xfrm>
        </p:grpSpPr>
        <p:sp>
          <p:nvSpPr>
            <p:cNvPr id="217" name="AutoShape 5"/>
            <p:cNvSpPr>
              <a:spLocks noChangeArrowheads="1"/>
            </p:cNvSpPr>
            <p:nvPr/>
          </p:nvSpPr>
          <p:spPr bwMode="auto">
            <a:xfrm>
              <a:off x="632520" y="2204864"/>
              <a:ext cx="874713" cy="565150"/>
            </a:xfrm>
            <a:prstGeom prst="flowChartDocumen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  <a:miter lim="800000"/>
              <a:headEnd/>
              <a:tailEnd type="none" w="med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noAutofit/>
            </a:bodyPr>
            <a:lstStyle/>
            <a:p>
              <a:pPr algn="ctr"/>
              <a:r>
                <a:rPr lang="ko-KR" altLang="en-US" sz="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계획수립</a:t>
              </a:r>
              <a:endParaRPr lang="en-US" altLang="ko-KR" sz="400" b="1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18" name="AutoShape 6"/>
            <p:cNvSpPr>
              <a:spLocks noChangeArrowheads="1"/>
            </p:cNvSpPr>
            <p:nvPr/>
          </p:nvSpPr>
          <p:spPr bwMode="auto">
            <a:xfrm>
              <a:off x="3023295" y="5656089"/>
              <a:ext cx="874713" cy="452438"/>
            </a:xfrm>
            <a:prstGeom prst="flowChartDocumen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  <a:miter lim="800000"/>
              <a:headEnd/>
              <a:tailEnd type="none" w="med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noAutofit/>
            </a:bodyPr>
            <a:lstStyle/>
            <a:p>
              <a:pPr algn="ctr"/>
              <a:r>
                <a:rPr lang="en-US" altLang="ko-KR" sz="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IA map</a:t>
              </a:r>
            </a:p>
          </p:txBody>
        </p:sp>
        <p:sp>
          <p:nvSpPr>
            <p:cNvPr id="219" name="Text Box 8"/>
            <p:cNvSpPr txBox="1">
              <a:spLocks noChangeArrowheads="1"/>
            </p:cNvSpPr>
            <p:nvPr/>
          </p:nvSpPr>
          <p:spPr bwMode="auto">
            <a:xfrm>
              <a:off x="1248470" y="2935114"/>
              <a:ext cx="1138238" cy="2143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noAutofit/>
            </a:bodyPr>
            <a:lstStyle/>
            <a:p>
              <a:pPr algn="r">
                <a:lnSpc>
                  <a:spcPct val="80000"/>
                </a:lnSpc>
              </a:pPr>
              <a:r>
                <a:rPr lang="ko-KR" altLang="en-US" sz="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정의</a:t>
              </a:r>
              <a:endParaRPr lang="en-US" altLang="ko-KR" sz="400" b="1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20" name="Text Box 10"/>
            <p:cNvSpPr txBox="1">
              <a:spLocks noChangeArrowheads="1"/>
            </p:cNvSpPr>
            <p:nvPr/>
          </p:nvSpPr>
          <p:spPr bwMode="auto">
            <a:xfrm>
              <a:off x="3528120" y="4300364"/>
              <a:ext cx="708025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noAutofit/>
            </a:bodyPr>
            <a:lstStyle/>
            <a:p>
              <a:pPr algn="r">
                <a:lnSpc>
                  <a:spcPct val="80000"/>
                </a:lnSpc>
              </a:pPr>
              <a:r>
                <a:rPr lang="ko-KR" altLang="en-US" sz="400" b="1">
                  <a:latin typeface="나눔고딕" panose="020D0604000000000000" pitchFamily="50" charset="-127"/>
                  <a:ea typeface="나눔고딕" panose="020D0604000000000000" pitchFamily="50" charset="-127"/>
                </a:rPr>
                <a:t>정보분석</a:t>
              </a:r>
              <a:endParaRPr lang="en-US" altLang="ko-KR" sz="400" b="1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21" name="Freeform 11"/>
            <p:cNvSpPr>
              <a:spLocks/>
            </p:cNvSpPr>
            <p:nvPr/>
          </p:nvSpPr>
          <p:spPr bwMode="auto">
            <a:xfrm>
              <a:off x="1507233" y="2385839"/>
              <a:ext cx="1092200" cy="363538"/>
            </a:xfrm>
            <a:custGeom>
              <a:avLst/>
              <a:gdLst>
                <a:gd name="T0" fmla="*/ 0 w 864"/>
                <a:gd name="T1" fmla="*/ 0 h 240"/>
                <a:gd name="T2" fmla="*/ 864 w 864"/>
                <a:gd name="T3" fmla="*/ 0 h 240"/>
                <a:gd name="T4" fmla="*/ 864 w 864"/>
                <a:gd name="T5" fmla="*/ 240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864" h="240">
                  <a:moveTo>
                    <a:pt x="0" y="0"/>
                  </a:moveTo>
                  <a:lnTo>
                    <a:pt x="864" y="0"/>
                  </a:lnTo>
                  <a:lnTo>
                    <a:pt x="864" y="240"/>
                  </a:lnTo>
                </a:path>
              </a:pathLst>
            </a:custGeom>
            <a:noFill/>
            <a:ln w="635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noAutofit/>
            </a:bodyPr>
            <a:lstStyle/>
            <a:p>
              <a:endParaRPr lang="ko-KR" altLang="en-US" sz="100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22" name="Freeform 12"/>
            <p:cNvSpPr>
              <a:spLocks/>
            </p:cNvSpPr>
            <p:nvPr/>
          </p:nvSpPr>
          <p:spPr bwMode="auto">
            <a:xfrm rot="5400000" flipV="1">
              <a:off x="2788345" y="3124027"/>
              <a:ext cx="585788" cy="1046162"/>
            </a:xfrm>
            <a:custGeom>
              <a:avLst/>
              <a:gdLst>
                <a:gd name="T0" fmla="*/ 0 w 864"/>
                <a:gd name="T1" fmla="*/ 0 h 240"/>
                <a:gd name="T2" fmla="*/ 864 w 864"/>
                <a:gd name="T3" fmla="*/ 0 h 240"/>
                <a:gd name="T4" fmla="*/ 864 w 864"/>
                <a:gd name="T5" fmla="*/ 240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864" h="240">
                  <a:moveTo>
                    <a:pt x="0" y="0"/>
                  </a:moveTo>
                  <a:lnTo>
                    <a:pt x="864" y="0"/>
                  </a:lnTo>
                  <a:lnTo>
                    <a:pt x="864" y="240"/>
                  </a:lnTo>
                </a:path>
              </a:pathLst>
            </a:custGeom>
            <a:noFill/>
            <a:ln w="635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noAutofit/>
            </a:bodyPr>
            <a:lstStyle/>
            <a:p>
              <a:endParaRPr lang="ko-KR" altLang="en-US" sz="100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23" name="Text Box 13"/>
            <p:cNvSpPr txBox="1">
              <a:spLocks noChangeArrowheads="1"/>
            </p:cNvSpPr>
            <p:nvPr/>
          </p:nvSpPr>
          <p:spPr bwMode="auto">
            <a:xfrm>
              <a:off x="4603304" y="3559002"/>
              <a:ext cx="1179240" cy="2444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noAutofit/>
            </a:bodyPr>
            <a:lstStyle/>
            <a:p>
              <a:pPr algn="r"/>
              <a:r>
                <a:rPr lang="ko-KR" altLang="en-US" sz="400" b="1">
                  <a:latin typeface="나눔고딕" panose="020D0604000000000000" pitchFamily="50" charset="-127"/>
                  <a:ea typeface="나눔고딕" panose="020D0604000000000000" pitchFamily="50" charset="-127"/>
                </a:rPr>
                <a:t>미가공</a:t>
              </a:r>
              <a:r>
                <a:rPr lang="ko-KR" altLang="en-US" sz="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 데이터 추출</a:t>
              </a:r>
              <a:endParaRPr lang="en-US" altLang="ko-KR" sz="400" b="1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grpSp>
          <p:nvGrpSpPr>
            <p:cNvPr id="224" name="Group 14"/>
            <p:cNvGrpSpPr>
              <a:grpSpLocks/>
            </p:cNvGrpSpPr>
            <p:nvPr/>
          </p:nvGrpSpPr>
          <p:grpSpPr bwMode="auto">
            <a:xfrm>
              <a:off x="4975920" y="2949402"/>
              <a:ext cx="433388" cy="577850"/>
              <a:chOff x="3625" y="2406"/>
              <a:chExt cx="413" cy="550"/>
            </a:xfrm>
          </p:grpSpPr>
          <p:sp>
            <p:nvSpPr>
              <p:cNvPr id="225" name="Rectangle 15"/>
              <p:cNvSpPr>
                <a:spLocks noChangeArrowheads="1"/>
              </p:cNvSpPr>
              <p:nvPr/>
            </p:nvSpPr>
            <p:spPr bwMode="auto">
              <a:xfrm>
                <a:off x="3625" y="2406"/>
                <a:ext cx="413" cy="550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rgbClr val="969696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 anchor="ctr">
                <a:noAutofit/>
              </a:bodyPr>
              <a:lstStyle/>
              <a:p>
                <a:endParaRPr lang="ko-KR" altLang="en-US" sz="100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226" name="Line 16"/>
              <p:cNvSpPr>
                <a:spLocks noChangeShapeType="1"/>
              </p:cNvSpPr>
              <p:nvPr/>
            </p:nvSpPr>
            <p:spPr bwMode="auto">
              <a:xfrm>
                <a:off x="3717" y="2498"/>
                <a:ext cx="229" cy="1"/>
              </a:xfrm>
              <a:prstGeom prst="line">
                <a:avLst/>
              </a:prstGeom>
              <a:noFill/>
              <a:ln w="6350">
                <a:solidFill>
                  <a:srgbClr val="969696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>
                <a:noAutofit/>
              </a:bodyPr>
              <a:lstStyle/>
              <a:p>
                <a:endParaRPr lang="ko-KR" altLang="en-US" sz="100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227" name="Line 17"/>
              <p:cNvSpPr>
                <a:spLocks noChangeShapeType="1"/>
              </p:cNvSpPr>
              <p:nvPr/>
            </p:nvSpPr>
            <p:spPr bwMode="auto">
              <a:xfrm>
                <a:off x="3717" y="2544"/>
                <a:ext cx="229" cy="1"/>
              </a:xfrm>
              <a:prstGeom prst="line">
                <a:avLst/>
              </a:prstGeom>
              <a:noFill/>
              <a:ln w="6350">
                <a:solidFill>
                  <a:srgbClr val="969696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>
                <a:noAutofit/>
              </a:bodyPr>
              <a:lstStyle/>
              <a:p>
                <a:endParaRPr lang="ko-KR" altLang="en-US" sz="100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228" name="Line 18"/>
              <p:cNvSpPr>
                <a:spLocks noChangeShapeType="1"/>
              </p:cNvSpPr>
              <p:nvPr/>
            </p:nvSpPr>
            <p:spPr bwMode="auto">
              <a:xfrm>
                <a:off x="3717" y="2590"/>
                <a:ext cx="229" cy="1"/>
              </a:xfrm>
              <a:prstGeom prst="line">
                <a:avLst/>
              </a:prstGeom>
              <a:noFill/>
              <a:ln w="6350">
                <a:solidFill>
                  <a:srgbClr val="969696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>
                <a:noAutofit/>
              </a:bodyPr>
              <a:lstStyle/>
              <a:p>
                <a:endParaRPr lang="ko-KR" altLang="en-US" sz="100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229" name="Line 19"/>
              <p:cNvSpPr>
                <a:spLocks noChangeShapeType="1"/>
              </p:cNvSpPr>
              <p:nvPr/>
            </p:nvSpPr>
            <p:spPr bwMode="auto">
              <a:xfrm>
                <a:off x="3717" y="2636"/>
                <a:ext cx="229" cy="1"/>
              </a:xfrm>
              <a:prstGeom prst="line">
                <a:avLst/>
              </a:prstGeom>
              <a:noFill/>
              <a:ln w="6350">
                <a:solidFill>
                  <a:srgbClr val="969696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>
                <a:noAutofit/>
              </a:bodyPr>
              <a:lstStyle/>
              <a:p>
                <a:endParaRPr lang="ko-KR" altLang="en-US" sz="100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230" name="Line 20"/>
              <p:cNvSpPr>
                <a:spLocks noChangeShapeType="1"/>
              </p:cNvSpPr>
              <p:nvPr/>
            </p:nvSpPr>
            <p:spPr bwMode="auto">
              <a:xfrm>
                <a:off x="3717" y="2682"/>
                <a:ext cx="229" cy="1"/>
              </a:xfrm>
              <a:prstGeom prst="line">
                <a:avLst/>
              </a:prstGeom>
              <a:noFill/>
              <a:ln w="6350">
                <a:solidFill>
                  <a:srgbClr val="969696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>
                <a:noAutofit/>
              </a:bodyPr>
              <a:lstStyle/>
              <a:p>
                <a:endParaRPr lang="ko-KR" altLang="en-US" sz="100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231" name="Line 21"/>
              <p:cNvSpPr>
                <a:spLocks noChangeShapeType="1"/>
              </p:cNvSpPr>
              <p:nvPr/>
            </p:nvSpPr>
            <p:spPr bwMode="auto">
              <a:xfrm>
                <a:off x="3717" y="2728"/>
                <a:ext cx="229" cy="1"/>
              </a:xfrm>
              <a:prstGeom prst="line">
                <a:avLst/>
              </a:prstGeom>
              <a:noFill/>
              <a:ln w="6350">
                <a:solidFill>
                  <a:srgbClr val="969696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>
                <a:noAutofit/>
              </a:bodyPr>
              <a:lstStyle/>
              <a:p>
                <a:endParaRPr lang="ko-KR" altLang="en-US" sz="100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232" name="Line 22"/>
              <p:cNvSpPr>
                <a:spLocks noChangeShapeType="1"/>
              </p:cNvSpPr>
              <p:nvPr/>
            </p:nvSpPr>
            <p:spPr bwMode="auto">
              <a:xfrm>
                <a:off x="3717" y="2774"/>
                <a:ext cx="229" cy="1"/>
              </a:xfrm>
              <a:prstGeom prst="line">
                <a:avLst/>
              </a:prstGeom>
              <a:noFill/>
              <a:ln w="6350">
                <a:solidFill>
                  <a:srgbClr val="969696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>
                <a:noAutofit/>
              </a:bodyPr>
              <a:lstStyle/>
              <a:p>
                <a:endParaRPr lang="ko-KR" altLang="en-US" sz="100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233" name="Line 23"/>
              <p:cNvSpPr>
                <a:spLocks noChangeShapeType="1"/>
              </p:cNvSpPr>
              <p:nvPr/>
            </p:nvSpPr>
            <p:spPr bwMode="auto">
              <a:xfrm>
                <a:off x="3717" y="2819"/>
                <a:ext cx="229" cy="1"/>
              </a:xfrm>
              <a:prstGeom prst="line">
                <a:avLst/>
              </a:prstGeom>
              <a:noFill/>
              <a:ln w="6350">
                <a:solidFill>
                  <a:srgbClr val="969696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>
                <a:noAutofit/>
              </a:bodyPr>
              <a:lstStyle/>
              <a:p>
                <a:endParaRPr lang="ko-KR" altLang="en-US" sz="100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234" name="Line 24"/>
              <p:cNvSpPr>
                <a:spLocks noChangeShapeType="1"/>
              </p:cNvSpPr>
              <p:nvPr/>
            </p:nvSpPr>
            <p:spPr bwMode="auto">
              <a:xfrm>
                <a:off x="3717" y="2865"/>
                <a:ext cx="229" cy="1"/>
              </a:xfrm>
              <a:prstGeom prst="line">
                <a:avLst/>
              </a:prstGeom>
              <a:noFill/>
              <a:ln w="6350">
                <a:solidFill>
                  <a:srgbClr val="969696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>
                <a:noAutofit/>
              </a:bodyPr>
              <a:lstStyle/>
              <a:p>
                <a:endParaRPr lang="ko-KR" altLang="en-US" sz="100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p:grpSp>
        <p:sp>
          <p:nvSpPr>
            <p:cNvPr id="235" name="Line 25"/>
            <p:cNvSpPr>
              <a:spLocks noChangeShapeType="1"/>
            </p:cNvSpPr>
            <p:nvPr/>
          </p:nvSpPr>
          <p:spPr bwMode="auto">
            <a:xfrm flipV="1">
              <a:off x="4442520" y="3254202"/>
              <a:ext cx="381000" cy="530225"/>
            </a:xfrm>
            <a:prstGeom prst="line">
              <a:avLst/>
            </a:prstGeom>
            <a:noFill/>
            <a:ln w="6350">
              <a:solidFill>
                <a:schemeClr val="accent2"/>
              </a:solidFill>
              <a:round/>
              <a:headEnd/>
              <a:tailEnd type="triangl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noAutofit/>
            </a:bodyPr>
            <a:lstStyle/>
            <a:p>
              <a:endParaRPr lang="ko-KR" altLang="en-US" sz="100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36" name="Text Box 27"/>
            <p:cNvSpPr txBox="1">
              <a:spLocks noChangeArrowheads="1"/>
            </p:cNvSpPr>
            <p:nvPr/>
          </p:nvSpPr>
          <p:spPr bwMode="auto">
            <a:xfrm>
              <a:off x="6336408" y="4408314"/>
              <a:ext cx="1311275" cy="2746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noAutofit/>
            </a:bodyPr>
            <a:lstStyle/>
            <a:p>
              <a:pPr algn="r"/>
              <a:r>
                <a:rPr lang="ko-KR" altLang="en-US" sz="7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세부기획</a:t>
              </a:r>
              <a:endParaRPr lang="en-US" altLang="ko-KR" sz="700" b="1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37" name="Line 28"/>
            <p:cNvSpPr>
              <a:spLocks noChangeShapeType="1"/>
            </p:cNvSpPr>
            <p:nvPr/>
          </p:nvSpPr>
          <p:spPr bwMode="auto">
            <a:xfrm flipV="1">
              <a:off x="5661720" y="4092402"/>
              <a:ext cx="1066800" cy="457200"/>
            </a:xfrm>
            <a:prstGeom prst="line">
              <a:avLst/>
            </a:prstGeom>
            <a:noFill/>
            <a:ln w="6350">
              <a:solidFill>
                <a:schemeClr val="accent2"/>
              </a:solidFill>
              <a:round/>
              <a:headEnd/>
              <a:tailEnd type="triangl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noAutofit/>
            </a:bodyPr>
            <a:lstStyle/>
            <a:p>
              <a:endParaRPr lang="ko-KR" altLang="en-US" sz="100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38" name="Freeform 29"/>
            <p:cNvSpPr>
              <a:spLocks/>
            </p:cNvSpPr>
            <p:nvPr/>
          </p:nvSpPr>
          <p:spPr bwMode="auto">
            <a:xfrm flipV="1">
              <a:off x="3910708" y="4778202"/>
              <a:ext cx="3351212" cy="1030287"/>
            </a:xfrm>
            <a:custGeom>
              <a:avLst/>
              <a:gdLst>
                <a:gd name="T0" fmla="*/ 0 w 864"/>
                <a:gd name="T1" fmla="*/ 0 h 240"/>
                <a:gd name="T2" fmla="*/ 864 w 864"/>
                <a:gd name="T3" fmla="*/ 0 h 240"/>
                <a:gd name="T4" fmla="*/ 864 w 864"/>
                <a:gd name="T5" fmla="*/ 240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864" h="240">
                  <a:moveTo>
                    <a:pt x="0" y="0"/>
                  </a:moveTo>
                  <a:lnTo>
                    <a:pt x="864" y="0"/>
                  </a:lnTo>
                  <a:lnTo>
                    <a:pt x="864" y="240"/>
                  </a:lnTo>
                </a:path>
              </a:pathLst>
            </a:custGeom>
            <a:noFill/>
            <a:ln w="635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noAutofit/>
            </a:bodyPr>
            <a:lstStyle/>
            <a:p>
              <a:endParaRPr lang="ko-KR" altLang="en-US" sz="100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39" name="Text Box 31"/>
            <p:cNvSpPr txBox="1">
              <a:spLocks noChangeArrowheads="1"/>
            </p:cNvSpPr>
            <p:nvPr/>
          </p:nvSpPr>
          <p:spPr bwMode="auto">
            <a:xfrm>
              <a:off x="7917558" y="4271789"/>
              <a:ext cx="1020762" cy="2143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noAutofit/>
            </a:bodyPr>
            <a:lstStyle/>
            <a:p>
              <a:pPr algn="r">
                <a:lnSpc>
                  <a:spcPct val="80000"/>
                </a:lnSpc>
              </a:pPr>
              <a:r>
                <a:rPr lang="ko-KR" altLang="en-US" sz="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확인단계</a:t>
              </a:r>
              <a:endParaRPr lang="en-US" altLang="ko-KR" sz="400" b="1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40" name="Line 32"/>
            <p:cNvSpPr>
              <a:spLocks noChangeShapeType="1"/>
            </p:cNvSpPr>
            <p:nvPr/>
          </p:nvSpPr>
          <p:spPr bwMode="auto">
            <a:xfrm>
              <a:off x="7847708" y="3936827"/>
              <a:ext cx="590550" cy="1587"/>
            </a:xfrm>
            <a:prstGeom prst="line">
              <a:avLst/>
            </a:prstGeom>
            <a:noFill/>
            <a:ln w="6350">
              <a:solidFill>
                <a:schemeClr val="accent2"/>
              </a:solidFill>
              <a:round/>
              <a:headEnd/>
              <a:tailEnd type="triangl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noAutofit/>
            </a:bodyPr>
            <a:lstStyle/>
            <a:p>
              <a:endParaRPr lang="ko-KR" altLang="en-US" sz="100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41" name="Text Box 34"/>
            <p:cNvSpPr txBox="1">
              <a:spLocks noChangeArrowheads="1"/>
            </p:cNvSpPr>
            <p:nvPr/>
          </p:nvSpPr>
          <p:spPr bwMode="auto">
            <a:xfrm>
              <a:off x="4144070" y="4982989"/>
              <a:ext cx="1311275" cy="2143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noAutofit/>
            </a:bodyPr>
            <a:lstStyle/>
            <a:p>
              <a:pPr algn="r">
                <a:lnSpc>
                  <a:spcPct val="80000"/>
                </a:lnSpc>
              </a:pPr>
              <a:r>
                <a:rPr lang="ko-KR" altLang="en-US" sz="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분석</a:t>
              </a:r>
              <a:r>
                <a:rPr lang="en-US" altLang="ko-KR" sz="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/</a:t>
              </a:r>
              <a:r>
                <a:rPr lang="ko-KR" altLang="en-US" sz="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판단</a:t>
              </a:r>
              <a:endParaRPr lang="en-US" altLang="ko-KR" sz="400" b="1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42" name="Line 35"/>
            <p:cNvSpPr>
              <a:spLocks noChangeShapeType="1"/>
            </p:cNvSpPr>
            <p:nvPr/>
          </p:nvSpPr>
          <p:spPr bwMode="auto">
            <a:xfrm>
              <a:off x="5204520" y="3860627"/>
              <a:ext cx="0" cy="307975"/>
            </a:xfrm>
            <a:prstGeom prst="line">
              <a:avLst/>
            </a:prstGeom>
            <a:noFill/>
            <a:ln w="6350">
              <a:solidFill>
                <a:schemeClr val="accent2"/>
              </a:solidFill>
              <a:round/>
              <a:headEnd/>
              <a:tailEnd type="triangl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noAutofit/>
            </a:bodyPr>
            <a:lstStyle/>
            <a:p>
              <a:endParaRPr lang="ko-KR" altLang="en-US" sz="100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43" name="AutoShape 36"/>
            <p:cNvSpPr>
              <a:spLocks noChangeArrowheads="1"/>
            </p:cNvSpPr>
            <p:nvPr/>
          </p:nvSpPr>
          <p:spPr bwMode="auto">
            <a:xfrm>
              <a:off x="3528120" y="2227089"/>
              <a:ext cx="874713" cy="452438"/>
            </a:xfrm>
            <a:prstGeom prst="flowChartDocumen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  <a:miter lim="800000"/>
              <a:headEnd/>
              <a:tailEnd type="none" w="med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noAutofit/>
            </a:bodyPr>
            <a:lstStyle/>
            <a:p>
              <a:pPr algn="ctr"/>
              <a:r>
                <a:rPr lang="ko-KR" altLang="en-US" sz="400" b="1" dirty="0" err="1">
                  <a:latin typeface="나눔고딕" panose="020D0604000000000000" pitchFamily="50" charset="-127"/>
                  <a:ea typeface="나눔고딕" panose="020D0604000000000000" pitchFamily="50" charset="-127"/>
                </a:rPr>
                <a:t>컨텐츠</a:t>
              </a:r>
              <a:endParaRPr lang="en-US" altLang="ko-KR" sz="400" b="1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44" name="Line 37"/>
            <p:cNvSpPr>
              <a:spLocks noChangeShapeType="1"/>
            </p:cNvSpPr>
            <p:nvPr/>
          </p:nvSpPr>
          <p:spPr bwMode="auto">
            <a:xfrm>
              <a:off x="4061520" y="2760489"/>
              <a:ext cx="0" cy="762000"/>
            </a:xfrm>
            <a:prstGeom prst="line">
              <a:avLst/>
            </a:prstGeom>
            <a:noFill/>
            <a:ln w="6350">
              <a:solidFill>
                <a:schemeClr val="accent2"/>
              </a:solidFill>
              <a:round/>
              <a:headEnd/>
              <a:tailEnd type="triangl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noAutofit/>
            </a:bodyPr>
            <a:lstStyle/>
            <a:p>
              <a:endParaRPr lang="ko-KR" altLang="en-US" sz="100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45" name="Arc 38"/>
            <p:cNvSpPr>
              <a:spLocks/>
            </p:cNvSpPr>
            <p:nvPr/>
          </p:nvSpPr>
          <p:spPr bwMode="auto">
            <a:xfrm rot="9054098" flipH="1" flipV="1">
              <a:off x="7723883" y="2989089"/>
              <a:ext cx="1443037" cy="795338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35214"/>
                <a:gd name="T2" fmla="*/ 16770 w 21600"/>
                <a:gd name="T3" fmla="*/ 35214 h 35214"/>
                <a:gd name="T4" fmla="*/ 0 w 21600"/>
                <a:gd name="T5" fmla="*/ 21600 h 352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35214" fill="none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26557"/>
                    <a:pt x="19894" y="31364"/>
                    <a:pt x="16769" y="35213"/>
                  </a:cubicBezTo>
                </a:path>
                <a:path w="21600" h="35214" stroke="0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26557"/>
                    <a:pt x="19894" y="31364"/>
                    <a:pt x="16769" y="35213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6350">
              <a:solidFill>
                <a:srgbClr val="969696"/>
              </a:solidFill>
              <a:round/>
              <a:headEnd type="triangle" w="med" len="med"/>
              <a:tailEnd type="none" w="med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noAutofit/>
            </a:bodyPr>
            <a:lstStyle/>
            <a:p>
              <a:endParaRPr lang="ko-KR" altLang="en-US" sz="100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46" name="정육면체 245"/>
            <p:cNvSpPr/>
            <p:nvPr/>
          </p:nvSpPr>
          <p:spPr>
            <a:xfrm>
              <a:off x="2340670" y="2775111"/>
              <a:ext cx="452090" cy="509873"/>
            </a:xfrm>
            <a:prstGeom prst="cube">
              <a:avLst/>
            </a:prstGeom>
            <a:solidFill>
              <a:schemeClr val="bg1">
                <a:lumMod val="7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4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47" name="정육면체 246"/>
            <p:cNvSpPr/>
            <p:nvPr/>
          </p:nvSpPr>
          <p:spPr>
            <a:xfrm>
              <a:off x="3756720" y="3644727"/>
              <a:ext cx="548208" cy="655923"/>
            </a:xfrm>
            <a:prstGeom prst="cube">
              <a:avLst/>
            </a:prstGeom>
            <a:solidFill>
              <a:srgbClr val="FFC000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4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48" name="정육면체 247"/>
            <p:cNvSpPr/>
            <p:nvPr/>
          </p:nvSpPr>
          <p:spPr>
            <a:xfrm>
              <a:off x="4960776" y="4300364"/>
              <a:ext cx="548208" cy="655923"/>
            </a:xfrm>
            <a:prstGeom prst="cube">
              <a:avLst/>
            </a:prstGeom>
            <a:solidFill>
              <a:schemeClr val="bg1">
                <a:lumMod val="7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4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49" name="정육면체 248"/>
            <p:cNvSpPr/>
            <p:nvPr/>
          </p:nvSpPr>
          <p:spPr>
            <a:xfrm>
              <a:off x="6964362" y="3432695"/>
              <a:ext cx="724941" cy="1013719"/>
            </a:xfrm>
            <a:prstGeom prst="cube">
              <a:avLst/>
            </a:prstGeom>
            <a:solidFill>
              <a:schemeClr val="bg1">
                <a:lumMod val="7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4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50" name="정육면체 249"/>
            <p:cNvSpPr/>
            <p:nvPr/>
          </p:nvSpPr>
          <p:spPr>
            <a:xfrm>
              <a:off x="8605675" y="3681890"/>
              <a:ext cx="452090" cy="509873"/>
            </a:xfrm>
            <a:prstGeom prst="cube">
              <a:avLst/>
            </a:prstGeom>
            <a:solidFill>
              <a:schemeClr val="bg1">
                <a:lumMod val="7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4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sp>
        <p:nvSpPr>
          <p:cNvPr id="56" name="Rectangle 40"/>
          <p:cNvSpPr>
            <a:spLocks noChangeArrowheads="1"/>
          </p:cNvSpPr>
          <p:nvPr/>
        </p:nvSpPr>
        <p:spPr bwMode="auto">
          <a:xfrm>
            <a:off x="5748159" y="2802408"/>
            <a:ext cx="1231062" cy="28416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>
            <a:noAutofit/>
          </a:bodyPr>
          <a:lstStyle/>
          <a:p>
            <a:pPr algn="r">
              <a:lnSpc>
                <a:spcPct val="120000"/>
              </a:lnSpc>
            </a:pPr>
            <a:r>
              <a:rPr kumimoji="1"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사용성 테스트</a:t>
            </a:r>
            <a:endParaRPr kumimoji="1" lang="en-US" altLang="ko-KR" sz="1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8" name="Rectangle 42"/>
          <p:cNvSpPr>
            <a:spLocks noChangeArrowheads="1"/>
          </p:cNvSpPr>
          <p:nvPr/>
        </p:nvSpPr>
        <p:spPr bwMode="auto">
          <a:xfrm>
            <a:off x="5037708" y="4118445"/>
            <a:ext cx="710451" cy="276999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>
            <a:noAutofit/>
          </a:bodyPr>
          <a:lstStyle/>
          <a:p>
            <a:pPr algn="ctr">
              <a:lnSpc>
                <a:spcPct val="120000"/>
              </a:lnSpc>
            </a:pPr>
            <a:r>
              <a:rPr kumimoji="1"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Checklist</a:t>
            </a:r>
          </a:p>
        </p:txBody>
      </p:sp>
      <p:sp>
        <p:nvSpPr>
          <p:cNvPr id="59" name="Rectangle 43"/>
          <p:cNvSpPr>
            <a:spLocks noChangeArrowheads="1"/>
          </p:cNvSpPr>
          <p:nvPr/>
        </p:nvSpPr>
        <p:spPr bwMode="auto">
          <a:xfrm>
            <a:off x="6723136" y="3978040"/>
            <a:ext cx="2334320" cy="387064"/>
          </a:xfrm>
          <a:prstGeom prst="rect">
            <a:avLst/>
          </a:prstGeom>
          <a:solidFill>
            <a:srgbClr val="FFFFCC"/>
          </a:solidFill>
          <a:ln w="12700" algn="ctr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anchor="ctr">
            <a:noAutofit/>
          </a:bodyPr>
          <a:lstStyle/>
          <a:p>
            <a:pPr algn="ctr">
              <a:lnSpc>
                <a:spcPct val="80000"/>
              </a:lnSpc>
              <a:spcBef>
                <a:spcPct val="50000"/>
              </a:spcBef>
              <a:buClr>
                <a:schemeClr val="accent1"/>
              </a:buClr>
              <a:buFont typeface="Wingdings" pitchFamily="2" charset="2"/>
              <a:buNone/>
            </a:pPr>
            <a:r>
              <a:rPr kumimoji="1" lang="en-US" altLang="ko-KR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Raw Data gather</a:t>
            </a:r>
          </a:p>
        </p:txBody>
      </p:sp>
      <p:sp>
        <p:nvSpPr>
          <p:cNvPr id="60" name="AutoShape 44"/>
          <p:cNvSpPr>
            <a:spLocks noChangeArrowheads="1"/>
          </p:cNvSpPr>
          <p:nvPr/>
        </p:nvSpPr>
        <p:spPr bwMode="auto">
          <a:xfrm>
            <a:off x="5025008" y="2153120"/>
            <a:ext cx="1170513" cy="343972"/>
          </a:xfrm>
          <a:prstGeom prst="flowChartDocumen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>
            <a:noAutofit/>
          </a:bodyPr>
          <a:lstStyle/>
          <a:p>
            <a:pPr algn="ctr">
              <a:lnSpc>
                <a:spcPct val="120000"/>
              </a:lnSpc>
            </a:pPr>
            <a:r>
              <a:rPr kumimoji="1"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고객정보</a:t>
            </a:r>
            <a:endParaRPr kumimoji="1" lang="en-US" altLang="ko-KR" sz="1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1" name="Rectangle 45"/>
          <p:cNvSpPr>
            <a:spLocks noChangeArrowheads="1"/>
          </p:cNvSpPr>
          <p:nvPr/>
        </p:nvSpPr>
        <p:spPr bwMode="auto">
          <a:xfrm>
            <a:off x="5072635" y="4642320"/>
            <a:ext cx="1530354" cy="276999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>
            <a:noAutofit/>
          </a:bodyPr>
          <a:lstStyle/>
          <a:p>
            <a:pPr algn="r">
              <a:lnSpc>
                <a:spcPct val="120000"/>
              </a:lnSpc>
            </a:pPr>
            <a:r>
              <a:rPr kumimoji="1"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Task </a:t>
            </a:r>
            <a:r>
              <a:rPr kumimoji="1"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분석</a:t>
            </a:r>
            <a:endParaRPr kumimoji="1" lang="en-US" altLang="ko-KR" sz="1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2" name="Rectangle 46"/>
          <p:cNvSpPr>
            <a:spLocks noChangeArrowheads="1"/>
          </p:cNvSpPr>
          <p:nvPr/>
        </p:nvSpPr>
        <p:spPr bwMode="auto">
          <a:xfrm>
            <a:off x="5072633" y="4986808"/>
            <a:ext cx="1557338" cy="28416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>
            <a:noAutofit/>
          </a:bodyPr>
          <a:lstStyle/>
          <a:p>
            <a:pPr algn="r">
              <a:lnSpc>
                <a:spcPct val="120000"/>
              </a:lnSpc>
            </a:pPr>
            <a:r>
              <a:rPr kumimoji="1"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단계별 모델링 분석</a:t>
            </a:r>
            <a:endParaRPr kumimoji="1" lang="en-US" altLang="ko-KR" sz="1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3" name="Rectangle 47"/>
          <p:cNvSpPr>
            <a:spLocks noChangeArrowheads="1"/>
          </p:cNvSpPr>
          <p:nvPr/>
        </p:nvSpPr>
        <p:spPr bwMode="auto">
          <a:xfrm>
            <a:off x="5072633" y="5332883"/>
            <a:ext cx="1571625" cy="28416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>
            <a:noAutofit/>
          </a:bodyPr>
          <a:lstStyle/>
          <a:p>
            <a:pPr algn="r">
              <a:lnSpc>
                <a:spcPct val="120000"/>
              </a:lnSpc>
            </a:pPr>
            <a:r>
              <a:rPr kumimoji="1"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Resource Modeling</a:t>
            </a:r>
          </a:p>
        </p:txBody>
      </p:sp>
      <p:sp>
        <p:nvSpPr>
          <p:cNvPr id="64" name="Rectangle 48"/>
          <p:cNvSpPr>
            <a:spLocks noChangeArrowheads="1"/>
          </p:cNvSpPr>
          <p:nvPr/>
        </p:nvSpPr>
        <p:spPr bwMode="auto">
          <a:xfrm>
            <a:off x="5072634" y="5672608"/>
            <a:ext cx="1574800" cy="420687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>
            <a:noAutofit/>
          </a:bodyPr>
          <a:lstStyle/>
          <a:p>
            <a:pPr algn="r">
              <a:lnSpc>
                <a:spcPct val="120000"/>
              </a:lnSpc>
            </a:pPr>
            <a:r>
              <a:rPr kumimoji="1"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I/O (Interface Object) </a:t>
            </a:r>
          </a:p>
          <a:p>
            <a:pPr algn="r">
              <a:lnSpc>
                <a:spcPct val="120000"/>
              </a:lnSpc>
            </a:pPr>
            <a:r>
              <a:rPr kumimoji="1"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Modeling</a:t>
            </a:r>
          </a:p>
        </p:txBody>
      </p:sp>
      <p:sp>
        <p:nvSpPr>
          <p:cNvPr id="65" name="Rectangle 49"/>
          <p:cNvSpPr>
            <a:spLocks noChangeArrowheads="1"/>
          </p:cNvSpPr>
          <p:nvPr/>
        </p:nvSpPr>
        <p:spPr bwMode="auto">
          <a:xfrm rot="16200000">
            <a:off x="6097364" y="5225727"/>
            <a:ext cx="1450975" cy="28416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>
            <a:noAutofit/>
          </a:bodyPr>
          <a:lstStyle/>
          <a:p>
            <a:pPr algn="ctr">
              <a:lnSpc>
                <a:spcPct val="120000"/>
              </a:lnSpc>
            </a:pPr>
            <a:r>
              <a:rPr kumimoji="1"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Use case Modeling</a:t>
            </a:r>
          </a:p>
        </p:txBody>
      </p:sp>
      <p:sp>
        <p:nvSpPr>
          <p:cNvPr id="66" name="Rectangle 50"/>
          <p:cNvSpPr>
            <a:spLocks noChangeArrowheads="1"/>
          </p:cNvSpPr>
          <p:nvPr/>
        </p:nvSpPr>
        <p:spPr bwMode="auto">
          <a:xfrm rot="16200000">
            <a:off x="6797910" y="3056742"/>
            <a:ext cx="1012825" cy="481930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>
            <a:noAutofit/>
          </a:bodyPr>
          <a:lstStyle/>
          <a:p>
            <a:pPr algn="ctr">
              <a:lnSpc>
                <a:spcPct val="120000"/>
              </a:lnSpc>
            </a:pPr>
            <a:r>
              <a:rPr kumimoji="1"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Field</a:t>
            </a:r>
          </a:p>
          <a:p>
            <a:pPr algn="ctr">
              <a:lnSpc>
                <a:spcPct val="120000"/>
              </a:lnSpc>
            </a:pPr>
            <a:r>
              <a:rPr kumimoji="1"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Research</a:t>
            </a:r>
          </a:p>
        </p:txBody>
      </p:sp>
      <p:cxnSp>
        <p:nvCxnSpPr>
          <p:cNvPr id="67" name="AutoShape 51"/>
          <p:cNvCxnSpPr>
            <a:cxnSpLocks noChangeShapeType="1"/>
            <a:stCxn id="60" idx="3"/>
            <a:endCxn id="66" idx="3"/>
          </p:cNvCxnSpPr>
          <p:nvPr/>
        </p:nvCxnSpPr>
        <p:spPr bwMode="auto">
          <a:xfrm>
            <a:off x="6195521" y="2325106"/>
            <a:ext cx="1108802" cy="466189"/>
          </a:xfrm>
          <a:prstGeom prst="bentConnector2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8" name="AutoShape 52"/>
          <p:cNvCxnSpPr>
            <a:cxnSpLocks noChangeShapeType="1"/>
            <a:stCxn id="66" idx="2"/>
            <a:endCxn id="59" idx="0"/>
          </p:cNvCxnSpPr>
          <p:nvPr/>
        </p:nvCxnSpPr>
        <p:spPr bwMode="auto">
          <a:xfrm>
            <a:off x="7545288" y="3297707"/>
            <a:ext cx="345008" cy="680333"/>
          </a:xfrm>
          <a:prstGeom prst="bentConnector2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9" name="AutoShape 53"/>
          <p:cNvCxnSpPr>
            <a:cxnSpLocks noChangeShapeType="1"/>
            <a:stCxn id="58" idx="3"/>
            <a:endCxn id="59" idx="1"/>
          </p:cNvCxnSpPr>
          <p:nvPr/>
        </p:nvCxnSpPr>
        <p:spPr bwMode="auto">
          <a:xfrm flipV="1">
            <a:off x="5748159" y="4171572"/>
            <a:ext cx="974977" cy="85373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0" name="AutoShape 54"/>
          <p:cNvCxnSpPr>
            <a:cxnSpLocks noChangeShapeType="1"/>
            <a:stCxn id="65" idx="2"/>
            <a:endCxn id="59" idx="2"/>
          </p:cNvCxnSpPr>
          <p:nvPr/>
        </p:nvCxnSpPr>
        <p:spPr bwMode="auto">
          <a:xfrm flipV="1">
            <a:off x="6964933" y="4365104"/>
            <a:ext cx="925363" cy="1002704"/>
          </a:xfrm>
          <a:prstGeom prst="bentConnector2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75" name="Freeform 54"/>
          <p:cNvSpPr>
            <a:spLocks/>
          </p:cNvSpPr>
          <p:nvPr/>
        </p:nvSpPr>
        <p:spPr bwMode="auto">
          <a:xfrm>
            <a:off x="1646060" y="2949891"/>
            <a:ext cx="2946899" cy="1346031"/>
          </a:xfrm>
          <a:custGeom>
            <a:avLst/>
            <a:gdLst>
              <a:gd name="T0" fmla="*/ 0 w 2736"/>
              <a:gd name="T1" fmla="*/ 0 h 1200"/>
              <a:gd name="T2" fmla="*/ 0 w 2736"/>
              <a:gd name="T3" fmla="*/ 1200 h 1200"/>
              <a:gd name="T4" fmla="*/ 2736 w 2736"/>
              <a:gd name="T5" fmla="*/ 1200 h 12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736" h="1200">
                <a:moveTo>
                  <a:pt x="0" y="0"/>
                </a:moveTo>
                <a:lnTo>
                  <a:pt x="0" y="1200"/>
                </a:lnTo>
                <a:lnTo>
                  <a:pt x="2736" y="1200"/>
                </a:lnTo>
              </a:path>
            </a:pathLst>
          </a:custGeom>
          <a:noFill/>
          <a:ln w="28575" cap="flat" cmpd="sng">
            <a:solidFill>
              <a:srgbClr val="969696"/>
            </a:solidFill>
            <a:prstDash val="sysDot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6" name="Rectangle 40"/>
          <p:cNvSpPr>
            <a:spLocks noChangeArrowheads="1"/>
          </p:cNvSpPr>
          <p:nvPr/>
        </p:nvSpPr>
        <p:spPr bwMode="auto">
          <a:xfrm>
            <a:off x="5748159" y="3170716"/>
            <a:ext cx="1231062" cy="28416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>
            <a:noAutofit/>
          </a:bodyPr>
          <a:lstStyle/>
          <a:p>
            <a:pPr algn="r">
              <a:lnSpc>
                <a:spcPct val="120000"/>
              </a:lnSpc>
            </a:pPr>
            <a:r>
              <a:rPr kumimoji="1"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FGI</a:t>
            </a:r>
          </a:p>
        </p:txBody>
      </p:sp>
      <p:sp>
        <p:nvSpPr>
          <p:cNvPr id="77" name="Rectangle 40"/>
          <p:cNvSpPr>
            <a:spLocks noChangeArrowheads="1"/>
          </p:cNvSpPr>
          <p:nvPr/>
        </p:nvSpPr>
        <p:spPr bwMode="auto">
          <a:xfrm>
            <a:off x="5748159" y="3522044"/>
            <a:ext cx="1231062" cy="28416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>
            <a:noAutofit/>
          </a:bodyPr>
          <a:lstStyle/>
          <a:p>
            <a:pPr algn="r">
              <a:lnSpc>
                <a:spcPct val="120000"/>
              </a:lnSpc>
            </a:pPr>
            <a:r>
              <a:rPr kumimoji="1"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설문조사</a:t>
            </a:r>
            <a:endParaRPr kumimoji="1" lang="en-US" altLang="ko-KR" sz="1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32519" y="6396186"/>
            <a:ext cx="479971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85725" indent="-85725">
              <a:buFont typeface="Arial" charset="0"/>
              <a:buChar char="•"/>
            </a:pP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FGI (focus group interview)</a:t>
            </a:r>
          </a:p>
          <a:p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- </a:t>
            </a:r>
            <a:r>
              <a:rPr lang="ko-KR" altLang="en-US" sz="1000" dirty="0"/>
              <a:t>소수의 응답자와 집중적인 대화를 통하여 정보를 찾아내는 소비자 인터뷰 조사</a:t>
            </a:r>
            <a:endParaRPr lang="en-US" altLang="ko-KR" sz="1000" dirty="0"/>
          </a:p>
        </p:txBody>
      </p:sp>
    </p:spTree>
    <p:extLst>
      <p:ext uri="{BB962C8B-B14F-4D97-AF65-F5344CB8AC3E}">
        <p14:creationId xmlns:p14="http://schemas.microsoft.com/office/powerpoint/2010/main" val="254283428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44017" y="91339"/>
            <a:ext cx="7401271" cy="385333"/>
          </a:xfrm>
          <a:prstGeom prst="rect">
            <a:avLst/>
          </a:prstGeom>
          <a:noFill/>
        </p:spPr>
        <p:txBody>
          <a:bodyPr wrap="square" lIns="0" tIns="53643" rIns="0" bIns="53643" rtlCol="0">
            <a:spAutoFit/>
          </a:bodyPr>
          <a:lstStyle/>
          <a:p>
            <a:r>
              <a:rPr kumimoji="1" lang="en-US" altLang="ko-KR" b="1" kern="0" dirty="0">
                <a:latin typeface="나눔고딕" panose="020D0604000000000000" pitchFamily="50" charset="-127"/>
                <a:ea typeface="나눔고딕" panose="020D0604000000000000" pitchFamily="50" charset="-127"/>
                <a:cs typeface="산돌고딕 M"/>
              </a:rPr>
              <a:t>User Interface Design</a:t>
            </a:r>
            <a:endParaRPr kumimoji="1" lang="ko-KR" altLang="en-US" b="1" kern="0" dirty="0">
              <a:latin typeface="나눔고딕" panose="020D0604000000000000" pitchFamily="50" charset="-127"/>
              <a:ea typeface="나눔고딕" panose="020D0604000000000000" pitchFamily="50" charset="-127"/>
              <a:cs typeface="산돌고딕 M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44017" y="683985"/>
            <a:ext cx="96335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Approach – framework (</a:t>
            </a:r>
            <a:r>
              <a:rPr lang="ko-KR" altLang="en-US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분석</a:t>
            </a:r>
            <a:r>
              <a:rPr lang="en-US" altLang="ko-KR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판단</a:t>
            </a:r>
            <a:r>
              <a:rPr lang="en-US" altLang="ko-KR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8504" y="991762"/>
            <a:ext cx="9217024" cy="738664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Research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와 분석을 통해 얻어진 초기 데이터를 평가하고 설계 과정에 평가 결과를 도입하기 위한 단계로써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사이트 리뉴얼 프로젝트에 </a:t>
            </a:r>
            <a:r>
              <a:rPr lang="ko-KR" altLang="en-US" sz="1400">
                <a:latin typeface="나눔고딕" panose="020D0604000000000000" pitchFamily="50" charset="-127"/>
                <a:ea typeface="나눔고딕" panose="020D0604000000000000" pitchFamily="50" charset="-127"/>
              </a:rPr>
              <a:t>적용되나 </a:t>
            </a:r>
            <a:r>
              <a:rPr lang="en" altLang="ko-KR" sz="1400">
                <a:latin typeface="나눔고딕" panose="020D0604000000000000" pitchFamily="50" charset="-127"/>
                <a:ea typeface="나눔고딕" panose="020D0604000000000000" pitchFamily="50" charset="-127"/>
              </a:rPr>
              <a:t>XXX</a:t>
            </a:r>
            <a:r>
              <a:rPr lang="ko-KR" altLang="en-US" sz="1400">
                <a:latin typeface="나눔고딕" panose="020D0604000000000000" pitchFamily="50" charset="-127"/>
                <a:ea typeface="나눔고딕" panose="020D0604000000000000" pitchFamily="50" charset="-127"/>
              </a:rPr>
              <a:t>서비스 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온라인 판매사이트 구축과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와 같은 새롭게 구성되고 </a:t>
            </a:r>
            <a:r>
              <a:rPr lang="ko-KR" altLang="en-US" sz="14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런칭되는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사이트에는 해당되지 않는 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approach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이다</a:t>
            </a:r>
          </a:p>
        </p:txBody>
      </p:sp>
      <p:sp>
        <p:nvSpPr>
          <p:cNvPr id="131" name="AutoShape 40"/>
          <p:cNvSpPr>
            <a:spLocks noChangeArrowheads="1"/>
          </p:cNvSpPr>
          <p:nvPr/>
        </p:nvSpPr>
        <p:spPr bwMode="auto">
          <a:xfrm>
            <a:off x="4664968" y="1933723"/>
            <a:ext cx="4608512" cy="4462463"/>
          </a:xfrm>
          <a:prstGeom prst="homePlate">
            <a:avLst>
              <a:gd name="adj" fmla="val 15463"/>
            </a:avLst>
          </a:prstGeom>
          <a:solidFill>
            <a:schemeClr val="bg1"/>
          </a:solidFill>
          <a:ln w="9525" algn="ctr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>
            <a:outerShdw dist="7184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>
            <a:noAutofit/>
          </a:bodyPr>
          <a:lstStyle/>
          <a:p>
            <a:pPr algn="ctr"/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46" name="Rectangle 55"/>
          <p:cNvSpPr>
            <a:spLocks noChangeArrowheads="1"/>
          </p:cNvSpPr>
          <p:nvPr/>
        </p:nvSpPr>
        <p:spPr bwMode="auto">
          <a:xfrm>
            <a:off x="2072680" y="6048523"/>
            <a:ext cx="2438400" cy="404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66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kumimoji="1" sz="33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9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5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1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1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kumimoji="1" sz="21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kumimoji="1" sz="21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kumimoji="1" sz="21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kumimoji="1" sz="21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r">
              <a:buFontTx/>
              <a:buNone/>
            </a:pPr>
            <a:r>
              <a:rPr lang="ko-KR" altLang="en-US" sz="1200" b="1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분석</a:t>
            </a:r>
            <a:r>
              <a:rPr lang="en-US" altLang="ko-KR" sz="1200" b="1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1200" b="1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판단</a:t>
            </a:r>
          </a:p>
        </p:txBody>
      </p:sp>
      <p:grpSp>
        <p:nvGrpSpPr>
          <p:cNvPr id="2" name="그룹 1"/>
          <p:cNvGrpSpPr/>
          <p:nvPr/>
        </p:nvGrpSpPr>
        <p:grpSpPr>
          <a:xfrm>
            <a:off x="265312" y="1883831"/>
            <a:ext cx="3535560" cy="1617177"/>
            <a:chOff x="632520" y="2204864"/>
            <a:chExt cx="8534400" cy="3903663"/>
          </a:xfrm>
        </p:grpSpPr>
        <p:sp>
          <p:nvSpPr>
            <p:cNvPr id="217" name="AutoShape 5"/>
            <p:cNvSpPr>
              <a:spLocks noChangeArrowheads="1"/>
            </p:cNvSpPr>
            <p:nvPr/>
          </p:nvSpPr>
          <p:spPr bwMode="auto">
            <a:xfrm>
              <a:off x="632520" y="2204864"/>
              <a:ext cx="874713" cy="565150"/>
            </a:xfrm>
            <a:prstGeom prst="flowChartDocumen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  <a:miter lim="800000"/>
              <a:headEnd/>
              <a:tailEnd type="none" w="med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noAutofit/>
            </a:bodyPr>
            <a:lstStyle/>
            <a:p>
              <a:pPr algn="ctr"/>
              <a:r>
                <a:rPr lang="ko-KR" altLang="en-US" sz="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계획수립</a:t>
              </a:r>
              <a:endParaRPr lang="en-US" altLang="ko-KR" sz="400" b="1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18" name="AutoShape 6"/>
            <p:cNvSpPr>
              <a:spLocks noChangeArrowheads="1"/>
            </p:cNvSpPr>
            <p:nvPr/>
          </p:nvSpPr>
          <p:spPr bwMode="auto">
            <a:xfrm>
              <a:off x="3023295" y="5656089"/>
              <a:ext cx="874713" cy="452438"/>
            </a:xfrm>
            <a:prstGeom prst="flowChartDocumen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  <a:miter lim="800000"/>
              <a:headEnd/>
              <a:tailEnd type="none" w="med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noAutofit/>
            </a:bodyPr>
            <a:lstStyle/>
            <a:p>
              <a:pPr algn="ctr"/>
              <a:r>
                <a:rPr lang="en-US" altLang="ko-KR" sz="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IA map</a:t>
              </a:r>
            </a:p>
          </p:txBody>
        </p:sp>
        <p:sp>
          <p:nvSpPr>
            <p:cNvPr id="219" name="Text Box 8"/>
            <p:cNvSpPr txBox="1">
              <a:spLocks noChangeArrowheads="1"/>
            </p:cNvSpPr>
            <p:nvPr/>
          </p:nvSpPr>
          <p:spPr bwMode="auto">
            <a:xfrm>
              <a:off x="1248470" y="2935114"/>
              <a:ext cx="1138238" cy="2143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noAutofit/>
            </a:bodyPr>
            <a:lstStyle/>
            <a:p>
              <a:pPr algn="r">
                <a:lnSpc>
                  <a:spcPct val="80000"/>
                </a:lnSpc>
              </a:pPr>
              <a:r>
                <a:rPr lang="ko-KR" altLang="en-US" sz="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정의</a:t>
              </a:r>
              <a:endParaRPr lang="en-US" altLang="ko-KR" sz="400" b="1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20" name="Text Box 10"/>
            <p:cNvSpPr txBox="1">
              <a:spLocks noChangeArrowheads="1"/>
            </p:cNvSpPr>
            <p:nvPr/>
          </p:nvSpPr>
          <p:spPr bwMode="auto">
            <a:xfrm>
              <a:off x="3528120" y="4300364"/>
              <a:ext cx="708025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noAutofit/>
            </a:bodyPr>
            <a:lstStyle/>
            <a:p>
              <a:pPr algn="r">
                <a:lnSpc>
                  <a:spcPct val="80000"/>
                </a:lnSpc>
              </a:pPr>
              <a:r>
                <a:rPr lang="ko-KR" altLang="en-US" sz="400" b="1">
                  <a:latin typeface="나눔고딕" panose="020D0604000000000000" pitchFamily="50" charset="-127"/>
                  <a:ea typeface="나눔고딕" panose="020D0604000000000000" pitchFamily="50" charset="-127"/>
                </a:rPr>
                <a:t>정보분석</a:t>
              </a:r>
              <a:endParaRPr lang="en-US" altLang="ko-KR" sz="400" b="1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21" name="Freeform 11"/>
            <p:cNvSpPr>
              <a:spLocks/>
            </p:cNvSpPr>
            <p:nvPr/>
          </p:nvSpPr>
          <p:spPr bwMode="auto">
            <a:xfrm>
              <a:off x="1507233" y="2385839"/>
              <a:ext cx="1092200" cy="363538"/>
            </a:xfrm>
            <a:custGeom>
              <a:avLst/>
              <a:gdLst>
                <a:gd name="T0" fmla="*/ 0 w 864"/>
                <a:gd name="T1" fmla="*/ 0 h 240"/>
                <a:gd name="T2" fmla="*/ 864 w 864"/>
                <a:gd name="T3" fmla="*/ 0 h 240"/>
                <a:gd name="T4" fmla="*/ 864 w 864"/>
                <a:gd name="T5" fmla="*/ 240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864" h="240">
                  <a:moveTo>
                    <a:pt x="0" y="0"/>
                  </a:moveTo>
                  <a:lnTo>
                    <a:pt x="864" y="0"/>
                  </a:lnTo>
                  <a:lnTo>
                    <a:pt x="864" y="240"/>
                  </a:lnTo>
                </a:path>
              </a:pathLst>
            </a:custGeom>
            <a:noFill/>
            <a:ln w="635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noAutofit/>
            </a:bodyPr>
            <a:lstStyle/>
            <a:p>
              <a:endParaRPr lang="ko-KR" altLang="en-US" sz="100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22" name="Freeform 12"/>
            <p:cNvSpPr>
              <a:spLocks/>
            </p:cNvSpPr>
            <p:nvPr/>
          </p:nvSpPr>
          <p:spPr bwMode="auto">
            <a:xfrm rot="5400000" flipV="1">
              <a:off x="2788345" y="3124027"/>
              <a:ext cx="585788" cy="1046162"/>
            </a:xfrm>
            <a:custGeom>
              <a:avLst/>
              <a:gdLst>
                <a:gd name="T0" fmla="*/ 0 w 864"/>
                <a:gd name="T1" fmla="*/ 0 h 240"/>
                <a:gd name="T2" fmla="*/ 864 w 864"/>
                <a:gd name="T3" fmla="*/ 0 h 240"/>
                <a:gd name="T4" fmla="*/ 864 w 864"/>
                <a:gd name="T5" fmla="*/ 240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864" h="240">
                  <a:moveTo>
                    <a:pt x="0" y="0"/>
                  </a:moveTo>
                  <a:lnTo>
                    <a:pt x="864" y="0"/>
                  </a:lnTo>
                  <a:lnTo>
                    <a:pt x="864" y="240"/>
                  </a:lnTo>
                </a:path>
              </a:pathLst>
            </a:custGeom>
            <a:noFill/>
            <a:ln w="635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noAutofit/>
            </a:bodyPr>
            <a:lstStyle/>
            <a:p>
              <a:endParaRPr lang="ko-KR" altLang="en-US" sz="100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23" name="Text Box 13"/>
            <p:cNvSpPr txBox="1">
              <a:spLocks noChangeArrowheads="1"/>
            </p:cNvSpPr>
            <p:nvPr/>
          </p:nvSpPr>
          <p:spPr bwMode="auto">
            <a:xfrm>
              <a:off x="4603304" y="3559002"/>
              <a:ext cx="1179240" cy="2444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noAutofit/>
            </a:bodyPr>
            <a:lstStyle/>
            <a:p>
              <a:pPr algn="r"/>
              <a:r>
                <a:rPr lang="ko-KR" altLang="en-US" sz="400" b="1">
                  <a:latin typeface="나눔고딕" panose="020D0604000000000000" pitchFamily="50" charset="-127"/>
                  <a:ea typeface="나눔고딕" panose="020D0604000000000000" pitchFamily="50" charset="-127"/>
                </a:rPr>
                <a:t>미가공</a:t>
              </a:r>
              <a:r>
                <a:rPr lang="ko-KR" altLang="en-US" sz="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 데이터 추출</a:t>
              </a:r>
              <a:endParaRPr lang="en-US" altLang="ko-KR" sz="400" b="1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grpSp>
          <p:nvGrpSpPr>
            <p:cNvPr id="224" name="Group 14"/>
            <p:cNvGrpSpPr>
              <a:grpSpLocks/>
            </p:cNvGrpSpPr>
            <p:nvPr/>
          </p:nvGrpSpPr>
          <p:grpSpPr bwMode="auto">
            <a:xfrm>
              <a:off x="4975920" y="2949402"/>
              <a:ext cx="433388" cy="577850"/>
              <a:chOff x="3625" y="2406"/>
              <a:chExt cx="413" cy="550"/>
            </a:xfrm>
          </p:grpSpPr>
          <p:sp>
            <p:nvSpPr>
              <p:cNvPr id="225" name="Rectangle 15"/>
              <p:cNvSpPr>
                <a:spLocks noChangeArrowheads="1"/>
              </p:cNvSpPr>
              <p:nvPr/>
            </p:nvSpPr>
            <p:spPr bwMode="auto">
              <a:xfrm>
                <a:off x="3625" y="2406"/>
                <a:ext cx="413" cy="550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rgbClr val="969696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 anchor="ctr">
                <a:noAutofit/>
              </a:bodyPr>
              <a:lstStyle/>
              <a:p>
                <a:endParaRPr lang="ko-KR" altLang="en-US" sz="100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226" name="Line 16"/>
              <p:cNvSpPr>
                <a:spLocks noChangeShapeType="1"/>
              </p:cNvSpPr>
              <p:nvPr/>
            </p:nvSpPr>
            <p:spPr bwMode="auto">
              <a:xfrm>
                <a:off x="3717" y="2498"/>
                <a:ext cx="229" cy="1"/>
              </a:xfrm>
              <a:prstGeom prst="line">
                <a:avLst/>
              </a:prstGeom>
              <a:noFill/>
              <a:ln w="6350">
                <a:solidFill>
                  <a:srgbClr val="969696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>
                <a:noAutofit/>
              </a:bodyPr>
              <a:lstStyle/>
              <a:p>
                <a:endParaRPr lang="ko-KR" altLang="en-US" sz="100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227" name="Line 17"/>
              <p:cNvSpPr>
                <a:spLocks noChangeShapeType="1"/>
              </p:cNvSpPr>
              <p:nvPr/>
            </p:nvSpPr>
            <p:spPr bwMode="auto">
              <a:xfrm>
                <a:off x="3717" y="2544"/>
                <a:ext cx="229" cy="1"/>
              </a:xfrm>
              <a:prstGeom prst="line">
                <a:avLst/>
              </a:prstGeom>
              <a:noFill/>
              <a:ln w="6350">
                <a:solidFill>
                  <a:srgbClr val="969696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>
                <a:noAutofit/>
              </a:bodyPr>
              <a:lstStyle/>
              <a:p>
                <a:endParaRPr lang="ko-KR" altLang="en-US" sz="100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228" name="Line 18"/>
              <p:cNvSpPr>
                <a:spLocks noChangeShapeType="1"/>
              </p:cNvSpPr>
              <p:nvPr/>
            </p:nvSpPr>
            <p:spPr bwMode="auto">
              <a:xfrm>
                <a:off x="3717" y="2590"/>
                <a:ext cx="229" cy="1"/>
              </a:xfrm>
              <a:prstGeom prst="line">
                <a:avLst/>
              </a:prstGeom>
              <a:noFill/>
              <a:ln w="6350">
                <a:solidFill>
                  <a:srgbClr val="969696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>
                <a:noAutofit/>
              </a:bodyPr>
              <a:lstStyle/>
              <a:p>
                <a:endParaRPr lang="ko-KR" altLang="en-US" sz="100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229" name="Line 19"/>
              <p:cNvSpPr>
                <a:spLocks noChangeShapeType="1"/>
              </p:cNvSpPr>
              <p:nvPr/>
            </p:nvSpPr>
            <p:spPr bwMode="auto">
              <a:xfrm>
                <a:off x="3717" y="2636"/>
                <a:ext cx="229" cy="1"/>
              </a:xfrm>
              <a:prstGeom prst="line">
                <a:avLst/>
              </a:prstGeom>
              <a:noFill/>
              <a:ln w="6350">
                <a:solidFill>
                  <a:srgbClr val="969696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>
                <a:noAutofit/>
              </a:bodyPr>
              <a:lstStyle/>
              <a:p>
                <a:endParaRPr lang="ko-KR" altLang="en-US" sz="100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230" name="Line 20"/>
              <p:cNvSpPr>
                <a:spLocks noChangeShapeType="1"/>
              </p:cNvSpPr>
              <p:nvPr/>
            </p:nvSpPr>
            <p:spPr bwMode="auto">
              <a:xfrm>
                <a:off x="3717" y="2682"/>
                <a:ext cx="229" cy="1"/>
              </a:xfrm>
              <a:prstGeom prst="line">
                <a:avLst/>
              </a:prstGeom>
              <a:noFill/>
              <a:ln w="6350">
                <a:solidFill>
                  <a:srgbClr val="969696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>
                <a:noAutofit/>
              </a:bodyPr>
              <a:lstStyle/>
              <a:p>
                <a:endParaRPr lang="ko-KR" altLang="en-US" sz="100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231" name="Line 21"/>
              <p:cNvSpPr>
                <a:spLocks noChangeShapeType="1"/>
              </p:cNvSpPr>
              <p:nvPr/>
            </p:nvSpPr>
            <p:spPr bwMode="auto">
              <a:xfrm>
                <a:off x="3717" y="2728"/>
                <a:ext cx="229" cy="1"/>
              </a:xfrm>
              <a:prstGeom prst="line">
                <a:avLst/>
              </a:prstGeom>
              <a:noFill/>
              <a:ln w="6350">
                <a:solidFill>
                  <a:srgbClr val="969696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>
                <a:noAutofit/>
              </a:bodyPr>
              <a:lstStyle/>
              <a:p>
                <a:endParaRPr lang="ko-KR" altLang="en-US" sz="100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232" name="Line 22"/>
              <p:cNvSpPr>
                <a:spLocks noChangeShapeType="1"/>
              </p:cNvSpPr>
              <p:nvPr/>
            </p:nvSpPr>
            <p:spPr bwMode="auto">
              <a:xfrm>
                <a:off x="3717" y="2774"/>
                <a:ext cx="229" cy="1"/>
              </a:xfrm>
              <a:prstGeom prst="line">
                <a:avLst/>
              </a:prstGeom>
              <a:noFill/>
              <a:ln w="6350">
                <a:solidFill>
                  <a:srgbClr val="969696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>
                <a:noAutofit/>
              </a:bodyPr>
              <a:lstStyle/>
              <a:p>
                <a:endParaRPr lang="ko-KR" altLang="en-US" sz="100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233" name="Line 23"/>
              <p:cNvSpPr>
                <a:spLocks noChangeShapeType="1"/>
              </p:cNvSpPr>
              <p:nvPr/>
            </p:nvSpPr>
            <p:spPr bwMode="auto">
              <a:xfrm>
                <a:off x="3717" y="2819"/>
                <a:ext cx="229" cy="1"/>
              </a:xfrm>
              <a:prstGeom prst="line">
                <a:avLst/>
              </a:prstGeom>
              <a:noFill/>
              <a:ln w="6350">
                <a:solidFill>
                  <a:srgbClr val="969696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>
                <a:noAutofit/>
              </a:bodyPr>
              <a:lstStyle/>
              <a:p>
                <a:endParaRPr lang="ko-KR" altLang="en-US" sz="100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234" name="Line 24"/>
              <p:cNvSpPr>
                <a:spLocks noChangeShapeType="1"/>
              </p:cNvSpPr>
              <p:nvPr/>
            </p:nvSpPr>
            <p:spPr bwMode="auto">
              <a:xfrm>
                <a:off x="3717" y="2865"/>
                <a:ext cx="229" cy="1"/>
              </a:xfrm>
              <a:prstGeom prst="line">
                <a:avLst/>
              </a:prstGeom>
              <a:noFill/>
              <a:ln w="6350">
                <a:solidFill>
                  <a:srgbClr val="969696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>
                <a:noAutofit/>
              </a:bodyPr>
              <a:lstStyle/>
              <a:p>
                <a:endParaRPr lang="ko-KR" altLang="en-US" sz="100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p:grpSp>
        <p:sp>
          <p:nvSpPr>
            <p:cNvPr id="235" name="Line 25"/>
            <p:cNvSpPr>
              <a:spLocks noChangeShapeType="1"/>
            </p:cNvSpPr>
            <p:nvPr/>
          </p:nvSpPr>
          <p:spPr bwMode="auto">
            <a:xfrm flipV="1">
              <a:off x="4442520" y="3254202"/>
              <a:ext cx="381000" cy="530225"/>
            </a:xfrm>
            <a:prstGeom prst="line">
              <a:avLst/>
            </a:prstGeom>
            <a:noFill/>
            <a:ln w="6350">
              <a:solidFill>
                <a:schemeClr val="accent2"/>
              </a:solidFill>
              <a:round/>
              <a:headEnd/>
              <a:tailEnd type="triangl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noAutofit/>
            </a:bodyPr>
            <a:lstStyle/>
            <a:p>
              <a:endParaRPr lang="ko-KR" altLang="en-US" sz="100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36" name="Text Box 27"/>
            <p:cNvSpPr txBox="1">
              <a:spLocks noChangeArrowheads="1"/>
            </p:cNvSpPr>
            <p:nvPr/>
          </p:nvSpPr>
          <p:spPr bwMode="auto">
            <a:xfrm>
              <a:off x="6336408" y="4408314"/>
              <a:ext cx="1311275" cy="2746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noAutofit/>
            </a:bodyPr>
            <a:lstStyle/>
            <a:p>
              <a:pPr algn="r"/>
              <a:r>
                <a:rPr lang="ko-KR" altLang="en-US" sz="7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세부기획</a:t>
              </a:r>
              <a:endParaRPr lang="en-US" altLang="ko-KR" sz="700" b="1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37" name="Line 28"/>
            <p:cNvSpPr>
              <a:spLocks noChangeShapeType="1"/>
            </p:cNvSpPr>
            <p:nvPr/>
          </p:nvSpPr>
          <p:spPr bwMode="auto">
            <a:xfrm flipV="1">
              <a:off x="5661720" y="4092402"/>
              <a:ext cx="1066800" cy="457200"/>
            </a:xfrm>
            <a:prstGeom prst="line">
              <a:avLst/>
            </a:prstGeom>
            <a:noFill/>
            <a:ln w="6350">
              <a:solidFill>
                <a:schemeClr val="accent2"/>
              </a:solidFill>
              <a:round/>
              <a:headEnd/>
              <a:tailEnd type="triangl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noAutofit/>
            </a:bodyPr>
            <a:lstStyle/>
            <a:p>
              <a:endParaRPr lang="ko-KR" altLang="en-US" sz="100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38" name="Freeform 29"/>
            <p:cNvSpPr>
              <a:spLocks/>
            </p:cNvSpPr>
            <p:nvPr/>
          </p:nvSpPr>
          <p:spPr bwMode="auto">
            <a:xfrm flipV="1">
              <a:off x="3910708" y="4778202"/>
              <a:ext cx="3351212" cy="1030287"/>
            </a:xfrm>
            <a:custGeom>
              <a:avLst/>
              <a:gdLst>
                <a:gd name="T0" fmla="*/ 0 w 864"/>
                <a:gd name="T1" fmla="*/ 0 h 240"/>
                <a:gd name="T2" fmla="*/ 864 w 864"/>
                <a:gd name="T3" fmla="*/ 0 h 240"/>
                <a:gd name="T4" fmla="*/ 864 w 864"/>
                <a:gd name="T5" fmla="*/ 240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864" h="240">
                  <a:moveTo>
                    <a:pt x="0" y="0"/>
                  </a:moveTo>
                  <a:lnTo>
                    <a:pt x="864" y="0"/>
                  </a:lnTo>
                  <a:lnTo>
                    <a:pt x="864" y="240"/>
                  </a:lnTo>
                </a:path>
              </a:pathLst>
            </a:custGeom>
            <a:noFill/>
            <a:ln w="635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noAutofit/>
            </a:bodyPr>
            <a:lstStyle/>
            <a:p>
              <a:endParaRPr lang="ko-KR" altLang="en-US" sz="100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39" name="Text Box 31"/>
            <p:cNvSpPr txBox="1">
              <a:spLocks noChangeArrowheads="1"/>
            </p:cNvSpPr>
            <p:nvPr/>
          </p:nvSpPr>
          <p:spPr bwMode="auto">
            <a:xfrm>
              <a:off x="7917558" y="4271789"/>
              <a:ext cx="1020762" cy="2143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noAutofit/>
            </a:bodyPr>
            <a:lstStyle/>
            <a:p>
              <a:pPr algn="r">
                <a:lnSpc>
                  <a:spcPct val="80000"/>
                </a:lnSpc>
              </a:pPr>
              <a:r>
                <a:rPr lang="ko-KR" altLang="en-US" sz="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확인단계</a:t>
              </a:r>
              <a:endParaRPr lang="en-US" altLang="ko-KR" sz="400" b="1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40" name="Line 32"/>
            <p:cNvSpPr>
              <a:spLocks noChangeShapeType="1"/>
            </p:cNvSpPr>
            <p:nvPr/>
          </p:nvSpPr>
          <p:spPr bwMode="auto">
            <a:xfrm>
              <a:off x="7847708" y="3936827"/>
              <a:ext cx="590550" cy="1587"/>
            </a:xfrm>
            <a:prstGeom prst="line">
              <a:avLst/>
            </a:prstGeom>
            <a:noFill/>
            <a:ln w="6350">
              <a:solidFill>
                <a:schemeClr val="accent2"/>
              </a:solidFill>
              <a:round/>
              <a:headEnd/>
              <a:tailEnd type="triangl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noAutofit/>
            </a:bodyPr>
            <a:lstStyle/>
            <a:p>
              <a:endParaRPr lang="ko-KR" altLang="en-US" sz="100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41" name="Text Box 34"/>
            <p:cNvSpPr txBox="1">
              <a:spLocks noChangeArrowheads="1"/>
            </p:cNvSpPr>
            <p:nvPr/>
          </p:nvSpPr>
          <p:spPr bwMode="auto">
            <a:xfrm>
              <a:off x="4144070" y="4982989"/>
              <a:ext cx="1311275" cy="2143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noAutofit/>
            </a:bodyPr>
            <a:lstStyle/>
            <a:p>
              <a:pPr algn="r">
                <a:lnSpc>
                  <a:spcPct val="80000"/>
                </a:lnSpc>
              </a:pPr>
              <a:r>
                <a:rPr lang="ko-KR" altLang="en-US" sz="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분석</a:t>
              </a:r>
              <a:r>
                <a:rPr lang="en-US" altLang="ko-KR" sz="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/</a:t>
              </a:r>
              <a:r>
                <a:rPr lang="ko-KR" altLang="en-US" sz="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판단</a:t>
              </a:r>
              <a:endParaRPr lang="en-US" altLang="ko-KR" sz="400" b="1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42" name="Line 35"/>
            <p:cNvSpPr>
              <a:spLocks noChangeShapeType="1"/>
            </p:cNvSpPr>
            <p:nvPr/>
          </p:nvSpPr>
          <p:spPr bwMode="auto">
            <a:xfrm>
              <a:off x="5204520" y="3860627"/>
              <a:ext cx="0" cy="307975"/>
            </a:xfrm>
            <a:prstGeom prst="line">
              <a:avLst/>
            </a:prstGeom>
            <a:noFill/>
            <a:ln w="6350">
              <a:solidFill>
                <a:schemeClr val="accent2"/>
              </a:solidFill>
              <a:round/>
              <a:headEnd/>
              <a:tailEnd type="triangl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noAutofit/>
            </a:bodyPr>
            <a:lstStyle/>
            <a:p>
              <a:endParaRPr lang="ko-KR" altLang="en-US" sz="100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43" name="AutoShape 36"/>
            <p:cNvSpPr>
              <a:spLocks noChangeArrowheads="1"/>
            </p:cNvSpPr>
            <p:nvPr/>
          </p:nvSpPr>
          <p:spPr bwMode="auto">
            <a:xfrm>
              <a:off x="3528120" y="2227089"/>
              <a:ext cx="874713" cy="452438"/>
            </a:xfrm>
            <a:prstGeom prst="flowChartDocumen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  <a:miter lim="800000"/>
              <a:headEnd/>
              <a:tailEnd type="none" w="med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noAutofit/>
            </a:bodyPr>
            <a:lstStyle/>
            <a:p>
              <a:pPr algn="ctr"/>
              <a:r>
                <a:rPr lang="ko-KR" altLang="en-US" sz="400" b="1" dirty="0" err="1">
                  <a:latin typeface="나눔고딕" panose="020D0604000000000000" pitchFamily="50" charset="-127"/>
                  <a:ea typeface="나눔고딕" panose="020D0604000000000000" pitchFamily="50" charset="-127"/>
                </a:rPr>
                <a:t>컨텐츠</a:t>
              </a:r>
              <a:endParaRPr lang="en-US" altLang="ko-KR" sz="400" b="1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44" name="Line 37"/>
            <p:cNvSpPr>
              <a:spLocks noChangeShapeType="1"/>
            </p:cNvSpPr>
            <p:nvPr/>
          </p:nvSpPr>
          <p:spPr bwMode="auto">
            <a:xfrm>
              <a:off x="4061520" y="2760489"/>
              <a:ext cx="0" cy="762000"/>
            </a:xfrm>
            <a:prstGeom prst="line">
              <a:avLst/>
            </a:prstGeom>
            <a:noFill/>
            <a:ln w="6350">
              <a:solidFill>
                <a:schemeClr val="accent2"/>
              </a:solidFill>
              <a:round/>
              <a:headEnd/>
              <a:tailEnd type="triangl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noAutofit/>
            </a:bodyPr>
            <a:lstStyle/>
            <a:p>
              <a:endParaRPr lang="ko-KR" altLang="en-US" sz="100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45" name="Arc 38"/>
            <p:cNvSpPr>
              <a:spLocks/>
            </p:cNvSpPr>
            <p:nvPr/>
          </p:nvSpPr>
          <p:spPr bwMode="auto">
            <a:xfrm rot="9054098" flipH="1" flipV="1">
              <a:off x="7723883" y="2989089"/>
              <a:ext cx="1443037" cy="795338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35214"/>
                <a:gd name="T2" fmla="*/ 16770 w 21600"/>
                <a:gd name="T3" fmla="*/ 35214 h 35214"/>
                <a:gd name="T4" fmla="*/ 0 w 21600"/>
                <a:gd name="T5" fmla="*/ 21600 h 352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35214" fill="none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26557"/>
                    <a:pt x="19894" y="31364"/>
                    <a:pt x="16769" y="35213"/>
                  </a:cubicBezTo>
                </a:path>
                <a:path w="21600" h="35214" stroke="0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26557"/>
                    <a:pt x="19894" y="31364"/>
                    <a:pt x="16769" y="35213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6350">
              <a:solidFill>
                <a:srgbClr val="969696"/>
              </a:solidFill>
              <a:round/>
              <a:headEnd type="triangle" w="med" len="med"/>
              <a:tailEnd type="none" w="med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noAutofit/>
            </a:bodyPr>
            <a:lstStyle/>
            <a:p>
              <a:endParaRPr lang="ko-KR" altLang="en-US" sz="100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46" name="정육면체 245"/>
            <p:cNvSpPr/>
            <p:nvPr/>
          </p:nvSpPr>
          <p:spPr>
            <a:xfrm>
              <a:off x="2340670" y="2775111"/>
              <a:ext cx="452090" cy="509873"/>
            </a:xfrm>
            <a:prstGeom prst="cube">
              <a:avLst/>
            </a:prstGeom>
            <a:solidFill>
              <a:schemeClr val="bg1">
                <a:lumMod val="7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4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47" name="정육면체 246"/>
            <p:cNvSpPr/>
            <p:nvPr/>
          </p:nvSpPr>
          <p:spPr>
            <a:xfrm>
              <a:off x="3756720" y="3644727"/>
              <a:ext cx="548208" cy="655923"/>
            </a:xfrm>
            <a:prstGeom prst="cube">
              <a:avLst/>
            </a:prstGeom>
            <a:solidFill>
              <a:schemeClr val="bg1">
                <a:lumMod val="7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4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48" name="정육면체 247"/>
            <p:cNvSpPr/>
            <p:nvPr/>
          </p:nvSpPr>
          <p:spPr>
            <a:xfrm>
              <a:off x="4960776" y="4300364"/>
              <a:ext cx="548208" cy="655923"/>
            </a:xfrm>
            <a:prstGeom prst="cube">
              <a:avLst/>
            </a:prstGeom>
            <a:solidFill>
              <a:srgbClr val="FFC000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4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49" name="정육면체 248"/>
            <p:cNvSpPr/>
            <p:nvPr/>
          </p:nvSpPr>
          <p:spPr>
            <a:xfrm>
              <a:off x="6964362" y="3432695"/>
              <a:ext cx="724941" cy="1013719"/>
            </a:xfrm>
            <a:prstGeom prst="cube">
              <a:avLst/>
            </a:prstGeom>
            <a:solidFill>
              <a:schemeClr val="bg1">
                <a:lumMod val="7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4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50" name="정육면체 249"/>
            <p:cNvSpPr/>
            <p:nvPr/>
          </p:nvSpPr>
          <p:spPr>
            <a:xfrm>
              <a:off x="8605675" y="3681890"/>
              <a:ext cx="452090" cy="509873"/>
            </a:xfrm>
            <a:prstGeom prst="cube">
              <a:avLst/>
            </a:prstGeom>
            <a:solidFill>
              <a:schemeClr val="bg1">
                <a:lumMod val="7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4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sp>
        <p:nvSpPr>
          <p:cNvPr id="75" name="Freeform 54"/>
          <p:cNvSpPr>
            <a:spLocks/>
          </p:cNvSpPr>
          <p:nvPr/>
        </p:nvSpPr>
        <p:spPr bwMode="auto">
          <a:xfrm>
            <a:off x="2154428" y="3163301"/>
            <a:ext cx="2438531" cy="1132621"/>
          </a:xfrm>
          <a:custGeom>
            <a:avLst/>
            <a:gdLst>
              <a:gd name="T0" fmla="*/ 0 w 2736"/>
              <a:gd name="T1" fmla="*/ 0 h 1200"/>
              <a:gd name="T2" fmla="*/ 0 w 2736"/>
              <a:gd name="T3" fmla="*/ 1200 h 1200"/>
              <a:gd name="T4" fmla="*/ 2736 w 2736"/>
              <a:gd name="T5" fmla="*/ 1200 h 12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736" h="1200">
                <a:moveTo>
                  <a:pt x="0" y="0"/>
                </a:moveTo>
                <a:lnTo>
                  <a:pt x="0" y="1200"/>
                </a:lnTo>
                <a:lnTo>
                  <a:pt x="2736" y="1200"/>
                </a:lnTo>
              </a:path>
            </a:pathLst>
          </a:custGeom>
          <a:noFill/>
          <a:ln w="28575" cap="flat" cmpd="sng">
            <a:solidFill>
              <a:srgbClr val="969696"/>
            </a:solidFill>
            <a:prstDash val="sysDot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1" name="Rectangle 40"/>
          <p:cNvSpPr>
            <a:spLocks noChangeArrowheads="1"/>
          </p:cNvSpPr>
          <p:nvPr/>
        </p:nvSpPr>
        <p:spPr bwMode="auto">
          <a:xfrm>
            <a:off x="4953000" y="2823244"/>
            <a:ext cx="1228827" cy="295466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kumimoji="1" lang="en-US" altLang="ko-KR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Scoring</a:t>
            </a:r>
          </a:p>
        </p:txBody>
      </p:sp>
      <p:sp>
        <p:nvSpPr>
          <p:cNvPr id="72" name="Rectangle 41"/>
          <p:cNvSpPr>
            <a:spLocks noChangeArrowheads="1"/>
          </p:cNvSpPr>
          <p:nvPr/>
        </p:nvSpPr>
        <p:spPr bwMode="auto">
          <a:xfrm>
            <a:off x="4959350" y="5196557"/>
            <a:ext cx="1217786" cy="295466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kumimoji="1" lang="en-US" altLang="ko-KR" sz="1200" b="1">
                <a:latin typeface="나눔고딕" panose="020D0604000000000000" pitchFamily="50" charset="-127"/>
                <a:ea typeface="나눔고딕" panose="020D0604000000000000" pitchFamily="50" charset="-127"/>
              </a:rPr>
              <a:t>Finding</a:t>
            </a:r>
          </a:p>
        </p:txBody>
      </p:sp>
      <p:sp>
        <p:nvSpPr>
          <p:cNvPr id="73" name="Rectangle 42"/>
          <p:cNvSpPr>
            <a:spLocks noChangeArrowheads="1"/>
          </p:cNvSpPr>
          <p:nvPr/>
        </p:nvSpPr>
        <p:spPr bwMode="auto">
          <a:xfrm>
            <a:off x="5908675" y="3529036"/>
            <a:ext cx="2652713" cy="1268116"/>
          </a:xfrm>
          <a:prstGeom prst="rect">
            <a:avLst/>
          </a:prstGeom>
          <a:solidFill>
            <a:srgbClr val="FFFFCC"/>
          </a:solidFill>
          <a:ln w="28575" algn="ctr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anchor="ctr">
            <a:noAutofit/>
          </a:bodyPr>
          <a:lstStyle/>
          <a:p>
            <a:pPr marL="85725" indent="-85725">
              <a:lnSpc>
                <a:spcPct val="90000"/>
              </a:lnSpc>
              <a:spcBef>
                <a:spcPct val="50000"/>
              </a:spcBef>
              <a:buClr>
                <a:schemeClr val="accent1"/>
              </a:buClr>
              <a:buFont typeface="Wingdings" pitchFamily="2" charset="2"/>
              <a:buNone/>
              <a:tabLst>
                <a:tab pos="85725" algn="l"/>
              </a:tabLst>
            </a:pPr>
            <a:r>
              <a:rPr kumimoji="1" lang="en-US" altLang="ko-KR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4 Factors of Website Quality</a:t>
            </a:r>
          </a:p>
          <a:p>
            <a:pPr marL="85725" indent="-85725">
              <a:lnSpc>
                <a:spcPct val="90000"/>
              </a:lnSpc>
              <a:spcBef>
                <a:spcPct val="50000"/>
              </a:spcBef>
              <a:buClr>
                <a:schemeClr val="accent1"/>
              </a:buClr>
              <a:buFont typeface="Arial" charset="0"/>
              <a:buChar char="•"/>
              <a:tabLst>
                <a:tab pos="85725" algn="l"/>
              </a:tabLst>
            </a:pPr>
            <a:r>
              <a:rPr kumimoji="1"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User Interface</a:t>
            </a:r>
          </a:p>
          <a:p>
            <a:pPr marL="85725" indent="-85725">
              <a:lnSpc>
                <a:spcPct val="90000"/>
              </a:lnSpc>
              <a:spcBef>
                <a:spcPct val="50000"/>
              </a:spcBef>
              <a:buClr>
                <a:schemeClr val="accent1"/>
              </a:buClr>
              <a:buFont typeface="Arial" charset="0"/>
              <a:buChar char="•"/>
              <a:tabLst>
                <a:tab pos="85725" algn="l"/>
              </a:tabLst>
            </a:pPr>
            <a:r>
              <a:rPr kumimoji="1"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Information Architecture </a:t>
            </a:r>
          </a:p>
          <a:p>
            <a:pPr marL="85725" indent="-85725">
              <a:lnSpc>
                <a:spcPct val="90000"/>
              </a:lnSpc>
              <a:spcBef>
                <a:spcPct val="50000"/>
              </a:spcBef>
              <a:buClr>
                <a:schemeClr val="accent1"/>
              </a:buClr>
              <a:buFont typeface="Arial" charset="0"/>
              <a:buChar char="•"/>
              <a:tabLst>
                <a:tab pos="85725" algn="l"/>
              </a:tabLst>
            </a:pPr>
            <a:r>
              <a:rPr kumimoji="1"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Process</a:t>
            </a:r>
          </a:p>
          <a:p>
            <a:pPr marL="85725" indent="-85725">
              <a:lnSpc>
                <a:spcPct val="90000"/>
              </a:lnSpc>
              <a:spcBef>
                <a:spcPct val="50000"/>
              </a:spcBef>
              <a:buClr>
                <a:schemeClr val="accent1"/>
              </a:buClr>
              <a:buFont typeface="Arial" charset="0"/>
              <a:buChar char="•"/>
              <a:tabLst>
                <a:tab pos="85725" algn="l"/>
              </a:tabLst>
            </a:pPr>
            <a:r>
              <a:rPr kumimoji="1"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Content </a:t>
            </a:r>
          </a:p>
        </p:txBody>
      </p:sp>
      <p:cxnSp>
        <p:nvCxnSpPr>
          <p:cNvPr id="74" name="AutoShape 43"/>
          <p:cNvCxnSpPr>
            <a:cxnSpLocks noChangeShapeType="1"/>
            <a:stCxn id="71" idx="3"/>
            <a:endCxn id="73" idx="0"/>
          </p:cNvCxnSpPr>
          <p:nvPr/>
        </p:nvCxnSpPr>
        <p:spPr bwMode="auto">
          <a:xfrm>
            <a:off x="6181827" y="2970977"/>
            <a:ext cx="1053205" cy="558059"/>
          </a:xfrm>
          <a:prstGeom prst="bentConnector2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8" name="AutoShape 44"/>
          <p:cNvCxnSpPr>
            <a:cxnSpLocks noChangeShapeType="1"/>
            <a:stCxn id="72" idx="3"/>
            <a:endCxn id="73" idx="2"/>
          </p:cNvCxnSpPr>
          <p:nvPr/>
        </p:nvCxnSpPr>
        <p:spPr bwMode="auto">
          <a:xfrm flipV="1">
            <a:off x="6177136" y="4797152"/>
            <a:ext cx="1057896" cy="547138"/>
          </a:xfrm>
          <a:prstGeom prst="bentConnector2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" name="TextBox 9"/>
          <p:cNvSpPr txBox="1"/>
          <p:nvPr/>
        </p:nvSpPr>
        <p:spPr>
          <a:xfrm>
            <a:off x="4953000" y="2348880"/>
            <a:ext cx="16417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Quantitative Assessment</a:t>
            </a:r>
          </a:p>
          <a:p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전량 평가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sz="1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4953000" y="5589240"/>
            <a:ext cx="16417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Quantitative Assessment</a:t>
            </a:r>
          </a:p>
          <a:p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전량 평가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sz="1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4146534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44017" y="91339"/>
            <a:ext cx="7401271" cy="385333"/>
          </a:xfrm>
          <a:prstGeom prst="rect">
            <a:avLst/>
          </a:prstGeom>
          <a:noFill/>
        </p:spPr>
        <p:txBody>
          <a:bodyPr wrap="square" lIns="0" tIns="53643" rIns="0" bIns="53643" rtlCol="0">
            <a:spAutoFit/>
          </a:bodyPr>
          <a:lstStyle/>
          <a:p>
            <a:r>
              <a:rPr kumimoji="1" lang="en-US" altLang="ko-KR" b="1" kern="0" dirty="0">
                <a:latin typeface="나눔고딕" panose="020D0604000000000000" pitchFamily="50" charset="-127"/>
                <a:ea typeface="나눔고딕" panose="020D0604000000000000" pitchFamily="50" charset="-127"/>
                <a:cs typeface="산돌고딕 M"/>
              </a:rPr>
              <a:t>User Interface Design</a:t>
            </a:r>
            <a:endParaRPr kumimoji="1" lang="ko-KR" altLang="en-US" b="1" kern="0" dirty="0">
              <a:latin typeface="나눔고딕" panose="020D0604000000000000" pitchFamily="50" charset="-127"/>
              <a:ea typeface="나눔고딕" panose="020D0604000000000000" pitchFamily="50" charset="-127"/>
              <a:cs typeface="산돌고딕 M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44017" y="683985"/>
            <a:ext cx="96335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Approach – framework (</a:t>
            </a:r>
            <a:r>
              <a:rPr lang="ko-KR" altLang="en-US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세부기획</a:t>
            </a:r>
            <a:r>
              <a:rPr lang="en-US" altLang="ko-KR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8504" y="991762"/>
            <a:ext cx="9217024" cy="523220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준비된 자원을 구조적으로 정리 함으로써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최종 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U.I / U.X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로 전개되는 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systematic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한 접근입니다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각 세부 항목은 별도의 모델링 방법을 통해 설계하게 되며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산출물은 화면설계도와 함께 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working model</a:t>
            </a:r>
            <a:r>
              <a:rPr lang="ko-KR" altLang="en-US" sz="14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로써의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Mock-up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입니다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31" name="AutoShape 40"/>
          <p:cNvSpPr>
            <a:spLocks noChangeArrowheads="1"/>
          </p:cNvSpPr>
          <p:nvPr/>
        </p:nvSpPr>
        <p:spPr bwMode="auto">
          <a:xfrm>
            <a:off x="4088904" y="1933723"/>
            <a:ext cx="5616624" cy="4462463"/>
          </a:xfrm>
          <a:prstGeom prst="homePlate">
            <a:avLst>
              <a:gd name="adj" fmla="val 6377"/>
            </a:avLst>
          </a:prstGeom>
          <a:solidFill>
            <a:schemeClr val="bg1"/>
          </a:solidFill>
          <a:ln w="9525" algn="ctr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>
            <a:outerShdw dist="7184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>
            <a:noAutofit/>
          </a:bodyPr>
          <a:lstStyle/>
          <a:p>
            <a:pPr algn="ctr"/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46" name="Rectangle 55"/>
          <p:cNvSpPr>
            <a:spLocks noChangeArrowheads="1"/>
          </p:cNvSpPr>
          <p:nvPr/>
        </p:nvSpPr>
        <p:spPr bwMode="auto">
          <a:xfrm>
            <a:off x="1640632" y="6048523"/>
            <a:ext cx="2438400" cy="404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66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kumimoji="1" sz="33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9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5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1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1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kumimoji="1" sz="21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kumimoji="1" sz="21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kumimoji="1" sz="21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kumimoji="1" sz="21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r">
              <a:buFontTx/>
              <a:buNone/>
            </a:pPr>
            <a:r>
              <a:rPr lang="ko-KR" altLang="en-US" sz="1200" b="1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세부기획</a:t>
            </a:r>
          </a:p>
        </p:txBody>
      </p:sp>
      <p:grpSp>
        <p:nvGrpSpPr>
          <p:cNvPr id="2" name="그룹 1"/>
          <p:cNvGrpSpPr/>
          <p:nvPr/>
        </p:nvGrpSpPr>
        <p:grpSpPr>
          <a:xfrm>
            <a:off x="265312" y="1883831"/>
            <a:ext cx="3535560" cy="1617177"/>
            <a:chOff x="632520" y="2204864"/>
            <a:chExt cx="8534400" cy="3903663"/>
          </a:xfrm>
        </p:grpSpPr>
        <p:sp>
          <p:nvSpPr>
            <p:cNvPr id="217" name="AutoShape 5"/>
            <p:cNvSpPr>
              <a:spLocks noChangeArrowheads="1"/>
            </p:cNvSpPr>
            <p:nvPr/>
          </p:nvSpPr>
          <p:spPr bwMode="auto">
            <a:xfrm>
              <a:off x="632520" y="2204864"/>
              <a:ext cx="874713" cy="565150"/>
            </a:xfrm>
            <a:prstGeom prst="flowChartDocumen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  <a:miter lim="800000"/>
              <a:headEnd/>
              <a:tailEnd type="none" w="med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noAutofit/>
            </a:bodyPr>
            <a:lstStyle/>
            <a:p>
              <a:pPr algn="ctr"/>
              <a:r>
                <a:rPr lang="ko-KR" altLang="en-US" sz="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계획수립</a:t>
              </a:r>
              <a:endParaRPr lang="en-US" altLang="ko-KR" sz="400" b="1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18" name="AutoShape 6"/>
            <p:cNvSpPr>
              <a:spLocks noChangeArrowheads="1"/>
            </p:cNvSpPr>
            <p:nvPr/>
          </p:nvSpPr>
          <p:spPr bwMode="auto">
            <a:xfrm>
              <a:off x="3023295" y="5656089"/>
              <a:ext cx="874713" cy="452438"/>
            </a:xfrm>
            <a:prstGeom prst="flowChartDocumen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  <a:miter lim="800000"/>
              <a:headEnd/>
              <a:tailEnd type="none" w="med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noAutofit/>
            </a:bodyPr>
            <a:lstStyle/>
            <a:p>
              <a:pPr algn="ctr"/>
              <a:r>
                <a:rPr lang="en-US" altLang="ko-KR" sz="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IA map</a:t>
              </a:r>
            </a:p>
          </p:txBody>
        </p:sp>
        <p:sp>
          <p:nvSpPr>
            <p:cNvPr id="219" name="Text Box 8"/>
            <p:cNvSpPr txBox="1">
              <a:spLocks noChangeArrowheads="1"/>
            </p:cNvSpPr>
            <p:nvPr/>
          </p:nvSpPr>
          <p:spPr bwMode="auto">
            <a:xfrm>
              <a:off x="1248470" y="2935114"/>
              <a:ext cx="1138238" cy="2143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noAutofit/>
            </a:bodyPr>
            <a:lstStyle/>
            <a:p>
              <a:pPr algn="r">
                <a:lnSpc>
                  <a:spcPct val="80000"/>
                </a:lnSpc>
              </a:pPr>
              <a:r>
                <a:rPr lang="ko-KR" altLang="en-US" sz="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정의</a:t>
              </a:r>
              <a:endParaRPr lang="en-US" altLang="ko-KR" sz="400" b="1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20" name="Text Box 10"/>
            <p:cNvSpPr txBox="1">
              <a:spLocks noChangeArrowheads="1"/>
            </p:cNvSpPr>
            <p:nvPr/>
          </p:nvSpPr>
          <p:spPr bwMode="auto">
            <a:xfrm>
              <a:off x="3528120" y="4300364"/>
              <a:ext cx="708025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noAutofit/>
            </a:bodyPr>
            <a:lstStyle/>
            <a:p>
              <a:pPr algn="r">
                <a:lnSpc>
                  <a:spcPct val="80000"/>
                </a:lnSpc>
              </a:pPr>
              <a:r>
                <a:rPr lang="ko-KR" altLang="en-US" sz="400" b="1">
                  <a:latin typeface="나눔고딕" panose="020D0604000000000000" pitchFamily="50" charset="-127"/>
                  <a:ea typeface="나눔고딕" panose="020D0604000000000000" pitchFamily="50" charset="-127"/>
                </a:rPr>
                <a:t>정보분석</a:t>
              </a:r>
              <a:endParaRPr lang="en-US" altLang="ko-KR" sz="400" b="1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21" name="Freeform 11"/>
            <p:cNvSpPr>
              <a:spLocks/>
            </p:cNvSpPr>
            <p:nvPr/>
          </p:nvSpPr>
          <p:spPr bwMode="auto">
            <a:xfrm>
              <a:off x="1507233" y="2385839"/>
              <a:ext cx="1092200" cy="363538"/>
            </a:xfrm>
            <a:custGeom>
              <a:avLst/>
              <a:gdLst>
                <a:gd name="T0" fmla="*/ 0 w 864"/>
                <a:gd name="T1" fmla="*/ 0 h 240"/>
                <a:gd name="T2" fmla="*/ 864 w 864"/>
                <a:gd name="T3" fmla="*/ 0 h 240"/>
                <a:gd name="T4" fmla="*/ 864 w 864"/>
                <a:gd name="T5" fmla="*/ 240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864" h="240">
                  <a:moveTo>
                    <a:pt x="0" y="0"/>
                  </a:moveTo>
                  <a:lnTo>
                    <a:pt x="864" y="0"/>
                  </a:lnTo>
                  <a:lnTo>
                    <a:pt x="864" y="240"/>
                  </a:lnTo>
                </a:path>
              </a:pathLst>
            </a:custGeom>
            <a:noFill/>
            <a:ln w="635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noAutofit/>
            </a:bodyPr>
            <a:lstStyle/>
            <a:p>
              <a:endParaRPr lang="ko-KR" altLang="en-US" sz="100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22" name="Freeform 12"/>
            <p:cNvSpPr>
              <a:spLocks/>
            </p:cNvSpPr>
            <p:nvPr/>
          </p:nvSpPr>
          <p:spPr bwMode="auto">
            <a:xfrm rot="5400000" flipV="1">
              <a:off x="2788345" y="3124027"/>
              <a:ext cx="585788" cy="1046162"/>
            </a:xfrm>
            <a:custGeom>
              <a:avLst/>
              <a:gdLst>
                <a:gd name="T0" fmla="*/ 0 w 864"/>
                <a:gd name="T1" fmla="*/ 0 h 240"/>
                <a:gd name="T2" fmla="*/ 864 w 864"/>
                <a:gd name="T3" fmla="*/ 0 h 240"/>
                <a:gd name="T4" fmla="*/ 864 w 864"/>
                <a:gd name="T5" fmla="*/ 240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864" h="240">
                  <a:moveTo>
                    <a:pt x="0" y="0"/>
                  </a:moveTo>
                  <a:lnTo>
                    <a:pt x="864" y="0"/>
                  </a:lnTo>
                  <a:lnTo>
                    <a:pt x="864" y="240"/>
                  </a:lnTo>
                </a:path>
              </a:pathLst>
            </a:custGeom>
            <a:noFill/>
            <a:ln w="635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noAutofit/>
            </a:bodyPr>
            <a:lstStyle/>
            <a:p>
              <a:endParaRPr lang="ko-KR" altLang="en-US" sz="100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23" name="Text Box 13"/>
            <p:cNvSpPr txBox="1">
              <a:spLocks noChangeArrowheads="1"/>
            </p:cNvSpPr>
            <p:nvPr/>
          </p:nvSpPr>
          <p:spPr bwMode="auto">
            <a:xfrm>
              <a:off x="4603304" y="3559002"/>
              <a:ext cx="1179240" cy="2444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noAutofit/>
            </a:bodyPr>
            <a:lstStyle/>
            <a:p>
              <a:pPr algn="r"/>
              <a:r>
                <a:rPr lang="ko-KR" altLang="en-US" sz="400" b="1">
                  <a:latin typeface="나눔고딕" panose="020D0604000000000000" pitchFamily="50" charset="-127"/>
                  <a:ea typeface="나눔고딕" panose="020D0604000000000000" pitchFamily="50" charset="-127"/>
                </a:rPr>
                <a:t>미가공</a:t>
              </a:r>
              <a:r>
                <a:rPr lang="ko-KR" altLang="en-US" sz="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 데이터 추출</a:t>
              </a:r>
              <a:endParaRPr lang="en-US" altLang="ko-KR" sz="400" b="1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grpSp>
          <p:nvGrpSpPr>
            <p:cNvPr id="224" name="Group 14"/>
            <p:cNvGrpSpPr>
              <a:grpSpLocks/>
            </p:cNvGrpSpPr>
            <p:nvPr/>
          </p:nvGrpSpPr>
          <p:grpSpPr bwMode="auto">
            <a:xfrm>
              <a:off x="4975920" y="2949402"/>
              <a:ext cx="433388" cy="577850"/>
              <a:chOff x="3625" y="2406"/>
              <a:chExt cx="413" cy="550"/>
            </a:xfrm>
          </p:grpSpPr>
          <p:sp>
            <p:nvSpPr>
              <p:cNvPr id="225" name="Rectangle 15"/>
              <p:cNvSpPr>
                <a:spLocks noChangeArrowheads="1"/>
              </p:cNvSpPr>
              <p:nvPr/>
            </p:nvSpPr>
            <p:spPr bwMode="auto">
              <a:xfrm>
                <a:off x="3625" y="2406"/>
                <a:ext cx="413" cy="550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rgbClr val="969696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 anchor="ctr">
                <a:noAutofit/>
              </a:bodyPr>
              <a:lstStyle/>
              <a:p>
                <a:endParaRPr lang="ko-KR" altLang="en-US" sz="100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226" name="Line 16"/>
              <p:cNvSpPr>
                <a:spLocks noChangeShapeType="1"/>
              </p:cNvSpPr>
              <p:nvPr/>
            </p:nvSpPr>
            <p:spPr bwMode="auto">
              <a:xfrm>
                <a:off x="3717" y="2498"/>
                <a:ext cx="229" cy="1"/>
              </a:xfrm>
              <a:prstGeom prst="line">
                <a:avLst/>
              </a:prstGeom>
              <a:noFill/>
              <a:ln w="6350">
                <a:solidFill>
                  <a:srgbClr val="969696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>
                <a:noAutofit/>
              </a:bodyPr>
              <a:lstStyle/>
              <a:p>
                <a:endParaRPr lang="ko-KR" altLang="en-US" sz="100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227" name="Line 17"/>
              <p:cNvSpPr>
                <a:spLocks noChangeShapeType="1"/>
              </p:cNvSpPr>
              <p:nvPr/>
            </p:nvSpPr>
            <p:spPr bwMode="auto">
              <a:xfrm>
                <a:off x="3717" y="2544"/>
                <a:ext cx="229" cy="1"/>
              </a:xfrm>
              <a:prstGeom prst="line">
                <a:avLst/>
              </a:prstGeom>
              <a:noFill/>
              <a:ln w="6350">
                <a:solidFill>
                  <a:srgbClr val="969696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>
                <a:noAutofit/>
              </a:bodyPr>
              <a:lstStyle/>
              <a:p>
                <a:endParaRPr lang="ko-KR" altLang="en-US" sz="100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228" name="Line 18"/>
              <p:cNvSpPr>
                <a:spLocks noChangeShapeType="1"/>
              </p:cNvSpPr>
              <p:nvPr/>
            </p:nvSpPr>
            <p:spPr bwMode="auto">
              <a:xfrm>
                <a:off x="3717" y="2590"/>
                <a:ext cx="229" cy="1"/>
              </a:xfrm>
              <a:prstGeom prst="line">
                <a:avLst/>
              </a:prstGeom>
              <a:noFill/>
              <a:ln w="6350">
                <a:solidFill>
                  <a:srgbClr val="969696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>
                <a:noAutofit/>
              </a:bodyPr>
              <a:lstStyle/>
              <a:p>
                <a:endParaRPr lang="ko-KR" altLang="en-US" sz="100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229" name="Line 19"/>
              <p:cNvSpPr>
                <a:spLocks noChangeShapeType="1"/>
              </p:cNvSpPr>
              <p:nvPr/>
            </p:nvSpPr>
            <p:spPr bwMode="auto">
              <a:xfrm>
                <a:off x="3717" y="2636"/>
                <a:ext cx="229" cy="1"/>
              </a:xfrm>
              <a:prstGeom prst="line">
                <a:avLst/>
              </a:prstGeom>
              <a:noFill/>
              <a:ln w="6350">
                <a:solidFill>
                  <a:srgbClr val="969696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>
                <a:noAutofit/>
              </a:bodyPr>
              <a:lstStyle/>
              <a:p>
                <a:endParaRPr lang="ko-KR" altLang="en-US" sz="100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230" name="Line 20"/>
              <p:cNvSpPr>
                <a:spLocks noChangeShapeType="1"/>
              </p:cNvSpPr>
              <p:nvPr/>
            </p:nvSpPr>
            <p:spPr bwMode="auto">
              <a:xfrm>
                <a:off x="3717" y="2682"/>
                <a:ext cx="229" cy="1"/>
              </a:xfrm>
              <a:prstGeom prst="line">
                <a:avLst/>
              </a:prstGeom>
              <a:noFill/>
              <a:ln w="6350">
                <a:solidFill>
                  <a:srgbClr val="969696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>
                <a:noAutofit/>
              </a:bodyPr>
              <a:lstStyle/>
              <a:p>
                <a:endParaRPr lang="ko-KR" altLang="en-US" sz="100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231" name="Line 21"/>
              <p:cNvSpPr>
                <a:spLocks noChangeShapeType="1"/>
              </p:cNvSpPr>
              <p:nvPr/>
            </p:nvSpPr>
            <p:spPr bwMode="auto">
              <a:xfrm>
                <a:off x="3717" y="2728"/>
                <a:ext cx="229" cy="1"/>
              </a:xfrm>
              <a:prstGeom prst="line">
                <a:avLst/>
              </a:prstGeom>
              <a:noFill/>
              <a:ln w="6350">
                <a:solidFill>
                  <a:srgbClr val="969696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>
                <a:noAutofit/>
              </a:bodyPr>
              <a:lstStyle/>
              <a:p>
                <a:endParaRPr lang="ko-KR" altLang="en-US" sz="100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232" name="Line 22"/>
              <p:cNvSpPr>
                <a:spLocks noChangeShapeType="1"/>
              </p:cNvSpPr>
              <p:nvPr/>
            </p:nvSpPr>
            <p:spPr bwMode="auto">
              <a:xfrm>
                <a:off x="3717" y="2774"/>
                <a:ext cx="229" cy="1"/>
              </a:xfrm>
              <a:prstGeom prst="line">
                <a:avLst/>
              </a:prstGeom>
              <a:noFill/>
              <a:ln w="6350">
                <a:solidFill>
                  <a:srgbClr val="969696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>
                <a:noAutofit/>
              </a:bodyPr>
              <a:lstStyle/>
              <a:p>
                <a:endParaRPr lang="ko-KR" altLang="en-US" sz="100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233" name="Line 23"/>
              <p:cNvSpPr>
                <a:spLocks noChangeShapeType="1"/>
              </p:cNvSpPr>
              <p:nvPr/>
            </p:nvSpPr>
            <p:spPr bwMode="auto">
              <a:xfrm>
                <a:off x="3717" y="2819"/>
                <a:ext cx="229" cy="1"/>
              </a:xfrm>
              <a:prstGeom prst="line">
                <a:avLst/>
              </a:prstGeom>
              <a:noFill/>
              <a:ln w="6350">
                <a:solidFill>
                  <a:srgbClr val="969696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>
                <a:noAutofit/>
              </a:bodyPr>
              <a:lstStyle/>
              <a:p>
                <a:endParaRPr lang="ko-KR" altLang="en-US" sz="100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234" name="Line 24"/>
              <p:cNvSpPr>
                <a:spLocks noChangeShapeType="1"/>
              </p:cNvSpPr>
              <p:nvPr/>
            </p:nvSpPr>
            <p:spPr bwMode="auto">
              <a:xfrm>
                <a:off x="3717" y="2865"/>
                <a:ext cx="229" cy="1"/>
              </a:xfrm>
              <a:prstGeom prst="line">
                <a:avLst/>
              </a:prstGeom>
              <a:noFill/>
              <a:ln w="6350">
                <a:solidFill>
                  <a:srgbClr val="969696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>
                <a:noAutofit/>
              </a:bodyPr>
              <a:lstStyle/>
              <a:p>
                <a:endParaRPr lang="ko-KR" altLang="en-US" sz="100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p:grpSp>
        <p:sp>
          <p:nvSpPr>
            <p:cNvPr id="235" name="Line 25"/>
            <p:cNvSpPr>
              <a:spLocks noChangeShapeType="1"/>
            </p:cNvSpPr>
            <p:nvPr/>
          </p:nvSpPr>
          <p:spPr bwMode="auto">
            <a:xfrm flipV="1">
              <a:off x="4442520" y="3254202"/>
              <a:ext cx="381000" cy="530225"/>
            </a:xfrm>
            <a:prstGeom prst="line">
              <a:avLst/>
            </a:prstGeom>
            <a:noFill/>
            <a:ln w="6350">
              <a:solidFill>
                <a:schemeClr val="accent2"/>
              </a:solidFill>
              <a:round/>
              <a:headEnd/>
              <a:tailEnd type="triangl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noAutofit/>
            </a:bodyPr>
            <a:lstStyle/>
            <a:p>
              <a:endParaRPr lang="ko-KR" altLang="en-US" sz="100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36" name="Text Box 27"/>
            <p:cNvSpPr txBox="1">
              <a:spLocks noChangeArrowheads="1"/>
            </p:cNvSpPr>
            <p:nvPr/>
          </p:nvSpPr>
          <p:spPr bwMode="auto">
            <a:xfrm>
              <a:off x="6336408" y="4408314"/>
              <a:ext cx="1311275" cy="2746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noAutofit/>
            </a:bodyPr>
            <a:lstStyle/>
            <a:p>
              <a:pPr algn="r"/>
              <a:r>
                <a:rPr lang="ko-KR" altLang="en-US" sz="7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세부기획</a:t>
              </a:r>
              <a:endParaRPr lang="en-US" altLang="ko-KR" sz="700" b="1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37" name="Line 28"/>
            <p:cNvSpPr>
              <a:spLocks noChangeShapeType="1"/>
            </p:cNvSpPr>
            <p:nvPr/>
          </p:nvSpPr>
          <p:spPr bwMode="auto">
            <a:xfrm flipV="1">
              <a:off x="5661720" y="4092402"/>
              <a:ext cx="1066800" cy="457200"/>
            </a:xfrm>
            <a:prstGeom prst="line">
              <a:avLst/>
            </a:prstGeom>
            <a:noFill/>
            <a:ln w="6350">
              <a:solidFill>
                <a:schemeClr val="accent2"/>
              </a:solidFill>
              <a:round/>
              <a:headEnd/>
              <a:tailEnd type="triangl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noAutofit/>
            </a:bodyPr>
            <a:lstStyle/>
            <a:p>
              <a:endParaRPr lang="ko-KR" altLang="en-US" sz="100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38" name="Freeform 29"/>
            <p:cNvSpPr>
              <a:spLocks/>
            </p:cNvSpPr>
            <p:nvPr/>
          </p:nvSpPr>
          <p:spPr bwMode="auto">
            <a:xfrm flipV="1">
              <a:off x="3910708" y="4778202"/>
              <a:ext cx="3351212" cy="1030287"/>
            </a:xfrm>
            <a:custGeom>
              <a:avLst/>
              <a:gdLst>
                <a:gd name="T0" fmla="*/ 0 w 864"/>
                <a:gd name="T1" fmla="*/ 0 h 240"/>
                <a:gd name="T2" fmla="*/ 864 w 864"/>
                <a:gd name="T3" fmla="*/ 0 h 240"/>
                <a:gd name="T4" fmla="*/ 864 w 864"/>
                <a:gd name="T5" fmla="*/ 240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864" h="240">
                  <a:moveTo>
                    <a:pt x="0" y="0"/>
                  </a:moveTo>
                  <a:lnTo>
                    <a:pt x="864" y="0"/>
                  </a:lnTo>
                  <a:lnTo>
                    <a:pt x="864" y="240"/>
                  </a:lnTo>
                </a:path>
              </a:pathLst>
            </a:custGeom>
            <a:noFill/>
            <a:ln w="635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noAutofit/>
            </a:bodyPr>
            <a:lstStyle/>
            <a:p>
              <a:endParaRPr lang="ko-KR" altLang="en-US" sz="100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39" name="Text Box 31"/>
            <p:cNvSpPr txBox="1">
              <a:spLocks noChangeArrowheads="1"/>
            </p:cNvSpPr>
            <p:nvPr/>
          </p:nvSpPr>
          <p:spPr bwMode="auto">
            <a:xfrm>
              <a:off x="7917558" y="4271789"/>
              <a:ext cx="1020762" cy="2143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noAutofit/>
            </a:bodyPr>
            <a:lstStyle/>
            <a:p>
              <a:pPr algn="r">
                <a:lnSpc>
                  <a:spcPct val="80000"/>
                </a:lnSpc>
              </a:pPr>
              <a:r>
                <a:rPr lang="ko-KR" altLang="en-US" sz="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확인단계</a:t>
              </a:r>
              <a:endParaRPr lang="en-US" altLang="ko-KR" sz="400" b="1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40" name="Line 32"/>
            <p:cNvSpPr>
              <a:spLocks noChangeShapeType="1"/>
            </p:cNvSpPr>
            <p:nvPr/>
          </p:nvSpPr>
          <p:spPr bwMode="auto">
            <a:xfrm>
              <a:off x="7847708" y="3936827"/>
              <a:ext cx="590550" cy="1587"/>
            </a:xfrm>
            <a:prstGeom prst="line">
              <a:avLst/>
            </a:prstGeom>
            <a:noFill/>
            <a:ln w="6350">
              <a:solidFill>
                <a:schemeClr val="accent2"/>
              </a:solidFill>
              <a:round/>
              <a:headEnd/>
              <a:tailEnd type="triangl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noAutofit/>
            </a:bodyPr>
            <a:lstStyle/>
            <a:p>
              <a:endParaRPr lang="ko-KR" altLang="en-US" sz="100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41" name="Text Box 34"/>
            <p:cNvSpPr txBox="1">
              <a:spLocks noChangeArrowheads="1"/>
            </p:cNvSpPr>
            <p:nvPr/>
          </p:nvSpPr>
          <p:spPr bwMode="auto">
            <a:xfrm>
              <a:off x="4144070" y="4982989"/>
              <a:ext cx="1311275" cy="2143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noAutofit/>
            </a:bodyPr>
            <a:lstStyle/>
            <a:p>
              <a:pPr algn="r">
                <a:lnSpc>
                  <a:spcPct val="80000"/>
                </a:lnSpc>
              </a:pPr>
              <a:r>
                <a:rPr lang="ko-KR" altLang="en-US" sz="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분석</a:t>
              </a:r>
              <a:r>
                <a:rPr lang="en-US" altLang="ko-KR" sz="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/</a:t>
              </a:r>
              <a:r>
                <a:rPr lang="ko-KR" altLang="en-US" sz="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판단</a:t>
              </a:r>
              <a:endParaRPr lang="en-US" altLang="ko-KR" sz="400" b="1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42" name="Line 35"/>
            <p:cNvSpPr>
              <a:spLocks noChangeShapeType="1"/>
            </p:cNvSpPr>
            <p:nvPr/>
          </p:nvSpPr>
          <p:spPr bwMode="auto">
            <a:xfrm>
              <a:off x="5204520" y="3860627"/>
              <a:ext cx="0" cy="307975"/>
            </a:xfrm>
            <a:prstGeom prst="line">
              <a:avLst/>
            </a:prstGeom>
            <a:noFill/>
            <a:ln w="6350">
              <a:solidFill>
                <a:schemeClr val="accent2"/>
              </a:solidFill>
              <a:round/>
              <a:headEnd/>
              <a:tailEnd type="triangl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noAutofit/>
            </a:bodyPr>
            <a:lstStyle/>
            <a:p>
              <a:endParaRPr lang="ko-KR" altLang="en-US" sz="100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43" name="AutoShape 36"/>
            <p:cNvSpPr>
              <a:spLocks noChangeArrowheads="1"/>
            </p:cNvSpPr>
            <p:nvPr/>
          </p:nvSpPr>
          <p:spPr bwMode="auto">
            <a:xfrm>
              <a:off x="3528120" y="2227089"/>
              <a:ext cx="874713" cy="452438"/>
            </a:xfrm>
            <a:prstGeom prst="flowChartDocumen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  <a:miter lim="800000"/>
              <a:headEnd/>
              <a:tailEnd type="none" w="med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noAutofit/>
            </a:bodyPr>
            <a:lstStyle/>
            <a:p>
              <a:pPr algn="ctr"/>
              <a:r>
                <a:rPr lang="ko-KR" altLang="en-US" sz="400" b="1" dirty="0" err="1">
                  <a:latin typeface="나눔고딕" panose="020D0604000000000000" pitchFamily="50" charset="-127"/>
                  <a:ea typeface="나눔고딕" panose="020D0604000000000000" pitchFamily="50" charset="-127"/>
                </a:rPr>
                <a:t>컨텐츠</a:t>
              </a:r>
              <a:endParaRPr lang="en-US" altLang="ko-KR" sz="400" b="1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44" name="Line 37"/>
            <p:cNvSpPr>
              <a:spLocks noChangeShapeType="1"/>
            </p:cNvSpPr>
            <p:nvPr/>
          </p:nvSpPr>
          <p:spPr bwMode="auto">
            <a:xfrm>
              <a:off x="4061520" y="2760489"/>
              <a:ext cx="0" cy="762000"/>
            </a:xfrm>
            <a:prstGeom prst="line">
              <a:avLst/>
            </a:prstGeom>
            <a:noFill/>
            <a:ln w="6350">
              <a:solidFill>
                <a:schemeClr val="accent2"/>
              </a:solidFill>
              <a:round/>
              <a:headEnd/>
              <a:tailEnd type="triangl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noAutofit/>
            </a:bodyPr>
            <a:lstStyle/>
            <a:p>
              <a:endParaRPr lang="ko-KR" altLang="en-US" sz="100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45" name="Arc 38"/>
            <p:cNvSpPr>
              <a:spLocks/>
            </p:cNvSpPr>
            <p:nvPr/>
          </p:nvSpPr>
          <p:spPr bwMode="auto">
            <a:xfrm rot="9054098" flipH="1" flipV="1">
              <a:off x="7723883" y="2989089"/>
              <a:ext cx="1443037" cy="795338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35214"/>
                <a:gd name="T2" fmla="*/ 16770 w 21600"/>
                <a:gd name="T3" fmla="*/ 35214 h 35214"/>
                <a:gd name="T4" fmla="*/ 0 w 21600"/>
                <a:gd name="T5" fmla="*/ 21600 h 352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35214" fill="none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26557"/>
                    <a:pt x="19894" y="31364"/>
                    <a:pt x="16769" y="35213"/>
                  </a:cubicBezTo>
                </a:path>
                <a:path w="21600" h="35214" stroke="0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26557"/>
                    <a:pt x="19894" y="31364"/>
                    <a:pt x="16769" y="35213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6350">
              <a:solidFill>
                <a:srgbClr val="969696"/>
              </a:solidFill>
              <a:round/>
              <a:headEnd type="triangle" w="med" len="med"/>
              <a:tailEnd type="none" w="med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noAutofit/>
            </a:bodyPr>
            <a:lstStyle/>
            <a:p>
              <a:endParaRPr lang="ko-KR" altLang="en-US" sz="100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46" name="정육면체 245"/>
            <p:cNvSpPr/>
            <p:nvPr/>
          </p:nvSpPr>
          <p:spPr>
            <a:xfrm>
              <a:off x="2340670" y="2775111"/>
              <a:ext cx="452090" cy="509873"/>
            </a:xfrm>
            <a:prstGeom prst="cube">
              <a:avLst/>
            </a:prstGeom>
            <a:solidFill>
              <a:schemeClr val="bg1">
                <a:lumMod val="7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4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47" name="정육면체 246"/>
            <p:cNvSpPr/>
            <p:nvPr/>
          </p:nvSpPr>
          <p:spPr>
            <a:xfrm>
              <a:off x="3756720" y="3644727"/>
              <a:ext cx="548208" cy="655923"/>
            </a:xfrm>
            <a:prstGeom prst="cube">
              <a:avLst/>
            </a:prstGeom>
            <a:solidFill>
              <a:schemeClr val="bg1">
                <a:lumMod val="7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4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48" name="정육면체 247"/>
            <p:cNvSpPr/>
            <p:nvPr/>
          </p:nvSpPr>
          <p:spPr>
            <a:xfrm>
              <a:off x="4960776" y="4300364"/>
              <a:ext cx="548208" cy="655923"/>
            </a:xfrm>
            <a:prstGeom prst="cube">
              <a:avLst/>
            </a:prstGeom>
            <a:solidFill>
              <a:schemeClr val="bg1">
                <a:lumMod val="7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4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49" name="정육면체 248"/>
            <p:cNvSpPr/>
            <p:nvPr/>
          </p:nvSpPr>
          <p:spPr>
            <a:xfrm>
              <a:off x="6964362" y="3432695"/>
              <a:ext cx="724941" cy="1013719"/>
            </a:xfrm>
            <a:prstGeom prst="cube">
              <a:avLst/>
            </a:prstGeom>
            <a:solidFill>
              <a:srgbClr val="FFC000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4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50" name="정육면체 249"/>
            <p:cNvSpPr/>
            <p:nvPr/>
          </p:nvSpPr>
          <p:spPr>
            <a:xfrm>
              <a:off x="8605675" y="3681890"/>
              <a:ext cx="452090" cy="509873"/>
            </a:xfrm>
            <a:prstGeom prst="cube">
              <a:avLst/>
            </a:prstGeom>
            <a:solidFill>
              <a:schemeClr val="bg1">
                <a:lumMod val="7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4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sp>
        <p:nvSpPr>
          <p:cNvPr id="75" name="Freeform 54"/>
          <p:cNvSpPr>
            <a:spLocks/>
          </p:cNvSpPr>
          <p:nvPr/>
        </p:nvSpPr>
        <p:spPr bwMode="auto">
          <a:xfrm>
            <a:off x="3038576" y="3079121"/>
            <a:ext cx="978320" cy="1216801"/>
          </a:xfrm>
          <a:custGeom>
            <a:avLst/>
            <a:gdLst>
              <a:gd name="T0" fmla="*/ 0 w 2736"/>
              <a:gd name="T1" fmla="*/ 0 h 1200"/>
              <a:gd name="T2" fmla="*/ 0 w 2736"/>
              <a:gd name="T3" fmla="*/ 1200 h 1200"/>
              <a:gd name="T4" fmla="*/ 2736 w 2736"/>
              <a:gd name="T5" fmla="*/ 1200 h 12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736" h="1200">
                <a:moveTo>
                  <a:pt x="0" y="0"/>
                </a:moveTo>
                <a:lnTo>
                  <a:pt x="0" y="1200"/>
                </a:lnTo>
                <a:lnTo>
                  <a:pt x="2736" y="1200"/>
                </a:lnTo>
              </a:path>
            </a:pathLst>
          </a:custGeom>
          <a:noFill/>
          <a:ln w="28575" cap="flat" cmpd="sng">
            <a:solidFill>
              <a:srgbClr val="969696"/>
            </a:solidFill>
            <a:prstDash val="sysDot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0" name="Rectangle 40"/>
          <p:cNvSpPr>
            <a:spLocks noChangeArrowheads="1"/>
          </p:cNvSpPr>
          <p:nvPr/>
        </p:nvSpPr>
        <p:spPr bwMode="auto">
          <a:xfrm>
            <a:off x="4162424" y="2339231"/>
            <a:ext cx="1247775" cy="28416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>
            <a:noAutofit/>
          </a:bodyPr>
          <a:lstStyle/>
          <a:p>
            <a:pPr>
              <a:lnSpc>
                <a:spcPct val="120000"/>
              </a:lnSpc>
            </a:pPr>
            <a:r>
              <a:rPr kumimoji="1" lang="en-US" altLang="ko-KR" sz="1000" b="1">
                <a:latin typeface="나눔고딕" panose="020D0604000000000000" pitchFamily="50" charset="-127"/>
                <a:ea typeface="나눔고딕" panose="020D0604000000000000" pitchFamily="50" charset="-127"/>
              </a:rPr>
              <a:t>Process planning</a:t>
            </a:r>
          </a:p>
        </p:txBody>
      </p:sp>
      <p:sp>
        <p:nvSpPr>
          <p:cNvPr id="51" name="Rectangle 41"/>
          <p:cNvSpPr>
            <a:spLocks noChangeArrowheads="1"/>
          </p:cNvSpPr>
          <p:nvPr/>
        </p:nvSpPr>
        <p:spPr bwMode="auto">
          <a:xfrm>
            <a:off x="6548437" y="5145931"/>
            <a:ext cx="1320800" cy="28416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>
            <a:noAutofit/>
          </a:bodyPr>
          <a:lstStyle/>
          <a:p>
            <a:pPr>
              <a:lnSpc>
                <a:spcPct val="120000"/>
              </a:lnSpc>
            </a:pPr>
            <a:r>
              <a:rPr kumimoji="1" lang="en-US" altLang="ko-KR" sz="1000" b="1">
                <a:latin typeface="나눔고딕" panose="020D0604000000000000" pitchFamily="50" charset="-127"/>
                <a:ea typeface="나눔고딕" panose="020D0604000000000000" pitchFamily="50" charset="-127"/>
              </a:rPr>
              <a:t>Structure mapping</a:t>
            </a:r>
          </a:p>
        </p:txBody>
      </p:sp>
      <p:sp>
        <p:nvSpPr>
          <p:cNvPr id="52" name="Rectangle 42"/>
          <p:cNvSpPr>
            <a:spLocks noChangeArrowheads="1"/>
          </p:cNvSpPr>
          <p:nvPr/>
        </p:nvSpPr>
        <p:spPr bwMode="auto">
          <a:xfrm>
            <a:off x="7550149" y="3017094"/>
            <a:ext cx="890588" cy="28416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>
            <a:noAutofit/>
          </a:bodyPr>
          <a:lstStyle/>
          <a:p>
            <a:pPr>
              <a:lnSpc>
                <a:spcPct val="120000"/>
              </a:lnSpc>
            </a:pPr>
            <a:r>
              <a:rPr kumimoji="1"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U.I / U.X Planning</a:t>
            </a:r>
          </a:p>
        </p:txBody>
      </p:sp>
      <p:sp>
        <p:nvSpPr>
          <p:cNvPr id="53" name="Rectangle 43"/>
          <p:cNvSpPr>
            <a:spLocks noChangeArrowheads="1"/>
          </p:cNvSpPr>
          <p:nvPr/>
        </p:nvSpPr>
        <p:spPr bwMode="auto">
          <a:xfrm>
            <a:off x="4257674" y="4269631"/>
            <a:ext cx="1333500" cy="28416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>
            <a:noAutofit/>
          </a:bodyPr>
          <a:lstStyle/>
          <a:p>
            <a:pPr>
              <a:lnSpc>
                <a:spcPct val="120000"/>
              </a:lnSpc>
            </a:pPr>
            <a:r>
              <a:rPr kumimoji="1" lang="en-US" altLang="ko-KR" sz="1000" b="1">
                <a:latin typeface="나눔고딕" panose="020D0604000000000000" pitchFamily="50" charset="-127"/>
                <a:ea typeface="나눔고딕" panose="020D0604000000000000" pitchFamily="50" charset="-127"/>
              </a:rPr>
              <a:t>Resource planning</a:t>
            </a:r>
          </a:p>
        </p:txBody>
      </p:sp>
      <p:sp>
        <p:nvSpPr>
          <p:cNvPr id="54" name="Rectangle 44"/>
          <p:cNvSpPr>
            <a:spLocks noChangeArrowheads="1"/>
          </p:cNvSpPr>
          <p:nvPr/>
        </p:nvSpPr>
        <p:spPr bwMode="auto">
          <a:xfrm>
            <a:off x="4416424" y="2691656"/>
            <a:ext cx="1692275" cy="28416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>
            <a:noAutofit/>
          </a:bodyPr>
          <a:lstStyle/>
          <a:p>
            <a:pPr>
              <a:lnSpc>
                <a:spcPct val="120000"/>
              </a:lnSpc>
            </a:pPr>
            <a:r>
              <a:rPr kumimoji="1" lang="en-US" altLang="ko-KR" sz="1000">
                <a:latin typeface="나눔고딕" panose="020D0604000000000000" pitchFamily="50" charset="-127"/>
                <a:ea typeface="나눔고딕" panose="020D0604000000000000" pitchFamily="50" charset="-127"/>
              </a:rPr>
              <a:t>Task Modeling</a:t>
            </a:r>
          </a:p>
        </p:txBody>
      </p:sp>
      <p:sp>
        <p:nvSpPr>
          <p:cNvPr id="55" name="Rectangle 45"/>
          <p:cNvSpPr>
            <a:spLocks noChangeArrowheads="1"/>
          </p:cNvSpPr>
          <p:nvPr/>
        </p:nvSpPr>
        <p:spPr bwMode="auto">
          <a:xfrm>
            <a:off x="4613274" y="4622056"/>
            <a:ext cx="1500188" cy="420688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>
            <a:noAutofit/>
          </a:bodyPr>
          <a:lstStyle/>
          <a:p>
            <a:pPr>
              <a:lnSpc>
                <a:spcPct val="120000"/>
              </a:lnSpc>
            </a:pPr>
            <a:r>
              <a:rPr kumimoji="1" lang="en-US" altLang="ko-KR" sz="1000">
                <a:latin typeface="나눔고딕" panose="020D0604000000000000" pitchFamily="50" charset="-127"/>
                <a:ea typeface="나눔고딕" panose="020D0604000000000000" pitchFamily="50" charset="-127"/>
              </a:rPr>
              <a:t>I/O (Interface Object) </a:t>
            </a:r>
          </a:p>
          <a:p>
            <a:pPr>
              <a:lnSpc>
                <a:spcPct val="90000"/>
              </a:lnSpc>
            </a:pPr>
            <a:r>
              <a:rPr kumimoji="1" lang="en-US" altLang="ko-KR" sz="1000">
                <a:latin typeface="나눔고딕" panose="020D0604000000000000" pitchFamily="50" charset="-127"/>
                <a:ea typeface="나눔고딕" panose="020D0604000000000000" pitchFamily="50" charset="-127"/>
              </a:rPr>
              <a:t>Modeling</a:t>
            </a:r>
          </a:p>
        </p:txBody>
      </p:sp>
      <p:sp>
        <p:nvSpPr>
          <p:cNvPr id="56" name="Rectangle 46"/>
          <p:cNvSpPr>
            <a:spLocks noChangeArrowheads="1"/>
          </p:cNvSpPr>
          <p:nvPr/>
        </p:nvSpPr>
        <p:spPr bwMode="auto">
          <a:xfrm>
            <a:off x="4613274" y="5115769"/>
            <a:ext cx="1114425" cy="28416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>
            <a:noAutofit/>
          </a:bodyPr>
          <a:lstStyle/>
          <a:p>
            <a:pPr>
              <a:lnSpc>
                <a:spcPct val="120000"/>
              </a:lnSpc>
            </a:pPr>
            <a:r>
              <a:rPr kumimoji="1" lang="en-US" altLang="ko-KR" sz="1000">
                <a:latin typeface="나눔고딕" panose="020D0604000000000000" pitchFamily="50" charset="-127"/>
                <a:ea typeface="나눔고딕" panose="020D0604000000000000" pitchFamily="50" charset="-127"/>
              </a:rPr>
              <a:t>Resource Model</a:t>
            </a:r>
          </a:p>
        </p:txBody>
      </p:sp>
      <p:sp>
        <p:nvSpPr>
          <p:cNvPr id="57" name="AutoShape 47"/>
          <p:cNvSpPr>
            <a:spLocks noChangeArrowheads="1"/>
          </p:cNvSpPr>
          <p:nvPr/>
        </p:nvSpPr>
        <p:spPr bwMode="auto">
          <a:xfrm>
            <a:off x="6545262" y="2132856"/>
            <a:ext cx="1235075" cy="330200"/>
          </a:xfrm>
          <a:prstGeom prst="flowChartDocumen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>
            <a:noAutofit/>
          </a:bodyPr>
          <a:lstStyle/>
          <a:p>
            <a:pPr>
              <a:lnSpc>
                <a:spcPct val="120000"/>
              </a:lnSpc>
            </a:pPr>
            <a:r>
              <a:rPr kumimoji="1" lang="en-US" altLang="ko-KR" sz="1000" b="1">
                <a:latin typeface="나눔고딕" panose="020D0604000000000000" pitchFamily="50" charset="-127"/>
                <a:ea typeface="나눔고딕" panose="020D0604000000000000" pitchFamily="50" charset="-127"/>
              </a:rPr>
              <a:t>Creative Concept</a:t>
            </a:r>
          </a:p>
        </p:txBody>
      </p:sp>
      <p:sp>
        <p:nvSpPr>
          <p:cNvPr id="58" name="Rectangle 48"/>
          <p:cNvSpPr>
            <a:spLocks noChangeArrowheads="1"/>
          </p:cNvSpPr>
          <p:nvPr/>
        </p:nvSpPr>
        <p:spPr bwMode="auto">
          <a:xfrm>
            <a:off x="4416424" y="3398094"/>
            <a:ext cx="1698625" cy="28416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>
            <a:noAutofit/>
          </a:bodyPr>
          <a:lstStyle/>
          <a:p>
            <a:pPr>
              <a:lnSpc>
                <a:spcPct val="120000"/>
              </a:lnSpc>
            </a:pPr>
            <a:r>
              <a:rPr kumimoji="1" lang="en-US" altLang="ko-KR" sz="1000">
                <a:latin typeface="나눔고딕" panose="020D0604000000000000" pitchFamily="50" charset="-127"/>
                <a:ea typeface="나눔고딕" panose="020D0604000000000000" pitchFamily="50" charset="-127"/>
              </a:rPr>
              <a:t>Dynamic model</a:t>
            </a:r>
          </a:p>
        </p:txBody>
      </p:sp>
      <p:sp>
        <p:nvSpPr>
          <p:cNvPr id="60" name="Rectangle 50"/>
          <p:cNvSpPr>
            <a:spLocks noChangeArrowheads="1"/>
          </p:cNvSpPr>
          <p:nvPr/>
        </p:nvSpPr>
        <p:spPr bwMode="auto">
          <a:xfrm>
            <a:off x="4613274" y="5487244"/>
            <a:ext cx="1462088" cy="28416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>
            <a:noAutofit/>
          </a:bodyPr>
          <a:lstStyle/>
          <a:p>
            <a:pPr>
              <a:lnSpc>
                <a:spcPct val="120000"/>
              </a:lnSpc>
            </a:pPr>
            <a:r>
              <a:rPr kumimoji="1" lang="en-US" altLang="ko-KR" sz="1000">
                <a:latin typeface="나눔고딕" panose="020D0604000000000000" pitchFamily="50" charset="-127"/>
                <a:ea typeface="나눔고딕" panose="020D0604000000000000" pitchFamily="50" charset="-127"/>
              </a:rPr>
              <a:t>I/O Model description</a:t>
            </a:r>
          </a:p>
        </p:txBody>
      </p:sp>
      <p:sp>
        <p:nvSpPr>
          <p:cNvPr id="61" name="Rectangle 51"/>
          <p:cNvSpPr>
            <a:spLocks noChangeArrowheads="1"/>
          </p:cNvSpPr>
          <p:nvPr/>
        </p:nvSpPr>
        <p:spPr bwMode="auto">
          <a:xfrm>
            <a:off x="7762874" y="3380631"/>
            <a:ext cx="908050" cy="28416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>
            <a:noAutofit/>
          </a:bodyPr>
          <a:lstStyle/>
          <a:p>
            <a:pPr>
              <a:lnSpc>
                <a:spcPct val="120000"/>
              </a:lnSpc>
            </a:pPr>
            <a:r>
              <a:rPr kumimoji="1"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U.I / U.X blue print</a:t>
            </a:r>
          </a:p>
        </p:txBody>
      </p:sp>
      <p:sp>
        <p:nvSpPr>
          <p:cNvPr id="62" name="Rectangle 52"/>
          <p:cNvSpPr>
            <a:spLocks noChangeArrowheads="1"/>
          </p:cNvSpPr>
          <p:nvPr/>
        </p:nvSpPr>
        <p:spPr bwMode="auto">
          <a:xfrm>
            <a:off x="7762874" y="3731469"/>
            <a:ext cx="1057275" cy="28416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>
            <a:noAutofit/>
          </a:bodyPr>
          <a:lstStyle/>
          <a:p>
            <a:pPr>
              <a:lnSpc>
                <a:spcPct val="120000"/>
              </a:lnSpc>
            </a:pPr>
            <a:r>
              <a:rPr kumimoji="1" lang="en-US" altLang="ko-KR" sz="1000">
                <a:latin typeface="나눔고딕" panose="020D0604000000000000" pitchFamily="50" charset="-127"/>
                <a:ea typeface="나눔고딕" panose="020D0604000000000000" pitchFamily="50" charset="-127"/>
              </a:rPr>
              <a:t>Page template</a:t>
            </a:r>
          </a:p>
        </p:txBody>
      </p:sp>
      <p:sp>
        <p:nvSpPr>
          <p:cNvPr id="63" name="Rectangle 53"/>
          <p:cNvSpPr>
            <a:spLocks noChangeArrowheads="1"/>
          </p:cNvSpPr>
          <p:nvPr/>
        </p:nvSpPr>
        <p:spPr bwMode="auto">
          <a:xfrm>
            <a:off x="4416424" y="3037731"/>
            <a:ext cx="1698625" cy="28416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>
            <a:noAutofit/>
          </a:bodyPr>
          <a:lstStyle/>
          <a:p>
            <a:pPr>
              <a:lnSpc>
                <a:spcPct val="120000"/>
              </a:lnSpc>
            </a:pPr>
            <a:r>
              <a:rPr kumimoji="1"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Sequence model</a:t>
            </a:r>
          </a:p>
        </p:txBody>
      </p:sp>
      <p:sp>
        <p:nvSpPr>
          <p:cNvPr id="65" name="Rectangle 55"/>
          <p:cNvSpPr>
            <a:spLocks noChangeArrowheads="1"/>
          </p:cNvSpPr>
          <p:nvPr/>
        </p:nvSpPr>
        <p:spPr bwMode="auto">
          <a:xfrm>
            <a:off x="8385174" y="4314081"/>
            <a:ext cx="1176338" cy="506413"/>
          </a:xfrm>
          <a:prstGeom prst="rect">
            <a:avLst/>
          </a:prstGeom>
          <a:solidFill>
            <a:srgbClr val="FFFFCC"/>
          </a:solidFill>
          <a:ln w="12700" algn="ctr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>
            <a:noAutofit/>
          </a:bodyPr>
          <a:lstStyle/>
          <a:p>
            <a:pPr algn="ctr">
              <a:lnSpc>
                <a:spcPct val="120000"/>
              </a:lnSpc>
            </a:pPr>
            <a:r>
              <a:rPr kumimoji="1" lang="en-US" altLang="ko-KR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Mock-up</a:t>
            </a:r>
          </a:p>
          <a:p>
            <a:pPr algn="ctr">
              <a:lnSpc>
                <a:spcPct val="120000"/>
              </a:lnSpc>
            </a:pPr>
            <a:r>
              <a:rPr kumimoji="1"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(working model)</a:t>
            </a:r>
          </a:p>
        </p:txBody>
      </p:sp>
      <p:cxnSp>
        <p:nvCxnSpPr>
          <p:cNvPr id="66" name="AutoShape 56"/>
          <p:cNvCxnSpPr>
            <a:cxnSpLocks noChangeShapeType="1"/>
            <a:stCxn id="50" idx="3"/>
            <a:endCxn id="51" idx="1"/>
          </p:cNvCxnSpPr>
          <p:nvPr/>
        </p:nvCxnSpPr>
        <p:spPr bwMode="auto">
          <a:xfrm>
            <a:off x="5410199" y="2482106"/>
            <a:ext cx="1138238" cy="2806700"/>
          </a:xfrm>
          <a:prstGeom prst="bentConnector3">
            <a:avLst>
              <a:gd name="adj1" fmla="val 79639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7" name="AutoShape 57"/>
          <p:cNvCxnSpPr>
            <a:cxnSpLocks noChangeShapeType="1"/>
            <a:stCxn id="53" idx="3"/>
            <a:endCxn id="51" idx="1"/>
          </p:cNvCxnSpPr>
          <p:nvPr/>
        </p:nvCxnSpPr>
        <p:spPr bwMode="auto">
          <a:xfrm>
            <a:off x="5591174" y="4412506"/>
            <a:ext cx="957263" cy="876300"/>
          </a:xfrm>
          <a:prstGeom prst="bentConnector3">
            <a:avLst>
              <a:gd name="adj1" fmla="val 67000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8" name="AutoShape 58"/>
          <p:cNvCxnSpPr>
            <a:cxnSpLocks noChangeShapeType="1"/>
            <a:stCxn id="51" idx="0"/>
            <a:endCxn id="52" idx="1"/>
          </p:cNvCxnSpPr>
          <p:nvPr/>
        </p:nvCxnSpPr>
        <p:spPr bwMode="auto">
          <a:xfrm rot="16200000">
            <a:off x="6386512" y="3982294"/>
            <a:ext cx="1985962" cy="341312"/>
          </a:xfrm>
          <a:prstGeom prst="bentConnector2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9" name="AutoShape 59"/>
          <p:cNvCxnSpPr>
            <a:cxnSpLocks noChangeShapeType="1"/>
            <a:stCxn id="52" idx="3"/>
            <a:endCxn id="65" idx="0"/>
          </p:cNvCxnSpPr>
          <p:nvPr/>
        </p:nvCxnSpPr>
        <p:spPr bwMode="auto">
          <a:xfrm>
            <a:off x="8440737" y="3159969"/>
            <a:ext cx="533400" cy="1154112"/>
          </a:xfrm>
          <a:prstGeom prst="bentConnector2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0" name="AutoShape 60"/>
          <p:cNvCxnSpPr>
            <a:cxnSpLocks noChangeShapeType="1"/>
            <a:stCxn id="51" idx="3"/>
            <a:endCxn id="65" idx="2"/>
          </p:cNvCxnSpPr>
          <p:nvPr/>
        </p:nvCxnSpPr>
        <p:spPr bwMode="auto">
          <a:xfrm flipV="1">
            <a:off x="7869237" y="4820494"/>
            <a:ext cx="1104900" cy="468312"/>
          </a:xfrm>
          <a:prstGeom prst="bentConnector2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6" name="AutoShape 61"/>
          <p:cNvCxnSpPr>
            <a:cxnSpLocks noChangeShapeType="1"/>
            <a:stCxn id="57" idx="3"/>
            <a:endCxn id="52" idx="0"/>
          </p:cNvCxnSpPr>
          <p:nvPr/>
        </p:nvCxnSpPr>
        <p:spPr bwMode="auto">
          <a:xfrm>
            <a:off x="7780337" y="2297956"/>
            <a:ext cx="215900" cy="719138"/>
          </a:xfrm>
          <a:prstGeom prst="bentConnector2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77802063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44017" y="91339"/>
            <a:ext cx="7401271" cy="385333"/>
          </a:xfrm>
          <a:prstGeom prst="rect">
            <a:avLst/>
          </a:prstGeom>
          <a:noFill/>
        </p:spPr>
        <p:txBody>
          <a:bodyPr wrap="square" lIns="0" tIns="53643" rIns="0" bIns="53643" rtlCol="0">
            <a:spAutoFit/>
          </a:bodyPr>
          <a:lstStyle/>
          <a:p>
            <a:r>
              <a:rPr kumimoji="1" lang="en-US" altLang="ko-KR" b="1" kern="0" dirty="0">
                <a:latin typeface="나눔고딕" panose="020D0604000000000000" pitchFamily="50" charset="-127"/>
                <a:ea typeface="나눔고딕" panose="020D0604000000000000" pitchFamily="50" charset="-127"/>
                <a:cs typeface="산돌고딕 M"/>
              </a:rPr>
              <a:t>User Interface Design</a:t>
            </a:r>
            <a:endParaRPr kumimoji="1" lang="ko-KR" altLang="en-US" b="1" kern="0" dirty="0">
              <a:latin typeface="나눔고딕" panose="020D0604000000000000" pitchFamily="50" charset="-127"/>
              <a:ea typeface="나눔고딕" panose="020D0604000000000000" pitchFamily="50" charset="-127"/>
              <a:cs typeface="산돌고딕 M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44017" y="683985"/>
            <a:ext cx="96335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Approach – framework (</a:t>
            </a:r>
            <a:r>
              <a:rPr lang="ko-KR" altLang="en-US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확인단계</a:t>
            </a:r>
            <a:r>
              <a:rPr lang="en-US" altLang="ko-KR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8504" y="991762"/>
            <a:ext cx="9217024" cy="738664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Working model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인 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Mock-up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을 실제 사용자를 대상으로 테스트 함으로써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문제점을 추출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제거하여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품질을 더욱 향상시키는 과정입니다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확인단계에 속하는 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activity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는 고객의 관점에서 다루어 지는 것이며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프로세스 자체는 점진적이며 반복적으로 진행되게 됩니다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pSp>
        <p:nvGrpSpPr>
          <p:cNvPr id="2" name="그룹 1"/>
          <p:cNvGrpSpPr/>
          <p:nvPr/>
        </p:nvGrpSpPr>
        <p:grpSpPr>
          <a:xfrm>
            <a:off x="265312" y="1883831"/>
            <a:ext cx="3535560" cy="1617177"/>
            <a:chOff x="632520" y="2204864"/>
            <a:chExt cx="8534400" cy="3903663"/>
          </a:xfrm>
        </p:grpSpPr>
        <p:sp>
          <p:nvSpPr>
            <p:cNvPr id="217" name="AutoShape 5"/>
            <p:cNvSpPr>
              <a:spLocks noChangeArrowheads="1"/>
            </p:cNvSpPr>
            <p:nvPr/>
          </p:nvSpPr>
          <p:spPr bwMode="auto">
            <a:xfrm>
              <a:off x="632520" y="2204864"/>
              <a:ext cx="874713" cy="565150"/>
            </a:xfrm>
            <a:prstGeom prst="flowChartDocumen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  <a:miter lim="800000"/>
              <a:headEnd/>
              <a:tailEnd type="none" w="med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noAutofit/>
            </a:bodyPr>
            <a:lstStyle/>
            <a:p>
              <a:pPr algn="ctr"/>
              <a:r>
                <a:rPr lang="ko-KR" altLang="en-US" sz="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계획수립</a:t>
              </a:r>
              <a:endParaRPr lang="en-US" altLang="ko-KR" sz="400" b="1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18" name="AutoShape 6"/>
            <p:cNvSpPr>
              <a:spLocks noChangeArrowheads="1"/>
            </p:cNvSpPr>
            <p:nvPr/>
          </p:nvSpPr>
          <p:spPr bwMode="auto">
            <a:xfrm>
              <a:off x="3023295" y="5656089"/>
              <a:ext cx="874713" cy="452438"/>
            </a:xfrm>
            <a:prstGeom prst="flowChartDocumen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  <a:miter lim="800000"/>
              <a:headEnd/>
              <a:tailEnd type="none" w="med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noAutofit/>
            </a:bodyPr>
            <a:lstStyle/>
            <a:p>
              <a:pPr algn="ctr"/>
              <a:r>
                <a:rPr lang="en-US" altLang="ko-KR" sz="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IA map</a:t>
              </a:r>
            </a:p>
          </p:txBody>
        </p:sp>
        <p:sp>
          <p:nvSpPr>
            <p:cNvPr id="219" name="Text Box 8"/>
            <p:cNvSpPr txBox="1">
              <a:spLocks noChangeArrowheads="1"/>
            </p:cNvSpPr>
            <p:nvPr/>
          </p:nvSpPr>
          <p:spPr bwMode="auto">
            <a:xfrm>
              <a:off x="1248470" y="2935114"/>
              <a:ext cx="1138238" cy="2143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noAutofit/>
            </a:bodyPr>
            <a:lstStyle/>
            <a:p>
              <a:pPr algn="r">
                <a:lnSpc>
                  <a:spcPct val="80000"/>
                </a:lnSpc>
              </a:pPr>
              <a:r>
                <a:rPr lang="ko-KR" altLang="en-US" sz="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정의</a:t>
              </a:r>
              <a:endParaRPr lang="en-US" altLang="ko-KR" sz="400" b="1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20" name="Text Box 10"/>
            <p:cNvSpPr txBox="1">
              <a:spLocks noChangeArrowheads="1"/>
            </p:cNvSpPr>
            <p:nvPr/>
          </p:nvSpPr>
          <p:spPr bwMode="auto">
            <a:xfrm>
              <a:off x="3528120" y="4300364"/>
              <a:ext cx="708025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noAutofit/>
            </a:bodyPr>
            <a:lstStyle/>
            <a:p>
              <a:pPr algn="r">
                <a:lnSpc>
                  <a:spcPct val="80000"/>
                </a:lnSpc>
              </a:pPr>
              <a:r>
                <a:rPr lang="ko-KR" altLang="en-US" sz="400" b="1">
                  <a:latin typeface="나눔고딕" panose="020D0604000000000000" pitchFamily="50" charset="-127"/>
                  <a:ea typeface="나눔고딕" panose="020D0604000000000000" pitchFamily="50" charset="-127"/>
                </a:rPr>
                <a:t>정보분석</a:t>
              </a:r>
              <a:endParaRPr lang="en-US" altLang="ko-KR" sz="400" b="1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21" name="Freeform 11"/>
            <p:cNvSpPr>
              <a:spLocks/>
            </p:cNvSpPr>
            <p:nvPr/>
          </p:nvSpPr>
          <p:spPr bwMode="auto">
            <a:xfrm>
              <a:off x="1507233" y="2385839"/>
              <a:ext cx="1092200" cy="363538"/>
            </a:xfrm>
            <a:custGeom>
              <a:avLst/>
              <a:gdLst>
                <a:gd name="T0" fmla="*/ 0 w 864"/>
                <a:gd name="T1" fmla="*/ 0 h 240"/>
                <a:gd name="T2" fmla="*/ 864 w 864"/>
                <a:gd name="T3" fmla="*/ 0 h 240"/>
                <a:gd name="T4" fmla="*/ 864 w 864"/>
                <a:gd name="T5" fmla="*/ 240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864" h="240">
                  <a:moveTo>
                    <a:pt x="0" y="0"/>
                  </a:moveTo>
                  <a:lnTo>
                    <a:pt x="864" y="0"/>
                  </a:lnTo>
                  <a:lnTo>
                    <a:pt x="864" y="240"/>
                  </a:lnTo>
                </a:path>
              </a:pathLst>
            </a:custGeom>
            <a:noFill/>
            <a:ln w="635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noAutofit/>
            </a:bodyPr>
            <a:lstStyle/>
            <a:p>
              <a:endParaRPr lang="ko-KR" altLang="en-US" sz="100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22" name="Freeform 12"/>
            <p:cNvSpPr>
              <a:spLocks/>
            </p:cNvSpPr>
            <p:nvPr/>
          </p:nvSpPr>
          <p:spPr bwMode="auto">
            <a:xfrm rot="5400000" flipV="1">
              <a:off x="2788345" y="3124027"/>
              <a:ext cx="585788" cy="1046162"/>
            </a:xfrm>
            <a:custGeom>
              <a:avLst/>
              <a:gdLst>
                <a:gd name="T0" fmla="*/ 0 w 864"/>
                <a:gd name="T1" fmla="*/ 0 h 240"/>
                <a:gd name="T2" fmla="*/ 864 w 864"/>
                <a:gd name="T3" fmla="*/ 0 h 240"/>
                <a:gd name="T4" fmla="*/ 864 w 864"/>
                <a:gd name="T5" fmla="*/ 240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864" h="240">
                  <a:moveTo>
                    <a:pt x="0" y="0"/>
                  </a:moveTo>
                  <a:lnTo>
                    <a:pt x="864" y="0"/>
                  </a:lnTo>
                  <a:lnTo>
                    <a:pt x="864" y="240"/>
                  </a:lnTo>
                </a:path>
              </a:pathLst>
            </a:custGeom>
            <a:noFill/>
            <a:ln w="635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noAutofit/>
            </a:bodyPr>
            <a:lstStyle/>
            <a:p>
              <a:endParaRPr lang="ko-KR" altLang="en-US" sz="100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23" name="Text Box 13"/>
            <p:cNvSpPr txBox="1">
              <a:spLocks noChangeArrowheads="1"/>
            </p:cNvSpPr>
            <p:nvPr/>
          </p:nvSpPr>
          <p:spPr bwMode="auto">
            <a:xfrm>
              <a:off x="4603304" y="3559002"/>
              <a:ext cx="1179240" cy="2444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noAutofit/>
            </a:bodyPr>
            <a:lstStyle/>
            <a:p>
              <a:pPr algn="r"/>
              <a:r>
                <a:rPr lang="ko-KR" altLang="en-US" sz="400" b="1">
                  <a:latin typeface="나눔고딕" panose="020D0604000000000000" pitchFamily="50" charset="-127"/>
                  <a:ea typeface="나눔고딕" panose="020D0604000000000000" pitchFamily="50" charset="-127"/>
                </a:rPr>
                <a:t>미가공</a:t>
              </a:r>
              <a:r>
                <a:rPr lang="ko-KR" altLang="en-US" sz="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 데이터 추출</a:t>
              </a:r>
              <a:endParaRPr lang="en-US" altLang="ko-KR" sz="400" b="1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grpSp>
          <p:nvGrpSpPr>
            <p:cNvPr id="224" name="Group 14"/>
            <p:cNvGrpSpPr>
              <a:grpSpLocks/>
            </p:cNvGrpSpPr>
            <p:nvPr/>
          </p:nvGrpSpPr>
          <p:grpSpPr bwMode="auto">
            <a:xfrm>
              <a:off x="4975920" y="2949402"/>
              <a:ext cx="433388" cy="577850"/>
              <a:chOff x="3625" y="2406"/>
              <a:chExt cx="413" cy="550"/>
            </a:xfrm>
          </p:grpSpPr>
          <p:sp>
            <p:nvSpPr>
              <p:cNvPr id="225" name="Rectangle 15"/>
              <p:cNvSpPr>
                <a:spLocks noChangeArrowheads="1"/>
              </p:cNvSpPr>
              <p:nvPr/>
            </p:nvSpPr>
            <p:spPr bwMode="auto">
              <a:xfrm>
                <a:off x="3625" y="2406"/>
                <a:ext cx="413" cy="550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rgbClr val="969696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 anchor="ctr">
                <a:noAutofit/>
              </a:bodyPr>
              <a:lstStyle/>
              <a:p>
                <a:endParaRPr lang="ko-KR" altLang="en-US" sz="100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226" name="Line 16"/>
              <p:cNvSpPr>
                <a:spLocks noChangeShapeType="1"/>
              </p:cNvSpPr>
              <p:nvPr/>
            </p:nvSpPr>
            <p:spPr bwMode="auto">
              <a:xfrm>
                <a:off x="3717" y="2498"/>
                <a:ext cx="229" cy="1"/>
              </a:xfrm>
              <a:prstGeom prst="line">
                <a:avLst/>
              </a:prstGeom>
              <a:noFill/>
              <a:ln w="6350">
                <a:solidFill>
                  <a:srgbClr val="969696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>
                <a:noAutofit/>
              </a:bodyPr>
              <a:lstStyle/>
              <a:p>
                <a:endParaRPr lang="ko-KR" altLang="en-US" sz="100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227" name="Line 17"/>
              <p:cNvSpPr>
                <a:spLocks noChangeShapeType="1"/>
              </p:cNvSpPr>
              <p:nvPr/>
            </p:nvSpPr>
            <p:spPr bwMode="auto">
              <a:xfrm>
                <a:off x="3717" y="2544"/>
                <a:ext cx="229" cy="1"/>
              </a:xfrm>
              <a:prstGeom prst="line">
                <a:avLst/>
              </a:prstGeom>
              <a:noFill/>
              <a:ln w="6350">
                <a:solidFill>
                  <a:srgbClr val="969696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>
                <a:noAutofit/>
              </a:bodyPr>
              <a:lstStyle/>
              <a:p>
                <a:endParaRPr lang="ko-KR" altLang="en-US" sz="100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228" name="Line 18"/>
              <p:cNvSpPr>
                <a:spLocks noChangeShapeType="1"/>
              </p:cNvSpPr>
              <p:nvPr/>
            </p:nvSpPr>
            <p:spPr bwMode="auto">
              <a:xfrm>
                <a:off x="3717" y="2590"/>
                <a:ext cx="229" cy="1"/>
              </a:xfrm>
              <a:prstGeom prst="line">
                <a:avLst/>
              </a:prstGeom>
              <a:noFill/>
              <a:ln w="6350">
                <a:solidFill>
                  <a:srgbClr val="969696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>
                <a:noAutofit/>
              </a:bodyPr>
              <a:lstStyle/>
              <a:p>
                <a:endParaRPr lang="ko-KR" altLang="en-US" sz="100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229" name="Line 19"/>
              <p:cNvSpPr>
                <a:spLocks noChangeShapeType="1"/>
              </p:cNvSpPr>
              <p:nvPr/>
            </p:nvSpPr>
            <p:spPr bwMode="auto">
              <a:xfrm>
                <a:off x="3717" y="2636"/>
                <a:ext cx="229" cy="1"/>
              </a:xfrm>
              <a:prstGeom prst="line">
                <a:avLst/>
              </a:prstGeom>
              <a:noFill/>
              <a:ln w="6350">
                <a:solidFill>
                  <a:srgbClr val="969696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>
                <a:noAutofit/>
              </a:bodyPr>
              <a:lstStyle/>
              <a:p>
                <a:endParaRPr lang="ko-KR" altLang="en-US" sz="100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230" name="Line 20"/>
              <p:cNvSpPr>
                <a:spLocks noChangeShapeType="1"/>
              </p:cNvSpPr>
              <p:nvPr/>
            </p:nvSpPr>
            <p:spPr bwMode="auto">
              <a:xfrm>
                <a:off x="3717" y="2682"/>
                <a:ext cx="229" cy="1"/>
              </a:xfrm>
              <a:prstGeom prst="line">
                <a:avLst/>
              </a:prstGeom>
              <a:noFill/>
              <a:ln w="6350">
                <a:solidFill>
                  <a:srgbClr val="969696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>
                <a:noAutofit/>
              </a:bodyPr>
              <a:lstStyle/>
              <a:p>
                <a:endParaRPr lang="ko-KR" altLang="en-US" sz="100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231" name="Line 21"/>
              <p:cNvSpPr>
                <a:spLocks noChangeShapeType="1"/>
              </p:cNvSpPr>
              <p:nvPr/>
            </p:nvSpPr>
            <p:spPr bwMode="auto">
              <a:xfrm>
                <a:off x="3717" y="2728"/>
                <a:ext cx="229" cy="1"/>
              </a:xfrm>
              <a:prstGeom prst="line">
                <a:avLst/>
              </a:prstGeom>
              <a:noFill/>
              <a:ln w="6350">
                <a:solidFill>
                  <a:srgbClr val="969696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>
                <a:noAutofit/>
              </a:bodyPr>
              <a:lstStyle/>
              <a:p>
                <a:endParaRPr lang="ko-KR" altLang="en-US" sz="100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232" name="Line 22"/>
              <p:cNvSpPr>
                <a:spLocks noChangeShapeType="1"/>
              </p:cNvSpPr>
              <p:nvPr/>
            </p:nvSpPr>
            <p:spPr bwMode="auto">
              <a:xfrm>
                <a:off x="3717" y="2774"/>
                <a:ext cx="229" cy="1"/>
              </a:xfrm>
              <a:prstGeom prst="line">
                <a:avLst/>
              </a:prstGeom>
              <a:noFill/>
              <a:ln w="6350">
                <a:solidFill>
                  <a:srgbClr val="969696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>
                <a:noAutofit/>
              </a:bodyPr>
              <a:lstStyle/>
              <a:p>
                <a:endParaRPr lang="ko-KR" altLang="en-US" sz="100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233" name="Line 23"/>
              <p:cNvSpPr>
                <a:spLocks noChangeShapeType="1"/>
              </p:cNvSpPr>
              <p:nvPr/>
            </p:nvSpPr>
            <p:spPr bwMode="auto">
              <a:xfrm>
                <a:off x="3717" y="2819"/>
                <a:ext cx="229" cy="1"/>
              </a:xfrm>
              <a:prstGeom prst="line">
                <a:avLst/>
              </a:prstGeom>
              <a:noFill/>
              <a:ln w="6350">
                <a:solidFill>
                  <a:srgbClr val="969696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>
                <a:noAutofit/>
              </a:bodyPr>
              <a:lstStyle/>
              <a:p>
                <a:endParaRPr lang="ko-KR" altLang="en-US" sz="100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234" name="Line 24"/>
              <p:cNvSpPr>
                <a:spLocks noChangeShapeType="1"/>
              </p:cNvSpPr>
              <p:nvPr/>
            </p:nvSpPr>
            <p:spPr bwMode="auto">
              <a:xfrm>
                <a:off x="3717" y="2865"/>
                <a:ext cx="229" cy="1"/>
              </a:xfrm>
              <a:prstGeom prst="line">
                <a:avLst/>
              </a:prstGeom>
              <a:noFill/>
              <a:ln w="6350">
                <a:solidFill>
                  <a:srgbClr val="969696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>
                <a:noAutofit/>
              </a:bodyPr>
              <a:lstStyle/>
              <a:p>
                <a:endParaRPr lang="ko-KR" altLang="en-US" sz="100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p:grpSp>
        <p:sp>
          <p:nvSpPr>
            <p:cNvPr id="235" name="Line 25"/>
            <p:cNvSpPr>
              <a:spLocks noChangeShapeType="1"/>
            </p:cNvSpPr>
            <p:nvPr/>
          </p:nvSpPr>
          <p:spPr bwMode="auto">
            <a:xfrm flipV="1">
              <a:off x="4442520" y="3254202"/>
              <a:ext cx="381000" cy="530225"/>
            </a:xfrm>
            <a:prstGeom prst="line">
              <a:avLst/>
            </a:prstGeom>
            <a:noFill/>
            <a:ln w="6350">
              <a:solidFill>
                <a:schemeClr val="accent2"/>
              </a:solidFill>
              <a:round/>
              <a:headEnd/>
              <a:tailEnd type="triangl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noAutofit/>
            </a:bodyPr>
            <a:lstStyle/>
            <a:p>
              <a:endParaRPr lang="ko-KR" altLang="en-US" sz="100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36" name="Text Box 27"/>
            <p:cNvSpPr txBox="1">
              <a:spLocks noChangeArrowheads="1"/>
            </p:cNvSpPr>
            <p:nvPr/>
          </p:nvSpPr>
          <p:spPr bwMode="auto">
            <a:xfrm>
              <a:off x="6336408" y="4408314"/>
              <a:ext cx="1311275" cy="2746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noAutofit/>
            </a:bodyPr>
            <a:lstStyle/>
            <a:p>
              <a:pPr algn="r"/>
              <a:r>
                <a:rPr lang="ko-KR" altLang="en-US" sz="7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세부기획</a:t>
              </a:r>
              <a:endParaRPr lang="en-US" altLang="ko-KR" sz="700" b="1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37" name="Line 28"/>
            <p:cNvSpPr>
              <a:spLocks noChangeShapeType="1"/>
            </p:cNvSpPr>
            <p:nvPr/>
          </p:nvSpPr>
          <p:spPr bwMode="auto">
            <a:xfrm flipV="1">
              <a:off x="5661720" y="4092402"/>
              <a:ext cx="1066800" cy="457200"/>
            </a:xfrm>
            <a:prstGeom prst="line">
              <a:avLst/>
            </a:prstGeom>
            <a:noFill/>
            <a:ln w="6350">
              <a:solidFill>
                <a:schemeClr val="accent2"/>
              </a:solidFill>
              <a:round/>
              <a:headEnd/>
              <a:tailEnd type="triangl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noAutofit/>
            </a:bodyPr>
            <a:lstStyle/>
            <a:p>
              <a:endParaRPr lang="ko-KR" altLang="en-US" sz="100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38" name="Freeform 29"/>
            <p:cNvSpPr>
              <a:spLocks/>
            </p:cNvSpPr>
            <p:nvPr/>
          </p:nvSpPr>
          <p:spPr bwMode="auto">
            <a:xfrm flipV="1">
              <a:off x="3910708" y="4778202"/>
              <a:ext cx="3351212" cy="1030287"/>
            </a:xfrm>
            <a:custGeom>
              <a:avLst/>
              <a:gdLst>
                <a:gd name="T0" fmla="*/ 0 w 864"/>
                <a:gd name="T1" fmla="*/ 0 h 240"/>
                <a:gd name="T2" fmla="*/ 864 w 864"/>
                <a:gd name="T3" fmla="*/ 0 h 240"/>
                <a:gd name="T4" fmla="*/ 864 w 864"/>
                <a:gd name="T5" fmla="*/ 240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864" h="240">
                  <a:moveTo>
                    <a:pt x="0" y="0"/>
                  </a:moveTo>
                  <a:lnTo>
                    <a:pt x="864" y="0"/>
                  </a:lnTo>
                  <a:lnTo>
                    <a:pt x="864" y="240"/>
                  </a:lnTo>
                </a:path>
              </a:pathLst>
            </a:custGeom>
            <a:noFill/>
            <a:ln w="635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noAutofit/>
            </a:bodyPr>
            <a:lstStyle/>
            <a:p>
              <a:endParaRPr lang="ko-KR" altLang="en-US" sz="100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39" name="Text Box 31"/>
            <p:cNvSpPr txBox="1">
              <a:spLocks noChangeArrowheads="1"/>
            </p:cNvSpPr>
            <p:nvPr/>
          </p:nvSpPr>
          <p:spPr bwMode="auto">
            <a:xfrm>
              <a:off x="7917558" y="4271789"/>
              <a:ext cx="1020762" cy="2143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noAutofit/>
            </a:bodyPr>
            <a:lstStyle/>
            <a:p>
              <a:pPr algn="r">
                <a:lnSpc>
                  <a:spcPct val="80000"/>
                </a:lnSpc>
              </a:pPr>
              <a:r>
                <a:rPr lang="ko-KR" altLang="en-US" sz="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확인단계</a:t>
              </a:r>
              <a:endParaRPr lang="en-US" altLang="ko-KR" sz="400" b="1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40" name="Line 32"/>
            <p:cNvSpPr>
              <a:spLocks noChangeShapeType="1"/>
            </p:cNvSpPr>
            <p:nvPr/>
          </p:nvSpPr>
          <p:spPr bwMode="auto">
            <a:xfrm>
              <a:off x="7847708" y="3936827"/>
              <a:ext cx="590550" cy="1587"/>
            </a:xfrm>
            <a:prstGeom prst="line">
              <a:avLst/>
            </a:prstGeom>
            <a:noFill/>
            <a:ln w="6350">
              <a:solidFill>
                <a:schemeClr val="accent2"/>
              </a:solidFill>
              <a:round/>
              <a:headEnd/>
              <a:tailEnd type="triangl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noAutofit/>
            </a:bodyPr>
            <a:lstStyle/>
            <a:p>
              <a:endParaRPr lang="ko-KR" altLang="en-US" sz="100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41" name="Text Box 34"/>
            <p:cNvSpPr txBox="1">
              <a:spLocks noChangeArrowheads="1"/>
            </p:cNvSpPr>
            <p:nvPr/>
          </p:nvSpPr>
          <p:spPr bwMode="auto">
            <a:xfrm>
              <a:off x="4144070" y="4982989"/>
              <a:ext cx="1311275" cy="2143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noAutofit/>
            </a:bodyPr>
            <a:lstStyle/>
            <a:p>
              <a:pPr algn="r">
                <a:lnSpc>
                  <a:spcPct val="80000"/>
                </a:lnSpc>
              </a:pPr>
              <a:r>
                <a:rPr lang="ko-KR" altLang="en-US" sz="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분석</a:t>
              </a:r>
              <a:r>
                <a:rPr lang="en-US" altLang="ko-KR" sz="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/</a:t>
              </a:r>
              <a:r>
                <a:rPr lang="ko-KR" altLang="en-US" sz="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판단</a:t>
              </a:r>
              <a:endParaRPr lang="en-US" altLang="ko-KR" sz="400" b="1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42" name="Line 35"/>
            <p:cNvSpPr>
              <a:spLocks noChangeShapeType="1"/>
            </p:cNvSpPr>
            <p:nvPr/>
          </p:nvSpPr>
          <p:spPr bwMode="auto">
            <a:xfrm>
              <a:off x="5204520" y="3860627"/>
              <a:ext cx="0" cy="307975"/>
            </a:xfrm>
            <a:prstGeom prst="line">
              <a:avLst/>
            </a:prstGeom>
            <a:noFill/>
            <a:ln w="6350">
              <a:solidFill>
                <a:schemeClr val="accent2"/>
              </a:solidFill>
              <a:round/>
              <a:headEnd/>
              <a:tailEnd type="triangl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noAutofit/>
            </a:bodyPr>
            <a:lstStyle/>
            <a:p>
              <a:endParaRPr lang="ko-KR" altLang="en-US" sz="100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43" name="AutoShape 36"/>
            <p:cNvSpPr>
              <a:spLocks noChangeArrowheads="1"/>
            </p:cNvSpPr>
            <p:nvPr/>
          </p:nvSpPr>
          <p:spPr bwMode="auto">
            <a:xfrm>
              <a:off x="3528120" y="2227089"/>
              <a:ext cx="874713" cy="452438"/>
            </a:xfrm>
            <a:prstGeom prst="flowChartDocumen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  <a:miter lim="800000"/>
              <a:headEnd/>
              <a:tailEnd type="none" w="med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noAutofit/>
            </a:bodyPr>
            <a:lstStyle/>
            <a:p>
              <a:pPr algn="ctr"/>
              <a:r>
                <a:rPr lang="ko-KR" altLang="en-US" sz="400" b="1" dirty="0" err="1">
                  <a:latin typeface="나눔고딕" panose="020D0604000000000000" pitchFamily="50" charset="-127"/>
                  <a:ea typeface="나눔고딕" panose="020D0604000000000000" pitchFamily="50" charset="-127"/>
                </a:rPr>
                <a:t>컨텐츠</a:t>
              </a:r>
              <a:endParaRPr lang="en-US" altLang="ko-KR" sz="400" b="1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44" name="Line 37"/>
            <p:cNvSpPr>
              <a:spLocks noChangeShapeType="1"/>
            </p:cNvSpPr>
            <p:nvPr/>
          </p:nvSpPr>
          <p:spPr bwMode="auto">
            <a:xfrm>
              <a:off x="4061520" y="2760489"/>
              <a:ext cx="0" cy="762000"/>
            </a:xfrm>
            <a:prstGeom prst="line">
              <a:avLst/>
            </a:prstGeom>
            <a:noFill/>
            <a:ln w="6350">
              <a:solidFill>
                <a:schemeClr val="accent2"/>
              </a:solidFill>
              <a:round/>
              <a:headEnd/>
              <a:tailEnd type="triangl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noAutofit/>
            </a:bodyPr>
            <a:lstStyle/>
            <a:p>
              <a:endParaRPr lang="ko-KR" altLang="en-US" sz="100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45" name="Arc 38"/>
            <p:cNvSpPr>
              <a:spLocks/>
            </p:cNvSpPr>
            <p:nvPr/>
          </p:nvSpPr>
          <p:spPr bwMode="auto">
            <a:xfrm rot="9054098" flipH="1" flipV="1">
              <a:off x="7723883" y="2989089"/>
              <a:ext cx="1443037" cy="795338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35214"/>
                <a:gd name="T2" fmla="*/ 16770 w 21600"/>
                <a:gd name="T3" fmla="*/ 35214 h 35214"/>
                <a:gd name="T4" fmla="*/ 0 w 21600"/>
                <a:gd name="T5" fmla="*/ 21600 h 352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35214" fill="none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26557"/>
                    <a:pt x="19894" y="31364"/>
                    <a:pt x="16769" y="35213"/>
                  </a:cubicBezTo>
                </a:path>
                <a:path w="21600" h="35214" stroke="0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26557"/>
                    <a:pt x="19894" y="31364"/>
                    <a:pt x="16769" y="35213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6350">
              <a:solidFill>
                <a:srgbClr val="969696"/>
              </a:solidFill>
              <a:round/>
              <a:headEnd type="triangle" w="med" len="med"/>
              <a:tailEnd type="none" w="med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noAutofit/>
            </a:bodyPr>
            <a:lstStyle/>
            <a:p>
              <a:endParaRPr lang="ko-KR" altLang="en-US" sz="100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46" name="정육면체 245"/>
            <p:cNvSpPr/>
            <p:nvPr/>
          </p:nvSpPr>
          <p:spPr>
            <a:xfrm>
              <a:off x="2340670" y="2775111"/>
              <a:ext cx="452090" cy="509873"/>
            </a:xfrm>
            <a:prstGeom prst="cube">
              <a:avLst/>
            </a:prstGeom>
            <a:solidFill>
              <a:schemeClr val="bg1">
                <a:lumMod val="7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4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47" name="정육면체 246"/>
            <p:cNvSpPr/>
            <p:nvPr/>
          </p:nvSpPr>
          <p:spPr>
            <a:xfrm>
              <a:off x="3756720" y="3644727"/>
              <a:ext cx="548208" cy="655923"/>
            </a:xfrm>
            <a:prstGeom prst="cube">
              <a:avLst/>
            </a:prstGeom>
            <a:solidFill>
              <a:schemeClr val="bg1">
                <a:lumMod val="7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4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48" name="정육면체 247"/>
            <p:cNvSpPr/>
            <p:nvPr/>
          </p:nvSpPr>
          <p:spPr>
            <a:xfrm>
              <a:off x="4960776" y="4300364"/>
              <a:ext cx="548208" cy="655923"/>
            </a:xfrm>
            <a:prstGeom prst="cube">
              <a:avLst/>
            </a:prstGeom>
            <a:solidFill>
              <a:schemeClr val="bg1">
                <a:lumMod val="7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4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49" name="정육면체 248"/>
            <p:cNvSpPr/>
            <p:nvPr/>
          </p:nvSpPr>
          <p:spPr>
            <a:xfrm>
              <a:off x="6964362" y="3432695"/>
              <a:ext cx="724941" cy="1013719"/>
            </a:xfrm>
            <a:prstGeom prst="cube">
              <a:avLst/>
            </a:prstGeom>
            <a:solidFill>
              <a:schemeClr val="bg1">
                <a:lumMod val="7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4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50" name="정육면체 249"/>
            <p:cNvSpPr/>
            <p:nvPr/>
          </p:nvSpPr>
          <p:spPr>
            <a:xfrm>
              <a:off x="8605675" y="3681890"/>
              <a:ext cx="452090" cy="509873"/>
            </a:xfrm>
            <a:prstGeom prst="cube">
              <a:avLst/>
            </a:prstGeom>
            <a:solidFill>
              <a:srgbClr val="FFC000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4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sp>
        <p:nvSpPr>
          <p:cNvPr id="75" name="Freeform 54"/>
          <p:cNvSpPr>
            <a:spLocks/>
          </p:cNvSpPr>
          <p:nvPr/>
        </p:nvSpPr>
        <p:spPr bwMode="auto">
          <a:xfrm>
            <a:off x="3662008" y="2828883"/>
            <a:ext cx="930952" cy="1467039"/>
          </a:xfrm>
          <a:custGeom>
            <a:avLst/>
            <a:gdLst>
              <a:gd name="T0" fmla="*/ 0 w 2736"/>
              <a:gd name="T1" fmla="*/ 0 h 1200"/>
              <a:gd name="T2" fmla="*/ 0 w 2736"/>
              <a:gd name="T3" fmla="*/ 1200 h 1200"/>
              <a:gd name="T4" fmla="*/ 2736 w 2736"/>
              <a:gd name="T5" fmla="*/ 1200 h 12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736" h="1200">
                <a:moveTo>
                  <a:pt x="0" y="0"/>
                </a:moveTo>
                <a:lnTo>
                  <a:pt x="0" y="1200"/>
                </a:lnTo>
                <a:lnTo>
                  <a:pt x="2736" y="1200"/>
                </a:lnTo>
              </a:path>
            </a:pathLst>
          </a:custGeom>
          <a:noFill/>
          <a:ln w="28575" cap="flat" cmpd="sng">
            <a:solidFill>
              <a:srgbClr val="969696"/>
            </a:solidFill>
            <a:prstDash val="sysDot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9" name="AutoShape 40"/>
          <p:cNvSpPr>
            <a:spLocks noChangeArrowheads="1"/>
          </p:cNvSpPr>
          <p:nvPr/>
        </p:nvSpPr>
        <p:spPr bwMode="auto">
          <a:xfrm>
            <a:off x="4664968" y="1933723"/>
            <a:ext cx="4608512" cy="4462463"/>
          </a:xfrm>
          <a:prstGeom prst="homePlate">
            <a:avLst>
              <a:gd name="adj" fmla="val 15463"/>
            </a:avLst>
          </a:prstGeom>
          <a:solidFill>
            <a:schemeClr val="bg1"/>
          </a:solidFill>
          <a:ln w="9525" algn="ctr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>
            <a:outerShdw dist="7184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>
            <a:noAutofit/>
          </a:bodyPr>
          <a:lstStyle/>
          <a:p>
            <a:pPr algn="ctr"/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0" name="Rectangle 55"/>
          <p:cNvSpPr>
            <a:spLocks noChangeArrowheads="1"/>
          </p:cNvSpPr>
          <p:nvPr/>
        </p:nvSpPr>
        <p:spPr bwMode="auto">
          <a:xfrm>
            <a:off x="2072680" y="6048523"/>
            <a:ext cx="2438400" cy="404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66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kumimoji="1" sz="33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9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5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1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1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kumimoji="1" sz="21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kumimoji="1" sz="21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kumimoji="1" sz="21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kumimoji="1" sz="21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r">
              <a:buFontTx/>
              <a:buNone/>
            </a:pPr>
            <a:r>
              <a:rPr lang="ko-KR" altLang="en-US" sz="1200" b="1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확인단계</a:t>
            </a:r>
          </a:p>
        </p:txBody>
      </p:sp>
      <p:sp>
        <p:nvSpPr>
          <p:cNvPr id="81" name="Rectangle 40"/>
          <p:cNvSpPr>
            <a:spLocks noChangeArrowheads="1"/>
          </p:cNvSpPr>
          <p:nvPr/>
        </p:nvSpPr>
        <p:spPr bwMode="auto">
          <a:xfrm>
            <a:off x="5648026" y="2897286"/>
            <a:ext cx="989013" cy="28416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>
            <a:noAutofit/>
          </a:bodyPr>
          <a:lstStyle/>
          <a:p>
            <a:pPr algn="r">
              <a:lnSpc>
                <a:spcPct val="120000"/>
              </a:lnSpc>
            </a:pPr>
            <a:r>
              <a:rPr kumimoji="1"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사용자 테스트</a:t>
            </a:r>
            <a:endParaRPr kumimoji="1"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2" name="Rectangle 41"/>
          <p:cNvSpPr>
            <a:spLocks noChangeArrowheads="1"/>
          </p:cNvSpPr>
          <p:nvPr/>
        </p:nvSpPr>
        <p:spPr bwMode="auto">
          <a:xfrm>
            <a:off x="5648027" y="3332261"/>
            <a:ext cx="989013" cy="28416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>
            <a:noAutofit/>
          </a:bodyPr>
          <a:lstStyle/>
          <a:p>
            <a:pPr algn="r">
              <a:lnSpc>
                <a:spcPct val="120000"/>
              </a:lnSpc>
            </a:pPr>
            <a:r>
              <a:rPr kumimoji="1"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설문 조사</a:t>
            </a:r>
            <a:endParaRPr kumimoji="1"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3" name="Rectangle 42"/>
          <p:cNvSpPr>
            <a:spLocks noChangeArrowheads="1"/>
          </p:cNvSpPr>
          <p:nvPr/>
        </p:nvSpPr>
        <p:spPr bwMode="auto">
          <a:xfrm>
            <a:off x="5927923" y="5161061"/>
            <a:ext cx="1083767" cy="28416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>
            <a:noAutofit/>
          </a:bodyPr>
          <a:lstStyle/>
          <a:p>
            <a:pPr algn="ctr">
              <a:lnSpc>
                <a:spcPct val="120000"/>
              </a:lnSpc>
            </a:pPr>
            <a:r>
              <a:rPr kumimoji="1"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Checklist</a:t>
            </a:r>
          </a:p>
        </p:txBody>
      </p:sp>
      <p:sp>
        <p:nvSpPr>
          <p:cNvPr id="84" name="Rectangle 43"/>
          <p:cNvSpPr>
            <a:spLocks noChangeArrowheads="1"/>
          </p:cNvSpPr>
          <p:nvPr/>
        </p:nvSpPr>
        <p:spPr bwMode="auto">
          <a:xfrm rot="16200000">
            <a:off x="6557665" y="3046511"/>
            <a:ext cx="755650" cy="396875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>
            <a:noAutofit/>
          </a:bodyPr>
          <a:lstStyle/>
          <a:p>
            <a:pPr algn="ctr">
              <a:lnSpc>
                <a:spcPct val="90000"/>
              </a:lnSpc>
            </a:pPr>
            <a:r>
              <a:rPr kumimoji="1" lang="en-US" altLang="ko-KR" sz="1000" b="1">
                <a:latin typeface="나눔고딕" panose="020D0604000000000000" pitchFamily="50" charset="-127"/>
                <a:ea typeface="나눔고딕" panose="020D0604000000000000" pitchFamily="50" charset="-127"/>
              </a:rPr>
              <a:t>Field</a:t>
            </a:r>
          </a:p>
          <a:p>
            <a:pPr algn="ctr">
              <a:lnSpc>
                <a:spcPct val="90000"/>
              </a:lnSpc>
            </a:pPr>
            <a:r>
              <a:rPr kumimoji="1" lang="en-US" altLang="ko-KR" sz="1000" b="1">
                <a:latin typeface="나눔고딕" panose="020D0604000000000000" pitchFamily="50" charset="-127"/>
                <a:ea typeface="나눔고딕" panose="020D0604000000000000" pitchFamily="50" charset="-127"/>
              </a:rPr>
              <a:t>Research</a:t>
            </a:r>
          </a:p>
        </p:txBody>
      </p:sp>
      <p:sp>
        <p:nvSpPr>
          <p:cNvPr id="85" name="Rectangle 44"/>
          <p:cNvSpPr>
            <a:spLocks noChangeArrowheads="1"/>
          </p:cNvSpPr>
          <p:nvPr/>
        </p:nvSpPr>
        <p:spPr bwMode="auto">
          <a:xfrm>
            <a:off x="6968827" y="4151411"/>
            <a:ext cx="1152525" cy="323850"/>
          </a:xfrm>
          <a:prstGeom prst="rect">
            <a:avLst/>
          </a:prstGeom>
          <a:solidFill>
            <a:srgbClr val="FFFFCC"/>
          </a:solidFill>
          <a:ln w="12700" algn="ctr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>
            <a:noAutofit/>
          </a:bodyPr>
          <a:lstStyle/>
          <a:p>
            <a:pPr algn="ctr">
              <a:lnSpc>
                <a:spcPct val="120000"/>
              </a:lnSpc>
            </a:pPr>
            <a:r>
              <a:rPr kumimoji="1" lang="ko-KR" altLang="en-US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개선점 도출</a:t>
            </a:r>
            <a:endParaRPr kumimoji="1" lang="en-US" altLang="ko-KR" sz="12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86" name="AutoShape 45"/>
          <p:cNvCxnSpPr>
            <a:cxnSpLocks noChangeShapeType="1"/>
            <a:stCxn id="84" idx="2"/>
            <a:endCxn id="85" idx="0"/>
          </p:cNvCxnSpPr>
          <p:nvPr/>
        </p:nvCxnSpPr>
        <p:spPr bwMode="auto">
          <a:xfrm>
            <a:off x="7133927" y="3244949"/>
            <a:ext cx="411163" cy="906462"/>
          </a:xfrm>
          <a:prstGeom prst="bentConnector2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7" name="AutoShape 46"/>
          <p:cNvCxnSpPr>
            <a:cxnSpLocks noChangeShapeType="1"/>
            <a:stCxn id="83" idx="3"/>
            <a:endCxn id="85" idx="2"/>
          </p:cNvCxnSpPr>
          <p:nvPr/>
        </p:nvCxnSpPr>
        <p:spPr bwMode="auto">
          <a:xfrm flipV="1">
            <a:off x="7011690" y="4475261"/>
            <a:ext cx="533400" cy="827882"/>
          </a:xfrm>
          <a:prstGeom prst="bentConnector2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159044454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44017" y="91339"/>
            <a:ext cx="7401271" cy="385333"/>
          </a:xfrm>
          <a:prstGeom prst="rect">
            <a:avLst/>
          </a:prstGeom>
          <a:noFill/>
        </p:spPr>
        <p:txBody>
          <a:bodyPr wrap="square" lIns="0" tIns="53643" rIns="0" bIns="53643" rtlCol="0">
            <a:spAutoFit/>
          </a:bodyPr>
          <a:lstStyle/>
          <a:p>
            <a:r>
              <a:rPr kumimoji="1" lang="en-US" altLang="ko-KR" b="1" kern="0" dirty="0">
                <a:latin typeface="나눔고딕" panose="020D0604000000000000" pitchFamily="50" charset="-127"/>
                <a:ea typeface="나눔고딕" panose="020D0604000000000000" pitchFamily="50" charset="-127"/>
                <a:cs typeface="산돌고딕 M"/>
              </a:rPr>
              <a:t>User Interface Design</a:t>
            </a:r>
            <a:endParaRPr kumimoji="1" lang="ko-KR" altLang="en-US" b="1" kern="0" dirty="0">
              <a:latin typeface="나눔고딕" panose="020D0604000000000000" pitchFamily="50" charset="-127"/>
              <a:ea typeface="나눔고딕" panose="020D0604000000000000" pitchFamily="50" charset="-127"/>
              <a:cs typeface="산돌고딕 M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44017" y="683985"/>
            <a:ext cx="96335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U.I / U.X Design Process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8504" y="991762"/>
            <a:ext cx="8712968" cy="307777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고객 분석에서부터 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U.I / U.X blue print 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까지 진행하기 위한 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U.I / U.X 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설계 프로세스는 다음과 같습니다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776536" y="1400288"/>
            <a:ext cx="3024336" cy="36004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ko-KR" sz="14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Process 1 : Use case modeling</a:t>
            </a:r>
          </a:p>
        </p:txBody>
      </p:sp>
      <p:sp>
        <p:nvSpPr>
          <p:cNvPr id="14" name="Oval 16"/>
          <p:cNvSpPr>
            <a:spLocks noChangeArrowheads="1"/>
          </p:cNvSpPr>
          <p:nvPr/>
        </p:nvSpPr>
        <p:spPr bwMode="auto">
          <a:xfrm>
            <a:off x="477837" y="2096599"/>
            <a:ext cx="172215" cy="172215"/>
          </a:xfrm>
          <a:prstGeom prst="ellipse">
            <a:avLst/>
          </a:prstGeom>
          <a:solidFill>
            <a:srgbClr val="66FF66"/>
          </a:solidFill>
          <a:ln w="6350">
            <a:solidFill>
              <a:schemeClr val="tx1"/>
            </a:solidFill>
            <a:round/>
            <a:headEnd/>
            <a:tailEnd type="none" w="med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5" name="Oval 17"/>
          <p:cNvSpPr>
            <a:spLocks noChangeArrowheads="1"/>
          </p:cNvSpPr>
          <p:nvPr/>
        </p:nvSpPr>
        <p:spPr bwMode="auto">
          <a:xfrm>
            <a:off x="477837" y="2354922"/>
            <a:ext cx="172215" cy="172215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  <a:round/>
            <a:headEnd/>
            <a:tailEnd type="none" w="med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6" name="Oval 18"/>
          <p:cNvSpPr>
            <a:spLocks noChangeArrowheads="1"/>
          </p:cNvSpPr>
          <p:nvPr/>
        </p:nvSpPr>
        <p:spPr bwMode="auto">
          <a:xfrm>
            <a:off x="477837" y="2613244"/>
            <a:ext cx="172215" cy="172215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  <a:round/>
            <a:headEnd/>
            <a:tailEnd type="none" w="med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7" name="Oval 19"/>
          <p:cNvSpPr>
            <a:spLocks noChangeArrowheads="1"/>
          </p:cNvSpPr>
          <p:nvPr/>
        </p:nvSpPr>
        <p:spPr bwMode="auto">
          <a:xfrm>
            <a:off x="477837" y="2871567"/>
            <a:ext cx="172215" cy="172215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  <a:round/>
            <a:headEnd/>
            <a:tailEnd type="none" w="med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" name="Oval 20"/>
          <p:cNvSpPr>
            <a:spLocks noChangeArrowheads="1"/>
          </p:cNvSpPr>
          <p:nvPr/>
        </p:nvSpPr>
        <p:spPr bwMode="auto">
          <a:xfrm>
            <a:off x="477837" y="3129889"/>
            <a:ext cx="172215" cy="172215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  <a:round/>
            <a:headEnd/>
            <a:tailEnd type="none" w="med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9" name="Oval 21"/>
          <p:cNvSpPr>
            <a:spLocks noChangeArrowheads="1"/>
          </p:cNvSpPr>
          <p:nvPr/>
        </p:nvSpPr>
        <p:spPr bwMode="auto">
          <a:xfrm>
            <a:off x="477837" y="3388212"/>
            <a:ext cx="172215" cy="172215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  <a:round/>
            <a:headEnd/>
            <a:tailEnd type="none" w="med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0" name="Oval 22"/>
          <p:cNvSpPr>
            <a:spLocks noChangeArrowheads="1"/>
          </p:cNvSpPr>
          <p:nvPr/>
        </p:nvSpPr>
        <p:spPr bwMode="auto">
          <a:xfrm>
            <a:off x="477837" y="3646534"/>
            <a:ext cx="172215" cy="172215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  <a:round/>
            <a:headEnd/>
            <a:tailEnd type="none" w="med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1" name="Oval 23"/>
          <p:cNvSpPr>
            <a:spLocks noChangeArrowheads="1"/>
          </p:cNvSpPr>
          <p:nvPr/>
        </p:nvSpPr>
        <p:spPr bwMode="auto">
          <a:xfrm>
            <a:off x="477837" y="3904857"/>
            <a:ext cx="172215" cy="172215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  <a:round/>
            <a:headEnd/>
            <a:tailEnd type="none" w="med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4" name="AutoShape 22"/>
          <p:cNvSpPr>
            <a:spLocks noChangeArrowheads="1"/>
          </p:cNvSpPr>
          <p:nvPr/>
        </p:nvSpPr>
        <p:spPr bwMode="auto">
          <a:xfrm>
            <a:off x="272480" y="2082570"/>
            <a:ext cx="127000" cy="190500"/>
          </a:xfrm>
          <a:prstGeom prst="homePlate">
            <a:avLst>
              <a:gd name="adj" fmla="val 77083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tx1"/>
            </a:solidFill>
            <a:miter lim="800000"/>
            <a:headEnd/>
            <a:tailEnd type="none" w="med" len="sm"/>
          </a:ln>
          <a:effectLst/>
        </p:spPr>
        <p:txBody>
          <a:bodyPr wrap="none" lIns="90000" tIns="46800" rIns="90000" bIns="46800" anchor="ctr"/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94068" y="1804754"/>
            <a:ext cx="87674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U.I / U.X 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설계의 기준은 고객의 사이트 방문 목적에 대한 시나리오입니다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즉 ‘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Scenario based design’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이며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Use case modeling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은 설정된 시나리오를 기준으로</a:t>
            </a:r>
            <a:b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sz="1000">
                <a:latin typeface="나눔고딕" panose="020D0604000000000000" pitchFamily="50" charset="-127"/>
                <a:ea typeface="나눔고딕" panose="020D0604000000000000" pitchFamily="50" charset="-127"/>
              </a:rPr>
              <a:t>고객이 </a:t>
            </a:r>
            <a:r>
              <a:rPr lang="en" altLang="ko-KR" sz="1000">
                <a:latin typeface="나눔고딕" panose="020D0604000000000000" pitchFamily="50" charset="-127"/>
                <a:ea typeface="나눔고딕" panose="020D0604000000000000" pitchFamily="50" charset="-127"/>
              </a:rPr>
              <a:t>XXX</a:t>
            </a:r>
            <a:r>
              <a:rPr lang="ko-KR" altLang="en-US" sz="1000">
                <a:latin typeface="나눔고딕" panose="020D0604000000000000" pitchFamily="50" charset="-127"/>
                <a:ea typeface="나눔고딕" panose="020D0604000000000000" pitchFamily="50" charset="-127"/>
              </a:rPr>
              <a:t>서비스 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온라인 판매사이트에 들어와서 하게 될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behavior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를 추출하는 과정입니다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endParaRPr lang="ko-KR" altLang="en-US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8" name="Rectangle 2"/>
          <p:cNvSpPr>
            <a:spLocks noChangeArrowheads="1"/>
          </p:cNvSpPr>
          <p:nvPr/>
        </p:nvSpPr>
        <p:spPr bwMode="auto">
          <a:xfrm>
            <a:off x="1838623" y="2497163"/>
            <a:ext cx="6705600" cy="3048000"/>
          </a:xfrm>
          <a:prstGeom prst="rect">
            <a:avLst/>
          </a:prstGeom>
          <a:solidFill>
            <a:srgbClr val="FFFFCC"/>
          </a:solidFill>
          <a:ln w="6350">
            <a:solidFill>
              <a:schemeClr val="tx1"/>
            </a:solidFill>
            <a:miter lim="800000"/>
            <a:headEnd/>
            <a:tailEnd type="none" w="med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9" name="Line 3"/>
          <p:cNvSpPr>
            <a:spLocks noChangeShapeType="1"/>
          </p:cNvSpPr>
          <p:nvPr/>
        </p:nvSpPr>
        <p:spPr bwMode="auto">
          <a:xfrm>
            <a:off x="3819823" y="3182963"/>
            <a:ext cx="1143000" cy="114300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 type="none" w="med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1" name="Line 4"/>
          <p:cNvSpPr>
            <a:spLocks noChangeShapeType="1"/>
          </p:cNvSpPr>
          <p:nvPr/>
        </p:nvSpPr>
        <p:spPr bwMode="auto">
          <a:xfrm>
            <a:off x="3591223" y="3716363"/>
            <a:ext cx="1295400" cy="76200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 type="none" w="med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2" name="Line 5"/>
          <p:cNvSpPr>
            <a:spLocks noChangeShapeType="1"/>
          </p:cNvSpPr>
          <p:nvPr/>
        </p:nvSpPr>
        <p:spPr bwMode="auto">
          <a:xfrm>
            <a:off x="3819823" y="4402163"/>
            <a:ext cx="990600" cy="22860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 type="none" w="med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3" name="Line 6"/>
          <p:cNvSpPr>
            <a:spLocks noChangeShapeType="1"/>
          </p:cNvSpPr>
          <p:nvPr/>
        </p:nvSpPr>
        <p:spPr bwMode="auto">
          <a:xfrm flipV="1">
            <a:off x="3896023" y="4859363"/>
            <a:ext cx="914400" cy="15240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 type="none" w="med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4" name="Line 7"/>
          <p:cNvSpPr>
            <a:spLocks noChangeShapeType="1"/>
          </p:cNvSpPr>
          <p:nvPr/>
        </p:nvSpPr>
        <p:spPr bwMode="auto">
          <a:xfrm flipV="1">
            <a:off x="5420023" y="2878163"/>
            <a:ext cx="914400" cy="144780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 type="none" w="med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5" name="Line 8"/>
          <p:cNvSpPr>
            <a:spLocks noChangeShapeType="1"/>
          </p:cNvSpPr>
          <p:nvPr/>
        </p:nvSpPr>
        <p:spPr bwMode="auto">
          <a:xfrm flipV="1">
            <a:off x="5496223" y="3640163"/>
            <a:ext cx="1066800" cy="83820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 type="none" w="med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6" name="Line 9"/>
          <p:cNvSpPr>
            <a:spLocks noChangeShapeType="1"/>
          </p:cNvSpPr>
          <p:nvPr/>
        </p:nvSpPr>
        <p:spPr bwMode="auto">
          <a:xfrm flipV="1">
            <a:off x="5572423" y="4325963"/>
            <a:ext cx="1066800" cy="30480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 type="none" w="med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7" name="Line 10"/>
          <p:cNvSpPr>
            <a:spLocks noChangeShapeType="1"/>
          </p:cNvSpPr>
          <p:nvPr/>
        </p:nvSpPr>
        <p:spPr bwMode="auto">
          <a:xfrm>
            <a:off x="5572423" y="4859363"/>
            <a:ext cx="990600" cy="30480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 type="none" w="med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8" name="Text Box 11"/>
          <p:cNvSpPr txBox="1">
            <a:spLocks noChangeArrowheads="1"/>
          </p:cNvSpPr>
          <p:nvPr/>
        </p:nvSpPr>
        <p:spPr bwMode="auto">
          <a:xfrm>
            <a:off x="4286548" y="5849963"/>
            <a:ext cx="1819275" cy="4593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268288" indent="-8890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>
              <a:lnSpc>
                <a:spcPct val="140000"/>
              </a:lnSpc>
            </a:pPr>
            <a:r>
              <a:rPr kumimoji="0" lang="ko-KR" altLang="en-US" sz="900" b="1">
                <a:latin typeface="나눔고딕" panose="020D0604000000000000" pitchFamily="50" charset="-127"/>
                <a:ea typeface="나눔고딕" panose="020D0604000000000000" pitchFamily="50" charset="-127"/>
              </a:rPr>
              <a:t>서비스가입을 </a:t>
            </a:r>
            <a:r>
              <a:rPr kumimoji="0" lang="ko-KR" altLang="en-US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통해 미래 및 리스크 대비를 하고자 하는 고객</a:t>
            </a:r>
          </a:p>
        </p:txBody>
      </p:sp>
      <p:grpSp>
        <p:nvGrpSpPr>
          <p:cNvPr id="39" name="Group 25"/>
          <p:cNvGrpSpPr>
            <a:grpSpLocks/>
          </p:cNvGrpSpPr>
          <p:nvPr/>
        </p:nvGrpSpPr>
        <p:grpSpPr bwMode="auto">
          <a:xfrm>
            <a:off x="4886623" y="4325963"/>
            <a:ext cx="609600" cy="1528763"/>
            <a:chOff x="5875" y="720"/>
            <a:chExt cx="313" cy="1146"/>
          </a:xfrm>
        </p:grpSpPr>
        <p:grpSp>
          <p:nvGrpSpPr>
            <p:cNvPr id="40" name="Group 26"/>
            <p:cNvGrpSpPr>
              <a:grpSpLocks/>
            </p:cNvGrpSpPr>
            <p:nvPr/>
          </p:nvGrpSpPr>
          <p:grpSpPr bwMode="auto">
            <a:xfrm>
              <a:off x="5875" y="720"/>
              <a:ext cx="313" cy="1146"/>
              <a:chOff x="3872" y="1622"/>
              <a:chExt cx="98" cy="388"/>
            </a:xfrm>
          </p:grpSpPr>
          <p:sp>
            <p:nvSpPr>
              <p:cNvPr id="42" name="Freeform 27"/>
              <p:cNvSpPr>
                <a:spLocks/>
              </p:cNvSpPr>
              <p:nvPr/>
            </p:nvSpPr>
            <p:spPr bwMode="auto">
              <a:xfrm>
                <a:off x="3901" y="1622"/>
                <a:ext cx="40" cy="57"/>
              </a:xfrm>
              <a:custGeom>
                <a:avLst/>
                <a:gdLst>
                  <a:gd name="T0" fmla="*/ 40 w 40"/>
                  <a:gd name="T1" fmla="*/ 29 h 57"/>
                  <a:gd name="T2" fmla="*/ 39 w 40"/>
                  <a:gd name="T3" fmla="*/ 16 h 57"/>
                  <a:gd name="T4" fmla="*/ 33 w 40"/>
                  <a:gd name="T5" fmla="*/ 5 h 57"/>
                  <a:gd name="T6" fmla="*/ 24 w 40"/>
                  <a:gd name="T7" fmla="*/ 0 h 57"/>
                  <a:gd name="T8" fmla="*/ 16 w 40"/>
                  <a:gd name="T9" fmla="*/ 0 h 57"/>
                  <a:gd name="T10" fmla="*/ 7 w 40"/>
                  <a:gd name="T11" fmla="*/ 5 h 57"/>
                  <a:gd name="T12" fmla="*/ 1 w 40"/>
                  <a:gd name="T13" fmla="*/ 16 h 57"/>
                  <a:gd name="T14" fmla="*/ 0 w 40"/>
                  <a:gd name="T15" fmla="*/ 29 h 57"/>
                  <a:gd name="T16" fmla="*/ 1 w 40"/>
                  <a:gd name="T17" fmla="*/ 41 h 57"/>
                  <a:gd name="T18" fmla="*/ 7 w 40"/>
                  <a:gd name="T19" fmla="*/ 52 h 57"/>
                  <a:gd name="T20" fmla="*/ 16 w 40"/>
                  <a:gd name="T21" fmla="*/ 57 h 57"/>
                  <a:gd name="T22" fmla="*/ 24 w 40"/>
                  <a:gd name="T23" fmla="*/ 57 h 57"/>
                  <a:gd name="T24" fmla="*/ 33 w 40"/>
                  <a:gd name="T25" fmla="*/ 52 h 57"/>
                  <a:gd name="T26" fmla="*/ 39 w 40"/>
                  <a:gd name="T27" fmla="*/ 41 h 57"/>
                  <a:gd name="T28" fmla="*/ 40 w 40"/>
                  <a:gd name="T29" fmla="*/ 29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40" h="57">
                    <a:moveTo>
                      <a:pt x="40" y="29"/>
                    </a:moveTo>
                    <a:lnTo>
                      <a:pt x="39" y="16"/>
                    </a:lnTo>
                    <a:lnTo>
                      <a:pt x="33" y="5"/>
                    </a:lnTo>
                    <a:lnTo>
                      <a:pt x="24" y="0"/>
                    </a:lnTo>
                    <a:lnTo>
                      <a:pt x="16" y="0"/>
                    </a:lnTo>
                    <a:lnTo>
                      <a:pt x="7" y="5"/>
                    </a:lnTo>
                    <a:lnTo>
                      <a:pt x="1" y="16"/>
                    </a:lnTo>
                    <a:lnTo>
                      <a:pt x="0" y="29"/>
                    </a:lnTo>
                    <a:lnTo>
                      <a:pt x="1" y="41"/>
                    </a:lnTo>
                    <a:lnTo>
                      <a:pt x="7" y="52"/>
                    </a:lnTo>
                    <a:lnTo>
                      <a:pt x="16" y="57"/>
                    </a:lnTo>
                    <a:lnTo>
                      <a:pt x="24" y="57"/>
                    </a:lnTo>
                    <a:lnTo>
                      <a:pt x="33" y="52"/>
                    </a:lnTo>
                    <a:lnTo>
                      <a:pt x="39" y="41"/>
                    </a:lnTo>
                    <a:lnTo>
                      <a:pt x="40" y="29"/>
                    </a:lnTo>
                    <a:close/>
                  </a:path>
                </a:pathLst>
              </a:cu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3175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47" name="Freeform 28"/>
              <p:cNvSpPr>
                <a:spLocks/>
              </p:cNvSpPr>
              <p:nvPr/>
            </p:nvSpPr>
            <p:spPr bwMode="auto">
              <a:xfrm>
                <a:off x="3872" y="1690"/>
                <a:ext cx="98" cy="320"/>
              </a:xfrm>
              <a:custGeom>
                <a:avLst/>
                <a:gdLst>
                  <a:gd name="T0" fmla="*/ 68 w 98"/>
                  <a:gd name="T1" fmla="*/ 0 h 320"/>
                  <a:gd name="T2" fmla="*/ 75 w 98"/>
                  <a:gd name="T3" fmla="*/ 0 h 320"/>
                  <a:gd name="T4" fmla="*/ 84 w 98"/>
                  <a:gd name="T5" fmla="*/ 2 h 320"/>
                  <a:gd name="T6" fmla="*/ 96 w 98"/>
                  <a:gd name="T7" fmla="*/ 25 h 320"/>
                  <a:gd name="T8" fmla="*/ 98 w 98"/>
                  <a:gd name="T9" fmla="*/ 48 h 320"/>
                  <a:gd name="T10" fmla="*/ 98 w 98"/>
                  <a:gd name="T11" fmla="*/ 143 h 320"/>
                  <a:gd name="T12" fmla="*/ 89 w 98"/>
                  <a:gd name="T13" fmla="*/ 155 h 320"/>
                  <a:gd name="T14" fmla="*/ 82 w 98"/>
                  <a:gd name="T15" fmla="*/ 148 h 320"/>
                  <a:gd name="T16" fmla="*/ 80 w 98"/>
                  <a:gd name="T17" fmla="*/ 139 h 320"/>
                  <a:gd name="T18" fmla="*/ 75 w 98"/>
                  <a:gd name="T19" fmla="*/ 53 h 320"/>
                  <a:gd name="T20" fmla="*/ 75 w 98"/>
                  <a:gd name="T21" fmla="*/ 298 h 320"/>
                  <a:gd name="T22" fmla="*/ 75 w 98"/>
                  <a:gd name="T23" fmla="*/ 305 h 320"/>
                  <a:gd name="T24" fmla="*/ 69 w 98"/>
                  <a:gd name="T25" fmla="*/ 318 h 320"/>
                  <a:gd name="T26" fmla="*/ 59 w 98"/>
                  <a:gd name="T27" fmla="*/ 318 h 320"/>
                  <a:gd name="T28" fmla="*/ 53 w 98"/>
                  <a:gd name="T29" fmla="*/ 298 h 320"/>
                  <a:gd name="T30" fmla="*/ 53 w 98"/>
                  <a:gd name="T31" fmla="*/ 155 h 320"/>
                  <a:gd name="T32" fmla="*/ 50 w 98"/>
                  <a:gd name="T33" fmla="*/ 153 h 320"/>
                  <a:gd name="T34" fmla="*/ 45 w 98"/>
                  <a:gd name="T35" fmla="*/ 295 h 320"/>
                  <a:gd name="T36" fmla="*/ 45 w 98"/>
                  <a:gd name="T37" fmla="*/ 303 h 320"/>
                  <a:gd name="T38" fmla="*/ 43 w 98"/>
                  <a:gd name="T39" fmla="*/ 314 h 320"/>
                  <a:gd name="T40" fmla="*/ 34 w 98"/>
                  <a:gd name="T41" fmla="*/ 320 h 320"/>
                  <a:gd name="T42" fmla="*/ 25 w 98"/>
                  <a:gd name="T43" fmla="*/ 312 h 320"/>
                  <a:gd name="T44" fmla="*/ 23 w 98"/>
                  <a:gd name="T45" fmla="*/ 302 h 320"/>
                  <a:gd name="T46" fmla="*/ 23 w 98"/>
                  <a:gd name="T47" fmla="*/ 295 h 320"/>
                  <a:gd name="T48" fmla="*/ 18 w 98"/>
                  <a:gd name="T49" fmla="*/ 53 h 320"/>
                  <a:gd name="T50" fmla="*/ 18 w 98"/>
                  <a:gd name="T51" fmla="*/ 143 h 320"/>
                  <a:gd name="T52" fmla="*/ 18 w 98"/>
                  <a:gd name="T53" fmla="*/ 148 h 320"/>
                  <a:gd name="T54" fmla="*/ 13 w 98"/>
                  <a:gd name="T55" fmla="*/ 153 h 320"/>
                  <a:gd name="T56" fmla="*/ 2 w 98"/>
                  <a:gd name="T57" fmla="*/ 150 h 320"/>
                  <a:gd name="T58" fmla="*/ 0 w 98"/>
                  <a:gd name="T59" fmla="*/ 139 h 320"/>
                  <a:gd name="T60" fmla="*/ 0 w 98"/>
                  <a:gd name="T61" fmla="*/ 44 h 320"/>
                  <a:gd name="T62" fmla="*/ 7 w 98"/>
                  <a:gd name="T63" fmla="*/ 11 h 320"/>
                  <a:gd name="T64" fmla="*/ 20 w 98"/>
                  <a:gd name="T65" fmla="*/ 0 h 320"/>
                  <a:gd name="T66" fmla="*/ 25 w 98"/>
                  <a:gd name="T67" fmla="*/ 0 h 320"/>
                  <a:gd name="T68" fmla="*/ 52 w 98"/>
                  <a:gd name="T69" fmla="*/ 0 h 3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98" h="320">
                    <a:moveTo>
                      <a:pt x="46" y="0"/>
                    </a:moveTo>
                    <a:lnTo>
                      <a:pt x="68" y="0"/>
                    </a:lnTo>
                    <a:lnTo>
                      <a:pt x="73" y="0"/>
                    </a:lnTo>
                    <a:lnTo>
                      <a:pt x="75" y="0"/>
                    </a:lnTo>
                    <a:lnTo>
                      <a:pt x="78" y="0"/>
                    </a:lnTo>
                    <a:lnTo>
                      <a:pt x="84" y="2"/>
                    </a:lnTo>
                    <a:lnTo>
                      <a:pt x="91" y="11"/>
                    </a:lnTo>
                    <a:lnTo>
                      <a:pt x="96" y="25"/>
                    </a:lnTo>
                    <a:lnTo>
                      <a:pt x="98" y="44"/>
                    </a:lnTo>
                    <a:lnTo>
                      <a:pt x="98" y="48"/>
                    </a:lnTo>
                    <a:lnTo>
                      <a:pt x="98" y="139"/>
                    </a:lnTo>
                    <a:lnTo>
                      <a:pt x="98" y="143"/>
                    </a:lnTo>
                    <a:lnTo>
                      <a:pt x="96" y="150"/>
                    </a:lnTo>
                    <a:lnTo>
                      <a:pt x="89" y="155"/>
                    </a:lnTo>
                    <a:lnTo>
                      <a:pt x="84" y="153"/>
                    </a:lnTo>
                    <a:lnTo>
                      <a:pt x="82" y="148"/>
                    </a:lnTo>
                    <a:lnTo>
                      <a:pt x="80" y="143"/>
                    </a:lnTo>
                    <a:lnTo>
                      <a:pt x="80" y="139"/>
                    </a:lnTo>
                    <a:lnTo>
                      <a:pt x="80" y="53"/>
                    </a:lnTo>
                    <a:lnTo>
                      <a:pt x="75" y="53"/>
                    </a:lnTo>
                    <a:lnTo>
                      <a:pt x="75" y="295"/>
                    </a:lnTo>
                    <a:lnTo>
                      <a:pt x="75" y="298"/>
                    </a:lnTo>
                    <a:lnTo>
                      <a:pt x="75" y="300"/>
                    </a:lnTo>
                    <a:lnTo>
                      <a:pt x="75" y="305"/>
                    </a:lnTo>
                    <a:lnTo>
                      <a:pt x="73" y="312"/>
                    </a:lnTo>
                    <a:lnTo>
                      <a:pt x="69" y="318"/>
                    </a:lnTo>
                    <a:lnTo>
                      <a:pt x="64" y="320"/>
                    </a:lnTo>
                    <a:lnTo>
                      <a:pt x="59" y="318"/>
                    </a:lnTo>
                    <a:lnTo>
                      <a:pt x="55" y="316"/>
                    </a:lnTo>
                    <a:lnTo>
                      <a:pt x="53" y="298"/>
                    </a:lnTo>
                    <a:lnTo>
                      <a:pt x="53" y="295"/>
                    </a:lnTo>
                    <a:lnTo>
                      <a:pt x="53" y="155"/>
                    </a:lnTo>
                    <a:lnTo>
                      <a:pt x="48" y="153"/>
                    </a:lnTo>
                    <a:lnTo>
                      <a:pt x="50" y="153"/>
                    </a:lnTo>
                    <a:lnTo>
                      <a:pt x="45" y="155"/>
                    </a:lnTo>
                    <a:lnTo>
                      <a:pt x="45" y="295"/>
                    </a:lnTo>
                    <a:lnTo>
                      <a:pt x="45" y="298"/>
                    </a:lnTo>
                    <a:lnTo>
                      <a:pt x="45" y="303"/>
                    </a:lnTo>
                    <a:lnTo>
                      <a:pt x="45" y="307"/>
                    </a:lnTo>
                    <a:lnTo>
                      <a:pt x="43" y="314"/>
                    </a:lnTo>
                    <a:lnTo>
                      <a:pt x="39" y="318"/>
                    </a:lnTo>
                    <a:lnTo>
                      <a:pt x="34" y="320"/>
                    </a:lnTo>
                    <a:lnTo>
                      <a:pt x="29" y="318"/>
                    </a:lnTo>
                    <a:lnTo>
                      <a:pt x="25" y="312"/>
                    </a:lnTo>
                    <a:lnTo>
                      <a:pt x="23" y="305"/>
                    </a:lnTo>
                    <a:lnTo>
                      <a:pt x="23" y="302"/>
                    </a:lnTo>
                    <a:lnTo>
                      <a:pt x="23" y="298"/>
                    </a:lnTo>
                    <a:lnTo>
                      <a:pt x="23" y="295"/>
                    </a:lnTo>
                    <a:lnTo>
                      <a:pt x="23" y="53"/>
                    </a:lnTo>
                    <a:lnTo>
                      <a:pt x="18" y="53"/>
                    </a:lnTo>
                    <a:lnTo>
                      <a:pt x="18" y="139"/>
                    </a:lnTo>
                    <a:lnTo>
                      <a:pt x="18" y="143"/>
                    </a:lnTo>
                    <a:lnTo>
                      <a:pt x="18" y="144"/>
                    </a:lnTo>
                    <a:lnTo>
                      <a:pt x="18" y="148"/>
                    </a:lnTo>
                    <a:lnTo>
                      <a:pt x="14" y="152"/>
                    </a:lnTo>
                    <a:lnTo>
                      <a:pt x="13" y="153"/>
                    </a:lnTo>
                    <a:lnTo>
                      <a:pt x="9" y="155"/>
                    </a:lnTo>
                    <a:lnTo>
                      <a:pt x="2" y="150"/>
                    </a:lnTo>
                    <a:lnTo>
                      <a:pt x="0" y="143"/>
                    </a:lnTo>
                    <a:lnTo>
                      <a:pt x="0" y="139"/>
                    </a:lnTo>
                    <a:lnTo>
                      <a:pt x="0" y="48"/>
                    </a:lnTo>
                    <a:lnTo>
                      <a:pt x="0" y="44"/>
                    </a:lnTo>
                    <a:lnTo>
                      <a:pt x="2" y="27"/>
                    </a:lnTo>
                    <a:lnTo>
                      <a:pt x="7" y="11"/>
                    </a:lnTo>
                    <a:lnTo>
                      <a:pt x="14" y="3"/>
                    </a:lnTo>
                    <a:lnTo>
                      <a:pt x="20" y="0"/>
                    </a:lnTo>
                    <a:lnTo>
                      <a:pt x="21" y="0"/>
                    </a:lnTo>
                    <a:lnTo>
                      <a:pt x="25" y="0"/>
                    </a:lnTo>
                    <a:lnTo>
                      <a:pt x="29" y="0"/>
                    </a:lnTo>
                    <a:lnTo>
                      <a:pt x="52" y="0"/>
                    </a:lnTo>
                    <a:lnTo>
                      <a:pt x="46" y="0"/>
                    </a:lnTo>
                    <a:close/>
                  </a:path>
                </a:pathLst>
              </a:cu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3175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p:grpSp>
        <p:sp>
          <p:nvSpPr>
            <p:cNvPr id="41" name="Oval 29"/>
            <p:cNvSpPr>
              <a:spLocks noChangeArrowheads="1"/>
            </p:cNvSpPr>
            <p:nvPr/>
          </p:nvSpPr>
          <p:spPr bwMode="auto">
            <a:xfrm>
              <a:off x="5875" y="960"/>
              <a:ext cx="127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sp>
        <p:nvSpPr>
          <p:cNvPr id="50" name="Oval 31"/>
          <p:cNvSpPr>
            <a:spLocks noChangeArrowheads="1"/>
          </p:cNvSpPr>
          <p:nvPr/>
        </p:nvSpPr>
        <p:spPr bwMode="auto">
          <a:xfrm>
            <a:off x="2372023" y="2725763"/>
            <a:ext cx="1749425" cy="61456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noAutofit/>
          </a:bodyPr>
          <a:lstStyle>
            <a:lvl1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268288" indent="-8890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>
              <a:lnSpc>
                <a:spcPct val="140000"/>
              </a:lnSpc>
            </a:pPr>
            <a:r>
              <a:rPr kumimoji="0" lang="ko-KR" altLang="en-US" sz="800">
                <a:latin typeface="나눔고딕" panose="020D0604000000000000" pitchFamily="50" charset="-127"/>
                <a:ea typeface="나눔고딕" panose="020D0604000000000000" pitchFamily="50" charset="-127"/>
              </a:rPr>
              <a:t>서비스로 </a:t>
            </a:r>
            <a:r>
              <a:rPr kumimoji="0"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미래를</a:t>
            </a:r>
            <a:br>
              <a:rPr kumimoji="0"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kumimoji="0"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보장받고 싶다</a:t>
            </a:r>
          </a:p>
        </p:txBody>
      </p:sp>
      <p:sp>
        <p:nvSpPr>
          <p:cNvPr id="51" name="Oval 32"/>
          <p:cNvSpPr>
            <a:spLocks noChangeArrowheads="1"/>
          </p:cNvSpPr>
          <p:nvPr/>
        </p:nvSpPr>
        <p:spPr bwMode="auto">
          <a:xfrm>
            <a:off x="1914823" y="3487763"/>
            <a:ext cx="1752600" cy="372201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noAutofit/>
          </a:bodyPr>
          <a:lstStyle>
            <a:lvl1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268288" indent="-8890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>
              <a:lnSpc>
                <a:spcPct val="140000"/>
              </a:lnSpc>
            </a:pPr>
            <a:r>
              <a:rPr kumimoji="0"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보장방법을 찾는다</a:t>
            </a:r>
          </a:p>
        </p:txBody>
      </p:sp>
      <p:sp>
        <p:nvSpPr>
          <p:cNvPr id="52" name="Oval 33"/>
          <p:cNvSpPr>
            <a:spLocks noChangeArrowheads="1"/>
          </p:cNvSpPr>
          <p:nvPr/>
        </p:nvSpPr>
        <p:spPr bwMode="auto">
          <a:xfrm>
            <a:off x="2219623" y="4859363"/>
            <a:ext cx="1752600" cy="372201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noAutofit/>
          </a:bodyPr>
          <a:lstStyle>
            <a:lvl1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268288" indent="-8890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>
              <a:lnSpc>
                <a:spcPct val="140000"/>
              </a:lnSpc>
            </a:pPr>
            <a:r>
              <a:rPr kumimoji="0"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미래에 대한 정보를 찾는다</a:t>
            </a:r>
          </a:p>
        </p:txBody>
      </p:sp>
      <p:sp>
        <p:nvSpPr>
          <p:cNvPr id="53" name="Oval 34"/>
          <p:cNvSpPr>
            <a:spLocks noChangeArrowheads="1"/>
          </p:cNvSpPr>
          <p:nvPr/>
        </p:nvSpPr>
        <p:spPr bwMode="auto">
          <a:xfrm>
            <a:off x="2143423" y="4097363"/>
            <a:ext cx="1749425" cy="61456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noAutofit/>
          </a:bodyPr>
          <a:lstStyle>
            <a:lvl1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268288" indent="-8890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>
              <a:lnSpc>
                <a:spcPct val="140000"/>
              </a:lnSpc>
            </a:pPr>
            <a:r>
              <a:rPr kumimoji="0" lang="ko-KR" altLang="en-US" sz="800">
                <a:latin typeface="나눔고딕" panose="020D0604000000000000" pitchFamily="50" charset="-127"/>
                <a:ea typeface="나눔고딕" panose="020D0604000000000000" pitchFamily="50" charset="-127"/>
              </a:rPr>
              <a:t>미래보장서비스로 </a:t>
            </a:r>
            <a:r>
              <a:rPr kumimoji="0"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선택한다</a:t>
            </a:r>
          </a:p>
        </p:txBody>
      </p:sp>
      <p:sp>
        <p:nvSpPr>
          <p:cNvPr id="54" name="Oval 35"/>
          <p:cNvSpPr>
            <a:spLocks noChangeArrowheads="1"/>
          </p:cNvSpPr>
          <p:nvPr/>
        </p:nvSpPr>
        <p:spPr bwMode="auto">
          <a:xfrm>
            <a:off x="6334423" y="5011763"/>
            <a:ext cx="1752600" cy="372201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noAutofit/>
          </a:bodyPr>
          <a:lstStyle>
            <a:lvl1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268288" indent="-8890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>
              <a:lnSpc>
                <a:spcPct val="140000"/>
              </a:lnSpc>
            </a:pPr>
            <a:r>
              <a:rPr kumimoji="0"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결과에 따라 가입한다</a:t>
            </a:r>
          </a:p>
        </p:txBody>
      </p:sp>
      <p:sp>
        <p:nvSpPr>
          <p:cNvPr id="55" name="Oval 36"/>
          <p:cNvSpPr>
            <a:spLocks noChangeArrowheads="1"/>
          </p:cNvSpPr>
          <p:nvPr/>
        </p:nvSpPr>
        <p:spPr bwMode="auto">
          <a:xfrm>
            <a:off x="6182023" y="2649563"/>
            <a:ext cx="1458913" cy="372201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noAutofit/>
          </a:bodyPr>
          <a:lstStyle>
            <a:lvl1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268288" indent="-8890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>
              <a:lnSpc>
                <a:spcPct val="140000"/>
              </a:lnSpc>
            </a:pPr>
            <a:r>
              <a:rPr kumimoji="0" lang="ko-KR" altLang="en-US" sz="800">
                <a:latin typeface="나눔고딕" panose="020D0604000000000000" pitchFamily="50" charset="-127"/>
                <a:ea typeface="나눔고딕" panose="020D0604000000000000" pitchFamily="50" charset="-127"/>
              </a:rPr>
              <a:t>상품을 비교한다</a:t>
            </a:r>
          </a:p>
        </p:txBody>
      </p:sp>
      <p:sp>
        <p:nvSpPr>
          <p:cNvPr id="56" name="Oval 37"/>
          <p:cNvSpPr>
            <a:spLocks noChangeArrowheads="1"/>
          </p:cNvSpPr>
          <p:nvPr/>
        </p:nvSpPr>
        <p:spPr bwMode="auto">
          <a:xfrm>
            <a:off x="6334423" y="3411563"/>
            <a:ext cx="1905000" cy="61456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noAutofit/>
          </a:bodyPr>
          <a:lstStyle>
            <a:lvl1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268288" indent="-8890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>
              <a:lnSpc>
                <a:spcPct val="140000"/>
              </a:lnSpc>
            </a:pPr>
            <a:r>
              <a:rPr kumimoji="0"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상품에 대한 자세한</a:t>
            </a:r>
            <a:endParaRPr kumimoji="0" lang="en-US" altLang="ko-KR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>
              <a:lnSpc>
                <a:spcPct val="140000"/>
              </a:lnSpc>
            </a:pPr>
            <a:r>
              <a:rPr kumimoji="0"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상담을 원한다</a:t>
            </a:r>
          </a:p>
        </p:txBody>
      </p:sp>
      <p:sp>
        <p:nvSpPr>
          <p:cNvPr id="57" name="Oval 38"/>
          <p:cNvSpPr>
            <a:spLocks noChangeArrowheads="1"/>
          </p:cNvSpPr>
          <p:nvPr/>
        </p:nvSpPr>
        <p:spPr bwMode="auto">
          <a:xfrm>
            <a:off x="6410623" y="4173563"/>
            <a:ext cx="1871663" cy="372201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noAutofit/>
          </a:bodyPr>
          <a:lstStyle>
            <a:lvl1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268288" indent="-8890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>
              <a:lnSpc>
                <a:spcPct val="140000"/>
              </a:lnSpc>
            </a:pPr>
            <a:r>
              <a:rPr kumimoji="0"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상담신청을 한다</a:t>
            </a:r>
          </a:p>
        </p:txBody>
      </p:sp>
    </p:spTree>
    <p:extLst>
      <p:ext uri="{BB962C8B-B14F-4D97-AF65-F5344CB8AC3E}">
        <p14:creationId xmlns:p14="http://schemas.microsoft.com/office/powerpoint/2010/main" val="261031483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44017" y="91339"/>
            <a:ext cx="7401271" cy="385333"/>
          </a:xfrm>
          <a:prstGeom prst="rect">
            <a:avLst/>
          </a:prstGeom>
          <a:noFill/>
        </p:spPr>
        <p:txBody>
          <a:bodyPr wrap="square" lIns="0" tIns="53643" rIns="0" bIns="53643" rtlCol="0">
            <a:spAutoFit/>
          </a:bodyPr>
          <a:lstStyle/>
          <a:p>
            <a:r>
              <a:rPr kumimoji="1" lang="en-US" altLang="ko-KR" b="1" kern="0" dirty="0">
                <a:latin typeface="나눔고딕" panose="020D0604000000000000" pitchFamily="50" charset="-127"/>
                <a:ea typeface="나눔고딕" panose="020D0604000000000000" pitchFamily="50" charset="-127"/>
                <a:cs typeface="산돌고딕 M"/>
              </a:rPr>
              <a:t>User Interface Design</a:t>
            </a:r>
            <a:endParaRPr kumimoji="1" lang="ko-KR" altLang="en-US" b="1" kern="0" dirty="0">
              <a:latin typeface="나눔고딕" panose="020D0604000000000000" pitchFamily="50" charset="-127"/>
              <a:ea typeface="나눔고딕" panose="020D0604000000000000" pitchFamily="50" charset="-127"/>
              <a:cs typeface="산돌고딕 M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44017" y="683985"/>
            <a:ext cx="96335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U.I / U.X Design Process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776536" y="1124744"/>
            <a:ext cx="3024336" cy="36004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ko-KR" sz="14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Process 2 : Task flow modeling</a:t>
            </a:r>
          </a:p>
        </p:txBody>
      </p:sp>
      <p:sp>
        <p:nvSpPr>
          <p:cNvPr id="14" name="Oval 16"/>
          <p:cNvSpPr>
            <a:spLocks noChangeArrowheads="1"/>
          </p:cNvSpPr>
          <p:nvPr/>
        </p:nvSpPr>
        <p:spPr bwMode="auto">
          <a:xfrm>
            <a:off x="477837" y="2096599"/>
            <a:ext cx="172215" cy="172215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  <a:round/>
            <a:headEnd/>
            <a:tailEnd type="none" w="med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5" name="Oval 17"/>
          <p:cNvSpPr>
            <a:spLocks noChangeArrowheads="1"/>
          </p:cNvSpPr>
          <p:nvPr/>
        </p:nvSpPr>
        <p:spPr bwMode="auto">
          <a:xfrm>
            <a:off x="477837" y="2354922"/>
            <a:ext cx="172215" cy="172215"/>
          </a:xfrm>
          <a:prstGeom prst="ellipse">
            <a:avLst/>
          </a:prstGeom>
          <a:solidFill>
            <a:srgbClr val="66FF66"/>
          </a:solidFill>
          <a:ln w="6350">
            <a:solidFill>
              <a:schemeClr val="tx1"/>
            </a:solidFill>
            <a:round/>
            <a:headEnd/>
            <a:tailEnd type="none" w="med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6" name="Oval 18"/>
          <p:cNvSpPr>
            <a:spLocks noChangeArrowheads="1"/>
          </p:cNvSpPr>
          <p:nvPr/>
        </p:nvSpPr>
        <p:spPr bwMode="auto">
          <a:xfrm>
            <a:off x="477837" y="2613244"/>
            <a:ext cx="172215" cy="172215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  <a:round/>
            <a:headEnd/>
            <a:tailEnd type="none" w="med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7" name="Oval 19"/>
          <p:cNvSpPr>
            <a:spLocks noChangeArrowheads="1"/>
          </p:cNvSpPr>
          <p:nvPr/>
        </p:nvSpPr>
        <p:spPr bwMode="auto">
          <a:xfrm>
            <a:off x="477837" y="2871567"/>
            <a:ext cx="172215" cy="172215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  <a:round/>
            <a:headEnd/>
            <a:tailEnd type="none" w="med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" name="Oval 20"/>
          <p:cNvSpPr>
            <a:spLocks noChangeArrowheads="1"/>
          </p:cNvSpPr>
          <p:nvPr/>
        </p:nvSpPr>
        <p:spPr bwMode="auto">
          <a:xfrm>
            <a:off x="477837" y="3129889"/>
            <a:ext cx="172215" cy="172215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  <a:round/>
            <a:headEnd/>
            <a:tailEnd type="none" w="med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9" name="Oval 21"/>
          <p:cNvSpPr>
            <a:spLocks noChangeArrowheads="1"/>
          </p:cNvSpPr>
          <p:nvPr/>
        </p:nvSpPr>
        <p:spPr bwMode="auto">
          <a:xfrm>
            <a:off x="477837" y="3388212"/>
            <a:ext cx="172215" cy="172215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  <a:round/>
            <a:headEnd/>
            <a:tailEnd type="none" w="med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0" name="Oval 22"/>
          <p:cNvSpPr>
            <a:spLocks noChangeArrowheads="1"/>
          </p:cNvSpPr>
          <p:nvPr/>
        </p:nvSpPr>
        <p:spPr bwMode="auto">
          <a:xfrm>
            <a:off x="477837" y="3646534"/>
            <a:ext cx="172215" cy="172215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  <a:round/>
            <a:headEnd/>
            <a:tailEnd type="none" w="med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1" name="Oval 23"/>
          <p:cNvSpPr>
            <a:spLocks noChangeArrowheads="1"/>
          </p:cNvSpPr>
          <p:nvPr/>
        </p:nvSpPr>
        <p:spPr bwMode="auto">
          <a:xfrm>
            <a:off x="477837" y="3904857"/>
            <a:ext cx="172215" cy="172215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  <a:round/>
            <a:headEnd/>
            <a:tailEnd type="none" w="med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4" name="AutoShape 22"/>
          <p:cNvSpPr>
            <a:spLocks noChangeArrowheads="1"/>
          </p:cNvSpPr>
          <p:nvPr/>
        </p:nvSpPr>
        <p:spPr bwMode="auto">
          <a:xfrm>
            <a:off x="272480" y="2328274"/>
            <a:ext cx="127000" cy="190500"/>
          </a:xfrm>
          <a:prstGeom prst="homePlate">
            <a:avLst>
              <a:gd name="adj" fmla="val 77083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tx1"/>
            </a:solidFill>
            <a:miter lim="800000"/>
            <a:headEnd/>
            <a:tailEnd type="none" w="med" len="sm"/>
          </a:ln>
          <a:effectLst/>
        </p:spPr>
        <p:txBody>
          <a:bodyPr wrap="none" lIns="90000" tIns="46800" rIns="90000" bIns="46800" anchor="ctr"/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94068" y="1529210"/>
            <a:ext cx="87674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Task flow modeling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은 추출된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Use case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를 기준으로 설정된 시나리오에 맞추어 순차적 모델링을 하는 과정입니다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  <a:p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고객의 방문 시나리오는 소비자 구매 행동 단계 등 사이트의 비즈니스 목적에 맞게 구성되고 정리됩니다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</p:txBody>
      </p:sp>
      <p:sp>
        <p:nvSpPr>
          <p:cNvPr id="48" name="Text Box 6"/>
          <p:cNvSpPr txBox="1">
            <a:spLocks noChangeArrowheads="1"/>
          </p:cNvSpPr>
          <p:nvPr/>
        </p:nvSpPr>
        <p:spPr bwMode="auto">
          <a:xfrm>
            <a:off x="1877616" y="2228106"/>
            <a:ext cx="4191000" cy="282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noAutofit/>
          </a:bodyPr>
          <a:lstStyle>
            <a:lvl1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268288" indent="-8890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>
              <a:lnSpc>
                <a:spcPct val="140000"/>
              </a:lnSpc>
            </a:pPr>
            <a:r>
              <a:rPr kumimoji="0"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서비스 가입을 통해 미래 및 리스크 대비를 하고자 하는 고객</a:t>
            </a:r>
          </a:p>
        </p:txBody>
      </p:sp>
      <p:cxnSp>
        <p:nvCxnSpPr>
          <p:cNvPr id="89" name="AutoShape 51"/>
          <p:cNvCxnSpPr>
            <a:cxnSpLocks noChangeShapeType="1"/>
            <a:stCxn id="76" idx="2"/>
            <a:endCxn id="64" idx="1"/>
          </p:cNvCxnSpPr>
          <p:nvPr/>
        </p:nvCxnSpPr>
        <p:spPr bwMode="auto">
          <a:xfrm rot="5400000">
            <a:off x="4724712" y="1087975"/>
            <a:ext cx="774700" cy="7072479"/>
          </a:xfrm>
          <a:prstGeom prst="bentConnector4">
            <a:avLst>
              <a:gd name="adj1" fmla="val 57187"/>
              <a:gd name="adj2" fmla="val 103232"/>
            </a:avLst>
          </a:prstGeom>
          <a:noFill/>
          <a:ln w="6350">
            <a:solidFill>
              <a:schemeClr val="tx1"/>
            </a:solidFill>
            <a:miter lim="800000"/>
            <a:headEnd/>
            <a:tailEnd type="triangle" w="med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3" name="Rectangle 2"/>
          <p:cNvSpPr>
            <a:spLocks noChangeArrowheads="1"/>
          </p:cNvSpPr>
          <p:nvPr/>
        </p:nvSpPr>
        <p:spPr bwMode="gray">
          <a:xfrm>
            <a:off x="6874868" y="2604914"/>
            <a:ext cx="1139788" cy="3848422"/>
          </a:xfrm>
          <a:prstGeom prst="rect">
            <a:avLst/>
          </a:prstGeom>
          <a:solidFill>
            <a:srgbClr val="C0C0C0">
              <a:alpha val="50000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18000" bIns="0" anchor="ctr">
            <a:noAutofit/>
          </a:bodyPr>
          <a:lstStyle/>
          <a:p>
            <a:endParaRPr lang="ko-KR" altLang="en-US" sz="200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4" name="Rectangle 3"/>
          <p:cNvSpPr>
            <a:spLocks noChangeArrowheads="1"/>
          </p:cNvSpPr>
          <p:nvPr/>
        </p:nvSpPr>
        <p:spPr bwMode="gray">
          <a:xfrm>
            <a:off x="5669398" y="2604914"/>
            <a:ext cx="1139788" cy="3848422"/>
          </a:xfrm>
          <a:prstGeom prst="rect">
            <a:avLst/>
          </a:prstGeom>
          <a:solidFill>
            <a:srgbClr val="C0C0C0">
              <a:alpha val="50000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18000" bIns="0" anchor="ctr">
            <a:noAutofit/>
          </a:bodyPr>
          <a:lstStyle/>
          <a:p>
            <a:endParaRPr lang="ko-KR" altLang="en-US" sz="200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5" name="Rectangle 4"/>
          <p:cNvSpPr>
            <a:spLocks noChangeArrowheads="1"/>
          </p:cNvSpPr>
          <p:nvPr/>
        </p:nvSpPr>
        <p:spPr bwMode="gray">
          <a:xfrm>
            <a:off x="4485178" y="2604914"/>
            <a:ext cx="1139788" cy="3848422"/>
          </a:xfrm>
          <a:prstGeom prst="rect">
            <a:avLst/>
          </a:prstGeom>
          <a:solidFill>
            <a:srgbClr val="C0C0C0">
              <a:alpha val="50000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18000" bIns="0" anchor="ctr">
            <a:noAutofit/>
          </a:bodyPr>
          <a:lstStyle/>
          <a:p>
            <a:endParaRPr lang="ko-KR" altLang="en-US" sz="200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6" name="Rectangle 5"/>
          <p:cNvSpPr>
            <a:spLocks noChangeArrowheads="1"/>
          </p:cNvSpPr>
          <p:nvPr/>
        </p:nvSpPr>
        <p:spPr bwMode="gray">
          <a:xfrm>
            <a:off x="1496616" y="2604914"/>
            <a:ext cx="2922880" cy="3848422"/>
          </a:xfrm>
          <a:prstGeom prst="rect">
            <a:avLst/>
          </a:prstGeom>
          <a:solidFill>
            <a:srgbClr val="C0C0C0">
              <a:alpha val="50000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18000" bIns="0" anchor="ctr">
            <a:noAutofit/>
          </a:bodyPr>
          <a:lstStyle/>
          <a:p>
            <a:endParaRPr lang="ko-KR" altLang="en-US" sz="200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9" name="Text Box 20"/>
          <p:cNvSpPr txBox="1">
            <a:spLocks noChangeArrowheads="1"/>
          </p:cNvSpPr>
          <p:nvPr/>
        </p:nvSpPr>
        <p:spPr bwMode="gray">
          <a:xfrm>
            <a:off x="1496616" y="2774132"/>
            <a:ext cx="2922879" cy="1508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18000" bIns="0">
            <a:noAutofit/>
          </a:bodyPr>
          <a:lstStyle/>
          <a:p>
            <a:pPr algn="ctr">
              <a:lnSpc>
                <a:spcPct val="110000"/>
              </a:lnSpc>
              <a:buFont typeface="Symbol" pitchFamily="18" charset="2"/>
              <a:buNone/>
            </a:pPr>
            <a:r>
              <a:rPr kumimoji="1" lang="ko-KR" altLang="en-US" sz="1000" b="1" u="sng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정보 탐색 단계</a:t>
            </a:r>
          </a:p>
        </p:txBody>
      </p:sp>
      <p:sp>
        <p:nvSpPr>
          <p:cNvPr id="59" name="Text Box 21"/>
          <p:cNvSpPr txBox="1">
            <a:spLocks noChangeArrowheads="1"/>
          </p:cNvSpPr>
          <p:nvPr/>
        </p:nvSpPr>
        <p:spPr bwMode="gray">
          <a:xfrm>
            <a:off x="4485177" y="2774132"/>
            <a:ext cx="1118537" cy="1508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18000" bIns="0">
            <a:noAutofit/>
          </a:bodyPr>
          <a:lstStyle/>
          <a:p>
            <a:pPr algn="ctr">
              <a:lnSpc>
                <a:spcPct val="110000"/>
              </a:lnSpc>
              <a:buFont typeface="Symbol" pitchFamily="18" charset="2"/>
              <a:buNone/>
            </a:pPr>
            <a:r>
              <a:rPr kumimoji="1" lang="ko-KR" altLang="en-US" sz="1000" b="1" u="sng" dirty="0">
                <a:latin typeface="나눔고딕" panose="020D0604000000000000" pitchFamily="50" charset="-127"/>
                <a:ea typeface="나눔고딕" panose="020D0604000000000000" pitchFamily="50" charset="-127"/>
              </a:rPr>
              <a:t>대안평가 단계</a:t>
            </a:r>
          </a:p>
        </p:txBody>
      </p:sp>
      <p:sp>
        <p:nvSpPr>
          <p:cNvPr id="60" name="Text Box 22"/>
          <p:cNvSpPr txBox="1">
            <a:spLocks noChangeArrowheads="1"/>
          </p:cNvSpPr>
          <p:nvPr/>
        </p:nvSpPr>
        <p:spPr bwMode="gray">
          <a:xfrm>
            <a:off x="5669398" y="2774132"/>
            <a:ext cx="1139788" cy="1508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18000" bIns="0">
            <a:noAutofit/>
          </a:bodyPr>
          <a:lstStyle/>
          <a:p>
            <a:pPr algn="ctr">
              <a:lnSpc>
                <a:spcPct val="110000"/>
              </a:lnSpc>
              <a:buFont typeface="Symbol" pitchFamily="18" charset="2"/>
              <a:buNone/>
            </a:pPr>
            <a:r>
              <a:rPr kumimoji="1" lang="ko-KR" altLang="en-US" sz="1000" b="1" u="sng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의사결정 단계</a:t>
            </a:r>
          </a:p>
        </p:txBody>
      </p:sp>
      <p:sp>
        <p:nvSpPr>
          <p:cNvPr id="61" name="Text Box 23"/>
          <p:cNvSpPr txBox="1">
            <a:spLocks noChangeArrowheads="1"/>
          </p:cNvSpPr>
          <p:nvPr/>
        </p:nvSpPr>
        <p:spPr bwMode="gray">
          <a:xfrm>
            <a:off x="6874868" y="2774132"/>
            <a:ext cx="1139787" cy="1508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18000" bIns="0">
            <a:noAutofit/>
          </a:bodyPr>
          <a:lstStyle/>
          <a:p>
            <a:pPr algn="ctr">
              <a:lnSpc>
                <a:spcPct val="110000"/>
              </a:lnSpc>
              <a:buFont typeface="Symbol" pitchFamily="18" charset="2"/>
              <a:buNone/>
            </a:pPr>
            <a:r>
              <a:rPr kumimoji="1" lang="ko-KR" altLang="en-US" sz="1000" b="1" u="sng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구매 단계</a:t>
            </a:r>
          </a:p>
        </p:txBody>
      </p:sp>
      <p:sp>
        <p:nvSpPr>
          <p:cNvPr id="62" name="AutoShape 24"/>
          <p:cNvSpPr>
            <a:spLocks noChangeArrowheads="1"/>
          </p:cNvSpPr>
          <p:nvPr/>
        </p:nvSpPr>
        <p:spPr bwMode="auto">
          <a:xfrm>
            <a:off x="1568095" y="3120852"/>
            <a:ext cx="1618885" cy="42545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noAutofit/>
          </a:bodyPr>
          <a:lstStyle>
            <a:lvl1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268288" indent="-8890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>
              <a:lnSpc>
                <a:spcPct val="140000"/>
              </a:lnSpc>
            </a:pPr>
            <a:r>
              <a:rPr kumimoji="0" lang="ko-KR" altLang="en-US" sz="800">
                <a:latin typeface="나눔고딕" panose="020D0604000000000000" pitchFamily="50" charset="-127"/>
                <a:ea typeface="나눔고딕" panose="020D0604000000000000" pitchFamily="50" charset="-127"/>
              </a:rPr>
              <a:t>서비스로 </a:t>
            </a:r>
            <a:r>
              <a:rPr kumimoji="0"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미래를</a:t>
            </a:r>
            <a:br>
              <a:rPr kumimoji="0"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kumimoji="0"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보장받고 싶다</a:t>
            </a:r>
          </a:p>
        </p:txBody>
      </p:sp>
      <p:sp>
        <p:nvSpPr>
          <p:cNvPr id="63" name="AutoShape 25"/>
          <p:cNvSpPr>
            <a:spLocks noChangeArrowheads="1"/>
          </p:cNvSpPr>
          <p:nvPr/>
        </p:nvSpPr>
        <p:spPr bwMode="auto">
          <a:xfrm>
            <a:off x="1575822" y="3814589"/>
            <a:ext cx="1603430" cy="26035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noAutofit/>
          </a:bodyPr>
          <a:lstStyle>
            <a:lvl1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268288" indent="-8890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>
              <a:lnSpc>
                <a:spcPct val="140000"/>
              </a:lnSpc>
            </a:pPr>
            <a:r>
              <a:rPr kumimoji="0"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보장방법을 찾는다</a:t>
            </a:r>
          </a:p>
        </p:txBody>
      </p:sp>
      <p:sp>
        <p:nvSpPr>
          <p:cNvPr id="64" name="AutoShape 26"/>
          <p:cNvSpPr>
            <a:spLocks noChangeArrowheads="1"/>
          </p:cNvSpPr>
          <p:nvPr/>
        </p:nvSpPr>
        <p:spPr bwMode="auto">
          <a:xfrm>
            <a:off x="1575822" y="4881389"/>
            <a:ext cx="1603430" cy="26035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noAutofit/>
          </a:bodyPr>
          <a:lstStyle>
            <a:lvl1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268288" indent="-8890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>
              <a:lnSpc>
                <a:spcPct val="140000"/>
              </a:lnSpc>
            </a:pPr>
            <a:r>
              <a:rPr kumimoji="0"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미래에 대한 정보를 찾는다</a:t>
            </a:r>
          </a:p>
        </p:txBody>
      </p:sp>
      <p:sp>
        <p:nvSpPr>
          <p:cNvPr id="65" name="AutoShape 27"/>
          <p:cNvSpPr>
            <a:spLocks noChangeArrowheads="1"/>
          </p:cNvSpPr>
          <p:nvPr/>
        </p:nvSpPr>
        <p:spPr bwMode="auto">
          <a:xfrm>
            <a:off x="1568095" y="4293096"/>
            <a:ext cx="1618885" cy="299293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noAutofit/>
          </a:bodyPr>
          <a:lstStyle>
            <a:lvl1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268288" indent="-8890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>
              <a:lnSpc>
                <a:spcPct val="140000"/>
              </a:lnSpc>
            </a:pPr>
            <a:r>
              <a:rPr kumimoji="0" lang="ko-KR" altLang="en-US" sz="800">
                <a:latin typeface="나눔고딕" panose="020D0604000000000000" pitchFamily="50" charset="-127"/>
                <a:ea typeface="나눔고딕" panose="020D0604000000000000" pitchFamily="50" charset="-127"/>
              </a:rPr>
              <a:t>미래보장서비스로 </a:t>
            </a:r>
            <a:r>
              <a:rPr kumimoji="0"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선택한다</a:t>
            </a:r>
          </a:p>
        </p:txBody>
      </p:sp>
      <p:sp>
        <p:nvSpPr>
          <p:cNvPr id="66" name="AutoShape 28"/>
          <p:cNvSpPr>
            <a:spLocks noChangeArrowheads="1"/>
          </p:cNvSpPr>
          <p:nvPr/>
        </p:nvSpPr>
        <p:spPr bwMode="auto">
          <a:xfrm>
            <a:off x="2943567" y="5240164"/>
            <a:ext cx="1417973" cy="26035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noAutofit/>
          </a:bodyPr>
          <a:lstStyle>
            <a:lvl1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268288" indent="-8890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>
              <a:lnSpc>
                <a:spcPct val="140000"/>
              </a:lnSpc>
            </a:pPr>
            <a:r>
              <a:rPr kumimoji="0" lang="ko-KR" altLang="en-US" sz="800">
                <a:latin typeface="나눔고딕" panose="020D0604000000000000" pitchFamily="50" charset="-127"/>
                <a:ea typeface="나눔고딕" panose="020D0604000000000000" pitchFamily="50" charset="-127"/>
              </a:rPr>
              <a:t>전문가 정보를 읽는다</a:t>
            </a:r>
          </a:p>
        </p:txBody>
      </p:sp>
      <p:sp>
        <p:nvSpPr>
          <p:cNvPr id="67" name="AutoShape 29"/>
          <p:cNvSpPr>
            <a:spLocks noChangeArrowheads="1"/>
          </p:cNvSpPr>
          <p:nvPr/>
        </p:nvSpPr>
        <p:spPr bwMode="auto">
          <a:xfrm>
            <a:off x="2943567" y="5621164"/>
            <a:ext cx="1417973" cy="26035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noAutofit/>
          </a:bodyPr>
          <a:lstStyle>
            <a:lvl1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268288" indent="-8890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>
              <a:lnSpc>
                <a:spcPct val="140000"/>
              </a:lnSpc>
            </a:pPr>
            <a:r>
              <a:rPr kumimoji="0" lang="ko-KR" altLang="en-US" sz="800">
                <a:latin typeface="나눔고딕" panose="020D0604000000000000" pitchFamily="50" charset="-127"/>
                <a:ea typeface="나눔고딕" panose="020D0604000000000000" pitchFamily="50" charset="-127"/>
              </a:rPr>
              <a:t>서비스 </a:t>
            </a:r>
            <a:r>
              <a:rPr kumimoji="0"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커뮤니티를 찾는다</a:t>
            </a:r>
          </a:p>
        </p:txBody>
      </p:sp>
      <p:sp>
        <p:nvSpPr>
          <p:cNvPr id="68" name="AutoShape 30"/>
          <p:cNvSpPr>
            <a:spLocks noChangeArrowheads="1"/>
          </p:cNvSpPr>
          <p:nvPr/>
        </p:nvSpPr>
        <p:spPr bwMode="auto">
          <a:xfrm>
            <a:off x="1575822" y="6002164"/>
            <a:ext cx="1603430" cy="26035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noAutofit/>
          </a:bodyPr>
          <a:lstStyle>
            <a:lvl1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268288" indent="-8890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>
              <a:lnSpc>
                <a:spcPct val="140000"/>
              </a:lnSpc>
            </a:pPr>
            <a:r>
              <a:rPr kumimoji="0"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서비스 상품 정보를 찾는다</a:t>
            </a:r>
          </a:p>
        </p:txBody>
      </p:sp>
      <p:sp>
        <p:nvSpPr>
          <p:cNvPr id="69" name="AutoShape 31"/>
          <p:cNvSpPr>
            <a:spLocks noChangeArrowheads="1"/>
          </p:cNvSpPr>
          <p:nvPr/>
        </p:nvSpPr>
        <p:spPr bwMode="auto">
          <a:xfrm>
            <a:off x="4649384" y="3138314"/>
            <a:ext cx="834556" cy="42545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noAutofit/>
          </a:bodyPr>
          <a:lstStyle>
            <a:lvl1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268288" indent="-8890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>
              <a:lnSpc>
                <a:spcPct val="140000"/>
              </a:lnSpc>
            </a:pPr>
            <a:r>
              <a:rPr kumimoji="0"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상품을</a:t>
            </a:r>
            <a:endParaRPr kumimoji="0" lang="en-US" altLang="ko-KR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>
              <a:lnSpc>
                <a:spcPct val="140000"/>
              </a:lnSpc>
            </a:pPr>
            <a:r>
              <a:rPr kumimoji="0"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비교한다</a:t>
            </a:r>
          </a:p>
        </p:txBody>
      </p:sp>
      <p:sp>
        <p:nvSpPr>
          <p:cNvPr id="70" name="AutoShape 32"/>
          <p:cNvSpPr>
            <a:spLocks noChangeArrowheads="1"/>
          </p:cNvSpPr>
          <p:nvPr/>
        </p:nvSpPr>
        <p:spPr bwMode="auto">
          <a:xfrm>
            <a:off x="4529610" y="3789040"/>
            <a:ext cx="1074105" cy="59055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noAutofit/>
          </a:bodyPr>
          <a:lstStyle>
            <a:lvl1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268288" indent="-8890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>
              <a:lnSpc>
                <a:spcPct val="140000"/>
              </a:lnSpc>
            </a:pPr>
            <a:r>
              <a:rPr kumimoji="0"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관심상품으로 지정하고 한동안 관심을 갖는다</a:t>
            </a:r>
          </a:p>
        </p:txBody>
      </p:sp>
      <p:sp>
        <p:nvSpPr>
          <p:cNvPr id="71" name="AutoShape 33"/>
          <p:cNvSpPr>
            <a:spLocks noChangeArrowheads="1"/>
          </p:cNvSpPr>
          <p:nvPr/>
        </p:nvSpPr>
        <p:spPr bwMode="auto">
          <a:xfrm>
            <a:off x="4545065" y="4805189"/>
            <a:ext cx="1043195" cy="26035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noAutofit/>
          </a:bodyPr>
          <a:lstStyle>
            <a:lvl1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268288" indent="-8890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>
              <a:lnSpc>
                <a:spcPct val="140000"/>
              </a:lnSpc>
            </a:pPr>
            <a:r>
              <a:rPr kumimoji="0"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서비스 상담을 한다</a:t>
            </a:r>
          </a:p>
        </p:txBody>
      </p:sp>
      <p:sp>
        <p:nvSpPr>
          <p:cNvPr id="72" name="AutoShape 34"/>
          <p:cNvSpPr>
            <a:spLocks noChangeArrowheads="1"/>
          </p:cNvSpPr>
          <p:nvPr/>
        </p:nvSpPr>
        <p:spPr bwMode="auto">
          <a:xfrm>
            <a:off x="5727353" y="3662189"/>
            <a:ext cx="1043195" cy="26035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noAutofit/>
          </a:bodyPr>
          <a:lstStyle>
            <a:lvl1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268288" indent="-8890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>
              <a:lnSpc>
                <a:spcPct val="140000"/>
              </a:lnSpc>
            </a:pPr>
            <a:r>
              <a:rPr kumimoji="0"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서비스 상담 한다</a:t>
            </a:r>
          </a:p>
        </p:txBody>
      </p:sp>
      <p:sp>
        <p:nvSpPr>
          <p:cNvPr id="73" name="AutoShape 35"/>
          <p:cNvSpPr>
            <a:spLocks noChangeArrowheads="1"/>
          </p:cNvSpPr>
          <p:nvPr/>
        </p:nvSpPr>
        <p:spPr bwMode="auto">
          <a:xfrm>
            <a:off x="6913505" y="3654252"/>
            <a:ext cx="1058650" cy="42545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noAutofit/>
          </a:bodyPr>
          <a:lstStyle>
            <a:lvl1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268288" indent="-8890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>
              <a:lnSpc>
                <a:spcPct val="140000"/>
              </a:lnSpc>
            </a:pPr>
            <a:r>
              <a:rPr kumimoji="0"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서비스 상품에</a:t>
            </a:r>
            <a:endParaRPr kumimoji="0" lang="en-US" altLang="ko-KR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>
              <a:lnSpc>
                <a:spcPct val="140000"/>
              </a:lnSpc>
            </a:pPr>
            <a:r>
              <a:rPr kumimoji="0"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가입한다</a:t>
            </a:r>
          </a:p>
        </p:txBody>
      </p:sp>
      <p:sp>
        <p:nvSpPr>
          <p:cNvPr id="74" name="Rectangle 36"/>
          <p:cNvSpPr>
            <a:spLocks noChangeArrowheads="1"/>
          </p:cNvSpPr>
          <p:nvPr/>
        </p:nvSpPr>
        <p:spPr bwMode="gray">
          <a:xfrm>
            <a:off x="8080338" y="2604914"/>
            <a:ext cx="1139788" cy="3848422"/>
          </a:xfrm>
          <a:prstGeom prst="rect">
            <a:avLst/>
          </a:prstGeom>
          <a:solidFill>
            <a:srgbClr val="C0C0C0">
              <a:alpha val="50000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18000" bIns="0" anchor="ctr">
            <a:noAutofit/>
          </a:bodyPr>
          <a:lstStyle/>
          <a:p>
            <a:endParaRPr lang="ko-KR" altLang="en-US" sz="200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5" name="Text Box 37"/>
          <p:cNvSpPr txBox="1">
            <a:spLocks noChangeArrowheads="1"/>
          </p:cNvSpPr>
          <p:nvPr/>
        </p:nvSpPr>
        <p:spPr bwMode="gray">
          <a:xfrm>
            <a:off x="8080338" y="2774132"/>
            <a:ext cx="1139788" cy="1508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18000" bIns="0">
            <a:noAutofit/>
          </a:bodyPr>
          <a:lstStyle/>
          <a:p>
            <a:pPr algn="ctr">
              <a:lnSpc>
                <a:spcPct val="110000"/>
              </a:lnSpc>
              <a:buFont typeface="Symbol" pitchFamily="18" charset="2"/>
              <a:buNone/>
            </a:pPr>
            <a:r>
              <a:rPr kumimoji="1" lang="ko-KR" altLang="en-US" sz="1000" b="1" u="sng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지속적 관심</a:t>
            </a:r>
          </a:p>
        </p:txBody>
      </p:sp>
      <p:sp>
        <p:nvSpPr>
          <p:cNvPr id="76" name="AutoShape 38"/>
          <p:cNvSpPr>
            <a:spLocks noChangeArrowheads="1"/>
          </p:cNvSpPr>
          <p:nvPr/>
        </p:nvSpPr>
        <p:spPr bwMode="auto">
          <a:xfrm>
            <a:off x="8111248" y="3646314"/>
            <a:ext cx="1074105" cy="59055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noAutofit/>
          </a:bodyPr>
          <a:lstStyle>
            <a:lvl1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268288" indent="-8890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>
              <a:lnSpc>
                <a:spcPct val="140000"/>
              </a:lnSpc>
            </a:pPr>
            <a:r>
              <a:rPr kumimoji="0"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사이버창구를 통해</a:t>
            </a:r>
            <a:endParaRPr kumimoji="0" lang="en-US" altLang="ko-KR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>
              <a:lnSpc>
                <a:spcPct val="140000"/>
              </a:lnSpc>
            </a:pPr>
            <a:r>
              <a:rPr kumimoji="0" lang="ko-KR" altLang="en-US" sz="800">
                <a:latin typeface="나눔고딕" panose="020D0604000000000000" pitchFamily="50" charset="-127"/>
                <a:ea typeface="나눔고딕" panose="020D0604000000000000" pitchFamily="50" charset="-127"/>
              </a:rPr>
              <a:t>서비스내역을 </a:t>
            </a:r>
            <a:r>
              <a:rPr kumimoji="0"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확인</a:t>
            </a:r>
          </a:p>
        </p:txBody>
      </p:sp>
      <p:cxnSp>
        <p:nvCxnSpPr>
          <p:cNvPr id="77" name="AutoShape 39"/>
          <p:cNvCxnSpPr>
            <a:cxnSpLocks noChangeShapeType="1"/>
            <a:stCxn id="63" idx="2"/>
            <a:endCxn id="65" idx="0"/>
          </p:cNvCxnSpPr>
          <p:nvPr/>
        </p:nvCxnSpPr>
        <p:spPr bwMode="auto">
          <a:xfrm>
            <a:off x="2377537" y="4074939"/>
            <a:ext cx="1" cy="218157"/>
          </a:xfrm>
          <a:prstGeom prst="straightConnector1">
            <a:avLst/>
          </a:prstGeom>
          <a:noFill/>
          <a:ln w="6350">
            <a:solidFill>
              <a:schemeClr val="tx1"/>
            </a:solidFill>
            <a:round/>
            <a:headEnd/>
            <a:tailEnd type="triangle" w="med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8" name="AutoShape 40"/>
          <p:cNvCxnSpPr>
            <a:cxnSpLocks noChangeShapeType="1"/>
            <a:stCxn id="62" idx="2"/>
            <a:endCxn id="63" idx="0"/>
          </p:cNvCxnSpPr>
          <p:nvPr/>
        </p:nvCxnSpPr>
        <p:spPr bwMode="auto">
          <a:xfrm>
            <a:off x="2377537" y="3546302"/>
            <a:ext cx="0" cy="268287"/>
          </a:xfrm>
          <a:prstGeom prst="straightConnector1">
            <a:avLst/>
          </a:prstGeom>
          <a:noFill/>
          <a:ln w="6350">
            <a:solidFill>
              <a:schemeClr val="tx1"/>
            </a:solidFill>
            <a:round/>
            <a:headEnd/>
            <a:tailEnd type="triangle" w="med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9" name="AutoShape 41"/>
          <p:cNvCxnSpPr>
            <a:cxnSpLocks noChangeShapeType="1"/>
            <a:stCxn id="64" idx="2"/>
            <a:endCxn id="66" idx="1"/>
          </p:cNvCxnSpPr>
          <p:nvPr/>
        </p:nvCxnSpPr>
        <p:spPr bwMode="auto">
          <a:xfrm rot="16200000" flipH="1">
            <a:off x="2546252" y="4973024"/>
            <a:ext cx="228600" cy="566031"/>
          </a:xfrm>
          <a:prstGeom prst="bentConnector2">
            <a:avLst/>
          </a:prstGeom>
          <a:noFill/>
          <a:ln w="6350">
            <a:solidFill>
              <a:schemeClr val="tx1"/>
            </a:solidFill>
            <a:miter lim="800000"/>
            <a:headEnd/>
            <a:tailEnd type="triangle" w="med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0" name="AutoShape 42"/>
          <p:cNvCxnSpPr>
            <a:cxnSpLocks noChangeShapeType="1"/>
            <a:stCxn id="64" idx="2"/>
            <a:endCxn id="67" idx="1"/>
          </p:cNvCxnSpPr>
          <p:nvPr/>
        </p:nvCxnSpPr>
        <p:spPr bwMode="auto">
          <a:xfrm rot="16200000" flipH="1">
            <a:off x="2355752" y="5163524"/>
            <a:ext cx="609600" cy="566031"/>
          </a:xfrm>
          <a:prstGeom prst="bentConnector2">
            <a:avLst/>
          </a:prstGeom>
          <a:noFill/>
          <a:ln w="6350">
            <a:solidFill>
              <a:schemeClr val="tx1"/>
            </a:solidFill>
            <a:miter lim="800000"/>
            <a:headEnd/>
            <a:tailEnd type="triangle" w="med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1" name="AutoShape 43"/>
          <p:cNvCxnSpPr>
            <a:cxnSpLocks noChangeShapeType="1"/>
            <a:stCxn id="65" idx="2"/>
            <a:endCxn id="64" idx="0"/>
          </p:cNvCxnSpPr>
          <p:nvPr/>
        </p:nvCxnSpPr>
        <p:spPr bwMode="auto">
          <a:xfrm flipH="1">
            <a:off x="2377537" y="4592389"/>
            <a:ext cx="1" cy="289000"/>
          </a:xfrm>
          <a:prstGeom prst="straightConnector1">
            <a:avLst/>
          </a:prstGeom>
          <a:noFill/>
          <a:ln w="6350">
            <a:solidFill>
              <a:schemeClr val="tx1"/>
            </a:solidFill>
            <a:round/>
            <a:headEnd/>
            <a:tailEnd type="triangle" w="med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2" name="AutoShape 44"/>
          <p:cNvCxnSpPr>
            <a:cxnSpLocks noChangeShapeType="1"/>
            <a:stCxn id="67" idx="2"/>
            <a:endCxn id="68" idx="0"/>
          </p:cNvCxnSpPr>
          <p:nvPr/>
        </p:nvCxnSpPr>
        <p:spPr bwMode="auto">
          <a:xfrm rot="5400000">
            <a:off x="2954720" y="5304331"/>
            <a:ext cx="120650" cy="1275017"/>
          </a:xfrm>
          <a:prstGeom prst="bentConnector3">
            <a:avLst>
              <a:gd name="adj1" fmla="val 50000"/>
            </a:avLst>
          </a:prstGeom>
          <a:noFill/>
          <a:ln w="6350">
            <a:solidFill>
              <a:schemeClr val="tx1"/>
            </a:solidFill>
            <a:miter lim="800000"/>
            <a:headEnd/>
            <a:tailEnd type="triangle" w="med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3" name="AutoShape 45"/>
          <p:cNvCxnSpPr>
            <a:cxnSpLocks noChangeShapeType="1"/>
            <a:stCxn id="68" idx="3"/>
            <a:endCxn id="69" idx="1"/>
          </p:cNvCxnSpPr>
          <p:nvPr/>
        </p:nvCxnSpPr>
        <p:spPr bwMode="auto">
          <a:xfrm flipV="1">
            <a:off x="3179252" y="3351039"/>
            <a:ext cx="1470132" cy="2781300"/>
          </a:xfrm>
          <a:prstGeom prst="bentConnector3">
            <a:avLst>
              <a:gd name="adj1" fmla="val 86991"/>
            </a:avLst>
          </a:prstGeom>
          <a:noFill/>
          <a:ln w="6350">
            <a:solidFill>
              <a:schemeClr val="tx1"/>
            </a:solidFill>
            <a:miter lim="800000"/>
            <a:headEnd/>
            <a:tailEnd type="triangle" w="med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4" name="AutoShape 46"/>
          <p:cNvCxnSpPr>
            <a:cxnSpLocks noChangeShapeType="1"/>
            <a:stCxn id="69" idx="2"/>
            <a:endCxn id="70" idx="0"/>
          </p:cNvCxnSpPr>
          <p:nvPr/>
        </p:nvCxnSpPr>
        <p:spPr bwMode="auto">
          <a:xfrm>
            <a:off x="5066662" y="3563764"/>
            <a:ext cx="1" cy="225276"/>
          </a:xfrm>
          <a:prstGeom prst="straightConnector1">
            <a:avLst/>
          </a:prstGeom>
          <a:noFill/>
          <a:ln w="6350">
            <a:solidFill>
              <a:schemeClr val="tx1"/>
            </a:solidFill>
            <a:round/>
            <a:headEnd/>
            <a:tailEnd type="triangle" w="med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5" name="AutoShape 47"/>
          <p:cNvCxnSpPr>
            <a:cxnSpLocks noChangeShapeType="1"/>
            <a:stCxn id="70" idx="2"/>
            <a:endCxn id="71" idx="0"/>
          </p:cNvCxnSpPr>
          <p:nvPr/>
        </p:nvCxnSpPr>
        <p:spPr bwMode="auto">
          <a:xfrm>
            <a:off x="5066663" y="4379590"/>
            <a:ext cx="0" cy="425599"/>
          </a:xfrm>
          <a:prstGeom prst="straightConnector1">
            <a:avLst/>
          </a:prstGeom>
          <a:noFill/>
          <a:ln w="6350">
            <a:solidFill>
              <a:schemeClr val="tx1"/>
            </a:solidFill>
            <a:round/>
            <a:headEnd/>
            <a:tailEnd type="triangle" w="med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6" name="AutoShape 48"/>
          <p:cNvCxnSpPr>
            <a:cxnSpLocks noChangeShapeType="1"/>
            <a:stCxn id="71" idx="2"/>
            <a:endCxn id="72" idx="0"/>
          </p:cNvCxnSpPr>
          <p:nvPr/>
        </p:nvCxnSpPr>
        <p:spPr bwMode="auto">
          <a:xfrm rot="5400000" flipH="1" flipV="1">
            <a:off x="4956132" y="3772720"/>
            <a:ext cx="1403350" cy="1182288"/>
          </a:xfrm>
          <a:prstGeom prst="bentConnector5">
            <a:avLst>
              <a:gd name="adj1" fmla="val -16292"/>
              <a:gd name="adj2" fmla="val 50000"/>
              <a:gd name="adj3" fmla="val 116292"/>
            </a:avLst>
          </a:prstGeom>
          <a:noFill/>
          <a:ln w="6350">
            <a:solidFill>
              <a:schemeClr val="tx1"/>
            </a:solidFill>
            <a:miter lim="800000"/>
            <a:headEnd/>
            <a:tailEnd type="triangle" w="med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7" name="AutoShape 49"/>
          <p:cNvCxnSpPr>
            <a:cxnSpLocks noChangeShapeType="1"/>
            <a:stCxn id="72" idx="2"/>
            <a:endCxn id="73" idx="0"/>
          </p:cNvCxnSpPr>
          <p:nvPr/>
        </p:nvCxnSpPr>
        <p:spPr bwMode="auto">
          <a:xfrm rot="5400000" flipH="1" flipV="1">
            <a:off x="6711747" y="3191456"/>
            <a:ext cx="268287" cy="1193879"/>
          </a:xfrm>
          <a:prstGeom prst="bentConnector5">
            <a:avLst>
              <a:gd name="adj1" fmla="val -85208"/>
              <a:gd name="adj2" fmla="val 49676"/>
              <a:gd name="adj3" fmla="val 185208"/>
            </a:avLst>
          </a:prstGeom>
          <a:noFill/>
          <a:ln w="6350">
            <a:solidFill>
              <a:schemeClr val="tx1"/>
            </a:solidFill>
            <a:miter lim="800000"/>
            <a:headEnd/>
            <a:tailEnd type="triangle" w="med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8" name="AutoShape 50"/>
          <p:cNvCxnSpPr>
            <a:cxnSpLocks noChangeShapeType="1"/>
            <a:stCxn id="73" idx="2"/>
            <a:endCxn id="76" idx="0"/>
          </p:cNvCxnSpPr>
          <p:nvPr/>
        </p:nvCxnSpPr>
        <p:spPr bwMode="auto">
          <a:xfrm rot="5400000" flipH="1" flipV="1">
            <a:off x="7828871" y="3260273"/>
            <a:ext cx="433388" cy="1205470"/>
          </a:xfrm>
          <a:prstGeom prst="bentConnector5">
            <a:avLst>
              <a:gd name="adj1" fmla="val -52745"/>
              <a:gd name="adj2" fmla="val 49681"/>
              <a:gd name="adj3" fmla="val 152745"/>
            </a:avLst>
          </a:prstGeom>
          <a:noFill/>
          <a:ln w="6350">
            <a:solidFill>
              <a:schemeClr val="tx1"/>
            </a:solidFill>
            <a:miter lim="800000"/>
            <a:headEnd/>
            <a:tailEnd type="triangle" w="med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90" name="AutoShape 52"/>
          <p:cNvCxnSpPr>
            <a:cxnSpLocks noChangeShapeType="1"/>
            <a:stCxn id="95" idx="14"/>
            <a:endCxn id="62" idx="0"/>
          </p:cNvCxnSpPr>
          <p:nvPr/>
        </p:nvCxnSpPr>
        <p:spPr bwMode="auto">
          <a:xfrm>
            <a:off x="1832615" y="2475781"/>
            <a:ext cx="544923" cy="645071"/>
          </a:xfrm>
          <a:prstGeom prst="straightConnector1">
            <a:avLst/>
          </a:prstGeom>
          <a:noFill/>
          <a:ln w="6350">
            <a:solidFill>
              <a:schemeClr val="tx1"/>
            </a:solidFill>
            <a:round/>
            <a:headEnd/>
            <a:tailEnd type="triangle" w="med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91" name="Group 53"/>
          <p:cNvGrpSpPr>
            <a:grpSpLocks/>
          </p:cNvGrpSpPr>
          <p:nvPr/>
        </p:nvGrpSpPr>
        <p:grpSpPr bwMode="auto">
          <a:xfrm>
            <a:off x="1734741" y="2132856"/>
            <a:ext cx="180975" cy="363538"/>
            <a:chOff x="5875" y="720"/>
            <a:chExt cx="313" cy="1146"/>
          </a:xfrm>
        </p:grpSpPr>
        <p:grpSp>
          <p:nvGrpSpPr>
            <p:cNvPr id="92" name="Group 54"/>
            <p:cNvGrpSpPr>
              <a:grpSpLocks/>
            </p:cNvGrpSpPr>
            <p:nvPr/>
          </p:nvGrpSpPr>
          <p:grpSpPr bwMode="auto">
            <a:xfrm>
              <a:off x="5875" y="720"/>
              <a:ext cx="313" cy="1146"/>
              <a:chOff x="3872" y="1622"/>
              <a:chExt cx="98" cy="388"/>
            </a:xfrm>
          </p:grpSpPr>
          <p:sp>
            <p:nvSpPr>
              <p:cNvPr id="94" name="Freeform 55"/>
              <p:cNvSpPr>
                <a:spLocks/>
              </p:cNvSpPr>
              <p:nvPr/>
            </p:nvSpPr>
            <p:spPr bwMode="auto">
              <a:xfrm>
                <a:off x="3901" y="1622"/>
                <a:ext cx="40" cy="57"/>
              </a:xfrm>
              <a:custGeom>
                <a:avLst/>
                <a:gdLst>
                  <a:gd name="T0" fmla="*/ 40 w 40"/>
                  <a:gd name="T1" fmla="*/ 29 h 57"/>
                  <a:gd name="T2" fmla="*/ 39 w 40"/>
                  <a:gd name="T3" fmla="*/ 16 h 57"/>
                  <a:gd name="T4" fmla="*/ 33 w 40"/>
                  <a:gd name="T5" fmla="*/ 5 h 57"/>
                  <a:gd name="T6" fmla="*/ 24 w 40"/>
                  <a:gd name="T7" fmla="*/ 0 h 57"/>
                  <a:gd name="T8" fmla="*/ 16 w 40"/>
                  <a:gd name="T9" fmla="*/ 0 h 57"/>
                  <a:gd name="T10" fmla="*/ 7 w 40"/>
                  <a:gd name="T11" fmla="*/ 5 h 57"/>
                  <a:gd name="T12" fmla="*/ 1 w 40"/>
                  <a:gd name="T13" fmla="*/ 16 h 57"/>
                  <a:gd name="T14" fmla="*/ 0 w 40"/>
                  <a:gd name="T15" fmla="*/ 29 h 57"/>
                  <a:gd name="T16" fmla="*/ 1 w 40"/>
                  <a:gd name="T17" fmla="*/ 41 h 57"/>
                  <a:gd name="T18" fmla="*/ 7 w 40"/>
                  <a:gd name="T19" fmla="*/ 52 h 57"/>
                  <a:gd name="T20" fmla="*/ 16 w 40"/>
                  <a:gd name="T21" fmla="*/ 57 h 57"/>
                  <a:gd name="T22" fmla="*/ 24 w 40"/>
                  <a:gd name="T23" fmla="*/ 57 h 57"/>
                  <a:gd name="T24" fmla="*/ 33 w 40"/>
                  <a:gd name="T25" fmla="*/ 52 h 57"/>
                  <a:gd name="T26" fmla="*/ 39 w 40"/>
                  <a:gd name="T27" fmla="*/ 41 h 57"/>
                  <a:gd name="T28" fmla="*/ 40 w 40"/>
                  <a:gd name="T29" fmla="*/ 29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40" h="57">
                    <a:moveTo>
                      <a:pt x="40" y="29"/>
                    </a:moveTo>
                    <a:lnTo>
                      <a:pt x="39" y="16"/>
                    </a:lnTo>
                    <a:lnTo>
                      <a:pt x="33" y="5"/>
                    </a:lnTo>
                    <a:lnTo>
                      <a:pt x="24" y="0"/>
                    </a:lnTo>
                    <a:lnTo>
                      <a:pt x="16" y="0"/>
                    </a:lnTo>
                    <a:lnTo>
                      <a:pt x="7" y="5"/>
                    </a:lnTo>
                    <a:lnTo>
                      <a:pt x="1" y="16"/>
                    </a:lnTo>
                    <a:lnTo>
                      <a:pt x="0" y="29"/>
                    </a:lnTo>
                    <a:lnTo>
                      <a:pt x="1" y="41"/>
                    </a:lnTo>
                    <a:lnTo>
                      <a:pt x="7" y="52"/>
                    </a:lnTo>
                    <a:lnTo>
                      <a:pt x="16" y="57"/>
                    </a:lnTo>
                    <a:lnTo>
                      <a:pt x="24" y="57"/>
                    </a:lnTo>
                    <a:lnTo>
                      <a:pt x="33" y="52"/>
                    </a:lnTo>
                    <a:lnTo>
                      <a:pt x="39" y="41"/>
                    </a:lnTo>
                    <a:lnTo>
                      <a:pt x="40" y="29"/>
                    </a:lnTo>
                    <a:close/>
                  </a:path>
                </a:pathLst>
              </a:cu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3175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>
                <a:noAutofit/>
              </a:bodyPr>
              <a:lstStyle/>
              <a:p>
                <a:endParaRPr lang="ko-KR" altLang="en-US" sz="200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95" name="Freeform 56"/>
              <p:cNvSpPr>
                <a:spLocks/>
              </p:cNvSpPr>
              <p:nvPr/>
            </p:nvSpPr>
            <p:spPr bwMode="auto">
              <a:xfrm>
                <a:off x="3872" y="1690"/>
                <a:ext cx="98" cy="320"/>
              </a:xfrm>
              <a:custGeom>
                <a:avLst/>
                <a:gdLst>
                  <a:gd name="T0" fmla="*/ 68 w 98"/>
                  <a:gd name="T1" fmla="*/ 0 h 320"/>
                  <a:gd name="T2" fmla="*/ 75 w 98"/>
                  <a:gd name="T3" fmla="*/ 0 h 320"/>
                  <a:gd name="T4" fmla="*/ 84 w 98"/>
                  <a:gd name="T5" fmla="*/ 2 h 320"/>
                  <a:gd name="T6" fmla="*/ 96 w 98"/>
                  <a:gd name="T7" fmla="*/ 25 h 320"/>
                  <a:gd name="T8" fmla="*/ 98 w 98"/>
                  <a:gd name="T9" fmla="*/ 48 h 320"/>
                  <a:gd name="T10" fmla="*/ 98 w 98"/>
                  <a:gd name="T11" fmla="*/ 143 h 320"/>
                  <a:gd name="T12" fmla="*/ 89 w 98"/>
                  <a:gd name="T13" fmla="*/ 155 h 320"/>
                  <a:gd name="T14" fmla="*/ 82 w 98"/>
                  <a:gd name="T15" fmla="*/ 148 h 320"/>
                  <a:gd name="T16" fmla="*/ 80 w 98"/>
                  <a:gd name="T17" fmla="*/ 139 h 320"/>
                  <a:gd name="T18" fmla="*/ 75 w 98"/>
                  <a:gd name="T19" fmla="*/ 53 h 320"/>
                  <a:gd name="T20" fmla="*/ 75 w 98"/>
                  <a:gd name="T21" fmla="*/ 298 h 320"/>
                  <a:gd name="T22" fmla="*/ 75 w 98"/>
                  <a:gd name="T23" fmla="*/ 305 h 320"/>
                  <a:gd name="T24" fmla="*/ 69 w 98"/>
                  <a:gd name="T25" fmla="*/ 318 h 320"/>
                  <a:gd name="T26" fmla="*/ 59 w 98"/>
                  <a:gd name="T27" fmla="*/ 318 h 320"/>
                  <a:gd name="T28" fmla="*/ 53 w 98"/>
                  <a:gd name="T29" fmla="*/ 298 h 320"/>
                  <a:gd name="T30" fmla="*/ 53 w 98"/>
                  <a:gd name="T31" fmla="*/ 155 h 320"/>
                  <a:gd name="T32" fmla="*/ 50 w 98"/>
                  <a:gd name="T33" fmla="*/ 153 h 320"/>
                  <a:gd name="T34" fmla="*/ 45 w 98"/>
                  <a:gd name="T35" fmla="*/ 295 h 320"/>
                  <a:gd name="T36" fmla="*/ 45 w 98"/>
                  <a:gd name="T37" fmla="*/ 303 h 320"/>
                  <a:gd name="T38" fmla="*/ 43 w 98"/>
                  <a:gd name="T39" fmla="*/ 314 h 320"/>
                  <a:gd name="T40" fmla="*/ 34 w 98"/>
                  <a:gd name="T41" fmla="*/ 320 h 320"/>
                  <a:gd name="T42" fmla="*/ 25 w 98"/>
                  <a:gd name="T43" fmla="*/ 312 h 320"/>
                  <a:gd name="T44" fmla="*/ 23 w 98"/>
                  <a:gd name="T45" fmla="*/ 302 h 320"/>
                  <a:gd name="T46" fmla="*/ 23 w 98"/>
                  <a:gd name="T47" fmla="*/ 295 h 320"/>
                  <a:gd name="T48" fmla="*/ 18 w 98"/>
                  <a:gd name="T49" fmla="*/ 53 h 320"/>
                  <a:gd name="T50" fmla="*/ 18 w 98"/>
                  <a:gd name="T51" fmla="*/ 143 h 320"/>
                  <a:gd name="T52" fmla="*/ 18 w 98"/>
                  <a:gd name="T53" fmla="*/ 148 h 320"/>
                  <a:gd name="T54" fmla="*/ 13 w 98"/>
                  <a:gd name="T55" fmla="*/ 153 h 320"/>
                  <a:gd name="T56" fmla="*/ 2 w 98"/>
                  <a:gd name="T57" fmla="*/ 150 h 320"/>
                  <a:gd name="T58" fmla="*/ 0 w 98"/>
                  <a:gd name="T59" fmla="*/ 139 h 320"/>
                  <a:gd name="T60" fmla="*/ 0 w 98"/>
                  <a:gd name="T61" fmla="*/ 44 h 320"/>
                  <a:gd name="T62" fmla="*/ 7 w 98"/>
                  <a:gd name="T63" fmla="*/ 11 h 320"/>
                  <a:gd name="T64" fmla="*/ 20 w 98"/>
                  <a:gd name="T65" fmla="*/ 0 h 320"/>
                  <a:gd name="T66" fmla="*/ 25 w 98"/>
                  <a:gd name="T67" fmla="*/ 0 h 320"/>
                  <a:gd name="T68" fmla="*/ 52 w 98"/>
                  <a:gd name="T69" fmla="*/ 0 h 3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98" h="320">
                    <a:moveTo>
                      <a:pt x="46" y="0"/>
                    </a:moveTo>
                    <a:lnTo>
                      <a:pt x="68" y="0"/>
                    </a:lnTo>
                    <a:lnTo>
                      <a:pt x="73" y="0"/>
                    </a:lnTo>
                    <a:lnTo>
                      <a:pt x="75" y="0"/>
                    </a:lnTo>
                    <a:lnTo>
                      <a:pt x="78" y="0"/>
                    </a:lnTo>
                    <a:lnTo>
                      <a:pt x="84" y="2"/>
                    </a:lnTo>
                    <a:lnTo>
                      <a:pt x="91" y="11"/>
                    </a:lnTo>
                    <a:lnTo>
                      <a:pt x="96" y="25"/>
                    </a:lnTo>
                    <a:lnTo>
                      <a:pt x="98" y="44"/>
                    </a:lnTo>
                    <a:lnTo>
                      <a:pt x="98" y="48"/>
                    </a:lnTo>
                    <a:lnTo>
                      <a:pt x="98" y="139"/>
                    </a:lnTo>
                    <a:lnTo>
                      <a:pt x="98" y="143"/>
                    </a:lnTo>
                    <a:lnTo>
                      <a:pt x="96" y="150"/>
                    </a:lnTo>
                    <a:lnTo>
                      <a:pt x="89" y="155"/>
                    </a:lnTo>
                    <a:lnTo>
                      <a:pt x="84" y="153"/>
                    </a:lnTo>
                    <a:lnTo>
                      <a:pt x="82" y="148"/>
                    </a:lnTo>
                    <a:lnTo>
                      <a:pt x="80" y="143"/>
                    </a:lnTo>
                    <a:lnTo>
                      <a:pt x="80" y="139"/>
                    </a:lnTo>
                    <a:lnTo>
                      <a:pt x="80" y="53"/>
                    </a:lnTo>
                    <a:lnTo>
                      <a:pt x="75" y="53"/>
                    </a:lnTo>
                    <a:lnTo>
                      <a:pt x="75" y="295"/>
                    </a:lnTo>
                    <a:lnTo>
                      <a:pt x="75" y="298"/>
                    </a:lnTo>
                    <a:lnTo>
                      <a:pt x="75" y="300"/>
                    </a:lnTo>
                    <a:lnTo>
                      <a:pt x="75" y="305"/>
                    </a:lnTo>
                    <a:lnTo>
                      <a:pt x="73" y="312"/>
                    </a:lnTo>
                    <a:lnTo>
                      <a:pt x="69" y="318"/>
                    </a:lnTo>
                    <a:lnTo>
                      <a:pt x="64" y="320"/>
                    </a:lnTo>
                    <a:lnTo>
                      <a:pt x="59" y="318"/>
                    </a:lnTo>
                    <a:lnTo>
                      <a:pt x="55" y="316"/>
                    </a:lnTo>
                    <a:lnTo>
                      <a:pt x="53" y="298"/>
                    </a:lnTo>
                    <a:lnTo>
                      <a:pt x="53" y="295"/>
                    </a:lnTo>
                    <a:lnTo>
                      <a:pt x="53" y="155"/>
                    </a:lnTo>
                    <a:lnTo>
                      <a:pt x="48" y="153"/>
                    </a:lnTo>
                    <a:lnTo>
                      <a:pt x="50" y="153"/>
                    </a:lnTo>
                    <a:lnTo>
                      <a:pt x="45" y="155"/>
                    </a:lnTo>
                    <a:lnTo>
                      <a:pt x="45" y="295"/>
                    </a:lnTo>
                    <a:lnTo>
                      <a:pt x="45" y="298"/>
                    </a:lnTo>
                    <a:lnTo>
                      <a:pt x="45" y="303"/>
                    </a:lnTo>
                    <a:lnTo>
                      <a:pt x="45" y="307"/>
                    </a:lnTo>
                    <a:lnTo>
                      <a:pt x="43" y="314"/>
                    </a:lnTo>
                    <a:lnTo>
                      <a:pt x="39" y="318"/>
                    </a:lnTo>
                    <a:lnTo>
                      <a:pt x="34" y="320"/>
                    </a:lnTo>
                    <a:lnTo>
                      <a:pt x="29" y="318"/>
                    </a:lnTo>
                    <a:lnTo>
                      <a:pt x="25" y="312"/>
                    </a:lnTo>
                    <a:lnTo>
                      <a:pt x="23" y="305"/>
                    </a:lnTo>
                    <a:lnTo>
                      <a:pt x="23" y="302"/>
                    </a:lnTo>
                    <a:lnTo>
                      <a:pt x="23" y="298"/>
                    </a:lnTo>
                    <a:lnTo>
                      <a:pt x="23" y="295"/>
                    </a:lnTo>
                    <a:lnTo>
                      <a:pt x="23" y="53"/>
                    </a:lnTo>
                    <a:lnTo>
                      <a:pt x="18" y="53"/>
                    </a:lnTo>
                    <a:lnTo>
                      <a:pt x="18" y="139"/>
                    </a:lnTo>
                    <a:lnTo>
                      <a:pt x="18" y="143"/>
                    </a:lnTo>
                    <a:lnTo>
                      <a:pt x="18" y="144"/>
                    </a:lnTo>
                    <a:lnTo>
                      <a:pt x="18" y="148"/>
                    </a:lnTo>
                    <a:lnTo>
                      <a:pt x="14" y="152"/>
                    </a:lnTo>
                    <a:lnTo>
                      <a:pt x="13" y="153"/>
                    </a:lnTo>
                    <a:lnTo>
                      <a:pt x="9" y="155"/>
                    </a:lnTo>
                    <a:lnTo>
                      <a:pt x="2" y="150"/>
                    </a:lnTo>
                    <a:lnTo>
                      <a:pt x="0" y="143"/>
                    </a:lnTo>
                    <a:lnTo>
                      <a:pt x="0" y="139"/>
                    </a:lnTo>
                    <a:lnTo>
                      <a:pt x="0" y="48"/>
                    </a:lnTo>
                    <a:lnTo>
                      <a:pt x="0" y="44"/>
                    </a:lnTo>
                    <a:lnTo>
                      <a:pt x="2" y="27"/>
                    </a:lnTo>
                    <a:lnTo>
                      <a:pt x="7" y="11"/>
                    </a:lnTo>
                    <a:lnTo>
                      <a:pt x="14" y="3"/>
                    </a:lnTo>
                    <a:lnTo>
                      <a:pt x="20" y="0"/>
                    </a:lnTo>
                    <a:lnTo>
                      <a:pt x="21" y="0"/>
                    </a:lnTo>
                    <a:lnTo>
                      <a:pt x="25" y="0"/>
                    </a:lnTo>
                    <a:lnTo>
                      <a:pt x="29" y="0"/>
                    </a:lnTo>
                    <a:lnTo>
                      <a:pt x="52" y="0"/>
                    </a:lnTo>
                    <a:lnTo>
                      <a:pt x="46" y="0"/>
                    </a:lnTo>
                    <a:close/>
                  </a:path>
                </a:pathLst>
              </a:cu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3175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>
                <a:noAutofit/>
              </a:bodyPr>
              <a:lstStyle/>
              <a:p>
                <a:endParaRPr lang="ko-KR" altLang="en-US" sz="200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p:grpSp>
        <p:sp>
          <p:nvSpPr>
            <p:cNvPr id="93" name="Oval 57"/>
            <p:cNvSpPr>
              <a:spLocks noChangeArrowheads="1"/>
            </p:cNvSpPr>
            <p:nvPr/>
          </p:nvSpPr>
          <p:spPr bwMode="auto">
            <a:xfrm>
              <a:off x="5875" y="960"/>
              <a:ext cx="127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noAutofit/>
            </a:bodyPr>
            <a:lstStyle/>
            <a:p>
              <a:endParaRPr lang="ko-KR" altLang="en-US" sz="200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0615424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44017" y="91339"/>
            <a:ext cx="7401271" cy="385333"/>
          </a:xfrm>
          <a:prstGeom prst="rect">
            <a:avLst/>
          </a:prstGeom>
          <a:noFill/>
        </p:spPr>
        <p:txBody>
          <a:bodyPr wrap="square" lIns="0" tIns="53643" rIns="0" bIns="53643" rtlCol="0">
            <a:spAutoFit/>
          </a:bodyPr>
          <a:lstStyle/>
          <a:p>
            <a:r>
              <a:rPr kumimoji="1" lang="en-US" altLang="ko-KR" b="1" kern="0" dirty="0">
                <a:latin typeface="나눔고딕" panose="020D0604000000000000" pitchFamily="50" charset="-127"/>
                <a:ea typeface="나눔고딕" panose="020D0604000000000000" pitchFamily="50" charset="-127"/>
                <a:cs typeface="산돌고딕 M"/>
              </a:rPr>
              <a:t>User Interface Design</a:t>
            </a:r>
            <a:endParaRPr kumimoji="1" lang="ko-KR" altLang="en-US" b="1" kern="0" dirty="0">
              <a:latin typeface="나눔고딕" panose="020D0604000000000000" pitchFamily="50" charset="-127"/>
              <a:ea typeface="나눔고딕" panose="020D0604000000000000" pitchFamily="50" charset="-127"/>
              <a:cs typeface="산돌고딕 M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44017" y="683985"/>
            <a:ext cx="96335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U.I / U.X Design Process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776536" y="1124744"/>
            <a:ext cx="3024336" cy="36004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ko-KR" sz="14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Process 3 : Interface modeling</a:t>
            </a:r>
          </a:p>
        </p:txBody>
      </p:sp>
      <p:sp>
        <p:nvSpPr>
          <p:cNvPr id="14" name="Oval 16"/>
          <p:cNvSpPr>
            <a:spLocks noChangeArrowheads="1"/>
          </p:cNvSpPr>
          <p:nvPr/>
        </p:nvSpPr>
        <p:spPr bwMode="auto">
          <a:xfrm>
            <a:off x="477837" y="2096599"/>
            <a:ext cx="172215" cy="172215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  <a:round/>
            <a:headEnd/>
            <a:tailEnd type="none" w="med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5" name="Oval 17"/>
          <p:cNvSpPr>
            <a:spLocks noChangeArrowheads="1"/>
          </p:cNvSpPr>
          <p:nvPr/>
        </p:nvSpPr>
        <p:spPr bwMode="auto">
          <a:xfrm>
            <a:off x="477837" y="2354922"/>
            <a:ext cx="172215" cy="172215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  <a:round/>
            <a:headEnd/>
            <a:tailEnd type="none" w="med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6" name="Oval 18"/>
          <p:cNvSpPr>
            <a:spLocks noChangeArrowheads="1"/>
          </p:cNvSpPr>
          <p:nvPr/>
        </p:nvSpPr>
        <p:spPr bwMode="auto">
          <a:xfrm>
            <a:off x="477837" y="2613244"/>
            <a:ext cx="172215" cy="172215"/>
          </a:xfrm>
          <a:prstGeom prst="ellipse">
            <a:avLst/>
          </a:prstGeom>
          <a:solidFill>
            <a:srgbClr val="66FF66"/>
          </a:solidFill>
          <a:ln w="6350">
            <a:solidFill>
              <a:schemeClr val="tx1"/>
            </a:solidFill>
            <a:round/>
            <a:headEnd/>
            <a:tailEnd type="none" w="med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7" name="Oval 19"/>
          <p:cNvSpPr>
            <a:spLocks noChangeArrowheads="1"/>
          </p:cNvSpPr>
          <p:nvPr/>
        </p:nvSpPr>
        <p:spPr bwMode="auto">
          <a:xfrm>
            <a:off x="477837" y="2871567"/>
            <a:ext cx="172215" cy="172215"/>
          </a:xfrm>
          <a:prstGeom prst="ellipse">
            <a:avLst/>
          </a:prstGeom>
          <a:solidFill>
            <a:srgbClr val="66FF66"/>
          </a:solidFill>
          <a:ln w="6350">
            <a:solidFill>
              <a:schemeClr val="tx1"/>
            </a:solidFill>
            <a:round/>
            <a:headEnd/>
            <a:tailEnd type="none" w="med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" name="Oval 20"/>
          <p:cNvSpPr>
            <a:spLocks noChangeArrowheads="1"/>
          </p:cNvSpPr>
          <p:nvPr/>
        </p:nvSpPr>
        <p:spPr bwMode="auto">
          <a:xfrm>
            <a:off x="477837" y="3129889"/>
            <a:ext cx="172215" cy="172215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  <a:round/>
            <a:headEnd/>
            <a:tailEnd type="none" w="med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9" name="Oval 21"/>
          <p:cNvSpPr>
            <a:spLocks noChangeArrowheads="1"/>
          </p:cNvSpPr>
          <p:nvPr/>
        </p:nvSpPr>
        <p:spPr bwMode="auto">
          <a:xfrm>
            <a:off x="477837" y="3388212"/>
            <a:ext cx="172215" cy="172215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  <a:round/>
            <a:headEnd/>
            <a:tailEnd type="none" w="med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0" name="Oval 22"/>
          <p:cNvSpPr>
            <a:spLocks noChangeArrowheads="1"/>
          </p:cNvSpPr>
          <p:nvPr/>
        </p:nvSpPr>
        <p:spPr bwMode="auto">
          <a:xfrm>
            <a:off x="477837" y="3646534"/>
            <a:ext cx="172215" cy="172215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  <a:round/>
            <a:headEnd/>
            <a:tailEnd type="none" w="med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1" name="Oval 23"/>
          <p:cNvSpPr>
            <a:spLocks noChangeArrowheads="1"/>
          </p:cNvSpPr>
          <p:nvPr/>
        </p:nvSpPr>
        <p:spPr bwMode="auto">
          <a:xfrm>
            <a:off x="477837" y="3904857"/>
            <a:ext cx="172215" cy="172215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  <a:round/>
            <a:headEnd/>
            <a:tailEnd type="none" w="med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4" name="AutoShape 22"/>
          <p:cNvSpPr>
            <a:spLocks noChangeArrowheads="1"/>
          </p:cNvSpPr>
          <p:nvPr/>
        </p:nvSpPr>
        <p:spPr bwMode="auto">
          <a:xfrm>
            <a:off x="272480" y="2590428"/>
            <a:ext cx="127000" cy="190500"/>
          </a:xfrm>
          <a:prstGeom prst="homePlate">
            <a:avLst>
              <a:gd name="adj" fmla="val 77083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tx1"/>
            </a:solidFill>
            <a:miter lim="800000"/>
            <a:headEnd/>
            <a:tailEnd type="none" w="med" len="sm"/>
          </a:ln>
          <a:effectLst/>
        </p:spPr>
        <p:txBody>
          <a:bodyPr wrap="none" lIns="90000" tIns="46800" rIns="90000" bIns="46800" anchor="ctr"/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94068" y="1529210"/>
            <a:ext cx="87674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Interface modeling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은 추출된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Task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를 지원하기 위해 필요한 사이트 자원이 어떠한 것이 필요한 것인지 찾아내는 과정입니다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  <a:p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개별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Task 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혹은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Task step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을 수행하기 위해 필요한 사이트 자원을 유형별로 배치합니다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8" name="AutoShape 22"/>
          <p:cNvSpPr>
            <a:spLocks noChangeArrowheads="1"/>
          </p:cNvSpPr>
          <p:nvPr/>
        </p:nvSpPr>
        <p:spPr bwMode="auto">
          <a:xfrm>
            <a:off x="272480" y="2862424"/>
            <a:ext cx="127000" cy="190500"/>
          </a:xfrm>
          <a:prstGeom prst="homePlate">
            <a:avLst>
              <a:gd name="adj" fmla="val 77083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tx1"/>
            </a:solidFill>
            <a:miter lim="800000"/>
            <a:headEnd/>
            <a:tailEnd type="none" w="med" len="sm"/>
          </a:ln>
          <a:effectLst/>
        </p:spPr>
        <p:txBody>
          <a:bodyPr wrap="none" lIns="90000" tIns="46800" rIns="90000" bIns="46800" anchor="ctr"/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3" name="Text Box 22"/>
          <p:cNvSpPr txBox="1">
            <a:spLocks noChangeArrowheads="1"/>
          </p:cNvSpPr>
          <p:nvPr/>
        </p:nvSpPr>
        <p:spPr bwMode="auto">
          <a:xfrm>
            <a:off x="1611313" y="2306563"/>
            <a:ext cx="4191000" cy="4593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268288" indent="-8890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>
              <a:lnSpc>
                <a:spcPct val="140000"/>
              </a:lnSpc>
            </a:pPr>
            <a:r>
              <a:rPr kumimoji="0" lang="en-US" altLang="ko-KR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User segment : </a:t>
            </a:r>
          </a:p>
          <a:p>
            <a:pPr>
              <a:lnSpc>
                <a:spcPct val="140000"/>
              </a:lnSpc>
            </a:pPr>
            <a:r>
              <a:rPr kumimoji="0" lang="ko-KR" altLang="en-US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서비스 가입을 통해 미래 및 리스크 대비를 하고자 하는 고객</a:t>
            </a:r>
          </a:p>
        </p:txBody>
      </p:sp>
      <p:grpSp>
        <p:nvGrpSpPr>
          <p:cNvPr id="104" name="Group 23"/>
          <p:cNvGrpSpPr>
            <a:grpSpLocks/>
          </p:cNvGrpSpPr>
          <p:nvPr/>
        </p:nvGrpSpPr>
        <p:grpSpPr bwMode="auto">
          <a:xfrm>
            <a:off x="1352550" y="2252067"/>
            <a:ext cx="285750" cy="573088"/>
            <a:chOff x="5875" y="720"/>
            <a:chExt cx="313" cy="1146"/>
          </a:xfrm>
        </p:grpSpPr>
        <p:grpSp>
          <p:nvGrpSpPr>
            <p:cNvPr id="105" name="Group 24"/>
            <p:cNvGrpSpPr>
              <a:grpSpLocks/>
            </p:cNvGrpSpPr>
            <p:nvPr/>
          </p:nvGrpSpPr>
          <p:grpSpPr bwMode="auto">
            <a:xfrm>
              <a:off x="5875" y="720"/>
              <a:ext cx="313" cy="1146"/>
              <a:chOff x="3872" y="1622"/>
              <a:chExt cx="98" cy="388"/>
            </a:xfrm>
          </p:grpSpPr>
          <p:sp>
            <p:nvSpPr>
              <p:cNvPr id="107" name="Freeform 25"/>
              <p:cNvSpPr>
                <a:spLocks/>
              </p:cNvSpPr>
              <p:nvPr/>
            </p:nvSpPr>
            <p:spPr bwMode="auto">
              <a:xfrm>
                <a:off x="3901" y="1622"/>
                <a:ext cx="40" cy="57"/>
              </a:xfrm>
              <a:custGeom>
                <a:avLst/>
                <a:gdLst>
                  <a:gd name="T0" fmla="*/ 40 w 40"/>
                  <a:gd name="T1" fmla="*/ 29 h 57"/>
                  <a:gd name="T2" fmla="*/ 39 w 40"/>
                  <a:gd name="T3" fmla="*/ 16 h 57"/>
                  <a:gd name="T4" fmla="*/ 33 w 40"/>
                  <a:gd name="T5" fmla="*/ 5 h 57"/>
                  <a:gd name="T6" fmla="*/ 24 w 40"/>
                  <a:gd name="T7" fmla="*/ 0 h 57"/>
                  <a:gd name="T8" fmla="*/ 16 w 40"/>
                  <a:gd name="T9" fmla="*/ 0 h 57"/>
                  <a:gd name="T10" fmla="*/ 7 w 40"/>
                  <a:gd name="T11" fmla="*/ 5 h 57"/>
                  <a:gd name="T12" fmla="*/ 1 w 40"/>
                  <a:gd name="T13" fmla="*/ 16 h 57"/>
                  <a:gd name="T14" fmla="*/ 0 w 40"/>
                  <a:gd name="T15" fmla="*/ 29 h 57"/>
                  <a:gd name="T16" fmla="*/ 1 w 40"/>
                  <a:gd name="T17" fmla="*/ 41 h 57"/>
                  <a:gd name="T18" fmla="*/ 7 w 40"/>
                  <a:gd name="T19" fmla="*/ 52 h 57"/>
                  <a:gd name="T20" fmla="*/ 16 w 40"/>
                  <a:gd name="T21" fmla="*/ 57 h 57"/>
                  <a:gd name="T22" fmla="*/ 24 w 40"/>
                  <a:gd name="T23" fmla="*/ 57 h 57"/>
                  <a:gd name="T24" fmla="*/ 33 w 40"/>
                  <a:gd name="T25" fmla="*/ 52 h 57"/>
                  <a:gd name="T26" fmla="*/ 39 w 40"/>
                  <a:gd name="T27" fmla="*/ 41 h 57"/>
                  <a:gd name="T28" fmla="*/ 40 w 40"/>
                  <a:gd name="T29" fmla="*/ 29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40" h="57">
                    <a:moveTo>
                      <a:pt x="40" y="29"/>
                    </a:moveTo>
                    <a:lnTo>
                      <a:pt x="39" y="16"/>
                    </a:lnTo>
                    <a:lnTo>
                      <a:pt x="33" y="5"/>
                    </a:lnTo>
                    <a:lnTo>
                      <a:pt x="24" y="0"/>
                    </a:lnTo>
                    <a:lnTo>
                      <a:pt x="16" y="0"/>
                    </a:lnTo>
                    <a:lnTo>
                      <a:pt x="7" y="5"/>
                    </a:lnTo>
                    <a:lnTo>
                      <a:pt x="1" y="16"/>
                    </a:lnTo>
                    <a:lnTo>
                      <a:pt x="0" y="29"/>
                    </a:lnTo>
                    <a:lnTo>
                      <a:pt x="1" y="41"/>
                    </a:lnTo>
                    <a:lnTo>
                      <a:pt x="7" y="52"/>
                    </a:lnTo>
                    <a:lnTo>
                      <a:pt x="16" y="57"/>
                    </a:lnTo>
                    <a:lnTo>
                      <a:pt x="24" y="57"/>
                    </a:lnTo>
                    <a:lnTo>
                      <a:pt x="33" y="52"/>
                    </a:lnTo>
                    <a:lnTo>
                      <a:pt x="39" y="41"/>
                    </a:lnTo>
                    <a:lnTo>
                      <a:pt x="40" y="29"/>
                    </a:lnTo>
                    <a:close/>
                  </a:path>
                </a:pathLst>
              </a:cu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3175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108" name="Freeform 26"/>
              <p:cNvSpPr>
                <a:spLocks/>
              </p:cNvSpPr>
              <p:nvPr/>
            </p:nvSpPr>
            <p:spPr bwMode="auto">
              <a:xfrm>
                <a:off x="3872" y="1690"/>
                <a:ext cx="98" cy="320"/>
              </a:xfrm>
              <a:custGeom>
                <a:avLst/>
                <a:gdLst>
                  <a:gd name="T0" fmla="*/ 68 w 98"/>
                  <a:gd name="T1" fmla="*/ 0 h 320"/>
                  <a:gd name="T2" fmla="*/ 75 w 98"/>
                  <a:gd name="T3" fmla="*/ 0 h 320"/>
                  <a:gd name="T4" fmla="*/ 84 w 98"/>
                  <a:gd name="T5" fmla="*/ 2 h 320"/>
                  <a:gd name="T6" fmla="*/ 96 w 98"/>
                  <a:gd name="T7" fmla="*/ 25 h 320"/>
                  <a:gd name="T8" fmla="*/ 98 w 98"/>
                  <a:gd name="T9" fmla="*/ 48 h 320"/>
                  <a:gd name="T10" fmla="*/ 98 w 98"/>
                  <a:gd name="T11" fmla="*/ 143 h 320"/>
                  <a:gd name="T12" fmla="*/ 89 w 98"/>
                  <a:gd name="T13" fmla="*/ 155 h 320"/>
                  <a:gd name="T14" fmla="*/ 82 w 98"/>
                  <a:gd name="T15" fmla="*/ 148 h 320"/>
                  <a:gd name="T16" fmla="*/ 80 w 98"/>
                  <a:gd name="T17" fmla="*/ 139 h 320"/>
                  <a:gd name="T18" fmla="*/ 75 w 98"/>
                  <a:gd name="T19" fmla="*/ 53 h 320"/>
                  <a:gd name="T20" fmla="*/ 75 w 98"/>
                  <a:gd name="T21" fmla="*/ 298 h 320"/>
                  <a:gd name="T22" fmla="*/ 75 w 98"/>
                  <a:gd name="T23" fmla="*/ 305 h 320"/>
                  <a:gd name="T24" fmla="*/ 69 w 98"/>
                  <a:gd name="T25" fmla="*/ 318 h 320"/>
                  <a:gd name="T26" fmla="*/ 59 w 98"/>
                  <a:gd name="T27" fmla="*/ 318 h 320"/>
                  <a:gd name="T28" fmla="*/ 53 w 98"/>
                  <a:gd name="T29" fmla="*/ 298 h 320"/>
                  <a:gd name="T30" fmla="*/ 53 w 98"/>
                  <a:gd name="T31" fmla="*/ 155 h 320"/>
                  <a:gd name="T32" fmla="*/ 50 w 98"/>
                  <a:gd name="T33" fmla="*/ 153 h 320"/>
                  <a:gd name="T34" fmla="*/ 45 w 98"/>
                  <a:gd name="T35" fmla="*/ 295 h 320"/>
                  <a:gd name="T36" fmla="*/ 45 w 98"/>
                  <a:gd name="T37" fmla="*/ 303 h 320"/>
                  <a:gd name="T38" fmla="*/ 43 w 98"/>
                  <a:gd name="T39" fmla="*/ 314 h 320"/>
                  <a:gd name="T40" fmla="*/ 34 w 98"/>
                  <a:gd name="T41" fmla="*/ 320 h 320"/>
                  <a:gd name="T42" fmla="*/ 25 w 98"/>
                  <a:gd name="T43" fmla="*/ 312 h 320"/>
                  <a:gd name="T44" fmla="*/ 23 w 98"/>
                  <a:gd name="T45" fmla="*/ 302 h 320"/>
                  <a:gd name="T46" fmla="*/ 23 w 98"/>
                  <a:gd name="T47" fmla="*/ 295 h 320"/>
                  <a:gd name="T48" fmla="*/ 18 w 98"/>
                  <a:gd name="T49" fmla="*/ 53 h 320"/>
                  <a:gd name="T50" fmla="*/ 18 w 98"/>
                  <a:gd name="T51" fmla="*/ 143 h 320"/>
                  <a:gd name="T52" fmla="*/ 18 w 98"/>
                  <a:gd name="T53" fmla="*/ 148 h 320"/>
                  <a:gd name="T54" fmla="*/ 13 w 98"/>
                  <a:gd name="T55" fmla="*/ 153 h 320"/>
                  <a:gd name="T56" fmla="*/ 2 w 98"/>
                  <a:gd name="T57" fmla="*/ 150 h 320"/>
                  <a:gd name="T58" fmla="*/ 0 w 98"/>
                  <a:gd name="T59" fmla="*/ 139 h 320"/>
                  <a:gd name="T60" fmla="*/ 0 w 98"/>
                  <a:gd name="T61" fmla="*/ 44 h 320"/>
                  <a:gd name="T62" fmla="*/ 7 w 98"/>
                  <a:gd name="T63" fmla="*/ 11 h 320"/>
                  <a:gd name="T64" fmla="*/ 20 w 98"/>
                  <a:gd name="T65" fmla="*/ 0 h 320"/>
                  <a:gd name="T66" fmla="*/ 25 w 98"/>
                  <a:gd name="T67" fmla="*/ 0 h 320"/>
                  <a:gd name="T68" fmla="*/ 52 w 98"/>
                  <a:gd name="T69" fmla="*/ 0 h 3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98" h="320">
                    <a:moveTo>
                      <a:pt x="46" y="0"/>
                    </a:moveTo>
                    <a:lnTo>
                      <a:pt x="68" y="0"/>
                    </a:lnTo>
                    <a:lnTo>
                      <a:pt x="73" y="0"/>
                    </a:lnTo>
                    <a:lnTo>
                      <a:pt x="75" y="0"/>
                    </a:lnTo>
                    <a:lnTo>
                      <a:pt x="78" y="0"/>
                    </a:lnTo>
                    <a:lnTo>
                      <a:pt x="84" y="2"/>
                    </a:lnTo>
                    <a:lnTo>
                      <a:pt x="91" y="11"/>
                    </a:lnTo>
                    <a:lnTo>
                      <a:pt x="96" y="25"/>
                    </a:lnTo>
                    <a:lnTo>
                      <a:pt x="98" y="44"/>
                    </a:lnTo>
                    <a:lnTo>
                      <a:pt x="98" y="48"/>
                    </a:lnTo>
                    <a:lnTo>
                      <a:pt x="98" y="139"/>
                    </a:lnTo>
                    <a:lnTo>
                      <a:pt x="98" y="143"/>
                    </a:lnTo>
                    <a:lnTo>
                      <a:pt x="96" y="150"/>
                    </a:lnTo>
                    <a:lnTo>
                      <a:pt x="89" y="155"/>
                    </a:lnTo>
                    <a:lnTo>
                      <a:pt x="84" y="153"/>
                    </a:lnTo>
                    <a:lnTo>
                      <a:pt x="82" y="148"/>
                    </a:lnTo>
                    <a:lnTo>
                      <a:pt x="80" y="143"/>
                    </a:lnTo>
                    <a:lnTo>
                      <a:pt x="80" y="139"/>
                    </a:lnTo>
                    <a:lnTo>
                      <a:pt x="80" y="53"/>
                    </a:lnTo>
                    <a:lnTo>
                      <a:pt x="75" y="53"/>
                    </a:lnTo>
                    <a:lnTo>
                      <a:pt x="75" y="295"/>
                    </a:lnTo>
                    <a:lnTo>
                      <a:pt x="75" y="298"/>
                    </a:lnTo>
                    <a:lnTo>
                      <a:pt x="75" y="300"/>
                    </a:lnTo>
                    <a:lnTo>
                      <a:pt x="75" y="305"/>
                    </a:lnTo>
                    <a:lnTo>
                      <a:pt x="73" y="312"/>
                    </a:lnTo>
                    <a:lnTo>
                      <a:pt x="69" y="318"/>
                    </a:lnTo>
                    <a:lnTo>
                      <a:pt x="64" y="320"/>
                    </a:lnTo>
                    <a:lnTo>
                      <a:pt x="59" y="318"/>
                    </a:lnTo>
                    <a:lnTo>
                      <a:pt x="55" y="316"/>
                    </a:lnTo>
                    <a:lnTo>
                      <a:pt x="53" y="298"/>
                    </a:lnTo>
                    <a:lnTo>
                      <a:pt x="53" y="295"/>
                    </a:lnTo>
                    <a:lnTo>
                      <a:pt x="53" y="155"/>
                    </a:lnTo>
                    <a:lnTo>
                      <a:pt x="48" y="153"/>
                    </a:lnTo>
                    <a:lnTo>
                      <a:pt x="50" y="153"/>
                    </a:lnTo>
                    <a:lnTo>
                      <a:pt x="45" y="155"/>
                    </a:lnTo>
                    <a:lnTo>
                      <a:pt x="45" y="295"/>
                    </a:lnTo>
                    <a:lnTo>
                      <a:pt x="45" y="298"/>
                    </a:lnTo>
                    <a:lnTo>
                      <a:pt x="45" y="303"/>
                    </a:lnTo>
                    <a:lnTo>
                      <a:pt x="45" y="307"/>
                    </a:lnTo>
                    <a:lnTo>
                      <a:pt x="43" y="314"/>
                    </a:lnTo>
                    <a:lnTo>
                      <a:pt x="39" y="318"/>
                    </a:lnTo>
                    <a:lnTo>
                      <a:pt x="34" y="320"/>
                    </a:lnTo>
                    <a:lnTo>
                      <a:pt x="29" y="318"/>
                    </a:lnTo>
                    <a:lnTo>
                      <a:pt x="25" y="312"/>
                    </a:lnTo>
                    <a:lnTo>
                      <a:pt x="23" y="305"/>
                    </a:lnTo>
                    <a:lnTo>
                      <a:pt x="23" y="302"/>
                    </a:lnTo>
                    <a:lnTo>
                      <a:pt x="23" y="298"/>
                    </a:lnTo>
                    <a:lnTo>
                      <a:pt x="23" y="295"/>
                    </a:lnTo>
                    <a:lnTo>
                      <a:pt x="23" y="53"/>
                    </a:lnTo>
                    <a:lnTo>
                      <a:pt x="18" y="53"/>
                    </a:lnTo>
                    <a:lnTo>
                      <a:pt x="18" y="139"/>
                    </a:lnTo>
                    <a:lnTo>
                      <a:pt x="18" y="143"/>
                    </a:lnTo>
                    <a:lnTo>
                      <a:pt x="18" y="144"/>
                    </a:lnTo>
                    <a:lnTo>
                      <a:pt x="18" y="148"/>
                    </a:lnTo>
                    <a:lnTo>
                      <a:pt x="14" y="152"/>
                    </a:lnTo>
                    <a:lnTo>
                      <a:pt x="13" y="153"/>
                    </a:lnTo>
                    <a:lnTo>
                      <a:pt x="9" y="155"/>
                    </a:lnTo>
                    <a:lnTo>
                      <a:pt x="2" y="150"/>
                    </a:lnTo>
                    <a:lnTo>
                      <a:pt x="0" y="143"/>
                    </a:lnTo>
                    <a:lnTo>
                      <a:pt x="0" y="139"/>
                    </a:lnTo>
                    <a:lnTo>
                      <a:pt x="0" y="48"/>
                    </a:lnTo>
                    <a:lnTo>
                      <a:pt x="0" y="44"/>
                    </a:lnTo>
                    <a:lnTo>
                      <a:pt x="2" y="27"/>
                    </a:lnTo>
                    <a:lnTo>
                      <a:pt x="7" y="11"/>
                    </a:lnTo>
                    <a:lnTo>
                      <a:pt x="14" y="3"/>
                    </a:lnTo>
                    <a:lnTo>
                      <a:pt x="20" y="0"/>
                    </a:lnTo>
                    <a:lnTo>
                      <a:pt x="21" y="0"/>
                    </a:lnTo>
                    <a:lnTo>
                      <a:pt x="25" y="0"/>
                    </a:lnTo>
                    <a:lnTo>
                      <a:pt x="29" y="0"/>
                    </a:lnTo>
                    <a:lnTo>
                      <a:pt x="52" y="0"/>
                    </a:lnTo>
                    <a:lnTo>
                      <a:pt x="46" y="0"/>
                    </a:lnTo>
                    <a:close/>
                  </a:path>
                </a:pathLst>
              </a:cu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3175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p:grpSp>
        <p:sp>
          <p:nvSpPr>
            <p:cNvPr id="106" name="Oval 27"/>
            <p:cNvSpPr>
              <a:spLocks noChangeArrowheads="1"/>
            </p:cNvSpPr>
            <p:nvPr/>
          </p:nvSpPr>
          <p:spPr bwMode="auto">
            <a:xfrm>
              <a:off x="5875" y="960"/>
              <a:ext cx="127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sp>
        <p:nvSpPr>
          <p:cNvPr id="96" name="Rectangle 2"/>
          <p:cNvSpPr>
            <a:spLocks noChangeArrowheads="1"/>
          </p:cNvSpPr>
          <p:nvPr/>
        </p:nvSpPr>
        <p:spPr bwMode="auto">
          <a:xfrm>
            <a:off x="6036355" y="4604742"/>
            <a:ext cx="2942841" cy="43815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7" name="Rectangle 3"/>
          <p:cNvSpPr>
            <a:spLocks noChangeArrowheads="1"/>
          </p:cNvSpPr>
          <p:nvPr/>
        </p:nvSpPr>
        <p:spPr bwMode="auto">
          <a:xfrm>
            <a:off x="6036355" y="3985617"/>
            <a:ext cx="2942841" cy="43815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8" name="Rectangle 4"/>
          <p:cNvSpPr>
            <a:spLocks noChangeArrowheads="1"/>
          </p:cNvSpPr>
          <p:nvPr/>
        </p:nvSpPr>
        <p:spPr bwMode="auto">
          <a:xfrm>
            <a:off x="6036355" y="3347442"/>
            <a:ext cx="2942841" cy="43815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0" name="Oval 19"/>
          <p:cNvSpPr>
            <a:spLocks noChangeArrowheads="1"/>
          </p:cNvSpPr>
          <p:nvPr/>
        </p:nvSpPr>
        <p:spPr bwMode="auto">
          <a:xfrm>
            <a:off x="1622095" y="3409674"/>
            <a:ext cx="2673080" cy="373283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268288" indent="-8890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>
              <a:lnSpc>
                <a:spcPct val="140000"/>
              </a:lnSpc>
            </a:pPr>
            <a:r>
              <a:rPr kumimoji="0" lang="ko-KR" altLang="en-US" sz="900" b="1">
                <a:latin typeface="나눔고딕" panose="020D0604000000000000" pitchFamily="50" charset="-127"/>
                <a:ea typeface="나눔고딕" panose="020D0604000000000000" pitchFamily="50" charset="-127"/>
              </a:rPr>
              <a:t>각종 서비스 </a:t>
            </a:r>
            <a:r>
              <a:rPr kumimoji="0" lang="ko-KR" altLang="en-US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정보를 찾는다</a:t>
            </a:r>
          </a:p>
        </p:txBody>
      </p:sp>
      <p:sp>
        <p:nvSpPr>
          <p:cNvPr id="101" name="Oval 20"/>
          <p:cNvSpPr>
            <a:spLocks noChangeArrowheads="1"/>
          </p:cNvSpPr>
          <p:nvPr/>
        </p:nvSpPr>
        <p:spPr bwMode="auto">
          <a:xfrm>
            <a:off x="3109864" y="4076105"/>
            <a:ext cx="2337923" cy="402497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noAutofit/>
          </a:bodyPr>
          <a:lstStyle>
            <a:lvl1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268288" indent="-8890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>
              <a:lnSpc>
                <a:spcPct val="140000"/>
              </a:lnSpc>
            </a:pPr>
            <a:r>
              <a:rPr kumimoji="0" lang="ko-KR" altLang="en-US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전문가 정보를 읽는다</a:t>
            </a:r>
          </a:p>
        </p:txBody>
      </p:sp>
      <p:sp>
        <p:nvSpPr>
          <p:cNvPr id="102" name="Oval 21"/>
          <p:cNvSpPr>
            <a:spLocks noChangeArrowheads="1"/>
          </p:cNvSpPr>
          <p:nvPr/>
        </p:nvSpPr>
        <p:spPr bwMode="auto">
          <a:xfrm>
            <a:off x="3109864" y="4579342"/>
            <a:ext cx="2534113" cy="402497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noAutofit/>
          </a:bodyPr>
          <a:lstStyle>
            <a:lvl1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268288" indent="-8890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>
              <a:lnSpc>
                <a:spcPct val="140000"/>
              </a:lnSpc>
            </a:pPr>
            <a:r>
              <a:rPr kumimoji="0" lang="ko-KR" altLang="en-US" sz="900" b="1">
                <a:latin typeface="나눔고딕" panose="020D0604000000000000" pitchFamily="50" charset="-127"/>
                <a:ea typeface="나눔고딕" panose="020D0604000000000000" pitchFamily="50" charset="-127"/>
              </a:rPr>
              <a:t>서비스 </a:t>
            </a:r>
            <a:r>
              <a:rPr kumimoji="0" lang="ko-KR" altLang="en-US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커뮤니티를 찾는다</a:t>
            </a:r>
          </a:p>
        </p:txBody>
      </p:sp>
      <p:sp>
        <p:nvSpPr>
          <p:cNvPr id="109" name="AutoShape 28"/>
          <p:cNvSpPr>
            <a:spLocks noChangeArrowheads="1"/>
          </p:cNvSpPr>
          <p:nvPr/>
        </p:nvSpPr>
        <p:spPr bwMode="auto">
          <a:xfrm>
            <a:off x="6134450" y="3318867"/>
            <a:ext cx="2673080" cy="459357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268288" indent="-8890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>
              <a:lnSpc>
                <a:spcPct val="140000"/>
              </a:lnSpc>
            </a:pPr>
            <a:r>
              <a:rPr kumimoji="0" lang="ko-KR" altLang="en-US" sz="900">
                <a:latin typeface="나눔고딕" panose="020D0604000000000000" pitchFamily="50" charset="-127"/>
                <a:ea typeface="나눔고딕" panose="020D0604000000000000" pitchFamily="50" charset="-127"/>
              </a:rPr>
              <a:t>서비스 </a:t>
            </a:r>
            <a:r>
              <a:rPr kumimoji="0"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정보 찾기 위한 내비게이션 요소 </a:t>
            </a:r>
            <a:r>
              <a:rPr kumimoji="0"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&lt;Boundary object::move&gt;</a:t>
            </a:r>
          </a:p>
        </p:txBody>
      </p:sp>
      <p:cxnSp>
        <p:nvCxnSpPr>
          <p:cNvPr id="110" name="AutoShape 29"/>
          <p:cNvCxnSpPr>
            <a:cxnSpLocks noChangeShapeType="1"/>
            <a:stCxn id="101" idx="2"/>
            <a:endCxn id="100" idx="4"/>
          </p:cNvCxnSpPr>
          <p:nvPr/>
        </p:nvCxnSpPr>
        <p:spPr bwMode="auto">
          <a:xfrm rot="10800000">
            <a:off x="2958636" y="3782958"/>
            <a:ext cx="151229" cy="494397"/>
          </a:xfrm>
          <a:prstGeom prst="bentConnector2">
            <a:avLst/>
          </a:prstGeom>
          <a:noFill/>
          <a:ln w="6350">
            <a:solidFill>
              <a:schemeClr val="accent2"/>
            </a:solidFill>
            <a:miter lim="800000"/>
            <a:headEnd/>
            <a:tailEnd type="none" w="med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11" name="AutoShape 30"/>
          <p:cNvCxnSpPr>
            <a:cxnSpLocks noChangeShapeType="1"/>
            <a:stCxn id="102" idx="2"/>
            <a:endCxn id="100" idx="4"/>
          </p:cNvCxnSpPr>
          <p:nvPr/>
        </p:nvCxnSpPr>
        <p:spPr bwMode="auto">
          <a:xfrm rot="10800000">
            <a:off x="2958636" y="3782957"/>
            <a:ext cx="151229" cy="997634"/>
          </a:xfrm>
          <a:prstGeom prst="bentConnector2">
            <a:avLst/>
          </a:prstGeom>
          <a:noFill/>
          <a:ln w="6350">
            <a:solidFill>
              <a:schemeClr val="tx1"/>
            </a:solidFill>
            <a:miter lim="800000"/>
            <a:headEnd/>
            <a:tailEnd type="none" w="med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12" name="AutoShape 31"/>
          <p:cNvSpPr>
            <a:spLocks noChangeArrowheads="1"/>
          </p:cNvSpPr>
          <p:nvPr/>
        </p:nvSpPr>
        <p:spPr bwMode="auto">
          <a:xfrm>
            <a:off x="6134450" y="3957042"/>
            <a:ext cx="2476891" cy="480131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268288" indent="-8890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>
              <a:lnSpc>
                <a:spcPct val="140000"/>
              </a:lnSpc>
            </a:pPr>
            <a:r>
              <a:rPr kumimoji="0" lang="ko-KR" altLang="en-US" sz="900">
                <a:latin typeface="나눔고딕" panose="020D0604000000000000" pitchFamily="50" charset="-127"/>
                <a:ea typeface="나눔고딕" panose="020D0604000000000000" pitchFamily="50" charset="-127"/>
              </a:rPr>
              <a:t>전문가 정보 </a:t>
            </a:r>
            <a:r>
              <a:rPr kumimoji="0" lang="en-US" altLang="ko-KR" sz="90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kumimoji="0" lang="ko-KR" altLang="en-US" sz="900">
                <a:latin typeface="나눔고딕" panose="020D0604000000000000" pitchFamily="50" charset="-127"/>
                <a:ea typeface="나눔고딕" panose="020D0604000000000000" pitchFamily="50" charset="-127"/>
              </a:rPr>
              <a:t>컨텐츠 요소</a:t>
            </a:r>
          </a:p>
          <a:p>
            <a:pPr>
              <a:lnSpc>
                <a:spcPct val="140000"/>
              </a:lnSpc>
            </a:pPr>
            <a:r>
              <a:rPr kumimoji="0" lang="en-US" altLang="ko-KR" sz="900">
                <a:latin typeface="나눔고딕" panose="020D0604000000000000" pitchFamily="50" charset="-127"/>
                <a:ea typeface="나눔고딕" panose="020D0604000000000000" pitchFamily="50" charset="-127"/>
              </a:rPr>
              <a:t>&lt;Boundary object::cognitive&gt;</a:t>
            </a:r>
          </a:p>
        </p:txBody>
      </p:sp>
      <p:sp>
        <p:nvSpPr>
          <p:cNvPr id="113" name="AutoShape 32"/>
          <p:cNvSpPr>
            <a:spLocks noChangeArrowheads="1"/>
          </p:cNvSpPr>
          <p:nvPr/>
        </p:nvSpPr>
        <p:spPr bwMode="auto">
          <a:xfrm>
            <a:off x="6134450" y="4566642"/>
            <a:ext cx="2452367" cy="480131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268288" indent="-8890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>
              <a:lnSpc>
                <a:spcPct val="140000"/>
              </a:lnSpc>
            </a:pPr>
            <a:r>
              <a:rPr kumimoji="0" lang="ko-KR" altLang="en-US" sz="900">
                <a:latin typeface="나눔고딕" panose="020D0604000000000000" pitchFamily="50" charset="-127"/>
                <a:ea typeface="나눔고딕" panose="020D0604000000000000" pitchFamily="50" charset="-127"/>
              </a:rPr>
              <a:t>커뮤니티 </a:t>
            </a:r>
            <a:r>
              <a:rPr kumimoji="0" lang="en-US" altLang="ko-KR" sz="90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kumimoji="0" lang="ko-KR" altLang="en-US" sz="900">
                <a:latin typeface="나눔고딕" panose="020D0604000000000000" pitchFamily="50" charset="-127"/>
                <a:ea typeface="나눔고딕" panose="020D0604000000000000" pitchFamily="50" charset="-127"/>
              </a:rPr>
              <a:t>커뮤니티 요소</a:t>
            </a:r>
          </a:p>
          <a:p>
            <a:pPr>
              <a:lnSpc>
                <a:spcPct val="140000"/>
              </a:lnSpc>
            </a:pPr>
            <a:r>
              <a:rPr kumimoji="0" lang="en-US" altLang="ko-KR" sz="900">
                <a:latin typeface="나눔고딕" panose="020D0604000000000000" pitchFamily="50" charset="-127"/>
                <a:ea typeface="나눔고딕" panose="020D0604000000000000" pitchFamily="50" charset="-127"/>
              </a:rPr>
              <a:t>&lt;Boundary object::cognitive&gt;</a:t>
            </a:r>
          </a:p>
        </p:txBody>
      </p:sp>
      <p:sp>
        <p:nvSpPr>
          <p:cNvPr id="114" name="AutoShape 33"/>
          <p:cNvSpPr>
            <a:spLocks noChangeArrowheads="1"/>
          </p:cNvSpPr>
          <p:nvPr/>
        </p:nvSpPr>
        <p:spPr bwMode="auto">
          <a:xfrm>
            <a:off x="1524000" y="2937867"/>
            <a:ext cx="2673080" cy="265457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268288" indent="-8890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>
              <a:lnSpc>
                <a:spcPct val="140000"/>
              </a:lnSpc>
            </a:pPr>
            <a:r>
              <a:rPr kumimoji="0" lang="en-US" altLang="ko-KR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Task (Step)</a:t>
            </a:r>
          </a:p>
        </p:txBody>
      </p:sp>
      <p:sp>
        <p:nvSpPr>
          <p:cNvPr id="115" name="AutoShape 34"/>
          <p:cNvSpPr>
            <a:spLocks noChangeArrowheads="1"/>
          </p:cNvSpPr>
          <p:nvPr/>
        </p:nvSpPr>
        <p:spPr bwMode="auto">
          <a:xfrm>
            <a:off x="6134450" y="2937867"/>
            <a:ext cx="2673080" cy="265457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268288" indent="-8890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>
              <a:lnSpc>
                <a:spcPct val="140000"/>
              </a:lnSpc>
            </a:pPr>
            <a:r>
              <a:rPr kumimoji="0" lang="en-US" altLang="ko-KR" sz="900" b="1">
                <a:latin typeface="나눔고딕" panose="020D0604000000000000" pitchFamily="50" charset="-127"/>
                <a:ea typeface="나눔고딕" panose="020D0604000000000000" pitchFamily="50" charset="-127"/>
              </a:rPr>
              <a:t>Related asset</a:t>
            </a:r>
          </a:p>
        </p:txBody>
      </p:sp>
      <p:sp>
        <p:nvSpPr>
          <p:cNvPr id="116" name="Line 35"/>
          <p:cNvSpPr>
            <a:spLocks noChangeShapeType="1"/>
          </p:cNvSpPr>
          <p:nvPr/>
        </p:nvSpPr>
        <p:spPr bwMode="auto">
          <a:xfrm>
            <a:off x="1622095" y="3242667"/>
            <a:ext cx="7651385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none" w="med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17" name="Line 36"/>
          <p:cNvSpPr>
            <a:spLocks noChangeShapeType="1"/>
          </p:cNvSpPr>
          <p:nvPr/>
        </p:nvSpPr>
        <p:spPr bwMode="auto">
          <a:xfrm>
            <a:off x="5815642" y="2937867"/>
            <a:ext cx="0" cy="2219325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 type="none" w="med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18" name="Line 37"/>
          <p:cNvSpPr>
            <a:spLocks noChangeShapeType="1"/>
          </p:cNvSpPr>
          <p:nvPr/>
        </p:nvSpPr>
        <p:spPr bwMode="auto">
          <a:xfrm>
            <a:off x="1622095" y="2937867"/>
            <a:ext cx="7651385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 type="none" w="med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19" name="Line 38"/>
          <p:cNvSpPr>
            <a:spLocks noChangeShapeType="1"/>
          </p:cNvSpPr>
          <p:nvPr/>
        </p:nvSpPr>
        <p:spPr bwMode="auto">
          <a:xfrm>
            <a:off x="1622095" y="3899892"/>
            <a:ext cx="7651385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 type="none" w="med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20" name="Line 39"/>
          <p:cNvSpPr>
            <a:spLocks noChangeShapeType="1"/>
          </p:cNvSpPr>
          <p:nvPr/>
        </p:nvSpPr>
        <p:spPr bwMode="auto">
          <a:xfrm>
            <a:off x="3093515" y="4519017"/>
            <a:ext cx="6179965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 type="none" w="med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21" name="Line 40"/>
          <p:cNvSpPr>
            <a:spLocks noChangeShapeType="1"/>
          </p:cNvSpPr>
          <p:nvPr/>
        </p:nvSpPr>
        <p:spPr bwMode="auto">
          <a:xfrm>
            <a:off x="1622095" y="5147667"/>
            <a:ext cx="7651385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 type="none" w="med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22" name="Line 41"/>
          <p:cNvSpPr>
            <a:spLocks noChangeShapeType="1"/>
          </p:cNvSpPr>
          <p:nvPr/>
        </p:nvSpPr>
        <p:spPr bwMode="auto">
          <a:xfrm>
            <a:off x="4368746" y="3576042"/>
            <a:ext cx="1667610" cy="0"/>
          </a:xfrm>
          <a:prstGeom prst="line">
            <a:avLst/>
          </a:prstGeom>
          <a:noFill/>
          <a:ln w="6350" cap="rnd">
            <a:solidFill>
              <a:schemeClr val="tx1"/>
            </a:solidFill>
            <a:prstDash val="sysDot"/>
            <a:round/>
            <a:headEnd/>
            <a:tailEnd type="none" w="med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23" name="Line 42"/>
          <p:cNvSpPr>
            <a:spLocks noChangeShapeType="1"/>
          </p:cNvSpPr>
          <p:nvPr/>
        </p:nvSpPr>
        <p:spPr bwMode="auto">
          <a:xfrm>
            <a:off x="5447787" y="4233267"/>
            <a:ext cx="588568" cy="0"/>
          </a:xfrm>
          <a:prstGeom prst="line">
            <a:avLst/>
          </a:prstGeom>
          <a:noFill/>
          <a:ln w="6350" cap="rnd">
            <a:solidFill>
              <a:schemeClr val="tx1"/>
            </a:solidFill>
            <a:prstDash val="sysDot"/>
            <a:round/>
            <a:headEnd/>
            <a:tailEnd type="none" w="med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24" name="Line 43"/>
          <p:cNvSpPr>
            <a:spLocks noChangeShapeType="1"/>
          </p:cNvSpPr>
          <p:nvPr/>
        </p:nvSpPr>
        <p:spPr bwMode="auto">
          <a:xfrm>
            <a:off x="5643977" y="4766667"/>
            <a:ext cx="392379" cy="0"/>
          </a:xfrm>
          <a:prstGeom prst="line">
            <a:avLst/>
          </a:prstGeom>
          <a:noFill/>
          <a:ln w="6350" cap="rnd">
            <a:solidFill>
              <a:schemeClr val="tx1"/>
            </a:solidFill>
            <a:prstDash val="sysDot"/>
            <a:round/>
            <a:headEnd/>
            <a:tailEnd type="none" w="med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30" name="직사각형 129"/>
          <p:cNvSpPr/>
          <p:nvPr/>
        </p:nvSpPr>
        <p:spPr>
          <a:xfrm>
            <a:off x="776535" y="5661248"/>
            <a:ext cx="3672409" cy="36004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ko-KR" sz="14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Process 4 : Sequence modeling (optional)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94068" y="6070050"/>
            <a:ext cx="87674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고객이 사이트의 </a:t>
            </a:r>
            <a:r>
              <a:rPr lang="ko-KR" altLang="en-US" sz="1000">
                <a:latin typeface="나눔고딕" panose="020D0604000000000000" pitchFamily="50" charset="-127"/>
                <a:ea typeface="나눔고딕" panose="020D0604000000000000" pitchFamily="50" charset="-127"/>
              </a:rPr>
              <a:t>기능과 서비스를 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사용하기 위한 인터페이스 요소를 추출 한 뒤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각각의 인터페이스 요소가 고객의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Task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에 맞게 </a:t>
            </a:r>
            <a:r>
              <a:rPr lang="ko-KR" altLang="en-US" sz="1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시간차순으로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배열 될 수 있도록</a:t>
            </a:r>
            <a:b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고객의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Task 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흐름을 기준으로 배열합니다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1232136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44017" y="91339"/>
            <a:ext cx="7401271" cy="385333"/>
          </a:xfrm>
          <a:prstGeom prst="rect">
            <a:avLst/>
          </a:prstGeom>
          <a:noFill/>
        </p:spPr>
        <p:txBody>
          <a:bodyPr wrap="square" lIns="0" tIns="53643" rIns="0" bIns="53643" rtlCol="0">
            <a:spAutoFit/>
          </a:bodyPr>
          <a:lstStyle/>
          <a:p>
            <a:r>
              <a:rPr kumimoji="1" lang="en-US" altLang="ko-KR" b="1" kern="0" dirty="0">
                <a:latin typeface="나눔고딕" panose="020D0604000000000000" pitchFamily="50" charset="-127"/>
                <a:ea typeface="나눔고딕" panose="020D0604000000000000" pitchFamily="50" charset="-127"/>
                <a:cs typeface="산돌고딕 M"/>
              </a:rPr>
              <a:t>User Interface Design</a:t>
            </a:r>
            <a:endParaRPr kumimoji="1" lang="ko-KR" altLang="en-US" b="1" kern="0" dirty="0">
              <a:latin typeface="나눔고딕" panose="020D0604000000000000" pitchFamily="50" charset="-127"/>
              <a:ea typeface="나눔고딕" panose="020D0604000000000000" pitchFamily="50" charset="-127"/>
              <a:cs typeface="산돌고딕 M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44017" y="683985"/>
            <a:ext cx="96335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U.I / U.X Design Process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776536" y="1124744"/>
            <a:ext cx="3024336" cy="36004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ko-KR" sz="14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Process 5 : dynamic modeling</a:t>
            </a:r>
          </a:p>
        </p:txBody>
      </p:sp>
      <p:sp>
        <p:nvSpPr>
          <p:cNvPr id="14" name="Oval 16"/>
          <p:cNvSpPr>
            <a:spLocks noChangeArrowheads="1"/>
          </p:cNvSpPr>
          <p:nvPr/>
        </p:nvSpPr>
        <p:spPr bwMode="auto">
          <a:xfrm>
            <a:off x="477837" y="2096599"/>
            <a:ext cx="172215" cy="172215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  <a:round/>
            <a:headEnd/>
            <a:tailEnd type="none" w="med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5" name="Oval 17"/>
          <p:cNvSpPr>
            <a:spLocks noChangeArrowheads="1"/>
          </p:cNvSpPr>
          <p:nvPr/>
        </p:nvSpPr>
        <p:spPr bwMode="auto">
          <a:xfrm>
            <a:off x="477837" y="2354922"/>
            <a:ext cx="172215" cy="172215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  <a:round/>
            <a:headEnd/>
            <a:tailEnd type="none" w="med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6" name="Oval 18"/>
          <p:cNvSpPr>
            <a:spLocks noChangeArrowheads="1"/>
          </p:cNvSpPr>
          <p:nvPr/>
        </p:nvSpPr>
        <p:spPr bwMode="auto">
          <a:xfrm>
            <a:off x="477837" y="2613244"/>
            <a:ext cx="172215" cy="172215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  <a:round/>
            <a:headEnd/>
            <a:tailEnd type="none" w="med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7" name="Oval 19"/>
          <p:cNvSpPr>
            <a:spLocks noChangeArrowheads="1"/>
          </p:cNvSpPr>
          <p:nvPr/>
        </p:nvSpPr>
        <p:spPr bwMode="auto">
          <a:xfrm>
            <a:off x="477837" y="2871567"/>
            <a:ext cx="172215" cy="172215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  <a:round/>
            <a:headEnd/>
            <a:tailEnd type="none" w="med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" name="Oval 20"/>
          <p:cNvSpPr>
            <a:spLocks noChangeArrowheads="1"/>
          </p:cNvSpPr>
          <p:nvPr/>
        </p:nvSpPr>
        <p:spPr bwMode="auto">
          <a:xfrm>
            <a:off x="477837" y="3129889"/>
            <a:ext cx="172215" cy="172215"/>
          </a:xfrm>
          <a:prstGeom prst="ellipse">
            <a:avLst/>
          </a:prstGeom>
          <a:solidFill>
            <a:srgbClr val="66FF66"/>
          </a:solidFill>
          <a:ln w="6350">
            <a:solidFill>
              <a:schemeClr val="tx1"/>
            </a:solidFill>
            <a:round/>
            <a:headEnd/>
            <a:tailEnd type="none" w="med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9" name="Oval 21"/>
          <p:cNvSpPr>
            <a:spLocks noChangeArrowheads="1"/>
          </p:cNvSpPr>
          <p:nvPr/>
        </p:nvSpPr>
        <p:spPr bwMode="auto">
          <a:xfrm>
            <a:off x="477837" y="3388212"/>
            <a:ext cx="172215" cy="172215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  <a:round/>
            <a:headEnd/>
            <a:tailEnd type="none" w="med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0" name="Oval 22"/>
          <p:cNvSpPr>
            <a:spLocks noChangeArrowheads="1"/>
          </p:cNvSpPr>
          <p:nvPr/>
        </p:nvSpPr>
        <p:spPr bwMode="auto">
          <a:xfrm>
            <a:off x="477837" y="3646534"/>
            <a:ext cx="172215" cy="172215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  <a:round/>
            <a:headEnd/>
            <a:tailEnd type="none" w="med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1" name="Oval 23"/>
          <p:cNvSpPr>
            <a:spLocks noChangeArrowheads="1"/>
          </p:cNvSpPr>
          <p:nvPr/>
        </p:nvSpPr>
        <p:spPr bwMode="auto">
          <a:xfrm>
            <a:off x="477837" y="3904857"/>
            <a:ext cx="172215" cy="172215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  <a:round/>
            <a:headEnd/>
            <a:tailEnd type="none" w="med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94068" y="1529210"/>
            <a:ext cx="87674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Dynamic model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은 고객의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behavior flow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를 도식화 한 것으로써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고객이 앞서 정리한 상황에서의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behavior flow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를 </a:t>
            </a:r>
            <a:r>
              <a:rPr lang="ko-KR" altLang="en-US" sz="1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한스텝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한스텝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세밀하게 정리함으로써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</a:t>
            </a:r>
            <a:b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고객이 자신의 목적을 달성하기 위한 모든 행위를 빠짐없이 지원할 수 있도록 사이트 설계를 마무리 지을 수 있도록 합니다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8" name="AutoShape 22"/>
          <p:cNvSpPr>
            <a:spLocks noChangeArrowheads="1"/>
          </p:cNvSpPr>
          <p:nvPr/>
        </p:nvSpPr>
        <p:spPr bwMode="auto">
          <a:xfrm>
            <a:off x="272480" y="3112090"/>
            <a:ext cx="127000" cy="190500"/>
          </a:xfrm>
          <a:prstGeom prst="homePlate">
            <a:avLst>
              <a:gd name="adj" fmla="val 77083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tx1"/>
            </a:solidFill>
            <a:miter lim="800000"/>
            <a:headEnd/>
            <a:tailEnd type="none" w="med" len="sm"/>
          </a:ln>
          <a:effectLst/>
        </p:spPr>
        <p:txBody>
          <a:bodyPr wrap="none" lIns="90000" tIns="46800" rIns="90000" bIns="46800" anchor="ctr"/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3" name="Text Box 22"/>
          <p:cNvSpPr txBox="1">
            <a:spLocks noChangeArrowheads="1"/>
          </p:cNvSpPr>
          <p:nvPr/>
        </p:nvSpPr>
        <p:spPr bwMode="auto">
          <a:xfrm>
            <a:off x="1611313" y="2300697"/>
            <a:ext cx="4191000" cy="4593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268288" indent="-8890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>
              <a:lnSpc>
                <a:spcPct val="140000"/>
              </a:lnSpc>
            </a:pPr>
            <a:r>
              <a:rPr kumimoji="0" lang="en-US" altLang="ko-KR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User segment : </a:t>
            </a:r>
          </a:p>
          <a:p>
            <a:pPr>
              <a:lnSpc>
                <a:spcPct val="140000"/>
              </a:lnSpc>
            </a:pPr>
            <a:r>
              <a:rPr kumimoji="0" lang="ko-KR" altLang="en-US" sz="900" b="1">
                <a:latin typeface="나눔고딕" panose="020D0604000000000000" pitchFamily="50" charset="-127"/>
                <a:ea typeface="나눔고딕" panose="020D0604000000000000" pitchFamily="50" charset="-127"/>
              </a:rPr>
              <a:t>서비스가입을 </a:t>
            </a:r>
            <a:r>
              <a:rPr kumimoji="0" lang="ko-KR" altLang="en-US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통해 미래 및 리스크 대비를 하고자 하는 고객</a:t>
            </a:r>
          </a:p>
        </p:txBody>
      </p:sp>
      <p:grpSp>
        <p:nvGrpSpPr>
          <p:cNvPr id="104" name="Group 23"/>
          <p:cNvGrpSpPr>
            <a:grpSpLocks/>
          </p:cNvGrpSpPr>
          <p:nvPr/>
        </p:nvGrpSpPr>
        <p:grpSpPr bwMode="auto">
          <a:xfrm>
            <a:off x="1352550" y="2246201"/>
            <a:ext cx="285750" cy="573088"/>
            <a:chOff x="5875" y="720"/>
            <a:chExt cx="313" cy="1146"/>
          </a:xfrm>
        </p:grpSpPr>
        <p:grpSp>
          <p:nvGrpSpPr>
            <p:cNvPr id="105" name="Group 24"/>
            <p:cNvGrpSpPr>
              <a:grpSpLocks/>
            </p:cNvGrpSpPr>
            <p:nvPr/>
          </p:nvGrpSpPr>
          <p:grpSpPr bwMode="auto">
            <a:xfrm>
              <a:off x="5875" y="720"/>
              <a:ext cx="313" cy="1146"/>
              <a:chOff x="3872" y="1622"/>
              <a:chExt cx="98" cy="388"/>
            </a:xfrm>
          </p:grpSpPr>
          <p:sp>
            <p:nvSpPr>
              <p:cNvPr id="107" name="Freeform 25"/>
              <p:cNvSpPr>
                <a:spLocks/>
              </p:cNvSpPr>
              <p:nvPr/>
            </p:nvSpPr>
            <p:spPr bwMode="auto">
              <a:xfrm>
                <a:off x="3901" y="1622"/>
                <a:ext cx="40" cy="57"/>
              </a:xfrm>
              <a:custGeom>
                <a:avLst/>
                <a:gdLst>
                  <a:gd name="T0" fmla="*/ 40 w 40"/>
                  <a:gd name="T1" fmla="*/ 29 h 57"/>
                  <a:gd name="T2" fmla="*/ 39 w 40"/>
                  <a:gd name="T3" fmla="*/ 16 h 57"/>
                  <a:gd name="T4" fmla="*/ 33 w 40"/>
                  <a:gd name="T5" fmla="*/ 5 h 57"/>
                  <a:gd name="T6" fmla="*/ 24 w 40"/>
                  <a:gd name="T7" fmla="*/ 0 h 57"/>
                  <a:gd name="T8" fmla="*/ 16 w 40"/>
                  <a:gd name="T9" fmla="*/ 0 h 57"/>
                  <a:gd name="T10" fmla="*/ 7 w 40"/>
                  <a:gd name="T11" fmla="*/ 5 h 57"/>
                  <a:gd name="T12" fmla="*/ 1 w 40"/>
                  <a:gd name="T13" fmla="*/ 16 h 57"/>
                  <a:gd name="T14" fmla="*/ 0 w 40"/>
                  <a:gd name="T15" fmla="*/ 29 h 57"/>
                  <a:gd name="T16" fmla="*/ 1 w 40"/>
                  <a:gd name="T17" fmla="*/ 41 h 57"/>
                  <a:gd name="T18" fmla="*/ 7 w 40"/>
                  <a:gd name="T19" fmla="*/ 52 h 57"/>
                  <a:gd name="T20" fmla="*/ 16 w 40"/>
                  <a:gd name="T21" fmla="*/ 57 h 57"/>
                  <a:gd name="T22" fmla="*/ 24 w 40"/>
                  <a:gd name="T23" fmla="*/ 57 h 57"/>
                  <a:gd name="T24" fmla="*/ 33 w 40"/>
                  <a:gd name="T25" fmla="*/ 52 h 57"/>
                  <a:gd name="T26" fmla="*/ 39 w 40"/>
                  <a:gd name="T27" fmla="*/ 41 h 57"/>
                  <a:gd name="T28" fmla="*/ 40 w 40"/>
                  <a:gd name="T29" fmla="*/ 29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40" h="57">
                    <a:moveTo>
                      <a:pt x="40" y="29"/>
                    </a:moveTo>
                    <a:lnTo>
                      <a:pt x="39" y="16"/>
                    </a:lnTo>
                    <a:lnTo>
                      <a:pt x="33" y="5"/>
                    </a:lnTo>
                    <a:lnTo>
                      <a:pt x="24" y="0"/>
                    </a:lnTo>
                    <a:lnTo>
                      <a:pt x="16" y="0"/>
                    </a:lnTo>
                    <a:lnTo>
                      <a:pt x="7" y="5"/>
                    </a:lnTo>
                    <a:lnTo>
                      <a:pt x="1" y="16"/>
                    </a:lnTo>
                    <a:lnTo>
                      <a:pt x="0" y="29"/>
                    </a:lnTo>
                    <a:lnTo>
                      <a:pt x="1" y="41"/>
                    </a:lnTo>
                    <a:lnTo>
                      <a:pt x="7" y="52"/>
                    </a:lnTo>
                    <a:lnTo>
                      <a:pt x="16" y="57"/>
                    </a:lnTo>
                    <a:lnTo>
                      <a:pt x="24" y="57"/>
                    </a:lnTo>
                    <a:lnTo>
                      <a:pt x="33" y="52"/>
                    </a:lnTo>
                    <a:lnTo>
                      <a:pt x="39" y="41"/>
                    </a:lnTo>
                    <a:lnTo>
                      <a:pt x="40" y="29"/>
                    </a:lnTo>
                    <a:close/>
                  </a:path>
                </a:pathLst>
              </a:cu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3175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108" name="Freeform 26"/>
              <p:cNvSpPr>
                <a:spLocks/>
              </p:cNvSpPr>
              <p:nvPr/>
            </p:nvSpPr>
            <p:spPr bwMode="auto">
              <a:xfrm>
                <a:off x="3872" y="1690"/>
                <a:ext cx="98" cy="320"/>
              </a:xfrm>
              <a:custGeom>
                <a:avLst/>
                <a:gdLst>
                  <a:gd name="T0" fmla="*/ 68 w 98"/>
                  <a:gd name="T1" fmla="*/ 0 h 320"/>
                  <a:gd name="T2" fmla="*/ 75 w 98"/>
                  <a:gd name="T3" fmla="*/ 0 h 320"/>
                  <a:gd name="T4" fmla="*/ 84 w 98"/>
                  <a:gd name="T5" fmla="*/ 2 h 320"/>
                  <a:gd name="T6" fmla="*/ 96 w 98"/>
                  <a:gd name="T7" fmla="*/ 25 h 320"/>
                  <a:gd name="T8" fmla="*/ 98 w 98"/>
                  <a:gd name="T9" fmla="*/ 48 h 320"/>
                  <a:gd name="T10" fmla="*/ 98 w 98"/>
                  <a:gd name="T11" fmla="*/ 143 h 320"/>
                  <a:gd name="T12" fmla="*/ 89 w 98"/>
                  <a:gd name="T13" fmla="*/ 155 h 320"/>
                  <a:gd name="T14" fmla="*/ 82 w 98"/>
                  <a:gd name="T15" fmla="*/ 148 h 320"/>
                  <a:gd name="T16" fmla="*/ 80 w 98"/>
                  <a:gd name="T17" fmla="*/ 139 h 320"/>
                  <a:gd name="T18" fmla="*/ 75 w 98"/>
                  <a:gd name="T19" fmla="*/ 53 h 320"/>
                  <a:gd name="T20" fmla="*/ 75 w 98"/>
                  <a:gd name="T21" fmla="*/ 298 h 320"/>
                  <a:gd name="T22" fmla="*/ 75 w 98"/>
                  <a:gd name="T23" fmla="*/ 305 h 320"/>
                  <a:gd name="T24" fmla="*/ 69 w 98"/>
                  <a:gd name="T25" fmla="*/ 318 h 320"/>
                  <a:gd name="T26" fmla="*/ 59 w 98"/>
                  <a:gd name="T27" fmla="*/ 318 h 320"/>
                  <a:gd name="T28" fmla="*/ 53 w 98"/>
                  <a:gd name="T29" fmla="*/ 298 h 320"/>
                  <a:gd name="T30" fmla="*/ 53 w 98"/>
                  <a:gd name="T31" fmla="*/ 155 h 320"/>
                  <a:gd name="T32" fmla="*/ 50 w 98"/>
                  <a:gd name="T33" fmla="*/ 153 h 320"/>
                  <a:gd name="T34" fmla="*/ 45 w 98"/>
                  <a:gd name="T35" fmla="*/ 295 h 320"/>
                  <a:gd name="T36" fmla="*/ 45 w 98"/>
                  <a:gd name="T37" fmla="*/ 303 h 320"/>
                  <a:gd name="T38" fmla="*/ 43 w 98"/>
                  <a:gd name="T39" fmla="*/ 314 h 320"/>
                  <a:gd name="T40" fmla="*/ 34 w 98"/>
                  <a:gd name="T41" fmla="*/ 320 h 320"/>
                  <a:gd name="T42" fmla="*/ 25 w 98"/>
                  <a:gd name="T43" fmla="*/ 312 h 320"/>
                  <a:gd name="T44" fmla="*/ 23 w 98"/>
                  <a:gd name="T45" fmla="*/ 302 h 320"/>
                  <a:gd name="T46" fmla="*/ 23 w 98"/>
                  <a:gd name="T47" fmla="*/ 295 h 320"/>
                  <a:gd name="T48" fmla="*/ 18 w 98"/>
                  <a:gd name="T49" fmla="*/ 53 h 320"/>
                  <a:gd name="T50" fmla="*/ 18 w 98"/>
                  <a:gd name="T51" fmla="*/ 143 h 320"/>
                  <a:gd name="T52" fmla="*/ 18 w 98"/>
                  <a:gd name="T53" fmla="*/ 148 h 320"/>
                  <a:gd name="T54" fmla="*/ 13 w 98"/>
                  <a:gd name="T55" fmla="*/ 153 h 320"/>
                  <a:gd name="T56" fmla="*/ 2 w 98"/>
                  <a:gd name="T57" fmla="*/ 150 h 320"/>
                  <a:gd name="T58" fmla="*/ 0 w 98"/>
                  <a:gd name="T59" fmla="*/ 139 h 320"/>
                  <a:gd name="T60" fmla="*/ 0 w 98"/>
                  <a:gd name="T61" fmla="*/ 44 h 320"/>
                  <a:gd name="T62" fmla="*/ 7 w 98"/>
                  <a:gd name="T63" fmla="*/ 11 h 320"/>
                  <a:gd name="T64" fmla="*/ 20 w 98"/>
                  <a:gd name="T65" fmla="*/ 0 h 320"/>
                  <a:gd name="T66" fmla="*/ 25 w 98"/>
                  <a:gd name="T67" fmla="*/ 0 h 320"/>
                  <a:gd name="T68" fmla="*/ 52 w 98"/>
                  <a:gd name="T69" fmla="*/ 0 h 3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98" h="320">
                    <a:moveTo>
                      <a:pt x="46" y="0"/>
                    </a:moveTo>
                    <a:lnTo>
                      <a:pt x="68" y="0"/>
                    </a:lnTo>
                    <a:lnTo>
                      <a:pt x="73" y="0"/>
                    </a:lnTo>
                    <a:lnTo>
                      <a:pt x="75" y="0"/>
                    </a:lnTo>
                    <a:lnTo>
                      <a:pt x="78" y="0"/>
                    </a:lnTo>
                    <a:lnTo>
                      <a:pt x="84" y="2"/>
                    </a:lnTo>
                    <a:lnTo>
                      <a:pt x="91" y="11"/>
                    </a:lnTo>
                    <a:lnTo>
                      <a:pt x="96" y="25"/>
                    </a:lnTo>
                    <a:lnTo>
                      <a:pt x="98" y="44"/>
                    </a:lnTo>
                    <a:lnTo>
                      <a:pt x="98" y="48"/>
                    </a:lnTo>
                    <a:lnTo>
                      <a:pt x="98" y="139"/>
                    </a:lnTo>
                    <a:lnTo>
                      <a:pt x="98" y="143"/>
                    </a:lnTo>
                    <a:lnTo>
                      <a:pt x="96" y="150"/>
                    </a:lnTo>
                    <a:lnTo>
                      <a:pt x="89" y="155"/>
                    </a:lnTo>
                    <a:lnTo>
                      <a:pt x="84" y="153"/>
                    </a:lnTo>
                    <a:lnTo>
                      <a:pt x="82" y="148"/>
                    </a:lnTo>
                    <a:lnTo>
                      <a:pt x="80" y="143"/>
                    </a:lnTo>
                    <a:lnTo>
                      <a:pt x="80" y="139"/>
                    </a:lnTo>
                    <a:lnTo>
                      <a:pt x="80" y="53"/>
                    </a:lnTo>
                    <a:lnTo>
                      <a:pt x="75" y="53"/>
                    </a:lnTo>
                    <a:lnTo>
                      <a:pt x="75" y="295"/>
                    </a:lnTo>
                    <a:lnTo>
                      <a:pt x="75" y="298"/>
                    </a:lnTo>
                    <a:lnTo>
                      <a:pt x="75" y="300"/>
                    </a:lnTo>
                    <a:lnTo>
                      <a:pt x="75" y="305"/>
                    </a:lnTo>
                    <a:lnTo>
                      <a:pt x="73" y="312"/>
                    </a:lnTo>
                    <a:lnTo>
                      <a:pt x="69" y="318"/>
                    </a:lnTo>
                    <a:lnTo>
                      <a:pt x="64" y="320"/>
                    </a:lnTo>
                    <a:lnTo>
                      <a:pt x="59" y="318"/>
                    </a:lnTo>
                    <a:lnTo>
                      <a:pt x="55" y="316"/>
                    </a:lnTo>
                    <a:lnTo>
                      <a:pt x="53" y="298"/>
                    </a:lnTo>
                    <a:lnTo>
                      <a:pt x="53" y="295"/>
                    </a:lnTo>
                    <a:lnTo>
                      <a:pt x="53" y="155"/>
                    </a:lnTo>
                    <a:lnTo>
                      <a:pt x="48" y="153"/>
                    </a:lnTo>
                    <a:lnTo>
                      <a:pt x="50" y="153"/>
                    </a:lnTo>
                    <a:lnTo>
                      <a:pt x="45" y="155"/>
                    </a:lnTo>
                    <a:lnTo>
                      <a:pt x="45" y="295"/>
                    </a:lnTo>
                    <a:lnTo>
                      <a:pt x="45" y="298"/>
                    </a:lnTo>
                    <a:lnTo>
                      <a:pt x="45" y="303"/>
                    </a:lnTo>
                    <a:lnTo>
                      <a:pt x="45" y="307"/>
                    </a:lnTo>
                    <a:lnTo>
                      <a:pt x="43" y="314"/>
                    </a:lnTo>
                    <a:lnTo>
                      <a:pt x="39" y="318"/>
                    </a:lnTo>
                    <a:lnTo>
                      <a:pt x="34" y="320"/>
                    </a:lnTo>
                    <a:lnTo>
                      <a:pt x="29" y="318"/>
                    </a:lnTo>
                    <a:lnTo>
                      <a:pt x="25" y="312"/>
                    </a:lnTo>
                    <a:lnTo>
                      <a:pt x="23" y="305"/>
                    </a:lnTo>
                    <a:lnTo>
                      <a:pt x="23" y="302"/>
                    </a:lnTo>
                    <a:lnTo>
                      <a:pt x="23" y="298"/>
                    </a:lnTo>
                    <a:lnTo>
                      <a:pt x="23" y="295"/>
                    </a:lnTo>
                    <a:lnTo>
                      <a:pt x="23" y="53"/>
                    </a:lnTo>
                    <a:lnTo>
                      <a:pt x="18" y="53"/>
                    </a:lnTo>
                    <a:lnTo>
                      <a:pt x="18" y="139"/>
                    </a:lnTo>
                    <a:lnTo>
                      <a:pt x="18" y="143"/>
                    </a:lnTo>
                    <a:lnTo>
                      <a:pt x="18" y="144"/>
                    </a:lnTo>
                    <a:lnTo>
                      <a:pt x="18" y="148"/>
                    </a:lnTo>
                    <a:lnTo>
                      <a:pt x="14" y="152"/>
                    </a:lnTo>
                    <a:lnTo>
                      <a:pt x="13" y="153"/>
                    </a:lnTo>
                    <a:lnTo>
                      <a:pt x="9" y="155"/>
                    </a:lnTo>
                    <a:lnTo>
                      <a:pt x="2" y="150"/>
                    </a:lnTo>
                    <a:lnTo>
                      <a:pt x="0" y="143"/>
                    </a:lnTo>
                    <a:lnTo>
                      <a:pt x="0" y="139"/>
                    </a:lnTo>
                    <a:lnTo>
                      <a:pt x="0" y="48"/>
                    </a:lnTo>
                    <a:lnTo>
                      <a:pt x="0" y="44"/>
                    </a:lnTo>
                    <a:lnTo>
                      <a:pt x="2" y="27"/>
                    </a:lnTo>
                    <a:lnTo>
                      <a:pt x="7" y="11"/>
                    </a:lnTo>
                    <a:lnTo>
                      <a:pt x="14" y="3"/>
                    </a:lnTo>
                    <a:lnTo>
                      <a:pt x="20" y="0"/>
                    </a:lnTo>
                    <a:lnTo>
                      <a:pt x="21" y="0"/>
                    </a:lnTo>
                    <a:lnTo>
                      <a:pt x="25" y="0"/>
                    </a:lnTo>
                    <a:lnTo>
                      <a:pt x="29" y="0"/>
                    </a:lnTo>
                    <a:lnTo>
                      <a:pt x="52" y="0"/>
                    </a:lnTo>
                    <a:lnTo>
                      <a:pt x="46" y="0"/>
                    </a:lnTo>
                    <a:close/>
                  </a:path>
                </a:pathLst>
              </a:cu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3175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p:grpSp>
        <p:sp>
          <p:nvSpPr>
            <p:cNvPr id="106" name="Oval 27"/>
            <p:cNvSpPr>
              <a:spLocks noChangeArrowheads="1"/>
            </p:cNvSpPr>
            <p:nvPr/>
          </p:nvSpPr>
          <p:spPr bwMode="auto">
            <a:xfrm>
              <a:off x="5875" y="960"/>
              <a:ext cx="127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1652" y="3051982"/>
            <a:ext cx="4667612" cy="3185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" name="그룹 2"/>
          <p:cNvGrpSpPr/>
          <p:nvPr/>
        </p:nvGrpSpPr>
        <p:grpSpPr>
          <a:xfrm>
            <a:off x="7182544" y="4653136"/>
            <a:ext cx="2667000" cy="627062"/>
            <a:chOff x="6856512" y="3752739"/>
            <a:chExt cx="2667000" cy="627062"/>
          </a:xfrm>
        </p:grpSpPr>
        <p:sp>
          <p:nvSpPr>
            <p:cNvPr id="49" name="Text Box 24"/>
            <p:cNvSpPr txBox="1">
              <a:spLocks noChangeArrowheads="1"/>
            </p:cNvSpPr>
            <p:nvPr/>
          </p:nvSpPr>
          <p:spPr bwMode="auto">
            <a:xfrm>
              <a:off x="7313712" y="3752739"/>
              <a:ext cx="2209800" cy="62706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pPr>
                <a:lnSpc>
                  <a:spcPct val="110000"/>
                </a:lnSpc>
                <a:spcBef>
                  <a:spcPct val="20000"/>
                </a:spcBef>
              </a:pPr>
              <a:r>
                <a:rPr lang="ko-KR" altLang="en-US" sz="10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사이트의 </a:t>
              </a:r>
              <a:r>
                <a:rPr lang="en-US" altLang="ko-KR" sz="10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response flow.</a:t>
              </a:r>
            </a:p>
            <a:p>
              <a:pPr>
                <a:lnSpc>
                  <a:spcPct val="110000"/>
                </a:lnSpc>
                <a:spcBef>
                  <a:spcPct val="20000"/>
                </a:spcBef>
              </a:pPr>
              <a:r>
                <a:rPr lang="ko-KR" altLang="en-US" sz="10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고객의 각각 요구에 대한 필요한 반응 및 요구사항을 빠짐없이 기록한다</a:t>
              </a:r>
            </a:p>
          </p:txBody>
        </p:sp>
        <p:sp>
          <p:nvSpPr>
            <p:cNvPr id="50" name="Line 25"/>
            <p:cNvSpPr>
              <a:spLocks noChangeShapeType="1"/>
            </p:cNvSpPr>
            <p:nvPr/>
          </p:nvSpPr>
          <p:spPr bwMode="auto">
            <a:xfrm flipH="1">
              <a:off x="6856512" y="3922601"/>
              <a:ext cx="304800" cy="0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 type="triangl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grpSp>
        <p:nvGrpSpPr>
          <p:cNvPr id="4" name="그룹 3"/>
          <p:cNvGrpSpPr/>
          <p:nvPr/>
        </p:nvGrpSpPr>
        <p:grpSpPr>
          <a:xfrm>
            <a:off x="208472" y="4653136"/>
            <a:ext cx="2667000" cy="458787"/>
            <a:chOff x="2360712" y="3752739"/>
            <a:chExt cx="2667000" cy="458787"/>
          </a:xfrm>
        </p:grpSpPr>
        <p:sp>
          <p:nvSpPr>
            <p:cNvPr id="47" name="Text Box 22"/>
            <p:cNvSpPr txBox="1">
              <a:spLocks noChangeArrowheads="1"/>
            </p:cNvSpPr>
            <p:nvPr/>
          </p:nvSpPr>
          <p:spPr bwMode="auto">
            <a:xfrm>
              <a:off x="2360712" y="3752739"/>
              <a:ext cx="2209800" cy="4587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pPr algn="r">
                <a:lnSpc>
                  <a:spcPct val="110000"/>
                </a:lnSpc>
                <a:spcBef>
                  <a:spcPct val="20000"/>
                </a:spcBef>
              </a:pPr>
              <a:r>
                <a:rPr lang="ko-KR" altLang="en-US" sz="10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고객의 </a:t>
              </a:r>
              <a:r>
                <a:rPr lang="en-US" altLang="ko-KR" sz="10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behavior flow.</a:t>
              </a:r>
            </a:p>
            <a:p>
              <a:pPr algn="r">
                <a:lnSpc>
                  <a:spcPct val="110000"/>
                </a:lnSpc>
                <a:spcBef>
                  <a:spcPct val="20000"/>
                </a:spcBef>
              </a:pPr>
              <a:r>
                <a:rPr lang="ko-KR" altLang="en-US" sz="10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세부 </a:t>
              </a:r>
              <a:r>
                <a:rPr lang="en-US" altLang="ko-KR" sz="10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flow</a:t>
              </a:r>
              <a:r>
                <a:rPr lang="ko-KR" altLang="en-US" sz="10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를 빠짐없이 기록하도록 한다</a:t>
              </a:r>
            </a:p>
          </p:txBody>
        </p:sp>
        <p:sp>
          <p:nvSpPr>
            <p:cNvPr id="48" name="Line 23"/>
            <p:cNvSpPr>
              <a:spLocks noChangeShapeType="1"/>
            </p:cNvSpPr>
            <p:nvPr/>
          </p:nvSpPr>
          <p:spPr bwMode="auto">
            <a:xfrm>
              <a:off x="4646712" y="3922601"/>
              <a:ext cx="381000" cy="0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3734100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5" name="그룹 94"/>
          <p:cNvGrpSpPr/>
          <p:nvPr/>
        </p:nvGrpSpPr>
        <p:grpSpPr>
          <a:xfrm>
            <a:off x="1019444" y="1268760"/>
            <a:ext cx="7517934" cy="5137255"/>
            <a:chOff x="560512" y="692696"/>
            <a:chExt cx="8640960" cy="5904656"/>
          </a:xfrm>
        </p:grpSpPr>
        <p:sp>
          <p:nvSpPr>
            <p:cNvPr id="4" name="직사각형 3"/>
            <p:cNvSpPr/>
            <p:nvPr/>
          </p:nvSpPr>
          <p:spPr>
            <a:xfrm>
              <a:off x="560512" y="692696"/>
              <a:ext cx="4320480" cy="28803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o-KR" altLang="en-US" sz="900" b="1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고객의 </a:t>
              </a:r>
              <a:r>
                <a:rPr lang="en-US" altLang="ko-KR" sz="900" b="1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behavior flow</a:t>
              </a:r>
              <a:endParaRPr lang="ko-KR" altLang="en-US" sz="9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5" name="직사각형 4"/>
            <p:cNvSpPr/>
            <p:nvPr/>
          </p:nvSpPr>
          <p:spPr>
            <a:xfrm>
              <a:off x="4880992" y="692696"/>
              <a:ext cx="4320480" cy="28803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o-KR" altLang="en-US" sz="900" b="1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사이트의 </a:t>
              </a:r>
              <a:r>
                <a:rPr lang="en-US" altLang="ko-KR" sz="900" b="1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response flow</a:t>
              </a:r>
              <a:endParaRPr lang="ko-KR" altLang="en-US" sz="9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6" name="직사각형 5"/>
            <p:cNvSpPr/>
            <p:nvPr/>
          </p:nvSpPr>
          <p:spPr>
            <a:xfrm>
              <a:off x="560512" y="980728"/>
              <a:ext cx="8640960" cy="561662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9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cxnSp>
          <p:nvCxnSpPr>
            <p:cNvPr id="8" name="직선 연결선 7"/>
            <p:cNvCxnSpPr>
              <a:stCxn id="6" idx="0"/>
              <a:endCxn id="6" idx="2"/>
            </p:cNvCxnSpPr>
            <p:nvPr/>
          </p:nvCxnSpPr>
          <p:spPr>
            <a:xfrm>
              <a:off x="4880992" y="980728"/>
              <a:ext cx="0" cy="5616624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순서도: 수행의 시작/종료 11"/>
            <p:cNvSpPr/>
            <p:nvPr/>
          </p:nvSpPr>
          <p:spPr>
            <a:xfrm>
              <a:off x="1460612" y="1124744"/>
              <a:ext cx="2520280" cy="341809"/>
            </a:xfrm>
            <a:prstGeom prst="flowChartTerminator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o-KR" altLang="en-US" sz="900" b="1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고객 유입</a:t>
              </a:r>
              <a:endParaRPr lang="en-US" altLang="ko-KR" sz="9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  <a:p>
              <a:pPr algn="ctr"/>
              <a:r>
                <a:rPr lang="ko-KR" altLang="en-US" sz="900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다채널 유입</a:t>
              </a:r>
              <a:r>
                <a:rPr lang="en-US" altLang="ko-KR" sz="900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+</a:t>
              </a:r>
              <a:r>
                <a:rPr lang="ko-KR" altLang="en-US" sz="900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직접유입 등</a:t>
              </a:r>
            </a:p>
          </p:txBody>
        </p:sp>
        <p:sp>
          <p:nvSpPr>
            <p:cNvPr id="13" name="순서도: 수행의 시작/종료 12"/>
            <p:cNvSpPr/>
            <p:nvPr/>
          </p:nvSpPr>
          <p:spPr>
            <a:xfrm>
              <a:off x="5781092" y="1624545"/>
              <a:ext cx="2520280" cy="341809"/>
            </a:xfrm>
            <a:prstGeom prst="flowChartTerminator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o-KR" altLang="en-US" sz="900" b="1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메인페이지</a:t>
              </a:r>
              <a:endParaRPr lang="en-US" altLang="ko-KR" sz="9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4" name="순서도: 판단 13"/>
            <p:cNvSpPr/>
            <p:nvPr/>
          </p:nvSpPr>
          <p:spPr>
            <a:xfrm>
              <a:off x="2288704" y="2147061"/>
              <a:ext cx="2016224" cy="576064"/>
            </a:xfrm>
            <a:prstGeom prst="flowChartDecision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o-KR" altLang="en-US" sz="900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상품섹션 선택</a:t>
              </a:r>
            </a:p>
          </p:txBody>
        </p:sp>
        <p:sp>
          <p:nvSpPr>
            <p:cNvPr id="15" name="순서도: 수행의 시작/종료 14"/>
            <p:cNvSpPr/>
            <p:nvPr/>
          </p:nvSpPr>
          <p:spPr>
            <a:xfrm>
              <a:off x="632520" y="2183065"/>
              <a:ext cx="1368152" cy="504056"/>
            </a:xfrm>
            <a:prstGeom prst="flowChartTerminator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o-KR" altLang="en-US" sz="900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타 채널로 이동</a:t>
              </a:r>
            </a:p>
          </p:txBody>
        </p:sp>
        <p:sp>
          <p:nvSpPr>
            <p:cNvPr id="16" name="순서도: 내부 저장소 15"/>
            <p:cNvSpPr/>
            <p:nvPr/>
          </p:nvSpPr>
          <p:spPr>
            <a:xfrm>
              <a:off x="6177136" y="2093055"/>
              <a:ext cx="1728192" cy="684076"/>
            </a:xfrm>
            <a:prstGeom prst="flowChartInternalStorage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o-KR" altLang="en-US" sz="900" b="1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상품 첫 화면</a:t>
              </a:r>
            </a:p>
          </p:txBody>
        </p:sp>
        <p:sp>
          <p:nvSpPr>
            <p:cNvPr id="17" name="순서도: 내부 저장소 16"/>
            <p:cNvSpPr/>
            <p:nvPr/>
          </p:nvSpPr>
          <p:spPr>
            <a:xfrm>
              <a:off x="6177136" y="2939149"/>
              <a:ext cx="1728192" cy="684076"/>
            </a:xfrm>
            <a:prstGeom prst="flowChartInternalStorage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o-KR" altLang="en-US" sz="900" b="1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상품 상세 내용</a:t>
              </a:r>
              <a:endParaRPr lang="en-US" altLang="ko-KR" sz="9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  <a:p>
              <a:pPr algn="ctr"/>
              <a:r>
                <a:rPr lang="en-US" altLang="ko-KR" sz="900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(</a:t>
              </a:r>
              <a:r>
                <a:rPr lang="ko-KR" altLang="en-US" sz="900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상품소개</a:t>
              </a:r>
              <a:r>
                <a:rPr lang="en-US" altLang="ko-KR" sz="900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, </a:t>
              </a:r>
              <a:r>
                <a:rPr lang="ko-KR" altLang="en-US" sz="900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상품정보 등</a:t>
              </a:r>
              <a:r>
                <a:rPr lang="en-US" altLang="ko-KR" sz="900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)</a:t>
              </a:r>
              <a:endParaRPr lang="ko-KR" altLang="en-US" sz="9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cxnSp>
          <p:nvCxnSpPr>
            <p:cNvPr id="22" name="꺾인 연결선 21"/>
            <p:cNvCxnSpPr>
              <a:stCxn id="12" idx="3"/>
              <a:endCxn id="13" idx="0"/>
            </p:cNvCxnSpPr>
            <p:nvPr/>
          </p:nvCxnSpPr>
          <p:spPr>
            <a:xfrm>
              <a:off x="3980892" y="1295649"/>
              <a:ext cx="3060340" cy="328896"/>
            </a:xfrm>
            <a:prstGeom prst="bentConnector2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꺾인 연결선 25"/>
            <p:cNvCxnSpPr>
              <a:stCxn id="13" idx="1"/>
              <a:endCxn id="14" idx="0"/>
            </p:cNvCxnSpPr>
            <p:nvPr/>
          </p:nvCxnSpPr>
          <p:spPr>
            <a:xfrm rot="10800000" flipV="1">
              <a:off x="3296816" y="1795449"/>
              <a:ext cx="2484276" cy="351611"/>
            </a:xfrm>
            <a:prstGeom prst="bentConnector2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화살표 연결선 27"/>
            <p:cNvCxnSpPr>
              <a:stCxn id="14" idx="3"/>
              <a:endCxn id="16" idx="1"/>
            </p:cNvCxnSpPr>
            <p:nvPr/>
          </p:nvCxnSpPr>
          <p:spPr>
            <a:xfrm>
              <a:off x="4304928" y="2435093"/>
              <a:ext cx="1872208" cy="0"/>
            </a:xfrm>
            <a:prstGeom prst="straightConnector1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화살표 연결선 29"/>
            <p:cNvCxnSpPr>
              <a:stCxn id="16" idx="2"/>
              <a:endCxn id="17" idx="0"/>
            </p:cNvCxnSpPr>
            <p:nvPr/>
          </p:nvCxnSpPr>
          <p:spPr>
            <a:xfrm>
              <a:off x="7041232" y="2777131"/>
              <a:ext cx="0" cy="162018"/>
            </a:xfrm>
            <a:prstGeom prst="straightConnector1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  <a:headEnd type="none" w="med" len="med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직선 화살표 연결선 47"/>
            <p:cNvCxnSpPr>
              <a:stCxn id="17" idx="1"/>
              <a:endCxn id="18" idx="3"/>
            </p:cNvCxnSpPr>
            <p:nvPr/>
          </p:nvCxnSpPr>
          <p:spPr>
            <a:xfrm flipH="1">
              <a:off x="4304928" y="3281187"/>
              <a:ext cx="1872208" cy="0"/>
            </a:xfrm>
            <a:prstGeom prst="straightConnector1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직선 화살표 연결선 49"/>
            <p:cNvCxnSpPr>
              <a:stCxn id="14" idx="1"/>
              <a:endCxn id="15" idx="3"/>
            </p:cNvCxnSpPr>
            <p:nvPr/>
          </p:nvCxnSpPr>
          <p:spPr>
            <a:xfrm flipH="1">
              <a:off x="2000672" y="2435093"/>
              <a:ext cx="288032" cy="0"/>
            </a:xfrm>
            <a:prstGeom prst="straightConnector1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  <a:headEnd type="none" w="med" len="med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순서도: 판단 54"/>
            <p:cNvSpPr/>
            <p:nvPr/>
          </p:nvSpPr>
          <p:spPr>
            <a:xfrm>
              <a:off x="2288704" y="3875253"/>
              <a:ext cx="2016224" cy="576064"/>
            </a:xfrm>
            <a:prstGeom prst="flowChartDecision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o-KR" altLang="en-US" sz="900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간편 비용 확인</a:t>
              </a:r>
            </a:p>
          </p:txBody>
        </p:sp>
        <p:cxnSp>
          <p:nvCxnSpPr>
            <p:cNvPr id="57" name="꺾인 연결선 56"/>
            <p:cNvCxnSpPr>
              <a:stCxn id="55" idx="1"/>
              <a:endCxn id="15" idx="2"/>
            </p:cNvCxnSpPr>
            <p:nvPr/>
          </p:nvCxnSpPr>
          <p:spPr>
            <a:xfrm rot="10800000">
              <a:off x="1316596" y="2687121"/>
              <a:ext cx="972108" cy="1476164"/>
            </a:xfrm>
            <a:prstGeom prst="bentConnector2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TextBox 59"/>
            <p:cNvSpPr txBox="1"/>
            <p:nvPr/>
          </p:nvSpPr>
          <p:spPr>
            <a:xfrm>
              <a:off x="1690462" y="3946682"/>
              <a:ext cx="632332" cy="22993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맞지 않음</a:t>
              </a:r>
            </a:p>
          </p:txBody>
        </p:sp>
        <p:cxnSp>
          <p:nvCxnSpPr>
            <p:cNvPr id="62" name="직선 화살표 연결선 61"/>
            <p:cNvCxnSpPr/>
            <p:nvPr/>
          </p:nvCxnSpPr>
          <p:spPr>
            <a:xfrm flipV="1">
              <a:off x="3800872" y="2579109"/>
              <a:ext cx="2376264" cy="576064"/>
            </a:xfrm>
            <a:prstGeom prst="straightConnector1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순서도: 판단 17"/>
            <p:cNvSpPr/>
            <p:nvPr/>
          </p:nvSpPr>
          <p:spPr>
            <a:xfrm>
              <a:off x="2288704" y="2993155"/>
              <a:ext cx="2016224" cy="576064"/>
            </a:xfrm>
            <a:prstGeom prst="flowChartDecision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o-KR" altLang="en-US" sz="900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필요상품 결정</a:t>
              </a:r>
            </a:p>
          </p:txBody>
        </p:sp>
        <p:sp>
          <p:nvSpPr>
            <p:cNvPr id="63" name="TextBox 62"/>
            <p:cNvSpPr txBox="1"/>
            <p:nvPr/>
          </p:nvSpPr>
          <p:spPr>
            <a:xfrm rot="20807301">
              <a:off x="3812765" y="2804048"/>
              <a:ext cx="857112" cy="22993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다른 상품 열람</a:t>
              </a:r>
            </a:p>
          </p:txBody>
        </p:sp>
        <p:cxnSp>
          <p:nvCxnSpPr>
            <p:cNvPr id="65" name="꺾인 연결선 64"/>
            <p:cNvCxnSpPr>
              <a:stCxn id="17" idx="2"/>
              <a:endCxn id="55" idx="0"/>
            </p:cNvCxnSpPr>
            <p:nvPr/>
          </p:nvCxnSpPr>
          <p:spPr>
            <a:xfrm rot="5400000">
              <a:off x="5043010" y="1877031"/>
              <a:ext cx="252028" cy="3744416"/>
            </a:xfrm>
            <a:prstGeom prst="bentConnector3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6" name="순서도: 저장 데이터 65"/>
            <p:cNvSpPr/>
            <p:nvPr/>
          </p:nvSpPr>
          <p:spPr>
            <a:xfrm>
              <a:off x="2288704" y="4667341"/>
              <a:ext cx="2016224" cy="360040"/>
            </a:xfrm>
            <a:prstGeom prst="flowChartOnlineStorage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o-KR" altLang="en-US" sz="900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상품 가입 진행</a:t>
              </a:r>
            </a:p>
          </p:txBody>
        </p:sp>
        <p:sp>
          <p:nvSpPr>
            <p:cNvPr id="67" name="순서도: 다중 문서 66"/>
            <p:cNvSpPr/>
            <p:nvPr/>
          </p:nvSpPr>
          <p:spPr>
            <a:xfrm>
              <a:off x="6177136" y="4797152"/>
              <a:ext cx="1728192" cy="684076"/>
            </a:xfrm>
            <a:prstGeom prst="flowChartMultidocumen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" altLang="ko-KR" sz="900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XXX</a:t>
              </a:r>
              <a:r>
                <a:rPr lang="ko-KR" altLang="en-US" sz="900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가입 프로세스</a:t>
              </a:r>
            </a:p>
          </p:txBody>
        </p:sp>
        <p:sp>
          <p:nvSpPr>
            <p:cNvPr id="69" name="순서도: 판단 68"/>
            <p:cNvSpPr/>
            <p:nvPr/>
          </p:nvSpPr>
          <p:spPr>
            <a:xfrm>
              <a:off x="6501172" y="4019182"/>
              <a:ext cx="1080120" cy="576064"/>
            </a:xfrm>
            <a:prstGeom prst="flowChartDecision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o-KR" altLang="en-US" sz="700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보안</a:t>
              </a:r>
              <a:endParaRPr lang="en-US" altLang="ko-KR" sz="7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  <a:p>
              <a:pPr algn="ctr"/>
              <a:r>
                <a:rPr lang="ko-KR" altLang="en-US" sz="700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솔루션</a:t>
              </a:r>
              <a:endParaRPr lang="en-US" altLang="ko-KR" sz="7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  <a:p>
              <a:pPr algn="ctr"/>
              <a:r>
                <a:rPr lang="ko-KR" altLang="en-US" sz="700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설치</a:t>
              </a:r>
            </a:p>
          </p:txBody>
        </p:sp>
        <p:cxnSp>
          <p:nvCxnSpPr>
            <p:cNvPr id="71" name="꺾인 연결선 70"/>
            <p:cNvCxnSpPr>
              <a:stCxn id="66" idx="3"/>
              <a:endCxn id="69" idx="1"/>
            </p:cNvCxnSpPr>
            <p:nvPr/>
          </p:nvCxnSpPr>
          <p:spPr>
            <a:xfrm flipV="1">
              <a:off x="3968891" y="4307214"/>
              <a:ext cx="2532281" cy="540147"/>
            </a:xfrm>
            <a:prstGeom prst="bentConnector3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직선 화살표 연결선 72"/>
            <p:cNvCxnSpPr>
              <a:stCxn id="55" idx="2"/>
              <a:endCxn id="66" idx="0"/>
            </p:cNvCxnSpPr>
            <p:nvPr/>
          </p:nvCxnSpPr>
          <p:spPr>
            <a:xfrm>
              <a:off x="3296816" y="4451317"/>
              <a:ext cx="0" cy="216024"/>
            </a:xfrm>
            <a:prstGeom prst="straightConnector1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직선 화살표 연결선 74"/>
            <p:cNvCxnSpPr>
              <a:stCxn id="69" idx="2"/>
            </p:cNvCxnSpPr>
            <p:nvPr/>
          </p:nvCxnSpPr>
          <p:spPr>
            <a:xfrm>
              <a:off x="7041232" y="4595246"/>
              <a:ext cx="0" cy="201906"/>
            </a:xfrm>
            <a:prstGeom prst="straightConnector1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직선 화살표 연결선 77"/>
            <p:cNvCxnSpPr/>
            <p:nvPr/>
          </p:nvCxnSpPr>
          <p:spPr>
            <a:xfrm>
              <a:off x="7041232" y="5445224"/>
              <a:ext cx="0" cy="216024"/>
            </a:xfrm>
            <a:prstGeom prst="straightConnector1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7" name="순서도: 판단 76"/>
            <p:cNvSpPr/>
            <p:nvPr/>
          </p:nvSpPr>
          <p:spPr>
            <a:xfrm>
              <a:off x="6501172" y="5661248"/>
              <a:ext cx="1080120" cy="576064"/>
            </a:xfrm>
            <a:prstGeom prst="flowChartDecision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o-KR" altLang="en-US" sz="700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결제</a:t>
              </a:r>
            </a:p>
          </p:txBody>
        </p:sp>
        <p:cxnSp>
          <p:nvCxnSpPr>
            <p:cNvPr id="80" name="꺾인 연결선 79"/>
            <p:cNvCxnSpPr>
              <a:stCxn id="77" idx="3"/>
              <a:endCxn id="16" idx="3"/>
            </p:cNvCxnSpPr>
            <p:nvPr/>
          </p:nvCxnSpPr>
          <p:spPr>
            <a:xfrm flipV="1">
              <a:off x="7581292" y="2435093"/>
              <a:ext cx="324036" cy="3514187"/>
            </a:xfrm>
            <a:prstGeom prst="bentConnector3">
              <a:avLst>
                <a:gd name="adj1" fmla="val 170548"/>
              </a:avLst>
            </a:prstGeom>
            <a:ln>
              <a:solidFill>
                <a:schemeClr val="tx1">
                  <a:lumMod val="50000"/>
                  <a:lumOff val="50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3" name="TextBox 82"/>
            <p:cNvSpPr txBox="1"/>
            <p:nvPr/>
          </p:nvSpPr>
          <p:spPr>
            <a:xfrm>
              <a:off x="7545288" y="5733836"/>
              <a:ext cx="505203" cy="22993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아니오</a:t>
              </a:r>
            </a:p>
          </p:txBody>
        </p:sp>
        <p:sp>
          <p:nvSpPr>
            <p:cNvPr id="85" name="순서도: 수행의 시작/종료 84"/>
            <p:cNvSpPr/>
            <p:nvPr/>
          </p:nvSpPr>
          <p:spPr>
            <a:xfrm>
              <a:off x="2288704" y="5733836"/>
              <a:ext cx="2016224" cy="432048"/>
            </a:xfrm>
            <a:prstGeom prst="flowChartTerminator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" altLang="ko-KR" sz="900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XXX</a:t>
              </a:r>
              <a:r>
                <a:rPr lang="ko-KR" altLang="en-US" sz="900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가입 완료</a:t>
              </a:r>
            </a:p>
          </p:txBody>
        </p:sp>
        <p:cxnSp>
          <p:nvCxnSpPr>
            <p:cNvPr id="89" name="직선 화살표 연결선 88"/>
            <p:cNvCxnSpPr>
              <a:stCxn id="77" idx="1"/>
            </p:cNvCxnSpPr>
            <p:nvPr/>
          </p:nvCxnSpPr>
          <p:spPr>
            <a:xfrm flipH="1">
              <a:off x="4304928" y="5949280"/>
              <a:ext cx="2196244" cy="0"/>
            </a:xfrm>
            <a:prstGeom prst="straightConnector1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꺾인 연결선 90"/>
            <p:cNvCxnSpPr>
              <a:stCxn id="85" idx="2"/>
              <a:endCxn id="13" idx="3"/>
            </p:cNvCxnSpPr>
            <p:nvPr/>
          </p:nvCxnSpPr>
          <p:spPr>
            <a:xfrm rot="5400000" flipH="1" flipV="1">
              <a:off x="3613877" y="1478389"/>
              <a:ext cx="4370434" cy="5004556"/>
            </a:xfrm>
            <a:prstGeom prst="bentConnector4">
              <a:avLst>
                <a:gd name="adj1" fmla="val -5231"/>
                <a:gd name="adj2" fmla="val 104568"/>
              </a:avLst>
            </a:prstGeom>
            <a:ln>
              <a:solidFill>
                <a:schemeClr val="tx1">
                  <a:lumMod val="50000"/>
                  <a:lumOff val="50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4" name="TextBox 93"/>
          <p:cNvSpPr txBox="1"/>
          <p:nvPr/>
        </p:nvSpPr>
        <p:spPr>
          <a:xfrm>
            <a:off x="144017" y="91339"/>
            <a:ext cx="7401271" cy="385333"/>
          </a:xfrm>
          <a:prstGeom prst="rect">
            <a:avLst/>
          </a:prstGeom>
          <a:noFill/>
        </p:spPr>
        <p:txBody>
          <a:bodyPr wrap="square" lIns="0" tIns="53643" rIns="0" bIns="53643" rtlCol="0">
            <a:spAutoFit/>
          </a:bodyPr>
          <a:lstStyle/>
          <a:p>
            <a:r>
              <a:rPr kumimoji="1" lang="en-US" altLang="ko-KR" b="1" kern="0" dirty="0">
                <a:latin typeface="나눔고딕" panose="020D0604000000000000" pitchFamily="50" charset="-127"/>
                <a:ea typeface="나눔고딕" panose="020D0604000000000000" pitchFamily="50" charset="-127"/>
                <a:cs typeface="산돌고딕 M"/>
              </a:rPr>
              <a:t>User Interface Design</a:t>
            </a:r>
            <a:endParaRPr kumimoji="1" lang="ko-KR" altLang="en-US" b="1" kern="0" dirty="0">
              <a:latin typeface="나눔고딕" panose="020D0604000000000000" pitchFamily="50" charset="-127"/>
              <a:ea typeface="나눔고딕" panose="020D0604000000000000" pitchFamily="50" charset="-127"/>
              <a:cs typeface="산돌고딕 M"/>
            </a:endParaRPr>
          </a:p>
        </p:txBody>
      </p:sp>
      <p:sp>
        <p:nvSpPr>
          <p:cNvPr id="96" name="TextBox 95"/>
          <p:cNvSpPr txBox="1"/>
          <p:nvPr/>
        </p:nvSpPr>
        <p:spPr>
          <a:xfrm>
            <a:off x="144017" y="683985"/>
            <a:ext cx="96335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Dynamic modeling</a:t>
            </a:r>
          </a:p>
        </p:txBody>
      </p:sp>
    </p:spTree>
    <p:extLst>
      <p:ext uri="{BB962C8B-B14F-4D97-AF65-F5344CB8AC3E}">
        <p14:creationId xmlns:p14="http://schemas.microsoft.com/office/powerpoint/2010/main" val="382339824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44017" y="91339"/>
            <a:ext cx="7401271" cy="385333"/>
          </a:xfrm>
          <a:prstGeom prst="rect">
            <a:avLst/>
          </a:prstGeom>
          <a:noFill/>
        </p:spPr>
        <p:txBody>
          <a:bodyPr wrap="square" lIns="0" tIns="53643" rIns="0" bIns="53643" rtlCol="0">
            <a:spAutoFit/>
          </a:bodyPr>
          <a:lstStyle/>
          <a:p>
            <a:r>
              <a:rPr kumimoji="1" lang="en-US" altLang="ko-KR" b="1" kern="0" dirty="0">
                <a:latin typeface="나눔고딕" panose="020D0604000000000000" pitchFamily="50" charset="-127"/>
                <a:ea typeface="나눔고딕" panose="020D0604000000000000" pitchFamily="50" charset="-127"/>
                <a:cs typeface="산돌고딕 M"/>
              </a:rPr>
              <a:t>User Interface Design</a:t>
            </a:r>
            <a:endParaRPr kumimoji="1" lang="ko-KR" altLang="en-US" b="1" kern="0" dirty="0">
              <a:latin typeface="나눔고딕" panose="020D0604000000000000" pitchFamily="50" charset="-127"/>
              <a:ea typeface="나눔고딕" panose="020D0604000000000000" pitchFamily="50" charset="-127"/>
              <a:cs typeface="산돌고딕 M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44017" y="683985"/>
            <a:ext cx="96335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U.I / U.X Design Process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776536" y="1124744"/>
            <a:ext cx="3175420" cy="36004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ko-KR" sz="14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Process 6 : Asset modeling</a:t>
            </a:r>
          </a:p>
        </p:txBody>
      </p:sp>
      <p:sp>
        <p:nvSpPr>
          <p:cNvPr id="14" name="Oval 16"/>
          <p:cNvSpPr>
            <a:spLocks noChangeArrowheads="1"/>
          </p:cNvSpPr>
          <p:nvPr/>
        </p:nvSpPr>
        <p:spPr bwMode="auto">
          <a:xfrm>
            <a:off x="477837" y="2096599"/>
            <a:ext cx="172215" cy="172215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  <a:round/>
            <a:headEnd/>
            <a:tailEnd type="none" w="med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5" name="Oval 17"/>
          <p:cNvSpPr>
            <a:spLocks noChangeArrowheads="1"/>
          </p:cNvSpPr>
          <p:nvPr/>
        </p:nvSpPr>
        <p:spPr bwMode="auto">
          <a:xfrm>
            <a:off x="477837" y="2354922"/>
            <a:ext cx="172215" cy="172215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  <a:round/>
            <a:headEnd/>
            <a:tailEnd type="none" w="med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6" name="Oval 18"/>
          <p:cNvSpPr>
            <a:spLocks noChangeArrowheads="1"/>
          </p:cNvSpPr>
          <p:nvPr/>
        </p:nvSpPr>
        <p:spPr bwMode="auto">
          <a:xfrm>
            <a:off x="477837" y="2613244"/>
            <a:ext cx="172215" cy="172215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  <a:round/>
            <a:headEnd/>
            <a:tailEnd type="none" w="med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7" name="Oval 19"/>
          <p:cNvSpPr>
            <a:spLocks noChangeArrowheads="1"/>
          </p:cNvSpPr>
          <p:nvPr/>
        </p:nvSpPr>
        <p:spPr bwMode="auto">
          <a:xfrm>
            <a:off x="477837" y="2871567"/>
            <a:ext cx="172215" cy="172215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  <a:round/>
            <a:headEnd/>
            <a:tailEnd type="none" w="med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" name="Oval 20"/>
          <p:cNvSpPr>
            <a:spLocks noChangeArrowheads="1"/>
          </p:cNvSpPr>
          <p:nvPr/>
        </p:nvSpPr>
        <p:spPr bwMode="auto">
          <a:xfrm>
            <a:off x="477837" y="3129889"/>
            <a:ext cx="172215" cy="172215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  <a:round/>
            <a:headEnd/>
            <a:tailEnd type="none" w="med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9" name="Oval 21"/>
          <p:cNvSpPr>
            <a:spLocks noChangeArrowheads="1"/>
          </p:cNvSpPr>
          <p:nvPr/>
        </p:nvSpPr>
        <p:spPr bwMode="auto">
          <a:xfrm>
            <a:off x="477837" y="3388212"/>
            <a:ext cx="172215" cy="172215"/>
          </a:xfrm>
          <a:prstGeom prst="ellipse">
            <a:avLst/>
          </a:prstGeom>
          <a:solidFill>
            <a:srgbClr val="66FF66"/>
          </a:solidFill>
          <a:ln w="6350">
            <a:solidFill>
              <a:schemeClr val="tx1"/>
            </a:solidFill>
            <a:round/>
            <a:headEnd/>
            <a:tailEnd type="none" w="med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0" name="Oval 22"/>
          <p:cNvSpPr>
            <a:spLocks noChangeArrowheads="1"/>
          </p:cNvSpPr>
          <p:nvPr/>
        </p:nvSpPr>
        <p:spPr bwMode="auto">
          <a:xfrm>
            <a:off x="477837" y="3646534"/>
            <a:ext cx="172215" cy="172215"/>
          </a:xfrm>
          <a:prstGeom prst="ellipse">
            <a:avLst/>
          </a:prstGeom>
          <a:solidFill>
            <a:srgbClr val="66FF66"/>
          </a:solidFill>
          <a:ln w="6350">
            <a:solidFill>
              <a:schemeClr val="tx1"/>
            </a:solidFill>
            <a:round/>
            <a:headEnd/>
            <a:tailEnd type="none" w="med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1" name="Oval 23"/>
          <p:cNvSpPr>
            <a:spLocks noChangeArrowheads="1"/>
          </p:cNvSpPr>
          <p:nvPr/>
        </p:nvSpPr>
        <p:spPr bwMode="auto">
          <a:xfrm>
            <a:off x="477837" y="3904857"/>
            <a:ext cx="172215" cy="172215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  <a:round/>
            <a:headEnd/>
            <a:tailEnd type="none" w="med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94068" y="1529210"/>
            <a:ext cx="876744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기획된 사이트의 컨텐츠와 기능 요소 등을 일목 </a:t>
            </a:r>
            <a:r>
              <a:rPr lang="ko-KR" altLang="en-US" sz="1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요연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하게 정리한다</a:t>
            </a:r>
          </a:p>
        </p:txBody>
      </p:sp>
      <p:sp>
        <p:nvSpPr>
          <p:cNvPr id="58" name="AutoShape 22"/>
          <p:cNvSpPr>
            <a:spLocks noChangeArrowheads="1"/>
          </p:cNvSpPr>
          <p:nvPr/>
        </p:nvSpPr>
        <p:spPr bwMode="auto">
          <a:xfrm>
            <a:off x="272480" y="3362952"/>
            <a:ext cx="127000" cy="190500"/>
          </a:xfrm>
          <a:prstGeom prst="homePlate">
            <a:avLst>
              <a:gd name="adj" fmla="val 77083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tx1"/>
            </a:solidFill>
            <a:miter lim="800000"/>
            <a:headEnd/>
            <a:tailEnd type="none" w="med" len="sm"/>
          </a:ln>
          <a:effectLst/>
        </p:spPr>
        <p:txBody>
          <a:bodyPr wrap="none" lIns="90000" tIns="46800" rIns="90000" bIns="46800" anchor="ctr"/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0" name="AutoShape 22"/>
          <p:cNvSpPr>
            <a:spLocks noChangeArrowheads="1"/>
          </p:cNvSpPr>
          <p:nvPr/>
        </p:nvSpPr>
        <p:spPr bwMode="auto">
          <a:xfrm>
            <a:off x="272480" y="3637391"/>
            <a:ext cx="127000" cy="190500"/>
          </a:xfrm>
          <a:prstGeom prst="homePlate">
            <a:avLst>
              <a:gd name="adj" fmla="val 77083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tx1"/>
            </a:solidFill>
            <a:miter lim="800000"/>
            <a:headEnd/>
            <a:tailEnd type="none" w="med" len="sm"/>
          </a:ln>
          <a:effectLst/>
        </p:spPr>
        <p:txBody>
          <a:bodyPr wrap="none" lIns="90000" tIns="46800" rIns="90000" bIns="46800" anchor="ctr"/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776536" y="1844824"/>
            <a:ext cx="3175420" cy="36004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ko-KR" sz="14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Process 7 : Arrangement modeling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94068" y="2249290"/>
            <a:ext cx="87674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Dynamic modeling 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까지 진행 하였다는 것은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고객의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Task Flow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로 부터 관련된 인터페이스 요소의 정리까지 끝난 것을 의미합니다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  <a:p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이렇게 고객의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flow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를 반영하여 인터페이스 요소를 정리 한 것을 앞서 정리 된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IA map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에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mapping 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시킴으로써 개별 페이지의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U.I / U.X 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요소가 정리됩니다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39" name="Picture 19"/>
          <p:cNvPicPr>
            <a:picLocks noChangeAspect="1" noChangeArrowheads="1"/>
          </p:cNvPicPr>
          <p:nvPr/>
        </p:nvPicPr>
        <p:blipFill>
          <a:blip r:embed="rId2" cstate="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5326" y="2936466"/>
            <a:ext cx="805726" cy="960446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66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" name="Picture 20"/>
          <p:cNvPicPr>
            <a:picLocks noChangeAspect="1" noChangeArrowheads="1"/>
          </p:cNvPicPr>
          <p:nvPr/>
        </p:nvPicPr>
        <p:blipFill>
          <a:blip r:embed="rId3" cstate="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4608" y="4547637"/>
            <a:ext cx="683694" cy="886927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66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2" name="Picture 22"/>
          <p:cNvPicPr>
            <a:picLocks noChangeAspect="1" noChangeArrowheads="1"/>
          </p:cNvPicPr>
          <p:nvPr/>
        </p:nvPicPr>
        <p:blipFill>
          <a:blip r:embed="rId4" cstate="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0070" y="5822497"/>
            <a:ext cx="801033" cy="703910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66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43" name="Group 23"/>
          <p:cNvGrpSpPr>
            <a:grpSpLocks/>
          </p:cNvGrpSpPr>
          <p:nvPr/>
        </p:nvGrpSpPr>
        <p:grpSpPr bwMode="auto">
          <a:xfrm>
            <a:off x="4925086" y="3218030"/>
            <a:ext cx="2414050" cy="3187930"/>
            <a:chOff x="3120" y="2015"/>
            <a:chExt cx="1543" cy="2038"/>
          </a:xfrm>
        </p:grpSpPr>
        <p:sp>
          <p:nvSpPr>
            <p:cNvPr id="75" name="Rectangle 24"/>
            <p:cNvSpPr>
              <a:spLocks noChangeArrowheads="1"/>
            </p:cNvSpPr>
            <p:nvPr/>
          </p:nvSpPr>
          <p:spPr bwMode="auto">
            <a:xfrm>
              <a:off x="3120" y="2015"/>
              <a:ext cx="1543" cy="2038"/>
            </a:xfrm>
            <a:prstGeom prst="rect">
              <a:avLst/>
            </a:prstGeom>
            <a:solidFill>
              <a:schemeClr val="bg1"/>
            </a:solidFill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pic>
          <p:nvPicPr>
            <p:cNvPr id="76" name="Picture 25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78" y="2166"/>
              <a:ext cx="1427" cy="174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6600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sp>
        <p:nvSpPr>
          <p:cNvPr id="44" name="Line 26"/>
          <p:cNvSpPr>
            <a:spLocks noChangeShapeType="1"/>
          </p:cNvSpPr>
          <p:nvPr/>
        </p:nvSpPr>
        <p:spPr bwMode="auto">
          <a:xfrm>
            <a:off x="1911827" y="4071313"/>
            <a:ext cx="989349" cy="0"/>
          </a:xfrm>
          <a:prstGeom prst="line">
            <a:avLst/>
          </a:prstGeom>
          <a:noFill/>
          <a:ln w="28575" cap="rnd">
            <a:solidFill>
              <a:srgbClr val="C0C0C0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5" name="Freeform 27"/>
          <p:cNvSpPr>
            <a:spLocks/>
          </p:cNvSpPr>
          <p:nvPr/>
        </p:nvSpPr>
        <p:spPr bwMode="auto">
          <a:xfrm>
            <a:off x="2296697" y="3444845"/>
            <a:ext cx="549757" cy="997630"/>
          </a:xfrm>
          <a:custGeom>
            <a:avLst/>
            <a:gdLst>
              <a:gd name="T0" fmla="*/ 0 w 312"/>
              <a:gd name="T1" fmla="*/ 0 h 708"/>
              <a:gd name="T2" fmla="*/ 312 w 312"/>
              <a:gd name="T3" fmla="*/ 0 h 708"/>
              <a:gd name="T4" fmla="*/ 312 w 312"/>
              <a:gd name="T5" fmla="*/ 708 h 70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312" h="708">
                <a:moveTo>
                  <a:pt x="0" y="0"/>
                </a:moveTo>
                <a:lnTo>
                  <a:pt x="312" y="0"/>
                </a:lnTo>
                <a:lnTo>
                  <a:pt x="312" y="708"/>
                </a:lnTo>
              </a:path>
            </a:pathLst>
          </a:custGeom>
          <a:noFill/>
          <a:ln w="28575" cap="rnd" cmpd="sng">
            <a:solidFill>
              <a:srgbClr val="C0C0C0"/>
            </a:solidFill>
            <a:prstDash val="sysDot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66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1" name="Freeform 28"/>
          <p:cNvSpPr>
            <a:spLocks/>
          </p:cNvSpPr>
          <p:nvPr/>
        </p:nvSpPr>
        <p:spPr bwMode="auto">
          <a:xfrm rot="10800000" flipH="1">
            <a:off x="2052633" y="5182721"/>
            <a:ext cx="355145" cy="639776"/>
          </a:xfrm>
          <a:custGeom>
            <a:avLst/>
            <a:gdLst>
              <a:gd name="T0" fmla="*/ 0 w 397"/>
              <a:gd name="T1" fmla="*/ 0 h 340"/>
              <a:gd name="T2" fmla="*/ 0 w 397"/>
              <a:gd name="T3" fmla="*/ 340 h 340"/>
              <a:gd name="T4" fmla="*/ 397 w 397"/>
              <a:gd name="T5" fmla="*/ 340 h 3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397" h="340">
                <a:moveTo>
                  <a:pt x="0" y="0"/>
                </a:moveTo>
                <a:lnTo>
                  <a:pt x="0" y="340"/>
                </a:lnTo>
                <a:lnTo>
                  <a:pt x="397" y="340"/>
                </a:lnTo>
              </a:path>
            </a:pathLst>
          </a:custGeom>
          <a:noFill/>
          <a:ln w="57150" cap="flat" cmpd="sng">
            <a:solidFill>
              <a:srgbClr val="C0C0C0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66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3" name="Line 30"/>
          <p:cNvSpPr>
            <a:spLocks noChangeShapeType="1"/>
          </p:cNvSpPr>
          <p:nvPr/>
        </p:nvSpPr>
        <p:spPr bwMode="auto">
          <a:xfrm>
            <a:off x="4501102" y="6077468"/>
            <a:ext cx="423984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4" name="Line 31"/>
          <p:cNvSpPr>
            <a:spLocks noChangeShapeType="1"/>
          </p:cNvSpPr>
          <p:nvPr/>
        </p:nvSpPr>
        <p:spPr bwMode="auto">
          <a:xfrm>
            <a:off x="1911827" y="4071314"/>
            <a:ext cx="0" cy="1751184"/>
          </a:xfrm>
          <a:prstGeom prst="line">
            <a:avLst/>
          </a:prstGeom>
          <a:noFill/>
          <a:ln w="28575" cap="rnd">
            <a:solidFill>
              <a:srgbClr val="C0C0C0"/>
            </a:solidFill>
            <a:prstDash val="sysDot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65" name="Picture 32"/>
          <p:cNvPicPr>
            <a:picLocks noChangeAspect="1" noChangeArrowheads="1"/>
          </p:cNvPicPr>
          <p:nvPr/>
        </p:nvPicPr>
        <p:blipFill>
          <a:blip r:embed="rId6" cstate="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2391" y="5835011"/>
            <a:ext cx="807291" cy="688267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66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6" name="Freeform 33"/>
          <p:cNvSpPr>
            <a:spLocks/>
          </p:cNvSpPr>
          <p:nvPr/>
        </p:nvSpPr>
        <p:spPr bwMode="auto">
          <a:xfrm>
            <a:off x="3091472" y="4418034"/>
            <a:ext cx="860484" cy="752174"/>
          </a:xfrm>
          <a:custGeom>
            <a:avLst/>
            <a:gdLst>
              <a:gd name="T0" fmla="*/ 0 w 652"/>
              <a:gd name="T1" fmla="*/ 453 h 453"/>
              <a:gd name="T2" fmla="*/ 652 w 652"/>
              <a:gd name="T3" fmla="*/ 453 h 453"/>
              <a:gd name="T4" fmla="*/ 652 w 652"/>
              <a:gd name="T5" fmla="*/ 0 h 45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652" h="453">
                <a:moveTo>
                  <a:pt x="0" y="453"/>
                </a:moveTo>
                <a:lnTo>
                  <a:pt x="652" y="453"/>
                </a:lnTo>
                <a:lnTo>
                  <a:pt x="652" y="0"/>
                </a:lnTo>
              </a:path>
            </a:pathLst>
          </a:custGeom>
          <a:noFill/>
          <a:ln w="57150" cap="flat" cmpd="sng">
            <a:solidFill>
              <a:srgbClr val="C0C0C0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66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7" name="Rectangle 34"/>
          <p:cNvSpPr>
            <a:spLocks noChangeArrowheads="1"/>
          </p:cNvSpPr>
          <p:nvPr/>
        </p:nvSpPr>
        <p:spPr bwMode="auto">
          <a:xfrm>
            <a:off x="1376536" y="2695572"/>
            <a:ext cx="1063112" cy="2446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kumimoji="1" lang="en-US" altLang="ko-KR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Task flow Model</a:t>
            </a:r>
          </a:p>
        </p:txBody>
      </p:sp>
      <p:sp>
        <p:nvSpPr>
          <p:cNvPr id="68" name="Rectangle 35"/>
          <p:cNvSpPr>
            <a:spLocks noChangeArrowheads="1"/>
          </p:cNvSpPr>
          <p:nvPr/>
        </p:nvSpPr>
        <p:spPr bwMode="auto">
          <a:xfrm>
            <a:off x="1520552" y="6496686"/>
            <a:ext cx="1026243" cy="2446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kumimoji="1" lang="en-US" altLang="ko-KR" sz="900" b="1">
                <a:latin typeface="나눔고딕" panose="020D0604000000000000" pitchFamily="50" charset="-127"/>
                <a:ea typeface="나눔고딕" panose="020D0604000000000000" pitchFamily="50" charset="-127"/>
              </a:rPr>
              <a:t>interface Model</a:t>
            </a:r>
          </a:p>
        </p:txBody>
      </p:sp>
      <p:sp>
        <p:nvSpPr>
          <p:cNvPr id="69" name="Rectangle 36"/>
          <p:cNvSpPr>
            <a:spLocks noChangeArrowheads="1"/>
          </p:cNvSpPr>
          <p:nvPr/>
        </p:nvSpPr>
        <p:spPr bwMode="auto">
          <a:xfrm>
            <a:off x="2474300" y="5404843"/>
            <a:ext cx="702436" cy="410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>
              <a:lnSpc>
                <a:spcPct val="120000"/>
              </a:lnSpc>
            </a:pPr>
            <a:r>
              <a:rPr kumimoji="1" lang="en-US" altLang="ko-KR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Sequence</a:t>
            </a:r>
          </a:p>
          <a:p>
            <a:pPr algn="ctr">
              <a:lnSpc>
                <a:spcPct val="120000"/>
              </a:lnSpc>
            </a:pPr>
            <a:r>
              <a:rPr kumimoji="1" lang="en-US" altLang="ko-KR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Model</a:t>
            </a:r>
          </a:p>
        </p:txBody>
      </p:sp>
      <p:sp>
        <p:nvSpPr>
          <p:cNvPr id="70" name="Rectangle 37"/>
          <p:cNvSpPr>
            <a:spLocks noChangeArrowheads="1"/>
          </p:cNvSpPr>
          <p:nvPr/>
        </p:nvSpPr>
        <p:spPr bwMode="auto">
          <a:xfrm>
            <a:off x="3320752" y="2890527"/>
            <a:ext cx="1016625" cy="2446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kumimoji="1" lang="en-US" altLang="ko-KR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Dynamic Model</a:t>
            </a:r>
          </a:p>
        </p:txBody>
      </p:sp>
      <p:sp>
        <p:nvSpPr>
          <p:cNvPr id="71" name="Rectangle 38"/>
          <p:cNvSpPr>
            <a:spLocks noChangeArrowheads="1"/>
          </p:cNvSpPr>
          <p:nvPr/>
        </p:nvSpPr>
        <p:spPr bwMode="auto">
          <a:xfrm>
            <a:off x="4925086" y="6366854"/>
            <a:ext cx="1271952" cy="2440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kumimoji="1" lang="en-US" altLang="ko-KR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Arrangement Model</a:t>
            </a:r>
          </a:p>
        </p:txBody>
      </p:sp>
      <p:sp>
        <p:nvSpPr>
          <p:cNvPr id="72" name="Rectangle 39"/>
          <p:cNvSpPr>
            <a:spLocks noChangeArrowheads="1"/>
          </p:cNvSpPr>
          <p:nvPr/>
        </p:nvSpPr>
        <p:spPr bwMode="auto">
          <a:xfrm>
            <a:off x="3635924" y="6457580"/>
            <a:ext cx="826065" cy="2440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kumimoji="1" lang="en-US" altLang="ko-KR" sz="900">
                <a:latin typeface="나눔고딕" panose="020D0604000000000000" pitchFamily="50" charset="-127"/>
                <a:ea typeface="나눔고딕" panose="020D0604000000000000" pitchFamily="50" charset="-127"/>
              </a:rPr>
              <a:t>asset Model</a:t>
            </a:r>
          </a:p>
        </p:txBody>
      </p:sp>
      <p:sp>
        <p:nvSpPr>
          <p:cNvPr id="73" name="AutoShape 40"/>
          <p:cNvSpPr>
            <a:spLocks noChangeArrowheads="1"/>
          </p:cNvSpPr>
          <p:nvPr/>
        </p:nvSpPr>
        <p:spPr bwMode="auto">
          <a:xfrm>
            <a:off x="4925086" y="2694008"/>
            <a:ext cx="607859" cy="343972"/>
          </a:xfrm>
          <a:prstGeom prst="flowChartDocument">
            <a:avLst/>
          </a:prstGeom>
          <a:solidFill>
            <a:schemeClr val="bg1"/>
          </a:solidFill>
          <a:ln w="9525" algn="ctr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kumimoji="1"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IA map</a:t>
            </a:r>
          </a:p>
        </p:txBody>
      </p:sp>
      <p:sp>
        <p:nvSpPr>
          <p:cNvPr id="74" name="Freeform 41"/>
          <p:cNvSpPr>
            <a:spLocks/>
          </p:cNvSpPr>
          <p:nvPr/>
        </p:nvSpPr>
        <p:spPr bwMode="auto">
          <a:xfrm rot="16200000" flipH="1">
            <a:off x="5505553" y="2878565"/>
            <a:ext cx="355083" cy="272226"/>
          </a:xfrm>
          <a:custGeom>
            <a:avLst/>
            <a:gdLst>
              <a:gd name="T0" fmla="*/ 0 w 397"/>
              <a:gd name="T1" fmla="*/ 0 h 340"/>
              <a:gd name="T2" fmla="*/ 0 w 397"/>
              <a:gd name="T3" fmla="*/ 340 h 340"/>
              <a:gd name="T4" fmla="*/ 397 w 397"/>
              <a:gd name="T5" fmla="*/ 340 h 3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397" h="340">
                <a:moveTo>
                  <a:pt x="0" y="0"/>
                </a:moveTo>
                <a:lnTo>
                  <a:pt x="0" y="340"/>
                </a:lnTo>
                <a:lnTo>
                  <a:pt x="397" y="340"/>
                </a:lnTo>
              </a:path>
            </a:pathLst>
          </a:custGeom>
          <a:noFill/>
          <a:ln w="5715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66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7" name="Text Box 42"/>
          <p:cNvSpPr txBox="1">
            <a:spLocks noChangeArrowheads="1"/>
          </p:cNvSpPr>
          <p:nvPr/>
        </p:nvSpPr>
        <p:spPr bwMode="auto">
          <a:xfrm>
            <a:off x="7567736" y="4418033"/>
            <a:ext cx="2209800" cy="6001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AEAEA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>
            <a:spAutoFit/>
          </a:bodyPr>
          <a:lstStyle/>
          <a:p>
            <a:pPr>
              <a:lnSpc>
                <a:spcPct val="110000"/>
              </a:lnSpc>
              <a:spcBef>
                <a:spcPct val="20000"/>
              </a:spcBef>
            </a:pP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사이트의 정보 구조와 페이지의</a:t>
            </a:r>
            <a:b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sz="1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그리드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시스템에 맞추어 정리된</a:t>
            </a:r>
            <a:b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인터페이스 요소를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mapping 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시킨다</a:t>
            </a:r>
          </a:p>
        </p:txBody>
      </p:sp>
      <p:sp>
        <p:nvSpPr>
          <p:cNvPr id="78" name="Line 43"/>
          <p:cNvSpPr>
            <a:spLocks noChangeShapeType="1"/>
          </p:cNvSpPr>
          <p:nvPr/>
        </p:nvSpPr>
        <p:spPr bwMode="auto">
          <a:xfrm flipH="1">
            <a:off x="7110536" y="4587896"/>
            <a:ext cx="3048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 type="triangle" w="med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46" name="Picture 2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29961" y="3203727"/>
            <a:ext cx="1677253" cy="1144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2" name="Line 29"/>
          <p:cNvSpPr>
            <a:spLocks noChangeShapeType="1"/>
          </p:cNvSpPr>
          <p:nvPr/>
        </p:nvSpPr>
        <p:spPr bwMode="auto">
          <a:xfrm>
            <a:off x="4501102" y="3711273"/>
            <a:ext cx="423984" cy="0"/>
          </a:xfrm>
          <a:prstGeom prst="line">
            <a:avLst/>
          </a:prstGeom>
          <a:noFill/>
          <a:ln w="57150">
            <a:solidFill>
              <a:srgbClr val="C0C0C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8653054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44017" y="91339"/>
            <a:ext cx="7401271" cy="385333"/>
          </a:xfrm>
          <a:prstGeom prst="rect">
            <a:avLst/>
          </a:prstGeom>
          <a:noFill/>
        </p:spPr>
        <p:txBody>
          <a:bodyPr wrap="square" lIns="0" tIns="53643" rIns="0" bIns="53643" rtlCol="0">
            <a:spAutoFit/>
          </a:bodyPr>
          <a:lstStyle/>
          <a:p>
            <a:r>
              <a:rPr kumimoji="1" lang="en-US" altLang="ko-KR" b="1" kern="0" dirty="0">
                <a:latin typeface="나눔고딕" panose="020D0604000000000000" pitchFamily="50" charset="-127"/>
                <a:ea typeface="나눔고딕" panose="020D0604000000000000" pitchFamily="50" charset="-127"/>
                <a:cs typeface="산돌고딕 M"/>
              </a:rPr>
              <a:t>User Interface Design</a:t>
            </a:r>
            <a:endParaRPr kumimoji="1" lang="ko-KR" altLang="en-US" b="1" kern="0" dirty="0">
              <a:latin typeface="나눔고딕" panose="020D0604000000000000" pitchFamily="50" charset="-127"/>
              <a:ea typeface="나눔고딕" panose="020D0604000000000000" pitchFamily="50" charset="-127"/>
              <a:cs typeface="산돌고딕 M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44017" y="683985"/>
            <a:ext cx="96335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U.I / U.X Design Process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776536" y="1124744"/>
            <a:ext cx="3024336" cy="36004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ko-KR" sz="14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Process 8 : U.I / U.X blueprint</a:t>
            </a:r>
          </a:p>
        </p:txBody>
      </p:sp>
      <p:sp>
        <p:nvSpPr>
          <p:cNvPr id="14" name="Oval 16"/>
          <p:cNvSpPr>
            <a:spLocks noChangeArrowheads="1"/>
          </p:cNvSpPr>
          <p:nvPr/>
        </p:nvSpPr>
        <p:spPr bwMode="auto">
          <a:xfrm>
            <a:off x="477837" y="2096599"/>
            <a:ext cx="172215" cy="172215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  <a:round/>
            <a:headEnd/>
            <a:tailEnd type="none" w="med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5" name="Oval 17"/>
          <p:cNvSpPr>
            <a:spLocks noChangeArrowheads="1"/>
          </p:cNvSpPr>
          <p:nvPr/>
        </p:nvSpPr>
        <p:spPr bwMode="auto">
          <a:xfrm>
            <a:off x="477837" y="2354922"/>
            <a:ext cx="172215" cy="172215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  <a:round/>
            <a:headEnd/>
            <a:tailEnd type="none" w="med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6" name="Oval 18"/>
          <p:cNvSpPr>
            <a:spLocks noChangeArrowheads="1"/>
          </p:cNvSpPr>
          <p:nvPr/>
        </p:nvSpPr>
        <p:spPr bwMode="auto">
          <a:xfrm>
            <a:off x="477837" y="2613244"/>
            <a:ext cx="172215" cy="172215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  <a:round/>
            <a:headEnd/>
            <a:tailEnd type="none" w="med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7" name="Oval 19"/>
          <p:cNvSpPr>
            <a:spLocks noChangeArrowheads="1"/>
          </p:cNvSpPr>
          <p:nvPr/>
        </p:nvSpPr>
        <p:spPr bwMode="auto">
          <a:xfrm>
            <a:off x="477837" y="2871567"/>
            <a:ext cx="172215" cy="172215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  <a:round/>
            <a:headEnd/>
            <a:tailEnd type="none" w="med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" name="Oval 20"/>
          <p:cNvSpPr>
            <a:spLocks noChangeArrowheads="1"/>
          </p:cNvSpPr>
          <p:nvPr/>
        </p:nvSpPr>
        <p:spPr bwMode="auto">
          <a:xfrm>
            <a:off x="477837" y="3129889"/>
            <a:ext cx="172215" cy="172215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  <a:round/>
            <a:headEnd/>
            <a:tailEnd type="none" w="med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9" name="Oval 21"/>
          <p:cNvSpPr>
            <a:spLocks noChangeArrowheads="1"/>
          </p:cNvSpPr>
          <p:nvPr/>
        </p:nvSpPr>
        <p:spPr bwMode="auto">
          <a:xfrm>
            <a:off x="477837" y="3388212"/>
            <a:ext cx="172215" cy="172215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  <a:round/>
            <a:headEnd/>
            <a:tailEnd type="none" w="med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0" name="Oval 22"/>
          <p:cNvSpPr>
            <a:spLocks noChangeArrowheads="1"/>
          </p:cNvSpPr>
          <p:nvPr/>
        </p:nvSpPr>
        <p:spPr bwMode="auto">
          <a:xfrm>
            <a:off x="477837" y="3646534"/>
            <a:ext cx="172215" cy="172215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  <a:round/>
            <a:headEnd/>
            <a:tailEnd type="none" w="med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1" name="Oval 23"/>
          <p:cNvSpPr>
            <a:spLocks noChangeArrowheads="1"/>
          </p:cNvSpPr>
          <p:nvPr/>
        </p:nvSpPr>
        <p:spPr bwMode="auto">
          <a:xfrm>
            <a:off x="477837" y="3904857"/>
            <a:ext cx="172215" cy="172215"/>
          </a:xfrm>
          <a:prstGeom prst="ellipse">
            <a:avLst/>
          </a:prstGeom>
          <a:solidFill>
            <a:srgbClr val="66FF66"/>
          </a:solidFill>
          <a:ln w="6350">
            <a:solidFill>
              <a:schemeClr val="tx1"/>
            </a:solidFill>
            <a:round/>
            <a:headEnd/>
            <a:tailEnd type="none" w="med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94068" y="1529210"/>
            <a:ext cx="87674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각 페이지 마다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Usability issue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를 고려함과 동시에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사이트 목적을 고려하면서 개별 페이지의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U.I / U.X 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설계를 마무리 짓습니다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  <a:p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개별 페이지의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U.I / U.X</a:t>
            </a:r>
            <a:r>
              <a:rPr lang="ko-KR" altLang="en-US" sz="1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를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설계 할 때에도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고객의 사용 행태에 따른 동적인 동선을 반드시 고려하면서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U.I / U.X</a:t>
            </a:r>
            <a:r>
              <a:rPr lang="ko-KR" altLang="en-US" sz="1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를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설계하도록 하는 것이 가장 중요한 점입니다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</p:txBody>
      </p:sp>
      <p:sp>
        <p:nvSpPr>
          <p:cNvPr id="60" name="AutoShape 22"/>
          <p:cNvSpPr>
            <a:spLocks noChangeArrowheads="1"/>
          </p:cNvSpPr>
          <p:nvPr/>
        </p:nvSpPr>
        <p:spPr bwMode="auto">
          <a:xfrm>
            <a:off x="272480" y="3886572"/>
            <a:ext cx="127000" cy="190500"/>
          </a:xfrm>
          <a:prstGeom prst="homePlate">
            <a:avLst>
              <a:gd name="adj" fmla="val 77083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tx1"/>
            </a:solidFill>
            <a:miter lim="800000"/>
            <a:headEnd/>
            <a:tailEnd type="none" w="med" len="sm"/>
          </a:ln>
          <a:effectLst/>
        </p:spPr>
        <p:txBody>
          <a:bodyPr wrap="none" lIns="90000" tIns="46800" rIns="90000" bIns="46800" anchor="ctr"/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6" name="Rectangle 3"/>
          <p:cNvSpPr>
            <a:spLocks noChangeArrowheads="1"/>
          </p:cNvSpPr>
          <p:nvPr/>
        </p:nvSpPr>
        <p:spPr bwMode="auto">
          <a:xfrm>
            <a:off x="4648200" y="2230264"/>
            <a:ext cx="1524000" cy="3200400"/>
          </a:xfrm>
          <a:prstGeom prst="rect">
            <a:avLst/>
          </a:prstGeom>
          <a:solidFill>
            <a:srgbClr val="FFFF99"/>
          </a:solidFill>
          <a:ln w="6350">
            <a:solidFill>
              <a:srgbClr val="B2B2B2"/>
            </a:solidFill>
            <a:miter lim="800000"/>
            <a:headEnd/>
            <a:tailEnd type="none" w="med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pSp>
        <p:nvGrpSpPr>
          <p:cNvPr id="47" name="Group 16"/>
          <p:cNvGrpSpPr>
            <a:grpSpLocks/>
          </p:cNvGrpSpPr>
          <p:nvPr/>
        </p:nvGrpSpPr>
        <p:grpSpPr bwMode="auto">
          <a:xfrm>
            <a:off x="1905000" y="2230264"/>
            <a:ext cx="2414588" cy="3187700"/>
            <a:chOff x="3120" y="2015"/>
            <a:chExt cx="1543" cy="2038"/>
          </a:xfrm>
        </p:grpSpPr>
        <p:sp>
          <p:nvSpPr>
            <p:cNvPr id="48" name="Rectangle 17"/>
            <p:cNvSpPr>
              <a:spLocks noChangeArrowheads="1"/>
            </p:cNvSpPr>
            <p:nvPr/>
          </p:nvSpPr>
          <p:spPr bwMode="auto">
            <a:xfrm>
              <a:off x="3120" y="2015"/>
              <a:ext cx="1543" cy="2038"/>
            </a:xfrm>
            <a:prstGeom prst="rect">
              <a:avLst/>
            </a:prstGeom>
            <a:solidFill>
              <a:schemeClr val="bg1"/>
            </a:solidFill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pic>
          <p:nvPicPr>
            <p:cNvPr id="49" name="Picture 18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78" y="2166"/>
              <a:ext cx="1427" cy="174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6600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sp>
        <p:nvSpPr>
          <p:cNvPr id="50" name="Rectangle 19"/>
          <p:cNvSpPr>
            <a:spLocks noChangeArrowheads="1"/>
          </p:cNvSpPr>
          <p:nvPr/>
        </p:nvSpPr>
        <p:spPr bwMode="auto">
          <a:xfrm>
            <a:off x="1905000" y="5379864"/>
            <a:ext cx="1271502" cy="2585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kumimoji="1" lang="en-US" altLang="ko-KR" sz="900" b="1">
                <a:latin typeface="나눔고딕" panose="020D0604000000000000" pitchFamily="50" charset="-127"/>
                <a:ea typeface="나눔고딕" panose="020D0604000000000000" pitchFamily="50" charset="-127"/>
              </a:rPr>
              <a:t>Arrangement Model</a:t>
            </a:r>
          </a:p>
        </p:txBody>
      </p:sp>
      <p:sp>
        <p:nvSpPr>
          <p:cNvPr id="51" name="Line 20"/>
          <p:cNvSpPr>
            <a:spLocks noChangeShapeType="1"/>
          </p:cNvSpPr>
          <p:nvPr/>
        </p:nvSpPr>
        <p:spPr bwMode="auto">
          <a:xfrm>
            <a:off x="4152900" y="3601864"/>
            <a:ext cx="23241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 type="oval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2" name="Rectangle 21"/>
          <p:cNvSpPr>
            <a:spLocks noChangeArrowheads="1"/>
          </p:cNvSpPr>
          <p:nvPr/>
        </p:nvSpPr>
        <p:spPr bwMode="auto">
          <a:xfrm>
            <a:off x="7375215" y="4767089"/>
            <a:ext cx="1148071" cy="2446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kumimoji="1" lang="en-US" altLang="ko-KR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U.I / U.X blueprint</a:t>
            </a:r>
          </a:p>
        </p:txBody>
      </p:sp>
      <p:sp>
        <p:nvSpPr>
          <p:cNvPr id="53" name="Line 22"/>
          <p:cNvSpPr>
            <a:spLocks noChangeShapeType="1"/>
          </p:cNvSpPr>
          <p:nvPr/>
        </p:nvSpPr>
        <p:spPr bwMode="auto">
          <a:xfrm>
            <a:off x="1177925" y="5932314"/>
            <a:ext cx="744748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4" name="Text Box 23"/>
          <p:cNvSpPr txBox="1">
            <a:spLocks noChangeArrowheads="1"/>
          </p:cNvSpPr>
          <p:nvPr/>
        </p:nvSpPr>
        <p:spPr bwMode="auto">
          <a:xfrm>
            <a:off x="1100138" y="5996136"/>
            <a:ext cx="7129462" cy="6309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</a:pPr>
            <a:r>
              <a:rPr kumimoji="1"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이러한 </a:t>
            </a:r>
            <a:r>
              <a:rPr kumimoji="1"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systematic</a:t>
            </a:r>
            <a:r>
              <a:rPr kumimoji="1"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한 </a:t>
            </a:r>
            <a:r>
              <a:rPr kumimoji="1"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U.I / U.X design </a:t>
            </a:r>
            <a:r>
              <a:rPr kumimoji="1"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프로세스를 통해</a:t>
            </a:r>
            <a:r>
              <a:rPr kumimoji="1"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kumimoji="1"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고객의 </a:t>
            </a:r>
            <a:r>
              <a:rPr kumimoji="1"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Task process</a:t>
            </a:r>
            <a:r>
              <a:rPr kumimoji="1"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에 맞추어 사이트 </a:t>
            </a:r>
            <a:r>
              <a:rPr kumimoji="1" lang="ko-KR" altLang="en-US" sz="1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컨텐츠를</a:t>
            </a:r>
            <a:r>
              <a:rPr kumimoji="1"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적절히 배치함으로써</a:t>
            </a:r>
            <a:r>
              <a:rPr kumimoji="1"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kumimoji="1"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고객의</a:t>
            </a:r>
            <a:br>
              <a:rPr kumimoji="1"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kumimoji="1" lang="ko-KR" altLang="en-US" sz="1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사용성을</a:t>
            </a:r>
            <a:r>
              <a:rPr kumimoji="1"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향상 시키고 사이트의 비즈니스 목적을 달성 할 수 있게 하는 사이트 체험을 고객에게 전달 해 줄 수 있습니다</a:t>
            </a:r>
            <a:r>
              <a:rPr kumimoji="1"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</p:txBody>
      </p:sp>
      <p:sp>
        <p:nvSpPr>
          <p:cNvPr id="55" name="AutoShape 24"/>
          <p:cNvSpPr>
            <a:spLocks noChangeArrowheads="1"/>
          </p:cNvSpPr>
          <p:nvPr/>
        </p:nvSpPr>
        <p:spPr bwMode="auto">
          <a:xfrm>
            <a:off x="4800600" y="2935114"/>
            <a:ext cx="1127232" cy="324862"/>
          </a:xfrm>
          <a:prstGeom prst="flowChartDocumen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kumimoji="1" lang="en-US" altLang="ko-KR" sz="1000" b="1">
                <a:latin typeface="나눔고딕" panose="020D0604000000000000" pitchFamily="50" charset="-127"/>
                <a:ea typeface="나눔고딕" panose="020D0604000000000000" pitchFamily="50" charset="-127"/>
              </a:rPr>
              <a:t>Contents model</a:t>
            </a:r>
          </a:p>
        </p:txBody>
      </p:sp>
      <p:sp>
        <p:nvSpPr>
          <p:cNvPr id="56" name="AutoShape 25"/>
          <p:cNvSpPr>
            <a:spLocks noChangeArrowheads="1"/>
          </p:cNvSpPr>
          <p:nvPr/>
        </p:nvSpPr>
        <p:spPr bwMode="auto">
          <a:xfrm>
            <a:off x="4800600" y="3925714"/>
            <a:ext cx="878767" cy="324862"/>
          </a:xfrm>
          <a:prstGeom prst="flowChartDocumen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kumimoji="1" lang="en-US" altLang="ko-KR" sz="1000" b="1">
                <a:latin typeface="나눔고딕" panose="020D0604000000000000" pitchFamily="50" charset="-127"/>
                <a:ea typeface="나눔고딕" panose="020D0604000000000000" pitchFamily="50" charset="-127"/>
              </a:rPr>
              <a:t>Grid system</a:t>
            </a:r>
          </a:p>
        </p:txBody>
      </p:sp>
      <p:sp>
        <p:nvSpPr>
          <p:cNvPr id="57" name="AutoShape 26"/>
          <p:cNvSpPr>
            <a:spLocks noChangeArrowheads="1"/>
          </p:cNvSpPr>
          <p:nvPr/>
        </p:nvSpPr>
        <p:spPr bwMode="auto">
          <a:xfrm>
            <a:off x="4800600" y="4382914"/>
            <a:ext cx="1273105" cy="324862"/>
          </a:xfrm>
          <a:prstGeom prst="flowChartDocumen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kumimoji="1" lang="en-US" altLang="ko-KR" sz="1000" b="1">
                <a:latin typeface="나눔고딕" panose="020D0604000000000000" pitchFamily="50" charset="-127"/>
                <a:ea typeface="나눔고딕" panose="020D0604000000000000" pitchFamily="50" charset="-127"/>
              </a:rPr>
              <a:t>Navigation System</a:t>
            </a:r>
          </a:p>
        </p:txBody>
      </p:sp>
      <p:sp>
        <p:nvSpPr>
          <p:cNvPr id="59" name="AutoShape 27"/>
          <p:cNvSpPr>
            <a:spLocks noChangeArrowheads="1"/>
          </p:cNvSpPr>
          <p:nvPr/>
        </p:nvSpPr>
        <p:spPr bwMode="auto">
          <a:xfrm>
            <a:off x="4800600" y="4840114"/>
            <a:ext cx="764953" cy="324862"/>
          </a:xfrm>
          <a:prstGeom prst="flowChartDocumen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kumimoji="1" lang="en-US" altLang="ko-KR" sz="1000" b="1">
                <a:latin typeface="나눔고딕" panose="020D0604000000000000" pitchFamily="50" charset="-127"/>
                <a:ea typeface="나눔고딕" panose="020D0604000000000000" pitchFamily="50" charset="-127"/>
              </a:rPr>
              <a:t>Page type</a:t>
            </a:r>
          </a:p>
        </p:txBody>
      </p:sp>
      <p:sp>
        <p:nvSpPr>
          <p:cNvPr id="79" name="Line 28"/>
          <p:cNvSpPr>
            <a:spLocks noChangeShapeType="1"/>
          </p:cNvSpPr>
          <p:nvPr/>
        </p:nvSpPr>
        <p:spPr bwMode="auto">
          <a:xfrm flipV="1">
            <a:off x="5181600" y="3659014"/>
            <a:ext cx="0" cy="228600"/>
          </a:xfrm>
          <a:prstGeom prst="line">
            <a:avLst/>
          </a:prstGeom>
          <a:noFill/>
          <a:ln w="6350">
            <a:solidFill>
              <a:srgbClr val="B2B2B2"/>
            </a:solidFill>
            <a:round/>
            <a:headEnd/>
            <a:tailEnd type="triangle" w="med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0" name="Line 29"/>
          <p:cNvSpPr>
            <a:spLocks noChangeShapeType="1"/>
          </p:cNvSpPr>
          <p:nvPr/>
        </p:nvSpPr>
        <p:spPr bwMode="auto">
          <a:xfrm>
            <a:off x="5181600" y="3316114"/>
            <a:ext cx="0" cy="228600"/>
          </a:xfrm>
          <a:prstGeom prst="line">
            <a:avLst/>
          </a:prstGeom>
          <a:noFill/>
          <a:ln w="6350">
            <a:solidFill>
              <a:srgbClr val="B2B2B2"/>
            </a:solidFill>
            <a:round/>
            <a:headEnd/>
            <a:tailEnd type="triangle" w="med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1" name="AutoShape 30"/>
          <p:cNvSpPr>
            <a:spLocks noChangeArrowheads="1"/>
          </p:cNvSpPr>
          <p:nvPr/>
        </p:nvSpPr>
        <p:spPr bwMode="auto">
          <a:xfrm>
            <a:off x="4964113" y="2204864"/>
            <a:ext cx="931665" cy="324862"/>
          </a:xfrm>
          <a:prstGeom prst="flowChartDocumen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B2B2B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kumimoji="1"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Layer system</a:t>
            </a:r>
          </a:p>
        </p:txBody>
      </p:sp>
      <p:sp>
        <p:nvSpPr>
          <p:cNvPr id="82" name="Line 31"/>
          <p:cNvSpPr>
            <a:spLocks noChangeShapeType="1"/>
          </p:cNvSpPr>
          <p:nvPr/>
        </p:nvSpPr>
        <p:spPr bwMode="auto">
          <a:xfrm>
            <a:off x="4648200" y="2496964"/>
            <a:ext cx="1524000" cy="0"/>
          </a:xfrm>
          <a:prstGeom prst="line">
            <a:avLst/>
          </a:prstGeom>
          <a:noFill/>
          <a:ln w="6350">
            <a:solidFill>
              <a:srgbClr val="B2B2B2"/>
            </a:solidFill>
            <a:round/>
            <a:headEnd/>
            <a:tailEnd type="none" w="med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3B190554-E017-AD7A-5FD1-F34BEC26A7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1248" y="2191619"/>
            <a:ext cx="2374900" cy="2565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451330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44017" y="91339"/>
            <a:ext cx="7401271" cy="385333"/>
          </a:xfrm>
          <a:prstGeom prst="rect">
            <a:avLst/>
          </a:prstGeom>
          <a:noFill/>
        </p:spPr>
        <p:txBody>
          <a:bodyPr wrap="square" lIns="0" tIns="53643" rIns="0" bIns="53643" rtlCol="0">
            <a:spAutoFit/>
          </a:bodyPr>
          <a:lstStyle/>
          <a:p>
            <a:r>
              <a:rPr kumimoji="1" lang="en-US" altLang="ko-KR" b="1" kern="0" dirty="0">
                <a:latin typeface="나눔고딕" panose="020D0604000000000000" pitchFamily="50" charset="-127"/>
                <a:ea typeface="나눔고딕" panose="020D0604000000000000" pitchFamily="50" charset="-127"/>
                <a:cs typeface="산돌고딕 M"/>
              </a:rPr>
              <a:t>User Interface Design</a:t>
            </a:r>
            <a:endParaRPr kumimoji="1" lang="ko-KR" altLang="en-US" b="1" kern="0" dirty="0">
              <a:latin typeface="나눔고딕" panose="020D0604000000000000" pitchFamily="50" charset="-127"/>
              <a:ea typeface="나눔고딕" panose="020D0604000000000000" pitchFamily="50" charset="-127"/>
              <a:cs typeface="산돌고딕 M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44017" y="683985"/>
            <a:ext cx="96335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U.I / U.X Design Case</a:t>
            </a:r>
          </a:p>
        </p:txBody>
      </p:sp>
      <p:sp>
        <p:nvSpPr>
          <p:cNvPr id="34" name="직사각형 33"/>
          <p:cNvSpPr/>
          <p:nvPr/>
        </p:nvSpPr>
        <p:spPr>
          <a:xfrm>
            <a:off x="632520" y="1196752"/>
            <a:ext cx="5832648" cy="36004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r>
              <a:rPr lang="ko-KR" altLang="en-US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과제 </a:t>
            </a:r>
            <a:r>
              <a:rPr lang="en-US" altLang="ko-KR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서비스 서비스상품을 가입하고자 하는 고객을 위한 </a:t>
            </a:r>
            <a:r>
              <a:rPr lang="en-US" altLang="ko-KR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U.I / U.X design </a:t>
            </a:r>
          </a:p>
        </p:txBody>
      </p:sp>
      <p:sp>
        <p:nvSpPr>
          <p:cNvPr id="36" name="Text Box 6"/>
          <p:cNvSpPr txBox="1">
            <a:spLocks noChangeArrowheads="1"/>
          </p:cNvSpPr>
          <p:nvPr/>
        </p:nvSpPr>
        <p:spPr bwMode="auto">
          <a:xfrm>
            <a:off x="1710532" y="2636912"/>
            <a:ext cx="2533134" cy="4770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서비스서비스에 가입하고 싶은데</a:t>
            </a:r>
            <a:r>
              <a:rPr kumimoji="1"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…</a:t>
            </a:r>
          </a:p>
          <a:p>
            <a:pPr>
              <a:spcBef>
                <a:spcPct val="50000"/>
              </a:spcBef>
            </a:pPr>
            <a:r>
              <a:rPr kumimoji="1" lang="en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XXX</a:t>
            </a:r>
            <a:r>
              <a:rPr kumimoji="1"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서비스 홈페이지에 한번 들어가 볼까</a:t>
            </a:r>
            <a:r>
              <a:rPr kumimoji="1"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?</a:t>
            </a:r>
          </a:p>
        </p:txBody>
      </p:sp>
      <p:sp>
        <p:nvSpPr>
          <p:cNvPr id="77" name="Text Box 37"/>
          <p:cNvSpPr txBox="1">
            <a:spLocks noChangeArrowheads="1"/>
          </p:cNvSpPr>
          <p:nvPr/>
        </p:nvSpPr>
        <p:spPr bwMode="auto">
          <a:xfrm>
            <a:off x="6621047" y="4170437"/>
            <a:ext cx="1335484" cy="5355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AEAEA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rIns="0">
            <a:spAutoFit/>
          </a:bodyPr>
          <a:lstStyle/>
          <a:p>
            <a:pPr algn="ctr">
              <a:lnSpc>
                <a:spcPct val="110000"/>
              </a:lnSpc>
              <a:spcBef>
                <a:spcPct val="20000"/>
              </a:spcBef>
            </a:pPr>
            <a:r>
              <a:rPr lang="en" altLang="ko-KR" sz="1200" b="1">
                <a:latin typeface="나눔고딕" panose="020D0604000000000000" pitchFamily="50" charset="-127"/>
                <a:ea typeface="나눔고딕" panose="020D0604000000000000" pitchFamily="50" charset="-127"/>
              </a:rPr>
              <a:t>XXX</a:t>
            </a:r>
            <a:r>
              <a:rPr lang="ko-KR" altLang="en-US" sz="1200" b="1">
                <a:latin typeface="나눔고딕" panose="020D0604000000000000" pitchFamily="50" charset="-127"/>
                <a:ea typeface="나눔고딕" panose="020D0604000000000000" pitchFamily="50" charset="-127"/>
              </a:rPr>
              <a:t>서비스</a:t>
            </a:r>
            <a:endParaRPr lang="en-US" altLang="ko-KR" sz="12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>
              <a:lnSpc>
                <a:spcPct val="110000"/>
              </a:lnSpc>
              <a:spcBef>
                <a:spcPct val="20000"/>
              </a:spcBef>
            </a:pPr>
            <a:r>
              <a:rPr lang="ko-KR" altLang="en-US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온라인 판매사이트</a:t>
            </a:r>
            <a:endParaRPr lang="en-US" altLang="ko-KR" sz="12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8" name="Line 38"/>
          <p:cNvSpPr>
            <a:spLocks noChangeShapeType="1"/>
          </p:cNvSpPr>
          <p:nvPr/>
        </p:nvSpPr>
        <p:spPr bwMode="auto">
          <a:xfrm>
            <a:off x="4769644" y="3778324"/>
            <a:ext cx="1905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4" name="Line 39"/>
          <p:cNvSpPr>
            <a:spLocks noChangeShapeType="1"/>
          </p:cNvSpPr>
          <p:nvPr/>
        </p:nvSpPr>
        <p:spPr bwMode="auto">
          <a:xfrm>
            <a:off x="1177925" y="6165304"/>
            <a:ext cx="3775075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5" name="Text Box 40"/>
          <p:cNvSpPr txBox="1">
            <a:spLocks noChangeArrowheads="1"/>
          </p:cNvSpPr>
          <p:nvPr/>
        </p:nvSpPr>
        <p:spPr bwMode="auto">
          <a:xfrm>
            <a:off x="1100138" y="6216650"/>
            <a:ext cx="7129462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</a:pPr>
            <a:r>
              <a:rPr kumimoji="1" lang="ko-KR" altLang="en-US" sz="1000">
                <a:latin typeface="나눔고딕" panose="020D0604000000000000" pitchFamily="50" charset="-127"/>
                <a:ea typeface="나눔고딕" panose="020D0604000000000000" pitchFamily="50" charset="-127"/>
              </a:rPr>
              <a:t>서비스서비스 </a:t>
            </a:r>
            <a:r>
              <a:rPr kumimoji="1"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상품에 대한 정보를 찾고 가입을 하고자 하는 고객을 위한 </a:t>
            </a:r>
            <a:r>
              <a:rPr kumimoji="1"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U.I / U.X Design Process</a:t>
            </a:r>
            <a:r>
              <a:rPr kumimoji="1"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를 설계하도록 합니다</a:t>
            </a:r>
            <a:r>
              <a:rPr kumimoji="1"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</p:txBody>
      </p:sp>
      <p:grpSp>
        <p:nvGrpSpPr>
          <p:cNvPr id="88" name="Group 37"/>
          <p:cNvGrpSpPr>
            <a:grpSpLocks/>
          </p:cNvGrpSpPr>
          <p:nvPr/>
        </p:nvGrpSpPr>
        <p:grpSpPr bwMode="auto">
          <a:xfrm>
            <a:off x="6945988" y="3070873"/>
            <a:ext cx="754476" cy="1111481"/>
            <a:chOff x="2256" y="2942"/>
            <a:chExt cx="479" cy="866"/>
          </a:xfrm>
          <a:solidFill>
            <a:schemeClr val="accent2">
              <a:lumMod val="60000"/>
              <a:lumOff val="40000"/>
            </a:schemeClr>
          </a:solidFill>
        </p:grpSpPr>
        <p:grpSp>
          <p:nvGrpSpPr>
            <p:cNvPr id="89" name="Group 38"/>
            <p:cNvGrpSpPr>
              <a:grpSpLocks/>
            </p:cNvGrpSpPr>
            <p:nvPr/>
          </p:nvGrpSpPr>
          <p:grpSpPr bwMode="auto">
            <a:xfrm flipH="1">
              <a:off x="2256" y="2942"/>
              <a:ext cx="479" cy="866"/>
              <a:chOff x="4320" y="829"/>
              <a:chExt cx="964" cy="1317"/>
            </a:xfrm>
            <a:grpFill/>
          </p:grpSpPr>
          <p:sp>
            <p:nvSpPr>
              <p:cNvPr id="99" name="Rectangle 39"/>
              <p:cNvSpPr>
                <a:spLocks noChangeArrowheads="1"/>
              </p:cNvSpPr>
              <p:nvPr/>
            </p:nvSpPr>
            <p:spPr bwMode="auto">
              <a:xfrm>
                <a:off x="5193" y="1459"/>
                <a:ext cx="90" cy="438"/>
              </a:xfrm>
              <a:prstGeom prst="rect">
                <a:avLst/>
              </a:pr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100" name="Freeform 40"/>
              <p:cNvSpPr>
                <a:spLocks/>
              </p:cNvSpPr>
              <p:nvPr/>
            </p:nvSpPr>
            <p:spPr bwMode="auto">
              <a:xfrm rot="21540000">
                <a:off x="4321" y="829"/>
                <a:ext cx="963" cy="438"/>
              </a:xfrm>
              <a:custGeom>
                <a:avLst/>
                <a:gdLst>
                  <a:gd name="T0" fmla="*/ 0 w 963"/>
                  <a:gd name="T1" fmla="*/ 12 h 318"/>
                  <a:gd name="T2" fmla="*/ 870 w 963"/>
                  <a:gd name="T3" fmla="*/ 318 h 318"/>
                  <a:gd name="T4" fmla="*/ 963 w 963"/>
                  <a:gd name="T5" fmla="*/ 315 h 318"/>
                  <a:gd name="T6" fmla="*/ 78 w 963"/>
                  <a:gd name="T7" fmla="*/ 0 h 318"/>
                  <a:gd name="T8" fmla="*/ 0 w 963"/>
                  <a:gd name="T9" fmla="*/ 12 h 3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63" h="318">
                    <a:moveTo>
                      <a:pt x="0" y="12"/>
                    </a:moveTo>
                    <a:lnTo>
                      <a:pt x="870" y="318"/>
                    </a:lnTo>
                    <a:lnTo>
                      <a:pt x="963" y="315"/>
                    </a:lnTo>
                    <a:lnTo>
                      <a:pt x="78" y="0"/>
                    </a:lnTo>
                    <a:lnTo>
                      <a:pt x="0" y="12"/>
                    </a:lnTo>
                    <a:close/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905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grpSp>
            <p:nvGrpSpPr>
              <p:cNvPr id="101" name="Group 41"/>
              <p:cNvGrpSpPr>
                <a:grpSpLocks/>
              </p:cNvGrpSpPr>
              <p:nvPr/>
            </p:nvGrpSpPr>
            <p:grpSpPr bwMode="auto">
              <a:xfrm>
                <a:off x="4322" y="905"/>
                <a:ext cx="871" cy="1238"/>
                <a:chOff x="4176" y="936"/>
                <a:chExt cx="719" cy="1022"/>
              </a:xfrm>
              <a:grpFill/>
            </p:grpSpPr>
            <p:sp>
              <p:nvSpPr>
                <p:cNvPr id="107" name="AutoShape 42"/>
                <p:cNvSpPr>
                  <a:spLocks noChangeArrowheads="1"/>
                </p:cNvSpPr>
                <p:nvPr/>
              </p:nvSpPr>
              <p:spPr bwMode="auto">
                <a:xfrm rot="16200000">
                  <a:off x="4025" y="1087"/>
                  <a:ext cx="1022" cy="719"/>
                </a:xfrm>
                <a:prstGeom prst="parallelogram">
                  <a:avLst>
                    <a:gd name="adj" fmla="val 35535"/>
                  </a:avLst>
                </a:prstGeom>
                <a:grp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ko-KR" altLang="en-US">
                    <a:latin typeface="나눔고딕" panose="020D0604000000000000" pitchFamily="50" charset="-127"/>
                    <a:ea typeface="나눔고딕" panose="020D0604000000000000" pitchFamily="50" charset="-127"/>
                  </a:endParaRPr>
                </a:p>
              </p:txBody>
            </p:sp>
            <p:sp>
              <p:nvSpPr>
                <p:cNvPr id="108" name="Line 43"/>
                <p:cNvSpPr>
                  <a:spLocks noChangeShapeType="1"/>
                </p:cNvSpPr>
                <p:nvPr/>
              </p:nvSpPr>
              <p:spPr bwMode="auto">
                <a:xfrm>
                  <a:off x="4176" y="1001"/>
                  <a:ext cx="718" cy="250"/>
                </a:xfrm>
                <a:prstGeom prst="line">
                  <a:avLst/>
                </a:prstGeom>
                <a:grp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ko-KR" altLang="en-US">
                    <a:latin typeface="나눔고딕" panose="020D0604000000000000" pitchFamily="50" charset="-127"/>
                    <a:ea typeface="나눔고딕" panose="020D0604000000000000" pitchFamily="50" charset="-127"/>
                  </a:endParaRPr>
                </a:p>
              </p:txBody>
            </p:sp>
          </p:grpSp>
          <p:sp>
            <p:nvSpPr>
              <p:cNvPr id="102" name="Line 44"/>
              <p:cNvSpPr>
                <a:spLocks noChangeShapeType="1"/>
              </p:cNvSpPr>
              <p:nvPr/>
            </p:nvSpPr>
            <p:spPr bwMode="auto">
              <a:xfrm>
                <a:off x="5192" y="2143"/>
                <a:ext cx="92" cy="0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103" name="Line 45"/>
              <p:cNvSpPr>
                <a:spLocks noChangeShapeType="1"/>
              </p:cNvSpPr>
              <p:nvPr/>
            </p:nvSpPr>
            <p:spPr bwMode="auto">
              <a:xfrm>
                <a:off x="5192" y="1211"/>
                <a:ext cx="92" cy="0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104" name="Line 46"/>
              <p:cNvSpPr>
                <a:spLocks noChangeShapeType="1"/>
              </p:cNvSpPr>
              <p:nvPr/>
            </p:nvSpPr>
            <p:spPr bwMode="auto">
              <a:xfrm flipV="1">
                <a:off x="5281" y="1208"/>
                <a:ext cx="0" cy="938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105" name="Line 47"/>
              <p:cNvSpPr>
                <a:spLocks noChangeShapeType="1"/>
              </p:cNvSpPr>
              <p:nvPr/>
            </p:nvSpPr>
            <p:spPr bwMode="auto">
              <a:xfrm>
                <a:off x="4320" y="897"/>
                <a:ext cx="92" cy="0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106" name="Line 48"/>
              <p:cNvSpPr>
                <a:spLocks noChangeShapeType="1"/>
              </p:cNvSpPr>
              <p:nvPr/>
            </p:nvSpPr>
            <p:spPr bwMode="auto">
              <a:xfrm>
                <a:off x="4412" y="897"/>
                <a:ext cx="868" cy="309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p:grpSp>
        <p:sp>
          <p:nvSpPr>
            <p:cNvPr id="90" name="Freeform 49"/>
            <p:cNvSpPr>
              <a:spLocks/>
            </p:cNvSpPr>
            <p:nvPr/>
          </p:nvSpPr>
          <p:spPr bwMode="auto">
            <a:xfrm>
              <a:off x="2329" y="3096"/>
              <a:ext cx="380" cy="247"/>
            </a:xfrm>
            <a:custGeom>
              <a:avLst/>
              <a:gdLst>
                <a:gd name="T0" fmla="*/ 0 w 614"/>
                <a:gd name="T1" fmla="*/ 240 h 336"/>
                <a:gd name="T2" fmla="*/ 0 w 614"/>
                <a:gd name="T3" fmla="*/ 336 h 336"/>
                <a:gd name="T4" fmla="*/ 614 w 614"/>
                <a:gd name="T5" fmla="*/ 84 h 336"/>
                <a:gd name="T6" fmla="*/ 614 w 614"/>
                <a:gd name="T7" fmla="*/ 0 h 336"/>
                <a:gd name="T8" fmla="*/ 0 w 614"/>
                <a:gd name="T9" fmla="*/ 240 h 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4" h="336">
                  <a:moveTo>
                    <a:pt x="0" y="240"/>
                  </a:moveTo>
                  <a:lnTo>
                    <a:pt x="0" y="336"/>
                  </a:lnTo>
                  <a:lnTo>
                    <a:pt x="614" y="84"/>
                  </a:lnTo>
                  <a:lnTo>
                    <a:pt x="614" y="0"/>
                  </a:lnTo>
                  <a:lnTo>
                    <a:pt x="0" y="240"/>
                  </a:lnTo>
                  <a:close/>
                </a:path>
              </a:pathLst>
            </a:custGeom>
            <a:grpFill/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sm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91" name="Line 50"/>
            <p:cNvSpPr>
              <a:spLocks noChangeShapeType="1"/>
            </p:cNvSpPr>
            <p:nvPr/>
          </p:nvSpPr>
          <p:spPr bwMode="auto">
            <a:xfrm>
              <a:off x="2452" y="3318"/>
              <a:ext cx="0" cy="388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 type="none" w="sm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92" name="Line 51"/>
            <p:cNvSpPr>
              <a:spLocks noChangeShapeType="1"/>
            </p:cNvSpPr>
            <p:nvPr/>
          </p:nvSpPr>
          <p:spPr bwMode="auto">
            <a:xfrm flipV="1">
              <a:off x="2332" y="3336"/>
              <a:ext cx="93" cy="45"/>
            </a:xfrm>
            <a:prstGeom prst="line">
              <a:avLst/>
            </a:prstGeom>
            <a:grpFill/>
            <a:ln w="19050">
              <a:solidFill>
                <a:schemeClr val="bg2"/>
              </a:solidFill>
              <a:round/>
              <a:headEnd/>
              <a:tailEnd type="none" w="sm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93" name="Line 52"/>
            <p:cNvSpPr>
              <a:spLocks noChangeShapeType="1"/>
            </p:cNvSpPr>
            <p:nvPr/>
          </p:nvSpPr>
          <p:spPr bwMode="auto">
            <a:xfrm flipV="1">
              <a:off x="2332" y="3367"/>
              <a:ext cx="93" cy="45"/>
            </a:xfrm>
            <a:prstGeom prst="line">
              <a:avLst/>
            </a:prstGeom>
            <a:grpFill/>
            <a:ln w="19050">
              <a:solidFill>
                <a:schemeClr val="bg2"/>
              </a:solidFill>
              <a:round/>
              <a:headEnd/>
              <a:tailEnd type="none" w="sm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94" name="Line 53"/>
            <p:cNvSpPr>
              <a:spLocks noChangeShapeType="1"/>
            </p:cNvSpPr>
            <p:nvPr/>
          </p:nvSpPr>
          <p:spPr bwMode="auto">
            <a:xfrm flipV="1">
              <a:off x="2332" y="3400"/>
              <a:ext cx="93" cy="46"/>
            </a:xfrm>
            <a:prstGeom prst="line">
              <a:avLst/>
            </a:prstGeom>
            <a:grpFill/>
            <a:ln w="19050">
              <a:solidFill>
                <a:schemeClr val="bg2"/>
              </a:solidFill>
              <a:round/>
              <a:headEnd/>
              <a:tailEnd type="none" w="sm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95" name="Line 54"/>
            <p:cNvSpPr>
              <a:spLocks noChangeShapeType="1"/>
            </p:cNvSpPr>
            <p:nvPr/>
          </p:nvSpPr>
          <p:spPr bwMode="auto">
            <a:xfrm flipV="1">
              <a:off x="2332" y="3434"/>
              <a:ext cx="93" cy="46"/>
            </a:xfrm>
            <a:prstGeom prst="line">
              <a:avLst/>
            </a:prstGeom>
            <a:grpFill/>
            <a:ln w="19050">
              <a:solidFill>
                <a:schemeClr val="bg2"/>
              </a:solidFill>
              <a:round/>
              <a:headEnd/>
              <a:tailEnd type="none" w="sm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96" name="Line 55"/>
            <p:cNvSpPr>
              <a:spLocks noChangeShapeType="1"/>
            </p:cNvSpPr>
            <p:nvPr/>
          </p:nvSpPr>
          <p:spPr bwMode="auto">
            <a:xfrm flipV="1">
              <a:off x="2332" y="3469"/>
              <a:ext cx="93" cy="46"/>
            </a:xfrm>
            <a:prstGeom prst="line">
              <a:avLst/>
            </a:prstGeom>
            <a:grpFill/>
            <a:ln w="19050">
              <a:solidFill>
                <a:schemeClr val="bg2"/>
              </a:solidFill>
              <a:round/>
              <a:headEnd/>
              <a:tailEnd type="none" w="sm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97" name="Freeform 56"/>
            <p:cNvSpPr>
              <a:spLocks/>
            </p:cNvSpPr>
            <p:nvPr/>
          </p:nvSpPr>
          <p:spPr bwMode="auto">
            <a:xfrm>
              <a:off x="2475" y="3197"/>
              <a:ext cx="232" cy="268"/>
            </a:xfrm>
            <a:custGeom>
              <a:avLst/>
              <a:gdLst>
                <a:gd name="T0" fmla="*/ 379 w 379"/>
                <a:gd name="T1" fmla="*/ 0 h 365"/>
                <a:gd name="T2" fmla="*/ 379 w 379"/>
                <a:gd name="T3" fmla="*/ 195 h 365"/>
                <a:gd name="T4" fmla="*/ 0 w 379"/>
                <a:gd name="T5" fmla="*/ 365 h 365"/>
                <a:gd name="T6" fmla="*/ 0 w 379"/>
                <a:gd name="T7" fmla="*/ 155 h 365"/>
                <a:gd name="T8" fmla="*/ 379 w 379"/>
                <a:gd name="T9" fmla="*/ 0 h 3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9" h="365">
                  <a:moveTo>
                    <a:pt x="379" y="0"/>
                  </a:moveTo>
                  <a:lnTo>
                    <a:pt x="379" y="195"/>
                  </a:lnTo>
                  <a:lnTo>
                    <a:pt x="0" y="365"/>
                  </a:lnTo>
                  <a:lnTo>
                    <a:pt x="0" y="155"/>
                  </a:lnTo>
                  <a:lnTo>
                    <a:pt x="379" y="0"/>
                  </a:lnTo>
                  <a:close/>
                </a:path>
              </a:pathLst>
            </a:custGeom>
            <a:grpFill/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sm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98" name="Freeform 57"/>
            <p:cNvSpPr>
              <a:spLocks/>
            </p:cNvSpPr>
            <p:nvPr/>
          </p:nvSpPr>
          <p:spPr bwMode="auto">
            <a:xfrm>
              <a:off x="2475" y="3380"/>
              <a:ext cx="232" cy="268"/>
            </a:xfrm>
            <a:custGeom>
              <a:avLst/>
              <a:gdLst>
                <a:gd name="T0" fmla="*/ 379 w 379"/>
                <a:gd name="T1" fmla="*/ 0 h 365"/>
                <a:gd name="T2" fmla="*/ 379 w 379"/>
                <a:gd name="T3" fmla="*/ 195 h 365"/>
                <a:gd name="T4" fmla="*/ 0 w 379"/>
                <a:gd name="T5" fmla="*/ 365 h 365"/>
                <a:gd name="T6" fmla="*/ 0 w 379"/>
                <a:gd name="T7" fmla="*/ 155 h 365"/>
                <a:gd name="T8" fmla="*/ 379 w 379"/>
                <a:gd name="T9" fmla="*/ 0 h 3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9" h="365">
                  <a:moveTo>
                    <a:pt x="379" y="0"/>
                  </a:moveTo>
                  <a:lnTo>
                    <a:pt x="379" y="195"/>
                  </a:lnTo>
                  <a:lnTo>
                    <a:pt x="0" y="365"/>
                  </a:lnTo>
                  <a:lnTo>
                    <a:pt x="0" y="155"/>
                  </a:lnTo>
                  <a:lnTo>
                    <a:pt x="379" y="0"/>
                  </a:lnTo>
                  <a:close/>
                </a:path>
              </a:pathLst>
            </a:custGeom>
            <a:grpFill/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sm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grpSp>
        <p:nvGrpSpPr>
          <p:cNvPr id="109" name="Group 17"/>
          <p:cNvGrpSpPr>
            <a:grpSpLocks/>
          </p:cNvGrpSpPr>
          <p:nvPr/>
        </p:nvGrpSpPr>
        <p:grpSpPr bwMode="auto">
          <a:xfrm>
            <a:off x="4027239" y="3259088"/>
            <a:ext cx="533400" cy="1335088"/>
            <a:chOff x="5875" y="720"/>
            <a:chExt cx="313" cy="1146"/>
          </a:xfrm>
        </p:grpSpPr>
        <p:grpSp>
          <p:nvGrpSpPr>
            <p:cNvPr id="110" name="Group 18"/>
            <p:cNvGrpSpPr>
              <a:grpSpLocks/>
            </p:cNvGrpSpPr>
            <p:nvPr/>
          </p:nvGrpSpPr>
          <p:grpSpPr bwMode="auto">
            <a:xfrm>
              <a:off x="5875" y="720"/>
              <a:ext cx="313" cy="1146"/>
              <a:chOff x="3872" y="1622"/>
              <a:chExt cx="98" cy="388"/>
            </a:xfrm>
          </p:grpSpPr>
          <p:sp>
            <p:nvSpPr>
              <p:cNvPr id="112" name="Freeform 19"/>
              <p:cNvSpPr>
                <a:spLocks/>
              </p:cNvSpPr>
              <p:nvPr/>
            </p:nvSpPr>
            <p:spPr bwMode="auto">
              <a:xfrm>
                <a:off x="3901" y="1622"/>
                <a:ext cx="40" cy="57"/>
              </a:xfrm>
              <a:custGeom>
                <a:avLst/>
                <a:gdLst>
                  <a:gd name="T0" fmla="*/ 40 w 40"/>
                  <a:gd name="T1" fmla="*/ 29 h 57"/>
                  <a:gd name="T2" fmla="*/ 39 w 40"/>
                  <a:gd name="T3" fmla="*/ 16 h 57"/>
                  <a:gd name="T4" fmla="*/ 33 w 40"/>
                  <a:gd name="T5" fmla="*/ 5 h 57"/>
                  <a:gd name="T6" fmla="*/ 24 w 40"/>
                  <a:gd name="T7" fmla="*/ 0 h 57"/>
                  <a:gd name="T8" fmla="*/ 16 w 40"/>
                  <a:gd name="T9" fmla="*/ 0 h 57"/>
                  <a:gd name="T10" fmla="*/ 7 w 40"/>
                  <a:gd name="T11" fmla="*/ 5 h 57"/>
                  <a:gd name="T12" fmla="*/ 1 w 40"/>
                  <a:gd name="T13" fmla="*/ 16 h 57"/>
                  <a:gd name="T14" fmla="*/ 0 w 40"/>
                  <a:gd name="T15" fmla="*/ 29 h 57"/>
                  <a:gd name="T16" fmla="*/ 1 w 40"/>
                  <a:gd name="T17" fmla="*/ 41 h 57"/>
                  <a:gd name="T18" fmla="*/ 7 w 40"/>
                  <a:gd name="T19" fmla="*/ 52 h 57"/>
                  <a:gd name="T20" fmla="*/ 16 w 40"/>
                  <a:gd name="T21" fmla="*/ 57 h 57"/>
                  <a:gd name="T22" fmla="*/ 24 w 40"/>
                  <a:gd name="T23" fmla="*/ 57 h 57"/>
                  <a:gd name="T24" fmla="*/ 33 w 40"/>
                  <a:gd name="T25" fmla="*/ 52 h 57"/>
                  <a:gd name="T26" fmla="*/ 39 w 40"/>
                  <a:gd name="T27" fmla="*/ 41 h 57"/>
                  <a:gd name="T28" fmla="*/ 40 w 40"/>
                  <a:gd name="T29" fmla="*/ 29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40" h="57">
                    <a:moveTo>
                      <a:pt x="40" y="29"/>
                    </a:moveTo>
                    <a:lnTo>
                      <a:pt x="39" y="16"/>
                    </a:lnTo>
                    <a:lnTo>
                      <a:pt x="33" y="5"/>
                    </a:lnTo>
                    <a:lnTo>
                      <a:pt x="24" y="0"/>
                    </a:lnTo>
                    <a:lnTo>
                      <a:pt x="16" y="0"/>
                    </a:lnTo>
                    <a:lnTo>
                      <a:pt x="7" y="5"/>
                    </a:lnTo>
                    <a:lnTo>
                      <a:pt x="1" y="16"/>
                    </a:lnTo>
                    <a:lnTo>
                      <a:pt x="0" y="29"/>
                    </a:lnTo>
                    <a:lnTo>
                      <a:pt x="1" y="41"/>
                    </a:lnTo>
                    <a:lnTo>
                      <a:pt x="7" y="52"/>
                    </a:lnTo>
                    <a:lnTo>
                      <a:pt x="16" y="57"/>
                    </a:lnTo>
                    <a:lnTo>
                      <a:pt x="24" y="57"/>
                    </a:lnTo>
                    <a:lnTo>
                      <a:pt x="33" y="52"/>
                    </a:lnTo>
                    <a:lnTo>
                      <a:pt x="39" y="41"/>
                    </a:lnTo>
                    <a:lnTo>
                      <a:pt x="40" y="29"/>
                    </a:lnTo>
                    <a:close/>
                  </a:path>
                </a:pathLst>
              </a:cu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3175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>
                <a:noAutofit/>
              </a:bodyPr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113" name="Freeform 20"/>
              <p:cNvSpPr>
                <a:spLocks/>
              </p:cNvSpPr>
              <p:nvPr/>
            </p:nvSpPr>
            <p:spPr bwMode="auto">
              <a:xfrm>
                <a:off x="3872" y="1690"/>
                <a:ext cx="98" cy="320"/>
              </a:xfrm>
              <a:custGeom>
                <a:avLst/>
                <a:gdLst>
                  <a:gd name="T0" fmla="*/ 68 w 98"/>
                  <a:gd name="T1" fmla="*/ 0 h 320"/>
                  <a:gd name="T2" fmla="*/ 75 w 98"/>
                  <a:gd name="T3" fmla="*/ 0 h 320"/>
                  <a:gd name="T4" fmla="*/ 84 w 98"/>
                  <a:gd name="T5" fmla="*/ 2 h 320"/>
                  <a:gd name="T6" fmla="*/ 96 w 98"/>
                  <a:gd name="T7" fmla="*/ 25 h 320"/>
                  <a:gd name="T8" fmla="*/ 98 w 98"/>
                  <a:gd name="T9" fmla="*/ 48 h 320"/>
                  <a:gd name="T10" fmla="*/ 98 w 98"/>
                  <a:gd name="T11" fmla="*/ 143 h 320"/>
                  <a:gd name="T12" fmla="*/ 89 w 98"/>
                  <a:gd name="T13" fmla="*/ 155 h 320"/>
                  <a:gd name="T14" fmla="*/ 82 w 98"/>
                  <a:gd name="T15" fmla="*/ 148 h 320"/>
                  <a:gd name="T16" fmla="*/ 80 w 98"/>
                  <a:gd name="T17" fmla="*/ 139 h 320"/>
                  <a:gd name="T18" fmla="*/ 75 w 98"/>
                  <a:gd name="T19" fmla="*/ 53 h 320"/>
                  <a:gd name="T20" fmla="*/ 75 w 98"/>
                  <a:gd name="T21" fmla="*/ 298 h 320"/>
                  <a:gd name="T22" fmla="*/ 75 w 98"/>
                  <a:gd name="T23" fmla="*/ 305 h 320"/>
                  <a:gd name="T24" fmla="*/ 69 w 98"/>
                  <a:gd name="T25" fmla="*/ 318 h 320"/>
                  <a:gd name="T26" fmla="*/ 59 w 98"/>
                  <a:gd name="T27" fmla="*/ 318 h 320"/>
                  <a:gd name="T28" fmla="*/ 53 w 98"/>
                  <a:gd name="T29" fmla="*/ 298 h 320"/>
                  <a:gd name="T30" fmla="*/ 53 w 98"/>
                  <a:gd name="T31" fmla="*/ 155 h 320"/>
                  <a:gd name="T32" fmla="*/ 50 w 98"/>
                  <a:gd name="T33" fmla="*/ 153 h 320"/>
                  <a:gd name="T34" fmla="*/ 45 w 98"/>
                  <a:gd name="T35" fmla="*/ 295 h 320"/>
                  <a:gd name="T36" fmla="*/ 45 w 98"/>
                  <a:gd name="T37" fmla="*/ 303 h 320"/>
                  <a:gd name="T38" fmla="*/ 43 w 98"/>
                  <a:gd name="T39" fmla="*/ 314 h 320"/>
                  <a:gd name="T40" fmla="*/ 34 w 98"/>
                  <a:gd name="T41" fmla="*/ 320 h 320"/>
                  <a:gd name="T42" fmla="*/ 25 w 98"/>
                  <a:gd name="T43" fmla="*/ 312 h 320"/>
                  <a:gd name="T44" fmla="*/ 23 w 98"/>
                  <a:gd name="T45" fmla="*/ 302 h 320"/>
                  <a:gd name="T46" fmla="*/ 23 w 98"/>
                  <a:gd name="T47" fmla="*/ 295 h 320"/>
                  <a:gd name="T48" fmla="*/ 18 w 98"/>
                  <a:gd name="T49" fmla="*/ 53 h 320"/>
                  <a:gd name="T50" fmla="*/ 18 w 98"/>
                  <a:gd name="T51" fmla="*/ 143 h 320"/>
                  <a:gd name="T52" fmla="*/ 18 w 98"/>
                  <a:gd name="T53" fmla="*/ 148 h 320"/>
                  <a:gd name="T54" fmla="*/ 13 w 98"/>
                  <a:gd name="T55" fmla="*/ 153 h 320"/>
                  <a:gd name="T56" fmla="*/ 2 w 98"/>
                  <a:gd name="T57" fmla="*/ 150 h 320"/>
                  <a:gd name="T58" fmla="*/ 0 w 98"/>
                  <a:gd name="T59" fmla="*/ 139 h 320"/>
                  <a:gd name="T60" fmla="*/ 0 w 98"/>
                  <a:gd name="T61" fmla="*/ 44 h 320"/>
                  <a:gd name="T62" fmla="*/ 7 w 98"/>
                  <a:gd name="T63" fmla="*/ 11 h 320"/>
                  <a:gd name="T64" fmla="*/ 20 w 98"/>
                  <a:gd name="T65" fmla="*/ 0 h 320"/>
                  <a:gd name="T66" fmla="*/ 25 w 98"/>
                  <a:gd name="T67" fmla="*/ 0 h 320"/>
                  <a:gd name="T68" fmla="*/ 52 w 98"/>
                  <a:gd name="T69" fmla="*/ 0 h 3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98" h="320">
                    <a:moveTo>
                      <a:pt x="46" y="0"/>
                    </a:moveTo>
                    <a:lnTo>
                      <a:pt x="68" y="0"/>
                    </a:lnTo>
                    <a:lnTo>
                      <a:pt x="73" y="0"/>
                    </a:lnTo>
                    <a:lnTo>
                      <a:pt x="75" y="0"/>
                    </a:lnTo>
                    <a:lnTo>
                      <a:pt x="78" y="0"/>
                    </a:lnTo>
                    <a:lnTo>
                      <a:pt x="84" y="2"/>
                    </a:lnTo>
                    <a:lnTo>
                      <a:pt x="91" y="11"/>
                    </a:lnTo>
                    <a:lnTo>
                      <a:pt x="96" y="25"/>
                    </a:lnTo>
                    <a:lnTo>
                      <a:pt x="98" y="44"/>
                    </a:lnTo>
                    <a:lnTo>
                      <a:pt x="98" y="48"/>
                    </a:lnTo>
                    <a:lnTo>
                      <a:pt x="98" y="139"/>
                    </a:lnTo>
                    <a:lnTo>
                      <a:pt x="98" y="143"/>
                    </a:lnTo>
                    <a:lnTo>
                      <a:pt x="96" y="150"/>
                    </a:lnTo>
                    <a:lnTo>
                      <a:pt x="89" y="155"/>
                    </a:lnTo>
                    <a:lnTo>
                      <a:pt x="84" y="153"/>
                    </a:lnTo>
                    <a:lnTo>
                      <a:pt x="82" y="148"/>
                    </a:lnTo>
                    <a:lnTo>
                      <a:pt x="80" y="143"/>
                    </a:lnTo>
                    <a:lnTo>
                      <a:pt x="80" y="139"/>
                    </a:lnTo>
                    <a:lnTo>
                      <a:pt x="80" y="53"/>
                    </a:lnTo>
                    <a:lnTo>
                      <a:pt x="75" y="53"/>
                    </a:lnTo>
                    <a:lnTo>
                      <a:pt x="75" y="295"/>
                    </a:lnTo>
                    <a:lnTo>
                      <a:pt x="75" y="298"/>
                    </a:lnTo>
                    <a:lnTo>
                      <a:pt x="75" y="300"/>
                    </a:lnTo>
                    <a:lnTo>
                      <a:pt x="75" y="305"/>
                    </a:lnTo>
                    <a:lnTo>
                      <a:pt x="73" y="312"/>
                    </a:lnTo>
                    <a:lnTo>
                      <a:pt x="69" y="318"/>
                    </a:lnTo>
                    <a:lnTo>
                      <a:pt x="64" y="320"/>
                    </a:lnTo>
                    <a:lnTo>
                      <a:pt x="59" y="318"/>
                    </a:lnTo>
                    <a:lnTo>
                      <a:pt x="55" y="316"/>
                    </a:lnTo>
                    <a:lnTo>
                      <a:pt x="53" y="298"/>
                    </a:lnTo>
                    <a:lnTo>
                      <a:pt x="53" y="295"/>
                    </a:lnTo>
                    <a:lnTo>
                      <a:pt x="53" y="155"/>
                    </a:lnTo>
                    <a:lnTo>
                      <a:pt x="48" y="153"/>
                    </a:lnTo>
                    <a:lnTo>
                      <a:pt x="50" y="153"/>
                    </a:lnTo>
                    <a:lnTo>
                      <a:pt x="45" y="155"/>
                    </a:lnTo>
                    <a:lnTo>
                      <a:pt x="45" y="295"/>
                    </a:lnTo>
                    <a:lnTo>
                      <a:pt x="45" y="298"/>
                    </a:lnTo>
                    <a:lnTo>
                      <a:pt x="45" y="303"/>
                    </a:lnTo>
                    <a:lnTo>
                      <a:pt x="45" y="307"/>
                    </a:lnTo>
                    <a:lnTo>
                      <a:pt x="43" y="314"/>
                    </a:lnTo>
                    <a:lnTo>
                      <a:pt x="39" y="318"/>
                    </a:lnTo>
                    <a:lnTo>
                      <a:pt x="34" y="320"/>
                    </a:lnTo>
                    <a:lnTo>
                      <a:pt x="29" y="318"/>
                    </a:lnTo>
                    <a:lnTo>
                      <a:pt x="25" y="312"/>
                    </a:lnTo>
                    <a:lnTo>
                      <a:pt x="23" y="305"/>
                    </a:lnTo>
                    <a:lnTo>
                      <a:pt x="23" y="302"/>
                    </a:lnTo>
                    <a:lnTo>
                      <a:pt x="23" y="298"/>
                    </a:lnTo>
                    <a:lnTo>
                      <a:pt x="23" y="295"/>
                    </a:lnTo>
                    <a:lnTo>
                      <a:pt x="23" y="53"/>
                    </a:lnTo>
                    <a:lnTo>
                      <a:pt x="18" y="53"/>
                    </a:lnTo>
                    <a:lnTo>
                      <a:pt x="18" y="139"/>
                    </a:lnTo>
                    <a:lnTo>
                      <a:pt x="18" y="143"/>
                    </a:lnTo>
                    <a:lnTo>
                      <a:pt x="18" y="144"/>
                    </a:lnTo>
                    <a:lnTo>
                      <a:pt x="18" y="148"/>
                    </a:lnTo>
                    <a:lnTo>
                      <a:pt x="14" y="152"/>
                    </a:lnTo>
                    <a:lnTo>
                      <a:pt x="13" y="153"/>
                    </a:lnTo>
                    <a:lnTo>
                      <a:pt x="9" y="155"/>
                    </a:lnTo>
                    <a:lnTo>
                      <a:pt x="2" y="150"/>
                    </a:lnTo>
                    <a:lnTo>
                      <a:pt x="0" y="143"/>
                    </a:lnTo>
                    <a:lnTo>
                      <a:pt x="0" y="139"/>
                    </a:lnTo>
                    <a:lnTo>
                      <a:pt x="0" y="48"/>
                    </a:lnTo>
                    <a:lnTo>
                      <a:pt x="0" y="44"/>
                    </a:lnTo>
                    <a:lnTo>
                      <a:pt x="2" y="27"/>
                    </a:lnTo>
                    <a:lnTo>
                      <a:pt x="7" y="11"/>
                    </a:lnTo>
                    <a:lnTo>
                      <a:pt x="14" y="3"/>
                    </a:lnTo>
                    <a:lnTo>
                      <a:pt x="20" y="0"/>
                    </a:lnTo>
                    <a:lnTo>
                      <a:pt x="21" y="0"/>
                    </a:lnTo>
                    <a:lnTo>
                      <a:pt x="25" y="0"/>
                    </a:lnTo>
                    <a:lnTo>
                      <a:pt x="29" y="0"/>
                    </a:lnTo>
                    <a:lnTo>
                      <a:pt x="52" y="0"/>
                    </a:lnTo>
                    <a:lnTo>
                      <a:pt x="46" y="0"/>
                    </a:lnTo>
                    <a:close/>
                  </a:path>
                </a:pathLst>
              </a:cu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3175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>
                <a:noAutofit/>
              </a:bodyPr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p:grpSp>
        <p:sp>
          <p:nvSpPr>
            <p:cNvPr id="111" name="Oval 21"/>
            <p:cNvSpPr>
              <a:spLocks noChangeArrowheads="1"/>
            </p:cNvSpPr>
            <p:nvPr/>
          </p:nvSpPr>
          <p:spPr bwMode="auto">
            <a:xfrm>
              <a:off x="5875" y="960"/>
              <a:ext cx="127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noAutofit/>
            </a:bodyPr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391849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44017" y="91339"/>
            <a:ext cx="7401271" cy="385333"/>
          </a:xfrm>
          <a:prstGeom prst="rect">
            <a:avLst/>
          </a:prstGeom>
          <a:noFill/>
        </p:spPr>
        <p:txBody>
          <a:bodyPr wrap="square" lIns="0" tIns="53643" rIns="0" bIns="53643" rtlCol="0">
            <a:spAutoFit/>
          </a:bodyPr>
          <a:lstStyle/>
          <a:p>
            <a:r>
              <a:rPr kumimoji="1" lang="en-US" altLang="ko-KR" b="1" kern="0" dirty="0">
                <a:latin typeface="나눔고딕" panose="020D0604000000000000" pitchFamily="50" charset="-127"/>
                <a:ea typeface="나눔고딕" panose="020D0604000000000000" pitchFamily="50" charset="-127"/>
                <a:cs typeface="산돌고딕 M"/>
              </a:rPr>
              <a:t>User Interface Design</a:t>
            </a:r>
            <a:endParaRPr kumimoji="1" lang="ko-KR" altLang="en-US" b="1" kern="0" dirty="0">
              <a:latin typeface="나눔고딕" panose="020D0604000000000000" pitchFamily="50" charset="-127"/>
              <a:ea typeface="나눔고딕" panose="020D0604000000000000" pitchFamily="50" charset="-127"/>
              <a:cs typeface="산돌고딕 M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44017" y="683985"/>
            <a:ext cx="96335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U.I / U.X Design Case</a:t>
            </a:r>
          </a:p>
        </p:txBody>
      </p:sp>
      <p:sp>
        <p:nvSpPr>
          <p:cNvPr id="34" name="직사각형 33"/>
          <p:cNvSpPr/>
          <p:nvPr/>
        </p:nvSpPr>
        <p:spPr>
          <a:xfrm>
            <a:off x="632520" y="1412776"/>
            <a:ext cx="5832648" cy="36004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r>
              <a:rPr lang="en-US" altLang="ko-KR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Step 1. Use case modeling</a:t>
            </a:r>
          </a:p>
        </p:txBody>
      </p:sp>
      <p:sp>
        <p:nvSpPr>
          <p:cNvPr id="84" name="Line 39"/>
          <p:cNvSpPr>
            <a:spLocks noChangeShapeType="1"/>
          </p:cNvSpPr>
          <p:nvPr/>
        </p:nvSpPr>
        <p:spPr bwMode="auto">
          <a:xfrm>
            <a:off x="1177925" y="6165304"/>
            <a:ext cx="3775075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5" name="Text Box 40"/>
          <p:cNvSpPr txBox="1">
            <a:spLocks noChangeArrowheads="1"/>
          </p:cNvSpPr>
          <p:nvPr/>
        </p:nvSpPr>
        <p:spPr bwMode="auto">
          <a:xfrm>
            <a:off x="1100138" y="6216650"/>
            <a:ext cx="774129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</a:pPr>
            <a:r>
              <a:rPr kumimoji="1" lang="ko-KR" altLang="en-US" sz="1000">
                <a:latin typeface="나눔고딕" panose="020D0604000000000000" pitchFamily="50" charset="-127"/>
                <a:ea typeface="나눔고딕" panose="020D0604000000000000" pitchFamily="50" charset="-127"/>
              </a:rPr>
              <a:t>고객이 서비스서비스 </a:t>
            </a:r>
            <a:r>
              <a:rPr kumimoji="1"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상품 검색 및 가입을 위해 사이트에서 하게 되는 행동을 </a:t>
            </a:r>
            <a:r>
              <a:rPr kumimoji="1"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Brain storming, </a:t>
            </a:r>
            <a:r>
              <a:rPr kumimoji="1"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도메인 분석 등의 테크닉을 통해 무작위로 뽑아내며</a:t>
            </a:r>
            <a:r>
              <a:rPr kumimoji="1"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kumimoji="1"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시간차순 정렬은 하지 않고 관계를 중심으로 정리합니다</a:t>
            </a:r>
            <a:r>
              <a:rPr kumimoji="1"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88504" y="991762"/>
            <a:ext cx="8928992" cy="307777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Use case modeling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을 통해 고객의 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Purpose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에 따라 사이트에서 하게 되는 행동을 알아내도록 합니다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5" name="Line 3"/>
          <p:cNvSpPr>
            <a:spLocks noChangeShapeType="1"/>
          </p:cNvSpPr>
          <p:nvPr/>
        </p:nvSpPr>
        <p:spPr bwMode="auto">
          <a:xfrm flipH="1">
            <a:off x="4636839" y="2649488"/>
            <a:ext cx="990600" cy="83820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 type="none" w="med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noAutofit/>
          </a:bodyPr>
          <a:lstStyle/>
          <a:p>
            <a:pPr algn="ctr"/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6" name="Line 4"/>
          <p:cNvSpPr>
            <a:spLocks noChangeShapeType="1"/>
          </p:cNvSpPr>
          <p:nvPr/>
        </p:nvSpPr>
        <p:spPr bwMode="auto">
          <a:xfrm flipH="1">
            <a:off x="4636839" y="3411488"/>
            <a:ext cx="990600" cy="30480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 type="none" w="med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noAutofit/>
          </a:bodyPr>
          <a:lstStyle/>
          <a:p>
            <a:pPr algn="ctr"/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7" name="Line 5"/>
          <p:cNvSpPr>
            <a:spLocks noChangeShapeType="1"/>
          </p:cNvSpPr>
          <p:nvPr/>
        </p:nvSpPr>
        <p:spPr bwMode="auto">
          <a:xfrm flipH="1" flipV="1">
            <a:off x="4636839" y="3868688"/>
            <a:ext cx="914400" cy="45720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 type="none" w="med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noAutofit/>
          </a:bodyPr>
          <a:lstStyle/>
          <a:p>
            <a:pPr algn="ctr"/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8" name="Line 6"/>
          <p:cNvSpPr>
            <a:spLocks noChangeShapeType="1"/>
          </p:cNvSpPr>
          <p:nvPr/>
        </p:nvSpPr>
        <p:spPr bwMode="auto">
          <a:xfrm flipH="1" flipV="1">
            <a:off x="6846639" y="4402088"/>
            <a:ext cx="762000" cy="53340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 type="none" w="med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noAutofit/>
          </a:bodyPr>
          <a:lstStyle/>
          <a:p>
            <a:pPr algn="ctr"/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9" name="Line 7"/>
          <p:cNvSpPr>
            <a:spLocks noChangeShapeType="1"/>
          </p:cNvSpPr>
          <p:nvPr/>
        </p:nvSpPr>
        <p:spPr bwMode="auto">
          <a:xfrm flipH="1">
            <a:off x="6999039" y="4173488"/>
            <a:ext cx="533400" cy="15240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 type="none" w="med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noAutofit/>
          </a:bodyPr>
          <a:lstStyle/>
          <a:p>
            <a:pPr algn="ctr"/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0" name="Line 8"/>
          <p:cNvSpPr>
            <a:spLocks noChangeShapeType="1"/>
          </p:cNvSpPr>
          <p:nvPr/>
        </p:nvSpPr>
        <p:spPr bwMode="auto">
          <a:xfrm>
            <a:off x="3265239" y="3030488"/>
            <a:ext cx="685800" cy="53340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 type="none" w="med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noAutofit/>
          </a:bodyPr>
          <a:lstStyle/>
          <a:p>
            <a:pPr algn="ctr"/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1" name="Line 9"/>
          <p:cNvSpPr>
            <a:spLocks noChangeShapeType="1"/>
          </p:cNvSpPr>
          <p:nvPr/>
        </p:nvSpPr>
        <p:spPr bwMode="auto">
          <a:xfrm flipV="1">
            <a:off x="3341439" y="3762326"/>
            <a:ext cx="673100" cy="639763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 type="none" w="med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noAutofit/>
          </a:bodyPr>
          <a:lstStyle/>
          <a:p>
            <a:pPr algn="ctr"/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2" name="Line 10"/>
          <p:cNvSpPr>
            <a:spLocks noChangeShapeType="1"/>
          </p:cNvSpPr>
          <p:nvPr/>
        </p:nvSpPr>
        <p:spPr bwMode="auto">
          <a:xfrm flipH="1" flipV="1">
            <a:off x="1741239" y="3944888"/>
            <a:ext cx="304800" cy="411163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 type="none" w="med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noAutofit/>
          </a:bodyPr>
          <a:lstStyle/>
          <a:p>
            <a:pPr algn="ctr"/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3" name="Line 11"/>
          <p:cNvSpPr>
            <a:spLocks noChangeShapeType="1"/>
          </p:cNvSpPr>
          <p:nvPr/>
        </p:nvSpPr>
        <p:spPr bwMode="auto">
          <a:xfrm flipH="1">
            <a:off x="1817439" y="4630688"/>
            <a:ext cx="228600" cy="30480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 type="none" w="med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noAutofit/>
          </a:bodyPr>
          <a:lstStyle/>
          <a:p>
            <a:pPr algn="ctr"/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4" name="Rectangle 14"/>
          <p:cNvSpPr>
            <a:spLocks noChangeArrowheads="1"/>
          </p:cNvSpPr>
          <p:nvPr/>
        </p:nvSpPr>
        <p:spPr bwMode="auto">
          <a:xfrm>
            <a:off x="3646239" y="4706888"/>
            <a:ext cx="1511952" cy="4247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noAutofit/>
          </a:bodyPr>
          <a:lstStyle/>
          <a:p>
            <a:pPr>
              <a:lnSpc>
                <a:spcPct val="120000"/>
              </a:lnSpc>
            </a:pPr>
            <a:r>
              <a:rPr kumimoji="1" lang="en-US" altLang="ko-KR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Actor’s purpose : </a:t>
            </a:r>
          </a:p>
          <a:p>
            <a:pPr>
              <a:lnSpc>
                <a:spcPct val="120000"/>
              </a:lnSpc>
            </a:pPr>
            <a:r>
              <a:rPr kumimoji="1" lang="ko-KR" altLang="en-US" sz="900" b="1">
                <a:latin typeface="나눔고딕" panose="020D0604000000000000" pitchFamily="50" charset="-127"/>
                <a:ea typeface="나눔고딕" panose="020D0604000000000000" pitchFamily="50" charset="-127"/>
              </a:rPr>
              <a:t>서비스서비스 </a:t>
            </a:r>
            <a:r>
              <a:rPr kumimoji="1" lang="ko-KR" altLang="en-US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상품 검색 및 가입</a:t>
            </a:r>
          </a:p>
        </p:txBody>
      </p:sp>
      <p:grpSp>
        <p:nvGrpSpPr>
          <p:cNvPr id="105" name="Group 17"/>
          <p:cNvGrpSpPr>
            <a:grpSpLocks/>
          </p:cNvGrpSpPr>
          <p:nvPr/>
        </p:nvGrpSpPr>
        <p:grpSpPr bwMode="auto">
          <a:xfrm>
            <a:off x="4027239" y="3259088"/>
            <a:ext cx="533400" cy="1335088"/>
            <a:chOff x="5875" y="720"/>
            <a:chExt cx="313" cy="1146"/>
          </a:xfrm>
        </p:grpSpPr>
        <p:grpSp>
          <p:nvGrpSpPr>
            <p:cNvPr id="106" name="Group 18"/>
            <p:cNvGrpSpPr>
              <a:grpSpLocks/>
            </p:cNvGrpSpPr>
            <p:nvPr/>
          </p:nvGrpSpPr>
          <p:grpSpPr bwMode="auto">
            <a:xfrm>
              <a:off x="5875" y="720"/>
              <a:ext cx="313" cy="1146"/>
              <a:chOff x="3872" y="1622"/>
              <a:chExt cx="98" cy="388"/>
            </a:xfrm>
          </p:grpSpPr>
          <p:sp>
            <p:nvSpPr>
              <p:cNvPr id="108" name="Freeform 19"/>
              <p:cNvSpPr>
                <a:spLocks/>
              </p:cNvSpPr>
              <p:nvPr/>
            </p:nvSpPr>
            <p:spPr bwMode="auto">
              <a:xfrm>
                <a:off x="3901" y="1622"/>
                <a:ext cx="40" cy="57"/>
              </a:xfrm>
              <a:custGeom>
                <a:avLst/>
                <a:gdLst>
                  <a:gd name="T0" fmla="*/ 40 w 40"/>
                  <a:gd name="T1" fmla="*/ 29 h 57"/>
                  <a:gd name="T2" fmla="*/ 39 w 40"/>
                  <a:gd name="T3" fmla="*/ 16 h 57"/>
                  <a:gd name="T4" fmla="*/ 33 w 40"/>
                  <a:gd name="T5" fmla="*/ 5 h 57"/>
                  <a:gd name="T6" fmla="*/ 24 w 40"/>
                  <a:gd name="T7" fmla="*/ 0 h 57"/>
                  <a:gd name="T8" fmla="*/ 16 w 40"/>
                  <a:gd name="T9" fmla="*/ 0 h 57"/>
                  <a:gd name="T10" fmla="*/ 7 w 40"/>
                  <a:gd name="T11" fmla="*/ 5 h 57"/>
                  <a:gd name="T12" fmla="*/ 1 w 40"/>
                  <a:gd name="T13" fmla="*/ 16 h 57"/>
                  <a:gd name="T14" fmla="*/ 0 w 40"/>
                  <a:gd name="T15" fmla="*/ 29 h 57"/>
                  <a:gd name="T16" fmla="*/ 1 w 40"/>
                  <a:gd name="T17" fmla="*/ 41 h 57"/>
                  <a:gd name="T18" fmla="*/ 7 w 40"/>
                  <a:gd name="T19" fmla="*/ 52 h 57"/>
                  <a:gd name="T20" fmla="*/ 16 w 40"/>
                  <a:gd name="T21" fmla="*/ 57 h 57"/>
                  <a:gd name="T22" fmla="*/ 24 w 40"/>
                  <a:gd name="T23" fmla="*/ 57 h 57"/>
                  <a:gd name="T24" fmla="*/ 33 w 40"/>
                  <a:gd name="T25" fmla="*/ 52 h 57"/>
                  <a:gd name="T26" fmla="*/ 39 w 40"/>
                  <a:gd name="T27" fmla="*/ 41 h 57"/>
                  <a:gd name="T28" fmla="*/ 40 w 40"/>
                  <a:gd name="T29" fmla="*/ 29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40" h="57">
                    <a:moveTo>
                      <a:pt x="40" y="29"/>
                    </a:moveTo>
                    <a:lnTo>
                      <a:pt x="39" y="16"/>
                    </a:lnTo>
                    <a:lnTo>
                      <a:pt x="33" y="5"/>
                    </a:lnTo>
                    <a:lnTo>
                      <a:pt x="24" y="0"/>
                    </a:lnTo>
                    <a:lnTo>
                      <a:pt x="16" y="0"/>
                    </a:lnTo>
                    <a:lnTo>
                      <a:pt x="7" y="5"/>
                    </a:lnTo>
                    <a:lnTo>
                      <a:pt x="1" y="16"/>
                    </a:lnTo>
                    <a:lnTo>
                      <a:pt x="0" y="29"/>
                    </a:lnTo>
                    <a:lnTo>
                      <a:pt x="1" y="41"/>
                    </a:lnTo>
                    <a:lnTo>
                      <a:pt x="7" y="52"/>
                    </a:lnTo>
                    <a:lnTo>
                      <a:pt x="16" y="57"/>
                    </a:lnTo>
                    <a:lnTo>
                      <a:pt x="24" y="57"/>
                    </a:lnTo>
                    <a:lnTo>
                      <a:pt x="33" y="52"/>
                    </a:lnTo>
                    <a:lnTo>
                      <a:pt x="39" y="41"/>
                    </a:lnTo>
                    <a:lnTo>
                      <a:pt x="40" y="29"/>
                    </a:lnTo>
                    <a:close/>
                  </a:path>
                </a:pathLst>
              </a:cu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3175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>
                <a:noAutofit/>
              </a:bodyPr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109" name="Freeform 20"/>
              <p:cNvSpPr>
                <a:spLocks/>
              </p:cNvSpPr>
              <p:nvPr/>
            </p:nvSpPr>
            <p:spPr bwMode="auto">
              <a:xfrm>
                <a:off x="3872" y="1690"/>
                <a:ext cx="98" cy="320"/>
              </a:xfrm>
              <a:custGeom>
                <a:avLst/>
                <a:gdLst>
                  <a:gd name="T0" fmla="*/ 68 w 98"/>
                  <a:gd name="T1" fmla="*/ 0 h 320"/>
                  <a:gd name="T2" fmla="*/ 75 w 98"/>
                  <a:gd name="T3" fmla="*/ 0 h 320"/>
                  <a:gd name="T4" fmla="*/ 84 w 98"/>
                  <a:gd name="T5" fmla="*/ 2 h 320"/>
                  <a:gd name="T6" fmla="*/ 96 w 98"/>
                  <a:gd name="T7" fmla="*/ 25 h 320"/>
                  <a:gd name="T8" fmla="*/ 98 w 98"/>
                  <a:gd name="T9" fmla="*/ 48 h 320"/>
                  <a:gd name="T10" fmla="*/ 98 w 98"/>
                  <a:gd name="T11" fmla="*/ 143 h 320"/>
                  <a:gd name="T12" fmla="*/ 89 w 98"/>
                  <a:gd name="T13" fmla="*/ 155 h 320"/>
                  <a:gd name="T14" fmla="*/ 82 w 98"/>
                  <a:gd name="T15" fmla="*/ 148 h 320"/>
                  <a:gd name="T16" fmla="*/ 80 w 98"/>
                  <a:gd name="T17" fmla="*/ 139 h 320"/>
                  <a:gd name="T18" fmla="*/ 75 w 98"/>
                  <a:gd name="T19" fmla="*/ 53 h 320"/>
                  <a:gd name="T20" fmla="*/ 75 w 98"/>
                  <a:gd name="T21" fmla="*/ 298 h 320"/>
                  <a:gd name="T22" fmla="*/ 75 w 98"/>
                  <a:gd name="T23" fmla="*/ 305 h 320"/>
                  <a:gd name="T24" fmla="*/ 69 w 98"/>
                  <a:gd name="T25" fmla="*/ 318 h 320"/>
                  <a:gd name="T26" fmla="*/ 59 w 98"/>
                  <a:gd name="T27" fmla="*/ 318 h 320"/>
                  <a:gd name="T28" fmla="*/ 53 w 98"/>
                  <a:gd name="T29" fmla="*/ 298 h 320"/>
                  <a:gd name="T30" fmla="*/ 53 w 98"/>
                  <a:gd name="T31" fmla="*/ 155 h 320"/>
                  <a:gd name="T32" fmla="*/ 50 w 98"/>
                  <a:gd name="T33" fmla="*/ 153 h 320"/>
                  <a:gd name="T34" fmla="*/ 45 w 98"/>
                  <a:gd name="T35" fmla="*/ 295 h 320"/>
                  <a:gd name="T36" fmla="*/ 45 w 98"/>
                  <a:gd name="T37" fmla="*/ 303 h 320"/>
                  <a:gd name="T38" fmla="*/ 43 w 98"/>
                  <a:gd name="T39" fmla="*/ 314 h 320"/>
                  <a:gd name="T40" fmla="*/ 34 w 98"/>
                  <a:gd name="T41" fmla="*/ 320 h 320"/>
                  <a:gd name="T42" fmla="*/ 25 w 98"/>
                  <a:gd name="T43" fmla="*/ 312 h 320"/>
                  <a:gd name="T44" fmla="*/ 23 w 98"/>
                  <a:gd name="T45" fmla="*/ 302 h 320"/>
                  <a:gd name="T46" fmla="*/ 23 w 98"/>
                  <a:gd name="T47" fmla="*/ 295 h 320"/>
                  <a:gd name="T48" fmla="*/ 18 w 98"/>
                  <a:gd name="T49" fmla="*/ 53 h 320"/>
                  <a:gd name="T50" fmla="*/ 18 w 98"/>
                  <a:gd name="T51" fmla="*/ 143 h 320"/>
                  <a:gd name="T52" fmla="*/ 18 w 98"/>
                  <a:gd name="T53" fmla="*/ 148 h 320"/>
                  <a:gd name="T54" fmla="*/ 13 w 98"/>
                  <a:gd name="T55" fmla="*/ 153 h 320"/>
                  <a:gd name="T56" fmla="*/ 2 w 98"/>
                  <a:gd name="T57" fmla="*/ 150 h 320"/>
                  <a:gd name="T58" fmla="*/ 0 w 98"/>
                  <a:gd name="T59" fmla="*/ 139 h 320"/>
                  <a:gd name="T60" fmla="*/ 0 w 98"/>
                  <a:gd name="T61" fmla="*/ 44 h 320"/>
                  <a:gd name="T62" fmla="*/ 7 w 98"/>
                  <a:gd name="T63" fmla="*/ 11 h 320"/>
                  <a:gd name="T64" fmla="*/ 20 w 98"/>
                  <a:gd name="T65" fmla="*/ 0 h 320"/>
                  <a:gd name="T66" fmla="*/ 25 w 98"/>
                  <a:gd name="T67" fmla="*/ 0 h 320"/>
                  <a:gd name="T68" fmla="*/ 52 w 98"/>
                  <a:gd name="T69" fmla="*/ 0 h 3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98" h="320">
                    <a:moveTo>
                      <a:pt x="46" y="0"/>
                    </a:moveTo>
                    <a:lnTo>
                      <a:pt x="68" y="0"/>
                    </a:lnTo>
                    <a:lnTo>
                      <a:pt x="73" y="0"/>
                    </a:lnTo>
                    <a:lnTo>
                      <a:pt x="75" y="0"/>
                    </a:lnTo>
                    <a:lnTo>
                      <a:pt x="78" y="0"/>
                    </a:lnTo>
                    <a:lnTo>
                      <a:pt x="84" y="2"/>
                    </a:lnTo>
                    <a:lnTo>
                      <a:pt x="91" y="11"/>
                    </a:lnTo>
                    <a:lnTo>
                      <a:pt x="96" y="25"/>
                    </a:lnTo>
                    <a:lnTo>
                      <a:pt x="98" y="44"/>
                    </a:lnTo>
                    <a:lnTo>
                      <a:pt x="98" y="48"/>
                    </a:lnTo>
                    <a:lnTo>
                      <a:pt x="98" y="139"/>
                    </a:lnTo>
                    <a:lnTo>
                      <a:pt x="98" y="143"/>
                    </a:lnTo>
                    <a:lnTo>
                      <a:pt x="96" y="150"/>
                    </a:lnTo>
                    <a:lnTo>
                      <a:pt x="89" y="155"/>
                    </a:lnTo>
                    <a:lnTo>
                      <a:pt x="84" y="153"/>
                    </a:lnTo>
                    <a:lnTo>
                      <a:pt x="82" y="148"/>
                    </a:lnTo>
                    <a:lnTo>
                      <a:pt x="80" y="143"/>
                    </a:lnTo>
                    <a:lnTo>
                      <a:pt x="80" y="139"/>
                    </a:lnTo>
                    <a:lnTo>
                      <a:pt x="80" y="53"/>
                    </a:lnTo>
                    <a:lnTo>
                      <a:pt x="75" y="53"/>
                    </a:lnTo>
                    <a:lnTo>
                      <a:pt x="75" y="295"/>
                    </a:lnTo>
                    <a:lnTo>
                      <a:pt x="75" y="298"/>
                    </a:lnTo>
                    <a:lnTo>
                      <a:pt x="75" y="300"/>
                    </a:lnTo>
                    <a:lnTo>
                      <a:pt x="75" y="305"/>
                    </a:lnTo>
                    <a:lnTo>
                      <a:pt x="73" y="312"/>
                    </a:lnTo>
                    <a:lnTo>
                      <a:pt x="69" y="318"/>
                    </a:lnTo>
                    <a:lnTo>
                      <a:pt x="64" y="320"/>
                    </a:lnTo>
                    <a:lnTo>
                      <a:pt x="59" y="318"/>
                    </a:lnTo>
                    <a:lnTo>
                      <a:pt x="55" y="316"/>
                    </a:lnTo>
                    <a:lnTo>
                      <a:pt x="53" y="298"/>
                    </a:lnTo>
                    <a:lnTo>
                      <a:pt x="53" y="295"/>
                    </a:lnTo>
                    <a:lnTo>
                      <a:pt x="53" y="155"/>
                    </a:lnTo>
                    <a:lnTo>
                      <a:pt x="48" y="153"/>
                    </a:lnTo>
                    <a:lnTo>
                      <a:pt x="50" y="153"/>
                    </a:lnTo>
                    <a:lnTo>
                      <a:pt x="45" y="155"/>
                    </a:lnTo>
                    <a:lnTo>
                      <a:pt x="45" y="295"/>
                    </a:lnTo>
                    <a:lnTo>
                      <a:pt x="45" y="298"/>
                    </a:lnTo>
                    <a:lnTo>
                      <a:pt x="45" y="303"/>
                    </a:lnTo>
                    <a:lnTo>
                      <a:pt x="45" y="307"/>
                    </a:lnTo>
                    <a:lnTo>
                      <a:pt x="43" y="314"/>
                    </a:lnTo>
                    <a:lnTo>
                      <a:pt x="39" y="318"/>
                    </a:lnTo>
                    <a:lnTo>
                      <a:pt x="34" y="320"/>
                    </a:lnTo>
                    <a:lnTo>
                      <a:pt x="29" y="318"/>
                    </a:lnTo>
                    <a:lnTo>
                      <a:pt x="25" y="312"/>
                    </a:lnTo>
                    <a:lnTo>
                      <a:pt x="23" y="305"/>
                    </a:lnTo>
                    <a:lnTo>
                      <a:pt x="23" y="302"/>
                    </a:lnTo>
                    <a:lnTo>
                      <a:pt x="23" y="298"/>
                    </a:lnTo>
                    <a:lnTo>
                      <a:pt x="23" y="295"/>
                    </a:lnTo>
                    <a:lnTo>
                      <a:pt x="23" y="53"/>
                    </a:lnTo>
                    <a:lnTo>
                      <a:pt x="18" y="53"/>
                    </a:lnTo>
                    <a:lnTo>
                      <a:pt x="18" y="139"/>
                    </a:lnTo>
                    <a:lnTo>
                      <a:pt x="18" y="143"/>
                    </a:lnTo>
                    <a:lnTo>
                      <a:pt x="18" y="144"/>
                    </a:lnTo>
                    <a:lnTo>
                      <a:pt x="18" y="148"/>
                    </a:lnTo>
                    <a:lnTo>
                      <a:pt x="14" y="152"/>
                    </a:lnTo>
                    <a:lnTo>
                      <a:pt x="13" y="153"/>
                    </a:lnTo>
                    <a:lnTo>
                      <a:pt x="9" y="155"/>
                    </a:lnTo>
                    <a:lnTo>
                      <a:pt x="2" y="150"/>
                    </a:lnTo>
                    <a:lnTo>
                      <a:pt x="0" y="143"/>
                    </a:lnTo>
                    <a:lnTo>
                      <a:pt x="0" y="139"/>
                    </a:lnTo>
                    <a:lnTo>
                      <a:pt x="0" y="48"/>
                    </a:lnTo>
                    <a:lnTo>
                      <a:pt x="0" y="44"/>
                    </a:lnTo>
                    <a:lnTo>
                      <a:pt x="2" y="27"/>
                    </a:lnTo>
                    <a:lnTo>
                      <a:pt x="7" y="11"/>
                    </a:lnTo>
                    <a:lnTo>
                      <a:pt x="14" y="3"/>
                    </a:lnTo>
                    <a:lnTo>
                      <a:pt x="20" y="0"/>
                    </a:lnTo>
                    <a:lnTo>
                      <a:pt x="21" y="0"/>
                    </a:lnTo>
                    <a:lnTo>
                      <a:pt x="25" y="0"/>
                    </a:lnTo>
                    <a:lnTo>
                      <a:pt x="29" y="0"/>
                    </a:lnTo>
                    <a:lnTo>
                      <a:pt x="52" y="0"/>
                    </a:lnTo>
                    <a:lnTo>
                      <a:pt x="46" y="0"/>
                    </a:lnTo>
                    <a:close/>
                  </a:path>
                </a:pathLst>
              </a:cu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3175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>
                <a:noAutofit/>
              </a:bodyPr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p:grpSp>
        <p:sp>
          <p:nvSpPr>
            <p:cNvPr id="107" name="Oval 21"/>
            <p:cNvSpPr>
              <a:spLocks noChangeArrowheads="1"/>
            </p:cNvSpPr>
            <p:nvPr/>
          </p:nvSpPr>
          <p:spPr bwMode="auto">
            <a:xfrm>
              <a:off x="5875" y="960"/>
              <a:ext cx="127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noAutofit/>
            </a:bodyPr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sp>
        <p:nvSpPr>
          <p:cNvPr id="110" name="Oval 23"/>
          <p:cNvSpPr>
            <a:spLocks noChangeArrowheads="1"/>
          </p:cNvSpPr>
          <p:nvPr/>
        </p:nvSpPr>
        <p:spPr bwMode="auto">
          <a:xfrm>
            <a:off x="1741239" y="2649488"/>
            <a:ext cx="1749425" cy="61456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noAutofit/>
          </a:bodyPr>
          <a:lstStyle>
            <a:lvl1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268288" indent="-8890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>
              <a:lnSpc>
                <a:spcPct val="140000"/>
              </a:lnSpc>
            </a:pPr>
            <a:r>
              <a:rPr kumimoji="0" lang="ko-KR" altLang="en-US" sz="800">
                <a:latin typeface="나눔고딕" panose="020D0604000000000000" pitchFamily="50" charset="-127"/>
                <a:ea typeface="나눔고딕" panose="020D0604000000000000" pitchFamily="50" charset="-127"/>
              </a:rPr>
              <a:t>서비스 </a:t>
            </a:r>
            <a:r>
              <a:rPr kumimoji="0"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상품을 구입할 수 있는 곳을 찾아본다</a:t>
            </a:r>
          </a:p>
        </p:txBody>
      </p:sp>
      <p:sp>
        <p:nvSpPr>
          <p:cNvPr id="111" name="Oval 24"/>
          <p:cNvSpPr>
            <a:spLocks noChangeArrowheads="1"/>
          </p:cNvSpPr>
          <p:nvPr/>
        </p:nvSpPr>
        <p:spPr bwMode="auto">
          <a:xfrm>
            <a:off x="5551239" y="3182888"/>
            <a:ext cx="1749425" cy="372201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noAutofit/>
          </a:bodyPr>
          <a:lstStyle>
            <a:lvl1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268288" indent="-8890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>
              <a:lnSpc>
                <a:spcPct val="140000"/>
              </a:lnSpc>
            </a:pPr>
            <a:r>
              <a:rPr kumimoji="0" lang="ko-KR" altLang="en-US" sz="800">
                <a:latin typeface="나눔고딕" panose="020D0604000000000000" pitchFamily="50" charset="-127"/>
                <a:ea typeface="나눔고딕" panose="020D0604000000000000" pitchFamily="50" charset="-127"/>
              </a:rPr>
              <a:t>서비스 </a:t>
            </a:r>
            <a:r>
              <a:rPr kumimoji="0"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상품 정보를 본다</a:t>
            </a:r>
          </a:p>
        </p:txBody>
      </p:sp>
      <p:sp>
        <p:nvSpPr>
          <p:cNvPr id="112" name="Oval 25"/>
          <p:cNvSpPr>
            <a:spLocks noChangeArrowheads="1"/>
          </p:cNvSpPr>
          <p:nvPr/>
        </p:nvSpPr>
        <p:spPr bwMode="auto">
          <a:xfrm>
            <a:off x="5398839" y="2420888"/>
            <a:ext cx="1749425" cy="372201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noAutofit/>
          </a:bodyPr>
          <a:lstStyle>
            <a:lvl1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268288" indent="-8890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>
              <a:lnSpc>
                <a:spcPct val="140000"/>
              </a:lnSpc>
            </a:pPr>
            <a:r>
              <a:rPr kumimoji="0" lang="ko-KR" altLang="en-US" sz="800">
                <a:latin typeface="나눔고딕" panose="020D0604000000000000" pitchFamily="50" charset="-127"/>
                <a:ea typeface="나눔고딕" panose="020D0604000000000000" pitchFamily="50" charset="-127"/>
              </a:rPr>
              <a:t>서비스 </a:t>
            </a:r>
            <a:r>
              <a:rPr kumimoji="0"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상품 비교를 한다</a:t>
            </a:r>
          </a:p>
        </p:txBody>
      </p:sp>
      <p:sp>
        <p:nvSpPr>
          <p:cNvPr id="113" name="Oval 26"/>
          <p:cNvSpPr>
            <a:spLocks noChangeArrowheads="1"/>
          </p:cNvSpPr>
          <p:nvPr/>
        </p:nvSpPr>
        <p:spPr bwMode="auto">
          <a:xfrm>
            <a:off x="1817439" y="4173488"/>
            <a:ext cx="1749425" cy="61456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noAutofit/>
          </a:bodyPr>
          <a:lstStyle>
            <a:lvl1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268288" indent="-8890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>
              <a:lnSpc>
                <a:spcPct val="140000"/>
              </a:lnSpc>
            </a:pPr>
            <a:r>
              <a:rPr kumimoji="0"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나와 </a:t>
            </a:r>
            <a:r>
              <a:rPr kumimoji="0" lang="ko-KR" altLang="en-US" sz="800">
                <a:latin typeface="나눔고딕" panose="020D0604000000000000" pitchFamily="50" charset="-127"/>
                <a:ea typeface="나눔고딕" panose="020D0604000000000000" pitchFamily="50" charset="-127"/>
              </a:rPr>
              <a:t>맞는 서비스인지</a:t>
            </a:r>
            <a:br>
              <a:rPr kumimoji="0"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kumimoji="0"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확인한다</a:t>
            </a:r>
          </a:p>
        </p:txBody>
      </p:sp>
      <p:sp>
        <p:nvSpPr>
          <p:cNvPr id="114" name="Oval 27"/>
          <p:cNvSpPr>
            <a:spLocks noChangeArrowheads="1"/>
          </p:cNvSpPr>
          <p:nvPr/>
        </p:nvSpPr>
        <p:spPr bwMode="auto">
          <a:xfrm>
            <a:off x="903039" y="4859288"/>
            <a:ext cx="1749425" cy="372201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noAutofit/>
          </a:bodyPr>
          <a:lstStyle>
            <a:lvl1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268288" indent="-8890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>
              <a:lnSpc>
                <a:spcPct val="140000"/>
              </a:lnSpc>
            </a:pPr>
            <a:r>
              <a:rPr kumimoji="0" lang="ko-KR" altLang="en-US" sz="800">
                <a:latin typeface="나눔고딕" panose="020D0604000000000000" pitchFamily="50" charset="-127"/>
                <a:ea typeface="나눔고딕" panose="020D0604000000000000" pitchFamily="50" charset="-127"/>
              </a:rPr>
              <a:t>전문가의 의견을 듣는다</a:t>
            </a:r>
          </a:p>
        </p:txBody>
      </p:sp>
      <p:sp>
        <p:nvSpPr>
          <p:cNvPr id="115" name="Oval 28"/>
          <p:cNvSpPr>
            <a:spLocks noChangeArrowheads="1"/>
          </p:cNvSpPr>
          <p:nvPr/>
        </p:nvSpPr>
        <p:spPr bwMode="auto">
          <a:xfrm>
            <a:off x="445839" y="3716288"/>
            <a:ext cx="1749425" cy="372201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noAutofit/>
          </a:bodyPr>
          <a:lstStyle>
            <a:lvl1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268288" indent="-8890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>
              <a:lnSpc>
                <a:spcPct val="140000"/>
              </a:lnSpc>
            </a:pPr>
            <a:r>
              <a:rPr kumimoji="0" lang="ko-KR" altLang="en-US" sz="800">
                <a:latin typeface="나눔고딕" panose="020D0604000000000000" pitchFamily="50" charset="-127"/>
                <a:ea typeface="나눔고딕" panose="020D0604000000000000" pitchFamily="50" charset="-127"/>
              </a:rPr>
              <a:t>주변 사람들에게 묻는다</a:t>
            </a:r>
          </a:p>
        </p:txBody>
      </p:sp>
      <p:sp>
        <p:nvSpPr>
          <p:cNvPr id="116" name="Oval 29"/>
          <p:cNvSpPr>
            <a:spLocks noChangeArrowheads="1"/>
          </p:cNvSpPr>
          <p:nvPr/>
        </p:nvSpPr>
        <p:spPr bwMode="auto">
          <a:xfrm>
            <a:off x="5398839" y="4173488"/>
            <a:ext cx="1749425" cy="372201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noAutofit/>
          </a:bodyPr>
          <a:lstStyle>
            <a:lvl1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268288" indent="-8890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>
              <a:lnSpc>
                <a:spcPct val="140000"/>
              </a:lnSpc>
            </a:pPr>
            <a:r>
              <a:rPr kumimoji="0" lang="ko-KR" altLang="en-US" sz="800">
                <a:latin typeface="나눔고딕" panose="020D0604000000000000" pitchFamily="50" charset="-127"/>
                <a:ea typeface="나눔고딕" panose="020D0604000000000000" pitchFamily="50" charset="-127"/>
              </a:rPr>
              <a:t>서비스 </a:t>
            </a:r>
            <a:r>
              <a:rPr kumimoji="0"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상품에 가입한다</a:t>
            </a:r>
          </a:p>
        </p:txBody>
      </p:sp>
      <p:sp>
        <p:nvSpPr>
          <p:cNvPr id="117" name="Oval 30"/>
          <p:cNvSpPr>
            <a:spLocks noChangeArrowheads="1"/>
          </p:cNvSpPr>
          <p:nvPr/>
        </p:nvSpPr>
        <p:spPr bwMode="auto">
          <a:xfrm>
            <a:off x="7380039" y="3868688"/>
            <a:ext cx="1749425" cy="61456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noAutofit/>
          </a:bodyPr>
          <a:lstStyle>
            <a:lvl1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268288" indent="-8890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>
              <a:lnSpc>
                <a:spcPct val="140000"/>
              </a:lnSpc>
            </a:pPr>
            <a:r>
              <a:rPr kumimoji="0"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상품에 가입할 수 있는 곳을 찾는다</a:t>
            </a:r>
          </a:p>
        </p:txBody>
      </p:sp>
      <p:sp>
        <p:nvSpPr>
          <p:cNvPr id="118" name="Oval 31"/>
          <p:cNvSpPr>
            <a:spLocks noChangeArrowheads="1"/>
          </p:cNvSpPr>
          <p:nvPr/>
        </p:nvSpPr>
        <p:spPr bwMode="auto">
          <a:xfrm>
            <a:off x="7303839" y="4783088"/>
            <a:ext cx="1749425" cy="61456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noAutofit/>
          </a:bodyPr>
          <a:lstStyle>
            <a:lvl1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268288" indent="-8890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>
              <a:lnSpc>
                <a:spcPct val="140000"/>
              </a:lnSpc>
            </a:pPr>
            <a:r>
              <a:rPr kumimoji="0"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상품 가입을 위한 정보를 입력한다</a:t>
            </a:r>
          </a:p>
        </p:txBody>
      </p:sp>
    </p:spTree>
    <p:extLst>
      <p:ext uri="{BB962C8B-B14F-4D97-AF65-F5344CB8AC3E}">
        <p14:creationId xmlns:p14="http://schemas.microsoft.com/office/powerpoint/2010/main" val="48053086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44017" y="91339"/>
            <a:ext cx="7401271" cy="385333"/>
          </a:xfrm>
          <a:prstGeom prst="rect">
            <a:avLst/>
          </a:prstGeom>
          <a:noFill/>
        </p:spPr>
        <p:txBody>
          <a:bodyPr wrap="square" lIns="0" tIns="53643" rIns="0" bIns="53643" rtlCol="0">
            <a:spAutoFit/>
          </a:bodyPr>
          <a:lstStyle/>
          <a:p>
            <a:r>
              <a:rPr kumimoji="1" lang="en-US" altLang="ko-KR" b="1" kern="0" dirty="0">
                <a:latin typeface="나눔고딕" panose="020D0604000000000000" pitchFamily="50" charset="-127"/>
                <a:ea typeface="나눔고딕" panose="020D0604000000000000" pitchFamily="50" charset="-127"/>
                <a:cs typeface="산돌고딕 M"/>
              </a:rPr>
              <a:t>User Interface Design</a:t>
            </a:r>
            <a:endParaRPr kumimoji="1" lang="ko-KR" altLang="en-US" b="1" kern="0" dirty="0">
              <a:latin typeface="나눔고딕" panose="020D0604000000000000" pitchFamily="50" charset="-127"/>
              <a:ea typeface="나눔고딕" panose="020D0604000000000000" pitchFamily="50" charset="-127"/>
              <a:cs typeface="산돌고딕 M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44017" y="683985"/>
            <a:ext cx="96335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U.I / U.X Design Case</a:t>
            </a:r>
          </a:p>
        </p:txBody>
      </p:sp>
      <p:sp>
        <p:nvSpPr>
          <p:cNvPr id="34" name="직사각형 33"/>
          <p:cNvSpPr/>
          <p:nvPr/>
        </p:nvSpPr>
        <p:spPr>
          <a:xfrm>
            <a:off x="632520" y="1412776"/>
            <a:ext cx="5832648" cy="36004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r>
              <a:rPr lang="en-US" altLang="ko-KR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Step 2. Task flow modeling</a:t>
            </a:r>
          </a:p>
        </p:txBody>
      </p:sp>
      <p:sp>
        <p:nvSpPr>
          <p:cNvPr id="84" name="Line 39"/>
          <p:cNvSpPr>
            <a:spLocks noChangeShapeType="1"/>
          </p:cNvSpPr>
          <p:nvPr/>
        </p:nvSpPr>
        <p:spPr bwMode="auto">
          <a:xfrm>
            <a:off x="1177925" y="6269007"/>
            <a:ext cx="3775075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5" name="Text Box 40"/>
          <p:cNvSpPr txBox="1">
            <a:spLocks noChangeArrowheads="1"/>
          </p:cNvSpPr>
          <p:nvPr/>
        </p:nvSpPr>
        <p:spPr bwMode="auto">
          <a:xfrm>
            <a:off x="1100138" y="6320353"/>
            <a:ext cx="7741294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</a:pPr>
            <a:r>
              <a:rPr kumimoji="1"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시퀀스 개념으로써</a:t>
            </a:r>
            <a:r>
              <a:rPr kumimoji="1"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kumimoji="1"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동적인 성격을 지니고 있습니다</a:t>
            </a:r>
            <a:r>
              <a:rPr kumimoji="1"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kumimoji="1"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 단계에서는 추가로 발견된 고객의 </a:t>
            </a:r>
            <a:r>
              <a:rPr kumimoji="1"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Use-case</a:t>
            </a:r>
            <a:r>
              <a:rPr kumimoji="1"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는 지속적으로 보강합니다</a:t>
            </a:r>
            <a:r>
              <a:rPr kumimoji="1"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kumimoji="1" lang="ko-KR" altLang="en-US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488504" y="991762"/>
            <a:ext cx="8928992" cy="307777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추출된 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Use case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을 시간차 순으로 배열 함으로써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고객이 특정 목적을 수행하기 위한 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Flow sequence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를 파악합니다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3" name="AutoShape 8"/>
          <p:cNvSpPr>
            <a:spLocks noChangeArrowheads="1"/>
          </p:cNvSpPr>
          <p:nvPr/>
        </p:nvSpPr>
        <p:spPr bwMode="auto">
          <a:xfrm>
            <a:off x="2062163" y="1988413"/>
            <a:ext cx="1533525" cy="48260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noAutofit/>
          </a:bodyPr>
          <a:lstStyle>
            <a:lvl1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268288" indent="-8890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>
              <a:lnSpc>
                <a:spcPct val="140000"/>
              </a:lnSpc>
            </a:pPr>
            <a:r>
              <a:rPr kumimoji="0" lang="ko-KR" altLang="en-US" sz="800">
                <a:latin typeface="나눔고딕" panose="020D0604000000000000" pitchFamily="50" charset="-127"/>
                <a:ea typeface="나눔고딕" panose="020D0604000000000000" pitchFamily="50" charset="-127"/>
              </a:rPr>
              <a:t>서비스 </a:t>
            </a:r>
            <a:r>
              <a:rPr kumimoji="0"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상품에 가입할 수 있는 곳을 찾아본다</a:t>
            </a:r>
          </a:p>
        </p:txBody>
      </p:sp>
      <p:sp>
        <p:nvSpPr>
          <p:cNvPr id="35" name="AutoShape 9"/>
          <p:cNvSpPr>
            <a:spLocks noChangeArrowheads="1"/>
          </p:cNvSpPr>
          <p:nvPr/>
        </p:nvSpPr>
        <p:spPr bwMode="auto">
          <a:xfrm>
            <a:off x="2208213" y="3814038"/>
            <a:ext cx="1241425" cy="290513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noAutofit/>
          </a:bodyPr>
          <a:lstStyle>
            <a:lvl1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268288" indent="-8890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>
              <a:lnSpc>
                <a:spcPct val="140000"/>
              </a:lnSpc>
            </a:pPr>
            <a:r>
              <a:rPr kumimoji="0" lang="ko-KR" altLang="en-US" sz="800">
                <a:latin typeface="나눔고딕" panose="020D0604000000000000" pitchFamily="50" charset="-127"/>
                <a:ea typeface="나눔고딕" panose="020D0604000000000000" pitchFamily="50" charset="-127"/>
              </a:rPr>
              <a:t>서비스 </a:t>
            </a:r>
            <a:r>
              <a:rPr kumimoji="0"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상품 정보를 본다</a:t>
            </a:r>
          </a:p>
        </p:txBody>
      </p:sp>
      <p:sp>
        <p:nvSpPr>
          <p:cNvPr id="36" name="AutoShape 10"/>
          <p:cNvSpPr>
            <a:spLocks noChangeArrowheads="1"/>
          </p:cNvSpPr>
          <p:nvPr/>
        </p:nvSpPr>
        <p:spPr bwMode="auto">
          <a:xfrm>
            <a:off x="1343025" y="4522063"/>
            <a:ext cx="1328879" cy="290513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noAutofit/>
          </a:bodyPr>
          <a:lstStyle>
            <a:lvl1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268288" indent="-8890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>
              <a:lnSpc>
                <a:spcPct val="140000"/>
              </a:lnSpc>
            </a:pPr>
            <a:r>
              <a:rPr kumimoji="0"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서비스 상품 비교를 한다</a:t>
            </a:r>
          </a:p>
        </p:txBody>
      </p:sp>
      <p:sp>
        <p:nvSpPr>
          <p:cNvPr id="37" name="AutoShape 11"/>
          <p:cNvSpPr>
            <a:spLocks noChangeArrowheads="1"/>
          </p:cNvSpPr>
          <p:nvPr/>
        </p:nvSpPr>
        <p:spPr bwMode="auto">
          <a:xfrm>
            <a:off x="6530975" y="4705071"/>
            <a:ext cx="1243013" cy="290513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noAutofit/>
          </a:bodyPr>
          <a:lstStyle>
            <a:lvl1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268288" indent="-8890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>
              <a:lnSpc>
                <a:spcPct val="140000"/>
              </a:lnSpc>
            </a:pPr>
            <a:r>
              <a:rPr kumimoji="0" lang="ko-KR" altLang="en-US" sz="800">
                <a:latin typeface="나눔고딕" panose="020D0604000000000000" pitchFamily="50" charset="-127"/>
                <a:ea typeface="나눔고딕" panose="020D0604000000000000" pitchFamily="50" charset="-127"/>
              </a:rPr>
              <a:t>입력 내용 확인한다</a:t>
            </a:r>
          </a:p>
        </p:txBody>
      </p:sp>
      <p:sp>
        <p:nvSpPr>
          <p:cNvPr id="38" name="AutoShape 12"/>
          <p:cNvSpPr>
            <a:spLocks noChangeArrowheads="1"/>
          </p:cNvSpPr>
          <p:nvPr/>
        </p:nvSpPr>
        <p:spPr bwMode="auto">
          <a:xfrm>
            <a:off x="2200275" y="4939575"/>
            <a:ext cx="1257300" cy="268288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noAutofit/>
          </a:bodyPr>
          <a:lstStyle>
            <a:lvl1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268288" indent="-8890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>
              <a:lnSpc>
                <a:spcPct val="140000"/>
              </a:lnSpc>
            </a:pPr>
            <a:r>
              <a:rPr kumimoji="0" lang="ko-KR" altLang="en-US" sz="800">
                <a:latin typeface="나눔고딕" panose="020D0604000000000000" pitchFamily="50" charset="-127"/>
                <a:ea typeface="나눔고딕" panose="020D0604000000000000" pitchFamily="50" charset="-127"/>
              </a:rPr>
              <a:t>전문가의 의견을 듣는다</a:t>
            </a:r>
          </a:p>
        </p:txBody>
      </p:sp>
      <p:sp>
        <p:nvSpPr>
          <p:cNvPr id="39" name="AutoShape 13"/>
          <p:cNvSpPr>
            <a:spLocks noChangeArrowheads="1"/>
          </p:cNvSpPr>
          <p:nvPr/>
        </p:nvSpPr>
        <p:spPr bwMode="auto">
          <a:xfrm>
            <a:off x="3000375" y="4522063"/>
            <a:ext cx="1327181" cy="268288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noAutofit/>
          </a:bodyPr>
          <a:lstStyle>
            <a:lvl1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268288" indent="-8890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>
              <a:lnSpc>
                <a:spcPct val="140000"/>
              </a:lnSpc>
            </a:pPr>
            <a:r>
              <a:rPr kumimoji="0" lang="ko-KR" altLang="en-US" sz="800">
                <a:latin typeface="나눔고딕" panose="020D0604000000000000" pitchFamily="50" charset="-127"/>
                <a:ea typeface="나눔고딕" panose="020D0604000000000000" pitchFamily="50" charset="-127"/>
              </a:rPr>
              <a:t>주변 사람들에게 묻는다</a:t>
            </a:r>
          </a:p>
        </p:txBody>
      </p:sp>
      <p:sp>
        <p:nvSpPr>
          <p:cNvPr id="40" name="AutoShape 14"/>
          <p:cNvSpPr>
            <a:spLocks noChangeArrowheads="1"/>
          </p:cNvSpPr>
          <p:nvPr/>
        </p:nvSpPr>
        <p:spPr bwMode="auto">
          <a:xfrm>
            <a:off x="7631113" y="3096488"/>
            <a:ext cx="1243013" cy="290513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noAutofit/>
          </a:bodyPr>
          <a:lstStyle>
            <a:lvl1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268288" indent="-8890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>
              <a:lnSpc>
                <a:spcPct val="140000"/>
              </a:lnSpc>
            </a:pPr>
            <a:r>
              <a:rPr kumimoji="0" lang="ko-KR" altLang="en-US" sz="800">
                <a:latin typeface="나눔고딕" panose="020D0604000000000000" pitchFamily="50" charset="-127"/>
                <a:ea typeface="나눔고딕" panose="020D0604000000000000" pitchFamily="50" charset="-127"/>
              </a:rPr>
              <a:t>최종 정보를 파악한다</a:t>
            </a:r>
          </a:p>
        </p:txBody>
      </p:sp>
      <p:sp>
        <p:nvSpPr>
          <p:cNvPr id="41" name="AutoShape 15"/>
          <p:cNvSpPr>
            <a:spLocks noChangeArrowheads="1"/>
          </p:cNvSpPr>
          <p:nvPr/>
        </p:nvSpPr>
        <p:spPr bwMode="auto">
          <a:xfrm>
            <a:off x="6511925" y="2061438"/>
            <a:ext cx="1192213" cy="481013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noAutofit/>
          </a:bodyPr>
          <a:lstStyle>
            <a:lvl1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268288" indent="-8890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>
              <a:lnSpc>
                <a:spcPct val="140000"/>
              </a:lnSpc>
            </a:pPr>
            <a:r>
              <a:rPr kumimoji="0"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상품을 가입할 수 있는 곳을 찾는다</a:t>
            </a:r>
          </a:p>
        </p:txBody>
      </p:sp>
      <p:sp>
        <p:nvSpPr>
          <p:cNvPr id="42" name="AutoShape 16"/>
          <p:cNvSpPr>
            <a:spLocks noChangeArrowheads="1"/>
          </p:cNvSpPr>
          <p:nvPr/>
        </p:nvSpPr>
        <p:spPr bwMode="auto">
          <a:xfrm>
            <a:off x="5829300" y="2875825"/>
            <a:ext cx="1258888" cy="48260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noAutofit/>
          </a:bodyPr>
          <a:lstStyle>
            <a:lvl1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268288" indent="-8890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>
              <a:lnSpc>
                <a:spcPct val="140000"/>
              </a:lnSpc>
            </a:pPr>
            <a:r>
              <a:rPr kumimoji="0"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상품 가입을 위한 정보를 입력한다</a:t>
            </a:r>
          </a:p>
        </p:txBody>
      </p:sp>
      <p:sp>
        <p:nvSpPr>
          <p:cNvPr id="43" name="AutoShape 17"/>
          <p:cNvSpPr>
            <a:spLocks noChangeArrowheads="1"/>
          </p:cNvSpPr>
          <p:nvPr/>
        </p:nvSpPr>
        <p:spPr bwMode="auto">
          <a:xfrm>
            <a:off x="1408113" y="2737713"/>
            <a:ext cx="1207124" cy="269875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noAutofit/>
          </a:bodyPr>
          <a:lstStyle>
            <a:lvl1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268288" indent="-8890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>
              <a:lnSpc>
                <a:spcPct val="140000"/>
              </a:lnSpc>
            </a:pPr>
            <a:r>
              <a:rPr kumimoji="0"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서비스 섹션을 찾는다</a:t>
            </a:r>
          </a:p>
        </p:txBody>
      </p:sp>
      <p:sp>
        <p:nvSpPr>
          <p:cNvPr id="44" name="AutoShape 18"/>
          <p:cNvSpPr>
            <a:spLocks noChangeArrowheads="1"/>
          </p:cNvSpPr>
          <p:nvPr/>
        </p:nvSpPr>
        <p:spPr bwMode="auto">
          <a:xfrm>
            <a:off x="3000374" y="2739300"/>
            <a:ext cx="1191379" cy="290513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noAutofit/>
          </a:bodyPr>
          <a:lstStyle>
            <a:lvl1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268288" indent="-8890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>
              <a:lnSpc>
                <a:spcPct val="140000"/>
              </a:lnSpc>
            </a:pPr>
            <a:r>
              <a:rPr kumimoji="0" lang="ko-KR" altLang="en-US" sz="800">
                <a:latin typeface="나눔고딕" panose="020D0604000000000000" pitchFamily="50" charset="-127"/>
                <a:ea typeface="나눔고딕" panose="020D0604000000000000" pitchFamily="50" charset="-127"/>
              </a:rPr>
              <a:t>금융몰을 찾는다</a:t>
            </a:r>
          </a:p>
        </p:txBody>
      </p:sp>
      <p:sp>
        <p:nvSpPr>
          <p:cNvPr id="45" name="AutoShape 19"/>
          <p:cNvSpPr>
            <a:spLocks noChangeArrowheads="1"/>
          </p:cNvSpPr>
          <p:nvPr/>
        </p:nvSpPr>
        <p:spPr bwMode="auto">
          <a:xfrm>
            <a:off x="2208213" y="3360013"/>
            <a:ext cx="1241425" cy="271463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anchor="ctr">
            <a:noAutofit/>
          </a:bodyPr>
          <a:lstStyle>
            <a:lvl1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268288" indent="-8890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>
              <a:lnSpc>
                <a:spcPct val="140000"/>
              </a:lnSpc>
            </a:pPr>
            <a:r>
              <a:rPr kumimoji="0" lang="ko-KR" altLang="en-US" sz="800" b="1">
                <a:latin typeface="나눔고딕" panose="020D0604000000000000" pitchFamily="50" charset="-127"/>
                <a:ea typeface="나눔고딕" panose="020D0604000000000000" pitchFamily="50" charset="-127"/>
              </a:rPr>
              <a:t>원하는 금융상품 발견</a:t>
            </a:r>
          </a:p>
        </p:txBody>
      </p:sp>
      <p:sp>
        <p:nvSpPr>
          <p:cNvPr id="46" name="AutoShape 20"/>
          <p:cNvSpPr>
            <a:spLocks noChangeArrowheads="1"/>
          </p:cNvSpPr>
          <p:nvPr/>
        </p:nvSpPr>
        <p:spPr bwMode="auto">
          <a:xfrm>
            <a:off x="2208213" y="5588863"/>
            <a:ext cx="1241425" cy="271463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anchor="ctr">
            <a:noAutofit/>
          </a:bodyPr>
          <a:lstStyle>
            <a:lvl1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268288" indent="-8890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>
              <a:lnSpc>
                <a:spcPct val="140000"/>
              </a:lnSpc>
            </a:pPr>
            <a:r>
              <a:rPr kumimoji="0" lang="ko-KR" altLang="en-US" sz="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가입할 상품 결정</a:t>
            </a:r>
          </a:p>
        </p:txBody>
      </p:sp>
      <p:sp>
        <p:nvSpPr>
          <p:cNvPr id="48" name="AutoShape 21"/>
          <p:cNvSpPr>
            <a:spLocks noChangeArrowheads="1"/>
          </p:cNvSpPr>
          <p:nvPr/>
        </p:nvSpPr>
        <p:spPr bwMode="auto">
          <a:xfrm>
            <a:off x="6530975" y="5119408"/>
            <a:ext cx="1243013" cy="290513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noAutofit/>
          </a:bodyPr>
          <a:lstStyle>
            <a:lvl1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268288" indent="-8890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>
              <a:lnSpc>
                <a:spcPct val="140000"/>
              </a:lnSpc>
            </a:pPr>
            <a:r>
              <a:rPr kumimoji="0"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최종 가입 결정한다</a:t>
            </a:r>
          </a:p>
        </p:txBody>
      </p:sp>
      <p:sp>
        <p:nvSpPr>
          <p:cNvPr id="49" name="AutoShape 22"/>
          <p:cNvSpPr>
            <a:spLocks noChangeArrowheads="1"/>
          </p:cNvSpPr>
          <p:nvPr/>
        </p:nvSpPr>
        <p:spPr bwMode="auto">
          <a:xfrm>
            <a:off x="6530975" y="5546446"/>
            <a:ext cx="1243013" cy="290513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noAutofit/>
          </a:bodyPr>
          <a:lstStyle>
            <a:lvl1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268288" indent="-8890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>
              <a:lnSpc>
                <a:spcPct val="140000"/>
              </a:lnSpc>
            </a:pPr>
            <a:r>
              <a:rPr kumimoji="0"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가입결과 확인한다</a:t>
            </a:r>
          </a:p>
        </p:txBody>
      </p:sp>
      <p:sp>
        <p:nvSpPr>
          <p:cNvPr id="50" name="AutoShape 23"/>
          <p:cNvSpPr>
            <a:spLocks noChangeArrowheads="1"/>
          </p:cNvSpPr>
          <p:nvPr/>
        </p:nvSpPr>
        <p:spPr bwMode="auto">
          <a:xfrm>
            <a:off x="5038725" y="3772763"/>
            <a:ext cx="936625" cy="290513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noAutofit/>
          </a:bodyPr>
          <a:lstStyle>
            <a:lvl1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268288" indent="-8890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>
              <a:lnSpc>
                <a:spcPct val="140000"/>
              </a:lnSpc>
            </a:pPr>
            <a:r>
              <a:rPr kumimoji="0" lang="ko-KR" altLang="en-US" sz="800">
                <a:latin typeface="나눔고딕" panose="020D0604000000000000" pitchFamily="50" charset="-127"/>
                <a:ea typeface="나눔고딕" panose="020D0604000000000000" pitchFamily="50" charset="-127"/>
              </a:rPr>
              <a:t>본인여부 파악</a:t>
            </a:r>
          </a:p>
        </p:txBody>
      </p:sp>
      <p:sp>
        <p:nvSpPr>
          <p:cNvPr id="51" name="AutoShape 24"/>
          <p:cNvSpPr>
            <a:spLocks noChangeArrowheads="1"/>
          </p:cNvSpPr>
          <p:nvPr/>
        </p:nvSpPr>
        <p:spPr bwMode="auto">
          <a:xfrm>
            <a:off x="6045200" y="3836263"/>
            <a:ext cx="936625" cy="290513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noAutofit/>
          </a:bodyPr>
          <a:lstStyle>
            <a:lvl1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268288" indent="-8890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>
              <a:lnSpc>
                <a:spcPct val="140000"/>
              </a:lnSpc>
            </a:pPr>
            <a:r>
              <a:rPr kumimoji="0" lang="ko-KR" altLang="en-US" sz="800">
                <a:latin typeface="나눔고딕" panose="020D0604000000000000" pitchFamily="50" charset="-127"/>
                <a:ea typeface="나눔고딕" panose="020D0604000000000000" pitchFamily="50" charset="-127"/>
              </a:rPr>
              <a:t>주민번호 입력</a:t>
            </a:r>
          </a:p>
        </p:txBody>
      </p:sp>
      <p:sp>
        <p:nvSpPr>
          <p:cNvPr id="52" name="AutoShape 25"/>
          <p:cNvSpPr>
            <a:spLocks noChangeArrowheads="1"/>
          </p:cNvSpPr>
          <p:nvPr/>
        </p:nvSpPr>
        <p:spPr bwMode="auto">
          <a:xfrm>
            <a:off x="7035800" y="3688625"/>
            <a:ext cx="598488" cy="290513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noAutofit/>
          </a:bodyPr>
          <a:lstStyle>
            <a:lvl1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268288" indent="-8890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>
              <a:lnSpc>
                <a:spcPct val="140000"/>
              </a:lnSpc>
            </a:pPr>
            <a:r>
              <a:rPr kumimoji="0"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공인인증</a:t>
            </a:r>
          </a:p>
        </p:txBody>
      </p:sp>
      <p:sp>
        <p:nvSpPr>
          <p:cNvPr id="53" name="Line 26"/>
          <p:cNvSpPr>
            <a:spLocks noChangeShapeType="1"/>
          </p:cNvSpPr>
          <p:nvPr/>
        </p:nvSpPr>
        <p:spPr bwMode="auto">
          <a:xfrm>
            <a:off x="2784475" y="2453550"/>
            <a:ext cx="0" cy="147638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 type="triangle" w="med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noAutofit/>
          </a:bodyPr>
          <a:lstStyle/>
          <a:p>
            <a:pPr algn="ctr"/>
            <a:endParaRPr lang="ko-KR" altLang="en-US" sz="80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4" name="Line 27"/>
          <p:cNvSpPr>
            <a:spLocks noChangeShapeType="1"/>
          </p:cNvSpPr>
          <p:nvPr/>
        </p:nvSpPr>
        <p:spPr bwMode="auto">
          <a:xfrm flipV="1">
            <a:off x="2341563" y="2586900"/>
            <a:ext cx="860425" cy="317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none" w="med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noAutofit/>
          </a:bodyPr>
          <a:lstStyle/>
          <a:p>
            <a:pPr algn="ctr"/>
            <a:endParaRPr lang="ko-KR" altLang="en-US" sz="80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5" name="Line 28"/>
          <p:cNvSpPr>
            <a:spLocks noChangeShapeType="1"/>
          </p:cNvSpPr>
          <p:nvPr/>
        </p:nvSpPr>
        <p:spPr bwMode="auto">
          <a:xfrm flipH="1">
            <a:off x="2424113" y="2601188"/>
            <a:ext cx="142875" cy="147638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 type="triangle" w="med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noAutofit/>
          </a:bodyPr>
          <a:lstStyle/>
          <a:p>
            <a:pPr algn="ctr"/>
            <a:endParaRPr lang="ko-KR" altLang="en-US" sz="80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6" name="Line 29"/>
          <p:cNvSpPr>
            <a:spLocks noChangeShapeType="1"/>
          </p:cNvSpPr>
          <p:nvPr/>
        </p:nvSpPr>
        <p:spPr bwMode="auto">
          <a:xfrm>
            <a:off x="3000375" y="2601188"/>
            <a:ext cx="71438" cy="125413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 type="triangle" w="med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noAutofit/>
          </a:bodyPr>
          <a:lstStyle/>
          <a:p>
            <a:pPr algn="ctr"/>
            <a:endParaRPr lang="ko-KR" altLang="en-US" sz="80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7" name="Line 30"/>
          <p:cNvSpPr>
            <a:spLocks noChangeShapeType="1"/>
          </p:cNvSpPr>
          <p:nvPr/>
        </p:nvSpPr>
        <p:spPr bwMode="auto">
          <a:xfrm flipV="1">
            <a:off x="2330450" y="3169513"/>
            <a:ext cx="862013" cy="317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none" w="med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noAutofit/>
          </a:bodyPr>
          <a:lstStyle/>
          <a:p>
            <a:pPr algn="ctr"/>
            <a:endParaRPr lang="ko-KR" altLang="en-US" sz="80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8" name="Line 31"/>
          <p:cNvSpPr>
            <a:spLocks noChangeShapeType="1"/>
          </p:cNvSpPr>
          <p:nvPr/>
        </p:nvSpPr>
        <p:spPr bwMode="auto">
          <a:xfrm>
            <a:off x="2352675" y="3023463"/>
            <a:ext cx="101600" cy="150813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 type="triangle" w="med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noAutofit/>
          </a:bodyPr>
          <a:lstStyle/>
          <a:p>
            <a:pPr algn="ctr"/>
            <a:endParaRPr lang="ko-KR" altLang="en-US" sz="80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9" name="Line 32"/>
          <p:cNvSpPr>
            <a:spLocks noChangeShapeType="1"/>
          </p:cNvSpPr>
          <p:nvPr/>
        </p:nvSpPr>
        <p:spPr bwMode="auto">
          <a:xfrm flipH="1">
            <a:off x="3124200" y="3023463"/>
            <a:ext cx="92075" cy="144463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 type="triangle" w="med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noAutofit/>
          </a:bodyPr>
          <a:lstStyle/>
          <a:p>
            <a:pPr algn="ctr"/>
            <a:endParaRPr lang="ko-KR" altLang="en-US" sz="80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0" name="Line 33"/>
          <p:cNvSpPr>
            <a:spLocks noChangeShapeType="1"/>
          </p:cNvSpPr>
          <p:nvPr/>
        </p:nvSpPr>
        <p:spPr bwMode="auto">
          <a:xfrm>
            <a:off x="2784475" y="3171100"/>
            <a:ext cx="0" cy="147638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 type="triangle" w="med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noAutofit/>
          </a:bodyPr>
          <a:lstStyle/>
          <a:p>
            <a:pPr algn="ctr"/>
            <a:endParaRPr lang="ko-KR" altLang="en-US" sz="80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1" name="Line 34"/>
          <p:cNvSpPr>
            <a:spLocks noChangeShapeType="1"/>
          </p:cNvSpPr>
          <p:nvPr/>
        </p:nvSpPr>
        <p:spPr bwMode="auto">
          <a:xfrm>
            <a:off x="2784475" y="3636238"/>
            <a:ext cx="0" cy="149225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 type="triangle" w="med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noAutofit/>
          </a:bodyPr>
          <a:lstStyle/>
          <a:p>
            <a:pPr algn="ctr"/>
            <a:endParaRPr lang="ko-KR" altLang="en-US" sz="80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2" name="Line 35"/>
          <p:cNvSpPr>
            <a:spLocks noChangeShapeType="1"/>
          </p:cNvSpPr>
          <p:nvPr/>
        </p:nvSpPr>
        <p:spPr bwMode="auto">
          <a:xfrm>
            <a:off x="2784475" y="4109313"/>
            <a:ext cx="0" cy="149225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 type="triangle" w="med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noAutofit/>
          </a:bodyPr>
          <a:lstStyle/>
          <a:p>
            <a:pPr algn="ctr"/>
            <a:endParaRPr lang="ko-KR" altLang="en-US" sz="80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3" name="Line 36"/>
          <p:cNvSpPr>
            <a:spLocks noChangeShapeType="1"/>
          </p:cNvSpPr>
          <p:nvPr/>
        </p:nvSpPr>
        <p:spPr bwMode="auto">
          <a:xfrm flipV="1">
            <a:off x="2341563" y="4269650"/>
            <a:ext cx="860425" cy="317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none" w="med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noAutofit/>
          </a:bodyPr>
          <a:lstStyle/>
          <a:p>
            <a:pPr algn="ctr"/>
            <a:endParaRPr lang="ko-KR" altLang="en-US" sz="80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4" name="Line 37"/>
          <p:cNvSpPr>
            <a:spLocks noChangeShapeType="1"/>
          </p:cNvSpPr>
          <p:nvPr/>
        </p:nvSpPr>
        <p:spPr bwMode="auto">
          <a:xfrm flipH="1">
            <a:off x="2443163" y="4280763"/>
            <a:ext cx="123825" cy="220663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 type="triangle" w="med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noAutofit/>
          </a:bodyPr>
          <a:lstStyle/>
          <a:p>
            <a:pPr algn="ctr"/>
            <a:endParaRPr lang="ko-KR" altLang="en-US" sz="80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5" name="Line 38"/>
          <p:cNvSpPr>
            <a:spLocks noChangeShapeType="1"/>
          </p:cNvSpPr>
          <p:nvPr/>
        </p:nvSpPr>
        <p:spPr bwMode="auto">
          <a:xfrm>
            <a:off x="3000375" y="4280763"/>
            <a:ext cx="123825" cy="220663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 type="triangle" w="med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noAutofit/>
          </a:bodyPr>
          <a:lstStyle/>
          <a:p>
            <a:pPr algn="ctr"/>
            <a:endParaRPr lang="ko-KR" altLang="en-US" sz="80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6" name="Line 39"/>
          <p:cNvSpPr>
            <a:spLocks noChangeShapeType="1"/>
          </p:cNvSpPr>
          <p:nvPr/>
        </p:nvSpPr>
        <p:spPr bwMode="auto">
          <a:xfrm flipH="1">
            <a:off x="3513138" y="4798288"/>
            <a:ext cx="331788" cy="59055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 type="triangle" w="med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noAutofit/>
          </a:bodyPr>
          <a:lstStyle/>
          <a:p>
            <a:pPr algn="ctr"/>
            <a:endParaRPr lang="ko-KR" altLang="en-US" sz="80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7" name="Line 40"/>
          <p:cNvSpPr>
            <a:spLocks noChangeShapeType="1"/>
          </p:cNvSpPr>
          <p:nvPr/>
        </p:nvSpPr>
        <p:spPr bwMode="auto">
          <a:xfrm flipV="1">
            <a:off x="1735138" y="5387250"/>
            <a:ext cx="2073275" cy="63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none" w="med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noAutofit/>
          </a:bodyPr>
          <a:lstStyle/>
          <a:p>
            <a:pPr algn="ctr"/>
            <a:endParaRPr lang="ko-KR" altLang="en-US" sz="80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8" name="Line 41"/>
          <p:cNvSpPr>
            <a:spLocks noChangeShapeType="1"/>
          </p:cNvSpPr>
          <p:nvPr/>
        </p:nvSpPr>
        <p:spPr bwMode="auto">
          <a:xfrm>
            <a:off x="1855788" y="4807813"/>
            <a:ext cx="330200" cy="592138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 type="triangle" w="med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noAutofit/>
          </a:bodyPr>
          <a:lstStyle/>
          <a:p>
            <a:pPr algn="ctr"/>
            <a:endParaRPr lang="ko-KR" altLang="en-US" sz="80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9" name="Line 42"/>
          <p:cNvSpPr>
            <a:spLocks noChangeShapeType="1"/>
          </p:cNvSpPr>
          <p:nvPr/>
        </p:nvSpPr>
        <p:spPr bwMode="auto">
          <a:xfrm>
            <a:off x="2784475" y="4325213"/>
            <a:ext cx="0" cy="620713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 type="triangle" w="med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noAutofit/>
          </a:bodyPr>
          <a:lstStyle/>
          <a:p>
            <a:pPr algn="ctr"/>
            <a:endParaRPr lang="ko-KR" altLang="en-US" sz="80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0" name="Line 43"/>
          <p:cNvSpPr>
            <a:spLocks noChangeShapeType="1"/>
          </p:cNvSpPr>
          <p:nvPr/>
        </p:nvSpPr>
        <p:spPr bwMode="auto">
          <a:xfrm>
            <a:off x="2784475" y="5406300"/>
            <a:ext cx="0" cy="179388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 type="triangle" w="med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noAutofit/>
          </a:bodyPr>
          <a:lstStyle/>
          <a:p>
            <a:pPr algn="ctr"/>
            <a:endParaRPr lang="ko-KR" altLang="en-US" sz="80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1" name="Line 44"/>
          <p:cNvSpPr>
            <a:spLocks noChangeShapeType="1"/>
          </p:cNvSpPr>
          <p:nvPr/>
        </p:nvSpPr>
        <p:spPr bwMode="auto">
          <a:xfrm>
            <a:off x="2784475" y="5242788"/>
            <a:ext cx="3175" cy="160338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 type="triangle" w="med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noAutofit/>
          </a:bodyPr>
          <a:lstStyle/>
          <a:p>
            <a:pPr algn="ctr"/>
            <a:endParaRPr lang="ko-KR" altLang="en-US" sz="80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2" name="Freeform 45"/>
          <p:cNvSpPr>
            <a:spLocks/>
          </p:cNvSpPr>
          <p:nvPr/>
        </p:nvSpPr>
        <p:spPr bwMode="auto">
          <a:xfrm>
            <a:off x="2957513" y="3910875"/>
            <a:ext cx="1370013" cy="1552575"/>
          </a:xfrm>
          <a:custGeom>
            <a:avLst/>
            <a:gdLst>
              <a:gd name="T0" fmla="*/ 0 w 912"/>
              <a:gd name="T1" fmla="*/ 960 h 1008"/>
              <a:gd name="T2" fmla="*/ 13 w 912"/>
              <a:gd name="T3" fmla="*/ 1008 h 1008"/>
              <a:gd name="T4" fmla="*/ 912 w 912"/>
              <a:gd name="T5" fmla="*/ 1008 h 1008"/>
              <a:gd name="T6" fmla="*/ 912 w 912"/>
              <a:gd name="T7" fmla="*/ 0 h 1008"/>
              <a:gd name="T8" fmla="*/ 336 w 912"/>
              <a:gd name="T9" fmla="*/ 0 h 100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912" h="1008">
                <a:moveTo>
                  <a:pt x="0" y="960"/>
                </a:moveTo>
                <a:lnTo>
                  <a:pt x="13" y="1008"/>
                </a:lnTo>
                <a:lnTo>
                  <a:pt x="912" y="1008"/>
                </a:lnTo>
                <a:lnTo>
                  <a:pt x="912" y="0"/>
                </a:lnTo>
                <a:lnTo>
                  <a:pt x="336" y="0"/>
                </a:lnTo>
              </a:path>
            </a:pathLst>
          </a:custGeom>
          <a:noFill/>
          <a:ln w="635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noAutofit/>
          </a:bodyPr>
          <a:lstStyle/>
          <a:p>
            <a:pPr algn="ctr"/>
            <a:endParaRPr lang="ko-KR" altLang="en-US" sz="80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3" name="Freeform 46"/>
          <p:cNvSpPr>
            <a:spLocks/>
          </p:cNvSpPr>
          <p:nvPr/>
        </p:nvSpPr>
        <p:spPr bwMode="auto">
          <a:xfrm>
            <a:off x="2784475" y="1913800"/>
            <a:ext cx="4322763" cy="4067175"/>
          </a:xfrm>
          <a:custGeom>
            <a:avLst/>
            <a:gdLst>
              <a:gd name="T0" fmla="*/ 0 w 2880"/>
              <a:gd name="T1" fmla="*/ 2544 h 2640"/>
              <a:gd name="T2" fmla="*/ 0 w 2880"/>
              <a:gd name="T3" fmla="*/ 2640 h 2640"/>
              <a:gd name="T4" fmla="*/ 1200 w 2880"/>
              <a:gd name="T5" fmla="*/ 2640 h 2640"/>
              <a:gd name="T6" fmla="*/ 1200 w 2880"/>
              <a:gd name="T7" fmla="*/ 0 h 2640"/>
              <a:gd name="T8" fmla="*/ 2880 w 2880"/>
              <a:gd name="T9" fmla="*/ 0 h 2640"/>
              <a:gd name="T10" fmla="*/ 2880 w 2880"/>
              <a:gd name="T11" fmla="*/ 96 h 26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880" h="2640">
                <a:moveTo>
                  <a:pt x="0" y="2544"/>
                </a:moveTo>
                <a:lnTo>
                  <a:pt x="0" y="2640"/>
                </a:lnTo>
                <a:lnTo>
                  <a:pt x="1200" y="2640"/>
                </a:lnTo>
                <a:lnTo>
                  <a:pt x="1200" y="0"/>
                </a:lnTo>
                <a:lnTo>
                  <a:pt x="2880" y="0"/>
                </a:lnTo>
                <a:lnTo>
                  <a:pt x="2880" y="96"/>
                </a:lnTo>
              </a:path>
            </a:pathLst>
          </a:custGeom>
          <a:noFill/>
          <a:ln w="635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noAutofit/>
          </a:bodyPr>
          <a:lstStyle/>
          <a:p>
            <a:pPr algn="ctr"/>
            <a:endParaRPr lang="ko-KR" altLang="en-US" sz="80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4" name="Line 47"/>
          <p:cNvSpPr>
            <a:spLocks noChangeShapeType="1"/>
          </p:cNvSpPr>
          <p:nvPr/>
        </p:nvSpPr>
        <p:spPr bwMode="auto">
          <a:xfrm>
            <a:off x="7116763" y="2507525"/>
            <a:ext cx="0" cy="14605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 type="triangle" w="med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noAutofit/>
          </a:bodyPr>
          <a:lstStyle/>
          <a:p>
            <a:pPr algn="ctr"/>
            <a:endParaRPr lang="ko-KR" altLang="en-US" sz="80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5" name="Line 48"/>
          <p:cNvSpPr>
            <a:spLocks noChangeShapeType="1"/>
          </p:cNvSpPr>
          <p:nvPr/>
        </p:nvSpPr>
        <p:spPr bwMode="auto">
          <a:xfrm flipV="1">
            <a:off x="6673850" y="2640875"/>
            <a:ext cx="862013" cy="317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none" w="med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noAutofit/>
          </a:bodyPr>
          <a:lstStyle/>
          <a:p>
            <a:pPr algn="ctr"/>
            <a:endParaRPr lang="ko-KR" altLang="en-US" sz="80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6" name="Line 49"/>
          <p:cNvSpPr>
            <a:spLocks noChangeShapeType="1"/>
          </p:cNvSpPr>
          <p:nvPr/>
        </p:nvSpPr>
        <p:spPr bwMode="auto">
          <a:xfrm flipH="1">
            <a:off x="6846888" y="2651988"/>
            <a:ext cx="117475" cy="211138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 type="triangle" w="med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noAutofit/>
          </a:bodyPr>
          <a:lstStyle/>
          <a:p>
            <a:pPr algn="ctr"/>
            <a:endParaRPr lang="ko-KR" altLang="en-US" sz="80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7" name="Line 50"/>
          <p:cNvSpPr>
            <a:spLocks noChangeShapeType="1"/>
          </p:cNvSpPr>
          <p:nvPr/>
        </p:nvSpPr>
        <p:spPr bwMode="auto">
          <a:xfrm>
            <a:off x="7396163" y="2651988"/>
            <a:ext cx="238125" cy="428625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 type="triangle" w="med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noAutofit/>
          </a:bodyPr>
          <a:lstStyle/>
          <a:p>
            <a:pPr algn="ctr"/>
            <a:endParaRPr lang="ko-KR" altLang="en-US" sz="80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8" name="Line 51"/>
          <p:cNvSpPr>
            <a:spLocks noChangeShapeType="1"/>
          </p:cNvSpPr>
          <p:nvPr/>
        </p:nvSpPr>
        <p:spPr bwMode="auto">
          <a:xfrm>
            <a:off x="6450013" y="3333025"/>
            <a:ext cx="0" cy="147638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 type="triangle" w="med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noAutofit/>
          </a:bodyPr>
          <a:lstStyle/>
          <a:p>
            <a:pPr algn="ctr"/>
            <a:endParaRPr lang="ko-KR" altLang="en-US" sz="80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9" name="Line 52"/>
          <p:cNvSpPr>
            <a:spLocks noChangeShapeType="1"/>
          </p:cNvSpPr>
          <p:nvPr/>
        </p:nvSpPr>
        <p:spPr bwMode="auto">
          <a:xfrm flipV="1">
            <a:off x="5719763" y="3466375"/>
            <a:ext cx="1438275" cy="476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none" w="med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noAutofit/>
          </a:bodyPr>
          <a:lstStyle/>
          <a:p>
            <a:pPr algn="ctr"/>
            <a:endParaRPr lang="ko-KR" altLang="en-US" sz="80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0" name="Line 53"/>
          <p:cNvSpPr>
            <a:spLocks noChangeShapeType="1"/>
          </p:cNvSpPr>
          <p:nvPr/>
        </p:nvSpPr>
        <p:spPr bwMode="auto">
          <a:xfrm flipH="1">
            <a:off x="5930900" y="3467963"/>
            <a:ext cx="168275" cy="295275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 type="triangle" w="med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noAutofit/>
          </a:bodyPr>
          <a:lstStyle/>
          <a:p>
            <a:pPr algn="ctr"/>
            <a:endParaRPr lang="ko-KR" altLang="en-US" sz="80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1" name="Line 54"/>
          <p:cNvSpPr>
            <a:spLocks noChangeShapeType="1"/>
          </p:cNvSpPr>
          <p:nvPr/>
        </p:nvSpPr>
        <p:spPr bwMode="auto">
          <a:xfrm>
            <a:off x="6459538" y="3467963"/>
            <a:ext cx="0" cy="36830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 type="triangle" w="med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noAutofit/>
          </a:bodyPr>
          <a:lstStyle/>
          <a:p>
            <a:pPr algn="ctr"/>
            <a:endParaRPr lang="ko-KR" altLang="en-US" sz="80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2" name="Line 55"/>
          <p:cNvSpPr>
            <a:spLocks noChangeShapeType="1"/>
          </p:cNvSpPr>
          <p:nvPr/>
        </p:nvSpPr>
        <p:spPr bwMode="auto">
          <a:xfrm>
            <a:off x="6970713" y="3467963"/>
            <a:ext cx="125413" cy="220663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 type="triangle" w="med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noAutofit/>
          </a:bodyPr>
          <a:lstStyle/>
          <a:p>
            <a:pPr algn="ctr"/>
            <a:endParaRPr lang="ko-KR" altLang="en-US" sz="80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3" name="Line 56"/>
          <p:cNvSpPr>
            <a:spLocks noChangeShapeType="1"/>
          </p:cNvSpPr>
          <p:nvPr/>
        </p:nvSpPr>
        <p:spPr bwMode="auto">
          <a:xfrm flipV="1">
            <a:off x="5719763" y="4411383"/>
            <a:ext cx="1438275" cy="63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none" w="med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noAutofit/>
          </a:bodyPr>
          <a:lstStyle/>
          <a:p>
            <a:pPr algn="ctr"/>
            <a:endParaRPr lang="ko-KR" altLang="en-US" sz="80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6" name="Line 57"/>
          <p:cNvSpPr>
            <a:spLocks noChangeShapeType="1"/>
          </p:cNvSpPr>
          <p:nvPr/>
        </p:nvSpPr>
        <p:spPr bwMode="auto">
          <a:xfrm>
            <a:off x="6459538" y="4149080"/>
            <a:ext cx="0" cy="15240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 type="triangle" w="med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noAutofit/>
          </a:bodyPr>
          <a:lstStyle/>
          <a:p>
            <a:pPr algn="ctr"/>
            <a:endParaRPr lang="ko-KR" altLang="en-US" sz="80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7" name="Line 58"/>
          <p:cNvSpPr>
            <a:spLocks noChangeShapeType="1"/>
          </p:cNvSpPr>
          <p:nvPr/>
        </p:nvSpPr>
        <p:spPr bwMode="auto">
          <a:xfrm>
            <a:off x="5946775" y="4068038"/>
            <a:ext cx="125413" cy="22225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 type="triangle" w="med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noAutofit/>
          </a:bodyPr>
          <a:lstStyle/>
          <a:p>
            <a:pPr algn="ctr"/>
            <a:endParaRPr lang="ko-KR" altLang="en-US" sz="80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8" name="Line 59"/>
          <p:cNvSpPr>
            <a:spLocks noChangeShapeType="1"/>
          </p:cNvSpPr>
          <p:nvPr/>
        </p:nvSpPr>
        <p:spPr bwMode="auto">
          <a:xfrm flipH="1">
            <a:off x="7035800" y="3996600"/>
            <a:ext cx="166688" cy="296863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 type="triangle" w="med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noAutofit/>
          </a:bodyPr>
          <a:lstStyle/>
          <a:p>
            <a:pPr algn="ctr"/>
            <a:endParaRPr lang="ko-KR" altLang="en-US" sz="80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9" name="Line 60"/>
          <p:cNvSpPr>
            <a:spLocks noChangeShapeType="1"/>
          </p:cNvSpPr>
          <p:nvPr/>
        </p:nvSpPr>
        <p:spPr bwMode="auto">
          <a:xfrm flipV="1">
            <a:off x="6530975" y="4586008"/>
            <a:ext cx="1263650" cy="476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none" w="med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noAutofit/>
          </a:bodyPr>
          <a:lstStyle/>
          <a:p>
            <a:pPr algn="ctr"/>
            <a:endParaRPr lang="ko-KR" altLang="en-US" sz="80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0" name="Line 61"/>
          <p:cNvSpPr>
            <a:spLocks noChangeShapeType="1"/>
          </p:cNvSpPr>
          <p:nvPr/>
        </p:nvSpPr>
        <p:spPr bwMode="auto">
          <a:xfrm flipH="1">
            <a:off x="7448550" y="3393350"/>
            <a:ext cx="595313" cy="1057275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 type="triangle" w="med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noAutofit/>
          </a:bodyPr>
          <a:lstStyle/>
          <a:p>
            <a:pPr algn="ctr"/>
            <a:endParaRPr lang="ko-KR" altLang="en-US" sz="80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1" name="Line 62"/>
          <p:cNvSpPr>
            <a:spLocks noChangeShapeType="1"/>
          </p:cNvSpPr>
          <p:nvPr/>
        </p:nvSpPr>
        <p:spPr bwMode="auto">
          <a:xfrm>
            <a:off x="6919913" y="4420908"/>
            <a:ext cx="84138" cy="14605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 type="triangle" w="med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noAutofit/>
          </a:bodyPr>
          <a:lstStyle/>
          <a:p>
            <a:pPr algn="ctr"/>
            <a:endParaRPr lang="ko-KR" altLang="en-US" sz="80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2" name="Line 63"/>
          <p:cNvSpPr>
            <a:spLocks noChangeShapeType="1"/>
          </p:cNvSpPr>
          <p:nvPr/>
        </p:nvSpPr>
        <p:spPr bwMode="auto">
          <a:xfrm>
            <a:off x="7107238" y="4578071"/>
            <a:ext cx="0" cy="138113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 type="triangle" w="med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noAutofit/>
          </a:bodyPr>
          <a:lstStyle/>
          <a:p>
            <a:pPr algn="ctr"/>
            <a:endParaRPr lang="ko-KR" altLang="en-US" sz="80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3" name="Line 64"/>
          <p:cNvSpPr>
            <a:spLocks noChangeShapeType="1"/>
          </p:cNvSpPr>
          <p:nvPr/>
        </p:nvSpPr>
        <p:spPr bwMode="auto">
          <a:xfrm>
            <a:off x="7107238" y="4976533"/>
            <a:ext cx="0" cy="136525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 type="triangle" w="med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noAutofit/>
          </a:bodyPr>
          <a:lstStyle/>
          <a:p>
            <a:pPr algn="ctr"/>
            <a:endParaRPr lang="ko-KR" altLang="en-US" sz="80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4" name="Line 65"/>
          <p:cNvSpPr>
            <a:spLocks noChangeShapeType="1"/>
          </p:cNvSpPr>
          <p:nvPr/>
        </p:nvSpPr>
        <p:spPr bwMode="auto">
          <a:xfrm>
            <a:off x="7107238" y="5413096"/>
            <a:ext cx="0" cy="138113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 type="triangle" w="med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noAutofit/>
          </a:bodyPr>
          <a:lstStyle/>
          <a:p>
            <a:pPr algn="ctr"/>
            <a:endParaRPr lang="ko-KR" altLang="en-US" sz="80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0423675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44017" y="91339"/>
            <a:ext cx="7401271" cy="385333"/>
          </a:xfrm>
          <a:prstGeom prst="rect">
            <a:avLst/>
          </a:prstGeom>
          <a:noFill/>
        </p:spPr>
        <p:txBody>
          <a:bodyPr wrap="square" lIns="0" tIns="53643" rIns="0" bIns="53643" rtlCol="0">
            <a:spAutoFit/>
          </a:bodyPr>
          <a:lstStyle/>
          <a:p>
            <a:r>
              <a:rPr kumimoji="1" lang="en-US" altLang="ko-KR" b="1" kern="0" dirty="0">
                <a:latin typeface="나눔고딕" panose="020D0604000000000000" pitchFamily="50" charset="-127"/>
                <a:ea typeface="나눔고딕" panose="020D0604000000000000" pitchFamily="50" charset="-127"/>
                <a:cs typeface="산돌고딕 M"/>
              </a:rPr>
              <a:t>User Interface Design</a:t>
            </a:r>
            <a:endParaRPr kumimoji="1" lang="ko-KR" altLang="en-US" b="1" kern="0" dirty="0">
              <a:latin typeface="나눔고딕" panose="020D0604000000000000" pitchFamily="50" charset="-127"/>
              <a:ea typeface="나눔고딕" panose="020D0604000000000000" pitchFamily="50" charset="-127"/>
              <a:cs typeface="산돌고딕 M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44017" y="683985"/>
            <a:ext cx="96335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U.I / U.X Design Case</a:t>
            </a:r>
          </a:p>
        </p:txBody>
      </p:sp>
      <p:sp>
        <p:nvSpPr>
          <p:cNvPr id="34" name="직사각형 33"/>
          <p:cNvSpPr/>
          <p:nvPr/>
        </p:nvSpPr>
        <p:spPr>
          <a:xfrm>
            <a:off x="632520" y="1412776"/>
            <a:ext cx="5832648" cy="36004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r>
              <a:rPr lang="en-US" altLang="ko-KR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Step 3. Interface model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88504" y="991762"/>
            <a:ext cx="8928992" cy="307777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개별 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Task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를 완료하기 위해 필요한 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interface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요소를 종류별로 추출합니다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</p:txBody>
      </p:sp>
      <p:sp>
        <p:nvSpPr>
          <p:cNvPr id="95" name="Rectangle 2"/>
          <p:cNvSpPr>
            <a:spLocks noChangeArrowheads="1"/>
          </p:cNvSpPr>
          <p:nvPr/>
        </p:nvSpPr>
        <p:spPr bwMode="auto">
          <a:xfrm>
            <a:off x="7350074" y="5519425"/>
            <a:ext cx="199187" cy="398234"/>
          </a:xfrm>
          <a:prstGeom prst="rect">
            <a:avLst/>
          </a:prstGeom>
          <a:solidFill>
            <a:srgbClr val="FFFFFF"/>
          </a:solidFill>
          <a:ln w="9525" algn="ctr">
            <a:solidFill>
              <a:schemeClr val="accent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noAutofit/>
          </a:bodyPr>
          <a:lstStyle/>
          <a:p>
            <a:endParaRPr lang="ko-KR" altLang="en-US" sz="240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6" name="Oval 8"/>
          <p:cNvSpPr>
            <a:spLocks noChangeArrowheads="1"/>
          </p:cNvSpPr>
          <p:nvPr/>
        </p:nvSpPr>
        <p:spPr bwMode="auto">
          <a:xfrm>
            <a:off x="750029" y="2317492"/>
            <a:ext cx="1769928" cy="401328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 anchor="ctr">
            <a:noAutofit/>
          </a:bodyPr>
          <a:lstStyle>
            <a:lvl1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268288" indent="-8890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>
              <a:lnSpc>
                <a:spcPct val="140000"/>
              </a:lnSpc>
            </a:pPr>
            <a:r>
              <a:rPr kumimoji="0" lang="ko-KR" altLang="en-US" sz="800">
                <a:latin typeface="나눔고딕" panose="020D0604000000000000" pitchFamily="50" charset="-127"/>
                <a:ea typeface="나눔고딕" panose="020D0604000000000000" pitchFamily="50" charset="-127"/>
              </a:rPr>
              <a:t>서비스 </a:t>
            </a:r>
            <a:r>
              <a:rPr kumimoji="0"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상품 정보를 본다</a:t>
            </a:r>
          </a:p>
        </p:txBody>
      </p:sp>
      <p:sp>
        <p:nvSpPr>
          <p:cNvPr id="97" name="Oval 9"/>
          <p:cNvSpPr>
            <a:spLocks noChangeArrowheads="1"/>
          </p:cNvSpPr>
          <p:nvPr/>
        </p:nvSpPr>
        <p:spPr bwMode="auto">
          <a:xfrm>
            <a:off x="750029" y="3056959"/>
            <a:ext cx="1771641" cy="401328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 anchor="ctr">
            <a:noAutofit/>
          </a:bodyPr>
          <a:lstStyle>
            <a:lvl1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268288" indent="-8890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>
              <a:lnSpc>
                <a:spcPct val="140000"/>
              </a:lnSpc>
            </a:pPr>
            <a:r>
              <a:rPr kumimoji="0" lang="ko-KR" altLang="en-US" sz="800">
                <a:latin typeface="나눔고딕" panose="020D0604000000000000" pitchFamily="50" charset="-127"/>
                <a:ea typeface="나눔고딕" panose="020D0604000000000000" pitchFamily="50" charset="-127"/>
              </a:rPr>
              <a:t>서비스 </a:t>
            </a:r>
            <a:r>
              <a:rPr kumimoji="0"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상품 비교를 한다</a:t>
            </a:r>
          </a:p>
        </p:txBody>
      </p:sp>
      <p:sp>
        <p:nvSpPr>
          <p:cNvPr id="98" name="Oval 10"/>
          <p:cNvSpPr>
            <a:spLocks noChangeArrowheads="1"/>
          </p:cNvSpPr>
          <p:nvPr/>
        </p:nvSpPr>
        <p:spPr bwMode="auto">
          <a:xfrm>
            <a:off x="736335" y="4535894"/>
            <a:ext cx="1797316" cy="368662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 anchor="ctr">
            <a:noAutofit/>
          </a:bodyPr>
          <a:lstStyle>
            <a:lvl1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268288" indent="-8890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>
              <a:lnSpc>
                <a:spcPct val="140000"/>
              </a:lnSpc>
            </a:pPr>
            <a:r>
              <a:rPr kumimoji="0" lang="ko-KR" altLang="en-US" sz="800">
                <a:latin typeface="나눔고딕" panose="020D0604000000000000" pitchFamily="50" charset="-127"/>
                <a:ea typeface="나눔고딕" panose="020D0604000000000000" pitchFamily="50" charset="-127"/>
              </a:rPr>
              <a:t>전문가의 의견을 듣는다</a:t>
            </a:r>
          </a:p>
        </p:txBody>
      </p:sp>
      <p:sp>
        <p:nvSpPr>
          <p:cNvPr id="99" name="Oval 11"/>
          <p:cNvSpPr>
            <a:spLocks noChangeArrowheads="1"/>
          </p:cNvSpPr>
          <p:nvPr/>
        </p:nvSpPr>
        <p:spPr bwMode="auto">
          <a:xfrm>
            <a:off x="750029" y="3818679"/>
            <a:ext cx="1773352" cy="368662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 anchor="ctr">
            <a:noAutofit/>
          </a:bodyPr>
          <a:lstStyle>
            <a:lvl1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268288" indent="-8890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>
              <a:lnSpc>
                <a:spcPct val="140000"/>
              </a:lnSpc>
            </a:pPr>
            <a:r>
              <a:rPr kumimoji="0" lang="ko-KR" altLang="en-US" sz="800">
                <a:latin typeface="나눔고딕" panose="020D0604000000000000" pitchFamily="50" charset="-127"/>
                <a:ea typeface="나눔고딕" panose="020D0604000000000000" pitchFamily="50" charset="-127"/>
              </a:rPr>
              <a:t>주변 사람들에게 묻는다</a:t>
            </a:r>
          </a:p>
        </p:txBody>
      </p:sp>
      <p:sp>
        <p:nvSpPr>
          <p:cNvPr id="100" name="Oval 12"/>
          <p:cNvSpPr>
            <a:spLocks noChangeArrowheads="1"/>
          </p:cNvSpPr>
          <p:nvPr/>
        </p:nvSpPr>
        <p:spPr bwMode="auto">
          <a:xfrm>
            <a:off x="750029" y="5230856"/>
            <a:ext cx="1769928" cy="40132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lIns="0" rIns="0" anchor="ctr">
            <a:noAutofit/>
          </a:bodyPr>
          <a:lstStyle>
            <a:lvl1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268288" indent="-8890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>
              <a:lnSpc>
                <a:spcPct val="140000"/>
              </a:lnSpc>
            </a:pPr>
            <a:r>
              <a:rPr kumimoji="0"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가입할 상품 결정</a:t>
            </a:r>
          </a:p>
        </p:txBody>
      </p:sp>
      <p:grpSp>
        <p:nvGrpSpPr>
          <p:cNvPr id="101" name="Group 13"/>
          <p:cNvGrpSpPr>
            <a:grpSpLocks/>
          </p:cNvGrpSpPr>
          <p:nvPr/>
        </p:nvGrpSpPr>
        <p:grpSpPr bwMode="auto">
          <a:xfrm>
            <a:off x="2228963" y="1988840"/>
            <a:ext cx="213967" cy="535772"/>
            <a:chOff x="5875" y="720"/>
            <a:chExt cx="313" cy="1146"/>
          </a:xfrm>
        </p:grpSpPr>
        <p:grpSp>
          <p:nvGrpSpPr>
            <p:cNvPr id="102" name="Group 14"/>
            <p:cNvGrpSpPr>
              <a:grpSpLocks/>
            </p:cNvGrpSpPr>
            <p:nvPr/>
          </p:nvGrpSpPr>
          <p:grpSpPr bwMode="auto">
            <a:xfrm>
              <a:off x="5875" y="720"/>
              <a:ext cx="313" cy="1146"/>
              <a:chOff x="3872" y="1622"/>
              <a:chExt cx="98" cy="388"/>
            </a:xfrm>
          </p:grpSpPr>
          <p:sp>
            <p:nvSpPr>
              <p:cNvPr id="104" name="Freeform 15"/>
              <p:cNvSpPr>
                <a:spLocks/>
              </p:cNvSpPr>
              <p:nvPr/>
            </p:nvSpPr>
            <p:spPr bwMode="auto">
              <a:xfrm>
                <a:off x="3901" y="1622"/>
                <a:ext cx="40" cy="57"/>
              </a:xfrm>
              <a:custGeom>
                <a:avLst/>
                <a:gdLst>
                  <a:gd name="T0" fmla="*/ 40 w 40"/>
                  <a:gd name="T1" fmla="*/ 29 h 57"/>
                  <a:gd name="T2" fmla="*/ 39 w 40"/>
                  <a:gd name="T3" fmla="*/ 16 h 57"/>
                  <a:gd name="T4" fmla="*/ 33 w 40"/>
                  <a:gd name="T5" fmla="*/ 5 h 57"/>
                  <a:gd name="T6" fmla="*/ 24 w 40"/>
                  <a:gd name="T7" fmla="*/ 0 h 57"/>
                  <a:gd name="T8" fmla="*/ 16 w 40"/>
                  <a:gd name="T9" fmla="*/ 0 h 57"/>
                  <a:gd name="T10" fmla="*/ 7 w 40"/>
                  <a:gd name="T11" fmla="*/ 5 h 57"/>
                  <a:gd name="T12" fmla="*/ 1 w 40"/>
                  <a:gd name="T13" fmla="*/ 16 h 57"/>
                  <a:gd name="T14" fmla="*/ 0 w 40"/>
                  <a:gd name="T15" fmla="*/ 29 h 57"/>
                  <a:gd name="T16" fmla="*/ 1 w 40"/>
                  <a:gd name="T17" fmla="*/ 41 h 57"/>
                  <a:gd name="T18" fmla="*/ 7 w 40"/>
                  <a:gd name="T19" fmla="*/ 52 h 57"/>
                  <a:gd name="T20" fmla="*/ 16 w 40"/>
                  <a:gd name="T21" fmla="*/ 57 h 57"/>
                  <a:gd name="T22" fmla="*/ 24 w 40"/>
                  <a:gd name="T23" fmla="*/ 57 h 57"/>
                  <a:gd name="T24" fmla="*/ 33 w 40"/>
                  <a:gd name="T25" fmla="*/ 52 h 57"/>
                  <a:gd name="T26" fmla="*/ 39 w 40"/>
                  <a:gd name="T27" fmla="*/ 41 h 57"/>
                  <a:gd name="T28" fmla="*/ 40 w 40"/>
                  <a:gd name="T29" fmla="*/ 29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40" h="57">
                    <a:moveTo>
                      <a:pt x="40" y="29"/>
                    </a:moveTo>
                    <a:lnTo>
                      <a:pt x="39" y="16"/>
                    </a:lnTo>
                    <a:lnTo>
                      <a:pt x="33" y="5"/>
                    </a:lnTo>
                    <a:lnTo>
                      <a:pt x="24" y="0"/>
                    </a:lnTo>
                    <a:lnTo>
                      <a:pt x="16" y="0"/>
                    </a:lnTo>
                    <a:lnTo>
                      <a:pt x="7" y="5"/>
                    </a:lnTo>
                    <a:lnTo>
                      <a:pt x="1" y="16"/>
                    </a:lnTo>
                    <a:lnTo>
                      <a:pt x="0" y="29"/>
                    </a:lnTo>
                    <a:lnTo>
                      <a:pt x="1" y="41"/>
                    </a:lnTo>
                    <a:lnTo>
                      <a:pt x="7" y="52"/>
                    </a:lnTo>
                    <a:lnTo>
                      <a:pt x="16" y="57"/>
                    </a:lnTo>
                    <a:lnTo>
                      <a:pt x="24" y="57"/>
                    </a:lnTo>
                    <a:lnTo>
                      <a:pt x="33" y="52"/>
                    </a:lnTo>
                    <a:lnTo>
                      <a:pt x="39" y="41"/>
                    </a:lnTo>
                    <a:lnTo>
                      <a:pt x="40" y="29"/>
                    </a:lnTo>
                    <a:close/>
                  </a:path>
                </a:pathLst>
              </a:cu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3175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>
                <a:noAutofit/>
              </a:bodyPr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105" name="Freeform 16"/>
              <p:cNvSpPr>
                <a:spLocks/>
              </p:cNvSpPr>
              <p:nvPr/>
            </p:nvSpPr>
            <p:spPr bwMode="auto">
              <a:xfrm>
                <a:off x="3872" y="1690"/>
                <a:ext cx="98" cy="320"/>
              </a:xfrm>
              <a:custGeom>
                <a:avLst/>
                <a:gdLst>
                  <a:gd name="T0" fmla="*/ 68 w 98"/>
                  <a:gd name="T1" fmla="*/ 0 h 320"/>
                  <a:gd name="T2" fmla="*/ 75 w 98"/>
                  <a:gd name="T3" fmla="*/ 0 h 320"/>
                  <a:gd name="T4" fmla="*/ 84 w 98"/>
                  <a:gd name="T5" fmla="*/ 2 h 320"/>
                  <a:gd name="T6" fmla="*/ 96 w 98"/>
                  <a:gd name="T7" fmla="*/ 25 h 320"/>
                  <a:gd name="T8" fmla="*/ 98 w 98"/>
                  <a:gd name="T9" fmla="*/ 48 h 320"/>
                  <a:gd name="T10" fmla="*/ 98 w 98"/>
                  <a:gd name="T11" fmla="*/ 143 h 320"/>
                  <a:gd name="T12" fmla="*/ 89 w 98"/>
                  <a:gd name="T13" fmla="*/ 155 h 320"/>
                  <a:gd name="T14" fmla="*/ 82 w 98"/>
                  <a:gd name="T15" fmla="*/ 148 h 320"/>
                  <a:gd name="T16" fmla="*/ 80 w 98"/>
                  <a:gd name="T17" fmla="*/ 139 h 320"/>
                  <a:gd name="T18" fmla="*/ 75 w 98"/>
                  <a:gd name="T19" fmla="*/ 53 h 320"/>
                  <a:gd name="T20" fmla="*/ 75 w 98"/>
                  <a:gd name="T21" fmla="*/ 298 h 320"/>
                  <a:gd name="T22" fmla="*/ 75 w 98"/>
                  <a:gd name="T23" fmla="*/ 305 h 320"/>
                  <a:gd name="T24" fmla="*/ 69 w 98"/>
                  <a:gd name="T25" fmla="*/ 318 h 320"/>
                  <a:gd name="T26" fmla="*/ 59 w 98"/>
                  <a:gd name="T27" fmla="*/ 318 h 320"/>
                  <a:gd name="T28" fmla="*/ 53 w 98"/>
                  <a:gd name="T29" fmla="*/ 298 h 320"/>
                  <a:gd name="T30" fmla="*/ 53 w 98"/>
                  <a:gd name="T31" fmla="*/ 155 h 320"/>
                  <a:gd name="T32" fmla="*/ 50 w 98"/>
                  <a:gd name="T33" fmla="*/ 153 h 320"/>
                  <a:gd name="T34" fmla="*/ 45 w 98"/>
                  <a:gd name="T35" fmla="*/ 295 h 320"/>
                  <a:gd name="T36" fmla="*/ 45 w 98"/>
                  <a:gd name="T37" fmla="*/ 303 h 320"/>
                  <a:gd name="T38" fmla="*/ 43 w 98"/>
                  <a:gd name="T39" fmla="*/ 314 h 320"/>
                  <a:gd name="T40" fmla="*/ 34 w 98"/>
                  <a:gd name="T41" fmla="*/ 320 h 320"/>
                  <a:gd name="T42" fmla="*/ 25 w 98"/>
                  <a:gd name="T43" fmla="*/ 312 h 320"/>
                  <a:gd name="T44" fmla="*/ 23 w 98"/>
                  <a:gd name="T45" fmla="*/ 302 h 320"/>
                  <a:gd name="T46" fmla="*/ 23 w 98"/>
                  <a:gd name="T47" fmla="*/ 295 h 320"/>
                  <a:gd name="T48" fmla="*/ 18 w 98"/>
                  <a:gd name="T49" fmla="*/ 53 h 320"/>
                  <a:gd name="T50" fmla="*/ 18 w 98"/>
                  <a:gd name="T51" fmla="*/ 143 h 320"/>
                  <a:gd name="T52" fmla="*/ 18 w 98"/>
                  <a:gd name="T53" fmla="*/ 148 h 320"/>
                  <a:gd name="T54" fmla="*/ 13 w 98"/>
                  <a:gd name="T55" fmla="*/ 153 h 320"/>
                  <a:gd name="T56" fmla="*/ 2 w 98"/>
                  <a:gd name="T57" fmla="*/ 150 h 320"/>
                  <a:gd name="T58" fmla="*/ 0 w 98"/>
                  <a:gd name="T59" fmla="*/ 139 h 320"/>
                  <a:gd name="T60" fmla="*/ 0 w 98"/>
                  <a:gd name="T61" fmla="*/ 44 h 320"/>
                  <a:gd name="T62" fmla="*/ 7 w 98"/>
                  <a:gd name="T63" fmla="*/ 11 h 320"/>
                  <a:gd name="T64" fmla="*/ 20 w 98"/>
                  <a:gd name="T65" fmla="*/ 0 h 320"/>
                  <a:gd name="T66" fmla="*/ 25 w 98"/>
                  <a:gd name="T67" fmla="*/ 0 h 320"/>
                  <a:gd name="T68" fmla="*/ 52 w 98"/>
                  <a:gd name="T69" fmla="*/ 0 h 3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98" h="320">
                    <a:moveTo>
                      <a:pt x="46" y="0"/>
                    </a:moveTo>
                    <a:lnTo>
                      <a:pt x="68" y="0"/>
                    </a:lnTo>
                    <a:lnTo>
                      <a:pt x="73" y="0"/>
                    </a:lnTo>
                    <a:lnTo>
                      <a:pt x="75" y="0"/>
                    </a:lnTo>
                    <a:lnTo>
                      <a:pt x="78" y="0"/>
                    </a:lnTo>
                    <a:lnTo>
                      <a:pt x="84" y="2"/>
                    </a:lnTo>
                    <a:lnTo>
                      <a:pt x="91" y="11"/>
                    </a:lnTo>
                    <a:lnTo>
                      <a:pt x="96" y="25"/>
                    </a:lnTo>
                    <a:lnTo>
                      <a:pt x="98" y="44"/>
                    </a:lnTo>
                    <a:lnTo>
                      <a:pt x="98" y="48"/>
                    </a:lnTo>
                    <a:lnTo>
                      <a:pt x="98" y="139"/>
                    </a:lnTo>
                    <a:lnTo>
                      <a:pt x="98" y="143"/>
                    </a:lnTo>
                    <a:lnTo>
                      <a:pt x="96" y="150"/>
                    </a:lnTo>
                    <a:lnTo>
                      <a:pt x="89" y="155"/>
                    </a:lnTo>
                    <a:lnTo>
                      <a:pt x="84" y="153"/>
                    </a:lnTo>
                    <a:lnTo>
                      <a:pt x="82" y="148"/>
                    </a:lnTo>
                    <a:lnTo>
                      <a:pt x="80" y="143"/>
                    </a:lnTo>
                    <a:lnTo>
                      <a:pt x="80" y="139"/>
                    </a:lnTo>
                    <a:lnTo>
                      <a:pt x="80" y="53"/>
                    </a:lnTo>
                    <a:lnTo>
                      <a:pt x="75" y="53"/>
                    </a:lnTo>
                    <a:lnTo>
                      <a:pt x="75" y="295"/>
                    </a:lnTo>
                    <a:lnTo>
                      <a:pt x="75" y="298"/>
                    </a:lnTo>
                    <a:lnTo>
                      <a:pt x="75" y="300"/>
                    </a:lnTo>
                    <a:lnTo>
                      <a:pt x="75" y="305"/>
                    </a:lnTo>
                    <a:lnTo>
                      <a:pt x="73" y="312"/>
                    </a:lnTo>
                    <a:lnTo>
                      <a:pt x="69" y="318"/>
                    </a:lnTo>
                    <a:lnTo>
                      <a:pt x="64" y="320"/>
                    </a:lnTo>
                    <a:lnTo>
                      <a:pt x="59" y="318"/>
                    </a:lnTo>
                    <a:lnTo>
                      <a:pt x="55" y="316"/>
                    </a:lnTo>
                    <a:lnTo>
                      <a:pt x="53" y="298"/>
                    </a:lnTo>
                    <a:lnTo>
                      <a:pt x="53" y="295"/>
                    </a:lnTo>
                    <a:lnTo>
                      <a:pt x="53" y="155"/>
                    </a:lnTo>
                    <a:lnTo>
                      <a:pt x="48" y="153"/>
                    </a:lnTo>
                    <a:lnTo>
                      <a:pt x="50" y="153"/>
                    </a:lnTo>
                    <a:lnTo>
                      <a:pt x="45" y="155"/>
                    </a:lnTo>
                    <a:lnTo>
                      <a:pt x="45" y="295"/>
                    </a:lnTo>
                    <a:lnTo>
                      <a:pt x="45" y="298"/>
                    </a:lnTo>
                    <a:lnTo>
                      <a:pt x="45" y="303"/>
                    </a:lnTo>
                    <a:lnTo>
                      <a:pt x="45" y="307"/>
                    </a:lnTo>
                    <a:lnTo>
                      <a:pt x="43" y="314"/>
                    </a:lnTo>
                    <a:lnTo>
                      <a:pt x="39" y="318"/>
                    </a:lnTo>
                    <a:lnTo>
                      <a:pt x="34" y="320"/>
                    </a:lnTo>
                    <a:lnTo>
                      <a:pt x="29" y="318"/>
                    </a:lnTo>
                    <a:lnTo>
                      <a:pt x="25" y="312"/>
                    </a:lnTo>
                    <a:lnTo>
                      <a:pt x="23" y="305"/>
                    </a:lnTo>
                    <a:lnTo>
                      <a:pt x="23" y="302"/>
                    </a:lnTo>
                    <a:lnTo>
                      <a:pt x="23" y="298"/>
                    </a:lnTo>
                    <a:lnTo>
                      <a:pt x="23" y="295"/>
                    </a:lnTo>
                    <a:lnTo>
                      <a:pt x="23" y="53"/>
                    </a:lnTo>
                    <a:lnTo>
                      <a:pt x="18" y="53"/>
                    </a:lnTo>
                    <a:lnTo>
                      <a:pt x="18" y="139"/>
                    </a:lnTo>
                    <a:lnTo>
                      <a:pt x="18" y="143"/>
                    </a:lnTo>
                    <a:lnTo>
                      <a:pt x="18" y="144"/>
                    </a:lnTo>
                    <a:lnTo>
                      <a:pt x="18" y="148"/>
                    </a:lnTo>
                    <a:lnTo>
                      <a:pt x="14" y="152"/>
                    </a:lnTo>
                    <a:lnTo>
                      <a:pt x="13" y="153"/>
                    </a:lnTo>
                    <a:lnTo>
                      <a:pt x="9" y="155"/>
                    </a:lnTo>
                    <a:lnTo>
                      <a:pt x="2" y="150"/>
                    </a:lnTo>
                    <a:lnTo>
                      <a:pt x="0" y="143"/>
                    </a:lnTo>
                    <a:lnTo>
                      <a:pt x="0" y="139"/>
                    </a:lnTo>
                    <a:lnTo>
                      <a:pt x="0" y="48"/>
                    </a:lnTo>
                    <a:lnTo>
                      <a:pt x="0" y="44"/>
                    </a:lnTo>
                    <a:lnTo>
                      <a:pt x="2" y="27"/>
                    </a:lnTo>
                    <a:lnTo>
                      <a:pt x="7" y="11"/>
                    </a:lnTo>
                    <a:lnTo>
                      <a:pt x="14" y="3"/>
                    </a:lnTo>
                    <a:lnTo>
                      <a:pt x="20" y="0"/>
                    </a:lnTo>
                    <a:lnTo>
                      <a:pt x="21" y="0"/>
                    </a:lnTo>
                    <a:lnTo>
                      <a:pt x="25" y="0"/>
                    </a:lnTo>
                    <a:lnTo>
                      <a:pt x="29" y="0"/>
                    </a:lnTo>
                    <a:lnTo>
                      <a:pt x="52" y="0"/>
                    </a:lnTo>
                    <a:lnTo>
                      <a:pt x="46" y="0"/>
                    </a:lnTo>
                    <a:close/>
                  </a:path>
                </a:pathLst>
              </a:cu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3175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>
                <a:noAutofit/>
              </a:bodyPr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p:grpSp>
        <p:sp>
          <p:nvSpPr>
            <p:cNvPr id="103" name="Oval 17"/>
            <p:cNvSpPr>
              <a:spLocks noChangeArrowheads="1"/>
            </p:cNvSpPr>
            <p:nvPr/>
          </p:nvSpPr>
          <p:spPr bwMode="auto">
            <a:xfrm>
              <a:off x="5875" y="960"/>
              <a:ext cx="127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noAutofit/>
            </a:bodyPr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graphicFrame>
        <p:nvGraphicFramePr>
          <p:cNvPr id="106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36764261"/>
              </p:ext>
            </p:extLst>
          </p:nvPr>
        </p:nvGraphicFramePr>
        <p:xfrm>
          <a:off x="3894476" y="2317492"/>
          <a:ext cx="400545" cy="3440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592455" imgH="510032" progId="Visio.Drawing.6">
                  <p:embed/>
                </p:oleObj>
              </mc:Choice>
              <mc:Fallback>
                <p:oleObj name="Visio" r:id="rId2" imgW="592455" imgH="510032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94476" y="2317492"/>
                        <a:ext cx="400545" cy="34405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chemeClr val="accent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7" name="Line 19"/>
          <p:cNvSpPr>
            <a:spLocks noChangeShapeType="1"/>
          </p:cNvSpPr>
          <p:nvPr/>
        </p:nvSpPr>
        <p:spPr bwMode="auto">
          <a:xfrm>
            <a:off x="2557615" y="2481818"/>
            <a:ext cx="1314608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noAutofit/>
          </a:bodyPr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pSp>
        <p:nvGrpSpPr>
          <p:cNvPr id="108" name="Group 20"/>
          <p:cNvGrpSpPr>
            <a:grpSpLocks/>
          </p:cNvGrpSpPr>
          <p:nvPr/>
        </p:nvGrpSpPr>
        <p:grpSpPr bwMode="auto">
          <a:xfrm>
            <a:off x="2228963" y="2736866"/>
            <a:ext cx="213967" cy="535771"/>
            <a:chOff x="5875" y="720"/>
            <a:chExt cx="313" cy="1146"/>
          </a:xfrm>
        </p:grpSpPr>
        <p:grpSp>
          <p:nvGrpSpPr>
            <p:cNvPr id="109" name="Group 21"/>
            <p:cNvGrpSpPr>
              <a:grpSpLocks/>
            </p:cNvGrpSpPr>
            <p:nvPr/>
          </p:nvGrpSpPr>
          <p:grpSpPr bwMode="auto">
            <a:xfrm>
              <a:off x="5875" y="720"/>
              <a:ext cx="313" cy="1146"/>
              <a:chOff x="3872" y="1622"/>
              <a:chExt cx="98" cy="388"/>
            </a:xfrm>
          </p:grpSpPr>
          <p:sp>
            <p:nvSpPr>
              <p:cNvPr id="111" name="Freeform 22"/>
              <p:cNvSpPr>
                <a:spLocks/>
              </p:cNvSpPr>
              <p:nvPr/>
            </p:nvSpPr>
            <p:spPr bwMode="auto">
              <a:xfrm>
                <a:off x="3901" y="1622"/>
                <a:ext cx="40" cy="57"/>
              </a:xfrm>
              <a:custGeom>
                <a:avLst/>
                <a:gdLst>
                  <a:gd name="T0" fmla="*/ 40 w 40"/>
                  <a:gd name="T1" fmla="*/ 29 h 57"/>
                  <a:gd name="T2" fmla="*/ 39 w 40"/>
                  <a:gd name="T3" fmla="*/ 16 h 57"/>
                  <a:gd name="T4" fmla="*/ 33 w 40"/>
                  <a:gd name="T5" fmla="*/ 5 h 57"/>
                  <a:gd name="T6" fmla="*/ 24 w 40"/>
                  <a:gd name="T7" fmla="*/ 0 h 57"/>
                  <a:gd name="T8" fmla="*/ 16 w 40"/>
                  <a:gd name="T9" fmla="*/ 0 h 57"/>
                  <a:gd name="T10" fmla="*/ 7 w 40"/>
                  <a:gd name="T11" fmla="*/ 5 h 57"/>
                  <a:gd name="T12" fmla="*/ 1 w 40"/>
                  <a:gd name="T13" fmla="*/ 16 h 57"/>
                  <a:gd name="T14" fmla="*/ 0 w 40"/>
                  <a:gd name="T15" fmla="*/ 29 h 57"/>
                  <a:gd name="T16" fmla="*/ 1 w 40"/>
                  <a:gd name="T17" fmla="*/ 41 h 57"/>
                  <a:gd name="T18" fmla="*/ 7 w 40"/>
                  <a:gd name="T19" fmla="*/ 52 h 57"/>
                  <a:gd name="T20" fmla="*/ 16 w 40"/>
                  <a:gd name="T21" fmla="*/ 57 h 57"/>
                  <a:gd name="T22" fmla="*/ 24 w 40"/>
                  <a:gd name="T23" fmla="*/ 57 h 57"/>
                  <a:gd name="T24" fmla="*/ 33 w 40"/>
                  <a:gd name="T25" fmla="*/ 52 h 57"/>
                  <a:gd name="T26" fmla="*/ 39 w 40"/>
                  <a:gd name="T27" fmla="*/ 41 h 57"/>
                  <a:gd name="T28" fmla="*/ 40 w 40"/>
                  <a:gd name="T29" fmla="*/ 29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40" h="57">
                    <a:moveTo>
                      <a:pt x="40" y="29"/>
                    </a:moveTo>
                    <a:lnTo>
                      <a:pt x="39" y="16"/>
                    </a:lnTo>
                    <a:lnTo>
                      <a:pt x="33" y="5"/>
                    </a:lnTo>
                    <a:lnTo>
                      <a:pt x="24" y="0"/>
                    </a:lnTo>
                    <a:lnTo>
                      <a:pt x="16" y="0"/>
                    </a:lnTo>
                    <a:lnTo>
                      <a:pt x="7" y="5"/>
                    </a:lnTo>
                    <a:lnTo>
                      <a:pt x="1" y="16"/>
                    </a:lnTo>
                    <a:lnTo>
                      <a:pt x="0" y="29"/>
                    </a:lnTo>
                    <a:lnTo>
                      <a:pt x="1" y="41"/>
                    </a:lnTo>
                    <a:lnTo>
                      <a:pt x="7" y="52"/>
                    </a:lnTo>
                    <a:lnTo>
                      <a:pt x="16" y="57"/>
                    </a:lnTo>
                    <a:lnTo>
                      <a:pt x="24" y="57"/>
                    </a:lnTo>
                    <a:lnTo>
                      <a:pt x="33" y="52"/>
                    </a:lnTo>
                    <a:lnTo>
                      <a:pt x="39" y="41"/>
                    </a:lnTo>
                    <a:lnTo>
                      <a:pt x="40" y="29"/>
                    </a:lnTo>
                    <a:close/>
                  </a:path>
                </a:pathLst>
              </a:cu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3175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>
                <a:noAutofit/>
              </a:bodyPr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112" name="Freeform 23"/>
              <p:cNvSpPr>
                <a:spLocks/>
              </p:cNvSpPr>
              <p:nvPr/>
            </p:nvSpPr>
            <p:spPr bwMode="auto">
              <a:xfrm>
                <a:off x="3872" y="1690"/>
                <a:ext cx="98" cy="320"/>
              </a:xfrm>
              <a:custGeom>
                <a:avLst/>
                <a:gdLst>
                  <a:gd name="T0" fmla="*/ 68 w 98"/>
                  <a:gd name="T1" fmla="*/ 0 h 320"/>
                  <a:gd name="T2" fmla="*/ 75 w 98"/>
                  <a:gd name="T3" fmla="*/ 0 h 320"/>
                  <a:gd name="T4" fmla="*/ 84 w 98"/>
                  <a:gd name="T5" fmla="*/ 2 h 320"/>
                  <a:gd name="T6" fmla="*/ 96 w 98"/>
                  <a:gd name="T7" fmla="*/ 25 h 320"/>
                  <a:gd name="T8" fmla="*/ 98 w 98"/>
                  <a:gd name="T9" fmla="*/ 48 h 320"/>
                  <a:gd name="T10" fmla="*/ 98 w 98"/>
                  <a:gd name="T11" fmla="*/ 143 h 320"/>
                  <a:gd name="T12" fmla="*/ 89 w 98"/>
                  <a:gd name="T13" fmla="*/ 155 h 320"/>
                  <a:gd name="T14" fmla="*/ 82 w 98"/>
                  <a:gd name="T15" fmla="*/ 148 h 320"/>
                  <a:gd name="T16" fmla="*/ 80 w 98"/>
                  <a:gd name="T17" fmla="*/ 139 h 320"/>
                  <a:gd name="T18" fmla="*/ 75 w 98"/>
                  <a:gd name="T19" fmla="*/ 53 h 320"/>
                  <a:gd name="T20" fmla="*/ 75 w 98"/>
                  <a:gd name="T21" fmla="*/ 298 h 320"/>
                  <a:gd name="T22" fmla="*/ 75 w 98"/>
                  <a:gd name="T23" fmla="*/ 305 h 320"/>
                  <a:gd name="T24" fmla="*/ 69 w 98"/>
                  <a:gd name="T25" fmla="*/ 318 h 320"/>
                  <a:gd name="T26" fmla="*/ 59 w 98"/>
                  <a:gd name="T27" fmla="*/ 318 h 320"/>
                  <a:gd name="T28" fmla="*/ 53 w 98"/>
                  <a:gd name="T29" fmla="*/ 298 h 320"/>
                  <a:gd name="T30" fmla="*/ 53 w 98"/>
                  <a:gd name="T31" fmla="*/ 155 h 320"/>
                  <a:gd name="T32" fmla="*/ 50 w 98"/>
                  <a:gd name="T33" fmla="*/ 153 h 320"/>
                  <a:gd name="T34" fmla="*/ 45 w 98"/>
                  <a:gd name="T35" fmla="*/ 295 h 320"/>
                  <a:gd name="T36" fmla="*/ 45 w 98"/>
                  <a:gd name="T37" fmla="*/ 303 h 320"/>
                  <a:gd name="T38" fmla="*/ 43 w 98"/>
                  <a:gd name="T39" fmla="*/ 314 h 320"/>
                  <a:gd name="T40" fmla="*/ 34 w 98"/>
                  <a:gd name="T41" fmla="*/ 320 h 320"/>
                  <a:gd name="T42" fmla="*/ 25 w 98"/>
                  <a:gd name="T43" fmla="*/ 312 h 320"/>
                  <a:gd name="T44" fmla="*/ 23 w 98"/>
                  <a:gd name="T45" fmla="*/ 302 h 320"/>
                  <a:gd name="T46" fmla="*/ 23 w 98"/>
                  <a:gd name="T47" fmla="*/ 295 h 320"/>
                  <a:gd name="T48" fmla="*/ 18 w 98"/>
                  <a:gd name="T49" fmla="*/ 53 h 320"/>
                  <a:gd name="T50" fmla="*/ 18 w 98"/>
                  <a:gd name="T51" fmla="*/ 143 h 320"/>
                  <a:gd name="T52" fmla="*/ 18 w 98"/>
                  <a:gd name="T53" fmla="*/ 148 h 320"/>
                  <a:gd name="T54" fmla="*/ 13 w 98"/>
                  <a:gd name="T55" fmla="*/ 153 h 320"/>
                  <a:gd name="T56" fmla="*/ 2 w 98"/>
                  <a:gd name="T57" fmla="*/ 150 h 320"/>
                  <a:gd name="T58" fmla="*/ 0 w 98"/>
                  <a:gd name="T59" fmla="*/ 139 h 320"/>
                  <a:gd name="T60" fmla="*/ 0 w 98"/>
                  <a:gd name="T61" fmla="*/ 44 h 320"/>
                  <a:gd name="T62" fmla="*/ 7 w 98"/>
                  <a:gd name="T63" fmla="*/ 11 h 320"/>
                  <a:gd name="T64" fmla="*/ 20 w 98"/>
                  <a:gd name="T65" fmla="*/ 0 h 320"/>
                  <a:gd name="T66" fmla="*/ 25 w 98"/>
                  <a:gd name="T67" fmla="*/ 0 h 320"/>
                  <a:gd name="T68" fmla="*/ 52 w 98"/>
                  <a:gd name="T69" fmla="*/ 0 h 3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98" h="320">
                    <a:moveTo>
                      <a:pt x="46" y="0"/>
                    </a:moveTo>
                    <a:lnTo>
                      <a:pt x="68" y="0"/>
                    </a:lnTo>
                    <a:lnTo>
                      <a:pt x="73" y="0"/>
                    </a:lnTo>
                    <a:lnTo>
                      <a:pt x="75" y="0"/>
                    </a:lnTo>
                    <a:lnTo>
                      <a:pt x="78" y="0"/>
                    </a:lnTo>
                    <a:lnTo>
                      <a:pt x="84" y="2"/>
                    </a:lnTo>
                    <a:lnTo>
                      <a:pt x="91" y="11"/>
                    </a:lnTo>
                    <a:lnTo>
                      <a:pt x="96" y="25"/>
                    </a:lnTo>
                    <a:lnTo>
                      <a:pt x="98" y="44"/>
                    </a:lnTo>
                    <a:lnTo>
                      <a:pt x="98" y="48"/>
                    </a:lnTo>
                    <a:lnTo>
                      <a:pt x="98" y="139"/>
                    </a:lnTo>
                    <a:lnTo>
                      <a:pt x="98" y="143"/>
                    </a:lnTo>
                    <a:lnTo>
                      <a:pt x="96" y="150"/>
                    </a:lnTo>
                    <a:lnTo>
                      <a:pt x="89" y="155"/>
                    </a:lnTo>
                    <a:lnTo>
                      <a:pt x="84" y="153"/>
                    </a:lnTo>
                    <a:lnTo>
                      <a:pt x="82" y="148"/>
                    </a:lnTo>
                    <a:lnTo>
                      <a:pt x="80" y="143"/>
                    </a:lnTo>
                    <a:lnTo>
                      <a:pt x="80" y="139"/>
                    </a:lnTo>
                    <a:lnTo>
                      <a:pt x="80" y="53"/>
                    </a:lnTo>
                    <a:lnTo>
                      <a:pt x="75" y="53"/>
                    </a:lnTo>
                    <a:lnTo>
                      <a:pt x="75" y="295"/>
                    </a:lnTo>
                    <a:lnTo>
                      <a:pt x="75" y="298"/>
                    </a:lnTo>
                    <a:lnTo>
                      <a:pt x="75" y="300"/>
                    </a:lnTo>
                    <a:lnTo>
                      <a:pt x="75" y="305"/>
                    </a:lnTo>
                    <a:lnTo>
                      <a:pt x="73" y="312"/>
                    </a:lnTo>
                    <a:lnTo>
                      <a:pt x="69" y="318"/>
                    </a:lnTo>
                    <a:lnTo>
                      <a:pt x="64" y="320"/>
                    </a:lnTo>
                    <a:lnTo>
                      <a:pt x="59" y="318"/>
                    </a:lnTo>
                    <a:lnTo>
                      <a:pt x="55" y="316"/>
                    </a:lnTo>
                    <a:lnTo>
                      <a:pt x="53" y="298"/>
                    </a:lnTo>
                    <a:lnTo>
                      <a:pt x="53" y="295"/>
                    </a:lnTo>
                    <a:lnTo>
                      <a:pt x="53" y="155"/>
                    </a:lnTo>
                    <a:lnTo>
                      <a:pt x="48" y="153"/>
                    </a:lnTo>
                    <a:lnTo>
                      <a:pt x="50" y="153"/>
                    </a:lnTo>
                    <a:lnTo>
                      <a:pt x="45" y="155"/>
                    </a:lnTo>
                    <a:lnTo>
                      <a:pt x="45" y="295"/>
                    </a:lnTo>
                    <a:lnTo>
                      <a:pt x="45" y="298"/>
                    </a:lnTo>
                    <a:lnTo>
                      <a:pt x="45" y="303"/>
                    </a:lnTo>
                    <a:lnTo>
                      <a:pt x="45" y="307"/>
                    </a:lnTo>
                    <a:lnTo>
                      <a:pt x="43" y="314"/>
                    </a:lnTo>
                    <a:lnTo>
                      <a:pt x="39" y="318"/>
                    </a:lnTo>
                    <a:lnTo>
                      <a:pt x="34" y="320"/>
                    </a:lnTo>
                    <a:lnTo>
                      <a:pt x="29" y="318"/>
                    </a:lnTo>
                    <a:lnTo>
                      <a:pt x="25" y="312"/>
                    </a:lnTo>
                    <a:lnTo>
                      <a:pt x="23" y="305"/>
                    </a:lnTo>
                    <a:lnTo>
                      <a:pt x="23" y="302"/>
                    </a:lnTo>
                    <a:lnTo>
                      <a:pt x="23" y="298"/>
                    </a:lnTo>
                    <a:lnTo>
                      <a:pt x="23" y="295"/>
                    </a:lnTo>
                    <a:lnTo>
                      <a:pt x="23" y="53"/>
                    </a:lnTo>
                    <a:lnTo>
                      <a:pt x="18" y="53"/>
                    </a:lnTo>
                    <a:lnTo>
                      <a:pt x="18" y="139"/>
                    </a:lnTo>
                    <a:lnTo>
                      <a:pt x="18" y="143"/>
                    </a:lnTo>
                    <a:lnTo>
                      <a:pt x="18" y="144"/>
                    </a:lnTo>
                    <a:lnTo>
                      <a:pt x="18" y="148"/>
                    </a:lnTo>
                    <a:lnTo>
                      <a:pt x="14" y="152"/>
                    </a:lnTo>
                    <a:lnTo>
                      <a:pt x="13" y="153"/>
                    </a:lnTo>
                    <a:lnTo>
                      <a:pt x="9" y="155"/>
                    </a:lnTo>
                    <a:lnTo>
                      <a:pt x="2" y="150"/>
                    </a:lnTo>
                    <a:lnTo>
                      <a:pt x="0" y="143"/>
                    </a:lnTo>
                    <a:lnTo>
                      <a:pt x="0" y="139"/>
                    </a:lnTo>
                    <a:lnTo>
                      <a:pt x="0" y="48"/>
                    </a:lnTo>
                    <a:lnTo>
                      <a:pt x="0" y="44"/>
                    </a:lnTo>
                    <a:lnTo>
                      <a:pt x="2" y="27"/>
                    </a:lnTo>
                    <a:lnTo>
                      <a:pt x="7" y="11"/>
                    </a:lnTo>
                    <a:lnTo>
                      <a:pt x="14" y="3"/>
                    </a:lnTo>
                    <a:lnTo>
                      <a:pt x="20" y="0"/>
                    </a:lnTo>
                    <a:lnTo>
                      <a:pt x="21" y="0"/>
                    </a:lnTo>
                    <a:lnTo>
                      <a:pt x="25" y="0"/>
                    </a:lnTo>
                    <a:lnTo>
                      <a:pt x="29" y="0"/>
                    </a:lnTo>
                    <a:lnTo>
                      <a:pt x="52" y="0"/>
                    </a:lnTo>
                    <a:lnTo>
                      <a:pt x="46" y="0"/>
                    </a:lnTo>
                    <a:close/>
                  </a:path>
                </a:pathLst>
              </a:cu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3175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>
                <a:noAutofit/>
              </a:bodyPr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p:grpSp>
        <p:sp>
          <p:nvSpPr>
            <p:cNvPr id="110" name="Oval 24"/>
            <p:cNvSpPr>
              <a:spLocks noChangeArrowheads="1"/>
            </p:cNvSpPr>
            <p:nvPr/>
          </p:nvSpPr>
          <p:spPr bwMode="auto">
            <a:xfrm>
              <a:off x="5875" y="960"/>
              <a:ext cx="127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noAutofit/>
            </a:bodyPr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sp>
        <p:nvSpPr>
          <p:cNvPr id="113" name="Line 25"/>
          <p:cNvSpPr>
            <a:spLocks noChangeShapeType="1"/>
          </p:cNvSpPr>
          <p:nvPr/>
        </p:nvSpPr>
        <p:spPr bwMode="auto">
          <a:xfrm flipV="1">
            <a:off x="2557615" y="3736516"/>
            <a:ext cx="1314608" cy="246489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noAutofit/>
          </a:bodyPr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114" name="Object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61494884"/>
              </p:ext>
            </p:extLst>
          </p:nvPr>
        </p:nvGraphicFramePr>
        <p:xfrm>
          <a:off x="5994768" y="3221285"/>
          <a:ext cx="410815" cy="3543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4" imgW="592455" imgH="510032" progId="Visio.Drawing.6">
                  <p:embed/>
                </p:oleObj>
              </mc:Choice>
              <mc:Fallback>
                <p:oleObj name="Visio" r:id="rId4" imgW="592455" imgH="510032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94768" y="3221285"/>
                        <a:ext cx="410815" cy="35432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chemeClr val="accent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5" name="Object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87424334"/>
              </p:ext>
            </p:extLst>
          </p:nvPr>
        </p:nvGraphicFramePr>
        <p:xfrm>
          <a:off x="3872223" y="2810470"/>
          <a:ext cx="400545" cy="3440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6" imgW="592455" imgH="510032" progId="Visio.Drawing.6">
                  <p:embed/>
                </p:oleObj>
              </mc:Choice>
              <mc:Fallback>
                <p:oleObj name="Visio" r:id="rId6" imgW="592455" imgH="510032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72223" y="2810470"/>
                        <a:ext cx="400545" cy="34405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chemeClr val="accent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6" name="Object 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11563656"/>
              </p:ext>
            </p:extLst>
          </p:nvPr>
        </p:nvGraphicFramePr>
        <p:xfrm>
          <a:off x="7966680" y="3139122"/>
          <a:ext cx="400545" cy="3440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8" imgW="592455" imgH="510032" progId="Visio.Drawing.6">
                  <p:embed/>
                </p:oleObj>
              </mc:Choice>
              <mc:Fallback>
                <p:oleObj name="Visio" r:id="rId8" imgW="592455" imgH="510032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66680" y="3139122"/>
                        <a:ext cx="400545" cy="34405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chemeClr val="accent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7" name="Line 29"/>
          <p:cNvSpPr>
            <a:spLocks noChangeShapeType="1"/>
          </p:cNvSpPr>
          <p:nvPr/>
        </p:nvSpPr>
        <p:spPr bwMode="auto">
          <a:xfrm flipV="1">
            <a:off x="2557615" y="2974796"/>
            <a:ext cx="1314608" cy="246489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noAutofit/>
          </a:bodyPr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18" name="Line 30"/>
          <p:cNvSpPr>
            <a:spLocks noChangeShapeType="1"/>
          </p:cNvSpPr>
          <p:nvPr/>
        </p:nvSpPr>
        <p:spPr bwMode="auto">
          <a:xfrm>
            <a:off x="4200875" y="3139122"/>
            <a:ext cx="1793892" cy="280724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noAutofit/>
          </a:bodyPr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19" name="Line 31"/>
          <p:cNvSpPr>
            <a:spLocks noChangeShapeType="1"/>
          </p:cNvSpPr>
          <p:nvPr/>
        </p:nvSpPr>
        <p:spPr bwMode="auto">
          <a:xfrm flipV="1">
            <a:off x="6432971" y="3337683"/>
            <a:ext cx="1451547" cy="47928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noAutofit/>
          </a:bodyPr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pSp>
        <p:nvGrpSpPr>
          <p:cNvPr id="120" name="Group 32"/>
          <p:cNvGrpSpPr>
            <a:grpSpLocks/>
          </p:cNvGrpSpPr>
          <p:nvPr/>
        </p:nvGrpSpPr>
        <p:grpSpPr bwMode="auto">
          <a:xfrm>
            <a:off x="2228963" y="3407864"/>
            <a:ext cx="213967" cy="535771"/>
            <a:chOff x="5875" y="720"/>
            <a:chExt cx="313" cy="1146"/>
          </a:xfrm>
        </p:grpSpPr>
        <p:grpSp>
          <p:nvGrpSpPr>
            <p:cNvPr id="121" name="Group 33"/>
            <p:cNvGrpSpPr>
              <a:grpSpLocks/>
            </p:cNvGrpSpPr>
            <p:nvPr/>
          </p:nvGrpSpPr>
          <p:grpSpPr bwMode="auto">
            <a:xfrm>
              <a:off x="5875" y="720"/>
              <a:ext cx="313" cy="1146"/>
              <a:chOff x="3872" y="1622"/>
              <a:chExt cx="98" cy="388"/>
            </a:xfrm>
          </p:grpSpPr>
          <p:sp>
            <p:nvSpPr>
              <p:cNvPr id="123" name="Freeform 34"/>
              <p:cNvSpPr>
                <a:spLocks/>
              </p:cNvSpPr>
              <p:nvPr/>
            </p:nvSpPr>
            <p:spPr bwMode="auto">
              <a:xfrm>
                <a:off x="3901" y="1622"/>
                <a:ext cx="40" cy="57"/>
              </a:xfrm>
              <a:custGeom>
                <a:avLst/>
                <a:gdLst>
                  <a:gd name="T0" fmla="*/ 40 w 40"/>
                  <a:gd name="T1" fmla="*/ 29 h 57"/>
                  <a:gd name="T2" fmla="*/ 39 w 40"/>
                  <a:gd name="T3" fmla="*/ 16 h 57"/>
                  <a:gd name="T4" fmla="*/ 33 w 40"/>
                  <a:gd name="T5" fmla="*/ 5 h 57"/>
                  <a:gd name="T6" fmla="*/ 24 w 40"/>
                  <a:gd name="T7" fmla="*/ 0 h 57"/>
                  <a:gd name="T8" fmla="*/ 16 w 40"/>
                  <a:gd name="T9" fmla="*/ 0 h 57"/>
                  <a:gd name="T10" fmla="*/ 7 w 40"/>
                  <a:gd name="T11" fmla="*/ 5 h 57"/>
                  <a:gd name="T12" fmla="*/ 1 w 40"/>
                  <a:gd name="T13" fmla="*/ 16 h 57"/>
                  <a:gd name="T14" fmla="*/ 0 w 40"/>
                  <a:gd name="T15" fmla="*/ 29 h 57"/>
                  <a:gd name="T16" fmla="*/ 1 w 40"/>
                  <a:gd name="T17" fmla="*/ 41 h 57"/>
                  <a:gd name="T18" fmla="*/ 7 w 40"/>
                  <a:gd name="T19" fmla="*/ 52 h 57"/>
                  <a:gd name="T20" fmla="*/ 16 w 40"/>
                  <a:gd name="T21" fmla="*/ 57 h 57"/>
                  <a:gd name="T22" fmla="*/ 24 w 40"/>
                  <a:gd name="T23" fmla="*/ 57 h 57"/>
                  <a:gd name="T24" fmla="*/ 33 w 40"/>
                  <a:gd name="T25" fmla="*/ 52 h 57"/>
                  <a:gd name="T26" fmla="*/ 39 w 40"/>
                  <a:gd name="T27" fmla="*/ 41 h 57"/>
                  <a:gd name="T28" fmla="*/ 40 w 40"/>
                  <a:gd name="T29" fmla="*/ 29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40" h="57">
                    <a:moveTo>
                      <a:pt x="40" y="29"/>
                    </a:moveTo>
                    <a:lnTo>
                      <a:pt x="39" y="16"/>
                    </a:lnTo>
                    <a:lnTo>
                      <a:pt x="33" y="5"/>
                    </a:lnTo>
                    <a:lnTo>
                      <a:pt x="24" y="0"/>
                    </a:lnTo>
                    <a:lnTo>
                      <a:pt x="16" y="0"/>
                    </a:lnTo>
                    <a:lnTo>
                      <a:pt x="7" y="5"/>
                    </a:lnTo>
                    <a:lnTo>
                      <a:pt x="1" y="16"/>
                    </a:lnTo>
                    <a:lnTo>
                      <a:pt x="0" y="29"/>
                    </a:lnTo>
                    <a:lnTo>
                      <a:pt x="1" y="41"/>
                    </a:lnTo>
                    <a:lnTo>
                      <a:pt x="7" y="52"/>
                    </a:lnTo>
                    <a:lnTo>
                      <a:pt x="16" y="57"/>
                    </a:lnTo>
                    <a:lnTo>
                      <a:pt x="24" y="57"/>
                    </a:lnTo>
                    <a:lnTo>
                      <a:pt x="33" y="52"/>
                    </a:lnTo>
                    <a:lnTo>
                      <a:pt x="39" y="41"/>
                    </a:lnTo>
                    <a:lnTo>
                      <a:pt x="40" y="29"/>
                    </a:lnTo>
                    <a:close/>
                  </a:path>
                </a:pathLst>
              </a:cu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3175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>
                <a:noAutofit/>
              </a:bodyPr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124" name="Freeform 35"/>
              <p:cNvSpPr>
                <a:spLocks/>
              </p:cNvSpPr>
              <p:nvPr/>
            </p:nvSpPr>
            <p:spPr bwMode="auto">
              <a:xfrm>
                <a:off x="3872" y="1690"/>
                <a:ext cx="98" cy="320"/>
              </a:xfrm>
              <a:custGeom>
                <a:avLst/>
                <a:gdLst>
                  <a:gd name="T0" fmla="*/ 68 w 98"/>
                  <a:gd name="T1" fmla="*/ 0 h 320"/>
                  <a:gd name="T2" fmla="*/ 75 w 98"/>
                  <a:gd name="T3" fmla="*/ 0 h 320"/>
                  <a:gd name="T4" fmla="*/ 84 w 98"/>
                  <a:gd name="T5" fmla="*/ 2 h 320"/>
                  <a:gd name="T6" fmla="*/ 96 w 98"/>
                  <a:gd name="T7" fmla="*/ 25 h 320"/>
                  <a:gd name="T8" fmla="*/ 98 w 98"/>
                  <a:gd name="T9" fmla="*/ 48 h 320"/>
                  <a:gd name="T10" fmla="*/ 98 w 98"/>
                  <a:gd name="T11" fmla="*/ 143 h 320"/>
                  <a:gd name="T12" fmla="*/ 89 w 98"/>
                  <a:gd name="T13" fmla="*/ 155 h 320"/>
                  <a:gd name="T14" fmla="*/ 82 w 98"/>
                  <a:gd name="T15" fmla="*/ 148 h 320"/>
                  <a:gd name="T16" fmla="*/ 80 w 98"/>
                  <a:gd name="T17" fmla="*/ 139 h 320"/>
                  <a:gd name="T18" fmla="*/ 75 w 98"/>
                  <a:gd name="T19" fmla="*/ 53 h 320"/>
                  <a:gd name="T20" fmla="*/ 75 w 98"/>
                  <a:gd name="T21" fmla="*/ 298 h 320"/>
                  <a:gd name="T22" fmla="*/ 75 w 98"/>
                  <a:gd name="T23" fmla="*/ 305 h 320"/>
                  <a:gd name="T24" fmla="*/ 69 w 98"/>
                  <a:gd name="T25" fmla="*/ 318 h 320"/>
                  <a:gd name="T26" fmla="*/ 59 w 98"/>
                  <a:gd name="T27" fmla="*/ 318 h 320"/>
                  <a:gd name="T28" fmla="*/ 53 w 98"/>
                  <a:gd name="T29" fmla="*/ 298 h 320"/>
                  <a:gd name="T30" fmla="*/ 53 w 98"/>
                  <a:gd name="T31" fmla="*/ 155 h 320"/>
                  <a:gd name="T32" fmla="*/ 50 w 98"/>
                  <a:gd name="T33" fmla="*/ 153 h 320"/>
                  <a:gd name="T34" fmla="*/ 45 w 98"/>
                  <a:gd name="T35" fmla="*/ 295 h 320"/>
                  <a:gd name="T36" fmla="*/ 45 w 98"/>
                  <a:gd name="T37" fmla="*/ 303 h 320"/>
                  <a:gd name="T38" fmla="*/ 43 w 98"/>
                  <a:gd name="T39" fmla="*/ 314 h 320"/>
                  <a:gd name="T40" fmla="*/ 34 w 98"/>
                  <a:gd name="T41" fmla="*/ 320 h 320"/>
                  <a:gd name="T42" fmla="*/ 25 w 98"/>
                  <a:gd name="T43" fmla="*/ 312 h 320"/>
                  <a:gd name="T44" fmla="*/ 23 w 98"/>
                  <a:gd name="T45" fmla="*/ 302 h 320"/>
                  <a:gd name="T46" fmla="*/ 23 w 98"/>
                  <a:gd name="T47" fmla="*/ 295 h 320"/>
                  <a:gd name="T48" fmla="*/ 18 w 98"/>
                  <a:gd name="T49" fmla="*/ 53 h 320"/>
                  <a:gd name="T50" fmla="*/ 18 w 98"/>
                  <a:gd name="T51" fmla="*/ 143 h 320"/>
                  <a:gd name="T52" fmla="*/ 18 w 98"/>
                  <a:gd name="T53" fmla="*/ 148 h 320"/>
                  <a:gd name="T54" fmla="*/ 13 w 98"/>
                  <a:gd name="T55" fmla="*/ 153 h 320"/>
                  <a:gd name="T56" fmla="*/ 2 w 98"/>
                  <a:gd name="T57" fmla="*/ 150 h 320"/>
                  <a:gd name="T58" fmla="*/ 0 w 98"/>
                  <a:gd name="T59" fmla="*/ 139 h 320"/>
                  <a:gd name="T60" fmla="*/ 0 w 98"/>
                  <a:gd name="T61" fmla="*/ 44 h 320"/>
                  <a:gd name="T62" fmla="*/ 7 w 98"/>
                  <a:gd name="T63" fmla="*/ 11 h 320"/>
                  <a:gd name="T64" fmla="*/ 20 w 98"/>
                  <a:gd name="T65" fmla="*/ 0 h 320"/>
                  <a:gd name="T66" fmla="*/ 25 w 98"/>
                  <a:gd name="T67" fmla="*/ 0 h 320"/>
                  <a:gd name="T68" fmla="*/ 52 w 98"/>
                  <a:gd name="T69" fmla="*/ 0 h 3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98" h="320">
                    <a:moveTo>
                      <a:pt x="46" y="0"/>
                    </a:moveTo>
                    <a:lnTo>
                      <a:pt x="68" y="0"/>
                    </a:lnTo>
                    <a:lnTo>
                      <a:pt x="73" y="0"/>
                    </a:lnTo>
                    <a:lnTo>
                      <a:pt x="75" y="0"/>
                    </a:lnTo>
                    <a:lnTo>
                      <a:pt x="78" y="0"/>
                    </a:lnTo>
                    <a:lnTo>
                      <a:pt x="84" y="2"/>
                    </a:lnTo>
                    <a:lnTo>
                      <a:pt x="91" y="11"/>
                    </a:lnTo>
                    <a:lnTo>
                      <a:pt x="96" y="25"/>
                    </a:lnTo>
                    <a:lnTo>
                      <a:pt x="98" y="44"/>
                    </a:lnTo>
                    <a:lnTo>
                      <a:pt x="98" y="48"/>
                    </a:lnTo>
                    <a:lnTo>
                      <a:pt x="98" y="139"/>
                    </a:lnTo>
                    <a:lnTo>
                      <a:pt x="98" y="143"/>
                    </a:lnTo>
                    <a:lnTo>
                      <a:pt x="96" y="150"/>
                    </a:lnTo>
                    <a:lnTo>
                      <a:pt x="89" y="155"/>
                    </a:lnTo>
                    <a:lnTo>
                      <a:pt x="84" y="153"/>
                    </a:lnTo>
                    <a:lnTo>
                      <a:pt x="82" y="148"/>
                    </a:lnTo>
                    <a:lnTo>
                      <a:pt x="80" y="143"/>
                    </a:lnTo>
                    <a:lnTo>
                      <a:pt x="80" y="139"/>
                    </a:lnTo>
                    <a:lnTo>
                      <a:pt x="80" y="53"/>
                    </a:lnTo>
                    <a:lnTo>
                      <a:pt x="75" y="53"/>
                    </a:lnTo>
                    <a:lnTo>
                      <a:pt x="75" y="295"/>
                    </a:lnTo>
                    <a:lnTo>
                      <a:pt x="75" y="298"/>
                    </a:lnTo>
                    <a:lnTo>
                      <a:pt x="75" y="300"/>
                    </a:lnTo>
                    <a:lnTo>
                      <a:pt x="75" y="305"/>
                    </a:lnTo>
                    <a:lnTo>
                      <a:pt x="73" y="312"/>
                    </a:lnTo>
                    <a:lnTo>
                      <a:pt x="69" y="318"/>
                    </a:lnTo>
                    <a:lnTo>
                      <a:pt x="64" y="320"/>
                    </a:lnTo>
                    <a:lnTo>
                      <a:pt x="59" y="318"/>
                    </a:lnTo>
                    <a:lnTo>
                      <a:pt x="55" y="316"/>
                    </a:lnTo>
                    <a:lnTo>
                      <a:pt x="53" y="298"/>
                    </a:lnTo>
                    <a:lnTo>
                      <a:pt x="53" y="295"/>
                    </a:lnTo>
                    <a:lnTo>
                      <a:pt x="53" y="155"/>
                    </a:lnTo>
                    <a:lnTo>
                      <a:pt x="48" y="153"/>
                    </a:lnTo>
                    <a:lnTo>
                      <a:pt x="50" y="153"/>
                    </a:lnTo>
                    <a:lnTo>
                      <a:pt x="45" y="155"/>
                    </a:lnTo>
                    <a:lnTo>
                      <a:pt x="45" y="295"/>
                    </a:lnTo>
                    <a:lnTo>
                      <a:pt x="45" y="298"/>
                    </a:lnTo>
                    <a:lnTo>
                      <a:pt x="45" y="303"/>
                    </a:lnTo>
                    <a:lnTo>
                      <a:pt x="45" y="307"/>
                    </a:lnTo>
                    <a:lnTo>
                      <a:pt x="43" y="314"/>
                    </a:lnTo>
                    <a:lnTo>
                      <a:pt x="39" y="318"/>
                    </a:lnTo>
                    <a:lnTo>
                      <a:pt x="34" y="320"/>
                    </a:lnTo>
                    <a:lnTo>
                      <a:pt x="29" y="318"/>
                    </a:lnTo>
                    <a:lnTo>
                      <a:pt x="25" y="312"/>
                    </a:lnTo>
                    <a:lnTo>
                      <a:pt x="23" y="305"/>
                    </a:lnTo>
                    <a:lnTo>
                      <a:pt x="23" y="302"/>
                    </a:lnTo>
                    <a:lnTo>
                      <a:pt x="23" y="298"/>
                    </a:lnTo>
                    <a:lnTo>
                      <a:pt x="23" y="295"/>
                    </a:lnTo>
                    <a:lnTo>
                      <a:pt x="23" y="53"/>
                    </a:lnTo>
                    <a:lnTo>
                      <a:pt x="18" y="53"/>
                    </a:lnTo>
                    <a:lnTo>
                      <a:pt x="18" y="139"/>
                    </a:lnTo>
                    <a:lnTo>
                      <a:pt x="18" y="143"/>
                    </a:lnTo>
                    <a:lnTo>
                      <a:pt x="18" y="144"/>
                    </a:lnTo>
                    <a:lnTo>
                      <a:pt x="18" y="148"/>
                    </a:lnTo>
                    <a:lnTo>
                      <a:pt x="14" y="152"/>
                    </a:lnTo>
                    <a:lnTo>
                      <a:pt x="13" y="153"/>
                    </a:lnTo>
                    <a:lnTo>
                      <a:pt x="9" y="155"/>
                    </a:lnTo>
                    <a:lnTo>
                      <a:pt x="2" y="150"/>
                    </a:lnTo>
                    <a:lnTo>
                      <a:pt x="0" y="143"/>
                    </a:lnTo>
                    <a:lnTo>
                      <a:pt x="0" y="139"/>
                    </a:lnTo>
                    <a:lnTo>
                      <a:pt x="0" y="48"/>
                    </a:lnTo>
                    <a:lnTo>
                      <a:pt x="0" y="44"/>
                    </a:lnTo>
                    <a:lnTo>
                      <a:pt x="2" y="27"/>
                    </a:lnTo>
                    <a:lnTo>
                      <a:pt x="7" y="11"/>
                    </a:lnTo>
                    <a:lnTo>
                      <a:pt x="14" y="3"/>
                    </a:lnTo>
                    <a:lnTo>
                      <a:pt x="20" y="0"/>
                    </a:lnTo>
                    <a:lnTo>
                      <a:pt x="21" y="0"/>
                    </a:lnTo>
                    <a:lnTo>
                      <a:pt x="25" y="0"/>
                    </a:lnTo>
                    <a:lnTo>
                      <a:pt x="29" y="0"/>
                    </a:lnTo>
                    <a:lnTo>
                      <a:pt x="52" y="0"/>
                    </a:lnTo>
                    <a:lnTo>
                      <a:pt x="46" y="0"/>
                    </a:lnTo>
                    <a:close/>
                  </a:path>
                </a:pathLst>
              </a:cu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3175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>
                <a:noAutofit/>
              </a:bodyPr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p:grpSp>
        <p:sp>
          <p:nvSpPr>
            <p:cNvPr id="122" name="Oval 36"/>
            <p:cNvSpPr>
              <a:spLocks noChangeArrowheads="1"/>
            </p:cNvSpPr>
            <p:nvPr/>
          </p:nvSpPr>
          <p:spPr bwMode="auto">
            <a:xfrm>
              <a:off x="5875" y="960"/>
              <a:ext cx="127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noAutofit/>
            </a:bodyPr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grpSp>
        <p:nvGrpSpPr>
          <p:cNvPr id="125" name="Group 37"/>
          <p:cNvGrpSpPr>
            <a:grpSpLocks/>
          </p:cNvGrpSpPr>
          <p:nvPr/>
        </p:nvGrpSpPr>
        <p:grpSpPr bwMode="auto">
          <a:xfrm>
            <a:off x="2228963" y="4207241"/>
            <a:ext cx="213967" cy="535772"/>
            <a:chOff x="5875" y="720"/>
            <a:chExt cx="313" cy="1146"/>
          </a:xfrm>
        </p:grpSpPr>
        <p:grpSp>
          <p:nvGrpSpPr>
            <p:cNvPr id="126" name="Group 38"/>
            <p:cNvGrpSpPr>
              <a:grpSpLocks/>
            </p:cNvGrpSpPr>
            <p:nvPr/>
          </p:nvGrpSpPr>
          <p:grpSpPr bwMode="auto">
            <a:xfrm>
              <a:off x="5875" y="720"/>
              <a:ext cx="313" cy="1146"/>
              <a:chOff x="3872" y="1622"/>
              <a:chExt cx="98" cy="388"/>
            </a:xfrm>
          </p:grpSpPr>
          <p:sp>
            <p:nvSpPr>
              <p:cNvPr id="128" name="Freeform 39"/>
              <p:cNvSpPr>
                <a:spLocks/>
              </p:cNvSpPr>
              <p:nvPr/>
            </p:nvSpPr>
            <p:spPr bwMode="auto">
              <a:xfrm>
                <a:off x="3901" y="1622"/>
                <a:ext cx="40" cy="57"/>
              </a:xfrm>
              <a:custGeom>
                <a:avLst/>
                <a:gdLst>
                  <a:gd name="T0" fmla="*/ 40 w 40"/>
                  <a:gd name="T1" fmla="*/ 29 h 57"/>
                  <a:gd name="T2" fmla="*/ 39 w 40"/>
                  <a:gd name="T3" fmla="*/ 16 h 57"/>
                  <a:gd name="T4" fmla="*/ 33 w 40"/>
                  <a:gd name="T5" fmla="*/ 5 h 57"/>
                  <a:gd name="T6" fmla="*/ 24 w 40"/>
                  <a:gd name="T7" fmla="*/ 0 h 57"/>
                  <a:gd name="T8" fmla="*/ 16 w 40"/>
                  <a:gd name="T9" fmla="*/ 0 h 57"/>
                  <a:gd name="T10" fmla="*/ 7 w 40"/>
                  <a:gd name="T11" fmla="*/ 5 h 57"/>
                  <a:gd name="T12" fmla="*/ 1 w 40"/>
                  <a:gd name="T13" fmla="*/ 16 h 57"/>
                  <a:gd name="T14" fmla="*/ 0 w 40"/>
                  <a:gd name="T15" fmla="*/ 29 h 57"/>
                  <a:gd name="T16" fmla="*/ 1 w 40"/>
                  <a:gd name="T17" fmla="*/ 41 h 57"/>
                  <a:gd name="T18" fmla="*/ 7 w 40"/>
                  <a:gd name="T19" fmla="*/ 52 h 57"/>
                  <a:gd name="T20" fmla="*/ 16 w 40"/>
                  <a:gd name="T21" fmla="*/ 57 h 57"/>
                  <a:gd name="T22" fmla="*/ 24 w 40"/>
                  <a:gd name="T23" fmla="*/ 57 h 57"/>
                  <a:gd name="T24" fmla="*/ 33 w 40"/>
                  <a:gd name="T25" fmla="*/ 52 h 57"/>
                  <a:gd name="T26" fmla="*/ 39 w 40"/>
                  <a:gd name="T27" fmla="*/ 41 h 57"/>
                  <a:gd name="T28" fmla="*/ 40 w 40"/>
                  <a:gd name="T29" fmla="*/ 29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40" h="57">
                    <a:moveTo>
                      <a:pt x="40" y="29"/>
                    </a:moveTo>
                    <a:lnTo>
                      <a:pt x="39" y="16"/>
                    </a:lnTo>
                    <a:lnTo>
                      <a:pt x="33" y="5"/>
                    </a:lnTo>
                    <a:lnTo>
                      <a:pt x="24" y="0"/>
                    </a:lnTo>
                    <a:lnTo>
                      <a:pt x="16" y="0"/>
                    </a:lnTo>
                    <a:lnTo>
                      <a:pt x="7" y="5"/>
                    </a:lnTo>
                    <a:lnTo>
                      <a:pt x="1" y="16"/>
                    </a:lnTo>
                    <a:lnTo>
                      <a:pt x="0" y="29"/>
                    </a:lnTo>
                    <a:lnTo>
                      <a:pt x="1" y="41"/>
                    </a:lnTo>
                    <a:lnTo>
                      <a:pt x="7" y="52"/>
                    </a:lnTo>
                    <a:lnTo>
                      <a:pt x="16" y="57"/>
                    </a:lnTo>
                    <a:lnTo>
                      <a:pt x="24" y="57"/>
                    </a:lnTo>
                    <a:lnTo>
                      <a:pt x="33" y="52"/>
                    </a:lnTo>
                    <a:lnTo>
                      <a:pt x="39" y="41"/>
                    </a:lnTo>
                    <a:lnTo>
                      <a:pt x="40" y="29"/>
                    </a:lnTo>
                    <a:close/>
                  </a:path>
                </a:pathLst>
              </a:cu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3175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>
                <a:noAutofit/>
              </a:bodyPr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129" name="Freeform 40"/>
              <p:cNvSpPr>
                <a:spLocks/>
              </p:cNvSpPr>
              <p:nvPr/>
            </p:nvSpPr>
            <p:spPr bwMode="auto">
              <a:xfrm>
                <a:off x="3872" y="1690"/>
                <a:ext cx="98" cy="320"/>
              </a:xfrm>
              <a:custGeom>
                <a:avLst/>
                <a:gdLst>
                  <a:gd name="T0" fmla="*/ 68 w 98"/>
                  <a:gd name="T1" fmla="*/ 0 h 320"/>
                  <a:gd name="T2" fmla="*/ 75 w 98"/>
                  <a:gd name="T3" fmla="*/ 0 h 320"/>
                  <a:gd name="T4" fmla="*/ 84 w 98"/>
                  <a:gd name="T5" fmla="*/ 2 h 320"/>
                  <a:gd name="T6" fmla="*/ 96 w 98"/>
                  <a:gd name="T7" fmla="*/ 25 h 320"/>
                  <a:gd name="T8" fmla="*/ 98 w 98"/>
                  <a:gd name="T9" fmla="*/ 48 h 320"/>
                  <a:gd name="T10" fmla="*/ 98 w 98"/>
                  <a:gd name="T11" fmla="*/ 143 h 320"/>
                  <a:gd name="T12" fmla="*/ 89 w 98"/>
                  <a:gd name="T13" fmla="*/ 155 h 320"/>
                  <a:gd name="T14" fmla="*/ 82 w 98"/>
                  <a:gd name="T15" fmla="*/ 148 h 320"/>
                  <a:gd name="T16" fmla="*/ 80 w 98"/>
                  <a:gd name="T17" fmla="*/ 139 h 320"/>
                  <a:gd name="T18" fmla="*/ 75 w 98"/>
                  <a:gd name="T19" fmla="*/ 53 h 320"/>
                  <a:gd name="T20" fmla="*/ 75 w 98"/>
                  <a:gd name="T21" fmla="*/ 298 h 320"/>
                  <a:gd name="T22" fmla="*/ 75 w 98"/>
                  <a:gd name="T23" fmla="*/ 305 h 320"/>
                  <a:gd name="T24" fmla="*/ 69 w 98"/>
                  <a:gd name="T25" fmla="*/ 318 h 320"/>
                  <a:gd name="T26" fmla="*/ 59 w 98"/>
                  <a:gd name="T27" fmla="*/ 318 h 320"/>
                  <a:gd name="T28" fmla="*/ 53 w 98"/>
                  <a:gd name="T29" fmla="*/ 298 h 320"/>
                  <a:gd name="T30" fmla="*/ 53 w 98"/>
                  <a:gd name="T31" fmla="*/ 155 h 320"/>
                  <a:gd name="T32" fmla="*/ 50 w 98"/>
                  <a:gd name="T33" fmla="*/ 153 h 320"/>
                  <a:gd name="T34" fmla="*/ 45 w 98"/>
                  <a:gd name="T35" fmla="*/ 295 h 320"/>
                  <a:gd name="T36" fmla="*/ 45 w 98"/>
                  <a:gd name="T37" fmla="*/ 303 h 320"/>
                  <a:gd name="T38" fmla="*/ 43 w 98"/>
                  <a:gd name="T39" fmla="*/ 314 h 320"/>
                  <a:gd name="T40" fmla="*/ 34 w 98"/>
                  <a:gd name="T41" fmla="*/ 320 h 320"/>
                  <a:gd name="T42" fmla="*/ 25 w 98"/>
                  <a:gd name="T43" fmla="*/ 312 h 320"/>
                  <a:gd name="T44" fmla="*/ 23 w 98"/>
                  <a:gd name="T45" fmla="*/ 302 h 320"/>
                  <a:gd name="T46" fmla="*/ 23 w 98"/>
                  <a:gd name="T47" fmla="*/ 295 h 320"/>
                  <a:gd name="T48" fmla="*/ 18 w 98"/>
                  <a:gd name="T49" fmla="*/ 53 h 320"/>
                  <a:gd name="T50" fmla="*/ 18 w 98"/>
                  <a:gd name="T51" fmla="*/ 143 h 320"/>
                  <a:gd name="T52" fmla="*/ 18 w 98"/>
                  <a:gd name="T53" fmla="*/ 148 h 320"/>
                  <a:gd name="T54" fmla="*/ 13 w 98"/>
                  <a:gd name="T55" fmla="*/ 153 h 320"/>
                  <a:gd name="T56" fmla="*/ 2 w 98"/>
                  <a:gd name="T57" fmla="*/ 150 h 320"/>
                  <a:gd name="T58" fmla="*/ 0 w 98"/>
                  <a:gd name="T59" fmla="*/ 139 h 320"/>
                  <a:gd name="T60" fmla="*/ 0 w 98"/>
                  <a:gd name="T61" fmla="*/ 44 h 320"/>
                  <a:gd name="T62" fmla="*/ 7 w 98"/>
                  <a:gd name="T63" fmla="*/ 11 h 320"/>
                  <a:gd name="T64" fmla="*/ 20 w 98"/>
                  <a:gd name="T65" fmla="*/ 0 h 320"/>
                  <a:gd name="T66" fmla="*/ 25 w 98"/>
                  <a:gd name="T67" fmla="*/ 0 h 320"/>
                  <a:gd name="T68" fmla="*/ 52 w 98"/>
                  <a:gd name="T69" fmla="*/ 0 h 3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98" h="320">
                    <a:moveTo>
                      <a:pt x="46" y="0"/>
                    </a:moveTo>
                    <a:lnTo>
                      <a:pt x="68" y="0"/>
                    </a:lnTo>
                    <a:lnTo>
                      <a:pt x="73" y="0"/>
                    </a:lnTo>
                    <a:lnTo>
                      <a:pt x="75" y="0"/>
                    </a:lnTo>
                    <a:lnTo>
                      <a:pt x="78" y="0"/>
                    </a:lnTo>
                    <a:lnTo>
                      <a:pt x="84" y="2"/>
                    </a:lnTo>
                    <a:lnTo>
                      <a:pt x="91" y="11"/>
                    </a:lnTo>
                    <a:lnTo>
                      <a:pt x="96" y="25"/>
                    </a:lnTo>
                    <a:lnTo>
                      <a:pt x="98" y="44"/>
                    </a:lnTo>
                    <a:lnTo>
                      <a:pt x="98" y="48"/>
                    </a:lnTo>
                    <a:lnTo>
                      <a:pt x="98" y="139"/>
                    </a:lnTo>
                    <a:lnTo>
                      <a:pt x="98" y="143"/>
                    </a:lnTo>
                    <a:lnTo>
                      <a:pt x="96" y="150"/>
                    </a:lnTo>
                    <a:lnTo>
                      <a:pt x="89" y="155"/>
                    </a:lnTo>
                    <a:lnTo>
                      <a:pt x="84" y="153"/>
                    </a:lnTo>
                    <a:lnTo>
                      <a:pt x="82" y="148"/>
                    </a:lnTo>
                    <a:lnTo>
                      <a:pt x="80" y="143"/>
                    </a:lnTo>
                    <a:lnTo>
                      <a:pt x="80" y="139"/>
                    </a:lnTo>
                    <a:lnTo>
                      <a:pt x="80" y="53"/>
                    </a:lnTo>
                    <a:lnTo>
                      <a:pt x="75" y="53"/>
                    </a:lnTo>
                    <a:lnTo>
                      <a:pt x="75" y="295"/>
                    </a:lnTo>
                    <a:lnTo>
                      <a:pt x="75" y="298"/>
                    </a:lnTo>
                    <a:lnTo>
                      <a:pt x="75" y="300"/>
                    </a:lnTo>
                    <a:lnTo>
                      <a:pt x="75" y="305"/>
                    </a:lnTo>
                    <a:lnTo>
                      <a:pt x="73" y="312"/>
                    </a:lnTo>
                    <a:lnTo>
                      <a:pt x="69" y="318"/>
                    </a:lnTo>
                    <a:lnTo>
                      <a:pt x="64" y="320"/>
                    </a:lnTo>
                    <a:lnTo>
                      <a:pt x="59" y="318"/>
                    </a:lnTo>
                    <a:lnTo>
                      <a:pt x="55" y="316"/>
                    </a:lnTo>
                    <a:lnTo>
                      <a:pt x="53" y="298"/>
                    </a:lnTo>
                    <a:lnTo>
                      <a:pt x="53" y="295"/>
                    </a:lnTo>
                    <a:lnTo>
                      <a:pt x="53" y="155"/>
                    </a:lnTo>
                    <a:lnTo>
                      <a:pt x="48" y="153"/>
                    </a:lnTo>
                    <a:lnTo>
                      <a:pt x="50" y="153"/>
                    </a:lnTo>
                    <a:lnTo>
                      <a:pt x="45" y="155"/>
                    </a:lnTo>
                    <a:lnTo>
                      <a:pt x="45" y="295"/>
                    </a:lnTo>
                    <a:lnTo>
                      <a:pt x="45" y="298"/>
                    </a:lnTo>
                    <a:lnTo>
                      <a:pt x="45" y="303"/>
                    </a:lnTo>
                    <a:lnTo>
                      <a:pt x="45" y="307"/>
                    </a:lnTo>
                    <a:lnTo>
                      <a:pt x="43" y="314"/>
                    </a:lnTo>
                    <a:lnTo>
                      <a:pt x="39" y="318"/>
                    </a:lnTo>
                    <a:lnTo>
                      <a:pt x="34" y="320"/>
                    </a:lnTo>
                    <a:lnTo>
                      <a:pt x="29" y="318"/>
                    </a:lnTo>
                    <a:lnTo>
                      <a:pt x="25" y="312"/>
                    </a:lnTo>
                    <a:lnTo>
                      <a:pt x="23" y="305"/>
                    </a:lnTo>
                    <a:lnTo>
                      <a:pt x="23" y="302"/>
                    </a:lnTo>
                    <a:lnTo>
                      <a:pt x="23" y="298"/>
                    </a:lnTo>
                    <a:lnTo>
                      <a:pt x="23" y="295"/>
                    </a:lnTo>
                    <a:lnTo>
                      <a:pt x="23" y="53"/>
                    </a:lnTo>
                    <a:lnTo>
                      <a:pt x="18" y="53"/>
                    </a:lnTo>
                    <a:lnTo>
                      <a:pt x="18" y="139"/>
                    </a:lnTo>
                    <a:lnTo>
                      <a:pt x="18" y="143"/>
                    </a:lnTo>
                    <a:lnTo>
                      <a:pt x="18" y="144"/>
                    </a:lnTo>
                    <a:lnTo>
                      <a:pt x="18" y="148"/>
                    </a:lnTo>
                    <a:lnTo>
                      <a:pt x="14" y="152"/>
                    </a:lnTo>
                    <a:lnTo>
                      <a:pt x="13" y="153"/>
                    </a:lnTo>
                    <a:lnTo>
                      <a:pt x="9" y="155"/>
                    </a:lnTo>
                    <a:lnTo>
                      <a:pt x="2" y="150"/>
                    </a:lnTo>
                    <a:lnTo>
                      <a:pt x="0" y="143"/>
                    </a:lnTo>
                    <a:lnTo>
                      <a:pt x="0" y="139"/>
                    </a:lnTo>
                    <a:lnTo>
                      <a:pt x="0" y="48"/>
                    </a:lnTo>
                    <a:lnTo>
                      <a:pt x="0" y="44"/>
                    </a:lnTo>
                    <a:lnTo>
                      <a:pt x="2" y="27"/>
                    </a:lnTo>
                    <a:lnTo>
                      <a:pt x="7" y="11"/>
                    </a:lnTo>
                    <a:lnTo>
                      <a:pt x="14" y="3"/>
                    </a:lnTo>
                    <a:lnTo>
                      <a:pt x="20" y="0"/>
                    </a:lnTo>
                    <a:lnTo>
                      <a:pt x="21" y="0"/>
                    </a:lnTo>
                    <a:lnTo>
                      <a:pt x="25" y="0"/>
                    </a:lnTo>
                    <a:lnTo>
                      <a:pt x="29" y="0"/>
                    </a:lnTo>
                    <a:lnTo>
                      <a:pt x="52" y="0"/>
                    </a:lnTo>
                    <a:lnTo>
                      <a:pt x="46" y="0"/>
                    </a:lnTo>
                    <a:close/>
                  </a:path>
                </a:pathLst>
              </a:cu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3175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>
                <a:noAutofit/>
              </a:bodyPr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p:grpSp>
        <p:sp>
          <p:nvSpPr>
            <p:cNvPr id="127" name="Oval 41"/>
            <p:cNvSpPr>
              <a:spLocks noChangeArrowheads="1"/>
            </p:cNvSpPr>
            <p:nvPr/>
          </p:nvSpPr>
          <p:spPr bwMode="auto">
            <a:xfrm>
              <a:off x="5875" y="960"/>
              <a:ext cx="127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noAutofit/>
            </a:bodyPr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graphicFrame>
        <p:nvGraphicFramePr>
          <p:cNvPr id="130" name="Object 4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09015857"/>
              </p:ext>
            </p:extLst>
          </p:nvPr>
        </p:nvGraphicFramePr>
        <p:xfrm>
          <a:off x="3872223" y="4289404"/>
          <a:ext cx="400545" cy="3440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9" imgW="592455" imgH="510032" progId="Visio.Drawing.6">
                  <p:embed/>
                </p:oleObj>
              </mc:Choice>
              <mc:Fallback>
                <p:oleObj name="Visio" r:id="rId9" imgW="592455" imgH="510032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72223" y="4289404"/>
                        <a:ext cx="400545" cy="34405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chemeClr val="accent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1" name="Line 43"/>
          <p:cNvSpPr>
            <a:spLocks noChangeShapeType="1"/>
          </p:cNvSpPr>
          <p:nvPr/>
        </p:nvSpPr>
        <p:spPr bwMode="auto">
          <a:xfrm flipV="1">
            <a:off x="2557615" y="4453730"/>
            <a:ext cx="1314608" cy="246489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noAutofit/>
          </a:bodyPr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32" name="Line 44"/>
          <p:cNvSpPr>
            <a:spLocks noChangeShapeType="1"/>
          </p:cNvSpPr>
          <p:nvPr/>
        </p:nvSpPr>
        <p:spPr bwMode="auto">
          <a:xfrm>
            <a:off x="4200875" y="4618057"/>
            <a:ext cx="1776775" cy="172885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noAutofit/>
          </a:bodyPr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133" name="Object 4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87572456"/>
              </p:ext>
            </p:extLst>
          </p:nvPr>
        </p:nvGraphicFramePr>
        <p:xfrm>
          <a:off x="5994768" y="4618057"/>
          <a:ext cx="400545" cy="3440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10" imgW="592455" imgH="510032" progId="Visio.Drawing.6">
                  <p:embed/>
                </p:oleObj>
              </mc:Choice>
              <mc:Fallback>
                <p:oleObj name="Visio" r:id="rId10" imgW="592455" imgH="510032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94768" y="4618057"/>
                        <a:ext cx="400545" cy="34405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chemeClr val="accent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34" name="Group 46"/>
          <p:cNvGrpSpPr>
            <a:grpSpLocks/>
          </p:cNvGrpSpPr>
          <p:nvPr/>
        </p:nvGrpSpPr>
        <p:grpSpPr bwMode="auto">
          <a:xfrm>
            <a:off x="2228963" y="4864546"/>
            <a:ext cx="213967" cy="535772"/>
            <a:chOff x="5875" y="720"/>
            <a:chExt cx="313" cy="1146"/>
          </a:xfrm>
        </p:grpSpPr>
        <p:grpSp>
          <p:nvGrpSpPr>
            <p:cNvPr id="135" name="Group 47"/>
            <p:cNvGrpSpPr>
              <a:grpSpLocks/>
            </p:cNvGrpSpPr>
            <p:nvPr/>
          </p:nvGrpSpPr>
          <p:grpSpPr bwMode="auto">
            <a:xfrm>
              <a:off x="5875" y="720"/>
              <a:ext cx="313" cy="1146"/>
              <a:chOff x="3872" y="1622"/>
              <a:chExt cx="98" cy="388"/>
            </a:xfrm>
          </p:grpSpPr>
          <p:sp>
            <p:nvSpPr>
              <p:cNvPr id="137" name="Freeform 48"/>
              <p:cNvSpPr>
                <a:spLocks/>
              </p:cNvSpPr>
              <p:nvPr/>
            </p:nvSpPr>
            <p:spPr bwMode="auto">
              <a:xfrm>
                <a:off x="3901" y="1622"/>
                <a:ext cx="40" cy="57"/>
              </a:xfrm>
              <a:custGeom>
                <a:avLst/>
                <a:gdLst>
                  <a:gd name="T0" fmla="*/ 40 w 40"/>
                  <a:gd name="T1" fmla="*/ 29 h 57"/>
                  <a:gd name="T2" fmla="*/ 39 w 40"/>
                  <a:gd name="T3" fmla="*/ 16 h 57"/>
                  <a:gd name="T4" fmla="*/ 33 w 40"/>
                  <a:gd name="T5" fmla="*/ 5 h 57"/>
                  <a:gd name="T6" fmla="*/ 24 w 40"/>
                  <a:gd name="T7" fmla="*/ 0 h 57"/>
                  <a:gd name="T8" fmla="*/ 16 w 40"/>
                  <a:gd name="T9" fmla="*/ 0 h 57"/>
                  <a:gd name="T10" fmla="*/ 7 w 40"/>
                  <a:gd name="T11" fmla="*/ 5 h 57"/>
                  <a:gd name="T12" fmla="*/ 1 w 40"/>
                  <a:gd name="T13" fmla="*/ 16 h 57"/>
                  <a:gd name="T14" fmla="*/ 0 w 40"/>
                  <a:gd name="T15" fmla="*/ 29 h 57"/>
                  <a:gd name="T16" fmla="*/ 1 w 40"/>
                  <a:gd name="T17" fmla="*/ 41 h 57"/>
                  <a:gd name="T18" fmla="*/ 7 w 40"/>
                  <a:gd name="T19" fmla="*/ 52 h 57"/>
                  <a:gd name="T20" fmla="*/ 16 w 40"/>
                  <a:gd name="T21" fmla="*/ 57 h 57"/>
                  <a:gd name="T22" fmla="*/ 24 w 40"/>
                  <a:gd name="T23" fmla="*/ 57 h 57"/>
                  <a:gd name="T24" fmla="*/ 33 w 40"/>
                  <a:gd name="T25" fmla="*/ 52 h 57"/>
                  <a:gd name="T26" fmla="*/ 39 w 40"/>
                  <a:gd name="T27" fmla="*/ 41 h 57"/>
                  <a:gd name="T28" fmla="*/ 40 w 40"/>
                  <a:gd name="T29" fmla="*/ 29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40" h="57">
                    <a:moveTo>
                      <a:pt x="40" y="29"/>
                    </a:moveTo>
                    <a:lnTo>
                      <a:pt x="39" y="16"/>
                    </a:lnTo>
                    <a:lnTo>
                      <a:pt x="33" y="5"/>
                    </a:lnTo>
                    <a:lnTo>
                      <a:pt x="24" y="0"/>
                    </a:lnTo>
                    <a:lnTo>
                      <a:pt x="16" y="0"/>
                    </a:lnTo>
                    <a:lnTo>
                      <a:pt x="7" y="5"/>
                    </a:lnTo>
                    <a:lnTo>
                      <a:pt x="1" y="16"/>
                    </a:lnTo>
                    <a:lnTo>
                      <a:pt x="0" y="29"/>
                    </a:lnTo>
                    <a:lnTo>
                      <a:pt x="1" y="41"/>
                    </a:lnTo>
                    <a:lnTo>
                      <a:pt x="7" y="52"/>
                    </a:lnTo>
                    <a:lnTo>
                      <a:pt x="16" y="57"/>
                    </a:lnTo>
                    <a:lnTo>
                      <a:pt x="24" y="57"/>
                    </a:lnTo>
                    <a:lnTo>
                      <a:pt x="33" y="52"/>
                    </a:lnTo>
                    <a:lnTo>
                      <a:pt x="39" y="41"/>
                    </a:lnTo>
                    <a:lnTo>
                      <a:pt x="40" y="29"/>
                    </a:lnTo>
                    <a:close/>
                  </a:path>
                </a:pathLst>
              </a:cu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3175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>
                <a:noAutofit/>
              </a:bodyPr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138" name="Freeform 49"/>
              <p:cNvSpPr>
                <a:spLocks/>
              </p:cNvSpPr>
              <p:nvPr/>
            </p:nvSpPr>
            <p:spPr bwMode="auto">
              <a:xfrm>
                <a:off x="3872" y="1690"/>
                <a:ext cx="98" cy="320"/>
              </a:xfrm>
              <a:custGeom>
                <a:avLst/>
                <a:gdLst>
                  <a:gd name="T0" fmla="*/ 68 w 98"/>
                  <a:gd name="T1" fmla="*/ 0 h 320"/>
                  <a:gd name="T2" fmla="*/ 75 w 98"/>
                  <a:gd name="T3" fmla="*/ 0 h 320"/>
                  <a:gd name="T4" fmla="*/ 84 w 98"/>
                  <a:gd name="T5" fmla="*/ 2 h 320"/>
                  <a:gd name="T6" fmla="*/ 96 w 98"/>
                  <a:gd name="T7" fmla="*/ 25 h 320"/>
                  <a:gd name="T8" fmla="*/ 98 w 98"/>
                  <a:gd name="T9" fmla="*/ 48 h 320"/>
                  <a:gd name="T10" fmla="*/ 98 w 98"/>
                  <a:gd name="T11" fmla="*/ 143 h 320"/>
                  <a:gd name="T12" fmla="*/ 89 w 98"/>
                  <a:gd name="T13" fmla="*/ 155 h 320"/>
                  <a:gd name="T14" fmla="*/ 82 w 98"/>
                  <a:gd name="T15" fmla="*/ 148 h 320"/>
                  <a:gd name="T16" fmla="*/ 80 w 98"/>
                  <a:gd name="T17" fmla="*/ 139 h 320"/>
                  <a:gd name="T18" fmla="*/ 75 w 98"/>
                  <a:gd name="T19" fmla="*/ 53 h 320"/>
                  <a:gd name="T20" fmla="*/ 75 w 98"/>
                  <a:gd name="T21" fmla="*/ 298 h 320"/>
                  <a:gd name="T22" fmla="*/ 75 w 98"/>
                  <a:gd name="T23" fmla="*/ 305 h 320"/>
                  <a:gd name="T24" fmla="*/ 69 w 98"/>
                  <a:gd name="T25" fmla="*/ 318 h 320"/>
                  <a:gd name="T26" fmla="*/ 59 w 98"/>
                  <a:gd name="T27" fmla="*/ 318 h 320"/>
                  <a:gd name="T28" fmla="*/ 53 w 98"/>
                  <a:gd name="T29" fmla="*/ 298 h 320"/>
                  <a:gd name="T30" fmla="*/ 53 w 98"/>
                  <a:gd name="T31" fmla="*/ 155 h 320"/>
                  <a:gd name="T32" fmla="*/ 50 w 98"/>
                  <a:gd name="T33" fmla="*/ 153 h 320"/>
                  <a:gd name="T34" fmla="*/ 45 w 98"/>
                  <a:gd name="T35" fmla="*/ 295 h 320"/>
                  <a:gd name="T36" fmla="*/ 45 w 98"/>
                  <a:gd name="T37" fmla="*/ 303 h 320"/>
                  <a:gd name="T38" fmla="*/ 43 w 98"/>
                  <a:gd name="T39" fmla="*/ 314 h 320"/>
                  <a:gd name="T40" fmla="*/ 34 w 98"/>
                  <a:gd name="T41" fmla="*/ 320 h 320"/>
                  <a:gd name="T42" fmla="*/ 25 w 98"/>
                  <a:gd name="T43" fmla="*/ 312 h 320"/>
                  <a:gd name="T44" fmla="*/ 23 w 98"/>
                  <a:gd name="T45" fmla="*/ 302 h 320"/>
                  <a:gd name="T46" fmla="*/ 23 w 98"/>
                  <a:gd name="T47" fmla="*/ 295 h 320"/>
                  <a:gd name="T48" fmla="*/ 18 w 98"/>
                  <a:gd name="T49" fmla="*/ 53 h 320"/>
                  <a:gd name="T50" fmla="*/ 18 w 98"/>
                  <a:gd name="T51" fmla="*/ 143 h 320"/>
                  <a:gd name="T52" fmla="*/ 18 w 98"/>
                  <a:gd name="T53" fmla="*/ 148 h 320"/>
                  <a:gd name="T54" fmla="*/ 13 w 98"/>
                  <a:gd name="T55" fmla="*/ 153 h 320"/>
                  <a:gd name="T56" fmla="*/ 2 w 98"/>
                  <a:gd name="T57" fmla="*/ 150 h 320"/>
                  <a:gd name="T58" fmla="*/ 0 w 98"/>
                  <a:gd name="T59" fmla="*/ 139 h 320"/>
                  <a:gd name="T60" fmla="*/ 0 w 98"/>
                  <a:gd name="T61" fmla="*/ 44 h 320"/>
                  <a:gd name="T62" fmla="*/ 7 w 98"/>
                  <a:gd name="T63" fmla="*/ 11 h 320"/>
                  <a:gd name="T64" fmla="*/ 20 w 98"/>
                  <a:gd name="T65" fmla="*/ 0 h 320"/>
                  <a:gd name="T66" fmla="*/ 25 w 98"/>
                  <a:gd name="T67" fmla="*/ 0 h 320"/>
                  <a:gd name="T68" fmla="*/ 52 w 98"/>
                  <a:gd name="T69" fmla="*/ 0 h 3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98" h="320">
                    <a:moveTo>
                      <a:pt x="46" y="0"/>
                    </a:moveTo>
                    <a:lnTo>
                      <a:pt x="68" y="0"/>
                    </a:lnTo>
                    <a:lnTo>
                      <a:pt x="73" y="0"/>
                    </a:lnTo>
                    <a:lnTo>
                      <a:pt x="75" y="0"/>
                    </a:lnTo>
                    <a:lnTo>
                      <a:pt x="78" y="0"/>
                    </a:lnTo>
                    <a:lnTo>
                      <a:pt x="84" y="2"/>
                    </a:lnTo>
                    <a:lnTo>
                      <a:pt x="91" y="11"/>
                    </a:lnTo>
                    <a:lnTo>
                      <a:pt x="96" y="25"/>
                    </a:lnTo>
                    <a:lnTo>
                      <a:pt x="98" y="44"/>
                    </a:lnTo>
                    <a:lnTo>
                      <a:pt x="98" y="48"/>
                    </a:lnTo>
                    <a:lnTo>
                      <a:pt x="98" y="139"/>
                    </a:lnTo>
                    <a:lnTo>
                      <a:pt x="98" y="143"/>
                    </a:lnTo>
                    <a:lnTo>
                      <a:pt x="96" y="150"/>
                    </a:lnTo>
                    <a:lnTo>
                      <a:pt x="89" y="155"/>
                    </a:lnTo>
                    <a:lnTo>
                      <a:pt x="84" y="153"/>
                    </a:lnTo>
                    <a:lnTo>
                      <a:pt x="82" y="148"/>
                    </a:lnTo>
                    <a:lnTo>
                      <a:pt x="80" y="143"/>
                    </a:lnTo>
                    <a:lnTo>
                      <a:pt x="80" y="139"/>
                    </a:lnTo>
                    <a:lnTo>
                      <a:pt x="80" y="53"/>
                    </a:lnTo>
                    <a:lnTo>
                      <a:pt x="75" y="53"/>
                    </a:lnTo>
                    <a:lnTo>
                      <a:pt x="75" y="295"/>
                    </a:lnTo>
                    <a:lnTo>
                      <a:pt x="75" y="298"/>
                    </a:lnTo>
                    <a:lnTo>
                      <a:pt x="75" y="300"/>
                    </a:lnTo>
                    <a:lnTo>
                      <a:pt x="75" y="305"/>
                    </a:lnTo>
                    <a:lnTo>
                      <a:pt x="73" y="312"/>
                    </a:lnTo>
                    <a:lnTo>
                      <a:pt x="69" y="318"/>
                    </a:lnTo>
                    <a:lnTo>
                      <a:pt x="64" y="320"/>
                    </a:lnTo>
                    <a:lnTo>
                      <a:pt x="59" y="318"/>
                    </a:lnTo>
                    <a:lnTo>
                      <a:pt x="55" y="316"/>
                    </a:lnTo>
                    <a:lnTo>
                      <a:pt x="53" y="298"/>
                    </a:lnTo>
                    <a:lnTo>
                      <a:pt x="53" y="295"/>
                    </a:lnTo>
                    <a:lnTo>
                      <a:pt x="53" y="155"/>
                    </a:lnTo>
                    <a:lnTo>
                      <a:pt x="48" y="153"/>
                    </a:lnTo>
                    <a:lnTo>
                      <a:pt x="50" y="153"/>
                    </a:lnTo>
                    <a:lnTo>
                      <a:pt x="45" y="155"/>
                    </a:lnTo>
                    <a:lnTo>
                      <a:pt x="45" y="295"/>
                    </a:lnTo>
                    <a:lnTo>
                      <a:pt x="45" y="298"/>
                    </a:lnTo>
                    <a:lnTo>
                      <a:pt x="45" y="303"/>
                    </a:lnTo>
                    <a:lnTo>
                      <a:pt x="45" y="307"/>
                    </a:lnTo>
                    <a:lnTo>
                      <a:pt x="43" y="314"/>
                    </a:lnTo>
                    <a:lnTo>
                      <a:pt x="39" y="318"/>
                    </a:lnTo>
                    <a:lnTo>
                      <a:pt x="34" y="320"/>
                    </a:lnTo>
                    <a:lnTo>
                      <a:pt x="29" y="318"/>
                    </a:lnTo>
                    <a:lnTo>
                      <a:pt x="25" y="312"/>
                    </a:lnTo>
                    <a:lnTo>
                      <a:pt x="23" y="305"/>
                    </a:lnTo>
                    <a:lnTo>
                      <a:pt x="23" y="302"/>
                    </a:lnTo>
                    <a:lnTo>
                      <a:pt x="23" y="298"/>
                    </a:lnTo>
                    <a:lnTo>
                      <a:pt x="23" y="295"/>
                    </a:lnTo>
                    <a:lnTo>
                      <a:pt x="23" y="53"/>
                    </a:lnTo>
                    <a:lnTo>
                      <a:pt x="18" y="53"/>
                    </a:lnTo>
                    <a:lnTo>
                      <a:pt x="18" y="139"/>
                    </a:lnTo>
                    <a:lnTo>
                      <a:pt x="18" y="143"/>
                    </a:lnTo>
                    <a:lnTo>
                      <a:pt x="18" y="144"/>
                    </a:lnTo>
                    <a:lnTo>
                      <a:pt x="18" y="148"/>
                    </a:lnTo>
                    <a:lnTo>
                      <a:pt x="14" y="152"/>
                    </a:lnTo>
                    <a:lnTo>
                      <a:pt x="13" y="153"/>
                    </a:lnTo>
                    <a:lnTo>
                      <a:pt x="9" y="155"/>
                    </a:lnTo>
                    <a:lnTo>
                      <a:pt x="2" y="150"/>
                    </a:lnTo>
                    <a:lnTo>
                      <a:pt x="0" y="143"/>
                    </a:lnTo>
                    <a:lnTo>
                      <a:pt x="0" y="139"/>
                    </a:lnTo>
                    <a:lnTo>
                      <a:pt x="0" y="48"/>
                    </a:lnTo>
                    <a:lnTo>
                      <a:pt x="0" y="44"/>
                    </a:lnTo>
                    <a:lnTo>
                      <a:pt x="2" y="27"/>
                    </a:lnTo>
                    <a:lnTo>
                      <a:pt x="7" y="11"/>
                    </a:lnTo>
                    <a:lnTo>
                      <a:pt x="14" y="3"/>
                    </a:lnTo>
                    <a:lnTo>
                      <a:pt x="20" y="0"/>
                    </a:lnTo>
                    <a:lnTo>
                      <a:pt x="21" y="0"/>
                    </a:lnTo>
                    <a:lnTo>
                      <a:pt x="25" y="0"/>
                    </a:lnTo>
                    <a:lnTo>
                      <a:pt x="29" y="0"/>
                    </a:lnTo>
                    <a:lnTo>
                      <a:pt x="52" y="0"/>
                    </a:lnTo>
                    <a:lnTo>
                      <a:pt x="46" y="0"/>
                    </a:lnTo>
                    <a:close/>
                  </a:path>
                </a:pathLst>
              </a:cu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3175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>
                <a:noAutofit/>
              </a:bodyPr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p:grpSp>
        <p:sp>
          <p:nvSpPr>
            <p:cNvPr id="136" name="Oval 50"/>
            <p:cNvSpPr>
              <a:spLocks noChangeArrowheads="1"/>
            </p:cNvSpPr>
            <p:nvPr/>
          </p:nvSpPr>
          <p:spPr bwMode="auto">
            <a:xfrm>
              <a:off x="5875" y="960"/>
              <a:ext cx="127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noAutofit/>
            </a:bodyPr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graphicFrame>
        <p:nvGraphicFramePr>
          <p:cNvPr id="139" name="Object 5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87653051"/>
              </p:ext>
            </p:extLst>
          </p:nvPr>
        </p:nvGraphicFramePr>
        <p:xfrm>
          <a:off x="4529527" y="5119594"/>
          <a:ext cx="400545" cy="3440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11" imgW="592455" imgH="510032" progId="Visio.Drawing.6">
                  <p:embed/>
                </p:oleObj>
              </mc:Choice>
              <mc:Fallback>
                <p:oleObj name="Visio" r:id="rId11" imgW="592455" imgH="510032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29527" y="5119594"/>
                        <a:ext cx="400545" cy="34405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chemeClr val="accent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0" name="Line 52"/>
          <p:cNvSpPr>
            <a:spLocks noChangeShapeType="1"/>
          </p:cNvSpPr>
          <p:nvPr/>
        </p:nvSpPr>
        <p:spPr bwMode="auto">
          <a:xfrm>
            <a:off x="2557615" y="5439687"/>
            <a:ext cx="234507" cy="59911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noAutofit/>
          </a:bodyPr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41" name="Oval 53"/>
          <p:cNvSpPr>
            <a:spLocks noChangeArrowheads="1"/>
          </p:cNvSpPr>
          <p:nvPr/>
        </p:nvSpPr>
        <p:spPr bwMode="auto">
          <a:xfrm>
            <a:off x="2721941" y="5333559"/>
            <a:ext cx="1396771" cy="662658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 anchor="ctr">
            <a:noAutofit/>
          </a:bodyPr>
          <a:lstStyle>
            <a:lvl1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268288" indent="-8890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>
              <a:lnSpc>
                <a:spcPct val="140000"/>
              </a:lnSpc>
            </a:pPr>
            <a:r>
              <a:rPr kumimoji="0"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상품을 가입할 수 있는 곳을 찾는다</a:t>
            </a:r>
          </a:p>
        </p:txBody>
      </p:sp>
      <p:sp>
        <p:nvSpPr>
          <p:cNvPr id="142" name="Line 54"/>
          <p:cNvSpPr>
            <a:spLocks noChangeShapeType="1"/>
          </p:cNvSpPr>
          <p:nvPr/>
        </p:nvSpPr>
        <p:spPr bwMode="auto">
          <a:xfrm flipV="1">
            <a:off x="4063937" y="5275361"/>
            <a:ext cx="465590" cy="232795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noAutofit/>
          </a:bodyPr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45" name="Rectangle 57"/>
          <p:cNvSpPr>
            <a:spLocks noChangeArrowheads="1"/>
          </p:cNvSpPr>
          <p:nvPr/>
        </p:nvSpPr>
        <p:spPr bwMode="auto">
          <a:xfrm>
            <a:off x="6076931" y="3012454"/>
            <a:ext cx="1311185" cy="2447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noAutofit/>
          </a:bodyPr>
          <a:lstStyle>
            <a:lvl1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268288" indent="-8890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>
              <a:lnSpc>
                <a:spcPct val="110000"/>
              </a:lnSpc>
            </a:pPr>
            <a:r>
              <a:rPr kumimoji="0" lang="ko-KR" altLang="en-US" sz="800">
                <a:latin typeface="나눔고딕" panose="020D0604000000000000" pitchFamily="50" charset="-127"/>
                <a:ea typeface="나눔고딕" panose="020D0604000000000000" pitchFamily="50" charset="-127"/>
              </a:rPr>
              <a:t>조건 입력 </a:t>
            </a:r>
            <a:r>
              <a:rPr kumimoji="0" lang="en-US" altLang="ko-KR" sz="800">
                <a:latin typeface="나눔고딕" panose="020D0604000000000000" pitchFamily="50" charset="-127"/>
                <a:ea typeface="나눔고딕" panose="020D0604000000000000" pitchFamily="50" charset="-127"/>
              </a:rPr>
              <a:t>form</a:t>
            </a:r>
          </a:p>
        </p:txBody>
      </p:sp>
      <p:sp>
        <p:nvSpPr>
          <p:cNvPr id="146" name="Rectangle 58"/>
          <p:cNvSpPr>
            <a:spLocks noChangeArrowheads="1"/>
          </p:cNvSpPr>
          <p:nvPr/>
        </p:nvSpPr>
        <p:spPr bwMode="auto">
          <a:xfrm>
            <a:off x="7966680" y="2938850"/>
            <a:ext cx="1311185" cy="244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noAutofit/>
          </a:bodyPr>
          <a:lstStyle>
            <a:lvl1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268288" indent="-8890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>
              <a:lnSpc>
                <a:spcPct val="110000"/>
              </a:lnSpc>
            </a:pPr>
            <a:r>
              <a:rPr kumimoji="0" lang="ko-KR" altLang="en-US" sz="800">
                <a:latin typeface="나눔고딕" panose="020D0604000000000000" pitchFamily="50" charset="-127"/>
                <a:ea typeface="나눔고딕" panose="020D0604000000000000" pitchFamily="50" charset="-127"/>
              </a:rPr>
              <a:t>비교 분석 결과</a:t>
            </a:r>
          </a:p>
        </p:txBody>
      </p:sp>
      <p:graphicFrame>
        <p:nvGraphicFramePr>
          <p:cNvPr id="147" name="Object 5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77267394"/>
              </p:ext>
            </p:extLst>
          </p:nvPr>
        </p:nvGraphicFramePr>
        <p:xfrm>
          <a:off x="5994768" y="3994987"/>
          <a:ext cx="410815" cy="3543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12" imgW="592455" imgH="510032" progId="Visio.Drawing.6">
                  <p:embed/>
                </p:oleObj>
              </mc:Choice>
              <mc:Fallback>
                <p:oleObj name="Visio" r:id="rId12" imgW="592455" imgH="510032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94768" y="3994987"/>
                        <a:ext cx="410815" cy="35432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chemeClr val="accent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8" name="Object 6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56483072"/>
              </p:ext>
            </p:extLst>
          </p:nvPr>
        </p:nvGraphicFramePr>
        <p:xfrm>
          <a:off x="3872223" y="3584172"/>
          <a:ext cx="400545" cy="3440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13" imgW="592455" imgH="510032" progId="Visio.Drawing.6">
                  <p:embed/>
                </p:oleObj>
              </mc:Choice>
              <mc:Fallback>
                <p:oleObj name="Visio" r:id="rId13" imgW="592455" imgH="510032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72223" y="3584172"/>
                        <a:ext cx="400545" cy="34405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chemeClr val="accent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9" name="Object 6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09928306"/>
              </p:ext>
            </p:extLst>
          </p:nvPr>
        </p:nvGraphicFramePr>
        <p:xfrm>
          <a:off x="7966680" y="3912824"/>
          <a:ext cx="400545" cy="3440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14" imgW="592455" imgH="510032" progId="Visio.Drawing.6">
                  <p:embed/>
                </p:oleObj>
              </mc:Choice>
              <mc:Fallback>
                <p:oleObj name="Visio" r:id="rId14" imgW="592455" imgH="510032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66680" y="3912824"/>
                        <a:ext cx="400545" cy="34405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chemeClr val="accent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0" name="Line 62"/>
          <p:cNvSpPr>
            <a:spLocks noChangeShapeType="1"/>
          </p:cNvSpPr>
          <p:nvPr/>
        </p:nvSpPr>
        <p:spPr bwMode="auto">
          <a:xfrm>
            <a:off x="4200875" y="3912824"/>
            <a:ext cx="1793892" cy="280724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noAutofit/>
          </a:bodyPr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51" name="Line 63"/>
          <p:cNvSpPr>
            <a:spLocks noChangeShapeType="1"/>
          </p:cNvSpPr>
          <p:nvPr/>
        </p:nvSpPr>
        <p:spPr bwMode="auto">
          <a:xfrm flipV="1">
            <a:off x="6432971" y="4111385"/>
            <a:ext cx="1451547" cy="47928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noAutofit/>
          </a:bodyPr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53" name="Rectangle 65"/>
          <p:cNvSpPr>
            <a:spLocks noChangeArrowheads="1"/>
          </p:cNvSpPr>
          <p:nvPr/>
        </p:nvSpPr>
        <p:spPr bwMode="auto">
          <a:xfrm>
            <a:off x="6076931" y="3786156"/>
            <a:ext cx="1311185" cy="2447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noAutofit/>
          </a:bodyPr>
          <a:lstStyle>
            <a:lvl1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268288" indent="-8890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>
              <a:lnSpc>
                <a:spcPct val="110000"/>
              </a:lnSpc>
            </a:pPr>
            <a:r>
              <a:rPr kumimoji="0"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입력 </a:t>
            </a:r>
            <a:r>
              <a:rPr kumimoji="0"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form</a:t>
            </a:r>
          </a:p>
        </p:txBody>
      </p:sp>
      <p:sp>
        <p:nvSpPr>
          <p:cNvPr id="154" name="Rectangle 66"/>
          <p:cNvSpPr>
            <a:spLocks noChangeArrowheads="1"/>
          </p:cNvSpPr>
          <p:nvPr/>
        </p:nvSpPr>
        <p:spPr bwMode="auto">
          <a:xfrm>
            <a:off x="7908481" y="3724534"/>
            <a:ext cx="1311185" cy="2447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noAutofit/>
          </a:bodyPr>
          <a:lstStyle>
            <a:lvl1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268288" indent="-8890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>
              <a:lnSpc>
                <a:spcPct val="110000"/>
              </a:lnSpc>
            </a:pPr>
            <a:r>
              <a:rPr kumimoji="0"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page</a:t>
            </a:r>
          </a:p>
        </p:txBody>
      </p:sp>
      <p:sp>
        <p:nvSpPr>
          <p:cNvPr id="156" name="Rectangle 68"/>
          <p:cNvSpPr>
            <a:spLocks noChangeArrowheads="1"/>
          </p:cNvSpPr>
          <p:nvPr/>
        </p:nvSpPr>
        <p:spPr bwMode="auto">
          <a:xfrm>
            <a:off x="6393160" y="4687640"/>
            <a:ext cx="1311185" cy="2447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noAutofit/>
          </a:bodyPr>
          <a:lstStyle>
            <a:lvl1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268288" indent="-8890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>
              <a:lnSpc>
                <a:spcPct val="110000"/>
              </a:lnSpc>
            </a:pPr>
            <a:r>
              <a:rPr kumimoji="0"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전문가 정보 </a:t>
            </a:r>
            <a:r>
              <a:rPr kumimoji="0" lang="ko-KR" altLang="en-US" sz="8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컨텐츠</a:t>
            </a:r>
            <a:endParaRPr kumimoji="0"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57" name="Rectangle 69"/>
          <p:cNvSpPr>
            <a:spLocks noChangeArrowheads="1"/>
          </p:cNvSpPr>
          <p:nvPr/>
        </p:nvSpPr>
        <p:spPr bwMode="auto">
          <a:xfrm>
            <a:off x="4597997" y="5415722"/>
            <a:ext cx="1561097" cy="3902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noAutofit/>
          </a:bodyPr>
          <a:lstStyle>
            <a:lvl1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268288" indent="-8890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>
              <a:lnSpc>
                <a:spcPct val="110000"/>
              </a:lnSpc>
            </a:pPr>
            <a:r>
              <a:rPr kumimoji="0"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상품 가입 페이지로 가기 위한 </a:t>
            </a:r>
            <a:r>
              <a:rPr kumimoji="0"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button/parameter</a:t>
            </a:r>
          </a:p>
        </p:txBody>
      </p:sp>
      <p:graphicFrame>
        <p:nvGraphicFramePr>
          <p:cNvPr id="159" name="Object 7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96170868"/>
              </p:ext>
            </p:extLst>
          </p:nvPr>
        </p:nvGraphicFramePr>
        <p:xfrm>
          <a:off x="7457913" y="5959896"/>
          <a:ext cx="239642" cy="2054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15" imgW="592455" imgH="510032" progId="Visio.Drawing.6">
                  <p:embed/>
                </p:oleObj>
              </mc:Choice>
              <mc:Fallback>
                <p:oleObj name="Visio" r:id="rId15" imgW="592455" imgH="510032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57913" y="5959896"/>
                        <a:ext cx="239642" cy="20540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chemeClr val="accent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0" name="Object 7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20864653"/>
              </p:ext>
            </p:extLst>
          </p:nvPr>
        </p:nvGraphicFramePr>
        <p:xfrm>
          <a:off x="7457913" y="5713407"/>
          <a:ext cx="246489" cy="2122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16" imgW="592455" imgH="510032" progId="Visio.Drawing.6">
                  <p:embed/>
                </p:oleObj>
              </mc:Choice>
              <mc:Fallback>
                <p:oleObj name="Visio" r:id="rId16" imgW="592455" imgH="510032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57913" y="5713407"/>
                        <a:ext cx="246489" cy="21225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chemeClr val="accent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1" name="Object 7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19680916"/>
              </p:ext>
            </p:extLst>
          </p:nvPr>
        </p:nvGraphicFramePr>
        <p:xfrm>
          <a:off x="7457913" y="5466918"/>
          <a:ext cx="239642" cy="2054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17" imgW="592455" imgH="510032" progId="Visio.Drawing.6">
                  <p:embed/>
                </p:oleObj>
              </mc:Choice>
              <mc:Fallback>
                <p:oleObj name="Visio" r:id="rId17" imgW="592455" imgH="510032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57913" y="5466918"/>
                        <a:ext cx="239642" cy="20540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chemeClr val="accent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2" name="AutoShape 74"/>
          <p:cNvSpPr>
            <a:spLocks noChangeArrowheads="1"/>
          </p:cNvSpPr>
          <p:nvPr/>
        </p:nvSpPr>
        <p:spPr bwMode="auto">
          <a:xfrm>
            <a:off x="7704402" y="5439530"/>
            <a:ext cx="1815640" cy="260183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noAutofit/>
          </a:bodyPr>
          <a:lstStyle>
            <a:lvl1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268288" indent="-8890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>
              <a:lnSpc>
                <a:spcPct val="140000"/>
              </a:lnSpc>
            </a:pPr>
            <a:r>
              <a:rPr kumimoji="0" lang="en-US" altLang="ko-KR" sz="900">
                <a:latin typeface="나눔고딕" panose="020D0604000000000000" pitchFamily="50" charset="-127"/>
                <a:ea typeface="나눔고딕" panose="020D0604000000000000" pitchFamily="50" charset="-127"/>
              </a:rPr>
              <a:t>Boundary object::move</a:t>
            </a:r>
          </a:p>
        </p:txBody>
      </p:sp>
      <p:sp>
        <p:nvSpPr>
          <p:cNvPr id="163" name="AutoShape 75"/>
          <p:cNvSpPr>
            <a:spLocks noChangeArrowheads="1"/>
          </p:cNvSpPr>
          <p:nvPr/>
        </p:nvSpPr>
        <p:spPr bwMode="auto">
          <a:xfrm>
            <a:off x="7704402" y="5898274"/>
            <a:ext cx="1929118" cy="260183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noAutofit/>
          </a:bodyPr>
          <a:lstStyle>
            <a:lvl1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268288" indent="-8890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>
              <a:lnSpc>
                <a:spcPct val="140000"/>
              </a:lnSpc>
            </a:pPr>
            <a:r>
              <a:rPr kumimoji="0" lang="en-US" altLang="ko-KR" sz="900">
                <a:latin typeface="나눔고딕" panose="020D0604000000000000" pitchFamily="50" charset="-127"/>
                <a:ea typeface="나눔고딕" panose="020D0604000000000000" pitchFamily="50" charset="-127"/>
              </a:rPr>
              <a:t>Boundary object::cognitive</a:t>
            </a:r>
          </a:p>
        </p:txBody>
      </p:sp>
      <p:sp>
        <p:nvSpPr>
          <p:cNvPr id="164" name="AutoShape 76"/>
          <p:cNvSpPr>
            <a:spLocks noChangeArrowheads="1"/>
          </p:cNvSpPr>
          <p:nvPr/>
        </p:nvSpPr>
        <p:spPr bwMode="auto">
          <a:xfrm>
            <a:off x="7704402" y="5677461"/>
            <a:ext cx="1815640" cy="260183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noAutofit/>
          </a:bodyPr>
          <a:lstStyle>
            <a:lvl1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268288" indent="-8890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>
              <a:lnSpc>
                <a:spcPct val="140000"/>
              </a:lnSpc>
            </a:pPr>
            <a:r>
              <a:rPr kumimoji="0"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Boundary object::input</a:t>
            </a:r>
          </a:p>
        </p:txBody>
      </p:sp>
      <p:sp>
        <p:nvSpPr>
          <p:cNvPr id="165" name="AutoShape 77"/>
          <p:cNvSpPr>
            <a:spLocks noChangeArrowheads="1"/>
          </p:cNvSpPr>
          <p:nvPr/>
        </p:nvSpPr>
        <p:spPr bwMode="auto">
          <a:xfrm>
            <a:off x="7350074" y="5184482"/>
            <a:ext cx="1314608" cy="260183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noAutofit/>
          </a:bodyPr>
          <a:lstStyle>
            <a:lvl1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268288" indent="-8890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>
              <a:lnSpc>
                <a:spcPct val="140000"/>
              </a:lnSpc>
            </a:pPr>
            <a:r>
              <a:rPr kumimoji="0" lang="en-US" altLang="ko-KR" sz="900" b="1">
                <a:latin typeface="나눔고딕" panose="020D0604000000000000" pitchFamily="50" charset="-127"/>
                <a:ea typeface="나눔고딕" panose="020D0604000000000000" pitchFamily="50" charset="-127"/>
              </a:rPr>
              <a:t>Regend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5738" y="2374758"/>
            <a:ext cx="120417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>
                <a:latin typeface="나눔고딕" panose="020D0604000000000000" pitchFamily="50" charset="-127"/>
                <a:ea typeface="나눔고딕" panose="020D0604000000000000" pitchFamily="50" charset="-127"/>
              </a:rPr>
              <a:t>서비스상품 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정보 컨텐츠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4325738" y="2815575"/>
            <a:ext cx="123303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상품 비교 페이지로 가는</a:t>
            </a:r>
            <a:endParaRPr lang="en-US" altLang="ko-KR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button/parameter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4325738" y="3574270"/>
            <a:ext cx="110799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커뮤니티로 가기 위한</a:t>
            </a:r>
            <a:endParaRPr lang="en-US" altLang="ko-KR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button/parameter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4325738" y="4262740"/>
            <a:ext cx="123303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전문가 정보로 가기 위한</a:t>
            </a:r>
            <a:endParaRPr lang="en-US" altLang="ko-KR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button/parameter</a:t>
            </a:r>
          </a:p>
        </p:txBody>
      </p:sp>
    </p:spTree>
    <p:extLst>
      <p:ext uri="{BB962C8B-B14F-4D97-AF65-F5344CB8AC3E}">
        <p14:creationId xmlns:p14="http://schemas.microsoft.com/office/powerpoint/2010/main" val="90678710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44017" y="91339"/>
            <a:ext cx="7401271" cy="385333"/>
          </a:xfrm>
          <a:prstGeom prst="rect">
            <a:avLst/>
          </a:prstGeom>
          <a:noFill/>
        </p:spPr>
        <p:txBody>
          <a:bodyPr wrap="square" lIns="0" tIns="53643" rIns="0" bIns="53643" rtlCol="0">
            <a:spAutoFit/>
          </a:bodyPr>
          <a:lstStyle/>
          <a:p>
            <a:r>
              <a:rPr kumimoji="1" lang="en-US" altLang="ko-KR" b="1" kern="0" dirty="0">
                <a:latin typeface="나눔고딕" panose="020D0604000000000000" pitchFamily="50" charset="-127"/>
                <a:ea typeface="나눔고딕" panose="020D0604000000000000" pitchFamily="50" charset="-127"/>
                <a:cs typeface="산돌고딕 M"/>
              </a:rPr>
              <a:t>User Interface Design</a:t>
            </a:r>
            <a:endParaRPr kumimoji="1" lang="ko-KR" altLang="en-US" b="1" kern="0" dirty="0">
              <a:latin typeface="나눔고딕" panose="020D0604000000000000" pitchFamily="50" charset="-127"/>
              <a:ea typeface="나눔고딕" panose="020D0604000000000000" pitchFamily="50" charset="-127"/>
              <a:cs typeface="산돌고딕 M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44017" y="683985"/>
            <a:ext cx="96335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U.I / U.X Design Case</a:t>
            </a:r>
          </a:p>
        </p:txBody>
      </p:sp>
      <p:sp>
        <p:nvSpPr>
          <p:cNvPr id="34" name="직사각형 33"/>
          <p:cNvSpPr/>
          <p:nvPr/>
        </p:nvSpPr>
        <p:spPr>
          <a:xfrm>
            <a:off x="632520" y="1628800"/>
            <a:ext cx="5832648" cy="36004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r>
              <a:rPr lang="en-US" altLang="ko-KR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Step 4. dynamic model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88504" y="991762"/>
            <a:ext cx="8928992" cy="523220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사용자의 세부 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flow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를 정리하고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고객의 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action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과 관계된 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interface 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요소를 함께 </a:t>
            </a:r>
            <a:r>
              <a:rPr lang="ko-KR" altLang="en-US" sz="14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시간차순으로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연결해서 정리합니다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  <a:p>
            <a:r>
              <a:rPr lang="ko-KR" altLang="en-US" sz="14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시간차순으로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정리 된 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interface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는 </a:t>
            </a:r>
            <a:r>
              <a:rPr lang="ko-KR" altLang="en-US" sz="14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그룹핑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되어 페이지 및 컴포넌트의 단위가 됩니다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</p:txBody>
      </p:sp>
      <p:sp>
        <p:nvSpPr>
          <p:cNvPr id="76" name="Rectangle 2"/>
          <p:cNvSpPr>
            <a:spLocks noChangeArrowheads="1"/>
          </p:cNvSpPr>
          <p:nvPr/>
        </p:nvSpPr>
        <p:spPr bwMode="auto">
          <a:xfrm>
            <a:off x="624675" y="2381313"/>
            <a:ext cx="5561659" cy="4216039"/>
          </a:xfrm>
          <a:prstGeom prst="rect">
            <a:avLst/>
          </a:prstGeom>
          <a:solidFill>
            <a:srgbClr val="FFFFFF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noAutofit/>
          </a:bodyPr>
          <a:lstStyle/>
          <a:p>
            <a:endParaRPr lang="ko-KR" altLang="en-US" sz="800"/>
          </a:p>
        </p:txBody>
      </p:sp>
      <p:sp>
        <p:nvSpPr>
          <p:cNvPr id="77" name="Rectangle 3"/>
          <p:cNvSpPr>
            <a:spLocks noChangeArrowheads="1"/>
          </p:cNvSpPr>
          <p:nvPr/>
        </p:nvSpPr>
        <p:spPr bwMode="auto">
          <a:xfrm>
            <a:off x="6186334" y="2381313"/>
            <a:ext cx="2887784" cy="4216039"/>
          </a:xfrm>
          <a:prstGeom prst="rect">
            <a:avLst/>
          </a:prstGeom>
          <a:solidFill>
            <a:srgbClr val="FFFFFF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noAutofit/>
          </a:bodyPr>
          <a:lstStyle/>
          <a:p>
            <a:endParaRPr lang="ko-KR" altLang="en-US" sz="800"/>
          </a:p>
        </p:txBody>
      </p:sp>
      <p:sp>
        <p:nvSpPr>
          <p:cNvPr id="79" name="AutoShape 10"/>
          <p:cNvSpPr>
            <a:spLocks noChangeArrowheads="1"/>
          </p:cNvSpPr>
          <p:nvPr/>
        </p:nvSpPr>
        <p:spPr bwMode="auto">
          <a:xfrm>
            <a:off x="2935244" y="2489641"/>
            <a:ext cx="2018841" cy="319643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noAutofit/>
          </a:bodyPr>
          <a:lstStyle>
            <a:lvl1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268288" indent="-8890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>
              <a:lnSpc>
                <a:spcPct val="140000"/>
              </a:lnSpc>
            </a:pPr>
            <a:r>
              <a:rPr kumimoji="0" lang="ko-KR" altLang="en-US" sz="800" b="1">
                <a:latin typeface="Arial" pitchFamily="34" charset="0"/>
              </a:rPr>
              <a:t>서비스 </a:t>
            </a:r>
            <a:r>
              <a:rPr kumimoji="0" lang="ko-KR" altLang="en-US" sz="800" b="1" dirty="0">
                <a:latin typeface="Arial" pitchFamily="34" charset="0"/>
              </a:rPr>
              <a:t>상품 정보를 본다</a:t>
            </a:r>
          </a:p>
        </p:txBody>
      </p:sp>
      <p:sp>
        <p:nvSpPr>
          <p:cNvPr id="80" name="AutoShape 11"/>
          <p:cNvSpPr>
            <a:spLocks noChangeArrowheads="1"/>
          </p:cNvSpPr>
          <p:nvPr/>
        </p:nvSpPr>
        <p:spPr bwMode="auto">
          <a:xfrm>
            <a:off x="2050334" y="4142356"/>
            <a:ext cx="2049968" cy="319643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noAutofit/>
          </a:bodyPr>
          <a:lstStyle>
            <a:lvl1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268288" indent="-8890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>
              <a:lnSpc>
                <a:spcPct val="140000"/>
              </a:lnSpc>
            </a:pPr>
            <a:r>
              <a:rPr kumimoji="0" lang="ko-KR" altLang="en-US" sz="800" b="1">
                <a:latin typeface="Arial" pitchFamily="34" charset="0"/>
              </a:rPr>
              <a:t>전문가의 의견을 듣는다</a:t>
            </a:r>
          </a:p>
        </p:txBody>
      </p:sp>
      <p:sp>
        <p:nvSpPr>
          <p:cNvPr id="81" name="AutoShape 12"/>
          <p:cNvSpPr>
            <a:spLocks noChangeArrowheads="1"/>
          </p:cNvSpPr>
          <p:nvPr/>
        </p:nvSpPr>
        <p:spPr bwMode="auto">
          <a:xfrm>
            <a:off x="3439955" y="4637287"/>
            <a:ext cx="2025511" cy="319643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noAutofit/>
          </a:bodyPr>
          <a:lstStyle>
            <a:lvl1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268288" indent="-8890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>
              <a:lnSpc>
                <a:spcPct val="140000"/>
              </a:lnSpc>
            </a:pPr>
            <a:r>
              <a:rPr kumimoji="0" lang="ko-KR" altLang="en-US" sz="800" b="1">
                <a:latin typeface="Arial" pitchFamily="34" charset="0"/>
              </a:rPr>
              <a:t>주변 사람들에게 묻는다</a:t>
            </a:r>
          </a:p>
        </p:txBody>
      </p:sp>
      <p:sp>
        <p:nvSpPr>
          <p:cNvPr id="82" name="Line 13"/>
          <p:cNvSpPr>
            <a:spLocks noChangeShapeType="1"/>
          </p:cNvSpPr>
          <p:nvPr/>
        </p:nvSpPr>
        <p:spPr bwMode="auto">
          <a:xfrm flipV="1">
            <a:off x="2615076" y="3389650"/>
            <a:ext cx="1205079" cy="2946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none" w="med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noAutofit/>
          </a:bodyPr>
          <a:lstStyle/>
          <a:p>
            <a:endParaRPr lang="ko-KR" altLang="en-US" sz="800"/>
          </a:p>
        </p:txBody>
      </p:sp>
      <p:graphicFrame>
        <p:nvGraphicFramePr>
          <p:cNvPr id="83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50837417"/>
              </p:ext>
            </p:extLst>
          </p:nvPr>
        </p:nvGraphicFramePr>
        <p:xfrm>
          <a:off x="6457098" y="2884407"/>
          <a:ext cx="362413" cy="2960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592455" imgH="510032" progId="Visio.Drawing.6">
                  <p:embed/>
                </p:oleObj>
              </mc:Choice>
              <mc:Fallback>
                <p:oleObj name="Visio" r:id="rId2" imgW="592455" imgH="510032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57098" y="2884407"/>
                        <a:ext cx="362413" cy="29607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4" name="Rectangle 15"/>
          <p:cNvSpPr>
            <a:spLocks noChangeArrowheads="1"/>
          </p:cNvSpPr>
          <p:nvPr/>
        </p:nvSpPr>
        <p:spPr bwMode="auto">
          <a:xfrm>
            <a:off x="6769862" y="2829570"/>
            <a:ext cx="1703119" cy="4006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noAutofit/>
          </a:bodyPr>
          <a:lstStyle>
            <a:lvl1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268288" indent="-8890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>
              <a:lnSpc>
                <a:spcPct val="140000"/>
              </a:lnSpc>
            </a:pPr>
            <a:r>
              <a:rPr kumimoji="0" lang="ko-KR" altLang="en-US" sz="800">
                <a:latin typeface="Arial" pitchFamily="34" charset="0"/>
              </a:rPr>
              <a:t>서비스상품 </a:t>
            </a:r>
            <a:r>
              <a:rPr kumimoji="0" lang="ko-KR" altLang="en-US" sz="800" dirty="0">
                <a:latin typeface="Arial" pitchFamily="34" charset="0"/>
              </a:rPr>
              <a:t>정보 컨텐츠를 보여준다</a:t>
            </a:r>
          </a:p>
        </p:txBody>
      </p:sp>
      <p:cxnSp>
        <p:nvCxnSpPr>
          <p:cNvPr id="85" name="AutoShape 16"/>
          <p:cNvCxnSpPr>
            <a:cxnSpLocks noChangeShapeType="1"/>
            <a:stCxn id="79" idx="2"/>
          </p:cNvCxnSpPr>
          <p:nvPr/>
        </p:nvCxnSpPr>
        <p:spPr bwMode="auto">
          <a:xfrm rot="16200000" flipH="1">
            <a:off x="5088557" y="1666489"/>
            <a:ext cx="222425" cy="2512434"/>
          </a:xfrm>
          <a:prstGeom prst="bentConnector2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86" name="Freeform 17"/>
          <p:cNvSpPr>
            <a:spLocks/>
          </p:cNvSpPr>
          <p:nvPr/>
        </p:nvSpPr>
        <p:spPr bwMode="auto">
          <a:xfrm>
            <a:off x="3148690" y="3177536"/>
            <a:ext cx="3628577" cy="222425"/>
          </a:xfrm>
          <a:custGeom>
            <a:avLst/>
            <a:gdLst>
              <a:gd name="T0" fmla="*/ 1632 w 1632"/>
              <a:gd name="T1" fmla="*/ 0 h 240"/>
              <a:gd name="T2" fmla="*/ 1632 w 1632"/>
              <a:gd name="T3" fmla="*/ 48 h 240"/>
              <a:gd name="T4" fmla="*/ 0 w 1632"/>
              <a:gd name="T5" fmla="*/ 48 h 240"/>
              <a:gd name="T6" fmla="*/ 0 w 1632"/>
              <a:gd name="T7" fmla="*/ 240 h 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632" h="240">
                <a:moveTo>
                  <a:pt x="1632" y="0"/>
                </a:moveTo>
                <a:lnTo>
                  <a:pt x="1632" y="48"/>
                </a:lnTo>
                <a:lnTo>
                  <a:pt x="0" y="48"/>
                </a:lnTo>
                <a:lnTo>
                  <a:pt x="0" y="240"/>
                </a:ln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noAutofit/>
          </a:bodyPr>
          <a:lstStyle/>
          <a:p>
            <a:endParaRPr lang="ko-KR" altLang="en-US" sz="800"/>
          </a:p>
        </p:txBody>
      </p:sp>
      <p:graphicFrame>
        <p:nvGraphicFramePr>
          <p:cNvPr id="87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44595948"/>
              </p:ext>
            </p:extLst>
          </p:nvPr>
        </p:nvGraphicFramePr>
        <p:xfrm>
          <a:off x="6563820" y="3651845"/>
          <a:ext cx="362413" cy="2960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4" imgW="592455" imgH="510032" progId="Visio.Drawing.6">
                  <p:embed/>
                </p:oleObj>
              </mc:Choice>
              <mc:Fallback>
                <p:oleObj name="Visio" r:id="rId4" imgW="592455" imgH="510032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63820" y="3651845"/>
                        <a:ext cx="362413" cy="29607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8" name="Rectangle 19"/>
          <p:cNvSpPr>
            <a:spLocks noChangeArrowheads="1"/>
          </p:cNvSpPr>
          <p:nvPr/>
        </p:nvSpPr>
        <p:spPr bwMode="auto">
          <a:xfrm>
            <a:off x="6886338" y="3626034"/>
            <a:ext cx="1703119" cy="33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noAutofit/>
          </a:bodyPr>
          <a:lstStyle>
            <a:lvl1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268288" indent="-8890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>
              <a:lnSpc>
                <a:spcPct val="110000"/>
              </a:lnSpc>
            </a:pPr>
            <a:r>
              <a:rPr kumimoji="0" lang="ko-KR" altLang="en-US" sz="800" dirty="0">
                <a:latin typeface="Arial" pitchFamily="34" charset="0"/>
              </a:rPr>
              <a:t>상품 비교 페이지로 가는 </a:t>
            </a:r>
            <a:r>
              <a:rPr kumimoji="0" lang="en-US" altLang="ko-KR" sz="800" dirty="0">
                <a:latin typeface="Arial" pitchFamily="34" charset="0"/>
              </a:rPr>
              <a:t>button/parameter</a:t>
            </a:r>
          </a:p>
        </p:txBody>
      </p:sp>
      <p:sp>
        <p:nvSpPr>
          <p:cNvPr id="89" name="Freeform 20"/>
          <p:cNvSpPr>
            <a:spLocks/>
          </p:cNvSpPr>
          <p:nvPr/>
        </p:nvSpPr>
        <p:spPr bwMode="auto">
          <a:xfrm>
            <a:off x="1761293" y="3429421"/>
            <a:ext cx="1387397" cy="222425"/>
          </a:xfrm>
          <a:custGeom>
            <a:avLst/>
            <a:gdLst>
              <a:gd name="T0" fmla="*/ 1632 w 1632"/>
              <a:gd name="T1" fmla="*/ 0 h 240"/>
              <a:gd name="T2" fmla="*/ 1632 w 1632"/>
              <a:gd name="T3" fmla="*/ 48 h 240"/>
              <a:gd name="T4" fmla="*/ 0 w 1632"/>
              <a:gd name="T5" fmla="*/ 48 h 240"/>
              <a:gd name="T6" fmla="*/ 0 w 1632"/>
              <a:gd name="T7" fmla="*/ 240 h 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632" h="240">
                <a:moveTo>
                  <a:pt x="1632" y="0"/>
                </a:moveTo>
                <a:lnTo>
                  <a:pt x="1632" y="48"/>
                </a:lnTo>
                <a:lnTo>
                  <a:pt x="0" y="48"/>
                </a:lnTo>
                <a:lnTo>
                  <a:pt x="0" y="240"/>
                </a:ln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noAutofit/>
          </a:bodyPr>
          <a:lstStyle/>
          <a:p>
            <a:endParaRPr lang="ko-KR" altLang="en-US" sz="800"/>
          </a:p>
        </p:txBody>
      </p:sp>
      <p:sp>
        <p:nvSpPr>
          <p:cNvPr id="90" name="AutoShape 21"/>
          <p:cNvSpPr>
            <a:spLocks noChangeArrowheads="1"/>
          </p:cNvSpPr>
          <p:nvPr/>
        </p:nvSpPr>
        <p:spPr bwMode="auto">
          <a:xfrm>
            <a:off x="838585" y="3656264"/>
            <a:ext cx="1901001" cy="290183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noAutofit/>
          </a:bodyPr>
          <a:lstStyle>
            <a:lvl1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268288" indent="-8890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>
              <a:lnSpc>
                <a:spcPct val="140000"/>
              </a:lnSpc>
            </a:pPr>
            <a:r>
              <a:rPr kumimoji="0" lang="ko-KR" altLang="en-US" sz="800" b="1">
                <a:latin typeface="Arial" pitchFamily="34" charset="0"/>
              </a:rPr>
              <a:t>서비스 </a:t>
            </a:r>
            <a:r>
              <a:rPr kumimoji="0" lang="ko-KR" altLang="en-US" sz="800" b="1" dirty="0">
                <a:latin typeface="Arial" pitchFamily="34" charset="0"/>
              </a:rPr>
              <a:t>상품 비교를 한다</a:t>
            </a:r>
          </a:p>
        </p:txBody>
      </p:sp>
      <p:sp>
        <p:nvSpPr>
          <p:cNvPr id="91" name="Line 22"/>
          <p:cNvSpPr>
            <a:spLocks noChangeShapeType="1"/>
          </p:cNvSpPr>
          <p:nvPr/>
        </p:nvSpPr>
        <p:spPr bwMode="auto">
          <a:xfrm>
            <a:off x="2721798" y="3793254"/>
            <a:ext cx="384202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noAutofit/>
          </a:bodyPr>
          <a:lstStyle/>
          <a:p>
            <a:endParaRPr lang="ko-KR" altLang="en-US" sz="800"/>
          </a:p>
        </p:txBody>
      </p:sp>
      <p:sp>
        <p:nvSpPr>
          <p:cNvPr id="92" name="Freeform 23"/>
          <p:cNvSpPr>
            <a:spLocks/>
          </p:cNvSpPr>
          <p:nvPr/>
        </p:nvSpPr>
        <p:spPr bwMode="auto">
          <a:xfrm>
            <a:off x="2935244" y="3439732"/>
            <a:ext cx="320169" cy="717355"/>
          </a:xfrm>
          <a:custGeom>
            <a:avLst/>
            <a:gdLst>
              <a:gd name="T0" fmla="*/ 1632 w 1632"/>
              <a:gd name="T1" fmla="*/ 0 h 240"/>
              <a:gd name="T2" fmla="*/ 1632 w 1632"/>
              <a:gd name="T3" fmla="*/ 48 h 240"/>
              <a:gd name="T4" fmla="*/ 0 w 1632"/>
              <a:gd name="T5" fmla="*/ 48 h 240"/>
              <a:gd name="T6" fmla="*/ 0 w 1632"/>
              <a:gd name="T7" fmla="*/ 240 h 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632" h="240">
                <a:moveTo>
                  <a:pt x="1632" y="0"/>
                </a:moveTo>
                <a:lnTo>
                  <a:pt x="1632" y="48"/>
                </a:lnTo>
                <a:lnTo>
                  <a:pt x="0" y="48"/>
                </a:lnTo>
                <a:lnTo>
                  <a:pt x="0" y="240"/>
                </a:ln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noAutofit/>
          </a:bodyPr>
          <a:lstStyle/>
          <a:p>
            <a:endParaRPr lang="ko-KR" altLang="en-US" sz="800"/>
          </a:p>
        </p:txBody>
      </p:sp>
      <p:sp>
        <p:nvSpPr>
          <p:cNvPr id="93" name="Freeform 24"/>
          <p:cNvSpPr>
            <a:spLocks/>
          </p:cNvSpPr>
          <p:nvPr/>
        </p:nvSpPr>
        <p:spPr bwMode="auto">
          <a:xfrm flipH="1">
            <a:off x="3422167" y="3458881"/>
            <a:ext cx="1113919" cy="1112121"/>
          </a:xfrm>
          <a:custGeom>
            <a:avLst/>
            <a:gdLst>
              <a:gd name="T0" fmla="*/ 1632 w 1632"/>
              <a:gd name="T1" fmla="*/ 0 h 240"/>
              <a:gd name="T2" fmla="*/ 1632 w 1632"/>
              <a:gd name="T3" fmla="*/ 48 h 240"/>
              <a:gd name="T4" fmla="*/ 0 w 1632"/>
              <a:gd name="T5" fmla="*/ 48 h 240"/>
              <a:gd name="T6" fmla="*/ 0 w 1632"/>
              <a:gd name="T7" fmla="*/ 240 h 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632" h="240">
                <a:moveTo>
                  <a:pt x="1632" y="0"/>
                </a:moveTo>
                <a:lnTo>
                  <a:pt x="1632" y="48"/>
                </a:lnTo>
                <a:lnTo>
                  <a:pt x="0" y="48"/>
                </a:lnTo>
                <a:lnTo>
                  <a:pt x="0" y="240"/>
                </a:ln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noAutofit/>
          </a:bodyPr>
          <a:lstStyle/>
          <a:p>
            <a:endParaRPr lang="ko-KR" altLang="en-US" sz="800"/>
          </a:p>
        </p:txBody>
      </p:sp>
      <p:graphicFrame>
        <p:nvGraphicFramePr>
          <p:cNvPr id="94" name="Object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28009694"/>
              </p:ext>
            </p:extLst>
          </p:nvPr>
        </p:nvGraphicFramePr>
        <p:xfrm>
          <a:off x="6563820" y="4155614"/>
          <a:ext cx="362413" cy="2960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6" imgW="592455" imgH="510032" progId="Visio.Drawing.6">
                  <p:embed/>
                </p:oleObj>
              </mc:Choice>
              <mc:Fallback>
                <p:oleObj name="Visio" r:id="rId6" imgW="592455" imgH="510032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63820" y="4155614"/>
                        <a:ext cx="362413" cy="29607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" name="Rectangle 26"/>
          <p:cNvSpPr>
            <a:spLocks noChangeArrowheads="1"/>
          </p:cNvSpPr>
          <p:nvPr/>
        </p:nvSpPr>
        <p:spPr bwMode="auto">
          <a:xfrm>
            <a:off x="6886338" y="4123202"/>
            <a:ext cx="1703119" cy="3343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noAutofit/>
          </a:bodyPr>
          <a:lstStyle>
            <a:lvl1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268288" indent="-8890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>
              <a:lnSpc>
                <a:spcPct val="110000"/>
              </a:lnSpc>
            </a:pPr>
            <a:r>
              <a:rPr kumimoji="0" lang="ko-KR" altLang="en-US" sz="800" dirty="0">
                <a:latin typeface="Arial" pitchFamily="34" charset="0"/>
              </a:rPr>
              <a:t>커뮤니티로 가기 위한 </a:t>
            </a:r>
            <a:r>
              <a:rPr kumimoji="0" lang="en-US" altLang="ko-KR" sz="800" dirty="0">
                <a:latin typeface="Arial" pitchFamily="34" charset="0"/>
              </a:rPr>
              <a:t>button/parameter</a:t>
            </a:r>
          </a:p>
        </p:txBody>
      </p:sp>
      <p:sp>
        <p:nvSpPr>
          <p:cNvPr id="144" name="Line 27"/>
          <p:cNvSpPr>
            <a:spLocks noChangeShapeType="1"/>
          </p:cNvSpPr>
          <p:nvPr/>
        </p:nvSpPr>
        <p:spPr bwMode="auto">
          <a:xfrm>
            <a:off x="4120312" y="4299968"/>
            <a:ext cx="2443509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noAutofit/>
          </a:bodyPr>
          <a:lstStyle/>
          <a:p>
            <a:endParaRPr lang="ko-KR" altLang="en-US" sz="800"/>
          </a:p>
        </p:txBody>
      </p:sp>
      <p:graphicFrame>
        <p:nvGraphicFramePr>
          <p:cNvPr id="152" name="Object 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68199779"/>
              </p:ext>
            </p:extLst>
          </p:nvPr>
        </p:nvGraphicFramePr>
        <p:xfrm>
          <a:off x="6563820" y="4638761"/>
          <a:ext cx="362413" cy="2960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7" imgW="592455" imgH="510032" progId="Visio.Drawing.6">
                  <p:embed/>
                </p:oleObj>
              </mc:Choice>
              <mc:Fallback>
                <p:oleObj name="Visio" r:id="rId7" imgW="592455" imgH="510032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63820" y="4638761"/>
                        <a:ext cx="362413" cy="29607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5" name="Rectangle 29"/>
          <p:cNvSpPr>
            <a:spLocks noChangeArrowheads="1"/>
          </p:cNvSpPr>
          <p:nvPr/>
        </p:nvSpPr>
        <p:spPr bwMode="auto">
          <a:xfrm>
            <a:off x="6886338" y="4614768"/>
            <a:ext cx="1703119" cy="3343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noAutofit/>
          </a:bodyPr>
          <a:lstStyle>
            <a:lvl1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268288" indent="-8890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>
              <a:lnSpc>
                <a:spcPct val="110000"/>
              </a:lnSpc>
            </a:pPr>
            <a:r>
              <a:rPr kumimoji="0" lang="ko-KR" altLang="en-US" sz="800" dirty="0">
                <a:latin typeface="Arial" pitchFamily="34" charset="0"/>
              </a:rPr>
              <a:t>전문가 정보로 가기 위한 </a:t>
            </a:r>
            <a:r>
              <a:rPr kumimoji="0" lang="en-US" altLang="ko-KR" sz="800" dirty="0">
                <a:latin typeface="Arial" pitchFamily="34" charset="0"/>
              </a:rPr>
              <a:t>button/parameter</a:t>
            </a:r>
          </a:p>
        </p:txBody>
      </p:sp>
      <p:sp>
        <p:nvSpPr>
          <p:cNvPr id="158" name="Line 30"/>
          <p:cNvSpPr>
            <a:spLocks noChangeShapeType="1"/>
          </p:cNvSpPr>
          <p:nvPr/>
        </p:nvSpPr>
        <p:spPr bwMode="auto">
          <a:xfrm>
            <a:off x="5496592" y="4777224"/>
            <a:ext cx="106722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noAutofit/>
          </a:bodyPr>
          <a:lstStyle/>
          <a:p>
            <a:endParaRPr lang="ko-KR" altLang="en-US" sz="800"/>
          </a:p>
        </p:txBody>
      </p:sp>
      <p:sp>
        <p:nvSpPr>
          <p:cNvPr id="169" name="AutoShape 31"/>
          <p:cNvSpPr>
            <a:spLocks noChangeArrowheads="1"/>
          </p:cNvSpPr>
          <p:nvPr/>
        </p:nvSpPr>
        <p:spPr bwMode="auto">
          <a:xfrm>
            <a:off x="2615076" y="5227965"/>
            <a:ext cx="2025511" cy="319643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noAutofit/>
          </a:bodyPr>
          <a:lstStyle>
            <a:lvl1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268288" indent="-8890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>
              <a:lnSpc>
                <a:spcPct val="140000"/>
              </a:lnSpc>
            </a:pPr>
            <a:r>
              <a:rPr kumimoji="0" lang="ko-KR" altLang="en-US" sz="800" b="1" dirty="0">
                <a:latin typeface="Arial" pitchFamily="34" charset="0"/>
              </a:rPr>
              <a:t>가입할 상품을 결정한다</a:t>
            </a:r>
          </a:p>
        </p:txBody>
      </p:sp>
      <p:sp>
        <p:nvSpPr>
          <p:cNvPr id="170" name="AutoShape 32"/>
          <p:cNvSpPr>
            <a:spLocks noChangeArrowheads="1"/>
          </p:cNvSpPr>
          <p:nvPr/>
        </p:nvSpPr>
        <p:spPr bwMode="auto">
          <a:xfrm>
            <a:off x="2508353" y="6195731"/>
            <a:ext cx="2708092" cy="319643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noAutofit/>
          </a:bodyPr>
          <a:lstStyle>
            <a:lvl1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268288" indent="-8890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>
              <a:lnSpc>
                <a:spcPct val="140000"/>
              </a:lnSpc>
            </a:pPr>
            <a:r>
              <a:rPr kumimoji="0" lang="ko-KR" altLang="en-US" sz="800" b="1" dirty="0">
                <a:latin typeface="Arial" pitchFamily="34" charset="0"/>
              </a:rPr>
              <a:t>상품 가입할 수 있는 곳을 찾는다</a:t>
            </a:r>
          </a:p>
        </p:txBody>
      </p:sp>
      <p:graphicFrame>
        <p:nvGraphicFramePr>
          <p:cNvPr id="171" name="Object 3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70169250"/>
              </p:ext>
            </p:extLst>
          </p:nvPr>
        </p:nvGraphicFramePr>
        <p:xfrm>
          <a:off x="6581608" y="6195731"/>
          <a:ext cx="362413" cy="2960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8" imgW="592455" imgH="510032" progId="Visio.Drawing.6">
                  <p:embed/>
                </p:oleObj>
              </mc:Choice>
              <mc:Fallback>
                <p:oleObj name="Visio" r:id="rId8" imgW="592455" imgH="510032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81608" y="6195731"/>
                        <a:ext cx="362413" cy="29607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2" name="Rectangle 34"/>
          <p:cNvSpPr>
            <a:spLocks noChangeArrowheads="1"/>
          </p:cNvSpPr>
          <p:nvPr/>
        </p:nvSpPr>
        <p:spPr bwMode="auto">
          <a:xfrm>
            <a:off x="6904125" y="6166270"/>
            <a:ext cx="2027734" cy="33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noAutofit/>
          </a:bodyPr>
          <a:lstStyle>
            <a:lvl1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268288" indent="-8890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>
              <a:lnSpc>
                <a:spcPct val="110000"/>
              </a:lnSpc>
            </a:pPr>
            <a:r>
              <a:rPr kumimoji="0" lang="ko-KR" altLang="en-US" sz="800" dirty="0">
                <a:latin typeface="Arial" pitchFamily="34" charset="0"/>
              </a:rPr>
              <a:t>상품 가입 페이지로 가기 위한 </a:t>
            </a:r>
            <a:r>
              <a:rPr kumimoji="0" lang="en-US" altLang="ko-KR" sz="800" dirty="0">
                <a:latin typeface="Arial" pitchFamily="34" charset="0"/>
              </a:rPr>
              <a:t>button/parameter</a:t>
            </a:r>
          </a:p>
        </p:txBody>
      </p:sp>
      <p:sp>
        <p:nvSpPr>
          <p:cNvPr id="173" name="Line 35"/>
          <p:cNvSpPr>
            <a:spLocks noChangeShapeType="1"/>
          </p:cNvSpPr>
          <p:nvPr/>
        </p:nvSpPr>
        <p:spPr bwMode="auto">
          <a:xfrm>
            <a:off x="5283147" y="6337140"/>
            <a:ext cx="1280674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noAutofit/>
          </a:bodyPr>
          <a:lstStyle/>
          <a:p>
            <a:endParaRPr lang="ko-KR" altLang="en-US" sz="800"/>
          </a:p>
        </p:txBody>
      </p:sp>
      <p:sp>
        <p:nvSpPr>
          <p:cNvPr id="174" name="Line 36"/>
          <p:cNvSpPr>
            <a:spLocks noChangeShapeType="1"/>
          </p:cNvSpPr>
          <p:nvPr/>
        </p:nvSpPr>
        <p:spPr bwMode="auto">
          <a:xfrm flipV="1">
            <a:off x="2615076" y="5105704"/>
            <a:ext cx="1205079" cy="2946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none" w="med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noAutofit/>
          </a:bodyPr>
          <a:lstStyle/>
          <a:p>
            <a:endParaRPr lang="ko-KR" altLang="en-US" sz="800"/>
          </a:p>
        </p:txBody>
      </p:sp>
      <p:sp>
        <p:nvSpPr>
          <p:cNvPr id="175" name="Freeform 37"/>
          <p:cNvSpPr>
            <a:spLocks/>
          </p:cNvSpPr>
          <p:nvPr/>
        </p:nvSpPr>
        <p:spPr bwMode="auto">
          <a:xfrm>
            <a:off x="1761293" y="4005367"/>
            <a:ext cx="960506" cy="1060566"/>
          </a:xfrm>
          <a:custGeom>
            <a:avLst/>
            <a:gdLst>
              <a:gd name="T0" fmla="*/ 0 w 432"/>
              <a:gd name="T1" fmla="*/ 0 h 720"/>
              <a:gd name="T2" fmla="*/ 0 w 432"/>
              <a:gd name="T3" fmla="*/ 528 h 720"/>
              <a:gd name="T4" fmla="*/ 432 w 432"/>
              <a:gd name="T5" fmla="*/ 528 h 720"/>
              <a:gd name="T6" fmla="*/ 432 w 432"/>
              <a:gd name="T7" fmla="*/ 720 h 7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432" h="720">
                <a:moveTo>
                  <a:pt x="0" y="0"/>
                </a:moveTo>
                <a:lnTo>
                  <a:pt x="0" y="528"/>
                </a:lnTo>
                <a:lnTo>
                  <a:pt x="432" y="528"/>
                </a:lnTo>
                <a:lnTo>
                  <a:pt x="432" y="720"/>
                </a:ln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noAutofit/>
          </a:bodyPr>
          <a:lstStyle/>
          <a:p>
            <a:endParaRPr lang="ko-KR" altLang="en-US" sz="800"/>
          </a:p>
        </p:txBody>
      </p:sp>
      <p:sp>
        <p:nvSpPr>
          <p:cNvPr id="176" name="Line 38"/>
          <p:cNvSpPr>
            <a:spLocks noChangeShapeType="1"/>
          </p:cNvSpPr>
          <p:nvPr/>
        </p:nvSpPr>
        <p:spPr bwMode="auto">
          <a:xfrm>
            <a:off x="2935244" y="4500297"/>
            <a:ext cx="2223" cy="56563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noAutofit/>
          </a:bodyPr>
          <a:lstStyle/>
          <a:p>
            <a:endParaRPr lang="ko-KR" altLang="en-US" sz="800"/>
          </a:p>
        </p:txBody>
      </p:sp>
      <p:sp>
        <p:nvSpPr>
          <p:cNvPr id="177" name="Freeform 39"/>
          <p:cNvSpPr>
            <a:spLocks/>
          </p:cNvSpPr>
          <p:nvPr/>
        </p:nvSpPr>
        <p:spPr bwMode="auto">
          <a:xfrm>
            <a:off x="3148690" y="4783115"/>
            <a:ext cx="213445" cy="282818"/>
          </a:xfrm>
          <a:custGeom>
            <a:avLst/>
            <a:gdLst>
              <a:gd name="T0" fmla="*/ 96 w 96"/>
              <a:gd name="T1" fmla="*/ 0 h 192"/>
              <a:gd name="T2" fmla="*/ 0 w 96"/>
              <a:gd name="T3" fmla="*/ 0 h 192"/>
              <a:gd name="T4" fmla="*/ 0 w 96"/>
              <a:gd name="T5" fmla="*/ 192 h 1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96" h="192">
                <a:moveTo>
                  <a:pt x="96" y="0"/>
                </a:moveTo>
                <a:lnTo>
                  <a:pt x="0" y="0"/>
                </a:lnTo>
                <a:lnTo>
                  <a:pt x="0" y="192"/>
                </a:ln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noAutofit/>
          </a:bodyPr>
          <a:lstStyle/>
          <a:p>
            <a:endParaRPr lang="ko-KR" altLang="en-US" sz="800"/>
          </a:p>
        </p:txBody>
      </p:sp>
      <p:sp>
        <p:nvSpPr>
          <p:cNvPr id="178" name="AutoShape 40"/>
          <p:cNvSpPr>
            <a:spLocks noChangeArrowheads="1"/>
          </p:cNvSpPr>
          <p:nvPr/>
        </p:nvSpPr>
        <p:spPr bwMode="auto">
          <a:xfrm>
            <a:off x="2623969" y="5663974"/>
            <a:ext cx="1938799" cy="409496"/>
          </a:xfrm>
          <a:prstGeom prst="flowChartDecision">
            <a:avLst/>
          </a:prstGeom>
          <a:solidFill>
            <a:srgbClr val="FFFFFF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noAutofit/>
          </a:bodyPr>
          <a:lstStyle/>
          <a:p>
            <a:pPr algn="ctr">
              <a:lnSpc>
                <a:spcPct val="140000"/>
              </a:lnSpc>
            </a:pPr>
            <a:r>
              <a:rPr lang="ko-KR" altLang="en-US" sz="800" b="1">
                <a:latin typeface="Arial" pitchFamily="34" charset="0"/>
              </a:rPr>
              <a:t>결정 했는가</a:t>
            </a:r>
            <a:r>
              <a:rPr lang="en-US" altLang="ko-KR" sz="800" b="1">
                <a:latin typeface="Arial" pitchFamily="34" charset="0"/>
              </a:rPr>
              <a:t>?</a:t>
            </a:r>
          </a:p>
        </p:txBody>
      </p:sp>
      <p:sp>
        <p:nvSpPr>
          <p:cNvPr id="179" name="Line 41"/>
          <p:cNvSpPr>
            <a:spLocks noChangeShapeType="1"/>
          </p:cNvSpPr>
          <p:nvPr/>
        </p:nvSpPr>
        <p:spPr bwMode="auto">
          <a:xfrm>
            <a:off x="3575581" y="5529930"/>
            <a:ext cx="0" cy="141409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noAutofit/>
          </a:bodyPr>
          <a:lstStyle/>
          <a:p>
            <a:endParaRPr lang="ko-KR" altLang="en-US" sz="800"/>
          </a:p>
        </p:txBody>
      </p:sp>
      <p:sp>
        <p:nvSpPr>
          <p:cNvPr id="180" name="Line 42"/>
          <p:cNvSpPr>
            <a:spLocks noChangeShapeType="1"/>
          </p:cNvSpPr>
          <p:nvPr/>
        </p:nvSpPr>
        <p:spPr bwMode="auto">
          <a:xfrm>
            <a:off x="3575581" y="6057267"/>
            <a:ext cx="0" cy="141409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noAutofit/>
          </a:bodyPr>
          <a:lstStyle/>
          <a:p>
            <a:endParaRPr lang="ko-KR" altLang="en-US" sz="800"/>
          </a:p>
        </p:txBody>
      </p:sp>
      <p:sp>
        <p:nvSpPr>
          <p:cNvPr id="181" name="Line 43"/>
          <p:cNvSpPr>
            <a:spLocks noChangeShapeType="1"/>
          </p:cNvSpPr>
          <p:nvPr/>
        </p:nvSpPr>
        <p:spPr bwMode="auto">
          <a:xfrm>
            <a:off x="4596118" y="5864303"/>
            <a:ext cx="1921011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noAutofit/>
          </a:bodyPr>
          <a:lstStyle/>
          <a:p>
            <a:endParaRPr lang="ko-KR" altLang="en-US" sz="800"/>
          </a:p>
        </p:txBody>
      </p:sp>
      <p:graphicFrame>
        <p:nvGraphicFramePr>
          <p:cNvPr id="182" name="Object 4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0796285"/>
              </p:ext>
            </p:extLst>
          </p:nvPr>
        </p:nvGraphicFramePr>
        <p:xfrm>
          <a:off x="6563820" y="5712584"/>
          <a:ext cx="362413" cy="2960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9" imgW="592455" imgH="510032" progId="Visio.Drawing.6">
                  <p:embed/>
                </p:oleObj>
              </mc:Choice>
              <mc:Fallback>
                <p:oleObj name="Visio" r:id="rId9" imgW="592455" imgH="510032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63820" y="5712584"/>
                        <a:ext cx="362413" cy="29607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3" name="Rectangle 45"/>
          <p:cNvSpPr>
            <a:spLocks noChangeArrowheads="1"/>
          </p:cNvSpPr>
          <p:nvPr/>
        </p:nvSpPr>
        <p:spPr bwMode="auto">
          <a:xfrm>
            <a:off x="6886338" y="5671339"/>
            <a:ext cx="2029958" cy="33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noAutofit/>
          </a:bodyPr>
          <a:lstStyle>
            <a:lvl1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268288" indent="-8890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>
              <a:lnSpc>
                <a:spcPct val="110000"/>
              </a:lnSpc>
            </a:pPr>
            <a:r>
              <a:rPr kumimoji="0" lang="ko-KR" altLang="en-US" sz="800" dirty="0">
                <a:latin typeface="Arial" pitchFamily="34" charset="0"/>
              </a:rPr>
              <a:t>다른 상품을 </a:t>
            </a:r>
            <a:r>
              <a:rPr kumimoji="0" lang="ko-KR" altLang="en-US" sz="800" dirty="0" err="1">
                <a:latin typeface="Arial" pitchFamily="34" charset="0"/>
              </a:rPr>
              <a:t>볼수있는</a:t>
            </a:r>
            <a:r>
              <a:rPr kumimoji="0" lang="ko-KR" altLang="en-US" sz="800" dirty="0">
                <a:latin typeface="Arial" pitchFamily="34" charset="0"/>
              </a:rPr>
              <a:t> 곳으로 이동 </a:t>
            </a:r>
            <a:r>
              <a:rPr kumimoji="0" lang="en-US" altLang="ko-KR" sz="800" dirty="0">
                <a:latin typeface="Arial" pitchFamily="34" charset="0"/>
              </a:rPr>
              <a:t>button/parameter</a:t>
            </a:r>
          </a:p>
        </p:txBody>
      </p:sp>
      <p:sp>
        <p:nvSpPr>
          <p:cNvPr id="184" name="Freeform 46"/>
          <p:cNvSpPr>
            <a:spLocks/>
          </p:cNvSpPr>
          <p:nvPr/>
        </p:nvSpPr>
        <p:spPr bwMode="auto">
          <a:xfrm>
            <a:off x="5069701" y="2631050"/>
            <a:ext cx="1387397" cy="3110994"/>
          </a:xfrm>
          <a:custGeom>
            <a:avLst/>
            <a:gdLst>
              <a:gd name="T0" fmla="*/ 624 w 624"/>
              <a:gd name="T1" fmla="*/ 2112 h 2112"/>
              <a:gd name="T2" fmla="*/ 384 w 624"/>
              <a:gd name="T3" fmla="*/ 2112 h 2112"/>
              <a:gd name="T4" fmla="*/ 384 w 624"/>
              <a:gd name="T5" fmla="*/ 0 h 2112"/>
              <a:gd name="T6" fmla="*/ 0 w 624"/>
              <a:gd name="T7" fmla="*/ 0 h 21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624" h="2112">
                <a:moveTo>
                  <a:pt x="624" y="2112"/>
                </a:moveTo>
                <a:lnTo>
                  <a:pt x="384" y="2112"/>
                </a:lnTo>
                <a:lnTo>
                  <a:pt x="384" y="0"/>
                </a:ln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noAutofit/>
          </a:bodyPr>
          <a:lstStyle/>
          <a:p>
            <a:endParaRPr lang="ko-KR" altLang="en-US" sz="800"/>
          </a:p>
        </p:txBody>
      </p:sp>
      <p:sp>
        <p:nvSpPr>
          <p:cNvPr id="185" name="Rectangle 47"/>
          <p:cNvSpPr>
            <a:spLocks noChangeArrowheads="1"/>
          </p:cNvSpPr>
          <p:nvPr/>
        </p:nvSpPr>
        <p:spPr bwMode="auto">
          <a:xfrm>
            <a:off x="624675" y="2100243"/>
            <a:ext cx="5561659" cy="281069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>
            <a:noAutofit/>
          </a:bodyPr>
          <a:lstStyle/>
          <a:p>
            <a:pPr algn="ctr"/>
            <a:r>
              <a:rPr lang="ko-KR" altLang="en-US" sz="800" b="1"/>
              <a:t>서비스 </a:t>
            </a:r>
            <a:r>
              <a:rPr lang="ko-KR" altLang="en-US" sz="800" b="1" dirty="0"/>
              <a:t>상품을 보려는 고객</a:t>
            </a:r>
          </a:p>
        </p:txBody>
      </p:sp>
      <p:sp>
        <p:nvSpPr>
          <p:cNvPr id="186" name="Rectangle 48"/>
          <p:cNvSpPr>
            <a:spLocks noChangeArrowheads="1"/>
          </p:cNvSpPr>
          <p:nvPr/>
        </p:nvSpPr>
        <p:spPr bwMode="auto">
          <a:xfrm>
            <a:off x="6186334" y="2100243"/>
            <a:ext cx="2887784" cy="281069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>
            <a:noAutofit/>
          </a:bodyPr>
          <a:lstStyle/>
          <a:p>
            <a:pPr algn="ctr"/>
            <a:r>
              <a:rPr lang="en-US" altLang="ko-KR" sz="800" b="1" dirty="0"/>
              <a:t>Site</a:t>
            </a:r>
          </a:p>
        </p:txBody>
      </p:sp>
    </p:spTree>
    <p:extLst>
      <p:ext uri="{BB962C8B-B14F-4D97-AF65-F5344CB8AC3E}">
        <p14:creationId xmlns:p14="http://schemas.microsoft.com/office/powerpoint/2010/main" val="353737726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44017" y="91339"/>
            <a:ext cx="7401271" cy="385333"/>
          </a:xfrm>
          <a:prstGeom prst="rect">
            <a:avLst/>
          </a:prstGeom>
          <a:noFill/>
        </p:spPr>
        <p:txBody>
          <a:bodyPr wrap="square" lIns="0" tIns="53643" rIns="0" bIns="53643" rtlCol="0">
            <a:spAutoFit/>
          </a:bodyPr>
          <a:lstStyle/>
          <a:p>
            <a:r>
              <a:rPr kumimoji="1" lang="en-US" altLang="ko-KR" b="1" kern="0" dirty="0">
                <a:latin typeface="나눔고딕" panose="020D0604000000000000" pitchFamily="50" charset="-127"/>
                <a:ea typeface="나눔고딕" panose="020D0604000000000000" pitchFamily="50" charset="-127"/>
                <a:cs typeface="산돌고딕 M"/>
              </a:rPr>
              <a:t>User Interface Design</a:t>
            </a:r>
            <a:endParaRPr kumimoji="1" lang="ko-KR" altLang="en-US" b="1" kern="0" dirty="0">
              <a:latin typeface="나눔고딕" panose="020D0604000000000000" pitchFamily="50" charset="-127"/>
              <a:ea typeface="나눔고딕" panose="020D0604000000000000" pitchFamily="50" charset="-127"/>
              <a:cs typeface="산돌고딕 M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44017" y="683985"/>
            <a:ext cx="96335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U.I / U.X Design Case</a:t>
            </a:r>
          </a:p>
        </p:txBody>
      </p:sp>
      <p:sp>
        <p:nvSpPr>
          <p:cNvPr id="34" name="직사각형 33"/>
          <p:cNvSpPr/>
          <p:nvPr/>
        </p:nvSpPr>
        <p:spPr>
          <a:xfrm>
            <a:off x="632520" y="1628800"/>
            <a:ext cx="5832648" cy="36004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r>
              <a:rPr lang="en-US" altLang="ko-KR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Step 5. Arrangement model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88504" y="991762"/>
            <a:ext cx="8928992" cy="307777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정리된 고객의 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Flow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와 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interface 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요소를 전체 사이트 구조에 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mapping 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시킵니다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30" name="Rectangle 8"/>
          <p:cNvSpPr>
            <a:spLocks noChangeArrowheads="1"/>
          </p:cNvSpPr>
          <p:nvPr/>
        </p:nvSpPr>
        <p:spPr bwMode="auto">
          <a:xfrm>
            <a:off x="1246188" y="2429023"/>
            <a:ext cx="1655763" cy="4024313"/>
          </a:xfrm>
          <a:prstGeom prst="rect">
            <a:avLst/>
          </a:prstGeom>
          <a:solidFill>
            <a:srgbClr val="FFFFFF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noAutofit/>
          </a:bodyPr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31" name="Rectangle 9"/>
          <p:cNvSpPr>
            <a:spLocks noChangeArrowheads="1"/>
          </p:cNvSpPr>
          <p:nvPr/>
        </p:nvSpPr>
        <p:spPr bwMode="auto">
          <a:xfrm>
            <a:off x="2901951" y="2429023"/>
            <a:ext cx="858838" cy="4024313"/>
          </a:xfrm>
          <a:prstGeom prst="rect">
            <a:avLst/>
          </a:prstGeom>
          <a:solidFill>
            <a:srgbClr val="FFFFFF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noAutofit/>
          </a:bodyPr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32" name="AutoShape 10"/>
          <p:cNvSpPr>
            <a:spLocks noChangeArrowheads="1"/>
          </p:cNvSpPr>
          <p:nvPr/>
        </p:nvSpPr>
        <p:spPr bwMode="auto">
          <a:xfrm>
            <a:off x="1871663" y="3445023"/>
            <a:ext cx="723900" cy="13335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noAutofit/>
          </a:bodyPr>
          <a:lstStyle>
            <a:lvl1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268288" indent="-8890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>
              <a:lnSpc>
                <a:spcPct val="140000"/>
              </a:lnSpc>
            </a:pPr>
            <a:endParaRPr kumimoji="0" lang="ko-KR" altLang="ko-KR" sz="10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33" name="AutoShape 11"/>
          <p:cNvSpPr>
            <a:spLocks noChangeArrowheads="1"/>
          </p:cNvSpPr>
          <p:nvPr/>
        </p:nvSpPr>
        <p:spPr bwMode="auto">
          <a:xfrm>
            <a:off x="1606551" y="4287986"/>
            <a:ext cx="735013" cy="13335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noAutofit/>
          </a:bodyPr>
          <a:lstStyle>
            <a:lvl1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268288" indent="-8890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>
              <a:lnSpc>
                <a:spcPct val="140000"/>
              </a:lnSpc>
            </a:pPr>
            <a:endParaRPr kumimoji="0" lang="ko-KR" altLang="ko-KR" sz="10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34" name="AutoShape 12"/>
          <p:cNvSpPr>
            <a:spLocks noChangeArrowheads="1"/>
          </p:cNvSpPr>
          <p:nvPr/>
        </p:nvSpPr>
        <p:spPr bwMode="auto">
          <a:xfrm>
            <a:off x="2020888" y="4540398"/>
            <a:ext cx="728663" cy="13335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noAutofit/>
          </a:bodyPr>
          <a:lstStyle>
            <a:lvl1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268288" indent="-8890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>
              <a:lnSpc>
                <a:spcPct val="140000"/>
              </a:lnSpc>
            </a:pPr>
            <a:endParaRPr kumimoji="0" lang="ko-KR" altLang="ko-KR" sz="10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35" name="Line 13"/>
          <p:cNvSpPr>
            <a:spLocks noChangeShapeType="1"/>
          </p:cNvSpPr>
          <p:nvPr/>
        </p:nvSpPr>
        <p:spPr bwMode="auto">
          <a:xfrm flipV="1">
            <a:off x="1838326" y="3887936"/>
            <a:ext cx="358775" cy="158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none" w="med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noAutofit/>
          </a:bodyPr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436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60292486"/>
              </p:ext>
            </p:extLst>
          </p:nvPr>
        </p:nvGraphicFramePr>
        <p:xfrm>
          <a:off x="2981326" y="3630761"/>
          <a:ext cx="155575" cy="150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592455" imgH="510032" progId="Visio.Drawing.6">
                  <p:embed/>
                </p:oleObj>
              </mc:Choice>
              <mc:Fallback>
                <p:oleObj name="Visio" r:id="rId2" imgW="592455" imgH="510032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81326" y="3630761"/>
                        <a:ext cx="155575" cy="150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chemeClr val="accent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438" name="AutoShape 16"/>
          <p:cNvCxnSpPr>
            <a:cxnSpLocks noChangeShapeType="1"/>
            <a:stCxn id="432" idx="2"/>
          </p:cNvCxnSpPr>
          <p:nvPr/>
        </p:nvCxnSpPr>
        <p:spPr bwMode="auto">
          <a:xfrm rot="16200000" flipH="1">
            <a:off x="2551113" y="3275161"/>
            <a:ext cx="114300" cy="747713"/>
          </a:xfrm>
          <a:prstGeom prst="bentConnector2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39" name="Freeform 17"/>
          <p:cNvSpPr>
            <a:spLocks/>
          </p:cNvSpPr>
          <p:nvPr/>
        </p:nvSpPr>
        <p:spPr bwMode="auto">
          <a:xfrm>
            <a:off x="1997076" y="3779986"/>
            <a:ext cx="1079500" cy="114300"/>
          </a:xfrm>
          <a:custGeom>
            <a:avLst/>
            <a:gdLst>
              <a:gd name="T0" fmla="*/ 1632 w 1632"/>
              <a:gd name="T1" fmla="*/ 0 h 240"/>
              <a:gd name="T2" fmla="*/ 1632 w 1632"/>
              <a:gd name="T3" fmla="*/ 48 h 240"/>
              <a:gd name="T4" fmla="*/ 0 w 1632"/>
              <a:gd name="T5" fmla="*/ 48 h 240"/>
              <a:gd name="T6" fmla="*/ 0 w 1632"/>
              <a:gd name="T7" fmla="*/ 240 h 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632" h="240">
                <a:moveTo>
                  <a:pt x="1632" y="0"/>
                </a:moveTo>
                <a:lnTo>
                  <a:pt x="1632" y="48"/>
                </a:lnTo>
                <a:lnTo>
                  <a:pt x="0" y="48"/>
                </a:lnTo>
                <a:lnTo>
                  <a:pt x="0" y="240"/>
                </a:ln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noAutofit/>
          </a:bodyPr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440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05188554"/>
              </p:ext>
            </p:extLst>
          </p:nvPr>
        </p:nvGraphicFramePr>
        <p:xfrm>
          <a:off x="3013076" y="4022873"/>
          <a:ext cx="155575" cy="150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4" imgW="592455" imgH="510032" progId="Visio.Drawing.6">
                  <p:embed/>
                </p:oleObj>
              </mc:Choice>
              <mc:Fallback>
                <p:oleObj name="Visio" r:id="rId4" imgW="592455" imgH="510032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13076" y="4022873"/>
                        <a:ext cx="155575" cy="150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chemeClr val="accent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2" name="Freeform 20"/>
          <p:cNvSpPr>
            <a:spLocks/>
          </p:cNvSpPr>
          <p:nvPr/>
        </p:nvSpPr>
        <p:spPr bwMode="auto">
          <a:xfrm>
            <a:off x="1584326" y="3908573"/>
            <a:ext cx="412750" cy="114300"/>
          </a:xfrm>
          <a:custGeom>
            <a:avLst/>
            <a:gdLst>
              <a:gd name="T0" fmla="*/ 1632 w 1632"/>
              <a:gd name="T1" fmla="*/ 0 h 240"/>
              <a:gd name="T2" fmla="*/ 1632 w 1632"/>
              <a:gd name="T3" fmla="*/ 48 h 240"/>
              <a:gd name="T4" fmla="*/ 0 w 1632"/>
              <a:gd name="T5" fmla="*/ 48 h 240"/>
              <a:gd name="T6" fmla="*/ 0 w 1632"/>
              <a:gd name="T7" fmla="*/ 240 h 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632" h="240">
                <a:moveTo>
                  <a:pt x="1632" y="0"/>
                </a:moveTo>
                <a:lnTo>
                  <a:pt x="1632" y="48"/>
                </a:lnTo>
                <a:lnTo>
                  <a:pt x="0" y="48"/>
                </a:lnTo>
                <a:lnTo>
                  <a:pt x="0" y="240"/>
                </a:ln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noAutofit/>
          </a:bodyPr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43" name="AutoShape 21"/>
          <p:cNvSpPr>
            <a:spLocks noChangeArrowheads="1"/>
          </p:cNvSpPr>
          <p:nvPr/>
        </p:nvSpPr>
        <p:spPr bwMode="auto">
          <a:xfrm>
            <a:off x="1252538" y="4033986"/>
            <a:ext cx="679450" cy="13335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noAutofit/>
          </a:bodyPr>
          <a:lstStyle>
            <a:lvl1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268288" indent="-8890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>
              <a:lnSpc>
                <a:spcPct val="140000"/>
              </a:lnSpc>
            </a:pPr>
            <a:endParaRPr kumimoji="0" lang="ko-KR" altLang="ko-KR" sz="10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44" name="Line 22"/>
          <p:cNvSpPr>
            <a:spLocks noChangeShapeType="1"/>
          </p:cNvSpPr>
          <p:nvPr/>
        </p:nvSpPr>
        <p:spPr bwMode="auto">
          <a:xfrm>
            <a:off x="1870076" y="4094311"/>
            <a:ext cx="1143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noAutofit/>
          </a:bodyPr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45" name="Freeform 23"/>
          <p:cNvSpPr>
            <a:spLocks/>
          </p:cNvSpPr>
          <p:nvPr/>
        </p:nvSpPr>
        <p:spPr bwMode="auto">
          <a:xfrm>
            <a:off x="1933576" y="3914923"/>
            <a:ext cx="95250" cy="365125"/>
          </a:xfrm>
          <a:custGeom>
            <a:avLst/>
            <a:gdLst>
              <a:gd name="T0" fmla="*/ 1632 w 1632"/>
              <a:gd name="T1" fmla="*/ 0 h 240"/>
              <a:gd name="T2" fmla="*/ 1632 w 1632"/>
              <a:gd name="T3" fmla="*/ 48 h 240"/>
              <a:gd name="T4" fmla="*/ 0 w 1632"/>
              <a:gd name="T5" fmla="*/ 48 h 240"/>
              <a:gd name="T6" fmla="*/ 0 w 1632"/>
              <a:gd name="T7" fmla="*/ 240 h 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632" h="240">
                <a:moveTo>
                  <a:pt x="1632" y="0"/>
                </a:moveTo>
                <a:lnTo>
                  <a:pt x="1632" y="48"/>
                </a:lnTo>
                <a:lnTo>
                  <a:pt x="0" y="48"/>
                </a:lnTo>
                <a:lnTo>
                  <a:pt x="0" y="240"/>
                </a:ln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noAutofit/>
          </a:bodyPr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46" name="Freeform 24"/>
          <p:cNvSpPr>
            <a:spLocks/>
          </p:cNvSpPr>
          <p:nvPr/>
        </p:nvSpPr>
        <p:spPr bwMode="auto">
          <a:xfrm flipH="1">
            <a:off x="2078038" y="3924448"/>
            <a:ext cx="331788" cy="566738"/>
          </a:xfrm>
          <a:custGeom>
            <a:avLst/>
            <a:gdLst>
              <a:gd name="T0" fmla="*/ 1632 w 1632"/>
              <a:gd name="T1" fmla="*/ 0 h 240"/>
              <a:gd name="T2" fmla="*/ 1632 w 1632"/>
              <a:gd name="T3" fmla="*/ 48 h 240"/>
              <a:gd name="T4" fmla="*/ 0 w 1632"/>
              <a:gd name="T5" fmla="*/ 48 h 240"/>
              <a:gd name="T6" fmla="*/ 0 w 1632"/>
              <a:gd name="T7" fmla="*/ 240 h 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632" h="240">
                <a:moveTo>
                  <a:pt x="1632" y="0"/>
                </a:moveTo>
                <a:lnTo>
                  <a:pt x="1632" y="48"/>
                </a:lnTo>
                <a:lnTo>
                  <a:pt x="0" y="48"/>
                </a:lnTo>
                <a:lnTo>
                  <a:pt x="0" y="240"/>
                </a:ln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noAutofit/>
          </a:bodyPr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447" name="Object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76185510"/>
              </p:ext>
            </p:extLst>
          </p:nvPr>
        </p:nvGraphicFramePr>
        <p:xfrm>
          <a:off x="3013076" y="4280048"/>
          <a:ext cx="155575" cy="150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6" imgW="592455" imgH="510032" progId="Visio.Drawing.6">
                  <p:embed/>
                </p:oleObj>
              </mc:Choice>
              <mc:Fallback>
                <p:oleObj name="Visio" r:id="rId6" imgW="592455" imgH="510032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13076" y="4280048"/>
                        <a:ext cx="155575" cy="150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chemeClr val="accent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9" name="Line 27"/>
          <p:cNvSpPr>
            <a:spLocks noChangeShapeType="1"/>
          </p:cNvSpPr>
          <p:nvPr/>
        </p:nvSpPr>
        <p:spPr bwMode="auto">
          <a:xfrm>
            <a:off x="2286001" y="4353073"/>
            <a:ext cx="7270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noAutofit/>
          </a:bodyPr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450" name="Object 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33855604"/>
              </p:ext>
            </p:extLst>
          </p:nvPr>
        </p:nvGraphicFramePr>
        <p:xfrm>
          <a:off x="3013076" y="4526111"/>
          <a:ext cx="155575" cy="150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7" imgW="592455" imgH="510032" progId="Visio.Drawing.6">
                  <p:embed/>
                </p:oleObj>
              </mc:Choice>
              <mc:Fallback>
                <p:oleObj name="Visio" r:id="rId7" imgW="592455" imgH="510032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13076" y="4526111"/>
                        <a:ext cx="155575" cy="150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chemeClr val="accent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2" name="Line 30"/>
          <p:cNvSpPr>
            <a:spLocks noChangeShapeType="1"/>
          </p:cNvSpPr>
          <p:nvPr/>
        </p:nvSpPr>
        <p:spPr bwMode="auto">
          <a:xfrm>
            <a:off x="2695576" y="4597548"/>
            <a:ext cx="3175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noAutofit/>
          </a:bodyPr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53" name="AutoShape 31"/>
          <p:cNvSpPr>
            <a:spLocks noChangeArrowheads="1"/>
          </p:cNvSpPr>
          <p:nvPr/>
        </p:nvSpPr>
        <p:spPr bwMode="auto">
          <a:xfrm>
            <a:off x="1776413" y="4842023"/>
            <a:ext cx="723900" cy="13335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noAutofit/>
          </a:bodyPr>
          <a:lstStyle>
            <a:lvl1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268288" indent="-8890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>
              <a:lnSpc>
                <a:spcPct val="140000"/>
              </a:lnSpc>
            </a:pPr>
            <a:endParaRPr kumimoji="0" lang="ko-KR" altLang="ko-KR" sz="10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54" name="AutoShape 32"/>
          <p:cNvSpPr>
            <a:spLocks noChangeArrowheads="1"/>
          </p:cNvSpPr>
          <p:nvPr/>
        </p:nvSpPr>
        <p:spPr bwMode="auto">
          <a:xfrm>
            <a:off x="1733551" y="5330973"/>
            <a:ext cx="952500" cy="13335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noAutofit/>
          </a:bodyPr>
          <a:lstStyle>
            <a:lvl1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268288" indent="-8890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>
              <a:lnSpc>
                <a:spcPct val="140000"/>
              </a:lnSpc>
            </a:pPr>
            <a:endParaRPr kumimoji="0" lang="ko-KR" altLang="ko-KR" sz="10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455" name="Object 3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8977434"/>
              </p:ext>
            </p:extLst>
          </p:nvPr>
        </p:nvGraphicFramePr>
        <p:xfrm>
          <a:off x="3144838" y="6046936"/>
          <a:ext cx="155575" cy="150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8" imgW="592455" imgH="510032" progId="Visio.Drawing.6">
                  <p:embed/>
                </p:oleObj>
              </mc:Choice>
              <mc:Fallback>
                <p:oleObj name="Visio" r:id="rId8" imgW="592455" imgH="510032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44838" y="6046936"/>
                        <a:ext cx="155575" cy="150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chemeClr val="accent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7" name="Line 35"/>
          <p:cNvSpPr>
            <a:spLocks noChangeShapeType="1"/>
          </p:cNvSpPr>
          <p:nvPr/>
        </p:nvSpPr>
        <p:spPr bwMode="auto">
          <a:xfrm>
            <a:off x="2632076" y="5392886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noAutofit/>
          </a:bodyPr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58" name="Line 36"/>
          <p:cNvSpPr>
            <a:spLocks noChangeShapeType="1"/>
          </p:cNvSpPr>
          <p:nvPr/>
        </p:nvSpPr>
        <p:spPr bwMode="auto">
          <a:xfrm flipV="1">
            <a:off x="1838326" y="4764236"/>
            <a:ext cx="358775" cy="158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none" w="med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noAutofit/>
          </a:bodyPr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59" name="Freeform 37"/>
          <p:cNvSpPr>
            <a:spLocks/>
          </p:cNvSpPr>
          <p:nvPr/>
        </p:nvSpPr>
        <p:spPr bwMode="auto">
          <a:xfrm>
            <a:off x="1584326" y="4202261"/>
            <a:ext cx="285750" cy="541338"/>
          </a:xfrm>
          <a:custGeom>
            <a:avLst/>
            <a:gdLst>
              <a:gd name="T0" fmla="*/ 0 w 432"/>
              <a:gd name="T1" fmla="*/ 0 h 720"/>
              <a:gd name="T2" fmla="*/ 0 w 432"/>
              <a:gd name="T3" fmla="*/ 528 h 720"/>
              <a:gd name="T4" fmla="*/ 432 w 432"/>
              <a:gd name="T5" fmla="*/ 528 h 720"/>
              <a:gd name="T6" fmla="*/ 432 w 432"/>
              <a:gd name="T7" fmla="*/ 720 h 7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432" h="720">
                <a:moveTo>
                  <a:pt x="0" y="0"/>
                </a:moveTo>
                <a:lnTo>
                  <a:pt x="0" y="528"/>
                </a:lnTo>
                <a:lnTo>
                  <a:pt x="432" y="528"/>
                </a:lnTo>
                <a:lnTo>
                  <a:pt x="432" y="720"/>
                </a:ln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noAutofit/>
          </a:bodyPr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60" name="Line 38"/>
          <p:cNvSpPr>
            <a:spLocks noChangeShapeType="1"/>
          </p:cNvSpPr>
          <p:nvPr/>
        </p:nvSpPr>
        <p:spPr bwMode="auto">
          <a:xfrm>
            <a:off x="1933576" y="4456261"/>
            <a:ext cx="0" cy="2873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noAutofit/>
          </a:bodyPr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61" name="Freeform 39"/>
          <p:cNvSpPr>
            <a:spLocks/>
          </p:cNvSpPr>
          <p:nvPr/>
        </p:nvSpPr>
        <p:spPr bwMode="auto">
          <a:xfrm>
            <a:off x="1997076" y="4600723"/>
            <a:ext cx="63500" cy="142875"/>
          </a:xfrm>
          <a:custGeom>
            <a:avLst/>
            <a:gdLst>
              <a:gd name="T0" fmla="*/ 96 w 96"/>
              <a:gd name="T1" fmla="*/ 0 h 192"/>
              <a:gd name="T2" fmla="*/ 0 w 96"/>
              <a:gd name="T3" fmla="*/ 0 h 192"/>
              <a:gd name="T4" fmla="*/ 0 w 96"/>
              <a:gd name="T5" fmla="*/ 192 h 1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96" h="192">
                <a:moveTo>
                  <a:pt x="96" y="0"/>
                </a:moveTo>
                <a:lnTo>
                  <a:pt x="0" y="0"/>
                </a:lnTo>
                <a:lnTo>
                  <a:pt x="0" y="192"/>
                </a:ln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noAutofit/>
          </a:bodyPr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62" name="AutoShape 40"/>
          <p:cNvSpPr>
            <a:spLocks noChangeArrowheads="1"/>
          </p:cNvSpPr>
          <p:nvPr/>
        </p:nvSpPr>
        <p:spPr bwMode="auto">
          <a:xfrm>
            <a:off x="2032001" y="5081736"/>
            <a:ext cx="193675" cy="146050"/>
          </a:xfrm>
          <a:prstGeom prst="flowChartDecision">
            <a:avLst/>
          </a:prstGeom>
          <a:solidFill>
            <a:srgbClr val="FFFFFF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noAutofit/>
          </a:bodyPr>
          <a:lstStyle/>
          <a:p>
            <a:pPr algn="ctr">
              <a:lnSpc>
                <a:spcPct val="140000"/>
              </a:lnSpc>
            </a:pPr>
            <a:endParaRPr lang="ko-KR" altLang="ko-KR" sz="10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63" name="Line 41"/>
          <p:cNvSpPr>
            <a:spLocks noChangeShapeType="1"/>
          </p:cNvSpPr>
          <p:nvPr/>
        </p:nvSpPr>
        <p:spPr bwMode="auto">
          <a:xfrm>
            <a:off x="2124076" y="4981723"/>
            <a:ext cx="0" cy="714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noAutofit/>
          </a:bodyPr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64" name="Line 42"/>
          <p:cNvSpPr>
            <a:spLocks noChangeShapeType="1"/>
          </p:cNvSpPr>
          <p:nvPr/>
        </p:nvSpPr>
        <p:spPr bwMode="auto">
          <a:xfrm>
            <a:off x="2124076" y="5250011"/>
            <a:ext cx="0" cy="730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noAutofit/>
          </a:bodyPr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65" name="Line 43"/>
          <p:cNvSpPr>
            <a:spLocks noChangeShapeType="1"/>
          </p:cNvSpPr>
          <p:nvPr/>
        </p:nvSpPr>
        <p:spPr bwMode="auto">
          <a:xfrm>
            <a:off x="2427288" y="5151586"/>
            <a:ext cx="5715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noAutofit/>
          </a:bodyPr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466" name="Object 4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18250927"/>
              </p:ext>
            </p:extLst>
          </p:nvPr>
        </p:nvGraphicFramePr>
        <p:xfrm>
          <a:off x="3013076" y="5073798"/>
          <a:ext cx="155575" cy="15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9" imgW="592455" imgH="510032" progId="Visio.Drawing.6">
                  <p:embed/>
                </p:oleObj>
              </mc:Choice>
              <mc:Fallback>
                <p:oleObj name="Visio" r:id="rId9" imgW="592455" imgH="510032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13076" y="5073798"/>
                        <a:ext cx="155575" cy="152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chemeClr val="accent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8" name="Freeform 46"/>
          <p:cNvSpPr>
            <a:spLocks/>
          </p:cNvSpPr>
          <p:nvPr/>
        </p:nvSpPr>
        <p:spPr bwMode="auto">
          <a:xfrm>
            <a:off x="2568576" y="3502173"/>
            <a:ext cx="412750" cy="1587500"/>
          </a:xfrm>
          <a:custGeom>
            <a:avLst/>
            <a:gdLst>
              <a:gd name="T0" fmla="*/ 624 w 624"/>
              <a:gd name="T1" fmla="*/ 2112 h 2112"/>
              <a:gd name="T2" fmla="*/ 384 w 624"/>
              <a:gd name="T3" fmla="*/ 2112 h 2112"/>
              <a:gd name="T4" fmla="*/ 384 w 624"/>
              <a:gd name="T5" fmla="*/ 0 h 2112"/>
              <a:gd name="T6" fmla="*/ 0 w 624"/>
              <a:gd name="T7" fmla="*/ 0 h 21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624" h="2112">
                <a:moveTo>
                  <a:pt x="624" y="2112"/>
                </a:moveTo>
                <a:lnTo>
                  <a:pt x="384" y="2112"/>
                </a:lnTo>
                <a:lnTo>
                  <a:pt x="384" y="0"/>
                </a:ln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noAutofit/>
          </a:bodyPr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69" name="Rectangle 47"/>
          <p:cNvSpPr>
            <a:spLocks noChangeArrowheads="1"/>
          </p:cNvSpPr>
          <p:nvPr/>
        </p:nvSpPr>
        <p:spPr bwMode="auto">
          <a:xfrm>
            <a:off x="1246188" y="2276623"/>
            <a:ext cx="1655763" cy="142875"/>
          </a:xfrm>
          <a:prstGeom prst="rect">
            <a:avLst/>
          </a:prstGeom>
          <a:solidFill>
            <a:srgbClr val="FFFFFF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noAutofit/>
          </a:bodyPr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70" name="Rectangle 48"/>
          <p:cNvSpPr>
            <a:spLocks noChangeArrowheads="1"/>
          </p:cNvSpPr>
          <p:nvPr/>
        </p:nvSpPr>
        <p:spPr bwMode="auto">
          <a:xfrm>
            <a:off x="2901951" y="2276623"/>
            <a:ext cx="858838" cy="142875"/>
          </a:xfrm>
          <a:prstGeom prst="rect">
            <a:avLst/>
          </a:prstGeom>
          <a:solidFill>
            <a:srgbClr val="FFFFFF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noAutofit/>
          </a:bodyPr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pSp>
        <p:nvGrpSpPr>
          <p:cNvPr id="471" name="Group 49"/>
          <p:cNvGrpSpPr>
            <a:grpSpLocks/>
          </p:cNvGrpSpPr>
          <p:nvPr/>
        </p:nvGrpSpPr>
        <p:grpSpPr bwMode="auto">
          <a:xfrm>
            <a:off x="1398588" y="2530623"/>
            <a:ext cx="1414463" cy="866775"/>
            <a:chOff x="3860" y="2549"/>
            <a:chExt cx="1682" cy="1031"/>
          </a:xfrm>
        </p:grpSpPr>
        <p:sp>
          <p:nvSpPr>
            <p:cNvPr id="756" name="AutoShape 50"/>
            <p:cNvSpPr>
              <a:spLocks noChangeArrowheads="1"/>
            </p:cNvSpPr>
            <p:nvPr/>
          </p:nvSpPr>
          <p:spPr bwMode="auto">
            <a:xfrm>
              <a:off x="4302" y="2549"/>
              <a:ext cx="906" cy="159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no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268288" indent="-8890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>
                <a:lnSpc>
                  <a:spcPct val="140000"/>
                </a:lnSpc>
              </a:pPr>
              <a:endParaRPr kumimoji="0" lang="ko-KR" altLang="ko-KR" sz="10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757" name="AutoShape 51"/>
            <p:cNvSpPr>
              <a:spLocks noChangeArrowheads="1"/>
            </p:cNvSpPr>
            <p:nvPr/>
          </p:nvSpPr>
          <p:spPr bwMode="auto">
            <a:xfrm>
              <a:off x="3860" y="2923"/>
              <a:ext cx="689" cy="159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no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268288" indent="-8890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>
                <a:lnSpc>
                  <a:spcPct val="140000"/>
                </a:lnSpc>
              </a:pPr>
              <a:endParaRPr kumimoji="0" lang="ko-KR" altLang="ko-KR" sz="10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758" name="AutoShape 52"/>
            <p:cNvSpPr>
              <a:spLocks noChangeArrowheads="1"/>
            </p:cNvSpPr>
            <p:nvPr/>
          </p:nvSpPr>
          <p:spPr bwMode="auto">
            <a:xfrm>
              <a:off x="4864" y="2925"/>
              <a:ext cx="678" cy="159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no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268288" indent="-8890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>
                <a:lnSpc>
                  <a:spcPct val="140000"/>
                </a:lnSpc>
              </a:pPr>
              <a:endParaRPr kumimoji="0" lang="ko-KR" altLang="ko-KR" sz="10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759" name="AutoShape 53"/>
            <p:cNvSpPr>
              <a:spLocks noChangeArrowheads="1"/>
            </p:cNvSpPr>
            <p:nvPr/>
          </p:nvSpPr>
          <p:spPr bwMode="auto">
            <a:xfrm>
              <a:off x="4364" y="3314"/>
              <a:ext cx="782" cy="159"/>
            </a:xfrm>
            <a:prstGeom prst="roundRect">
              <a:avLst>
                <a:gd name="adj" fmla="val 50000"/>
              </a:avLst>
            </a:prstGeom>
            <a:solidFill>
              <a:schemeClr val="tx1">
                <a:lumMod val="50000"/>
                <a:lumOff val="5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no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268288" indent="-8890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>
                <a:lnSpc>
                  <a:spcPct val="140000"/>
                </a:lnSpc>
              </a:pPr>
              <a:endParaRPr kumimoji="0" lang="ko-KR" altLang="ko-KR" sz="10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760" name="Line 54"/>
            <p:cNvSpPr>
              <a:spLocks noChangeShapeType="1"/>
            </p:cNvSpPr>
            <p:nvPr/>
          </p:nvSpPr>
          <p:spPr bwMode="auto">
            <a:xfrm>
              <a:off x="4727" y="2741"/>
              <a:ext cx="0" cy="93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 type="triangl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noAutofit/>
            </a:bodyPr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761" name="Line 55"/>
            <p:cNvSpPr>
              <a:spLocks noChangeShapeType="1"/>
            </p:cNvSpPr>
            <p:nvPr/>
          </p:nvSpPr>
          <p:spPr bwMode="auto">
            <a:xfrm flipV="1">
              <a:off x="4448" y="2825"/>
              <a:ext cx="542" cy="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non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noAutofit/>
            </a:bodyPr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762" name="Line 56"/>
            <p:cNvSpPr>
              <a:spLocks noChangeShapeType="1"/>
            </p:cNvSpPr>
            <p:nvPr/>
          </p:nvSpPr>
          <p:spPr bwMode="auto">
            <a:xfrm flipH="1">
              <a:off x="4500" y="2834"/>
              <a:ext cx="90" cy="93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 type="triangl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noAutofit/>
            </a:bodyPr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763" name="Line 57"/>
            <p:cNvSpPr>
              <a:spLocks noChangeShapeType="1"/>
            </p:cNvSpPr>
            <p:nvPr/>
          </p:nvSpPr>
          <p:spPr bwMode="auto">
            <a:xfrm>
              <a:off x="4863" y="2834"/>
              <a:ext cx="45" cy="79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 type="triangl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noAutofit/>
            </a:bodyPr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764" name="Line 58"/>
            <p:cNvSpPr>
              <a:spLocks noChangeShapeType="1"/>
            </p:cNvSpPr>
            <p:nvPr/>
          </p:nvSpPr>
          <p:spPr bwMode="auto">
            <a:xfrm flipV="1">
              <a:off x="4441" y="3192"/>
              <a:ext cx="543" cy="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non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noAutofit/>
            </a:bodyPr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765" name="Line 59"/>
            <p:cNvSpPr>
              <a:spLocks noChangeShapeType="1"/>
            </p:cNvSpPr>
            <p:nvPr/>
          </p:nvSpPr>
          <p:spPr bwMode="auto">
            <a:xfrm>
              <a:off x="4455" y="3100"/>
              <a:ext cx="64" cy="95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 type="triangl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noAutofit/>
            </a:bodyPr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766" name="Line 60"/>
            <p:cNvSpPr>
              <a:spLocks noChangeShapeType="1"/>
            </p:cNvSpPr>
            <p:nvPr/>
          </p:nvSpPr>
          <p:spPr bwMode="auto">
            <a:xfrm flipH="1">
              <a:off x="4941" y="3100"/>
              <a:ext cx="58" cy="91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 type="triangl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noAutofit/>
            </a:bodyPr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767" name="Line 61"/>
            <p:cNvSpPr>
              <a:spLocks noChangeShapeType="1"/>
            </p:cNvSpPr>
            <p:nvPr/>
          </p:nvSpPr>
          <p:spPr bwMode="auto">
            <a:xfrm>
              <a:off x="4727" y="3193"/>
              <a:ext cx="0" cy="93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 type="triangl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noAutofit/>
            </a:bodyPr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768" name="Line 62"/>
            <p:cNvSpPr>
              <a:spLocks noChangeShapeType="1"/>
            </p:cNvSpPr>
            <p:nvPr/>
          </p:nvSpPr>
          <p:spPr bwMode="auto">
            <a:xfrm>
              <a:off x="4727" y="3486"/>
              <a:ext cx="0" cy="94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 type="triangl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noAutofit/>
            </a:bodyPr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grpSp>
        <p:nvGrpSpPr>
          <p:cNvPr id="472" name="Group 63"/>
          <p:cNvGrpSpPr>
            <a:grpSpLocks/>
          </p:cNvGrpSpPr>
          <p:nvPr/>
        </p:nvGrpSpPr>
        <p:grpSpPr bwMode="auto">
          <a:xfrm>
            <a:off x="1398588" y="5550048"/>
            <a:ext cx="1414463" cy="866775"/>
            <a:chOff x="3860" y="2549"/>
            <a:chExt cx="1682" cy="1031"/>
          </a:xfrm>
        </p:grpSpPr>
        <p:sp>
          <p:nvSpPr>
            <p:cNvPr id="743" name="AutoShape 64"/>
            <p:cNvSpPr>
              <a:spLocks noChangeArrowheads="1"/>
            </p:cNvSpPr>
            <p:nvPr/>
          </p:nvSpPr>
          <p:spPr bwMode="auto">
            <a:xfrm>
              <a:off x="4302" y="2549"/>
              <a:ext cx="906" cy="159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no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268288" indent="-8890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>
                <a:lnSpc>
                  <a:spcPct val="140000"/>
                </a:lnSpc>
              </a:pPr>
              <a:endParaRPr kumimoji="0" lang="ko-KR" altLang="ko-KR" sz="10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744" name="AutoShape 65"/>
            <p:cNvSpPr>
              <a:spLocks noChangeArrowheads="1"/>
            </p:cNvSpPr>
            <p:nvPr/>
          </p:nvSpPr>
          <p:spPr bwMode="auto">
            <a:xfrm>
              <a:off x="3860" y="2923"/>
              <a:ext cx="689" cy="159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no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268288" indent="-8890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>
                <a:lnSpc>
                  <a:spcPct val="140000"/>
                </a:lnSpc>
              </a:pPr>
              <a:endParaRPr kumimoji="0" lang="ko-KR" altLang="ko-KR" sz="10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745" name="AutoShape 66"/>
            <p:cNvSpPr>
              <a:spLocks noChangeArrowheads="1"/>
            </p:cNvSpPr>
            <p:nvPr/>
          </p:nvSpPr>
          <p:spPr bwMode="auto">
            <a:xfrm>
              <a:off x="4864" y="2925"/>
              <a:ext cx="678" cy="159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no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268288" indent="-8890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>
                <a:lnSpc>
                  <a:spcPct val="140000"/>
                </a:lnSpc>
              </a:pPr>
              <a:endParaRPr kumimoji="0" lang="ko-KR" altLang="ko-KR" sz="10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746" name="AutoShape 67"/>
            <p:cNvSpPr>
              <a:spLocks noChangeArrowheads="1"/>
            </p:cNvSpPr>
            <p:nvPr/>
          </p:nvSpPr>
          <p:spPr bwMode="auto">
            <a:xfrm>
              <a:off x="4364" y="3314"/>
              <a:ext cx="782" cy="159"/>
            </a:xfrm>
            <a:prstGeom prst="roundRect">
              <a:avLst>
                <a:gd name="adj" fmla="val 50000"/>
              </a:avLst>
            </a:prstGeom>
            <a:solidFill>
              <a:schemeClr val="tx1">
                <a:lumMod val="50000"/>
                <a:lumOff val="5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no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268288" indent="-8890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>
                <a:lnSpc>
                  <a:spcPct val="140000"/>
                </a:lnSpc>
              </a:pPr>
              <a:endParaRPr kumimoji="0" lang="ko-KR" altLang="ko-KR" sz="10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747" name="Line 68"/>
            <p:cNvSpPr>
              <a:spLocks noChangeShapeType="1"/>
            </p:cNvSpPr>
            <p:nvPr/>
          </p:nvSpPr>
          <p:spPr bwMode="auto">
            <a:xfrm>
              <a:off x="4727" y="2741"/>
              <a:ext cx="0" cy="93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 type="triangl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noAutofit/>
            </a:bodyPr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748" name="Line 69"/>
            <p:cNvSpPr>
              <a:spLocks noChangeShapeType="1"/>
            </p:cNvSpPr>
            <p:nvPr/>
          </p:nvSpPr>
          <p:spPr bwMode="auto">
            <a:xfrm flipV="1">
              <a:off x="4448" y="2825"/>
              <a:ext cx="542" cy="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non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noAutofit/>
            </a:bodyPr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749" name="Line 70"/>
            <p:cNvSpPr>
              <a:spLocks noChangeShapeType="1"/>
            </p:cNvSpPr>
            <p:nvPr/>
          </p:nvSpPr>
          <p:spPr bwMode="auto">
            <a:xfrm flipH="1">
              <a:off x="4500" y="2834"/>
              <a:ext cx="90" cy="93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 type="triangl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noAutofit/>
            </a:bodyPr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750" name="Line 71"/>
            <p:cNvSpPr>
              <a:spLocks noChangeShapeType="1"/>
            </p:cNvSpPr>
            <p:nvPr/>
          </p:nvSpPr>
          <p:spPr bwMode="auto">
            <a:xfrm>
              <a:off x="4863" y="2834"/>
              <a:ext cx="45" cy="79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 type="triangl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noAutofit/>
            </a:bodyPr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751" name="Line 72"/>
            <p:cNvSpPr>
              <a:spLocks noChangeShapeType="1"/>
            </p:cNvSpPr>
            <p:nvPr/>
          </p:nvSpPr>
          <p:spPr bwMode="auto">
            <a:xfrm flipV="1">
              <a:off x="4441" y="3192"/>
              <a:ext cx="543" cy="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non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noAutofit/>
            </a:bodyPr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752" name="Line 73"/>
            <p:cNvSpPr>
              <a:spLocks noChangeShapeType="1"/>
            </p:cNvSpPr>
            <p:nvPr/>
          </p:nvSpPr>
          <p:spPr bwMode="auto">
            <a:xfrm>
              <a:off x="4455" y="3100"/>
              <a:ext cx="64" cy="95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 type="triangl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noAutofit/>
            </a:bodyPr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753" name="Line 74"/>
            <p:cNvSpPr>
              <a:spLocks noChangeShapeType="1"/>
            </p:cNvSpPr>
            <p:nvPr/>
          </p:nvSpPr>
          <p:spPr bwMode="auto">
            <a:xfrm flipH="1">
              <a:off x="4941" y="3100"/>
              <a:ext cx="58" cy="91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 type="triangl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noAutofit/>
            </a:bodyPr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754" name="Line 75"/>
            <p:cNvSpPr>
              <a:spLocks noChangeShapeType="1"/>
            </p:cNvSpPr>
            <p:nvPr/>
          </p:nvSpPr>
          <p:spPr bwMode="auto">
            <a:xfrm>
              <a:off x="4727" y="3193"/>
              <a:ext cx="0" cy="93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 type="triangl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noAutofit/>
            </a:bodyPr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755" name="Line 76"/>
            <p:cNvSpPr>
              <a:spLocks noChangeShapeType="1"/>
            </p:cNvSpPr>
            <p:nvPr/>
          </p:nvSpPr>
          <p:spPr bwMode="auto">
            <a:xfrm>
              <a:off x="4727" y="3486"/>
              <a:ext cx="0" cy="94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 type="triangl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noAutofit/>
            </a:bodyPr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graphicFrame>
        <p:nvGraphicFramePr>
          <p:cNvPr id="473" name="Object 7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88831628"/>
              </p:ext>
            </p:extLst>
          </p:nvPr>
        </p:nvGraphicFramePr>
        <p:xfrm>
          <a:off x="3032126" y="5851673"/>
          <a:ext cx="155575" cy="150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10" imgW="592455" imgH="510032" progId="Visio.Drawing.6">
                  <p:embed/>
                </p:oleObj>
              </mc:Choice>
              <mc:Fallback>
                <p:oleObj name="Visio" r:id="rId10" imgW="592455" imgH="510032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32126" y="5851673"/>
                        <a:ext cx="155575" cy="150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chemeClr val="accent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4" name="Object 7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79612674"/>
              </p:ext>
            </p:extLst>
          </p:nvPr>
        </p:nvGraphicFramePr>
        <p:xfrm>
          <a:off x="2998788" y="2886223"/>
          <a:ext cx="155575" cy="150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11" imgW="592455" imgH="510032" progId="Visio.Drawing.6">
                  <p:embed/>
                </p:oleObj>
              </mc:Choice>
              <mc:Fallback>
                <p:oleObj name="Visio" r:id="rId11" imgW="592455" imgH="510032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98788" y="2886223"/>
                        <a:ext cx="155575" cy="150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chemeClr val="accent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5" name="Object 7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66497202"/>
              </p:ext>
            </p:extLst>
          </p:nvPr>
        </p:nvGraphicFramePr>
        <p:xfrm>
          <a:off x="3227388" y="2962423"/>
          <a:ext cx="155575" cy="150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12" imgW="592455" imgH="510032" progId="Visio.Drawing.6">
                  <p:embed/>
                </p:oleObj>
              </mc:Choice>
              <mc:Fallback>
                <p:oleObj name="Visio" r:id="rId12" imgW="592455" imgH="510032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27388" y="2962423"/>
                        <a:ext cx="155575" cy="150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chemeClr val="accent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6" name="Line 80"/>
          <p:cNvSpPr>
            <a:spLocks noChangeShapeType="1"/>
          </p:cNvSpPr>
          <p:nvPr/>
        </p:nvSpPr>
        <p:spPr bwMode="auto">
          <a:xfrm>
            <a:off x="2838451" y="2908448"/>
            <a:ext cx="142875" cy="19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noAutofit/>
          </a:bodyPr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77" name="Line 81"/>
          <p:cNvSpPr>
            <a:spLocks noChangeShapeType="1"/>
          </p:cNvSpPr>
          <p:nvPr/>
        </p:nvSpPr>
        <p:spPr bwMode="auto">
          <a:xfrm>
            <a:off x="2530476" y="2598886"/>
            <a:ext cx="504825" cy="1301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noAutofit/>
          </a:bodyPr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78" name="Line 82"/>
          <p:cNvSpPr>
            <a:spLocks noChangeShapeType="1"/>
          </p:cNvSpPr>
          <p:nvPr/>
        </p:nvSpPr>
        <p:spPr bwMode="auto">
          <a:xfrm>
            <a:off x="2846388" y="5923111"/>
            <a:ext cx="17621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noAutofit/>
          </a:bodyPr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479" name="Object 8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54651804"/>
              </p:ext>
            </p:extLst>
          </p:nvPr>
        </p:nvGraphicFramePr>
        <p:xfrm>
          <a:off x="3052763" y="2667148"/>
          <a:ext cx="155575" cy="150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13" imgW="592455" imgH="510032" progId="Visio.Drawing.6">
                  <p:embed/>
                </p:oleObj>
              </mc:Choice>
              <mc:Fallback>
                <p:oleObj name="Visio" r:id="rId13" imgW="592455" imgH="510032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2763" y="2667148"/>
                        <a:ext cx="155575" cy="150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chemeClr val="accent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0" name="Line 84"/>
          <p:cNvSpPr>
            <a:spLocks noChangeShapeType="1"/>
          </p:cNvSpPr>
          <p:nvPr/>
        </p:nvSpPr>
        <p:spPr bwMode="auto">
          <a:xfrm flipV="1">
            <a:off x="2541588" y="6143773"/>
            <a:ext cx="565150" cy="952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noAutofit/>
          </a:bodyPr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81" name="AutoShape 85"/>
          <p:cNvSpPr>
            <a:spLocks/>
          </p:cNvSpPr>
          <p:nvPr/>
        </p:nvSpPr>
        <p:spPr bwMode="auto">
          <a:xfrm>
            <a:off x="1103313" y="3495823"/>
            <a:ext cx="142875" cy="1981200"/>
          </a:xfrm>
          <a:prstGeom prst="leftBrace">
            <a:avLst>
              <a:gd name="adj1" fmla="val 115556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noAutofit/>
          </a:bodyPr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82" name="AutoShape 86"/>
          <p:cNvSpPr>
            <a:spLocks/>
          </p:cNvSpPr>
          <p:nvPr/>
        </p:nvSpPr>
        <p:spPr bwMode="auto">
          <a:xfrm>
            <a:off x="1103313" y="5553223"/>
            <a:ext cx="142875" cy="838200"/>
          </a:xfrm>
          <a:prstGeom prst="leftBrace">
            <a:avLst>
              <a:gd name="adj1" fmla="val 48889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noAutofit/>
          </a:bodyPr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83" name="AutoShape 87"/>
          <p:cNvSpPr>
            <a:spLocks/>
          </p:cNvSpPr>
          <p:nvPr/>
        </p:nvSpPr>
        <p:spPr bwMode="auto">
          <a:xfrm>
            <a:off x="1103313" y="2548086"/>
            <a:ext cx="142875" cy="838200"/>
          </a:xfrm>
          <a:prstGeom prst="leftBrace">
            <a:avLst>
              <a:gd name="adj1" fmla="val 48889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noAutofit/>
          </a:bodyPr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84" name="Text Box 88"/>
          <p:cNvSpPr txBox="1">
            <a:spLocks noChangeArrowheads="1"/>
          </p:cNvSpPr>
          <p:nvPr/>
        </p:nvSpPr>
        <p:spPr bwMode="auto">
          <a:xfrm>
            <a:off x="144017" y="2810023"/>
            <a:ext cx="922213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noAutofit/>
          </a:bodyPr>
          <a:lstStyle/>
          <a:p>
            <a:pPr algn="r">
              <a:lnSpc>
                <a:spcPct val="120000"/>
              </a:lnSpc>
              <a:spcBef>
                <a:spcPct val="50000"/>
              </a:spcBef>
            </a:pPr>
            <a:r>
              <a:rPr kumimoji="1"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navigation</a:t>
            </a:r>
          </a:p>
        </p:txBody>
      </p:sp>
      <p:sp>
        <p:nvSpPr>
          <p:cNvPr id="485" name="Text Box 89"/>
          <p:cNvSpPr txBox="1">
            <a:spLocks noChangeArrowheads="1"/>
          </p:cNvSpPr>
          <p:nvPr/>
        </p:nvSpPr>
        <p:spPr bwMode="auto">
          <a:xfrm>
            <a:off x="199580" y="4343548"/>
            <a:ext cx="922213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noAutofit/>
          </a:bodyPr>
          <a:lstStyle/>
          <a:p>
            <a:pPr algn="r">
              <a:lnSpc>
                <a:spcPct val="120000"/>
              </a:lnSpc>
              <a:spcBef>
                <a:spcPct val="50000"/>
              </a:spcBef>
            </a:pPr>
            <a:r>
              <a:rPr kumimoji="1" lang="ko-KR" altLang="en-US" sz="1000">
                <a:latin typeface="나눔고딕" panose="020D0604000000000000" pitchFamily="50" charset="-127"/>
                <a:ea typeface="나눔고딕" panose="020D0604000000000000" pitchFamily="50" charset="-127"/>
              </a:rPr>
              <a:t>정보탐색</a:t>
            </a:r>
          </a:p>
        </p:txBody>
      </p:sp>
      <p:sp>
        <p:nvSpPr>
          <p:cNvPr id="486" name="Text Box 90"/>
          <p:cNvSpPr txBox="1">
            <a:spLocks noChangeArrowheads="1"/>
          </p:cNvSpPr>
          <p:nvPr/>
        </p:nvSpPr>
        <p:spPr bwMode="auto">
          <a:xfrm>
            <a:off x="232917" y="5824686"/>
            <a:ext cx="922213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noAutofit/>
          </a:bodyPr>
          <a:lstStyle/>
          <a:p>
            <a:pPr algn="r">
              <a:lnSpc>
                <a:spcPct val="120000"/>
              </a:lnSpc>
              <a:spcBef>
                <a:spcPct val="50000"/>
              </a:spcBef>
            </a:pPr>
            <a:r>
              <a:rPr kumimoji="1" lang="ko-KR" altLang="en-US" sz="1000">
                <a:latin typeface="나눔고딕" panose="020D0604000000000000" pitchFamily="50" charset="-127"/>
                <a:ea typeface="나눔고딕" panose="020D0604000000000000" pitchFamily="50" charset="-127"/>
              </a:rPr>
              <a:t>구매실행</a:t>
            </a:r>
          </a:p>
        </p:txBody>
      </p:sp>
      <p:sp>
        <p:nvSpPr>
          <p:cNvPr id="487" name="Text Box 91"/>
          <p:cNvSpPr txBox="1">
            <a:spLocks noChangeArrowheads="1"/>
          </p:cNvSpPr>
          <p:nvPr/>
        </p:nvSpPr>
        <p:spPr bwMode="auto">
          <a:xfrm>
            <a:off x="8856663" y="4551511"/>
            <a:ext cx="619125" cy="219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no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</a:pPr>
            <a:r>
              <a:rPr kumimoji="1" lang="en-US" altLang="ko-KR" sz="7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E </a:t>
            </a:r>
            <a:r>
              <a:rPr kumimoji="1" lang="ko-KR" altLang="en-US" sz="7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상품</a:t>
            </a:r>
          </a:p>
        </p:txBody>
      </p:sp>
      <p:grpSp>
        <p:nvGrpSpPr>
          <p:cNvPr id="513" name="Group 93"/>
          <p:cNvGrpSpPr>
            <a:grpSpLocks/>
          </p:cNvGrpSpPr>
          <p:nvPr/>
        </p:nvGrpSpPr>
        <p:grpSpPr bwMode="auto">
          <a:xfrm>
            <a:off x="7050088" y="2417911"/>
            <a:ext cx="471488" cy="492125"/>
            <a:chOff x="4224" y="2687"/>
            <a:chExt cx="384" cy="432"/>
          </a:xfrm>
        </p:grpSpPr>
        <p:sp>
          <p:nvSpPr>
            <p:cNvPr id="741" name="Rectangle 94"/>
            <p:cNvSpPr>
              <a:spLocks noChangeArrowheads="1"/>
            </p:cNvSpPr>
            <p:nvPr/>
          </p:nvSpPr>
          <p:spPr bwMode="auto">
            <a:xfrm>
              <a:off x="4224" y="2687"/>
              <a:ext cx="384" cy="336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chemeClr val="bg1">
                  <a:lumMod val="75000"/>
                </a:schemeClr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noAutofit/>
            </a:bodyPr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742" name="Rectangle 95"/>
            <p:cNvSpPr>
              <a:spLocks noChangeArrowheads="1"/>
            </p:cNvSpPr>
            <p:nvPr/>
          </p:nvSpPr>
          <p:spPr bwMode="auto">
            <a:xfrm>
              <a:off x="4224" y="3023"/>
              <a:ext cx="384" cy="96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chemeClr val="bg1">
                  <a:lumMod val="75000"/>
                </a:schemeClr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noAutofit/>
            </a:bodyPr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grpSp>
        <p:nvGrpSpPr>
          <p:cNvPr id="514" name="Group 96"/>
          <p:cNvGrpSpPr>
            <a:grpSpLocks/>
          </p:cNvGrpSpPr>
          <p:nvPr/>
        </p:nvGrpSpPr>
        <p:grpSpPr bwMode="auto">
          <a:xfrm>
            <a:off x="7853363" y="3168798"/>
            <a:ext cx="474663" cy="500063"/>
            <a:chOff x="5088" y="2304"/>
            <a:chExt cx="339" cy="358"/>
          </a:xfrm>
        </p:grpSpPr>
        <p:grpSp>
          <p:nvGrpSpPr>
            <p:cNvPr id="734" name="Group 97"/>
            <p:cNvGrpSpPr>
              <a:grpSpLocks/>
            </p:cNvGrpSpPr>
            <p:nvPr/>
          </p:nvGrpSpPr>
          <p:grpSpPr bwMode="auto">
            <a:xfrm>
              <a:off x="5088" y="2305"/>
              <a:ext cx="338" cy="347"/>
              <a:chOff x="4224" y="2693"/>
              <a:chExt cx="384" cy="425"/>
            </a:xfrm>
          </p:grpSpPr>
          <p:sp>
            <p:nvSpPr>
              <p:cNvPr id="739" name="Rectangle 98"/>
              <p:cNvSpPr>
                <a:spLocks noChangeArrowheads="1"/>
              </p:cNvSpPr>
              <p:nvPr/>
            </p:nvSpPr>
            <p:spPr bwMode="auto">
              <a:xfrm>
                <a:off x="4224" y="2693"/>
                <a:ext cx="384" cy="336"/>
              </a:xfrm>
              <a:prstGeom prst="rect">
                <a:avLst/>
              </a:prstGeom>
              <a:solidFill>
                <a:srgbClr val="FFFFFF"/>
              </a:solidFill>
              <a:ln w="9525" algn="ctr">
                <a:solidFill>
                  <a:schemeClr val="bg1">
                    <a:lumMod val="75000"/>
                  </a:schemeClr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noAutofit/>
              </a:bodyPr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740" name="Rectangle 99"/>
              <p:cNvSpPr>
                <a:spLocks noChangeArrowheads="1"/>
              </p:cNvSpPr>
              <p:nvPr/>
            </p:nvSpPr>
            <p:spPr bwMode="auto">
              <a:xfrm>
                <a:off x="4224" y="3022"/>
                <a:ext cx="384" cy="96"/>
              </a:xfrm>
              <a:prstGeom prst="rect">
                <a:avLst/>
              </a:prstGeom>
              <a:solidFill>
                <a:srgbClr val="FFFFFF"/>
              </a:solidFill>
              <a:ln w="9525" algn="ctr">
                <a:solidFill>
                  <a:schemeClr val="bg1">
                    <a:lumMod val="75000"/>
                  </a:schemeClr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noAutofit/>
              </a:bodyPr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p:grpSp>
        <p:sp>
          <p:nvSpPr>
            <p:cNvPr id="735" name="Rectangle 100"/>
            <p:cNvSpPr>
              <a:spLocks noChangeArrowheads="1"/>
            </p:cNvSpPr>
            <p:nvPr/>
          </p:nvSpPr>
          <p:spPr bwMode="auto">
            <a:xfrm>
              <a:off x="5088" y="2304"/>
              <a:ext cx="336" cy="96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chemeClr val="bg1">
                  <a:lumMod val="75000"/>
                </a:schemeClr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noAutofit/>
            </a:bodyPr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736" name="Rectangle 101"/>
            <p:cNvSpPr>
              <a:spLocks noChangeArrowheads="1"/>
            </p:cNvSpPr>
            <p:nvPr/>
          </p:nvSpPr>
          <p:spPr bwMode="auto">
            <a:xfrm>
              <a:off x="5088" y="2400"/>
              <a:ext cx="76" cy="262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chemeClr val="bg1">
                  <a:lumMod val="75000"/>
                </a:schemeClr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noAutofit/>
            </a:bodyPr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737" name="Rectangle 102"/>
            <p:cNvSpPr>
              <a:spLocks noChangeArrowheads="1"/>
            </p:cNvSpPr>
            <p:nvPr/>
          </p:nvSpPr>
          <p:spPr bwMode="auto">
            <a:xfrm>
              <a:off x="5161" y="2400"/>
              <a:ext cx="167" cy="262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chemeClr val="bg1">
                  <a:lumMod val="75000"/>
                </a:schemeClr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noAutofit/>
            </a:bodyPr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738" name="Rectangle 103"/>
            <p:cNvSpPr>
              <a:spLocks noChangeArrowheads="1"/>
            </p:cNvSpPr>
            <p:nvPr/>
          </p:nvSpPr>
          <p:spPr bwMode="auto">
            <a:xfrm>
              <a:off x="5328" y="2400"/>
              <a:ext cx="99" cy="262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chemeClr val="bg1">
                  <a:lumMod val="75000"/>
                </a:schemeClr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noAutofit/>
            </a:bodyPr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grpSp>
        <p:nvGrpSpPr>
          <p:cNvPr id="515" name="Group 104"/>
          <p:cNvGrpSpPr>
            <a:grpSpLocks/>
          </p:cNvGrpSpPr>
          <p:nvPr/>
        </p:nvGrpSpPr>
        <p:grpSpPr bwMode="auto">
          <a:xfrm>
            <a:off x="8326438" y="3832373"/>
            <a:ext cx="473075" cy="500063"/>
            <a:chOff x="5088" y="2304"/>
            <a:chExt cx="339" cy="358"/>
          </a:xfrm>
        </p:grpSpPr>
        <p:grpSp>
          <p:nvGrpSpPr>
            <p:cNvPr id="727" name="Group 105"/>
            <p:cNvGrpSpPr>
              <a:grpSpLocks/>
            </p:cNvGrpSpPr>
            <p:nvPr/>
          </p:nvGrpSpPr>
          <p:grpSpPr bwMode="auto">
            <a:xfrm>
              <a:off x="5088" y="2305"/>
              <a:ext cx="338" cy="347"/>
              <a:chOff x="4224" y="2693"/>
              <a:chExt cx="384" cy="425"/>
            </a:xfrm>
          </p:grpSpPr>
          <p:sp>
            <p:nvSpPr>
              <p:cNvPr id="732" name="Rectangle 106"/>
              <p:cNvSpPr>
                <a:spLocks noChangeArrowheads="1"/>
              </p:cNvSpPr>
              <p:nvPr/>
            </p:nvSpPr>
            <p:spPr bwMode="auto">
              <a:xfrm>
                <a:off x="4224" y="2693"/>
                <a:ext cx="384" cy="336"/>
              </a:xfrm>
              <a:prstGeom prst="rect">
                <a:avLst/>
              </a:prstGeom>
              <a:solidFill>
                <a:srgbClr val="FFFFFF"/>
              </a:solidFill>
              <a:ln w="9525" algn="ctr">
                <a:solidFill>
                  <a:schemeClr val="bg1">
                    <a:lumMod val="75000"/>
                  </a:schemeClr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noAutofit/>
              </a:bodyPr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733" name="Rectangle 107"/>
              <p:cNvSpPr>
                <a:spLocks noChangeArrowheads="1"/>
              </p:cNvSpPr>
              <p:nvPr/>
            </p:nvSpPr>
            <p:spPr bwMode="auto">
              <a:xfrm>
                <a:off x="4224" y="3022"/>
                <a:ext cx="384" cy="96"/>
              </a:xfrm>
              <a:prstGeom prst="rect">
                <a:avLst/>
              </a:prstGeom>
              <a:solidFill>
                <a:srgbClr val="FFFFFF"/>
              </a:solidFill>
              <a:ln w="9525" algn="ctr">
                <a:solidFill>
                  <a:schemeClr val="bg1">
                    <a:lumMod val="75000"/>
                  </a:schemeClr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noAutofit/>
              </a:bodyPr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p:grpSp>
        <p:sp>
          <p:nvSpPr>
            <p:cNvPr id="728" name="Rectangle 108"/>
            <p:cNvSpPr>
              <a:spLocks noChangeArrowheads="1"/>
            </p:cNvSpPr>
            <p:nvPr/>
          </p:nvSpPr>
          <p:spPr bwMode="auto">
            <a:xfrm>
              <a:off x="5088" y="2304"/>
              <a:ext cx="336" cy="96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chemeClr val="bg1">
                  <a:lumMod val="75000"/>
                </a:schemeClr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noAutofit/>
            </a:bodyPr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729" name="Rectangle 109"/>
            <p:cNvSpPr>
              <a:spLocks noChangeArrowheads="1"/>
            </p:cNvSpPr>
            <p:nvPr/>
          </p:nvSpPr>
          <p:spPr bwMode="auto">
            <a:xfrm>
              <a:off x="5088" y="2400"/>
              <a:ext cx="76" cy="262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chemeClr val="bg1">
                  <a:lumMod val="75000"/>
                </a:schemeClr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noAutofit/>
            </a:bodyPr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730" name="Rectangle 110"/>
            <p:cNvSpPr>
              <a:spLocks noChangeArrowheads="1"/>
            </p:cNvSpPr>
            <p:nvPr/>
          </p:nvSpPr>
          <p:spPr bwMode="auto">
            <a:xfrm>
              <a:off x="5161" y="2400"/>
              <a:ext cx="167" cy="262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chemeClr val="bg1">
                  <a:lumMod val="75000"/>
                </a:schemeClr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noAutofit/>
            </a:bodyPr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731" name="Rectangle 111"/>
            <p:cNvSpPr>
              <a:spLocks noChangeArrowheads="1"/>
            </p:cNvSpPr>
            <p:nvPr/>
          </p:nvSpPr>
          <p:spPr bwMode="auto">
            <a:xfrm>
              <a:off x="5328" y="2400"/>
              <a:ext cx="99" cy="262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chemeClr val="bg1">
                  <a:lumMod val="75000"/>
                </a:schemeClr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noAutofit/>
            </a:bodyPr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grpSp>
        <p:nvGrpSpPr>
          <p:cNvPr id="516" name="Group 112"/>
          <p:cNvGrpSpPr>
            <a:grpSpLocks/>
          </p:cNvGrpSpPr>
          <p:nvPr/>
        </p:nvGrpSpPr>
        <p:grpSpPr bwMode="auto">
          <a:xfrm>
            <a:off x="7632701" y="3851423"/>
            <a:ext cx="473075" cy="500063"/>
            <a:chOff x="5088" y="2304"/>
            <a:chExt cx="339" cy="358"/>
          </a:xfrm>
        </p:grpSpPr>
        <p:grpSp>
          <p:nvGrpSpPr>
            <p:cNvPr id="720" name="Group 113"/>
            <p:cNvGrpSpPr>
              <a:grpSpLocks/>
            </p:cNvGrpSpPr>
            <p:nvPr/>
          </p:nvGrpSpPr>
          <p:grpSpPr bwMode="auto">
            <a:xfrm>
              <a:off x="5088" y="2305"/>
              <a:ext cx="338" cy="347"/>
              <a:chOff x="4224" y="2693"/>
              <a:chExt cx="384" cy="425"/>
            </a:xfrm>
          </p:grpSpPr>
          <p:sp>
            <p:nvSpPr>
              <p:cNvPr id="725" name="Rectangle 114"/>
              <p:cNvSpPr>
                <a:spLocks noChangeArrowheads="1"/>
              </p:cNvSpPr>
              <p:nvPr/>
            </p:nvSpPr>
            <p:spPr bwMode="auto">
              <a:xfrm>
                <a:off x="4224" y="2693"/>
                <a:ext cx="384" cy="336"/>
              </a:xfrm>
              <a:prstGeom prst="rect">
                <a:avLst/>
              </a:prstGeom>
              <a:solidFill>
                <a:srgbClr val="FFFFFF"/>
              </a:solidFill>
              <a:ln w="9525" algn="ctr">
                <a:solidFill>
                  <a:schemeClr val="bg1">
                    <a:lumMod val="75000"/>
                  </a:schemeClr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noAutofit/>
              </a:bodyPr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726" name="Rectangle 115"/>
              <p:cNvSpPr>
                <a:spLocks noChangeArrowheads="1"/>
              </p:cNvSpPr>
              <p:nvPr/>
            </p:nvSpPr>
            <p:spPr bwMode="auto">
              <a:xfrm>
                <a:off x="4224" y="3022"/>
                <a:ext cx="384" cy="96"/>
              </a:xfrm>
              <a:prstGeom prst="rect">
                <a:avLst/>
              </a:prstGeom>
              <a:solidFill>
                <a:srgbClr val="FFFFFF"/>
              </a:solidFill>
              <a:ln w="9525" algn="ctr">
                <a:solidFill>
                  <a:schemeClr val="bg1">
                    <a:lumMod val="75000"/>
                  </a:schemeClr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noAutofit/>
              </a:bodyPr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p:grpSp>
        <p:sp>
          <p:nvSpPr>
            <p:cNvPr id="721" name="Rectangle 116"/>
            <p:cNvSpPr>
              <a:spLocks noChangeArrowheads="1"/>
            </p:cNvSpPr>
            <p:nvPr/>
          </p:nvSpPr>
          <p:spPr bwMode="auto">
            <a:xfrm>
              <a:off x="5088" y="2304"/>
              <a:ext cx="336" cy="96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chemeClr val="bg1">
                  <a:lumMod val="75000"/>
                </a:schemeClr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noAutofit/>
            </a:bodyPr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722" name="Rectangle 117"/>
            <p:cNvSpPr>
              <a:spLocks noChangeArrowheads="1"/>
            </p:cNvSpPr>
            <p:nvPr/>
          </p:nvSpPr>
          <p:spPr bwMode="auto">
            <a:xfrm>
              <a:off x="5088" y="2400"/>
              <a:ext cx="76" cy="262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chemeClr val="bg1">
                  <a:lumMod val="75000"/>
                </a:schemeClr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noAutofit/>
            </a:bodyPr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723" name="Rectangle 118"/>
            <p:cNvSpPr>
              <a:spLocks noChangeArrowheads="1"/>
            </p:cNvSpPr>
            <p:nvPr/>
          </p:nvSpPr>
          <p:spPr bwMode="auto">
            <a:xfrm>
              <a:off x="5161" y="2400"/>
              <a:ext cx="167" cy="262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chemeClr val="bg1">
                  <a:lumMod val="75000"/>
                </a:schemeClr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noAutofit/>
            </a:bodyPr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724" name="Rectangle 119"/>
            <p:cNvSpPr>
              <a:spLocks noChangeArrowheads="1"/>
            </p:cNvSpPr>
            <p:nvPr/>
          </p:nvSpPr>
          <p:spPr bwMode="auto">
            <a:xfrm>
              <a:off x="5328" y="2400"/>
              <a:ext cx="99" cy="262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chemeClr val="bg1">
                  <a:lumMod val="75000"/>
                </a:schemeClr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noAutofit/>
            </a:bodyPr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grpSp>
        <p:nvGrpSpPr>
          <p:cNvPr id="517" name="Group 120"/>
          <p:cNvGrpSpPr>
            <a:grpSpLocks/>
          </p:cNvGrpSpPr>
          <p:nvPr/>
        </p:nvGrpSpPr>
        <p:grpSpPr bwMode="auto">
          <a:xfrm>
            <a:off x="6346826" y="3168798"/>
            <a:ext cx="473075" cy="500063"/>
            <a:chOff x="5088" y="2304"/>
            <a:chExt cx="339" cy="358"/>
          </a:xfrm>
        </p:grpSpPr>
        <p:grpSp>
          <p:nvGrpSpPr>
            <p:cNvPr id="713" name="Group 121"/>
            <p:cNvGrpSpPr>
              <a:grpSpLocks/>
            </p:cNvGrpSpPr>
            <p:nvPr/>
          </p:nvGrpSpPr>
          <p:grpSpPr bwMode="auto">
            <a:xfrm>
              <a:off x="5088" y="2305"/>
              <a:ext cx="338" cy="347"/>
              <a:chOff x="4224" y="2693"/>
              <a:chExt cx="384" cy="425"/>
            </a:xfrm>
          </p:grpSpPr>
          <p:sp>
            <p:nvSpPr>
              <p:cNvPr id="718" name="Rectangle 122"/>
              <p:cNvSpPr>
                <a:spLocks noChangeArrowheads="1"/>
              </p:cNvSpPr>
              <p:nvPr/>
            </p:nvSpPr>
            <p:spPr bwMode="auto">
              <a:xfrm>
                <a:off x="4224" y="2693"/>
                <a:ext cx="384" cy="336"/>
              </a:xfrm>
              <a:prstGeom prst="rect">
                <a:avLst/>
              </a:prstGeom>
              <a:solidFill>
                <a:srgbClr val="FFFFFF"/>
              </a:solidFill>
              <a:ln w="9525" algn="ctr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noAutofit/>
              </a:bodyPr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719" name="Rectangle 123"/>
              <p:cNvSpPr>
                <a:spLocks noChangeArrowheads="1"/>
              </p:cNvSpPr>
              <p:nvPr/>
            </p:nvSpPr>
            <p:spPr bwMode="auto">
              <a:xfrm>
                <a:off x="4224" y="3022"/>
                <a:ext cx="384" cy="96"/>
              </a:xfrm>
              <a:prstGeom prst="rect">
                <a:avLst/>
              </a:prstGeom>
              <a:solidFill>
                <a:srgbClr val="FFFFFF"/>
              </a:solidFill>
              <a:ln w="9525" algn="ctr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noAutofit/>
              </a:bodyPr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p:grpSp>
        <p:sp>
          <p:nvSpPr>
            <p:cNvPr id="714" name="Rectangle 124"/>
            <p:cNvSpPr>
              <a:spLocks noChangeArrowheads="1"/>
            </p:cNvSpPr>
            <p:nvPr/>
          </p:nvSpPr>
          <p:spPr bwMode="auto">
            <a:xfrm>
              <a:off x="5088" y="2304"/>
              <a:ext cx="336" cy="96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C0C0C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noAutofit/>
            </a:bodyPr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715" name="Rectangle 125"/>
            <p:cNvSpPr>
              <a:spLocks noChangeArrowheads="1"/>
            </p:cNvSpPr>
            <p:nvPr/>
          </p:nvSpPr>
          <p:spPr bwMode="auto">
            <a:xfrm>
              <a:off x="5088" y="2400"/>
              <a:ext cx="76" cy="262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C0C0C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noAutofit/>
            </a:bodyPr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716" name="Rectangle 126"/>
            <p:cNvSpPr>
              <a:spLocks noChangeArrowheads="1"/>
            </p:cNvSpPr>
            <p:nvPr/>
          </p:nvSpPr>
          <p:spPr bwMode="auto">
            <a:xfrm>
              <a:off x="5161" y="2400"/>
              <a:ext cx="167" cy="262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C0C0C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noAutofit/>
            </a:bodyPr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717" name="Rectangle 127"/>
            <p:cNvSpPr>
              <a:spLocks noChangeArrowheads="1"/>
            </p:cNvSpPr>
            <p:nvPr/>
          </p:nvSpPr>
          <p:spPr bwMode="auto">
            <a:xfrm>
              <a:off x="5328" y="2400"/>
              <a:ext cx="99" cy="262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C0C0C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noAutofit/>
            </a:bodyPr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grpSp>
        <p:nvGrpSpPr>
          <p:cNvPr id="518" name="Group 128"/>
          <p:cNvGrpSpPr>
            <a:grpSpLocks/>
          </p:cNvGrpSpPr>
          <p:nvPr/>
        </p:nvGrpSpPr>
        <p:grpSpPr bwMode="auto">
          <a:xfrm>
            <a:off x="6819901" y="3832373"/>
            <a:ext cx="473075" cy="500063"/>
            <a:chOff x="5088" y="2304"/>
            <a:chExt cx="339" cy="358"/>
          </a:xfrm>
        </p:grpSpPr>
        <p:grpSp>
          <p:nvGrpSpPr>
            <p:cNvPr id="706" name="Group 129"/>
            <p:cNvGrpSpPr>
              <a:grpSpLocks/>
            </p:cNvGrpSpPr>
            <p:nvPr/>
          </p:nvGrpSpPr>
          <p:grpSpPr bwMode="auto">
            <a:xfrm>
              <a:off x="5088" y="2305"/>
              <a:ext cx="338" cy="347"/>
              <a:chOff x="4224" y="2693"/>
              <a:chExt cx="384" cy="425"/>
            </a:xfrm>
          </p:grpSpPr>
          <p:sp>
            <p:nvSpPr>
              <p:cNvPr id="711" name="Rectangle 130"/>
              <p:cNvSpPr>
                <a:spLocks noChangeArrowheads="1"/>
              </p:cNvSpPr>
              <p:nvPr/>
            </p:nvSpPr>
            <p:spPr bwMode="auto">
              <a:xfrm>
                <a:off x="4224" y="2693"/>
                <a:ext cx="384" cy="336"/>
              </a:xfrm>
              <a:prstGeom prst="rect">
                <a:avLst/>
              </a:prstGeom>
              <a:solidFill>
                <a:srgbClr val="FFFFFF"/>
              </a:solidFill>
              <a:ln w="9525" algn="ctr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noAutofit/>
              </a:bodyPr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712" name="Rectangle 131"/>
              <p:cNvSpPr>
                <a:spLocks noChangeArrowheads="1"/>
              </p:cNvSpPr>
              <p:nvPr/>
            </p:nvSpPr>
            <p:spPr bwMode="auto">
              <a:xfrm>
                <a:off x="4224" y="3022"/>
                <a:ext cx="384" cy="96"/>
              </a:xfrm>
              <a:prstGeom prst="rect">
                <a:avLst/>
              </a:prstGeom>
              <a:solidFill>
                <a:srgbClr val="FFFFFF"/>
              </a:solidFill>
              <a:ln w="9525" algn="ctr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noAutofit/>
              </a:bodyPr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p:grpSp>
        <p:sp>
          <p:nvSpPr>
            <p:cNvPr id="707" name="Rectangle 132"/>
            <p:cNvSpPr>
              <a:spLocks noChangeArrowheads="1"/>
            </p:cNvSpPr>
            <p:nvPr/>
          </p:nvSpPr>
          <p:spPr bwMode="auto">
            <a:xfrm>
              <a:off x="5088" y="2304"/>
              <a:ext cx="336" cy="96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C0C0C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noAutofit/>
            </a:bodyPr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708" name="Rectangle 133"/>
            <p:cNvSpPr>
              <a:spLocks noChangeArrowheads="1"/>
            </p:cNvSpPr>
            <p:nvPr/>
          </p:nvSpPr>
          <p:spPr bwMode="auto">
            <a:xfrm>
              <a:off x="5088" y="2400"/>
              <a:ext cx="76" cy="262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C0C0C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noAutofit/>
            </a:bodyPr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709" name="Rectangle 134"/>
            <p:cNvSpPr>
              <a:spLocks noChangeArrowheads="1"/>
            </p:cNvSpPr>
            <p:nvPr/>
          </p:nvSpPr>
          <p:spPr bwMode="auto">
            <a:xfrm>
              <a:off x="5161" y="2400"/>
              <a:ext cx="167" cy="262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C0C0C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noAutofit/>
            </a:bodyPr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710" name="Rectangle 135"/>
            <p:cNvSpPr>
              <a:spLocks noChangeArrowheads="1"/>
            </p:cNvSpPr>
            <p:nvPr/>
          </p:nvSpPr>
          <p:spPr bwMode="auto">
            <a:xfrm>
              <a:off x="5328" y="2400"/>
              <a:ext cx="99" cy="262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C0C0C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noAutofit/>
            </a:bodyPr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grpSp>
        <p:nvGrpSpPr>
          <p:cNvPr id="519" name="Group 136"/>
          <p:cNvGrpSpPr>
            <a:grpSpLocks/>
          </p:cNvGrpSpPr>
          <p:nvPr/>
        </p:nvGrpSpPr>
        <p:grpSpPr bwMode="auto">
          <a:xfrm>
            <a:off x="6124576" y="3851423"/>
            <a:ext cx="473075" cy="500063"/>
            <a:chOff x="5088" y="2304"/>
            <a:chExt cx="339" cy="358"/>
          </a:xfrm>
        </p:grpSpPr>
        <p:grpSp>
          <p:nvGrpSpPr>
            <p:cNvPr id="699" name="Group 137"/>
            <p:cNvGrpSpPr>
              <a:grpSpLocks/>
            </p:cNvGrpSpPr>
            <p:nvPr/>
          </p:nvGrpSpPr>
          <p:grpSpPr bwMode="auto">
            <a:xfrm>
              <a:off x="5088" y="2305"/>
              <a:ext cx="338" cy="347"/>
              <a:chOff x="4224" y="2693"/>
              <a:chExt cx="384" cy="425"/>
            </a:xfrm>
          </p:grpSpPr>
          <p:sp>
            <p:nvSpPr>
              <p:cNvPr id="704" name="Rectangle 138"/>
              <p:cNvSpPr>
                <a:spLocks noChangeArrowheads="1"/>
              </p:cNvSpPr>
              <p:nvPr/>
            </p:nvSpPr>
            <p:spPr bwMode="auto">
              <a:xfrm>
                <a:off x="4224" y="2693"/>
                <a:ext cx="384" cy="336"/>
              </a:xfrm>
              <a:prstGeom prst="rect">
                <a:avLst/>
              </a:prstGeom>
              <a:solidFill>
                <a:srgbClr val="FFFFFF"/>
              </a:solidFill>
              <a:ln w="9525" algn="ctr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noAutofit/>
              </a:bodyPr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705" name="Rectangle 139"/>
              <p:cNvSpPr>
                <a:spLocks noChangeArrowheads="1"/>
              </p:cNvSpPr>
              <p:nvPr/>
            </p:nvSpPr>
            <p:spPr bwMode="auto">
              <a:xfrm>
                <a:off x="4224" y="3022"/>
                <a:ext cx="384" cy="96"/>
              </a:xfrm>
              <a:prstGeom prst="rect">
                <a:avLst/>
              </a:prstGeom>
              <a:solidFill>
                <a:srgbClr val="FFFFFF"/>
              </a:solidFill>
              <a:ln w="9525" algn="ctr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noAutofit/>
              </a:bodyPr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p:grpSp>
        <p:sp>
          <p:nvSpPr>
            <p:cNvPr id="700" name="Rectangle 140"/>
            <p:cNvSpPr>
              <a:spLocks noChangeArrowheads="1"/>
            </p:cNvSpPr>
            <p:nvPr/>
          </p:nvSpPr>
          <p:spPr bwMode="auto">
            <a:xfrm>
              <a:off x="5088" y="2304"/>
              <a:ext cx="336" cy="96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C0C0C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noAutofit/>
            </a:bodyPr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701" name="Rectangle 141"/>
            <p:cNvSpPr>
              <a:spLocks noChangeArrowheads="1"/>
            </p:cNvSpPr>
            <p:nvPr/>
          </p:nvSpPr>
          <p:spPr bwMode="auto">
            <a:xfrm>
              <a:off x="5088" y="2400"/>
              <a:ext cx="76" cy="262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C0C0C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noAutofit/>
            </a:bodyPr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702" name="Rectangle 142"/>
            <p:cNvSpPr>
              <a:spLocks noChangeArrowheads="1"/>
            </p:cNvSpPr>
            <p:nvPr/>
          </p:nvSpPr>
          <p:spPr bwMode="auto">
            <a:xfrm>
              <a:off x="5161" y="2400"/>
              <a:ext cx="167" cy="262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C0C0C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noAutofit/>
            </a:bodyPr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703" name="Rectangle 143"/>
            <p:cNvSpPr>
              <a:spLocks noChangeArrowheads="1"/>
            </p:cNvSpPr>
            <p:nvPr/>
          </p:nvSpPr>
          <p:spPr bwMode="auto">
            <a:xfrm>
              <a:off x="5328" y="2400"/>
              <a:ext cx="99" cy="262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C0C0C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noAutofit/>
            </a:bodyPr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grpSp>
        <p:nvGrpSpPr>
          <p:cNvPr id="520" name="Group 144"/>
          <p:cNvGrpSpPr>
            <a:grpSpLocks/>
          </p:cNvGrpSpPr>
          <p:nvPr/>
        </p:nvGrpSpPr>
        <p:grpSpPr bwMode="auto">
          <a:xfrm>
            <a:off x="5060951" y="3168798"/>
            <a:ext cx="473075" cy="500063"/>
            <a:chOff x="5088" y="2304"/>
            <a:chExt cx="339" cy="358"/>
          </a:xfrm>
        </p:grpSpPr>
        <p:grpSp>
          <p:nvGrpSpPr>
            <p:cNvPr id="692" name="Group 145"/>
            <p:cNvGrpSpPr>
              <a:grpSpLocks/>
            </p:cNvGrpSpPr>
            <p:nvPr/>
          </p:nvGrpSpPr>
          <p:grpSpPr bwMode="auto">
            <a:xfrm>
              <a:off x="5088" y="2305"/>
              <a:ext cx="338" cy="347"/>
              <a:chOff x="4224" y="2693"/>
              <a:chExt cx="384" cy="425"/>
            </a:xfrm>
          </p:grpSpPr>
          <p:sp>
            <p:nvSpPr>
              <p:cNvPr id="697" name="Rectangle 146"/>
              <p:cNvSpPr>
                <a:spLocks noChangeArrowheads="1"/>
              </p:cNvSpPr>
              <p:nvPr/>
            </p:nvSpPr>
            <p:spPr bwMode="auto">
              <a:xfrm>
                <a:off x="4224" y="2693"/>
                <a:ext cx="384" cy="336"/>
              </a:xfrm>
              <a:prstGeom prst="rect">
                <a:avLst/>
              </a:prstGeom>
              <a:solidFill>
                <a:srgbClr val="FFFFFF"/>
              </a:solidFill>
              <a:ln w="9525" algn="ctr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noAutofit/>
              </a:bodyPr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698" name="Rectangle 147"/>
              <p:cNvSpPr>
                <a:spLocks noChangeArrowheads="1"/>
              </p:cNvSpPr>
              <p:nvPr/>
            </p:nvSpPr>
            <p:spPr bwMode="auto">
              <a:xfrm>
                <a:off x="4224" y="3022"/>
                <a:ext cx="384" cy="96"/>
              </a:xfrm>
              <a:prstGeom prst="rect">
                <a:avLst/>
              </a:prstGeom>
              <a:solidFill>
                <a:srgbClr val="FFFFFF"/>
              </a:solidFill>
              <a:ln w="9525" algn="ctr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noAutofit/>
              </a:bodyPr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p:grpSp>
        <p:sp>
          <p:nvSpPr>
            <p:cNvPr id="693" name="Rectangle 148"/>
            <p:cNvSpPr>
              <a:spLocks noChangeArrowheads="1"/>
            </p:cNvSpPr>
            <p:nvPr/>
          </p:nvSpPr>
          <p:spPr bwMode="auto">
            <a:xfrm>
              <a:off x="5088" y="2304"/>
              <a:ext cx="336" cy="96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C0C0C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noAutofit/>
            </a:bodyPr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694" name="Rectangle 149"/>
            <p:cNvSpPr>
              <a:spLocks noChangeArrowheads="1"/>
            </p:cNvSpPr>
            <p:nvPr/>
          </p:nvSpPr>
          <p:spPr bwMode="auto">
            <a:xfrm>
              <a:off x="5088" y="2400"/>
              <a:ext cx="76" cy="262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C0C0C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noAutofit/>
            </a:bodyPr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695" name="Rectangle 150"/>
            <p:cNvSpPr>
              <a:spLocks noChangeArrowheads="1"/>
            </p:cNvSpPr>
            <p:nvPr/>
          </p:nvSpPr>
          <p:spPr bwMode="auto">
            <a:xfrm>
              <a:off x="5161" y="2400"/>
              <a:ext cx="167" cy="262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C0C0C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noAutofit/>
            </a:bodyPr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696" name="Rectangle 151"/>
            <p:cNvSpPr>
              <a:spLocks noChangeArrowheads="1"/>
            </p:cNvSpPr>
            <p:nvPr/>
          </p:nvSpPr>
          <p:spPr bwMode="auto">
            <a:xfrm>
              <a:off x="5328" y="2400"/>
              <a:ext cx="99" cy="262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C0C0C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noAutofit/>
            </a:bodyPr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grpSp>
        <p:nvGrpSpPr>
          <p:cNvPr id="521" name="Group 152"/>
          <p:cNvGrpSpPr>
            <a:grpSpLocks/>
          </p:cNvGrpSpPr>
          <p:nvPr/>
        </p:nvGrpSpPr>
        <p:grpSpPr bwMode="auto">
          <a:xfrm>
            <a:off x="5532438" y="3832373"/>
            <a:ext cx="473075" cy="500063"/>
            <a:chOff x="5088" y="2304"/>
            <a:chExt cx="339" cy="358"/>
          </a:xfrm>
        </p:grpSpPr>
        <p:grpSp>
          <p:nvGrpSpPr>
            <p:cNvPr id="685" name="Group 153"/>
            <p:cNvGrpSpPr>
              <a:grpSpLocks/>
            </p:cNvGrpSpPr>
            <p:nvPr/>
          </p:nvGrpSpPr>
          <p:grpSpPr bwMode="auto">
            <a:xfrm>
              <a:off x="5088" y="2305"/>
              <a:ext cx="338" cy="347"/>
              <a:chOff x="4224" y="2693"/>
              <a:chExt cx="384" cy="425"/>
            </a:xfrm>
          </p:grpSpPr>
          <p:sp>
            <p:nvSpPr>
              <p:cNvPr id="690" name="Rectangle 154"/>
              <p:cNvSpPr>
                <a:spLocks noChangeArrowheads="1"/>
              </p:cNvSpPr>
              <p:nvPr/>
            </p:nvSpPr>
            <p:spPr bwMode="auto">
              <a:xfrm>
                <a:off x="4224" y="2693"/>
                <a:ext cx="384" cy="336"/>
              </a:xfrm>
              <a:prstGeom prst="rect">
                <a:avLst/>
              </a:prstGeom>
              <a:solidFill>
                <a:srgbClr val="FFFFFF"/>
              </a:solidFill>
              <a:ln w="9525" algn="ctr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noAutofit/>
              </a:bodyPr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691" name="Rectangle 155"/>
              <p:cNvSpPr>
                <a:spLocks noChangeArrowheads="1"/>
              </p:cNvSpPr>
              <p:nvPr/>
            </p:nvSpPr>
            <p:spPr bwMode="auto">
              <a:xfrm>
                <a:off x="4224" y="3022"/>
                <a:ext cx="384" cy="96"/>
              </a:xfrm>
              <a:prstGeom prst="rect">
                <a:avLst/>
              </a:prstGeom>
              <a:solidFill>
                <a:srgbClr val="FFFFFF"/>
              </a:solidFill>
              <a:ln w="9525" algn="ctr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noAutofit/>
              </a:bodyPr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p:grpSp>
        <p:sp>
          <p:nvSpPr>
            <p:cNvPr id="686" name="Rectangle 156"/>
            <p:cNvSpPr>
              <a:spLocks noChangeArrowheads="1"/>
            </p:cNvSpPr>
            <p:nvPr/>
          </p:nvSpPr>
          <p:spPr bwMode="auto">
            <a:xfrm>
              <a:off x="5088" y="2304"/>
              <a:ext cx="336" cy="96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C0C0C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noAutofit/>
            </a:bodyPr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687" name="Rectangle 157"/>
            <p:cNvSpPr>
              <a:spLocks noChangeArrowheads="1"/>
            </p:cNvSpPr>
            <p:nvPr/>
          </p:nvSpPr>
          <p:spPr bwMode="auto">
            <a:xfrm>
              <a:off x="5088" y="2400"/>
              <a:ext cx="76" cy="262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C0C0C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noAutofit/>
            </a:bodyPr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688" name="Rectangle 158"/>
            <p:cNvSpPr>
              <a:spLocks noChangeArrowheads="1"/>
            </p:cNvSpPr>
            <p:nvPr/>
          </p:nvSpPr>
          <p:spPr bwMode="auto">
            <a:xfrm>
              <a:off x="5161" y="2400"/>
              <a:ext cx="167" cy="262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C0C0C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noAutofit/>
            </a:bodyPr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689" name="Rectangle 159"/>
            <p:cNvSpPr>
              <a:spLocks noChangeArrowheads="1"/>
            </p:cNvSpPr>
            <p:nvPr/>
          </p:nvSpPr>
          <p:spPr bwMode="auto">
            <a:xfrm>
              <a:off x="5328" y="2400"/>
              <a:ext cx="99" cy="262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C0C0C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noAutofit/>
            </a:bodyPr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grpSp>
        <p:nvGrpSpPr>
          <p:cNvPr id="522" name="Group 160"/>
          <p:cNvGrpSpPr>
            <a:grpSpLocks/>
          </p:cNvGrpSpPr>
          <p:nvPr/>
        </p:nvGrpSpPr>
        <p:grpSpPr bwMode="auto">
          <a:xfrm>
            <a:off x="4838701" y="3851423"/>
            <a:ext cx="473075" cy="500063"/>
            <a:chOff x="5088" y="2304"/>
            <a:chExt cx="339" cy="358"/>
          </a:xfrm>
        </p:grpSpPr>
        <p:grpSp>
          <p:nvGrpSpPr>
            <p:cNvPr id="678" name="Group 161"/>
            <p:cNvGrpSpPr>
              <a:grpSpLocks/>
            </p:cNvGrpSpPr>
            <p:nvPr/>
          </p:nvGrpSpPr>
          <p:grpSpPr bwMode="auto">
            <a:xfrm>
              <a:off x="5088" y="2305"/>
              <a:ext cx="338" cy="347"/>
              <a:chOff x="4224" y="2693"/>
              <a:chExt cx="384" cy="425"/>
            </a:xfrm>
          </p:grpSpPr>
          <p:sp>
            <p:nvSpPr>
              <p:cNvPr id="683" name="Rectangle 162"/>
              <p:cNvSpPr>
                <a:spLocks noChangeArrowheads="1"/>
              </p:cNvSpPr>
              <p:nvPr/>
            </p:nvSpPr>
            <p:spPr bwMode="auto">
              <a:xfrm>
                <a:off x="4224" y="2693"/>
                <a:ext cx="384" cy="336"/>
              </a:xfrm>
              <a:prstGeom prst="rect">
                <a:avLst/>
              </a:prstGeom>
              <a:solidFill>
                <a:srgbClr val="FFFFFF"/>
              </a:solidFill>
              <a:ln w="9525" algn="ctr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noAutofit/>
              </a:bodyPr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684" name="Rectangle 163"/>
              <p:cNvSpPr>
                <a:spLocks noChangeArrowheads="1"/>
              </p:cNvSpPr>
              <p:nvPr/>
            </p:nvSpPr>
            <p:spPr bwMode="auto">
              <a:xfrm>
                <a:off x="4224" y="3022"/>
                <a:ext cx="384" cy="96"/>
              </a:xfrm>
              <a:prstGeom prst="rect">
                <a:avLst/>
              </a:prstGeom>
              <a:solidFill>
                <a:srgbClr val="FFFFFF"/>
              </a:solidFill>
              <a:ln w="9525" algn="ctr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noAutofit/>
              </a:bodyPr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p:grpSp>
        <p:sp>
          <p:nvSpPr>
            <p:cNvPr id="679" name="Rectangle 164"/>
            <p:cNvSpPr>
              <a:spLocks noChangeArrowheads="1"/>
            </p:cNvSpPr>
            <p:nvPr/>
          </p:nvSpPr>
          <p:spPr bwMode="auto">
            <a:xfrm>
              <a:off x="5088" y="2304"/>
              <a:ext cx="336" cy="96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C0C0C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noAutofit/>
            </a:bodyPr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680" name="Rectangle 165"/>
            <p:cNvSpPr>
              <a:spLocks noChangeArrowheads="1"/>
            </p:cNvSpPr>
            <p:nvPr/>
          </p:nvSpPr>
          <p:spPr bwMode="auto">
            <a:xfrm>
              <a:off x="5088" y="2400"/>
              <a:ext cx="76" cy="262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C0C0C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noAutofit/>
            </a:bodyPr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681" name="Rectangle 166"/>
            <p:cNvSpPr>
              <a:spLocks noChangeArrowheads="1"/>
            </p:cNvSpPr>
            <p:nvPr/>
          </p:nvSpPr>
          <p:spPr bwMode="auto">
            <a:xfrm>
              <a:off x="5161" y="2400"/>
              <a:ext cx="167" cy="262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C0C0C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noAutofit/>
            </a:bodyPr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682" name="Rectangle 167"/>
            <p:cNvSpPr>
              <a:spLocks noChangeArrowheads="1"/>
            </p:cNvSpPr>
            <p:nvPr/>
          </p:nvSpPr>
          <p:spPr bwMode="auto">
            <a:xfrm>
              <a:off x="5328" y="2400"/>
              <a:ext cx="99" cy="262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C0C0C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noAutofit/>
            </a:bodyPr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grpSp>
        <p:nvGrpSpPr>
          <p:cNvPr id="523" name="Group 168"/>
          <p:cNvGrpSpPr>
            <a:grpSpLocks/>
          </p:cNvGrpSpPr>
          <p:nvPr/>
        </p:nvGrpSpPr>
        <p:grpSpPr bwMode="auto">
          <a:xfrm>
            <a:off x="6981826" y="4627711"/>
            <a:ext cx="474663" cy="500063"/>
            <a:chOff x="5088" y="2304"/>
            <a:chExt cx="339" cy="358"/>
          </a:xfrm>
        </p:grpSpPr>
        <p:grpSp>
          <p:nvGrpSpPr>
            <p:cNvPr id="671" name="Group 169"/>
            <p:cNvGrpSpPr>
              <a:grpSpLocks/>
            </p:cNvGrpSpPr>
            <p:nvPr/>
          </p:nvGrpSpPr>
          <p:grpSpPr bwMode="auto">
            <a:xfrm>
              <a:off x="5088" y="2305"/>
              <a:ext cx="338" cy="347"/>
              <a:chOff x="4224" y="2693"/>
              <a:chExt cx="384" cy="425"/>
            </a:xfrm>
          </p:grpSpPr>
          <p:sp>
            <p:nvSpPr>
              <p:cNvPr id="676" name="Rectangle 170"/>
              <p:cNvSpPr>
                <a:spLocks noChangeArrowheads="1"/>
              </p:cNvSpPr>
              <p:nvPr/>
            </p:nvSpPr>
            <p:spPr bwMode="auto">
              <a:xfrm>
                <a:off x="4224" y="2693"/>
                <a:ext cx="384" cy="336"/>
              </a:xfrm>
              <a:prstGeom prst="rect">
                <a:avLst/>
              </a:prstGeom>
              <a:solidFill>
                <a:srgbClr val="FFFFFF"/>
              </a:solidFill>
              <a:ln w="9525" algn="ctr">
                <a:solidFill>
                  <a:schemeClr val="bg1">
                    <a:lumMod val="75000"/>
                  </a:schemeClr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noAutofit/>
              </a:bodyPr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677" name="Rectangle 171"/>
              <p:cNvSpPr>
                <a:spLocks noChangeArrowheads="1"/>
              </p:cNvSpPr>
              <p:nvPr/>
            </p:nvSpPr>
            <p:spPr bwMode="auto">
              <a:xfrm>
                <a:off x="4224" y="3022"/>
                <a:ext cx="384" cy="96"/>
              </a:xfrm>
              <a:prstGeom prst="rect">
                <a:avLst/>
              </a:prstGeom>
              <a:solidFill>
                <a:srgbClr val="FFFFFF"/>
              </a:solidFill>
              <a:ln w="9525" algn="ctr">
                <a:solidFill>
                  <a:schemeClr val="bg1">
                    <a:lumMod val="75000"/>
                  </a:schemeClr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noAutofit/>
              </a:bodyPr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p:grpSp>
        <p:sp>
          <p:nvSpPr>
            <p:cNvPr id="672" name="Rectangle 172"/>
            <p:cNvSpPr>
              <a:spLocks noChangeArrowheads="1"/>
            </p:cNvSpPr>
            <p:nvPr/>
          </p:nvSpPr>
          <p:spPr bwMode="auto">
            <a:xfrm>
              <a:off x="5088" y="2304"/>
              <a:ext cx="336" cy="96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chemeClr val="bg1">
                  <a:lumMod val="75000"/>
                </a:schemeClr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noAutofit/>
            </a:bodyPr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673" name="Rectangle 173"/>
            <p:cNvSpPr>
              <a:spLocks noChangeArrowheads="1"/>
            </p:cNvSpPr>
            <p:nvPr/>
          </p:nvSpPr>
          <p:spPr bwMode="auto">
            <a:xfrm>
              <a:off x="5088" y="2400"/>
              <a:ext cx="76" cy="262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chemeClr val="bg1">
                  <a:lumMod val="75000"/>
                </a:schemeClr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noAutofit/>
            </a:bodyPr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674" name="Rectangle 174"/>
            <p:cNvSpPr>
              <a:spLocks noChangeArrowheads="1"/>
            </p:cNvSpPr>
            <p:nvPr/>
          </p:nvSpPr>
          <p:spPr bwMode="auto">
            <a:xfrm>
              <a:off x="5161" y="2400"/>
              <a:ext cx="167" cy="262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chemeClr val="bg1">
                  <a:lumMod val="75000"/>
                </a:schemeClr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noAutofit/>
            </a:bodyPr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675" name="Rectangle 175"/>
            <p:cNvSpPr>
              <a:spLocks noChangeArrowheads="1"/>
            </p:cNvSpPr>
            <p:nvPr/>
          </p:nvSpPr>
          <p:spPr bwMode="auto">
            <a:xfrm>
              <a:off x="5328" y="2400"/>
              <a:ext cx="99" cy="262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chemeClr val="bg1">
                  <a:lumMod val="75000"/>
                </a:schemeClr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noAutofit/>
            </a:bodyPr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grpSp>
        <p:nvGrpSpPr>
          <p:cNvPr id="524" name="Group 176"/>
          <p:cNvGrpSpPr>
            <a:grpSpLocks/>
          </p:cNvGrpSpPr>
          <p:nvPr/>
        </p:nvGrpSpPr>
        <p:grpSpPr bwMode="auto">
          <a:xfrm>
            <a:off x="7454901" y="5292873"/>
            <a:ext cx="473075" cy="500063"/>
            <a:chOff x="5088" y="2304"/>
            <a:chExt cx="339" cy="358"/>
          </a:xfrm>
        </p:grpSpPr>
        <p:grpSp>
          <p:nvGrpSpPr>
            <p:cNvPr id="664" name="Group 177"/>
            <p:cNvGrpSpPr>
              <a:grpSpLocks/>
            </p:cNvGrpSpPr>
            <p:nvPr/>
          </p:nvGrpSpPr>
          <p:grpSpPr bwMode="auto">
            <a:xfrm>
              <a:off x="5088" y="2305"/>
              <a:ext cx="338" cy="347"/>
              <a:chOff x="4224" y="2693"/>
              <a:chExt cx="384" cy="425"/>
            </a:xfrm>
          </p:grpSpPr>
          <p:sp>
            <p:nvSpPr>
              <p:cNvPr id="669" name="Rectangle 178"/>
              <p:cNvSpPr>
                <a:spLocks noChangeArrowheads="1"/>
              </p:cNvSpPr>
              <p:nvPr/>
            </p:nvSpPr>
            <p:spPr bwMode="auto">
              <a:xfrm>
                <a:off x="4224" y="2693"/>
                <a:ext cx="384" cy="336"/>
              </a:xfrm>
              <a:prstGeom prst="rect">
                <a:avLst/>
              </a:prstGeom>
              <a:solidFill>
                <a:srgbClr val="FFFFFF"/>
              </a:solidFill>
              <a:ln w="9525" algn="ctr">
                <a:solidFill>
                  <a:schemeClr val="bg1">
                    <a:lumMod val="75000"/>
                  </a:schemeClr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noAutofit/>
              </a:bodyPr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670" name="Rectangle 179"/>
              <p:cNvSpPr>
                <a:spLocks noChangeArrowheads="1"/>
              </p:cNvSpPr>
              <p:nvPr/>
            </p:nvSpPr>
            <p:spPr bwMode="auto">
              <a:xfrm>
                <a:off x="4224" y="3022"/>
                <a:ext cx="384" cy="96"/>
              </a:xfrm>
              <a:prstGeom prst="rect">
                <a:avLst/>
              </a:prstGeom>
              <a:solidFill>
                <a:srgbClr val="FFFFFF"/>
              </a:solidFill>
              <a:ln w="9525" algn="ctr">
                <a:solidFill>
                  <a:schemeClr val="bg1">
                    <a:lumMod val="75000"/>
                  </a:schemeClr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noAutofit/>
              </a:bodyPr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p:grpSp>
        <p:sp>
          <p:nvSpPr>
            <p:cNvPr id="665" name="Rectangle 180"/>
            <p:cNvSpPr>
              <a:spLocks noChangeArrowheads="1"/>
            </p:cNvSpPr>
            <p:nvPr/>
          </p:nvSpPr>
          <p:spPr bwMode="auto">
            <a:xfrm>
              <a:off x="5088" y="2304"/>
              <a:ext cx="336" cy="96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chemeClr val="bg1">
                  <a:lumMod val="75000"/>
                </a:schemeClr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noAutofit/>
            </a:bodyPr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666" name="Rectangle 181"/>
            <p:cNvSpPr>
              <a:spLocks noChangeArrowheads="1"/>
            </p:cNvSpPr>
            <p:nvPr/>
          </p:nvSpPr>
          <p:spPr bwMode="auto">
            <a:xfrm>
              <a:off x="5088" y="2400"/>
              <a:ext cx="76" cy="262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chemeClr val="bg1">
                  <a:lumMod val="75000"/>
                </a:schemeClr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noAutofit/>
            </a:bodyPr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667" name="Rectangle 182"/>
            <p:cNvSpPr>
              <a:spLocks noChangeArrowheads="1"/>
            </p:cNvSpPr>
            <p:nvPr/>
          </p:nvSpPr>
          <p:spPr bwMode="auto">
            <a:xfrm>
              <a:off x="5161" y="2400"/>
              <a:ext cx="167" cy="262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chemeClr val="bg1">
                  <a:lumMod val="75000"/>
                </a:schemeClr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noAutofit/>
            </a:bodyPr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668" name="Rectangle 183"/>
            <p:cNvSpPr>
              <a:spLocks noChangeArrowheads="1"/>
            </p:cNvSpPr>
            <p:nvPr/>
          </p:nvSpPr>
          <p:spPr bwMode="auto">
            <a:xfrm>
              <a:off x="5328" y="2400"/>
              <a:ext cx="99" cy="262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chemeClr val="bg1">
                  <a:lumMod val="75000"/>
                </a:schemeClr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noAutofit/>
            </a:bodyPr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grpSp>
        <p:nvGrpSpPr>
          <p:cNvPr id="525" name="Group 184"/>
          <p:cNvGrpSpPr>
            <a:grpSpLocks/>
          </p:cNvGrpSpPr>
          <p:nvPr/>
        </p:nvGrpSpPr>
        <p:grpSpPr bwMode="auto">
          <a:xfrm>
            <a:off x="6761163" y="5310336"/>
            <a:ext cx="473075" cy="500063"/>
            <a:chOff x="5088" y="2304"/>
            <a:chExt cx="339" cy="358"/>
          </a:xfrm>
        </p:grpSpPr>
        <p:grpSp>
          <p:nvGrpSpPr>
            <p:cNvPr id="657" name="Group 185"/>
            <p:cNvGrpSpPr>
              <a:grpSpLocks/>
            </p:cNvGrpSpPr>
            <p:nvPr/>
          </p:nvGrpSpPr>
          <p:grpSpPr bwMode="auto">
            <a:xfrm>
              <a:off x="5088" y="2305"/>
              <a:ext cx="338" cy="347"/>
              <a:chOff x="4224" y="2693"/>
              <a:chExt cx="384" cy="425"/>
            </a:xfrm>
          </p:grpSpPr>
          <p:sp>
            <p:nvSpPr>
              <p:cNvPr id="662" name="Rectangle 186"/>
              <p:cNvSpPr>
                <a:spLocks noChangeArrowheads="1"/>
              </p:cNvSpPr>
              <p:nvPr/>
            </p:nvSpPr>
            <p:spPr bwMode="auto">
              <a:xfrm>
                <a:off x="4224" y="2693"/>
                <a:ext cx="384" cy="336"/>
              </a:xfrm>
              <a:prstGeom prst="rect">
                <a:avLst/>
              </a:prstGeom>
              <a:solidFill>
                <a:srgbClr val="FFFFFF"/>
              </a:solidFill>
              <a:ln w="9525" algn="ctr">
                <a:solidFill>
                  <a:schemeClr val="bg1">
                    <a:lumMod val="75000"/>
                  </a:schemeClr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noAutofit/>
              </a:bodyPr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663" name="Rectangle 187"/>
              <p:cNvSpPr>
                <a:spLocks noChangeArrowheads="1"/>
              </p:cNvSpPr>
              <p:nvPr/>
            </p:nvSpPr>
            <p:spPr bwMode="auto">
              <a:xfrm>
                <a:off x="4224" y="3022"/>
                <a:ext cx="384" cy="96"/>
              </a:xfrm>
              <a:prstGeom prst="rect">
                <a:avLst/>
              </a:prstGeom>
              <a:solidFill>
                <a:srgbClr val="FFFFFF"/>
              </a:solidFill>
              <a:ln w="9525" algn="ctr">
                <a:solidFill>
                  <a:schemeClr val="bg1">
                    <a:lumMod val="75000"/>
                  </a:schemeClr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noAutofit/>
              </a:bodyPr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p:grpSp>
        <p:sp>
          <p:nvSpPr>
            <p:cNvPr id="658" name="Rectangle 188"/>
            <p:cNvSpPr>
              <a:spLocks noChangeArrowheads="1"/>
            </p:cNvSpPr>
            <p:nvPr/>
          </p:nvSpPr>
          <p:spPr bwMode="auto">
            <a:xfrm>
              <a:off x="5088" y="2304"/>
              <a:ext cx="336" cy="96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chemeClr val="bg1">
                  <a:lumMod val="75000"/>
                </a:schemeClr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noAutofit/>
            </a:bodyPr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659" name="Rectangle 189"/>
            <p:cNvSpPr>
              <a:spLocks noChangeArrowheads="1"/>
            </p:cNvSpPr>
            <p:nvPr/>
          </p:nvSpPr>
          <p:spPr bwMode="auto">
            <a:xfrm>
              <a:off x="5088" y="2400"/>
              <a:ext cx="76" cy="262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chemeClr val="bg1">
                  <a:lumMod val="75000"/>
                </a:schemeClr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noAutofit/>
            </a:bodyPr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660" name="Rectangle 190"/>
            <p:cNvSpPr>
              <a:spLocks noChangeArrowheads="1"/>
            </p:cNvSpPr>
            <p:nvPr/>
          </p:nvSpPr>
          <p:spPr bwMode="auto">
            <a:xfrm>
              <a:off x="5161" y="2400"/>
              <a:ext cx="167" cy="262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chemeClr val="bg1">
                  <a:lumMod val="75000"/>
                </a:schemeClr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noAutofit/>
            </a:bodyPr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661" name="Rectangle 191"/>
            <p:cNvSpPr>
              <a:spLocks noChangeArrowheads="1"/>
            </p:cNvSpPr>
            <p:nvPr/>
          </p:nvSpPr>
          <p:spPr bwMode="auto">
            <a:xfrm>
              <a:off x="5328" y="2400"/>
              <a:ext cx="99" cy="262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chemeClr val="bg1">
                  <a:lumMod val="75000"/>
                </a:schemeClr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noAutofit/>
            </a:bodyPr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grpSp>
        <p:nvGrpSpPr>
          <p:cNvPr id="526" name="Group 192"/>
          <p:cNvGrpSpPr>
            <a:grpSpLocks/>
          </p:cNvGrpSpPr>
          <p:nvPr/>
        </p:nvGrpSpPr>
        <p:grpSpPr bwMode="auto">
          <a:xfrm>
            <a:off x="5641976" y="4627711"/>
            <a:ext cx="473075" cy="500063"/>
            <a:chOff x="5088" y="2304"/>
            <a:chExt cx="339" cy="358"/>
          </a:xfrm>
        </p:grpSpPr>
        <p:grpSp>
          <p:nvGrpSpPr>
            <p:cNvPr id="650" name="Group 193"/>
            <p:cNvGrpSpPr>
              <a:grpSpLocks/>
            </p:cNvGrpSpPr>
            <p:nvPr/>
          </p:nvGrpSpPr>
          <p:grpSpPr bwMode="auto">
            <a:xfrm>
              <a:off x="5088" y="2305"/>
              <a:ext cx="338" cy="347"/>
              <a:chOff x="4224" y="2693"/>
              <a:chExt cx="384" cy="425"/>
            </a:xfrm>
          </p:grpSpPr>
          <p:sp>
            <p:nvSpPr>
              <p:cNvPr id="655" name="Rectangle 194"/>
              <p:cNvSpPr>
                <a:spLocks noChangeArrowheads="1"/>
              </p:cNvSpPr>
              <p:nvPr/>
            </p:nvSpPr>
            <p:spPr bwMode="auto">
              <a:xfrm>
                <a:off x="4224" y="2693"/>
                <a:ext cx="384" cy="336"/>
              </a:xfrm>
              <a:prstGeom prst="rect">
                <a:avLst/>
              </a:prstGeom>
              <a:solidFill>
                <a:srgbClr val="FFFFFF"/>
              </a:solidFill>
              <a:ln w="9525" algn="ctr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noAutofit/>
              </a:bodyPr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656" name="Rectangle 195"/>
              <p:cNvSpPr>
                <a:spLocks noChangeArrowheads="1"/>
              </p:cNvSpPr>
              <p:nvPr/>
            </p:nvSpPr>
            <p:spPr bwMode="auto">
              <a:xfrm>
                <a:off x="4224" y="3022"/>
                <a:ext cx="384" cy="96"/>
              </a:xfrm>
              <a:prstGeom prst="rect">
                <a:avLst/>
              </a:prstGeom>
              <a:solidFill>
                <a:srgbClr val="FFFFFF"/>
              </a:solidFill>
              <a:ln w="9525" algn="ctr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noAutofit/>
              </a:bodyPr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p:grpSp>
        <p:sp>
          <p:nvSpPr>
            <p:cNvPr id="651" name="Rectangle 196"/>
            <p:cNvSpPr>
              <a:spLocks noChangeArrowheads="1"/>
            </p:cNvSpPr>
            <p:nvPr/>
          </p:nvSpPr>
          <p:spPr bwMode="auto">
            <a:xfrm>
              <a:off x="5088" y="2304"/>
              <a:ext cx="336" cy="96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C0C0C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noAutofit/>
            </a:bodyPr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652" name="Rectangle 197"/>
            <p:cNvSpPr>
              <a:spLocks noChangeArrowheads="1"/>
            </p:cNvSpPr>
            <p:nvPr/>
          </p:nvSpPr>
          <p:spPr bwMode="auto">
            <a:xfrm>
              <a:off x="5088" y="2400"/>
              <a:ext cx="76" cy="262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C0C0C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noAutofit/>
            </a:bodyPr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653" name="Rectangle 198"/>
            <p:cNvSpPr>
              <a:spLocks noChangeArrowheads="1"/>
            </p:cNvSpPr>
            <p:nvPr/>
          </p:nvSpPr>
          <p:spPr bwMode="auto">
            <a:xfrm>
              <a:off x="5161" y="2400"/>
              <a:ext cx="167" cy="262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C0C0C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noAutofit/>
            </a:bodyPr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654" name="Rectangle 199"/>
            <p:cNvSpPr>
              <a:spLocks noChangeArrowheads="1"/>
            </p:cNvSpPr>
            <p:nvPr/>
          </p:nvSpPr>
          <p:spPr bwMode="auto">
            <a:xfrm>
              <a:off x="5328" y="2400"/>
              <a:ext cx="99" cy="262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C0C0C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noAutofit/>
            </a:bodyPr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grpSp>
        <p:nvGrpSpPr>
          <p:cNvPr id="527" name="Group 200"/>
          <p:cNvGrpSpPr>
            <a:grpSpLocks/>
          </p:cNvGrpSpPr>
          <p:nvPr/>
        </p:nvGrpSpPr>
        <p:grpSpPr bwMode="auto">
          <a:xfrm>
            <a:off x="6113463" y="5292873"/>
            <a:ext cx="473075" cy="500063"/>
            <a:chOff x="5088" y="2304"/>
            <a:chExt cx="339" cy="358"/>
          </a:xfrm>
        </p:grpSpPr>
        <p:grpSp>
          <p:nvGrpSpPr>
            <p:cNvPr id="643" name="Group 201"/>
            <p:cNvGrpSpPr>
              <a:grpSpLocks/>
            </p:cNvGrpSpPr>
            <p:nvPr/>
          </p:nvGrpSpPr>
          <p:grpSpPr bwMode="auto">
            <a:xfrm>
              <a:off x="5088" y="2305"/>
              <a:ext cx="338" cy="347"/>
              <a:chOff x="4224" y="2693"/>
              <a:chExt cx="384" cy="425"/>
            </a:xfrm>
          </p:grpSpPr>
          <p:sp>
            <p:nvSpPr>
              <p:cNvPr id="648" name="Rectangle 202"/>
              <p:cNvSpPr>
                <a:spLocks noChangeArrowheads="1"/>
              </p:cNvSpPr>
              <p:nvPr/>
            </p:nvSpPr>
            <p:spPr bwMode="auto">
              <a:xfrm>
                <a:off x="4224" y="2693"/>
                <a:ext cx="384" cy="336"/>
              </a:xfrm>
              <a:prstGeom prst="rect">
                <a:avLst/>
              </a:prstGeom>
              <a:solidFill>
                <a:srgbClr val="FFFFFF"/>
              </a:solidFill>
              <a:ln w="9525" algn="ctr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noAutofit/>
              </a:bodyPr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649" name="Rectangle 203"/>
              <p:cNvSpPr>
                <a:spLocks noChangeArrowheads="1"/>
              </p:cNvSpPr>
              <p:nvPr/>
            </p:nvSpPr>
            <p:spPr bwMode="auto">
              <a:xfrm>
                <a:off x="4224" y="3022"/>
                <a:ext cx="384" cy="96"/>
              </a:xfrm>
              <a:prstGeom prst="rect">
                <a:avLst/>
              </a:prstGeom>
              <a:solidFill>
                <a:srgbClr val="FFFFFF"/>
              </a:solidFill>
              <a:ln w="9525" algn="ctr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noAutofit/>
              </a:bodyPr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p:grpSp>
        <p:sp>
          <p:nvSpPr>
            <p:cNvPr id="644" name="Rectangle 204"/>
            <p:cNvSpPr>
              <a:spLocks noChangeArrowheads="1"/>
            </p:cNvSpPr>
            <p:nvPr/>
          </p:nvSpPr>
          <p:spPr bwMode="auto">
            <a:xfrm>
              <a:off x="5088" y="2304"/>
              <a:ext cx="336" cy="96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C0C0C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noAutofit/>
            </a:bodyPr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645" name="Rectangle 205"/>
            <p:cNvSpPr>
              <a:spLocks noChangeArrowheads="1"/>
            </p:cNvSpPr>
            <p:nvPr/>
          </p:nvSpPr>
          <p:spPr bwMode="auto">
            <a:xfrm>
              <a:off x="5088" y="2400"/>
              <a:ext cx="76" cy="262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C0C0C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noAutofit/>
            </a:bodyPr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646" name="Rectangle 206"/>
            <p:cNvSpPr>
              <a:spLocks noChangeArrowheads="1"/>
            </p:cNvSpPr>
            <p:nvPr/>
          </p:nvSpPr>
          <p:spPr bwMode="auto">
            <a:xfrm>
              <a:off x="5161" y="2400"/>
              <a:ext cx="167" cy="262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C0C0C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noAutofit/>
            </a:bodyPr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647" name="Rectangle 207"/>
            <p:cNvSpPr>
              <a:spLocks noChangeArrowheads="1"/>
            </p:cNvSpPr>
            <p:nvPr/>
          </p:nvSpPr>
          <p:spPr bwMode="auto">
            <a:xfrm>
              <a:off x="5328" y="2400"/>
              <a:ext cx="99" cy="262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C0C0C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noAutofit/>
            </a:bodyPr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grpSp>
        <p:nvGrpSpPr>
          <p:cNvPr id="528" name="Group 208"/>
          <p:cNvGrpSpPr>
            <a:grpSpLocks/>
          </p:cNvGrpSpPr>
          <p:nvPr/>
        </p:nvGrpSpPr>
        <p:grpSpPr bwMode="auto">
          <a:xfrm>
            <a:off x="5419726" y="5310336"/>
            <a:ext cx="473075" cy="500063"/>
            <a:chOff x="5088" y="2304"/>
            <a:chExt cx="339" cy="358"/>
          </a:xfrm>
        </p:grpSpPr>
        <p:grpSp>
          <p:nvGrpSpPr>
            <p:cNvPr id="636" name="Group 209"/>
            <p:cNvGrpSpPr>
              <a:grpSpLocks/>
            </p:cNvGrpSpPr>
            <p:nvPr/>
          </p:nvGrpSpPr>
          <p:grpSpPr bwMode="auto">
            <a:xfrm>
              <a:off x="5088" y="2305"/>
              <a:ext cx="338" cy="347"/>
              <a:chOff x="4224" y="2693"/>
              <a:chExt cx="384" cy="425"/>
            </a:xfrm>
          </p:grpSpPr>
          <p:sp>
            <p:nvSpPr>
              <p:cNvPr id="641" name="Rectangle 210"/>
              <p:cNvSpPr>
                <a:spLocks noChangeArrowheads="1"/>
              </p:cNvSpPr>
              <p:nvPr/>
            </p:nvSpPr>
            <p:spPr bwMode="auto">
              <a:xfrm>
                <a:off x="4224" y="2693"/>
                <a:ext cx="384" cy="336"/>
              </a:xfrm>
              <a:prstGeom prst="rect">
                <a:avLst/>
              </a:prstGeom>
              <a:solidFill>
                <a:srgbClr val="FFFFFF"/>
              </a:solidFill>
              <a:ln w="9525" algn="ctr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noAutofit/>
              </a:bodyPr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642" name="Rectangle 211"/>
              <p:cNvSpPr>
                <a:spLocks noChangeArrowheads="1"/>
              </p:cNvSpPr>
              <p:nvPr/>
            </p:nvSpPr>
            <p:spPr bwMode="auto">
              <a:xfrm>
                <a:off x="4224" y="3022"/>
                <a:ext cx="384" cy="96"/>
              </a:xfrm>
              <a:prstGeom prst="rect">
                <a:avLst/>
              </a:prstGeom>
              <a:solidFill>
                <a:srgbClr val="FFFFFF"/>
              </a:solidFill>
              <a:ln w="9525" algn="ctr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noAutofit/>
              </a:bodyPr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p:grpSp>
        <p:sp>
          <p:nvSpPr>
            <p:cNvPr id="637" name="Rectangle 212"/>
            <p:cNvSpPr>
              <a:spLocks noChangeArrowheads="1"/>
            </p:cNvSpPr>
            <p:nvPr/>
          </p:nvSpPr>
          <p:spPr bwMode="auto">
            <a:xfrm>
              <a:off x="5088" y="2304"/>
              <a:ext cx="336" cy="96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C0C0C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noAutofit/>
            </a:bodyPr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638" name="Rectangle 213"/>
            <p:cNvSpPr>
              <a:spLocks noChangeArrowheads="1"/>
            </p:cNvSpPr>
            <p:nvPr/>
          </p:nvSpPr>
          <p:spPr bwMode="auto">
            <a:xfrm>
              <a:off x="5088" y="2400"/>
              <a:ext cx="76" cy="262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C0C0C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noAutofit/>
            </a:bodyPr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639" name="Rectangle 214"/>
            <p:cNvSpPr>
              <a:spLocks noChangeArrowheads="1"/>
            </p:cNvSpPr>
            <p:nvPr/>
          </p:nvSpPr>
          <p:spPr bwMode="auto">
            <a:xfrm>
              <a:off x="5161" y="2400"/>
              <a:ext cx="167" cy="262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C0C0C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noAutofit/>
            </a:bodyPr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640" name="Rectangle 215"/>
            <p:cNvSpPr>
              <a:spLocks noChangeArrowheads="1"/>
            </p:cNvSpPr>
            <p:nvPr/>
          </p:nvSpPr>
          <p:spPr bwMode="auto">
            <a:xfrm>
              <a:off x="5328" y="2400"/>
              <a:ext cx="99" cy="262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C0C0C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noAutofit/>
            </a:bodyPr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grpSp>
        <p:nvGrpSpPr>
          <p:cNvPr id="529" name="Group 216"/>
          <p:cNvGrpSpPr>
            <a:grpSpLocks/>
          </p:cNvGrpSpPr>
          <p:nvPr/>
        </p:nvGrpSpPr>
        <p:grpSpPr bwMode="auto">
          <a:xfrm>
            <a:off x="4381501" y="4627711"/>
            <a:ext cx="473075" cy="500063"/>
            <a:chOff x="5088" y="2304"/>
            <a:chExt cx="339" cy="358"/>
          </a:xfrm>
        </p:grpSpPr>
        <p:grpSp>
          <p:nvGrpSpPr>
            <p:cNvPr id="629" name="Group 217"/>
            <p:cNvGrpSpPr>
              <a:grpSpLocks/>
            </p:cNvGrpSpPr>
            <p:nvPr/>
          </p:nvGrpSpPr>
          <p:grpSpPr bwMode="auto">
            <a:xfrm>
              <a:off x="5088" y="2305"/>
              <a:ext cx="338" cy="347"/>
              <a:chOff x="4224" y="2693"/>
              <a:chExt cx="384" cy="425"/>
            </a:xfrm>
          </p:grpSpPr>
          <p:sp>
            <p:nvSpPr>
              <p:cNvPr id="634" name="Rectangle 218"/>
              <p:cNvSpPr>
                <a:spLocks noChangeArrowheads="1"/>
              </p:cNvSpPr>
              <p:nvPr/>
            </p:nvSpPr>
            <p:spPr bwMode="auto">
              <a:xfrm>
                <a:off x="4224" y="2693"/>
                <a:ext cx="384" cy="336"/>
              </a:xfrm>
              <a:prstGeom prst="rect">
                <a:avLst/>
              </a:prstGeom>
              <a:solidFill>
                <a:srgbClr val="FFFFFF"/>
              </a:solidFill>
              <a:ln w="9525" algn="ctr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noAutofit/>
              </a:bodyPr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635" name="Rectangle 219"/>
              <p:cNvSpPr>
                <a:spLocks noChangeArrowheads="1"/>
              </p:cNvSpPr>
              <p:nvPr/>
            </p:nvSpPr>
            <p:spPr bwMode="auto">
              <a:xfrm>
                <a:off x="4224" y="3022"/>
                <a:ext cx="384" cy="96"/>
              </a:xfrm>
              <a:prstGeom prst="rect">
                <a:avLst/>
              </a:prstGeom>
              <a:solidFill>
                <a:srgbClr val="FFFFFF"/>
              </a:solidFill>
              <a:ln w="9525" algn="ctr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noAutofit/>
              </a:bodyPr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p:grpSp>
        <p:sp>
          <p:nvSpPr>
            <p:cNvPr id="630" name="Rectangle 220"/>
            <p:cNvSpPr>
              <a:spLocks noChangeArrowheads="1"/>
            </p:cNvSpPr>
            <p:nvPr/>
          </p:nvSpPr>
          <p:spPr bwMode="auto">
            <a:xfrm>
              <a:off x="5088" y="2304"/>
              <a:ext cx="336" cy="96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C0C0C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noAutofit/>
            </a:bodyPr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631" name="Rectangle 221"/>
            <p:cNvSpPr>
              <a:spLocks noChangeArrowheads="1"/>
            </p:cNvSpPr>
            <p:nvPr/>
          </p:nvSpPr>
          <p:spPr bwMode="auto">
            <a:xfrm>
              <a:off x="5088" y="2400"/>
              <a:ext cx="76" cy="262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C0C0C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noAutofit/>
            </a:bodyPr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632" name="Rectangle 222"/>
            <p:cNvSpPr>
              <a:spLocks noChangeArrowheads="1"/>
            </p:cNvSpPr>
            <p:nvPr/>
          </p:nvSpPr>
          <p:spPr bwMode="auto">
            <a:xfrm>
              <a:off x="5161" y="2400"/>
              <a:ext cx="167" cy="262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C0C0C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noAutofit/>
            </a:bodyPr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633" name="Rectangle 223"/>
            <p:cNvSpPr>
              <a:spLocks noChangeArrowheads="1"/>
            </p:cNvSpPr>
            <p:nvPr/>
          </p:nvSpPr>
          <p:spPr bwMode="auto">
            <a:xfrm>
              <a:off x="5328" y="2400"/>
              <a:ext cx="99" cy="262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C0C0C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noAutofit/>
            </a:bodyPr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grpSp>
        <p:nvGrpSpPr>
          <p:cNvPr id="530" name="Group 224"/>
          <p:cNvGrpSpPr>
            <a:grpSpLocks/>
          </p:cNvGrpSpPr>
          <p:nvPr/>
        </p:nvGrpSpPr>
        <p:grpSpPr bwMode="auto">
          <a:xfrm>
            <a:off x="4852988" y="5292873"/>
            <a:ext cx="473075" cy="500063"/>
            <a:chOff x="5088" y="2304"/>
            <a:chExt cx="339" cy="358"/>
          </a:xfrm>
        </p:grpSpPr>
        <p:grpSp>
          <p:nvGrpSpPr>
            <p:cNvPr id="622" name="Group 225"/>
            <p:cNvGrpSpPr>
              <a:grpSpLocks/>
            </p:cNvGrpSpPr>
            <p:nvPr/>
          </p:nvGrpSpPr>
          <p:grpSpPr bwMode="auto">
            <a:xfrm>
              <a:off x="5088" y="2305"/>
              <a:ext cx="338" cy="347"/>
              <a:chOff x="4224" y="2693"/>
              <a:chExt cx="384" cy="425"/>
            </a:xfrm>
          </p:grpSpPr>
          <p:sp>
            <p:nvSpPr>
              <p:cNvPr id="627" name="Rectangle 226"/>
              <p:cNvSpPr>
                <a:spLocks noChangeArrowheads="1"/>
              </p:cNvSpPr>
              <p:nvPr/>
            </p:nvSpPr>
            <p:spPr bwMode="auto">
              <a:xfrm>
                <a:off x="4224" y="2693"/>
                <a:ext cx="384" cy="336"/>
              </a:xfrm>
              <a:prstGeom prst="rect">
                <a:avLst/>
              </a:prstGeom>
              <a:solidFill>
                <a:srgbClr val="FFFFFF"/>
              </a:solidFill>
              <a:ln w="9525" algn="ctr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noAutofit/>
              </a:bodyPr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628" name="Rectangle 227"/>
              <p:cNvSpPr>
                <a:spLocks noChangeArrowheads="1"/>
              </p:cNvSpPr>
              <p:nvPr/>
            </p:nvSpPr>
            <p:spPr bwMode="auto">
              <a:xfrm>
                <a:off x="4224" y="3022"/>
                <a:ext cx="384" cy="96"/>
              </a:xfrm>
              <a:prstGeom prst="rect">
                <a:avLst/>
              </a:prstGeom>
              <a:solidFill>
                <a:srgbClr val="FFFFFF"/>
              </a:solidFill>
              <a:ln w="9525" algn="ctr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noAutofit/>
              </a:bodyPr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p:grpSp>
        <p:sp>
          <p:nvSpPr>
            <p:cNvPr id="623" name="Rectangle 228"/>
            <p:cNvSpPr>
              <a:spLocks noChangeArrowheads="1"/>
            </p:cNvSpPr>
            <p:nvPr/>
          </p:nvSpPr>
          <p:spPr bwMode="auto">
            <a:xfrm>
              <a:off x="5088" y="2304"/>
              <a:ext cx="336" cy="96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C0C0C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noAutofit/>
            </a:bodyPr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624" name="Rectangle 229"/>
            <p:cNvSpPr>
              <a:spLocks noChangeArrowheads="1"/>
            </p:cNvSpPr>
            <p:nvPr/>
          </p:nvSpPr>
          <p:spPr bwMode="auto">
            <a:xfrm>
              <a:off x="5088" y="2400"/>
              <a:ext cx="76" cy="262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C0C0C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noAutofit/>
            </a:bodyPr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625" name="Rectangle 230"/>
            <p:cNvSpPr>
              <a:spLocks noChangeArrowheads="1"/>
            </p:cNvSpPr>
            <p:nvPr/>
          </p:nvSpPr>
          <p:spPr bwMode="auto">
            <a:xfrm>
              <a:off x="5161" y="2400"/>
              <a:ext cx="167" cy="262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C0C0C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noAutofit/>
            </a:bodyPr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626" name="Rectangle 231"/>
            <p:cNvSpPr>
              <a:spLocks noChangeArrowheads="1"/>
            </p:cNvSpPr>
            <p:nvPr/>
          </p:nvSpPr>
          <p:spPr bwMode="auto">
            <a:xfrm>
              <a:off x="5328" y="2400"/>
              <a:ext cx="99" cy="262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C0C0C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noAutofit/>
            </a:bodyPr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grpSp>
        <p:nvGrpSpPr>
          <p:cNvPr id="531" name="Group 232"/>
          <p:cNvGrpSpPr>
            <a:grpSpLocks/>
          </p:cNvGrpSpPr>
          <p:nvPr/>
        </p:nvGrpSpPr>
        <p:grpSpPr bwMode="auto">
          <a:xfrm>
            <a:off x="4159251" y="5310336"/>
            <a:ext cx="473075" cy="500063"/>
            <a:chOff x="5088" y="2304"/>
            <a:chExt cx="339" cy="358"/>
          </a:xfrm>
        </p:grpSpPr>
        <p:grpSp>
          <p:nvGrpSpPr>
            <p:cNvPr id="615" name="Group 233"/>
            <p:cNvGrpSpPr>
              <a:grpSpLocks/>
            </p:cNvGrpSpPr>
            <p:nvPr/>
          </p:nvGrpSpPr>
          <p:grpSpPr bwMode="auto">
            <a:xfrm>
              <a:off x="5088" y="2305"/>
              <a:ext cx="338" cy="347"/>
              <a:chOff x="4224" y="2693"/>
              <a:chExt cx="384" cy="425"/>
            </a:xfrm>
          </p:grpSpPr>
          <p:sp>
            <p:nvSpPr>
              <p:cNvPr id="620" name="Rectangle 234"/>
              <p:cNvSpPr>
                <a:spLocks noChangeArrowheads="1"/>
              </p:cNvSpPr>
              <p:nvPr/>
            </p:nvSpPr>
            <p:spPr bwMode="auto">
              <a:xfrm>
                <a:off x="4224" y="2693"/>
                <a:ext cx="384" cy="336"/>
              </a:xfrm>
              <a:prstGeom prst="rect">
                <a:avLst/>
              </a:prstGeom>
              <a:solidFill>
                <a:srgbClr val="FFFFFF"/>
              </a:solidFill>
              <a:ln w="9525" algn="ctr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noAutofit/>
              </a:bodyPr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621" name="Rectangle 235"/>
              <p:cNvSpPr>
                <a:spLocks noChangeArrowheads="1"/>
              </p:cNvSpPr>
              <p:nvPr/>
            </p:nvSpPr>
            <p:spPr bwMode="auto">
              <a:xfrm>
                <a:off x="4224" y="3022"/>
                <a:ext cx="384" cy="96"/>
              </a:xfrm>
              <a:prstGeom prst="rect">
                <a:avLst/>
              </a:prstGeom>
              <a:solidFill>
                <a:srgbClr val="FFFFFF"/>
              </a:solidFill>
              <a:ln w="9525" algn="ctr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noAutofit/>
              </a:bodyPr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p:grpSp>
        <p:sp>
          <p:nvSpPr>
            <p:cNvPr id="616" name="Rectangle 236"/>
            <p:cNvSpPr>
              <a:spLocks noChangeArrowheads="1"/>
            </p:cNvSpPr>
            <p:nvPr/>
          </p:nvSpPr>
          <p:spPr bwMode="auto">
            <a:xfrm>
              <a:off x="5088" y="2304"/>
              <a:ext cx="336" cy="96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C0C0C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noAutofit/>
            </a:bodyPr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617" name="Rectangle 237"/>
            <p:cNvSpPr>
              <a:spLocks noChangeArrowheads="1"/>
            </p:cNvSpPr>
            <p:nvPr/>
          </p:nvSpPr>
          <p:spPr bwMode="auto">
            <a:xfrm>
              <a:off x="5088" y="2400"/>
              <a:ext cx="76" cy="262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C0C0C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noAutofit/>
            </a:bodyPr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618" name="Rectangle 238"/>
            <p:cNvSpPr>
              <a:spLocks noChangeArrowheads="1"/>
            </p:cNvSpPr>
            <p:nvPr/>
          </p:nvSpPr>
          <p:spPr bwMode="auto">
            <a:xfrm>
              <a:off x="5161" y="2400"/>
              <a:ext cx="167" cy="262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C0C0C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noAutofit/>
            </a:bodyPr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619" name="Rectangle 239"/>
            <p:cNvSpPr>
              <a:spLocks noChangeArrowheads="1"/>
            </p:cNvSpPr>
            <p:nvPr/>
          </p:nvSpPr>
          <p:spPr bwMode="auto">
            <a:xfrm>
              <a:off x="5328" y="2400"/>
              <a:ext cx="99" cy="262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C0C0C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noAutofit/>
            </a:bodyPr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grpSp>
        <p:nvGrpSpPr>
          <p:cNvPr id="532" name="Group 240"/>
          <p:cNvGrpSpPr>
            <a:grpSpLocks/>
          </p:cNvGrpSpPr>
          <p:nvPr/>
        </p:nvGrpSpPr>
        <p:grpSpPr bwMode="auto">
          <a:xfrm>
            <a:off x="8343901" y="4627711"/>
            <a:ext cx="474663" cy="500063"/>
            <a:chOff x="5088" y="2304"/>
            <a:chExt cx="339" cy="358"/>
          </a:xfrm>
        </p:grpSpPr>
        <p:grpSp>
          <p:nvGrpSpPr>
            <p:cNvPr id="608" name="Group 241"/>
            <p:cNvGrpSpPr>
              <a:grpSpLocks/>
            </p:cNvGrpSpPr>
            <p:nvPr/>
          </p:nvGrpSpPr>
          <p:grpSpPr bwMode="auto">
            <a:xfrm>
              <a:off x="5088" y="2305"/>
              <a:ext cx="338" cy="347"/>
              <a:chOff x="4224" y="2693"/>
              <a:chExt cx="384" cy="425"/>
            </a:xfrm>
          </p:grpSpPr>
          <p:sp>
            <p:nvSpPr>
              <p:cNvPr id="613" name="Rectangle 242"/>
              <p:cNvSpPr>
                <a:spLocks noChangeArrowheads="1"/>
              </p:cNvSpPr>
              <p:nvPr/>
            </p:nvSpPr>
            <p:spPr bwMode="auto">
              <a:xfrm>
                <a:off x="4224" y="2693"/>
                <a:ext cx="384" cy="336"/>
              </a:xfrm>
              <a:prstGeom prst="rect">
                <a:avLst/>
              </a:prstGeom>
              <a:solidFill>
                <a:srgbClr val="FFFFFF"/>
              </a:solidFill>
              <a:ln w="9525" algn="ctr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noAutofit/>
              </a:bodyPr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614" name="Rectangle 243"/>
              <p:cNvSpPr>
                <a:spLocks noChangeArrowheads="1"/>
              </p:cNvSpPr>
              <p:nvPr/>
            </p:nvSpPr>
            <p:spPr bwMode="auto">
              <a:xfrm>
                <a:off x="4224" y="3022"/>
                <a:ext cx="384" cy="96"/>
              </a:xfrm>
              <a:prstGeom prst="rect">
                <a:avLst/>
              </a:prstGeom>
              <a:solidFill>
                <a:srgbClr val="FFFFFF"/>
              </a:solidFill>
              <a:ln w="9525" algn="ctr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noAutofit/>
              </a:bodyPr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p:grpSp>
        <p:sp>
          <p:nvSpPr>
            <p:cNvPr id="609" name="Rectangle 244"/>
            <p:cNvSpPr>
              <a:spLocks noChangeArrowheads="1"/>
            </p:cNvSpPr>
            <p:nvPr/>
          </p:nvSpPr>
          <p:spPr bwMode="auto">
            <a:xfrm>
              <a:off x="5088" y="2304"/>
              <a:ext cx="336" cy="96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C0C0C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noAutofit/>
            </a:bodyPr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610" name="Rectangle 245"/>
            <p:cNvSpPr>
              <a:spLocks noChangeArrowheads="1"/>
            </p:cNvSpPr>
            <p:nvPr/>
          </p:nvSpPr>
          <p:spPr bwMode="auto">
            <a:xfrm>
              <a:off x="5088" y="2400"/>
              <a:ext cx="76" cy="262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C0C0C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noAutofit/>
            </a:bodyPr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611" name="Rectangle 246"/>
            <p:cNvSpPr>
              <a:spLocks noChangeArrowheads="1"/>
            </p:cNvSpPr>
            <p:nvPr/>
          </p:nvSpPr>
          <p:spPr bwMode="auto">
            <a:xfrm>
              <a:off x="5161" y="2400"/>
              <a:ext cx="167" cy="262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C0C0C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noAutofit/>
            </a:bodyPr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612" name="Rectangle 247"/>
            <p:cNvSpPr>
              <a:spLocks noChangeArrowheads="1"/>
            </p:cNvSpPr>
            <p:nvPr/>
          </p:nvSpPr>
          <p:spPr bwMode="auto">
            <a:xfrm>
              <a:off x="5328" y="2400"/>
              <a:ext cx="99" cy="262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C0C0C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noAutofit/>
            </a:bodyPr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grpSp>
        <p:nvGrpSpPr>
          <p:cNvPr id="533" name="Group 248"/>
          <p:cNvGrpSpPr>
            <a:grpSpLocks/>
          </p:cNvGrpSpPr>
          <p:nvPr/>
        </p:nvGrpSpPr>
        <p:grpSpPr bwMode="auto">
          <a:xfrm>
            <a:off x="8816976" y="5292873"/>
            <a:ext cx="473075" cy="500063"/>
            <a:chOff x="5088" y="2304"/>
            <a:chExt cx="339" cy="358"/>
          </a:xfrm>
        </p:grpSpPr>
        <p:grpSp>
          <p:nvGrpSpPr>
            <p:cNvPr id="601" name="Group 249"/>
            <p:cNvGrpSpPr>
              <a:grpSpLocks/>
            </p:cNvGrpSpPr>
            <p:nvPr/>
          </p:nvGrpSpPr>
          <p:grpSpPr bwMode="auto">
            <a:xfrm>
              <a:off x="5088" y="2305"/>
              <a:ext cx="338" cy="347"/>
              <a:chOff x="4224" y="2693"/>
              <a:chExt cx="384" cy="425"/>
            </a:xfrm>
          </p:grpSpPr>
          <p:sp>
            <p:nvSpPr>
              <p:cNvPr id="606" name="Rectangle 250"/>
              <p:cNvSpPr>
                <a:spLocks noChangeArrowheads="1"/>
              </p:cNvSpPr>
              <p:nvPr/>
            </p:nvSpPr>
            <p:spPr bwMode="auto">
              <a:xfrm>
                <a:off x="4224" y="2693"/>
                <a:ext cx="384" cy="336"/>
              </a:xfrm>
              <a:prstGeom prst="rect">
                <a:avLst/>
              </a:prstGeom>
              <a:solidFill>
                <a:srgbClr val="FFFFFF"/>
              </a:solidFill>
              <a:ln w="9525" algn="ctr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noAutofit/>
              </a:bodyPr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607" name="Rectangle 251"/>
              <p:cNvSpPr>
                <a:spLocks noChangeArrowheads="1"/>
              </p:cNvSpPr>
              <p:nvPr/>
            </p:nvSpPr>
            <p:spPr bwMode="auto">
              <a:xfrm>
                <a:off x="4224" y="3022"/>
                <a:ext cx="384" cy="96"/>
              </a:xfrm>
              <a:prstGeom prst="rect">
                <a:avLst/>
              </a:prstGeom>
              <a:solidFill>
                <a:srgbClr val="FFFFFF"/>
              </a:solidFill>
              <a:ln w="9525" algn="ctr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noAutofit/>
              </a:bodyPr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p:grpSp>
        <p:sp>
          <p:nvSpPr>
            <p:cNvPr id="602" name="Rectangle 252"/>
            <p:cNvSpPr>
              <a:spLocks noChangeArrowheads="1"/>
            </p:cNvSpPr>
            <p:nvPr/>
          </p:nvSpPr>
          <p:spPr bwMode="auto">
            <a:xfrm>
              <a:off x="5088" y="2304"/>
              <a:ext cx="336" cy="96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C0C0C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noAutofit/>
            </a:bodyPr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603" name="Rectangle 253"/>
            <p:cNvSpPr>
              <a:spLocks noChangeArrowheads="1"/>
            </p:cNvSpPr>
            <p:nvPr/>
          </p:nvSpPr>
          <p:spPr bwMode="auto">
            <a:xfrm>
              <a:off x="5088" y="2400"/>
              <a:ext cx="76" cy="262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C0C0C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noAutofit/>
            </a:bodyPr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604" name="Rectangle 254"/>
            <p:cNvSpPr>
              <a:spLocks noChangeArrowheads="1"/>
            </p:cNvSpPr>
            <p:nvPr/>
          </p:nvSpPr>
          <p:spPr bwMode="auto">
            <a:xfrm>
              <a:off x="5161" y="2400"/>
              <a:ext cx="167" cy="262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C0C0C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noAutofit/>
            </a:bodyPr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605" name="Rectangle 255"/>
            <p:cNvSpPr>
              <a:spLocks noChangeArrowheads="1"/>
            </p:cNvSpPr>
            <p:nvPr/>
          </p:nvSpPr>
          <p:spPr bwMode="auto">
            <a:xfrm>
              <a:off x="5328" y="2400"/>
              <a:ext cx="99" cy="262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C0C0C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noAutofit/>
            </a:bodyPr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grpSp>
        <p:nvGrpSpPr>
          <p:cNvPr id="534" name="Group 256"/>
          <p:cNvGrpSpPr>
            <a:grpSpLocks/>
          </p:cNvGrpSpPr>
          <p:nvPr/>
        </p:nvGrpSpPr>
        <p:grpSpPr bwMode="auto">
          <a:xfrm>
            <a:off x="8123238" y="5310336"/>
            <a:ext cx="473075" cy="500063"/>
            <a:chOff x="5088" y="2304"/>
            <a:chExt cx="339" cy="358"/>
          </a:xfrm>
        </p:grpSpPr>
        <p:grpSp>
          <p:nvGrpSpPr>
            <p:cNvPr id="594" name="Group 257"/>
            <p:cNvGrpSpPr>
              <a:grpSpLocks/>
            </p:cNvGrpSpPr>
            <p:nvPr/>
          </p:nvGrpSpPr>
          <p:grpSpPr bwMode="auto">
            <a:xfrm>
              <a:off x="5088" y="2305"/>
              <a:ext cx="338" cy="347"/>
              <a:chOff x="4224" y="2693"/>
              <a:chExt cx="384" cy="425"/>
            </a:xfrm>
          </p:grpSpPr>
          <p:sp>
            <p:nvSpPr>
              <p:cNvPr id="599" name="Rectangle 258"/>
              <p:cNvSpPr>
                <a:spLocks noChangeArrowheads="1"/>
              </p:cNvSpPr>
              <p:nvPr/>
            </p:nvSpPr>
            <p:spPr bwMode="auto">
              <a:xfrm>
                <a:off x="4224" y="2693"/>
                <a:ext cx="384" cy="336"/>
              </a:xfrm>
              <a:prstGeom prst="rect">
                <a:avLst/>
              </a:prstGeom>
              <a:solidFill>
                <a:srgbClr val="FFFFFF"/>
              </a:solidFill>
              <a:ln w="9525" algn="ctr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noAutofit/>
              </a:bodyPr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600" name="Rectangle 259"/>
              <p:cNvSpPr>
                <a:spLocks noChangeArrowheads="1"/>
              </p:cNvSpPr>
              <p:nvPr/>
            </p:nvSpPr>
            <p:spPr bwMode="auto">
              <a:xfrm>
                <a:off x="4224" y="3022"/>
                <a:ext cx="384" cy="96"/>
              </a:xfrm>
              <a:prstGeom prst="rect">
                <a:avLst/>
              </a:prstGeom>
              <a:solidFill>
                <a:srgbClr val="FFFFFF"/>
              </a:solidFill>
              <a:ln w="9525" algn="ctr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noAutofit/>
              </a:bodyPr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p:grpSp>
        <p:sp>
          <p:nvSpPr>
            <p:cNvPr id="595" name="Rectangle 260"/>
            <p:cNvSpPr>
              <a:spLocks noChangeArrowheads="1"/>
            </p:cNvSpPr>
            <p:nvPr/>
          </p:nvSpPr>
          <p:spPr bwMode="auto">
            <a:xfrm>
              <a:off x="5088" y="2304"/>
              <a:ext cx="336" cy="96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C0C0C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noAutofit/>
            </a:bodyPr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596" name="Rectangle 261"/>
            <p:cNvSpPr>
              <a:spLocks noChangeArrowheads="1"/>
            </p:cNvSpPr>
            <p:nvPr/>
          </p:nvSpPr>
          <p:spPr bwMode="auto">
            <a:xfrm>
              <a:off x="5088" y="2400"/>
              <a:ext cx="76" cy="262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C0C0C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noAutofit/>
            </a:bodyPr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597" name="Rectangle 262"/>
            <p:cNvSpPr>
              <a:spLocks noChangeArrowheads="1"/>
            </p:cNvSpPr>
            <p:nvPr/>
          </p:nvSpPr>
          <p:spPr bwMode="auto">
            <a:xfrm>
              <a:off x="5161" y="2400"/>
              <a:ext cx="167" cy="262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C0C0C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noAutofit/>
            </a:bodyPr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598" name="Rectangle 263"/>
            <p:cNvSpPr>
              <a:spLocks noChangeArrowheads="1"/>
            </p:cNvSpPr>
            <p:nvPr/>
          </p:nvSpPr>
          <p:spPr bwMode="auto">
            <a:xfrm>
              <a:off x="5328" y="2400"/>
              <a:ext cx="99" cy="262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C0C0C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noAutofit/>
            </a:bodyPr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grpSp>
        <p:nvGrpSpPr>
          <p:cNvPr id="535" name="Group 264"/>
          <p:cNvGrpSpPr>
            <a:grpSpLocks/>
          </p:cNvGrpSpPr>
          <p:nvPr/>
        </p:nvGrpSpPr>
        <p:grpSpPr bwMode="auto">
          <a:xfrm>
            <a:off x="7454901" y="5923111"/>
            <a:ext cx="473075" cy="500063"/>
            <a:chOff x="5088" y="2304"/>
            <a:chExt cx="339" cy="358"/>
          </a:xfrm>
        </p:grpSpPr>
        <p:grpSp>
          <p:nvGrpSpPr>
            <p:cNvPr id="587" name="Group 265"/>
            <p:cNvGrpSpPr>
              <a:grpSpLocks/>
            </p:cNvGrpSpPr>
            <p:nvPr/>
          </p:nvGrpSpPr>
          <p:grpSpPr bwMode="auto">
            <a:xfrm>
              <a:off x="5088" y="2305"/>
              <a:ext cx="338" cy="347"/>
              <a:chOff x="4224" y="2693"/>
              <a:chExt cx="384" cy="425"/>
            </a:xfrm>
          </p:grpSpPr>
          <p:sp>
            <p:nvSpPr>
              <p:cNvPr id="592" name="Rectangle 266"/>
              <p:cNvSpPr>
                <a:spLocks noChangeArrowheads="1"/>
              </p:cNvSpPr>
              <p:nvPr/>
            </p:nvSpPr>
            <p:spPr bwMode="auto">
              <a:xfrm>
                <a:off x="4224" y="2693"/>
                <a:ext cx="384" cy="336"/>
              </a:xfrm>
              <a:prstGeom prst="rect">
                <a:avLst/>
              </a:prstGeom>
              <a:solidFill>
                <a:srgbClr val="FFFFFF"/>
              </a:solidFill>
              <a:ln w="9525" algn="ctr">
                <a:solidFill>
                  <a:schemeClr val="bg1">
                    <a:lumMod val="75000"/>
                  </a:schemeClr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noAutofit/>
              </a:bodyPr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593" name="Rectangle 267"/>
              <p:cNvSpPr>
                <a:spLocks noChangeArrowheads="1"/>
              </p:cNvSpPr>
              <p:nvPr/>
            </p:nvSpPr>
            <p:spPr bwMode="auto">
              <a:xfrm>
                <a:off x="4224" y="3022"/>
                <a:ext cx="384" cy="96"/>
              </a:xfrm>
              <a:prstGeom prst="rect">
                <a:avLst/>
              </a:prstGeom>
              <a:solidFill>
                <a:srgbClr val="FFFFFF"/>
              </a:solidFill>
              <a:ln w="9525" algn="ctr">
                <a:solidFill>
                  <a:schemeClr val="bg1">
                    <a:lumMod val="75000"/>
                  </a:schemeClr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noAutofit/>
              </a:bodyPr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p:grpSp>
        <p:sp>
          <p:nvSpPr>
            <p:cNvPr id="588" name="Rectangle 268"/>
            <p:cNvSpPr>
              <a:spLocks noChangeArrowheads="1"/>
            </p:cNvSpPr>
            <p:nvPr/>
          </p:nvSpPr>
          <p:spPr bwMode="auto">
            <a:xfrm>
              <a:off x="5088" y="2304"/>
              <a:ext cx="336" cy="96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chemeClr val="bg1">
                  <a:lumMod val="75000"/>
                </a:schemeClr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noAutofit/>
            </a:bodyPr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589" name="Rectangle 269"/>
            <p:cNvSpPr>
              <a:spLocks noChangeArrowheads="1"/>
            </p:cNvSpPr>
            <p:nvPr/>
          </p:nvSpPr>
          <p:spPr bwMode="auto">
            <a:xfrm>
              <a:off x="5088" y="2400"/>
              <a:ext cx="76" cy="262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chemeClr val="bg1">
                  <a:lumMod val="75000"/>
                </a:schemeClr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noAutofit/>
            </a:bodyPr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590" name="Rectangle 270"/>
            <p:cNvSpPr>
              <a:spLocks noChangeArrowheads="1"/>
            </p:cNvSpPr>
            <p:nvPr/>
          </p:nvSpPr>
          <p:spPr bwMode="auto">
            <a:xfrm>
              <a:off x="5161" y="2400"/>
              <a:ext cx="167" cy="262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chemeClr val="bg1">
                  <a:lumMod val="75000"/>
                </a:schemeClr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noAutofit/>
            </a:bodyPr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591" name="Rectangle 271"/>
            <p:cNvSpPr>
              <a:spLocks noChangeArrowheads="1"/>
            </p:cNvSpPr>
            <p:nvPr/>
          </p:nvSpPr>
          <p:spPr bwMode="auto">
            <a:xfrm>
              <a:off x="5328" y="2400"/>
              <a:ext cx="99" cy="262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chemeClr val="bg1">
                  <a:lumMod val="75000"/>
                </a:schemeClr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noAutofit/>
            </a:bodyPr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sp>
        <p:nvSpPr>
          <p:cNvPr id="536" name="Line 272"/>
          <p:cNvSpPr>
            <a:spLocks noChangeShapeType="1"/>
          </p:cNvSpPr>
          <p:nvPr/>
        </p:nvSpPr>
        <p:spPr bwMode="auto">
          <a:xfrm>
            <a:off x="7277101" y="2938611"/>
            <a:ext cx="0" cy="66675"/>
          </a:xfrm>
          <a:prstGeom prst="line">
            <a:avLst/>
          </a:prstGeom>
          <a:noFill/>
          <a:ln w="9525">
            <a:solidFill>
              <a:schemeClr val="bg1">
                <a:lumMod val="75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noAutofit/>
          </a:bodyPr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37" name="Line 273"/>
          <p:cNvSpPr>
            <a:spLocks noChangeShapeType="1"/>
          </p:cNvSpPr>
          <p:nvPr/>
        </p:nvSpPr>
        <p:spPr bwMode="auto">
          <a:xfrm>
            <a:off x="4533901" y="3027511"/>
            <a:ext cx="3505200" cy="0"/>
          </a:xfrm>
          <a:prstGeom prst="line">
            <a:avLst/>
          </a:prstGeom>
          <a:noFill/>
          <a:ln w="9525">
            <a:solidFill>
              <a:schemeClr val="bg1">
                <a:lumMod val="75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noAutofit/>
          </a:bodyPr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38" name="Line 274"/>
          <p:cNvSpPr>
            <a:spLocks noChangeShapeType="1"/>
          </p:cNvSpPr>
          <p:nvPr/>
        </p:nvSpPr>
        <p:spPr bwMode="auto">
          <a:xfrm>
            <a:off x="8043863" y="3064023"/>
            <a:ext cx="0" cy="66675"/>
          </a:xfrm>
          <a:prstGeom prst="line">
            <a:avLst/>
          </a:prstGeom>
          <a:noFill/>
          <a:ln w="9525">
            <a:solidFill>
              <a:schemeClr val="bg1">
                <a:lumMod val="75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noAutofit/>
          </a:bodyPr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39" name="Line 275"/>
          <p:cNvSpPr>
            <a:spLocks noChangeShapeType="1"/>
          </p:cNvSpPr>
          <p:nvPr/>
        </p:nvSpPr>
        <p:spPr bwMode="auto">
          <a:xfrm>
            <a:off x="6592888" y="3064023"/>
            <a:ext cx="0" cy="66675"/>
          </a:xfrm>
          <a:prstGeom prst="line">
            <a:avLst/>
          </a:prstGeom>
          <a:noFill/>
          <a:ln w="9525">
            <a:solidFill>
              <a:schemeClr val="bg1">
                <a:lumMod val="75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noAutofit/>
          </a:bodyPr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40" name="Line 276"/>
          <p:cNvSpPr>
            <a:spLocks noChangeShapeType="1"/>
          </p:cNvSpPr>
          <p:nvPr/>
        </p:nvSpPr>
        <p:spPr bwMode="auto">
          <a:xfrm>
            <a:off x="5330826" y="3064023"/>
            <a:ext cx="0" cy="66675"/>
          </a:xfrm>
          <a:prstGeom prst="line">
            <a:avLst/>
          </a:prstGeom>
          <a:noFill/>
          <a:ln w="9525">
            <a:solidFill>
              <a:schemeClr val="bg1">
                <a:lumMod val="75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noAutofit/>
          </a:bodyPr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41" name="Line 277"/>
          <p:cNvSpPr>
            <a:spLocks noChangeShapeType="1"/>
          </p:cNvSpPr>
          <p:nvPr/>
        </p:nvSpPr>
        <p:spPr bwMode="auto">
          <a:xfrm>
            <a:off x="7445376" y="3043386"/>
            <a:ext cx="0" cy="1431925"/>
          </a:xfrm>
          <a:prstGeom prst="line">
            <a:avLst/>
          </a:prstGeom>
          <a:noFill/>
          <a:ln w="9525">
            <a:solidFill>
              <a:schemeClr val="bg1">
                <a:lumMod val="75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noAutofit/>
          </a:bodyPr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42" name="Line 278"/>
          <p:cNvSpPr>
            <a:spLocks noChangeShapeType="1"/>
          </p:cNvSpPr>
          <p:nvPr/>
        </p:nvSpPr>
        <p:spPr bwMode="auto">
          <a:xfrm>
            <a:off x="4457701" y="4499123"/>
            <a:ext cx="4038600" cy="0"/>
          </a:xfrm>
          <a:prstGeom prst="line">
            <a:avLst/>
          </a:prstGeom>
          <a:noFill/>
          <a:ln w="9525">
            <a:solidFill>
              <a:schemeClr val="bg1">
                <a:lumMod val="75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noAutofit/>
          </a:bodyPr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43" name="Line 279"/>
          <p:cNvSpPr>
            <a:spLocks noChangeShapeType="1"/>
          </p:cNvSpPr>
          <p:nvPr/>
        </p:nvSpPr>
        <p:spPr bwMode="auto">
          <a:xfrm>
            <a:off x="8505826" y="4524523"/>
            <a:ext cx="0" cy="66675"/>
          </a:xfrm>
          <a:prstGeom prst="line">
            <a:avLst/>
          </a:prstGeom>
          <a:noFill/>
          <a:ln w="9525">
            <a:solidFill>
              <a:schemeClr val="bg1">
                <a:lumMod val="75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noAutofit/>
          </a:bodyPr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44" name="Line 280"/>
          <p:cNvSpPr>
            <a:spLocks noChangeShapeType="1"/>
          </p:cNvSpPr>
          <p:nvPr/>
        </p:nvSpPr>
        <p:spPr bwMode="auto">
          <a:xfrm>
            <a:off x="7212013" y="4524523"/>
            <a:ext cx="0" cy="66675"/>
          </a:xfrm>
          <a:prstGeom prst="line">
            <a:avLst/>
          </a:prstGeom>
          <a:noFill/>
          <a:ln w="9525">
            <a:solidFill>
              <a:schemeClr val="bg1">
                <a:lumMod val="75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noAutofit/>
          </a:bodyPr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45" name="Line 281"/>
          <p:cNvSpPr>
            <a:spLocks noChangeShapeType="1"/>
          </p:cNvSpPr>
          <p:nvPr/>
        </p:nvSpPr>
        <p:spPr bwMode="auto">
          <a:xfrm>
            <a:off x="5897563" y="4524523"/>
            <a:ext cx="0" cy="66675"/>
          </a:xfrm>
          <a:prstGeom prst="line">
            <a:avLst/>
          </a:prstGeom>
          <a:noFill/>
          <a:ln w="9525">
            <a:solidFill>
              <a:schemeClr val="bg1">
                <a:lumMod val="75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noAutofit/>
          </a:bodyPr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46" name="Line 282"/>
          <p:cNvSpPr>
            <a:spLocks noChangeShapeType="1"/>
          </p:cNvSpPr>
          <p:nvPr/>
        </p:nvSpPr>
        <p:spPr bwMode="auto">
          <a:xfrm>
            <a:off x="4646613" y="4524523"/>
            <a:ext cx="0" cy="66675"/>
          </a:xfrm>
          <a:prstGeom prst="line">
            <a:avLst/>
          </a:prstGeom>
          <a:noFill/>
          <a:ln w="9525">
            <a:solidFill>
              <a:schemeClr val="bg1">
                <a:lumMod val="75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noAutofit/>
          </a:bodyPr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47" name="Line 283"/>
          <p:cNvSpPr>
            <a:spLocks noChangeShapeType="1"/>
          </p:cNvSpPr>
          <p:nvPr/>
        </p:nvSpPr>
        <p:spPr bwMode="auto">
          <a:xfrm>
            <a:off x="6570663" y="3694261"/>
            <a:ext cx="0" cy="66675"/>
          </a:xfrm>
          <a:prstGeom prst="line">
            <a:avLst/>
          </a:prstGeom>
          <a:noFill/>
          <a:ln w="9525">
            <a:solidFill>
              <a:srgbClr val="C0C0C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noAutofit/>
          </a:bodyPr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48" name="Line 284"/>
          <p:cNvSpPr>
            <a:spLocks noChangeShapeType="1"/>
          </p:cNvSpPr>
          <p:nvPr/>
        </p:nvSpPr>
        <p:spPr bwMode="auto">
          <a:xfrm>
            <a:off x="5299076" y="3694261"/>
            <a:ext cx="0" cy="66675"/>
          </a:xfrm>
          <a:prstGeom prst="line">
            <a:avLst/>
          </a:prstGeom>
          <a:noFill/>
          <a:ln w="9525">
            <a:solidFill>
              <a:srgbClr val="C0C0C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noAutofit/>
          </a:bodyPr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49" name="Line 285"/>
          <p:cNvSpPr>
            <a:spLocks noChangeShapeType="1"/>
          </p:cNvSpPr>
          <p:nvPr/>
        </p:nvSpPr>
        <p:spPr bwMode="auto">
          <a:xfrm>
            <a:off x="8085138" y="3694261"/>
            <a:ext cx="0" cy="66675"/>
          </a:xfrm>
          <a:prstGeom prst="line">
            <a:avLst/>
          </a:prstGeom>
          <a:noFill/>
          <a:ln w="9525">
            <a:solidFill>
              <a:schemeClr val="bg1">
                <a:lumMod val="75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noAutofit/>
          </a:bodyPr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50" name="Line 286"/>
          <p:cNvSpPr>
            <a:spLocks noChangeShapeType="1"/>
          </p:cNvSpPr>
          <p:nvPr/>
        </p:nvSpPr>
        <p:spPr bwMode="auto">
          <a:xfrm>
            <a:off x="7864476" y="3768873"/>
            <a:ext cx="0" cy="66675"/>
          </a:xfrm>
          <a:prstGeom prst="line">
            <a:avLst/>
          </a:prstGeom>
          <a:noFill/>
          <a:ln w="9525">
            <a:solidFill>
              <a:schemeClr val="bg1">
                <a:lumMod val="75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noAutofit/>
          </a:bodyPr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51" name="Line 287"/>
          <p:cNvSpPr>
            <a:spLocks noChangeShapeType="1"/>
          </p:cNvSpPr>
          <p:nvPr/>
        </p:nvSpPr>
        <p:spPr bwMode="auto">
          <a:xfrm>
            <a:off x="8558213" y="3768873"/>
            <a:ext cx="0" cy="66675"/>
          </a:xfrm>
          <a:prstGeom prst="line">
            <a:avLst/>
          </a:prstGeom>
          <a:noFill/>
          <a:ln w="9525">
            <a:solidFill>
              <a:schemeClr val="bg1">
                <a:lumMod val="75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noAutofit/>
          </a:bodyPr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52" name="Line 288"/>
          <p:cNvSpPr>
            <a:spLocks noChangeShapeType="1"/>
          </p:cNvSpPr>
          <p:nvPr/>
        </p:nvSpPr>
        <p:spPr bwMode="auto">
          <a:xfrm>
            <a:off x="6350001" y="3768873"/>
            <a:ext cx="0" cy="66675"/>
          </a:xfrm>
          <a:prstGeom prst="line">
            <a:avLst/>
          </a:prstGeom>
          <a:noFill/>
          <a:ln w="9525">
            <a:solidFill>
              <a:srgbClr val="C0C0C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noAutofit/>
          </a:bodyPr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53" name="Line 289"/>
          <p:cNvSpPr>
            <a:spLocks noChangeShapeType="1"/>
          </p:cNvSpPr>
          <p:nvPr/>
        </p:nvSpPr>
        <p:spPr bwMode="auto">
          <a:xfrm>
            <a:off x="7043738" y="3768873"/>
            <a:ext cx="0" cy="66675"/>
          </a:xfrm>
          <a:prstGeom prst="line">
            <a:avLst/>
          </a:prstGeom>
          <a:noFill/>
          <a:ln w="9525">
            <a:solidFill>
              <a:srgbClr val="C0C0C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noAutofit/>
          </a:bodyPr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54" name="Line 290"/>
          <p:cNvSpPr>
            <a:spLocks noChangeShapeType="1"/>
          </p:cNvSpPr>
          <p:nvPr/>
        </p:nvSpPr>
        <p:spPr bwMode="auto">
          <a:xfrm>
            <a:off x="5067301" y="3768873"/>
            <a:ext cx="0" cy="66675"/>
          </a:xfrm>
          <a:prstGeom prst="line">
            <a:avLst/>
          </a:prstGeom>
          <a:noFill/>
          <a:ln w="9525">
            <a:solidFill>
              <a:srgbClr val="C0C0C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noAutofit/>
          </a:bodyPr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55" name="Line 291"/>
          <p:cNvSpPr>
            <a:spLocks noChangeShapeType="1"/>
          </p:cNvSpPr>
          <p:nvPr/>
        </p:nvSpPr>
        <p:spPr bwMode="auto">
          <a:xfrm>
            <a:off x="5749926" y="3768873"/>
            <a:ext cx="0" cy="66675"/>
          </a:xfrm>
          <a:prstGeom prst="line">
            <a:avLst/>
          </a:prstGeom>
          <a:noFill/>
          <a:ln w="9525">
            <a:solidFill>
              <a:srgbClr val="C0C0C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noAutofit/>
          </a:bodyPr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56" name="Line 292"/>
          <p:cNvSpPr>
            <a:spLocks noChangeShapeType="1"/>
          </p:cNvSpPr>
          <p:nvPr/>
        </p:nvSpPr>
        <p:spPr bwMode="auto">
          <a:xfrm>
            <a:off x="4394201" y="5250011"/>
            <a:ext cx="0" cy="66675"/>
          </a:xfrm>
          <a:prstGeom prst="line">
            <a:avLst/>
          </a:prstGeom>
          <a:noFill/>
          <a:ln w="9525">
            <a:solidFill>
              <a:srgbClr val="C0C0C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noAutofit/>
          </a:bodyPr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57" name="Line 293"/>
          <p:cNvSpPr>
            <a:spLocks noChangeShapeType="1"/>
          </p:cNvSpPr>
          <p:nvPr/>
        </p:nvSpPr>
        <p:spPr bwMode="auto">
          <a:xfrm>
            <a:off x="5076826" y="5250011"/>
            <a:ext cx="0" cy="66675"/>
          </a:xfrm>
          <a:prstGeom prst="line">
            <a:avLst/>
          </a:prstGeom>
          <a:noFill/>
          <a:ln w="9525">
            <a:solidFill>
              <a:srgbClr val="C0C0C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noAutofit/>
          </a:bodyPr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58" name="Line 294"/>
          <p:cNvSpPr>
            <a:spLocks noChangeShapeType="1"/>
          </p:cNvSpPr>
          <p:nvPr/>
        </p:nvSpPr>
        <p:spPr bwMode="auto">
          <a:xfrm>
            <a:off x="5624513" y="5250011"/>
            <a:ext cx="0" cy="66675"/>
          </a:xfrm>
          <a:prstGeom prst="line">
            <a:avLst/>
          </a:prstGeom>
          <a:noFill/>
          <a:ln w="9525">
            <a:solidFill>
              <a:srgbClr val="C0C0C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noAutofit/>
          </a:bodyPr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59" name="Line 295"/>
          <p:cNvSpPr>
            <a:spLocks noChangeShapeType="1"/>
          </p:cNvSpPr>
          <p:nvPr/>
        </p:nvSpPr>
        <p:spPr bwMode="auto">
          <a:xfrm>
            <a:off x="6318251" y="5250011"/>
            <a:ext cx="0" cy="66675"/>
          </a:xfrm>
          <a:prstGeom prst="line">
            <a:avLst/>
          </a:prstGeom>
          <a:noFill/>
          <a:ln w="9525">
            <a:solidFill>
              <a:srgbClr val="C0C0C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noAutofit/>
          </a:bodyPr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60" name="Line 296"/>
          <p:cNvSpPr>
            <a:spLocks noChangeShapeType="1"/>
          </p:cNvSpPr>
          <p:nvPr/>
        </p:nvSpPr>
        <p:spPr bwMode="auto">
          <a:xfrm>
            <a:off x="6969126" y="5250011"/>
            <a:ext cx="0" cy="66675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noAutofit/>
          </a:bodyPr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61" name="Line 297"/>
          <p:cNvSpPr>
            <a:spLocks noChangeShapeType="1"/>
          </p:cNvSpPr>
          <p:nvPr/>
        </p:nvSpPr>
        <p:spPr bwMode="auto">
          <a:xfrm>
            <a:off x="7673976" y="5250011"/>
            <a:ext cx="0" cy="66675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noAutofit/>
          </a:bodyPr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62" name="Line 298"/>
          <p:cNvSpPr>
            <a:spLocks noChangeShapeType="1"/>
          </p:cNvSpPr>
          <p:nvPr/>
        </p:nvSpPr>
        <p:spPr bwMode="auto">
          <a:xfrm>
            <a:off x="8345488" y="5250011"/>
            <a:ext cx="0" cy="66675"/>
          </a:xfrm>
          <a:prstGeom prst="line">
            <a:avLst/>
          </a:prstGeom>
          <a:noFill/>
          <a:ln w="9525">
            <a:solidFill>
              <a:srgbClr val="C0C0C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noAutofit/>
          </a:bodyPr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63" name="Line 299"/>
          <p:cNvSpPr>
            <a:spLocks noChangeShapeType="1"/>
          </p:cNvSpPr>
          <p:nvPr/>
        </p:nvSpPr>
        <p:spPr bwMode="auto">
          <a:xfrm>
            <a:off x="9028113" y="5250011"/>
            <a:ext cx="0" cy="66675"/>
          </a:xfrm>
          <a:prstGeom prst="line">
            <a:avLst/>
          </a:prstGeom>
          <a:noFill/>
          <a:ln w="9525">
            <a:solidFill>
              <a:srgbClr val="C0C0C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noAutofit/>
          </a:bodyPr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64" name="Line 300"/>
          <p:cNvSpPr>
            <a:spLocks noChangeShapeType="1"/>
          </p:cNvSpPr>
          <p:nvPr/>
        </p:nvSpPr>
        <p:spPr bwMode="auto">
          <a:xfrm>
            <a:off x="8564563" y="5134123"/>
            <a:ext cx="0" cy="66675"/>
          </a:xfrm>
          <a:prstGeom prst="line">
            <a:avLst/>
          </a:prstGeom>
          <a:noFill/>
          <a:ln w="9525">
            <a:solidFill>
              <a:srgbClr val="C0C0C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noAutofit/>
          </a:bodyPr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65" name="Line 301"/>
          <p:cNvSpPr>
            <a:spLocks noChangeShapeType="1"/>
          </p:cNvSpPr>
          <p:nvPr/>
        </p:nvSpPr>
        <p:spPr bwMode="auto">
          <a:xfrm>
            <a:off x="7218363" y="5134123"/>
            <a:ext cx="0" cy="66675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noAutofit/>
          </a:bodyPr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66" name="Line 302"/>
          <p:cNvSpPr>
            <a:spLocks noChangeShapeType="1"/>
          </p:cNvSpPr>
          <p:nvPr/>
        </p:nvSpPr>
        <p:spPr bwMode="auto">
          <a:xfrm>
            <a:off x="5883276" y="5134123"/>
            <a:ext cx="0" cy="66675"/>
          </a:xfrm>
          <a:prstGeom prst="line">
            <a:avLst/>
          </a:prstGeom>
          <a:noFill/>
          <a:ln w="9525">
            <a:solidFill>
              <a:srgbClr val="C0C0C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noAutofit/>
          </a:bodyPr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67" name="Line 303"/>
          <p:cNvSpPr>
            <a:spLocks noChangeShapeType="1"/>
          </p:cNvSpPr>
          <p:nvPr/>
        </p:nvSpPr>
        <p:spPr bwMode="auto">
          <a:xfrm>
            <a:off x="4622801" y="5134123"/>
            <a:ext cx="0" cy="66675"/>
          </a:xfrm>
          <a:prstGeom prst="line">
            <a:avLst/>
          </a:prstGeom>
          <a:noFill/>
          <a:ln w="9525">
            <a:solidFill>
              <a:srgbClr val="C0C0C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noAutofit/>
          </a:bodyPr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68" name="Line 304"/>
          <p:cNvSpPr>
            <a:spLocks noChangeShapeType="1"/>
          </p:cNvSpPr>
          <p:nvPr/>
        </p:nvSpPr>
        <p:spPr bwMode="auto">
          <a:xfrm>
            <a:off x="7820026" y="3762523"/>
            <a:ext cx="746125" cy="0"/>
          </a:xfrm>
          <a:prstGeom prst="line">
            <a:avLst/>
          </a:prstGeom>
          <a:noFill/>
          <a:ln w="9525">
            <a:solidFill>
              <a:schemeClr val="bg1">
                <a:lumMod val="75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noAutofit/>
          </a:bodyPr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69" name="Line 305"/>
          <p:cNvSpPr>
            <a:spLocks noChangeShapeType="1"/>
          </p:cNvSpPr>
          <p:nvPr/>
        </p:nvSpPr>
        <p:spPr bwMode="auto">
          <a:xfrm>
            <a:off x="6337301" y="3762523"/>
            <a:ext cx="746125" cy="0"/>
          </a:xfrm>
          <a:prstGeom prst="line">
            <a:avLst/>
          </a:prstGeom>
          <a:noFill/>
          <a:ln w="9525">
            <a:solidFill>
              <a:srgbClr val="C0C0C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noAutofit/>
          </a:bodyPr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70" name="Line 306"/>
          <p:cNvSpPr>
            <a:spLocks noChangeShapeType="1"/>
          </p:cNvSpPr>
          <p:nvPr/>
        </p:nvSpPr>
        <p:spPr bwMode="auto">
          <a:xfrm>
            <a:off x="5054601" y="3762523"/>
            <a:ext cx="746125" cy="0"/>
          </a:xfrm>
          <a:prstGeom prst="line">
            <a:avLst/>
          </a:prstGeom>
          <a:noFill/>
          <a:ln w="9525">
            <a:solidFill>
              <a:srgbClr val="C0C0C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noAutofit/>
          </a:bodyPr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71" name="Line 307"/>
          <p:cNvSpPr>
            <a:spLocks noChangeShapeType="1"/>
          </p:cNvSpPr>
          <p:nvPr/>
        </p:nvSpPr>
        <p:spPr bwMode="auto">
          <a:xfrm>
            <a:off x="4371976" y="5232548"/>
            <a:ext cx="746125" cy="0"/>
          </a:xfrm>
          <a:prstGeom prst="line">
            <a:avLst/>
          </a:prstGeom>
          <a:noFill/>
          <a:ln w="9525">
            <a:solidFill>
              <a:srgbClr val="C0C0C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noAutofit/>
          </a:bodyPr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72" name="Line 308"/>
          <p:cNvSpPr>
            <a:spLocks noChangeShapeType="1"/>
          </p:cNvSpPr>
          <p:nvPr/>
        </p:nvSpPr>
        <p:spPr bwMode="auto">
          <a:xfrm>
            <a:off x="5602288" y="5232548"/>
            <a:ext cx="746125" cy="0"/>
          </a:xfrm>
          <a:prstGeom prst="line">
            <a:avLst/>
          </a:prstGeom>
          <a:noFill/>
          <a:ln w="9525">
            <a:solidFill>
              <a:srgbClr val="C0C0C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noAutofit/>
          </a:bodyPr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73" name="Line 309"/>
          <p:cNvSpPr>
            <a:spLocks noChangeShapeType="1"/>
          </p:cNvSpPr>
          <p:nvPr/>
        </p:nvSpPr>
        <p:spPr bwMode="auto">
          <a:xfrm>
            <a:off x="6946901" y="5232548"/>
            <a:ext cx="746125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noAutofit/>
          </a:bodyPr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74" name="Line 310"/>
          <p:cNvSpPr>
            <a:spLocks noChangeShapeType="1"/>
          </p:cNvSpPr>
          <p:nvPr/>
        </p:nvSpPr>
        <p:spPr bwMode="auto">
          <a:xfrm>
            <a:off x="8323263" y="5232548"/>
            <a:ext cx="746125" cy="0"/>
          </a:xfrm>
          <a:prstGeom prst="line">
            <a:avLst/>
          </a:prstGeom>
          <a:noFill/>
          <a:ln w="9525">
            <a:solidFill>
              <a:srgbClr val="C0C0C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noAutofit/>
          </a:bodyPr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76" name="Line 312"/>
          <p:cNvSpPr>
            <a:spLocks noChangeShapeType="1"/>
          </p:cNvSpPr>
          <p:nvPr/>
        </p:nvSpPr>
        <p:spPr bwMode="auto">
          <a:xfrm>
            <a:off x="4141788" y="4499123"/>
            <a:ext cx="288925" cy="0"/>
          </a:xfrm>
          <a:prstGeom prst="line">
            <a:avLst/>
          </a:prstGeom>
          <a:noFill/>
          <a:ln w="9525">
            <a:solidFill>
              <a:schemeClr val="bg1">
                <a:lumMod val="75000"/>
              </a:schemeClr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noAutofit/>
          </a:bodyPr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77" name="Line 313"/>
          <p:cNvSpPr>
            <a:spLocks noChangeShapeType="1"/>
          </p:cNvSpPr>
          <p:nvPr/>
        </p:nvSpPr>
        <p:spPr bwMode="auto">
          <a:xfrm>
            <a:off x="4208463" y="3027511"/>
            <a:ext cx="288925" cy="0"/>
          </a:xfrm>
          <a:prstGeom prst="line">
            <a:avLst/>
          </a:prstGeom>
          <a:noFill/>
          <a:ln w="9525">
            <a:solidFill>
              <a:schemeClr val="bg1">
                <a:lumMod val="75000"/>
              </a:schemeClr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noAutofit/>
          </a:bodyPr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78" name="Text Box 314"/>
          <p:cNvSpPr txBox="1">
            <a:spLocks noChangeArrowheads="1"/>
          </p:cNvSpPr>
          <p:nvPr/>
        </p:nvSpPr>
        <p:spPr bwMode="auto">
          <a:xfrm>
            <a:off x="7462838" y="2308373"/>
            <a:ext cx="533400" cy="238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no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</a:pPr>
            <a:r>
              <a:rPr kumimoji="1" lang="en-US" altLang="ko-KR" sz="800">
                <a:latin typeface="나눔고딕" panose="020D0604000000000000" pitchFamily="50" charset="-127"/>
                <a:ea typeface="나눔고딕" panose="020D0604000000000000" pitchFamily="50" charset="-127"/>
              </a:rPr>
              <a:t>main</a:t>
            </a:r>
          </a:p>
        </p:txBody>
      </p:sp>
      <p:sp>
        <p:nvSpPr>
          <p:cNvPr id="579" name="Text Box 315"/>
          <p:cNvSpPr txBox="1">
            <a:spLocks noChangeArrowheads="1"/>
          </p:cNvSpPr>
          <p:nvPr/>
        </p:nvSpPr>
        <p:spPr bwMode="auto">
          <a:xfrm>
            <a:off x="8299451" y="3092598"/>
            <a:ext cx="866774" cy="473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no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</a:pPr>
            <a:endParaRPr kumimoji="1" lang="en-US" altLang="ko-KR" sz="7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80" name="Text Box 316"/>
          <p:cNvSpPr txBox="1">
            <a:spLocks noChangeArrowheads="1"/>
          </p:cNvSpPr>
          <p:nvPr/>
        </p:nvSpPr>
        <p:spPr bwMode="auto">
          <a:xfrm>
            <a:off x="7408863" y="4540398"/>
            <a:ext cx="619125" cy="219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no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</a:pPr>
            <a:r>
              <a:rPr kumimoji="1" lang="en-US" altLang="ko-KR" sz="7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D </a:t>
            </a:r>
            <a:r>
              <a:rPr kumimoji="1" lang="ko-KR" altLang="en-US" sz="7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상품</a:t>
            </a:r>
          </a:p>
        </p:txBody>
      </p:sp>
      <p:sp>
        <p:nvSpPr>
          <p:cNvPr id="581" name="Text Box 317"/>
          <p:cNvSpPr txBox="1">
            <a:spLocks noChangeArrowheads="1"/>
          </p:cNvSpPr>
          <p:nvPr/>
        </p:nvSpPr>
        <p:spPr bwMode="auto">
          <a:xfrm>
            <a:off x="6046788" y="4540398"/>
            <a:ext cx="762000" cy="219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no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</a:pPr>
            <a:r>
              <a:rPr kumimoji="1" lang="en-US" altLang="ko-KR" sz="7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B </a:t>
            </a:r>
            <a:r>
              <a:rPr kumimoji="1" lang="ko-KR" altLang="en-US" sz="7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상품</a:t>
            </a:r>
          </a:p>
        </p:txBody>
      </p:sp>
      <p:sp>
        <p:nvSpPr>
          <p:cNvPr id="582" name="Text Box 318"/>
          <p:cNvSpPr txBox="1">
            <a:spLocks noChangeArrowheads="1"/>
          </p:cNvSpPr>
          <p:nvPr/>
        </p:nvSpPr>
        <p:spPr bwMode="auto">
          <a:xfrm>
            <a:off x="4784726" y="4540398"/>
            <a:ext cx="762000" cy="219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no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</a:pPr>
            <a:r>
              <a:rPr kumimoji="1" lang="en-US" altLang="ko-KR" sz="7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A </a:t>
            </a:r>
            <a:r>
              <a:rPr kumimoji="1" lang="ko-KR" altLang="en-US" sz="7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상품</a:t>
            </a:r>
          </a:p>
        </p:txBody>
      </p:sp>
      <p:sp>
        <p:nvSpPr>
          <p:cNvPr id="583" name="Text Box 319"/>
          <p:cNvSpPr txBox="1">
            <a:spLocks noChangeArrowheads="1"/>
          </p:cNvSpPr>
          <p:nvPr/>
        </p:nvSpPr>
        <p:spPr bwMode="auto">
          <a:xfrm>
            <a:off x="6788151" y="3092598"/>
            <a:ext cx="533400" cy="346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no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</a:pPr>
            <a:r>
              <a:rPr kumimoji="1" lang="en-US" altLang="ko-KR" sz="7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Landing page</a:t>
            </a:r>
          </a:p>
        </p:txBody>
      </p:sp>
      <p:sp>
        <p:nvSpPr>
          <p:cNvPr id="584" name="Text Box 320"/>
          <p:cNvSpPr txBox="1">
            <a:spLocks noChangeArrowheads="1"/>
          </p:cNvSpPr>
          <p:nvPr/>
        </p:nvSpPr>
        <p:spPr bwMode="auto">
          <a:xfrm>
            <a:off x="5480051" y="3092598"/>
            <a:ext cx="806450" cy="346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no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</a:pPr>
            <a:r>
              <a:rPr kumimoji="1" lang="en-US" altLang="ko-KR" sz="7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Mobile web page</a:t>
            </a:r>
          </a:p>
        </p:txBody>
      </p:sp>
      <p:sp>
        <p:nvSpPr>
          <p:cNvPr id="585" name="Text Box 321"/>
          <p:cNvSpPr txBox="1">
            <a:spLocks noChangeArrowheads="1"/>
          </p:cNvSpPr>
          <p:nvPr/>
        </p:nvSpPr>
        <p:spPr bwMode="auto">
          <a:xfrm>
            <a:off x="7646988" y="5084911"/>
            <a:ext cx="619125" cy="219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no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</a:pPr>
            <a:r>
              <a:rPr kumimoji="1" lang="ko-KR" altLang="en-US" sz="700">
                <a:latin typeface="나눔고딕" panose="020D0604000000000000" pitchFamily="50" charset="-127"/>
                <a:ea typeface="나눔고딕" panose="020D0604000000000000" pitchFamily="50" charset="-127"/>
              </a:rPr>
              <a:t>상품정보</a:t>
            </a:r>
          </a:p>
        </p:txBody>
      </p:sp>
      <p:sp>
        <p:nvSpPr>
          <p:cNvPr id="586" name="Text Box 322"/>
          <p:cNvSpPr txBox="1">
            <a:spLocks noChangeArrowheads="1"/>
          </p:cNvSpPr>
          <p:nvPr/>
        </p:nvSpPr>
        <p:spPr bwMode="auto">
          <a:xfrm>
            <a:off x="7886701" y="5878661"/>
            <a:ext cx="619125" cy="219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no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</a:pPr>
            <a:r>
              <a:rPr kumimoji="1" lang="en" altLang="ko-KR" sz="7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XXX</a:t>
            </a:r>
            <a:r>
              <a:rPr kumimoji="1" lang="ko-KR" altLang="en-US" sz="7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kumimoji="1" lang="en-US" altLang="ko-KR" sz="7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page</a:t>
            </a:r>
          </a:p>
        </p:txBody>
      </p:sp>
      <p:sp>
        <p:nvSpPr>
          <p:cNvPr id="489" name="Rectangle 323"/>
          <p:cNvSpPr>
            <a:spLocks noChangeArrowheads="1"/>
          </p:cNvSpPr>
          <p:nvPr/>
        </p:nvSpPr>
        <p:spPr bwMode="auto">
          <a:xfrm>
            <a:off x="7080251" y="2603648"/>
            <a:ext cx="152400" cy="152400"/>
          </a:xfrm>
          <a:prstGeom prst="rect">
            <a:avLst/>
          </a:prstGeom>
          <a:solidFill>
            <a:srgbClr val="FF9900"/>
          </a:solidFill>
          <a:ln w="9525" algn="ctr">
            <a:solidFill>
              <a:schemeClr val="accent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noAutofit/>
          </a:bodyPr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90" name="Rectangle 324"/>
          <p:cNvSpPr>
            <a:spLocks noChangeArrowheads="1"/>
          </p:cNvSpPr>
          <p:nvPr/>
        </p:nvSpPr>
        <p:spPr bwMode="auto">
          <a:xfrm>
            <a:off x="7859712" y="3164403"/>
            <a:ext cx="481921" cy="504457"/>
          </a:xfrm>
          <a:prstGeom prst="rect">
            <a:avLst/>
          </a:prstGeom>
          <a:solidFill>
            <a:srgbClr val="FF9900">
              <a:alpha val="68000"/>
            </a:srgbClr>
          </a:solidFill>
          <a:ln w="9525" algn="ctr">
            <a:solidFill>
              <a:schemeClr val="accent2"/>
            </a:solidFill>
            <a:miter lim="800000"/>
            <a:headEnd/>
            <a:tailEnd/>
          </a:ln>
          <a:effectLst/>
        </p:spPr>
        <p:txBody>
          <a:bodyPr wrap="none" anchor="ctr">
            <a:noAutofit/>
          </a:bodyPr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91" name="Rectangle 325"/>
          <p:cNvSpPr>
            <a:spLocks noChangeArrowheads="1"/>
          </p:cNvSpPr>
          <p:nvPr/>
        </p:nvSpPr>
        <p:spPr bwMode="auto">
          <a:xfrm>
            <a:off x="7762876" y="4021286"/>
            <a:ext cx="152400" cy="152400"/>
          </a:xfrm>
          <a:prstGeom prst="rect">
            <a:avLst/>
          </a:prstGeom>
          <a:solidFill>
            <a:srgbClr val="FF9900"/>
          </a:solidFill>
          <a:ln w="9525" algn="ctr">
            <a:solidFill>
              <a:schemeClr val="accent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noAutofit/>
          </a:bodyPr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92" name="Rectangle 326"/>
          <p:cNvSpPr>
            <a:spLocks noChangeArrowheads="1"/>
          </p:cNvSpPr>
          <p:nvPr/>
        </p:nvSpPr>
        <p:spPr bwMode="auto">
          <a:xfrm>
            <a:off x="7553239" y="5443505"/>
            <a:ext cx="236581" cy="346146"/>
          </a:xfrm>
          <a:prstGeom prst="rect">
            <a:avLst/>
          </a:prstGeom>
          <a:solidFill>
            <a:srgbClr val="FF9900"/>
          </a:solidFill>
          <a:ln w="9525" algn="ctr">
            <a:solidFill>
              <a:schemeClr val="accent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noAutofit/>
          </a:bodyPr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94" name="Rectangle 328"/>
          <p:cNvSpPr>
            <a:spLocks noChangeArrowheads="1"/>
          </p:cNvSpPr>
          <p:nvPr/>
        </p:nvSpPr>
        <p:spPr bwMode="auto">
          <a:xfrm>
            <a:off x="7123113" y="4789636"/>
            <a:ext cx="152400" cy="152400"/>
          </a:xfrm>
          <a:prstGeom prst="rect">
            <a:avLst/>
          </a:prstGeom>
          <a:solidFill>
            <a:srgbClr val="FF9900">
              <a:alpha val="60001"/>
            </a:srgbClr>
          </a:solidFill>
          <a:ln w="9525" algn="ctr">
            <a:solidFill>
              <a:schemeClr val="accent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noAutofit/>
          </a:bodyPr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95" name="Line 329"/>
          <p:cNvSpPr>
            <a:spLocks noChangeShapeType="1"/>
          </p:cNvSpPr>
          <p:nvPr/>
        </p:nvSpPr>
        <p:spPr bwMode="auto">
          <a:xfrm>
            <a:off x="7265987" y="2733823"/>
            <a:ext cx="544513" cy="506781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noAutofit/>
          </a:bodyPr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96" name="Line 330"/>
          <p:cNvSpPr>
            <a:spLocks noChangeShapeType="1"/>
          </p:cNvSpPr>
          <p:nvPr/>
        </p:nvSpPr>
        <p:spPr bwMode="auto">
          <a:xfrm flipH="1">
            <a:off x="7910513" y="3648223"/>
            <a:ext cx="133350" cy="33178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noAutofit/>
          </a:bodyPr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97" name="Line 331"/>
          <p:cNvSpPr>
            <a:spLocks noChangeShapeType="1"/>
          </p:cNvSpPr>
          <p:nvPr/>
        </p:nvSpPr>
        <p:spPr bwMode="auto">
          <a:xfrm flipH="1">
            <a:off x="7661276" y="4241948"/>
            <a:ext cx="149225" cy="1193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noAutofit/>
          </a:bodyPr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99" name="Line 333"/>
          <p:cNvSpPr>
            <a:spLocks noChangeShapeType="1"/>
          </p:cNvSpPr>
          <p:nvPr/>
        </p:nvSpPr>
        <p:spPr bwMode="auto">
          <a:xfrm>
            <a:off x="7129463" y="2786211"/>
            <a:ext cx="55563" cy="1957388"/>
          </a:xfrm>
          <a:prstGeom prst="line">
            <a:avLst/>
          </a:prstGeom>
          <a:noFill/>
          <a:ln w="12700">
            <a:solidFill>
              <a:schemeClr val="bg1">
                <a:lumMod val="50000"/>
              </a:schemeClr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noAutofit/>
          </a:bodyPr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00" name="Line 334"/>
          <p:cNvSpPr>
            <a:spLocks noChangeShapeType="1"/>
          </p:cNvSpPr>
          <p:nvPr/>
        </p:nvSpPr>
        <p:spPr bwMode="auto">
          <a:xfrm>
            <a:off x="7254876" y="4986486"/>
            <a:ext cx="319088" cy="449263"/>
          </a:xfrm>
          <a:prstGeom prst="line">
            <a:avLst/>
          </a:prstGeom>
          <a:noFill/>
          <a:ln w="12700">
            <a:solidFill>
              <a:schemeClr val="bg1">
                <a:lumMod val="50000"/>
              </a:schemeClr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noAutofit/>
          </a:bodyPr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01" name="Rectangle 335"/>
          <p:cNvSpPr>
            <a:spLocks noChangeArrowheads="1"/>
          </p:cNvSpPr>
          <p:nvPr/>
        </p:nvSpPr>
        <p:spPr bwMode="auto">
          <a:xfrm>
            <a:off x="2944813" y="2603648"/>
            <a:ext cx="682625" cy="533400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noAutofit/>
          </a:bodyPr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02" name="Freeform 336"/>
          <p:cNvSpPr>
            <a:spLocks/>
          </p:cNvSpPr>
          <p:nvPr/>
        </p:nvSpPr>
        <p:spPr bwMode="auto">
          <a:xfrm>
            <a:off x="3684588" y="2810023"/>
            <a:ext cx="4251325" cy="749300"/>
          </a:xfrm>
          <a:custGeom>
            <a:avLst/>
            <a:gdLst>
              <a:gd name="T0" fmla="*/ 0 w 2640"/>
              <a:gd name="T1" fmla="*/ 0 h 528"/>
              <a:gd name="T2" fmla="*/ 192 w 2640"/>
              <a:gd name="T3" fmla="*/ 0 h 528"/>
              <a:gd name="T4" fmla="*/ 192 w 2640"/>
              <a:gd name="T5" fmla="*/ 528 h 528"/>
              <a:gd name="T6" fmla="*/ 2640 w 2640"/>
              <a:gd name="T7" fmla="*/ 528 h 5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640" h="528">
                <a:moveTo>
                  <a:pt x="0" y="0"/>
                </a:moveTo>
                <a:lnTo>
                  <a:pt x="192" y="0"/>
                </a:lnTo>
                <a:lnTo>
                  <a:pt x="192" y="528"/>
                </a:lnTo>
                <a:lnTo>
                  <a:pt x="2640" y="528"/>
                </a:lnTo>
              </a:path>
            </a:pathLst>
          </a:custGeom>
          <a:noFill/>
          <a:ln w="9525" cap="flat" cmpd="sng">
            <a:solidFill>
              <a:srgbClr val="FF9900"/>
            </a:solidFill>
            <a:prstDash val="solid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noAutofit/>
          </a:bodyPr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503" name="Object 33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84202520"/>
              </p:ext>
            </p:extLst>
          </p:nvPr>
        </p:nvGraphicFramePr>
        <p:xfrm>
          <a:off x="3141663" y="3289448"/>
          <a:ext cx="155575" cy="150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14" imgW="592455" imgH="510032" progId="Visio.Drawing.6">
                  <p:embed/>
                </p:oleObj>
              </mc:Choice>
              <mc:Fallback>
                <p:oleObj name="Visio" r:id="rId14" imgW="592455" imgH="510032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41663" y="3289448"/>
                        <a:ext cx="155575" cy="150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chemeClr val="accent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4" name="Object 33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12494338"/>
              </p:ext>
            </p:extLst>
          </p:nvPr>
        </p:nvGraphicFramePr>
        <p:xfrm>
          <a:off x="2998788" y="3191023"/>
          <a:ext cx="155575" cy="150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15" imgW="592455" imgH="510032" progId="Visio.Drawing.6">
                  <p:embed/>
                </p:oleObj>
              </mc:Choice>
              <mc:Fallback>
                <p:oleObj name="Visio" r:id="rId15" imgW="592455" imgH="510032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98788" y="3191023"/>
                        <a:ext cx="155575" cy="150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chemeClr val="accent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5" name="Rectangle 339"/>
          <p:cNvSpPr>
            <a:spLocks noChangeArrowheads="1"/>
          </p:cNvSpPr>
          <p:nvPr/>
        </p:nvSpPr>
        <p:spPr bwMode="auto">
          <a:xfrm>
            <a:off x="2944813" y="3164036"/>
            <a:ext cx="682625" cy="325438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noAutofit/>
          </a:bodyPr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06" name="Freeform 340"/>
          <p:cNvSpPr>
            <a:spLocks/>
          </p:cNvSpPr>
          <p:nvPr/>
        </p:nvSpPr>
        <p:spPr bwMode="auto">
          <a:xfrm>
            <a:off x="3657601" y="3332311"/>
            <a:ext cx="4043363" cy="749300"/>
          </a:xfrm>
          <a:custGeom>
            <a:avLst/>
            <a:gdLst>
              <a:gd name="T0" fmla="*/ 0 w 2640"/>
              <a:gd name="T1" fmla="*/ 0 h 528"/>
              <a:gd name="T2" fmla="*/ 192 w 2640"/>
              <a:gd name="T3" fmla="*/ 0 h 528"/>
              <a:gd name="T4" fmla="*/ 192 w 2640"/>
              <a:gd name="T5" fmla="*/ 528 h 528"/>
              <a:gd name="T6" fmla="*/ 2640 w 2640"/>
              <a:gd name="T7" fmla="*/ 528 h 5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640" h="528">
                <a:moveTo>
                  <a:pt x="0" y="0"/>
                </a:moveTo>
                <a:lnTo>
                  <a:pt x="192" y="0"/>
                </a:lnTo>
                <a:lnTo>
                  <a:pt x="192" y="528"/>
                </a:lnTo>
                <a:lnTo>
                  <a:pt x="2640" y="528"/>
                </a:lnTo>
              </a:path>
            </a:pathLst>
          </a:custGeom>
          <a:noFill/>
          <a:ln w="9525" cap="flat" cmpd="sng">
            <a:solidFill>
              <a:srgbClr val="FF9900"/>
            </a:solidFill>
            <a:prstDash val="solid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noAutofit/>
          </a:bodyPr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07" name="Rectangle 341"/>
          <p:cNvSpPr>
            <a:spLocks noChangeArrowheads="1"/>
          </p:cNvSpPr>
          <p:nvPr/>
        </p:nvSpPr>
        <p:spPr bwMode="auto">
          <a:xfrm>
            <a:off x="2944813" y="3595836"/>
            <a:ext cx="682625" cy="1184275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noAutofit/>
          </a:bodyPr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08" name="Freeform 342"/>
          <p:cNvSpPr>
            <a:spLocks/>
          </p:cNvSpPr>
          <p:nvPr/>
        </p:nvSpPr>
        <p:spPr bwMode="auto">
          <a:xfrm>
            <a:off x="3657601" y="4257823"/>
            <a:ext cx="3913188" cy="1284288"/>
          </a:xfrm>
          <a:custGeom>
            <a:avLst/>
            <a:gdLst>
              <a:gd name="T0" fmla="*/ 0 w 2640"/>
              <a:gd name="T1" fmla="*/ 0 h 528"/>
              <a:gd name="T2" fmla="*/ 192 w 2640"/>
              <a:gd name="T3" fmla="*/ 0 h 528"/>
              <a:gd name="T4" fmla="*/ 192 w 2640"/>
              <a:gd name="T5" fmla="*/ 528 h 528"/>
              <a:gd name="T6" fmla="*/ 2640 w 2640"/>
              <a:gd name="T7" fmla="*/ 528 h 5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640" h="528">
                <a:moveTo>
                  <a:pt x="0" y="0"/>
                </a:moveTo>
                <a:lnTo>
                  <a:pt x="192" y="0"/>
                </a:lnTo>
                <a:lnTo>
                  <a:pt x="192" y="528"/>
                </a:lnTo>
                <a:lnTo>
                  <a:pt x="2640" y="528"/>
                </a:lnTo>
              </a:path>
            </a:pathLst>
          </a:custGeom>
          <a:noFill/>
          <a:ln w="9525" cap="flat" cmpd="sng">
            <a:solidFill>
              <a:srgbClr val="FF9900"/>
            </a:solidFill>
            <a:prstDash val="solid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noAutofit/>
          </a:bodyPr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509" name="Object 34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13033678"/>
              </p:ext>
            </p:extLst>
          </p:nvPr>
        </p:nvGraphicFramePr>
        <p:xfrm>
          <a:off x="2998788" y="5324623"/>
          <a:ext cx="155575" cy="150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16" imgW="592455" imgH="510032" progId="Visio.Drawing.6">
                  <p:embed/>
                </p:oleObj>
              </mc:Choice>
              <mc:Fallback>
                <p:oleObj name="Visio" r:id="rId16" imgW="592455" imgH="510032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98788" y="5324623"/>
                        <a:ext cx="155575" cy="150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chemeClr val="accent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0" name="Object 34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67577639"/>
              </p:ext>
            </p:extLst>
          </p:nvPr>
        </p:nvGraphicFramePr>
        <p:xfrm>
          <a:off x="3227388" y="5477023"/>
          <a:ext cx="155575" cy="150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17" imgW="592455" imgH="510032" progId="Visio.Drawing.6">
                  <p:embed/>
                </p:oleObj>
              </mc:Choice>
              <mc:Fallback>
                <p:oleObj name="Visio" r:id="rId17" imgW="592455" imgH="510032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27388" y="5477023"/>
                        <a:ext cx="155575" cy="150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chemeClr val="accent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1" name="Rectangle 345"/>
          <p:cNvSpPr>
            <a:spLocks noChangeArrowheads="1"/>
          </p:cNvSpPr>
          <p:nvPr/>
        </p:nvSpPr>
        <p:spPr bwMode="auto">
          <a:xfrm>
            <a:off x="2944813" y="5019823"/>
            <a:ext cx="682625" cy="658813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noAutofit/>
          </a:bodyPr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12" name="Freeform 346"/>
          <p:cNvSpPr>
            <a:spLocks/>
          </p:cNvSpPr>
          <p:nvPr/>
        </p:nvSpPr>
        <p:spPr bwMode="auto">
          <a:xfrm>
            <a:off x="3657601" y="5592911"/>
            <a:ext cx="3913188" cy="573088"/>
          </a:xfrm>
          <a:custGeom>
            <a:avLst/>
            <a:gdLst>
              <a:gd name="T0" fmla="*/ 0 w 2640"/>
              <a:gd name="T1" fmla="*/ 0 h 528"/>
              <a:gd name="T2" fmla="*/ 192 w 2640"/>
              <a:gd name="T3" fmla="*/ 0 h 528"/>
              <a:gd name="T4" fmla="*/ 192 w 2640"/>
              <a:gd name="T5" fmla="*/ 528 h 528"/>
              <a:gd name="T6" fmla="*/ 2640 w 2640"/>
              <a:gd name="T7" fmla="*/ 528 h 5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640" h="528">
                <a:moveTo>
                  <a:pt x="0" y="0"/>
                </a:moveTo>
                <a:lnTo>
                  <a:pt x="192" y="0"/>
                </a:lnTo>
                <a:lnTo>
                  <a:pt x="192" y="528"/>
                </a:lnTo>
                <a:lnTo>
                  <a:pt x="2640" y="528"/>
                </a:lnTo>
              </a:path>
            </a:pathLst>
          </a:custGeom>
          <a:noFill/>
          <a:ln w="9525" cap="flat" cmpd="sng">
            <a:solidFill>
              <a:srgbClr val="FF9900"/>
            </a:solidFill>
            <a:prstDash val="solid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noAutofit/>
          </a:bodyPr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38" name="Rectangle 324"/>
          <p:cNvSpPr>
            <a:spLocks noChangeArrowheads="1"/>
          </p:cNvSpPr>
          <p:nvPr/>
        </p:nvSpPr>
        <p:spPr bwMode="auto">
          <a:xfrm>
            <a:off x="7445376" y="5924508"/>
            <a:ext cx="481921" cy="504457"/>
          </a:xfrm>
          <a:prstGeom prst="rect">
            <a:avLst/>
          </a:prstGeom>
          <a:solidFill>
            <a:srgbClr val="FF9900">
              <a:alpha val="68000"/>
            </a:srgbClr>
          </a:solidFill>
          <a:ln w="9525" algn="ctr">
            <a:solidFill>
              <a:schemeClr val="accent2"/>
            </a:solidFill>
            <a:miter lim="800000"/>
            <a:headEnd/>
            <a:tailEnd/>
          </a:ln>
          <a:effectLst/>
        </p:spPr>
        <p:txBody>
          <a:bodyPr wrap="none" anchor="ctr">
            <a:noAutofit/>
          </a:bodyPr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98" name="Line 332"/>
          <p:cNvSpPr>
            <a:spLocks noChangeShapeType="1"/>
          </p:cNvSpPr>
          <p:nvPr/>
        </p:nvSpPr>
        <p:spPr bwMode="auto">
          <a:xfrm>
            <a:off x="7668875" y="5770116"/>
            <a:ext cx="10201" cy="18871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noAutofit/>
          </a:bodyPr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2646465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44017" y="91339"/>
            <a:ext cx="7401271" cy="385333"/>
          </a:xfrm>
          <a:prstGeom prst="rect">
            <a:avLst/>
          </a:prstGeom>
          <a:noFill/>
        </p:spPr>
        <p:txBody>
          <a:bodyPr wrap="square" lIns="0" tIns="53643" rIns="0" bIns="53643" rtlCol="0">
            <a:spAutoFit/>
          </a:bodyPr>
          <a:lstStyle/>
          <a:p>
            <a:r>
              <a:rPr kumimoji="1" lang="en-US" altLang="ko-KR" b="1" kern="0" dirty="0">
                <a:latin typeface="나눔고딕" panose="020D0604000000000000" pitchFamily="50" charset="-127"/>
                <a:ea typeface="나눔고딕" panose="020D0604000000000000" pitchFamily="50" charset="-127"/>
                <a:cs typeface="산돌고딕 M"/>
              </a:rPr>
              <a:t>User Interface Design</a:t>
            </a:r>
            <a:endParaRPr kumimoji="1" lang="ko-KR" altLang="en-US" b="1" kern="0" dirty="0">
              <a:latin typeface="나눔고딕" panose="020D0604000000000000" pitchFamily="50" charset="-127"/>
              <a:ea typeface="나눔고딕" panose="020D0604000000000000" pitchFamily="50" charset="-127"/>
              <a:cs typeface="산돌고딕 M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44017" y="683985"/>
            <a:ext cx="96335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U.I / U.X Design Case</a:t>
            </a:r>
          </a:p>
        </p:txBody>
      </p:sp>
      <p:sp>
        <p:nvSpPr>
          <p:cNvPr id="34" name="직사각형 33"/>
          <p:cNvSpPr/>
          <p:nvPr/>
        </p:nvSpPr>
        <p:spPr>
          <a:xfrm>
            <a:off x="632520" y="1628800"/>
            <a:ext cx="5832648" cy="36004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r>
              <a:rPr lang="en-US" altLang="ko-KR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Step 6. Layer system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88504" y="991762"/>
            <a:ext cx="8928992" cy="307777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정리된 고객의 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Flow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와 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interface 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요소를 전체 사이트 구조에 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mapping 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시킵니다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</p:txBody>
      </p:sp>
      <p:grpSp>
        <p:nvGrpSpPr>
          <p:cNvPr id="338" name="Group 7"/>
          <p:cNvGrpSpPr>
            <a:grpSpLocks/>
          </p:cNvGrpSpPr>
          <p:nvPr/>
        </p:nvGrpSpPr>
        <p:grpSpPr bwMode="auto">
          <a:xfrm>
            <a:off x="344935" y="2870473"/>
            <a:ext cx="2667000" cy="2057400"/>
            <a:chOff x="2880" y="1556"/>
            <a:chExt cx="3360" cy="2592"/>
          </a:xfrm>
        </p:grpSpPr>
        <p:grpSp>
          <p:nvGrpSpPr>
            <p:cNvPr id="339" name="Group 8"/>
            <p:cNvGrpSpPr>
              <a:grpSpLocks/>
            </p:cNvGrpSpPr>
            <p:nvPr/>
          </p:nvGrpSpPr>
          <p:grpSpPr bwMode="auto">
            <a:xfrm>
              <a:off x="2880" y="1556"/>
              <a:ext cx="3243" cy="2592"/>
              <a:chOff x="2928" y="1563"/>
              <a:chExt cx="3243" cy="2592"/>
            </a:xfrm>
          </p:grpSpPr>
          <p:grpSp>
            <p:nvGrpSpPr>
              <p:cNvPr id="348" name="Group 9"/>
              <p:cNvGrpSpPr>
                <a:grpSpLocks/>
              </p:cNvGrpSpPr>
              <p:nvPr/>
            </p:nvGrpSpPr>
            <p:grpSpPr bwMode="auto">
              <a:xfrm>
                <a:off x="4760" y="1632"/>
                <a:ext cx="297" cy="310"/>
                <a:chOff x="4224" y="2688"/>
                <a:chExt cx="384" cy="432"/>
              </a:xfrm>
            </p:grpSpPr>
            <p:sp>
              <p:nvSpPr>
                <p:cNvPr id="908" name="Rectangle 10"/>
                <p:cNvSpPr>
                  <a:spLocks noChangeArrowheads="1"/>
                </p:cNvSpPr>
                <p:nvPr/>
              </p:nvSpPr>
              <p:spPr bwMode="auto">
                <a:xfrm>
                  <a:off x="4224" y="2688"/>
                  <a:ext cx="384" cy="336"/>
                </a:xfrm>
                <a:prstGeom prst="rect">
                  <a:avLst/>
                </a:prstGeom>
                <a:solidFill>
                  <a:srgbClr val="FFFFFF"/>
                </a:solidFill>
                <a:ln w="9525" algn="ctr">
                  <a:solidFill>
                    <a:schemeClr val="accent2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noAutofit/>
                </a:bodyPr>
                <a:lstStyle/>
                <a:p>
                  <a:endParaRPr lang="ko-KR" altLang="en-US">
                    <a:latin typeface="나눔고딕" panose="020D0604000000000000" pitchFamily="50" charset="-127"/>
                    <a:ea typeface="나눔고딕" panose="020D0604000000000000" pitchFamily="50" charset="-127"/>
                  </a:endParaRPr>
                </a:p>
              </p:txBody>
            </p:sp>
            <p:sp>
              <p:nvSpPr>
                <p:cNvPr id="909" name="Rectangle 11"/>
                <p:cNvSpPr>
                  <a:spLocks noChangeArrowheads="1"/>
                </p:cNvSpPr>
                <p:nvPr/>
              </p:nvSpPr>
              <p:spPr bwMode="auto">
                <a:xfrm>
                  <a:off x="4224" y="3024"/>
                  <a:ext cx="384" cy="96"/>
                </a:xfrm>
                <a:prstGeom prst="rect">
                  <a:avLst/>
                </a:prstGeom>
                <a:solidFill>
                  <a:srgbClr val="FFFFFF"/>
                </a:solidFill>
                <a:ln w="9525" algn="ctr">
                  <a:solidFill>
                    <a:schemeClr val="accent2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>
                  <a:noAutofit/>
                </a:bodyPr>
                <a:lstStyle/>
                <a:p>
                  <a:endParaRPr lang="ko-KR" altLang="en-US">
                    <a:latin typeface="나눔고딕" panose="020D0604000000000000" pitchFamily="50" charset="-127"/>
                    <a:ea typeface="나눔고딕" panose="020D0604000000000000" pitchFamily="50" charset="-127"/>
                  </a:endParaRPr>
                </a:p>
              </p:txBody>
            </p:sp>
          </p:grpSp>
          <p:grpSp>
            <p:nvGrpSpPr>
              <p:cNvPr id="349" name="Group 12"/>
              <p:cNvGrpSpPr>
                <a:grpSpLocks/>
              </p:cNvGrpSpPr>
              <p:nvPr/>
            </p:nvGrpSpPr>
            <p:grpSpPr bwMode="auto">
              <a:xfrm>
                <a:off x="5266" y="2105"/>
                <a:ext cx="299" cy="315"/>
                <a:chOff x="5088" y="2304"/>
                <a:chExt cx="339" cy="358"/>
              </a:xfrm>
            </p:grpSpPr>
            <p:grpSp>
              <p:nvGrpSpPr>
                <p:cNvPr id="901" name="Group 13"/>
                <p:cNvGrpSpPr>
                  <a:grpSpLocks/>
                </p:cNvGrpSpPr>
                <p:nvPr/>
              </p:nvGrpSpPr>
              <p:grpSpPr bwMode="auto">
                <a:xfrm>
                  <a:off x="5088" y="2307"/>
                  <a:ext cx="338" cy="350"/>
                  <a:chOff x="4224" y="2689"/>
                  <a:chExt cx="384" cy="428"/>
                </a:xfrm>
              </p:grpSpPr>
              <p:sp>
                <p:nvSpPr>
                  <p:cNvPr id="906" name="Rectangle 14"/>
                  <p:cNvSpPr>
                    <a:spLocks noChangeArrowheads="1"/>
                  </p:cNvSpPr>
                  <p:nvPr/>
                </p:nvSpPr>
                <p:spPr bwMode="auto">
                  <a:xfrm>
                    <a:off x="4224" y="2689"/>
                    <a:ext cx="384" cy="336"/>
                  </a:xfrm>
                  <a:prstGeom prst="rect">
                    <a:avLst/>
                  </a:prstGeom>
                  <a:solidFill>
                    <a:srgbClr val="FFFFFF"/>
                  </a:solidFill>
                  <a:ln w="9525" algn="ctr">
                    <a:solidFill>
                      <a:schemeClr val="accent2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>
                    <a:noAutofit/>
                  </a:bodyPr>
                  <a:lstStyle/>
                  <a:p>
                    <a:endParaRPr lang="ko-KR" altLang="en-US">
                      <a:latin typeface="나눔고딕" panose="020D0604000000000000" pitchFamily="50" charset="-127"/>
                      <a:ea typeface="나눔고딕" panose="020D0604000000000000" pitchFamily="50" charset="-127"/>
                    </a:endParaRPr>
                  </a:p>
                </p:txBody>
              </p:sp>
              <p:sp>
                <p:nvSpPr>
                  <p:cNvPr id="907" name="Rectangle 15"/>
                  <p:cNvSpPr>
                    <a:spLocks noChangeArrowheads="1"/>
                  </p:cNvSpPr>
                  <p:nvPr/>
                </p:nvSpPr>
                <p:spPr bwMode="auto">
                  <a:xfrm>
                    <a:off x="4224" y="3021"/>
                    <a:ext cx="384" cy="96"/>
                  </a:xfrm>
                  <a:prstGeom prst="rect">
                    <a:avLst/>
                  </a:prstGeom>
                  <a:solidFill>
                    <a:srgbClr val="FFFFFF"/>
                  </a:solidFill>
                  <a:ln w="9525" algn="ctr">
                    <a:solidFill>
                      <a:schemeClr val="accent2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anchor="ctr">
                    <a:noAutofit/>
                  </a:bodyPr>
                  <a:lstStyle/>
                  <a:p>
                    <a:endParaRPr lang="ko-KR" altLang="en-US">
                      <a:latin typeface="나눔고딕" panose="020D0604000000000000" pitchFamily="50" charset="-127"/>
                      <a:ea typeface="나눔고딕" panose="020D0604000000000000" pitchFamily="50" charset="-127"/>
                    </a:endParaRPr>
                  </a:p>
                </p:txBody>
              </p:sp>
            </p:grpSp>
            <p:sp>
              <p:nvSpPr>
                <p:cNvPr id="902" name="Rectangle 16"/>
                <p:cNvSpPr>
                  <a:spLocks noChangeArrowheads="1"/>
                </p:cNvSpPr>
                <p:nvPr/>
              </p:nvSpPr>
              <p:spPr bwMode="auto">
                <a:xfrm>
                  <a:off x="5088" y="2304"/>
                  <a:ext cx="336" cy="96"/>
                </a:xfrm>
                <a:prstGeom prst="rect">
                  <a:avLst/>
                </a:prstGeom>
                <a:solidFill>
                  <a:srgbClr val="FFFFFF"/>
                </a:solidFill>
                <a:ln w="9525" algn="ctr">
                  <a:solidFill>
                    <a:schemeClr val="accent2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noAutofit/>
                </a:bodyPr>
                <a:lstStyle/>
                <a:p>
                  <a:endParaRPr lang="ko-KR" altLang="en-US">
                    <a:latin typeface="나눔고딕" panose="020D0604000000000000" pitchFamily="50" charset="-127"/>
                    <a:ea typeface="나눔고딕" panose="020D0604000000000000" pitchFamily="50" charset="-127"/>
                  </a:endParaRPr>
                </a:p>
              </p:txBody>
            </p:sp>
            <p:sp>
              <p:nvSpPr>
                <p:cNvPr id="903" name="Rectangle 17"/>
                <p:cNvSpPr>
                  <a:spLocks noChangeArrowheads="1"/>
                </p:cNvSpPr>
                <p:nvPr/>
              </p:nvSpPr>
              <p:spPr bwMode="auto">
                <a:xfrm>
                  <a:off x="5088" y="2400"/>
                  <a:ext cx="76" cy="262"/>
                </a:xfrm>
                <a:prstGeom prst="rect">
                  <a:avLst/>
                </a:prstGeom>
                <a:solidFill>
                  <a:srgbClr val="FFFFFF"/>
                </a:solidFill>
                <a:ln w="9525" algn="ctr">
                  <a:solidFill>
                    <a:schemeClr val="accent2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>
                  <a:noAutofit/>
                </a:bodyPr>
                <a:lstStyle/>
                <a:p>
                  <a:endParaRPr lang="ko-KR" altLang="en-US">
                    <a:latin typeface="나눔고딕" panose="020D0604000000000000" pitchFamily="50" charset="-127"/>
                    <a:ea typeface="나눔고딕" panose="020D0604000000000000" pitchFamily="50" charset="-127"/>
                  </a:endParaRPr>
                </a:p>
              </p:txBody>
            </p:sp>
            <p:sp>
              <p:nvSpPr>
                <p:cNvPr id="904" name="Rectangle 18"/>
                <p:cNvSpPr>
                  <a:spLocks noChangeArrowheads="1"/>
                </p:cNvSpPr>
                <p:nvPr/>
              </p:nvSpPr>
              <p:spPr bwMode="auto">
                <a:xfrm>
                  <a:off x="5161" y="2400"/>
                  <a:ext cx="167" cy="262"/>
                </a:xfrm>
                <a:prstGeom prst="rect">
                  <a:avLst/>
                </a:prstGeom>
                <a:solidFill>
                  <a:srgbClr val="FFFFFF"/>
                </a:solidFill>
                <a:ln w="9525" algn="ctr">
                  <a:solidFill>
                    <a:schemeClr val="accent2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>
                  <a:noAutofit/>
                </a:bodyPr>
                <a:lstStyle/>
                <a:p>
                  <a:endParaRPr lang="ko-KR" altLang="en-US">
                    <a:latin typeface="나눔고딕" panose="020D0604000000000000" pitchFamily="50" charset="-127"/>
                    <a:ea typeface="나눔고딕" panose="020D0604000000000000" pitchFamily="50" charset="-127"/>
                  </a:endParaRPr>
                </a:p>
              </p:txBody>
            </p:sp>
            <p:sp>
              <p:nvSpPr>
                <p:cNvPr id="905" name="Rectangle 19"/>
                <p:cNvSpPr>
                  <a:spLocks noChangeArrowheads="1"/>
                </p:cNvSpPr>
                <p:nvPr/>
              </p:nvSpPr>
              <p:spPr bwMode="auto">
                <a:xfrm>
                  <a:off x="5328" y="2400"/>
                  <a:ext cx="99" cy="262"/>
                </a:xfrm>
                <a:prstGeom prst="rect">
                  <a:avLst/>
                </a:prstGeom>
                <a:solidFill>
                  <a:srgbClr val="FFFFFF"/>
                </a:solidFill>
                <a:ln w="9525" algn="ctr">
                  <a:solidFill>
                    <a:schemeClr val="accent2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>
                  <a:noAutofit/>
                </a:bodyPr>
                <a:lstStyle/>
                <a:p>
                  <a:endParaRPr lang="ko-KR" altLang="en-US">
                    <a:latin typeface="나눔고딕" panose="020D0604000000000000" pitchFamily="50" charset="-127"/>
                    <a:ea typeface="나눔고딕" panose="020D0604000000000000" pitchFamily="50" charset="-127"/>
                  </a:endParaRPr>
                </a:p>
              </p:txBody>
            </p:sp>
          </p:grpSp>
          <p:grpSp>
            <p:nvGrpSpPr>
              <p:cNvPr id="350" name="Group 20"/>
              <p:cNvGrpSpPr>
                <a:grpSpLocks/>
              </p:cNvGrpSpPr>
              <p:nvPr/>
            </p:nvGrpSpPr>
            <p:grpSpPr bwMode="auto">
              <a:xfrm>
                <a:off x="5564" y="2523"/>
                <a:ext cx="298" cy="315"/>
                <a:chOff x="5088" y="2304"/>
                <a:chExt cx="339" cy="358"/>
              </a:xfrm>
            </p:grpSpPr>
            <p:grpSp>
              <p:nvGrpSpPr>
                <p:cNvPr id="894" name="Group 21"/>
                <p:cNvGrpSpPr>
                  <a:grpSpLocks/>
                </p:cNvGrpSpPr>
                <p:nvPr/>
              </p:nvGrpSpPr>
              <p:grpSpPr bwMode="auto">
                <a:xfrm>
                  <a:off x="5088" y="2307"/>
                  <a:ext cx="338" cy="350"/>
                  <a:chOff x="4224" y="2689"/>
                  <a:chExt cx="384" cy="428"/>
                </a:xfrm>
              </p:grpSpPr>
              <p:sp>
                <p:nvSpPr>
                  <p:cNvPr id="899" name="Rectangle 22"/>
                  <p:cNvSpPr>
                    <a:spLocks noChangeArrowheads="1"/>
                  </p:cNvSpPr>
                  <p:nvPr/>
                </p:nvSpPr>
                <p:spPr bwMode="auto">
                  <a:xfrm>
                    <a:off x="4224" y="2689"/>
                    <a:ext cx="384" cy="336"/>
                  </a:xfrm>
                  <a:prstGeom prst="rect">
                    <a:avLst/>
                  </a:prstGeom>
                  <a:solidFill>
                    <a:srgbClr val="FFFFFF"/>
                  </a:solidFill>
                  <a:ln w="9525" algn="ctr">
                    <a:solidFill>
                      <a:schemeClr val="accent2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>
                    <a:noAutofit/>
                  </a:bodyPr>
                  <a:lstStyle/>
                  <a:p>
                    <a:endParaRPr lang="ko-KR" altLang="en-US">
                      <a:latin typeface="나눔고딕" panose="020D0604000000000000" pitchFamily="50" charset="-127"/>
                      <a:ea typeface="나눔고딕" panose="020D0604000000000000" pitchFamily="50" charset="-127"/>
                    </a:endParaRPr>
                  </a:p>
                </p:txBody>
              </p:sp>
              <p:sp>
                <p:nvSpPr>
                  <p:cNvPr id="900" name="Rectangle 23"/>
                  <p:cNvSpPr>
                    <a:spLocks noChangeArrowheads="1"/>
                  </p:cNvSpPr>
                  <p:nvPr/>
                </p:nvSpPr>
                <p:spPr bwMode="auto">
                  <a:xfrm>
                    <a:off x="4224" y="3021"/>
                    <a:ext cx="384" cy="96"/>
                  </a:xfrm>
                  <a:prstGeom prst="rect">
                    <a:avLst/>
                  </a:prstGeom>
                  <a:solidFill>
                    <a:srgbClr val="FFFFFF"/>
                  </a:solidFill>
                  <a:ln w="9525" algn="ctr">
                    <a:solidFill>
                      <a:schemeClr val="accent2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anchor="ctr">
                    <a:noAutofit/>
                  </a:bodyPr>
                  <a:lstStyle/>
                  <a:p>
                    <a:endParaRPr lang="ko-KR" altLang="en-US">
                      <a:latin typeface="나눔고딕" panose="020D0604000000000000" pitchFamily="50" charset="-127"/>
                      <a:ea typeface="나눔고딕" panose="020D0604000000000000" pitchFamily="50" charset="-127"/>
                    </a:endParaRPr>
                  </a:p>
                </p:txBody>
              </p:sp>
            </p:grpSp>
            <p:sp>
              <p:nvSpPr>
                <p:cNvPr id="895" name="Rectangle 24"/>
                <p:cNvSpPr>
                  <a:spLocks noChangeArrowheads="1"/>
                </p:cNvSpPr>
                <p:nvPr/>
              </p:nvSpPr>
              <p:spPr bwMode="auto">
                <a:xfrm>
                  <a:off x="5088" y="2304"/>
                  <a:ext cx="336" cy="96"/>
                </a:xfrm>
                <a:prstGeom prst="rect">
                  <a:avLst/>
                </a:prstGeom>
                <a:solidFill>
                  <a:srgbClr val="FFFFFF"/>
                </a:solidFill>
                <a:ln w="9525" algn="ctr">
                  <a:solidFill>
                    <a:schemeClr val="accent2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noAutofit/>
                </a:bodyPr>
                <a:lstStyle/>
                <a:p>
                  <a:endParaRPr lang="ko-KR" altLang="en-US">
                    <a:latin typeface="나눔고딕" panose="020D0604000000000000" pitchFamily="50" charset="-127"/>
                    <a:ea typeface="나눔고딕" panose="020D0604000000000000" pitchFamily="50" charset="-127"/>
                  </a:endParaRPr>
                </a:p>
              </p:txBody>
            </p:sp>
            <p:sp>
              <p:nvSpPr>
                <p:cNvPr id="896" name="Rectangle 25"/>
                <p:cNvSpPr>
                  <a:spLocks noChangeArrowheads="1"/>
                </p:cNvSpPr>
                <p:nvPr/>
              </p:nvSpPr>
              <p:spPr bwMode="auto">
                <a:xfrm>
                  <a:off x="5088" y="2400"/>
                  <a:ext cx="76" cy="262"/>
                </a:xfrm>
                <a:prstGeom prst="rect">
                  <a:avLst/>
                </a:prstGeom>
                <a:solidFill>
                  <a:srgbClr val="FFFFFF"/>
                </a:solidFill>
                <a:ln w="9525" algn="ctr">
                  <a:solidFill>
                    <a:schemeClr val="accent2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>
                  <a:noAutofit/>
                </a:bodyPr>
                <a:lstStyle/>
                <a:p>
                  <a:endParaRPr lang="ko-KR" altLang="en-US">
                    <a:latin typeface="나눔고딕" panose="020D0604000000000000" pitchFamily="50" charset="-127"/>
                    <a:ea typeface="나눔고딕" panose="020D0604000000000000" pitchFamily="50" charset="-127"/>
                  </a:endParaRPr>
                </a:p>
              </p:txBody>
            </p:sp>
            <p:sp>
              <p:nvSpPr>
                <p:cNvPr id="897" name="Rectangle 26"/>
                <p:cNvSpPr>
                  <a:spLocks noChangeArrowheads="1"/>
                </p:cNvSpPr>
                <p:nvPr/>
              </p:nvSpPr>
              <p:spPr bwMode="auto">
                <a:xfrm>
                  <a:off x="5161" y="2400"/>
                  <a:ext cx="167" cy="262"/>
                </a:xfrm>
                <a:prstGeom prst="rect">
                  <a:avLst/>
                </a:prstGeom>
                <a:solidFill>
                  <a:srgbClr val="FFFFFF"/>
                </a:solidFill>
                <a:ln w="9525" algn="ctr">
                  <a:solidFill>
                    <a:schemeClr val="accent2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>
                  <a:noAutofit/>
                </a:bodyPr>
                <a:lstStyle/>
                <a:p>
                  <a:endParaRPr lang="ko-KR" altLang="en-US">
                    <a:latin typeface="나눔고딕" panose="020D0604000000000000" pitchFamily="50" charset="-127"/>
                    <a:ea typeface="나눔고딕" panose="020D0604000000000000" pitchFamily="50" charset="-127"/>
                  </a:endParaRPr>
                </a:p>
              </p:txBody>
            </p:sp>
            <p:sp>
              <p:nvSpPr>
                <p:cNvPr id="898" name="Rectangle 27"/>
                <p:cNvSpPr>
                  <a:spLocks noChangeArrowheads="1"/>
                </p:cNvSpPr>
                <p:nvPr/>
              </p:nvSpPr>
              <p:spPr bwMode="auto">
                <a:xfrm>
                  <a:off x="5328" y="2400"/>
                  <a:ext cx="99" cy="262"/>
                </a:xfrm>
                <a:prstGeom prst="rect">
                  <a:avLst/>
                </a:prstGeom>
                <a:solidFill>
                  <a:srgbClr val="FFFFFF"/>
                </a:solidFill>
                <a:ln w="9525" algn="ctr">
                  <a:solidFill>
                    <a:schemeClr val="accent2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>
                  <a:noAutofit/>
                </a:bodyPr>
                <a:lstStyle/>
                <a:p>
                  <a:endParaRPr lang="ko-KR" altLang="en-US">
                    <a:latin typeface="나눔고딕" panose="020D0604000000000000" pitchFamily="50" charset="-127"/>
                    <a:ea typeface="나눔고딕" panose="020D0604000000000000" pitchFamily="50" charset="-127"/>
                  </a:endParaRPr>
                </a:p>
              </p:txBody>
            </p:sp>
          </p:grpSp>
          <p:grpSp>
            <p:nvGrpSpPr>
              <p:cNvPr id="351" name="Group 28"/>
              <p:cNvGrpSpPr>
                <a:grpSpLocks/>
              </p:cNvGrpSpPr>
              <p:nvPr/>
            </p:nvGrpSpPr>
            <p:grpSpPr bwMode="auto">
              <a:xfrm>
                <a:off x="5127" y="2535"/>
                <a:ext cx="298" cy="315"/>
                <a:chOff x="5088" y="2304"/>
                <a:chExt cx="339" cy="358"/>
              </a:xfrm>
            </p:grpSpPr>
            <p:grpSp>
              <p:nvGrpSpPr>
                <p:cNvPr id="887" name="Group 29"/>
                <p:cNvGrpSpPr>
                  <a:grpSpLocks/>
                </p:cNvGrpSpPr>
                <p:nvPr/>
              </p:nvGrpSpPr>
              <p:grpSpPr bwMode="auto">
                <a:xfrm>
                  <a:off x="5088" y="2307"/>
                  <a:ext cx="338" cy="350"/>
                  <a:chOff x="4224" y="2689"/>
                  <a:chExt cx="384" cy="428"/>
                </a:xfrm>
              </p:grpSpPr>
              <p:sp>
                <p:nvSpPr>
                  <p:cNvPr id="892" name="Rectangle 30"/>
                  <p:cNvSpPr>
                    <a:spLocks noChangeArrowheads="1"/>
                  </p:cNvSpPr>
                  <p:nvPr/>
                </p:nvSpPr>
                <p:spPr bwMode="auto">
                  <a:xfrm>
                    <a:off x="4224" y="2689"/>
                    <a:ext cx="384" cy="336"/>
                  </a:xfrm>
                  <a:prstGeom prst="rect">
                    <a:avLst/>
                  </a:prstGeom>
                  <a:solidFill>
                    <a:srgbClr val="FFFFFF"/>
                  </a:solidFill>
                  <a:ln w="9525" algn="ctr">
                    <a:solidFill>
                      <a:schemeClr val="accent2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>
                    <a:noAutofit/>
                  </a:bodyPr>
                  <a:lstStyle/>
                  <a:p>
                    <a:endParaRPr lang="ko-KR" altLang="en-US">
                      <a:latin typeface="나눔고딕" panose="020D0604000000000000" pitchFamily="50" charset="-127"/>
                      <a:ea typeface="나눔고딕" panose="020D0604000000000000" pitchFamily="50" charset="-127"/>
                    </a:endParaRPr>
                  </a:p>
                </p:txBody>
              </p:sp>
              <p:sp>
                <p:nvSpPr>
                  <p:cNvPr id="893" name="Rectangle 31"/>
                  <p:cNvSpPr>
                    <a:spLocks noChangeArrowheads="1"/>
                  </p:cNvSpPr>
                  <p:nvPr/>
                </p:nvSpPr>
                <p:spPr bwMode="auto">
                  <a:xfrm>
                    <a:off x="4224" y="3021"/>
                    <a:ext cx="384" cy="96"/>
                  </a:xfrm>
                  <a:prstGeom prst="rect">
                    <a:avLst/>
                  </a:prstGeom>
                  <a:solidFill>
                    <a:srgbClr val="FFFFFF"/>
                  </a:solidFill>
                  <a:ln w="9525" algn="ctr">
                    <a:solidFill>
                      <a:schemeClr val="accent2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anchor="ctr">
                    <a:noAutofit/>
                  </a:bodyPr>
                  <a:lstStyle/>
                  <a:p>
                    <a:endParaRPr lang="ko-KR" altLang="en-US">
                      <a:latin typeface="나눔고딕" panose="020D0604000000000000" pitchFamily="50" charset="-127"/>
                      <a:ea typeface="나눔고딕" panose="020D0604000000000000" pitchFamily="50" charset="-127"/>
                    </a:endParaRPr>
                  </a:p>
                </p:txBody>
              </p:sp>
            </p:grpSp>
            <p:sp>
              <p:nvSpPr>
                <p:cNvPr id="888" name="Rectangle 32"/>
                <p:cNvSpPr>
                  <a:spLocks noChangeArrowheads="1"/>
                </p:cNvSpPr>
                <p:nvPr/>
              </p:nvSpPr>
              <p:spPr bwMode="auto">
                <a:xfrm>
                  <a:off x="5088" y="2304"/>
                  <a:ext cx="336" cy="96"/>
                </a:xfrm>
                <a:prstGeom prst="rect">
                  <a:avLst/>
                </a:prstGeom>
                <a:solidFill>
                  <a:srgbClr val="FFFFFF"/>
                </a:solidFill>
                <a:ln w="9525" algn="ctr">
                  <a:solidFill>
                    <a:schemeClr val="accent2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noAutofit/>
                </a:bodyPr>
                <a:lstStyle/>
                <a:p>
                  <a:endParaRPr lang="ko-KR" altLang="en-US">
                    <a:latin typeface="나눔고딕" panose="020D0604000000000000" pitchFamily="50" charset="-127"/>
                    <a:ea typeface="나눔고딕" panose="020D0604000000000000" pitchFamily="50" charset="-127"/>
                  </a:endParaRPr>
                </a:p>
              </p:txBody>
            </p:sp>
            <p:sp>
              <p:nvSpPr>
                <p:cNvPr id="889" name="Rectangle 33"/>
                <p:cNvSpPr>
                  <a:spLocks noChangeArrowheads="1"/>
                </p:cNvSpPr>
                <p:nvPr/>
              </p:nvSpPr>
              <p:spPr bwMode="auto">
                <a:xfrm>
                  <a:off x="5088" y="2400"/>
                  <a:ext cx="76" cy="262"/>
                </a:xfrm>
                <a:prstGeom prst="rect">
                  <a:avLst/>
                </a:prstGeom>
                <a:solidFill>
                  <a:srgbClr val="FFFFFF"/>
                </a:solidFill>
                <a:ln w="9525" algn="ctr">
                  <a:solidFill>
                    <a:schemeClr val="accent2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>
                  <a:noAutofit/>
                </a:bodyPr>
                <a:lstStyle/>
                <a:p>
                  <a:endParaRPr lang="ko-KR" altLang="en-US">
                    <a:latin typeface="나눔고딕" panose="020D0604000000000000" pitchFamily="50" charset="-127"/>
                    <a:ea typeface="나눔고딕" panose="020D0604000000000000" pitchFamily="50" charset="-127"/>
                  </a:endParaRPr>
                </a:p>
              </p:txBody>
            </p:sp>
            <p:sp>
              <p:nvSpPr>
                <p:cNvPr id="890" name="Rectangle 34"/>
                <p:cNvSpPr>
                  <a:spLocks noChangeArrowheads="1"/>
                </p:cNvSpPr>
                <p:nvPr/>
              </p:nvSpPr>
              <p:spPr bwMode="auto">
                <a:xfrm>
                  <a:off x="5161" y="2400"/>
                  <a:ext cx="167" cy="262"/>
                </a:xfrm>
                <a:prstGeom prst="rect">
                  <a:avLst/>
                </a:prstGeom>
                <a:solidFill>
                  <a:srgbClr val="FFFFFF"/>
                </a:solidFill>
                <a:ln w="9525" algn="ctr">
                  <a:solidFill>
                    <a:schemeClr val="accent2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>
                  <a:noAutofit/>
                </a:bodyPr>
                <a:lstStyle/>
                <a:p>
                  <a:endParaRPr lang="ko-KR" altLang="en-US">
                    <a:latin typeface="나눔고딕" panose="020D0604000000000000" pitchFamily="50" charset="-127"/>
                    <a:ea typeface="나눔고딕" panose="020D0604000000000000" pitchFamily="50" charset="-127"/>
                  </a:endParaRPr>
                </a:p>
              </p:txBody>
            </p:sp>
            <p:sp>
              <p:nvSpPr>
                <p:cNvPr id="891" name="Rectangle 35"/>
                <p:cNvSpPr>
                  <a:spLocks noChangeArrowheads="1"/>
                </p:cNvSpPr>
                <p:nvPr/>
              </p:nvSpPr>
              <p:spPr bwMode="auto">
                <a:xfrm>
                  <a:off x="5328" y="2400"/>
                  <a:ext cx="99" cy="262"/>
                </a:xfrm>
                <a:prstGeom prst="rect">
                  <a:avLst/>
                </a:prstGeom>
                <a:solidFill>
                  <a:srgbClr val="FFFFFF"/>
                </a:solidFill>
                <a:ln w="9525" algn="ctr">
                  <a:solidFill>
                    <a:schemeClr val="accent2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>
                  <a:noAutofit/>
                </a:bodyPr>
                <a:lstStyle/>
                <a:p>
                  <a:endParaRPr lang="ko-KR" altLang="en-US">
                    <a:latin typeface="나눔고딕" panose="020D0604000000000000" pitchFamily="50" charset="-127"/>
                    <a:ea typeface="나눔고딕" panose="020D0604000000000000" pitchFamily="50" charset="-127"/>
                  </a:endParaRPr>
                </a:p>
              </p:txBody>
            </p:sp>
          </p:grpSp>
          <p:grpSp>
            <p:nvGrpSpPr>
              <p:cNvPr id="352" name="Group 36"/>
              <p:cNvGrpSpPr>
                <a:grpSpLocks/>
              </p:cNvGrpSpPr>
              <p:nvPr/>
            </p:nvGrpSpPr>
            <p:grpSpPr bwMode="auto">
              <a:xfrm>
                <a:off x="4317" y="2105"/>
                <a:ext cx="298" cy="315"/>
                <a:chOff x="5088" y="2304"/>
                <a:chExt cx="339" cy="358"/>
              </a:xfrm>
            </p:grpSpPr>
            <p:grpSp>
              <p:nvGrpSpPr>
                <p:cNvPr id="880" name="Group 37"/>
                <p:cNvGrpSpPr>
                  <a:grpSpLocks/>
                </p:cNvGrpSpPr>
                <p:nvPr/>
              </p:nvGrpSpPr>
              <p:grpSpPr bwMode="auto">
                <a:xfrm>
                  <a:off x="5088" y="2307"/>
                  <a:ext cx="338" cy="350"/>
                  <a:chOff x="4224" y="2689"/>
                  <a:chExt cx="384" cy="428"/>
                </a:xfrm>
              </p:grpSpPr>
              <p:sp>
                <p:nvSpPr>
                  <p:cNvPr id="885" name="Rectangle 38"/>
                  <p:cNvSpPr>
                    <a:spLocks noChangeArrowheads="1"/>
                  </p:cNvSpPr>
                  <p:nvPr/>
                </p:nvSpPr>
                <p:spPr bwMode="auto">
                  <a:xfrm>
                    <a:off x="4224" y="2689"/>
                    <a:ext cx="384" cy="336"/>
                  </a:xfrm>
                  <a:prstGeom prst="rect">
                    <a:avLst/>
                  </a:prstGeom>
                  <a:solidFill>
                    <a:srgbClr val="FFFFFF"/>
                  </a:solidFill>
                  <a:ln w="9525" algn="ctr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>
                    <a:noAutofit/>
                  </a:bodyPr>
                  <a:lstStyle/>
                  <a:p>
                    <a:endParaRPr lang="ko-KR" altLang="en-US">
                      <a:latin typeface="나눔고딕" panose="020D0604000000000000" pitchFamily="50" charset="-127"/>
                      <a:ea typeface="나눔고딕" panose="020D0604000000000000" pitchFamily="50" charset="-127"/>
                    </a:endParaRPr>
                  </a:p>
                </p:txBody>
              </p:sp>
              <p:sp>
                <p:nvSpPr>
                  <p:cNvPr id="886" name="Rectangle 39"/>
                  <p:cNvSpPr>
                    <a:spLocks noChangeArrowheads="1"/>
                  </p:cNvSpPr>
                  <p:nvPr/>
                </p:nvSpPr>
                <p:spPr bwMode="auto">
                  <a:xfrm>
                    <a:off x="4224" y="3021"/>
                    <a:ext cx="384" cy="96"/>
                  </a:xfrm>
                  <a:prstGeom prst="rect">
                    <a:avLst/>
                  </a:prstGeom>
                  <a:solidFill>
                    <a:srgbClr val="FFFFFF"/>
                  </a:solidFill>
                  <a:ln w="9525" algn="ctr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anchor="ctr">
                    <a:noAutofit/>
                  </a:bodyPr>
                  <a:lstStyle/>
                  <a:p>
                    <a:endParaRPr lang="ko-KR" altLang="en-US">
                      <a:latin typeface="나눔고딕" panose="020D0604000000000000" pitchFamily="50" charset="-127"/>
                      <a:ea typeface="나눔고딕" panose="020D0604000000000000" pitchFamily="50" charset="-127"/>
                    </a:endParaRPr>
                  </a:p>
                </p:txBody>
              </p:sp>
            </p:grpSp>
            <p:sp>
              <p:nvSpPr>
                <p:cNvPr id="881" name="Rectangle 40"/>
                <p:cNvSpPr>
                  <a:spLocks noChangeArrowheads="1"/>
                </p:cNvSpPr>
                <p:nvPr/>
              </p:nvSpPr>
              <p:spPr bwMode="auto">
                <a:xfrm>
                  <a:off x="5088" y="2304"/>
                  <a:ext cx="336" cy="96"/>
                </a:xfrm>
                <a:prstGeom prst="rect">
                  <a:avLst/>
                </a:prstGeom>
                <a:solidFill>
                  <a:srgbClr val="FFFFFF"/>
                </a:solidFill>
                <a:ln w="9525" algn="ctr">
                  <a:solidFill>
                    <a:srgbClr val="C0C0C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noAutofit/>
                </a:bodyPr>
                <a:lstStyle/>
                <a:p>
                  <a:endParaRPr lang="ko-KR" altLang="en-US">
                    <a:latin typeface="나눔고딕" panose="020D0604000000000000" pitchFamily="50" charset="-127"/>
                    <a:ea typeface="나눔고딕" panose="020D0604000000000000" pitchFamily="50" charset="-127"/>
                  </a:endParaRPr>
                </a:p>
              </p:txBody>
            </p:sp>
            <p:sp>
              <p:nvSpPr>
                <p:cNvPr id="882" name="Rectangle 41"/>
                <p:cNvSpPr>
                  <a:spLocks noChangeArrowheads="1"/>
                </p:cNvSpPr>
                <p:nvPr/>
              </p:nvSpPr>
              <p:spPr bwMode="auto">
                <a:xfrm>
                  <a:off x="5088" y="2400"/>
                  <a:ext cx="76" cy="262"/>
                </a:xfrm>
                <a:prstGeom prst="rect">
                  <a:avLst/>
                </a:prstGeom>
                <a:solidFill>
                  <a:srgbClr val="FFFFFF"/>
                </a:solidFill>
                <a:ln w="9525" algn="ctr">
                  <a:solidFill>
                    <a:srgbClr val="C0C0C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>
                  <a:noAutofit/>
                </a:bodyPr>
                <a:lstStyle/>
                <a:p>
                  <a:endParaRPr lang="ko-KR" altLang="en-US">
                    <a:latin typeface="나눔고딕" panose="020D0604000000000000" pitchFamily="50" charset="-127"/>
                    <a:ea typeface="나눔고딕" panose="020D0604000000000000" pitchFamily="50" charset="-127"/>
                  </a:endParaRPr>
                </a:p>
              </p:txBody>
            </p:sp>
            <p:sp>
              <p:nvSpPr>
                <p:cNvPr id="883" name="Rectangle 42"/>
                <p:cNvSpPr>
                  <a:spLocks noChangeArrowheads="1"/>
                </p:cNvSpPr>
                <p:nvPr/>
              </p:nvSpPr>
              <p:spPr bwMode="auto">
                <a:xfrm>
                  <a:off x="5161" y="2400"/>
                  <a:ext cx="167" cy="262"/>
                </a:xfrm>
                <a:prstGeom prst="rect">
                  <a:avLst/>
                </a:prstGeom>
                <a:solidFill>
                  <a:srgbClr val="FFFFFF"/>
                </a:solidFill>
                <a:ln w="9525" algn="ctr">
                  <a:solidFill>
                    <a:srgbClr val="C0C0C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>
                  <a:noAutofit/>
                </a:bodyPr>
                <a:lstStyle/>
                <a:p>
                  <a:endParaRPr lang="ko-KR" altLang="en-US">
                    <a:latin typeface="나눔고딕" panose="020D0604000000000000" pitchFamily="50" charset="-127"/>
                    <a:ea typeface="나눔고딕" panose="020D0604000000000000" pitchFamily="50" charset="-127"/>
                  </a:endParaRPr>
                </a:p>
              </p:txBody>
            </p:sp>
            <p:sp>
              <p:nvSpPr>
                <p:cNvPr id="884" name="Rectangle 43"/>
                <p:cNvSpPr>
                  <a:spLocks noChangeArrowheads="1"/>
                </p:cNvSpPr>
                <p:nvPr/>
              </p:nvSpPr>
              <p:spPr bwMode="auto">
                <a:xfrm>
                  <a:off x="5328" y="2400"/>
                  <a:ext cx="99" cy="262"/>
                </a:xfrm>
                <a:prstGeom prst="rect">
                  <a:avLst/>
                </a:prstGeom>
                <a:solidFill>
                  <a:srgbClr val="FFFFFF"/>
                </a:solidFill>
                <a:ln w="9525" algn="ctr">
                  <a:solidFill>
                    <a:srgbClr val="C0C0C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>
                  <a:noAutofit/>
                </a:bodyPr>
                <a:lstStyle/>
                <a:p>
                  <a:endParaRPr lang="ko-KR" altLang="en-US">
                    <a:latin typeface="나눔고딕" panose="020D0604000000000000" pitchFamily="50" charset="-127"/>
                    <a:ea typeface="나눔고딕" panose="020D0604000000000000" pitchFamily="50" charset="-127"/>
                  </a:endParaRPr>
                </a:p>
              </p:txBody>
            </p:sp>
          </p:grpSp>
          <p:grpSp>
            <p:nvGrpSpPr>
              <p:cNvPr id="353" name="Group 44"/>
              <p:cNvGrpSpPr>
                <a:grpSpLocks/>
              </p:cNvGrpSpPr>
              <p:nvPr/>
            </p:nvGrpSpPr>
            <p:grpSpPr bwMode="auto">
              <a:xfrm>
                <a:off x="4615" y="2523"/>
                <a:ext cx="298" cy="315"/>
                <a:chOff x="5088" y="2304"/>
                <a:chExt cx="339" cy="358"/>
              </a:xfrm>
            </p:grpSpPr>
            <p:grpSp>
              <p:nvGrpSpPr>
                <p:cNvPr id="873" name="Group 45"/>
                <p:cNvGrpSpPr>
                  <a:grpSpLocks/>
                </p:cNvGrpSpPr>
                <p:nvPr/>
              </p:nvGrpSpPr>
              <p:grpSpPr bwMode="auto">
                <a:xfrm>
                  <a:off x="5088" y="2307"/>
                  <a:ext cx="338" cy="350"/>
                  <a:chOff x="4224" y="2689"/>
                  <a:chExt cx="384" cy="428"/>
                </a:xfrm>
              </p:grpSpPr>
              <p:sp>
                <p:nvSpPr>
                  <p:cNvPr id="878" name="Rectangle 46"/>
                  <p:cNvSpPr>
                    <a:spLocks noChangeArrowheads="1"/>
                  </p:cNvSpPr>
                  <p:nvPr/>
                </p:nvSpPr>
                <p:spPr bwMode="auto">
                  <a:xfrm>
                    <a:off x="4224" y="2689"/>
                    <a:ext cx="384" cy="336"/>
                  </a:xfrm>
                  <a:prstGeom prst="rect">
                    <a:avLst/>
                  </a:prstGeom>
                  <a:solidFill>
                    <a:srgbClr val="FFFFFF"/>
                  </a:solidFill>
                  <a:ln w="9525" algn="ctr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>
                    <a:noAutofit/>
                  </a:bodyPr>
                  <a:lstStyle/>
                  <a:p>
                    <a:endParaRPr lang="ko-KR" altLang="en-US">
                      <a:latin typeface="나눔고딕" panose="020D0604000000000000" pitchFamily="50" charset="-127"/>
                      <a:ea typeface="나눔고딕" panose="020D0604000000000000" pitchFamily="50" charset="-127"/>
                    </a:endParaRPr>
                  </a:p>
                </p:txBody>
              </p:sp>
              <p:sp>
                <p:nvSpPr>
                  <p:cNvPr id="879" name="Rectangle 47"/>
                  <p:cNvSpPr>
                    <a:spLocks noChangeArrowheads="1"/>
                  </p:cNvSpPr>
                  <p:nvPr/>
                </p:nvSpPr>
                <p:spPr bwMode="auto">
                  <a:xfrm>
                    <a:off x="4224" y="3021"/>
                    <a:ext cx="384" cy="96"/>
                  </a:xfrm>
                  <a:prstGeom prst="rect">
                    <a:avLst/>
                  </a:prstGeom>
                  <a:solidFill>
                    <a:srgbClr val="FFFFFF"/>
                  </a:solidFill>
                  <a:ln w="9525" algn="ctr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anchor="ctr">
                    <a:noAutofit/>
                  </a:bodyPr>
                  <a:lstStyle/>
                  <a:p>
                    <a:endParaRPr lang="ko-KR" altLang="en-US">
                      <a:latin typeface="나눔고딕" panose="020D0604000000000000" pitchFamily="50" charset="-127"/>
                      <a:ea typeface="나눔고딕" panose="020D0604000000000000" pitchFamily="50" charset="-127"/>
                    </a:endParaRPr>
                  </a:p>
                </p:txBody>
              </p:sp>
            </p:grpSp>
            <p:sp>
              <p:nvSpPr>
                <p:cNvPr id="874" name="Rectangle 48"/>
                <p:cNvSpPr>
                  <a:spLocks noChangeArrowheads="1"/>
                </p:cNvSpPr>
                <p:nvPr/>
              </p:nvSpPr>
              <p:spPr bwMode="auto">
                <a:xfrm>
                  <a:off x="5088" y="2304"/>
                  <a:ext cx="336" cy="96"/>
                </a:xfrm>
                <a:prstGeom prst="rect">
                  <a:avLst/>
                </a:prstGeom>
                <a:solidFill>
                  <a:srgbClr val="FFFFFF"/>
                </a:solidFill>
                <a:ln w="9525" algn="ctr">
                  <a:solidFill>
                    <a:srgbClr val="C0C0C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noAutofit/>
                </a:bodyPr>
                <a:lstStyle/>
                <a:p>
                  <a:endParaRPr lang="ko-KR" altLang="en-US">
                    <a:latin typeface="나눔고딕" panose="020D0604000000000000" pitchFamily="50" charset="-127"/>
                    <a:ea typeface="나눔고딕" panose="020D0604000000000000" pitchFamily="50" charset="-127"/>
                  </a:endParaRPr>
                </a:p>
              </p:txBody>
            </p:sp>
            <p:sp>
              <p:nvSpPr>
                <p:cNvPr id="875" name="Rectangle 49"/>
                <p:cNvSpPr>
                  <a:spLocks noChangeArrowheads="1"/>
                </p:cNvSpPr>
                <p:nvPr/>
              </p:nvSpPr>
              <p:spPr bwMode="auto">
                <a:xfrm>
                  <a:off x="5088" y="2400"/>
                  <a:ext cx="76" cy="262"/>
                </a:xfrm>
                <a:prstGeom prst="rect">
                  <a:avLst/>
                </a:prstGeom>
                <a:solidFill>
                  <a:srgbClr val="FFFFFF"/>
                </a:solidFill>
                <a:ln w="9525" algn="ctr">
                  <a:solidFill>
                    <a:srgbClr val="C0C0C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>
                  <a:noAutofit/>
                </a:bodyPr>
                <a:lstStyle/>
                <a:p>
                  <a:endParaRPr lang="ko-KR" altLang="en-US">
                    <a:latin typeface="나눔고딕" panose="020D0604000000000000" pitchFamily="50" charset="-127"/>
                    <a:ea typeface="나눔고딕" panose="020D0604000000000000" pitchFamily="50" charset="-127"/>
                  </a:endParaRPr>
                </a:p>
              </p:txBody>
            </p:sp>
            <p:sp>
              <p:nvSpPr>
                <p:cNvPr id="876" name="Rectangle 50"/>
                <p:cNvSpPr>
                  <a:spLocks noChangeArrowheads="1"/>
                </p:cNvSpPr>
                <p:nvPr/>
              </p:nvSpPr>
              <p:spPr bwMode="auto">
                <a:xfrm>
                  <a:off x="5161" y="2400"/>
                  <a:ext cx="167" cy="262"/>
                </a:xfrm>
                <a:prstGeom prst="rect">
                  <a:avLst/>
                </a:prstGeom>
                <a:solidFill>
                  <a:srgbClr val="FFFFFF"/>
                </a:solidFill>
                <a:ln w="9525" algn="ctr">
                  <a:solidFill>
                    <a:srgbClr val="C0C0C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>
                  <a:noAutofit/>
                </a:bodyPr>
                <a:lstStyle/>
                <a:p>
                  <a:endParaRPr lang="ko-KR" altLang="en-US">
                    <a:latin typeface="나눔고딕" panose="020D0604000000000000" pitchFamily="50" charset="-127"/>
                    <a:ea typeface="나눔고딕" panose="020D0604000000000000" pitchFamily="50" charset="-127"/>
                  </a:endParaRPr>
                </a:p>
              </p:txBody>
            </p:sp>
            <p:sp>
              <p:nvSpPr>
                <p:cNvPr id="877" name="Rectangle 51"/>
                <p:cNvSpPr>
                  <a:spLocks noChangeArrowheads="1"/>
                </p:cNvSpPr>
                <p:nvPr/>
              </p:nvSpPr>
              <p:spPr bwMode="auto">
                <a:xfrm>
                  <a:off x="5328" y="2400"/>
                  <a:ext cx="99" cy="262"/>
                </a:xfrm>
                <a:prstGeom prst="rect">
                  <a:avLst/>
                </a:prstGeom>
                <a:solidFill>
                  <a:srgbClr val="FFFFFF"/>
                </a:solidFill>
                <a:ln w="9525" algn="ctr">
                  <a:solidFill>
                    <a:srgbClr val="C0C0C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>
                  <a:noAutofit/>
                </a:bodyPr>
                <a:lstStyle/>
                <a:p>
                  <a:endParaRPr lang="ko-KR" altLang="en-US">
                    <a:latin typeface="나눔고딕" panose="020D0604000000000000" pitchFamily="50" charset="-127"/>
                    <a:ea typeface="나눔고딕" panose="020D0604000000000000" pitchFamily="50" charset="-127"/>
                  </a:endParaRPr>
                </a:p>
              </p:txBody>
            </p:sp>
          </p:grpSp>
          <p:grpSp>
            <p:nvGrpSpPr>
              <p:cNvPr id="354" name="Group 52"/>
              <p:cNvGrpSpPr>
                <a:grpSpLocks/>
              </p:cNvGrpSpPr>
              <p:nvPr/>
            </p:nvGrpSpPr>
            <p:grpSpPr bwMode="auto">
              <a:xfrm>
                <a:off x="4177" y="2535"/>
                <a:ext cx="298" cy="315"/>
                <a:chOff x="5088" y="2304"/>
                <a:chExt cx="339" cy="358"/>
              </a:xfrm>
            </p:grpSpPr>
            <p:grpSp>
              <p:nvGrpSpPr>
                <p:cNvPr id="866" name="Group 53"/>
                <p:cNvGrpSpPr>
                  <a:grpSpLocks/>
                </p:cNvGrpSpPr>
                <p:nvPr/>
              </p:nvGrpSpPr>
              <p:grpSpPr bwMode="auto">
                <a:xfrm>
                  <a:off x="5088" y="2307"/>
                  <a:ext cx="338" cy="350"/>
                  <a:chOff x="4224" y="2689"/>
                  <a:chExt cx="384" cy="428"/>
                </a:xfrm>
              </p:grpSpPr>
              <p:sp>
                <p:nvSpPr>
                  <p:cNvPr id="871" name="Rectangle 54"/>
                  <p:cNvSpPr>
                    <a:spLocks noChangeArrowheads="1"/>
                  </p:cNvSpPr>
                  <p:nvPr/>
                </p:nvSpPr>
                <p:spPr bwMode="auto">
                  <a:xfrm>
                    <a:off x="4224" y="2689"/>
                    <a:ext cx="384" cy="336"/>
                  </a:xfrm>
                  <a:prstGeom prst="rect">
                    <a:avLst/>
                  </a:prstGeom>
                  <a:solidFill>
                    <a:srgbClr val="FFFFFF"/>
                  </a:solidFill>
                  <a:ln w="9525" algn="ctr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>
                    <a:noAutofit/>
                  </a:bodyPr>
                  <a:lstStyle/>
                  <a:p>
                    <a:endParaRPr lang="ko-KR" altLang="en-US">
                      <a:latin typeface="나눔고딕" panose="020D0604000000000000" pitchFamily="50" charset="-127"/>
                      <a:ea typeface="나눔고딕" panose="020D0604000000000000" pitchFamily="50" charset="-127"/>
                    </a:endParaRPr>
                  </a:p>
                </p:txBody>
              </p:sp>
              <p:sp>
                <p:nvSpPr>
                  <p:cNvPr id="872" name="Rectangle 55"/>
                  <p:cNvSpPr>
                    <a:spLocks noChangeArrowheads="1"/>
                  </p:cNvSpPr>
                  <p:nvPr/>
                </p:nvSpPr>
                <p:spPr bwMode="auto">
                  <a:xfrm>
                    <a:off x="4224" y="3021"/>
                    <a:ext cx="384" cy="96"/>
                  </a:xfrm>
                  <a:prstGeom prst="rect">
                    <a:avLst/>
                  </a:prstGeom>
                  <a:solidFill>
                    <a:srgbClr val="FFFFFF"/>
                  </a:solidFill>
                  <a:ln w="9525" algn="ctr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anchor="ctr">
                    <a:noAutofit/>
                  </a:bodyPr>
                  <a:lstStyle/>
                  <a:p>
                    <a:endParaRPr lang="ko-KR" altLang="en-US">
                      <a:latin typeface="나눔고딕" panose="020D0604000000000000" pitchFamily="50" charset="-127"/>
                      <a:ea typeface="나눔고딕" panose="020D0604000000000000" pitchFamily="50" charset="-127"/>
                    </a:endParaRPr>
                  </a:p>
                </p:txBody>
              </p:sp>
            </p:grpSp>
            <p:sp>
              <p:nvSpPr>
                <p:cNvPr id="867" name="Rectangle 56"/>
                <p:cNvSpPr>
                  <a:spLocks noChangeArrowheads="1"/>
                </p:cNvSpPr>
                <p:nvPr/>
              </p:nvSpPr>
              <p:spPr bwMode="auto">
                <a:xfrm>
                  <a:off x="5088" y="2304"/>
                  <a:ext cx="336" cy="96"/>
                </a:xfrm>
                <a:prstGeom prst="rect">
                  <a:avLst/>
                </a:prstGeom>
                <a:solidFill>
                  <a:srgbClr val="FFFFFF"/>
                </a:solidFill>
                <a:ln w="9525" algn="ctr">
                  <a:solidFill>
                    <a:srgbClr val="C0C0C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noAutofit/>
                </a:bodyPr>
                <a:lstStyle/>
                <a:p>
                  <a:endParaRPr lang="ko-KR" altLang="en-US">
                    <a:latin typeface="나눔고딕" panose="020D0604000000000000" pitchFamily="50" charset="-127"/>
                    <a:ea typeface="나눔고딕" panose="020D0604000000000000" pitchFamily="50" charset="-127"/>
                  </a:endParaRPr>
                </a:p>
              </p:txBody>
            </p:sp>
            <p:sp>
              <p:nvSpPr>
                <p:cNvPr id="868" name="Rectangle 57"/>
                <p:cNvSpPr>
                  <a:spLocks noChangeArrowheads="1"/>
                </p:cNvSpPr>
                <p:nvPr/>
              </p:nvSpPr>
              <p:spPr bwMode="auto">
                <a:xfrm>
                  <a:off x="5088" y="2400"/>
                  <a:ext cx="76" cy="262"/>
                </a:xfrm>
                <a:prstGeom prst="rect">
                  <a:avLst/>
                </a:prstGeom>
                <a:solidFill>
                  <a:srgbClr val="FFFFFF"/>
                </a:solidFill>
                <a:ln w="9525" algn="ctr">
                  <a:solidFill>
                    <a:srgbClr val="C0C0C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>
                  <a:noAutofit/>
                </a:bodyPr>
                <a:lstStyle/>
                <a:p>
                  <a:endParaRPr lang="ko-KR" altLang="en-US">
                    <a:latin typeface="나눔고딕" panose="020D0604000000000000" pitchFamily="50" charset="-127"/>
                    <a:ea typeface="나눔고딕" panose="020D0604000000000000" pitchFamily="50" charset="-127"/>
                  </a:endParaRPr>
                </a:p>
              </p:txBody>
            </p:sp>
            <p:sp>
              <p:nvSpPr>
                <p:cNvPr id="869" name="Rectangle 58"/>
                <p:cNvSpPr>
                  <a:spLocks noChangeArrowheads="1"/>
                </p:cNvSpPr>
                <p:nvPr/>
              </p:nvSpPr>
              <p:spPr bwMode="auto">
                <a:xfrm>
                  <a:off x="5161" y="2400"/>
                  <a:ext cx="167" cy="262"/>
                </a:xfrm>
                <a:prstGeom prst="rect">
                  <a:avLst/>
                </a:prstGeom>
                <a:solidFill>
                  <a:srgbClr val="FFFFFF"/>
                </a:solidFill>
                <a:ln w="9525" algn="ctr">
                  <a:solidFill>
                    <a:srgbClr val="C0C0C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>
                  <a:noAutofit/>
                </a:bodyPr>
                <a:lstStyle/>
                <a:p>
                  <a:endParaRPr lang="ko-KR" altLang="en-US">
                    <a:latin typeface="나눔고딕" panose="020D0604000000000000" pitchFamily="50" charset="-127"/>
                    <a:ea typeface="나눔고딕" panose="020D0604000000000000" pitchFamily="50" charset="-127"/>
                  </a:endParaRPr>
                </a:p>
              </p:txBody>
            </p:sp>
            <p:sp>
              <p:nvSpPr>
                <p:cNvPr id="870" name="Rectangle 59"/>
                <p:cNvSpPr>
                  <a:spLocks noChangeArrowheads="1"/>
                </p:cNvSpPr>
                <p:nvPr/>
              </p:nvSpPr>
              <p:spPr bwMode="auto">
                <a:xfrm>
                  <a:off x="5328" y="2400"/>
                  <a:ext cx="99" cy="262"/>
                </a:xfrm>
                <a:prstGeom prst="rect">
                  <a:avLst/>
                </a:prstGeom>
                <a:solidFill>
                  <a:srgbClr val="FFFFFF"/>
                </a:solidFill>
                <a:ln w="9525" algn="ctr">
                  <a:solidFill>
                    <a:srgbClr val="C0C0C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>
                  <a:noAutofit/>
                </a:bodyPr>
                <a:lstStyle/>
                <a:p>
                  <a:endParaRPr lang="ko-KR" altLang="en-US">
                    <a:latin typeface="나눔고딕" panose="020D0604000000000000" pitchFamily="50" charset="-127"/>
                    <a:ea typeface="나눔고딕" panose="020D0604000000000000" pitchFamily="50" charset="-127"/>
                  </a:endParaRPr>
                </a:p>
              </p:txBody>
            </p:sp>
          </p:grpSp>
          <p:grpSp>
            <p:nvGrpSpPr>
              <p:cNvPr id="355" name="Group 60"/>
              <p:cNvGrpSpPr>
                <a:grpSpLocks/>
              </p:cNvGrpSpPr>
              <p:nvPr/>
            </p:nvGrpSpPr>
            <p:grpSpPr bwMode="auto">
              <a:xfrm>
                <a:off x="3507" y="2105"/>
                <a:ext cx="298" cy="315"/>
                <a:chOff x="5088" y="2304"/>
                <a:chExt cx="339" cy="358"/>
              </a:xfrm>
            </p:grpSpPr>
            <p:grpSp>
              <p:nvGrpSpPr>
                <p:cNvPr id="859" name="Group 61"/>
                <p:cNvGrpSpPr>
                  <a:grpSpLocks/>
                </p:cNvGrpSpPr>
                <p:nvPr/>
              </p:nvGrpSpPr>
              <p:grpSpPr bwMode="auto">
                <a:xfrm>
                  <a:off x="5088" y="2307"/>
                  <a:ext cx="338" cy="350"/>
                  <a:chOff x="4224" y="2689"/>
                  <a:chExt cx="384" cy="428"/>
                </a:xfrm>
              </p:grpSpPr>
              <p:sp>
                <p:nvSpPr>
                  <p:cNvPr id="864" name="Rectangle 62"/>
                  <p:cNvSpPr>
                    <a:spLocks noChangeArrowheads="1"/>
                  </p:cNvSpPr>
                  <p:nvPr/>
                </p:nvSpPr>
                <p:spPr bwMode="auto">
                  <a:xfrm>
                    <a:off x="4224" y="2689"/>
                    <a:ext cx="384" cy="336"/>
                  </a:xfrm>
                  <a:prstGeom prst="rect">
                    <a:avLst/>
                  </a:prstGeom>
                  <a:solidFill>
                    <a:srgbClr val="FFFFFF"/>
                  </a:solidFill>
                  <a:ln w="9525" algn="ctr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>
                    <a:noAutofit/>
                  </a:bodyPr>
                  <a:lstStyle/>
                  <a:p>
                    <a:endParaRPr lang="ko-KR" altLang="en-US">
                      <a:latin typeface="나눔고딕" panose="020D0604000000000000" pitchFamily="50" charset="-127"/>
                      <a:ea typeface="나눔고딕" panose="020D0604000000000000" pitchFamily="50" charset="-127"/>
                    </a:endParaRPr>
                  </a:p>
                </p:txBody>
              </p:sp>
              <p:sp>
                <p:nvSpPr>
                  <p:cNvPr id="865" name="Rectangle 63"/>
                  <p:cNvSpPr>
                    <a:spLocks noChangeArrowheads="1"/>
                  </p:cNvSpPr>
                  <p:nvPr/>
                </p:nvSpPr>
                <p:spPr bwMode="auto">
                  <a:xfrm>
                    <a:off x="4224" y="3021"/>
                    <a:ext cx="384" cy="96"/>
                  </a:xfrm>
                  <a:prstGeom prst="rect">
                    <a:avLst/>
                  </a:prstGeom>
                  <a:solidFill>
                    <a:srgbClr val="FFFFFF"/>
                  </a:solidFill>
                  <a:ln w="9525" algn="ctr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anchor="ctr">
                    <a:noAutofit/>
                  </a:bodyPr>
                  <a:lstStyle/>
                  <a:p>
                    <a:endParaRPr lang="ko-KR" altLang="en-US">
                      <a:latin typeface="나눔고딕" panose="020D0604000000000000" pitchFamily="50" charset="-127"/>
                      <a:ea typeface="나눔고딕" panose="020D0604000000000000" pitchFamily="50" charset="-127"/>
                    </a:endParaRPr>
                  </a:p>
                </p:txBody>
              </p:sp>
            </p:grpSp>
            <p:sp>
              <p:nvSpPr>
                <p:cNvPr id="860" name="Rectangle 64"/>
                <p:cNvSpPr>
                  <a:spLocks noChangeArrowheads="1"/>
                </p:cNvSpPr>
                <p:nvPr/>
              </p:nvSpPr>
              <p:spPr bwMode="auto">
                <a:xfrm>
                  <a:off x="5088" y="2304"/>
                  <a:ext cx="336" cy="96"/>
                </a:xfrm>
                <a:prstGeom prst="rect">
                  <a:avLst/>
                </a:prstGeom>
                <a:solidFill>
                  <a:srgbClr val="FFFFFF"/>
                </a:solidFill>
                <a:ln w="9525" algn="ctr">
                  <a:solidFill>
                    <a:srgbClr val="C0C0C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noAutofit/>
                </a:bodyPr>
                <a:lstStyle/>
                <a:p>
                  <a:endParaRPr lang="ko-KR" altLang="en-US">
                    <a:latin typeface="나눔고딕" panose="020D0604000000000000" pitchFamily="50" charset="-127"/>
                    <a:ea typeface="나눔고딕" panose="020D0604000000000000" pitchFamily="50" charset="-127"/>
                  </a:endParaRPr>
                </a:p>
              </p:txBody>
            </p:sp>
            <p:sp>
              <p:nvSpPr>
                <p:cNvPr id="861" name="Rectangle 65"/>
                <p:cNvSpPr>
                  <a:spLocks noChangeArrowheads="1"/>
                </p:cNvSpPr>
                <p:nvPr/>
              </p:nvSpPr>
              <p:spPr bwMode="auto">
                <a:xfrm>
                  <a:off x="5088" y="2400"/>
                  <a:ext cx="76" cy="262"/>
                </a:xfrm>
                <a:prstGeom prst="rect">
                  <a:avLst/>
                </a:prstGeom>
                <a:solidFill>
                  <a:srgbClr val="FFFFFF"/>
                </a:solidFill>
                <a:ln w="9525" algn="ctr">
                  <a:solidFill>
                    <a:srgbClr val="C0C0C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>
                  <a:noAutofit/>
                </a:bodyPr>
                <a:lstStyle/>
                <a:p>
                  <a:endParaRPr lang="ko-KR" altLang="en-US">
                    <a:latin typeface="나눔고딕" panose="020D0604000000000000" pitchFamily="50" charset="-127"/>
                    <a:ea typeface="나눔고딕" panose="020D0604000000000000" pitchFamily="50" charset="-127"/>
                  </a:endParaRPr>
                </a:p>
              </p:txBody>
            </p:sp>
            <p:sp>
              <p:nvSpPr>
                <p:cNvPr id="862" name="Rectangle 66"/>
                <p:cNvSpPr>
                  <a:spLocks noChangeArrowheads="1"/>
                </p:cNvSpPr>
                <p:nvPr/>
              </p:nvSpPr>
              <p:spPr bwMode="auto">
                <a:xfrm>
                  <a:off x="5161" y="2400"/>
                  <a:ext cx="167" cy="262"/>
                </a:xfrm>
                <a:prstGeom prst="rect">
                  <a:avLst/>
                </a:prstGeom>
                <a:solidFill>
                  <a:srgbClr val="FFFFFF"/>
                </a:solidFill>
                <a:ln w="9525" algn="ctr">
                  <a:solidFill>
                    <a:srgbClr val="C0C0C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>
                  <a:noAutofit/>
                </a:bodyPr>
                <a:lstStyle/>
                <a:p>
                  <a:endParaRPr lang="ko-KR" altLang="en-US">
                    <a:latin typeface="나눔고딕" panose="020D0604000000000000" pitchFamily="50" charset="-127"/>
                    <a:ea typeface="나눔고딕" panose="020D0604000000000000" pitchFamily="50" charset="-127"/>
                  </a:endParaRPr>
                </a:p>
              </p:txBody>
            </p:sp>
            <p:sp>
              <p:nvSpPr>
                <p:cNvPr id="863" name="Rectangle 67"/>
                <p:cNvSpPr>
                  <a:spLocks noChangeArrowheads="1"/>
                </p:cNvSpPr>
                <p:nvPr/>
              </p:nvSpPr>
              <p:spPr bwMode="auto">
                <a:xfrm>
                  <a:off x="5328" y="2400"/>
                  <a:ext cx="99" cy="262"/>
                </a:xfrm>
                <a:prstGeom prst="rect">
                  <a:avLst/>
                </a:prstGeom>
                <a:solidFill>
                  <a:srgbClr val="FFFFFF"/>
                </a:solidFill>
                <a:ln w="9525" algn="ctr">
                  <a:solidFill>
                    <a:srgbClr val="C0C0C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>
                  <a:noAutofit/>
                </a:bodyPr>
                <a:lstStyle/>
                <a:p>
                  <a:endParaRPr lang="ko-KR" altLang="en-US">
                    <a:latin typeface="나눔고딕" panose="020D0604000000000000" pitchFamily="50" charset="-127"/>
                    <a:ea typeface="나눔고딕" panose="020D0604000000000000" pitchFamily="50" charset="-127"/>
                  </a:endParaRPr>
                </a:p>
              </p:txBody>
            </p:sp>
          </p:grpSp>
          <p:grpSp>
            <p:nvGrpSpPr>
              <p:cNvPr id="356" name="Group 68"/>
              <p:cNvGrpSpPr>
                <a:grpSpLocks/>
              </p:cNvGrpSpPr>
              <p:nvPr/>
            </p:nvGrpSpPr>
            <p:grpSpPr bwMode="auto">
              <a:xfrm>
                <a:off x="3804" y="2523"/>
                <a:ext cx="298" cy="315"/>
                <a:chOff x="5088" y="2304"/>
                <a:chExt cx="339" cy="358"/>
              </a:xfrm>
            </p:grpSpPr>
            <p:grpSp>
              <p:nvGrpSpPr>
                <p:cNvPr id="852" name="Group 69"/>
                <p:cNvGrpSpPr>
                  <a:grpSpLocks/>
                </p:cNvGrpSpPr>
                <p:nvPr/>
              </p:nvGrpSpPr>
              <p:grpSpPr bwMode="auto">
                <a:xfrm>
                  <a:off x="5088" y="2307"/>
                  <a:ext cx="338" cy="350"/>
                  <a:chOff x="4224" y="2689"/>
                  <a:chExt cx="384" cy="428"/>
                </a:xfrm>
              </p:grpSpPr>
              <p:sp>
                <p:nvSpPr>
                  <p:cNvPr id="857" name="Rectangle 70"/>
                  <p:cNvSpPr>
                    <a:spLocks noChangeArrowheads="1"/>
                  </p:cNvSpPr>
                  <p:nvPr/>
                </p:nvSpPr>
                <p:spPr bwMode="auto">
                  <a:xfrm>
                    <a:off x="4224" y="2689"/>
                    <a:ext cx="384" cy="336"/>
                  </a:xfrm>
                  <a:prstGeom prst="rect">
                    <a:avLst/>
                  </a:prstGeom>
                  <a:solidFill>
                    <a:srgbClr val="FFFFFF"/>
                  </a:solidFill>
                  <a:ln w="9525" algn="ctr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>
                    <a:noAutofit/>
                  </a:bodyPr>
                  <a:lstStyle/>
                  <a:p>
                    <a:endParaRPr lang="ko-KR" altLang="en-US">
                      <a:latin typeface="나눔고딕" panose="020D0604000000000000" pitchFamily="50" charset="-127"/>
                      <a:ea typeface="나눔고딕" panose="020D0604000000000000" pitchFamily="50" charset="-127"/>
                    </a:endParaRPr>
                  </a:p>
                </p:txBody>
              </p:sp>
              <p:sp>
                <p:nvSpPr>
                  <p:cNvPr id="858" name="Rectangle 71"/>
                  <p:cNvSpPr>
                    <a:spLocks noChangeArrowheads="1"/>
                  </p:cNvSpPr>
                  <p:nvPr/>
                </p:nvSpPr>
                <p:spPr bwMode="auto">
                  <a:xfrm>
                    <a:off x="4224" y="3021"/>
                    <a:ext cx="384" cy="96"/>
                  </a:xfrm>
                  <a:prstGeom prst="rect">
                    <a:avLst/>
                  </a:prstGeom>
                  <a:solidFill>
                    <a:srgbClr val="FFFFFF"/>
                  </a:solidFill>
                  <a:ln w="9525" algn="ctr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anchor="ctr">
                    <a:noAutofit/>
                  </a:bodyPr>
                  <a:lstStyle/>
                  <a:p>
                    <a:endParaRPr lang="ko-KR" altLang="en-US">
                      <a:latin typeface="나눔고딕" panose="020D0604000000000000" pitchFamily="50" charset="-127"/>
                      <a:ea typeface="나눔고딕" panose="020D0604000000000000" pitchFamily="50" charset="-127"/>
                    </a:endParaRPr>
                  </a:p>
                </p:txBody>
              </p:sp>
            </p:grpSp>
            <p:sp>
              <p:nvSpPr>
                <p:cNvPr id="853" name="Rectangle 72"/>
                <p:cNvSpPr>
                  <a:spLocks noChangeArrowheads="1"/>
                </p:cNvSpPr>
                <p:nvPr/>
              </p:nvSpPr>
              <p:spPr bwMode="auto">
                <a:xfrm>
                  <a:off x="5088" y="2304"/>
                  <a:ext cx="336" cy="96"/>
                </a:xfrm>
                <a:prstGeom prst="rect">
                  <a:avLst/>
                </a:prstGeom>
                <a:solidFill>
                  <a:srgbClr val="FFFFFF"/>
                </a:solidFill>
                <a:ln w="9525" algn="ctr">
                  <a:solidFill>
                    <a:srgbClr val="C0C0C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noAutofit/>
                </a:bodyPr>
                <a:lstStyle/>
                <a:p>
                  <a:endParaRPr lang="ko-KR" altLang="en-US">
                    <a:latin typeface="나눔고딕" panose="020D0604000000000000" pitchFamily="50" charset="-127"/>
                    <a:ea typeface="나눔고딕" panose="020D0604000000000000" pitchFamily="50" charset="-127"/>
                  </a:endParaRPr>
                </a:p>
              </p:txBody>
            </p:sp>
            <p:sp>
              <p:nvSpPr>
                <p:cNvPr id="854" name="Rectangle 73"/>
                <p:cNvSpPr>
                  <a:spLocks noChangeArrowheads="1"/>
                </p:cNvSpPr>
                <p:nvPr/>
              </p:nvSpPr>
              <p:spPr bwMode="auto">
                <a:xfrm>
                  <a:off x="5088" y="2400"/>
                  <a:ext cx="76" cy="262"/>
                </a:xfrm>
                <a:prstGeom prst="rect">
                  <a:avLst/>
                </a:prstGeom>
                <a:solidFill>
                  <a:srgbClr val="FFFFFF"/>
                </a:solidFill>
                <a:ln w="9525" algn="ctr">
                  <a:solidFill>
                    <a:srgbClr val="C0C0C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>
                  <a:noAutofit/>
                </a:bodyPr>
                <a:lstStyle/>
                <a:p>
                  <a:endParaRPr lang="ko-KR" altLang="en-US">
                    <a:latin typeface="나눔고딕" panose="020D0604000000000000" pitchFamily="50" charset="-127"/>
                    <a:ea typeface="나눔고딕" panose="020D0604000000000000" pitchFamily="50" charset="-127"/>
                  </a:endParaRPr>
                </a:p>
              </p:txBody>
            </p:sp>
            <p:sp>
              <p:nvSpPr>
                <p:cNvPr id="855" name="Rectangle 74"/>
                <p:cNvSpPr>
                  <a:spLocks noChangeArrowheads="1"/>
                </p:cNvSpPr>
                <p:nvPr/>
              </p:nvSpPr>
              <p:spPr bwMode="auto">
                <a:xfrm>
                  <a:off x="5161" y="2400"/>
                  <a:ext cx="167" cy="262"/>
                </a:xfrm>
                <a:prstGeom prst="rect">
                  <a:avLst/>
                </a:prstGeom>
                <a:solidFill>
                  <a:srgbClr val="FFFFFF"/>
                </a:solidFill>
                <a:ln w="9525" algn="ctr">
                  <a:solidFill>
                    <a:srgbClr val="C0C0C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>
                  <a:noAutofit/>
                </a:bodyPr>
                <a:lstStyle/>
                <a:p>
                  <a:endParaRPr lang="ko-KR" altLang="en-US">
                    <a:latin typeface="나눔고딕" panose="020D0604000000000000" pitchFamily="50" charset="-127"/>
                    <a:ea typeface="나눔고딕" panose="020D0604000000000000" pitchFamily="50" charset="-127"/>
                  </a:endParaRPr>
                </a:p>
              </p:txBody>
            </p:sp>
            <p:sp>
              <p:nvSpPr>
                <p:cNvPr id="856" name="Rectangle 75"/>
                <p:cNvSpPr>
                  <a:spLocks noChangeArrowheads="1"/>
                </p:cNvSpPr>
                <p:nvPr/>
              </p:nvSpPr>
              <p:spPr bwMode="auto">
                <a:xfrm>
                  <a:off x="5328" y="2400"/>
                  <a:ext cx="99" cy="262"/>
                </a:xfrm>
                <a:prstGeom prst="rect">
                  <a:avLst/>
                </a:prstGeom>
                <a:solidFill>
                  <a:srgbClr val="FFFFFF"/>
                </a:solidFill>
                <a:ln w="9525" algn="ctr">
                  <a:solidFill>
                    <a:srgbClr val="C0C0C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>
                  <a:noAutofit/>
                </a:bodyPr>
                <a:lstStyle/>
                <a:p>
                  <a:endParaRPr lang="ko-KR" altLang="en-US">
                    <a:latin typeface="나눔고딕" panose="020D0604000000000000" pitchFamily="50" charset="-127"/>
                    <a:ea typeface="나눔고딕" panose="020D0604000000000000" pitchFamily="50" charset="-127"/>
                  </a:endParaRPr>
                </a:p>
              </p:txBody>
            </p:sp>
          </p:grpSp>
          <p:grpSp>
            <p:nvGrpSpPr>
              <p:cNvPr id="357" name="Group 76"/>
              <p:cNvGrpSpPr>
                <a:grpSpLocks/>
              </p:cNvGrpSpPr>
              <p:nvPr/>
            </p:nvGrpSpPr>
            <p:grpSpPr bwMode="auto">
              <a:xfrm>
                <a:off x="3367" y="2535"/>
                <a:ext cx="298" cy="315"/>
                <a:chOff x="5088" y="2304"/>
                <a:chExt cx="339" cy="358"/>
              </a:xfrm>
            </p:grpSpPr>
            <p:grpSp>
              <p:nvGrpSpPr>
                <p:cNvPr id="845" name="Group 77"/>
                <p:cNvGrpSpPr>
                  <a:grpSpLocks/>
                </p:cNvGrpSpPr>
                <p:nvPr/>
              </p:nvGrpSpPr>
              <p:grpSpPr bwMode="auto">
                <a:xfrm>
                  <a:off x="5088" y="2307"/>
                  <a:ext cx="338" cy="350"/>
                  <a:chOff x="4224" y="2689"/>
                  <a:chExt cx="384" cy="428"/>
                </a:xfrm>
              </p:grpSpPr>
              <p:sp>
                <p:nvSpPr>
                  <p:cNvPr id="850" name="Rectangle 78"/>
                  <p:cNvSpPr>
                    <a:spLocks noChangeArrowheads="1"/>
                  </p:cNvSpPr>
                  <p:nvPr/>
                </p:nvSpPr>
                <p:spPr bwMode="auto">
                  <a:xfrm>
                    <a:off x="4224" y="2689"/>
                    <a:ext cx="384" cy="336"/>
                  </a:xfrm>
                  <a:prstGeom prst="rect">
                    <a:avLst/>
                  </a:prstGeom>
                  <a:solidFill>
                    <a:srgbClr val="FFFFFF"/>
                  </a:solidFill>
                  <a:ln w="9525" algn="ctr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>
                    <a:noAutofit/>
                  </a:bodyPr>
                  <a:lstStyle/>
                  <a:p>
                    <a:endParaRPr lang="ko-KR" altLang="en-US">
                      <a:latin typeface="나눔고딕" panose="020D0604000000000000" pitchFamily="50" charset="-127"/>
                      <a:ea typeface="나눔고딕" panose="020D0604000000000000" pitchFamily="50" charset="-127"/>
                    </a:endParaRPr>
                  </a:p>
                </p:txBody>
              </p:sp>
              <p:sp>
                <p:nvSpPr>
                  <p:cNvPr id="851" name="Rectangle 79"/>
                  <p:cNvSpPr>
                    <a:spLocks noChangeArrowheads="1"/>
                  </p:cNvSpPr>
                  <p:nvPr/>
                </p:nvSpPr>
                <p:spPr bwMode="auto">
                  <a:xfrm>
                    <a:off x="4224" y="3021"/>
                    <a:ext cx="384" cy="96"/>
                  </a:xfrm>
                  <a:prstGeom prst="rect">
                    <a:avLst/>
                  </a:prstGeom>
                  <a:solidFill>
                    <a:srgbClr val="FFFFFF"/>
                  </a:solidFill>
                  <a:ln w="9525" algn="ctr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anchor="ctr">
                    <a:noAutofit/>
                  </a:bodyPr>
                  <a:lstStyle/>
                  <a:p>
                    <a:endParaRPr lang="ko-KR" altLang="en-US">
                      <a:latin typeface="나눔고딕" panose="020D0604000000000000" pitchFamily="50" charset="-127"/>
                      <a:ea typeface="나눔고딕" panose="020D0604000000000000" pitchFamily="50" charset="-127"/>
                    </a:endParaRPr>
                  </a:p>
                </p:txBody>
              </p:sp>
            </p:grpSp>
            <p:sp>
              <p:nvSpPr>
                <p:cNvPr id="846" name="Rectangle 80"/>
                <p:cNvSpPr>
                  <a:spLocks noChangeArrowheads="1"/>
                </p:cNvSpPr>
                <p:nvPr/>
              </p:nvSpPr>
              <p:spPr bwMode="auto">
                <a:xfrm>
                  <a:off x="5088" y="2304"/>
                  <a:ext cx="336" cy="96"/>
                </a:xfrm>
                <a:prstGeom prst="rect">
                  <a:avLst/>
                </a:prstGeom>
                <a:solidFill>
                  <a:srgbClr val="FFFFFF"/>
                </a:solidFill>
                <a:ln w="9525" algn="ctr">
                  <a:solidFill>
                    <a:srgbClr val="C0C0C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noAutofit/>
                </a:bodyPr>
                <a:lstStyle/>
                <a:p>
                  <a:endParaRPr lang="ko-KR" altLang="en-US">
                    <a:latin typeface="나눔고딕" panose="020D0604000000000000" pitchFamily="50" charset="-127"/>
                    <a:ea typeface="나눔고딕" panose="020D0604000000000000" pitchFamily="50" charset="-127"/>
                  </a:endParaRPr>
                </a:p>
              </p:txBody>
            </p:sp>
            <p:sp>
              <p:nvSpPr>
                <p:cNvPr id="847" name="Rectangle 81"/>
                <p:cNvSpPr>
                  <a:spLocks noChangeArrowheads="1"/>
                </p:cNvSpPr>
                <p:nvPr/>
              </p:nvSpPr>
              <p:spPr bwMode="auto">
                <a:xfrm>
                  <a:off x="5088" y="2400"/>
                  <a:ext cx="76" cy="262"/>
                </a:xfrm>
                <a:prstGeom prst="rect">
                  <a:avLst/>
                </a:prstGeom>
                <a:solidFill>
                  <a:srgbClr val="FFFFFF"/>
                </a:solidFill>
                <a:ln w="9525" algn="ctr">
                  <a:solidFill>
                    <a:srgbClr val="C0C0C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>
                  <a:noAutofit/>
                </a:bodyPr>
                <a:lstStyle/>
                <a:p>
                  <a:endParaRPr lang="ko-KR" altLang="en-US">
                    <a:latin typeface="나눔고딕" panose="020D0604000000000000" pitchFamily="50" charset="-127"/>
                    <a:ea typeface="나눔고딕" panose="020D0604000000000000" pitchFamily="50" charset="-127"/>
                  </a:endParaRPr>
                </a:p>
              </p:txBody>
            </p:sp>
            <p:sp>
              <p:nvSpPr>
                <p:cNvPr id="848" name="Rectangle 82"/>
                <p:cNvSpPr>
                  <a:spLocks noChangeArrowheads="1"/>
                </p:cNvSpPr>
                <p:nvPr/>
              </p:nvSpPr>
              <p:spPr bwMode="auto">
                <a:xfrm>
                  <a:off x="5161" y="2400"/>
                  <a:ext cx="167" cy="262"/>
                </a:xfrm>
                <a:prstGeom prst="rect">
                  <a:avLst/>
                </a:prstGeom>
                <a:solidFill>
                  <a:srgbClr val="FFFFFF"/>
                </a:solidFill>
                <a:ln w="9525" algn="ctr">
                  <a:solidFill>
                    <a:srgbClr val="C0C0C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>
                  <a:noAutofit/>
                </a:bodyPr>
                <a:lstStyle/>
                <a:p>
                  <a:endParaRPr lang="ko-KR" altLang="en-US">
                    <a:latin typeface="나눔고딕" panose="020D0604000000000000" pitchFamily="50" charset="-127"/>
                    <a:ea typeface="나눔고딕" panose="020D0604000000000000" pitchFamily="50" charset="-127"/>
                  </a:endParaRPr>
                </a:p>
              </p:txBody>
            </p:sp>
            <p:sp>
              <p:nvSpPr>
                <p:cNvPr id="849" name="Rectangle 83"/>
                <p:cNvSpPr>
                  <a:spLocks noChangeArrowheads="1"/>
                </p:cNvSpPr>
                <p:nvPr/>
              </p:nvSpPr>
              <p:spPr bwMode="auto">
                <a:xfrm>
                  <a:off x="5328" y="2400"/>
                  <a:ext cx="99" cy="262"/>
                </a:xfrm>
                <a:prstGeom prst="rect">
                  <a:avLst/>
                </a:prstGeom>
                <a:solidFill>
                  <a:srgbClr val="FFFFFF"/>
                </a:solidFill>
                <a:ln w="9525" algn="ctr">
                  <a:solidFill>
                    <a:srgbClr val="C0C0C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>
                  <a:noAutofit/>
                </a:bodyPr>
                <a:lstStyle/>
                <a:p>
                  <a:endParaRPr lang="ko-KR" altLang="en-US">
                    <a:latin typeface="나눔고딕" panose="020D0604000000000000" pitchFamily="50" charset="-127"/>
                    <a:ea typeface="나눔고딕" panose="020D0604000000000000" pitchFamily="50" charset="-127"/>
                  </a:endParaRPr>
                </a:p>
              </p:txBody>
            </p:sp>
          </p:grpSp>
          <p:grpSp>
            <p:nvGrpSpPr>
              <p:cNvPr id="358" name="Group 84"/>
              <p:cNvGrpSpPr>
                <a:grpSpLocks/>
              </p:cNvGrpSpPr>
              <p:nvPr/>
            </p:nvGrpSpPr>
            <p:grpSpPr bwMode="auto">
              <a:xfrm>
                <a:off x="4717" y="3024"/>
                <a:ext cx="299" cy="315"/>
                <a:chOff x="5088" y="2304"/>
                <a:chExt cx="339" cy="358"/>
              </a:xfrm>
            </p:grpSpPr>
            <p:grpSp>
              <p:nvGrpSpPr>
                <p:cNvPr id="838" name="Group 85"/>
                <p:cNvGrpSpPr>
                  <a:grpSpLocks/>
                </p:cNvGrpSpPr>
                <p:nvPr/>
              </p:nvGrpSpPr>
              <p:grpSpPr bwMode="auto">
                <a:xfrm>
                  <a:off x="5088" y="2307"/>
                  <a:ext cx="338" cy="350"/>
                  <a:chOff x="4224" y="2689"/>
                  <a:chExt cx="384" cy="428"/>
                </a:xfrm>
              </p:grpSpPr>
              <p:sp>
                <p:nvSpPr>
                  <p:cNvPr id="843" name="Rectangle 86"/>
                  <p:cNvSpPr>
                    <a:spLocks noChangeArrowheads="1"/>
                  </p:cNvSpPr>
                  <p:nvPr/>
                </p:nvSpPr>
                <p:spPr bwMode="auto">
                  <a:xfrm>
                    <a:off x="4224" y="2689"/>
                    <a:ext cx="384" cy="336"/>
                  </a:xfrm>
                  <a:prstGeom prst="rect">
                    <a:avLst/>
                  </a:prstGeom>
                  <a:solidFill>
                    <a:srgbClr val="FFFFFF"/>
                  </a:solidFill>
                  <a:ln w="9525" algn="ctr">
                    <a:solidFill>
                      <a:schemeClr val="accent2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>
                    <a:noAutofit/>
                  </a:bodyPr>
                  <a:lstStyle/>
                  <a:p>
                    <a:endParaRPr lang="ko-KR" altLang="en-US">
                      <a:latin typeface="나눔고딕" panose="020D0604000000000000" pitchFamily="50" charset="-127"/>
                      <a:ea typeface="나눔고딕" panose="020D0604000000000000" pitchFamily="50" charset="-127"/>
                    </a:endParaRPr>
                  </a:p>
                </p:txBody>
              </p:sp>
              <p:sp>
                <p:nvSpPr>
                  <p:cNvPr id="844" name="Rectangle 87"/>
                  <p:cNvSpPr>
                    <a:spLocks noChangeArrowheads="1"/>
                  </p:cNvSpPr>
                  <p:nvPr/>
                </p:nvSpPr>
                <p:spPr bwMode="auto">
                  <a:xfrm>
                    <a:off x="4224" y="3021"/>
                    <a:ext cx="384" cy="96"/>
                  </a:xfrm>
                  <a:prstGeom prst="rect">
                    <a:avLst/>
                  </a:prstGeom>
                  <a:solidFill>
                    <a:srgbClr val="FFFFFF"/>
                  </a:solidFill>
                  <a:ln w="9525" algn="ctr">
                    <a:solidFill>
                      <a:schemeClr val="accent2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anchor="ctr">
                    <a:noAutofit/>
                  </a:bodyPr>
                  <a:lstStyle/>
                  <a:p>
                    <a:endParaRPr lang="ko-KR" altLang="en-US">
                      <a:latin typeface="나눔고딕" panose="020D0604000000000000" pitchFamily="50" charset="-127"/>
                      <a:ea typeface="나눔고딕" panose="020D0604000000000000" pitchFamily="50" charset="-127"/>
                    </a:endParaRPr>
                  </a:p>
                </p:txBody>
              </p:sp>
            </p:grpSp>
            <p:sp>
              <p:nvSpPr>
                <p:cNvPr id="839" name="Rectangle 88"/>
                <p:cNvSpPr>
                  <a:spLocks noChangeArrowheads="1"/>
                </p:cNvSpPr>
                <p:nvPr/>
              </p:nvSpPr>
              <p:spPr bwMode="auto">
                <a:xfrm>
                  <a:off x="5088" y="2304"/>
                  <a:ext cx="336" cy="96"/>
                </a:xfrm>
                <a:prstGeom prst="rect">
                  <a:avLst/>
                </a:prstGeom>
                <a:solidFill>
                  <a:srgbClr val="FFFFFF"/>
                </a:solidFill>
                <a:ln w="9525" algn="ctr">
                  <a:solidFill>
                    <a:schemeClr val="accent2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noAutofit/>
                </a:bodyPr>
                <a:lstStyle/>
                <a:p>
                  <a:endParaRPr lang="ko-KR" altLang="en-US">
                    <a:latin typeface="나눔고딕" panose="020D0604000000000000" pitchFamily="50" charset="-127"/>
                    <a:ea typeface="나눔고딕" panose="020D0604000000000000" pitchFamily="50" charset="-127"/>
                  </a:endParaRPr>
                </a:p>
              </p:txBody>
            </p:sp>
            <p:sp>
              <p:nvSpPr>
                <p:cNvPr id="840" name="Rectangle 89"/>
                <p:cNvSpPr>
                  <a:spLocks noChangeArrowheads="1"/>
                </p:cNvSpPr>
                <p:nvPr/>
              </p:nvSpPr>
              <p:spPr bwMode="auto">
                <a:xfrm>
                  <a:off x="5088" y="2400"/>
                  <a:ext cx="76" cy="262"/>
                </a:xfrm>
                <a:prstGeom prst="rect">
                  <a:avLst/>
                </a:prstGeom>
                <a:solidFill>
                  <a:srgbClr val="FFFFFF"/>
                </a:solidFill>
                <a:ln w="9525" algn="ctr">
                  <a:solidFill>
                    <a:schemeClr val="accent2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>
                  <a:noAutofit/>
                </a:bodyPr>
                <a:lstStyle/>
                <a:p>
                  <a:endParaRPr lang="ko-KR" altLang="en-US">
                    <a:latin typeface="나눔고딕" panose="020D0604000000000000" pitchFamily="50" charset="-127"/>
                    <a:ea typeface="나눔고딕" panose="020D0604000000000000" pitchFamily="50" charset="-127"/>
                  </a:endParaRPr>
                </a:p>
              </p:txBody>
            </p:sp>
            <p:sp>
              <p:nvSpPr>
                <p:cNvPr id="841" name="Rectangle 90"/>
                <p:cNvSpPr>
                  <a:spLocks noChangeArrowheads="1"/>
                </p:cNvSpPr>
                <p:nvPr/>
              </p:nvSpPr>
              <p:spPr bwMode="auto">
                <a:xfrm>
                  <a:off x="5161" y="2400"/>
                  <a:ext cx="167" cy="262"/>
                </a:xfrm>
                <a:prstGeom prst="rect">
                  <a:avLst/>
                </a:prstGeom>
                <a:solidFill>
                  <a:srgbClr val="FFFFFF"/>
                </a:solidFill>
                <a:ln w="9525" algn="ctr">
                  <a:solidFill>
                    <a:schemeClr val="accent2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>
                  <a:noAutofit/>
                </a:bodyPr>
                <a:lstStyle/>
                <a:p>
                  <a:endParaRPr lang="ko-KR" altLang="en-US">
                    <a:latin typeface="나눔고딕" panose="020D0604000000000000" pitchFamily="50" charset="-127"/>
                    <a:ea typeface="나눔고딕" panose="020D0604000000000000" pitchFamily="50" charset="-127"/>
                  </a:endParaRPr>
                </a:p>
              </p:txBody>
            </p:sp>
            <p:sp>
              <p:nvSpPr>
                <p:cNvPr id="842" name="Rectangle 91"/>
                <p:cNvSpPr>
                  <a:spLocks noChangeArrowheads="1"/>
                </p:cNvSpPr>
                <p:nvPr/>
              </p:nvSpPr>
              <p:spPr bwMode="auto">
                <a:xfrm>
                  <a:off x="5328" y="2400"/>
                  <a:ext cx="99" cy="262"/>
                </a:xfrm>
                <a:prstGeom prst="rect">
                  <a:avLst/>
                </a:prstGeom>
                <a:solidFill>
                  <a:srgbClr val="FFFFFF"/>
                </a:solidFill>
                <a:ln w="9525" algn="ctr">
                  <a:solidFill>
                    <a:schemeClr val="accent2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>
                  <a:noAutofit/>
                </a:bodyPr>
                <a:lstStyle/>
                <a:p>
                  <a:endParaRPr lang="ko-KR" altLang="en-US">
                    <a:latin typeface="나눔고딕" panose="020D0604000000000000" pitchFamily="50" charset="-127"/>
                    <a:ea typeface="나눔고딕" panose="020D0604000000000000" pitchFamily="50" charset="-127"/>
                  </a:endParaRPr>
                </a:p>
              </p:txBody>
            </p:sp>
          </p:grpSp>
          <p:grpSp>
            <p:nvGrpSpPr>
              <p:cNvPr id="359" name="Group 92"/>
              <p:cNvGrpSpPr>
                <a:grpSpLocks/>
              </p:cNvGrpSpPr>
              <p:nvPr/>
            </p:nvGrpSpPr>
            <p:grpSpPr bwMode="auto">
              <a:xfrm>
                <a:off x="5015" y="3443"/>
                <a:ext cx="298" cy="315"/>
                <a:chOff x="5088" y="2304"/>
                <a:chExt cx="339" cy="358"/>
              </a:xfrm>
            </p:grpSpPr>
            <p:grpSp>
              <p:nvGrpSpPr>
                <p:cNvPr id="831" name="Group 93"/>
                <p:cNvGrpSpPr>
                  <a:grpSpLocks/>
                </p:cNvGrpSpPr>
                <p:nvPr/>
              </p:nvGrpSpPr>
              <p:grpSpPr bwMode="auto">
                <a:xfrm>
                  <a:off x="5088" y="2307"/>
                  <a:ext cx="338" cy="350"/>
                  <a:chOff x="4224" y="2689"/>
                  <a:chExt cx="384" cy="428"/>
                </a:xfrm>
              </p:grpSpPr>
              <p:sp>
                <p:nvSpPr>
                  <p:cNvPr id="836" name="Rectangle 94"/>
                  <p:cNvSpPr>
                    <a:spLocks noChangeArrowheads="1"/>
                  </p:cNvSpPr>
                  <p:nvPr/>
                </p:nvSpPr>
                <p:spPr bwMode="auto">
                  <a:xfrm>
                    <a:off x="4224" y="2689"/>
                    <a:ext cx="384" cy="336"/>
                  </a:xfrm>
                  <a:prstGeom prst="rect">
                    <a:avLst/>
                  </a:prstGeom>
                  <a:solidFill>
                    <a:srgbClr val="FFFFFF"/>
                  </a:solidFill>
                  <a:ln w="9525" algn="ctr">
                    <a:solidFill>
                      <a:schemeClr val="accent2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>
                    <a:noAutofit/>
                  </a:bodyPr>
                  <a:lstStyle/>
                  <a:p>
                    <a:endParaRPr lang="ko-KR" altLang="en-US">
                      <a:latin typeface="나눔고딕" panose="020D0604000000000000" pitchFamily="50" charset="-127"/>
                      <a:ea typeface="나눔고딕" panose="020D0604000000000000" pitchFamily="50" charset="-127"/>
                    </a:endParaRPr>
                  </a:p>
                </p:txBody>
              </p:sp>
              <p:sp>
                <p:nvSpPr>
                  <p:cNvPr id="837" name="Rectangle 95"/>
                  <p:cNvSpPr>
                    <a:spLocks noChangeArrowheads="1"/>
                  </p:cNvSpPr>
                  <p:nvPr/>
                </p:nvSpPr>
                <p:spPr bwMode="auto">
                  <a:xfrm>
                    <a:off x="4224" y="3021"/>
                    <a:ext cx="384" cy="96"/>
                  </a:xfrm>
                  <a:prstGeom prst="rect">
                    <a:avLst/>
                  </a:prstGeom>
                  <a:solidFill>
                    <a:srgbClr val="FFFFFF"/>
                  </a:solidFill>
                  <a:ln w="9525" algn="ctr">
                    <a:solidFill>
                      <a:schemeClr val="accent2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anchor="ctr">
                    <a:noAutofit/>
                  </a:bodyPr>
                  <a:lstStyle/>
                  <a:p>
                    <a:endParaRPr lang="ko-KR" altLang="en-US">
                      <a:latin typeface="나눔고딕" panose="020D0604000000000000" pitchFamily="50" charset="-127"/>
                      <a:ea typeface="나눔고딕" panose="020D0604000000000000" pitchFamily="50" charset="-127"/>
                    </a:endParaRPr>
                  </a:p>
                </p:txBody>
              </p:sp>
            </p:grpSp>
            <p:sp>
              <p:nvSpPr>
                <p:cNvPr id="832" name="Rectangle 96"/>
                <p:cNvSpPr>
                  <a:spLocks noChangeArrowheads="1"/>
                </p:cNvSpPr>
                <p:nvPr/>
              </p:nvSpPr>
              <p:spPr bwMode="auto">
                <a:xfrm>
                  <a:off x="5088" y="2304"/>
                  <a:ext cx="336" cy="96"/>
                </a:xfrm>
                <a:prstGeom prst="rect">
                  <a:avLst/>
                </a:prstGeom>
                <a:solidFill>
                  <a:srgbClr val="FFFFFF"/>
                </a:solidFill>
                <a:ln w="9525" algn="ctr">
                  <a:solidFill>
                    <a:schemeClr val="accent2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noAutofit/>
                </a:bodyPr>
                <a:lstStyle/>
                <a:p>
                  <a:endParaRPr lang="ko-KR" altLang="en-US">
                    <a:latin typeface="나눔고딕" panose="020D0604000000000000" pitchFamily="50" charset="-127"/>
                    <a:ea typeface="나눔고딕" panose="020D0604000000000000" pitchFamily="50" charset="-127"/>
                  </a:endParaRPr>
                </a:p>
              </p:txBody>
            </p:sp>
            <p:sp>
              <p:nvSpPr>
                <p:cNvPr id="833" name="Rectangle 97"/>
                <p:cNvSpPr>
                  <a:spLocks noChangeArrowheads="1"/>
                </p:cNvSpPr>
                <p:nvPr/>
              </p:nvSpPr>
              <p:spPr bwMode="auto">
                <a:xfrm>
                  <a:off x="5088" y="2400"/>
                  <a:ext cx="76" cy="262"/>
                </a:xfrm>
                <a:prstGeom prst="rect">
                  <a:avLst/>
                </a:prstGeom>
                <a:solidFill>
                  <a:srgbClr val="FFFFFF"/>
                </a:solidFill>
                <a:ln w="9525" algn="ctr">
                  <a:solidFill>
                    <a:schemeClr val="accent2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>
                  <a:noAutofit/>
                </a:bodyPr>
                <a:lstStyle/>
                <a:p>
                  <a:endParaRPr lang="ko-KR" altLang="en-US">
                    <a:latin typeface="나눔고딕" panose="020D0604000000000000" pitchFamily="50" charset="-127"/>
                    <a:ea typeface="나눔고딕" panose="020D0604000000000000" pitchFamily="50" charset="-127"/>
                  </a:endParaRPr>
                </a:p>
              </p:txBody>
            </p:sp>
            <p:sp>
              <p:nvSpPr>
                <p:cNvPr id="834" name="Rectangle 98"/>
                <p:cNvSpPr>
                  <a:spLocks noChangeArrowheads="1"/>
                </p:cNvSpPr>
                <p:nvPr/>
              </p:nvSpPr>
              <p:spPr bwMode="auto">
                <a:xfrm>
                  <a:off x="5161" y="2400"/>
                  <a:ext cx="167" cy="262"/>
                </a:xfrm>
                <a:prstGeom prst="rect">
                  <a:avLst/>
                </a:prstGeom>
                <a:solidFill>
                  <a:srgbClr val="FFFFFF"/>
                </a:solidFill>
                <a:ln w="9525" algn="ctr">
                  <a:solidFill>
                    <a:schemeClr val="accent2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>
                  <a:noAutofit/>
                </a:bodyPr>
                <a:lstStyle/>
                <a:p>
                  <a:endParaRPr lang="ko-KR" altLang="en-US">
                    <a:latin typeface="나눔고딕" panose="020D0604000000000000" pitchFamily="50" charset="-127"/>
                    <a:ea typeface="나눔고딕" panose="020D0604000000000000" pitchFamily="50" charset="-127"/>
                  </a:endParaRPr>
                </a:p>
              </p:txBody>
            </p:sp>
            <p:sp>
              <p:nvSpPr>
                <p:cNvPr id="835" name="Rectangle 99"/>
                <p:cNvSpPr>
                  <a:spLocks noChangeArrowheads="1"/>
                </p:cNvSpPr>
                <p:nvPr/>
              </p:nvSpPr>
              <p:spPr bwMode="auto">
                <a:xfrm>
                  <a:off x="5328" y="2400"/>
                  <a:ext cx="99" cy="262"/>
                </a:xfrm>
                <a:prstGeom prst="rect">
                  <a:avLst/>
                </a:prstGeom>
                <a:solidFill>
                  <a:srgbClr val="FFFFFF"/>
                </a:solidFill>
                <a:ln w="9525" algn="ctr">
                  <a:solidFill>
                    <a:schemeClr val="accent2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>
                  <a:noAutofit/>
                </a:bodyPr>
                <a:lstStyle/>
                <a:p>
                  <a:endParaRPr lang="ko-KR" altLang="en-US">
                    <a:latin typeface="나눔고딕" panose="020D0604000000000000" pitchFamily="50" charset="-127"/>
                    <a:ea typeface="나눔고딕" panose="020D0604000000000000" pitchFamily="50" charset="-127"/>
                  </a:endParaRPr>
                </a:p>
              </p:txBody>
            </p:sp>
          </p:grpSp>
          <p:grpSp>
            <p:nvGrpSpPr>
              <p:cNvPr id="360" name="Group 100"/>
              <p:cNvGrpSpPr>
                <a:grpSpLocks/>
              </p:cNvGrpSpPr>
              <p:nvPr/>
            </p:nvGrpSpPr>
            <p:grpSpPr bwMode="auto">
              <a:xfrm>
                <a:off x="4578" y="3454"/>
                <a:ext cx="298" cy="315"/>
                <a:chOff x="5088" y="2304"/>
                <a:chExt cx="339" cy="358"/>
              </a:xfrm>
            </p:grpSpPr>
            <p:grpSp>
              <p:nvGrpSpPr>
                <p:cNvPr id="824" name="Group 101"/>
                <p:cNvGrpSpPr>
                  <a:grpSpLocks/>
                </p:cNvGrpSpPr>
                <p:nvPr/>
              </p:nvGrpSpPr>
              <p:grpSpPr bwMode="auto">
                <a:xfrm>
                  <a:off x="5088" y="2307"/>
                  <a:ext cx="338" cy="350"/>
                  <a:chOff x="4224" y="2689"/>
                  <a:chExt cx="384" cy="428"/>
                </a:xfrm>
              </p:grpSpPr>
              <p:sp>
                <p:nvSpPr>
                  <p:cNvPr id="829" name="Rectangle 102"/>
                  <p:cNvSpPr>
                    <a:spLocks noChangeArrowheads="1"/>
                  </p:cNvSpPr>
                  <p:nvPr/>
                </p:nvSpPr>
                <p:spPr bwMode="auto">
                  <a:xfrm>
                    <a:off x="4224" y="2689"/>
                    <a:ext cx="384" cy="336"/>
                  </a:xfrm>
                  <a:prstGeom prst="rect">
                    <a:avLst/>
                  </a:prstGeom>
                  <a:solidFill>
                    <a:srgbClr val="FFFFFF"/>
                  </a:solidFill>
                  <a:ln w="9525" algn="ctr">
                    <a:solidFill>
                      <a:schemeClr val="accent2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>
                    <a:noAutofit/>
                  </a:bodyPr>
                  <a:lstStyle/>
                  <a:p>
                    <a:endParaRPr lang="ko-KR" altLang="en-US">
                      <a:latin typeface="나눔고딕" panose="020D0604000000000000" pitchFamily="50" charset="-127"/>
                      <a:ea typeface="나눔고딕" panose="020D0604000000000000" pitchFamily="50" charset="-127"/>
                    </a:endParaRPr>
                  </a:p>
                </p:txBody>
              </p:sp>
              <p:sp>
                <p:nvSpPr>
                  <p:cNvPr id="830" name="Rectangle 103"/>
                  <p:cNvSpPr>
                    <a:spLocks noChangeArrowheads="1"/>
                  </p:cNvSpPr>
                  <p:nvPr/>
                </p:nvSpPr>
                <p:spPr bwMode="auto">
                  <a:xfrm>
                    <a:off x="4224" y="3021"/>
                    <a:ext cx="384" cy="96"/>
                  </a:xfrm>
                  <a:prstGeom prst="rect">
                    <a:avLst/>
                  </a:prstGeom>
                  <a:solidFill>
                    <a:srgbClr val="FFFFFF"/>
                  </a:solidFill>
                  <a:ln w="9525" algn="ctr">
                    <a:solidFill>
                      <a:schemeClr val="accent2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anchor="ctr">
                    <a:noAutofit/>
                  </a:bodyPr>
                  <a:lstStyle/>
                  <a:p>
                    <a:endParaRPr lang="ko-KR" altLang="en-US">
                      <a:latin typeface="나눔고딕" panose="020D0604000000000000" pitchFamily="50" charset="-127"/>
                      <a:ea typeface="나눔고딕" panose="020D0604000000000000" pitchFamily="50" charset="-127"/>
                    </a:endParaRPr>
                  </a:p>
                </p:txBody>
              </p:sp>
            </p:grpSp>
            <p:sp>
              <p:nvSpPr>
                <p:cNvPr id="825" name="Rectangle 104"/>
                <p:cNvSpPr>
                  <a:spLocks noChangeArrowheads="1"/>
                </p:cNvSpPr>
                <p:nvPr/>
              </p:nvSpPr>
              <p:spPr bwMode="auto">
                <a:xfrm>
                  <a:off x="5088" y="2304"/>
                  <a:ext cx="336" cy="96"/>
                </a:xfrm>
                <a:prstGeom prst="rect">
                  <a:avLst/>
                </a:prstGeom>
                <a:solidFill>
                  <a:srgbClr val="FFFFFF"/>
                </a:solidFill>
                <a:ln w="9525" algn="ctr">
                  <a:solidFill>
                    <a:schemeClr val="accent2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noAutofit/>
                </a:bodyPr>
                <a:lstStyle/>
                <a:p>
                  <a:endParaRPr lang="ko-KR" altLang="en-US">
                    <a:latin typeface="나눔고딕" panose="020D0604000000000000" pitchFamily="50" charset="-127"/>
                    <a:ea typeface="나눔고딕" panose="020D0604000000000000" pitchFamily="50" charset="-127"/>
                  </a:endParaRPr>
                </a:p>
              </p:txBody>
            </p:sp>
            <p:sp>
              <p:nvSpPr>
                <p:cNvPr id="826" name="Rectangle 105"/>
                <p:cNvSpPr>
                  <a:spLocks noChangeArrowheads="1"/>
                </p:cNvSpPr>
                <p:nvPr/>
              </p:nvSpPr>
              <p:spPr bwMode="auto">
                <a:xfrm>
                  <a:off x="5088" y="2400"/>
                  <a:ext cx="76" cy="262"/>
                </a:xfrm>
                <a:prstGeom prst="rect">
                  <a:avLst/>
                </a:prstGeom>
                <a:solidFill>
                  <a:srgbClr val="FFFFFF"/>
                </a:solidFill>
                <a:ln w="9525" algn="ctr">
                  <a:solidFill>
                    <a:schemeClr val="accent2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>
                  <a:noAutofit/>
                </a:bodyPr>
                <a:lstStyle/>
                <a:p>
                  <a:endParaRPr lang="ko-KR" altLang="en-US">
                    <a:latin typeface="나눔고딕" panose="020D0604000000000000" pitchFamily="50" charset="-127"/>
                    <a:ea typeface="나눔고딕" panose="020D0604000000000000" pitchFamily="50" charset="-127"/>
                  </a:endParaRPr>
                </a:p>
              </p:txBody>
            </p:sp>
            <p:sp>
              <p:nvSpPr>
                <p:cNvPr id="827" name="Rectangle 106"/>
                <p:cNvSpPr>
                  <a:spLocks noChangeArrowheads="1"/>
                </p:cNvSpPr>
                <p:nvPr/>
              </p:nvSpPr>
              <p:spPr bwMode="auto">
                <a:xfrm>
                  <a:off x="5161" y="2400"/>
                  <a:ext cx="167" cy="262"/>
                </a:xfrm>
                <a:prstGeom prst="rect">
                  <a:avLst/>
                </a:prstGeom>
                <a:solidFill>
                  <a:srgbClr val="FFFFFF"/>
                </a:solidFill>
                <a:ln w="9525" algn="ctr">
                  <a:solidFill>
                    <a:schemeClr val="accent2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>
                  <a:noAutofit/>
                </a:bodyPr>
                <a:lstStyle/>
                <a:p>
                  <a:endParaRPr lang="ko-KR" altLang="en-US">
                    <a:latin typeface="나눔고딕" panose="020D0604000000000000" pitchFamily="50" charset="-127"/>
                    <a:ea typeface="나눔고딕" panose="020D0604000000000000" pitchFamily="50" charset="-127"/>
                  </a:endParaRPr>
                </a:p>
              </p:txBody>
            </p:sp>
            <p:sp>
              <p:nvSpPr>
                <p:cNvPr id="828" name="Rectangle 107"/>
                <p:cNvSpPr>
                  <a:spLocks noChangeArrowheads="1"/>
                </p:cNvSpPr>
                <p:nvPr/>
              </p:nvSpPr>
              <p:spPr bwMode="auto">
                <a:xfrm>
                  <a:off x="5328" y="2400"/>
                  <a:ext cx="99" cy="262"/>
                </a:xfrm>
                <a:prstGeom prst="rect">
                  <a:avLst/>
                </a:prstGeom>
                <a:solidFill>
                  <a:srgbClr val="FFFFFF"/>
                </a:solidFill>
                <a:ln w="9525" algn="ctr">
                  <a:solidFill>
                    <a:schemeClr val="accent2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>
                  <a:noAutofit/>
                </a:bodyPr>
                <a:lstStyle/>
                <a:p>
                  <a:endParaRPr lang="ko-KR" altLang="en-US">
                    <a:latin typeface="나눔고딕" panose="020D0604000000000000" pitchFamily="50" charset="-127"/>
                    <a:ea typeface="나눔고딕" panose="020D0604000000000000" pitchFamily="50" charset="-127"/>
                  </a:endParaRPr>
                </a:p>
              </p:txBody>
            </p:sp>
          </p:grpSp>
          <p:grpSp>
            <p:nvGrpSpPr>
              <p:cNvPr id="361" name="Group 108"/>
              <p:cNvGrpSpPr>
                <a:grpSpLocks/>
              </p:cNvGrpSpPr>
              <p:nvPr/>
            </p:nvGrpSpPr>
            <p:grpSpPr bwMode="auto">
              <a:xfrm>
                <a:off x="3873" y="3024"/>
                <a:ext cx="298" cy="315"/>
                <a:chOff x="5088" y="2304"/>
                <a:chExt cx="339" cy="358"/>
              </a:xfrm>
            </p:grpSpPr>
            <p:grpSp>
              <p:nvGrpSpPr>
                <p:cNvPr id="817" name="Group 109"/>
                <p:cNvGrpSpPr>
                  <a:grpSpLocks/>
                </p:cNvGrpSpPr>
                <p:nvPr/>
              </p:nvGrpSpPr>
              <p:grpSpPr bwMode="auto">
                <a:xfrm>
                  <a:off x="5088" y="2307"/>
                  <a:ext cx="338" cy="350"/>
                  <a:chOff x="4224" y="2689"/>
                  <a:chExt cx="384" cy="428"/>
                </a:xfrm>
              </p:grpSpPr>
              <p:sp>
                <p:nvSpPr>
                  <p:cNvPr id="822" name="Rectangle 110"/>
                  <p:cNvSpPr>
                    <a:spLocks noChangeArrowheads="1"/>
                  </p:cNvSpPr>
                  <p:nvPr/>
                </p:nvSpPr>
                <p:spPr bwMode="auto">
                  <a:xfrm>
                    <a:off x="4224" y="2689"/>
                    <a:ext cx="384" cy="336"/>
                  </a:xfrm>
                  <a:prstGeom prst="rect">
                    <a:avLst/>
                  </a:prstGeom>
                  <a:solidFill>
                    <a:srgbClr val="FFFFFF"/>
                  </a:solidFill>
                  <a:ln w="9525" algn="ctr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>
                    <a:noAutofit/>
                  </a:bodyPr>
                  <a:lstStyle/>
                  <a:p>
                    <a:endParaRPr lang="ko-KR" altLang="en-US">
                      <a:latin typeface="나눔고딕" panose="020D0604000000000000" pitchFamily="50" charset="-127"/>
                      <a:ea typeface="나눔고딕" panose="020D0604000000000000" pitchFamily="50" charset="-127"/>
                    </a:endParaRPr>
                  </a:p>
                </p:txBody>
              </p:sp>
              <p:sp>
                <p:nvSpPr>
                  <p:cNvPr id="823" name="Rectangle 111"/>
                  <p:cNvSpPr>
                    <a:spLocks noChangeArrowheads="1"/>
                  </p:cNvSpPr>
                  <p:nvPr/>
                </p:nvSpPr>
                <p:spPr bwMode="auto">
                  <a:xfrm>
                    <a:off x="4224" y="3021"/>
                    <a:ext cx="384" cy="96"/>
                  </a:xfrm>
                  <a:prstGeom prst="rect">
                    <a:avLst/>
                  </a:prstGeom>
                  <a:solidFill>
                    <a:srgbClr val="FFFFFF"/>
                  </a:solidFill>
                  <a:ln w="9525" algn="ctr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anchor="ctr">
                    <a:noAutofit/>
                  </a:bodyPr>
                  <a:lstStyle/>
                  <a:p>
                    <a:endParaRPr lang="ko-KR" altLang="en-US">
                      <a:latin typeface="나눔고딕" panose="020D0604000000000000" pitchFamily="50" charset="-127"/>
                      <a:ea typeface="나눔고딕" panose="020D0604000000000000" pitchFamily="50" charset="-127"/>
                    </a:endParaRPr>
                  </a:p>
                </p:txBody>
              </p:sp>
            </p:grpSp>
            <p:sp>
              <p:nvSpPr>
                <p:cNvPr id="818" name="Rectangle 112"/>
                <p:cNvSpPr>
                  <a:spLocks noChangeArrowheads="1"/>
                </p:cNvSpPr>
                <p:nvPr/>
              </p:nvSpPr>
              <p:spPr bwMode="auto">
                <a:xfrm>
                  <a:off x="5088" y="2304"/>
                  <a:ext cx="336" cy="96"/>
                </a:xfrm>
                <a:prstGeom prst="rect">
                  <a:avLst/>
                </a:prstGeom>
                <a:solidFill>
                  <a:srgbClr val="FFFFFF"/>
                </a:solidFill>
                <a:ln w="9525" algn="ctr">
                  <a:solidFill>
                    <a:srgbClr val="C0C0C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noAutofit/>
                </a:bodyPr>
                <a:lstStyle/>
                <a:p>
                  <a:endParaRPr lang="ko-KR" altLang="en-US">
                    <a:latin typeface="나눔고딕" panose="020D0604000000000000" pitchFamily="50" charset="-127"/>
                    <a:ea typeface="나눔고딕" panose="020D0604000000000000" pitchFamily="50" charset="-127"/>
                  </a:endParaRPr>
                </a:p>
              </p:txBody>
            </p:sp>
            <p:sp>
              <p:nvSpPr>
                <p:cNvPr id="819" name="Rectangle 113"/>
                <p:cNvSpPr>
                  <a:spLocks noChangeArrowheads="1"/>
                </p:cNvSpPr>
                <p:nvPr/>
              </p:nvSpPr>
              <p:spPr bwMode="auto">
                <a:xfrm>
                  <a:off x="5088" y="2400"/>
                  <a:ext cx="76" cy="262"/>
                </a:xfrm>
                <a:prstGeom prst="rect">
                  <a:avLst/>
                </a:prstGeom>
                <a:solidFill>
                  <a:srgbClr val="FFFFFF"/>
                </a:solidFill>
                <a:ln w="9525" algn="ctr">
                  <a:solidFill>
                    <a:srgbClr val="C0C0C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>
                  <a:noAutofit/>
                </a:bodyPr>
                <a:lstStyle/>
                <a:p>
                  <a:endParaRPr lang="ko-KR" altLang="en-US">
                    <a:latin typeface="나눔고딕" panose="020D0604000000000000" pitchFamily="50" charset="-127"/>
                    <a:ea typeface="나눔고딕" panose="020D0604000000000000" pitchFamily="50" charset="-127"/>
                  </a:endParaRPr>
                </a:p>
              </p:txBody>
            </p:sp>
            <p:sp>
              <p:nvSpPr>
                <p:cNvPr id="820" name="Rectangle 114"/>
                <p:cNvSpPr>
                  <a:spLocks noChangeArrowheads="1"/>
                </p:cNvSpPr>
                <p:nvPr/>
              </p:nvSpPr>
              <p:spPr bwMode="auto">
                <a:xfrm>
                  <a:off x="5161" y="2400"/>
                  <a:ext cx="167" cy="262"/>
                </a:xfrm>
                <a:prstGeom prst="rect">
                  <a:avLst/>
                </a:prstGeom>
                <a:solidFill>
                  <a:srgbClr val="FFFFFF"/>
                </a:solidFill>
                <a:ln w="9525" algn="ctr">
                  <a:solidFill>
                    <a:srgbClr val="C0C0C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>
                  <a:noAutofit/>
                </a:bodyPr>
                <a:lstStyle/>
                <a:p>
                  <a:endParaRPr lang="ko-KR" altLang="en-US">
                    <a:latin typeface="나눔고딕" panose="020D0604000000000000" pitchFamily="50" charset="-127"/>
                    <a:ea typeface="나눔고딕" panose="020D0604000000000000" pitchFamily="50" charset="-127"/>
                  </a:endParaRPr>
                </a:p>
              </p:txBody>
            </p:sp>
            <p:sp>
              <p:nvSpPr>
                <p:cNvPr id="821" name="Rectangle 115"/>
                <p:cNvSpPr>
                  <a:spLocks noChangeArrowheads="1"/>
                </p:cNvSpPr>
                <p:nvPr/>
              </p:nvSpPr>
              <p:spPr bwMode="auto">
                <a:xfrm>
                  <a:off x="5328" y="2400"/>
                  <a:ext cx="99" cy="262"/>
                </a:xfrm>
                <a:prstGeom prst="rect">
                  <a:avLst/>
                </a:prstGeom>
                <a:solidFill>
                  <a:srgbClr val="FFFFFF"/>
                </a:solidFill>
                <a:ln w="9525" algn="ctr">
                  <a:solidFill>
                    <a:srgbClr val="C0C0C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>
                  <a:noAutofit/>
                </a:bodyPr>
                <a:lstStyle/>
                <a:p>
                  <a:endParaRPr lang="ko-KR" altLang="en-US">
                    <a:latin typeface="나눔고딕" panose="020D0604000000000000" pitchFamily="50" charset="-127"/>
                    <a:ea typeface="나눔고딕" panose="020D0604000000000000" pitchFamily="50" charset="-127"/>
                  </a:endParaRPr>
                </a:p>
              </p:txBody>
            </p:sp>
          </p:grpSp>
          <p:grpSp>
            <p:nvGrpSpPr>
              <p:cNvPr id="362" name="Group 116"/>
              <p:cNvGrpSpPr>
                <a:grpSpLocks/>
              </p:cNvGrpSpPr>
              <p:nvPr/>
            </p:nvGrpSpPr>
            <p:grpSpPr bwMode="auto">
              <a:xfrm>
                <a:off x="4170" y="3443"/>
                <a:ext cx="298" cy="315"/>
                <a:chOff x="5088" y="2304"/>
                <a:chExt cx="339" cy="358"/>
              </a:xfrm>
            </p:grpSpPr>
            <p:grpSp>
              <p:nvGrpSpPr>
                <p:cNvPr id="810" name="Group 117"/>
                <p:cNvGrpSpPr>
                  <a:grpSpLocks/>
                </p:cNvGrpSpPr>
                <p:nvPr/>
              </p:nvGrpSpPr>
              <p:grpSpPr bwMode="auto">
                <a:xfrm>
                  <a:off x="5088" y="2307"/>
                  <a:ext cx="338" cy="350"/>
                  <a:chOff x="4224" y="2689"/>
                  <a:chExt cx="384" cy="428"/>
                </a:xfrm>
              </p:grpSpPr>
              <p:sp>
                <p:nvSpPr>
                  <p:cNvPr id="815" name="Rectangle 118"/>
                  <p:cNvSpPr>
                    <a:spLocks noChangeArrowheads="1"/>
                  </p:cNvSpPr>
                  <p:nvPr/>
                </p:nvSpPr>
                <p:spPr bwMode="auto">
                  <a:xfrm>
                    <a:off x="4224" y="2689"/>
                    <a:ext cx="384" cy="336"/>
                  </a:xfrm>
                  <a:prstGeom prst="rect">
                    <a:avLst/>
                  </a:prstGeom>
                  <a:solidFill>
                    <a:srgbClr val="FFFFFF"/>
                  </a:solidFill>
                  <a:ln w="9525" algn="ctr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>
                    <a:noAutofit/>
                  </a:bodyPr>
                  <a:lstStyle/>
                  <a:p>
                    <a:endParaRPr lang="ko-KR" altLang="en-US">
                      <a:latin typeface="나눔고딕" panose="020D0604000000000000" pitchFamily="50" charset="-127"/>
                      <a:ea typeface="나눔고딕" panose="020D0604000000000000" pitchFamily="50" charset="-127"/>
                    </a:endParaRPr>
                  </a:p>
                </p:txBody>
              </p:sp>
              <p:sp>
                <p:nvSpPr>
                  <p:cNvPr id="816" name="Rectangle 119"/>
                  <p:cNvSpPr>
                    <a:spLocks noChangeArrowheads="1"/>
                  </p:cNvSpPr>
                  <p:nvPr/>
                </p:nvSpPr>
                <p:spPr bwMode="auto">
                  <a:xfrm>
                    <a:off x="4224" y="3021"/>
                    <a:ext cx="384" cy="96"/>
                  </a:xfrm>
                  <a:prstGeom prst="rect">
                    <a:avLst/>
                  </a:prstGeom>
                  <a:solidFill>
                    <a:srgbClr val="FFFFFF"/>
                  </a:solidFill>
                  <a:ln w="9525" algn="ctr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anchor="ctr">
                    <a:noAutofit/>
                  </a:bodyPr>
                  <a:lstStyle/>
                  <a:p>
                    <a:endParaRPr lang="ko-KR" altLang="en-US">
                      <a:latin typeface="나눔고딕" panose="020D0604000000000000" pitchFamily="50" charset="-127"/>
                      <a:ea typeface="나눔고딕" panose="020D0604000000000000" pitchFamily="50" charset="-127"/>
                    </a:endParaRPr>
                  </a:p>
                </p:txBody>
              </p:sp>
            </p:grpSp>
            <p:sp>
              <p:nvSpPr>
                <p:cNvPr id="811" name="Rectangle 120"/>
                <p:cNvSpPr>
                  <a:spLocks noChangeArrowheads="1"/>
                </p:cNvSpPr>
                <p:nvPr/>
              </p:nvSpPr>
              <p:spPr bwMode="auto">
                <a:xfrm>
                  <a:off x="5088" y="2304"/>
                  <a:ext cx="336" cy="96"/>
                </a:xfrm>
                <a:prstGeom prst="rect">
                  <a:avLst/>
                </a:prstGeom>
                <a:solidFill>
                  <a:srgbClr val="FFFFFF"/>
                </a:solidFill>
                <a:ln w="9525" algn="ctr">
                  <a:solidFill>
                    <a:srgbClr val="C0C0C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noAutofit/>
                </a:bodyPr>
                <a:lstStyle/>
                <a:p>
                  <a:endParaRPr lang="ko-KR" altLang="en-US">
                    <a:latin typeface="나눔고딕" panose="020D0604000000000000" pitchFamily="50" charset="-127"/>
                    <a:ea typeface="나눔고딕" panose="020D0604000000000000" pitchFamily="50" charset="-127"/>
                  </a:endParaRPr>
                </a:p>
              </p:txBody>
            </p:sp>
            <p:sp>
              <p:nvSpPr>
                <p:cNvPr id="812" name="Rectangle 121"/>
                <p:cNvSpPr>
                  <a:spLocks noChangeArrowheads="1"/>
                </p:cNvSpPr>
                <p:nvPr/>
              </p:nvSpPr>
              <p:spPr bwMode="auto">
                <a:xfrm>
                  <a:off x="5088" y="2400"/>
                  <a:ext cx="76" cy="262"/>
                </a:xfrm>
                <a:prstGeom prst="rect">
                  <a:avLst/>
                </a:prstGeom>
                <a:solidFill>
                  <a:srgbClr val="FFFFFF"/>
                </a:solidFill>
                <a:ln w="9525" algn="ctr">
                  <a:solidFill>
                    <a:srgbClr val="C0C0C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>
                  <a:noAutofit/>
                </a:bodyPr>
                <a:lstStyle/>
                <a:p>
                  <a:endParaRPr lang="ko-KR" altLang="en-US">
                    <a:latin typeface="나눔고딕" panose="020D0604000000000000" pitchFamily="50" charset="-127"/>
                    <a:ea typeface="나눔고딕" panose="020D0604000000000000" pitchFamily="50" charset="-127"/>
                  </a:endParaRPr>
                </a:p>
              </p:txBody>
            </p:sp>
            <p:sp>
              <p:nvSpPr>
                <p:cNvPr id="813" name="Rectangle 122"/>
                <p:cNvSpPr>
                  <a:spLocks noChangeArrowheads="1"/>
                </p:cNvSpPr>
                <p:nvPr/>
              </p:nvSpPr>
              <p:spPr bwMode="auto">
                <a:xfrm>
                  <a:off x="5161" y="2400"/>
                  <a:ext cx="167" cy="262"/>
                </a:xfrm>
                <a:prstGeom prst="rect">
                  <a:avLst/>
                </a:prstGeom>
                <a:solidFill>
                  <a:srgbClr val="FFFFFF"/>
                </a:solidFill>
                <a:ln w="9525" algn="ctr">
                  <a:solidFill>
                    <a:srgbClr val="C0C0C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>
                  <a:noAutofit/>
                </a:bodyPr>
                <a:lstStyle/>
                <a:p>
                  <a:endParaRPr lang="ko-KR" altLang="en-US">
                    <a:latin typeface="나눔고딕" panose="020D0604000000000000" pitchFamily="50" charset="-127"/>
                    <a:ea typeface="나눔고딕" panose="020D0604000000000000" pitchFamily="50" charset="-127"/>
                  </a:endParaRPr>
                </a:p>
              </p:txBody>
            </p:sp>
            <p:sp>
              <p:nvSpPr>
                <p:cNvPr id="814" name="Rectangle 123"/>
                <p:cNvSpPr>
                  <a:spLocks noChangeArrowheads="1"/>
                </p:cNvSpPr>
                <p:nvPr/>
              </p:nvSpPr>
              <p:spPr bwMode="auto">
                <a:xfrm>
                  <a:off x="5328" y="2400"/>
                  <a:ext cx="99" cy="262"/>
                </a:xfrm>
                <a:prstGeom prst="rect">
                  <a:avLst/>
                </a:prstGeom>
                <a:solidFill>
                  <a:srgbClr val="FFFFFF"/>
                </a:solidFill>
                <a:ln w="9525" algn="ctr">
                  <a:solidFill>
                    <a:srgbClr val="C0C0C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>
                  <a:noAutofit/>
                </a:bodyPr>
                <a:lstStyle/>
                <a:p>
                  <a:endParaRPr lang="ko-KR" altLang="en-US">
                    <a:latin typeface="나눔고딕" panose="020D0604000000000000" pitchFamily="50" charset="-127"/>
                    <a:ea typeface="나눔고딕" panose="020D0604000000000000" pitchFamily="50" charset="-127"/>
                  </a:endParaRPr>
                </a:p>
              </p:txBody>
            </p:sp>
          </p:grpSp>
          <p:grpSp>
            <p:nvGrpSpPr>
              <p:cNvPr id="363" name="Group 124"/>
              <p:cNvGrpSpPr>
                <a:grpSpLocks/>
              </p:cNvGrpSpPr>
              <p:nvPr/>
            </p:nvGrpSpPr>
            <p:grpSpPr bwMode="auto">
              <a:xfrm>
                <a:off x="3733" y="3454"/>
                <a:ext cx="298" cy="315"/>
                <a:chOff x="5088" y="2304"/>
                <a:chExt cx="339" cy="358"/>
              </a:xfrm>
            </p:grpSpPr>
            <p:grpSp>
              <p:nvGrpSpPr>
                <p:cNvPr id="803" name="Group 125"/>
                <p:cNvGrpSpPr>
                  <a:grpSpLocks/>
                </p:cNvGrpSpPr>
                <p:nvPr/>
              </p:nvGrpSpPr>
              <p:grpSpPr bwMode="auto">
                <a:xfrm>
                  <a:off x="5088" y="2307"/>
                  <a:ext cx="338" cy="350"/>
                  <a:chOff x="4224" y="2689"/>
                  <a:chExt cx="384" cy="428"/>
                </a:xfrm>
              </p:grpSpPr>
              <p:sp>
                <p:nvSpPr>
                  <p:cNvPr id="808" name="Rectangle 126"/>
                  <p:cNvSpPr>
                    <a:spLocks noChangeArrowheads="1"/>
                  </p:cNvSpPr>
                  <p:nvPr/>
                </p:nvSpPr>
                <p:spPr bwMode="auto">
                  <a:xfrm>
                    <a:off x="4224" y="2689"/>
                    <a:ext cx="384" cy="336"/>
                  </a:xfrm>
                  <a:prstGeom prst="rect">
                    <a:avLst/>
                  </a:prstGeom>
                  <a:solidFill>
                    <a:srgbClr val="FFFFFF"/>
                  </a:solidFill>
                  <a:ln w="9525" algn="ctr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>
                    <a:noAutofit/>
                  </a:bodyPr>
                  <a:lstStyle/>
                  <a:p>
                    <a:endParaRPr lang="ko-KR" altLang="en-US">
                      <a:latin typeface="나눔고딕" panose="020D0604000000000000" pitchFamily="50" charset="-127"/>
                      <a:ea typeface="나눔고딕" panose="020D0604000000000000" pitchFamily="50" charset="-127"/>
                    </a:endParaRPr>
                  </a:p>
                </p:txBody>
              </p:sp>
              <p:sp>
                <p:nvSpPr>
                  <p:cNvPr id="809" name="Rectangle 127"/>
                  <p:cNvSpPr>
                    <a:spLocks noChangeArrowheads="1"/>
                  </p:cNvSpPr>
                  <p:nvPr/>
                </p:nvSpPr>
                <p:spPr bwMode="auto">
                  <a:xfrm>
                    <a:off x="4224" y="3021"/>
                    <a:ext cx="384" cy="96"/>
                  </a:xfrm>
                  <a:prstGeom prst="rect">
                    <a:avLst/>
                  </a:prstGeom>
                  <a:solidFill>
                    <a:srgbClr val="FFFFFF"/>
                  </a:solidFill>
                  <a:ln w="9525" algn="ctr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anchor="ctr">
                    <a:noAutofit/>
                  </a:bodyPr>
                  <a:lstStyle/>
                  <a:p>
                    <a:endParaRPr lang="ko-KR" altLang="en-US">
                      <a:latin typeface="나눔고딕" panose="020D0604000000000000" pitchFamily="50" charset="-127"/>
                      <a:ea typeface="나눔고딕" panose="020D0604000000000000" pitchFamily="50" charset="-127"/>
                    </a:endParaRPr>
                  </a:p>
                </p:txBody>
              </p:sp>
            </p:grpSp>
            <p:sp>
              <p:nvSpPr>
                <p:cNvPr id="804" name="Rectangle 128"/>
                <p:cNvSpPr>
                  <a:spLocks noChangeArrowheads="1"/>
                </p:cNvSpPr>
                <p:nvPr/>
              </p:nvSpPr>
              <p:spPr bwMode="auto">
                <a:xfrm>
                  <a:off x="5088" y="2304"/>
                  <a:ext cx="336" cy="96"/>
                </a:xfrm>
                <a:prstGeom prst="rect">
                  <a:avLst/>
                </a:prstGeom>
                <a:solidFill>
                  <a:srgbClr val="FFFFFF"/>
                </a:solidFill>
                <a:ln w="9525" algn="ctr">
                  <a:solidFill>
                    <a:srgbClr val="C0C0C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noAutofit/>
                </a:bodyPr>
                <a:lstStyle/>
                <a:p>
                  <a:endParaRPr lang="ko-KR" altLang="en-US">
                    <a:latin typeface="나눔고딕" panose="020D0604000000000000" pitchFamily="50" charset="-127"/>
                    <a:ea typeface="나눔고딕" panose="020D0604000000000000" pitchFamily="50" charset="-127"/>
                  </a:endParaRPr>
                </a:p>
              </p:txBody>
            </p:sp>
            <p:sp>
              <p:nvSpPr>
                <p:cNvPr id="805" name="Rectangle 129"/>
                <p:cNvSpPr>
                  <a:spLocks noChangeArrowheads="1"/>
                </p:cNvSpPr>
                <p:nvPr/>
              </p:nvSpPr>
              <p:spPr bwMode="auto">
                <a:xfrm>
                  <a:off x="5088" y="2400"/>
                  <a:ext cx="76" cy="262"/>
                </a:xfrm>
                <a:prstGeom prst="rect">
                  <a:avLst/>
                </a:prstGeom>
                <a:solidFill>
                  <a:srgbClr val="FFFFFF"/>
                </a:solidFill>
                <a:ln w="9525" algn="ctr">
                  <a:solidFill>
                    <a:srgbClr val="C0C0C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>
                  <a:noAutofit/>
                </a:bodyPr>
                <a:lstStyle/>
                <a:p>
                  <a:endParaRPr lang="ko-KR" altLang="en-US">
                    <a:latin typeface="나눔고딕" panose="020D0604000000000000" pitchFamily="50" charset="-127"/>
                    <a:ea typeface="나눔고딕" panose="020D0604000000000000" pitchFamily="50" charset="-127"/>
                  </a:endParaRPr>
                </a:p>
              </p:txBody>
            </p:sp>
            <p:sp>
              <p:nvSpPr>
                <p:cNvPr id="806" name="Rectangle 130"/>
                <p:cNvSpPr>
                  <a:spLocks noChangeArrowheads="1"/>
                </p:cNvSpPr>
                <p:nvPr/>
              </p:nvSpPr>
              <p:spPr bwMode="auto">
                <a:xfrm>
                  <a:off x="5161" y="2400"/>
                  <a:ext cx="167" cy="262"/>
                </a:xfrm>
                <a:prstGeom prst="rect">
                  <a:avLst/>
                </a:prstGeom>
                <a:solidFill>
                  <a:srgbClr val="FFFFFF"/>
                </a:solidFill>
                <a:ln w="9525" algn="ctr">
                  <a:solidFill>
                    <a:srgbClr val="C0C0C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>
                  <a:noAutofit/>
                </a:bodyPr>
                <a:lstStyle/>
                <a:p>
                  <a:endParaRPr lang="ko-KR" altLang="en-US">
                    <a:latin typeface="나눔고딕" panose="020D0604000000000000" pitchFamily="50" charset="-127"/>
                    <a:ea typeface="나눔고딕" panose="020D0604000000000000" pitchFamily="50" charset="-127"/>
                  </a:endParaRPr>
                </a:p>
              </p:txBody>
            </p:sp>
            <p:sp>
              <p:nvSpPr>
                <p:cNvPr id="807" name="Rectangle 131"/>
                <p:cNvSpPr>
                  <a:spLocks noChangeArrowheads="1"/>
                </p:cNvSpPr>
                <p:nvPr/>
              </p:nvSpPr>
              <p:spPr bwMode="auto">
                <a:xfrm>
                  <a:off x="5328" y="2400"/>
                  <a:ext cx="99" cy="262"/>
                </a:xfrm>
                <a:prstGeom prst="rect">
                  <a:avLst/>
                </a:prstGeom>
                <a:solidFill>
                  <a:srgbClr val="FFFFFF"/>
                </a:solidFill>
                <a:ln w="9525" algn="ctr">
                  <a:solidFill>
                    <a:srgbClr val="C0C0C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>
                  <a:noAutofit/>
                </a:bodyPr>
                <a:lstStyle/>
                <a:p>
                  <a:endParaRPr lang="ko-KR" altLang="en-US">
                    <a:latin typeface="나눔고딕" panose="020D0604000000000000" pitchFamily="50" charset="-127"/>
                    <a:ea typeface="나눔고딕" panose="020D0604000000000000" pitchFamily="50" charset="-127"/>
                  </a:endParaRPr>
                </a:p>
              </p:txBody>
            </p:sp>
          </p:grpSp>
          <p:grpSp>
            <p:nvGrpSpPr>
              <p:cNvPr id="364" name="Group 132"/>
              <p:cNvGrpSpPr>
                <a:grpSpLocks/>
              </p:cNvGrpSpPr>
              <p:nvPr/>
            </p:nvGrpSpPr>
            <p:grpSpPr bwMode="auto">
              <a:xfrm>
                <a:off x="3079" y="3024"/>
                <a:ext cx="298" cy="315"/>
                <a:chOff x="5088" y="2304"/>
                <a:chExt cx="339" cy="358"/>
              </a:xfrm>
            </p:grpSpPr>
            <p:grpSp>
              <p:nvGrpSpPr>
                <p:cNvPr id="796" name="Group 133"/>
                <p:cNvGrpSpPr>
                  <a:grpSpLocks/>
                </p:cNvGrpSpPr>
                <p:nvPr/>
              </p:nvGrpSpPr>
              <p:grpSpPr bwMode="auto">
                <a:xfrm>
                  <a:off x="5088" y="2307"/>
                  <a:ext cx="338" cy="350"/>
                  <a:chOff x="4224" y="2689"/>
                  <a:chExt cx="384" cy="428"/>
                </a:xfrm>
              </p:grpSpPr>
              <p:sp>
                <p:nvSpPr>
                  <p:cNvPr id="801" name="Rectangle 134"/>
                  <p:cNvSpPr>
                    <a:spLocks noChangeArrowheads="1"/>
                  </p:cNvSpPr>
                  <p:nvPr/>
                </p:nvSpPr>
                <p:spPr bwMode="auto">
                  <a:xfrm>
                    <a:off x="4224" y="2689"/>
                    <a:ext cx="384" cy="336"/>
                  </a:xfrm>
                  <a:prstGeom prst="rect">
                    <a:avLst/>
                  </a:prstGeom>
                  <a:solidFill>
                    <a:srgbClr val="FFFFFF"/>
                  </a:solidFill>
                  <a:ln w="9525" algn="ctr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>
                    <a:noAutofit/>
                  </a:bodyPr>
                  <a:lstStyle/>
                  <a:p>
                    <a:endParaRPr lang="ko-KR" altLang="en-US">
                      <a:latin typeface="나눔고딕" panose="020D0604000000000000" pitchFamily="50" charset="-127"/>
                      <a:ea typeface="나눔고딕" panose="020D0604000000000000" pitchFamily="50" charset="-127"/>
                    </a:endParaRPr>
                  </a:p>
                </p:txBody>
              </p:sp>
              <p:sp>
                <p:nvSpPr>
                  <p:cNvPr id="802" name="Rectangle 135"/>
                  <p:cNvSpPr>
                    <a:spLocks noChangeArrowheads="1"/>
                  </p:cNvSpPr>
                  <p:nvPr/>
                </p:nvSpPr>
                <p:spPr bwMode="auto">
                  <a:xfrm>
                    <a:off x="4224" y="3021"/>
                    <a:ext cx="384" cy="96"/>
                  </a:xfrm>
                  <a:prstGeom prst="rect">
                    <a:avLst/>
                  </a:prstGeom>
                  <a:solidFill>
                    <a:srgbClr val="FFFFFF"/>
                  </a:solidFill>
                  <a:ln w="9525" algn="ctr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anchor="ctr">
                    <a:noAutofit/>
                  </a:bodyPr>
                  <a:lstStyle/>
                  <a:p>
                    <a:endParaRPr lang="ko-KR" altLang="en-US">
                      <a:latin typeface="나눔고딕" panose="020D0604000000000000" pitchFamily="50" charset="-127"/>
                      <a:ea typeface="나눔고딕" panose="020D0604000000000000" pitchFamily="50" charset="-127"/>
                    </a:endParaRPr>
                  </a:p>
                </p:txBody>
              </p:sp>
            </p:grpSp>
            <p:sp>
              <p:nvSpPr>
                <p:cNvPr id="797" name="Rectangle 136"/>
                <p:cNvSpPr>
                  <a:spLocks noChangeArrowheads="1"/>
                </p:cNvSpPr>
                <p:nvPr/>
              </p:nvSpPr>
              <p:spPr bwMode="auto">
                <a:xfrm>
                  <a:off x="5088" y="2304"/>
                  <a:ext cx="336" cy="96"/>
                </a:xfrm>
                <a:prstGeom prst="rect">
                  <a:avLst/>
                </a:prstGeom>
                <a:solidFill>
                  <a:srgbClr val="FFFFFF"/>
                </a:solidFill>
                <a:ln w="9525" algn="ctr">
                  <a:solidFill>
                    <a:srgbClr val="C0C0C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noAutofit/>
                </a:bodyPr>
                <a:lstStyle/>
                <a:p>
                  <a:endParaRPr lang="ko-KR" altLang="en-US">
                    <a:latin typeface="나눔고딕" panose="020D0604000000000000" pitchFamily="50" charset="-127"/>
                    <a:ea typeface="나눔고딕" panose="020D0604000000000000" pitchFamily="50" charset="-127"/>
                  </a:endParaRPr>
                </a:p>
              </p:txBody>
            </p:sp>
            <p:sp>
              <p:nvSpPr>
                <p:cNvPr id="798" name="Rectangle 137"/>
                <p:cNvSpPr>
                  <a:spLocks noChangeArrowheads="1"/>
                </p:cNvSpPr>
                <p:nvPr/>
              </p:nvSpPr>
              <p:spPr bwMode="auto">
                <a:xfrm>
                  <a:off x="5088" y="2400"/>
                  <a:ext cx="76" cy="262"/>
                </a:xfrm>
                <a:prstGeom prst="rect">
                  <a:avLst/>
                </a:prstGeom>
                <a:solidFill>
                  <a:srgbClr val="FFFFFF"/>
                </a:solidFill>
                <a:ln w="9525" algn="ctr">
                  <a:solidFill>
                    <a:srgbClr val="C0C0C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>
                  <a:noAutofit/>
                </a:bodyPr>
                <a:lstStyle/>
                <a:p>
                  <a:endParaRPr lang="ko-KR" altLang="en-US">
                    <a:latin typeface="나눔고딕" panose="020D0604000000000000" pitchFamily="50" charset="-127"/>
                    <a:ea typeface="나눔고딕" panose="020D0604000000000000" pitchFamily="50" charset="-127"/>
                  </a:endParaRPr>
                </a:p>
              </p:txBody>
            </p:sp>
            <p:sp>
              <p:nvSpPr>
                <p:cNvPr id="799" name="Rectangle 138"/>
                <p:cNvSpPr>
                  <a:spLocks noChangeArrowheads="1"/>
                </p:cNvSpPr>
                <p:nvPr/>
              </p:nvSpPr>
              <p:spPr bwMode="auto">
                <a:xfrm>
                  <a:off x="5161" y="2400"/>
                  <a:ext cx="167" cy="262"/>
                </a:xfrm>
                <a:prstGeom prst="rect">
                  <a:avLst/>
                </a:prstGeom>
                <a:solidFill>
                  <a:srgbClr val="FFFFFF"/>
                </a:solidFill>
                <a:ln w="9525" algn="ctr">
                  <a:solidFill>
                    <a:srgbClr val="C0C0C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>
                  <a:noAutofit/>
                </a:bodyPr>
                <a:lstStyle/>
                <a:p>
                  <a:endParaRPr lang="ko-KR" altLang="en-US">
                    <a:latin typeface="나눔고딕" panose="020D0604000000000000" pitchFamily="50" charset="-127"/>
                    <a:ea typeface="나눔고딕" panose="020D0604000000000000" pitchFamily="50" charset="-127"/>
                  </a:endParaRPr>
                </a:p>
              </p:txBody>
            </p:sp>
            <p:sp>
              <p:nvSpPr>
                <p:cNvPr id="800" name="Rectangle 139"/>
                <p:cNvSpPr>
                  <a:spLocks noChangeArrowheads="1"/>
                </p:cNvSpPr>
                <p:nvPr/>
              </p:nvSpPr>
              <p:spPr bwMode="auto">
                <a:xfrm>
                  <a:off x="5328" y="2400"/>
                  <a:ext cx="99" cy="262"/>
                </a:xfrm>
                <a:prstGeom prst="rect">
                  <a:avLst/>
                </a:prstGeom>
                <a:solidFill>
                  <a:srgbClr val="FFFFFF"/>
                </a:solidFill>
                <a:ln w="9525" algn="ctr">
                  <a:solidFill>
                    <a:srgbClr val="C0C0C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>
                  <a:noAutofit/>
                </a:bodyPr>
                <a:lstStyle/>
                <a:p>
                  <a:endParaRPr lang="ko-KR" altLang="en-US">
                    <a:latin typeface="나눔고딕" panose="020D0604000000000000" pitchFamily="50" charset="-127"/>
                    <a:ea typeface="나눔고딕" panose="020D0604000000000000" pitchFamily="50" charset="-127"/>
                  </a:endParaRPr>
                </a:p>
              </p:txBody>
            </p:sp>
          </p:grpSp>
          <p:grpSp>
            <p:nvGrpSpPr>
              <p:cNvPr id="365" name="Group 140"/>
              <p:cNvGrpSpPr>
                <a:grpSpLocks/>
              </p:cNvGrpSpPr>
              <p:nvPr/>
            </p:nvGrpSpPr>
            <p:grpSpPr bwMode="auto">
              <a:xfrm>
                <a:off x="3376" y="3443"/>
                <a:ext cx="298" cy="315"/>
                <a:chOff x="5088" y="2304"/>
                <a:chExt cx="339" cy="358"/>
              </a:xfrm>
            </p:grpSpPr>
            <p:grpSp>
              <p:nvGrpSpPr>
                <p:cNvPr id="789" name="Group 141"/>
                <p:cNvGrpSpPr>
                  <a:grpSpLocks/>
                </p:cNvGrpSpPr>
                <p:nvPr/>
              </p:nvGrpSpPr>
              <p:grpSpPr bwMode="auto">
                <a:xfrm>
                  <a:off x="5088" y="2307"/>
                  <a:ext cx="338" cy="350"/>
                  <a:chOff x="4224" y="2689"/>
                  <a:chExt cx="384" cy="428"/>
                </a:xfrm>
              </p:grpSpPr>
              <p:sp>
                <p:nvSpPr>
                  <p:cNvPr id="794" name="Rectangle 142"/>
                  <p:cNvSpPr>
                    <a:spLocks noChangeArrowheads="1"/>
                  </p:cNvSpPr>
                  <p:nvPr/>
                </p:nvSpPr>
                <p:spPr bwMode="auto">
                  <a:xfrm>
                    <a:off x="4224" y="2689"/>
                    <a:ext cx="384" cy="336"/>
                  </a:xfrm>
                  <a:prstGeom prst="rect">
                    <a:avLst/>
                  </a:prstGeom>
                  <a:solidFill>
                    <a:srgbClr val="FFFFFF"/>
                  </a:solidFill>
                  <a:ln w="9525" algn="ctr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>
                    <a:noAutofit/>
                  </a:bodyPr>
                  <a:lstStyle/>
                  <a:p>
                    <a:endParaRPr lang="ko-KR" altLang="en-US">
                      <a:latin typeface="나눔고딕" panose="020D0604000000000000" pitchFamily="50" charset="-127"/>
                      <a:ea typeface="나눔고딕" panose="020D0604000000000000" pitchFamily="50" charset="-127"/>
                    </a:endParaRPr>
                  </a:p>
                </p:txBody>
              </p:sp>
              <p:sp>
                <p:nvSpPr>
                  <p:cNvPr id="795" name="Rectangle 143"/>
                  <p:cNvSpPr>
                    <a:spLocks noChangeArrowheads="1"/>
                  </p:cNvSpPr>
                  <p:nvPr/>
                </p:nvSpPr>
                <p:spPr bwMode="auto">
                  <a:xfrm>
                    <a:off x="4224" y="3021"/>
                    <a:ext cx="384" cy="96"/>
                  </a:xfrm>
                  <a:prstGeom prst="rect">
                    <a:avLst/>
                  </a:prstGeom>
                  <a:solidFill>
                    <a:srgbClr val="FFFFFF"/>
                  </a:solidFill>
                  <a:ln w="9525" algn="ctr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anchor="ctr">
                    <a:noAutofit/>
                  </a:bodyPr>
                  <a:lstStyle/>
                  <a:p>
                    <a:endParaRPr lang="ko-KR" altLang="en-US">
                      <a:latin typeface="나눔고딕" panose="020D0604000000000000" pitchFamily="50" charset="-127"/>
                      <a:ea typeface="나눔고딕" panose="020D0604000000000000" pitchFamily="50" charset="-127"/>
                    </a:endParaRPr>
                  </a:p>
                </p:txBody>
              </p:sp>
            </p:grpSp>
            <p:sp>
              <p:nvSpPr>
                <p:cNvPr id="790" name="Rectangle 144"/>
                <p:cNvSpPr>
                  <a:spLocks noChangeArrowheads="1"/>
                </p:cNvSpPr>
                <p:nvPr/>
              </p:nvSpPr>
              <p:spPr bwMode="auto">
                <a:xfrm>
                  <a:off x="5088" y="2304"/>
                  <a:ext cx="336" cy="96"/>
                </a:xfrm>
                <a:prstGeom prst="rect">
                  <a:avLst/>
                </a:prstGeom>
                <a:solidFill>
                  <a:srgbClr val="FFFFFF"/>
                </a:solidFill>
                <a:ln w="9525" algn="ctr">
                  <a:solidFill>
                    <a:srgbClr val="C0C0C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noAutofit/>
                </a:bodyPr>
                <a:lstStyle/>
                <a:p>
                  <a:endParaRPr lang="ko-KR" altLang="en-US">
                    <a:latin typeface="나눔고딕" panose="020D0604000000000000" pitchFamily="50" charset="-127"/>
                    <a:ea typeface="나눔고딕" panose="020D0604000000000000" pitchFamily="50" charset="-127"/>
                  </a:endParaRPr>
                </a:p>
              </p:txBody>
            </p:sp>
            <p:sp>
              <p:nvSpPr>
                <p:cNvPr id="791" name="Rectangle 145"/>
                <p:cNvSpPr>
                  <a:spLocks noChangeArrowheads="1"/>
                </p:cNvSpPr>
                <p:nvPr/>
              </p:nvSpPr>
              <p:spPr bwMode="auto">
                <a:xfrm>
                  <a:off x="5088" y="2400"/>
                  <a:ext cx="76" cy="262"/>
                </a:xfrm>
                <a:prstGeom prst="rect">
                  <a:avLst/>
                </a:prstGeom>
                <a:solidFill>
                  <a:srgbClr val="FFFFFF"/>
                </a:solidFill>
                <a:ln w="9525" algn="ctr">
                  <a:solidFill>
                    <a:srgbClr val="C0C0C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>
                  <a:noAutofit/>
                </a:bodyPr>
                <a:lstStyle/>
                <a:p>
                  <a:endParaRPr lang="ko-KR" altLang="en-US">
                    <a:latin typeface="나눔고딕" panose="020D0604000000000000" pitchFamily="50" charset="-127"/>
                    <a:ea typeface="나눔고딕" panose="020D0604000000000000" pitchFamily="50" charset="-127"/>
                  </a:endParaRPr>
                </a:p>
              </p:txBody>
            </p:sp>
            <p:sp>
              <p:nvSpPr>
                <p:cNvPr id="792" name="Rectangle 146"/>
                <p:cNvSpPr>
                  <a:spLocks noChangeArrowheads="1"/>
                </p:cNvSpPr>
                <p:nvPr/>
              </p:nvSpPr>
              <p:spPr bwMode="auto">
                <a:xfrm>
                  <a:off x="5161" y="2400"/>
                  <a:ext cx="167" cy="262"/>
                </a:xfrm>
                <a:prstGeom prst="rect">
                  <a:avLst/>
                </a:prstGeom>
                <a:solidFill>
                  <a:srgbClr val="FFFFFF"/>
                </a:solidFill>
                <a:ln w="9525" algn="ctr">
                  <a:solidFill>
                    <a:srgbClr val="C0C0C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>
                  <a:noAutofit/>
                </a:bodyPr>
                <a:lstStyle/>
                <a:p>
                  <a:endParaRPr lang="ko-KR" altLang="en-US">
                    <a:latin typeface="나눔고딕" panose="020D0604000000000000" pitchFamily="50" charset="-127"/>
                    <a:ea typeface="나눔고딕" panose="020D0604000000000000" pitchFamily="50" charset="-127"/>
                  </a:endParaRPr>
                </a:p>
              </p:txBody>
            </p:sp>
            <p:sp>
              <p:nvSpPr>
                <p:cNvPr id="793" name="Rectangle 147"/>
                <p:cNvSpPr>
                  <a:spLocks noChangeArrowheads="1"/>
                </p:cNvSpPr>
                <p:nvPr/>
              </p:nvSpPr>
              <p:spPr bwMode="auto">
                <a:xfrm>
                  <a:off x="5328" y="2400"/>
                  <a:ext cx="99" cy="262"/>
                </a:xfrm>
                <a:prstGeom prst="rect">
                  <a:avLst/>
                </a:prstGeom>
                <a:solidFill>
                  <a:srgbClr val="FFFFFF"/>
                </a:solidFill>
                <a:ln w="9525" algn="ctr">
                  <a:solidFill>
                    <a:srgbClr val="C0C0C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>
                  <a:noAutofit/>
                </a:bodyPr>
                <a:lstStyle/>
                <a:p>
                  <a:endParaRPr lang="ko-KR" altLang="en-US">
                    <a:latin typeface="나눔고딕" panose="020D0604000000000000" pitchFamily="50" charset="-127"/>
                    <a:ea typeface="나눔고딕" panose="020D0604000000000000" pitchFamily="50" charset="-127"/>
                  </a:endParaRPr>
                </a:p>
              </p:txBody>
            </p:sp>
          </p:grpSp>
          <p:grpSp>
            <p:nvGrpSpPr>
              <p:cNvPr id="366" name="Group 148"/>
              <p:cNvGrpSpPr>
                <a:grpSpLocks/>
              </p:cNvGrpSpPr>
              <p:nvPr/>
            </p:nvGrpSpPr>
            <p:grpSpPr bwMode="auto">
              <a:xfrm>
                <a:off x="2939" y="3454"/>
                <a:ext cx="298" cy="315"/>
                <a:chOff x="5088" y="2304"/>
                <a:chExt cx="339" cy="358"/>
              </a:xfrm>
            </p:grpSpPr>
            <p:grpSp>
              <p:nvGrpSpPr>
                <p:cNvPr id="782" name="Group 149"/>
                <p:cNvGrpSpPr>
                  <a:grpSpLocks/>
                </p:cNvGrpSpPr>
                <p:nvPr/>
              </p:nvGrpSpPr>
              <p:grpSpPr bwMode="auto">
                <a:xfrm>
                  <a:off x="5088" y="2307"/>
                  <a:ext cx="338" cy="350"/>
                  <a:chOff x="4224" y="2689"/>
                  <a:chExt cx="384" cy="428"/>
                </a:xfrm>
              </p:grpSpPr>
              <p:sp>
                <p:nvSpPr>
                  <p:cNvPr id="787" name="Rectangle 150"/>
                  <p:cNvSpPr>
                    <a:spLocks noChangeArrowheads="1"/>
                  </p:cNvSpPr>
                  <p:nvPr/>
                </p:nvSpPr>
                <p:spPr bwMode="auto">
                  <a:xfrm>
                    <a:off x="4224" y="2689"/>
                    <a:ext cx="384" cy="336"/>
                  </a:xfrm>
                  <a:prstGeom prst="rect">
                    <a:avLst/>
                  </a:prstGeom>
                  <a:solidFill>
                    <a:srgbClr val="FFFFFF"/>
                  </a:solidFill>
                  <a:ln w="9525" algn="ctr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>
                    <a:noAutofit/>
                  </a:bodyPr>
                  <a:lstStyle/>
                  <a:p>
                    <a:endParaRPr lang="ko-KR" altLang="en-US">
                      <a:latin typeface="나눔고딕" panose="020D0604000000000000" pitchFamily="50" charset="-127"/>
                      <a:ea typeface="나눔고딕" panose="020D0604000000000000" pitchFamily="50" charset="-127"/>
                    </a:endParaRPr>
                  </a:p>
                </p:txBody>
              </p:sp>
              <p:sp>
                <p:nvSpPr>
                  <p:cNvPr id="788" name="Rectangle 151"/>
                  <p:cNvSpPr>
                    <a:spLocks noChangeArrowheads="1"/>
                  </p:cNvSpPr>
                  <p:nvPr/>
                </p:nvSpPr>
                <p:spPr bwMode="auto">
                  <a:xfrm>
                    <a:off x="4224" y="3021"/>
                    <a:ext cx="384" cy="96"/>
                  </a:xfrm>
                  <a:prstGeom prst="rect">
                    <a:avLst/>
                  </a:prstGeom>
                  <a:solidFill>
                    <a:srgbClr val="FFFFFF"/>
                  </a:solidFill>
                  <a:ln w="9525" algn="ctr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anchor="ctr">
                    <a:noAutofit/>
                  </a:bodyPr>
                  <a:lstStyle/>
                  <a:p>
                    <a:endParaRPr lang="ko-KR" altLang="en-US">
                      <a:latin typeface="나눔고딕" panose="020D0604000000000000" pitchFamily="50" charset="-127"/>
                      <a:ea typeface="나눔고딕" panose="020D0604000000000000" pitchFamily="50" charset="-127"/>
                    </a:endParaRPr>
                  </a:p>
                </p:txBody>
              </p:sp>
            </p:grpSp>
            <p:sp>
              <p:nvSpPr>
                <p:cNvPr id="783" name="Rectangle 152"/>
                <p:cNvSpPr>
                  <a:spLocks noChangeArrowheads="1"/>
                </p:cNvSpPr>
                <p:nvPr/>
              </p:nvSpPr>
              <p:spPr bwMode="auto">
                <a:xfrm>
                  <a:off x="5088" y="2304"/>
                  <a:ext cx="336" cy="96"/>
                </a:xfrm>
                <a:prstGeom prst="rect">
                  <a:avLst/>
                </a:prstGeom>
                <a:solidFill>
                  <a:srgbClr val="FFFFFF"/>
                </a:solidFill>
                <a:ln w="9525" algn="ctr">
                  <a:solidFill>
                    <a:srgbClr val="C0C0C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noAutofit/>
                </a:bodyPr>
                <a:lstStyle/>
                <a:p>
                  <a:endParaRPr lang="ko-KR" altLang="en-US">
                    <a:latin typeface="나눔고딕" panose="020D0604000000000000" pitchFamily="50" charset="-127"/>
                    <a:ea typeface="나눔고딕" panose="020D0604000000000000" pitchFamily="50" charset="-127"/>
                  </a:endParaRPr>
                </a:p>
              </p:txBody>
            </p:sp>
            <p:sp>
              <p:nvSpPr>
                <p:cNvPr id="784" name="Rectangle 153"/>
                <p:cNvSpPr>
                  <a:spLocks noChangeArrowheads="1"/>
                </p:cNvSpPr>
                <p:nvPr/>
              </p:nvSpPr>
              <p:spPr bwMode="auto">
                <a:xfrm>
                  <a:off x="5088" y="2400"/>
                  <a:ext cx="76" cy="262"/>
                </a:xfrm>
                <a:prstGeom prst="rect">
                  <a:avLst/>
                </a:prstGeom>
                <a:solidFill>
                  <a:srgbClr val="FFFFFF"/>
                </a:solidFill>
                <a:ln w="9525" algn="ctr">
                  <a:solidFill>
                    <a:srgbClr val="C0C0C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>
                  <a:noAutofit/>
                </a:bodyPr>
                <a:lstStyle/>
                <a:p>
                  <a:endParaRPr lang="ko-KR" altLang="en-US">
                    <a:latin typeface="나눔고딕" panose="020D0604000000000000" pitchFamily="50" charset="-127"/>
                    <a:ea typeface="나눔고딕" panose="020D0604000000000000" pitchFamily="50" charset="-127"/>
                  </a:endParaRPr>
                </a:p>
              </p:txBody>
            </p:sp>
            <p:sp>
              <p:nvSpPr>
                <p:cNvPr id="785" name="Rectangle 154"/>
                <p:cNvSpPr>
                  <a:spLocks noChangeArrowheads="1"/>
                </p:cNvSpPr>
                <p:nvPr/>
              </p:nvSpPr>
              <p:spPr bwMode="auto">
                <a:xfrm>
                  <a:off x="5161" y="2400"/>
                  <a:ext cx="167" cy="262"/>
                </a:xfrm>
                <a:prstGeom prst="rect">
                  <a:avLst/>
                </a:prstGeom>
                <a:solidFill>
                  <a:srgbClr val="FFFFFF"/>
                </a:solidFill>
                <a:ln w="9525" algn="ctr">
                  <a:solidFill>
                    <a:srgbClr val="C0C0C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>
                  <a:noAutofit/>
                </a:bodyPr>
                <a:lstStyle/>
                <a:p>
                  <a:endParaRPr lang="ko-KR" altLang="en-US">
                    <a:latin typeface="나눔고딕" panose="020D0604000000000000" pitchFamily="50" charset="-127"/>
                    <a:ea typeface="나눔고딕" panose="020D0604000000000000" pitchFamily="50" charset="-127"/>
                  </a:endParaRPr>
                </a:p>
              </p:txBody>
            </p:sp>
            <p:sp>
              <p:nvSpPr>
                <p:cNvPr id="786" name="Rectangle 155"/>
                <p:cNvSpPr>
                  <a:spLocks noChangeArrowheads="1"/>
                </p:cNvSpPr>
                <p:nvPr/>
              </p:nvSpPr>
              <p:spPr bwMode="auto">
                <a:xfrm>
                  <a:off x="5328" y="2400"/>
                  <a:ext cx="99" cy="262"/>
                </a:xfrm>
                <a:prstGeom prst="rect">
                  <a:avLst/>
                </a:prstGeom>
                <a:solidFill>
                  <a:srgbClr val="FFFFFF"/>
                </a:solidFill>
                <a:ln w="9525" algn="ctr">
                  <a:solidFill>
                    <a:srgbClr val="C0C0C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>
                  <a:noAutofit/>
                </a:bodyPr>
                <a:lstStyle/>
                <a:p>
                  <a:endParaRPr lang="ko-KR" altLang="en-US">
                    <a:latin typeface="나눔고딕" panose="020D0604000000000000" pitchFamily="50" charset="-127"/>
                    <a:ea typeface="나눔고딕" panose="020D0604000000000000" pitchFamily="50" charset="-127"/>
                  </a:endParaRPr>
                </a:p>
              </p:txBody>
            </p:sp>
          </p:grpSp>
          <p:grpSp>
            <p:nvGrpSpPr>
              <p:cNvPr id="367" name="Group 156"/>
              <p:cNvGrpSpPr>
                <a:grpSpLocks/>
              </p:cNvGrpSpPr>
              <p:nvPr/>
            </p:nvGrpSpPr>
            <p:grpSpPr bwMode="auto">
              <a:xfrm>
                <a:off x="5575" y="3024"/>
                <a:ext cx="299" cy="315"/>
                <a:chOff x="5088" y="2304"/>
                <a:chExt cx="339" cy="358"/>
              </a:xfrm>
            </p:grpSpPr>
            <p:grpSp>
              <p:nvGrpSpPr>
                <p:cNvPr id="775" name="Group 157"/>
                <p:cNvGrpSpPr>
                  <a:grpSpLocks/>
                </p:cNvGrpSpPr>
                <p:nvPr/>
              </p:nvGrpSpPr>
              <p:grpSpPr bwMode="auto">
                <a:xfrm>
                  <a:off x="5088" y="2307"/>
                  <a:ext cx="338" cy="350"/>
                  <a:chOff x="4224" y="2689"/>
                  <a:chExt cx="384" cy="428"/>
                </a:xfrm>
              </p:grpSpPr>
              <p:sp>
                <p:nvSpPr>
                  <p:cNvPr id="780" name="Rectangle 158"/>
                  <p:cNvSpPr>
                    <a:spLocks noChangeArrowheads="1"/>
                  </p:cNvSpPr>
                  <p:nvPr/>
                </p:nvSpPr>
                <p:spPr bwMode="auto">
                  <a:xfrm>
                    <a:off x="4224" y="2689"/>
                    <a:ext cx="384" cy="336"/>
                  </a:xfrm>
                  <a:prstGeom prst="rect">
                    <a:avLst/>
                  </a:prstGeom>
                  <a:solidFill>
                    <a:srgbClr val="FFFFFF"/>
                  </a:solidFill>
                  <a:ln w="9525" algn="ctr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>
                    <a:noAutofit/>
                  </a:bodyPr>
                  <a:lstStyle/>
                  <a:p>
                    <a:endParaRPr lang="ko-KR" altLang="en-US">
                      <a:latin typeface="나눔고딕" panose="020D0604000000000000" pitchFamily="50" charset="-127"/>
                      <a:ea typeface="나눔고딕" panose="020D0604000000000000" pitchFamily="50" charset="-127"/>
                    </a:endParaRPr>
                  </a:p>
                </p:txBody>
              </p:sp>
              <p:sp>
                <p:nvSpPr>
                  <p:cNvPr id="781" name="Rectangle 159"/>
                  <p:cNvSpPr>
                    <a:spLocks noChangeArrowheads="1"/>
                  </p:cNvSpPr>
                  <p:nvPr/>
                </p:nvSpPr>
                <p:spPr bwMode="auto">
                  <a:xfrm>
                    <a:off x="4224" y="3021"/>
                    <a:ext cx="384" cy="96"/>
                  </a:xfrm>
                  <a:prstGeom prst="rect">
                    <a:avLst/>
                  </a:prstGeom>
                  <a:solidFill>
                    <a:srgbClr val="FFFFFF"/>
                  </a:solidFill>
                  <a:ln w="9525" algn="ctr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anchor="ctr">
                    <a:noAutofit/>
                  </a:bodyPr>
                  <a:lstStyle/>
                  <a:p>
                    <a:endParaRPr lang="ko-KR" altLang="en-US">
                      <a:latin typeface="나눔고딕" panose="020D0604000000000000" pitchFamily="50" charset="-127"/>
                      <a:ea typeface="나눔고딕" panose="020D0604000000000000" pitchFamily="50" charset="-127"/>
                    </a:endParaRPr>
                  </a:p>
                </p:txBody>
              </p:sp>
            </p:grpSp>
            <p:sp>
              <p:nvSpPr>
                <p:cNvPr id="776" name="Rectangle 160"/>
                <p:cNvSpPr>
                  <a:spLocks noChangeArrowheads="1"/>
                </p:cNvSpPr>
                <p:nvPr/>
              </p:nvSpPr>
              <p:spPr bwMode="auto">
                <a:xfrm>
                  <a:off x="5088" y="2304"/>
                  <a:ext cx="336" cy="96"/>
                </a:xfrm>
                <a:prstGeom prst="rect">
                  <a:avLst/>
                </a:prstGeom>
                <a:solidFill>
                  <a:srgbClr val="FFFFFF"/>
                </a:solidFill>
                <a:ln w="9525" algn="ctr">
                  <a:solidFill>
                    <a:srgbClr val="C0C0C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noAutofit/>
                </a:bodyPr>
                <a:lstStyle/>
                <a:p>
                  <a:endParaRPr lang="ko-KR" altLang="en-US">
                    <a:latin typeface="나눔고딕" panose="020D0604000000000000" pitchFamily="50" charset="-127"/>
                    <a:ea typeface="나눔고딕" panose="020D0604000000000000" pitchFamily="50" charset="-127"/>
                  </a:endParaRPr>
                </a:p>
              </p:txBody>
            </p:sp>
            <p:sp>
              <p:nvSpPr>
                <p:cNvPr id="777" name="Rectangle 161"/>
                <p:cNvSpPr>
                  <a:spLocks noChangeArrowheads="1"/>
                </p:cNvSpPr>
                <p:nvPr/>
              </p:nvSpPr>
              <p:spPr bwMode="auto">
                <a:xfrm>
                  <a:off x="5088" y="2400"/>
                  <a:ext cx="76" cy="262"/>
                </a:xfrm>
                <a:prstGeom prst="rect">
                  <a:avLst/>
                </a:prstGeom>
                <a:solidFill>
                  <a:srgbClr val="FFFFFF"/>
                </a:solidFill>
                <a:ln w="9525" algn="ctr">
                  <a:solidFill>
                    <a:srgbClr val="C0C0C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>
                  <a:noAutofit/>
                </a:bodyPr>
                <a:lstStyle/>
                <a:p>
                  <a:endParaRPr lang="ko-KR" altLang="en-US">
                    <a:latin typeface="나눔고딕" panose="020D0604000000000000" pitchFamily="50" charset="-127"/>
                    <a:ea typeface="나눔고딕" panose="020D0604000000000000" pitchFamily="50" charset="-127"/>
                  </a:endParaRPr>
                </a:p>
              </p:txBody>
            </p:sp>
            <p:sp>
              <p:nvSpPr>
                <p:cNvPr id="778" name="Rectangle 162"/>
                <p:cNvSpPr>
                  <a:spLocks noChangeArrowheads="1"/>
                </p:cNvSpPr>
                <p:nvPr/>
              </p:nvSpPr>
              <p:spPr bwMode="auto">
                <a:xfrm>
                  <a:off x="5161" y="2400"/>
                  <a:ext cx="167" cy="262"/>
                </a:xfrm>
                <a:prstGeom prst="rect">
                  <a:avLst/>
                </a:prstGeom>
                <a:solidFill>
                  <a:srgbClr val="FFFFFF"/>
                </a:solidFill>
                <a:ln w="9525" algn="ctr">
                  <a:solidFill>
                    <a:srgbClr val="C0C0C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>
                  <a:noAutofit/>
                </a:bodyPr>
                <a:lstStyle/>
                <a:p>
                  <a:endParaRPr lang="ko-KR" altLang="en-US">
                    <a:latin typeface="나눔고딕" panose="020D0604000000000000" pitchFamily="50" charset="-127"/>
                    <a:ea typeface="나눔고딕" panose="020D0604000000000000" pitchFamily="50" charset="-127"/>
                  </a:endParaRPr>
                </a:p>
              </p:txBody>
            </p:sp>
            <p:sp>
              <p:nvSpPr>
                <p:cNvPr id="779" name="Rectangle 163"/>
                <p:cNvSpPr>
                  <a:spLocks noChangeArrowheads="1"/>
                </p:cNvSpPr>
                <p:nvPr/>
              </p:nvSpPr>
              <p:spPr bwMode="auto">
                <a:xfrm>
                  <a:off x="5328" y="2400"/>
                  <a:ext cx="99" cy="262"/>
                </a:xfrm>
                <a:prstGeom prst="rect">
                  <a:avLst/>
                </a:prstGeom>
                <a:solidFill>
                  <a:srgbClr val="FFFFFF"/>
                </a:solidFill>
                <a:ln w="9525" algn="ctr">
                  <a:solidFill>
                    <a:srgbClr val="C0C0C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>
                  <a:noAutofit/>
                </a:bodyPr>
                <a:lstStyle/>
                <a:p>
                  <a:endParaRPr lang="ko-KR" altLang="en-US">
                    <a:latin typeface="나눔고딕" panose="020D0604000000000000" pitchFamily="50" charset="-127"/>
                    <a:ea typeface="나눔고딕" panose="020D0604000000000000" pitchFamily="50" charset="-127"/>
                  </a:endParaRPr>
                </a:p>
              </p:txBody>
            </p:sp>
          </p:grpSp>
          <p:grpSp>
            <p:nvGrpSpPr>
              <p:cNvPr id="368" name="Group 164"/>
              <p:cNvGrpSpPr>
                <a:grpSpLocks/>
              </p:cNvGrpSpPr>
              <p:nvPr/>
            </p:nvGrpSpPr>
            <p:grpSpPr bwMode="auto">
              <a:xfrm>
                <a:off x="5873" y="3443"/>
                <a:ext cx="298" cy="315"/>
                <a:chOff x="5088" y="2304"/>
                <a:chExt cx="339" cy="358"/>
              </a:xfrm>
            </p:grpSpPr>
            <p:grpSp>
              <p:nvGrpSpPr>
                <p:cNvPr id="488" name="Group 165"/>
                <p:cNvGrpSpPr>
                  <a:grpSpLocks/>
                </p:cNvGrpSpPr>
                <p:nvPr/>
              </p:nvGrpSpPr>
              <p:grpSpPr bwMode="auto">
                <a:xfrm>
                  <a:off x="5088" y="2307"/>
                  <a:ext cx="338" cy="350"/>
                  <a:chOff x="4224" y="2689"/>
                  <a:chExt cx="384" cy="428"/>
                </a:xfrm>
              </p:grpSpPr>
              <p:sp>
                <p:nvSpPr>
                  <p:cNvPr id="773" name="Rectangle 166"/>
                  <p:cNvSpPr>
                    <a:spLocks noChangeArrowheads="1"/>
                  </p:cNvSpPr>
                  <p:nvPr/>
                </p:nvSpPr>
                <p:spPr bwMode="auto">
                  <a:xfrm>
                    <a:off x="4224" y="2689"/>
                    <a:ext cx="384" cy="336"/>
                  </a:xfrm>
                  <a:prstGeom prst="rect">
                    <a:avLst/>
                  </a:prstGeom>
                  <a:solidFill>
                    <a:srgbClr val="FFFFFF"/>
                  </a:solidFill>
                  <a:ln w="9525" algn="ctr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>
                    <a:noAutofit/>
                  </a:bodyPr>
                  <a:lstStyle/>
                  <a:p>
                    <a:endParaRPr lang="ko-KR" altLang="en-US">
                      <a:latin typeface="나눔고딕" panose="020D0604000000000000" pitchFamily="50" charset="-127"/>
                      <a:ea typeface="나눔고딕" panose="020D0604000000000000" pitchFamily="50" charset="-127"/>
                    </a:endParaRPr>
                  </a:p>
                </p:txBody>
              </p:sp>
              <p:sp>
                <p:nvSpPr>
                  <p:cNvPr id="774" name="Rectangle 167"/>
                  <p:cNvSpPr>
                    <a:spLocks noChangeArrowheads="1"/>
                  </p:cNvSpPr>
                  <p:nvPr/>
                </p:nvSpPr>
                <p:spPr bwMode="auto">
                  <a:xfrm>
                    <a:off x="4224" y="3021"/>
                    <a:ext cx="384" cy="96"/>
                  </a:xfrm>
                  <a:prstGeom prst="rect">
                    <a:avLst/>
                  </a:prstGeom>
                  <a:solidFill>
                    <a:srgbClr val="FFFFFF"/>
                  </a:solidFill>
                  <a:ln w="9525" algn="ctr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anchor="ctr">
                    <a:noAutofit/>
                  </a:bodyPr>
                  <a:lstStyle/>
                  <a:p>
                    <a:endParaRPr lang="ko-KR" altLang="en-US">
                      <a:latin typeface="나눔고딕" panose="020D0604000000000000" pitchFamily="50" charset="-127"/>
                      <a:ea typeface="나눔고딕" panose="020D0604000000000000" pitchFamily="50" charset="-127"/>
                    </a:endParaRPr>
                  </a:p>
                </p:txBody>
              </p:sp>
            </p:grpSp>
            <p:sp>
              <p:nvSpPr>
                <p:cNvPr id="769" name="Rectangle 168"/>
                <p:cNvSpPr>
                  <a:spLocks noChangeArrowheads="1"/>
                </p:cNvSpPr>
                <p:nvPr/>
              </p:nvSpPr>
              <p:spPr bwMode="auto">
                <a:xfrm>
                  <a:off x="5088" y="2304"/>
                  <a:ext cx="336" cy="96"/>
                </a:xfrm>
                <a:prstGeom prst="rect">
                  <a:avLst/>
                </a:prstGeom>
                <a:solidFill>
                  <a:srgbClr val="FFFFFF"/>
                </a:solidFill>
                <a:ln w="9525" algn="ctr">
                  <a:solidFill>
                    <a:srgbClr val="C0C0C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noAutofit/>
                </a:bodyPr>
                <a:lstStyle/>
                <a:p>
                  <a:endParaRPr lang="ko-KR" altLang="en-US">
                    <a:latin typeface="나눔고딕" panose="020D0604000000000000" pitchFamily="50" charset="-127"/>
                    <a:ea typeface="나눔고딕" panose="020D0604000000000000" pitchFamily="50" charset="-127"/>
                  </a:endParaRPr>
                </a:p>
              </p:txBody>
            </p:sp>
            <p:sp>
              <p:nvSpPr>
                <p:cNvPr id="770" name="Rectangle 169"/>
                <p:cNvSpPr>
                  <a:spLocks noChangeArrowheads="1"/>
                </p:cNvSpPr>
                <p:nvPr/>
              </p:nvSpPr>
              <p:spPr bwMode="auto">
                <a:xfrm>
                  <a:off x="5088" y="2400"/>
                  <a:ext cx="76" cy="262"/>
                </a:xfrm>
                <a:prstGeom prst="rect">
                  <a:avLst/>
                </a:prstGeom>
                <a:solidFill>
                  <a:srgbClr val="FFFFFF"/>
                </a:solidFill>
                <a:ln w="9525" algn="ctr">
                  <a:solidFill>
                    <a:srgbClr val="C0C0C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>
                  <a:noAutofit/>
                </a:bodyPr>
                <a:lstStyle/>
                <a:p>
                  <a:endParaRPr lang="ko-KR" altLang="en-US">
                    <a:latin typeface="나눔고딕" panose="020D0604000000000000" pitchFamily="50" charset="-127"/>
                    <a:ea typeface="나눔고딕" panose="020D0604000000000000" pitchFamily="50" charset="-127"/>
                  </a:endParaRPr>
                </a:p>
              </p:txBody>
            </p:sp>
            <p:sp>
              <p:nvSpPr>
                <p:cNvPr id="771" name="Rectangle 170"/>
                <p:cNvSpPr>
                  <a:spLocks noChangeArrowheads="1"/>
                </p:cNvSpPr>
                <p:nvPr/>
              </p:nvSpPr>
              <p:spPr bwMode="auto">
                <a:xfrm>
                  <a:off x="5161" y="2400"/>
                  <a:ext cx="167" cy="262"/>
                </a:xfrm>
                <a:prstGeom prst="rect">
                  <a:avLst/>
                </a:prstGeom>
                <a:solidFill>
                  <a:srgbClr val="FFFFFF"/>
                </a:solidFill>
                <a:ln w="9525" algn="ctr">
                  <a:solidFill>
                    <a:srgbClr val="C0C0C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>
                  <a:noAutofit/>
                </a:bodyPr>
                <a:lstStyle/>
                <a:p>
                  <a:endParaRPr lang="ko-KR" altLang="en-US">
                    <a:latin typeface="나눔고딕" panose="020D0604000000000000" pitchFamily="50" charset="-127"/>
                    <a:ea typeface="나눔고딕" panose="020D0604000000000000" pitchFamily="50" charset="-127"/>
                  </a:endParaRPr>
                </a:p>
              </p:txBody>
            </p:sp>
            <p:sp>
              <p:nvSpPr>
                <p:cNvPr id="772" name="Rectangle 171"/>
                <p:cNvSpPr>
                  <a:spLocks noChangeArrowheads="1"/>
                </p:cNvSpPr>
                <p:nvPr/>
              </p:nvSpPr>
              <p:spPr bwMode="auto">
                <a:xfrm>
                  <a:off x="5328" y="2400"/>
                  <a:ext cx="99" cy="262"/>
                </a:xfrm>
                <a:prstGeom prst="rect">
                  <a:avLst/>
                </a:prstGeom>
                <a:solidFill>
                  <a:srgbClr val="FFFFFF"/>
                </a:solidFill>
                <a:ln w="9525" algn="ctr">
                  <a:solidFill>
                    <a:srgbClr val="C0C0C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>
                  <a:noAutofit/>
                </a:bodyPr>
                <a:lstStyle/>
                <a:p>
                  <a:endParaRPr lang="ko-KR" altLang="en-US">
                    <a:latin typeface="나눔고딕" panose="020D0604000000000000" pitchFamily="50" charset="-127"/>
                    <a:ea typeface="나눔고딕" panose="020D0604000000000000" pitchFamily="50" charset="-127"/>
                  </a:endParaRPr>
                </a:p>
              </p:txBody>
            </p:sp>
          </p:grpSp>
          <p:grpSp>
            <p:nvGrpSpPr>
              <p:cNvPr id="369" name="Group 172"/>
              <p:cNvGrpSpPr>
                <a:grpSpLocks/>
              </p:cNvGrpSpPr>
              <p:nvPr/>
            </p:nvGrpSpPr>
            <p:grpSpPr bwMode="auto">
              <a:xfrm>
                <a:off x="5436" y="3454"/>
                <a:ext cx="298" cy="315"/>
                <a:chOff x="5088" y="2304"/>
                <a:chExt cx="339" cy="358"/>
              </a:xfrm>
            </p:grpSpPr>
            <p:grpSp>
              <p:nvGrpSpPr>
                <p:cNvPr id="429" name="Group 173"/>
                <p:cNvGrpSpPr>
                  <a:grpSpLocks/>
                </p:cNvGrpSpPr>
                <p:nvPr/>
              </p:nvGrpSpPr>
              <p:grpSpPr bwMode="auto">
                <a:xfrm>
                  <a:off x="5088" y="2307"/>
                  <a:ext cx="338" cy="350"/>
                  <a:chOff x="4224" y="2689"/>
                  <a:chExt cx="384" cy="428"/>
                </a:xfrm>
              </p:grpSpPr>
              <p:sp>
                <p:nvSpPr>
                  <p:cNvPr id="456" name="Rectangle 174"/>
                  <p:cNvSpPr>
                    <a:spLocks noChangeArrowheads="1"/>
                  </p:cNvSpPr>
                  <p:nvPr/>
                </p:nvSpPr>
                <p:spPr bwMode="auto">
                  <a:xfrm>
                    <a:off x="4224" y="2689"/>
                    <a:ext cx="384" cy="336"/>
                  </a:xfrm>
                  <a:prstGeom prst="rect">
                    <a:avLst/>
                  </a:prstGeom>
                  <a:solidFill>
                    <a:srgbClr val="FFFFFF"/>
                  </a:solidFill>
                  <a:ln w="9525" algn="ctr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>
                    <a:noAutofit/>
                  </a:bodyPr>
                  <a:lstStyle/>
                  <a:p>
                    <a:endParaRPr lang="ko-KR" altLang="en-US">
                      <a:latin typeface="나눔고딕" panose="020D0604000000000000" pitchFamily="50" charset="-127"/>
                      <a:ea typeface="나눔고딕" panose="020D0604000000000000" pitchFamily="50" charset="-127"/>
                    </a:endParaRPr>
                  </a:p>
                </p:txBody>
              </p:sp>
              <p:sp>
                <p:nvSpPr>
                  <p:cNvPr id="467" name="Rectangle 175"/>
                  <p:cNvSpPr>
                    <a:spLocks noChangeArrowheads="1"/>
                  </p:cNvSpPr>
                  <p:nvPr/>
                </p:nvSpPr>
                <p:spPr bwMode="auto">
                  <a:xfrm>
                    <a:off x="4224" y="3021"/>
                    <a:ext cx="384" cy="96"/>
                  </a:xfrm>
                  <a:prstGeom prst="rect">
                    <a:avLst/>
                  </a:prstGeom>
                  <a:solidFill>
                    <a:srgbClr val="FFFFFF"/>
                  </a:solidFill>
                  <a:ln w="9525" algn="ctr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anchor="ctr">
                    <a:noAutofit/>
                  </a:bodyPr>
                  <a:lstStyle/>
                  <a:p>
                    <a:endParaRPr lang="ko-KR" altLang="en-US">
                      <a:latin typeface="나눔고딕" panose="020D0604000000000000" pitchFamily="50" charset="-127"/>
                      <a:ea typeface="나눔고딕" panose="020D0604000000000000" pitchFamily="50" charset="-127"/>
                    </a:endParaRPr>
                  </a:p>
                </p:txBody>
              </p:sp>
            </p:grpSp>
            <p:sp>
              <p:nvSpPr>
                <p:cNvPr id="437" name="Rectangle 176"/>
                <p:cNvSpPr>
                  <a:spLocks noChangeArrowheads="1"/>
                </p:cNvSpPr>
                <p:nvPr/>
              </p:nvSpPr>
              <p:spPr bwMode="auto">
                <a:xfrm>
                  <a:off x="5088" y="2304"/>
                  <a:ext cx="336" cy="96"/>
                </a:xfrm>
                <a:prstGeom prst="rect">
                  <a:avLst/>
                </a:prstGeom>
                <a:solidFill>
                  <a:srgbClr val="FFFFFF"/>
                </a:solidFill>
                <a:ln w="9525" algn="ctr">
                  <a:solidFill>
                    <a:srgbClr val="C0C0C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noAutofit/>
                </a:bodyPr>
                <a:lstStyle/>
                <a:p>
                  <a:endParaRPr lang="ko-KR" altLang="en-US">
                    <a:latin typeface="나눔고딕" panose="020D0604000000000000" pitchFamily="50" charset="-127"/>
                    <a:ea typeface="나눔고딕" panose="020D0604000000000000" pitchFamily="50" charset="-127"/>
                  </a:endParaRPr>
                </a:p>
              </p:txBody>
            </p:sp>
            <p:sp>
              <p:nvSpPr>
                <p:cNvPr id="441" name="Rectangle 177"/>
                <p:cNvSpPr>
                  <a:spLocks noChangeArrowheads="1"/>
                </p:cNvSpPr>
                <p:nvPr/>
              </p:nvSpPr>
              <p:spPr bwMode="auto">
                <a:xfrm>
                  <a:off x="5088" y="2400"/>
                  <a:ext cx="76" cy="262"/>
                </a:xfrm>
                <a:prstGeom prst="rect">
                  <a:avLst/>
                </a:prstGeom>
                <a:solidFill>
                  <a:srgbClr val="FFFFFF"/>
                </a:solidFill>
                <a:ln w="9525" algn="ctr">
                  <a:solidFill>
                    <a:srgbClr val="C0C0C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>
                  <a:noAutofit/>
                </a:bodyPr>
                <a:lstStyle/>
                <a:p>
                  <a:endParaRPr lang="ko-KR" altLang="en-US">
                    <a:latin typeface="나눔고딕" panose="020D0604000000000000" pitchFamily="50" charset="-127"/>
                    <a:ea typeface="나눔고딕" panose="020D0604000000000000" pitchFamily="50" charset="-127"/>
                  </a:endParaRPr>
                </a:p>
              </p:txBody>
            </p:sp>
            <p:sp>
              <p:nvSpPr>
                <p:cNvPr id="448" name="Rectangle 178"/>
                <p:cNvSpPr>
                  <a:spLocks noChangeArrowheads="1"/>
                </p:cNvSpPr>
                <p:nvPr/>
              </p:nvSpPr>
              <p:spPr bwMode="auto">
                <a:xfrm>
                  <a:off x="5161" y="2400"/>
                  <a:ext cx="167" cy="262"/>
                </a:xfrm>
                <a:prstGeom prst="rect">
                  <a:avLst/>
                </a:prstGeom>
                <a:solidFill>
                  <a:srgbClr val="FFFFFF"/>
                </a:solidFill>
                <a:ln w="9525" algn="ctr">
                  <a:solidFill>
                    <a:srgbClr val="C0C0C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>
                  <a:noAutofit/>
                </a:bodyPr>
                <a:lstStyle/>
                <a:p>
                  <a:endParaRPr lang="ko-KR" altLang="en-US">
                    <a:latin typeface="나눔고딕" panose="020D0604000000000000" pitchFamily="50" charset="-127"/>
                    <a:ea typeface="나눔고딕" panose="020D0604000000000000" pitchFamily="50" charset="-127"/>
                  </a:endParaRPr>
                </a:p>
              </p:txBody>
            </p:sp>
            <p:sp>
              <p:nvSpPr>
                <p:cNvPr id="451" name="Rectangle 179"/>
                <p:cNvSpPr>
                  <a:spLocks noChangeArrowheads="1"/>
                </p:cNvSpPr>
                <p:nvPr/>
              </p:nvSpPr>
              <p:spPr bwMode="auto">
                <a:xfrm>
                  <a:off x="5328" y="2400"/>
                  <a:ext cx="99" cy="262"/>
                </a:xfrm>
                <a:prstGeom prst="rect">
                  <a:avLst/>
                </a:prstGeom>
                <a:solidFill>
                  <a:srgbClr val="FFFFFF"/>
                </a:solidFill>
                <a:ln w="9525" algn="ctr">
                  <a:solidFill>
                    <a:srgbClr val="C0C0C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>
                  <a:noAutofit/>
                </a:bodyPr>
                <a:lstStyle/>
                <a:p>
                  <a:endParaRPr lang="ko-KR" altLang="en-US">
                    <a:latin typeface="나눔고딕" panose="020D0604000000000000" pitchFamily="50" charset="-127"/>
                    <a:ea typeface="나눔고딕" panose="020D0604000000000000" pitchFamily="50" charset="-127"/>
                  </a:endParaRPr>
                </a:p>
              </p:txBody>
            </p:sp>
          </p:grpSp>
          <p:grpSp>
            <p:nvGrpSpPr>
              <p:cNvPr id="370" name="Group 180"/>
              <p:cNvGrpSpPr>
                <a:grpSpLocks/>
              </p:cNvGrpSpPr>
              <p:nvPr/>
            </p:nvGrpSpPr>
            <p:grpSpPr bwMode="auto">
              <a:xfrm>
                <a:off x="5015" y="3840"/>
                <a:ext cx="298" cy="315"/>
                <a:chOff x="5088" y="2304"/>
                <a:chExt cx="339" cy="358"/>
              </a:xfrm>
            </p:grpSpPr>
            <p:grpSp>
              <p:nvGrpSpPr>
                <p:cNvPr id="422" name="Group 181"/>
                <p:cNvGrpSpPr>
                  <a:grpSpLocks/>
                </p:cNvGrpSpPr>
                <p:nvPr/>
              </p:nvGrpSpPr>
              <p:grpSpPr bwMode="auto">
                <a:xfrm>
                  <a:off x="5088" y="2307"/>
                  <a:ext cx="338" cy="350"/>
                  <a:chOff x="4224" y="2689"/>
                  <a:chExt cx="384" cy="428"/>
                </a:xfrm>
              </p:grpSpPr>
              <p:sp>
                <p:nvSpPr>
                  <p:cNvPr id="427" name="Rectangle 182"/>
                  <p:cNvSpPr>
                    <a:spLocks noChangeArrowheads="1"/>
                  </p:cNvSpPr>
                  <p:nvPr/>
                </p:nvSpPr>
                <p:spPr bwMode="auto">
                  <a:xfrm>
                    <a:off x="4224" y="2689"/>
                    <a:ext cx="384" cy="336"/>
                  </a:xfrm>
                  <a:prstGeom prst="rect">
                    <a:avLst/>
                  </a:prstGeom>
                  <a:solidFill>
                    <a:srgbClr val="FFFFFF"/>
                  </a:solidFill>
                  <a:ln w="9525" algn="ctr">
                    <a:solidFill>
                      <a:schemeClr val="accent2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>
                    <a:noAutofit/>
                  </a:bodyPr>
                  <a:lstStyle/>
                  <a:p>
                    <a:endParaRPr lang="ko-KR" altLang="en-US">
                      <a:latin typeface="나눔고딕" panose="020D0604000000000000" pitchFamily="50" charset="-127"/>
                      <a:ea typeface="나눔고딕" panose="020D0604000000000000" pitchFamily="50" charset="-127"/>
                    </a:endParaRPr>
                  </a:p>
                </p:txBody>
              </p:sp>
              <p:sp>
                <p:nvSpPr>
                  <p:cNvPr id="428" name="Rectangle 183"/>
                  <p:cNvSpPr>
                    <a:spLocks noChangeArrowheads="1"/>
                  </p:cNvSpPr>
                  <p:nvPr/>
                </p:nvSpPr>
                <p:spPr bwMode="auto">
                  <a:xfrm>
                    <a:off x="4224" y="3021"/>
                    <a:ext cx="384" cy="96"/>
                  </a:xfrm>
                  <a:prstGeom prst="rect">
                    <a:avLst/>
                  </a:prstGeom>
                  <a:solidFill>
                    <a:srgbClr val="FFFFFF"/>
                  </a:solidFill>
                  <a:ln w="9525" algn="ctr">
                    <a:solidFill>
                      <a:schemeClr val="accent2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anchor="ctr">
                    <a:noAutofit/>
                  </a:bodyPr>
                  <a:lstStyle/>
                  <a:p>
                    <a:endParaRPr lang="ko-KR" altLang="en-US">
                      <a:latin typeface="나눔고딕" panose="020D0604000000000000" pitchFamily="50" charset="-127"/>
                      <a:ea typeface="나눔고딕" panose="020D0604000000000000" pitchFamily="50" charset="-127"/>
                    </a:endParaRPr>
                  </a:p>
                </p:txBody>
              </p:sp>
            </p:grpSp>
            <p:sp>
              <p:nvSpPr>
                <p:cNvPr id="423" name="Rectangle 184"/>
                <p:cNvSpPr>
                  <a:spLocks noChangeArrowheads="1"/>
                </p:cNvSpPr>
                <p:nvPr/>
              </p:nvSpPr>
              <p:spPr bwMode="auto">
                <a:xfrm>
                  <a:off x="5088" y="2304"/>
                  <a:ext cx="336" cy="96"/>
                </a:xfrm>
                <a:prstGeom prst="rect">
                  <a:avLst/>
                </a:prstGeom>
                <a:solidFill>
                  <a:srgbClr val="FFFFFF"/>
                </a:solidFill>
                <a:ln w="9525" algn="ctr">
                  <a:solidFill>
                    <a:schemeClr val="accent2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noAutofit/>
                </a:bodyPr>
                <a:lstStyle/>
                <a:p>
                  <a:endParaRPr lang="ko-KR" altLang="en-US">
                    <a:latin typeface="나눔고딕" panose="020D0604000000000000" pitchFamily="50" charset="-127"/>
                    <a:ea typeface="나눔고딕" panose="020D0604000000000000" pitchFamily="50" charset="-127"/>
                  </a:endParaRPr>
                </a:p>
              </p:txBody>
            </p:sp>
            <p:sp>
              <p:nvSpPr>
                <p:cNvPr id="424" name="Rectangle 185"/>
                <p:cNvSpPr>
                  <a:spLocks noChangeArrowheads="1"/>
                </p:cNvSpPr>
                <p:nvPr/>
              </p:nvSpPr>
              <p:spPr bwMode="auto">
                <a:xfrm>
                  <a:off x="5088" y="2400"/>
                  <a:ext cx="76" cy="262"/>
                </a:xfrm>
                <a:prstGeom prst="rect">
                  <a:avLst/>
                </a:prstGeom>
                <a:solidFill>
                  <a:srgbClr val="FFFFFF"/>
                </a:solidFill>
                <a:ln w="9525" algn="ctr">
                  <a:solidFill>
                    <a:schemeClr val="accent2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>
                  <a:noAutofit/>
                </a:bodyPr>
                <a:lstStyle/>
                <a:p>
                  <a:endParaRPr lang="ko-KR" altLang="en-US">
                    <a:latin typeface="나눔고딕" panose="020D0604000000000000" pitchFamily="50" charset="-127"/>
                    <a:ea typeface="나눔고딕" panose="020D0604000000000000" pitchFamily="50" charset="-127"/>
                  </a:endParaRPr>
                </a:p>
              </p:txBody>
            </p:sp>
            <p:sp>
              <p:nvSpPr>
                <p:cNvPr id="425" name="Rectangle 186"/>
                <p:cNvSpPr>
                  <a:spLocks noChangeArrowheads="1"/>
                </p:cNvSpPr>
                <p:nvPr/>
              </p:nvSpPr>
              <p:spPr bwMode="auto">
                <a:xfrm>
                  <a:off x="5161" y="2400"/>
                  <a:ext cx="167" cy="262"/>
                </a:xfrm>
                <a:prstGeom prst="rect">
                  <a:avLst/>
                </a:prstGeom>
                <a:solidFill>
                  <a:srgbClr val="FFFFFF"/>
                </a:solidFill>
                <a:ln w="9525" algn="ctr">
                  <a:solidFill>
                    <a:schemeClr val="accent2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>
                  <a:noAutofit/>
                </a:bodyPr>
                <a:lstStyle/>
                <a:p>
                  <a:endParaRPr lang="ko-KR" altLang="en-US">
                    <a:latin typeface="나눔고딕" panose="020D0604000000000000" pitchFamily="50" charset="-127"/>
                    <a:ea typeface="나눔고딕" panose="020D0604000000000000" pitchFamily="50" charset="-127"/>
                  </a:endParaRPr>
                </a:p>
              </p:txBody>
            </p:sp>
            <p:sp>
              <p:nvSpPr>
                <p:cNvPr id="426" name="Rectangle 187"/>
                <p:cNvSpPr>
                  <a:spLocks noChangeArrowheads="1"/>
                </p:cNvSpPr>
                <p:nvPr/>
              </p:nvSpPr>
              <p:spPr bwMode="auto">
                <a:xfrm>
                  <a:off x="5328" y="2400"/>
                  <a:ext cx="99" cy="262"/>
                </a:xfrm>
                <a:prstGeom prst="rect">
                  <a:avLst/>
                </a:prstGeom>
                <a:solidFill>
                  <a:srgbClr val="FFFFFF"/>
                </a:solidFill>
                <a:ln w="9525" algn="ctr">
                  <a:solidFill>
                    <a:schemeClr val="accent2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>
                  <a:noAutofit/>
                </a:bodyPr>
                <a:lstStyle/>
                <a:p>
                  <a:endParaRPr lang="ko-KR" altLang="en-US">
                    <a:latin typeface="나눔고딕" panose="020D0604000000000000" pitchFamily="50" charset="-127"/>
                    <a:ea typeface="나눔고딕" panose="020D0604000000000000" pitchFamily="50" charset="-127"/>
                  </a:endParaRPr>
                </a:p>
              </p:txBody>
            </p:sp>
          </p:grpSp>
          <p:sp>
            <p:nvSpPr>
              <p:cNvPr id="371" name="Line 188"/>
              <p:cNvSpPr>
                <a:spLocks noChangeShapeType="1"/>
              </p:cNvSpPr>
              <p:nvPr/>
            </p:nvSpPr>
            <p:spPr bwMode="auto">
              <a:xfrm>
                <a:off x="4903" y="1960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noAutofit/>
              </a:bodyPr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372" name="Line 189"/>
              <p:cNvSpPr>
                <a:spLocks noChangeShapeType="1"/>
              </p:cNvSpPr>
              <p:nvPr/>
            </p:nvSpPr>
            <p:spPr bwMode="auto">
              <a:xfrm>
                <a:off x="3175" y="2016"/>
                <a:ext cx="2208" cy="0"/>
              </a:xfrm>
              <a:prstGeom prst="line">
                <a:avLst/>
              </a:prstGeom>
              <a:noFill/>
              <a:ln w="9525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noAutofit/>
              </a:bodyPr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373" name="Line 190"/>
              <p:cNvSpPr>
                <a:spLocks noChangeShapeType="1"/>
              </p:cNvSpPr>
              <p:nvPr/>
            </p:nvSpPr>
            <p:spPr bwMode="auto">
              <a:xfrm>
                <a:off x="5386" y="2039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noAutofit/>
              </a:bodyPr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374" name="Line 191"/>
              <p:cNvSpPr>
                <a:spLocks noChangeShapeType="1"/>
              </p:cNvSpPr>
              <p:nvPr/>
            </p:nvSpPr>
            <p:spPr bwMode="auto">
              <a:xfrm>
                <a:off x="4472" y="2039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noAutofit/>
              </a:bodyPr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375" name="Line 192"/>
              <p:cNvSpPr>
                <a:spLocks noChangeShapeType="1"/>
              </p:cNvSpPr>
              <p:nvPr/>
            </p:nvSpPr>
            <p:spPr bwMode="auto">
              <a:xfrm>
                <a:off x="3677" y="2039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noAutofit/>
              </a:bodyPr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376" name="Line 193"/>
              <p:cNvSpPr>
                <a:spLocks noChangeShapeType="1"/>
              </p:cNvSpPr>
              <p:nvPr/>
            </p:nvSpPr>
            <p:spPr bwMode="auto">
              <a:xfrm>
                <a:off x="5009" y="2026"/>
                <a:ext cx="0" cy="902"/>
              </a:xfrm>
              <a:prstGeom prst="line">
                <a:avLst/>
              </a:prstGeom>
              <a:noFill/>
              <a:ln w="9525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noAutofit/>
              </a:bodyPr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377" name="Line 194"/>
              <p:cNvSpPr>
                <a:spLocks noChangeShapeType="1"/>
              </p:cNvSpPr>
              <p:nvPr/>
            </p:nvSpPr>
            <p:spPr bwMode="auto">
              <a:xfrm>
                <a:off x="3127" y="2943"/>
                <a:ext cx="2544" cy="0"/>
              </a:xfrm>
              <a:prstGeom prst="line">
                <a:avLst/>
              </a:prstGeom>
              <a:noFill/>
              <a:ln w="9525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noAutofit/>
              </a:bodyPr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378" name="Line 195"/>
              <p:cNvSpPr>
                <a:spLocks noChangeShapeType="1"/>
              </p:cNvSpPr>
              <p:nvPr/>
            </p:nvSpPr>
            <p:spPr bwMode="auto">
              <a:xfrm>
                <a:off x="5677" y="2959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noAutofit/>
              </a:bodyPr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379" name="Line 196"/>
              <p:cNvSpPr>
                <a:spLocks noChangeShapeType="1"/>
              </p:cNvSpPr>
              <p:nvPr/>
            </p:nvSpPr>
            <p:spPr bwMode="auto">
              <a:xfrm>
                <a:off x="4862" y="2959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noAutofit/>
              </a:bodyPr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380" name="Line 197"/>
              <p:cNvSpPr>
                <a:spLocks noChangeShapeType="1"/>
              </p:cNvSpPr>
              <p:nvPr/>
            </p:nvSpPr>
            <p:spPr bwMode="auto">
              <a:xfrm>
                <a:off x="4034" y="2959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noAutofit/>
              </a:bodyPr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381" name="Line 198"/>
              <p:cNvSpPr>
                <a:spLocks noChangeShapeType="1"/>
              </p:cNvSpPr>
              <p:nvPr/>
            </p:nvSpPr>
            <p:spPr bwMode="auto">
              <a:xfrm>
                <a:off x="3246" y="2959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noAutofit/>
              </a:bodyPr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382" name="Line 199"/>
              <p:cNvSpPr>
                <a:spLocks noChangeShapeType="1"/>
              </p:cNvSpPr>
              <p:nvPr/>
            </p:nvSpPr>
            <p:spPr bwMode="auto">
              <a:xfrm>
                <a:off x="4458" y="2436"/>
                <a:ext cx="0" cy="42"/>
              </a:xfrm>
              <a:prstGeom prst="line">
                <a:avLst/>
              </a:prstGeom>
              <a:noFill/>
              <a:ln w="9525">
                <a:solidFill>
                  <a:srgbClr val="C0C0C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noAutofit/>
              </a:bodyPr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383" name="Line 200"/>
              <p:cNvSpPr>
                <a:spLocks noChangeShapeType="1"/>
              </p:cNvSpPr>
              <p:nvPr/>
            </p:nvSpPr>
            <p:spPr bwMode="auto">
              <a:xfrm>
                <a:off x="3657" y="2436"/>
                <a:ext cx="0" cy="42"/>
              </a:xfrm>
              <a:prstGeom prst="line">
                <a:avLst/>
              </a:prstGeom>
              <a:noFill/>
              <a:ln w="9525">
                <a:solidFill>
                  <a:srgbClr val="C0C0C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noAutofit/>
              </a:bodyPr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384" name="Line 201"/>
              <p:cNvSpPr>
                <a:spLocks noChangeShapeType="1"/>
              </p:cNvSpPr>
              <p:nvPr/>
            </p:nvSpPr>
            <p:spPr bwMode="auto">
              <a:xfrm>
                <a:off x="5412" y="2436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noAutofit/>
              </a:bodyPr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385" name="Line 202"/>
              <p:cNvSpPr>
                <a:spLocks noChangeShapeType="1"/>
              </p:cNvSpPr>
              <p:nvPr/>
            </p:nvSpPr>
            <p:spPr bwMode="auto">
              <a:xfrm>
                <a:off x="5273" y="2483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noAutofit/>
              </a:bodyPr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386" name="Line 203"/>
              <p:cNvSpPr>
                <a:spLocks noChangeShapeType="1"/>
              </p:cNvSpPr>
              <p:nvPr/>
            </p:nvSpPr>
            <p:spPr bwMode="auto">
              <a:xfrm>
                <a:off x="5710" y="2483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noAutofit/>
              </a:bodyPr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387" name="Line 204"/>
              <p:cNvSpPr>
                <a:spLocks noChangeShapeType="1"/>
              </p:cNvSpPr>
              <p:nvPr/>
            </p:nvSpPr>
            <p:spPr bwMode="auto">
              <a:xfrm>
                <a:off x="4319" y="2483"/>
                <a:ext cx="0" cy="42"/>
              </a:xfrm>
              <a:prstGeom prst="line">
                <a:avLst/>
              </a:prstGeom>
              <a:noFill/>
              <a:ln w="9525">
                <a:solidFill>
                  <a:srgbClr val="C0C0C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noAutofit/>
              </a:bodyPr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388" name="Line 205"/>
              <p:cNvSpPr>
                <a:spLocks noChangeShapeType="1"/>
              </p:cNvSpPr>
              <p:nvPr/>
            </p:nvSpPr>
            <p:spPr bwMode="auto">
              <a:xfrm>
                <a:off x="4756" y="2483"/>
                <a:ext cx="0" cy="42"/>
              </a:xfrm>
              <a:prstGeom prst="line">
                <a:avLst/>
              </a:prstGeom>
              <a:noFill/>
              <a:ln w="9525">
                <a:solidFill>
                  <a:srgbClr val="C0C0C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noAutofit/>
              </a:bodyPr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389" name="Line 206"/>
              <p:cNvSpPr>
                <a:spLocks noChangeShapeType="1"/>
              </p:cNvSpPr>
              <p:nvPr/>
            </p:nvSpPr>
            <p:spPr bwMode="auto">
              <a:xfrm>
                <a:off x="3511" y="2483"/>
                <a:ext cx="0" cy="42"/>
              </a:xfrm>
              <a:prstGeom prst="line">
                <a:avLst/>
              </a:prstGeom>
              <a:noFill/>
              <a:ln w="9525">
                <a:solidFill>
                  <a:srgbClr val="C0C0C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noAutofit/>
              </a:bodyPr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390" name="Line 207"/>
              <p:cNvSpPr>
                <a:spLocks noChangeShapeType="1"/>
              </p:cNvSpPr>
              <p:nvPr/>
            </p:nvSpPr>
            <p:spPr bwMode="auto">
              <a:xfrm>
                <a:off x="3941" y="2483"/>
                <a:ext cx="0" cy="42"/>
              </a:xfrm>
              <a:prstGeom prst="line">
                <a:avLst/>
              </a:prstGeom>
              <a:noFill/>
              <a:ln w="9525">
                <a:solidFill>
                  <a:srgbClr val="C0C0C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noAutofit/>
              </a:bodyPr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391" name="Line 208"/>
              <p:cNvSpPr>
                <a:spLocks noChangeShapeType="1"/>
              </p:cNvSpPr>
              <p:nvPr/>
            </p:nvSpPr>
            <p:spPr bwMode="auto">
              <a:xfrm>
                <a:off x="3087" y="3416"/>
                <a:ext cx="0" cy="42"/>
              </a:xfrm>
              <a:prstGeom prst="line">
                <a:avLst/>
              </a:prstGeom>
              <a:noFill/>
              <a:ln w="9525">
                <a:solidFill>
                  <a:srgbClr val="C0C0C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noAutofit/>
              </a:bodyPr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392" name="Line 209"/>
              <p:cNvSpPr>
                <a:spLocks noChangeShapeType="1"/>
              </p:cNvSpPr>
              <p:nvPr/>
            </p:nvSpPr>
            <p:spPr bwMode="auto">
              <a:xfrm>
                <a:off x="3517" y="3416"/>
                <a:ext cx="0" cy="42"/>
              </a:xfrm>
              <a:prstGeom prst="line">
                <a:avLst/>
              </a:prstGeom>
              <a:noFill/>
              <a:ln w="9525">
                <a:solidFill>
                  <a:srgbClr val="C0C0C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noAutofit/>
              </a:bodyPr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393" name="Line 210"/>
              <p:cNvSpPr>
                <a:spLocks noChangeShapeType="1"/>
              </p:cNvSpPr>
              <p:nvPr/>
            </p:nvSpPr>
            <p:spPr bwMode="auto">
              <a:xfrm>
                <a:off x="3862" y="3416"/>
                <a:ext cx="0" cy="42"/>
              </a:xfrm>
              <a:prstGeom prst="line">
                <a:avLst/>
              </a:prstGeom>
              <a:noFill/>
              <a:ln w="9525">
                <a:solidFill>
                  <a:srgbClr val="C0C0C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noAutofit/>
              </a:bodyPr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394" name="Line 211"/>
              <p:cNvSpPr>
                <a:spLocks noChangeShapeType="1"/>
              </p:cNvSpPr>
              <p:nvPr/>
            </p:nvSpPr>
            <p:spPr bwMode="auto">
              <a:xfrm>
                <a:off x="4299" y="3416"/>
                <a:ext cx="0" cy="42"/>
              </a:xfrm>
              <a:prstGeom prst="line">
                <a:avLst/>
              </a:prstGeom>
              <a:noFill/>
              <a:ln w="9525">
                <a:solidFill>
                  <a:srgbClr val="C0C0C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noAutofit/>
              </a:bodyPr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395" name="Line 212"/>
              <p:cNvSpPr>
                <a:spLocks noChangeShapeType="1"/>
              </p:cNvSpPr>
              <p:nvPr/>
            </p:nvSpPr>
            <p:spPr bwMode="auto">
              <a:xfrm>
                <a:off x="4709" y="3416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noAutofit/>
              </a:bodyPr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396" name="Line 213"/>
              <p:cNvSpPr>
                <a:spLocks noChangeShapeType="1"/>
              </p:cNvSpPr>
              <p:nvPr/>
            </p:nvSpPr>
            <p:spPr bwMode="auto">
              <a:xfrm>
                <a:off x="5153" y="3416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noAutofit/>
              </a:bodyPr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397" name="Line 214"/>
              <p:cNvSpPr>
                <a:spLocks noChangeShapeType="1"/>
              </p:cNvSpPr>
              <p:nvPr/>
            </p:nvSpPr>
            <p:spPr bwMode="auto">
              <a:xfrm>
                <a:off x="5576" y="3416"/>
                <a:ext cx="0" cy="42"/>
              </a:xfrm>
              <a:prstGeom prst="line">
                <a:avLst/>
              </a:prstGeom>
              <a:noFill/>
              <a:ln w="9525">
                <a:solidFill>
                  <a:srgbClr val="C0C0C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noAutofit/>
              </a:bodyPr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398" name="Line 215"/>
              <p:cNvSpPr>
                <a:spLocks noChangeShapeType="1"/>
              </p:cNvSpPr>
              <p:nvPr/>
            </p:nvSpPr>
            <p:spPr bwMode="auto">
              <a:xfrm>
                <a:off x="6006" y="3416"/>
                <a:ext cx="0" cy="42"/>
              </a:xfrm>
              <a:prstGeom prst="line">
                <a:avLst/>
              </a:prstGeom>
              <a:noFill/>
              <a:ln w="9525">
                <a:solidFill>
                  <a:srgbClr val="C0C0C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noAutofit/>
              </a:bodyPr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399" name="Line 216"/>
              <p:cNvSpPr>
                <a:spLocks noChangeShapeType="1"/>
              </p:cNvSpPr>
              <p:nvPr/>
            </p:nvSpPr>
            <p:spPr bwMode="auto">
              <a:xfrm>
                <a:off x="5714" y="3343"/>
                <a:ext cx="0" cy="42"/>
              </a:xfrm>
              <a:prstGeom prst="line">
                <a:avLst/>
              </a:prstGeom>
              <a:noFill/>
              <a:ln w="9525">
                <a:solidFill>
                  <a:srgbClr val="C0C0C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noAutofit/>
              </a:bodyPr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400" name="Line 217"/>
              <p:cNvSpPr>
                <a:spLocks noChangeShapeType="1"/>
              </p:cNvSpPr>
              <p:nvPr/>
            </p:nvSpPr>
            <p:spPr bwMode="auto">
              <a:xfrm>
                <a:off x="4866" y="3343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noAutofit/>
              </a:bodyPr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401" name="Line 218"/>
              <p:cNvSpPr>
                <a:spLocks noChangeShapeType="1"/>
              </p:cNvSpPr>
              <p:nvPr/>
            </p:nvSpPr>
            <p:spPr bwMode="auto">
              <a:xfrm>
                <a:off x="4025" y="3343"/>
                <a:ext cx="0" cy="42"/>
              </a:xfrm>
              <a:prstGeom prst="line">
                <a:avLst/>
              </a:prstGeom>
              <a:noFill/>
              <a:ln w="9525">
                <a:solidFill>
                  <a:srgbClr val="C0C0C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noAutofit/>
              </a:bodyPr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402" name="Line 219"/>
              <p:cNvSpPr>
                <a:spLocks noChangeShapeType="1"/>
              </p:cNvSpPr>
              <p:nvPr/>
            </p:nvSpPr>
            <p:spPr bwMode="auto">
              <a:xfrm>
                <a:off x="3231" y="3343"/>
                <a:ext cx="0" cy="42"/>
              </a:xfrm>
              <a:prstGeom prst="line">
                <a:avLst/>
              </a:prstGeom>
              <a:noFill/>
              <a:ln w="9525">
                <a:solidFill>
                  <a:srgbClr val="C0C0C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noAutofit/>
              </a:bodyPr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403" name="Line 220"/>
              <p:cNvSpPr>
                <a:spLocks noChangeShapeType="1"/>
              </p:cNvSpPr>
              <p:nvPr/>
            </p:nvSpPr>
            <p:spPr bwMode="auto">
              <a:xfrm>
                <a:off x="5245" y="2479"/>
                <a:ext cx="470" cy="0"/>
              </a:xfrm>
              <a:prstGeom prst="line">
                <a:avLst/>
              </a:prstGeom>
              <a:noFill/>
              <a:ln w="9525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noAutofit/>
              </a:bodyPr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404" name="Line 221"/>
              <p:cNvSpPr>
                <a:spLocks noChangeShapeType="1"/>
              </p:cNvSpPr>
              <p:nvPr/>
            </p:nvSpPr>
            <p:spPr bwMode="auto">
              <a:xfrm>
                <a:off x="4311" y="2479"/>
                <a:ext cx="470" cy="0"/>
              </a:xfrm>
              <a:prstGeom prst="line">
                <a:avLst/>
              </a:prstGeom>
              <a:noFill/>
              <a:ln w="9525">
                <a:solidFill>
                  <a:srgbClr val="C0C0C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noAutofit/>
              </a:bodyPr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405" name="Line 222"/>
              <p:cNvSpPr>
                <a:spLocks noChangeShapeType="1"/>
              </p:cNvSpPr>
              <p:nvPr/>
            </p:nvSpPr>
            <p:spPr bwMode="auto">
              <a:xfrm>
                <a:off x="3503" y="2479"/>
                <a:ext cx="470" cy="0"/>
              </a:xfrm>
              <a:prstGeom prst="line">
                <a:avLst/>
              </a:prstGeom>
              <a:noFill/>
              <a:ln w="9525">
                <a:solidFill>
                  <a:srgbClr val="C0C0C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noAutofit/>
              </a:bodyPr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406" name="Line 223"/>
              <p:cNvSpPr>
                <a:spLocks noChangeShapeType="1"/>
              </p:cNvSpPr>
              <p:nvPr/>
            </p:nvSpPr>
            <p:spPr bwMode="auto">
              <a:xfrm>
                <a:off x="3073" y="3405"/>
                <a:ext cx="470" cy="0"/>
              </a:xfrm>
              <a:prstGeom prst="line">
                <a:avLst/>
              </a:prstGeom>
              <a:noFill/>
              <a:ln w="9525">
                <a:solidFill>
                  <a:srgbClr val="C0C0C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noAutofit/>
              </a:bodyPr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407" name="Line 224"/>
              <p:cNvSpPr>
                <a:spLocks noChangeShapeType="1"/>
              </p:cNvSpPr>
              <p:nvPr/>
            </p:nvSpPr>
            <p:spPr bwMode="auto">
              <a:xfrm>
                <a:off x="3848" y="3405"/>
                <a:ext cx="470" cy="0"/>
              </a:xfrm>
              <a:prstGeom prst="line">
                <a:avLst/>
              </a:prstGeom>
              <a:noFill/>
              <a:ln w="9525">
                <a:solidFill>
                  <a:srgbClr val="C0C0C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noAutofit/>
              </a:bodyPr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408" name="Line 225"/>
              <p:cNvSpPr>
                <a:spLocks noChangeShapeType="1"/>
              </p:cNvSpPr>
              <p:nvPr/>
            </p:nvSpPr>
            <p:spPr bwMode="auto">
              <a:xfrm>
                <a:off x="4695" y="3405"/>
                <a:ext cx="470" cy="0"/>
              </a:xfrm>
              <a:prstGeom prst="line">
                <a:avLst/>
              </a:prstGeom>
              <a:noFill/>
              <a:ln w="9525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noAutofit/>
              </a:bodyPr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409" name="Line 226"/>
              <p:cNvSpPr>
                <a:spLocks noChangeShapeType="1"/>
              </p:cNvSpPr>
              <p:nvPr/>
            </p:nvSpPr>
            <p:spPr bwMode="auto">
              <a:xfrm>
                <a:off x="5562" y="3405"/>
                <a:ext cx="470" cy="0"/>
              </a:xfrm>
              <a:prstGeom prst="line">
                <a:avLst/>
              </a:prstGeom>
              <a:noFill/>
              <a:ln w="9525">
                <a:solidFill>
                  <a:srgbClr val="C0C0C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noAutofit/>
              </a:bodyPr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410" name="Line 227"/>
              <p:cNvSpPr>
                <a:spLocks noChangeShapeType="1"/>
              </p:cNvSpPr>
              <p:nvPr/>
            </p:nvSpPr>
            <p:spPr bwMode="auto">
              <a:xfrm>
                <a:off x="5153" y="3780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noAutofit/>
              </a:bodyPr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411" name="Line 228"/>
              <p:cNvSpPr>
                <a:spLocks noChangeShapeType="1"/>
              </p:cNvSpPr>
              <p:nvPr/>
            </p:nvSpPr>
            <p:spPr bwMode="auto">
              <a:xfrm>
                <a:off x="2928" y="2943"/>
                <a:ext cx="182" cy="0"/>
              </a:xfrm>
              <a:prstGeom prst="line">
                <a:avLst/>
              </a:prstGeom>
              <a:noFill/>
              <a:ln w="9525">
                <a:solidFill>
                  <a:schemeClr val="accent2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noAutofit/>
              </a:bodyPr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412" name="Line 229"/>
              <p:cNvSpPr>
                <a:spLocks noChangeShapeType="1"/>
              </p:cNvSpPr>
              <p:nvPr/>
            </p:nvSpPr>
            <p:spPr bwMode="auto">
              <a:xfrm>
                <a:off x="2970" y="2016"/>
                <a:ext cx="182" cy="0"/>
              </a:xfrm>
              <a:prstGeom prst="line">
                <a:avLst/>
              </a:prstGeom>
              <a:noFill/>
              <a:ln w="9525">
                <a:solidFill>
                  <a:schemeClr val="accent2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noAutofit/>
              </a:bodyPr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413" name="Text Box 230"/>
              <p:cNvSpPr txBox="1">
                <a:spLocks noChangeArrowheads="1"/>
              </p:cNvSpPr>
              <p:nvPr/>
            </p:nvSpPr>
            <p:spPr bwMode="auto">
              <a:xfrm>
                <a:off x="5019" y="1563"/>
                <a:ext cx="336" cy="3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noAutofit/>
              </a:bodyPr>
              <a:lstStyle/>
              <a:p>
                <a:pPr>
                  <a:lnSpc>
                    <a:spcPct val="120000"/>
                  </a:lnSpc>
                  <a:spcBef>
                    <a:spcPct val="50000"/>
                  </a:spcBef>
                </a:pPr>
                <a:endParaRPr kumimoji="1" lang="ko-KR" altLang="ko-KR" sz="80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414" name="Text Box 231"/>
              <p:cNvSpPr txBox="1">
                <a:spLocks noChangeArrowheads="1"/>
              </p:cNvSpPr>
              <p:nvPr/>
            </p:nvSpPr>
            <p:spPr bwMode="auto">
              <a:xfrm>
                <a:off x="5547" y="2057"/>
                <a:ext cx="336" cy="27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noAutofit/>
              </a:bodyPr>
              <a:lstStyle/>
              <a:p>
                <a:pPr>
                  <a:lnSpc>
                    <a:spcPct val="120000"/>
                  </a:lnSpc>
                  <a:spcBef>
                    <a:spcPct val="50000"/>
                  </a:spcBef>
                </a:pPr>
                <a:endParaRPr kumimoji="1" lang="ko-KR" altLang="ko-KR" sz="70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415" name="Text Box 232"/>
              <p:cNvSpPr txBox="1">
                <a:spLocks noChangeArrowheads="1"/>
              </p:cNvSpPr>
              <p:nvPr/>
            </p:nvSpPr>
            <p:spPr bwMode="auto">
              <a:xfrm>
                <a:off x="4987" y="2969"/>
                <a:ext cx="388" cy="27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noAutofit/>
              </a:bodyPr>
              <a:lstStyle/>
              <a:p>
                <a:pPr>
                  <a:lnSpc>
                    <a:spcPct val="120000"/>
                  </a:lnSpc>
                  <a:spcBef>
                    <a:spcPct val="50000"/>
                  </a:spcBef>
                </a:pPr>
                <a:endParaRPr kumimoji="1" lang="ko-KR" altLang="ko-KR" sz="70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416" name="Text Box 233"/>
              <p:cNvSpPr txBox="1">
                <a:spLocks noChangeArrowheads="1"/>
              </p:cNvSpPr>
              <p:nvPr/>
            </p:nvSpPr>
            <p:spPr bwMode="auto">
              <a:xfrm>
                <a:off x="4128" y="2969"/>
                <a:ext cx="479" cy="27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noAutofit/>
              </a:bodyPr>
              <a:lstStyle/>
              <a:p>
                <a:pPr>
                  <a:lnSpc>
                    <a:spcPct val="120000"/>
                  </a:lnSpc>
                  <a:spcBef>
                    <a:spcPct val="50000"/>
                  </a:spcBef>
                </a:pPr>
                <a:endParaRPr kumimoji="1" lang="ko-KR" altLang="ko-KR" sz="70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417" name="Text Box 234"/>
              <p:cNvSpPr txBox="1">
                <a:spLocks noChangeArrowheads="1"/>
              </p:cNvSpPr>
              <p:nvPr/>
            </p:nvSpPr>
            <p:spPr bwMode="auto">
              <a:xfrm>
                <a:off x="3334" y="2969"/>
                <a:ext cx="480" cy="27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noAutofit/>
              </a:bodyPr>
              <a:lstStyle/>
              <a:p>
                <a:pPr>
                  <a:lnSpc>
                    <a:spcPct val="120000"/>
                  </a:lnSpc>
                  <a:spcBef>
                    <a:spcPct val="50000"/>
                  </a:spcBef>
                </a:pPr>
                <a:endParaRPr kumimoji="1" lang="ko-KR" altLang="ko-KR" sz="70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418" name="Text Box 235"/>
              <p:cNvSpPr txBox="1">
                <a:spLocks noChangeArrowheads="1"/>
              </p:cNvSpPr>
              <p:nvPr/>
            </p:nvSpPr>
            <p:spPr bwMode="auto">
              <a:xfrm>
                <a:off x="4595" y="2057"/>
                <a:ext cx="334" cy="27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noAutofit/>
              </a:bodyPr>
              <a:lstStyle/>
              <a:p>
                <a:pPr>
                  <a:lnSpc>
                    <a:spcPct val="120000"/>
                  </a:lnSpc>
                  <a:spcBef>
                    <a:spcPct val="50000"/>
                  </a:spcBef>
                </a:pPr>
                <a:endParaRPr kumimoji="1" lang="ko-KR" altLang="ko-KR" sz="70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419" name="Text Box 236"/>
              <p:cNvSpPr txBox="1">
                <a:spLocks noChangeArrowheads="1"/>
              </p:cNvSpPr>
              <p:nvPr/>
            </p:nvSpPr>
            <p:spPr bwMode="auto">
              <a:xfrm>
                <a:off x="3772" y="2057"/>
                <a:ext cx="336" cy="27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noAutofit/>
              </a:bodyPr>
              <a:lstStyle/>
              <a:p>
                <a:pPr>
                  <a:lnSpc>
                    <a:spcPct val="120000"/>
                  </a:lnSpc>
                  <a:spcBef>
                    <a:spcPct val="50000"/>
                  </a:spcBef>
                </a:pPr>
                <a:endParaRPr kumimoji="1" lang="ko-KR" altLang="ko-KR" sz="70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420" name="Text Box 237"/>
              <p:cNvSpPr txBox="1">
                <a:spLocks noChangeArrowheads="1"/>
              </p:cNvSpPr>
              <p:nvPr/>
            </p:nvSpPr>
            <p:spPr bwMode="auto">
              <a:xfrm>
                <a:off x="5135" y="3313"/>
                <a:ext cx="390" cy="27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noAutofit/>
              </a:bodyPr>
              <a:lstStyle/>
              <a:p>
                <a:pPr>
                  <a:lnSpc>
                    <a:spcPct val="120000"/>
                  </a:lnSpc>
                  <a:spcBef>
                    <a:spcPct val="50000"/>
                  </a:spcBef>
                </a:pPr>
                <a:endParaRPr kumimoji="1" lang="ko-KR" altLang="ko-KR" sz="70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421" name="Text Box 238"/>
              <p:cNvSpPr txBox="1">
                <a:spLocks noChangeArrowheads="1"/>
              </p:cNvSpPr>
              <p:nvPr/>
            </p:nvSpPr>
            <p:spPr bwMode="auto">
              <a:xfrm>
                <a:off x="5287" y="3813"/>
                <a:ext cx="390" cy="27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noAutofit/>
              </a:bodyPr>
              <a:lstStyle/>
              <a:p>
                <a:pPr>
                  <a:lnSpc>
                    <a:spcPct val="120000"/>
                  </a:lnSpc>
                  <a:spcBef>
                    <a:spcPct val="50000"/>
                  </a:spcBef>
                </a:pPr>
                <a:endParaRPr kumimoji="1" lang="ko-KR" altLang="ko-KR" sz="70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p:grpSp>
        <p:grpSp>
          <p:nvGrpSpPr>
            <p:cNvPr id="340" name="Group 239"/>
            <p:cNvGrpSpPr>
              <a:grpSpLocks/>
            </p:cNvGrpSpPr>
            <p:nvPr/>
          </p:nvGrpSpPr>
          <p:grpSpPr bwMode="auto">
            <a:xfrm>
              <a:off x="4731" y="1742"/>
              <a:ext cx="1509" cy="2402"/>
              <a:chOff x="4731" y="1742"/>
              <a:chExt cx="1509" cy="2402"/>
            </a:xfrm>
          </p:grpSpPr>
          <p:sp>
            <p:nvSpPr>
              <p:cNvPr id="341" name="Text Box 240"/>
              <p:cNvSpPr txBox="1">
                <a:spLocks noChangeArrowheads="1"/>
              </p:cNvSpPr>
              <p:nvPr/>
            </p:nvSpPr>
            <p:spPr bwMode="auto">
              <a:xfrm>
                <a:off x="5850" y="2969"/>
                <a:ext cx="390" cy="27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noAutofit/>
              </a:bodyPr>
              <a:lstStyle/>
              <a:p>
                <a:pPr>
                  <a:lnSpc>
                    <a:spcPct val="120000"/>
                  </a:lnSpc>
                  <a:spcBef>
                    <a:spcPct val="50000"/>
                  </a:spcBef>
                </a:pPr>
                <a:endParaRPr kumimoji="1" lang="ko-KR" altLang="ko-KR" sz="70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342" name="Rectangle 241"/>
              <p:cNvSpPr>
                <a:spLocks noChangeArrowheads="1"/>
              </p:cNvSpPr>
              <p:nvPr/>
            </p:nvSpPr>
            <p:spPr bwMode="auto">
              <a:xfrm>
                <a:off x="4731" y="1742"/>
                <a:ext cx="96" cy="96"/>
              </a:xfrm>
              <a:prstGeom prst="rect">
                <a:avLst/>
              </a:prstGeom>
              <a:solidFill>
                <a:srgbClr val="FF9900"/>
              </a:solidFill>
              <a:ln w="9525" algn="ctr">
                <a:solidFill>
                  <a:schemeClr val="accent2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noAutofit/>
              </a:bodyPr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343" name="Rectangle 242"/>
              <p:cNvSpPr>
                <a:spLocks noChangeArrowheads="1"/>
              </p:cNvSpPr>
              <p:nvPr/>
            </p:nvSpPr>
            <p:spPr bwMode="auto">
              <a:xfrm>
                <a:off x="5225" y="2102"/>
                <a:ext cx="289" cy="307"/>
              </a:xfrm>
              <a:prstGeom prst="rect">
                <a:avLst/>
              </a:prstGeom>
              <a:solidFill>
                <a:srgbClr val="FF9900"/>
              </a:solidFill>
              <a:ln w="9525" algn="ctr">
                <a:solidFill>
                  <a:schemeClr val="accent2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noAutofit/>
              </a:bodyPr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344" name="Rectangle 243"/>
              <p:cNvSpPr>
                <a:spLocks noChangeArrowheads="1"/>
              </p:cNvSpPr>
              <p:nvPr/>
            </p:nvSpPr>
            <p:spPr bwMode="auto">
              <a:xfrm>
                <a:off x="5161" y="2635"/>
                <a:ext cx="96" cy="96"/>
              </a:xfrm>
              <a:prstGeom prst="rect">
                <a:avLst/>
              </a:prstGeom>
              <a:solidFill>
                <a:srgbClr val="FF9900"/>
              </a:solidFill>
              <a:ln w="9525" algn="ctr">
                <a:solidFill>
                  <a:schemeClr val="accent2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noAutofit/>
              </a:bodyPr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345" name="Rectangle 244"/>
              <p:cNvSpPr>
                <a:spLocks noChangeArrowheads="1"/>
              </p:cNvSpPr>
              <p:nvPr/>
            </p:nvSpPr>
            <p:spPr bwMode="auto">
              <a:xfrm>
                <a:off x="5030" y="3528"/>
                <a:ext cx="148" cy="223"/>
              </a:xfrm>
              <a:prstGeom prst="rect">
                <a:avLst/>
              </a:prstGeom>
              <a:solidFill>
                <a:srgbClr val="FF9900"/>
              </a:solidFill>
              <a:ln w="9525" algn="ctr">
                <a:solidFill>
                  <a:schemeClr val="accent2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noAutofit/>
              </a:bodyPr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346" name="Rectangle 245"/>
              <p:cNvSpPr>
                <a:spLocks noChangeArrowheads="1"/>
              </p:cNvSpPr>
              <p:nvPr/>
            </p:nvSpPr>
            <p:spPr bwMode="auto">
              <a:xfrm>
                <a:off x="4970" y="3830"/>
                <a:ext cx="295" cy="314"/>
              </a:xfrm>
              <a:prstGeom prst="rect">
                <a:avLst/>
              </a:prstGeom>
              <a:solidFill>
                <a:srgbClr val="FF9900"/>
              </a:solidFill>
              <a:ln w="9525" algn="ctr">
                <a:solidFill>
                  <a:schemeClr val="accent2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noAutofit/>
              </a:bodyPr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347" name="Rectangle 246"/>
              <p:cNvSpPr>
                <a:spLocks noChangeArrowheads="1"/>
              </p:cNvSpPr>
              <p:nvPr/>
            </p:nvSpPr>
            <p:spPr bwMode="auto">
              <a:xfrm>
                <a:off x="4758" y="3119"/>
                <a:ext cx="96" cy="96"/>
              </a:xfrm>
              <a:prstGeom prst="rect">
                <a:avLst/>
              </a:prstGeom>
              <a:solidFill>
                <a:srgbClr val="FF9900">
                  <a:alpha val="60001"/>
                </a:srgbClr>
              </a:solidFill>
              <a:ln w="9525" algn="ctr">
                <a:solidFill>
                  <a:schemeClr val="accent2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noAutofit/>
              </a:bodyPr>
              <a:lstStyle/>
              <a:p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p:grpSp>
      </p:grpSp>
      <p:sp>
        <p:nvSpPr>
          <p:cNvPr id="936" name="Rectangle 273"/>
          <p:cNvSpPr>
            <a:spLocks noChangeArrowheads="1"/>
          </p:cNvSpPr>
          <p:nvPr/>
        </p:nvSpPr>
        <p:spPr bwMode="auto">
          <a:xfrm>
            <a:off x="1965772" y="4332560"/>
            <a:ext cx="311150" cy="311150"/>
          </a:xfrm>
          <a:prstGeom prst="rect">
            <a:avLst/>
          </a:prstGeom>
          <a:noFill/>
          <a:ln w="28575" algn="ctr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noAutofit/>
          </a:bodyPr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37" name="Line 274"/>
          <p:cNvSpPr>
            <a:spLocks noChangeShapeType="1"/>
          </p:cNvSpPr>
          <p:nvPr/>
        </p:nvSpPr>
        <p:spPr bwMode="auto">
          <a:xfrm>
            <a:off x="2257872" y="4470673"/>
            <a:ext cx="5410200" cy="0"/>
          </a:xfrm>
          <a:prstGeom prst="line">
            <a:avLst/>
          </a:prstGeom>
          <a:noFill/>
          <a:ln w="19050">
            <a:solidFill>
              <a:schemeClr val="tx1">
                <a:lumMod val="50000"/>
                <a:lumOff val="50000"/>
              </a:schemeClr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noAutofit/>
          </a:bodyPr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44" name="Rectangle 281"/>
          <p:cNvSpPr>
            <a:spLocks noChangeArrowheads="1"/>
          </p:cNvSpPr>
          <p:nvPr/>
        </p:nvSpPr>
        <p:spPr bwMode="auto">
          <a:xfrm>
            <a:off x="4160912" y="4885010"/>
            <a:ext cx="3371594" cy="1784350"/>
          </a:xfrm>
          <a:prstGeom prst="rect">
            <a:avLst/>
          </a:prstGeom>
          <a:noFill/>
          <a:ln w="9525" algn="ctr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noAutofit/>
          </a:bodyPr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45" name="Rectangle 282"/>
          <p:cNvSpPr>
            <a:spLocks noChangeArrowheads="1"/>
          </p:cNvSpPr>
          <p:nvPr/>
        </p:nvSpPr>
        <p:spPr bwMode="auto">
          <a:xfrm>
            <a:off x="3227835" y="2257698"/>
            <a:ext cx="1812925" cy="1784350"/>
          </a:xfrm>
          <a:prstGeom prst="rect">
            <a:avLst/>
          </a:prstGeom>
          <a:noFill/>
          <a:ln w="9525" algn="ctr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noAutofit/>
          </a:bodyPr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46" name="Rectangle 283"/>
          <p:cNvSpPr>
            <a:spLocks noChangeArrowheads="1"/>
          </p:cNvSpPr>
          <p:nvPr/>
        </p:nvSpPr>
        <p:spPr bwMode="auto">
          <a:xfrm>
            <a:off x="5686872" y="2257698"/>
            <a:ext cx="1812925" cy="1784350"/>
          </a:xfrm>
          <a:prstGeom prst="rect">
            <a:avLst/>
          </a:prstGeom>
          <a:noFill/>
          <a:ln w="9525" algn="ctr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noAutofit/>
          </a:bodyPr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47" name="Line 284"/>
          <p:cNvSpPr>
            <a:spLocks noChangeShapeType="1"/>
          </p:cNvSpPr>
          <p:nvPr/>
        </p:nvSpPr>
        <p:spPr bwMode="auto">
          <a:xfrm flipV="1">
            <a:off x="5019749" y="4504010"/>
            <a:ext cx="0" cy="381000"/>
          </a:xfrm>
          <a:prstGeom prst="line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noAutofit/>
          </a:bodyPr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49" name="Line 286"/>
          <p:cNvSpPr>
            <a:spLocks noChangeShapeType="1"/>
          </p:cNvSpPr>
          <p:nvPr/>
        </p:nvSpPr>
        <p:spPr bwMode="auto">
          <a:xfrm>
            <a:off x="6601272" y="4046810"/>
            <a:ext cx="0" cy="381000"/>
          </a:xfrm>
          <a:prstGeom prst="line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noAutofit/>
          </a:bodyPr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50" name="Line 287"/>
          <p:cNvSpPr>
            <a:spLocks noChangeShapeType="1"/>
          </p:cNvSpPr>
          <p:nvPr/>
        </p:nvSpPr>
        <p:spPr bwMode="auto">
          <a:xfrm>
            <a:off x="4086672" y="4046810"/>
            <a:ext cx="0" cy="381000"/>
          </a:xfrm>
          <a:prstGeom prst="line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noAutofit/>
          </a:bodyPr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51" name="Rectangle 288"/>
          <p:cNvSpPr>
            <a:spLocks noChangeArrowheads="1"/>
          </p:cNvSpPr>
          <p:nvPr/>
        </p:nvSpPr>
        <p:spPr bwMode="auto">
          <a:xfrm>
            <a:off x="1846710" y="5310460"/>
            <a:ext cx="1270000" cy="2286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63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noAutofit/>
          </a:bodyPr>
          <a:lstStyle/>
          <a:p>
            <a:pPr algn="r"/>
            <a:r>
              <a:rPr lang="en-US" altLang="ko-KR" sz="9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Arrangement Layer</a:t>
            </a:r>
          </a:p>
        </p:txBody>
      </p:sp>
      <p:sp>
        <p:nvSpPr>
          <p:cNvPr id="952" name="Rectangle 289"/>
          <p:cNvSpPr>
            <a:spLocks noChangeArrowheads="1"/>
          </p:cNvSpPr>
          <p:nvPr/>
        </p:nvSpPr>
        <p:spPr bwMode="auto">
          <a:xfrm>
            <a:off x="200472" y="2616473"/>
            <a:ext cx="2879725" cy="2909887"/>
          </a:xfrm>
          <a:prstGeom prst="rect">
            <a:avLst/>
          </a:prstGeom>
          <a:noFill/>
          <a:ln w="9525" algn="ctr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noAutofit/>
          </a:bodyPr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53" name="Rectangle 290"/>
          <p:cNvSpPr>
            <a:spLocks noChangeArrowheads="1"/>
          </p:cNvSpPr>
          <p:nvPr/>
        </p:nvSpPr>
        <p:spPr bwMode="auto">
          <a:xfrm>
            <a:off x="4024760" y="4080148"/>
            <a:ext cx="12700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noAutofit/>
          </a:bodyPr>
          <a:lstStyle/>
          <a:p>
            <a:pPr algn="r"/>
            <a:r>
              <a:rPr lang="en-US" altLang="ko-KR" sz="900" b="1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Contents type layer</a:t>
            </a:r>
          </a:p>
        </p:txBody>
      </p:sp>
      <p:sp>
        <p:nvSpPr>
          <p:cNvPr id="954" name="Rectangle 291"/>
          <p:cNvSpPr>
            <a:spLocks noChangeArrowheads="1"/>
          </p:cNvSpPr>
          <p:nvPr/>
        </p:nvSpPr>
        <p:spPr bwMode="auto">
          <a:xfrm>
            <a:off x="4737174" y="4548460"/>
            <a:ext cx="12700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noAutofit/>
          </a:bodyPr>
          <a:lstStyle/>
          <a:p>
            <a:pPr algn="r"/>
            <a:r>
              <a:rPr lang="en-US" altLang="ko-KR" sz="900" b="1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Page type layer</a:t>
            </a:r>
          </a:p>
        </p:txBody>
      </p:sp>
      <p:sp>
        <p:nvSpPr>
          <p:cNvPr id="956" name="Rectangle 293"/>
          <p:cNvSpPr>
            <a:spLocks noChangeArrowheads="1"/>
          </p:cNvSpPr>
          <p:nvPr/>
        </p:nvSpPr>
        <p:spPr bwMode="auto">
          <a:xfrm>
            <a:off x="6604446" y="4054748"/>
            <a:ext cx="1350639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noAutofit/>
          </a:bodyPr>
          <a:lstStyle/>
          <a:p>
            <a:r>
              <a:rPr lang="en-US" altLang="ko-KR" sz="9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Grid type layer</a:t>
            </a:r>
          </a:p>
        </p:txBody>
      </p:sp>
      <p:sp>
        <p:nvSpPr>
          <p:cNvPr id="957" name="Rectangle 294"/>
          <p:cNvSpPr>
            <a:spLocks noChangeArrowheads="1"/>
          </p:cNvSpPr>
          <p:nvPr/>
        </p:nvSpPr>
        <p:spPr bwMode="auto">
          <a:xfrm>
            <a:off x="7833319" y="5412060"/>
            <a:ext cx="12700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noAutofit/>
          </a:bodyPr>
          <a:lstStyle/>
          <a:p>
            <a:r>
              <a:rPr lang="en-US" altLang="ko-KR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U.I / U.X Blue print</a:t>
            </a:r>
          </a:p>
        </p:txBody>
      </p:sp>
      <p:pic>
        <p:nvPicPr>
          <p:cNvPr id="300" name="Picture 42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2946" y="2349183"/>
            <a:ext cx="1560221" cy="16191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2" name="Picture 96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2091" y="2325550"/>
            <a:ext cx="1534677" cy="1662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4" name="Picture 427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5322" y="4958692"/>
            <a:ext cx="2870915" cy="1638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" name="Picture 96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33319" y="3367734"/>
            <a:ext cx="1808613" cy="195897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361173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AutoShape 6"/>
          <p:cNvSpPr>
            <a:spLocks noChangeArrowheads="1"/>
          </p:cNvSpPr>
          <p:nvPr/>
        </p:nvSpPr>
        <p:spPr bwMode="auto">
          <a:xfrm>
            <a:off x="678904" y="1809328"/>
            <a:ext cx="3949718" cy="4572000"/>
          </a:xfrm>
          <a:prstGeom prst="roundRect">
            <a:avLst>
              <a:gd name="adj" fmla="val 1814"/>
            </a:avLst>
          </a:prstGeom>
          <a:noFill/>
          <a:ln w="19050">
            <a:solidFill>
              <a:srgbClr val="C0C0C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noAutofit/>
          </a:bodyPr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0" name="AutoShape 7"/>
          <p:cNvSpPr>
            <a:spLocks noChangeArrowheads="1"/>
          </p:cNvSpPr>
          <p:nvPr/>
        </p:nvSpPr>
        <p:spPr bwMode="auto">
          <a:xfrm>
            <a:off x="5179746" y="1809328"/>
            <a:ext cx="3949718" cy="4572000"/>
          </a:xfrm>
          <a:prstGeom prst="roundRect">
            <a:avLst>
              <a:gd name="adj" fmla="val 1654"/>
            </a:avLst>
          </a:prstGeom>
          <a:noFill/>
          <a:ln w="19050">
            <a:solidFill>
              <a:srgbClr val="C0C0C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noAutofit/>
          </a:bodyPr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44017" y="91339"/>
            <a:ext cx="7401271" cy="385333"/>
          </a:xfrm>
          <a:prstGeom prst="rect">
            <a:avLst/>
          </a:prstGeom>
          <a:noFill/>
        </p:spPr>
        <p:txBody>
          <a:bodyPr wrap="square" lIns="0" tIns="53643" rIns="0" bIns="53643" rtlCol="0">
            <a:spAutoFit/>
          </a:bodyPr>
          <a:lstStyle/>
          <a:p>
            <a:r>
              <a:rPr kumimoji="1" lang="en-US" altLang="ko-KR" b="1" kern="0" dirty="0">
                <a:latin typeface="나눔고딕" panose="020D0604000000000000" pitchFamily="50" charset="-127"/>
                <a:ea typeface="나눔고딕" panose="020D0604000000000000" pitchFamily="50" charset="-127"/>
                <a:cs typeface="산돌고딕 M"/>
              </a:rPr>
              <a:t>User Interface Design</a:t>
            </a:r>
            <a:endParaRPr kumimoji="1" lang="ko-KR" altLang="en-US" b="1" kern="0" dirty="0">
              <a:latin typeface="나눔고딕" panose="020D0604000000000000" pitchFamily="50" charset="-127"/>
              <a:ea typeface="나눔고딕" panose="020D0604000000000000" pitchFamily="50" charset="-127"/>
              <a:cs typeface="산돌고딕 M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44017" y="683985"/>
            <a:ext cx="96335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Navigation System</a:t>
            </a:r>
          </a:p>
        </p:txBody>
      </p:sp>
      <p:sp>
        <p:nvSpPr>
          <p:cNvPr id="32" name="직사각형 31"/>
          <p:cNvSpPr/>
          <p:nvPr/>
        </p:nvSpPr>
        <p:spPr>
          <a:xfrm>
            <a:off x="272480" y="1052736"/>
            <a:ext cx="4824536" cy="36004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ko-KR" altLang="en-US" sz="14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절대적 </a:t>
            </a:r>
            <a:r>
              <a:rPr lang="en-US" altLang="ko-KR" sz="14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Navigation &amp; </a:t>
            </a:r>
            <a:r>
              <a:rPr lang="ko-KR" altLang="en-US" sz="14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상대적 </a:t>
            </a:r>
            <a:r>
              <a:rPr lang="en-US" altLang="ko-KR" sz="14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Navigation</a:t>
            </a:r>
          </a:p>
        </p:txBody>
      </p:sp>
      <p:sp>
        <p:nvSpPr>
          <p:cNvPr id="33" name="Rectangle 5"/>
          <p:cNvSpPr>
            <a:spLocks noChangeArrowheads="1"/>
          </p:cNvSpPr>
          <p:nvPr/>
        </p:nvSpPr>
        <p:spPr bwMode="auto">
          <a:xfrm>
            <a:off x="5361384" y="1844824"/>
            <a:ext cx="3624064" cy="1527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noAutofit/>
          </a:bodyPr>
          <a:lstStyle>
            <a:lvl1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973138" indent="-45720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544638" indent="-45720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2116138" indent="-45720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687638" indent="-45720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3144838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3602038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4059238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4516438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>
              <a:spcBef>
                <a:spcPct val="50000"/>
              </a:spcBef>
            </a:pPr>
            <a:r>
              <a:rPr kumimoji="0" lang="ko-KR" altLang="en-US" sz="1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상대적 </a:t>
            </a:r>
            <a:r>
              <a:rPr kumimoji="0" lang="en-US" altLang="ko-KR" sz="1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Navigation</a:t>
            </a:r>
            <a:br>
              <a:rPr kumimoji="0" lang="en-US" altLang="ko-KR" sz="1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endParaRPr kumimoji="0" lang="en-US" altLang="ko-KR" sz="18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spcBef>
                <a:spcPct val="50000"/>
              </a:spcBef>
            </a:pPr>
            <a:r>
              <a:rPr kumimoji="0"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정보구조상 현재의 위치를 기준으로 하위정보를 보여줌</a:t>
            </a:r>
            <a:r>
              <a:rPr kumimoji="0"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br>
              <a:rPr kumimoji="0"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kumimoji="0"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Link Point</a:t>
            </a:r>
            <a:r>
              <a:rPr kumimoji="0"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의 개수를 줄이고 현재 이용 중인 정보에 몰입이 용이함</a:t>
            </a:r>
            <a:r>
              <a:rPr kumimoji="0"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endParaRPr kumimoji="0" lang="en-US" altLang="ko-KR" sz="16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6" name="Line 8"/>
          <p:cNvSpPr>
            <a:spLocks noChangeShapeType="1"/>
          </p:cNvSpPr>
          <p:nvPr/>
        </p:nvSpPr>
        <p:spPr bwMode="auto">
          <a:xfrm>
            <a:off x="2369493" y="3336503"/>
            <a:ext cx="2286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noAutofit/>
          </a:bodyPr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7" name="Rectangle 9"/>
          <p:cNvSpPr>
            <a:spLocks noChangeArrowheads="1"/>
          </p:cNvSpPr>
          <p:nvPr/>
        </p:nvSpPr>
        <p:spPr bwMode="auto">
          <a:xfrm>
            <a:off x="2588568" y="3219028"/>
            <a:ext cx="409575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noAutofit/>
          </a:bodyPr>
          <a:lstStyle/>
          <a:p>
            <a:r>
              <a:rPr lang="ko-KR" altLang="en-US" sz="900">
                <a:latin typeface="나눔고딕" panose="020D0604000000000000" pitchFamily="50" charset="-127"/>
                <a:ea typeface="나눔고딕" panose="020D0604000000000000" pitchFamily="50" charset="-127"/>
              </a:rPr>
              <a:t>상위</a:t>
            </a:r>
          </a:p>
        </p:txBody>
      </p:sp>
      <p:sp>
        <p:nvSpPr>
          <p:cNvPr id="38" name="Line 10"/>
          <p:cNvSpPr>
            <a:spLocks noChangeShapeType="1"/>
          </p:cNvSpPr>
          <p:nvPr/>
        </p:nvSpPr>
        <p:spPr bwMode="auto">
          <a:xfrm>
            <a:off x="2369493" y="3527003"/>
            <a:ext cx="219075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noAutofit/>
          </a:bodyPr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9" name="Rectangle 11"/>
          <p:cNvSpPr>
            <a:spLocks noChangeArrowheads="1"/>
          </p:cNvSpPr>
          <p:nvPr/>
        </p:nvSpPr>
        <p:spPr bwMode="auto">
          <a:xfrm>
            <a:off x="2588568" y="3433341"/>
            <a:ext cx="638175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noAutofit/>
          </a:bodyPr>
          <a:lstStyle/>
          <a:p>
            <a:r>
              <a:rPr lang="ko-KR" altLang="en-US" sz="900">
                <a:latin typeface="나눔고딕" panose="020D0604000000000000" pitchFamily="50" charset="-127"/>
                <a:ea typeface="나눔고딕" panose="020D0604000000000000" pitchFamily="50" charset="-127"/>
              </a:rPr>
              <a:t>현재위치</a:t>
            </a:r>
          </a:p>
        </p:txBody>
      </p:sp>
      <p:sp>
        <p:nvSpPr>
          <p:cNvPr id="40" name="Line 12"/>
          <p:cNvSpPr>
            <a:spLocks noChangeShapeType="1"/>
          </p:cNvSpPr>
          <p:nvPr/>
        </p:nvSpPr>
        <p:spPr bwMode="auto">
          <a:xfrm>
            <a:off x="2371081" y="3755603"/>
            <a:ext cx="2286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noAutofit/>
          </a:bodyPr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1" name="Rectangle 13"/>
          <p:cNvSpPr>
            <a:spLocks noChangeArrowheads="1"/>
          </p:cNvSpPr>
          <p:nvPr/>
        </p:nvSpPr>
        <p:spPr bwMode="auto">
          <a:xfrm>
            <a:off x="2588568" y="3668291"/>
            <a:ext cx="555625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noAutofit/>
          </a:bodyPr>
          <a:lstStyle/>
          <a:p>
            <a:r>
              <a:rPr lang="ko-KR" altLang="en-US" sz="900">
                <a:latin typeface="나눔고딕" panose="020D0604000000000000" pitchFamily="50" charset="-127"/>
                <a:ea typeface="나눔고딕" panose="020D0604000000000000" pitchFamily="50" charset="-127"/>
              </a:rPr>
              <a:t>동 레벨</a:t>
            </a:r>
          </a:p>
        </p:txBody>
      </p:sp>
      <p:sp>
        <p:nvSpPr>
          <p:cNvPr id="42" name="Line 14"/>
          <p:cNvSpPr>
            <a:spLocks noChangeShapeType="1"/>
          </p:cNvSpPr>
          <p:nvPr/>
        </p:nvSpPr>
        <p:spPr bwMode="auto">
          <a:xfrm>
            <a:off x="6732984" y="3638128"/>
            <a:ext cx="2286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noAutofit/>
          </a:bodyPr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3" name="Rectangle 15"/>
          <p:cNvSpPr>
            <a:spLocks noChangeArrowheads="1"/>
          </p:cNvSpPr>
          <p:nvPr/>
        </p:nvSpPr>
        <p:spPr bwMode="auto">
          <a:xfrm>
            <a:off x="6961584" y="3533353"/>
            <a:ext cx="638175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noAutofit/>
          </a:bodyPr>
          <a:lstStyle/>
          <a:p>
            <a:r>
              <a:rPr lang="ko-KR" altLang="en-US" sz="900">
                <a:latin typeface="나눔고딕" panose="020D0604000000000000" pitchFamily="50" charset="-127"/>
                <a:ea typeface="나눔고딕" panose="020D0604000000000000" pitchFamily="50" charset="-127"/>
              </a:rPr>
              <a:t>하위레벨</a:t>
            </a:r>
          </a:p>
        </p:txBody>
      </p:sp>
      <p:sp>
        <p:nvSpPr>
          <p:cNvPr id="44" name="Line 16"/>
          <p:cNvSpPr>
            <a:spLocks noChangeShapeType="1"/>
          </p:cNvSpPr>
          <p:nvPr/>
        </p:nvSpPr>
        <p:spPr bwMode="auto">
          <a:xfrm>
            <a:off x="2367906" y="3638128"/>
            <a:ext cx="0" cy="106680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noAutofit/>
          </a:bodyPr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5" name="Line 17"/>
          <p:cNvSpPr>
            <a:spLocks noChangeShapeType="1"/>
          </p:cNvSpPr>
          <p:nvPr/>
        </p:nvSpPr>
        <p:spPr bwMode="auto">
          <a:xfrm>
            <a:off x="6732984" y="3485728"/>
            <a:ext cx="0" cy="114300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noAutofit/>
          </a:bodyPr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3" name="Line 18"/>
          <p:cNvSpPr>
            <a:spLocks noChangeShapeType="1"/>
          </p:cNvSpPr>
          <p:nvPr/>
        </p:nvSpPr>
        <p:spPr bwMode="auto">
          <a:xfrm>
            <a:off x="2367906" y="4790653"/>
            <a:ext cx="0" cy="828675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noAutofit/>
          </a:bodyPr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4" name="Line 19"/>
          <p:cNvSpPr>
            <a:spLocks noChangeShapeType="1"/>
          </p:cNvSpPr>
          <p:nvPr/>
        </p:nvSpPr>
        <p:spPr bwMode="auto">
          <a:xfrm>
            <a:off x="2371081" y="4868441"/>
            <a:ext cx="2286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noAutofit/>
          </a:bodyPr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5" name="Rectangle 20"/>
          <p:cNvSpPr>
            <a:spLocks noChangeArrowheads="1"/>
          </p:cNvSpPr>
          <p:nvPr/>
        </p:nvSpPr>
        <p:spPr bwMode="auto">
          <a:xfrm>
            <a:off x="2588568" y="4781128"/>
            <a:ext cx="669925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noAutofit/>
          </a:bodyPr>
          <a:lstStyle/>
          <a:p>
            <a:r>
              <a:rPr lang="ko-KR" altLang="en-US" sz="900">
                <a:latin typeface="나눔고딕" panose="020D0604000000000000" pitchFamily="50" charset="-127"/>
                <a:ea typeface="나눔고딕" panose="020D0604000000000000" pitchFamily="50" charset="-127"/>
              </a:rPr>
              <a:t>하위 레벨</a:t>
            </a:r>
            <a:br>
              <a:rPr lang="ko-KR" altLang="en-US" sz="90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endParaRPr lang="ko-KR" altLang="en-US" sz="90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6" name="Rectangle 21"/>
          <p:cNvSpPr>
            <a:spLocks noChangeArrowheads="1"/>
          </p:cNvSpPr>
          <p:nvPr/>
        </p:nvSpPr>
        <p:spPr bwMode="auto">
          <a:xfrm>
            <a:off x="1064568" y="4781128"/>
            <a:ext cx="1219200" cy="838200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90000" tIns="46800" rIns="90000" bIns="46800" anchor="t">
            <a:noAutofit/>
          </a:bodyPr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          Depth 3 a</a:t>
            </a:r>
          </a:p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          Depth 3 b</a:t>
            </a:r>
          </a:p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          Depth 3 c</a:t>
            </a:r>
          </a:p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          Depth 3 d</a:t>
            </a:r>
          </a:p>
        </p:txBody>
      </p:sp>
      <p:sp>
        <p:nvSpPr>
          <p:cNvPr id="67" name="Rectangle 22"/>
          <p:cNvSpPr>
            <a:spLocks noChangeArrowheads="1"/>
          </p:cNvSpPr>
          <p:nvPr/>
        </p:nvSpPr>
        <p:spPr bwMode="auto">
          <a:xfrm>
            <a:off x="1064568" y="3333328"/>
            <a:ext cx="1219200" cy="152400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90000" tIns="46800" rIns="90000" bIns="46800" anchor="ctr">
            <a:noAutofit/>
          </a:bodyPr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Depth 1</a:t>
            </a:r>
          </a:p>
        </p:txBody>
      </p:sp>
      <p:sp>
        <p:nvSpPr>
          <p:cNvPr id="68" name="Rectangle 23"/>
          <p:cNvSpPr>
            <a:spLocks noChangeArrowheads="1"/>
          </p:cNvSpPr>
          <p:nvPr/>
        </p:nvSpPr>
        <p:spPr bwMode="auto">
          <a:xfrm>
            <a:off x="1064568" y="3485728"/>
            <a:ext cx="1219200" cy="152400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90000" tIns="46800" rIns="90000" bIns="46800" anchor="ctr">
            <a:noAutofit/>
          </a:bodyPr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  Depth 2</a:t>
            </a:r>
          </a:p>
        </p:txBody>
      </p:sp>
      <p:sp>
        <p:nvSpPr>
          <p:cNvPr id="69" name="Rectangle 24"/>
          <p:cNvSpPr>
            <a:spLocks noChangeArrowheads="1"/>
          </p:cNvSpPr>
          <p:nvPr/>
        </p:nvSpPr>
        <p:spPr bwMode="auto">
          <a:xfrm>
            <a:off x="1064568" y="3638128"/>
            <a:ext cx="1219200" cy="1143000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90000" tIns="46800" rIns="90000" bIns="46800" anchor="t">
            <a:noAutofit/>
          </a:bodyPr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      Depth 2 a</a:t>
            </a:r>
          </a:p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      Depth 2 b</a:t>
            </a:r>
          </a:p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      Depth 2 c</a:t>
            </a:r>
          </a:p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      Depth 2 d</a:t>
            </a:r>
          </a:p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      Depth 2 e</a:t>
            </a:r>
          </a:p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      Depth 2 f</a:t>
            </a:r>
          </a:p>
        </p:txBody>
      </p:sp>
      <p:sp>
        <p:nvSpPr>
          <p:cNvPr id="70" name="Rectangle 25"/>
          <p:cNvSpPr>
            <a:spLocks noChangeArrowheads="1"/>
          </p:cNvSpPr>
          <p:nvPr/>
        </p:nvSpPr>
        <p:spPr bwMode="auto">
          <a:xfrm>
            <a:off x="1064568" y="5619328"/>
            <a:ext cx="1219200" cy="533400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90000" tIns="46800" rIns="90000" bIns="46800" anchor="ctr">
            <a:noAutofit/>
          </a:bodyPr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Related 1</a:t>
            </a:r>
          </a:p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Related 2</a:t>
            </a:r>
          </a:p>
        </p:txBody>
      </p:sp>
      <p:sp>
        <p:nvSpPr>
          <p:cNvPr id="76" name="Rectangle 31"/>
          <p:cNvSpPr>
            <a:spLocks noChangeArrowheads="1"/>
          </p:cNvSpPr>
          <p:nvPr/>
        </p:nvSpPr>
        <p:spPr bwMode="auto">
          <a:xfrm>
            <a:off x="2588568" y="5695528"/>
            <a:ext cx="930275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noAutofit/>
          </a:bodyPr>
          <a:lstStyle/>
          <a:p>
            <a:r>
              <a:rPr lang="en-US" altLang="ko-KR" sz="900">
                <a:latin typeface="나눔고딕" panose="020D0604000000000000" pitchFamily="50" charset="-127"/>
                <a:ea typeface="나눔고딕" panose="020D0604000000000000" pitchFamily="50" charset="-127"/>
              </a:rPr>
              <a:t>Related Pages</a:t>
            </a:r>
          </a:p>
        </p:txBody>
      </p:sp>
      <p:sp>
        <p:nvSpPr>
          <p:cNvPr id="77" name="Line 32"/>
          <p:cNvSpPr>
            <a:spLocks noChangeShapeType="1"/>
          </p:cNvSpPr>
          <p:nvPr/>
        </p:nvSpPr>
        <p:spPr bwMode="auto">
          <a:xfrm>
            <a:off x="2367906" y="5693941"/>
            <a:ext cx="0" cy="458787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noAutofit/>
          </a:bodyPr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8" name="Line 33"/>
          <p:cNvSpPr>
            <a:spLocks noChangeShapeType="1"/>
          </p:cNvSpPr>
          <p:nvPr/>
        </p:nvSpPr>
        <p:spPr bwMode="auto">
          <a:xfrm>
            <a:off x="2371081" y="5771728"/>
            <a:ext cx="2286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noAutofit/>
          </a:bodyPr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9" name="Rectangle 34"/>
          <p:cNvSpPr>
            <a:spLocks noChangeArrowheads="1"/>
          </p:cNvSpPr>
          <p:nvPr/>
        </p:nvSpPr>
        <p:spPr bwMode="auto">
          <a:xfrm>
            <a:off x="5437584" y="3485728"/>
            <a:ext cx="1219200" cy="1143000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90000" tIns="46800" rIns="90000" bIns="46800" anchor="t">
            <a:noAutofit/>
          </a:bodyPr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  Depth 3 a</a:t>
            </a:r>
          </a:p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  Depth 3 b</a:t>
            </a:r>
          </a:p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  Depth 3 c</a:t>
            </a:r>
          </a:p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  Depth 3 d</a:t>
            </a:r>
          </a:p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  Depth 3 e</a:t>
            </a:r>
          </a:p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  Depth 3 f</a:t>
            </a:r>
          </a:p>
        </p:txBody>
      </p:sp>
      <p:sp>
        <p:nvSpPr>
          <p:cNvPr id="80" name="Rectangle 35"/>
          <p:cNvSpPr>
            <a:spLocks noChangeArrowheads="1"/>
          </p:cNvSpPr>
          <p:nvPr/>
        </p:nvSpPr>
        <p:spPr bwMode="auto">
          <a:xfrm>
            <a:off x="5437584" y="3333328"/>
            <a:ext cx="1219200" cy="152400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90000" tIns="46800" rIns="90000" bIns="46800" anchor="ctr">
            <a:noAutofit/>
          </a:bodyPr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Depth 2</a:t>
            </a:r>
          </a:p>
        </p:txBody>
      </p:sp>
      <p:sp>
        <p:nvSpPr>
          <p:cNvPr id="83" name="Line 38"/>
          <p:cNvSpPr>
            <a:spLocks noChangeShapeType="1"/>
          </p:cNvSpPr>
          <p:nvPr/>
        </p:nvSpPr>
        <p:spPr bwMode="auto">
          <a:xfrm>
            <a:off x="6723459" y="3412703"/>
            <a:ext cx="2286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noAutofit/>
          </a:bodyPr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4" name="Rectangle 39"/>
          <p:cNvSpPr>
            <a:spLocks noChangeArrowheads="1"/>
          </p:cNvSpPr>
          <p:nvPr/>
        </p:nvSpPr>
        <p:spPr bwMode="auto">
          <a:xfrm>
            <a:off x="6952059" y="3319041"/>
            <a:ext cx="638175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noAutofit/>
          </a:bodyPr>
          <a:lstStyle/>
          <a:p>
            <a:r>
              <a:rPr lang="ko-KR" altLang="en-US" sz="900">
                <a:latin typeface="나눔고딕" panose="020D0604000000000000" pitchFamily="50" charset="-127"/>
                <a:ea typeface="나눔고딕" panose="020D0604000000000000" pitchFamily="50" charset="-127"/>
              </a:rPr>
              <a:t>현재위치</a:t>
            </a:r>
          </a:p>
        </p:txBody>
      </p:sp>
      <p:sp>
        <p:nvSpPr>
          <p:cNvPr id="85" name="Rectangle 40"/>
          <p:cNvSpPr>
            <a:spLocks noChangeArrowheads="1"/>
          </p:cNvSpPr>
          <p:nvPr/>
        </p:nvSpPr>
        <p:spPr bwMode="auto">
          <a:xfrm>
            <a:off x="1064568" y="3180928"/>
            <a:ext cx="1219200" cy="152400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90000" tIns="46800" rIns="90000" bIns="46800" anchor="ctr">
            <a:noAutofit/>
          </a:bodyPr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Depth 0</a:t>
            </a:r>
          </a:p>
        </p:txBody>
      </p:sp>
      <p:sp>
        <p:nvSpPr>
          <p:cNvPr id="87" name="Line 42"/>
          <p:cNvSpPr>
            <a:spLocks noChangeShapeType="1"/>
          </p:cNvSpPr>
          <p:nvPr/>
        </p:nvSpPr>
        <p:spPr bwMode="auto">
          <a:xfrm>
            <a:off x="2367906" y="3180928"/>
            <a:ext cx="0" cy="295275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noAutofit/>
          </a:bodyPr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8" name="Rectangle 43"/>
          <p:cNvSpPr>
            <a:spLocks noChangeArrowheads="1"/>
          </p:cNvSpPr>
          <p:nvPr/>
        </p:nvSpPr>
        <p:spPr bwMode="auto">
          <a:xfrm>
            <a:off x="920552" y="1854200"/>
            <a:ext cx="3124200" cy="1114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noAutofit/>
          </a:bodyPr>
          <a:lstStyle>
            <a:lvl1pPr>
              <a:tabLst>
                <a:tab pos="0" algn="l"/>
              </a:tabLs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973138" indent="-457200">
              <a:tabLst>
                <a:tab pos="0" algn="l"/>
              </a:tabLs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544638" indent="-457200">
              <a:tabLst>
                <a:tab pos="0" algn="l"/>
              </a:tabLs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2116138" indent="-457200">
              <a:tabLst>
                <a:tab pos="0" algn="l"/>
              </a:tabLs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687638" indent="-457200">
              <a:tabLst>
                <a:tab pos="0" algn="l"/>
              </a:tabLs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3144838" indent="-457200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3602038" indent="-457200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4059238" indent="-457200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4516438" indent="-457200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>
              <a:spcBef>
                <a:spcPct val="50000"/>
              </a:spcBef>
            </a:pPr>
            <a:r>
              <a:rPr kumimoji="0" lang="ko-KR" altLang="en-US" sz="1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절대적 </a:t>
            </a:r>
            <a:r>
              <a:rPr kumimoji="0" lang="en-US" altLang="ko-KR" sz="1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Navigation</a:t>
            </a:r>
            <a:br>
              <a:rPr kumimoji="0" lang="en-US" altLang="ko-KR" sz="1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endParaRPr kumimoji="0" lang="en-US" altLang="ko-KR" sz="18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spcBef>
                <a:spcPct val="50000"/>
              </a:spcBef>
            </a:pPr>
            <a:r>
              <a:rPr kumimoji="0"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정보구조상 현재의 위치 뿐 아니라 조직구조를 모두 보여줌</a:t>
            </a:r>
            <a:r>
              <a:rPr kumimoji="0"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</a:p>
          <a:p>
            <a:pPr>
              <a:spcBef>
                <a:spcPct val="50000"/>
              </a:spcBef>
            </a:pPr>
            <a:r>
              <a:rPr kumimoji="0"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동 레벨의 다른 정보 및 상위 정보로의 이동이 용이함</a:t>
            </a:r>
            <a:r>
              <a:rPr kumimoji="0"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kumimoji="0" lang="en-US" altLang="ko-KR" sz="16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82876502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44017" y="91339"/>
            <a:ext cx="7401271" cy="385333"/>
          </a:xfrm>
          <a:prstGeom prst="rect">
            <a:avLst/>
          </a:prstGeom>
          <a:noFill/>
        </p:spPr>
        <p:txBody>
          <a:bodyPr wrap="square" lIns="0" tIns="53643" rIns="0" bIns="53643" rtlCol="0">
            <a:spAutoFit/>
          </a:bodyPr>
          <a:lstStyle/>
          <a:p>
            <a:r>
              <a:rPr kumimoji="1" lang="en-US" altLang="ko-KR" b="1" kern="0" dirty="0">
                <a:latin typeface="나눔고딕" panose="020D0604000000000000" pitchFamily="50" charset="-127"/>
                <a:ea typeface="나눔고딕" panose="020D0604000000000000" pitchFamily="50" charset="-127"/>
                <a:cs typeface="산돌고딕 M"/>
              </a:rPr>
              <a:t>User Interface Design</a:t>
            </a:r>
            <a:endParaRPr kumimoji="1" lang="ko-KR" altLang="en-US" b="1" kern="0" dirty="0">
              <a:latin typeface="나눔고딕" panose="020D0604000000000000" pitchFamily="50" charset="-127"/>
              <a:ea typeface="나눔고딕" panose="020D0604000000000000" pitchFamily="50" charset="-127"/>
              <a:cs typeface="산돌고딕 M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44017" y="683985"/>
            <a:ext cx="96335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Navigation System</a:t>
            </a:r>
          </a:p>
        </p:txBody>
      </p:sp>
      <p:sp>
        <p:nvSpPr>
          <p:cNvPr id="32" name="직사각형 31"/>
          <p:cNvSpPr/>
          <p:nvPr/>
        </p:nvSpPr>
        <p:spPr>
          <a:xfrm>
            <a:off x="272480" y="1052736"/>
            <a:ext cx="4824536" cy="36004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ko-KR" altLang="en-US" sz="14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고정 </a:t>
            </a:r>
            <a:r>
              <a:rPr lang="en-US" altLang="ko-KR" sz="14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Navigation &amp; </a:t>
            </a:r>
            <a:r>
              <a:rPr lang="ko-KR" altLang="en-US" sz="14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유동 </a:t>
            </a:r>
            <a:r>
              <a:rPr lang="en-US" altLang="ko-KR" sz="14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Navigation</a:t>
            </a:r>
          </a:p>
        </p:txBody>
      </p:sp>
      <p:sp>
        <p:nvSpPr>
          <p:cNvPr id="33" name="Rectangle 5"/>
          <p:cNvSpPr>
            <a:spLocks noChangeArrowheads="1"/>
          </p:cNvSpPr>
          <p:nvPr/>
        </p:nvSpPr>
        <p:spPr bwMode="auto">
          <a:xfrm>
            <a:off x="5361384" y="1844825"/>
            <a:ext cx="2895600" cy="12961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noAutofit/>
          </a:bodyPr>
          <a:lstStyle>
            <a:lvl1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973138" indent="-45720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544638" indent="-45720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2116138" indent="-45720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687638" indent="-45720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3144838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3602038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4059238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4516438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>
              <a:spcBef>
                <a:spcPct val="50000"/>
              </a:spcBef>
            </a:pPr>
            <a:r>
              <a:rPr kumimoji="0" lang="ko-KR" altLang="en-US" sz="1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유동 </a:t>
            </a:r>
            <a:r>
              <a:rPr kumimoji="0" lang="en-US" altLang="ko-KR" sz="1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Navigation</a:t>
            </a:r>
            <a:br>
              <a:rPr kumimoji="0" lang="en-US" altLang="ko-KR" sz="1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endParaRPr kumimoji="0" lang="en-US" altLang="ko-KR" sz="18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spcBef>
                <a:spcPct val="50000"/>
              </a:spcBef>
            </a:pPr>
            <a:r>
              <a:rPr kumimoji="0"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정보구조상으로 같은 레벨의 페이지라도 해당 제품 및 페이지 특성에 따라 다른 </a:t>
            </a:r>
            <a:r>
              <a:rPr kumimoji="0" lang="ko-KR" altLang="en-US" sz="9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내비게이션을</a:t>
            </a:r>
            <a:r>
              <a:rPr kumimoji="0"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가질 수 있음</a:t>
            </a:r>
            <a:r>
              <a:rPr kumimoji="0"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kumimoji="0" lang="ko-KR" altLang="en-US" sz="9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페이지별</a:t>
            </a:r>
            <a:r>
              <a:rPr kumimoji="0"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중요정보 위주로 융통성 있게 </a:t>
            </a:r>
            <a:r>
              <a:rPr kumimoji="0" lang="ko-KR" altLang="en-US" sz="9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내비게이션을</a:t>
            </a:r>
            <a:r>
              <a:rPr kumimoji="0"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구성하는 것이 가능함</a:t>
            </a:r>
            <a:r>
              <a:rPr kumimoji="0"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kumimoji="0" lang="en-US" altLang="ko-KR" sz="16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4" name="AutoShape 6"/>
          <p:cNvSpPr>
            <a:spLocks noChangeArrowheads="1"/>
          </p:cNvSpPr>
          <p:nvPr/>
        </p:nvSpPr>
        <p:spPr bwMode="auto">
          <a:xfrm>
            <a:off x="678904" y="1809328"/>
            <a:ext cx="3949718" cy="4572000"/>
          </a:xfrm>
          <a:prstGeom prst="roundRect">
            <a:avLst>
              <a:gd name="adj" fmla="val 1814"/>
            </a:avLst>
          </a:prstGeom>
          <a:noFill/>
          <a:ln w="19050">
            <a:solidFill>
              <a:srgbClr val="C0C0C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noAutofit/>
          </a:bodyPr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5" name="AutoShape 7"/>
          <p:cNvSpPr>
            <a:spLocks noChangeArrowheads="1"/>
          </p:cNvSpPr>
          <p:nvPr/>
        </p:nvSpPr>
        <p:spPr bwMode="auto">
          <a:xfrm>
            <a:off x="5179746" y="1809328"/>
            <a:ext cx="3949718" cy="4572000"/>
          </a:xfrm>
          <a:prstGeom prst="roundRect">
            <a:avLst>
              <a:gd name="adj" fmla="val 1654"/>
            </a:avLst>
          </a:prstGeom>
          <a:noFill/>
          <a:ln w="19050">
            <a:solidFill>
              <a:srgbClr val="C0C0C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noAutofit/>
          </a:bodyPr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8" name="Rectangle 43"/>
          <p:cNvSpPr>
            <a:spLocks noChangeArrowheads="1"/>
          </p:cNvSpPr>
          <p:nvPr/>
        </p:nvSpPr>
        <p:spPr bwMode="auto">
          <a:xfrm>
            <a:off x="920552" y="1854200"/>
            <a:ext cx="3124200" cy="1114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noAutofit/>
          </a:bodyPr>
          <a:lstStyle>
            <a:lvl1pPr>
              <a:tabLst>
                <a:tab pos="0" algn="l"/>
              </a:tabLs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973138" indent="-457200">
              <a:tabLst>
                <a:tab pos="0" algn="l"/>
              </a:tabLs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544638" indent="-457200">
              <a:tabLst>
                <a:tab pos="0" algn="l"/>
              </a:tabLs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2116138" indent="-457200">
              <a:tabLst>
                <a:tab pos="0" algn="l"/>
              </a:tabLs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687638" indent="-457200">
              <a:tabLst>
                <a:tab pos="0" algn="l"/>
              </a:tabLs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3144838" indent="-457200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3602038" indent="-457200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4059238" indent="-457200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4516438" indent="-457200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>
              <a:spcBef>
                <a:spcPct val="50000"/>
              </a:spcBef>
            </a:pPr>
            <a:r>
              <a:rPr kumimoji="0" lang="ko-KR" altLang="en-US" sz="1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고정 </a:t>
            </a:r>
            <a:r>
              <a:rPr kumimoji="0" lang="en-US" altLang="ko-KR" sz="1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Navigation</a:t>
            </a:r>
            <a:br>
              <a:rPr kumimoji="0" lang="en-US" altLang="ko-KR" sz="1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endParaRPr kumimoji="0" lang="en-US" altLang="ko-KR" sz="18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spcBef>
                <a:spcPct val="50000"/>
              </a:spcBef>
            </a:pPr>
            <a:r>
              <a:rPr kumimoji="0"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모든 페이지의 같은 위치에 동일한 </a:t>
            </a:r>
            <a:r>
              <a:rPr kumimoji="0" lang="ko-KR" altLang="en-US" sz="9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내비게이션이</a:t>
            </a:r>
            <a:r>
              <a:rPr kumimoji="0"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나타남</a:t>
            </a:r>
            <a:r>
              <a:rPr kumimoji="0"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br>
              <a:rPr kumimoji="0"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kumimoji="0"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사용자가 </a:t>
            </a:r>
            <a:r>
              <a:rPr kumimoji="0" lang="ko-KR" altLang="en-US" sz="9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내비게이션을</a:t>
            </a:r>
            <a:r>
              <a:rPr kumimoji="0"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학습하는데 걸리는 시간을 단축할 수 있으며 </a:t>
            </a:r>
            <a:r>
              <a:rPr kumimoji="0" lang="ko-KR" altLang="en-US" sz="9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내비게이션이</a:t>
            </a:r>
            <a:r>
              <a:rPr kumimoji="0"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제공하는 정보에 대한 </a:t>
            </a:r>
            <a:r>
              <a:rPr kumimoji="0" lang="ko-KR" altLang="en-US" sz="9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접근성을</a:t>
            </a:r>
            <a:r>
              <a:rPr kumimoji="0"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높임</a:t>
            </a:r>
            <a:r>
              <a:rPr kumimoji="0"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kumimoji="0" lang="en-US" altLang="ko-KR" sz="16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pSp>
        <p:nvGrpSpPr>
          <p:cNvPr id="144" name="Group 8"/>
          <p:cNvGrpSpPr>
            <a:grpSpLocks/>
          </p:cNvGrpSpPr>
          <p:nvPr/>
        </p:nvGrpSpPr>
        <p:grpSpPr bwMode="auto">
          <a:xfrm>
            <a:off x="1038944" y="4035425"/>
            <a:ext cx="685800" cy="838200"/>
            <a:chOff x="480" y="720"/>
            <a:chExt cx="432" cy="528"/>
          </a:xfrm>
        </p:grpSpPr>
        <p:sp>
          <p:nvSpPr>
            <p:cNvPr id="145" name="Rectangle 9"/>
            <p:cNvSpPr>
              <a:spLocks noChangeArrowheads="1"/>
            </p:cNvSpPr>
            <p:nvPr/>
          </p:nvSpPr>
          <p:spPr bwMode="auto">
            <a:xfrm>
              <a:off x="480" y="720"/>
              <a:ext cx="432" cy="52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B2B2B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noAutofit/>
            </a:bodyPr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46" name="Rectangle 10"/>
            <p:cNvSpPr>
              <a:spLocks noChangeArrowheads="1"/>
            </p:cNvSpPr>
            <p:nvPr/>
          </p:nvSpPr>
          <p:spPr bwMode="auto">
            <a:xfrm>
              <a:off x="528" y="768"/>
              <a:ext cx="336" cy="96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B2B2B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noAutofit/>
            </a:bodyPr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47" name="Rectangle 11"/>
            <p:cNvSpPr>
              <a:spLocks noChangeArrowheads="1"/>
            </p:cNvSpPr>
            <p:nvPr/>
          </p:nvSpPr>
          <p:spPr bwMode="auto">
            <a:xfrm>
              <a:off x="528" y="864"/>
              <a:ext cx="48" cy="168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B2B2B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noAutofit/>
            </a:bodyPr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48" name="Rectangle 12"/>
            <p:cNvSpPr>
              <a:spLocks noChangeArrowheads="1"/>
            </p:cNvSpPr>
            <p:nvPr/>
          </p:nvSpPr>
          <p:spPr bwMode="auto">
            <a:xfrm>
              <a:off x="576" y="864"/>
              <a:ext cx="192" cy="336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B2B2B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noAutofit/>
            </a:bodyPr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49" name="Rectangle 13"/>
            <p:cNvSpPr>
              <a:spLocks noChangeArrowheads="1"/>
            </p:cNvSpPr>
            <p:nvPr/>
          </p:nvSpPr>
          <p:spPr bwMode="auto">
            <a:xfrm>
              <a:off x="528" y="1008"/>
              <a:ext cx="48" cy="192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B2B2B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noAutofit/>
            </a:bodyPr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50" name="Rectangle 14"/>
            <p:cNvSpPr>
              <a:spLocks noChangeArrowheads="1"/>
            </p:cNvSpPr>
            <p:nvPr/>
          </p:nvSpPr>
          <p:spPr bwMode="auto">
            <a:xfrm>
              <a:off x="768" y="864"/>
              <a:ext cx="96" cy="336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B2B2B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noAutofit/>
            </a:bodyPr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sp>
        <p:nvSpPr>
          <p:cNvPr id="151" name="Rectangle 15"/>
          <p:cNvSpPr>
            <a:spLocks noChangeArrowheads="1"/>
          </p:cNvSpPr>
          <p:nvPr/>
        </p:nvSpPr>
        <p:spPr bwMode="auto">
          <a:xfrm>
            <a:off x="1115144" y="4111625"/>
            <a:ext cx="533400" cy="152400"/>
          </a:xfrm>
          <a:prstGeom prst="rect">
            <a:avLst/>
          </a:prstGeom>
          <a:noFill/>
          <a:ln w="28575">
            <a:solidFill>
              <a:srgbClr val="FF9900"/>
            </a:solidFill>
            <a:miter lim="800000"/>
            <a:headEnd/>
            <a:tailEnd type="none" w="med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noAutofit/>
          </a:bodyPr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52" name="Rectangle 16"/>
          <p:cNvSpPr>
            <a:spLocks noChangeArrowheads="1"/>
          </p:cNvSpPr>
          <p:nvPr/>
        </p:nvSpPr>
        <p:spPr bwMode="auto">
          <a:xfrm>
            <a:off x="1115144" y="4264025"/>
            <a:ext cx="76200" cy="228600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 type="none" w="med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noAutofit/>
          </a:bodyPr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pSp>
        <p:nvGrpSpPr>
          <p:cNvPr id="153" name="Group 17"/>
          <p:cNvGrpSpPr>
            <a:grpSpLocks/>
          </p:cNvGrpSpPr>
          <p:nvPr/>
        </p:nvGrpSpPr>
        <p:grpSpPr bwMode="auto">
          <a:xfrm>
            <a:off x="1877144" y="4035425"/>
            <a:ext cx="685800" cy="838200"/>
            <a:chOff x="480" y="720"/>
            <a:chExt cx="432" cy="528"/>
          </a:xfrm>
        </p:grpSpPr>
        <p:sp>
          <p:nvSpPr>
            <p:cNvPr id="154" name="Rectangle 18"/>
            <p:cNvSpPr>
              <a:spLocks noChangeArrowheads="1"/>
            </p:cNvSpPr>
            <p:nvPr/>
          </p:nvSpPr>
          <p:spPr bwMode="auto">
            <a:xfrm>
              <a:off x="480" y="720"/>
              <a:ext cx="432" cy="52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B2B2B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noAutofit/>
            </a:bodyPr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55" name="Rectangle 19"/>
            <p:cNvSpPr>
              <a:spLocks noChangeArrowheads="1"/>
            </p:cNvSpPr>
            <p:nvPr/>
          </p:nvSpPr>
          <p:spPr bwMode="auto">
            <a:xfrm>
              <a:off x="528" y="768"/>
              <a:ext cx="336" cy="96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B2B2B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noAutofit/>
            </a:bodyPr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56" name="Rectangle 20"/>
            <p:cNvSpPr>
              <a:spLocks noChangeArrowheads="1"/>
            </p:cNvSpPr>
            <p:nvPr/>
          </p:nvSpPr>
          <p:spPr bwMode="auto">
            <a:xfrm>
              <a:off x="528" y="864"/>
              <a:ext cx="48" cy="168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B2B2B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noAutofit/>
            </a:bodyPr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57" name="Rectangle 21"/>
            <p:cNvSpPr>
              <a:spLocks noChangeArrowheads="1"/>
            </p:cNvSpPr>
            <p:nvPr/>
          </p:nvSpPr>
          <p:spPr bwMode="auto">
            <a:xfrm>
              <a:off x="576" y="864"/>
              <a:ext cx="192" cy="336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B2B2B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noAutofit/>
            </a:bodyPr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58" name="Rectangle 22"/>
            <p:cNvSpPr>
              <a:spLocks noChangeArrowheads="1"/>
            </p:cNvSpPr>
            <p:nvPr/>
          </p:nvSpPr>
          <p:spPr bwMode="auto">
            <a:xfrm>
              <a:off x="528" y="1008"/>
              <a:ext cx="48" cy="192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B2B2B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noAutofit/>
            </a:bodyPr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59" name="Rectangle 23"/>
            <p:cNvSpPr>
              <a:spLocks noChangeArrowheads="1"/>
            </p:cNvSpPr>
            <p:nvPr/>
          </p:nvSpPr>
          <p:spPr bwMode="auto">
            <a:xfrm>
              <a:off x="768" y="864"/>
              <a:ext cx="96" cy="336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B2B2B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noAutofit/>
            </a:bodyPr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sp>
        <p:nvSpPr>
          <p:cNvPr id="160" name="Rectangle 24"/>
          <p:cNvSpPr>
            <a:spLocks noChangeArrowheads="1"/>
          </p:cNvSpPr>
          <p:nvPr/>
        </p:nvSpPr>
        <p:spPr bwMode="auto">
          <a:xfrm>
            <a:off x="1953344" y="4111625"/>
            <a:ext cx="533400" cy="152400"/>
          </a:xfrm>
          <a:prstGeom prst="rect">
            <a:avLst/>
          </a:prstGeom>
          <a:noFill/>
          <a:ln w="28575">
            <a:solidFill>
              <a:srgbClr val="FF9900"/>
            </a:solidFill>
            <a:miter lim="800000"/>
            <a:headEnd/>
            <a:tailEnd type="none" w="med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noAutofit/>
          </a:bodyPr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61" name="Rectangle 25"/>
          <p:cNvSpPr>
            <a:spLocks noChangeArrowheads="1"/>
          </p:cNvSpPr>
          <p:nvPr/>
        </p:nvSpPr>
        <p:spPr bwMode="auto">
          <a:xfrm>
            <a:off x="1953344" y="4264025"/>
            <a:ext cx="76200" cy="228600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 type="none" w="med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noAutofit/>
          </a:bodyPr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pSp>
        <p:nvGrpSpPr>
          <p:cNvPr id="162" name="Group 26"/>
          <p:cNvGrpSpPr>
            <a:grpSpLocks/>
          </p:cNvGrpSpPr>
          <p:nvPr/>
        </p:nvGrpSpPr>
        <p:grpSpPr bwMode="auto">
          <a:xfrm>
            <a:off x="2715344" y="4035425"/>
            <a:ext cx="685800" cy="838200"/>
            <a:chOff x="480" y="720"/>
            <a:chExt cx="432" cy="528"/>
          </a:xfrm>
        </p:grpSpPr>
        <p:sp>
          <p:nvSpPr>
            <p:cNvPr id="163" name="Rectangle 27"/>
            <p:cNvSpPr>
              <a:spLocks noChangeArrowheads="1"/>
            </p:cNvSpPr>
            <p:nvPr/>
          </p:nvSpPr>
          <p:spPr bwMode="auto">
            <a:xfrm>
              <a:off x="480" y="720"/>
              <a:ext cx="432" cy="52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B2B2B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noAutofit/>
            </a:bodyPr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64" name="Rectangle 28"/>
            <p:cNvSpPr>
              <a:spLocks noChangeArrowheads="1"/>
            </p:cNvSpPr>
            <p:nvPr/>
          </p:nvSpPr>
          <p:spPr bwMode="auto">
            <a:xfrm>
              <a:off x="528" y="768"/>
              <a:ext cx="336" cy="96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B2B2B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noAutofit/>
            </a:bodyPr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65" name="Rectangle 29"/>
            <p:cNvSpPr>
              <a:spLocks noChangeArrowheads="1"/>
            </p:cNvSpPr>
            <p:nvPr/>
          </p:nvSpPr>
          <p:spPr bwMode="auto">
            <a:xfrm>
              <a:off x="528" y="864"/>
              <a:ext cx="48" cy="168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B2B2B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noAutofit/>
            </a:bodyPr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66" name="Rectangle 30"/>
            <p:cNvSpPr>
              <a:spLocks noChangeArrowheads="1"/>
            </p:cNvSpPr>
            <p:nvPr/>
          </p:nvSpPr>
          <p:spPr bwMode="auto">
            <a:xfrm>
              <a:off x="576" y="864"/>
              <a:ext cx="192" cy="336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B2B2B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noAutofit/>
            </a:bodyPr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67" name="Rectangle 31"/>
            <p:cNvSpPr>
              <a:spLocks noChangeArrowheads="1"/>
            </p:cNvSpPr>
            <p:nvPr/>
          </p:nvSpPr>
          <p:spPr bwMode="auto">
            <a:xfrm>
              <a:off x="528" y="1008"/>
              <a:ext cx="48" cy="192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B2B2B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noAutofit/>
            </a:bodyPr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68" name="Rectangle 32"/>
            <p:cNvSpPr>
              <a:spLocks noChangeArrowheads="1"/>
            </p:cNvSpPr>
            <p:nvPr/>
          </p:nvSpPr>
          <p:spPr bwMode="auto">
            <a:xfrm>
              <a:off x="768" y="864"/>
              <a:ext cx="96" cy="336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B2B2B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noAutofit/>
            </a:bodyPr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sp>
        <p:nvSpPr>
          <p:cNvPr id="169" name="Rectangle 33"/>
          <p:cNvSpPr>
            <a:spLocks noChangeArrowheads="1"/>
          </p:cNvSpPr>
          <p:nvPr/>
        </p:nvSpPr>
        <p:spPr bwMode="auto">
          <a:xfrm>
            <a:off x="2791544" y="4111625"/>
            <a:ext cx="533400" cy="152400"/>
          </a:xfrm>
          <a:prstGeom prst="rect">
            <a:avLst/>
          </a:prstGeom>
          <a:noFill/>
          <a:ln w="28575">
            <a:solidFill>
              <a:srgbClr val="FF9900"/>
            </a:solidFill>
            <a:miter lim="800000"/>
            <a:headEnd/>
            <a:tailEnd type="none" w="med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noAutofit/>
          </a:bodyPr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70" name="Rectangle 34"/>
          <p:cNvSpPr>
            <a:spLocks noChangeArrowheads="1"/>
          </p:cNvSpPr>
          <p:nvPr/>
        </p:nvSpPr>
        <p:spPr bwMode="auto">
          <a:xfrm>
            <a:off x="2791544" y="4264025"/>
            <a:ext cx="76200" cy="228600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 type="none" w="med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noAutofit/>
          </a:bodyPr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pSp>
        <p:nvGrpSpPr>
          <p:cNvPr id="171" name="Group 35"/>
          <p:cNvGrpSpPr>
            <a:grpSpLocks/>
          </p:cNvGrpSpPr>
          <p:nvPr/>
        </p:nvGrpSpPr>
        <p:grpSpPr bwMode="auto">
          <a:xfrm>
            <a:off x="3553544" y="4035425"/>
            <a:ext cx="685800" cy="838200"/>
            <a:chOff x="480" y="720"/>
            <a:chExt cx="432" cy="528"/>
          </a:xfrm>
        </p:grpSpPr>
        <p:sp>
          <p:nvSpPr>
            <p:cNvPr id="172" name="Rectangle 36"/>
            <p:cNvSpPr>
              <a:spLocks noChangeArrowheads="1"/>
            </p:cNvSpPr>
            <p:nvPr/>
          </p:nvSpPr>
          <p:spPr bwMode="auto">
            <a:xfrm>
              <a:off x="480" y="720"/>
              <a:ext cx="432" cy="52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B2B2B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noAutofit/>
            </a:bodyPr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73" name="Rectangle 37"/>
            <p:cNvSpPr>
              <a:spLocks noChangeArrowheads="1"/>
            </p:cNvSpPr>
            <p:nvPr/>
          </p:nvSpPr>
          <p:spPr bwMode="auto">
            <a:xfrm>
              <a:off x="528" y="768"/>
              <a:ext cx="336" cy="96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B2B2B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noAutofit/>
            </a:bodyPr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74" name="Rectangle 38"/>
            <p:cNvSpPr>
              <a:spLocks noChangeArrowheads="1"/>
            </p:cNvSpPr>
            <p:nvPr/>
          </p:nvSpPr>
          <p:spPr bwMode="auto">
            <a:xfrm>
              <a:off x="528" y="864"/>
              <a:ext cx="48" cy="168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B2B2B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noAutofit/>
            </a:bodyPr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75" name="Rectangle 39"/>
            <p:cNvSpPr>
              <a:spLocks noChangeArrowheads="1"/>
            </p:cNvSpPr>
            <p:nvPr/>
          </p:nvSpPr>
          <p:spPr bwMode="auto">
            <a:xfrm>
              <a:off x="576" y="864"/>
              <a:ext cx="192" cy="336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B2B2B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noAutofit/>
            </a:bodyPr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76" name="Rectangle 40"/>
            <p:cNvSpPr>
              <a:spLocks noChangeArrowheads="1"/>
            </p:cNvSpPr>
            <p:nvPr/>
          </p:nvSpPr>
          <p:spPr bwMode="auto">
            <a:xfrm>
              <a:off x="528" y="1008"/>
              <a:ext cx="48" cy="192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B2B2B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noAutofit/>
            </a:bodyPr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77" name="Rectangle 41"/>
            <p:cNvSpPr>
              <a:spLocks noChangeArrowheads="1"/>
            </p:cNvSpPr>
            <p:nvPr/>
          </p:nvSpPr>
          <p:spPr bwMode="auto">
            <a:xfrm>
              <a:off x="768" y="864"/>
              <a:ext cx="96" cy="336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B2B2B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noAutofit/>
            </a:bodyPr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sp>
        <p:nvSpPr>
          <p:cNvPr id="178" name="Rectangle 42"/>
          <p:cNvSpPr>
            <a:spLocks noChangeArrowheads="1"/>
          </p:cNvSpPr>
          <p:nvPr/>
        </p:nvSpPr>
        <p:spPr bwMode="auto">
          <a:xfrm>
            <a:off x="3629744" y="4111625"/>
            <a:ext cx="533400" cy="152400"/>
          </a:xfrm>
          <a:prstGeom prst="rect">
            <a:avLst/>
          </a:prstGeom>
          <a:noFill/>
          <a:ln w="28575">
            <a:solidFill>
              <a:srgbClr val="FF9900"/>
            </a:solidFill>
            <a:miter lim="800000"/>
            <a:headEnd/>
            <a:tailEnd type="none" w="med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noAutofit/>
          </a:bodyPr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79" name="Rectangle 43"/>
          <p:cNvSpPr>
            <a:spLocks noChangeArrowheads="1"/>
          </p:cNvSpPr>
          <p:nvPr/>
        </p:nvSpPr>
        <p:spPr bwMode="auto">
          <a:xfrm>
            <a:off x="3629744" y="4264025"/>
            <a:ext cx="76200" cy="228600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 type="none" w="med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noAutofit/>
          </a:bodyPr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0" name="Rectangle 44"/>
          <p:cNvSpPr>
            <a:spLocks noChangeArrowheads="1"/>
          </p:cNvSpPr>
          <p:nvPr/>
        </p:nvSpPr>
        <p:spPr bwMode="auto">
          <a:xfrm>
            <a:off x="935757" y="4873625"/>
            <a:ext cx="517525" cy="214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noAutofit/>
          </a:bodyPr>
          <a:lstStyle/>
          <a:p>
            <a:r>
              <a:rPr lang="en-US" altLang="ko-KR" sz="800">
                <a:latin typeface="나눔고딕" panose="020D0604000000000000" pitchFamily="50" charset="-127"/>
                <a:ea typeface="나눔고딕" panose="020D0604000000000000" pitchFamily="50" charset="-127"/>
              </a:rPr>
              <a:t>Page A</a:t>
            </a:r>
          </a:p>
        </p:txBody>
      </p:sp>
      <p:sp>
        <p:nvSpPr>
          <p:cNvPr id="181" name="Rectangle 45"/>
          <p:cNvSpPr>
            <a:spLocks noChangeArrowheads="1"/>
          </p:cNvSpPr>
          <p:nvPr/>
        </p:nvSpPr>
        <p:spPr bwMode="auto">
          <a:xfrm>
            <a:off x="1877144" y="4873625"/>
            <a:ext cx="517525" cy="214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noAutofit/>
          </a:bodyPr>
          <a:lstStyle/>
          <a:p>
            <a:r>
              <a:rPr lang="en-US" altLang="ko-KR" sz="800">
                <a:latin typeface="나눔고딕" panose="020D0604000000000000" pitchFamily="50" charset="-127"/>
                <a:ea typeface="나눔고딕" panose="020D0604000000000000" pitchFamily="50" charset="-127"/>
              </a:rPr>
              <a:t>Page B</a:t>
            </a:r>
          </a:p>
        </p:txBody>
      </p:sp>
      <p:sp>
        <p:nvSpPr>
          <p:cNvPr id="182" name="Rectangle 46"/>
          <p:cNvSpPr>
            <a:spLocks noChangeArrowheads="1"/>
          </p:cNvSpPr>
          <p:nvPr/>
        </p:nvSpPr>
        <p:spPr bwMode="auto">
          <a:xfrm>
            <a:off x="2715344" y="4873625"/>
            <a:ext cx="522288" cy="214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noAutofit/>
          </a:bodyPr>
          <a:lstStyle/>
          <a:p>
            <a:r>
              <a:rPr lang="en-US" altLang="ko-KR" sz="800">
                <a:latin typeface="나눔고딕" panose="020D0604000000000000" pitchFamily="50" charset="-127"/>
                <a:ea typeface="나눔고딕" panose="020D0604000000000000" pitchFamily="50" charset="-127"/>
              </a:rPr>
              <a:t>Page C</a:t>
            </a:r>
          </a:p>
        </p:txBody>
      </p:sp>
      <p:sp>
        <p:nvSpPr>
          <p:cNvPr id="183" name="Rectangle 47"/>
          <p:cNvSpPr>
            <a:spLocks noChangeArrowheads="1"/>
          </p:cNvSpPr>
          <p:nvPr/>
        </p:nvSpPr>
        <p:spPr bwMode="auto">
          <a:xfrm>
            <a:off x="3553544" y="4873625"/>
            <a:ext cx="522288" cy="214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noAutofit/>
          </a:bodyPr>
          <a:lstStyle/>
          <a:p>
            <a:r>
              <a:rPr lang="en-US" altLang="ko-KR" sz="800">
                <a:latin typeface="나눔고딕" panose="020D0604000000000000" pitchFamily="50" charset="-127"/>
                <a:ea typeface="나눔고딕" panose="020D0604000000000000" pitchFamily="50" charset="-127"/>
              </a:rPr>
              <a:t>Page D</a:t>
            </a:r>
          </a:p>
        </p:txBody>
      </p:sp>
      <p:grpSp>
        <p:nvGrpSpPr>
          <p:cNvPr id="184" name="Group 48"/>
          <p:cNvGrpSpPr>
            <a:grpSpLocks/>
          </p:cNvGrpSpPr>
          <p:nvPr/>
        </p:nvGrpSpPr>
        <p:grpSpPr bwMode="auto">
          <a:xfrm>
            <a:off x="5560243" y="4035425"/>
            <a:ext cx="685800" cy="838200"/>
            <a:chOff x="480" y="720"/>
            <a:chExt cx="432" cy="528"/>
          </a:xfrm>
        </p:grpSpPr>
        <p:sp>
          <p:nvSpPr>
            <p:cNvPr id="185" name="Rectangle 49"/>
            <p:cNvSpPr>
              <a:spLocks noChangeArrowheads="1"/>
            </p:cNvSpPr>
            <p:nvPr/>
          </p:nvSpPr>
          <p:spPr bwMode="auto">
            <a:xfrm>
              <a:off x="480" y="720"/>
              <a:ext cx="432" cy="52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B2B2B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noAutofit/>
            </a:bodyPr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86" name="Rectangle 50"/>
            <p:cNvSpPr>
              <a:spLocks noChangeArrowheads="1"/>
            </p:cNvSpPr>
            <p:nvPr/>
          </p:nvSpPr>
          <p:spPr bwMode="auto">
            <a:xfrm>
              <a:off x="528" y="768"/>
              <a:ext cx="336" cy="96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B2B2B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noAutofit/>
            </a:bodyPr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87" name="Rectangle 51"/>
            <p:cNvSpPr>
              <a:spLocks noChangeArrowheads="1"/>
            </p:cNvSpPr>
            <p:nvPr/>
          </p:nvSpPr>
          <p:spPr bwMode="auto">
            <a:xfrm>
              <a:off x="528" y="864"/>
              <a:ext cx="48" cy="168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B2B2B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noAutofit/>
            </a:bodyPr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88" name="Rectangle 52"/>
            <p:cNvSpPr>
              <a:spLocks noChangeArrowheads="1"/>
            </p:cNvSpPr>
            <p:nvPr/>
          </p:nvSpPr>
          <p:spPr bwMode="auto">
            <a:xfrm>
              <a:off x="576" y="864"/>
              <a:ext cx="192" cy="336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B2B2B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noAutofit/>
            </a:bodyPr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89" name="Rectangle 53"/>
            <p:cNvSpPr>
              <a:spLocks noChangeArrowheads="1"/>
            </p:cNvSpPr>
            <p:nvPr/>
          </p:nvSpPr>
          <p:spPr bwMode="auto">
            <a:xfrm>
              <a:off x="528" y="1008"/>
              <a:ext cx="48" cy="192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B2B2B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noAutofit/>
            </a:bodyPr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90" name="Rectangle 54"/>
            <p:cNvSpPr>
              <a:spLocks noChangeArrowheads="1"/>
            </p:cNvSpPr>
            <p:nvPr/>
          </p:nvSpPr>
          <p:spPr bwMode="auto">
            <a:xfrm>
              <a:off x="768" y="864"/>
              <a:ext cx="96" cy="336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B2B2B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noAutofit/>
            </a:bodyPr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sp>
        <p:nvSpPr>
          <p:cNvPr id="191" name="Rectangle 55"/>
          <p:cNvSpPr>
            <a:spLocks noChangeArrowheads="1"/>
          </p:cNvSpPr>
          <p:nvPr/>
        </p:nvSpPr>
        <p:spPr bwMode="auto">
          <a:xfrm>
            <a:off x="5636443" y="4111625"/>
            <a:ext cx="533400" cy="152400"/>
          </a:xfrm>
          <a:prstGeom prst="rect">
            <a:avLst/>
          </a:prstGeom>
          <a:noFill/>
          <a:ln w="28575">
            <a:solidFill>
              <a:srgbClr val="FF9900"/>
            </a:solidFill>
            <a:miter lim="800000"/>
            <a:headEnd/>
            <a:tailEnd type="none" w="med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noAutofit/>
          </a:bodyPr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92" name="Rectangle 56"/>
          <p:cNvSpPr>
            <a:spLocks noChangeArrowheads="1"/>
          </p:cNvSpPr>
          <p:nvPr/>
        </p:nvSpPr>
        <p:spPr bwMode="auto">
          <a:xfrm>
            <a:off x="5636443" y="4264025"/>
            <a:ext cx="76200" cy="228600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 type="none" w="med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noAutofit/>
          </a:bodyPr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pSp>
        <p:nvGrpSpPr>
          <p:cNvPr id="193" name="Group 57"/>
          <p:cNvGrpSpPr>
            <a:grpSpLocks/>
          </p:cNvGrpSpPr>
          <p:nvPr/>
        </p:nvGrpSpPr>
        <p:grpSpPr bwMode="auto">
          <a:xfrm>
            <a:off x="6398443" y="4035425"/>
            <a:ext cx="685800" cy="838200"/>
            <a:chOff x="480" y="720"/>
            <a:chExt cx="432" cy="528"/>
          </a:xfrm>
        </p:grpSpPr>
        <p:sp>
          <p:nvSpPr>
            <p:cNvPr id="194" name="Rectangle 58"/>
            <p:cNvSpPr>
              <a:spLocks noChangeArrowheads="1"/>
            </p:cNvSpPr>
            <p:nvPr/>
          </p:nvSpPr>
          <p:spPr bwMode="auto">
            <a:xfrm>
              <a:off x="480" y="720"/>
              <a:ext cx="432" cy="52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B2B2B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noAutofit/>
            </a:bodyPr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95" name="Rectangle 59"/>
            <p:cNvSpPr>
              <a:spLocks noChangeArrowheads="1"/>
            </p:cNvSpPr>
            <p:nvPr/>
          </p:nvSpPr>
          <p:spPr bwMode="auto">
            <a:xfrm>
              <a:off x="528" y="768"/>
              <a:ext cx="336" cy="96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B2B2B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noAutofit/>
            </a:bodyPr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96" name="Rectangle 60"/>
            <p:cNvSpPr>
              <a:spLocks noChangeArrowheads="1"/>
            </p:cNvSpPr>
            <p:nvPr/>
          </p:nvSpPr>
          <p:spPr bwMode="auto">
            <a:xfrm>
              <a:off x="528" y="864"/>
              <a:ext cx="48" cy="168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B2B2B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noAutofit/>
            </a:bodyPr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97" name="Rectangle 61"/>
            <p:cNvSpPr>
              <a:spLocks noChangeArrowheads="1"/>
            </p:cNvSpPr>
            <p:nvPr/>
          </p:nvSpPr>
          <p:spPr bwMode="auto">
            <a:xfrm>
              <a:off x="576" y="864"/>
              <a:ext cx="192" cy="336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B2B2B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noAutofit/>
            </a:bodyPr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98" name="Rectangle 62"/>
            <p:cNvSpPr>
              <a:spLocks noChangeArrowheads="1"/>
            </p:cNvSpPr>
            <p:nvPr/>
          </p:nvSpPr>
          <p:spPr bwMode="auto">
            <a:xfrm>
              <a:off x="528" y="1008"/>
              <a:ext cx="48" cy="192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B2B2B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noAutofit/>
            </a:bodyPr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99" name="Rectangle 63"/>
            <p:cNvSpPr>
              <a:spLocks noChangeArrowheads="1"/>
            </p:cNvSpPr>
            <p:nvPr/>
          </p:nvSpPr>
          <p:spPr bwMode="auto">
            <a:xfrm>
              <a:off x="768" y="864"/>
              <a:ext cx="96" cy="336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B2B2B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noAutofit/>
            </a:bodyPr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sp>
        <p:nvSpPr>
          <p:cNvPr id="200" name="Rectangle 64"/>
          <p:cNvSpPr>
            <a:spLocks noChangeArrowheads="1"/>
          </p:cNvSpPr>
          <p:nvPr/>
        </p:nvSpPr>
        <p:spPr bwMode="auto">
          <a:xfrm>
            <a:off x="6474643" y="4111625"/>
            <a:ext cx="533400" cy="152400"/>
          </a:xfrm>
          <a:prstGeom prst="rect">
            <a:avLst/>
          </a:prstGeom>
          <a:noFill/>
          <a:ln w="28575">
            <a:solidFill>
              <a:srgbClr val="FF9900"/>
            </a:solidFill>
            <a:miter lim="800000"/>
            <a:headEnd/>
            <a:tailEnd type="none" w="med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noAutofit/>
          </a:bodyPr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01" name="Rectangle 65"/>
          <p:cNvSpPr>
            <a:spLocks noChangeArrowheads="1"/>
          </p:cNvSpPr>
          <p:nvPr/>
        </p:nvSpPr>
        <p:spPr bwMode="auto">
          <a:xfrm>
            <a:off x="6474643" y="4264025"/>
            <a:ext cx="76200" cy="442913"/>
          </a:xfrm>
          <a:prstGeom prst="rect">
            <a:avLst/>
          </a:prstGeom>
          <a:noFill/>
          <a:ln w="28575">
            <a:solidFill>
              <a:srgbClr val="008000"/>
            </a:solidFill>
            <a:miter lim="800000"/>
            <a:headEnd/>
            <a:tailEnd type="none" w="med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noAutofit/>
          </a:bodyPr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pSp>
        <p:nvGrpSpPr>
          <p:cNvPr id="202" name="Group 66"/>
          <p:cNvGrpSpPr>
            <a:grpSpLocks/>
          </p:cNvGrpSpPr>
          <p:nvPr/>
        </p:nvGrpSpPr>
        <p:grpSpPr bwMode="auto">
          <a:xfrm>
            <a:off x="7236643" y="4035425"/>
            <a:ext cx="685800" cy="838200"/>
            <a:chOff x="480" y="720"/>
            <a:chExt cx="432" cy="528"/>
          </a:xfrm>
        </p:grpSpPr>
        <p:sp>
          <p:nvSpPr>
            <p:cNvPr id="203" name="Rectangle 67"/>
            <p:cNvSpPr>
              <a:spLocks noChangeArrowheads="1"/>
            </p:cNvSpPr>
            <p:nvPr/>
          </p:nvSpPr>
          <p:spPr bwMode="auto">
            <a:xfrm>
              <a:off x="480" y="720"/>
              <a:ext cx="432" cy="52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B2B2B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noAutofit/>
            </a:bodyPr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04" name="Rectangle 68"/>
            <p:cNvSpPr>
              <a:spLocks noChangeArrowheads="1"/>
            </p:cNvSpPr>
            <p:nvPr/>
          </p:nvSpPr>
          <p:spPr bwMode="auto">
            <a:xfrm>
              <a:off x="528" y="768"/>
              <a:ext cx="336" cy="96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B2B2B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noAutofit/>
            </a:bodyPr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05" name="Rectangle 69"/>
            <p:cNvSpPr>
              <a:spLocks noChangeArrowheads="1"/>
            </p:cNvSpPr>
            <p:nvPr/>
          </p:nvSpPr>
          <p:spPr bwMode="auto">
            <a:xfrm>
              <a:off x="528" y="864"/>
              <a:ext cx="48" cy="168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B2B2B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noAutofit/>
            </a:bodyPr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06" name="Rectangle 70"/>
            <p:cNvSpPr>
              <a:spLocks noChangeArrowheads="1"/>
            </p:cNvSpPr>
            <p:nvPr/>
          </p:nvSpPr>
          <p:spPr bwMode="auto">
            <a:xfrm>
              <a:off x="576" y="864"/>
              <a:ext cx="192" cy="336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B2B2B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noAutofit/>
            </a:bodyPr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07" name="Rectangle 71"/>
            <p:cNvSpPr>
              <a:spLocks noChangeArrowheads="1"/>
            </p:cNvSpPr>
            <p:nvPr/>
          </p:nvSpPr>
          <p:spPr bwMode="auto">
            <a:xfrm>
              <a:off x="528" y="1008"/>
              <a:ext cx="48" cy="192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B2B2B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noAutofit/>
            </a:bodyPr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08" name="Rectangle 72"/>
            <p:cNvSpPr>
              <a:spLocks noChangeArrowheads="1"/>
            </p:cNvSpPr>
            <p:nvPr/>
          </p:nvSpPr>
          <p:spPr bwMode="auto">
            <a:xfrm>
              <a:off x="768" y="864"/>
              <a:ext cx="96" cy="336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B2B2B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noAutofit/>
            </a:bodyPr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sp>
        <p:nvSpPr>
          <p:cNvPr id="209" name="Rectangle 73"/>
          <p:cNvSpPr>
            <a:spLocks noChangeArrowheads="1"/>
          </p:cNvSpPr>
          <p:nvPr/>
        </p:nvSpPr>
        <p:spPr bwMode="auto">
          <a:xfrm>
            <a:off x="7312843" y="4111625"/>
            <a:ext cx="533400" cy="152400"/>
          </a:xfrm>
          <a:prstGeom prst="rect">
            <a:avLst/>
          </a:prstGeom>
          <a:noFill/>
          <a:ln w="28575">
            <a:solidFill>
              <a:srgbClr val="FF9900"/>
            </a:solidFill>
            <a:miter lim="800000"/>
            <a:headEnd/>
            <a:tailEnd type="none" w="med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noAutofit/>
          </a:bodyPr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10" name="Rectangle 74"/>
          <p:cNvSpPr>
            <a:spLocks noChangeArrowheads="1"/>
          </p:cNvSpPr>
          <p:nvPr/>
        </p:nvSpPr>
        <p:spPr bwMode="auto">
          <a:xfrm>
            <a:off x="7312843" y="4264025"/>
            <a:ext cx="76200" cy="138113"/>
          </a:xfrm>
          <a:prstGeom prst="rect">
            <a:avLst/>
          </a:prstGeom>
          <a:noFill/>
          <a:ln w="28575">
            <a:solidFill>
              <a:srgbClr val="33CCCC"/>
            </a:solidFill>
            <a:miter lim="800000"/>
            <a:headEnd/>
            <a:tailEnd type="none" w="med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noAutofit/>
          </a:bodyPr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pSp>
        <p:nvGrpSpPr>
          <p:cNvPr id="211" name="Group 75"/>
          <p:cNvGrpSpPr>
            <a:grpSpLocks/>
          </p:cNvGrpSpPr>
          <p:nvPr/>
        </p:nvGrpSpPr>
        <p:grpSpPr bwMode="auto">
          <a:xfrm>
            <a:off x="8074843" y="4035425"/>
            <a:ext cx="685800" cy="838200"/>
            <a:chOff x="480" y="720"/>
            <a:chExt cx="432" cy="528"/>
          </a:xfrm>
        </p:grpSpPr>
        <p:sp>
          <p:nvSpPr>
            <p:cNvPr id="212" name="Rectangle 76"/>
            <p:cNvSpPr>
              <a:spLocks noChangeArrowheads="1"/>
            </p:cNvSpPr>
            <p:nvPr/>
          </p:nvSpPr>
          <p:spPr bwMode="auto">
            <a:xfrm>
              <a:off x="480" y="720"/>
              <a:ext cx="432" cy="52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B2B2B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noAutofit/>
            </a:bodyPr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13" name="Rectangle 77"/>
            <p:cNvSpPr>
              <a:spLocks noChangeArrowheads="1"/>
            </p:cNvSpPr>
            <p:nvPr/>
          </p:nvSpPr>
          <p:spPr bwMode="auto">
            <a:xfrm>
              <a:off x="528" y="768"/>
              <a:ext cx="336" cy="96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B2B2B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noAutofit/>
            </a:bodyPr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14" name="Rectangle 78"/>
            <p:cNvSpPr>
              <a:spLocks noChangeArrowheads="1"/>
            </p:cNvSpPr>
            <p:nvPr/>
          </p:nvSpPr>
          <p:spPr bwMode="auto">
            <a:xfrm>
              <a:off x="528" y="864"/>
              <a:ext cx="48" cy="168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B2B2B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noAutofit/>
            </a:bodyPr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15" name="Rectangle 79"/>
            <p:cNvSpPr>
              <a:spLocks noChangeArrowheads="1"/>
            </p:cNvSpPr>
            <p:nvPr/>
          </p:nvSpPr>
          <p:spPr bwMode="auto">
            <a:xfrm>
              <a:off x="576" y="864"/>
              <a:ext cx="192" cy="336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B2B2B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noAutofit/>
            </a:bodyPr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16" name="Rectangle 80"/>
            <p:cNvSpPr>
              <a:spLocks noChangeArrowheads="1"/>
            </p:cNvSpPr>
            <p:nvPr/>
          </p:nvSpPr>
          <p:spPr bwMode="auto">
            <a:xfrm>
              <a:off x="528" y="1008"/>
              <a:ext cx="48" cy="192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B2B2B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noAutofit/>
            </a:bodyPr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17" name="Rectangle 81"/>
            <p:cNvSpPr>
              <a:spLocks noChangeArrowheads="1"/>
            </p:cNvSpPr>
            <p:nvPr/>
          </p:nvSpPr>
          <p:spPr bwMode="auto">
            <a:xfrm>
              <a:off x="768" y="864"/>
              <a:ext cx="96" cy="336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B2B2B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noAutofit/>
            </a:bodyPr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sp>
        <p:nvSpPr>
          <p:cNvPr id="218" name="Rectangle 82"/>
          <p:cNvSpPr>
            <a:spLocks noChangeArrowheads="1"/>
          </p:cNvSpPr>
          <p:nvPr/>
        </p:nvSpPr>
        <p:spPr bwMode="auto">
          <a:xfrm>
            <a:off x="8151043" y="4111625"/>
            <a:ext cx="533400" cy="152400"/>
          </a:xfrm>
          <a:prstGeom prst="rect">
            <a:avLst/>
          </a:prstGeom>
          <a:noFill/>
          <a:ln w="28575">
            <a:solidFill>
              <a:srgbClr val="FF9900"/>
            </a:solidFill>
            <a:miter lim="800000"/>
            <a:headEnd/>
            <a:tailEnd type="none" w="med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noAutofit/>
          </a:bodyPr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19" name="Rectangle 83"/>
          <p:cNvSpPr>
            <a:spLocks noChangeArrowheads="1"/>
          </p:cNvSpPr>
          <p:nvPr/>
        </p:nvSpPr>
        <p:spPr bwMode="auto">
          <a:xfrm>
            <a:off x="8151043" y="4264025"/>
            <a:ext cx="76200" cy="519113"/>
          </a:xfrm>
          <a:prstGeom prst="rect">
            <a:avLst/>
          </a:prstGeom>
          <a:noFill/>
          <a:ln w="28575">
            <a:solidFill>
              <a:srgbClr val="0066FF"/>
            </a:solidFill>
            <a:miter lim="800000"/>
            <a:headEnd/>
            <a:tailEnd type="none" w="med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noAutofit/>
          </a:bodyPr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20" name="Rectangle 84"/>
          <p:cNvSpPr>
            <a:spLocks noChangeArrowheads="1"/>
          </p:cNvSpPr>
          <p:nvPr/>
        </p:nvSpPr>
        <p:spPr bwMode="auto">
          <a:xfrm>
            <a:off x="5457056" y="4873625"/>
            <a:ext cx="517525" cy="214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noAutofit/>
          </a:bodyPr>
          <a:lstStyle/>
          <a:p>
            <a:r>
              <a:rPr lang="en-US" altLang="ko-KR" sz="800">
                <a:latin typeface="나눔고딕" panose="020D0604000000000000" pitchFamily="50" charset="-127"/>
                <a:ea typeface="나눔고딕" panose="020D0604000000000000" pitchFamily="50" charset="-127"/>
              </a:rPr>
              <a:t>Page A</a:t>
            </a:r>
          </a:p>
        </p:txBody>
      </p:sp>
      <p:sp>
        <p:nvSpPr>
          <p:cNvPr id="221" name="Rectangle 85"/>
          <p:cNvSpPr>
            <a:spLocks noChangeArrowheads="1"/>
          </p:cNvSpPr>
          <p:nvPr/>
        </p:nvSpPr>
        <p:spPr bwMode="auto">
          <a:xfrm>
            <a:off x="6398443" y="4873625"/>
            <a:ext cx="517525" cy="214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noAutofit/>
          </a:bodyPr>
          <a:lstStyle/>
          <a:p>
            <a:r>
              <a:rPr lang="en-US" altLang="ko-KR" sz="800">
                <a:latin typeface="나눔고딕" panose="020D0604000000000000" pitchFamily="50" charset="-127"/>
                <a:ea typeface="나눔고딕" panose="020D0604000000000000" pitchFamily="50" charset="-127"/>
              </a:rPr>
              <a:t>Page B</a:t>
            </a:r>
          </a:p>
        </p:txBody>
      </p:sp>
      <p:sp>
        <p:nvSpPr>
          <p:cNvPr id="222" name="Rectangle 86"/>
          <p:cNvSpPr>
            <a:spLocks noChangeArrowheads="1"/>
          </p:cNvSpPr>
          <p:nvPr/>
        </p:nvSpPr>
        <p:spPr bwMode="auto">
          <a:xfrm>
            <a:off x="7236643" y="4873625"/>
            <a:ext cx="522288" cy="214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noAutofit/>
          </a:bodyPr>
          <a:lstStyle/>
          <a:p>
            <a:r>
              <a:rPr lang="en-US" altLang="ko-KR" sz="800">
                <a:latin typeface="나눔고딕" panose="020D0604000000000000" pitchFamily="50" charset="-127"/>
                <a:ea typeface="나눔고딕" panose="020D0604000000000000" pitchFamily="50" charset="-127"/>
              </a:rPr>
              <a:t>Page C</a:t>
            </a:r>
          </a:p>
        </p:txBody>
      </p:sp>
      <p:sp>
        <p:nvSpPr>
          <p:cNvPr id="223" name="Rectangle 87"/>
          <p:cNvSpPr>
            <a:spLocks noChangeArrowheads="1"/>
          </p:cNvSpPr>
          <p:nvPr/>
        </p:nvSpPr>
        <p:spPr bwMode="auto">
          <a:xfrm>
            <a:off x="8074843" y="4873625"/>
            <a:ext cx="522288" cy="214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noAutofit/>
          </a:bodyPr>
          <a:lstStyle/>
          <a:p>
            <a:r>
              <a:rPr lang="en-US" altLang="ko-KR" sz="800">
                <a:latin typeface="나눔고딕" panose="020D0604000000000000" pitchFamily="50" charset="-127"/>
                <a:ea typeface="나눔고딕" panose="020D0604000000000000" pitchFamily="50" charset="-127"/>
              </a:rPr>
              <a:t>Page D</a:t>
            </a:r>
          </a:p>
        </p:txBody>
      </p:sp>
    </p:spTree>
    <p:extLst>
      <p:ext uri="{BB962C8B-B14F-4D97-AF65-F5344CB8AC3E}">
        <p14:creationId xmlns:p14="http://schemas.microsoft.com/office/powerpoint/2010/main" val="14599948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44017" y="91339"/>
            <a:ext cx="7401271" cy="385333"/>
          </a:xfrm>
          <a:prstGeom prst="rect">
            <a:avLst/>
          </a:prstGeom>
          <a:noFill/>
        </p:spPr>
        <p:txBody>
          <a:bodyPr wrap="square" lIns="0" tIns="53643" rIns="0" bIns="53643" rtlCol="0">
            <a:spAutoFit/>
          </a:bodyPr>
          <a:lstStyle/>
          <a:p>
            <a:r>
              <a:rPr kumimoji="1" lang="en-US" altLang="ko-KR" b="1" kern="0" dirty="0">
                <a:latin typeface="나눔고딕" panose="020D0604000000000000" pitchFamily="50" charset="-127"/>
                <a:ea typeface="나눔고딕" panose="020D0604000000000000" pitchFamily="50" charset="-127"/>
                <a:cs typeface="산돌고딕 M"/>
              </a:rPr>
              <a:t>User Interface Design</a:t>
            </a:r>
            <a:endParaRPr kumimoji="1" lang="ko-KR" altLang="en-US" b="1" kern="0" dirty="0">
              <a:latin typeface="나눔고딕" panose="020D0604000000000000" pitchFamily="50" charset="-127"/>
              <a:ea typeface="나눔고딕" panose="020D0604000000000000" pitchFamily="50" charset="-127"/>
              <a:cs typeface="산돌고딕 M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44017" y="683985"/>
            <a:ext cx="96335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Navigation System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88504" y="991762"/>
            <a:ext cx="9289032" cy="307777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주요 </a:t>
            </a:r>
            <a:r>
              <a:rPr lang="ko-KR" altLang="en-US" sz="14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컨텐츠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강조와 </a:t>
            </a:r>
            <a:r>
              <a:rPr lang="ko-KR" altLang="en-US" sz="14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확장성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강화 효과를 가지고 있는 상대적 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Navigation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과 유동 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Navigation 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요소를 도입합니다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0" name="AutoShape 2"/>
          <p:cNvSpPr>
            <a:spLocks noChangeArrowheads="1"/>
          </p:cNvSpPr>
          <p:nvPr/>
        </p:nvSpPr>
        <p:spPr bwMode="auto">
          <a:xfrm>
            <a:off x="4565848" y="2147664"/>
            <a:ext cx="4419600" cy="2514600"/>
          </a:xfrm>
          <a:prstGeom prst="roundRect">
            <a:avLst>
              <a:gd name="adj" fmla="val 1766"/>
            </a:avLst>
          </a:prstGeom>
          <a:solidFill>
            <a:schemeClr val="bg1">
              <a:lumMod val="85000"/>
            </a:schemeClr>
          </a:solidFill>
          <a:ln w="19050">
            <a:solidFill>
              <a:srgbClr val="C0C0C0"/>
            </a:solidFill>
            <a:round/>
            <a:headEnd/>
            <a:tailEnd/>
          </a:ln>
          <a:effectLst/>
        </p:spPr>
        <p:txBody>
          <a:bodyPr lIns="90000" tIns="46800" rIns="90000" bIns="46800" anchor="t">
            <a:noAutofit/>
          </a:bodyPr>
          <a:lstStyle/>
          <a:p>
            <a:r>
              <a:rPr lang="en-US" altLang="ko-KR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Hybrid Navigation</a:t>
            </a:r>
          </a:p>
        </p:txBody>
      </p:sp>
      <p:sp>
        <p:nvSpPr>
          <p:cNvPr id="93" name="AutoShape 5"/>
          <p:cNvSpPr>
            <a:spLocks noChangeArrowheads="1"/>
          </p:cNvSpPr>
          <p:nvPr/>
        </p:nvSpPr>
        <p:spPr bwMode="auto">
          <a:xfrm>
            <a:off x="4642048" y="2576289"/>
            <a:ext cx="4267200" cy="638175"/>
          </a:xfrm>
          <a:prstGeom prst="roundRect">
            <a:avLst>
              <a:gd name="adj" fmla="val 11861"/>
            </a:avLst>
          </a:prstGeom>
          <a:solidFill>
            <a:srgbClr val="FF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rgbClr val="C0C0C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noAutofit/>
          </a:bodyPr>
          <a:lstStyle/>
          <a:p>
            <a:r>
              <a:rPr lang="ko-KR" altLang="en-US" sz="11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고정 </a:t>
            </a:r>
            <a:r>
              <a:rPr lang="en-US" altLang="ko-KR" sz="11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Navigation</a:t>
            </a:r>
          </a:p>
          <a:p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Policy Page(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상품별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), 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고객센터 등 기타 메뉴와 분리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</a:t>
            </a:r>
            <a:b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독립하여 고정 시켜서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accessibility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를 극대화 </a:t>
            </a:r>
          </a:p>
        </p:txBody>
      </p:sp>
      <p:sp>
        <p:nvSpPr>
          <p:cNvPr id="94" name="AutoShape 6"/>
          <p:cNvSpPr>
            <a:spLocks noChangeArrowheads="1"/>
          </p:cNvSpPr>
          <p:nvPr/>
        </p:nvSpPr>
        <p:spPr bwMode="auto">
          <a:xfrm>
            <a:off x="4565848" y="4890864"/>
            <a:ext cx="4419600" cy="914400"/>
          </a:xfrm>
          <a:prstGeom prst="roundRect">
            <a:avLst>
              <a:gd name="adj" fmla="val 5257"/>
            </a:avLst>
          </a:prstGeom>
          <a:solidFill>
            <a:schemeClr val="bg1">
              <a:lumMod val="85000"/>
            </a:schemeClr>
          </a:solidFill>
          <a:ln w="19050">
            <a:solidFill>
              <a:srgbClr val="C0C0C0"/>
            </a:solidFill>
            <a:round/>
            <a:headEnd/>
            <a:tailEnd/>
          </a:ln>
          <a:effectLst/>
        </p:spPr>
        <p:txBody>
          <a:bodyPr lIns="36000" tIns="46800" rIns="36000" bIns="46800" anchor="ctr">
            <a:noAutofit/>
          </a:bodyPr>
          <a:lstStyle/>
          <a:p>
            <a:r>
              <a:rPr lang="en-US" altLang="ko-KR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Navigation</a:t>
            </a:r>
            <a:r>
              <a:rPr lang="ko-KR" altLang="en-US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의 </a:t>
            </a:r>
            <a:r>
              <a:rPr lang="en-US" altLang="ko-KR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Component</a:t>
            </a:r>
            <a:r>
              <a:rPr lang="ko-KR" altLang="en-US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화</a:t>
            </a:r>
            <a:endParaRPr lang="en-US" altLang="ko-KR" sz="14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기존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Local Navigation 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영역에 들어갈 수 있는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Navigation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요소를 유형별로 분류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Component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화하여 가감이 자유로운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Flexible Navigation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의 구현</a:t>
            </a:r>
          </a:p>
        </p:txBody>
      </p:sp>
      <p:sp>
        <p:nvSpPr>
          <p:cNvPr id="95" name="Rectangle 7"/>
          <p:cNvSpPr>
            <a:spLocks noChangeArrowheads="1"/>
          </p:cNvSpPr>
          <p:nvPr/>
        </p:nvSpPr>
        <p:spPr bwMode="auto">
          <a:xfrm>
            <a:off x="984448" y="4967064"/>
            <a:ext cx="2667000" cy="76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txBody>
          <a:bodyPr wrap="none" lIns="90000" tIns="46800" rIns="90000" bIns="46800" anchor="ctr">
            <a:noAutofit/>
          </a:bodyPr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6" name="Rectangle 8"/>
          <p:cNvSpPr>
            <a:spLocks noChangeArrowheads="1"/>
          </p:cNvSpPr>
          <p:nvPr/>
        </p:nvSpPr>
        <p:spPr bwMode="auto">
          <a:xfrm>
            <a:off x="984448" y="2071464"/>
            <a:ext cx="2667000" cy="76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txBody>
          <a:bodyPr wrap="none" lIns="90000" tIns="46800" rIns="90000" bIns="46800" anchor="ctr">
            <a:noAutofit/>
          </a:bodyPr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8" name="Rectangle 11"/>
          <p:cNvSpPr>
            <a:spLocks noChangeArrowheads="1"/>
          </p:cNvSpPr>
          <p:nvPr/>
        </p:nvSpPr>
        <p:spPr bwMode="auto">
          <a:xfrm>
            <a:off x="1060648" y="5043264"/>
            <a:ext cx="25908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noAutofit/>
          </a:bodyPr>
          <a:lstStyle/>
          <a:p>
            <a:r>
              <a:rPr kumimoji="1" lang="en-US" altLang="ko-KR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Flexible Structure</a:t>
            </a:r>
          </a:p>
        </p:txBody>
      </p:sp>
      <p:sp>
        <p:nvSpPr>
          <p:cNvPr id="100" name="Rectangle 13"/>
          <p:cNvSpPr>
            <a:spLocks noChangeArrowheads="1"/>
          </p:cNvSpPr>
          <p:nvPr/>
        </p:nvSpPr>
        <p:spPr bwMode="auto">
          <a:xfrm>
            <a:off x="1060648" y="2147664"/>
            <a:ext cx="25908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noAutofit/>
          </a:bodyPr>
          <a:lstStyle/>
          <a:p>
            <a:pPr>
              <a:spcBef>
                <a:spcPct val="50000"/>
              </a:spcBef>
            </a:pPr>
            <a:r>
              <a:rPr kumimoji="1" lang="en-US" altLang="ko-KR" sz="1400" b="1">
                <a:latin typeface="나눔고딕" panose="020D0604000000000000" pitchFamily="50" charset="-127"/>
                <a:ea typeface="나눔고딕" panose="020D0604000000000000" pitchFamily="50" charset="-127"/>
              </a:rPr>
              <a:t>Standard Structure</a:t>
            </a:r>
          </a:p>
        </p:txBody>
      </p:sp>
      <p:sp>
        <p:nvSpPr>
          <p:cNvPr id="106" name="AutoShape 19"/>
          <p:cNvSpPr>
            <a:spLocks noChangeArrowheads="1"/>
          </p:cNvSpPr>
          <p:nvPr/>
        </p:nvSpPr>
        <p:spPr bwMode="auto">
          <a:xfrm>
            <a:off x="3651448" y="2147664"/>
            <a:ext cx="762000" cy="685800"/>
          </a:xfrm>
          <a:prstGeom prst="rightArrow">
            <a:avLst>
              <a:gd name="adj1" fmla="val 50000"/>
              <a:gd name="adj2" fmla="val 27778"/>
            </a:avLst>
          </a:prstGeom>
          <a:gradFill rotWithShape="0">
            <a:gsLst>
              <a:gs pos="0">
                <a:schemeClr val="bg1"/>
              </a:gs>
              <a:gs pos="100000">
                <a:schemeClr val="bg1">
                  <a:lumMod val="50000"/>
                </a:schemeClr>
              </a:gs>
            </a:gsLst>
            <a:lin ang="0" scaled="1"/>
          </a:gradFill>
          <a:ln>
            <a:noFill/>
          </a:ln>
          <a:effectLst/>
        </p:spPr>
        <p:txBody>
          <a:bodyPr wrap="none" lIns="90000" tIns="46800" rIns="90000" bIns="46800" anchor="ctr">
            <a:noAutofit/>
          </a:bodyPr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7" name="AutoShape 20"/>
          <p:cNvSpPr>
            <a:spLocks noChangeArrowheads="1"/>
          </p:cNvSpPr>
          <p:nvPr/>
        </p:nvSpPr>
        <p:spPr bwMode="auto">
          <a:xfrm>
            <a:off x="3651448" y="4890864"/>
            <a:ext cx="762000" cy="685800"/>
          </a:xfrm>
          <a:prstGeom prst="rightArrow">
            <a:avLst>
              <a:gd name="adj1" fmla="val 50000"/>
              <a:gd name="adj2" fmla="val 27778"/>
            </a:avLst>
          </a:prstGeom>
          <a:gradFill rotWithShape="0">
            <a:gsLst>
              <a:gs pos="0">
                <a:schemeClr val="bg1"/>
              </a:gs>
              <a:gs pos="100000">
                <a:schemeClr val="bg1">
                  <a:lumMod val="50000"/>
                </a:schemeClr>
              </a:gs>
            </a:gsLst>
            <a:lin ang="0" scaled="1"/>
          </a:gradFill>
          <a:ln>
            <a:noFill/>
          </a:ln>
          <a:effectLst/>
        </p:spPr>
        <p:txBody>
          <a:bodyPr wrap="none" lIns="90000" tIns="46800" rIns="90000" bIns="46800" anchor="ctr">
            <a:noAutofit/>
          </a:bodyPr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10" name="Rectangle 23"/>
          <p:cNvSpPr>
            <a:spLocks noChangeArrowheads="1"/>
          </p:cNvSpPr>
          <p:nvPr/>
        </p:nvSpPr>
        <p:spPr bwMode="auto">
          <a:xfrm>
            <a:off x="2306836" y="2604864"/>
            <a:ext cx="1344612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noAutofit/>
          </a:bodyPr>
          <a:lstStyle/>
          <a:p>
            <a:r>
              <a:rPr lang="en-US" altLang="ko-KR" sz="1000" b="1">
                <a:latin typeface="나눔고딕" panose="020D0604000000000000" pitchFamily="50" charset="-127"/>
                <a:ea typeface="나눔고딕" panose="020D0604000000000000" pitchFamily="50" charset="-127"/>
              </a:rPr>
              <a:t>Core Contents </a:t>
            </a:r>
            <a:r>
              <a:rPr lang="ko-KR" altLang="en-US" sz="1000" b="1">
                <a:latin typeface="나눔고딕" panose="020D0604000000000000" pitchFamily="50" charset="-127"/>
                <a:ea typeface="나눔고딕" panose="020D0604000000000000" pitchFamily="50" charset="-127"/>
              </a:rPr>
              <a:t>부각</a:t>
            </a:r>
          </a:p>
        </p:txBody>
      </p:sp>
      <p:sp>
        <p:nvSpPr>
          <p:cNvPr id="111" name="Rectangle 24"/>
          <p:cNvSpPr>
            <a:spLocks noChangeArrowheads="1"/>
          </p:cNvSpPr>
          <p:nvPr/>
        </p:nvSpPr>
        <p:spPr bwMode="auto">
          <a:xfrm>
            <a:off x="2813248" y="5500464"/>
            <a:ext cx="8509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noAutofit/>
          </a:bodyPr>
          <a:lstStyle/>
          <a:p>
            <a:r>
              <a:rPr lang="ko-KR" altLang="en-US" sz="1000" b="1">
                <a:latin typeface="나눔고딕" panose="020D0604000000000000" pitchFamily="50" charset="-127"/>
                <a:ea typeface="나눔고딕" panose="020D0604000000000000" pitchFamily="50" charset="-127"/>
              </a:rPr>
              <a:t>확장성 강화</a:t>
            </a:r>
          </a:p>
        </p:txBody>
      </p:sp>
      <p:sp>
        <p:nvSpPr>
          <p:cNvPr id="113" name="AutoShape 5"/>
          <p:cNvSpPr>
            <a:spLocks noChangeArrowheads="1"/>
          </p:cNvSpPr>
          <p:nvPr/>
        </p:nvSpPr>
        <p:spPr bwMode="auto">
          <a:xfrm>
            <a:off x="4642048" y="3244627"/>
            <a:ext cx="4267200" cy="638175"/>
          </a:xfrm>
          <a:prstGeom prst="roundRect">
            <a:avLst>
              <a:gd name="adj" fmla="val 11861"/>
            </a:avLst>
          </a:prstGeom>
          <a:solidFill>
            <a:srgbClr val="FF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rgbClr val="C0C0C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noAutofit/>
          </a:bodyPr>
          <a:lstStyle/>
          <a:p>
            <a:r>
              <a:rPr lang="ko-KR" altLang="en-US" sz="11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유동 </a:t>
            </a:r>
            <a:r>
              <a:rPr lang="en-US" altLang="ko-KR" sz="11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Navigation</a:t>
            </a:r>
          </a:p>
          <a:p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해당 채널이나 </a:t>
            </a:r>
            <a:r>
              <a:rPr kumimoji="1"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Policy Page  </a:t>
            </a:r>
            <a:r>
              <a:rPr kumimoji="1"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내에서 특장점을 부각시킬 수 있도록</a:t>
            </a:r>
            <a:endParaRPr lang="ko-KR" altLang="en-US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Flexible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하게 사용</a:t>
            </a:r>
          </a:p>
        </p:txBody>
      </p:sp>
      <p:sp>
        <p:nvSpPr>
          <p:cNvPr id="114" name="AutoShape 5"/>
          <p:cNvSpPr>
            <a:spLocks noChangeArrowheads="1"/>
          </p:cNvSpPr>
          <p:nvPr/>
        </p:nvSpPr>
        <p:spPr bwMode="auto">
          <a:xfrm>
            <a:off x="4642048" y="3921819"/>
            <a:ext cx="4267200" cy="638175"/>
          </a:xfrm>
          <a:prstGeom prst="roundRect">
            <a:avLst>
              <a:gd name="adj" fmla="val 11861"/>
            </a:avLst>
          </a:prstGeom>
          <a:solidFill>
            <a:srgbClr val="FF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rgbClr val="C0C0C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noAutofit/>
          </a:bodyPr>
          <a:lstStyle/>
          <a:p>
            <a:r>
              <a:rPr lang="ko-KR" altLang="en-US" sz="11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상대적 </a:t>
            </a:r>
            <a:r>
              <a:rPr lang="en-US" altLang="ko-KR" sz="11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Navigation</a:t>
            </a:r>
          </a:p>
          <a:p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상대적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Navigation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으로 링크포인트를 줄여 </a:t>
            </a:r>
            <a:r>
              <a:rPr lang="en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XXX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페이지가 가지고 있는 깊이를 소화하며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유저빌리티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향상을 도모하고 향후 </a:t>
            </a:r>
            <a:r>
              <a:rPr lang="ko-KR" altLang="en-US" sz="1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확장성을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확보한다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79090738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44017" y="91339"/>
            <a:ext cx="7401271" cy="385333"/>
          </a:xfrm>
          <a:prstGeom prst="rect">
            <a:avLst/>
          </a:prstGeom>
          <a:noFill/>
        </p:spPr>
        <p:txBody>
          <a:bodyPr wrap="square" lIns="0" tIns="53643" rIns="0" bIns="53643" rtlCol="0">
            <a:spAutoFit/>
          </a:bodyPr>
          <a:lstStyle/>
          <a:p>
            <a:r>
              <a:rPr kumimoji="1" lang="en-US" altLang="ko-KR" b="1" kern="0" dirty="0">
                <a:latin typeface="나눔고딕" panose="020D0604000000000000" pitchFamily="50" charset="-127"/>
                <a:ea typeface="나눔고딕" panose="020D0604000000000000" pitchFamily="50" charset="-127"/>
                <a:cs typeface="산돌고딕 M"/>
              </a:rPr>
              <a:t>User Interface Design</a:t>
            </a:r>
            <a:endParaRPr kumimoji="1" lang="ko-KR" altLang="en-US" b="1" kern="0" dirty="0">
              <a:latin typeface="나눔고딕" panose="020D0604000000000000" pitchFamily="50" charset="-127"/>
              <a:ea typeface="나눔고딕" panose="020D0604000000000000" pitchFamily="50" charset="-127"/>
              <a:cs typeface="산돌고딕 M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44017" y="683985"/>
            <a:ext cx="96335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Navigation System</a:t>
            </a:r>
          </a:p>
        </p:txBody>
      </p:sp>
      <p:sp>
        <p:nvSpPr>
          <p:cNvPr id="32" name="직사각형 31"/>
          <p:cNvSpPr/>
          <p:nvPr/>
        </p:nvSpPr>
        <p:spPr>
          <a:xfrm>
            <a:off x="272480" y="1196752"/>
            <a:ext cx="4824536" cy="36004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ko-KR" sz="14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Global Navigation</a:t>
            </a:r>
          </a:p>
        </p:txBody>
      </p:sp>
      <p:sp>
        <p:nvSpPr>
          <p:cNvPr id="20" name="Rectangle 4"/>
          <p:cNvSpPr>
            <a:spLocks noChangeArrowheads="1"/>
          </p:cNvSpPr>
          <p:nvPr/>
        </p:nvSpPr>
        <p:spPr bwMode="auto">
          <a:xfrm>
            <a:off x="609600" y="1861592"/>
            <a:ext cx="1809750" cy="4735760"/>
          </a:xfrm>
          <a:prstGeom prst="rect">
            <a:avLst/>
          </a:prstGeom>
          <a:solidFill>
            <a:srgbClr val="EAEAE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6350">
                <a:solidFill>
                  <a:schemeClr val="tx1"/>
                </a:solidFill>
                <a:miter lim="800000"/>
                <a:headEnd/>
                <a:tailEnd type="none" w="med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t"/>
          <a:lstStyle>
            <a:lvl1pPr marL="111125" indent="-111125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>
              <a:lnSpc>
                <a:spcPct val="130000"/>
              </a:lnSpc>
              <a:buClr>
                <a:srgbClr val="CC3300"/>
              </a:buClr>
              <a:buFontTx/>
              <a:buChar char="•"/>
            </a:pPr>
            <a:endParaRPr kumimoji="0"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ct val="130000"/>
              </a:lnSpc>
              <a:buClr>
                <a:srgbClr val="CC3300"/>
              </a:buClr>
              <a:buFontTx/>
              <a:buChar char="•"/>
            </a:pPr>
            <a:r>
              <a:rPr kumimoji="0"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사용자가 충분히 예측 가능한 </a:t>
            </a:r>
            <a:r>
              <a:rPr kumimoji="0" lang="ko-KR" altLang="en-US" sz="1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메뉴명으로써</a:t>
            </a:r>
            <a:r>
              <a:rPr kumimoji="0"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kumimoji="0" lang="ko-KR" altLang="en-US" sz="1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접근성을</a:t>
            </a:r>
            <a:r>
              <a:rPr kumimoji="0"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올립니다</a:t>
            </a:r>
            <a:r>
              <a:rPr kumimoji="0"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  <a:p>
            <a:pPr>
              <a:lnSpc>
                <a:spcPct val="130000"/>
              </a:lnSpc>
              <a:buClr>
                <a:srgbClr val="CC3300"/>
              </a:buClr>
              <a:buFontTx/>
              <a:buChar char="•"/>
            </a:pPr>
            <a:endParaRPr kumimoji="0"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ct val="130000"/>
              </a:lnSpc>
              <a:buClr>
                <a:srgbClr val="CC3300"/>
              </a:buClr>
              <a:buFontTx/>
              <a:buChar char="•"/>
            </a:pPr>
            <a:r>
              <a:rPr kumimoji="0" lang="en" altLang="ko-KR" sz="1000">
                <a:latin typeface="나눔고딕" panose="020D0604000000000000" pitchFamily="50" charset="-127"/>
                <a:ea typeface="나눔고딕" panose="020D0604000000000000" pitchFamily="50" charset="-127"/>
              </a:rPr>
              <a:t>XXX</a:t>
            </a:r>
            <a:r>
              <a:rPr kumimoji="0" lang="ko-KR" altLang="en-US" sz="1000">
                <a:latin typeface="나눔고딕" panose="020D0604000000000000" pitchFamily="50" charset="-127"/>
                <a:ea typeface="나눔고딕" panose="020D0604000000000000" pitchFamily="50" charset="-127"/>
              </a:rPr>
              <a:t>서비스의 서비스 </a:t>
            </a:r>
            <a:r>
              <a:rPr kumimoji="0"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채널이 될 수 있는 컨텐츠를 </a:t>
            </a:r>
            <a:r>
              <a:rPr kumimoji="0"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‘</a:t>
            </a:r>
            <a:r>
              <a:rPr kumimoji="0"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사이트 이용하기</a:t>
            </a:r>
            <a:r>
              <a:rPr kumimoji="0"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＇</a:t>
            </a:r>
            <a:r>
              <a:rPr kumimoji="0"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에 적용합니다</a:t>
            </a:r>
            <a:r>
              <a:rPr kumimoji="0"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  <a:p>
            <a:pPr>
              <a:lnSpc>
                <a:spcPct val="130000"/>
              </a:lnSpc>
              <a:buClr>
                <a:srgbClr val="CC3300"/>
              </a:buClr>
              <a:buFontTx/>
              <a:buChar char="•"/>
            </a:pPr>
            <a:endParaRPr kumimoji="0"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ct val="130000"/>
              </a:lnSpc>
              <a:buClr>
                <a:srgbClr val="CC3300"/>
              </a:buClr>
              <a:buFontTx/>
              <a:buChar char="•"/>
            </a:pPr>
            <a:r>
              <a:rPr kumimoji="0" lang="ko-KR" altLang="en-US" sz="1000">
                <a:latin typeface="나눔고딕" panose="020D0604000000000000" pitchFamily="50" charset="-127"/>
                <a:ea typeface="나눔고딕" panose="020D0604000000000000" pitchFamily="50" charset="-127"/>
              </a:rPr>
              <a:t>서비스상품 메뉴에서는 </a:t>
            </a:r>
            <a:r>
              <a:rPr kumimoji="0" lang="en" altLang="ko-KR" sz="1000">
                <a:latin typeface="나눔고딕" panose="020D0604000000000000" pitchFamily="50" charset="-127"/>
                <a:ea typeface="나눔고딕" panose="020D0604000000000000" pitchFamily="50" charset="-127"/>
              </a:rPr>
              <a:t>XXX</a:t>
            </a:r>
            <a:r>
              <a:rPr kumimoji="0" lang="ko-KR" altLang="en-US" sz="1000">
                <a:latin typeface="나눔고딕" panose="020D0604000000000000" pitchFamily="50" charset="-127"/>
                <a:ea typeface="나눔고딕" panose="020D0604000000000000" pitchFamily="50" charset="-127"/>
              </a:rPr>
              <a:t>서비스 </a:t>
            </a:r>
            <a:r>
              <a:rPr kumimoji="0"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온라인 판매사이트에서 판매되는 상품의 배너를 노출합니다</a:t>
            </a:r>
            <a:r>
              <a:rPr kumimoji="0"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  <a:p>
            <a:pPr>
              <a:lnSpc>
                <a:spcPct val="130000"/>
              </a:lnSpc>
              <a:buClr>
                <a:srgbClr val="CC3300"/>
              </a:buClr>
              <a:buFontTx/>
              <a:buChar char="•"/>
            </a:pPr>
            <a:endParaRPr kumimoji="0"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ct val="130000"/>
              </a:lnSpc>
              <a:buClr>
                <a:srgbClr val="CC3300"/>
              </a:buClr>
              <a:buFontTx/>
              <a:buChar char="•"/>
            </a:pPr>
            <a:r>
              <a:rPr kumimoji="0"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상품선택을 용이하게 할 수 있는 </a:t>
            </a:r>
            <a:r>
              <a:rPr kumimoji="0"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‘</a:t>
            </a:r>
            <a:r>
              <a:rPr kumimoji="0"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내 상품 선택</a:t>
            </a:r>
            <a:r>
              <a:rPr kumimoji="0"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＇</a:t>
            </a:r>
            <a:r>
              <a:rPr kumimoji="0"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으로 보여주게 됩니다</a:t>
            </a:r>
            <a:r>
              <a:rPr kumimoji="0"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  <a:p>
            <a:pPr>
              <a:lnSpc>
                <a:spcPct val="130000"/>
              </a:lnSpc>
              <a:buClr>
                <a:srgbClr val="CC3300"/>
              </a:buClr>
              <a:buFontTx/>
              <a:buChar char="•"/>
            </a:pPr>
            <a:endParaRPr kumimoji="0"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ct val="130000"/>
              </a:lnSpc>
              <a:buClr>
                <a:srgbClr val="CC3300"/>
              </a:buClr>
              <a:buFontTx/>
              <a:buChar char="•"/>
            </a:pPr>
            <a:r>
              <a:rPr kumimoji="0"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시각화된 상품정보를 보여줍니다</a:t>
            </a:r>
            <a:r>
              <a:rPr kumimoji="0"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</p:txBody>
      </p:sp>
      <p:sp>
        <p:nvSpPr>
          <p:cNvPr id="21" name="Rectangle 5"/>
          <p:cNvSpPr>
            <a:spLocks noChangeArrowheads="1"/>
          </p:cNvSpPr>
          <p:nvPr/>
        </p:nvSpPr>
        <p:spPr bwMode="auto">
          <a:xfrm>
            <a:off x="2743200" y="1861592"/>
            <a:ext cx="6629400" cy="381000"/>
          </a:xfrm>
          <a:prstGeom prst="rect">
            <a:avLst/>
          </a:prstGeom>
          <a:noFill/>
          <a:ln w="19050">
            <a:solidFill>
              <a:schemeClr val="bg1">
                <a:lumMod val="50000"/>
              </a:schemeClr>
            </a:solidFill>
            <a:miter lim="800000"/>
            <a:headEnd/>
            <a:tailEnd type="none" w="med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2" name="Text Box 6"/>
          <p:cNvSpPr txBox="1">
            <a:spLocks noChangeArrowheads="1"/>
          </p:cNvSpPr>
          <p:nvPr/>
        </p:nvSpPr>
        <p:spPr bwMode="auto">
          <a:xfrm>
            <a:off x="2819400" y="1861592"/>
            <a:ext cx="1917576" cy="3407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chemeClr val="tx1"/>
                </a:solidFill>
                <a:miter lim="800000"/>
                <a:headEnd/>
                <a:tailEnd type="none" w="med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000" tIns="46800" rIns="90000" bIns="46800">
            <a:spAutoFit/>
          </a:bodyPr>
          <a:lstStyle/>
          <a:p>
            <a:pPr>
              <a:spcBef>
                <a:spcPct val="50000"/>
              </a:spcBef>
            </a:pPr>
            <a:r>
              <a:rPr lang="en" altLang="ko-KR" sz="1600" b="1">
                <a:latin typeface="나눔고딕" panose="020D0604000000000000" pitchFamily="50" charset="-127"/>
                <a:ea typeface="나눔고딕" panose="020D0604000000000000" pitchFamily="50" charset="-127"/>
              </a:rPr>
              <a:t>XXX</a:t>
            </a:r>
            <a:r>
              <a:rPr lang="ko-KR" altLang="en-US" sz="1600" b="1">
                <a:latin typeface="나눔고딕" panose="020D0604000000000000" pitchFamily="50" charset="-127"/>
                <a:ea typeface="나눔고딕" panose="020D0604000000000000" pitchFamily="50" charset="-127"/>
              </a:rPr>
              <a:t>서비스</a:t>
            </a:r>
            <a:r>
              <a:rPr lang="en-US" altLang="ko-KR" sz="1600" b="1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On-line</a:t>
            </a:r>
          </a:p>
        </p:txBody>
      </p:sp>
      <p:sp>
        <p:nvSpPr>
          <p:cNvPr id="23" name="Text Box 7"/>
          <p:cNvSpPr txBox="1">
            <a:spLocks noChangeArrowheads="1"/>
          </p:cNvSpPr>
          <p:nvPr/>
        </p:nvSpPr>
        <p:spPr bwMode="auto">
          <a:xfrm>
            <a:off x="5257800" y="1861592"/>
            <a:ext cx="4114800" cy="2330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chemeClr val="tx1"/>
                </a:solidFill>
                <a:miter lim="800000"/>
                <a:headEnd/>
                <a:tailEnd type="none" w="med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000" tIns="46800" rIns="90000" bIns="4680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Login  |  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이벤트  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|  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뉴스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공지  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|  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사이버창구</a:t>
            </a:r>
            <a:endParaRPr lang="en-US" altLang="ko-KR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9" name="Rectangle 13"/>
          <p:cNvSpPr>
            <a:spLocks noChangeArrowheads="1"/>
          </p:cNvSpPr>
          <p:nvPr/>
        </p:nvSpPr>
        <p:spPr bwMode="auto">
          <a:xfrm>
            <a:off x="2743200" y="2928392"/>
            <a:ext cx="6629400" cy="381000"/>
          </a:xfrm>
          <a:prstGeom prst="rect">
            <a:avLst/>
          </a:prstGeom>
          <a:noFill/>
          <a:ln w="19050">
            <a:solidFill>
              <a:schemeClr val="bg1">
                <a:lumMod val="50000"/>
              </a:schemeClr>
            </a:solidFill>
            <a:miter lim="800000"/>
            <a:headEnd/>
            <a:tailEnd type="none" w="med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2" name="Rectangle 25"/>
          <p:cNvSpPr>
            <a:spLocks noChangeArrowheads="1"/>
          </p:cNvSpPr>
          <p:nvPr/>
        </p:nvSpPr>
        <p:spPr bwMode="auto">
          <a:xfrm>
            <a:off x="2743200" y="4452392"/>
            <a:ext cx="6629400" cy="381000"/>
          </a:xfrm>
          <a:prstGeom prst="rect">
            <a:avLst/>
          </a:prstGeom>
          <a:noFill/>
          <a:ln w="19050">
            <a:solidFill>
              <a:schemeClr val="bg1">
                <a:lumMod val="50000"/>
              </a:schemeClr>
            </a:solidFill>
            <a:miter lim="800000"/>
            <a:headEnd/>
            <a:tailEnd type="none" w="med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53" name="AutoShape 36"/>
          <p:cNvCxnSpPr>
            <a:cxnSpLocks noChangeShapeType="1"/>
            <a:stCxn id="21" idx="1"/>
            <a:endCxn id="29" idx="1"/>
          </p:cNvCxnSpPr>
          <p:nvPr/>
        </p:nvCxnSpPr>
        <p:spPr bwMode="auto">
          <a:xfrm rot="10800000" flipH="1" flipV="1">
            <a:off x="2733675" y="2052092"/>
            <a:ext cx="1588" cy="1066800"/>
          </a:xfrm>
          <a:prstGeom prst="bentConnector3">
            <a:avLst>
              <a:gd name="adj1" fmla="val -13800000"/>
            </a:avLst>
          </a:prstGeom>
          <a:noFill/>
          <a:ln w="6350">
            <a:solidFill>
              <a:schemeClr val="tx1"/>
            </a:solidFill>
            <a:miter lim="800000"/>
            <a:headEnd/>
            <a:tailEnd type="triangle" w="med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4" name="AutoShape 37"/>
          <p:cNvCxnSpPr>
            <a:cxnSpLocks noChangeShapeType="1"/>
            <a:stCxn id="21" idx="1"/>
            <a:endCxn id="42" idx="1"/>
          </p:cNvCxnSpPr>
          <p:nvPr/>
        </p:nvCxnSpPr>
        <p:spPr bwMode="auto">
          <a:xfrm rot="10800000" flipH="1" flipV="1">
            <a:off x="2733675" y="2052092"/>
            <a:ext cx="1588" cy="2590800"/>
          </a:xfrm>
          <a:prstGeom prst="bentConnector3">
            <a:avLst>
              <a:gd name="adj1" fmla="val -13800000"/>
            </a:avLst>
          </a:prstGeom>
          <a:noFill/>
          <a:ln w="6350">
            <a:solidFill>
              <a:schemeClr val="tx1"/>
            </a:solidFill>
            <a:miter lim="800000"/>
            <a:headEnd/>
            <a:tailEnd type="triangle" w="med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5" name="Text Box 38"/>
          <p:cNvSpPr txBox="1">
            <a:spLocks noChangeArrowheads="1"/>
          </p:cNvSpPr>
          <p:nvPr/>
        </p:nvSpPr>
        <p:spPr bwMode="auto">
          <a:xfrm>
            <a:off x="2743200" y="2623592"/>
            <a:ext cx="3581400" cy="2791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chemeClr val="tx1"/>
                </a:solidFill>
                <a:miter lim="800000"/>
                <a:headEnd/>
                <a:tailEnd type="none" w="med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ko-KR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Global Navigation Bar 1</a:t>
            </a:r>
          </a:p>
        </p:txBody>
      </p:sp>
      <p:sp>
        <p:nvSpPr>
          <p:cNvPr id="56" name="Text Box 39"/>
          <p:cNvSpPr txBox="1">
            <a:spLocks noChangeArrowheads="1"/>
          </p:cNvSpPr>
          <p:nvPr/>
        </p:nvSpPr>
        <p:spPr bwMode="auto">
          <a:xfrm>
            <a:off x="2743200" y="4147592"/>
            <a:ext cx="3048000" cy="2791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chemeClr val="tx1"/>
                </a:solidFill>
                <a:miter lim="800000"/>
                <a:headEnd/>
                <a:tailEnd type="none" w="med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ko-KR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Global Navigation Bar </a:t>
            </a:r>
            <a:r>
              <a:rPr lang="en-US" altLang="ko-KR" sz="1200" b="1">
                <a:latin typeface="나눔고딕" panose="020D0604000000000000" pitchFamily="50" charset="-127"/>
                <a:ea typeface="나눔고딕" panose="020D0604000000000000" pitchFamily="50" charset="-127"/>
              </a:rPr>
              <a:t>2 (</a:t>
            </a:r>
            <a:r>
              <a:rPr lang="ko-KR" altLang="en-US" sz="1200" b="1">
                <a:latin typeface="나눔고딕" panose="020D0604000000000000" pitchFamily="50" charset="-127"/>
                <a:ea typeface="나눔고딕" panose="020D0604000000000000" pitchFamily="50" charset="-127"/>
              </a:rPr>
              <a:t>서비스상품</a:t>
            </a:r>
            <a:r>
              <a:rPr lang="en-US" altLang="ko-KR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</p:txBody>
      </p:sp>
      <p:sp>
        <p:nvSpPr>
          <p:cNvPr id="57" name="Text Box 40"/>
          <p:cNvSpPr txBox="1">
            <a:spLocks noChangeArrowheads="1"/>
          </p:cNvSpPr>
          <p:nvPr/>
        </p:nvSpPr>
        <p:spPr bwMode="auto">
          <a:xfrm>
            <a:off x="2743200" y="1556792"/>
            <a:ext cx="3200400" cy="2791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chemeClr val="tx1"/>
                </a:solidFill>
                <a:miter lim="800000"/>
                <a:headEnd/>
                <a:tailEnd type="none" w="med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ko-KR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Global Navigation Bar A</a:t>
            </a:r>
          </a:p>
        </p:txBody>
      </p:sp>
      <p:sp>
        <p:nvSpPr>
          <p:cNvPr id="59" name="Text Box 6"/>
          <p:cNvSpPr txBox="1">
            <a:spLocks noChangeArrowheads="1"/>
          </p:cNvSpPr>
          <p:nvPr/>
        </p:nvSpPr>
        <p:spPr bwMode="auto">
          <a:xfrm>
            <a:off x="2819400" y="2948525"/>
            <a:ext cx="1917576" cy="3407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chemeClr val="tx1"/>
                </a:solidFill>
                <a:miter lim="800000"/>
                <a:headEnd/>
                <a:tailEnd type="none" w="med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000" tIns="46800" rIns="90000" bIns="46800">
            <a:spAutoFit/>
          </a:bodyPr>
          <a:lstStyle/>
          <a:p>
            <a:pPr>
              <a:spcBef>
                <a:spcPct val="50000"/>
              </a:spcBef>
            </a:pPr>
            <a:r>
              <a:rPr lang="en" altLang="ko-KR" sz="1600" b="1">
                <a:latin typeface="나눔고딕" panose="020D0604000000000000" pitchFamily="50" charset="-127"/>
                <a:ea typeface="나눔고딕" panose="020D0604000000000000" pitchFamily="50" charset="-127"/>
              </a:rPr>
              <a:t>XXX</a:t>
            </a:r>
            <a:r>
              <a:rPr lang="ko-KR" altLang="en-US" sz="1600" b="1">
                <a:latin typeface="나눔고딕" panose="020D0604000000000000" pitchFamily="50" charset="-127"/>
                <a:ea typeface="나눔고딕" panose="020D0604000000000000" pitchFamily="50" charset="-127"/>
              </a:rPr>
              <a:t>서비스</a:t>
            </a:r>
            <a:r>
              <a:rPr lang="en-US" altLang="ko-KR" sz="1600" b="1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On-line</a:t>
            </a:r>
          </a:p>
        </p:txBody>
      </p:sp>
      <p:sp>
        <p:nvSpPr>
          <p:cNvPr id="60" name="Text Box 7"/>
          <p:cNvSpPr txBox="1">
            <a:spLocks noChangeArrowheads="1"/>
          </p:cNvSpPr>
          <p:nvPr/>
        </p:nvSpPr>
        <p:spPr bwMode="auto">
          <a:xfrm>
            <a:off x="5257800" y="2948525"/>
            <a:ext cx="4114800" cy="2330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chemeClr val="tx1"/>
                </a:solidFill>
                <a:miter lim="800000"/>
                <a:headEnd/>
                <a:tailEnd type="none" w="med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000" tIns="46800" rIns="90000" bIns="4680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Login  |  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이벤트  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|  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뉴스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공지  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|  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사이버창구</a:t>
            </a:r>
            <a:endParaRPr lang="en-US" altLang="ko-KR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8" name="Rectangle 21"/>
          <p:cNvSpPr>
            <a:spLocks noChangeArrowheads="1"/>
          </p:cNvSpPr>
          <p:nvPr/>
        </p:nvSpPr>
        <p:spPr bwMode="auto">
          <a:xfrm>
            <a:off x="2743200" y="3385592"/>
            <a:ext cx="1276905" cy="457200"/>
          </a:xfrm>
          <a:prstGeom prst="rect">
            <a:avLst/>
          </a:prstGeom>
          <a:solidFill>
            <a:schemeClr val="bg1"/>
          </a:solidFill>
          <a:ln w="19050">
            <a:solidFill>
              <a:schemeClr val="bg1">
                <a:lumMod val="50000"/>
              </a:schemeClr>
            </a:solidFill>
            <a:miter lim="800000"/>
            <a:headEnd/>
            <a:tailEnd type="none" w="med" len="sm"/>
          </a:ln>
          <a:effectLst/>
        </p:spPr>
        <p:txBody>
          <a:bodyPr wrap="none" lIns="90000" tIns="46800" rIns="90000" bIns="46800" anchor="ctr"/>
          <a:lstStyle/>
          <a:p>
            <a:pPr algn="ctr"/>
            <a:r>
              <a:rPr lang="ko-KR" altLang="en-US" sz="1200">
                <a:latin typeface="나눔고딕" panose="020D0604000000000000" pitchFamily="50" charset="-127"/>
                <a:ea typeface="나눔고딕" panose="020D0604000000000000" pitchFamily="50" charset="-127"/>
              </a:rPr>
              <a:t>서비스상품</a:t>
            </a:r>
            <a:endParaRPr lang="en-US" altLang="ko-KR" sz="12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9" name="Rectangle 22"/>
          <p:cNvSpPr>
            <a:spLocks noChangeArrowheads="1"/>
          </p:cNvSpPr>
          <p:nvPr/>
        </p:nvSpPr>
        <p:spPr bwMode="auto">
          <a:xfrm>
            <a:off x="4080911" y="3385592"/>
            <a:ext cx="1276905" cy="457200"/>
          </a:xfrm>
          <a:prstGeom prst="rect">
            <a:avLst/>
          </a:prstGeom>
          <a:solidFill>
            <a:schemeClr val="bg1"/>
          </a:solidFill>
          <a:ln w="19050">
            <a:solidFill>
              <a:schemeClr val="bg1">
                <a:lumMod val="50000"/>
              </a:schemeClr>
            </a:solidFill>
            <a:miter lim="800000"/>
            <a:headEnd/>
            <a:tailEnd type="none" w="med" len="sm"/>
          </a:ln>
          <a:effectLst/>
        </p:spPr>
        <p:txBody>
          <a:bodyPr wrap="none" lIns="90000" tIns="46800" rIns="90000" bIns="46800" anchor="ctr"/>
          <a:lstStyle/>
          <a:p>
            <a:pPr algn="ctr"/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내 상품 선택</a:t>
            </a:r>
            <a:endParaRPr lang="en-US" altLang="ko-KR" sz="12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0" name="Rectangle 23"/>
          <p:cNvSpPr>
            <a:spLocks noChangeArrowheads="1"/>
          </p:cNvSpPr>
          <p:nvPr/>
        </p:nvSpPr>
        <p:spPr bwMode="auto">
          <a:xfrm>
            <a:off x="5418622" y="3385592"/>
            <a:ext cx="1276905" cy="457200"/>
          </a:xfrm>
          <a:prstGeom prst="rect">
            <a:avLst/>
          </a:prstGeom>
          <a:solidFill>
            <a:schemeClr val="bg1"/>
          </a:solidFill>
          <a:ln w="19050">
            <a:solidFill>
              <a:schemeClr val="bg1">
                <a:lumMod val="50000"/>
              </a:schemeClr>
            </a:solidFill>
            <a:miter lim="800000"/>
            <a:headEnd/>
            <a:tailEnd type="none" w="med" len="sm"/>
          </a:ln>
          <a:effectLst/>
        </p:spPr>
        <p:txBody>
          <a:bodyPr wrap="none" lIns="90000" tIns="46800" rIns="90000" bIns="46800" anchor="ctr"/>
          <a:lstStyle/>
          <a:p>
            <a:pPr algn="ctr"/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설계</a:t>
            </a:r>
            <a:endParaRPr lang="en-US" altLang="ko-KR" sz="12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1" name="Rectangle 24"/>
          <p:cNvSpPr>
            <a:spLocks noChangeArrowheads="1"/>
          </p:cNvSpPr>
          <p:nvPr/>
        </p:nvSpPr>
        <p:spPr bwMode="auto">
          <a:xfrm>
            <a:off x="6756331" y="3385592"/>
            <a:ext cx="1276905" cy="457200"/>
          </a:xfrm>
          <a:prstGeom prst="rect">
            <a:avLst/>
          </a:prstGeom>
          <a:solidFill>
            <a:schemeClr val="bg1"/>
          </a:solidFill>
          <a:ln w="19050">
            <a:solidFill>
              <a:schemeClr val="bg1">
                <a:lumMod val="50000"/>
              </a:schemeClr>
            </a:solidFill>
            <a:miter lim="800000"/>
            <a:headEnd/>
            <a:tailEnd type="none" w="med" len="sm"/>
          </a:ln>
          <a:effectLst/>
        </p:spPr>
        <p:txBody>
          <a:bodyPr wrap="none" lIns="90000" tIns="46800" rIns="90000" bIns="46800" anchor="ctr"/>
          <a:lstStyle/>
          <a:p>
            <a:pPr algn="ctr"/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사이트</a:t>
            </a:r>
            <a:endParaRPr lang="en-US" altLang="ko-KR" sz="12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이용하기</a:t>
            </a:r>
            <a:endParaRPr lang="en-US" altLang="ko-KR" sz="12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1" name="Rectangle 24"/>
          <p:cNvSpPr>
            <a:spLocks noChangeArrowheads="1"/>
          </p:cNvSpPr>
          <p:nvPr/>
        </p:nvSpPr>
        <p:spPr bwMode="auto">
          <a:xfrm>
            <a:off x="8095695" y="3385592"/>
            <a:ext cx="1276905" cy="457200"/>
          </a:xfrm>
          <a:prstGeom prst="rect">
            <a:avLst/>
          </a:prstGeom>
          <a:solidFill>
            <a:schemeClr val="bg1"/>
          </a:solidFill>
          <a:ln w="19050">
            <a:solidFill>
              <a:schemeClr val="bg1">
                <a:lumMod val="50000"/>
              </a:schemeClr>
            </a:solidFill>
            <a:miter lim="800000"/>
            <a:headEnd/>
            <a:tailEnd type="none" w="med" len="sm"/>
          </a:ln>
          <a:effectLst/>
        </p:spPr>
        <p:txBody>
          <a:bodyPr wrap="none" lIns="90000" tIns="46800" rIns="90000" bIns="46800" anchor="ctr"/>
          <a:lstStyle/>
          <a:p>
            <a:pPr algn="ctr"/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고객센터</a:t>
            </a:r>
            <a:endParaRPr lang="en-US" altLang="ko-KR" sz="12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4" name="Text Box 6"/>
          <p:cNvSpPr txBox="1">
            <a:spLocks noChangeArrowheads="1"/>
          </p:cNvSpPr>
          <p:nvPr/>
        </p:nvSpPr>
        <p:spPr bwMode="auto">
          <a:xfrm>
            <a:off x="2819400" y="4462907"/>
            <a:ext cx="1917576" cy="3407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chemeClr val="tx1"/>
                </a:solidFill>
                <a:miter lim="800000"/>
                <a:headEnd/>
                <a:tailEnd type="none" w="med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000" tIns="46800" rIns="90000" bIns="46800">
            <a:spAutoFit/>
          </a:bodyPr>
          <a:lstStyle/>
          <a:p>
            <a:pPr>
              <a:spcBef>
                <a:spcPct val="50000"/>
              </a:spcBef>
            </a:pPr>
            <a:r>
              <a:rPr lang="en" altLang="ko-KR" sz="1600" b="1">
                <a:latin typeface="나눔고딕" panose="020D0604000000000000" pitchFamily="50" charset="-127"/>
                <a:ea typeface="나눔고딕" panose="020D0604000000000000" pitchFamily="50" charset="-127"/>
              </a:rPr>
              <a:t>XXX</a:t>
            </a:r>
            <a:r>
              <a:rPr lang="ko-KR" altLang="en-US" sz="1600" b="1">
                <a:latin typeface="나눔고딕" panose="020D0604000000000000" pitchFamily="50" charset="-127"/>
                <a:ea typeface="나눔고딕" panose="020D0604000000000000" pitchFamily="50" charset="-127"/>
              </a:rPr>
              <a:t>서비스</a:t>
            </a:r>
            <a:r>
              <a:rPr lang="en-US" altLang="ko-KR" sz="1600" b="1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On-line</a:t>
            </a:r>
          </a:p>
        </p:txBody>
      </p:sp>
      <p:sp>
        <p:nvSpPr>
          <p:cNvPr id="65" name="Text Box 7"/>
          <p:cNvSpPr txBox="1">
            <a:spLocks noChangeArrowheads="1"/>
          </p:cNvSpPr>
          <p:nvPr/>
        </p:nvSpPr>
        <p:spPr bwMode="auto">
          <a:xfrm>
            <a:off x="5257800" y="4462907"/>
            <a:ext cx="4114800" cy="2330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chemeClr val="tx1"/>
                </a:solidFill>
                <a:miter lim="800000"/>
                <a:headEnd/>
                <a:tailEnd type="none" w="med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000" tIns="46800" rIns="90000" bIns="4680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Login  |  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이벤트  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|  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뉴스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공지  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|  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사이버창구</a:t>
            </a:r>
            <a:endParaRPr lang="en-US" altLang="ko-KR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6" name="Rectangle 21"/>
          <p:cNvSpPr>
            <a:spLocks noChangeArrowheads="1"/>
          </p:cNvSpPr>
          <p:nvPr/>
        </p:nvSpPr>
        <p:spPr bwMode="auto">
          <a:xfrm>
            <a:off x="2743200" y="4887193"/>
            <a:ext cx="1276905" cy="457200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bg1">
                <a:lumMod val="50000"/>
              </a:schemeClr>
            </a:solidFill>
            <a:miter lim="800000"/>
            <a:headEnd/>
            <a:tailEnd type="none" w="med" len="sm"/>
          </a:ln>
          <a:effectLst/>
        </p:spPr>
        <p:txBody>
          <a:bodyPr wrap="none" lIns="90000" tIns="46800" rIns="90000" bIns="46800" anchor="ctr"/>
          <a:lstStyle/>
          <a:p>
            <a:pPr algn="ctr"/>
            <a:r>
              <a:rPr lang="ko-KR" altLang="en-US" sz="1200">
                <a:latin typeface="나눔고딕" panose="020D0604000000000000" pitchFamily="50" charset="-127"/>
                <a:ea typeface="나눔고딕" panose="020D0604000000000000" pitchFamily="50" charset="-127"/>
              </a:rPr>
              <a:t>서비스상품</a:t>
            </a:r>
            <a:endParaRPr lang="en-US" altLang="ko-KR" sz="12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7" name="Rectangle 22"/>
          <p:cNvSpPr>
            <a:spLocks noChangeArrowheads="1"/>
          </p:cNvSpPr>
          <p:nvPr/>
        </p:nvSpPr>
        <p:spPr bwMode="auto">
          <a:xfrm>
            <a:off x="4080911" y="4887193"/>
            <a:ext cx="1276905" cy="457200"/>
          </a:xfrm>
          <a:prstGeom prst="rect">
            <a:avLst/>
          </a:prstGeom>
          <a:solidFill>
            <a:schemeClr val="bg1"/>
          </a:solidFill>
          <a:ln w="19050">
            <a:solidFill>
              <a:schemeClr val="bg1">
                <a:lumMod val="50000"/>
              </a:schemeClr>
            </a:solidFill>
            <a:miter lim="800000"/>
            <a:headEnd/>
            <a:tailEnd type="none" w="med" len="sm"/>
          </a:ln>
          <a:effectLst/>
        </p:spPr>
        <p:txBody>
          <a:bodyPr wrap="none" lIns="90000" tIns="46800" rIns="90000" bIns="46800" anchor="ctr"/>
          <a:lstStyle/>
          <a:p>
            <a:pPr algn="ctr"/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내 상품 선택</a:t>
            </a:r>
            <a:endParaRPr lang="en-US" altLang="ko-KR" sz="12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8" name="Rectangle 23"/>
          <p:cNvSpPr>
            <a:spLocks noChangeArrowheads="1"/>
          </p:cNvSpPr>
          <p:nvPr/>
        </p:nvSpPr>
        <p:spPr bwMode="auto">
          <a:xfrm>
            <a:off x="5418622" y="4887193"/>
            <a:ext cx="1276905" cy="457200"/>
          </a:xfrm>
          <a:prstGeom prst="rect">
            <a:avLst/>
          </a:prstGeom>
          <a:solidFill>
            <a:schemeClr val="bg1"/>
          </a:solidFill>
          <a:ln w="19050">
            <a:solidFill>
              <a:schemeClr val="bg1">
                <a:lumMod val="50000"/>
              </a:schemeClr>
            </a:solidFill>
            <a:miter lim="800000"/>
            <a:headEnd/>
            <a:tailEnd type="none" w="med" len="sm"/>
          </a:ln>
          <a:effectLst/>
        </p:spPr>
        <p:txBody>
          <a:bodyPr wrap="none" lIns="90000" tIns="46800" rIns="90000" bIns="46800" anchor="ctr"/>
          <a:lstStyle/>
          <a:p>
            <a:pPr algn="ctr"/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설계</a:t>
            </a:r>
            <a:endParaRPr lang="en-US" altLang="ko-KR" sz="12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9" name="Rectangle 24"/>
          <p:cNvSpPr>
            <a:spLocks noChangeArrowheads="1"/>
          </p:cNvSpPr>
          <p:nvPr/>
        </p:nvSpPr>
        <p:spPr bwMode="auto">
          <a:xfrm>
            <a:off x="6756331" y="4887193"/>
            <a:ext cx="1276905" cy="457200"/>
          </a:xfrm>
          <a:prstGeom prst="rect">
            <a:avLst/>
          </a:prstGeom>
          <a:solidFill>
            <a:schemeClr val="bg1"/>
          </a:solidFill>
          <a:ln w="19050">
            <a:solidFill>
              <a:schemeClr val="bg1">
                <a:lumMod val="50000"/>
              </a:schemeClr>
            </a:solidFill>
            <a:miter lim="800000"/>
            <a:headEnd/>
            <a:tailEnd type="none" w="med" len="sm"/>
          </a:ln>
          <a:effectLst/>
        </p:spPr>
        <p:txBody>
          <a:bodyPr wrap="none" lIns="90000" tIns="46800" rIns="90000" bIns="46800" anchor="ctr"/>
          <a:lstStyle/>
          <a:p>
            <a:pPr algn="ctr"/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사이트</a:t>
            </a:r>
            <a:endParaRPr lang="en-US" altLang="ko-KR" sz="12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이용하기</a:t>
            </a:r>
            <a:endParaRPr lang="en-US" altLang="ko-KR" sz="12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0" name="Rectangle 24"/>
          <p:cNvSpPr>
            <a:spLocks noChangeArrowheads="1"/>
          </p:cNvSpPr>
          <p:nvPr/>
        </p:nvSpPr>
        <p:spPr bwMode="auto">
          <a:xfrm>
            <a:off x="8095695" y="4887193"/>
            <a:ext cx="1276905" cy="457200"/>
          </a:xfrm>
          <a:prstGeom prst="rect">
            <a:avLst/>
          </a:prstGeom>
          <a:solidFill>
            <a:schemeClr val="bg1"/>
          </a:solidFill>
          <a:ln w="19050">
            <a:solidFill>
              <a:schemeClr val="bg1">
                <a:lumMod val="50000"/>
              </a:schemeClr>
            </a:solidFill>
            <a:miter lim="800000"/>
            <a:headEnd/>
            <a:tailEnd type="none" w="med" len="sm"/>
          </a:ln>
          <a:effectLst/>
        </p:spPr>
        <p:txBody>
          <a:bodyPr wrap="none" lIns="90000" tIns="46800" rIns="90000" bIns="46800" anchor="ctr"/>
          <a:lstStyle/>
          <a:p>
            <a:pPr algn="ctr"/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고객센터</a:t>
            </a:r>
            <a:endParaRPr lang="en-US" altLang="ko-KR" sz="12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1" name="Rectangle 21"/>
          <p:cNvSpPr>
            <a:spLocks noChangeArrowheads="1"/>
          </p:cNvSpPr>
          <p:nvPr/>
        </p:nvSpPr>
        <p:spPr bwMode="auto">
          <a:xfrm>
            <a:off x="2743200" y="5420072"/>
            <a:ext cx="6629400" cy="1249288"/>
          </a:xfrm>
          <a:prstGeom prst="rect">
            <a:avLst/>
          </a:prstGeom>
          <a:solidFill>
            <a:schemeClr val="bg1"/>
          </a:solidFill>
          <a:ln w="19050">
            <a:solidFill>
              <a:schemeClr val="bg1">
                <a:lumMod val="50000"/>
              </a:schemeClr>
            </a:solidFill>
            <a:miter lim="800000"/>
            <a:headEnd/>
            <a:tailEnd type="none" w="med" len="sm"/>
          </a:ln>
          <a:effectLst/>
        </p:spPr>
        <p:txBody>
          <a:bodyPr wrap="none" lIns="90000" tIns="46800" rIns="90000" bIns="46800" anchor="ctr"/>
          <a:lstStyle/>
          <a:p>
            <a:pPr algn="ctr"/>
            <a:endParaRPr lang="en-US" altLang="ko-KR" sz="12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2" name="Rectangle 21"/>
          <p:cNvSpPr>
            <a:spLocks noChangeArrowheads="1"/>
          </p:cNvSpPr>
          <p:nvPr/>
        </p:nvSpPr>
        <p:spPr bwMode="auto">
          <a:xfrm>
            <a:off x="2797680" y="5479779"/>
            <a:ext cx="1578169" cy="111757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  <a:miter lim="800000"/>
            <a:headEnd/>
            <a:tailEnd type="none" w="med" len="sm"/>
          </a:ln>
          <a:effectLst/>
        </p:spPr>
        <p:txBody>
          <a:bodyPr wrap="none" lIns="90000" tIns="46800" rIns="90000" bIns="46800" anchor="ctr"/>
          <a:lstStyle/>
          <a:p>
            <a:pPr algn="ctr"/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상품</a:t>
            </a:r>
            <a:endParaRPr lang="en-US" altLang="ko-KR" sz="12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Banner</a:t>
            </a:r>
          </a:p>
        </p:txBody>
      </p:sp>
      <p:sp>
        <p:nvSpPr>
          <p:cNvPr id="73" name="Rectangle 21"/>
          <p:cNvSpPr>
            <a:spLocks noChangeArrowheads="1"/>
          </p:cNvSpPr>
          <p:nvPr/>
        </p:nvSpPr>
        <p:spPr bwMode="auto">
          <a:xfrm>
            <a:off x="4455790" y="5479779"/>
            <a:ext cx="1578169" cy="111757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  <a:miter lim="800000"/>
            <a:headEnd/>
            <a:tailEnd type="none" w="med" len="sm"/>
          </a:ln>
          <a:effectLst/>
        </p:spPr>
        <p:txBody>
          <a:bodyPr wrap="none" lIns="90000" tIns="46800" rIns="90000" bIns="46800" anchor="ctr"/>
          <a:lstStyle/>
          <a:p>
            <a:pPr algn="ctr"/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상품</a:t>
            </a:r>
            <a:endParaRPr lang="en-US" altLang="ko-KR" sz="12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Banner</a:t>
            </a:r>
          </a:p>
        </p:txBody>
      </p:sp>
      <p:sp>
        <p:nvSpPr>
          <p:cNvPr id="74" name="Rectangle 21"/>
          <p:cNvSpPr>
            <a:spLocks noChangeArrowheads="1"/>
          </p:cNvSpPr>
          <p:nvPr/>
        </p:nvSpPr>
        <p:spPr bwMode="auto">
          <a:xfrm>
            <a:off x="6091595" y="5479779"/>
            <a:ext cx="1578169" cy="111757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  <a:miter lim="800000"/>
            <a:headEnd/>
            <a:tailEnd type="none" w="med" len="sm"/>
          </a:ln>
          <a:effectLst/>
        </p:spPr>
        <p:txBody>
          <a:bodyPr wrap="none" lIns="90000" tIns="46800" rIns="90000" bIns="46800" anchor="ctr"/>
          <a:lstStyle/>
          <a:p>
            <a:pPr algn="ctr"/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상품</a:t>
            </a:r>
            <a:endParaRPr lang="en-US" altLang="ko-KR" sz="12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Banner</a:t>
            </a:r>
          </a:p>
        </p:txBody>
      </p:sp>
      <p:sp>
        <p:nvSpPr>
          <p:cNvPr id="75" name="Rectangle 21"/>
          <p:cNvSpPr>
            <a:spLocks noChangeArrowheads="1"/>
          </p:cNvSpPr>
          <p:nvPr/>
        </p:nvSpPr>
        <p:spPr bwMode="auto">
          <a:xfrm>
            <a:off x="7729733" y="5479779"/>
            <a:ext cx="1578169" cy="111757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  <a:miter lim="800000"/>
            <a:headEnd/>
            <a:tailEnd type="none" w="med" len="sm"/>
          </a:ln>
          <a:effectLst/>
        </p:spPr>
        <p:txBody>
          <a:bodyPr wrap="none" lIns="90000" tIns="46800" rIns="90000" bIns="46800" anchor="ctr"/>
          <a:lstStyle/>
          <a:p>
            <a:pPr algn="ctr"/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상품</a:t>
            </a:r>
            <a:endParaRPr lang="en-US" altLang="ko-KR" sz="12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Banner</a:t>
            </a:r>
          </a:p>
        </p:txBody>
      </p:sp>
    </p:spTree>
    <p:extLst>
      <p:ext uri="{BB962C8B-B14F-4D97-AF65-F5344CB8AC3E}">
        <p14:creationId xmlns:p14="http://schemas.microsoft.com/office/powerpoint/2010/main" val="3622852496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44017" y="91339"/>
            <a:ext cx="7401271" cy="385333"/>
          </a:xfrm>
          <a:prstGeom prst="rect">
            <a:avLst/>
          </a:prstGeom>
          <a:noFill/>
        </p:spPr>
        <p:txBody>
          <a:bodyPr wrap="square" lIns="0" tIns="53643" rIns="0" bIns="53643" rtlCol="0">
            <a:spAutoFit/>
          </a:bodyPr>
          <a:lstStyle/>
          <a:p>
            <a:r>
              <a:rPr kumimoji="1" lang="en-US" altLang="ko-KR" b="1" kern="0" dirty="0">
                <a:latin typeface="나눔고딕" panose="020D0604000000000000" pitchFamily="50" charset="-127"/>
                <a:ea typeface="나눔고딕" panose="020D0604000000000000" pitchFamily="50" charset="-127"/>
                <a:cs typeface="산돌고딕 M"/>
              </a:rPr>
              <a:t>User Interface Design</a:t>
            </a:r>
            <a:endParaRPr kumimoji="1" lang="ko-KR" altLang="en-US" b="1" kern="0" dirty="0">
              <a:latin typeface="나눔고딕" panose="020D0604000000000000" pitchFamily="50" charset="-127"/>
              <a:ea typeface="나눔고딕" panose="020D0604000000000000" pitchFamily="50" charset="-127"/>
              <a:cs typeface="산돌고딕 M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44017" y="683985"/>
            <a:ext cx="96335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Navigation System</a:t>
            </a:r>
          </a:p>
        </p:txBody>
      </p:sp>
      <p:sp>
        <p:nvSpPr>
          <p:cNvPr id="32" name="직사각형 31"/>
          <p:cNvSpPr/>
          <p:nvPr/>
        </p:nvSpPr>
        <p:spPr>
          <a:xfrm>
            <a:off x="272480" y="1196752"/>
            <a:ext cx="4824536" cy="36004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ko-KR" sz="14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Grid System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0002" y="1742619"/>
            <a:ext cx="725520" cy="246221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Main page</a:t>
            </a:r>
            <a:endParaRPr lang="ko-KR" altLang="en-US" sz="1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880992" y="1742619"/>
            <a:ext cx="957955" cy="246221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Contents page</a:t>
            </a:r>
            <a:endParaRPr lang="ko-KR" altLang="en-US" sz="1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B62E8D85-A796-345B-701E-6694E7A9A4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724" y="1990244"/>
            <a:ext cx="4013200" cy="4343400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54C88261-C14E-7498-77EC-C109EFC8EA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1655" y="1990244"/>
            <a:ext cx="4013200" cy="434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507502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44017" y="91339"/>
            <a:ext cx="7401271" cy="385333"/>
          </a:xfrm>
          <a:prstGeom prst="rect">
            <a:avLst/>
          </a:prstGeom>
          <a:noFill/>
        </p:spPr>
        <p:txBody>
          <a:bodyPr wrap="square" lIns="0" tIns="53643" rIns="0" bIns="53643" rtlCol="0">
            <a:spAutoFit/>
          </a:bodyPr>
          <a:lstStyle/>
          <a:p>
            <a:r>
              <a:rPr kumimoji="1" lang="en-US" altLang="ko-KR" b="1" kern="0" dirty="0">
                <a:latin typeface="나눔고딕" panose="020D0604000000000000" pitchFamily="50" charset="-127"/>
                <a:ea typeface="나눔고딕" panose="020D0604000000000000" pitchFamily="50" charset="-127"/>
                <a:cs typeface="산돌고딕 M"/>
              </a:rPr>
              <a:t>User Interface Design</a:t>
            </a:r>
            <a:endParaRPr kumimoji="1" lang="ko-KR" altLang="en-US" b="1" kern="0" dirty="0">
              <a:latin typeface="나눔고딕" panose="020D0604000000000000" pitchFamily="50" charset="-127"/>
              <a:ea typeface="나눔고딕" panose="020D0604000000000000" pitchFamily="50" charset="-127"/>
              <a:cs typeface="산돌고딕 M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44017" y="683985"/>
            <a:ext cx="96335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Mobile Web page</a:t>
            </a:r>
          </a:p>
        </p:txBody>
      </p:sp>
      <p:sp>
        <p:nvSpPr>
          <p:cNvPr id="32" name="직사각형 31"/>
          <p:cNvSpPr/>
          <p:nvPr/>
        </p:nvSpPr>
        <p:spPr>
          <a:xfrm>
            <a:off x="272480" y="1196752"/>
            <a:ext cx="4824536" cy="36004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ko-KR" sz="14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Contents </a:t>
            </a:r>
            <a:r>
              <a:rPr lang="ko-KR" altLang="en-US" sz="14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구성</a:t>
            </a:r>
            <a:endParaRPr lang="en-US" altLang="ko-KR" sz="140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609600" y="1861592"/>
            <a:ext cx="1809750" cy="3151584"/>
          </a:xfrm>
          <a:prstGeom prst="rect">
            <a:avLst/>
          </a:prstGeom>
          <a:solidFill>
            <a:srgbClr val="EAEAE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6350">
                <a:solidFill>
                  <a:schemeClr val="tx1"/>
                </a:solidFill>
                <a:miter lim="800000"/>
                <a:headEnd/>
                <a:tailEnd type="none" w="med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t"/>
          <a:lstStyle>
            <a:lvl1pPr marL="111125" indent="-111125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>
              <a:lnSpc>
                <a:spcPct val="130000"/>
              </a:lnSpc>
              <a:buClr>
                <a:srgbClr val="CC3300"/>
              </a:buClr>
              <a:buFontTx/>
              <a:buChar char="•"/>
            </a:pPr>
            <a:endParaRPr kumimoji="0"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ct val="130000"/>
              </a:lnSpc>
              <a:buClr>
                <a:srgbClr val="CC3300"/>
              </a:buClr>
              <a:buFontTx/>
              <a:buChar char="•"/>
            </a:pPr>
            <a:r>
              <a:rPr kumimoji="0"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사용자가 충분히 예측 가능한 </a:t>
            </a:r>
            <a:r>
              <a:rPr kumimoji="0" lang="ko-KR" altLang="en-US" sz="1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메뉴명으로써</a:t>
            </a:r>
            <a:r>
              <a:rPr kumimoji="0"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kumimoji="0" lang="ko-KR" altLang="en-US" sz="1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접근성을</a:t>
            </a:r>
            <a:r>
              <a:rPr kumimoji="0"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올립니다</a:t>
            </a:r>
            <a:r>
              <a:rPr kumimoji="0"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  <a:p>
            <a:pPr>
              <a:lnSpc>
                <a:spcPct val="130000"/>
              </a:lnSpc>
              <a:buClr>
                <a:srgbClr val="CC3300"/>
              </a:buClr>
              <a:buFontTx/>
              <a:buChar char="•"/>
            </a:pPr>
            <a:endParaRPr kumimoji="0"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ct val="130000"/>
              </a:lnSpc>
              <a:buClr>
                <a:srgbClr val="CC3300"/>
              </a:buClr>
              <a:buFontTx/>
              <a:buChar char="•"/>
            </a:pPr>
            <a:r>
              <a:rPr kumimoji="0" lang="en" altLang="ko-KR" sz="1000">
                <a:latin typeface="나눔고딕" panose="020D0604000000000000" pitchFamily="50" charset="-127"/>
                <a:ea typeface="나눔고딕" panose="020D0604000000000000" pitchFamily="50" charset="-127"/>
              </a:rPr>
              <a:t>XXX</a:t>
            </a:r>
            <a:r>
              <a:rPr kumimoji="0" lang="ko-KR" altLang="en-US" sz="1000">
                <a:latin typeface="나눔고딕" panose="020D0604000000000000" pitchFamily="50" charset="-127"/>
                <a:ea typeface="나눔고딕" panose="020D0604000000000000" pitchFamily="50" charset="-127"/>
              </a:rPr>
              <a:t>서비스의 서비스 </a:t>
            </a:r>
            <a:r>
              <a:rPr kumimoji="0"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채널이 될 수 있는 컨텐츠를 </a:t>
            </a:r>
            <a:r>
              <a:rPr kumimoji="0"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‘</a:t>
            </a:r>
            <a:r>
              <a:rPr kumimoji="0"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사이트 이용하기</a:t>
            </a:r>
            <a:r>
              <a:rPr kumimoji="0"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＇</a:t>
            </a:r>
            <a:r>
              <a:rPr kumimoji="0"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에 적용합니다</a:t>
            </a:r>
            <a:r>
              <a:rPr kumimoji="0"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  <a:p>
            <a:pPr>
              <a:lnSpc>
                <a:spcPct val="130000"/>
              </a:lnSpc>
              <a:buClr>
                <a:srgbClr val="CC3300"/>
              </a:buClr>
              <a:buFontTx/>
              <a:buChar char="•"/>
            </a:pPr>
            <a:endParaRPr kumimoji="0"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ct val="130000"/>
              </a:lnSpc>
              <a:buClr>
                <a:srgbClr val="CC3300"/>
              </a:buClr>
              <a:buFontTx/>
              <a:buChar char="•"/>
            </a:pPr>
            <a:r>
              <a:rPr kumimoji="0"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상품선택을 용이하게 할 수 있는 </a:t>
            </a:r>
            <a:r>
              <a:rPr kumimoji="0"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‘</a:t>
            </a:r>
            <a:r>
              <a:rPr kumimoji="0"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내 상품 선택</a:t>
            </a:r>
            <a:r>
              <a:rPr kumimoji="0"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＇</a:t>
            </a:r>
            <a:r>
              <a:rPr kumimoji="0"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으로 보여주게 됩니다</a:t>
            </a:r>
            <a:r>
              <a:rPr kumimoji="0"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  <a:p>
            <a:pPr>
              <a:lnSpc>
                <a:spcPct val="130000"/>
              </a:lnSpc>
              <a:buClr>
                <a:srgbClr val="CC3300"/>
              </a:buClr>
              <a:buFontTx/>
              <a:buChar char="•"/>
            </a:pPr>
            <a:endParaRPr kumimoji="0"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ct val="130000"/>
              </a:lnSpc>
              <a:buClr>
                <a:srgbClr val="CC3300"/>
              </a:buClr>
              <a:buFontTx/>
              <a:buChar char="•"/>
            </a:pPr>
            <a:r>
              <a:rPr kumimoji="0"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고객문의 등을 받을 수 있는 고객센터를 두게 됩니다</a:t>
            </a:r>
            <a:r>
              <a:rPr kumimoji="0"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2743200" y="2447779"/>
            <a:ext cx="6629400" cy="381000"/>
          </a:xfrm>
          <a:prstGeom prst="rect">
            <a:avLst/>
          </a:prstGeom>
          <a:noFill/>
          <a:ln w="19050">
            <a:solidFill>
              <a:schemeClr val="bg1">
                <a:lumMod val="50000"/>
              </a:schemeClr>
            </a:solidFill>
            <a:miter lim="800000"/>
            <a:headEnd/>
            <a:tailEnd type="none" w="med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" name="Text Box 6"/>
          <p:cNvSpPr txBox="1">
            <a:spLocks noChangeArrowheads="1"/>
          </p:cNvSpPr>
          <p:nvPr/>
        </p:nvSpPr>
        <p:spPr bwMode="auto">
          <a:xfrm>
            <a:off x="2819400" y="2447779"/>
            <a:ext cx="1917576" cy="3407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chemeClr val="tx1"/>
                </a:solidFill>
                <a:miter lim="800000"/>
                <a:headEnd/>
                <a:tailEnd type="none" w="med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000" tIns="46800" rIns="90000" bIns="46800">
            <a:spAutoFit/>
          </a:bodyPr>
          <a:lstStyle/>
          <a:p>
            <a:pPr>
              <a:spcBef>
                <a:spcPct val="50000"/>
              </a:spcBef>
            </a:pPr>
            <a:r>
              <a:rPr lang="en" altLang="ko-KR" sz="1600" b="1">
                <a:latin typeface="나눔고딕" panose="020D0604000000000000" pitchFamily="50" charset="-127"/>
                <a:ea typeface="나눔고딕" panose="020D0604000000000000" pitchFamily="50" charset="-127"/>
              </a:rPr>
              <a:t>XXX</a:t>
            </a:r>
            <a:r>
              <a:rPr lang="ko-KR" altLang="en-US" sz="1600" b="1">
                <a:latin typeface="나눔고딕" panose="020D0604000000000000" pitchFamily="50" charset="-127"/>
                <a:ea typeface="나눔고딕" panose="020D0604000000000000" pitchFamily="50" charset="-127"/>
              </a:rPr>
              <a:t>서비스</a:t>
            </a:r>
            <a:r>
              <a:rPr lang="en-US" altLang="ko-KR" sz="1600" b="1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On-line</a:t>
            </a:r>
          </a:p>
        </p:txBody>
      </p:sp>
      <p:sp>
        <p:nvSpPr>
          <p:cNvPr id="10" name="Text Box 7"/>
          <p:cNvSpPr txBox="1">
            <a:spLocks noChangeArrowheads="1"/>
          </p:cNvSpPr>
          <p:nvPr/>
        </p:nvSpPr>
        <p:spPr bwMode="auto">
          <a:xfrm>
            <a:off x="5257800" y="2447779"/>
            <a:ext cx="4114800" cy="2330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chemeClr val="tx1"/>
                </a:solidFill>
                <a:miter lim="800000"/>
                <a:headEnd/>
                <a:tailEnd type="none" w="med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000" tIns="46800" rIns="90000" bIns="46800">
            <a:spAutoFit/>
          </a:bodyPr>
          <a:lstStyle/>
          <a:p>
            <a:pPr algn="r">
              <a:spcBef>
                <a:spcPct val="50000"/>
              </a:spcBef>
            </a:pP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이벤트  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|  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뉴스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공지  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|  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사이버창구</a:t>
            </a:r>
            <a:endParaRPr lang="en-US" altLang="ko-KR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1" name="Rectangle 13"/>
          <p:cNvSpPr>
            <a:spLocks noChangeArrowheads="1"/>
          </p:cNvSpPr>
          <p:nvPr/>
        </p:nvSpPr>
        <p:spPr bwMode="auto">
          <a:xfrm>
            <a:off x="2743200" y="3514579"/>
            <a:ext cx="6629400" cy="381000"/>
          </a:xfrm>
          <a:prstGeom prst="rect">
            <a:avLst/>
          </a:prstGeom>
          <a:noFill/>
          <a:ln w="19050">
            <a:solidFill>
              <a:schemeClr val="bg1">
                <a:lumMod val="50000"/>
              </a:schemeClr>
            </a:solidFill>
            <a:miter lim="800000"/>
            <a:headEnd/>
            <a:tailEnd type="none" w="med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13" name="AutoShape 36"/>
          <p:cNvCxnSpPr>
            <a:cxnSpLocks noChangeShapeType="1"/>
            <a:stCxn id="8" idx="1"/>
            <a:endCxn id="11" idx="1"/>
          </p:cNvCxnSpPr>
          <p:nvPr/>
        </p:nvCxnSpPr>
        <p:spPr bwMode="auto">
          <a:xfrm rot="10800000" flipH="1" flipV="1">
            <a:off x="2733675" y="2638279"/>
            <a:ext cx="1588" cy="1066800"/>
          </a:xfrm>
          <a:prstGeom prst="bentConnector3">
            <a:avLst>
              <a:gd name="adj1" fmla="val -13800000"/>
            </a:avLst>
          </a:prstGeom>
          <a:noFill/>
          <a:ln w="6350">
            <a:solidFill>
              <a:schemeClr val="tx1"/>
            </a:solidFill>
            <a:miter lim="800000"/>
            <a:headEnd/>
            <a:tailEnd type="triangle" w="med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5" name="Text Box 38"/>
          <p:cNvSpPr txBox="1">
            <a:spLocks noChangeArrowheads="1"/>
          </p:cNvSpPr>
          <p:nvPr/>
        </p:nvSpPr>
        <p:spPr bwMode="auto">
          <a:xfrm>
            <a:off x="2743200" y="3209779"/>
            <a:ext cx="3581400" cy="2791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chemeClr val="tx1"/>
                </a:solidFill>
                <a:miter lim="800000"/>
                <a:headEnd/>
                <a:tailEnd type="none" w="med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ko-KR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Global Navigation Bar 1</a:t>
            </a:r>
          </a:p>
        </p:txBody>
      </p:sp>
      <p:sp>
        <p:nvSpPr>
          <p:cNvPr id="17" name="Text Box 40"/>
          <p:cNvSpPr txBox="1">
            <a:spLocks noChangeArrowheads="1"/>
          </p:cNvSpPr>
          <p:nvPr/>
        </p:nvSpPr>
        <p:spPr bwMode="auto">
          <a:xfrm>
            <a:off x="2743200" y="2142979"/>
            <a:ext cx="3200400" cy="2791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chemeClr val="tx1"/>
                </a:solidFill>
                <a:miter lim="800000"/>
                <a:headEnd/>
                <a:tailEnd type="none" w="med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ko-KR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Global Navigation Bar A</a:t>
            </a:r>
          </a:p>
        </p:txBody>
      </p:sp>
      <p:sp>
        <p:nvSpPr>
          <p:cNvPr id="18" name="Text Box 6"/>
          <p:cNvSpPr txBox="1">
            <a:spLocks noChangeArrowheads="1"/>
          </p:cNvSpPr>
          <p:nvPr/>
        </p:nvSpPr>
        <p:spPr bwMode="auto">
          <a:xfrm>
            <a:off x="2819400" y="3534712"/>
            <a:ext cx="1917576" cy="3407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chemeClr val="tx1"/>
                </a:solidFill>
                <a:miter lim="800000"/>
                <a:headEnd/>
                <a:tailEnd type="none" w="med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000" tIns="46800" rIns="90000" bIns="46800">
            <a:spAutoFit/>
          </a:bodyPr>
          <a:lstStyle/>
          <a:p>
            <a:pPr>
              <a:spcBef>
                <a:spcPct val="50000"/>
              </a:spcBef>
            </a:pPr>
            <a:r>
              <a:rPr lang="en" altLang="ko-KR" sz="1600" b="1">
                <a:latin typeface="나눔고딕" panose="020D0604000000000000" pitchFamily="50" charset="-127"/>
                <a:ea typeface="나눔고딕" panose="020D0604000000000000" pitchFamily="50" charset="-127"/>
              </a:rPr>
              <a:t>XXX</a:t>
            </a:r>
            <a:r>
              <a:rPr lang="ko-KR" altLang="en-US" sz="1600" b="1">
                <a:latin typeface="나눔고딕" panose="020D0604000000000000" pitchFamily="50" charset="-127"/>
                <a:ea typeface="나눔고딕" panose="020D0604000000000000" pitchFamily="50" charset="-127"/>
              </a:rPr>
              <a:t>서비스</a:t>
            </a:r>
            <a:r>
              <a:rPr lang="en-US" altLang="ko-KR" sz="1600" b="1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On-line</a:t>
            </a:r>
          </a:p>
        </p:txBody>
      </p:sp>
      <p:sp>
        <p:nvSpPr>
          <p:cNvPr id="19" name="Text Box 7"/>
          <p:cNvSpPr txBox="1">
            <a:spLocks noChangeArrowheads="1"/>
          </p:cNvSpPr>
          <p:nvPr/>
        </p:nvSpPr>
        <p:spPr bwMode="auto">
          <a:xfrm>
            <a:off x="5257800" y="3534712"/>
            <a:ext cx="4114800" cy="2330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chemeClr val="tx1"/>
                </a:solidFill>
                <a:miter lim="800000"/>
                <a:headEnd/>
                <a:tailEnd type="none" w="med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000" tIns="46800" rIns="90000" bIns="4680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Login  |  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이벤트  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|  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뉴스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공지  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|  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사이버창구</a:t>
            </a:r>
            <a:endParaRPr lang="en-US" altLang="ko-KR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0" name="Rectangle 21"/>
          <p:cNvSpPr>
            <a:spLocks noChangeArrowheads="1"/>
          </p:cNvSpPr>
          <p:nvPr/>
        </p:nvSpPr>
        <p:spPr bwMode="auto">
          <a:xfrm>
            <a:off x="2743200" y="3971779"/>
            <a:ext cx="1601474" cy="457200"/>
          </a:xfrm>
          <a:prstGeom prst="rect">
            <a:avLst/>
          </a:prstGeom>
          <a:solidFill>
            <a:schemeClr val="bg1"/>
          </a:solidFill>
          <a:ln w="19050">
            <a:solidFill>
              <a:schemeClr val="bg1">
                <a:lumMod val="50000"/>
              </a:schemeClr>
            </a:solidFill>
            <a:miter lim="800000"/>
            <a:headEnd/>
            <a:tailEnd type="none" w="med" len="sm"/>
          </a:ln>
          <a:effectLst/>
        </p:spPr>
        <p:txBody>
          <a:bodyPr wrap="none" lIns="90000" tIns="46800" rIns="90000" bIns="46800" anchor="ctr"/>
          <a:lstStyle/>
          <a:p>
            <a:pPr algn="ctr"/>
            <a:r>
              <a:rPr lang="ko-KR" altLang="en-US" sz="1200">
                <a:latin typeface="나눔고딕" panose="020D0604000000000000" pitchFamily="50" charset="-127"/>
                <a:ea typeface="나눔고딕" panose="020D0604000000000000" pitchFamily="50" charset="-127"/>
              </a:rPr>
              <a:t>서비스상품</a:t>
            </a:r>
            <a:endParaRPr lang="en-US" altLang="ko-KR" sz="12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1" name="Rectangle 22"/>
          <p:cNvSpPr>
            <a:spLocks noChangeArrowheads="1"/>
          </p:cNvSpPr>
          <p:nvPr/>
        </p:nvSpPr>
        <p:spPr bwMode="auto">
          <a:xfrm>
            <a:off x="4420936" y="3971779"/>
            <a:ext cx="1601474" cy="457200"/>
          </a:xfrm>
          <a:prstGeom prst="rect">
            <a:avLst/>
          </a:prstGeom>
          <a:solidFill>
            <a:schemeClr val="bg1"/>
          </a:solidFill>
          <a:ln w="19050">
            <a:solidFill>
              <a:schemeClr val="bg1">
                <a:lumMod val="50000"/>
              </a:schemeClr>
            </a:solidFill>
            <a:miter lim="800000"/>
            <a:headEnd/>
            <a:tailEnd type="none" w="med" len="sm"/>
          </a:ln>
          <a:effectLst/>
        </p:spPr>
        <p:txBody>
          <a:bodyPr wrap="none" lIns="90000" tIns="46800" rIns="90000" bIns="46800" anchor="ctr"/>
          <a:lstStyle/>
          <a:p>
            <a:pPr algn="ctr"/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내 상품 선택</a:t>
            </a:r>
            <a:endParaRPr lang="en-US" altLang="ko-KR" sz="12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3" name="Rectangle 24"/>
          <p:cNvSpPr>
            <a:spLocks noChangeArrowheads="1"/>
          </p:cNvSpPr>
          <p:nvPr/>
        </p:nvSpPr>
        <p:spPr bwMode="auto">
          <a:xfrm>
            <a:off x="6091317" y="3971779"/>
            <a:ext cx="1601474" cy="457200"/>
          </a:xfrm>
          <a:prstGeom prst="rect">
            <a:avLst/>
          </a:prstGeom>
          <a:solidFill>
            <a:schemeClr val="bg1"/>
          </a:solidFill>
          <a:ln w="19050">
            <a:solidFill>
              <a:schemeClr val="bg1">
                <a:lumMod val="50000"/>
              </a:schemeClr>
            </a:solidFill>
            <a:miter lim="800000"/>
            <a:headEnd/>
            <a:tailEnd type="none" w="med" len="sm"/>
          </a:ln>
          <a:effectLst/>
        </p:spPr>
        <p:txBody>
          <a:bodyPr wrap="none" lIns="90000" tIns="46800" rIns="90000" bIns="46800" anchor="ctr"/>
          <a:lstStyle/>
          <a:p>
            <a:pPr algn="ctr"/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사이트</a:t>
            </a:r>
            <a:endParaRPr lang="en-US" altLang="ko-KR" sz="12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이용하기</a:t>
            </a:r>
            <a:endParaRPr lang="en-US" altLang="ko-KR" sz="12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4" name="Rectangle 24"/>
          <p:cNvSpPr>
            <a:spLocks noChangeArrowheads="1"/>
          </p:cNvSpPr>
          <p:nvPr/>
        </p:nvSpPr>
        <p:spPr bwMode="auto">
          <a:xfrm>
            <a:off x="7771126" y="3971779"/>
            <a:ext cx="1601474" cy="457200"/>
          </a:xfrm>
          <a:prstGeom prst="rect">
            <a:avLst/>
          </a:prstGeom>
          <a:solidFill>
            <a:schemeClr val="bg1"/>
          </a:solidFill>
          <a:ln w="19050">
            <a:solidFill>
              <a:schemeClr val="bg1">
                <a:lumMod val="50000"/>
              </a:schemeClr>
            </a:solidFill>
            <a:miter lim="800000"/>
            <a:headEnd/>
            <a:tailEnd type="none" w="med" len="sm"/>
          </a:ln>
          <a:effectLst/>
        </p:spPr>
        <p:txBody>
          <a:bodyPr wrap="none" lIns="90000" tIns="46800" rIns="90000" bIns="46800" anchor="ctr"/>
          <a:lstStyle/>
          <a:p>
            <a:pPr algn="ctr"/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고객센터</a:t>
            </a:r>
            <a:endParaRPr lang="en-US" altLang="ko-KR" sz="12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19416803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44017" y="91339"/>
            <a:ext cx="7401271" cy="385333"/>
          </a:xfrm>
          <a:prstGeom prst="rect">
            <a:avLst/>
          </a:prstGeom>
          <a:noFill/>
        </p:spPr>
        <p:txBody>
          <a:bodyPr wrap="square" lIns="0" tIns="53643" rIns="0" bIns="53643" rtlCol="0">
            <a:spAutoFit/>
          </a:bodyPr>
          <a:lstStyle/>
          <a:p>
            <a:r>
              <a:rPr kumimoji="1" lang="en-US" altLang="ko-KR" b="1" kern="0" dirty="0">
                <a:latin typeface="나눔고딕" panose="020D0604000000000000" pitchFamily="50" charset="-127"/>
                <a:ea typeface="나눔고딕" panose="020D0604000000000000" pitchFamily="50" charset="-127"/>
                <a:cs typeface="산돌고딕 M"/>
              </a:rPr>
              <a:t>User Interface Design</a:t>
            </a:r>
            <a:endParaRPr kumimoji="1" lang="ko-KR" altLang="en-US" b="1" kern="0" dirty="0">
              <a:latin typeface="나눔고딕" panose="020D0604000000000000" pitchFamily="50" charset="-127"/>
              <a:ea typeface="나눔고딕" panose="020D0604000000000000" pitchFamily="50" charset="-127"/>
              <a:cs typeface="산돌고딕 M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44017" y="683985"/>
            <a:ext cx="96335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One source Multi Device (N-Screen)</a:t>
            </a:r>
          </a:p>
        </p:txBody>
      </p:sp>
      <p:sp>
        <p:nvSpPr>
          <p:cNvPr id="32" name="직사각형 31"/>
          <p:cNvSpPr/>
          <p:nvPr/>
        </p:nvSpPr>
        <p:spPr>
          <a:xfrm>
            <a:off x="272480" y="1196752"/>
            <a:ext cx="4824536" cy="36004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ko-KR" sz="14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N-Screen </a:t>
            </a:r>
            <a:r>
              <a:rPr lang="ko-KR" altLang="en-US" sz="14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구성</a:t>
            </a:r>
            <a:endParaRPr lang="en-US" altLang="ko-KR" sz="140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" name="오른쪽 화살표 2"/>
          <p:cNvSpPr/>
          <p:nvPr/>
        </p:nvSpPr>
        <p:spPr>
          <a:xfrm>
            <a:off x="4376936" y="3140968"/>
            <a:ext cx="360040" cy="1152128"/>
          </a:xfrm>
          <a:prstGeom prst="rightArrow">
            <a:avLst/>
          </a:prstGeom>
          <a:solidFill>
            <a:schemeClr val="bg1">
              <a:lumMod val="8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0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pSp>
        <p:nvGrpSpPr>
          <p:cNvPr id="38" name="그룹 37"/>
          <p:cNvGrpSpPr/>
          <p:nvPr/>
        </p:nvGrpSpPr>
        <p:grpSpPr>
          <a:xfrm>
            <a:off x="6903628" y="2636912"/>
            <a:ext cx="2753450" cy="2304256"/>
            <a:chOff x="6393160" y="2420889"/>
            <a:chExt cx="4232973" cy="3542412"/>
          </a:xfrm>
        </p:grpSpPr>
        <p:pic>
          <p:nvPicPr>
            <p:cNvPr id="39" name="Picture 3" descr="C:\Users\korea-mac\Desktop\201104041343799_QKNMBDIF.jpg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393160" y="2420889"/>
              <a:ext cx="2963647" cy="3024336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0" name="Picture 4" descr="C:\Users\korea-mac\Desktop\114BCD324CB714C2575EE1.png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087481" y="3933057"/>
              <a:ext cx="2538652" cy="2030244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41" name="TextBox 26"/>
          <p:cNvSpPr txBox="1"/>
          <p:nvPr/>
        </p:nvSpPr>
        <p:spPr>
          <a:xfrm>
            <a:off x="7502587" y="1997830"/>
            <a:ext cx="15171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7800" indent="-177800" algn="ctr">
              <a:spcBef>
                <a:spcPts val="600"/>
              </a:spcBef>
            </a:pPr>
            <a:r>
              <a:rPr lang="ko-KR" altLang="en-US" sz="1400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모바일</a:t>
            </a:r>
            <a:r>
              <a:rPr lang="ko-KR" altLang="en-US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해상도</a:t>
            </a:r>
            <a:endParaRPr lang="en-US" altLang="ko-KR" sz="14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6915855" y="4941168"/>
            <a:ext cx="2861681" cy="10618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해상도 기준</a:t>
            </a:r>
            <a:endParaRPr lang="en-US" altLang="ko-KR" sz="105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en-US" altLang="ko-KR" sz="10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 </a:t>
            </a:r>
            <a:r>
              <a:rPr lang="en-US" altLang="ko-KR" sz="105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iOS</a:t>
            </a:r>
            <a:r>
              <a:rPr lang="en-US" altLang="ko-KR" sz="10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4G</a:t>
            </a:r>
          </a:p>
          <a:p>
            <a:r>
              <a:rPr lang="en-US" altLang="ko-KR" sz="10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 </a:t>
            </a:r>
            <a:r>
              <a:rPr lang="en-US" altLang="ko-KR" sz="105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iPAD</a:t>
            </a:r>
            <a:r>
              <a:rPr lang="en-US" altLang="ko-KR" sz="10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2</a:t>
            </a:r>
          </a:p>
          <a:p>
            <a:r>
              <a:rPr lang="ko-KR" altLang="en-US" sz="10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 </a:t>
            </a:r>
            <a:r>
              <a:rPr lang="ko-KR" altLang="en-US" sz="105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갤럭시</a:t>
            </a:r>
            <a:r>
              <a:rPr lang="ko-KR" altLang="en-US" sz="10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10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r>
          </a:p>
          <a:p>
            <a:endParaRPr lang="en-US" altLang="ko-KR" sz="105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ko-KR" altLang="en-US" sz="10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각</a:t>
            </a:r>
            <a:r>
              <a:rPr lang="en-US" altLang="ko-KR" sz="10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0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해상도에 맞는 최적의 기준이 있어야 합니다</a:t>
            </a:r>
            <a:r>
              <a:rPr lang="en-US" altLang="ko-KR" sz="10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</p:txBody>
      </p:sp>
      <p:sp>
        <p:nvSpPr>
          <p:cNvPr id="43" name="TextBox 26"/>
          <p:cNvSpPr txBox="1"/>
          <p:nvPr/>
        </p:nvSpPr>
        <p:spPr>
          <a:xfrm>
            <a:off x="272480" y="6120298"/>
            <a:ext cx="5171058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7800" indent="-177800">
              <a:spcBef>
                <a:spcPts val="600"/>
              </a:spcBef>
              <a:buFont typeface="Wingdings" pitchFamily="2" charset="2"/>
              <a:buChar char="§"/>
            </a:pP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CSS 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및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HTML5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를 사용하여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U.I / U.X 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구조를 최적화하여 해상도에 따라 맞춤형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View 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제공</a:t>
            </a:r>
            <a:endParaRPr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77800" indent="-177800">
              <a:spcBef>
                <a:spcPts val="600"/>
              </a:spcBef>
              <a:buFont typeface="Wingdings" pitchFamily="2" charset="2"/>
              <a:buChar char="§"/>
            </a:pP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IE, 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크롬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사파리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파이어폭스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오페라 등 다양한 웹 브라우저에서 </a:t>
            </a:r>
            <a:r>
              <a:rPr lang="ko-KR" altLang="en-US" sz="1000">
                <a:latin typeface="나눔고딕" panose="020D0604000000000000" pitchFamily="50" charset="-127"/>
                <a:ea typeface="나눔고딕" panose="020D0604000000000000" pitchFamily="50" charset="-127"/>
              </a:rPr>
              <a:t>동등한 서비스 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수준 지원</a:t>
            </a:r>
            <a:endParaRPr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F821CF07-FB73-D377-7A9A-8E6E48F3A2A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8922" y="1621497"/>
            <a:ext cx="4038600" cy="4381500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702C7C7D-499E-737C-80C4-DAC4E892B96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06152" y="1964397"/>
            <a:ext cx="1943100" cy="403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8096869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44017" y="91339"/>
            <a:ext cx="7401271" cy="385333"/>
          </a:xfrm>
          <a:prstGeom prst="rect">
            <a:avLst/>
          </a:prstGeom>
          <a:noFill/>
        </p:spPr>
        <p:txBody>
          <a:bodyPr wrap="square" lIns="0" tIns="53643" rIns="0" bIns="53643" rtlCol="0">
            <a:spAutoFit/>
          </a:bodyPr>
          <a:lstStyle/>
          <a:p>
            <a:r>
              <a:rPr kumimoji="1" lang="en-US" altLang="ko-KR" b="1" kern="0" dirty="0">
                <a:latin typeface="나눔고딕" panose="020D0604000000000000" pitchFamily="50" charset="-127"/>
                <a:ea typeface="나눔고딕" panose="020D0604000000000000" pitchFamily="50" charset="-127"/>
                <a:cs typeface="산돌고딕 M"/>
              </a:rPr>
              <a:t>User Interface Design</a:t>
            </a:r>
            <a:endParaRPr kumimoji="1" lang="ko-KR" altLang="en-US" b="1" kern="0" dirty="0">
              <a:latin typeface="나눔고딕" panose="020D0604000000000000" pitchFamily="50" charset="-127"/>
              <a:ea typeface="나눔고딕" panose="020D0604000000000000" pitchFamily="50" charset="-127"/>
              <a:cs typeface="산돌고딕 M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44017" y="683985"/>
            <a:ext cx="96335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Layer System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8504" y="991762"/>
            <a:ext cx="9289032" cy="307777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본격적인 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U.I. 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환경은 다음과 같은 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Layer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들의 조합에 의해서 체계적으로 조직됩니다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17" name="Picture 5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9914" y="2032943"/>
            <a:ext cx="7132638" cy="2917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8" name="Rectangle 6"/>
          <p:cNvSpPr>
            <a:spLocks noChangeArrowheads="1"/>
          </p:cNvSpPr>
          <p:nvPr/>
        </p:nvSpPr>
        <p:spPr bwMode="auto">
          <a:xfrm>
            <a:off x="1269756" y="4509723"/>
            <a:ext cx="1270000" cy="23301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63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pPr algn="r"/>
            <a:r>
              <a:rPr lang="en-US" altLang="ko-KR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Page</a:t>
            </a:r>
          </a:p>
        </p:txBody>
      </p:sp>
      <p:grpSp>
        <p:nvGrpSpPr>
          <p:cNvPr id="19" name="Group 7"/>
          <p:cNvGrpSpPr>
            <a:grpSpLocks/>
          </p:cNvGrpSpPr>
          <p:nvPr/>
        </p:nvGrpSpPr>
        <p:grpSpPr bwMode="auto">
          <a:xfrm>
            <a:off x="2955314" y="5080943"/>
            <a:ext cx="2209800" cy="947738"/>
            <a:chOff x="2112" y="3408"/>
            <a:chExt cx="1392" cy="597"/>
          </a:xfrm>
        </p:grpSpPr>
        <p:sp>
          <p:nvSpPr>
            <p:cNvPr id="20" name="AutoShape 8"/>
            <p:cNvSpPr>
              <a:spLocks noChangeArrowheads="1"/>
            </p:cNvSpPr>
            <p:nvPr/>
          </p:nvSpPr>
          <p:spPr bwMode="auto">
            <a:xfrm flipH="1">
              <a:off x="2112" y="3408"/>
              <a:ext cx="1392" cy="597"/>
            </a:xfrm>
            <a:prstGeom prst="parallelogram">
              <a:avLst>
                <a:gd name="adj" fmla="val 78057"/>
              </a:avLst>
            </a:prstGeom>
            <a:solidFill>
              <a:srgbClr val="FFFFDD"/>
            </a:solidFill>
            <a:ln w="6350">
              <a:solidFill>
                <a:schemeClr val="tx1"/>
              </a:solidFill>
              <a:miter lim="800000"/>
              <a:headEnd/>
              <a:tailEnd type="none" w="med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1" name="AutoShape 9"/>
            <p:cNvSpPr>
              <a:spLocks noChangeArrowheads="1"/>
            </p:cNvSpPr>
            <p:nvPr/>
          </p:nvSpPr>
          <p:spPr bwMode="auto">
            <a:xfrm flipH="1">
              <a:off x="2387" y="3429"/>
              <a:ext cx="288" cy="124"/>
            </a:xfrm>
            <a:prstGeom prst="parallelogram">
              <a:avLst>
                <a:gd name="adj" fmla="val 77753"/>
              </a:avLst>
            </a:prstGeom>
            <a:noFill/>
            <a:ln w="6350">
              <a:solidFill>
                <a:schemeClr val="tx1"/>
              </a:solidFill>
              <a:miter lim="800000"/>
              <a:headEnd/>
              <a:tailEnd type="none" w="med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3" name="AutoShape 10"/>
            <p:cNvSpPr>
              <a:spLocks noChangeArrowheads="1"/>
            </p:cNvSpPr>
            <p:nvPr/>
          </p:nvSpPr>
          <p:spPr bwMode="auto">
            <a:xfrm flipH="1">
              <a:off x="2352" y="3648"/>
              <a:ext cx="288" cy="124"/>
            </a:xfrm>
            <a:prstGeom prst="parallelogram">
              <a:avLst>
                <a:gd name="adj" fmla="val 77753"/>
              </a:avLst>
            </a:prstGeom>
            <a:noFill/>
            <a:ln w="6350">
              <a:solidFill>
                <a:schemeClr val="tx1"/>
              </a:solidFill>
              <a:miter lim="800000"/>
              <a:headEnd/>
              <a:tailEnd type="none" w="med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4" name="AutoShape 11"/>
            <p:cNvSpPr>
              <a:spLocks noChangeArrowheads="1"/>
            </p:cNvSpPr>
            <p:nvPr/>
          </p:nvSpPr>
          <p:spPr bwMode="auto">
            <a:xfrm flipH="1">
              <a:off x="2640" y="3648"/>
              <a:ext cx="288" cy="124"/>
            </a:xfrm>
            <a:prstGeom prst="parallelogram">
              <a:avLst>
                <a:gd name="adj" fmla="val 77753"/>
              </a:avLst>
            </a:prstGeom>
            <a:noFill/>
            <a:ln w="6350">
              <a:solidFill>
                <a:schemeClr val="tx1"/>
              </a:solidFill>
              <a:miter lim="800000"/>
              <a:headEnd/>
              <a:tailEnd type="none" w="med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35" name="AutoShape 12"/>
            <p:cNvSpPr>
              <a:spLocks noChangeArrowheads="1"/>
            </p:cNvSpPr>
            <p:nvPr/>
          </p:nvSpPr>
          <p:spPr bwMode="auto">
            <a:xfrm flipH="1">
              <a:off x="2880" y="3648"/>
              <a:ext cx="288" cy="124"/>
            </a:xfrm>
            <a:prstGeom prst="parallelogram">
              <a:avLst>
                <a:gd name="adj" fmla="val 77753"/>
              </a:avLst>
            </a:prstGeom>
            <a:noFill/>
            <a:ln w="6350">
              <a:solidFill>
                <a:schemeClr val="tx1"/>
              </a:solidFill>
              <a:miter lim="800000"/>
              <a:headEnd/>
              <a:tailEnd type="none" w="med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36" name="AutoShape 13"/>
            <p:cNvSpPr>
              <a:spLocks noChangeArrowheads="1"/>
            </p:cNvSpPr>
            <p:nvPr/>
          </p:nvSpPr>
          <p:spPr bwMode="auto">
            <a:xfrm flipH="1">
              <a:off x="2880" y="3860"/>
              <a:ext cx="288" cy="124"/>
            </a:xfrm>
            <a:prstGeom prst="parallelogram">
              <a:avLst>
                <a:gd name="adj" fmla="val 77753"/>
              </a:avLst>
            </a:prstGeom>
            <a:noFill/>
            <a:ln w="6350">
              <a:solidFill>
                <a:schemeClr val="tx1"/>
              </a:solidFill>
              <a:miter lim="800000"/>
              <a:headEnd/>
              <a:tailEnd type="none" w="med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37" name="AutoShape 14"/>
            <p:cNvSpPr>
              <a:spLocks noChangeArrowheads="1"/>
            </p:cNvSpPr>
            <p:nvPr/>
          </p:nvSpPr>
          <p:spPr bwMode="auto">
            <a:xfrm flipH="1">
              <a:off x="3168" y="3860"/>
              <a:ext cx="288" cy="124"/>
            </a:xfrm>
            <a:prstGeom prst="parallelogram">
              <a:avLst>
                <a:gd name="adj" fmla="val 77753"/>
              </a:avLst>
            </a:prstGeom>
            <a:noFill/>
            <a:ln w="6350">
              <a:solidFill>
                <a:schemeClr val="tx1"/>
              </a:solidFill>
              <a:miter lim="800000"/>
              <a:headEnd/>
              <a:tailEnd type="none" w="med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38" name="Line 15"/>
            <p:cNvSpPr>
              <a:spLocks noChangeShapeType="1"/>
            </p:cNvSpPr>
            <p:nvPr/>
          </p:nvSpPr>
          <p:spPr bwMode="auto">
            <a:xfrm flipH="1" flipV="1">
              <a:off x="2400" y="3600"/>
              <a:ext cx="48" cy="48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 type="non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39" name="Line 16"/>
            <p:cNvSpPr>
              <a:spLocks noChangeShapeType="1"/>
            </p:cNvSpPr>
            <p:nvPr/>
          </p:nvSpPr>
          <p:spPr bwMode="auto">
            <a:xfrm>
              <a:off x="2400" y="3600"/>
              <a:ext cx="528" cy="0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 type="non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0" name="Line 17"/>
            <p:cNvSpPr>
              <a:spLocks noChangeShapeType="1"/>
            </p:cNvSpPr>
            <p:nvPr/>
          </p:nvSpPr>
          <p:spPr bwMode="auto">
            <a:xfrm flipH="1" flipV="1">
              <a:off x="2544" y="3552"/>
              <a:ext cx="48" cy="48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 type="non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1" name="Line 18"/>
            <p:cNvSpPr>
              <a:spLocks noChangeShapeType="1"/>
            </p:cNvSpPr>
            <p:nvPr/>
          </p:nvSpPr>
          <p:spPr bwMode="auto">
            <a:xfrm flipH="1" flipV="1">
              <a:off x="2688" y="3600"/>
              <a:ext cx="48" cy="48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 type="non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2" name="Line 19"/>
            <p:cNvSpPr>
              <a:spLocks noChangeShapeType="1"/>
            </p:cNvSpPr>
            <p:nvPr/>
          </p:nvSpPr>
          <p:spPr bwMode="auto">
            <a:xfrm flipH="1" flipV="1">
              <a:off x="2928" y="3600"/>
              <a:ext cx="48" cy="48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 type="non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3" name="Line 20"/>
            <p:cNvSpPr>
              <a:spLocks noChangeShapeType="1"/>
            </p:cNvSpPr>
            <p:nvPr/>
          </p:nvSpPr>
          <p:spPr bwMode="auto">
            <a:xfrm flipH="1" flipV="1">
              <a:off x="2928" y="3812"/>
              <a:ext cx="48" cy="48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 type="non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4" name="Line 21"/>
            <p:cNvSpPr>
              <a:spLocks noChangeShapeType="1"/>
            </p:cNvSpPr>
            <p:nvPr/>
          </p:nvSpPr>
          <p:spPr bwMode="auto">
            <a:xfrm>
              <a:off x="2928" y="3812"/>
              <a:ext cx="288" cy="0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 type="non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5" name="Line 22"/>
            <p:cNvSpPr>
              <a:spLocks noChangeShapeType="1"/>
            </p:cNvSpPr>
            <p:nvPr/>
          </p:nvSpPr>
          <p:spPr bwMode="auto">
            <a:xfrm flipH="1" flipV="1">
              <a:off x="3216" y="3813"/>
              <a:ext cx="48" cy="48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 type="non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6" name="Line 23"/>
            <p:cNvSpPr>
              <a:spLocks noChangeShapeType="1"/>
            </p:cNvSpPr>
            <p:nvPr/>
          </p:nvSpPr>
          <p:spPr bwMode="auto">
            <a:xfrm flipH="1" flipV="1">
              <a:off x="3058" y="3772"/>
              <a:ext cx="48" cy="48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 type="non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7" name="AutoShape 24"/>
            <p:cNvSpPr>
              <a:spLocks noChangeArrowheads="1"/>
            </p:cNvSpPr>
            <p:nvPr/>
          </p:nvSpPr>
          <p:spPr bwMode="auto">
            <a:xfrm flipH="1">
              <a:off x="2448" y="3477"/>
              <a:ext cx="109" cy="47"/>
            </a:xfrm>
            <a:prstGeom prst="parallelogram">
              <a:avLst>
                <a:gd name="adj" fmla="val 77638"/>
              </a:avLst>
            </a:prstGeom>
            <a:solidFill>
              <a:srgbClr val="FFCE87"/>
            </a:solidFill>
            <a:ln w="6350">
              <a:solidFill>
                <a:schemeClr val="tx1"/>
              </a:solidFill>
              <a:miter lim="800000"/>
              <a:headEnd/>
              <a:tailEnd type="none" w="med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8" name="AutoShape 25"/>
            <p:cNvSpPr>
              <a:spLocks noChangeArrowheads="1"/>
            </p:cNvSpPr>
            <p:nvPr/>
          </p:nvSpPr>
          <p:spPr bwMode="auto">
            <a:xfrm flipH="1">
              <a:off x="2948" y="3703"/>
              <a:ext cx="109" cy="47"/>
            </a:xfrm>
            <a:prstGeom prst="parallelogram">
              <a:avLst>
                <a:gd name="adj" fmla="val 77638"/>
              </a:avLst>
            </a:prstGeom>
            <a:solidFill>
              <a:srgbClr val="FFCE87"/>
            </a:solidFill>
            <a:ln w="6350">
              <a:solidFill>
                <a:schemeClr val="tx1"/>
              </a:solidFill>
              <a:miter lim="800000"/>
              <a:headEnd/>
              <a:tailEnd type="none" w="med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9" name="AutoShape 26"/>
            <p:cNvSpPr>
              <a:spLocks noChangeArrowheads="1"/>
            </p:cNvSpPr>
            <p:nvPr/>
          </p:nvSpPr>
          <p:spPr bwMode="auto">
            <a:xfrm flipH="1">
              <a:off x="2996" y="3881"/>
              <a:ext cx="109" cy="47"/>
            </a:xfrm>
            <a:prstGeom prst="parallelogram">
              <a:avLst>
                <a:gd name="adj" fmla="val 77638"/>
              </a:avLst>
            </a:prstGeom>
            <a:solidFill>
              <a:srgbClr val="FFCE87"/>
            </a:solidFill>
            <a:ln w="6350">
              <a:solidFill>
                <a:schemeClr val="tx1"/>
              </a:solidFill>
              <a:miter lim="800000"/>
              <a:headEnd/>
              <a:tailEnd type="none" w="med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50" name="Arc 27"/>
            <p:cNvSpPr>
              <a:spLocks/>
            </p:cNvSpPr>
            <p:nvPr/>
          </p:nvSpPr>
          <p:spPr bwMode="auto">
            <a:xfrm rot="-900000">
              <a:off x="2564" y="3425"/>
              <a:ext cx="480" cy="309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32552"/>
                <a:gd name="T2" fmla="*/ 18618 w 21600"/>
                <a:gd name="T3" fmla="*/ 32552 h 32552"/>
                <a:gd name="T4" fmla="*/ 0 w 21600"/>
                <a:gd name="T5" fmla="*/ 21600 h 325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32552" fill="none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25451"/>
                    <a:pt x="20570" y="29232"/>
                    <a:pt x="18617" y="32551"/>
                  </a:cubicBezTo>
                </a:path>
                <a:path w="21600" h="32552" stroke="0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25451"/>
                    <a:pt x="20570" y="29232"/>
                    <a:pt x="18617" y="32551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12700">
              <a:solidFill>
                <a:schemeClr val="tx1"/>
              </a:solidFill>
              <a:prstDash val="sysDot"/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51" name="Arc 28"/>
            <p:cNvSpPr>
              <a:spLocks/>
            </p:cNvSpPr>
            <p:nvPr/>
          </p:nvSpPr>
          <p:spPr bwMode="auto">
            <a:xfrm rot="-900000">
              <a:off x="2734" y="3753"/>
              <a:ext cx="382" cy="187"/>
            </a:xfrm>
            <a:custGeom>
              <a:avLst/>
              <a:gdLst>
                <a:gd name="G0" fmla="+- 0 0 0"/>
                <a:gd name="G1" fmla="+- 13191 0 0"/>
                <a:gd name="G2" fmla="+- 21600 0 0"/>
                <a:gd name="T0" fmla="*/ 17104 w 21600"/>
                <a:gd name="T1" fmla="*/ 0 h 24143"/>
                <a:gd name="T2" fmla="*/ 18618 w 21600"/>
                <a:gd name="T3" fmla="*/ 24143 h 24143"/>
                <a:gd name="T4" fmla="*/ 0 w 21600"/>
                <a:gd name="T5" fmla="*/ 13191 h 241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4143" fill="none" extrusionOk="0">
                  <a:moveTo>
                    <a:pt x="17104" y="-1"/>
                  </a:moveTo>
                  <a:cubicBezTo>
                    <a:pt x="20019" y="3779"/>
                    <a:pt x="21600" y="8417"/>
                    <a:pt x="21600" y="13191"/>
                  </a:cubicBezTo>
                  <a:cubicBezTo>
                    <a:pt x="21600" y="17042"/>
                    <a:pt x="20570" y="20823"/>
                    <a:pt x="18617" y="24142"/>
                  </a:cubicBezTo>
                </a:path>
                <a:path w="21600" h="24143" stroke="0" extrusionOk="0">
                  <a:moveTo>
                    <a:pt x="17104" y="-1"/>
                  </a:moveTo>
                  <a:cubicBezTo>
                    <a:pt x="20019" y="3779"/>
                    <a:pt x="21600" y="8417"/>
                    <a:pt x="21600" y="13191"/>
                  </a:cubicBezTo>
                  <a:cubicBezTo>
                    <a:pt x="21600" y="17042"/>
                    <a:pt x="20570" y="20823"/>
                    <a:pt x="18617" y="24142"/>
                  </a:cubicBezTo>
                  <a:lnTo>
                    <a:pt x="0" y="13191"/>
                  </a:lnTo>
                  <a:close/>
                </a:path>
              </a:pathLst>
            </a:custGeom>
            <a:noFill/>
            <a:ln w="12700">
              <a:solidFill>
                <a:schemeClr val="tx1"/>
              </a:solidFill>
              <a:prstDash val="sysDot"/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sp>
        <p:nvSpPr>
          <p:cNvPr id="52" name="Rectangle 29"/>
          <p:cNvSpPr>
            <a:spLocks noChangeArrowheads="1"/>
          </p:cNvSpPr>
          <p:nvPr/>
        </p:nvSpPr>
        <p:spPr bwMode="auto">
          <a:xfrm>
            <a:off x="1583714" y="5656586"/>
            <a:ext cx="1270000" cy="23301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63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pPr algn="r"/>
            <a:r>
              <a:rPr lang="en-US" altLang="ko-KR" sz="900" b="1">
                <a:latin typeface="나눔고딕" panose="020D0604000000000000" pitchFamily="50" charset="-127"/>
                <a:ea typeface="나눔고딕" panose="020D0604000000000000" pitchFamily="50" charset="-127"/>
              </a:rPr>
              <a:t>Arrangement Layer</a:t>
            </a:r>
          </a:p>
        </p:txBody>
      </p:sp>
      <p:sp>
        <p:nvSpPr>
          <p:cNvPr id="53" name="Line 30"/>
          <p:cNvSpPr>
            <a:spLocks noChangeShapeType="1"/>
          </p:cNvSpPr>
          <p:nvPr/>
        </p:nvSpPr>
        <p:spPr bwMode="auto">
          <a:xfrm>
            <a:off x="2890227" y="5766743"/>
            <a:ext cx="750887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 type="none" w="med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4" name="Line 31"/>
          <p:cNvSpPr>
            <a:spLocks noChangeShapeType="1"/>
          </p:cNvSpPr>
          <p:nvPr/>
        </p:nvSpPr>
        <p:spPr bwMode="auto">
          <a:xfrm flipH="1" flipV="1">
            <a:off x="3409339" y="4312593"/>
            <a:ext cx="765175" cy="1149350"/>
          </a:xfrm>
          <a:prstGeom prst="line">
            <a:avLst/>
          </a:prstGeom>
          <a:noFill/>
          <a:ln w="6350">
            <a:solidFill>
              <a:schemeClr val="accent2"/>
            </a:solidFill>
            <a:round/>
            <a:headEnd/>
            <a:tailEnd type="none" w="med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5" name="Line 32"/>
          <p:cNvSpPr>
            <a:spLocks noChangeShapeType="1"/>
          </p:cNvSpPr>
          <p:nvPr/>
        </p:nvSpPr>
        <p:spPr bwMode="auto">
          <a:xfrm flipV="1">
            <a:off x="4626952" y="4958706"/>
            <a:ext cx="266700" cy="692150"/>
          </a:xfrm>
          <a:prstGeom prst="line">
            <a:avLst/>
          </a:prstGeom>
          <a:noFill/>
          <a:ln w="6350">
            <a:solidFill>
              <a:schemeClr val="accent2"/>
            </a:solidFill>
            <a:round/>
            <a:headEnd/>
            <a:tailEnd type="none" w="med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04984074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13"/>
          <p:cNvSpPr/>
          <p:nvPr/>
        </p:nvSpPr>
        <p:spPr>
          <a:xfrm>
            <a:off x="6105128" y="4797152"/>
            <a:ext cx="3600400" cy="144016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/>
          <p:cNvSpPr/>
          <p:nvPr/>
        </p:nvSpPr>
        <p:spPr>
          <a:xfrm>
            <a:off x="0" y="620688"/>
            <a:ext cx="4232920" cy="86409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479425" y="784373"/>
            <a:ext cx="2661604" cy="6177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chemeClr val="tx1"/>
                </a:solidFill>
                <a:miter lim="800000"/>
                <a:headEnd/>
                <a:tailEnd type="none" w="med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r>
              <a:rPr lang="en-US" altLang="ko-KR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User Experience Modeling</a:t>
            </a:r>
            <a:br>
              <a:rPr lang="en-US" altLang="ko-KR" b="1" dirty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Table of Contents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2432720" y="1988840"/>
            <a:ext cx="2587568" cy="35932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Approach</a:t>
            </a:r>
          </a:p>
          <a:p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en-US" altLang="ko-KR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User Experience modeling</a:t>
            </a:r>
          </a:p>
          <a:p>
            <a:r>
              <a:rPr lang="en-US" altLang="ko-KR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    Abstract Key Question</a:t>
            </a:r>
          </a:p>
          <a:p>
            <a:r>
              <a:rPr lang="ko-KR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    고객분석</a:t>
            </a:r>
          </a:p>
          <a:p>
            <a:r>
              <a:rPr lang="en-US" altLang="ko-KR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    Mega Trend</a:t>
            </a:r>
          </a:p>
          <a:p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en-US" altLang="ko-KR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Information architecture</a:t>
            </a:r>
          </a:p>
          <a:p>
            <a:r>
              <a:rPr lang="en-US" altLang="ko-KR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    Approach</a:t>
            </a:r>
          </a:p>
          <a:p>
            <a:r>
              <a:rPr lang="ko-KR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    고객 </a:t>
            </a:r>
            <a:r>
              <a:rPr lang="en-US" altLang="ko-KR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Need </a:t>
            </a:r>
            <a:r>
              <a:rPr lang="ko-KR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분석</a:t>
            </a:r>
          </a:p>
          <a:p>
            <a:r>
              <a:rPr lang="en-US" altLang="ko-KR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    Case Study</a:t>
            </a:r>
          </a:p>
          <a:p>
            <a:r>
              <a:rPr lang="en-US" altLang="ko-KR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    Service Grouping</a:t>
            </a:r>
          </a:p>
          <a:p>
            <a:r>
              <a:rPr lang="en-US" altLang="ko-KR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    Information Architecture Mapping</a:t>
            </a:r>
          </a:p>
          <a:p>
            <a:r>
              <a:rPr lang="ko-KR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    사이트 유형별 분류</a:t>
            </a:r>
          </a:p>
          <a:p>
            <a:r>
              <a:rPr lang="ko-KR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    페이지 타입 정의</a:t>
            </a:r>
          </a:p>
          <a:p>
            <a:r>
              <a:rPr lang="ko-KR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    핵심 특성 및 혜택</a:t>
            </a:r>
          </a:p>
          <a:p>
            <a:r>
              <a:rPr lang="en-US" altLang="ko-KR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    Service Framework</a:t>
            </a:r>
          </a:p>
          <a:p>
            <a:r>
              <a:rPr lang="ko-KR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    사업 서비스 수직 다각화</a:t>
            </a:r>
          </a:p>
          <a:p>
            <a:r>
              <a:rPr lang="ko-KR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    미래 사업으로의 서비스 수평 다각화</a:t>
            </a:r>
          </a:p>
          <a:p>
            <a:r>
              <a:rPr lang="ko-KR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    </a:t>
            </a:r>
            <a:r>
              <a:rPr lang="en-US" altLang="ko-KR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Device </a:t>
            </a:r>
            <a:r>
              <a:rPr lang="ko-KR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기반 모바일 서비스 </a:t>
            </a:r>
            <a:r>
              <a:rPr lang="en-US" altLang="ko-KR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Pool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04661" y="1988840"/>
            <a:ext cx="2900153" cy="41319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User Interface Design</a:t>
            </a:r>
          </a:p>
          <a:p>
            <a:r>
              <a:rPr lang="en-US" altLang="ko-KR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    Approach</a:t>
            </a:r>
          </a:p>
          <a:p>
            <a:r>
              <a:rPr lang="en-US" altLang="ko-KR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        Approach – framework (</a:t>
            </a:r>
            <a:r>
              <a:rPr lang="ko-KR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정의</a:t>
            </a:r>
            <a:r>
              <a:rPr lang="en-US" altLang="ko-KR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  <a:p>
            <a:r>
              <a:rPr lang="en-US" altLang="ko-KR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        Approach – framework (</a:t>
            </a:r>
            <a:r>
              <a:rPr lang="ko-KR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정보분석</a:t>
            </a:r>
            <a:r>
              <a:rPr lang="en-US" altLang="ko-KR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  <a:p>
            <a:r>
              <a:rPr lang="en-US" altLang="ko-KR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        Approach – framework (</a:t>
            </a:r>
            <a:r>
              <a:rPr lang="ko-KR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분석</a:t>
            </a:r>
            <a:r>
              <a:rPr lang="en-US" altLang="ko-KR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판단</a:t>
            </a:r>
            <a:r>
              <a:rPr lang="en-US" altLang="ko-KR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  <a:p>
            <a:r>
              <a:rPr lang="en-US" altLang="ko-KR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        Approach – framework (</a:t>
            </a:r>
            <a:r>
              <a:rPr lang="ko-KR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세부기획</a:t>
            </a:r>
            <a:r>
              <a:rPr lang="en-US" altLang="ko-KR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  <a:p>
            <a:r>
              <a:rPr lang="en-US" altLang="ko-KR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        Approach – framework (</a:t>
            </a:r>
            <a:r>
              <a:rPr lang="ko-KR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확인단계</a:t>
            </a:r>
            <a:r>
              <a:rPr lang="en-US" altLang="ko-KR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  <a:p>
            <a:r>
              <a:rPr lang="en-US" altLang="ko-KR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    U.I / U.X Design Process</a:t>
            </a:r>
          </a:p>
          <a:p>
            <a:r>
              <a:rPr lang="en-US" altLang="ko-KR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        Dynamic modeling</a:t>
            </a:r>
          </a:p>
          <a:p>
            <a:r>
              <a:rPr lang="en-US" altLang="ko-KR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    U.I / U.X Design Case</a:t>
            </a:r>
          </a:p>
          <a:p>
            <a:r>
              <a:rPr lang="en-US" altLang="ko-KR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    Case Study</a:t>
            </a:r>
          </a:p>
          <a:p>
            <a:r>
              <a:rPr lang="en-US" altLang="ko-KR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    Navigation System</a:t>
            </a:r>
          </a:p>
          <a:p>
            <a:r>
              <a:rPr lang="en-US" altLang="ko-KR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    </a:t>
            </a:r>
          </a:p>
          <a:p>
            <a:r>
              <a:rPr lang="en-US" altLang="ko-KR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    Mobile Web page</a:t>
            </a:r>
          </a:p>
          <a:p>
            <a:r>
              <a:rPr lang="en-US" altLang="ko-KR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    One source Multi Device (N-Screen)</a:t>
            </a:r>
          </a:p>
          <a:p>
            <a:r>
              <a:rPr lang="en-US" altLang="ko-KR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    Layer System</a:t>
            </a:r>
          </a:p>
          <a:p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en-US" altLang="ko-KR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Multi channel integration</a:t>
            </a:r>
          </a:p>
          <a:p>
            <a:r>
              <a:rPr lang="en-US" altLang="ko-KR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    Approach</a:t>
            </a:r>
          </a:p>
          <a:p>
            <a:r>
              <a:rPr lang="en-US" altLang="ko-KR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    Customer Scenario Modeling</a:t>
            </a:r>
          </a:p>
          <a:p>
            <a:r>
              <a:rPr lang="en-US" altLang="ko-KR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    Customer’s Need</a:t>
            </a:r>
          </a:p>
          <a:p>
            <a:r>
              <a:rPr lang="en-US" altLang="ko-KR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    Multi Channel Strategy (</a:t>
            </a:r>
            <a:r>
              <a:rPr lang="ko-KR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멀티채널의 구성</a:t>
            </a:r>
            <a:r>
              <a:rPr lang="en-US" altLang="ko-KR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  <a:p>
            <a:r>
              <a:rPr lang="ko-KR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    </a:t>
            </a:r>
            <a:r>
              <a:rPr lang="en-US" altLang="ko-KR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Integration (</a:t>
            </a:r>
            <a:r>
              <a:rPr lang="ko-KR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통합 서비스의 제공</a:t>
            </a:r>
            <a:r>
              <a:rPr lang="en-US" altLang="ko-KR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  <a:p>
            <a:r>
              <a:rPr lang="ko-KR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    </a:t>
            </a:r>
            <a:r>
              <a:rPr lang="en-US" altLang="ko-KR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Separation (</a:t>
            </a:r>
            <a:r>
              <a:rPr lang="ko-KR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각 </a:t>
            </a:r>
            <a:r>
              <a:rPr lang="ko-KR" altLang="en-US" sz="105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채널별</a:t>
            </a:r>
            <a:r>
              <a:rPr lang="ko-KR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서비스 분리</a:t>
            </a:r>
            <a:r>
              <a:rPr lang="en-US" altLang="ko-KR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692308070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44017" y="91339"/>
            <a:ext cx="7401271" cy="385333"/>
          </a:xfrm>
          <a:prstGeom prst="rect">
            <a:avLst/>
          </a:prstGeom>
          <a:noFill/>
        </p:spPr>
        <p:txBody>
          <a:bodyPr wrap="square" lIns="0" tIns="53643" rIns="0" bIns="53643" rtlCol="0">
            <a:spAutoFit/>
          </a:bodyPr>
          <a:lstStyle/>
          <a:p>
            <a:r>
              <a:rPr kumimoji="1" lang="en-US" altLang="ko-KR" b="1" kern="0" dirty="0">
                <a:latin typeface="나눔고딕" panose="020D0604000000000000" pitchFamily="50" charset="-127"/>
                <a:ea typeface="나눔고딕" panose="020D0604000000000000" pitchFamily="50" charset="-127"/>
                <a:cs typeface="산돌고딕 M"/>
              </a:rPr>
              <a:t>Multi channel integration</a:t>
            </a:r>
            <a:endParaRPr kumimoji="1" lang="ko-KR" altLang="en-US" b="1" kern="0" dirty="0">
              <a:latin typeface="나눔고딕" panose="020D0604000000000000" pitchFamily="50" charset="-127"/>
              <a:ea typeface="나눔고딕" panose="020D0604000000000000" pitchFamily="50" charset="-127"/>
              <a:cs typeface="산돌고딕 M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44017" y="683985"/>
            <a:ext cx="96335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Approach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8504" y="991762"/>
            <a:ext cx="9289032" cy="307777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다양한 채널의 역할 분담과 리소스 공유를 통한 통합으로 강력한 시너지 효과를 창출합니다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3" name="Text Box 2"/>
          <p:cNvSpPr txBox="1">
            <a:spLocks noChangeArrowheads="1"/>
          </p:cNvSpPr>
          <p:nvPr/>
        </p:nvSpPr>
        <p:spPr bwMode="auto">
          <a:xfrm>
            <a:off x="2423120" y="4982496"/>
            <a:ext cx="1524000" cy="214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lnSpc>
                <a:spcPct val="80000"/>
              </a:lnSpc>
            </a:pPr>
            <a:r>
              <a:rPr lang="ko-KR" altLang="en-US" sz="1000" b="1">
                <a:latin typeface="나눔고딕" panose="020D0604000000000000" pitchFamily="50" charset="-127"/>
                <a:ea typeface="나눔고딕" panose="020D0604000000000000" pitchFamily="50" charset="-127"/>
              </a:rPr>
              <a:t>구조 정책</a:t>
            </a:r>
            <a:endParaRPr lang="en-US" altLang="ko-KR" sz="1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4" name="Text Box 3"/>
          <p:cNvSpPr txBox="1">
            <a:spLocks noChangeArrowheads="1"/>
          </p:cNvSpPr>
          <p:nvPr/>
        </p:nvSpPr>
        <p:spPr bwMode="auto">
          <a:xfrm>
            <a:off x="4727376" y="4982496"/>
            <a:ext cx="1600200" cy="214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80000"/>
              </a:lnSpc>
            </a:pPr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분리</a:t>
            </a:r>
            <a:endParaRPr lang="en-US" altLang="ko-KR" sz="1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6" name="Line 4"/>
          <p:cNvSpPr>
            <a:spLocks noChangeShapeType="1"/>
          </p:cNvSpPr>
          <p:nvPr/>
        </p:nvSpPr>
        <p:spPr bwMode="auto">
          <a:xfrm>
            <a:off x="3409528" y="4696746"/>
            <a:ext cx="1295400" cy="0"/>
          </a:xfrm>
          <a:prstGeom prst="line">
            <a:avLst/>
          </a:prstGeom>
          <a:noFill/>
          <a:ln w="6350">
            <a:solidFill>
              <a:srgbClr val="006699"/>
            </a:solidFill>
            <a:round/>
            <a:headEnd/>
            <a:tailEnd type="triangle" w="med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7" name="Text Box 5"/>
          <p:cNvSpPr txBox="1">
            <a:spLocks noChangeArrowheads="1"/>
          </p:cNvSpPr>
          <p:nvPr/>
        </p:nvSpPr>
        <p:spPr bwMode="auto">
          <a:xfrm>
            <a:off x="6228928" y="4982496"/>
            <a:ext cx="1676400" cy="2154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lnSpc>
                <a:spcPct val="80000"/>
              </a:lnSpc>
            </a:pPr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성공적인 고객 경험 창출</a:t>
            </a:r>
          </a:p>
        </p:txBody>
      </p:sp>
      <p:cxnSp>
        <p:nvCxnSpPr>
          <p:cNvPr id="58" name="AutoShape 6"/>
          <p:cNvCxnSpPr>
            <a:cxnSpLocks noChangeShapeType="1"/>
          </p:cNvCxnSpPr>
          <p:nvPr/>
        </p:nvCxnSpPr>
        <p:spPr bwMode="auto">
          <a:xfrm>
            <a:off x="5247853" y="4677696"/>
            <a:ext cx="1504950" cy="0"/>
          </a:xfrm>
          <a:prstGeom prst="straightConnector1">
            <a:avLst/>
          </a:prstGeom>
          <a:noFill/>
          <a:ln w="6350">
            <a:solidFill>
              <a:srgbClr val="FF5050"/>
            </a:solidFill>
            <a:round/>
            <a:headEnd/>
            <a:tailEnd type="triangle" w="med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9" name="AutoShape 7"/>
          <p:cNvSpPr>
            <a:spLocks noChangeArrowheads="1"/>
          </p:cNvSpPr>
          <p:nvPr/>
        </p:nvSpPr>
        <p:spPr bwMode="auto">
          <a:xfrm rot="5400000">
            <a:off x="2879303" y="3496842"/>
            <a:ext cx="761999" cy="770333"/>
          </a:xfrm>
          <a:prstGeom prst="rightArrow">
            <a:avLst>
              <a:gd name="adj1" fmla="val 47778"/>
              <a:gd name="adj2" fmla="val 56350"/>
            </a:avLst>
          </a:prstGeom>
          <a:gradFill rotWithShape="0">
            <a:gsLst>
              <a:gs pos="0">
                <a:srgbClr val="FFFFCC"/>
              </a:gs>
              <a:gs pos="100000">
                <a:srgbClr val="336699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63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000" tIns="46800" rIns="90000" bIns="46800" anchor="ctr">
            <a:spAutoFit/>
          </a:bodyPr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0" name="Text Box 8"/>
          <p:cNvSpPr txBox="1">
            <a:spLocks noChangeArrowheads="1"/>
          </p:cNvSpPr>
          <p:nvPr/>
        </p:nvSpPr>
        <p:spPr bwMode="auto">
          <a:xfrm>
            <a:off x="2576736" y="1705896"/>
            <a:ext cx="1630363" cy="2484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 algn="ctr"/>
            <a:r>
              <a:rPr lang="en-US" altLang="ko-KR" sz="1000" b="1">
                <a:latin typeface="나눔고딕" panose="020D0604000000000000" pitchFamily="50" charset="-127"/>
                <a:ea typeface="나눔고딕" panose="020D0604000000000000" pitchFamily="50" charset="-127"/>
              </a:rPr>
              <a:t>Multi Channel Strategy</a:t>
            </a:r>
          </a:p>
        </p:txBody>
      </p:sp>
      <p:sp>
        <p:nvSpPr>
          <p:cNvPr id="61" name="Rectangle 9"/>
          <p:cNvSpPr>
            <a:spLocks noChangeArrowheads="1"/>
          </p:cNvSpPr>
          <p:nvPr/>
        </p:nvSpPr>
        <p:spPr bwMode="auto">
          <a:xfrm>
            <a:off x="3028528" y="4525296"/>
            <a:ext cx="280988" cy="381000"/>
          </a:xfrm>
          <a:prstGeom prst="rect">
            <a:avLst/>
          </a:prstGeom>
          <a:gradFill rotWithShape="0">
            <a:gsLst>
              <a:gs pos="0">
                <a:srgbClr val="FF9900"/>
              </a:gs>
              <a:gs pos="100000">
                <a:srgbClr val="FF9900">
                  <a:gamma/>
                  <a:tint val="63922"/>
                  <a:invGamma/>
                </a:srgbClr>
              </a:gs>
            </a:gsLst>
            <a:lin ang="5400000" scaled="1"/>
          </a:gradFill>
          <a:ln w="6350">
            <a:miter lim="800000"/>
            <a:headEnd/>
            <a:tailEnd type="none" w="med" len="sm"/>
          </a:ln>
          <a:effectLst/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FF9900"/>
            </a:extrusion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flatTx/>
          </a:bodyPr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2" name="Rectangle 10"/>
          <p:cNvSpPr>
            <a:spLocks noChangeArrowheads="1"/>
          </p:cNvSpPr>
          <p:nvPr/>
        </p:nvSpPr>
        <p:spPr bwMode="auto">
          <a:xfrm>
            <a:off x="2805336" y="2467896"/>
            <a:ext cx="731838" cy="990600"/>
          </a:xfrm>
          <a:prstGeom prst="rect">
            <a:avLst/>
          </a:prstGeom>
          <a:gradFill rotWithShape="0">
            <a:gsLst>
              <a:gs pos="0">
                <a:srgbClr val="FFCC00"/>
              </a:gs>
              <a:gs pos="100000">
                <a:srgbClr val="FFCC00">
                  <a:gamma/>
                  <a:tint val="63922"/>
                  <a:invGamma/>
                </a:srgbClr>
              </a:gs>
            </a:gsLst>
            <a:lin ang="5400000" scaled="1"/>
          </a:gradFill>
          <a:ln w="6350">
            <a:miter lim="800000"/>
            <a:headEnd/>
            <a:tailEnd type="none" w="med" len="sm"/>
          </a:ln>
          <a:effectLst/>
          <a:scene3d>
            <a:camera prst="legacyObliqueTopRight"/>
            <a:lightRig rig="legacyFlat3" dir="b"/>
          </a:scene3d>
          <a:sp3d extrusionH="887400" prstMaterial="legacyMatte">
            <a:bevelT w="13500" h="13500" prst="angle"/>
            <a:bevelB w="13500" h="13500" prst="angle"/>
            <a:extrusionClr>
              <a:srgbClr val="FFCC00"/>
            </a:extrusion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flatTx/>
          </a:bodyPr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3" name="Rectangle 11"/>
          <p:cNvSpPr>
            <a:spLocks noChangeArrowheads="1"/>
          </p:cNvSpPr>
          <p:nvPr/>
        </p:nvSpPr>
        <p:spPr bwMode="auto">
          <a:xfrm>
            <a:off x="4781128" y="4525296"/>
            <a:ext cx="280988" cy="381000"/>
          </a:xfrm>
          <a:prstGeom prst="rect">
            <a:avLst/>
          </a:prstGeom>
          <a:gradFill rotWithShape="0">
            <a:gsLst>
              <a:gs pos="0">
                <a:srgbClr val="FF9900"/>
              </a:gs>
              <a:gs pos="100000">
                <a:srgbClr val="FF9900">
                  <a:gamma/>
                  <a:tint val="63922"/>
                  <a:invGamma/>
                </a:srgbClr>
              </a:gs>
            </a:gsLst>
            <a:lin ang="5400000" scaled="1"/>
          </a:gradFill>
          <a:ln w="6350">
            <a:miter lim="800000"/>
            <a:headEnd/>
            <a:tailEnd type="none" w="med" len="sm"/>
          </a:ln>
          <a:effectLst/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FF9900"/>
            </a:extrusion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flatTx/>
          </a:bodyPr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4" name="Rectangle 12"/>
          <p:cNvSpPr>
            <a:spLocks noChangeArrowheads="1"/>
          </p:cNvSpPr>
          <p:nvPr/>
        </p:nvSpPr>
        <p:spPr bwMode="auto">
          <a:xfrm>
            <a:off x="6838528" y="4525296"/>
            <a:ext cx="280988" cy="381000"/>
          </a:xfrm>
          <a:prstGeom prst="rect">
            <a:avLst/>
          </a:prstGeom>
          <a:gradFill rotWithShape="0">
            <a:gsLst>
              <a:gs pos="0">
                <a:srgbClr val="FF9900"/>
              </a:gs>
              <a:gs pos="100000">
                <a:srgbClr val="FF9900">
                  <a:gamma/>
                  <a:tint val="63922"/>
                  <a:invGamma/>
                </a:srgbClr>
              </a:gs>
            </a:gsLst>
            <a:lin ang="5400000" scaled="1"/>
          </a:gradFill>
          <a:ln w="6350">
            <a:miter lim="800000"/>
            <a:headEnd/>
            <a:tailEnd type="none" w="med" len="sm"/>
          </a:ln>
          <a:effectLst/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FF9900"/>
            </a:extrusion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flatTx/>
          </a:bodyPr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5" name="Text Box 13"/>
          <p:cNvSpPr txBox="1">
            <a:spLocks noChangeArrowheads="1"/>
          </p:cNvSpPr>
          <p:nvPr/>
        </p:nvSpPr>
        <p:spPr bwMode="auto">
          <a:xfrm>
            <a:off x="4727376" y="3839496"/>
            <a:ext cx="1600200" cy="214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80000"/>
              </a:lnSpc>
            </a:pPr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통합</a:t>
            </a:r>
            <a:endParaRPr lang="en-US" altLang="ko-KR" sz="1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6" name="Rectangle 14"/>
          <p:cNvSpPr>
            <a:spLocks noChangeArrowheads="1"/>
          </p:cNvSpPr>
          <p:nvPr/>
        </p:nvSpPr>
        <p:spPr bwMode="auto">
          <a:xfrm>
            <a:off x="4781128" y="3382296"/>
            <a:ext cx="280988" cy="381000"/>
          </a:xfrm>
          <a:prstGeom prst="rect">
            <a:avLst/>
          </a:prstGeom>
          <a:gradFill rotWithShape="0">
            <a:gsLst>
              <a:gs pos="0">
                <a:srgbClr val="FF9900"/>
              </a:gs>
              <a:gs pos="100000">
                <a:srgbClr val="FF9900">
                  <a:gamma/>
                  <a:tint val="63922"/>
                  <a:invGamma/>
                </a:srgbClr>
              </a:gs>
            </a:gsLst>
            <a:lin ang="5400000" scaled="1"/>
          </a:gradFill>
          <a:ln w="6350">
            <a:miter lim="800000"/>
            <a:headEnd/>
            <a:tailEnd type="none" w="med" len="sm"/>
          </a:ln>
          <a:effectLst/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FF9900"/>
            </a:extrusion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flatTx/>
          </a:bodyPr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7" name="Text Box 15"/>
          <p:cNvSpPr txBox="1">
            <a:spLocks noChangeArrowheads="1"/>
          </p:cNvSpPr>
          <p:nvPr/>
        </p:nvSpPr>
        <p:spPr bwMode="auto">
          <a:xfrm>
            <a:off x="4727376" y="5973096"/>
            <a:ext cx="1600200" cy="214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80000"/>
              </a:lnSpc>
            </a:pPr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사용자</a:t>
            </a:r>
            <a:endParaRPr lang="en-US" altLang="ko-KR" sz="1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8" name="Rectangle 16"/>
          <p:cNvSpPr>
            <a:spLocks noChangeArrowheads="1"/>
          </p:cNvSpPr>
          <p:nvPr/>
        </p:nvSpPr>
        <p:spPr bwMode="auto">
          <a:xfrm>
            <a:off x="4781128" y="5515896"/>
            <a:ext cx="280988" cy="381000"/>
          </a:xfrm>
          <a:prstGeom prst="rect">
            <a:avLst/>
          </a:prstGeom>
          <a:gradFill rotWithShape="0">
            <a:gsLst>
              <a:gs pos="0">
                <a:srgbClr val="FF9900"/>
              </a:gs>
              <a:gs pos="100000">
                <a:srgbClr val="FF9900">
                  <a:gamma/>
                  <a:tint val="63922"/>
                  <a:invGamma/>
                </a:srgbClr>
              </a:gs>
            </a:gsLst>
            <a:lin ang="5400000" scaled="1"/>
          </a:gradFill>
          <a:ln w="6350">
            <a:miter lim="800000"/>
            <a:headEnd/>
            <a:tailEnd type="none" w="med" len="sm"/>
          </a:ln>
          <a:effectLst/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FF9900"/>
            </a:extrusion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flatTx/>
          </a:bodyPr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9" name="Line 20"/>
          <p:cNvSpPr>
            <a:spLocks noChangeShapeType="1"/>
          </p:cNvSpPr>
          <p:nvPr/>
        </p:nvSpPr>
        <p:spPr bwMode="auto">
          <a:xfrm>
            <a:off x="4095328" y="3610896"/>
            <a:ext cx="609600" cy="0"/>
          </a:xfrm>
          <a:prstGeom prst="line">
            <a:avLst/>
          </a:prstGeom>
          <a:noFill/>
          <a:ln w="6350">
            <a:solidFill>
              <a:srgbClr val="006699"/>
            </a:solidFill>
            <a:round/>
            <a:headEnd/>
            <a:tailEnd type="triangle" w="med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0" name="Line 21"/>
          <p:cNvSpPr>
            <a:spLocks noChangeShapeType="1"/>
          </p:cNvSpPr>
          <p:nvPr/>
        </p:nvSpPr>
        <p:spPr bwMode="auto">
          <a:xfrm>
            <a:off x="4095328" y="5668296"/>
            <a:ext cx="609600" cy="0"/>
          </a:xfrm>
          <a:prstGeom prst="line">
            <a:avLst/>
          </a:prstGeom>
          <a:noFill/>
          <a:ln w="6350">
            <a:solidFill>
              <a:srgbClr val="006699"/>
            </a:solidFill>
            <a:round/>
            <a:headEnd/>
            <a:tailEnd type="triangle" w="med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1" name="Line 22"/>
          <p:cNvSpPr>
            <a:spLocks noChangeShapeType="1"/>
          </p:cNvSpPr>
          <p:nvPr/>
        </p:nvSpPr>
        <p:spPr bwMode="auto">
          <a:xfrm>
            <a:off x="4095328" y="3610896"/>
            <a:ext cx="0" cy="2057400"/>
          </a:xfrm>
          <a:prstGeom prst="line">
            <a:avLst/>
          </a:prstGeom>
          <a:noFill/>
          <a:ln w="6350">
            <a:solidFill>
              <a:srgbClr val="006699"/>
            </a:solidFill>
            <a:round/>
            <a:headEnd/>
            <a:tailEnd type="none" w="med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55813454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44017" y="91339"/>
            <a:ext cx="7401271" cy="385333"/>
          </a:xfrm>
          <a:prstGeom prst="rect">
            <a:avLst/>
          </a:prstGeom>
          <a:noFill/>
        </p:spPr>
        <p:txBody>
          <a:bodyPr wrap="square" lIns="0" tIns="53643" rIns="0" bIns="53643" rtlCol="0">
            <a:spAutoFit/>
          </a:bodyPr>
          <a:lstStyle/>
          <a:p>
            <a:r>
              <a:rPr kumimoji="1" lang="en-US" altLang="ko-KR" b="1" kern="0" dirty="0">
                <a:latin typeface="나눔고딕" panose="020D0604000000000000" pitchFamily="50" charset="-127"/>
                <a:ea typeface="나눔고딕" panose="020D0604000000000000" pitchFamily="50" charset="-127"/>
                <a:cs typeface="산돌고딕 M"/>
              </a:rPr>
              <a:t>Multi channel integration</a:t>
            </a:r>
            <a:endParaRPr kumimoji="1" lang="ko-KR" altLang="en-US" b="1" kern="0" dirty="0">
              <a:latin typeface="나눔고딕" panose="020D0604000000000000" pitchFamily="50" charset="-127"/>
              <a:ea typeface="나눔고딕" panose="020D0604000000000000" pitchFamily="50" charset="-127"/>
              <a:cs typeface="산돌고딕 M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44017" y="683985"/>
            <a:ext cx="96335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Approach</a:t>
            </a:r>
          </a:p>
        </p:txBody>
      </p:sp>
      <p:grpSp>
        <p:nvGrpSpPr>
          <p:cNvPr id="23" name="Group 2"/>
          <p:cNvGrpSpPr>
            <a:grpSpLocks/>
          </p:cNvGrpSpPr>
          <p:nvPr/>
        </p:nvGrpSpPr>
        <p:grpSpPr bwMode="auto">
          <a:xfrm>
            <a:off x="1372617" y="1816001"/>
            <a:ext cx="6119812" cy="1095375"/>
            <a:chOff x="1248" y="1350"/>
            <a:chExt cx="4032" cy="721"/>
          </a:xfrm>
          <a:solidFill>
            <a:schemeClr val="bg1">
              <a:lumMod val="85000"/>
            </a:schemeClr>
          </a:solidFill>
        </p:grpSpPr>
        <p:sp>
          <p:nvSpPr>
            <p:cNvPr id="24" name="Rectangle 3"/>
            <p:cNvSpPr>
              <a:spLocks noChangeArrowheads="1"/>
            </p:cNvSpPr>
            <p:nvPr/>
          </p:nvSpPr>
          <p:spPr bwMode="auto">
            <a:xfrm>
              <a:off x="1248" y="1358"/>
              <a:ext cx="3552" cy="256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63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noAutofit/>
            </a:bodyPr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5" name="AutoShape 4"/>
            <p:cNvSpPr>
              <a:spLocks noChangeArrowheads="1"/>
            </p:cNvSpPr>
            <p:nvPr/>
          </p:nvSpPr>
          <p:spPr bwMode="auto">
            <a:xfrm rot="5400000">
              <a:off x="4535" y="1327"/>
              <a:ext cx="721" cy="768"/>
            </a:xfrm>
            <a:custGeom>
              <a:avLst/>
              <a:gdLst>
                <a:gd name="G0" fmla="+- 15052 0 0"/>
                <a:gd name="G1" fmla="+- 2250 0 0"/>
                <a:gd name="G2" fmla="+- 12158 0 2250"/>
                <a:gd name="G3" fmla="+- G2 0 2250"/>
                <a:gd name="G4" fmla="*/ G3 32768 32059"/>
                <a:gd name="G5" fmla="*/ G4 1 2"/>
                <a:gd name="G6" fmla="+- 21600 0 15052"/>
                <a:gd name="G7" fmla="*/ G6 2250 6079"/>
                <a:gd name="G8" fmla="+- G7 15052 0"/>
                <a:gd name="T0" fmla="*/ 15052 w 21600"/>
                <a:gd name="T1" fmla="*/ 0 h 21600"/>
                <a:gd name="T2" fmla="*/ 15052 w 21600"/>
                <a:gd name="T3" fmla="*/ 12158 h 21600"/>
                <a:gd name="T4" fmla="*/ 3914 w 21600"/>
                <a:gd name="T5" fmla="*/ 21600 h 21600"/>
                <a:gd name="T6" fmla="*/ 21600 w 21600"/>
                <a:gd name="T7" fmla="*/ 6079 h 21600"/>
                <a:gd name="T8" fmla="*/ 17694720 60000 65536"/>
                <a:gd name="T9" fmla="*/ 5898240 60000 65536"/>
                <a:gd name="T10" fmla="*/ 5898240 60000 65536"/>
                <a:gd name="T11" fmla="*/ 0 60000 65536"/>
                <a:gd name="T12" fmla="*/ 12427 w 21600"/>
                <a:gd name="T13" fmla="*/ G1 h 21600"/>
                <a:gd name="T14" fmla="*/ G8 w 21600"/>
                <a:gd name="T15" fmla="*/ G2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21600" y="6079"/>
                  </a:moveTo>
                  <a:lnTo>
                    <a:pt x="15052" y="0"/>
                  </a:lnTo>
                  <a:lnTo>
                    <a:pt x="15052" y="2250"/>
                  </a:lnTo>
                  <a:lnTo>
                    <a:pt x="12427" y="2250"/>
                  </a:lnTo>
                  <a:cubicBezTo>
                    <a:pt x="5564" y="2250"/>
                    <a:pt x="0" y="6686"/>
                    <a:pt x="0" y="12158"/>
                  </a:cubicBezTo>
                  <a:lnTo>
                    <a:pt x="0" y="21600"/>
                  </a:lnTo>
                  <a:lnTo>
                    <a:pt x="7827" y="21600"/>
                  </a:lnTo>
                  <a:lnTo>
                    <a:pt x="7827" y="12158"/>
                  </a:lnTo>
                  <a:cubicBezTo>
                    <a:pt x="7827" y="10915"/>
                    <a:pt x="9886" y="9908"/>
                    <a:pt x="12427" y="9908"/>
                  </a:cubicBezTo>
                  <a:lnTo>
                    <a:pt x="15052" y="9908"/>
                  </a:lnTo>
                  <a:lnTo>
                    <a:pt x="15052" y="12158"/>
                  </a:ln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63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noAutofit/>
            </a:bodyPr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sp>
        <p:nvSpPr>
          <p:cNvPr id="26" name="AutoShape 5"/>
          <p:cNvSpPr>
            <a:spLocks noChangeArrowheads="1"/>
          </p:cNvSpPr>
          <p:nvPr/>
        </p:nvSpPr>
        <p:spPr bwMode="auto">
          <a:xfrm>
            <a:off x="497904" y="1793776"/>
            <a:ext cx="874713" cy="565150"/>
          </a:xfrm>
          <a:prstGeom prst="flowChartDocument">
            <a:avLst/>
          </a:prstGeom>
          <a:solidFill>
            <a:schemeClr val="bg1"/>
          </a:solidFill>
          <a:ln w="6350">
            <a:solidFill>
              <a:schemeClr val="tx1"/>
            </a:solidFill>
            <a:miter lim="800000"/>
            <a:headEnd/>
            <a:tailEnd type="none" w="med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noAutofit/>
          </a:bodyPr>
          <a:lstStyle/>
          <a:p>
            <a:pPr algn="ctr"/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Strategy</a:t>
            </a:r>
          </a:p>
        </p:txBody>
      </p:sp>
      <p:sp>
        <p:nvSpPr>
          <p:cNvPr id="27" name="AutoShape 6"/>
          <p:cNvSpPr>
            <a:spLocks noChangeArrowheads="1"/>
          </p:cNvSpPr>
          <p:nvPr/>
        </p:nvSpPr>
        <p:spPr bwMode="auto">
          <a:xfrm>
            <a:off x="1080517" y="4583014"/>
            <a:ext cx="874712" cy="452437"/>
          </a:xfrm>
          <a:prstGeom prst="flowChartDocument">
            <a:avLst/>
          </a:prstGeom>
          <a:solidFill>
            <a:schemeClr val="bg1"/>
          </a:solidFill>
          <a:ln w="6350">
            <a:solidFill>
              <a:schemeClr val="tx1"/>
            </a:solidFill>
            <a:miter lim="800000"/>
            <a:headEnd/>
            <a:tailEnd type="none" w="med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noAutofit/>
          </a:bodyPr>
          <a:lstStyle/>
          <a:p>
            <a:pPr algn="ctr"/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정보적 구조</a:t>
            </a:r>
          </a:p>
        </p:txBody>
      </p:sp>
      <p:sp>
        <p:nvSpPr>
          <p:cNvPr id="28" name="AutoShape 7"/>
          <p:cNvSpPr>
            <a:spLocks noChangeArrowheads="1"/>
          </p:cNvSpPr>
          <p:nvPr/>
        </p:nvSpPr>
        <p:spPr bwMode="auto">
          <a:xfrm>
            <a:off x="1080517" y="5222776"/>
            <a:ext cx="874712" cy="452438"/>
          </a:xfrm>
          <a:prstGeom prst="flowChartDocument">
            <a:avLst/>
          </a:prstGeom>
          <a:solidFill>
            <a:schemeClr val="bg1"/>
          </a:solidFill>
          <a:ln w="6350">
            <a:solidFill>
              <a:schemeClr val="tx1"/>
            </a:solidFill>
            <a:miter lim="800000"/>
            <a:headEnd/>
            <a:tailEnd type="none" w="med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noAutofit/>
          </a:bodyPr>
          <a:lstStyle/>
          <a:p>
            <a:pPr algn="ctr"/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기능적 구조</a:t>
            </a:r>
          </a:p>
        </p:txBody>
      </p:sp>
      <p:sp>
        <p:nvSpPr>
          <p:cNvPr id="29" name="Text Box 8"/>
          <p:cNvSpPr txBox="1">
            <a:spLocks noChangeArrowheads="1"/>
          </p:cNvSpPr>
          <p:nvPr/>
        </p:nvSpPr>
        <p:spPr bwMode="auto">
          <a:xfrm>
            <a:off x="2174304" y="2860576"/>
            <a:ext cx="1020763" cy="458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noAutofit/>
          </a:bodyPr>
          <a:lstStyle/>
          <a:p>
            <a:pPr algn="r">
              <a:lnSpc>
                <a:spcPct val="80000"/>
              </a:lnSpc>
            </a:pPr>
            <a:r>
              <a:rPr lang="en-US" altLang="ko-KR" sz="1000" b="1">
                <a:latin typeface="나눔고딕" panose="020D0604000000000000" pitchFamily="50" charset="-127"/>
                <a:ea typeface="나눔고딕" panose="020D0604000000000000" pitchFamily="50" charset="-127"/>
              </a:rPr>
              <a:t>User Scenario Modeling</a:t>
            </a:r>
          </a:p>
        </p:txBody>
      </p:sp>
      <p:sp>
        <p:nvSpPr>
          <p:cNvPr id="30" name="Rectangle 9"/>
          <p:cNvSpPr>
            <a:spLocks noChangeArrowheads="1"/>
          </p:cNvSpPr>
          <p:nvPr/>
        </p:nvSpPr>
        <p:spPr bwMode="auto">
          <a:xfrm>
            <a:off x="2744217" y="2504976"/>
            <a:ext cx="268287" cy="365125"/>
          </a:xfrm>
          <a:prstGeom prst="rect">
            <a:avLst/>
          </a:prstGeom>
          <a:gradFill rotWithShape="0">
            <a:gsLst>
              <a:gs pos="0">
                <a:srgbClr val="FF9900"/>
              </a:gs>
              <a:gs pos="100000">
                <a:srgbClr val="FF9900">
                  <a:gamma/>
                  <a:tint val="63922"/>
                  <a:invGamma/>
                </a:srgbClr>
              </a:gs>
            </a:gsLst>
            <a:lin ang="5400000" scaled="1"/>
          </a:gradFill>
          <a:ln w="6350">
            <a:miter lim="800000"/>
            <a:headEnd/>
            <a:tailEnd type="none" w="med" len="sm"/>
          </a:ln>
          <a:effectLst/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FF9900"/>
            </a:extrusion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noAutofit/>
            <a:flatTx/>
          </a:bodyPr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1" name="Rectangle 10"/>
          <p:cNvSpPr>
            <a:spLocks noChangeArrowheads="1"/>
          </p:cNvSpPr>
          <p:nvPr/>
        </p:nvSpPr>
        <p:spPr bwMode="auto">
          <a:xfrm>
            <a:off x="1666304" y="2504976"/>
            <a:ext cx="268288" cy="365125"/>
          </a:xfrm>
          <a:prstGeom prst="rect">
            <a:avLst/>
          </a:prstGeom>
          <a:gradFill rotWithShape="0">
            <a:gsLst>
              <a:gs pos="0">
                <a:srgbClr val="FF9900"/>
              </a:gs>
              <a:gs pos="100000">
                <a:srgbClr val="FF9900">
                  <a:gamma/>
                  <a:tint val="63922"/>
                  <a:invGamma/>
                </a:srgbClr>
              </a:gs>
            </a:gsLst>
            <a:lin ang="5400000" scaled="1"/>
          </a:gradFill>
          <a:ln w="6350">
            <a:miter lim="800000"/>
            <a:headEnd/>
            <a:tailEnd type="none" w="med" len="sm"/>
          </a:ln>
          <a:effectLst/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FF9900"/>
            </a:extrusion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noAutofit/>
            <a:flatTx/>
          </a:bodyPr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2" name="Text Box 11"/>
          <p:cNvSpPr txBox="1">
            <a:spLocks noChangeArrowheads="1"/>
          </p:cNvSpPr>
          <p:nvPr/>
        </p:nvSpPr>
        <p:spPr bwMode="auto">
          <a:xfrm>
            <a:off x="955104" y="2936776"/>
            <a:ext cx="1138238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noAutofit/>
          </a:bodyPr>
          <a:lstStyle/>
          <a:p>
            <a:pPr algn="r">
              <a:lnSpc>
                <a:spcPct val="80000"/>
              </a:lnSpc>
            </a:pP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User Segmentation</a:t>
            </a:r>
          </a:p>
        </p:txBody>
      </p:sp>
      <p:sp>
        <p:nvSpPr>
          <p:cNvPr id="35" name="Rectangle 12"/>
          <p:cNvSpPr>
            <a:spLocks noChangeArrowheads="1"/>
          </p:cNvSpPr>
          <p:nvPr/>
        </p:nvSpPr>
        <p:spPr bwMode="auto">
          <a:xfrm>
            <a:off x="4682554" y="3301901"/>
            <a:ext cx="376238" cy="509588"/>
          </a:xfrm>
          <a:prstGeom prst="rect">
            <a:avLst/>
          </a:prstGeom>
          <a:gradFill rotWithShape="0">
            <a:gsLst>
              <a:gs pos="0">
                <a:srgbClr val="CCCC00"/>
              </a:gs>
              <a:gs pos="100000">
                <a:srgbClr val="CCCC00">
                  <a:gamma/>
                  <a:tint val="63922"/>
                  <a:invGamma/>
                </a:srgbClr>
              </a:gs>
            </a:gsLst>
            <a:lin ang="5400000" scaled="1"/>
          </a:gradFill>
          <a:ln w="6350">
            <a:miter lim="800000"/>
            <a:headEnd/>
            <a:tailEnd type="none" w="med" len="sm"/>
          </a:ln>
          <a:effectLst/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CCCC00"/>
            </a:extrusion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noAutofit/>
            <a:flatTx/>
          </a:bodyPr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6" name="Text Box 13"/>
          <p:cNvSpPr txBox="1">
            <a:spLocks noChangeArrowheads="1"/>
          </p:cNvSpPr>
          <p:nvPr/>
        </p:nvSpPr>
        <p:spPr bwMode="auto">
          <a:xfrm>
            <a:off x="4289797" y="3955951"/>
            <a:ext cx="13112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noAutofit/>
          </a:bodyPr>
          <a:lstStyle/>
          <a:p>
            <a:pPr algn="ctr">
              <a:lnSpc>
                <a:spcPct val="80000"/>
              </a:lnSpc>
            </a:pP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Customer</a:t>
            </a:r>
          </a:p>
          <a:p>
            <a:pPr algn="ctr">
              <a:lnSpc>
                <a:spcPct val="80000"/>
              </a:lnSpc>
            </a:pP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Needs</a:t>
            </a:r>
          </a:p>
          <a:p>
            <a:pPr algn="ctr">
              <a:lnSpc>
                <a:spcPct val="80000"/>
              </a:lnSpc>
            </a:pP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analysis</a:t>
            </a:r>
          </a:p>
        </p:txBody>
      </p:sp>
      <p:sp>
        <p:nvSpPr>
          <p:cNvPr id="37" name="Rectangle 14"/>
          <p:cNvSpPr>
            <a:spLocks noChangeArrowheads="1"/>
          </p:cNvSpPr>
          <p:nvPr/>
        </p:nvSpPr>
        <p:spPr bwMode="auto">
          <a:xfrm>
            <a:off x="3120454" y="5019576"/>
            <a:ext cx="376238" cy="511175"/>
          </a:xfrm>
          <a:prstGeom prst="rect">
            <a:avLst/>
          </a:prstGeom>
          <a:gradFill rotWithShape="0">
            <a:gsLst>
              <a:gs pos="0">
                <a:srgbClr val="CCCC00"/>
              </a:gs>
              <a:gs pos="100000">
                <a:srgbClr val="CCCC00">
                  <a:gamma/>
                  <a:tint val="63922"/>
                  <a:invGamma/>
                </a:srgbClr>
              </a:gs>
            </a:gsLst>
            <a:lin ang="5400000" scaled="1"/>
          </a:gradFill>
          <a:ln w="6350">
            <a:miter lim="800000"/>
            <a:headEnd/>
            <a:tailEnd type="none" w="med" len="sm"/>
          </a:ln>
          <a:effectLst/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CCCC00"/>
            </a:extrusion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noAutofit/>
            <a:flatTx/>
          </a:bodyPr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8" name="Text Box 15"/>
          <p:cNvSpPr txBox="1">
            <a:spLocks noChangeArrowheads="1"/>
          </p:cNvSpPr>
          <p:nvPr/>
        </p:nvSpPr>
        <p:spPr bwMode="auto">
          <a:xfrm>
            <a:off x="2648744" y="5530751"/>
            <a:ext cx="1311275" cy="214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noAutofit/>
          </a:bodyPr>
          <a:lstStyle/>
          <a:p>
            <a:pPr algn="ctr">
              <a:lnSpc>
                <a:spcPct val="80000"/>
              </a:lnSpc>
            </a:pPr>
            <a:r>
              <a:rPr lang="ko-KR" altLang="en-US" sz="1000" b="1">
                <a:latin typeface="나눔고딕" panose="020D0604000000000000" pitchFamily="50" charset="-127"/>
                <a:ea typeface="나눔고딕" panose="020D0604000000000000" pitchFamily="50" charset="-127"/>
              </a:rPr>
              <a:t>자사 분석</a:t>
            </a:r>
            <a:endParaRPr lang="en-US" altLang="ko-KR" sz="1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39" name="AutoShape 16"/>
          <p:cNvCxnSpPr>
            <a:cxnSpLocks noChangeShapeType="1"/>
            <a:stCxn id="26" idx="2"/>
            <a:endCxn id="27" idx="1"/>
          </p:cNvCxnSpPr>
          <p:nvPr/>
        </p:nvCxnSpPr>
        <p:spPr bwMode="auto">
          <a:xfrm rot="16200000" flipH="1">
            <a:off x="-233139" y="3496369"/>
            <a:ext cx="2482850" cy="144463"/>
          </a:xfrm>
          <a:prstGeom prst="bentConnector2">
            <a:avLst/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 type="triangle" w="med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0" name="AutoShape 17"/>
          <p:cNvCxnSpPr>
            <a:cxnSpLocks noChangeShapeType="1"/>
            <a:stCxn id="26" idx="2"/>
            <a:endCxn id="28" idx="1"/>
          </p:cNvCxnSpPr>
          <p:nvPr/>
        </p:nvCxnSpPr>
        <p:spPr bwMode="auto">
          <a:xfrm rot="16200000" flipH="1">
            <a:off x="-553021" y="3816251"/>
            <a:ext cx="3122613" cy="144463"/>
          </a:xfrm>
          <a:prstGeom prst="bentConnector2">
            <a:avLst/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 type="triangle" w="med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1" name="Freeform 18"/>
          <p:cNvSpPr>
            <a:spLocks/>
          </p:cNvSpPr>
          <p:nvPr/>
        </p:nvSpPr>
        <p:spPr bwMode="auto">
          <a:xfrm>
            <a:off x="4612704" y="2631976"/>
            <a:ext cx="381000" cy="365125"/>
          </a:xfrm>
          <a:custGeom>
            <a:avLst/>
            <a:gdLst>
              <a:gd name="T0" fmla="*/ 0 w 864"/>
              <a:gd name="T1" fmla="*/ 0 h 240"/>
              <a:gd name="T2" fmla="*/ 864 w 864"/>
              <a:gd name="T3" fmla="*/ 0 h 240"/>
              <a:gd name="T4" fmla="*/ 864 w 864"/>
              <a:gd name="T5" fmla="*/ 240 h 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864" h="240">
                <a:moveTo>
                  <a:pt x="0" y="0"/>
                </a:moveTo>
                <a:lnTo>
                  <a:pt x="864" y="0"/>
                </a:lnTo>
                <a:lnTo>
                  <a:pt x="864" y="240"/>
                </a:lnTo>
              </a:path>
            </a:pathLst>
          </a:custGeom>
          <a:noFill/>
          <a:ln w="6350" cap="flat" cmpd="sng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noAutofit/>
          </a:bodyPr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2" name="Line 19"/>
          <p:cNvSpPr>
            <a:spLocks noChangeShapeType="1"/>
          </p:cNvSpPr>
          <p:nvPr/>
        </p:nvSpPr>
        <p:spPr bwMode="auto">
          <a:xfrm>
            <a:off x="2174304" y="2578001"/>
            <a:ext cx="509588" cy="1588"/>
          </a:xfrm>
          <a:prstGeom prst="line">
            <a:avLst/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  <a:round/>
            <a:headEnd/>
            <a:tailEnd type="triangle" w="med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noAutofit/>
          </a:bodyPr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3" name="Line 20"/>
          <p:cNvSpPr>
            <a:spLocks noChangeShapeType="1"/>
          </p:cNvSpPr>
          <p:nvPr/>
        </p:nvSpPr>
        <p:spPr bwMode="auto">
          <a:xfrm>
            <a:off x="2028254" y="5384701"/>
            <a:ext cx="946150" cy="1588"/>
          </a:xfrm>
          <a:prstGeom prst="line">
            <a:avLst/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  <a:round/>
            <a:headEnd/>
            <a:tailEnd type="triangle" w="med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noAutofit/>
          </a:bodyPr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4" name="Line 21"/>
          <p:cNvSpPr>
            <a:spLocks noChangeShapeType="1"/>
          </p:cNvSpPr>
          <p:nvPr/>
        </p:nvSpPr>
        <p:spPr bwMode="auto">
          <a:xfrm>
            <a:off x="2028254" y="4802089"/>
            <a:ext cx="946150" cy="290512"/>
          </a:xfrm>
          <a:prstGeom prst="line">
            <a:avLst/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  <a:round/>
            <a:headEnd/>
            <a:tailEnd type="triangle" w="med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noAutofit/>
          </a:bodyPr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5" name="Text Box 22"/>
          <p:cNvSpPr txBox="1">
            <a:spLocks noChangeArrowheads="1"/>
          </p:cNvSpPr>
          <p:nvPr/>
        </p:nvSpPr>
        <p:spPr bwMode="auto">
          <a:xfrm>
            <a:off x="5653509" y="3987701"/>
            <a:ext cx="955675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noAutofit/>
          </a:bodyPr>
          <a:lstStyle/>
          <a:p>
            <a:pPr algn="ctr"/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사용자 요구사항</a:t>
            </a:r>
            <a:endParaRPr lang="en-US" altLang="ko-KR" sz="1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분석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수집</a:t>
            </a:r>
            <a:endParaRPr lang="en-US" altLang="ko-KR" sz="1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6" name="Rectangle 23"/>
          <p:cNvSpPr>
            <a:spLocks noChangeArrowheads="1"/>
          </p:cNvSpPr>
          <p:nvPr/>
        </p:nvSpPr>
        <p:spPr bwMode="auto">
          <a:xfrm>
            <a:off x="6995542" y="3155851"/>
            <a:ext cx="592137" cy="801688"/>
          </a:xfrm>
          <a:prstGeom prst="rect">
            <a:avLst/>
          </a:prstGeom>
          <a:gradFill rotWithShape="0">
            <a:gsLst>
              <a:gs pos="0">
                <a:srgbClr val="CCCC00"/>
              </a:gs>
              <a:gs pos="100000">
                <a:srgbClr val="CCCC00">
                  <a:gamma/>
                  <a:tint val="63922"/>
                  <a:invGamma/>
                </a:srgbClr>
              </a:gs>
            </a:gsLst>
            <a:lin ang="5400000" scaled="1"/>
          </a:gradFill>
          <a:ln w="6350">
            <a:miter lim="800000"/>
            <a:headEnd/>
            <a:tailEnd type="none" w="med" len="sm"/>
          </a:ln>
          <a:effectLst/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CCCC00"/>
            </a:extrusion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noAutofit/>
            <a:flatTx/>
          </a:bodyPr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7" name="Text Box 24"/>
          <p:cNvSpPr txBox="1">
            <a:spLocks noChangeArrowheads="1"/>
          </p:cNvSpPr>
          <p:nvPr/>
        </p:nvSpPr>
        <p:spPr bwMode="auto">
          <a:xfrm>
            <a:off x="6959029" y="3987701"/>
            <a:ext cx="1311275" cy="639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noAutofit/>
          </a:bodyPr>
          <a:lstStyle/>
          <a:p>
            <a:r>
              <a:rPr lang="en-US" altLang="ko-KR" sz="1200" b="1">
                <a:latin typeface="나눔고딕" panose="020D0604000000000000" pitchFamily="50" charset="-127"/>
                <a:ea typeface="나눔고딕" panose="020D0604000000000000" pitchFamily="50" charset="-127"/>
              </a:rPr>
              <a:t>Multi Channel Strategy</a:t>
            </a:r>
            <a:br>
              <a:rPr lang="en-US" altLang="ko-KR" sz="1200" b="1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sz="1200" b="1">
                <a:latin typeface="나눔고딕" panose="020D0604000000000000" pitchFamily="50" charset="-127"/>
                <a:ea typeface="나눔고딕" panose="020D0604000000000000" pitchFamily="50" charset="-127"/>
              </a:rPr>
              <a:t>Direction</a:t>
            </a:r>
          </a:p>
        </p:txBody>
      </p:sp>
      <p:sp>
        <p:nvSpPr>
          <p:cNvPr id="48" name="Rectangle 25"/>
          <p:cNvSpPr>
            <a:spLocks noChangeArrowheads="1"/>
          </p:cNvSpPr>
          <p:nvPr/>
        </p:nvSpPr>
        <p:spPr bwMode="auto">
          <a:xfrm>
            <a:off x="4099942" y="5602189"/>
            <a:ext cx="376237" cy="511175"/>
          </a:xfrm>
          <a:prstGeom prst="rect">
            <a:avLst/>
          </a:prstGeom>
          <a:gradFill rotWithShape="0">
            <a:gsLst>
              <a:gs pos="0">
                <a:srgbClr val="CCCC00"/>
              </a:gs>
              <a:gs pos="100000">
                <a:srgbClr val="CCCC00">
                  <a:gamma/>
                  <a:tint val="63922"/>
                  <a:invGamma/>
                </a:srgbClr>
              </a:gs>
            </a:gsLst>
            <a:lin ang="5400000" scaled="1"/>
          </a:gradFill>
          <a:ln w="6350">
            <a:miter lim="800000"/>
            <a:headEnd/>
            <a:tailEnd type="none" w="med" len="sm"/>
          </a:ln>
          <a:effectLst/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CCCC00"/>
            </a:extrusion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noAutofit/>
            <a:flatTx/>
          </a:bodyPr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9" name="Text Box 26"/>
          <p:cNvSpPr txBox="1">
            <a:spLocks noChangeArrowheads="1"/>
          </p:cNvSpPr>
          <p:nvPr/>
        </p:nvSpPr>
        <p:spPr bwMode="auto">
          <a:xfrm>
            <a:off x="3268092" y="6107014"/>
            <a:ext cx="1311275" cy="334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noAutofit/>
          </a:bodyPr>
          <a:lstStyle/>
          <a:p>
            <a:pPr algn="r">
              <a:lnSpc>
                <a:spcPct val="80000"/>
              </a:lnSpc>
            </a:pPr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경쟁사 분석</a:t>
            </a:r>
            <a:endParaRPr lang="en-US" altLang="ko-KR" sz="1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0" name="Freeform 27"/>
          <p:cNvSpPr>
            <a:spLocks/>
          </p:cNvSpPr>
          <p:nvPr/>
        </p:nvSpPr>
        <p:spPr bwMode="auto">
          <a:xfrm flipV="1">
            <a:off x="3774504" y="5116414"/>
            <a:ext cx="3703638" cy="152400"/>
          </a:xfrm>
          <a:custGeom>
            <a:avLst/>
            <a:gdLst>
              <a:gd name="T0" fmla="*/ 0 w 864"/>
              <a:gd name="T1" fmla="*/ 0 h 240"/>
              <a:gd name="T2" fmla="*/ 864 w 864"/>
              <a:gd name="T3" fmla="*/ 0 h 240"/>
              <a:gd name="T4" fmla="*/ 864 w 864"/>
              <a:gd name="T5" fmla="*/ 240 h 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864" h="240">
                <a:moveTo>
                  <a:pt x="0" y="0"/>
                </a:moveTo>
                <a:lnTo>
                  <a:pt x="864" y="0"/>
                </a:lnTo>
                <a:lnTo>
                  <a:pt x="864" y="240"/>
                </a:lnTo>
              </a:path>
            </a:pathLst>
          </a:custGeom>
          <a:noFill/>
          <a:ln w="6350" cap="flat" cmpd="sng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noAutofit/>
          </a:bodyPr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1" name="Freeform 28"/>
          <p:cNvSpPr>
            <a:spLocks/>
          </p:cNvSpPr>
          <p:nvPr/>
        </p:nvSpPr>
        <p:spPr bwMode="auto">
          <a:xfrm flipV="1">
            <a:off x="4765104" y="5116414"/>
            <a:ext cx="2857500" cy="609600"/>
          </a:xfrm>
          <a:custGeom>
            <a:avLst/>
            <a:gdLst>
              <a:gd name="T0" fmla="*/ 0 w 864"/>
              <a:gd name="T1" fmla="*/ 0 h 240"/>
              <a:gd name="T2" fmla="*/ 864 w 864"/>
              <a:gd name="T3" fmla="*/ 0 h 240"/>
              <a:gd name="T4" fmla="*/ 864 w 864"/>
              <a:gd name="T5" fmla="*/ 240 h 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864" h="240">
                <a:moveTo>
                  <a:pt x="0" y="0"/>
                </a:moveTo>
                <a:lnTo>
                  <a:pt x="864" y="0"/>
                </a:lnTo>
                <a:lnTo>
                  <a:pt x="864" y="240"/>
                </a:lnTo>
              </a:path>
            </a:pathLst>
          </a:custGeom>
          <a:noFill/>
          <a:ln w="6350" cap="flat" cmpd="sng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noAutofit/>
          </a:bodyPr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2" name="Rectangle 29"/>
          <p:cNvSpPr>
            <a:spLocks noChangeArrowheads="1"/>
          </p:cNvSpPr>
          <p:nvPr/>
        </p:nvSpPr>
        <p:spPr bwMode="auto">
          <a:xfrm>
            <a:off x="8608442" y="3346351"/>
            <a:ext cx="268287" cy="363538"/>
          </a:xfrm>
          <a:prstGeom prst="rect">
            <a:avLst/>
          </a:prstGeom>
          <a:gradFill rotWithShape="0">
            <a:gsLst>
              <a:gs pos="0">
                <a:srgbClr val="FF9900"/>
              </a:gs>
              <a:gs pos="100000">
                <a:srgbClr val="FF9900">
                  <a:gamma/>
                  <a:tint val="63922"/>
                  <a:invGamma/>
                </a:srgbClr>
              </a:gs>
            </a:gsLst>
            <a:lin ang="5400000" scaled="1"/>
          </a:gradFill>
          <a:ln w="6350">
            <a:miter lim="800000"/>
            <a:headEnd/>
            <a:tailEnd type="none" w="med" len="sm"/>
          </a:ln>
          <a:effectLst/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FF9900"/>
            </a:extrusion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noAutofit/>
            <a:flatTx/>
          </a:bodyPr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3" name="Text Box 30"/>
          <p:cNvSpPr txBox="1">
            <a:spLocks noChangeArrowheads="1"/>
          </p:cNvSpPr>
          <p:nvPr/>
        </p:nvSpPr>
        <p:spPr bwMode="auto">
          <a:xfrm>
            <a:off x="8468742" y="3754339"/>
            <a:ext cx="1020762" cy="214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noAutofit/>
          </a:bodyPr>
          <a:lstStyle/>
          <a:p>
            <a:pPr>
              <a:lnSpc>
                <a:spcPct val="80000"/>
              </a:lnSpc>
            </a:pPr>
            <a:r>
              <a:rPr lang="en-US" altLang="ko-KR" sz="1000" b="1">
                <a:latin typeface="나눔고딕" panose="020D0604000000000000" pitchFamily="50" charset="-127"/>
                <a:ea typeface="나눔고딕" panose="020D0604000000000000" pitchFamily="50" charset="-127"/>
              </a:rPr>
              <a:t>IA Mapping</a:t>
            </a:r>
          </a:p>
        </p:txBody>
      </p:sp>
      <p:sp>
        <p:nvSpPr>
          <p:cNvPr id="54" name="Rectangle 31"/>
          <p:cNvSpPr>
            <a:spLocks noChangeArrowheads="1"/>
          </p:cNvSpPr>
          <p:nvPr/>
        </p:nvSpPr>
        <p:spPr bwMode="auto">
          <a:xfrm>
            <a:off x="8592567" y="4735414"/>
            <a:ext cx="268287" cy="365125"/>
          </a:xfrm>
          <a:prstGeom prst="rect">
            <a:avLst/>
          </a:prstGeom>
          <a:gradFill rotWithShape="0">
            <a:gsLst>
              <a:gs pos="0">
                <a:srgbClr val="FF9900"/>
              </a:gs>
              <a:gs pos="100000">
                <a:srgbClr val="FF9900">
                  <a:gamma/>
                  <a:tint val="63922"/>
                  <a:invGamma/>
                </a:srgbClr>
              </a:gs>
            </a:gsLst>
            <a:lin ang="5400000" scaled="1"/>
          </a:gradFill>
          <a:ln w="6350">
            <a:miter lim="800000"/>
            <a:headEnd/>
            <a:tailEnd type="none" w="med" len="sm"/>
          </a:ln>
          <a:effectLst/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FF9900"/>
            </a:extrusion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noAutofit/>
            <a:flatTx/>
          </a:bodyPr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5" name="Text Box 32"/>
          <p:cNvSpPr txBox="1">
            <a:spLocks noChangeArrowheads="1"/>
          </p:cNvSpPr>
          <p:nvPr/>
        </p:nvSpPr>
        <p:spPr bwMode="auto">
          <a:xfrm>
            <a:off x="8468742" y="5144989"/>
            <a:ext cx="868362" cy="458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noAutofit/>
          </a:bodyPr>
          <a:lstStyle/>
          <a:p>
            <a:pPr>
              <a:lnSpc>
                <a:spcPct val="80000"/>
              </a:lnSpc>
            </a:pP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User Interface Design</a:t>
            </a:r>
          </a:p>
        </p:txBody>
      </p:sp>
      <p:sp>
        <p:nvSpPr>
          <p:cNvPr id="72" name="Line 33"/>
          <p:cNvSpPr>
            <a:spLocks noChangeShapeType="1"/>
          </p:cNvSpPr>
          <p:nvPr/>
        </p:nvSpPr>
        <p:spPr bwMode="auto">
          <a:xfrm rot="5400000">
            <a:off x="8606854" y="4133751"/>
            <a:ext cx="293688" cy="1588"/>
          </a:xfrm>
          <a:prstGeom prst="line">
            <a:avLst/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  <a:round/>
            <a:headEnd/>
            <a:tailEnd type="triangle" w="med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noAutofit/>
          </a:bodyPr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3" name="Documents"/>
          <p:cNvSpPr>
            <a:spLocks noEditPoints="1" noChangeArrowheads="1"/>
          </p:cNvSpPr>
          <p:nvPr/>
        </p:nvSpPr>
        <p:spPr bwMode="auto">
          <a:xfrm>
            <a:off x="5847779" y="3146326"/>
            <a:ext cx="533400" cy="762000"/>
          </a:xfrm>
          <a:custGeom>
            <a:avLst/>
            <a:gdLst>
              <a:gd name="T0" fmla="*/ 0 w 21600"/>
              <a:gd name="T1" fmla="*/ 2800 h 21600"/>
              <a:gd name="T2" fmla="*/ 3468 w 21600"/>
              <a:gd name="T3" fmla="*/ 0 h 21600"/>
              <a:gd name="T4" fmla="*/ 21653 w 21600"/>
              <a:gd name="T5" fmla="*/ 18828 h 21600"/>
              <a:gd name="T6" fmla="*/ 19954 w 21600"/>
              <a:gd name="T7" fmla="*/ 20214 h 21600"/>
              <a:gd name="T8" fmla="*/ 18256 w 21600"/>
              <a:gd name="T9" fmla="*/ 21628 h 21600"/>
              <a:gd name="T10" fmla="*/ 19954 w 21600"/>
              <a:gd name="T11" fmla="*/ 1428 h 21600"/>
              <a:gd name="T12" fmla="*/ 18256 w 21600"/>
              <a:gd name="T13" fmla="*/ 2800 h 21600"/>
              <a:gd name="T14" fmla="*/ 1645 w 21600"/>
              <a:gd name="T15" fmla="*/ 1428 h 21600"/>
              <a:gd name="T16" fmla="*/ 21600 w 21600"/>
              <a:gd name="T17" fmla="*/ 0 h 21600"/>
              <a:gd name="T18" fmla="*/ 10800 w 21600"/>
              <a:gd name="T19" fmla="*/ 0 h 21600"/>
              <a:gd name="T20" fmla="*/ 0 w 21600"/>
              <a:gd name="T21" fmla="*/ 10800 h 21600"/>
              <a:gd name="T22" fmla="*/ 21600 w 21600"/>
              <a:gd name="T23" fmla="*/ 10800 h 21600"/>
              <a:gd name="T24" fmla="*/ 1645 w 21600"/>
              <a:gd name="T25" fmla="*/ 4171 h 21600"/>
              <a:gd name="T26" fmla="*/ 16522 w 21600"/>
              <a:gd name="T27" fmla="*/ 17314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T24" t="T25" r="T26" b="T27"/>
            <a:pathLst>
              <a:path w="21600" h="21600" extrusionOk="0">
                <a:moveTo>
                  <a:pt x="0" y="18014"/>
                </a:moveTo>
                <a:lnTo>
                  <a:pt x="0" y="2800"/>
                </a:lnTo>
                <a:lnTo>
                  <a:pt x="1645" y="2800"/>
                </a:lnTo>
                <a:lnTo>
                  <a:pt x="1645" y="1428"/>
                </a:lnTo>
                <a:lnTo>
                  <a:pt x="3468" y="1428"/>
                </a:lnTo>
                <a:lnTo>
                  <a:pt x="3468" y="0"/>
                </a:lnTo>
                <a:lnTo>
                  <a:pt x="21653" y="0"/>
                </a:lnTo>
                <a:lnTo>
                  <a:pt x="21653" y="18828"/>
                </a:lnTo>
                <a:lnTo>
                  <a:pt x="19954" y="18828"/>
                </a:lnTo>
                <a:lnTo>
                  <a:pt x="19954" y="20214"/>
                </a:lnTo>
                <a:lnTo>
                  <a:pt x="18256" y="20214"/>
                </a:lnTo>
                <a:lnTo>
                  <a:pt x="18256" y="21600"/>
                </a:lnTo>
                <a:lnTo>
                  <a:pt x="4434" y="21600"/>
                </a:lnTo>
                <a:lnTo>
                  <a:pt x="0" y="18014"/>
                </a:lnTo>
                <a:close/>
              </a:path>
              <a:path w="21600" h="21600" extrusionOk="0">
                <a:moveTo>
                  <a:pt x="3486" y="1428"/>
                </a:moveTo>
                <a:lnTo>
                  <a:pt x="19954" y="1428"/>
                </a:lnTo>
                <a:lnTo>
                  <a:pt x="19954" y="20214"/>
                </a:lnTo>
                <a:lnTo>
                  <a:pt x="18256" y="20214"/>
                </a:lnTo>
                <a:lnTo>
                  <a:pt x="18256" y="2800"/>
                </a:lnTo>
                <a:lnTo>
                  <a:pt x="1645" y="2800"/>
                </a:lnTo>
                <a:lnTo>
                  <a:pt x="1645" y="1428"/>
                </a:lnTo>
                <a:lnTo>
                  <a:pt x="3486" y="1428"/>
                </a:lnTo>
                <a:close/>
              </a:path>
              <a:path w="21600" h="21600" extrusionOk="0">
                <a:moveTo>
                  <a:pt x="0" y="18014"/>
                </a:moveTo>
                <a:lnTo>
                  <a:pt x="4434" y="18000"/>
                </a:lnTo>
                <a:lnTo>
                  <a:pt x="4434" y="21600"/>
                </a:lnTo>
                <a:lnTo>
                  <a:pt x="0" y="18014"/>
                </a:lnTo>
                <a:close/>
              </a:path>
            </a:pathLst>
          </a:custGeom>
          <a:solidFill>
            <a:srgbClr val="D8EBB3"/>
          </a:solidFill>
          <a:ln w="19050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noAutofit/>
          </a:bodyPr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4" name="Text Box 35"/>
          <p:cNvSpPr txBox="1">
            <a:spLocks noChangeArrowheads="1"/>
          </p:cNvSpPr>
          <p:nvPr/>
        </p:nvSpPr>
        <p:spPr bwMode="auto">
          <a:xfrm>
            <a:off x="3444477" y="2595464"/>
            <a:ext cx="1020763" cy="214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noAutofit/>
          </a:bodyPr>
          <a:lstStyle/>
          <a:p>
            <a:pPr algn="ctr">
              <a:lnSpc>
                <a:spcPct val="80000"/>
              </a:lnSpc>
            </a:pP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Web</a:t>
            </a:r>
          </a:p>
        </p:txBody>
      </p:sp>
      <p:sp>
        <p:nvSpPr>
          <p:cNvPr id="75" name="Rectangle 36"/>
          <p:cNvSpPr>
            <a:spLocks noChangeArrowheads="1"/>
          </p:cNvSpPr>
          <p:nvPr/>
        </p:nvSpPr>
        <p:spPr bwMode="auto">
          <a:xfrm>
            <a:off x="3773957" y="2225576"/>
            <a:ext cx="268288" cy="365125"/>
          </a:xfrm>
          <a:prstGeom prst="rect">
            <a:avLst/>
          </a:prstGeom>
          <a:gradFill rotWithShape="0">
            <a:gsLst>
              <a:gs pos="0">
                <a:srgbClr val="FF9900"/>
              </a:gs>
              <a:gs pos="100000">
                <a:srgbClr val="FF9900">
                  <a:gamma/>
                  <a:tint val="63922"/>
                  <a:invGamma/>
                </a:srgbClr>
              </a:gs>
            </a:gsLst>
            <a:lin ang="5400000" scaled="1"/>
          </a:gradFill>
          <a:ln w="6350">
            <a:miter lim="800000"/>
            <a:headEnd/>
            <a:tailEnd type="none" w="med" len="sm"/>
          </a:ln>
          <a:effectLst/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FF9900"/>
            </a:extrusion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noAutofit/>
            <a:flatTx/>
          </a:bodyPr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6" name="Text Box 37"/>
          <p:cNvSpPr txBox="1">
            <a:spLocks noChangeArrowheads="1"/>
          </p:cNvSpPr>
          <p:nvPr/>
        </p:nvSpPr>
        <p:spPr bwMode="auto">
          <a:xfrm>
            <a:off x="3444477" y="3382864"/>
            <a:ext cx="1020763" cy="214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noAutofit/>
          </a:bodyPr>
          <a:lstStyle/>
          <a:p>
            <a:pPr algn="ctr">
              <a:lnSpc>
                <a:spcPct val="80000"/>
              </a:lnSpc>
            </a:pP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Landing page</a:t>
            </a:r>
          </a:p>
        </p:txBody>
      </p:sp>
      <p:sp>
        <p:nvSpPr>
          <p:cNvPr id="77" name="Rectangle 38"/>
          <p:cNvSpPr>
            <a:spLocks noChangeArrowheads="1"/>
          </p:cNvSpPr>
          <p:nvPr/>
        </p:nvSpPr>
        <p:spPr bwMode="auto">
          <a:xfrm>
            <a:off x="3773957" y="3012976"/>
            <a:ext cx="268288" cy="365125"/>
          </a:xfrm>
          <a:prstGeom prst="rect">
            <a:avLst/>
          </a:prstGeom>
          <a:gradFill rotWithShape="0">
            <a:gsLst>
              <a:gs pos="0">
                <a:srgbClr val="FF9900"/>
              </a:gs>
              <a:gs pos="100000">
                <a:srgbClr val="FF9900">
                  <a:gamma/>
                  <a:tint val="63922"/>
                  <a:invGamma/>
                </a:srgbClr>
              </a:gs>
            </a:gsLst>
            <a:lin ang="5400000" scaled="1"/>
          </a:gradFill>
          <a:ln w="6350">
            <a:miter lim="800000"/>
            <a:headEnd/>
            <a:tailEnd type="none" w="med" len="sm"/>
          </a:ln>
          <a:effectLst/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FF9900"/>
            </a:extrusion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noAutofit/>
            <a:flatTx/>
          </a:bodyPr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8" name="Text Box 39"/>
          <p:cNvSpPr txBox="1">
            <a:spLocks noChangeArrowheads="1"/>
          </p:cNvSpPr>
          <p:nvPr/>
        </p:nvSpPr>
        <p:spPr bwMode="auto">
          <a:xfrm>
            <a:off x="3444477" y="1782664"/>
            <a:ext cx="1020763" cy="214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noAutofit/>
          </a:bodyPr>
          <a:lstStyle/>
          <a:p>
            <a:pPr algn="ctr">
              <a:lnSpc>
                <a:spcPct val="80000"/>
              </a:lnSpc>
            </a:pP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Smart Device</a:t>
            </a:r>
          </a:p>
        </p:txBody>
      </p:sp>
      <p:sp>
        <p:nvSpPr>
          <p:cNvPr id="79" name="Rectangle 40"/>
          <p:cNvSpPr>
            <a:spLocks noChangeArrowheads="1"/>
          </p:cNvSpPr>
          <p:nvPr/>
        </p:nvSpPr>
        <p:spPr bwMode="auto">
          <a:xfrm>
            <a:off x="3773957" y="1412776"/>
            <a:ext cx="268288" cy="365125"/>
          </a:xfrm>
          <a:prstGeom prst="rect">
            <a:avLst/>
          </a:prstGeom>
          <a:gradFill rotWithShape="0">
            <a:gsLst>
              <a:gs pos="0">
                <a:srgbClr val="FF9900"/>
              </a:gs>
              <a:gs pos="100000">
                <a:srgbClr val="FF9900">
                  <a:gamma/>
                  <a:tint val="63922"/>
                  <a:invGamma/>
                </a:srgbClr>
              </a:gs>
            </a:gsLst>
            <a:lin ang="5400000" scaled="1"/>
          </a:gradFill>
          <a:ln w="6350">
            <a:miter lim="800000"/>
            <a:headEnd/>
            <a:tailEnd type="none" w="med" len="sm"/>
          </a:ln>
          <a:effectLst/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FF9900"/>
            </a:extrusion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noAutofit/>
            <a:flatTx/>
          </a:bodyPr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0" name="Text Box 41"/>
          <p:cNvSpPr txBox="1">
            <a:spLocks noChangeArrowheads="1"/>
          </p:cNvSpPr>
          <p:nvPr/>
        </p:nvSpPr>
        <p:spPr bwMode="auto">
          <a:xfrm>
            <a:off x="3316758" y="4125814"/>
            <a:ext cx="1276202" cy="214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noAutofit/>
          </a:bodyPr>
          <a:lstStyle/>
          <a:p>
            <a:pPr algn="ctr">
              <a:lnSpc>
                <a:spcPct val="80000"/>
              </a:lnSpc>
            </a:pP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Needs Response</a:t>
            </a:r>
          </a:p>
          <a:p>
            <a:pPr algn="ctr">
              <a:lnSpc>
                <a:spcPct val="80000"/>
              </a:lnSpc>
            </a:pP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Interface</a:t>
            </a:r>
          </a:p>
        </p:txBody>
      </p:sp>
      <p:sp>
        <p:nvSpPr>
          <p:cNvPr id="81" name="Rectangle 42"/>
          <p:cNvSpPr>
            <a:spLocks noChangeArrowheads="1"/>
          </p:cNvSpPr>
          <p:nvPr/>
        </p:nvSpPr>
        <p:spPr bwMode="auto">
          <a:xfrm>
            <a:off x="3773957" y="3774976"/>
            <a:ext cx="268288" cy="365125"/>
          </a:xfrm>
          <a:prstGeom prst="rect">
            <a:avLst/>
          </a:prstGeom>
          <a:gradFill rotWithShape="0">
            <a:gsLst>
              <a:gs pos="0">
                <a:srgbClr val="FF9900"/>
              </a:gs>
              <a:gs pos="100000">
                <a:srgbClr val="FF9900">
                  <a:gamma/>
                  <a:tint val="63922"/>
                  <a:invGamma/>
                </a:srgbClr>
              </a:gs>
            </a:gsLst>
            <a:lin ang="5400000" scaled="1"/>
          </a:gradFill>
          <a:ln w="6350">
            <a:miter lim="800000"/>
            <a:headEnd/>
            <a:tailEnd type="none" w="med" len="sm"/>
          </a:ln>
          <a:effectLst/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FF9900"/>
            </a:extrusion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noAutofit/>
            <a:flatTx/>
          </a:bodyPr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2" name="Line 43"/>
          <p:cNvSpPr>
            <a:spLocks noChangeShapeType="1"/>
          </p:cNvSpPr>
          <p:nvPr/>
        </p:nvSpPr>
        <p:spPr bwMode="auto">
          <a:xfrm>
            <a:off x="3341117" y="1565176"/>
            <a:ext cx="280987" cy="1588"/>
          </a:xfrm>
          <a:prstGeom prst="line">
            <a:avLst/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  <a:round/>
            <a:headEnd/>
            <a:tailEnd type="triangle" w="med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noAutofit/>
          </a:bodyPr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3" name="Line 44"/>
          <p:cNvSpPr>
            <a:spLocks noChangeShapeType="1"/>
          </p:cNvSpPr>
          <p:nvPr/>
        </p:nvSpPr>
        <p:spPr bwMode="auto">
          <a:xfrm>
            <a:off x="3341117" y="2327176"/>
            <a:ext cx="280987" cy="1588"/>
          </a:xfrm>
          <a:prstGeom prst="line">
            <a:avLst/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  <a:round/>
            <a:headEnd/>
            <a:tailEnd type="triangle" w="med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noAutofit/>
          </a:bodyPr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4" name="Line 45"/>
          <p:cNvSpPr>
            <a:spLocks noChangeShapeType="1"/>
          </p:cNvSpPr>
          <p:nvPr/>
        </p:nvSpPr>
        <p:spPr bwMode="auto">
          <a:xfrm>
            <a:off x="3341117" y="3089176"/>
            <a:ext cx="280987" cy="1588"/>
          </a:xfrm>
          <a:prstGeom prst="line">
            <a:avLst/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  <a:round/>
            <a:headEnd/>
            <a:tailEnd type="triangle" w="med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noAutofit/>
          </a:bodyPr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5" name="Line 46"/>
          <p:cNvSpPr>
            <a:spLocks noChangeShapeType="1"/>
          </p:cNvSpPr>
          <p:nvPr/>
        </p:nvSpPr>
        <p:spPr bwMode="auto">
          <a:xfrm>
            <a:off x="3341117" y="3851176"/>
            <a:ext cx="280987" cy="1588"/>
          </a:xfrm>
          <a:prstGeom prst="line">
            <a:avLst/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  <a:round/>
            <a:headEnd/>
            <a:tailEnd type="triangle" w="med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noAutofit/>
          </a:bodyPr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6" name="Line 47"/>
          <p:cNvSpPr>
            <a:spLocks noChangeShapeType="1"/>
          </p:cNvSpPr>
          <p:nvPr/>
        </p:nvSpPr>
        <p:spPr bwMode="auto">
          <a:xfrm flipV="1">
            <a:off x="3328417" y="1565176"/>
            <a:ext cx="0" cy="2286000"/>
          </a:xfrm>
          <a:prstGeom prst="line">
            <a:avLst/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  <a:round/>
            <a:headEnd/>
            <a:tailEnd type="none" w="med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noAutofit/>
          </a:bodyPr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7" name="Line 48"/>
          <p:cNvSpPr>
            <a:spLocks noChangeShapeType="1"/>
          </p:cNvSpPr>
          <p:nvPr/>
        </p:nvSpPr>
        <p:spPr bwMode="auto">
          <a:xfrm>
            <a:off x="3241104" y="2555776"/>
            <a:ext cx="76200" cy="0"/>
          </a:xfrm>
          <a:prstGeom prst="line">
            <a:avLst/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  <a:round/>
            <a:headEnd/>
            <a:tailEnd type="none" w="med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noAutofit/>
          </a:bodyPr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8" name="Line 49"/>
          <p:cNvSpPr>
            <a:spLocks noChangeShapeType="1"/>
          </p:cNvSpPr>
          <p:nvPr/>
        </p:nvSpPr>
        <p:spPr bwMode="auto">
          <a:xfrm>
            <a:off x="4307904" y="1565176"/>
            <a:ext cx="280988" cy="1588"/>
          </a:xfrm>
          <a:prstGeom prst="line">
            <a:avLst/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  <a:round/>
            <a:headEnd/>
            <a:tailEnd type="none" w="med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noAutofit/>
          </a:bodyPr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9" name="Line 50"/>
          <p:cNvSpPr>
            <a:spLocks noChangeShapeType="1"/>
          </p:cNvSpPr>
          <p:nvPr/>
        </p:nvSpPr>
        <p:spPr bwMode="auto">
          <a:xfrm>
            <a:off x="4307904" y="2327176"/>
            <a:ext cx="280988" cy="1588"/>
          </a:xfrm>
          <a:prstGeom prst="line">
            <a:avLst/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  <a:round/>
            <a:headEnd/>
            <a:tailEnd type="none" w="med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noAutofit/>
          </a:bodyPr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0" name="Line 51"/>
          <p:cNvSpPr>
            <a:spLocks noChangeShapeType="1"/>
          </p:cNvSpPr>
          <p:nvPr/>
        </p:nvSpPr>
        <p:spPr bwMode="auto">
          <a:xfrm>
            <a:off x="4307904" y="3089176"/>
            <a:ext cx="280988" cy="1588"/>
          </a:xfrm>
          <a:prstGeom prst="line">
            <a:avLst/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  <a:round/>
            <a:headEnd/>
            <a:tailEnd type="none" w="med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noAutofit/>
          </a:bodyPr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1" name="Line 52"/>
          <p:cNvSpPr>
            <a:spLocks noChangeShapeType="1"/>
          </p:cNvSpPr>
          <p:nvPr/>
        </p:nvSpPr>
        <p:spPr bwMode="auto">
          <a:xfrm>
            <a:off x="4307904" y="3851176"/>
            <a:ext cx="280988" cy="1588"/>
          </a:xfrm>
          <a:prstGeom prst="line">
            <a:avLst/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  <a:round/>
            <a:headEnd/>
            <a:tailEnd type="none" w="med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noAutofit/>
          </a:bodyPr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2" name="Line 53"/>
          <p:cNvSpPr>
            <a:spLocks noChangeShapeType="1"/>
          </p:cNvSpPr>
          <p:nvPr/>
        </p:nvSpPr>
        <p:spPr bwMode="auto">
          <a:xfrm flipV="1">
            <a:off x="4600004" y="1565176"/>
            <a:ext cx="0" cy="2286000"/>
          </a:xfrm>
          <a:prstGeom prst="line">
            <a:avLst/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  <a:round/>
            <a:headEnd/>
            <a:tailEnd type="none" w="med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noAutofit/>
          </a:bodyPr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3" name="Line 54"/>
          <p:cNvSpPr>
            <a:spLocks noChangeShapeType="1"/>
          </p:cNvSpPr>
          <p:nvPr/>
        </p:nvSpPr>
        <p:spPr bwMode="auto">
          <a:xfrm>
            <a:off x="6457379" y="3451126"/>
            <a:ext cx="381000" cy="0"/>
          </a:xfrm>
          <a:prstGeom prst="line">
            <a:avLst/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  <a:round/>
            <a:headEnd/>
            <a:tailEnd type="triangle" w="med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noAutofit/>
          </a:bodyPr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4" name="Line 55"/>
          <p:cNvSpPr>
            <a:spLocks noChangeShapeType="1"/>
          </p:cNvSpPr>
          <p:nvPr/>
        </p:nvSpPr>
        <p:spPr bwMode="auto">
          <a:xfrm>
            <a:off x="7905179" y="3451126"/>
            <a:ext cx="381000" cy="0"/>
          </a:xfrm>
          <a:prstGeom prst="line">
            <a:avLst/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  <a:round/>
            <a:headEnd/>
            <a:tailEnd type="triangle" w="med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noAutofit/>
          </a:bodyPr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5" name="Line 56"/>
          <p:cNvSpPr>
            <a:spLocks noChangeShapeType="1"/>
          </p:cNvSpPr>
          <p:nvPr/>
        </p:nvSpPr>
        <p:spPr bwMode="auto">
          <a:xfrm>
            <a:off x="5314379" y="3451126"/>
            <a:ext cx="381000" cy="0"/>
          </a:xfrm>
          <a:prstGeom prst="line">
            <a:avLst/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  <a:round/>
            <a:headEnd/>
            <a:tailEnd type="triangle" w="med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noAutofit/>
          </a:bodyPr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6" name="Rectangle 59"/>
          <p:cNvSpPr>
            <a:spLocks noChangeArrowheads="1"/>
          </p:cNvSpPr>
          <p:nvPr/>
        </p:nvSpPr>
        <p:spPr bwMode="auto">
          <a:xfrm>
            <a:off x="5222304" y="4613176"/>
            <a:ext cx="457200" cy="533400"/>
          </a:xfrm>
          <a:prstGeom prst="rect">
            <a:avLst/>
          </a:prstGeom>
          <a:gradFill rotWithShape="0">
            <a:gsLst>
              <a:gs pos="0">
                <a:srgbClr val="FF9900"/>
              </a:gs>
              <a:gs pos="100000">
                <a:srgbClr val="FF9900">
                  <a:gamma/>
                  <a:tint val="63922"/>
                  <a:invGamma/>
                </a:srgbClr>
              </a:gs>
            </a:gsLst>
            <a:lin ang="5400000" scaled="1"/>
          </a:gradFill>
          <a:ln w="6350">
            <a:miter lim="800000"/>
            <a:headEnd/>
            <a:tailEnd type="none" w="med" len="sm"/>
          </a:ln>
          <a:effectLst/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FF9900"/>
            </a:extrusion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noAutofit/>
            <a:flatTx/>
          </a:bodyPr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7" name="Text Box 60"/>
          <p:cNvSpPr txBox="1">
            <a:spLocks noChangeArrowheads="1"/>
          </p:cNvSpPr>
          <p:nvPr/>
        </p:nvSpPr>
        <p:spPr bwMode="auto">
          <a:xfrm>
            <a:off x="3911029" y="4613176"/>
            <a:ext cx="1311275" cy="458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noAutofit/>
          </a:bodyPr>
          <a:lstStyle/>
          <a:p>
            <a:pPr algn="r">
              <a:lnSpc>
                <a:spcPct val="80000"/>
              </a:lnSpc>
            </a:pPr>
            <a:r>
              <a:rPr lang="en-US" altLang="ko-KR" sz="1000" b="1">
                <a:latin typeface="나눔고딕" panose="020D0604000000000000" pitchFamily="50" charset="-127"/>
                <a:ea typeface="나눔고딕" panose="020D0604000000000000" pitchFamily="50" charset="-127"/>
              </a:rPr>
              <a:t>Channel Environment Analysis</a:t>
            </a:r>
          </a:p>
        </p:txBody>
      </p:sp>
      <p:sp>
        <p:nvSpPr>
          <p:cNvPr id="98" name="Freeform 61"/>
          <p:cNvSpPr>
            <a:spLocks/>
          </p:cNvSpPr>
          <p:nvPr/>
        </p:nvSpPr>
        <p:spPr bwMode="auto">
          <a:xfrm flipV="1">
            <a:off x="5908104" y="3698776"/>
            <a:ext cx="838200" cy="1066800"/>
          </a:xfrm>
          <a:custGeom>
            <a:avLst/>
            <a:gdLst>
              <a:gd name="T0" fmla="*/ 0 w 864"/>
              <a:gd name="T1" fmla="*/ 0 h 240"/>
              <a:gd name="T2" fmla="*/ 864 w 864"/>
              <a:gd name="T3" fmla="*/ 0 h 240"/>
              <a:gd name="T4" fmla="*/ 864 w 864"/>
              <a:gd name="T5" fmla="*/ 240 h 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864" h="240">
                <a:moveTo>
                  <a:pt x="0" y="0"/>
                </a:moveTo>
                <a:lnTo>
                  <a:pt x="864" y="0"/>
                </a:lnTo>
                <a:lnTo>
                  <a:pt x="864" y="240"/>
                </a:lnTo>
              </a:path>
            </a:pathLst>
          </a:custGeom>
          <a:noFill/>
          <a:ln w="6350" cap="flat" cmpd="sng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noAutofit/>
          </a:bodyPr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4898099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44017" y="91339"/>
            <a:ext cx="7401271" cy="385333"/>
          </a:xfrm>
          <a:prstGeom prst="rect">
            <a:avLst/>
          </a:prstGeom>
          <a:noFill/>
        </p:spPr>
        <p:txBody>
          <a:bodyPr wrap="square" lIns="0" tIns="53643" rIns="0" bIns="53643" rtlCol="0">
            <a:spAutoFit/>
          </a:bodyPr>
          <a:lstStyle/>
          <a:p>
            <a:r>
              <a:rPr kumimoji="1" lang="en-US" altLang="ko-KR" b="1" kern="0" dirty="0">
                <a:latin typeface="나눔고딕" panose="020D0604000000000000" pitchFamily="50" charset="-127"/>
                <a:ea typeface="나눔고딕" panose="020D0604000000000000" pitchFamily="50" charset="-127"/>
                <a:cs typeface="산돌고딕 M"/>
              </a:rPr>
              <a:t>Multi channel integration</a:t>
            </a:r>
            <a:endParaRPr kumimoji="1" lang="ko-KR" altLang="en-US" b="1" kern="0" dirty="0">
              <a:latin typeface="나눔고딕" panose="020D0604000000000000" pitchFamily="50" charset="-127"/>
              <a:ea typeface="나눔고딕" panose="020D0604000000000000" pitchFamily="50" charset="-127"/>
              <a:cs typeface="산돌고딕 M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44017" y="683985"/>
            <a:ext cx="96335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Customer Scenario Modeling</a:t>
            </a:r>
          </a:p>
        </p:txBody>
      </p:sp>
      <p:pic>
        <p:nvPicPr>
          <p:cNvPr id="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1222" y="1405421"/>
            <a:ext cx="5594490" cy="43772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3" name="Picture 5" descr="man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4687" y="2514673"/>
            <a:ext cx="1454567" cy="18423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4" name="Text Box 6"/>
          <p:cNvSpPr txBox="1">
            <a:spLocks noChangeArrowheads="1"/>
          </p:cNvSpPr>
          <p:nvPr/>
        </p:nvSpPr>
        <p:spPr bwMode="auto">
          <a:xfrm>
            <a:off x="4353893" y="4149080"/>
            <a:ext cx="933269" cy="3273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r>
              <a:rPr kumimoji="1" lang="en-US" altLang="ko-KR" sz="1300" b="1" dirty="0">
                <a:solidFill>
                  <a:srgbClr val="0099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Customer</a:t>
            </a:r>
          </a:p>
        </p:txBody>
      </p:sp>
      <p:sp>
        <p:nvSpPr>
          <p:cNvPr id="65" name="Text Box 7"/>
          <p:cNvSpPr txBox="1">
            <a:spLocks noChangeArrowheads="1"/>
          </p:cNvSpPr>
          <p:nvPr/>
        </p:nvSpPr>
        <p:spPr bwMode="auto">
          <a:xfrm>
            <a:off x="5601072" y="4945382"/>
            <a:ext cx="1851969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ko-KR" altLang="en-US" sz="1000" b="1">
                <a:latin typeface="나눔고딕" panose="020D0604000000000000" pitchFamily="50" charset="-127"/>
                <a:ea typeface="나눔고딕" panose="020D0604000000000000" pitchFamily="50" charset="-127"/>
              </a:rPr>
              <a:t>서비스에 </a:t>
            </a:r>
            <a:r>
              <a:rPr kumimoji="1"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대해 물어보고 싶은데 어떻게 하지</a:t>
            </a:r>
            <a:r>
              <a:rPr kumimoji="1"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?</a:t>
            </a:r>
          </a:p>
        </p:txBody>
      </p:sp>
      <p:sp>
        <p:nvSpPr>
          <p:cNvPr id="66" name="Text Box 8"/>
          <p:cNvSpPr txBox="1">
            <a:spLocks noChangeArrowheads="1"/>
          </p:cNvSpPr>
          <p:nvPr/>
        </p:nvSpPr>
        <p:spPr bwMode="auto">
          <a:xfrm>
            <a:off x="2144688" y="4982979"/>
            <a:ext cx="1851969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kumimoji="1" lang="ko-KR" altLang="en-US" sz="1000" b="1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내 미래는 어떻게 하지</a:t>
            </a:r>
            <a:r>
              <a:rPr kumimoji="1" lang="en-US" altLang="ko-KR" sz="1000" b="1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?</a:t>
            </a:r>
          </a:p>
        </p:txBody>
      </p:sp>
      <p:sp>
        <p:nvSpPr>
          <p:cNvPr id="67" name="Text Box 9"/>
          <p:cNvSpPr txBox="1">
            <a:spLocks noChangeArrowheads="1"/>
          </p:cNvSpPr>
          <p:nvPr/>
        </p:nvSpPr>
        <p:spPr bwMode="auto">
          <a:xfrm>
            <a:off x="2166773" y="1876762"/>
            <a:ext cx="1851969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앞으로 </a:t>
            </a:r>
            <a:r>
              <a:rPr kumimoji="1" lang="ko-KR" altLang="en-US" sz="1000" b="1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내 아이들의 학자금</a:t>
            </a:r>
            <a:r>
              <a:rPr kumimoji="1"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은 어떻게 해야 할까</a:t>
            </a:r>
            <a:r>
              <a:rPr kumimoji="1"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…</a:t>
            </a:r>
          </a:p>
        </p:txBody>
      </p:sp>
      <p:sp>
        <p:nvSpPr>
          <p:cNvPr id="68" name="Text Box 10"/>
          <p:cNvSpPr txBox="1">
            <a:spLocks noChangeArrowheads="1"/>
          </p:cNvSpPr>
          <p:nvPr/>
        </p:nvSpPr>
        <p:spPr bwMode="auto">
          <a:xfrm>
            <a:off x="5601072" y="1876762"/>
            <a:ext cx="1851969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ko-KR" altLang="en-US" sz="1000" b="1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서비스에 </a:t>
            </a:r>
            <a:r>
              <a:rPr kumimoji="1" lang="ko-KR" altLang="en-US" sz="1000" b="1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가입</a:t>
            </a:r>
            <a:r>
              <a:rPr kumimoji="1"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해야겠는데 어떤 것이 가장 좋을까</a:t>
            </a:r>
            <a:r>
              <a:rPr kumimoji="1"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? </a:t>
            </a:r>
          </a:p>
        </p:txBody>
      </p:sp>
      <p:sp>
        <p:nvSpPr>
          <p:cNvPr id="69" name="Text Box 11"/>
          <p:cNvSpPr txBox="1">
            <a:spLocks noChangeArrowheads="1"/>
          </p:cNvSpPr>
          <p:nvPr/>
        </p:nvSpPr>
        <p:spPr bwMode="auto">
          <a:xfrm>
            <a:off x="920552" y="6043060"/>
            <a:ext cx="8333861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" altLang="ko-KR" sz="1000">
                <a:latin typeface="나눔고딕" panose="020D0604000000000000" pitchFamily="50" charset="-127"/>
                <a:ea typeface="나눔고딕" panose="020D0604000000000000" pitchFamily="50" charset="-127"/>
              </a:rPr>
              <a:t>XXX</a:t>
            </a:r>
            <a:r>
              <a:rPr kumimoji="1" lang="ko-KR" altLang="en-US" sz="1000">
                <a:latin typeface="나눔고딕" panose="020D0604000000000000" pitchFamily="50" charset="-127"/>
                <a:ea typeface="나눔고딕" panose="020D0604000000000000" pitchFamily="50" charset="-127"/>
              </a:rPr>
              <a:t>서비스 </a:t>
            </a:r>
            <a:r>
              <a:rPr kumimoji="1"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온라인 판매 사이트이 방문하는 주요 목적을 중심으로 고객의 사이트 사용 시나리오를 </a:t>
            </a:r>
            <a:r>
              <a:rPr kumimoji="1"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Modeling </a:t>
            </a:r>
            <a:r>
              <a:rPr kumimoji="1"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하여</a:t>
            </a:r>
            <a:br>
              <a:rPr kumimoji="1"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kumimoji="1" lang="ko-KR" altLang="en-US" sz="1000">
                <a:latin typeface="나눔고딕" panose="020D0604000000000000" pitchFamily="50" charset="-127"/>
                <a:ea typeface="나눔고딕" panose="020D0604000000000000" pitchFamily="50" charset="-127"/>
              </a:rPr>
              <a:t>고객의 서비스에 </a:t>
            </a:r>
            <a:r>
              <a:rPr kumimoji="1"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대한 </a:t>
            </a:r>
            <a:r>
              <a:rPr kumimoji="1"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needs, </a:t>
            </a:r>
            <a:r>
              <a:rPr kumimoji="1" lang="ko-KR" altLang="en-US" sz="1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채널별</a:t>
            </a:r>
            <a:r>
              <a:rPr kumimoji="1"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kumimoji="1"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needs</a:t>
            </a:r>
            <a:r>
              <a:rPr kumimoji="1"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를 파악하여 반영합니다</a:t>
            </a:r>
            <a:r>
              <a:rPr kumimoji="1"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</p:txBody>
      </p:sp>
      <p:sp>
        <p:nvSpPr>
          <p:cNvPr id="70" name="Line 12"/>
          <p:cNvSpPr>
            <a:spLocks noChangeShapeType="1"/>
          </p:cNvSpPr>
          <p:nvPr/>
        </p:nvSpPr>
        <p:spPr bwMode="auto">
          <a:xfrm>
            <a:off x="1055591" y="5979398"/>
            <a:ext cx="312519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77516509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44017" y="91339"/>
            <a:ext cx="7401271" cy="385333"/>
          </a:xfrm>
          <a:prstGeom prst="rect">
            <a:avLst/>
          </a:prstGeom>
          <a:noFill/>
        </p:spPr>
        <p:txBody>
          <a:bodyPr wrap="square" lIns="0" tIns="53643" rIns="0" bIns="53643" rtlCol="0">
            <a:spAutoFit/>
          </a:bodyPr>
          <a:lstStyle/>
          <a:p>
            <a:r>
              <a:rPr kumimoji="1" lang="en-US" altLang="ko-KR" b="1" kern="0" dirty="0">
                <a:latin typeface="나눔고딕" panose="020D0604000000000000" pitchFamily="50" charset="-127"/>
                <a:ea typeface="나눔고딕" panose="020D0604000000000000" pitchFamily="50" charset="-127"/>
                <a:cs typeface="산돌고딕 M"/>
              </a:rPr>
              <a:t>Multi channel integration</a:t>
            </a:r>
            <a:endParaRPr kumimoji="1" lang="ko-KR" altLang="en-US" b="1" kern="0" dirty="0">
              <a:latin typeface="나눔고딕" panose="020D0604000000000000" pitchFamily="50" charset="-127"/>
              <a:ea typeface="나눔고딕" panose="020D0604000000000000" pitchFamily="50" charset="-127"/>
              <a:cs typeface="산돌고딕 M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44017" y="683985"/>
            <a:ext cx="96335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Customer’s Need</a:t>
            </a:r>
          </a:p>
        </p:txBody>
      </p:sp>
      <p:sp>
        <p:nvSpPr>
          <p:cNvPr id="13" name="Text Box 3"/>
          <p:cNvSpPr txBox="1">
            <a:spLocks noChangeArrowheads="1"/>
          </p:cNvSpPr>
          <p:nvPr/>
        </p:nvSpPr>
        <p:spPr bwMode="auto">
          <a:xfrm>
            <a:off x="358205" y="1697385"/>
            <a:ext cx="3952875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noAutofit/>
          </a:bodyPr>
          <a:lstStyle/>
          <a:p>
            <a:pPr>
              <a:spcBef>
                <a:spcPct val="50000"/>
              </a:spcBef>
            </a:pPr>
            <a:r>
              <a:rPr kumimoji="1" lang="ko-KR" altLang="en-US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앞으로 내 아이들의 학자금은 어떻게 해야 할까</a:t>
            </a:r>
            <a:r>
              <a:rPr kumimoji="1" lang="en-US" altLang="ko-KR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…</a:t>
            </a:r>
          </a:p>
        </p:txBody>
      </p:sp>
      <p:sp>
        <p:nvSpPr>
          <p:cNvPr id="14" name="Text Box 4"/>
          <p:cNvSpPr txBox="1">
            <a:spLocks noChangeArrowheads="1"/>
          </p:cNvSpPr>
          <p:nvPr/>
        </p:nvSpPr>
        <p:spPr bwMode="auto">
          <a:xfrm>
            <a:off x="358205" y="3020094"/>
            <a:ext cx="3952875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noAutofit/>
          </a:bodyPr>
          <a:lstStyle/>
          <a:p>
            <a:pPr>
              <a:spcBef>
                <a:spcPct val="50000"/>
              </a:spcBef>
            </a:pPr>
            <a:r>
              <a:rPr kumimoji="1" lang="ko-KR" altLang="en-US" sz="1200" b="1">
                <a:latin typeface="나눔고딕" panose="020D0604000000000000" pitchFamily="50" charset="-127"/>
                <a:ea typeface="나눔고딕" panose="020D0604000000000000" pitchFamily="50" charset="-127"/>
              </a:rPr>
              <a:t>서비스에 </a:t>
            </a:r>
            <a:r>
              <a:rPr kumimoji="1" lang="ko-KR" altLang="en-US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가입해야겠는데 어떤 것이 가장 좋을까</a:t>
            </a:r>
            <a:r>
              <a:rPr kumimoji="1" lang="en-US" altLang="ko-KR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? </a:t>
            </a:r>
          </a:p>
        </p:txBody>
      </p:sp>
      <p:sp>
        <p:nvSpPr>
          <p:cNvPr id="15" name="Text Box 5"/>
          <p:cNvSpPr txBox="1">
            <a:spLocks noChangeArrowheads="1"/>
          </p:cNvSpPr>
          <p:nvPr/>
        </p:nvSpPr>
        <p:spPr bwMode="auto">
          <a:xfrm>
            <a:off x="358205" y="4374926"/>
            <a:ext cx="3952875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noAutofit/>
          </a:bodyPr>
          <a:lstStyle/>
          <a:p>
            <a:pPr>
              <a:spcBef>
                <a:spcPct val="50000"/>
              </a:spcBef>
            </a:pPr>
            <a:r>
              <a:rPr kumimoji="1" lang="ko-KR" altLang="en-US" sz="1200" b="1">
                <a:latin typeface="나눔고딕" panose="020D0604000000000000" pitchFamily="50" charset="-127"/>
                <a:ea typeface="나눔고딕" panose="020D0604000000000000" pitchFamily="50" charset="-127"/>
              </a:rPr>
              <a:t>서비스에 </a:t>
            </a:r>
            <a:r>
              <a:rPr kumimoji="1" lang="ko-KR" altLang="en-US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대해 물어보고 싶은데 어떻게 하지</a:t>
            </a:r>
            <a:r>
              <a:rPr kumimoji="1" lang="en-US" altLang="ko-KR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?</a:t>
            </a:r>
          </a:p>
        </p:txBody>
      </p:sp>
      <p:sp>
        <p:nvSpPr>
          <p:cNvPr id="16" name="AutoShape 6"/>
          <p:cNvSpPr>
            <a:spLocks noChangeArrowheads="1"/>
          </p:cNvSpPr>
          <p:nvPr/>
        </p:nvSpPr>
        <p:spPr bwMode="auto">
          <a:xfrm>
            <a:off x="272480" y="1564035"/>
            <a:ext cx="3528392" cy="590550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bg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noAutofit/>
          </a:bodyPr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7" name="AutoShape 7"/>
          <p:cNvSpPr>
            <a:spLocks noChangeArrowheads="1"/>
          </p:cNvSpPr>
          <p:nvPr/>
        </p:nvSpPr>
        <p:spPr bwMode="auto">
          <a:xfrm>
            <a:off x="272480" y="2820069"/>
            <a:ext cx="3528392" cy="666750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bg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noAutofit/>
          </a:bodyPr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" name="AutoShape 8"/>
          <p:cNvSpPr>
            <a:spLocks noChangeArrowheads="1"/>
          </p:cNvSpPr>
          <p:nvPr/>
        </p:nvSpPr>
        <p:spPr bwMode="auto">
          <a:xfrm>
            <a:off x="272480" y="4174901"/>
            <a:ext cx="3528392" cy="666750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bg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noAutofit/>
          </a:bodyPr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9" name="Text Box 9"/>
          <p:cNvSpPr txBox="1">
            <a:spLocks noChangeArrowheads="1"/>
          </p:cNvSpPr>
          <p:nvPr/>
        </p:nvSpPr>
        <p:spPr bwMode="auto">
          <a:xfrm>
            <a:off x="272480" y="1268760"/>
            <a:ext cx="685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noAutofit/>
          </a:bodyPr>
          <a:lstStyle/>
          <a:p>
            <a:pPr>
              <a:spcBef>
                <a:spcPct val="50000"/>
              </a:spcBef>
            </a:pPr>
            <a:r>
              <a:rPr kumimoji="1" lang="en-US" altLang="ko-KR" sz="2800" b="1">
                <a:solidFill>
                  <a:srgbClr val="FF99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</a:p>
        </p:txBody>
      </p:sp>
      <p:sp>
        <p:nvSpPr>
          <p:cNvPr id="20" name="Text Box 10"/>
          <p:cNvSpPr txBox="1">
            <a:spLocks noChangeArrowheads="1"/>
          </p:cNvSpPr>
          <p:nvPr/>
        </p:nvSpPr>
        <p:spPr bwMode="auto">
          <a:xfrm>
            <a:off x="301055" y="2572419"/>
            <a:ext cx="685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noAutofit/>
          </a:bodyPr>
          <a:lstStyle/>
          <a:p>
            <a:pPr>
              <a:spcBef>
                <a:spcPct val="50000"/>
              </a:spcBef>
            </a:pPr>
            <a:r>
              <a:rPr kumimoji="1" lang="en-US" altLang="ko-KR" sz="2800" b="1">
                <a:solidFill>
                  <a:srgbClr val="FF99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r>
          </a:p>
        </p:txBody>
      </p:sp>
      <p:sp>
        <p:nvSpPr>
          <p:cNvPr id="21" name="Text Box 11"/>
          <p:cNvSpPr txBox="1">
            <a:spLocks noChangeArrowheads="1"/>
          </p:cNvSpPr>
          <p:nvPr/>
        </p:nvSpPr>
        <p:spPr bwMode="auto">
          <a:xfrm>
            <a:off x="301055" y="3911376"/>
            <a:ext cx="685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noAutofit/>
          </a:bodyPr>
          <a:lstStyle/>
          <a:p>
            <a:pPr>
              <a:spcBef>
                <a:spcPct val="50000"/>
              </a:spcBef>
            </a:pPr>
            <a:r>
              <a:rPr kumimoji="1" lang="en-US" altLang="ko-KR" sz="2800" b="1">
                <a:solidFill>
                  <a:srgbClr val="FF99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</a:p>
        </p:txBody>
      </p:sp>
      <p:sp>
        <p:nvSpPr>
          <p:cNvPr id="22" name="Text Box 15"/>
          <p:cNvSpPr txBox="1">
            <a:spLocks noChangeArrowheads="1"/>
          </p:cNvSpPr>
          <p:nvPr/>
        </p:nvSpPr>
        <p:spPr bwMode="auto">
          <a:xfrm>
            <a:off x="358205" y="5663083"/>
            <a:ext cx="3952875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noAutofit/>
          </a:bodyPr>
          <a:lstStyle/>
          <a:p>
            <a:pPr>
              <a:spcBef>
                <a:spcPct val="50000"/>
              </a:spcBef>
            </a:pPr>
            <a:r>
              <a:rPr kumimoji="1" lang="ko-KR" altLang="en-US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내 지금 자금상태로 가능할까</a:t>
            </a:r>
            <a:r>
              <a:rPr kumimoji="1" lang="en-US" altLang="ko-KR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?</a:t>
            </a:r>
          </a:p>
        </p:txBody>
      </p:sp>
      <p:sp>
        <p:nvSpPr>
          <p:cNvPr id="23" name="AutoShape 16"/>
          <p:cNvSpPr>
            <a:spLocks noChangeArrowheads="1"/>
          </p:cNvSpPr>
          <p:nvPr/>
        </p:nvSpPr>
        <p:spPr bwMode="auto">
          <a:xfrm>
            <a:off x="272480" y="5485283"/>
            <a:ext cx="3528392" cy="590550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bg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noAutofit/>
          </a:bodyPr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4" name="Text Box 17"/>
          <p:cNvSpPr txBox="1">
            <a:spLocks noChangeArrowheads="1"/>
          </p:cNvSpPr>
          <p:nvPr/>
        </p:nvSpPr>
        <p:spPr bwMode="auto">
          <a:xfrm>
            <a:off x="301055" y="5190008"/>
            <a:ext cx="685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noAutofit/>
          </a:bodyPr>
          <a:lstStyle/>
          <a:p>
            <a:pPr>
              <a:spcBef>
                <a:spcPct val="50000"/>
              </a:spcBef>
            </a:pPr>
            <a:r>
              <a:rPr kumimoji="1" lang="en-US" altLang="ko-KR" sz="2800" b="1">
                <a:solidFill>
                  <a:srgbClr val="FF99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4</a:t>
            </a:r>
          </a:p>
        </p:txBody>
      </p:sp>
      <p:sp>
        <p:nvSpPr>
          <p:cNvPr id="31" name="Text Box 24"/>
          <p:cNvSpPr txBox="1">
            <a:spLocks noChangeArrowheads="1"/>
          </p:cNvSpPr>
          <p:nvPr/>
        </p:nvSpPr>
        <p:spPr bwMode="auto">
          <a:xfrm>
            <a:off x="5599274" y="1544985"/>
            <a:ext cx="785812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noAutofit/>
          </a:bodyPr>
          <a:lstStyle/>
          <a:p>
            <a:pPr>
              <a:spcBef>
                <a:spcPct val="50000"/>
              </a:spcBef>
            </a:pPr>
            <a:r>
              <a:rPr kumimoji="1" lang="en-US" altLang="ko-KR" sz="4400" b="1">
                <a:solidFill>
                  <a:schemeClr val="accent2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=</a:t>
            </a:r>
          </a:p>
        </p:txBody>
      </p:sp>
      <p:sp>
        <p:nvSpPr>
          <p:cNvPr id="32" name="Text Box 25"/>
          <p:cNvSpPr txBox="1">
            <a:spLocks noChangeArrowheads="1"/>
          </p:cNvSpPr>
          <p:nvPr/>
        </p:nvSpPr>
        <p:spPr bwMode="auto">
          <a:xfrm>
            <a:off x="7621984" y="1544985"/>
            <a:ext cx="787400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noAutofit/>
          </a:bodyPr>
          <a:lstStyle/>
          <a:p>
            <a:pPr>
              <a:spcBef>
                <a:spcPct val="50000"/>
              </a:spcBef>
            </a:pPr>
            <a:r>
              <a:rPr kumimoji="1" lang="en-US" altLang="ko-KR" sz="4400" b="1" dirty="0">
                <a:solidFill>
                  <a:schemeClr val="accent2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&gt;</a:t>
            </a:r>
          </a:p>
        </p:txBody>
      </p:sp>
      <p:sp>
        <p:nvSpPr>
          <p:cNvPr id="35" name="Text Box 28"/>
          <p:cNvSpPr txBox="1">
            <a:spLocks noChangeArrowheads="1"/>
          </p:cNvSpPr>
          <p:nvPr/>
        </p:nvSpPr>
        <p:spPr bwMode="auto">
          <a:xfrm>
            <a:off x="5659599" y="2751807"/>
            <a:ext cx="784225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noAutofit/>
          </a:bodyPr>
          <a:lstStyle/>
          <a:p>
            <a:pPr>
              <a:spcBef>
                <a:spcPct val="50000"/>
              </a:spcBef>
            </a:pPr>
            <a:r>
              <a:rPr kumimoji="1" lang="en-US" altLang="ko-KR" sz="4400" b="1" dirty="0">
                <a:solidFill>
                  <a:schemeClr val="accent2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&gt;</a:t>
            </a:r>
          </a:p>
        </p:txBody>
      </p:sp>
      <p:sp>
        <p:nvSpPr>
          <p:cNvPr id="44" name="Text Box 37"/>
          <p:cNvSpPr txBox="1">
            <a:spLocks noChangeArrowheads="1"/>
          </p:cNvSpPr>
          <p:nvPr/>
        </p:nvSpPr>
        <p:spPr bwMode="auto">
          <a:xfrm>
            <a:off x="7528334" y="2810544"/>
            <a:ext cx="785813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noAutofit/>
          </a:bodyPr>
          <a:lstStyle/>
          <a:p>
            <a:pPr>
              <a:spcBef>
                <a:spcPct val="50000"/>
              </a:spcBef>
            </a:pPr>
            <a:r>
              <a:rPr kumimoji="1" lang="en-US" altLang="ko-KR" sz="4400" b="1">
                <a:solidFill>
                  <a:schemeClr val="accent2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=</a:t>
            </a:r>
          </a:p>
        </p:txBody>
      </p:sp>
      <p:grpSp>
        <p:nvGrpSpPr>
          <p:cNvPr id="76" name="iPhone"/>
          <p:cNvGrpSpPr>
            <a:grpSpLocks noChangeAspect="1"/>
          </p:cNvGrpSpPr>
          <p:nvPr/>
        </p:nvGrpSpPr>
        <p:grpSpPr>
          <a:xfrm>
            <a:off x="4747524" y="1446306"/>
            <a:ext cx="466380" cy="916242"/>
            <a:chOff x="508000" y="1397000"/>
            <a:chExt cx="2285999" cy="4491038"/>
          </a:xfrm>
        </p:grpSpPr>
        <p:sp>
          <p:nvSpPr>
            <p:cNvPr id="77" name="Case"/>
            <p:cNvSpPr>
              <a:spLocks/>
            </p:cNvSpPr>
            <p:nvPr/>
          </p:nvSpPr>
          <p:spPr bwMode="auto">
            <a:xfrm>
              <a:off x="508000" y="1397000"/>
              <a:ext cx="2285999" cy="4491038"/>
            </a:xfrm>
            <a:prstGeom prst="roundRect">
              <a:avLst>
                <a:gd name="adj" fmla="val 13146"/>
              </a:avLst>
            </a:prstGeom>
            <a:solidFill>
              <a:schemeClr val="tx1">
                <a:lumMod val="50000"/>
                <a:lumOff val="50000"/>
              </a:schemeClr>
            </a:solidFill>
            <a:ln w="6350" cap="flat" cmpd="sng" algn="ctr">
              <a:solidFill>
                <a:srgbClr val="333333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78" name="Display"/>
            <p:cNvSpPr>
              <a:spLocks/>
            </p:cNvSpPr>
            <p:nvPr/>
          </p:nvSpPr>
          <p:spPr bwMode="auto">
            <a:xfrm>
              <a:off x="641349" y="2147888"/>
              <a:ext cx="2019300" cy="3024188"/>
            </a:xfrm>
            <a:prstGeom prst="rect">
              <a:avLst/>
            </a:prstGeom>
            <a:solidFill>
              <a:schemeClr val="bg1"/>
            </a:solidFill>
            <a:ln w="6350" cap="flat" cmpd="sng" algn="ctr">
              <a:solidFill>
                <a:srgbClr val="333333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79" name="Speaker"/>
            <p:cNvSpPr>
              <a:spLocks/>
            </p:cNvSpPr>
            <p:nvPr/>
          </p:nvSpPr>
          <p:spPr bwMode="auto">
            <a:xfrm>
              <a:off x="1433512" y="1738314"/>
              <a:ext cx="434975" cy="84138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65000"/>
              </a:schemeClr>
            </a:solidFill>
            <a:ln w="6350" cap="flat" cmpd="sng" algn="ctr">
              <a:solidFill>
                <a:srgbClr val="333333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endParaRPr>
            </a:p>
          </p:txBody>
        </p:sp>
        <p:grpSp>
          <p:nvGrpSpPr>
            <p:cNvPr id="80" name="Camera"/>
            <p:cNvGrpSpPr/>
            <p:nvPr/>
          </p:nvGrpSpPr>
          <p:grpSpPr>
            <a:xfrm>
              <a:off x="1175120" y="1735138"/>
              <a:ext cx="90490" cy="90490"/>
              <a:chOff x="1175120" y="1735138"/>
              <a:chExt cx="90490" cy="90490"/>
            </a:xfrm>
          </p:grpSpPr>
          <p:sp>
            <p:nvSpPr>
              <p:cNvPr id="84" name="Camera Outer"/>
              <p:cNvSpPr>
                <a:spLocks/>
              </p:cNvSpPr>
              <p:nvPr/>
            </p:nvSpPr>
            <p:spPr bwMode="auto">
              <a:xfrm>
                <a:off x="1175120" y="1735138"/>
                <a:ext cx="90490" cy="90490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 w="6350" cap="flat" cmpd="sng" algn="ctr">
                <a:solidFill>
                  <a:srgbClr val="333333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900" dirty="0">
                  <a:solidFill>
                    <a:srgbClr val="333333"/>
                  </a:solidFill>
                  <a:latin typeface="Calibri" pitchFamily="34" charset="0"/>
                  <a:cs typeface="Calibri" pitchFamily="34" charset="0"/>
                </a:endParaRPr>
              </a:p>
            </p:txBody>
          </p:sp>
          <p:sp>
            <p:nvSpPr>
              <p:cNvPr id="85" name="Camera Inner"/>
              <p:cNvSpPr>
                <a:spLocks/>
              </p:cNvSpPr>
              <p:nvPr/>
            </p:nvSpPr>
            <p:spPr bwMode="auto">
              <a:xfrm>
                <a:off x="1205965" y="1765983"/>
                <a:ext cx="28800" cy="28800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 w="6350" cap="flat" cmpd="sng" algn="ctr">
                <a:solidFill>
                  <a:srgbClr val="333333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900" dirty="0">
                  <a:solidFill>
                    <a:srgbClr val="333333"/>
                  </a:solidFill>
                  <a:latin typeface="Calibri" pitchFamily="34" charset="0"/>
                  <a:cs typeface="Calibri" pitchFamily="34" charset="0"/>
                </a:endParaRPr>
              </a:p>
            </p:txBody>
          </p:sp>
        </p:grpSp>
        <p:grpSp>
          <p:nvGrpSpPr>
            <p:cNvPr id="81" name="Button"/>
            <p:cNvGrpSpPr/>
            <p:nvPr/>
          </p:nvGrpSpPr>
          <p:grpSpPr>
            <a:xfrm>
              <a:off x="1447799" y="5332413"/>
              <a:ext cx="406400" cy="406400"/>
              <a:chOff x="1447799" y="5332413"/>
              <a:chExt cx="406400" cy="406400"/>
            </a:xfrm>
          </p:grpSpPr>
          <p:sp>
            <p:nvSpPr>
              <p:cNvPr id="82" name="Button Outer"/>
              <p:cNvSpPr>
                <a:spLocks/>
              </p:cNvSpPr>
              <p:nvPr/>
            </p:nvSpPr>
            <p:spPr bwMode="auto">
              <a:xfrm>
                <a:off x="1447799" y="5332413"/>
                <a:ext cx="406400" cy="406400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 w="6350" cap="flat" cmpd="sng" algn="ctr">
                <a:solidFill>
                  <a:srgbClr val="333333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900" dirty="0">
                  <a:solidFill>
                    <a:srgbClr val="333333"/>
                  </a:solidFill>
                  <a:latin typeface="Calibri" pitchFamily="34" charset="0"/>
                  <a:cs typeface="Calibri" pitchFamily="34" charset="0"/>
                </a:endParaRPr>
              </a:p>
            </p:txBody>
          </p:sp>
          <p:sp>
            <p:nvSpPr>
              <p:cNvPr id="83" name="Button Inner"/>
              <p:cNvSpPr>
                <a:spLocks/>
              </p:cNvSpPr>
              <p:nvPr/>
            </p:nvSpPr>
            <p:spPr bwMode="auto">
              <a:xfrm>
                <a:off x="1583245" y="5467213"/>
                <a:ext cx="135508" cy="136800"/>
              </a:xfrm>
              <a:prstGeom prst="roundRect">
                <a:avLst>
                  <a:gd name="adj" fmla="val 32086"/>
                </a:avLst>
              </a:prstGeom>
              <a:solidFill>
                <a:schemeClr val="bg1">
                  <a:lumMod val="65000"/>
                </a:schemeClr>
              </a:solidFill>
              <a:ln w="6350" cap="flat" cmpd="sng" algn="ctr">
                <a:solidFill>
                  <a:srgbClr val="333333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900" dirty="0">
                  <a:solidFill>
                    <a:srgbClr val="262626"/>
                  </a:solidFill>
                  <a:latin typeface="Calibri" pitchFamily="34" charset="0"/>
                  <a:cs typeface="Calibri" pitchFamily="34" charset="0"/>
                </a:endParaRPr>
              </a:p>
            </p:txBody>
          </p:sp>
        </p:grpSp>
      </p:grpSp>
      <p:grpSp>
        <p:nvGrpSpPr>
          <p:cNvPr id="91" name="iPad"/>
          <p:cNvGrpSpPr>
            <a:grpSpLocks noChangeAspect="1"/>
          </p:cNvGrpSpPr>
          <p:nvPr/>
        </p:nvGrpSpPr>
        <p:grpSpPr>
          <a:xfrm>
            <a:off x="6623335" y="1539037"/>
            <a:ext cx="604361" cy="782656"/>
            <a:chOff x="4644008" y="366712"/>
            <a:chExt cx="4367724" cy="5656263"/>
          </a:xfrm>
        </p:grpSpPr>
        <p:sp>
          <p:nvSpPr>
            <p:cNvPr id="92" name="Case"/>
            <p:cNvSpPr>
              <a:spLocks/>
            </p:cNvSpPr>
            <p:nvPr/>
          </p:nvSpPr>
          <p:spPr bwMode="auto">
            <a:xfrm>
              <a:off x="4644008" y="366712"/>
              <a:ext cx="4367724" cy="5656263"/>
            </a:xfrm>
            <a:prstGeom prst="roundRect">
              <a:avLst>
                <a:gd name="adj" fmla="val 5018"/>
              </a:avLst>
            </a:prstGeom>
            <a:solidFill>
              <a:schemeClr val="tx1">
                <a:lumMod val="50000"/>
                <a:lumOff val="50000"/>
              </a:schemeClr>
            </a:solidFill>
            <a:ln w="6350" cap="flat" cmpd="sng" algn="ctr">
              <a:solidFill>
                <a:srgbClr val="333333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93" name="Display"/>
            <p:cNvSpPr>
              <a:spLocks/>
            </p:cNvSpPr>
            <p:nvPr/>
          </p:nvSpPr>
          <p:spPr bwMode="auto">
            <a:xfrm>
              <a:off x="5073683" y="868363"/>
              <a:ext cx="3508375" cy="4668838"/>
            </a:xfrm>
            <a:prstGeom prst="rect">
              <a:avLst/>
            </a:prstGeom>
            <a:solidFill>
              <a:schemeClr val="bg1"/>
            </a:solidFill>
            <a:ln w="6350" cap="flat" cmpd="sng" algn="ctr">
              <a:solidFill>
                <a:srgbClr val="333333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94" name="Camera"/>
            <p:cNvSpPr>
              <a:spLocks noChangeAspect="1"/>
            </p:cNvSpPr>
            <p:nvPr/>
          </p:nvSpPr>
          <p:spPr bwMode="auto">
            <a:xfrm>
              <a:off x="6808070" y="593813"/>
              <a:ext cx="39600" cy="396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 w="6350" cap="flat" cmpd="sng" algn="ctr">
              <a:solidFill>
                <a:srgbClr val="333333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333333"/>
                </a:solidFill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95" name="Button"/>
            <p:cNvSpPr>
              <a:spLocks/>
            </p:cNvSpPr>
            <p:nvPr/>
          </p:nvSpPr>
          <p:spPr bwMode="auto">
            <a:xfrm>
              <a:off x="6784670" y="5750837"/>
              <a:ext cx="86400" cy="86400"/>
            </a:xfrm>
            <a:prstGeom prst="roundRect">
              <a:avLst>
                <a:gd name="adj" fmla="val 25376"/>
              </a:avLst>
            </a:prstGeom>
            <a:solidFill>
              <a:schemeClr val="bg1">
                <a:lumMod val="65000"/>
              </a:schemeClr>
            </a:solidFill>
            <a:ln w="6350" cap="flat" cmpd="sng" algn="ctr">
              <a:solidFill>
                <a:srgbClr val="333333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endParaRPr>
            </a:p>
          </p:txBody>
        </p:sp>
      </p:grpSp>
      <p:pic>
        <p:nvPicPr>
          <p:cNvPr id="9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0825" y="1471092"/>
            <a:ext cx="1362695" cy="8969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9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60912" y="2708920"/>
            <a:ext cx="1362695" cy="8969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00" name="iPad"/>
          <p:cNvGrpSpPr>
            <a:grpSpLocks noChangeAspect="1"/>
          </p:cNvGrpSpPr>
          <p:nvPr/>
        </p:nvGrpSpPr>
        <p:grpSpPr>
          <a:xfrm>
            <a:off x="6623335" y="2741479"/>
            <a:ext cx="604361" cy="782656"/>
            <a:chOff x="4644008" y="366712"/>
            <a:chExt cx="4367724" cy="5656263"/>
          </a:xfrm>
        </p:grpSpPr>
        <p:sp>
          <p:nvSpPr>
            <p:cNvPr id="101" name="Case"/>
            <p:cNvSpPr>
              <a:spLocks/>
            </p:cNvSpPr>
            <p:nvPr/>
          </p:nvSpPr>
          <p:spPr bwMode="auto">
            <a:xfrm>
              <a:off x="4644008" y="366712"/>
              <a:ext cx="4367724" cy="5656263"/>
            </a:xfrm>
            <a:prstGeom prst="roundRect">
              <a:avLst>
                <a:gd name="adj" fmla="val 5018"/>
              </a:avLst>
            </a:prstGeom>
            <a:solidFill>
              <a:schemeClr val="tx1">
                <a:lumMod val="50000"/>
                <a:lumOff val="50000"/>
              </a:schemeClr>
            </a:solidFill>
            <a:ln w="6350" cap="flat" cmpd="sng" algn="ctr">
              <a:solidFill>
                <a:srgbClr val="333333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102" name="Display"/>
            <p:cNvSpPr>
              <a:spLocks/>
            </p:cNvSpPr>
            <p:nvPr/>
          </p:nvSpPr>
          <p:spPr bwMode="auto">
            <a:xfrm>
              <a:off x="5073683" y="868363"/>
              <a:ext cx="3508375" cy="4668838"/>
            </a:xfrm>
            <a:prstGeom prst="rect">
              <a:avLst/>
            </a:prstGeom>
            <a:solidFill>
              <a:schemeClr val="bg1"/>
            </a:solidFill>
            <a:ln w="6350" cap="flat" cmpd="sng" algn="ctr">
              <a:solidFill>
                <a:srgbClr val="333333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103" name="Camera"/>
            <p:cNvSpPr>
              <a:spLocks noChangeAspect="1"/>
            </p:cNvSpPr>
            <p:nvPr/>
          </p:nvSpPr>
          <p:spPr bwMode="auto">
            <a:xfrm>
              <a:off x="6808070" y="593813"/>
              <a:ext cx="39600" cy="396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 w="6350" cap="flat" cmpd="sng" algn="ctr">
              <a:solidFill>
                <a:srgbClr val="333333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333333"/>
                </a:solidFill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104" name="Button"/>
            <p:cNvSpPr>
              <a:spLocks/>
            </p:cNvSpPr>
            <p:nvPr/>
          </p:nvSpPr>
          <p:spPr bwMode="auto">
            <a:xfrm>
              <a:off x="6784670" y="5750837"/>
              <a:ext cx="86400" cy="86400"/>
            </a:xfrm>
            <a:prstGeom prst="roundRect">
              <a:avLst>
                <a:gd name="adj" fmla="val 25376"/>
              </a:avLst>
            </a:prstGeom>
            <a:solidFill>
              <a:schemeClr val="bg1">
                <a:lumMod val="65000"/>
              </a:schemeClr>
            </a:solidFill>
            <a:ln w="6350" cap="flat" cmpd="sng" algn="ctr">
              <a:solidFill>
                <a:srgbClr val="333333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endParaRPr>
            </a:p>
          </p:txBody>
        </p:sp>
      </p:grpSp>
      <p:grpSp>
        <p:nvGrpSpPr>
          <p:cNvPr id="105" name="iPhone"/>
          <p:cNvGrpSpPr>
            <a:grpSpLocks noChangeAspect="1"/>
          </p:cNvGrpSpPr>
          <p:nvPr/>
        </p:nvGrpSpPr>
        <p:grpSpPr>
          <a:xfrm>
            <a:off x="8585112" y="2656302"/>
            <a:ext cx="466380" cy="916242"/>
            <a:chOff x="508000" y="1397000"/>
            <a:chExt cx="2285999" cy="4491038"/>
          </a:xfrm>
        </p:grpSpPr>
        <p:sp>
          <p:nvSpPr>
            <p:cNvPr id="106" name="Case"/>
            <p:cNvSpPr>
              <a:spLocks/>
            </p:cNvSpPr>
            <p:nvPr/>
          </p:nvSpPr>
          <p:spPr bwMode="auto">
            <a:xfrm>
              <a:off x="508000" y="1397000"/>
              <a:ext cx="2285999" cy="4491038"/>
            </a:xfrm>
            <a:prstGeom prst="roundRect">
              <a:avLst>
                <a:gd name="adj" fmla="val 13146"/>
              </a:avLst>
            </a:prstGeom>
            <a:solidFill>
              <a:schemeClr val="tx1">
                <a:lumMod val="50000"/>
                <a:lumOff val="50000"/>
              </a:schemeClr>
            </a:solidFill>
            <a:ln w="6350" cap="flat" cmpd="sng" algn="ctr">
              <a:solidFill>
                <a:srgbClr val="333333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107" name="Display"/>
            <p:cNvSpPr>
              <a:spLocks/>
            </p:cNvSpPr>
            <p:nvPr/>
          </p:nvSpPr>
          <p:spPr bwMode="auto">
            <a:xfrm>
              <a:off x="641349" y="2147888"/>
              <a:ext cx="2019300" cy="3024188"/>
            </a:xfrm>
            <a:prstGeom prst="rect">
              <a:avLst/>
            </a:prstGeom>
            <a:solidFill>
              <a:schemeClr val="bg1"/>
            </a:solidFill>
            <a:ln w="6350" cap="flat" cmpd="sng" algn="ctr">
              <a:solidFill>
                <a:srgbClr val="333333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108" name="Speaker"/>
            <p:cNvSpPr>
              <a:spLocks/>
            </p:cNvSpPr>
            <p:nvPr/>
          </p:nvSpPr>
          <p:spPr bwMode="auto">
            <a:xfrm>
              <a:off x="1433512" y="1738314"/>
              <a:ext cx="434975" cy="84138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65000"/>
              </a:schemeClr>
            </a:solidFill>
            <a:ln w="6350" cap="flat" cmpd="sng" algn="ctr">
              <a:solidFill>
                <a:srgbClr val="333333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endParaRPr>
            </a:p>
          </p:txBody>
        </p:sp>
        <p:grpSp>
          <p:nvGrpSpPr>
            <p:cNvPr id="109" name="Camera"/>
            <p:cNvGrpSpPr/>
            <p:nvPr/>
          </p:nvGrpSpPr>
          <p:grpSpPr>
            <a:xfrm>
              <a:off x="1175120" y="1735138"/>
              <a:ext cx="90490" cy="90490"/>
              <a:chOff x="1175120" y="1735138"/>
              <a:chExt cx="90490" cy="90490"/>
            </a:xfrm>
          </p:grpSpPr>
          <p:sp>
            <p:nvSpPr>
              <p:cNvPr id="113" name="Camera Outer"/>
              <p:cNvSpPr>
                <a:spLocks/>
              </p:cNvSpPr>
              <p:nvPr/>
            </p:nvSpPr>
            <p:spPr bwMode="auto">
              <a:xfrm>
                <a:off x="1175120" y="1735138"/>
                <a:ext cx="90490" cy="90490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 w="6350" cap="flat" cmpd="sng" algn="ctr">
                <a:solidFill>
                  <a:srgbClr val="333333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900" dirty="0">
                  <a:solidFill>
                    <a:srgbClr val="333333"/>
                  </a:solidFill>
                  <a:latin typeface="Calibri" pitchFamily="34" charset="0"/>
                  <a:cs typeface="Calibri" pitchFamily="34" charset="0"/>
                </a:endParaRPr>
              </a:p>
            </p:txBody>
          </p:sp>
          <p:sp>
            <p:nvSpPr>
              <p:cNvPr id="114" name="Camera Inner"/>
              <p:cNvSpPr>
                <a:spLocks/>
              </p:cNvSpPr>
              <p:nvPr/>
            </p:nvSpPr>
            <p:spPr bwMode="auto">
              <a:xfrm>
                <a:off x="1205965" y="1765983"/>
                <a:ext cx="28800" cy="28800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 w="6350" cap="flat" cmpd="sng" algn="ctr">
                <a:solidFill>
                  <a:srgbClr val="333333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900" dirty="0">
                  <a:solidFill>
                    <a:srgbClr val="333333"/>
                  </a:solidFill>
                  <a:latin typeface="Calibri" pitchFamily="34" charset="0"/>
                  <a:cs typeface="Calibri" pitchFamily="34" charset="0"/>
                </a:endParaRPr>
              </a:p>
            </p:txBody>
          </p:sp>
        </p:grpSp>
        <p:grpSp>
          <p:nvGrpSpPr>
            <p:cNvPr id="110" name="Button"/>
            <p:cNvGrpSpPr/>
            <p:nvPr/>
          </p:nvGrpSpPr>
          <p:grpSpPr>
            <a:xfrm>
              <a:off x="1447799" y="5332413"/>
              <a:ext cx="406400" cy="406400"/>
              <a:chOff x="1447799" y="5332413"/>
              <a:chExt cx="406400" cy="406400"/>
            </a:xfrm>
          </p:grpSpPr>
          <p:sp>
            <p:nvSpPr>
              <p:cNvPr id="111" name="Button Outer"/>
              <p:cNvSpPr>
                <a:spLocks/>
              </p:cNvSpPr>
              <p:nvPr/>
            </p:nvSpPr>
            <p:spPr bwMode="auto">
              <a:xfrm>
                <a:off x="1447799" y="5332413"/>
                <a:ext cx="406400" cy="406400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 w="6350" cap="flat" cmpd="sng" algn="ctr">
                <a:solidFill>
                  <a:srgbClr val="333333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900" dirty="0">
                  <a:solidFill>
                    <a:srgbClr val="333333"/>
                  </a:solidFill>
                  <a:latin typeface="Calibri" pitchFamily="34" charset="0"/>
                  <a:cs typeface="Calibri" pitchFamily="34" charset="0"/>
                </a:endParaRPr>
              </a:p>
            </p:txBody>
          </p:sp>
          <p:sp>
            <p:nvSpPr>
              <p:cNvPr id="112" name="Button Inner"/>
              <p:cNvSpPr>
                <a:spLocks/>
              </p:cNvSpPr>
              <p:nvPr/>
            </p:nvSpPr>
            <p:spPr bwMode="auto">
              <a:xfrm>
                <a:off x="1583245" y="5467213"/>
                <a:ext cx="135508" cy="136800"/>
              </a:xfrm>
              <a:prstGeom prst="roundRect">
                <a:avLst>
                  <a:gd name="adj" fmla="val 32086"/>
                </a:avLst>
              </a:prstGeom>
              <a:solidFill>
                <a:schemeClr val="bg1">
                  <a:lumMod val="65000"/>
                </a:schemeClr>
              </a:solidFill>
              <a:ln w="6350" cap="flat" cmpd="sng" algn="ctr">
                <a:solidFill>
                  <a:srgbClr val="333333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900" dirty="0">
                  <a:solidFill>
                    <a:srgbClr val="262626"/>
                  </a:solidFill>
                  <a:latin typeface="Calibri" pitchFamily="34" charset="0"/>
                  <a:cs typeface="Calibri" pitchFamily="34" charset="0"/>
                </a:endParaRPr>
              </a:p>
            </p:txBody>
          </p:sp>
        </p:grpSp>
      </p:grpSp>
      <p:grpSp>
        <p:nvGrpSpPr>
          <p:cNvPr id="125" name="iPhone"/>
          <p:cNvGrpSpPr>
            <a:grpSpLocks noChangeAspect="1"/>
          </p:cNvGrpSpPr>
          <p:nvPr/>
        </p:nvGrpSpPr>
        <p:grpSpPr>
          <a:xfrm>
            <a:off x="4747524" y="4050155"/>
            <a:ext cx="466380" cy="916242"/>
            <a:chOff x="508000" y="1397000"/>
            <a:chExt cx="2285999" cy="4491038"/>
          </a:xfrm>
        </p:grpSpPr>
        <p:sp>
          <p:nvSpPr>
            <p:cNvPr id="126" name="Case"/>
            <p:cNvSpPr>
              <a:spLocks/>
            </p:cNvSpPr>
            <p:nvPr/>
          </p:nvSpPr>
          <p:spPr bwMode="auto">
            <a:xfrm>
              <a:off x="508000" y="1397000"/>
              <a:ext cx="2285999" cy="4491038"/>
            </a:xfrm>
            <a:prstGeom prst="roundRect">
              <a:avLst>
                <a:gd name="adj" fmla="val 13146"/>
              </a:avLst>
            </a:prstGeom>
            <a:solidFill>
              <a:schemeClr val="tx1">
                <a:lumMod val="50000"/>
                <a:lumOff val="50000"/>
              </a:schemeClr>
            </a:solidFill>
            <a:ln w="6350" cap="flat" cmpd="sng" algn="ctr">
              <a:solidFill>
                <a:srgbClr val="333333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127" name="Display"/>
            <p:cNvSpPr>
              <a:spLocks/>
            </p:cNvSpPr>
            <p:nvPr/>
          </p:nvSpPr>
          <p:spPr bwMode="auto">
            <a:xfrm>
              <a:off x="641349" y="2147888"/>
              <a:ext cx="2019300" cy="3024188"/>
            </a:xfrm>
            <a:prstGeom prst="rect">
              <a:avLst/>
            </a:prstGeom>
            <a:solidFill>
              <a:schemeClr val="bg1"/>
            </a:solidFill>
            <a:ln w="6350" cap="flat" cmpd="sng" algn="ctr">
              <a:solidFill>
                <a:srgbClr val="333333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128" name="Speaker"/>
            <p:cNvSpPr>
              <a:spLocks/>
            </p:cNvSpPr>
            <p:nvPr/>
          </p:nvSpPr>
          <p:spPr bwMode="auto">
            <a:xfrm>
              <a:off x="1433512" y="1738314"/>
              <a:ext cx="434975" cy="84138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65000"/>
              </a:schemeClr>
            </a:solidFill>
            <a:ln w="6350" cap="flat" cmpd="sng" algn="ctr">
              <a:solidFill>
                <a:srgbClr val="333333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endParaRPr>
            </a:p>
          </p:txBody>
        </p:sp>
        <p:grpSp>
          <p:nvGrpSpPr>
            <p:cNvPr id="129" name="Camera"/>
            <p:cNvGrpSpPr/>
            <p:nvPr/>
          </p:nvGrpSpPr>
          <p:grpSpPr>
            <a:xfrm>
              <a:off x="1175120" y="1735138"/>
              <a:ext cx="90490" cy="90490"/>
              <a:chOff x="1175120" y="1735138"/>
              <a:chExt cx="90490" cy="90490"/>
            </a:xfrm>
          </p:grpSpPr>
          <p:sp>
            <p:nvSpPr>
              <p:cNvPr id="133" name="Camera Outer"/>
              <p:cNvSpPr>
                <a:spLocks/>
              </p:cNvSpPr>
              <p:nvPr/>
            </p:nvSpPr>
            <p:spPr bwMode="auto">
              <a:xfrm>
                <a:off x="1175120" y="1735138"/>
                <a:ext cx="90490" cy="90490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 w="6350" cap="flat" cmpd="sng" algn="ctr">
                <a:solidFill>
                  <a:srgbClr val="333333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900" dirty="0">
                  <a:solidFill>
                    <a:srgbClr val="333333"/>
                  </a:solidFill>
                  <a:latin typeface="Calibri" pitchFamily="34" charset="0"/>
                  <a:cs typeface="Calibri" pitchFamily="34" charset="0"/>
                </a:endParaRPr>
              </a:p>
            </p:txBody>
          </p:sp>
          <p:sp>
            <p:nvSpPr>
              <p:cNvPr id="134" name="Camera Inner"/>
              <p:cNvSpPr>
                <a:spLocks/>
              </p:cNvSpPr>
              <p:nvPr/>
            </p:nvSpPr>
            <p:spPr bwMode="auto">
              <a:xfrm>
                <a:off x="1205965" y="1765983"/>
                <a:ext cx="28800" cy="28800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 w="6350" cap="flat" cmpd="sng" algn="ctr">
                <a:solidFill>
                  <a:srgbClr val="333333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900" dirty="0">
                  <a:solidFill>
                    <a:srgbClr val="333333"/>
                  </a:solidFill>
                  <a:latin typeface="Calibri" pitchFamily="34" charset="0"/>
                  <a:cs typeface="Calibri" pitchFamily="34" charset="0"/>
                </a:endParaRPr>
              </a:p>
            </p:txBody>
          </p:sp>
        </p:grpSp>
        <p:grpSp>
          <p:nvGrpSpPr>
            <p:cNvPr id="130" name="Button"/>
            <p:cNvGrpSpPr/>
            <p:nvPr/>
          </p:nvGrpSpPr>
          <p:grpSpPr>
            <a:xfrm>
              <a:off x="1447799" y="5332413"/>
              <a:ext cx="406400" cy="406400"/>
              <a:chOff x="1447799" y="5332413"/>
              <a:chExt cx="406400" cy="406400"/>
            </a:xfrm>
          </p:grpSpPr>
          <p:sp>
            <p:nvSpPr>
              <p:cNvPr id="131" name="Button Outer"/>
              <p:cNvSpPr>
                <a:spLocks/>
              </p:cNvSpPr>
              <p:nvPr/>
            </p:nvSpPr>
            <p:spPr bwMode="auto">
              <a:xfrm>
                <a:off x="1447799" y="5332413"/>
                <a:ext cx="406400" cy="406400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 w="6350" cap="flat" cmpd="sng" algn="ctr">
                <a:solidFill>
                  <a:srgbClr val="333333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900" dirty="0">
                  <a:solidFill>
                    <a:srgbClr val="333333"/>
                  </a:solidFill>
                  <a:latin typeface="Calibri" pitchFamily="34" charset="0"/>
                  <a:cs typeface="Calibri" pitchFamily="34" charset="0"/>
                </a:endParaRPr>
              </a:p>
            </p:txBody>
          </p:sp>
          <p:sp>
            <p:nvSpPr>
              <p:cNvPr id="132" name="Button Inner"/>
              <p:cNvSpPr>
                <a:spLocks/>
              </p:cNvSpPr>
              <p:nvPr/>
            </p:nvSpPr>
            <p:spPr bwMode="auto">
              <a:xfrm>
                <a:off x="1583245" y="5467213"/>
                <a:ext cx="135508" cy="136800"/>
              </a:xfrm>
              <a:prstGeom prst="roundRect">
                <a:avLst>
                  <a:gd name="adj" fmla="val 32086"/>
                </a:avLst>
              </a:prstGeom>
              <a:solidFill>
                <a:schemeClr val="bg1">
                  <a:lumMod val="65000"/>
                </a:schemeClr>
              </a:solidFill>
              <a:ln w="6350" cap="flat" cmpd="sng" algn="ctr">
                <a:solidFill>
                  <a:srgbClr val="333333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900" dirty="0">
                  <a:solidFill>
                    <a:srgbClr val="262626"/>
                  </a:solidFill>
                  <a:latin typeface="Calibri" pitchFamily="34" charset="0"/>
                  <a:cs typeface="Calibri" pitchFamily="34" charset="0"/>
                </a:endParaRPr>
              </a:p>
            </p:txBody>
          </p:sp>
        </p:grpSp>
      </p:grpSp>
      <p:sp>
        <p:nvSpPr>
          <p:cNvPr id="135" name="Text Box 28"/>
          <p:cNvSpPr txBox="1">
            <a:spLocks noChangeArrowheads="1"/>
          </p:cNvSpPr>
          <p:nvPr/>
        </p:nvSpPr>
        <p:spPr bwMode="auto">
          <a:xfrm>
            <a:off x="5659599" y="4103636"/>
            <a:ext cx="784225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noAutofit/>
          </a:bodyPr>
          <a:lstStyle/>
          <a:p>
            <a:pPr>
              <a:spcBef>
                <a:spcPct val="50000"/>
              </a:spcBef>
            </a:pPr>
            <a:r>
              <a:rPr kumimoji="1" lang="en-US" altLang="ko-KR" sz="4400" b="1" dirty="0">
                <a:solidFill>
                  <a:schemeClr val="accent2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&gt;</a:t>
            </a:r>
          </a:p>
        </p:txBody>
      </p:sp>
      <p:grpSp>
        <p:nvGrpSpPr>
          <p:cNvPr id="136" name="iPad"/>
          <p:cNvGrpSpPr>
            <a:grpSpLocks noChangeAspect="1"/>
          </p:cNvGrpSpPr>
          <p:nvPr/>
        </p:nvGrpSpPr>
        <p:grpSpPr>
          <a:xfrm>
            <a:off x="8616676" y="4120917"/>
            <a:ext cx="604361" cy="782656"/>
            <a:chOff x="4644008" y="366712"/>
            <a:chExt cx="4367724" cy="5656263"/>
          </a:xfrm>
        </p:grpSpPr>
        <p:sp>
          <p:nvSpPr>
            <p:cNvPr id="137" name="Case"/>
            <p:cNvSpPr>
              <a:spLocks/>
            </p:cNvSpPr>
            <p:nvPr/>
          </p:nvSpPr>
          <p:spPr bwMode="auto">
            <a:xfrm>
              <a:off x="4644008" y="366712"/>
              <a:ext cx="4367724" cy="5656263"/>
            </a:xfrm>
            <a:prstGeom prst="roundRect">
              <a:avLst>
                <a:gd name="adj" fmla="val 5018"/>
              </a:avLst>
            </a:prstGeom>
            <a:solidFill>
              <a:schemeClr val="tx1">
                <a:lumMod val="50000"/>
                <a:lumOff val="50000"/>
              </a:schemeClr>
            </a:solidFill>
            <a:ln w="6350" cap="flat" cmpd="sng" algn="ctr">
              <a:solidFill>
                <a:srgbClr val="333333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138" name="Display"/>
            <p:cNvSpPr>
              <a:spLocks/>
            </p:cNvSpPr>
            <p:nvPr/>
          </p:nvSpPr>
          <p:spPr bwMode="auto">
            <a:xfrm>
              <a:off x="5073683" y="868363"/>
              <a:ext cx="3508375" cy="4668838"/>
            </a:xfrm>
            <a:prstGeom prst="rect">
              <a:avLst/>
            </a:prstGeom>
            <a:solidFill>
              <a:schemeClr val="bg1"/>
            </a:solidFill>
            <a:ln w="6350" cap="flat" cmpd="sng" algn="ctr">
              <a:solidFill>
                <a:srgbClr val="333333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139" name="Camera"/>
            <p:cNvSpPr>
              <a:spLocks noChangeAspect="1"/>
            </p:cNvSpPr>
            <p:nvPr/>
          </p:nvSpPr>
          <p:spPr bwMode="auto">
            <a:xfrm>
              <a:off x="6808070" y="593813"/>
              <a:ext cx="39600" cy="396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 w="6350" cap="flat" cmpd="sng" algn="ctr">
              <a:solidFill>
                <a:srgbClr val="333333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333333"/>
                </a:solidFill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140" name="Button"/>
            <p:cNvSpPr>
              <a:spLocks/>
            </p:cNvSpPr>
            <p:nvPr/>
          </p:nvSpPr>
          <p:spPr bwMode="auto">
            <a:xfrm>
              <a:off x="6784670" y="5750837"/>
              <a:ext cx="86400" cy="86400"/>
            </a:xfrm>
            <a:prstGeom prst="roundRect">
              <a:avLst>
                <a:gd name="adj" fmla="val 25376"/>
              </a:avLst>
            </a:prstGeom>
            <a:solidFill>
              <a:schemeClr val="bg1">
                <a:lumMod val="65000"/>
              </a:schemeClr>
            </a:solidFill>
            <a:ln w="6350" cap="flat" cmpd="sng" algn="ctr">
              <a:solidFill>
                <a:srgbClr val="333333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endParaRPr>
            </a:p>
          </p:txBody>
        </p:sp>
      </p:grpSp>
      <p:sp>
        <p:nvSpPr>
          <p:cNvPr id="141" name="Text Box 28"/>
          <p:cNvSpPr txBox="1">
            <a:spLocks noChangeArrowheads="1"/>
          </p:cNvSpPr>
          <p:nvPr/>
        </p:nvSpPr>
        <p:spPr bwMode="auto">
          <a:xfrm>
            <a:off x="7625159" y="4103636"/>
            <a:ext cx="784225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noAutofit/>
          </a:bodyPr>
          <a:lstStyle/>
          <a:p>
            <a:pPr>
              <a:spcBef>
                <a:spcPct val="50000"/>
              </a:spcBef>
            </a:pPr>
            <a:r>
              <a:rPr kumimoji="1" lang="en-US" altLang="ko-KR" sz="4400" b="1" dirty="0">
                <a:solidFill>
                  <a:schemeClr val="accent2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&gt;</a:t>
            </a:r>
          </a:p>
        </p:txBody>
      </p:sp>
      <p:pic>
        <p:nvPicPr>
          <p:cNvPr id="143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64062" y="4073402"/>
            <a:ext cx="1362695" cy="8969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44" name="iPhone"/>
          <p:cNvGrpSpPr>
            <a:grpSpLocks noChangeAspect="1"/>
          </p:cNvGrpSpPr>
          <p:nvPr/>
        </p:nvGrpSpPr>
        <p:grpSpPr>
          <a:xfrm>
            <a:off x="4747524" y="5322437"/>
            <a:ext cx="466380" cy="916242"/>
            <a:chOff x="508000" y="1397000"/>
            <a:chExt cx="2285999" cy="4491038"/>
          </a:xfrm>
        </p:grpSpPr>
        <p:sp>
          <p:nvSpPr>
            <p:cNvPr id="145" name="Case"/>
            <p:cNvSpPr>
              <a:spLocks/>
            </p:cNvSpPr>
            <p:nvPr/>
          </p:nvSpPr>
          <p:spPr bwMode="auto">
            <a:xfrm>
              <a:off x="508000" y="1397000"/>
              <a:ext cx="2285999" cy="4491038"/>
            </a:xfrm>
            <a:prstGeom prst="roundRect">
              <a:avLst>
                <a:gd name="adj" fmla="val 13146"/>
              </a:avLst>
            </a:prstGeom>
            <a:solidFill>
              <a:schemeClr val="tx1">
                <a:lumMod val="50000"/>
                <a:lumOff val="50000"/>
              </a:schemeClr>
            </a:solidFill>
            <a:ln w="6350" cap="flat" cmpd="sng" algn="ctr">
              <a:solidFill>
                <a:srgbClr val="333333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146" name="Display"/>
            <p:cNvSpPr>
              <a:spLocks/>
            </p:cNvSpPr>
            <p:nvPr/>
          </p:nvSpPr>
          <p:spPr bwMode="auto">
            <a:xfrm>
              <a:off x="641349" y="2147888"/>
              <a:ext cx="2019300" cy="3024188"/>
            </a:xfrm>
            <a:prstGeom prst="rect">
              <a:avLst/>
            </a:prstGeom>
            <a:solidFill>
              <a:schemeClr val="bg1"/>
            </a:solidFill>
            <a:ln w="6350" cap="flat" cmpd="sng" algn="ctr">
              <a:solidFill>
                <a:srgbClr val="333333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147" name="Speaker"/>
            <p:cNvSpPr>
              <a:spLocks/>
            </p:cNvSpPr>
            <p:nvPr/>
          </p:nvSpPr>
          <p:spPr bwMode="auto">
            <a:xfrm>
              <a:off x="1433512" y="1738314"/>
              <a:ext cx="434975" cy="84138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65000"/>
              </a:schemeClr>
            </a:solidFill>
            <a:ln w="6350" cap="flat" cmpd="sng" algn="ctr">
              <a:solidFill>
                <a:srgbClr val="333333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endParaRPr>
            </a:p>
          </p:txBody>
        </p:sp>
        <p:grpSp>
          <p:nvGrpSpPr>
            <p:cNvPr id="148" name="Camera"/>
            <p:cNvGrpSpPr/>
            <p:nvPr/>
          </p:nvGrpSpPr>
          <p:grpSpPr>
            <a:xfrm>
              <a:off x="1175120" y="1735138"/>
              <a:ext cx="90490" cy="90490"/>
              <a:chOff x="1175120" y="1735138"/>
              <a:chExt cx="90490" cy="90490"/>
            </a:xfrm>
          </p:grpSpPr>
          <p:sp>
            <p:nvSpPr>
              <p:cNvPr id="152" name="Camera Outer"/>
              <p:cNvSpPr>
                <a:spLocks/>
              </p:cNvSpPr>
              <p:nvPr/>
            </p:nvSpPr>
            <p:spPr bwMode="auto">
              <a:xfrm>
                <a:off x="1175120" y="1735138"/>
                <a:ext cx="90490" cy="90490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 w="6350" cap="flat" cmpd="sng" algn="ctr">
                <a:solidFill>
                  <a:srgbClr val="333333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900" dirty="0">
                  <a:solidFill>
                    <a:srgbClr val="333333"/>
                  </a:solidFill>
                  <a:latin typeface="Calibri" pitchFamily="34" charset="0"/>
                  <a:cs typeface="Calibri" pitchFamily="34" charset="0"/>
                </a:endParaRPr>
              </a:p>
            </p:txBody>
          </p:sp>
          <p:sp>
            <p:nvSpPr>
              <p:cNvPr id="153" name="Camera Inner"/>
              <p:cNvSpPr>
                <a:spLocks/>
              </p:cNvSpPr>
              <p:nvPr/>
            </p:nvSpPr>
            <p:spPr bwMode="auto">
              <a:xfrm>
                <a:off x="1205965" y="1765983"/>
                <a:ext cx="28800" cy="28800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 w="6350" cap="flat" cmpd="sng" algn="ctr">
                <a:solidFill>
                  <a:srgbClr val="333333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900" dirty="0">
                  <a:solidFill>
                    <a:srgbClr val="333333"/>
                  </a:solidFill>
                  <a:latin typeface="Calibri" pitchFamily="34" charset="0"/>
                  <a:cs typeface="Calibri" pitchFamily="34" charset="0"/>
                </a:endParaRPr>
              </a:p>
            </p:txBody>
          </p:sp>
        </p:grpSp>
        <p:grpSp>
          <p:nvGrpSpPr>
            <p:cNvPr id="149" name="Button"/>
            <p:cNvGrpSpPr/>
            <p:nvPr/>
          </p:nvGrpSpPr>
          <p:grpSpPr>
            <a:xfrm>
              <a:off x="1447799" y="5332413"/>
              <a:ext cx="406400" cy="406400"/>
              <a:chOff x="1447799" y="5332413"/>
              <a:chExt cx="406400" cy="406400"/>
            </a:xfrm>
          </p:grpSpPr>
          <p:sp>
            <p:nvSpPr>
              <p:cNvPr id="150" name="Button Outer"/>
              <p:cNvSpPr>
                <a:spLocks/>
              </p:cNvSpPr>
              <p:nvPr/>
            </p:nvSpPr>
            <p:spPr bwMode="auto">
              <a:xfrm>
                <a:off x="1447799" y="5332413"/>
                <a:ext cx="406400" cy="406400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 w="6350" cap="flat" cmpd="sng" algn="ctr">
                <a:solidFill>
                  <a:srgbClr val="333333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900" dirty="0">
                  <a:solidFill>
                    <a:srgbClr val="333333"/>
                  </a:solidFill>
                  <a:latin typeface="Calibri" pitchFamily="34" charset="0"/>
                  <a:cs typeface="Calibri" pitchFamily="34" charset="0"/>
                </a:endParaRPr>
              </a:p>
            </p:txBody>
          </p:sp>
          <p:sp>
            <p:nvSpPr>
              <p:cNvPr id="151" name="Button Inner"/>
              <p:cNvSpPr>
                <a:spLocks/>
              </p:cNvSpPr>
              <p:nvPr/>
            </p:nvSpPr>
            <p:spPr bwMode="auto">
              <a:xfrm>
                <a:off x="1583245" y="5467213"/>
                <a:ext cx="135508" cy="136800"/>
              </a:xfrm>
              <a:prstGeom prst="roundRect">
                <a:avLst>
                  <a:gd name="adj" fmla="val 32086"/>
                </a:avLst>
              </a:prstGeom>
              <a:solidFill>
                <a:schemeClr val="bg1">
                  <a:lumMod val="65000"/>
                </a:schemeClr>
              </a:solidFill>
              <a:ln w="6350" cap="flat" cmpd="sng" algn="ctr">
                <a:solidFill>
                  <a:srgbClr val="333333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900" dirty="0">
                  <a:solidFill>
                    <a:srgbClr val="262626"/>
                  </a:solidFill>
                  <a:latin typeface="Calibri" pitchFamily="34" charset="0"/>
                  <a:cs typeface="Calibri" pitchFamily="34" charset="0"/>
                </a:endParaRPr>
              </a:p>
            </p:txBody>
          </p:sp>
        </p:grpSp>
      </p:grpSp>
      <p:sp>
        <p:nvSpPr>
          <p:cNvPr id="154" name="Text Box 28"/>
          <p:cNvSpPr txBox="1">
            <a:spLocks noChangeArrowheads="1"/>
          </p:cNvSpPr>
          <p:nvPr/>
        </p:nvSpPr>
        <p:spPr bwMode="auto">
          <a:xfrm>
            <a:off x="5659599" y="5419402"/>
            <a:ext cx="784225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noAutofit/>
          </a:bodyPr>
          <a:lstStyle/>
          <a:p>
            <a:pPr>
              <a:spcBef>
                <a:spcPct val="50000"/>
              </a:spcBef>
            </a:pPr>
            <a:r>
              <a:rPr kumimoji="1" lang="en-US" altLang="ko-KR" sz="4400" b="1" dirty="0">
                <a:solidFill>
                  <a:schemeClr val="accent2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&gt;</a:t>
            </a:r>
          </a:p>
        </p:txBody>
      </p:sp>
      <p:grpSp>
        <p:nvGrpSpPr>
          <p:cNvPr id="155" name="iPad"/>
          <p:cNvGrpSpPr>
            <a:grpSpLocks noChangeAspect="1"/>
          </p:cNvGrpSpPr>
          <p:nvPr/>
        </p:nvGrpSpPr>
        <p:grpSpPr>
          <a:xfrm>
            <a:off x="8616676" y="5389230"/>
            <a:ext cx="604361" cy="782656"/>
            <a:chOff x="4644008" y="366712"/>
            <a:chExt cx="4367724" cy="5656263"/>
          </a:xfrm>
        </p:grpSpPr>
        <p:sp>
          <p:nvSpPr>
            <p:cNvPr id="156" name="Case"/>
            <p:cNvSpPr>
              <a:spLocks/>
            </p:cNvSpPr>
            <p:nvPr/>
          </p:nvSpPr>
          <p:spPr bwMode="auto">
            <a:xfrm>
              <a:off x="4644008" y="366712"/>
              <a:ext cx="4367724" cy="5656263"/>
            </a:xfrm>
            <a:prstGeom prst="roundRect">
              <a:avLst>
                <a:gd name="adj" fmla="val 5018"/>
              </a:avLst>
            </a:prstGeom>
            <a:solidFill>
              <a:schemeClr val="tx1">
                <a:lumMod val="50000"/>
                <a:lumOff val="50000"/>
              </a:schemeClr>
            </a:solidFill>
            <a:ln w="6350" cap="flat" cmpd="sng" algn="ctr">
              <a:solidFill>
                <a:srgbClr val="333333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157" name="Display"/>
            <p:cNvSpPr>
              <a:spLocks/>
            </p:cNvSpPr>
            <p:nvPr/>
          </p:nvSpPr>
          <p:spPr bwMode="auto">
            <a:xfrm>
              <a:off x="5073683" y="868363"/>
              <a:ext cx="3508375" cy="4668838"/>
            </a:xfrm>
            <a:prstGeom prst="rect">
              <a:avLst/>
            </a:prstGeom>
            <a:solidFill>
              <a:schemeClr val="bg1"/>
            </a:solidFill>
            <a:ln w="6350" cap="flat" cmpd="sng" algn="ctr">
              <a:solidFill>
                <a:srgbClr val="333333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158" name="Camera"/>
            <p:cNvSpPr>
              <a:spLocks noChangeAspect="1"/>
            </p:cNvSpPr>
            <p:nvPr/>
          </p:nvSpPr>
          <p:spPr bwMode="auto">
            <a:xfrm>
              <a:off x="6808070" y="593813"/>
              <a:ext cx="39600" cy="396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 w="6350" cap="flat" cmpd="sng" algn="ctr">
              <a:solidFill>
                <a:srgbClr val="333333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333333"/>
                </a:solidFill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159" name="Button"/>
            <p:cNvSpPr>
              <a:spLocks/>
            </p:cNvSpPr>
            <p:nvPr/>
          </p:nvSpPr>
          <p:spPr bwMode="auto">
            <a:xfrm>
              <a:off x="6784670" y="5750837"/>
              <a:ext cx="86400" cy="86400"/>
            </a:xfrm>
            <a:prstGeom prst="roundRect">
              <a:avLst>
                <a:gd name="adj" fmla="val 25376"/>
              </a:avLst>
            </a:prstGeom>
            <a:solidFill>
              <a:schemeClr val="bg1">
                <a:lumMod val="65000"/>
              </a:schemeClr>
            </a:solidFill>
            <a:ln w="6350" cap="flat" cmpd="sng" algn="ctr">
              <a:solidFill>
                <a:srgbClr val="333333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endParaRPr>
            </a:p>
          </p:txBody>
        </p:sp>
      </p:grpSp>
      <p:sp>
        <p:nvSpPr>
          <p:cNvPr id="160" name="Text Box 28"/>
          <p:cNvSpPr txBox="1">
            <a:spLocks noChangeArrowheads="1"/>
          </p:cNvSpPr>
          <p:nvPr/>
        </p:nvSpPr>
        <p:spPr bwMode="auto">
          <a:xfrm>
            <a:off x="7625159" y="5371949"/>
            <a:ext cx="784225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noAutofit/>
          </a:bodyPr>
          <a:lstStyle/>
          <a:p>
            <a:pPr>
              <a:spcBef>
                <a:spcPct val="50000"/>
              </a:spcBef>
            </a:pPr>
            <a:r>
              <a:rPr kumimoji="1" lang="en-US" altLang="ko-KR" sz="4400" b="1" dirty="0">
                <a:solidFill>
                  <a:schemeClr val="accent2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=</a:t>
            </a:r>
          </a:p>
        </p:txBody>
      </p:sp>
      <p:pic>
        <p:nvPicPr>
          <p:cNvPr id="161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64062" y="5341715"/>
            <a:ext cx="1362695" cy="8969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59010145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44017" y="91339"/>
            <a:ext cx="7401271" cy="385333"/>
          </a:xfrm>
          <a:prstGeom prst="rect">
            <a:avLst/>
          </a:prstGeom>
          <a:noFill/>
        </p:spPr>
        <p:txBody>
          <a:bodyPr wrap="square" lIns="0" tIns="53643" rIns="0" bIns="53643" rtlCol="0">
            <a:spAutoFit/>
          </a:bodyPr>
          <a:lstStyle/>
          <a:p>
            <a:r>
              <a:rPr kumimoji="1" lang="en-US" altLang="ko-KR" b="1" kern="0" dirty="0">
                <a:latin typeface="나눔고딕" panose="020D0604000000000000" pitchFamily="50" charset="-127"/>
                <a:ea typeface="나눔고딕" panose="020D0604000000000000" pitchFamily="50" charset="-127"/>
                <a:cs typeface="산돌고딕 M"/>
              </a:rPr>
              <a:t>Multi channel integration</a:t>
            </a:r>
            <a:endParaRPr kumimoji="1" lang="ko-KR" altLang="en-US" b="1" kern="0" dirty="0">
              <a:latin typeface="나눔고딕" panose="020D0604000000000000" pitchFamily="50" charset="-127"/>
              <a:ea typeface="나눔고딕" panose="020D0604000000000000" pitchFamily="50" charset="-127"/>
              <a:cs typeface="산돌고딕 M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44017" y="683985"/>
            <a:ext cx="96335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Multi Channel Strategy (</a:t>
            </a:r>
            <a:r>
              <a:rPr lang="ko-KR" altLang="en-US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멀티채널의 구성</a:t>
            </a:r>
            <a:r>
              <a:rPr lang="en-US" altLang="ko-KR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88504" y="991762"/>
            <a:ext cx="9289032" cy="307777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ko-KR" altLang="en-US" sz="14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채널별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특성을 고려한 </a:t>
            </a:r>
            <a:r>
              <a:rPr lang="ko-KR" altLang="en-US" sz="14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컨텐츠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디자인과 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User Interface 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설계가 이루어져야 합니다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89" name="Group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1131542"/>
              </p:ext>
            </p:extLst>
          </p:nvPr>
        </p:nvGraphicFramePr>
        <p:xfrm>
          <a:off x="488508" y="1710679"/>
          <a:ext cx="9000996" cy="3806552"/>
        </p:xfrm>
        <a:graphic>
          <a:graphicData uri="http://schemas.openxmlformats.org/drawingml/2006/table">
            <a:tbl>
              <a:tblPr/>
              <a:tblGrid>
                <a:gridCol w="13189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02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02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02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6025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6025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6025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6025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6025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949478">
                <a:tc>
                  <a:txBody>
                    <a:bodyPr/>
                    <a:lstStyle>
                      <a:lvl1pPr defTabSz="957263">
                        <a:spcBef>
                          <a:spcPct val="20000"/>
                        </a:spcBef>
                        <a:defRPr kumimoji="1" sz="29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477838" defTabSz="957263">
                        <a:spcBef>
                          <a:spcPct val="20000"/>
                        </a:spcBef>
                        <a:defRPr kumimoji="1" sz="25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957263" defTabSz="957263">
                        <a:spcBef>
                          <a:spcPct val="20000"/>
                        </a:spcBef>
                        <a:defRPr kumimoji="1" sz="21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1436688" defTabSz="957263">
                        <a:spcBef>
                          <a:spcPct val="20000"/>
                        </a:spcBef>
                        <a:defRPr kumimoji="1" sz="19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916113" defTabSz="957263">
                        <a:spcBef>
                          <a:spcPct val="20000"/>
                        </a:spcBef>
                        <a:defRPr kumimoji="1" sz="19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373313" defTabSz="9572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9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830513" defTabSz="9572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9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287713" defTabSz="9572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9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744913" defTabSz="9572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9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57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구 분</a:t>
                      </a:r>
                      <a:endParaRPr kumimoji="1" lang="ko-KR" altLang="ko-KR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BB3"/>
                    </a:solidFill>
                  </a:tcPr>
                </a:tc>
                <a:tc>
                  <a:txBody>
                    <a:bodyPr/>
                    <a:lstStyle>
                      <a:lvl1pPr defTabSz="957263">
                        <a:spcBef>
                          <a:spcPct val="20000"/>
                        </a:spcBef>
                        <a:defRPr kumimoji="1" sz="29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477838" defTabSz="957263">
                        <a:spcBef>
                          <a:spcPct val="20000"/>
                        </a:spcBef>
                        <a:defRPr kumimoji="1" sz="25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957263" defTabSz="957263">
                        <a:spcBef>
                          <a:spcPct val="20000"/>
                        </a:spcBef>
                        <a:defRPr kumimoji="1" sz="21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1436688" defTabSz="957263">
                        <a:spcBef>
                          <a:spcPct val="20000"/>
                        </a:spcBef>
                        <a:defRPr kumimoji="1" sz="19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916113" defTabSz="957263">
                        <a:spcBef>
                          <a:spcPct val="20000"/>
                        </a:spcBef>
                        <a:defRPr kumimoji="1" sz="19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373313" defTabSz="9572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9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830513" defTabSz="9572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9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287713" defTabSz="9572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9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744913" defTabSz="9572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9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57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사용 목적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sm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BB3"/>
                    </a:solidFill>
                  </a:tcPr>
                </a:tc>
                <a:tc>
                  <a:txBody>
                    <a:bodyPr/>
                    <a:lstStyle>
                      <a:lvl1pPr defTabSz="957263">
                        <a:spcBef>
                          <a:spcPct val="20000"/>
                        </a:spcBef>
                        <a:defRPr kumimoji="1" sz="29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477838" defTabSz="957263">
                        <a:spcBef>
                          <a:spcPct val="20000"/>
                        </a:spcBef>
                        <a:defRPr kumimoji="1" sz="25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957263" defTabSz="957263">
                        <a:spcBef>
                          <a:spcPct val="20000"/>
                        </a:spcBef>
                        <a:defRPr kumimoji="1" sz="21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1436688" defTabSz="957263">
                        <a:spcBef>
                          <a:spcPct val="20000"/>
                        </a:spcBef>
                        <a:defRPr kumimoji="1" sz="19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916113" defTabSz="957263">
                        <a:spcBef>
                          <a:spcPct val="20000"/>
                        </a:spcBef>
                        <a:defRPr kumimoji="1" sz="19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373313" defTabSz="9572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9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830513" defTabSz="9572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9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287713" defTabSz="9572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9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744913" defTabSz="9572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9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57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이동성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sm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BB3"/>
                    </a:solidFill>
                  </a:tcPr>
                </a:tc>
                <a:tc>
                  <a:txBody>
                    <a:bodyPr/>
                    <a:lstStyle>
                      <a:lvl1pPr defTabSz="957263">
                        <a:spcBef>
                          <a:spcPct val="20000"/>
                        </a:spcBef>
                        <a:defRPr kumimoji="1" sz="29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477838" defTabSz="957263">
                        <a:spcBef>
                          <a:spcPct val="20000"/>
                        </a:spcBef>
                        <a:defRPr kumimoji="1" sz="25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957263" defTabSz="957263">
                        <a:spcBef>
                          <a:spcPct val="20000"/>
                        </a:spcBef>
                        <a:defRPr kumimoji="1" sz="21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1436688" defTabSz="957263">
                        <a:spcBef>
                          <a:spcPct val="20000"/>
                        </a:spcBef>
                        <a:defRPr kumimoji="1" sz="19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916113" defTabSz="957263">
                        <a:spcBef>
                          <a:spcPct val="20000"/>
                        </a:spcBef>
                        <a:defRPr kumimoji="1" sz="19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373313" defTabSz="9572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9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830513" defTabSz="9572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9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287713" defTabSz="9572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9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744913" defTabSz="9572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9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57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입력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sm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BB3"/>
                    </a:solidFill>
                  </a:tcPr>
                </a:tc>
                <a:tc>
                  <a:txBody>
                    <a:bodyPr/>
                    <a:lstStyle>
                      <a:lvl1pPr defTabSz="957263">
                        <a:spcBef>
                          <a:spcPct val="20000"/>
                        </a:spcBef>
                        <a:defRPr kumimoji="1" sz="29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477838" defTabSz="957263">
                        <a:spcBef>
                          <a:spcPct val="20000"/>
                        </a:spcBef>
                        <a:defRPr kumimoji="1" sz="25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957263" defTabSz="957263">
                        <a:spcBef>
                          <a:spcPct val="20000"/>
                        </a:spcBef>
                        <a:defRPr kumimoji="1" sz="21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1436688" defTabSz="957263">
                        <a:spcBef>
                          <a:spcPct val="20000"/>
                        </a:spcBef>
                        <a:defRPr kumimoji="1" sz="19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916113" defTabSz="957263">
                        <a:spcBef>
                          <a:spcPct val="20000"/>
                        </a:spcBef>
                        <a:defRPr kumimoji="1" sz="19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373313" defTabSz="9572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9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830513" defTabSz="9572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9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287713" defTabSz="9572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9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744913" defTabSz="9572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9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57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디스플레이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sm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BB3"/>
                    </a:solidFill>
                  </a:tcPr>
                </a:tc>
                <a:tc>
                  <a:txBody>
                    <a:bodyPr/>
                    <a:lstStyle>
                      <a:lvl1pPr defTabSz="957263">
                        <a:spcBef>
                          <a:spcPct val="20000"/>
                        </a:spcBef>
                        <a:defRPr kumimoji="1" sz="29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477838" defTabSz="957263">
                        <a:spcBef>
                          <a:spcPct val="20000"/>
                        </a:spcBef>
                        <a:defRPr kumimoji="1" sz="25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957263" defTabSz="957263">
                        <a:spcBef>
                          <a:spcPct val="20000"/>
                        </a:spcBef>
                        <a:defRPr kumimoji="1" sz="21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1436688" defTabSz="957263">
                        <a:spcBef>
                          <a:spcPct val="20000"/>
                        </a:spcBef>
                        <a:defRPr kumimoji="1" sz="19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916113" defTabSz="957263">
                        <a:spcBef>
                          <a:spcPct val="20000"/>
                        </a:spcBef>
                        <a:defRPr kumimoji="1" sz="19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373313" defTabSz="9572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9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830513" defTabSz="9572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9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287713" defTabSz="9572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9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744913" defTabSz="9572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9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57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인터넷 </a:t>
                      </a:r>
                    </a:p>
                    <a:p>
                      <a:pPr marL="0" marR="0" lvl="0" indent="0" algn="ctr" defTabSz="957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접속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sm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BB3"/>
                    </a:solidFill>
                  </a:tcPr>
                </a:tc>
                <a:tc>
                  <a:txBody>
                    <a:bodyPr/>
                    <a:lstStyle>
                      <a:lvl1pPr defTabSz="957263">
                        <a:spcBef>
                          <a:spcPct val="20000"/>
                        </a:spcBef>
                        <a:defRPr kumimoji="1" sz="29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477838" defTabSz="957263">
                        <a:spcBef>
                          <a:spcPct val="20000"/>
                        </a:spcBef>
                        <a:defRPr kumimoji="1" sz="25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957263" defTabSz="957263">
                        <a:spcBef>
                          <a:spcPct val="20000"/>
                        </a:spcBef>
                        <a:defRPr kumimoji="1" sz="21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1436688" defTabSz="957263">
                        <a:spcBef>
                          <a:spcPct val="20000"/>
                        </a:spcBef>
                        <a:defRPr kumimoji="1" sz="19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916113" defTabSz="957263">
                        <a:spcBef>
                          <a:spcPct val="20000"/>
                        </a:spcBef>
                        <a:defRPr kumimoji="1" sz="19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373313" defTabSz="9572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9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830513" defTabSz="9572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9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287713" defTabSz="9572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9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744913" defTabSz="9572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9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57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접속형태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sm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BB3"/>
                    </a:solidFill>
                  </a:tcPr>
                </a:tc>
                <a:tc>
                  <a:txBody>
                    <a:bodyPr/>
                    <a:lstStyle>
                      <a:lvl1pPr defTabSz="957263">
                        <a:spcBef>
                          <a:spcPct val="20000"/>
                        </a:spcBef>
                        <a:defRPr kumimoji="1" sz="29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477838" defTabSz="957263">
                        <a:spcBef>
                          <a:spcPct val="20000"/>
                        </a:spcBef>
                        <a:defRPr kumimoji="1" sz="25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957263" defTabSz="957263">
                        <a:spcBef>
                          <a:spcPct val="20000"/>
                        </a:spcBef>
                        <a:defRPr kumimoji="1" sz="21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1436688" defTabSz="957263">
                        <a:spcBef>
                          <a:spcPct val="20000"/>
                        </a:spcBef>
                        <a:defRPr kumimoji="1" sz="19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916113" defTabSz="957263">
                        <a:spcBef>
                          <a:spcPct val="20000"/>
                        </a:spcBef>
                        <a:defRPr kumimoji="1" sz="19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373313" defTabSz="9572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9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830513" defTabSz="9572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9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287713" defTabSz="9572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9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744913" defTabSz="9572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9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57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사용성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sm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B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57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대중화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sm"/>
                    </a:lnL>
                    <a:lnR cap="flat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BB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47177">
                <a:tc>
                  <a:txBody>
                    <a:bodyPr/>
                    <a:lstStyle>
                      <a:lvl1pPr defTabSz="957263">
                        <a:spcBef>
                          <a:spcPct val="20000"/>
                        </a:spcBef>
                        <a:defRPr kumimoji="1" sz="29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477838" defTabSz="957263">
                        <a:spcBef>
                          <a:spcPct val="20000"/>
                        </a:spcBef>
                        <a:defRPr kumimoji="1" sz="25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957263" defTabSz="957263">
                        <a:spcBef>
                          <a:spcPct val="20000"/>
                        </a:spcBef>
                        <a:defRPr kumimoji="1" sz="21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1436688" defTabSz="957263">
                        <a:spcBef>
                          <a:spcPct val="20000"/>
                        </a:spcBef>
                        <a:defRPr kumimoji="1" sz="19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916113" defTabSz="957263">
                        <a:spcBef>
                          <a:spcPct val="20000"/>
                        </a:spcBef>
                        <a:defRPr kumimoji="1" sz="19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373313" defTabSz="9572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9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830513" defTabSz="9572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9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287713" defTabSz="9572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9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744913" defTabSz="9572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9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57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5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Smart Phone</a:t>
                      </a:r>
                    </a:p>
                  </a:txBody>
                  <a:tcPr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 defTabSz="957263">
                        <a:spcBef>
                          <a:spcPct val="20000"/>
                        </a:spcBef>
                        <a:defRPr kumimoji="1" sz="29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477838" defTabSz="957263">
                        <a:spcBef>
                          <a:spcPct val="20000"/>
                        </a:spcBef>
                        <a:defRPr kumimoji="1" sz="25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957263" defTabSz="957263">
                        <a:spcBef>
                          <a:spcPct val="20000"/>
                        </a:spcBef>
                        <a:defRPr kumimoji="1" sz="21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1436688" defTabSz="957263">
                        <a:spcBef>
                          <a:spcPct val="20000"/>
                        </a:spcBef>
                        <a:defRPr kumimoji="1" sz="19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916113" defTabSz="957263">
                        <a:spcBef>
                          <a:spcPct val="20000"/>
                        </a:spcBef>
                        <a:defRPr kumimoji="1" sz="19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373313" defTabSz="9572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9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830513" defTabSz="9572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9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287713" defTabSz="9572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9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744913" defTabSz="9572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9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57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신속한 조회 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/</a:t>
                      </a:r>
                    </a:p>
                    <a:p>
                      <a:pPr marL="0" marR="0" lvl="0" indent="0" algn="ctr" defTabSz="957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통화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sm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 defTabSz="957263">
                        <a:spcBef>
                          <a:spcPct val="20000"/>
                        </a:spcBef>
                        <a:defRPr kumimoji="1" sz="29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477838" defTabSz="957263">
                        <a:spcBef>
                          <a:spcPct val="20000"/>
                        </a:spcBef>
                        <a:defRPr kumimoji="1" sz="25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957263" defTabSz="957263">
                        <a:spcBef>
                          <a:spcPct val="20000"/>
                        </a:spcBef>
                        <a:defRPr kumimoji="1" sz="21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1436688" defTabSz="957263">
                        <a:spcBef>
                          <a:spcPct val="20000"/>
                        </a:spcBef>
                        <a:defRPr kumimoji="1" sz="19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916113" defTabSz="957263">
                        <a:spcBef>
                          <a:spcPct val="20000"/>
                        </a:spcBef>
                        <a:defRPr kumimoji="1" sz="19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373313" defTabSz="9572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9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830513" defTabSz="9572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9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287713" defTabSz="9572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9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744913" defTabSz="9572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9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57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높음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sm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 defTabSz="957263">
                        <a:spcBef>
                          <a:spcPct val="20000"/>
                        </a:spcBef>
                        <a:defRPr kumimoji="1" sz="29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477838" defTabSz="957263">
                        <a:spcBef>
                          <a:spcPct val="20000"/>
                        </a:spcBef>
                        <a:defRPr kumimoji="1" sz="25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957263" defTabSz="957263">
                        <a:spcBef>
                          <a:spcPct val="20000"/>
                        </a:spcBef>
                        <a:defRPr kumimoji="1" sz="21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1436688" defTabSz="957263">
                        <a:spcBef>
                          <a:spcPct val="20000"/>
                        </a:spcBef>
                        <a:defRPr kumimoji="1" sz="19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916113" defTabSz="957263">
                        <a:spcBef>
                          <a:spcPct val="20000"/>
                        </a:spcBef>
                        <a:defRPr kumimoji="1" sz="19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373313" defTabSz="9572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9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830513" defTabSz="9572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9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287713" defTabSz="9572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9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744913" defTabSz="9572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9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57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터치 스크린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marR="0" lvl="0" indent="0" algn="ctr" defTabSz="957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쿼티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자판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sm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 defTabSz="957263">
                        <a:spcBef>
                          <a:spcPct val="20000"/>
                        </a:spcBef>
                        <a:defRPr kumimoji="1" sz="29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477838" defTabSz="957263">
                        <a:spcBef>
                          <a:spcPct val="20000"/>
                        </a:spcBef>
                        <a:defRPr kumimoji="1" sz="25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957263" defTabSz="957263">
                        <a:spcBef>
                          <a:spcPct val="20000"/>
                        </a:spcBef>
                        <a:defRPr kumimoji="1" sz="21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1436688" defTabSz="957263">
                        <a:spcBef>
                          <a:spcPct val="20000"/>
                        </a:spcBef>
                        <a:defRPr kumimoji="1" sz="19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916113" defTabSz="957263">
                        <a:spcBef>
                          <a:spcPct val="20000"/>
                        </a:spcBef>
                        <a:defRPr kumimoji="1" sz="19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373313" defTabSz="9572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9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830513" defTabSz="9572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9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287713" defTabSz="9572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9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744913" defTabSz="9572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9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57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다양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sm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 defTabSz="957263">
                        <a:spcBef>
                          <a:spcPct val="20000"/>
                        </a:spcBef>
                        <a:defRPr kumimoji="1" sz="29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477838" defTabSz="957263">
                        <a:spcBef>
                          <a:spcPct val="20000"/>
                        </a:spcBef>
                        <a:defRPr kumimoji="1" sz="25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957263" defTabSz="957263">
                        <a:spcBef>
                          <a:spcPct val="20000"/>
                        </a:spcBef>
                        <a:defRPr kumimoji="1" sz="21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1436688" defTabSz="957263">
                        <a:spcBef>
                          <a:spcPct val="20000"/>
                        </a:spcBef>
                        <a:defRPr kumimoji="1" sz="19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916113" defTabSz="957263">
                        <a:spcBef>
                          <a:spcPct val="20000"/>
                        </a:spcBef>
                        <a:defRPr kumimoji="1" sz="19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373313" defTabSz="9572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9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830513" defTabSz="9572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9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287713" defTabSz="9572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9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744913" defTabSz="9572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9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57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항시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sm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 defTabSz="957263">
                        <a:spcBef>
                          <a:spcPct val="20000"/>
                        </a:spcBef>
                        <a:defRPr kumimoji="1" sz="29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477838" defTabSz="957263">
                        <a:spcBef>
                          <a:spcPct val="20000"/>
                        </a:spcBef>
                        <a:defRPr kumimoji="1" sz="25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957263" defTabSz="957263">
                        <a:spcBef>
                          <a:spcPct val="20000"/>
                        </a:spcBef>
                        <a:defRPr kumimoji="1" sz="21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1436688" defTabSz="957263">
                        <a:spcBef>
                          <a:spcPct val="20000"/>
                        </a:spcBef>
                        <a:defRPr kumimoji="1" sz="19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916113" defTabSz="957263">
                        <a:spcBef>
                          <a:spcPct val="20000"/>
                        </a:spcBef>
                        <a:defRPr kumimoji="1" sz="19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373313" defTabSz="9572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9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830513" defTabSz="9572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9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287713" defTabSz="9572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9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744913" defTabSz="9572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9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57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무선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sm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 defTabSz="957263">
                        <a:spcBef>
                          <a:spcPct val="20000"/>
                        </a:spcBef>
                        <a:defRPr kumimoji="1" sz="29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477838" defTabSz="957263">
                        <a:spcBef>
                          <a:spcPct val="20000"/>
                        </a:spcBef>
                        <a:defRPr kumimoji="1" sz="25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957263" defTabSz="957263">
                        <a:spcBef>
                          <a:spcPct val="20000"/>
                        </a:spcBef>
                        <a:defRPr kumimoji="1" sz="21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1436688" defTabSz="957263">
                        <a:spcBef>
                          <a:spcPct val="20000"/>
                        </a:spcBef>
                        <a:defRPr kumimoji="1" sz="19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916113" defTabSz="957263">
                        <a:spcBef>
                          <a:spcPct val="20000"/>
                        </a:spcBef>
                        <a:defRPr kumimoji="1" sz="19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373313" defTabSz="9572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9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830513" defTabSz="9572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9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287713" defTabSz="9572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9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744913" defTabSz="9572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9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57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상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sm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57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높음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sm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06399">
                <a:tc>
                  <a:txBody>
                    <a:bodyPr/>
                    <a:lstStyle>
                      <a:lvl1pPr defTabSz="957263">
                        <a:spcBef>
                          <a:spcPct val="20000"/>
                        </a:spcBef>
                        <a:defRPr kumimoji="1" sz="29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477838" defTabSz="957263">
                        <a:spcBef>
                          <a:spcPct val="20000"/>
                        </a:spcBef>
                        <a:defRPr kumimoji="1" sz="25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957263" defTabSz="957263">
                        <a:spcBef>
                          <a:spcPct val="20000"/>
                        </a:spcBef>
                        <a:defRPr kumimoji="1" sz="21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1436688" defTabSz="957263">
                        <a:spcBef>
                          <a:spcPct val="20000"/>
                        </a:spcBef>
                        <a:defRPr kumimoji="1" sz="19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916113" defTabSz="957263">
                        <a:spcBef>
                          <a:spcPct val="20000"/>
                        </a:spcBef>
                        <a:defRPr kumimoji="1" sz="19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373313" defTabSz="9572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9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830513" defTabSz="9572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9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287713" defTabSz="9572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9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744913" defTabSz="9572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9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57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5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Tablet Device</a:t>
                      </a:r>
                    </a:p>
                  </a:txBody>
                  <a:tcPr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 defTabSz="957263">
                        <a:spcBef>
                          <a:spcPct val="20000"/>
                        </a:spcBef>
                        <a:defRPr kumimoji="1" sz="29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477838" defTabSz="957263">
                        <a:spcBef>
                          <a:spcPct val="20000"/>
                        </a:spcBef>
                        <a:defRPr kumimoji="1" sz="25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957263" defTabSz="957263">
                        <a:spcBef>
                          <a:spcPct val="20000"/>
                        </a:spcBef>
                        <a:defRPr kumimoji="1" sz="21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1436688" defTabSz="957263">
                        <a:spcBef>
                          <a:spcPct val="20000"/>
                        </a:spcBef>
                        <a:defRPr kumimoji="1" sz="19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916113" defTabSz="957263">
                        <a:spcBef>
                          <a:spcPct val="20000"/>
                        </a:spcBef>
                        <a:defRPr kumimoji="1" sz="19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373313" defTabSz="9572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9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830513" defTabSz="9572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9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287713" defTabSz="9572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9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744913" defTabSz="9572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9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57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휴대용 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PC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sm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 defTabSz="957263">
                        <a:spcBef>
                          <a:spcPct val="20000"/>
                        </a:spcBef>
                        <a:defRPr kumimoji="1" sz="29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477838" defTabSz="957263">
                        <a:spcBef>
                          <a:spcPct val="20000"/>
                        </a:spcBef>
                        <a:defRPr kumimoji="1" sz="25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957263" defTabSz="957263">
                        <a:spcBef>
                          <a:spcPct val="20000"/>
                        </a:spcBef>
                        <a:defRPr kumimoji="1" sz="21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1436688" defTabSz="957263">
                        <a:spcBef>
                          <a:spcPct val="20000"/>
                        </a:spcBef>
                        <a:defRPr kumimoji="1" sz="19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916113" defTabSz="957263">
                        <a:spcBef>
                          <a:spcPct val="20000"/>
                        </a:spcBef>
                        <a:defRPr kumimoji="1" sz="19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373313" defTabSz="9572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9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830513" defTabSz="9572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9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287713" defTabSz="9572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9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744913" defTabSz="9572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9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57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높음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sm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 defTabSz="957263">
                        <a:spcBef>
                          <a:spcPct val="20000"/>
                        </a:spcBef>
                        <a:defRPr kumimoji="1" sz="29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477838" defTabSz="957263">
                        <a:spcBef>
                          <a:spcPct val="20000"/>
                        </a:spcBef>
                        <a:defRPr kumimoji="1" sz="25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957263" defTabSz="957263">
                        <a:spcBef>
                          <a:spcPct val="20000"/>
                        </a:spcBef>
                        <a:defRPr kumimoji="1" sz="21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1436688" defTabSz="957263">
                        <a:spcBef>
                          <a:spcPct val="20000"/>
                        </a:spcBef>
                        <a:defRPr kumimoji="1" sz="19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916113" defTabSz="957263">
                        <a:spcBef>
                          <a:spcPct val="20000"/>
                        </a:spcBef>
                        <a:defRPr kumimoji="1" sz="19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373313" defTabSz="9572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9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830513" defTabSz="9572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9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287713" defTabSz="9572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9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744913" defTabSz="9572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9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57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터치 스크린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marR="0" lvl="0" indent="0" algn="ctr" defTabSz="957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쿼티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자판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sm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 defTabSz="957263">
                        <a:spcBef>
                          <a:spcPct val="20000"/>
                        </a:spcBef>
                        <a:defRPr kumimoji="1" sz="29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477838" defTabSz="957263">
                        <a:spcBef>
                          <a:spcPct val="20000"/>
                        </a:spcBef>
                        <a:defRPr kumimoji="1" sz="25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957263" defTabSz="957263">
                        <a:spcBef>
                          <a:spcPct val="20000"/>
                        </a:spcBef>
                        <a:defRPr kumimoji="1" sz="21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1436688" defTabSz="957263">
                        <a:spcBef>
                          <a:spcPct val="20000"/>
                        </a:spcBef>
                        <a:defRPr kumimoji="1" sz="19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916113" defTabSz="957263">
                        <a:spcBef>
                          <a:spcPct val="20000"/>
                        </a:spcBef>
                        <a:defRPr kumimoji="1" sz="19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373313" defTabSz="9572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9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830513" defTabSz="9572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9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287713" defTabSz="9572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9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744913" defTabSz="9572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9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57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최하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marR="0" lvl="0" indent="0" algn="ctr" defTabSz="957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1024X768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sm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 defTabSz="957263">
                        <a:spcBef>
                          <a:spcPct val="20000"/>
                        </a:spcBef>
                        <a:defRPr kumimoji="1" sz="29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477838" defTabSz="957263">
                        <a:spcBef>
                          <a:spcPct val="20000"/>
                        </a:spcBef>
                        <a:defRPr kumimoji="1" sz="25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957263" defTabSz="957263">
                        <a:spcBef>
                          <a:spcPct val="20000"/>
                        </a:spcBef>
                        <a:defRPr kumimoji="1" sz="21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1436688" defTabSz="957263">
                        <a:spcBef>
                          <a:spcPct val="20000"/>
                        </a:spcBef>
                        <a:defRPr kumimoji="1" sz="19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916113" defTabSz="957263">
                        <a:spcBef>
                          <a:spcPct val="20000"/>
                        </a:spcBef>
                        <a:defRPr kumimoji="1" sz="19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373313" defTabSz="9572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9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830513" defTabSz="9572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9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287713" defTabSz="9572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9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744913" defTabSz="9572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9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57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유동적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sm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 defTabSz="957263">
                        <a:spcBef>
                          <a:spcPct val="20000"/>
                        </a:spcBef>
                        <a:defRPr kumimoji="1" sz="29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477838" defTabSz="957263">
                        <a:spcBef>
                          <a:spcPct val="20000"/>
                        </a:spcBef>
                        <a:defRPr kumimoji="1" sz="25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957263" defTabSz="957263">
                        <a:spcBef>
                          <a:spcPct val="20000"/>
                        </a:spcBef>
                        <a:defRPr kumimoji="1" sz="21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1436688" defTabSz="957263">
                        <a:spcBef>
                          <a:spcPct val="20000"/>
                        </a:spcBef>
                        <a:defRPr kumimoji="1" sz="19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916113" defTabSz="957263">
                        <a:spcBef>
                          <a:spcPct val="20000"/>
                        </a:spcBef>
                        <a:defRPr kumimoji="1" sz="19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373313" defTabSz="9572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9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830513" defTabSz="9572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9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287713" defTabSz="9572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9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744913" defTabSz="9572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9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57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무선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sm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 defTabSz="957263">
                        <a:spcBef>
                          <a:spcPct val="20000"/>
                        </a:spcBef>
                        <a:defRPr kumimoji="1" sz="29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477838" defTabSz="957263">
                        <a:spcBef>
                          <a:spcPct val="20000"/>
                        </a:spcBef>
                        <a:defRPr kumimoji="1" sz="25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957263" defTabSz="957263">
                        <a:spcBef>
                          <a:spcPct val="20000"/>
                        </a:spcBef>
                        <a:defRPr kumimoji="1" sz="21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1436688" defTabSz="957263">
                        <a:spcBef>
                          <a:spcPct val="20000"/>
                        </a:spcBef>
                        <a:defRPr kumimoji="1" sz="19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916113" defTabSz="957263">
                        <a:spcBef>
                          <a:spcPct val="20000"/>
                        </a:spcBef>
                        <a:defRPr kumimoji="1" sz="19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373313" defTabSz="9572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9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830513" defTabSz="9572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9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287713" defTabSz="9572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9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744913" defTabSz="9572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9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57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상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sm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57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낮음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sm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03498">
                <a:tc>
                  <a:txBody>
                    <a:bodyPr/>
                    <a:lstStyle>
                      <a:lvl1pPr defTabSz="957263">
                        <a:spcBef>
                          <a:spcPct val="20000"/>
                        </a:spcBef>
                        <a:defRPr kumimoji="1" sz="29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477838" defTabSz="957263">
                        <a:spcBef>
                          <a:spcPct val="20000"/>
                        </a:spcBef>
                        <a:defRPr kumimoji="1" sz="25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957263" defTabSz="957263">
                        <a:spcBef>
                          <a:spcPct val="20000"/>
                        </a:spcBef>
                        <a:defRPr kumimoji="1" sz="21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1436688" defTabSz="957263">
                        <a:spcBef>
                          <a:spcPct val="20000"/>
                        </a:spcBef>
                        <a:defRPr kumimoji="1" sz="19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916113" defTabSz="957263">
                        <a:spcBef>
                          <a:spcPct val="20000"/>
                        </a:spcBef>
                        <a:defRPr kumimoji="1" sz="19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373313" defTabSz="9572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9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830513" defTabSz="9572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9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287713" defTabSz="9572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9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744913" defTabSz="9572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9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57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5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Web</a:t>
                      </a:r>
                    </a:p>
                    <a:p>
                      <a:pPr marL="0" marR="0" lvl="0" indent="0" algn="ctr" defTabSz="957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5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(Desktop)</a:t>
                      </a:r>
                    </a:p>
                  </a:txBody>
                  <a:tcPr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 defTabSz="957263">
                        <a:spcBef>
                          <a:spcPct val="20000"/>
                        </a:spcBef>
                        <a:defRPr kumimoji="1" sz="29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477838" defTabSz="957263">
                        <a:spcBef>
                          <a:spcPct val="20000"/>
                        </a:spcBef>
                        <a:defRPr kumimoji="1" sz="25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957263" defTabSz="957263">
                        <a:spcBef>
                          <a:spcPct val="20000"/>
                        </a:spcBef>
                        <a:defRPr kumimoji="1" sz="21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1436688" defTabSz="957263">
                        <a:spcBef>
                          <a:spcPct val="20000"/>
                        </a:spcBef>
                        <a:defRPr kumimoji="1" sz="19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916113" defTabSz="957263">
                        <a:spcBef>
                          <a:spcPct val="20000"/>
                        </a:spcBef>
                        <a:defRPr kumimoji="1" sz="19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373313" defTabSz="9572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9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830513" defTabSz="9572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9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287713" defTabSz="9572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9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744913" defTabSz="9572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9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57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컨텐츠</a:t>
                      </a: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marR="0" lvl="0" indent="0" algn="ctr" defTabSz="957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검색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sm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 defTabSz="957263">
                        <a:spcBef>
                          <a:spcPct val="20000"/>
                        </a:spcBef>
                        <a:defRPr kumimoji="1" sz="29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477838" defTabSz="957263">
                        <a:spcBef>
                          <a:spcPct val="20000"/>
                        </a:spcBef>
                        <a:defRPr kumimoji="1" sz="25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957263" defTabSz="957263">
                        <a:spcBef>
                          <a:spcPct val="20000"/>
                        </a:spcBef>
                        <a:defRPr kumimoji="1" sz="21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1436688" defTabSz="957263">
                        <a:spcBef>
                          <a:spcPct val="20000"/>
                        </a:spcBef>
                        <a:defRPr kumimoji="1" sz="19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916113" defTabSz="957263">
                        <a:spcBef>
                          <a:spcPct val="20000"/>
                        </a:spcBef>
                        <a:defRPr kumimoji="1" sz="19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373313" defTabSz="9572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9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830513" defTabSz="9572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9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287713" defTabSz="9572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9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744913" defTabSz="9572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9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57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불가능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sm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 defTabSz="957263">
                        <a:spcBef>
                          <a:spcPct val="20000"/>
                        </a:spcBef>
                        <a:defRPr kumimoji="1" sz="29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477838" defTabSz="957263">
                        <a:spcBef>
                          <a:spcPct val="20000"/>
                        </a:spcBef>
                        <a:defRPr kumimoji="1" sz="25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957263" defTabSz="957263">
                        <a:spcBef>
                          <a:spcPct val="20000"/>
                        </a:spcBef>
                        <a:defRPr kumimoji="1" sz="21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1436688" defTabSz="957263">
                        <a:spcBef>
                          <a:spcPct val="20000"/>
                        </a:spcBef>
                        <a:defRPr kumimoji="1" sz="19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916113" defTabSz="957263">
                        <a:spcBef>
                          <a:spcPct val="20000"/>
                        </a:spcBef>
                        <a:defRPr kumimoji="1" sz="19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373313" defTabSz="9572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9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830513" defTabSz="9572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9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287713" defTabSz="9572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9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744913" defTabSz="9572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9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57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키보드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sm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 defTabSz="957263">
                        <a:spcBef>
                          <a:spcPct val="20000"/>
                        </a:spcBef>
                        <a:defRPr kumimoji="1" sz="29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477838" defTabSz="957263">
                        <a:spcBef>
                          <a:spcPct val="20000"/>
                        </a:spcBef>
                        <a:defRPr kumimoji="1" sz="25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957263" defTabSz="957263">
                        <a:spcBef>
                          <a:spcPct val="20000"/>
                        </a:spcBef>
                        <a:defRPr kumimoji="1" sz="21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1436688" defTabSz="957263">
                        <a:spcBef>
                          <a:spcPct val="20000"/>
                        </a:spcBef>
                        <a:defRPr kumimoji="1" sz="19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916113" defTabSz="957263">
                        <a:spcBef>
                          <a:spcPct val="20000"/>
                        </a:spcBef>
                        <a:defRPr kumimoji="1" sz="19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373313" defTabSz="9572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9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830513" defTabSz="9572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9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287713" defTabSz="9572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9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744913" defTabSz="9572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9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57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최하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marR="0" lvl="0" indent="0" algn="ctr" defTabSz="957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1024X768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sm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 defTabSz="957263">
                        <a:spcBef>
                          <a:spcPct val="20000"/>
                        </a:spcBef>
                        <a:defRPr kumimoji="1" sz="29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477838" defTabSz="957263">
                        <a:spcBef>
                          <a:spcPct val="20000"/>
                        </a:spcBef>
                        <a:defRPr kumimoji="1" sz="25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957263" defTabSz="957263">
                        <a:spcBef>
                          <a:spcPct val="20000"/>
                        </a:spcBef>
                        <a:defRPr kumimoji="1" sz="21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1436688" defTabSz="957263">
                        <a:spcBef>
                          <a:spcPct val="20000"/>
                        </a:spcBef>
                        <a:defRPr kumimoji="1" sz="19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916113" defTabSz="957263">
                        <a:spcBef>
                          <a:spcPct val="20000"/>
                        </a:spcBef>
                        <a:defRPr kumimoji="1" sz="19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373313" defTabSz="9572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9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830513" defTabSz="9572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9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287713" defTabSz="9572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9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744913" defTabSz="9572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9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57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유동적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sm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 defTabSz="957263">
                        <a:spcBef>
                          <a:spcPct val="20000"/>
                        </a:spcBef>
                        <a:defRPr kumimoji="1" sz="29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477838" defTabSz="957263">
                        <a:spcBef>
                          <a:spcPct val="20000"/>
                        </a:spcBef>
                        <a:defRPr kumimoji="1" sz="25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957263" defTabSz="957263">
                        <a:spcBef>
                          <a:spcPct val="20000"/>
                        </a:spcBef>
                        <a:defRPr kumimoji="1" sz="21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1436688" defTabSz="957263">
                        <a:spcBef>
                          <a:spcPct val="20000"/>
                        </a:spcBef>
                        <a:defRPr kumimoji="1" sz="19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916113" defTabSz="957263">
                        <a:spcBef>
                          <a:spcPct val="20000"/>
                        </a:spcBef>
                        <a:defRPr kumimoji="1" sz="19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373313" defTabSz="9572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9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830513" defTabSz="9572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9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287713" defTabSz="9572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9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744913" defTabSz="9572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9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57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유선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/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무선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sm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 defTabSz="957263">
                        <a:spcBef>
                          <a:spcPct val="20000"/>
                        </a:spcBef>
                        <a:defRPr kumimoji="1" sz="29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477838" defTabSz="957263">
                        <a:spcBef>
                          <a:spcPct val="20000"/>
                        </a:spcBef>
                        <a:defRPr kumimoji="1" sz="25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957263" defTabSz="957263">
                        <a:spcBef>
                          <a:spcPct val="20000"/>
                        </a:spcBef>
                        <a:defRPr kumimoji="1" sz="21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1436688" defTabSz="957263">
                        <a:spcBef>
                          <a:spcPct val="20000"/>
                        </a:spcBef>
                        <a:defRPr kumimoji="1" sz="19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916113" defTabSz="957263">
                        <a:spcBef>
                          <a:spcPct val="20000"/>
                        </a:spcBef>
                        <a:defRPr kumimoji="1" sz="19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373313" defTabSz="9572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9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830513" defTabSz="9572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9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287713" defTabSz="9572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9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744913" defTabSz="9572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9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57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중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sm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57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높음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sm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0" name="Text Box 81"/>
          <p:cNvSpPr txBox="1">
            <a:spLocks noChangeArrowheads="1"/>
          </p:cNvSpPr>
          <p:nvPr/>
        </p:nvSpPr>
        <p:spPr bwMode="auto">
          <a:xfrm>
            <a:off x="7372672" y="5733256"/>
            <a:ext cx="18288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kumimoji="1"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수치는 대략적인 것입니다</a:t>
            </a:r>
            <a:r>
              <a:rPr kumimoji="1"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53191503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44017" y="91339"/>
            <a:ext cx="7401271" cy="385333"/>
          </a:xfrm>
          <a:prstGeom prst="rect">
            <a:avLst/>
          </a:prstGeom>
          <a:noFill/>
        </p:spPr>
        <p:txBody>
          <a:bodyPr wrap="square" lIns="0" tIns="53643" rIns="0" bIns="53643" rtlCol="0">
            <a:spAutoFit/>
          </a:bodyPr>
          <a:lstStyle/>
          <a:p>
            <a:r>
              <a:rPr kumimoji="1" lang="en-US" altLang="ko-KR" b="1" kern="0" dirty="0">
                <a:latin typeface="나눔고딕" panose="020D0604000000000000" pitchFamily="50" charset="-127"/>
                <a:ea typeface="나눔고딕" panose="020D0604000000000000" pitchFamily="50" charset="-127"/>
                <a:cs typeface="산돌고딕 M"/>
              </a:rPr>
              <a:t>Multi channel integration</a:t>
            </a:r>
            <a:endParaRPr kumimoji="1" lang="ko-KR" altLang="en-US" b="1" kern="0" dirty="0">
              <a:latin typeface="나눔고딕" panose="020D0604000000000000" pitchFamily="50" charset="-127"/>
              <a:ea typeface="나눔고딕" panose="020D0604000000000000" pitchFamily="50" charset="-127"/>
              <a:cs typeface="산돌고딕 M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44017" y="683985"/>
            <a:ext cx="96335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Integration (</a:t>
            </a:r>
            <a:r>
              <a:rPr lang="ko-KR" altLang="en-US" sz="1400" b="1">
                <a:latin typeface="나눔고딕" panose="020D0604000000000000" pitchFamily="50" charset="-127"/>
                <a:ea typeface="나눔고딕" panose="020D0604000000000000" pitchFamily="50" charset="-127"/>
              </a:rPr>
              <a:t>통합 서비스의 </a:t>
            </a:r>
            <a:r>
              <a:rPr lang="ko-KR" altLang="en-US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제공</a:t>
            </a:r>
            <a:r>
              <a:rPr lang="en-US" altLang="ko-KR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</p:txBody>
      </p:sp>
      <p:sp>
        <p:nvSpPr>
          <p:cNvPr id="8" name="AutoShape 2"/>
          <p:cNvSpPr>
            <a:spLocks noChangeArrowheads="1"/>
          </p:cNvSpPr>
          <p:nvPr/>
        </p:nvSpPr>
        <p:spPr bwMode="auto">
          <a:xfrm>
            <a:off x="6221016" y="1553493"/>
            <a:ext cx="838200" cy="3962400"/>
          </a:xfrm>
          <a:prstGeom prst="roundRect">
            <a:avLst>
              <a:gd name="adj" fmla="val 16667"/>
            </a:avLst>
          </a:prstGeom>
          <a:solidFill>
            <a:srgbClr val="B2B2B2"/>
          </a:solidFill>
          <a:ln w="19050">
            <a:solidFill>
              <a:schemeClr val="tx1">
                <a:lumMod val="50000"/>
                <a:lumOff val="50000"/>
              </a:schemeClr>
            </a:solidFill>
            <a:round/>
            <a:headEnd/>
            <a:tailEnd type="none" w="med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noAutofit/>
          </a:bodyPr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" name="Oval 3"/>
          <p:cNvSpPr>
            <a:spLocks noChangeArrowheads="1"/>
          </p:cNvSpPr>
          <p:nvPr/>
        </p:nvSpPr>
        <p:spPr bwMode="auto">
          <a:xfrm>
            <a:off x="735929" y="2951324"/>
            <a:ext cx="1143000" cy="1143000"/>
          </a:xfrm>
          <a:prstGeom prst="ellipse">
            <a:avLst/>
          </a:prstGeom>
          <a:noFill/>
          <a:ln w="57150">
            <a:solidFill>
              <a:srgbClr val="0099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69696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50800" sy="50000" kx="-2453608" rotWithShape="0">
                    <a:srgbClr val="5F5F5F"/>
                  </a:outerShdw>
                </a:effectLst>
              </a14:hiddenEffects>
            </a:ext>
          </a:extLst>
        </p:spPr>
        <p:txBody>
          <a:bodyPr anchor="ctr">
            <a:noAutofit/>
          </a:bodyPr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1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66622172"/>
              </p:ext>
            </p:extLst>
          </p:nvPr>
        </p:nvGraphicFramePr>
        <p:xfrm>
          <a:off x="1117618" y="3080811"/>
          <a:ext cx="388937" cy="885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488061" imgH="1107440" progId="Visio.Drawing.6">
                  <p:embed/>
                </p:oleObj>
              </mc:Choice>
              <mc:Fallback>
                <p:oleObj name="Visio" r:id="rId2" imgW="488061" imgH="1107440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7618" y="3080811"/>
                        <a:ext cx="388937" cy="885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6350">
                            <a:solidFill>
                              <a:schemeClr val="tx1"/>
                            </a:solidFill>
                            <a:miter lim="800000"/>
                            <a:headEnd/>
                            <a:tailEnd type="none" w="med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AutoShape 21"/>
          <p:cNvSpPr>
            <a:spLocks noChangeArrowheads="1"/>
          </p:cNvSpPr>
          <p:nvPr/>
        </p:nvSpPr>
        <p:spPr bwMode="auto">
          <a:xfrm>
            <a:off x="2868216" y="1553493"/>
            <a:ext cx="838200" cy="3962400"/>
          </a:xfrm>
          <a:prstGeom prst="roundRect">
            <a:avLst>
              <a:gd name="adj" fmla="val 16667"/>
            </a:avLst>
          </a:prstGeom>
          <a:solidFill>
            <a:srgbClr val="FFFFCC"/>
          </a:solidFill>
          <a:ln w="19050">
            <a:solidFill>
              <a:schemeClr val="tx1">
                <a:lumMod val="50000"/>
                <a:lumOff val="50000"/>
              </a:schemeClr>
            </a:solidFill>
            <a:round/>
            <a:headEnd/>
            <a:tailEnd type="none" w="med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noAutofit/>
          </a:bodyPr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6" name="Text Box 22" descr="점선 눈금"/>
          <p:cNvSpPr txBox="1">
            <a:spLocks noChangeArrowheads="1"/>
          </p:cNvSpPr>
          <p:nvPr/>
        </p:nvSpPr>
        <p:spPr bwMode="auto">
          <a:xfrm>
            <a:off x="2272903" y="5782146"/>
            <a:ext cx="2028825" cy="311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pattFill prst="dotGrid">
                  <a:fgClr>
                    <a:schemeClr val="folHlink"/>
                  </a:fgClr>
                  <a:bgClr>
                    <a:srgbClr val="FFFFFF"/>
                  </a:bgClr>
                </a:patt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noAutofit/>
          </a:bodyPr>
          <a:lstStyle/>
          <a:p>
            <a:pPr algn="ctr">
              <a:lnSpc>
                <a:spcPct val="120000"/>
              </a:lnSpc>
            </a:pPr>
            <a:r>
              <a:rPr kumimoji="1" lang="en-US" altLang="ko-KR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User Interface Integration</a:t>
            </a:r>
          </a:p>
        </p:txBody>
      </p:sp>
      <p:sp>
        <p:nvSpPr>
          <p:cNvPr id="44" name="Text Box 40" descr="점선 눈금"/>
          <p:cNvSpPr txBox="1">
            <a:spLocks noChangeArrowheads="1"/>
          </p:cNvSpPr>
          <p:nvPr/>
        </p:nvSpPr>
        <p:spPr bwMode="auto">
          <a:xfrm>
            <a:off x="5477272" y="5782146"/>
            <a:ext cx="2325687" cy="311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pattFill prst="dotGrid">
                  <a:fgClr>
                    <a:schemeClr val="folHlink"/>
                  </a:fgClr>
                  <a:bgClr>
                    <a:srgbClr val="FFFFFF"/>
                  </a:bgClr>
                </a:patt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noAutofit/>
          </a:bodyPr>
          <a:lstStyle/>
          <a:p>
            <a:pPr algn="ctr">
              <a:lnSpc>
                <a:spcPct val="120000"/>
              </a:lnSpc>
            </a:pPr>
            <a:r>
              <a:rPr kumimoji="1" lang="en-US" altLang="ko-KR" sz="1200" b="1">
                <a:latin typeface="나눔고딕" panose="020D0604000000000000" pitchFamily="50" charset="-127"/>
                <a:ea typeface="나눔고딕" panose="020D0604000000000000" pitchFamily="50" charset="-127"/>
              </a:rPr>
              <a:t>Content &amp; Service Integration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82850" y="4269984"/>
            <a:ext cx="4491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User</a:t>
            </a:r>
          </a:p>
        </p:txBody>
      </p:sp>
      <p:sp>
        <p:nvSpPr>
          <p:cNvPr id="27" name="Line 23"/>
          <p:cNvSpPr>
            <a:spLocks noChangeShapeType="1"/>
          </p:cNvSpPr>
          <p:nvPr/>
        </p:nvSpPr>
        <p:spPr bwMode="auto">
          <a:xfrm flipH="1">
            <a:off x="3559038" y="2010693"/>
            <a:ext cx="873953" cy="0"/>
          </a:xfrm>
          <a:prstGeom prst="line">
            <a:avLst/>
          </a:prstGeom>
          <a:noFill/>
          <a:ln w="12700">
            <a:solidFill>
              <a:schemeClr val="tx1">
                <a:lumMod val="50000"/>
                <a:lumOff val="50000"/>
              </a:schemeClr>
            </a:solidFill>
            <a:round/>
            <a:headEnd/>
            <a:tailEnd type="none" w="med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noAutofit/>
          </a:bodyPr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8" name="Line 24"/>
          <p:cNvSpPr>
            <a:spLocks noChangeShapeType="1"/>
          </p:cNvSpPr>
          <p:nvPr/>
        </p:nvSpPr>
        <p:spPr bwMode="auto">
          <a:xfrm flipH="1">
            <a:off x="2328090" y="3534693"/>
            <a:ext cx="2104901" cy="0"/>
          </a:xfrm>
          <a:prstGeom prst="line">
            <a:avLst/>
          </a:prstGeom>
          <a:noFill/>
          <a:ln w="12700">
            <a:solidFill>
              <a:schemeClr val="tx1">
                <a:lumMod val="50000"/>
                <a:lumOff val="50000"/>
              </a:schemeClr>
            </a:solidFill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noAutofit/>
          </a:bodyPr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9" name="Line 25"/>
          <p:cNvSpPr>
            <a:spLocks noChangeShapeType="1"/>
          </p:cNvSpPr>
          <p:nvPr/>
        </p:nvSpPr>
        <p:spPr bwMode="auto">
          <a:xfrm flipH="1">
            <a:off x="3632588" y="5012720"/>
            <a:ext cx="800403" cy="0"/>
          </a:xfrm>
          <a:prstGeom prst="line">
            <a:avLst/>
          </a:prstGeom>
          <a:noFill/>
          <a:ln w="12700">
            <a:solidFill>
              <a:schemeClr val="tx1">
                <a:lumMod val="50000"/>
                <a:lumOff val="50000"/>
              </a:schemeClr>
            </a:solidFill>
            <a:round/>
            <a:headEnd/>
            <a:tailEnd type="none" w="med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noAutofit/>
          </a:bodyPr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2" name="Line 28"/>
          <p:cNvSpPr>
            <a:spLocks noChangeShapeType="1"/>
          </p:cNvSpPr>
          <p:nvPr/>
        </p:nvSpPr>
        <p:spPr bwMode="auto">
          <a:xfrm flipH="1">
            <a:off x="2123257" y="2010693"/>
            <a:ext cx="1435781" cy="1219200"/>
          </a:xfrm>
          <a:prstGeom prst="line">
            <a:avLst/>
          </a:prstGeom>
          <a:noFill/>
          <a:ln w="12700">
            <a:solidFill>
              <a:schemeClr val="tx1">
                <a:lumMod val="50000"/>
                <a:lumOff val="50000"/>
              </a:schemeClr>
            </a:solidFill>
            <a:round/>
            <a:headEnd/>
            <a:tailEnd type="triangle" w="med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noAutofit/>
          </a:bodyPr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9" name="Line 28"/>
          <p:cNvSpPr>
            <a:spLocks noChangeShapeType="1"/>
          </p:cNvSpPr>
          <p:nvPr/>
        </p:nvSpPr>
        <p:spPr bwMode="auto">
          <a:xfrm rot="3600000" flipH="1">
            <a:off x="2099136" y="4136099"/>
            <a:ext cx="1557572" cy="843562"/>
          </a:xfrm>
          <a:prstGeom prst="line">
            <a:avLst/>
          </a:prstGeom>
          <a:noFill/>
          <a:ln w="12700">
            <a:solidFill>
              <a:schemeClr val="tx1">
                <a:lumMod val="50000"/>
                <a:lumOff val="50000"/>
              </a:schemeClr>
            </a:solidFill>
            <a:round/>
            <a:headEnd/>
            <a:tailEnd type="triangle" w="med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noAutofit/>
          </a:bodyPr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2" name="Line 23"/>
          <p:cNvSpPr>
            <a:spLocks noChangeShapeType="1"/>
          </p:cNvSpPr>
          <p:nvPr/>
        </p:nvSpPr>
        <p:spPr bwMode="auto">
          <a:xfrm rot="10800000" flipH="1">
            <a:off x="5493225" y="5012984"/>
            <a:ext cx="873953" cy="0"/>
          </a:xfrm>
          <a:prstGeom prst="line">
            <a:avLst/>
          </a:prstGeom>
          <a:noFill/>
          <a:ln w="12700">
            <a:solidFill>
              <a:schemeClr val="tx1">
                <a:lumMod val="50000"/>
                <a:lumOff val="50000"/>
              </a:schemeClr>
            </a:solidFill>
            <a:round/>
            <a:headEnd/>
            <a:tailEnd type="none" w="med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noAutofit/>
          </a:bodyPr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3" name="Line 24"/>
          <p:cNvSpPr>
            <a:spLocks noChangeShapeType="1"/>
          </p:cNvSpPr>
          <p:nvPr/>
        </p:nvSpPr>
        <p:spPr bwMode="auto">
          <a:xfrm rot="10800000" flipH="1">
            <a:off x="5493225" y="3488984"/>
            <a:ext cx="2104901" cy="0"/>
          </a:xfrm>
          <a:prstGeom prst="line">
            <a:avLst/>
          </a:prstGeom>
          <a:noFill/>
          <a:ln w="12700">
            <a:solidFill>
              <a:schemeClr val="tx1">
                <a:lumMod val="50000"/>
                <a:lumOff val="50000"/>
              </a:schemeClr>
            </a:solidFill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noAutofit/>
          </a:bodyPr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4" name="Line 25"/>
          <p:cNvSpPr>
            <a:spLocks noChangeShapeType="1"/>
          </p:cNvSpPr>
          <p:nvPr/>
        </p:nvSpPr>
        <p:spPr bwMode="auto">
          <a:xfrm rot="10800000" flipH="1">
            <a:off x="5493225" y="2010957"/>
            <a:ext cx="800403" cy="0"/>
          </a:xfrm>
          <a:prstGeom prst="line">
            <a:avLst/>
          </a:prstGeom>
          <a:noFill/>
          <a:ln w="12700">
            <a:solidFill>
              <a:schemeClr val="tx1">
                <a:lumMod val="50000"/>
                <a:lumOff val="50000"/>
              </a:schemeClr>
            </a:solidFill>
            <a:round/>
            <a:headEnd/>
            <a:tailEnd type="none" w="med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noAutofit/>
          </a:bodyPr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5" name="Line 28"/>
          <p:cNvSpPr>
            <a:spLocks noChangeShapeType="1"/>
          </p:cNvSpPr>
          <p:nvPr/>
        </p:nvSpPr>
        <p:spPr bwMode="auto">
          <a:xfrm rot="10800000" flipH="1">
            <a:off x="6367178" y="3793784"/>
            <a:ext cx="1435781" cy="1219200"/>
          </a:xfrm>
          <a:prstGeom prst="line">
            <a:avLst/>
          </a:prstGeom>
          <a:noFill/>
          <a:ln w="12700">
            <a:solidFill>
              <a:schemeClr val="tx1">
                <a:lumMod val="50000"/>
                <a:lumOff val="50000"/>
              </a:schemeClr>
            </a:solidFill>
            <a:round/>
            <a:headEnd/>
            <a:tailEnd type="triangle" w="med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noAutofit/>
          </a:bodyPr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6" name="Line 28"/>
          <p:cNvSpPr>
            <a:spLocks noChangeShapeType="1"/>
          </p:cNvSpPr>
          <p:nvPr/>
        </p:nvSpPr>
        <p:spPr bwMode="auto">
          <a:xfrm rot="14400000" flipH="1">
            <a:off x="6306259" y="1988816"/>
            <a:ext cx="1484070" cy="885998"/>
          </a:xfrm>
          <a:prstGeom prst="line">
            <a:avLst/>
          </a:prstGeom>
          <a:noFill/>
          <a:ln w="12700">
            <a:solidFill>
              <a:schemeClr val="tx1">
                <a:lumMod val="50000"/>
                <a:lumOff val="50000"/>
              </a:schemeClr>
            </a:solidFill>
            <a:round/>
            <a:headEnd/>
            <a:tailEnd type="triangle" w="med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noAutofit/>
          </a:bodyPr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pSp>
        <p:nvGrpSpPr>
          <p:cNvPr id="56" name="iPhone"/>
          <p:cNvGrpSpPr>
            <a:grpSpLocks noChangeAspect="1"/>
          </p:cNvGrpSpPr>
          <p:nvPr/>
        </p:nvGrpSpPr>
        <p:grpSpPr>
          <a:xfrm>
            <a:off x="4792552" y="1510257"/>
            <a:ext cx="466380" cy="916242"/>
            <a:chOff x="508000" y="1397000"/>
            <a:chExt cx="2285999" cy="4491038"/>
          </a:xfrm>
        </p:grpSpPr>
        <p:sp>
          <p:nvSpPr>
            <p:cNvPr id="57" name="Case"/>
            <p:cNvSpPr>
              <a:spLocks/>
            </p:cNvSpPr>
            <p:nvPr/>
          </p:nvSpPr>
          <p:spPr bwMode="auto">
            <a:xfrm>
              <a:off x="508000" y="1397000"/>
              <a:ext cx="2285999" cy="4491038"/>
            </a:xfrm>
            <a:prstGeom prst="roundRect">
              <a:avLst>
                <a:gd name="adj" fmla="val 13146"/>
              </a:avLst>
            </a:prstGeom>
            <a:solidFill>
              <a:schemeClr val="tx1">
                <a:lumMod val="50000"/>
                <a:lumOff val="50000"/>
              </a:schemeClr>
            </a:solidFill>
            <a:ln w="6350" cap="flat" cmpd="sng" algn="ctr">
              <a:solidFill>
                <a:srgbClr val="333333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58" name="Display"/>
            <p:cNvSpPr>
              <a:spLocks/>
            </p:cNvSpPr>
            <p:nvPr/>
          </p:nvSpPr>
          <p:spPr bwMode="auto">
            <a:xfrm>
              <a:off x="641349" y="2147888"/>
              <a:ext cx="2019300" cy="3024188"/>
            </a:xfrm>
            <a:prstGeom prst="rect">
              <a:avLst/>
            </a:prstGeom>
            <a:solidFill>
              <a:schemeClr val="bg1"/>
            </a:solidFill>
            <a:ln w="6350" cap="flat" cmpd="sng" algn="ctr">
              <a:solidFill>
                <a:srgbClr val="333333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59" name="Speaker"/>
            <p:cNvSpPr>
              <a:spLocks/>
            </p:cNvSpPr>
            <p:nvPr/>
          </p:nvSpPr>
          <p:spPr bwMode="auto">
            <a:xfrm>
              <a:off x="1433512" y="1738314"/>
              <a:ext cx="434975" cy="84138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65000"/>
              </a:schemeClr>
            </a:solidFill>
            <a:ln w="6350" cap="flat" cmpd="sng" algn="ctr">
              <a:solidFill>
                <a:srgbClr val="333333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endParaRPr>
            </a:p>
          </p:txBody>
        </p:sp>
        <p:grpSp>
          <p:nvGrpSpPr>
            <p:cNvPr id="60" name="Camera"/>
            <p:cNvGrpSpPr/>
            <p:nvPr/>
          </p:nvGrpSpPr>
          <p:grpSpPr>
            <a:xfrm>
              <a:off x="1175120" y="1735138"/>
              <a:ext cx="90490" cy="90490"/>
              <a:chOff x="1175120" y="1735138"/>
              <a:chExt cx="90490" cy="90490"/>
            </a:xfrm>
          </p:grpSpPr>
          <p:sp>
            <p:nvSpPr>
              <p:cNvPr id="64" name="Camera Outer"/>
              <p:cNvSpPr>
                <a:spLocks/>
              </p:cNvSpPr>
              <p:nvPr/>
            </p:nvSpPr>
            <p:spPr bwMode="auto">
              <a:xfrm>
                <a:off x="1175120" y="1735138"/>
                <a:ext cx="90490" cy="90490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 w="6350" cap="flat" cmpd="sng" algn="ctr">
                <a:solidFill>
                  <a:srgbClr val="333333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900" dirty="0">
                  <a:solidFill>
                    <a:srgbClr val="333333"/>
                  </a:solidFill>
                  <a:latin typeface="Calibri" pitchFamily="34" charset="0"/>
                  <a:cs typeface="Calibri" pitchFamily="34" charset="0"/>
                </a:endParaRPr>
              </a:p>
            </p:txBody>
          </p:sp>
          <p:sp>
            <p:nvSpPr>
              <p:cNvPr id="65" name="Camera Inner"/>
              <p:cNvSpPr>
                <a:spLocks/>
              </p:cNvSpPr>
              <p:nvPr/>
            </p:nvSpPr>
            <p:spPr bwMode="auto">
              <a:xfrm>
                <a:off x="1205965" y="1765983"/>
                <a:ext cx="28800" cy="28800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 w="6350" cap="flat" cmpd="sng" algn="ctr">
                <a:solidFill>
                  <a:srgbClr val="333333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900" dirty="0">
                  <a:solidFill>
                    <a:srgbClr val="333333"/>
                  </a:solidFill>
                  <a:latin typeface="Calibri" pitchFamily="34" charset="0"/>
                  <a:cs typeface="Calibri" pitchFamily="34" charset="0"/>
                </a:endParaRPr>
              </a:p>
            </p:txBody>
          </p:sp>
        </p:grpSp>
        <p:grpSp>
          <p:nvGrpSpPr>
            <p:cNvPr id="61" name="Button"/>
            <p:cNvGrpSpPr/>
            <p:nvPr/>
          </p:nvGrpSpPr>
          <p:grpSpPr>
            <a:xfrm>
              <a:off x="1447799" y="5332413"/>
              <a:ext cx="406400" cy="406400"/>
              <a:chOff x="1447799" y="5332413"/>
              <a:chExt cx="406400" cy="406400"/>
            </a:xfrm>
          </p:grpSpPr>
          <p:sp>
            <p:nvSpPr>
              <p:cNvPr id="62" name="Button Outer"/>
              <p:cNvSpPr>
                <a:spLocks/>
              </p:cNvSpPr>
              <p:nvPr/>
            </p:nvSpPr>
            <p:spPr bwMode="auto">
              <a:xfrm>
                <a:off x="1447799" y="5332413"/>
                <a:ext cx="406400" cy="406400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 w="6350" cap="flat" cmpd="sng" algn="ctr">
                <a:solidFill>
                  <a:srgbClr val="333333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900" dirty="0">
                  <a:solidFill>
                    <a:srgbClr val="333333"/>
                  </a:solidFill>
                  <a:latin typeface="Calibri" pitchFamily="34" charset="0"/>
                  <a:cs typeface="Calibri" pitchFamily="34" charset="0"/>
                </a:endParaRPr>
              </a:p>
            </p:txBody>
          </p:sp>
          <p:sp>
            <p:nvSpPr>
              <p:cNvPr id="63" name="Button Inner"/>
              <p:cNvSpPr>
                <a:spLocks/>
              </p:cNvSpPr>
              <p:nvPr/>
            </p:nvSpPr>
            <p:spPr bwMode="auto">
              <a:xfrm>
                <a:off x="1583245" y="5467213"/>
                <a:ext cx="135508" cy="136800"/>
              </a:xfrm>
              <a:prstGeom prst="roundRect">
                <a:avLst>
                  <a:gd name="adj" fmla="val 32086"/>
                </a:avLst>
              </a:prstGeom>
              <a:solidFill>
                <a:schemeClr val="bg1">
                  <a:lumMod val="65000"/>
                </a:schemeClr>
              </a:solidFill>
              <a:ln w="6350" cap="flat" cmpd="sng" algn="ctr">
                <a:solidFill>
                  <a:srgbClr val="333333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900" dirty="0">
                  <a:solidFill>
                    <a:srgbClr val="262626"/>
                  </a:solidFill>
                  <a:latin typeface="Calibri" pitchFamily="34" charset="0"/>
                  <a:cs typeface="Calibri" pitchFamily="34" charset="0"/>
                </a:endParaRPr>
              </a:p>
            </p:txBody>
          </p:sp>
        </p:grpSp>
      </p:grpSp>
      <p:grpSp>
        <p:nvGrpSpPr>
          <p:cNvPr id="66" name="iPad"/>
          <p:cNvGrpSpPr>
            <a:grpSpLocks noChangeAspect="1"/>
          </p:cNvGrpSpPr>
          <p:nvPr/>
        </p:nvGrpSpPr>
        <p:grpSpPr>
          <a:xfrm rot="16200000">
            <a:off x="4737388" y="4627371"/>
            <a:ext cx="604361" cy="782656"/>
            <a:chOff x="4644008" y="366712"/>
            <a:chExt cx="4367724" cy="5656263"/>
          </a:xfrm>
        </p:grpSpPr>
        <p:sp>
          <p:nvSpPr>
            <p:cNvPr id="67" name="Case"/>
            <p:cNvSpPr>
              <a:spLocks/>
            </p:cNvSpPr>
            <p:nvPr/>
          </p:nvSpPr>
          <p:spPr bwMode="auto">
            <a:xfrm>
              <a:off x="4644008" y="366712"/>
              <a:ext cx="4367724" cy="5656263"/>
            </a:xfrm>
            <a:prstGeom prst="roundRect">
              <a:avLst>
                <a:gd name="adj" fmla="val 5018"/>
              </a:avLst>
            </a:prstGeom>
            <a:solidFill>
              <a:schemeClr val="tx1">
                <a:lumMod val="50000"/>
                <a:lumOff val="50000"/>
              </a:schemeClr>
            </a:solidFill>
            <a:ln w="6350" cap="flat" cmpd="sng" algn="ctr">
              <a:solidFill>
                <a:srgbClr val="333333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68" name="Display"/>
            <p:cNvSpPr>
              <a:spLocks/>
            </p:cNvSpPr>
            <p:nvPr/>
          </p:nvSpPr>
          <p:spPr bwMode="auto">
            <a:xfrm>
              <a:off x="5073683" y="868363"/>
              <a:ext cx="3508375" cy="4668838"/>
            </a:xfrm>
            <a:prstGeom prst="rect">
              <a:avLst/>
            </a:prstGeom>
            <a:solidFill>
              <a:schemeClr val="bg1"/>
            </a:solidFill>
            <a:ln w="6350" cap="flat" cmpd="sng" algn="ctr">
              <a:solidFill>
                <a:srgbClr val="333333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69" name="Camera"/>
            <p:cNvSpPr>
              <a:spLocks noChangeAspect="1"/>
            </p:cNvSpPr>
            <p:nvPr/>
          </p:nvSpPr>
          <p:spPr bwMode="auto">
            <a:xfrm>
              <a:off x="6808070" y="593813"/>
              <a:ext cx="39600" cy="396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 w="6350" cap="flat" cmpd="sng" algn="ctr">
              <a:solidFill>
                <a:srgbClr val="333333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333333"/>
                </a:solidFill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70" name="Button"/>
            <p:cNvSpPr>
              <a:spLocks/>
            </p:cNvSpPr>
            <p:nvPr/>
          </p:nvSpPr>
          <p:spPr bwMode="auto">
            <a:xfrm>
              <a:off x="6784670" y="5750837"/>
              <a:ext cx="86400" cy="86400"/>
            </a:xfrm>
            <a:prstGeom prst="roundRect">
              <a:avLst>
                <a:gd name="adj" fmla="val 25376"/>
              </a:avLst>
            </a:prstGeom>
            <a:solidFill>
              <a:schemeClr val="bg1">
                <a:lumMod val="65000"/>
              </a:schemeClr>
            </a:solidFill>
            <a:ln w="6350" cap="flat" cmpd="sng" algn="ctr">
              <a:solidFill>
                <a:srgbClr val="333333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endParaRPr>
            </a:p>
          </p:txBody>
        </p:sp>
      </p:grpSp>
      <p:pic>
        <p:nvPicPr>
          <p:cNvPr id="71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4393" y="3086211"/>
            <a:ext cx="1362695" cy="8969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4567619" y="2433679"/>
            <a:ext cx="94609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Smart Phone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823298" y="3990516"/>
            <a:ext cx="46358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Web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567619" y="5372884"/>
            <a:ext cx="97494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Tablet Device</a:t>
            </a:r>
          </a:p>
        </p:txBody>
      </p:sp>
      <p:sp>
        <p:nvSpPr>
          <p:cNvPr id="45" name="Oval 41"/>
          <p:cNvSpPr>
            <a:spLocks noChangeArrowheads="1"/>
          </p:cNvSpPr>
          <p:nvPr/>
        </p:nvSpPr>
        <p:spPr bwMode="auto">
          <a:xfrm>
            <a:off x="7986464" y="2951324"/>
            <a:ext cx="1143000" cy="1143000"/>
          </a:xfrm>
          <a:prstGeom prst="ellipse">
            <a:avLst/>
          </a:prstGeom>
          <a:solidFill>
            <a:schemeClr val="bg1"/>
          </a:solidFill>
          <a:ln w="57150">
            <a:solidFill>
              <a:srgbClr val="CC3300"/>
            </a:solidFill>
            <a:round/>
            <a:headEnd/>
            <a:tailEnd/>
          </a:ln>
          <a:effectLst/>
        </p:spPr>
        <p:txBody>
          <a:bodyPr lIns="0" tIns="0" rIns="0" bIns="0" anchor="ctr">
            <a:noAutofit/>
          </a:bodyPr>
          <a:lstStyle/>
          <a:p>
            <a:pPr algn="ctr"/>
            <a:r>
              <a:rPr lang="en" altLang="ko-KR" sz="1000" b="1">
                <a:latin typeface="나눔고딕" panose="020D0604000000000000" pitchFamily="50" charset="-127"/>
                <a:ea typeface="나눔고딕" panose="020D0604000000000000" pitchFamily="50" charset="-127"/>
              </a:rPr>
              <a:t>XXX</a:t>
            </a:r>
            <a:r>
              <a:rPr lang="ko-KR" altLang="en-US" sz="1000" b="1">
                <a:latin typeface="나눔고딕" panose="020D0604000000000000" pitchFamily="50" charset="-127"/>
                <a:ea typeface="나눔고딕" panose="020D0604000000000000" pitchFamily="50" charset="-127"/>
              </a:rPr>
              <a:t>서비스</a:t>
            </a:r>
            <a:endParaRPr lang="en-US" altLang="ko-KR" sz="1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온라인</a:t>
            </a:r>
            <a:endParaRPr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판매사이트</a:t>
            </a:r>
          </a:p>
        </p:txBody>
      </p:sp>
    </p:spTree>
    <p:extLst>
      <p:ext uri="{BB962C8B-B14F-4D97-AF65-F5344CB8AC3E}">
        <p14:creationId xmlns:p14="http://schemas.microsoft.com/office/powerpoint/2010/main" val="522222677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44017" y="91339"/>
            <a:ext cx="7401271" cy="385333"/>
          </a:xfrm>
          <a:prstGeom prst="rect">
            <a:avLst/>
          </a:prstGeom>
          <a:noFill/>
        </p:spPr>
        <p:txBody>
          <a:bodyPr wrap="square" lIns="0" tIns="53643" rIns="0" bIns="53643" rtlCol="0">
            <a:spAutoFit/>
          </a:bodyPr>
          <a:lstStyle/>
          <a:p>
            <a:r>
              <a:rPr kumimoji="1" lang="en-US" altLang="ko-KR" b="1" kern="0" dirty="0">
                <a:latin typeface="나눔고딕" panose="020D0604000000000000" pitchFamily="50" charset="-127"/>
                <a:ea typeface="나눔고딕" panose="020D0604000000000000" pitchFamily="50" charset="-127"/>
                <a:cs typeface="산돌고딕 M"/>
              </a:rPr>
              <a:t>Multi channel integration</a:t>
            </a:r>
            <a:endParaRPr kumimoji="1" lang="ko-KR" altLang="en-US" b="1" kern="0" dirty="0">
              <a:latin typeface="나눔고딕" panose="020D0604000000000000" pitchFamily="50" charset="-127"/>
              <a:ea typeface="나눔고딕" panose="020D0604000000000000" pitchFamily="50" charset="-127"/>
              <a:cs typeface="산돌고딕 M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44017" y="683985"/>
            <a:ext cx="96335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Integration (</a:t>
            </a:r>
            <a:r>
              <a:rPr lang="ko-KR" altLang="en-US" sz="1400" b="1">
                <a:latin typeface="나눔고딕" panose="020D0604000000000000" pitchFamily="50" charset="-127"/>
                <a:ea typeface="나눔고딕" panose="020D0604000000000000" pitchFamily="50" charset="-127"/>
              </a:rPr>
              <a:t>통합 서비스의 </a:t>
            </a:r>
            <a:r>
              <a:rPr lang="ko-KR" altLang="en-US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제공</a:t>
            </a:r>
            <a:r>
              <a:rPr lang="en-US" altLang="ko-KR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</p:txBody>
      </p:sp>
      <p:pic>
        <p:nvPicPr>
          <p:cNvPr id="43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536" y="1438913"/>
            <a:ext cx="3884183" cy="42223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직사각형 2"/>
          <p:cNvSpPr/>
          <p:nvPr/>
        </p:nvSpPr>
        <p:spPr>
          <a:xfrm>
            <a:off x="4133009" y="3550081"/>
            <a:ext cx="406845" cy="228192"/>
          </a:xfrm>
          <a:prstGeom prst="rect">
            <a:avLst/>
          </a:prstGeom>
          <a:solidFill>
            <a:schemeClr val="bg1"/>
          </a:solidFill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05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5211961" y="1694444"/>
            <a:ext cx="3701479" cy="1679553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05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pSp>
        <p:nvGrpSpPr>
          <p:cNvPr id="46" name="iPhone"/>
          <p:cNvGrpSpPr>
            <a:grpSpLocks noChangeAspect="1"/>
          </p:cNvGrpSpPr>
          <p:nvPr/>
        </p:nvGrpSpPr>
        <p:grpSpPr>
          <a:xfrm>
            <a:off x="5313040" y="2115564"/>
            <a:ext cx="468623" cy="920648"/>
            <a:chOff x="508000" y="1397000"/>
            <a:chExt cx="2285999" cy="4491038"/>
          </a:xfrm>
        </p:grpSpPr>
        <p:sp>
          <p:nvSpPr>
            <p:cNvPr id="47" name="Case"/>
            <p:cNvSpPr>
              <a:spLocks/>
            </p:cNvSpPr>
            <p:nvPr/>
          </p:nvSpPr>
          <p:spPr bwMode="auto">
            <a:xfrm>
              <a:off x="508000" y="1397000"/>
              <a:ext cx="2285999" cy="4491038"/>
            </a:xfrm>
            <a:prstGeom prst="roundRect">
              <a:avLst>
                <a:gd name="adj" fmla="val 13146"/>
              </a:avLst>
            </a:prstGeom>
            <a:solidFill>
              <a:schemeClr val="tx1">
                <a:lumMod val="50000"/>
                <a:lumOff val="50000"/>
              </a:schemeClr>
            </a:solidFill>
            <a:ln w="6350" cap="flat" cmpd="sng" algn="ctr">
              <a:solidFill>
                <a:srgbClr val="333333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1000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48" name="Display"/>
            <p:cNvSpPr>
              <a:spLocks/>
            </p:cNvSpPr>
            <p:nvPr/>
          </p:nvSpPr>
          <p:spPr bwMode="auto">
            <a:xfrm>
              <a:off x="641349" y="2147888"/>
              <a:ext cx="2019300" cy="3024188"/>
            </a:xfrm>
            <a:prstGeom prst="rect">
              <a:avLst/>
            </a:prstGeom>
            <a:solidFill>
              <a:schemeClr val="bg1"/>
            </a:solidFill>
            <a:ln w="6350" cap="flat" cmpd="sng" algn="ctr">
              <a:solidFill>
                <a:srgbClr val="333333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1000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49" name="Speaker"/>
            <p:cNvSpPr>
              <a:spLocks/>
            </p:cNvSpPr>
            <p:nvPr/>
          </p:nvSpPr>
          <p:spPr bwMode="auto">
            <a:xfrm>
              <a:off x="1433512" y="1738314"/>
              <a:ext cx="434975" cy="84138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65000"/>
              </a:schemeClr>
            </a:solidFill>
            <a:ln w="6350" cap="flat" cmpd="sng" algn="ctr">
              <a:solidFill>
                <a:srgbClr val="333333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1000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endParaRPr>
            </a:p>
          </p:txBody>
        </p:sp>
        <p:grpSp>
          <p:nvGrpSpPr>
            <p:cNvPr id="50" name="Camera"/>
            <p:cNvGrpSpPr/>
            <p:nvPr/>
          </p:nvGrpSpPr>
          <p:grpSpPr>
            <a:xfrm>
              <a:off x="1175120" y="1735138"/>
              <a:ext cx="90490" cy="90490"/>
              <a:chOff x="1175120" y="1735138"/>
              <a:chExt cx="90490" cy="90490"/>
            </a:xfrm>
          </p:grpSpPr>
          <p:sp>
            <p:nvSpPr>
              <p:cNvPr id="54" name="Camera Outer"/>
              <p:cNvSpPr>
                <a:spLocks/>
              </p:cNvSpPr>
              <p:nvPr/>
            </p:nvSpPr>
            <p:spPr bwMode="auto">
              <a:xfrm>
                <a:off x="1175120" y="1735138"/>
                <a:ext cx="90490" cy="90490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 w="6350" cap="flat" cmpd="sng" algn="ctr">
                <a:solidFill>
                  <a:srgbClr val="333333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1000" dirty="0">
                  <a:solidFill>
                    <a:srgbClr val="333333"/>
                  </a:solidFill>
                  <a:latin typeface="Calibri" pitchFamily="34" charset="0"/>
                  <a:cs typeface="Calibri" pitchFamily="34" charset="0"/>
                </a:endParaRPr>
              </a:p>
            </p:txBody>
          </p:sp>
          <p:sp>
            <p:nvSpPr>
              <p:cNvPr id="55" name="Camera Inner"/>
              <p:cNvSpPr>
                <a:spLocks/>
              </p:cNvSpPr>
              <p:nvPr/>
            </p:nvSpPr>
            <p:spPr bwMode="auto">
              <a:xfrm>
                <a:off x="1205965" y="1765983"/>
                <a:ext cx="28800" cy="28800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 w="6350" cap="flat" cmpd="sng" algn="ctr">
                <a:solidFill>
                  <a:srgbClr val="333333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1000" dirty="0">
                  <a:solidFill>
                    <a:srgbClr val="333333"/>
                  </a:solidFill>
                  <a:latin typeface="Calibri" pitchFamily="34" charset="0"/>
                  <a:cs typeface="Calibri" pitchFamily="34" charset="0"/>
                </a:endParaRPr>
              </a:p>
            </p:txBody>
          </p:sp>
        </p:grpSp>
        <p:grpSp>
          <p:nvGrpSpPr>
            <p:cNvPr id="51" name="Button"/>
            <p:cNvGrpSpPr/>
            <p:nvPr/>
          </p:nvGrpSpPr>
          <p:grpSpPr>
            <a:xfrm>
              <a:off x="1447799" y="5332413"/>
              <a:ext cx="406400" cy="406400"/>
              <a:chOff x="1447799" y="5332413"/>
              <a:chExt cx="406400" cy="406400"/>
            </a:xfrm>
          </p:grpSpPr>
          <p:sp>
            <p:nvSpPr>
              <p:cNvPr id="52" name="Button Outer"/>
              <p:cNvSpPr>
                <a:spLocks/>
              </p:cNvSpPr>
              <p:nvPr/>
            </p:nvSpPr>
            <p:spPr bwMode="auto">
              <a:xfrm>
                <a:off x="1447799" y="5332413"/>
                <a:ext cx="406400" cy="406400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 w="6350" cap="flat" cmpd="sng" algn="ctr">
                <a:solidFill>
                  <a:srgbClr val="333333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1000" dirty="0">
                  <a:solidFill>
                    <a:srgbClr val="333333"/>
                  </a:solidFill>
                  <a:latin typeface="Calibri" pitchFamily="34" charset="0"/>
                  <a:cs typeface="Calibri" pitchFamily="34" charset="0"/>
                </a:endParaRPr>
              </a:p>
            </p:txBody>
          </p:sp>
          <p:sp>
            <p:nvSpPr>
              <p:cNvPr id="53" name="Button Inner"/>
              <p:cNvSpPr>
                <a:spLocks/>
              </p:cNvSpPr>
              <p:nvPr/>
            </p:nvSpPr>
            <p:spPr bwMode="auto">
              <a:xfrm>
                <a:off x="1583245" y="5467213"/>
                <a:ext cx="135508" cy="136800"/>
              </a:xfrm>
              <a:prstGeom prst="roundRect">
                <a:avLst>
                  <a:gd name="adj" fmla="val 32086"/>
                </a:avLst>
              </a:prstGeom>
              <a:solidFill>
                <a:schemeClr val="bg1">
                  <a:lumMod val="65000"/>
                </a:schemeClr>
              </a:solidFill>
              <a:ln w="6350" cap="flat" cmpd="sng" algn="ctr">
                <a:solidFill>
                  <a:srgbClr val="333333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1000" dirty="0">
                  <a:solidFill>
                    <a:srgbClr val="262626"/>
                  </a:solidFill>
                  <a:latin typeface="Calibri" pitchFamily="34" charset="0"/>
                  <a:cs typeface="Calibri" pitchFamily="34" charset="0"/>
                </a:endParaRPr>
              </a:p>
            </p:txBody>
          </p:sp>
        </p:grpSp>
      </p:grpSp>
      <p:grpSp>
        <p:nvGrpSpPr>
          <p:cNvPr id="74" name="iPad"/>
          <p:cNvGrpSpPr>
            <a:grpSpLocks noChangeAspect="1"/>
          </p:cNvGrpSpPr>
          <p:nvPr/>
        </p:nvGrpSpPr>
        <p:grpSpPr>
          <a:xfrm rot="16200000">
            <a:off x="6122820" y="1974929"/>
            <a:ext cx="953397" cy="1234664"/>
            <a:chOff x="4644008" y="366712"/>
            <a:chExt cx="4367724" cy="5656263"/>
          </a:xfrm>
        </p:grpSpPr>
        <p:sp>
          <p:nvSpPr>
            <p:cNvPr id="75" name="Case"/>
            <p:cNvSpPr>
              <a:spLocks/>
            </p:cNvSpPr>
            <p:nvPr/>
          </p:nvSpPr>
          <p:spPr bwMode="auto">
            <a:xfrm>
              <a:off x="4644008" y="366712"/>
              <a:ext cx="4367724" cy="5656263"/>
            </a:xfrm>
            <a:prstGeom prst="roundRect">
              <a:avLst>
                <a:gd name="adj" fmla="val 5018"/>
              </a:avLst>
            </a:prstGeom>
            <a:solidFill>
              <a:schemeClr val="tx1">
                <a:lumMod val="50000"/>
                <a:lumOff val="50000"/>
              </a:schemeClr>
            </a:solidFill>
            <a:ln w="6350" cap="flat" cmpd="sng" algn="ctr">
              <a:solidFill>
                <a:srgbClr val="333333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1000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76" name="Display"/>
            <p:cNvSpPr>
              <a:spLocks/>
            </p:cNvSpPr>
            <p:nvPr/>
          </p:nvSpPr>
          <p:spPr bwMode="auto">
            <a:xfrm>
              <a:off x="5073683" y="868363"/>
              <a:ext cx="3508375" cy="4668838"/>
            </a:xfrm>
            <a:prstGeom prst="rect">
              <a:avLst/>
            </a:prstGeom>
            <a:solidFill>
              <a:schemeClr val="bg1"/>
            </a:solidFill>
            <a:ln w="6350" cap="flat" cmpd="sng" algn="ctr">
              <a:solidFill>
                <a:srgbClr val="333333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1000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78" name="Camera"/>
            <p:cNvSpPr>
              <a:spLocks noChangeAspect="1"/>
            </p:cNvSpPr>
            <p:nvPr/>
          </p:nvSpPr>
          <p:spPr bwMode="auto">
            <a:xfrm>
              <a:off x="6808070" y="593813"/>
              <a:ext cx="39600" cy="396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 w="6350" cap="flat" cmpd="sng" algn="ctr">
              <a:solidFill>
                <a:srgbClr val="333333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1000" dirty="0">
                <a:solidFill>
                  <a:srgbClr val="333333"/>
                </a:solidFill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80" name="Button"/>
            <p:cNvSpPr>
              <a:spLocks/>
            </p:cNvSpPr>
            <p:nvPr/>
          </p:nvSpPr>
          <p:spPr bwMode="auto">
            <a:xfrm>
              <a:off x="6784670" y="5750837"/>
              <a:ext cx="86400" cy="86400"/>
            </a:xfrm>
            <a:prstGeom prst="roundRect">
              <a:avLst>
                <a:gd name="adj" fmla="val 25376"/>
              </a:avLst>
            </a:prstGeom>
            <a:solidFill>
              <a:schemeClr val="bg1">
                <a:lumMod val="65000"/>
              </a:schemeClr>
            </a:solidFill>
            <a:ln w="6350" cap="flat" cmpd="sng" algn="ctr">
              <a:solidFill>
                <a:srgbClr val="333333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1000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endParaRPr>
            </a:p>
          </p:txBody>
        </p:sp>
      </p:grpSp>
      <p:pic>
        <p:nvPicPr>
          <p:cNvPr id="81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2999" y="2115562"/>
            <a:ext cx="1448433" cy="9533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7" name="직사각형 86"/>
          <p:cNvSpPr/>
          <p:nvPr/>
        </p:nvSpPr>
        <p:spPr>
          <a:xfrm>
            <a:off x="5211961" y="1438913"/>
            <a:ext cx="3701479" cy="409414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5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Service Channel</a:t>
            </a:r>
            <a:endParaRPr lang="ko-KR" altLang="en-US" sz="105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12" name="꺾인 연결선 11"/>
          <p:cNvCxnSpPr>
            <a:stCxn id="3" idx="3"/>
            <a:endCxn id="6" idx="1"/>
          </p:cNvCxnSpPr>
          <p:nvPr/>
        </p:nvCxnSpPr>
        <p:spPr>
          <a:xfrm flipV="1">
            <a:off x="4539854" y="2534220"/>
            <a:ext cx="672107" cy="1129956"/>
          </a:xfrm>
          <a:prstGeom prst="bentConnector3">
            <a:avLst/>
          </a:prstGeom>
          <a:ln>
            <a:solidFill>
              <a:srgbClr val="FF0000"/>
            </a:solidFill>
            <a:prstDash val="sys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직사각형 87"/>
          <p:cNvSpPr/>
          <p:nvPr/>
        </p:nvSpPr>
        <p:spPr>
          <a:xfrm>
            <a:off x="5211961" y="3922205"/>
            <a:ext cx="3701479" cy="1679553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05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9" name="직사각형 88"/>
          <p:cNvSpPr/>
          <p:nvPr/>
        </p:nvSpPr>
        <p:spPr>
          <a:xfrm>
            <a:off x="5211961" y="3666674"/>
            <a:ext cx="3701479" cy="409414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5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Service </a:t>
            </a:r>
            <a:r>
              <a:rPr lang="en-US" altLang="ko-KR" sz="1050" b="1" dirty="0" err="1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gU.I</a:t>
            </a:r>
            <a:r>
              <a:rPr lang="en-US" altLang="ko-KR" sz="105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/ </a:t>
            </a:r>
            <a:r>
              <a:rPr lang="en-US" altLang="ko-KR" sz="1050" b="1" dirty="0" err="1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U.Xde</a:t>
            </a:r>
            <a:r>
              <a:rPr lang="en-US" altLang="ko-KR" sz="105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page</a:t>
            </a:r>
            <a:endParaRPr lang="ko-KR" altLang="en-US" sz="105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0" name="직사각형 89"/>
          <p:cNvSpPr/>
          <p:nvPr/>
        </p:nvSpPr>
        <p:spPr>
          <a:xfrm>
            <a:off x="5417303" y="4237290"/>
            <a:ext cx="3292714" cy="122053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5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Contents</a:t>
            </a:r>
            <a:endParaRPr lang="ko-KR" altLang="en-US" sz="105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15" name="직선 화살표 연결선 14"/>
          <p:cNvCxnSpPr/>
          <p:nvPr/>
        </p:nvCxnSpPr>
        <p:spPr>
          <a:xfrm>
            <a:off x="7062701" y="3410550"/>
            <a:ext cx="0" cy="176084"/>
          </a:xfrm>
          <a:prstGeom prst="straightConnector1">
            <a:avLst/>
          </a:prstGeom>
          <a:ln>
            <a:solidFill>
              <a:srgbClr val="FF0000"/>
            </a:solidFill>
            <a:prstDash val="sys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Line 5"/>
          <p:cNvSpPr>
            <a:spLocks noChangeShapeType="1"/>
          </p:cNvSpPr>
          <p:nvPr/>
        </p:nvSpPr>
        <p:spPr bwMode="auto">
          <a:xfrm>
            <a:off x="2743200" y="6019800"/>
            <a:ext cx="6553200" cy="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92" name="Text Box 6"/>
          <p:cNvSpPr txBox="1">
            <a:spLocks noChangeArrowheads="1"/>
          </p:cNvSpPr>
          <p:nvPr/>
        </p:nvSpPr>
        <p:spPr bwMode="auto">
          <a:xfrm>
            <a:off x="2667000" y="6019800"/>
            <a:ext cx="678180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1"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웹사이트 내에서 항상 보이는 </a:t>
            </a:r>
            <a:r>
              <a:rPr kumimoji="1" lang="ko-KR" altLang="en-US" sz="1000">
                <a:latin typeface="나눔고딕" panose="020D0604000000000000" pitchFamily="50" charset="-127"/>
                <a:ea typeface="나눔고딕" panose="020D0604000000000000" pitchFamily="50" charset="-127"/>
              </a:rPr>
              <a:t>위치에 </a:t>
            </a:r>
            <a:r>
              <a:rPr kumimoji="1" lang="en" altLang="ko-KR" sz="1000">
                <a:latin typeface="나눔고딕" panose="020D0604000000000000" pitchFamily="50" charset="-127"/>
                <a:ea typeface="나눔고딕" panose="020D0604000000000000" pitchFamily="50" charset="-127"/>
              </a:rPr>
              <a:t>XXX</a:t>
            </a:r>
            <a:r>
              <a:rPr kumimoji="1" lang="ko-KR" altLang="en-US" sz="1000">
                <a:latin typeface="나눔고딕" panose="020D0604000000000000" pitchFamily="50" charset="-127"/>
                <a:ea typeface="나눔고딕" panose="020D0604000000000000" pitchFamily="50" charset="-127"/>
              </a:rPr>
              <a:t>서비스에서 </a:t>
            </a:r>
            <a:r>
              <a:rPr kumimoji="1"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제공되는 </a:t>
            </a:r>
            <a:r>
              <a:rPr kumimoji="1" lang="ko-KR" altLang="en-US" sz="1000">
                <a:latin typeface="나눔고딕" panose="020D0604000000000000" pitchFamily="50" charset="-127"/>
                <a:ea typeface="나눔고딕" panose="020D0604000000000000" pitchFamily="50" charset="-127"/>
              </a:rPr>
              <a:t>다양한 서비스 </a:t>
            </a:r>
            <a:r>
              <a:rPr kumimoji="1"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채널을 소개하게 되고</a:t>
            </a:r>
            <a:r>
              <a:rPr kumimoji="1"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kumimoji="1"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해당 채널을 이용하는 방법에 대한 안내페이지를 구성하여 사용자의 이용성을 높이게 합니다</a:t>
            </a:r>
            <a:r>
              <a:rPr kumimoji="1"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488504" y="991762"/>
            <a:ext cx="9289032" cy="307777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Multi device support Page Indicator</a:t>
            </a:r>
          </a:p>
        </p:txBody>
      </p:sp>
    </p:spTree>
    <p:extLst>
      <p:ext uri="{BB962C8B-B14F-4D97-AF65-F5344CB8AC3E}">
        <p14:creationId xmlns:p14="http://schemas.microsoft.com/office/powerpoint/2010/main" val="490302466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44017" y="91339"/>
            <a:ext cx="7401271" cy="385333"/>
          </a:xfrm>
          <a:prstGeom prst="rect">
            <a:avLst/>
          </a:prstGeom>
          <a:noFill/>
        </p:spPr>
        <p:txBody>
          <a:bodyPr wrap="square" lIns="0" tIns="53643" rIns="0" bIns="53643" rtlCol="0">
            <a:spAutoFit/>
          </a:bodyPr>
          <a:lstStyle/>
          <a:p>
            <a:r>
              <a:rPr kumimoji="1" lang="en-US" altLang="ko-KR" b="1" kern="0" dirty="0">
                <a:latin typeface="나눔고딕" panose="020D0604000000000000" pitchFamily="50" charset="-127"/>
                <a:ea typeface="나눔고딕" panose="020D0604000000000000" pitchFamily="50" charset="-127"/>
                <a:cs typeface="산돌고딕 M"/>
              </a:rPr>
              <a:t>Multi channel integration</a:t>
            </a:r>
            <a:endParaRPr kumimoji="1" lang="ko-KR" altLang="en-US" b="1" kern="0" dirty="0">
              <a:latin typeface="나눔고딕" panose="020D0604000000000000" pitchFamily="50" charset="-127"/>
              <a:ea typeface="나눔고딕" panose="020D0604000000000000" pitchFamily="50" charset="-127"/>
              <a:cs typeface="산돌고딕 M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44017" y="683985"/>
            <a:ext cx="96335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Separation (</a:t>
            </a:r>
            <a:r>
              <a:rPr lang="ko-KR" altLang="en-US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각 </a:t>
            </a:r>
            <a:r>
              <a:rPr lang="ko-KR" altLang="en-US" sz="1400" b="1" err="1">
                <a:latin typeface="나눔고딕" panose="020D0604000000000000" pitchFamily="50" charset="-127"/>
                <a:ea typeface="나눔고딕" panose="020D0604000000000000" pitchFamily="50" charset="-127"/>
              </a:rPr>
              <a:t>채널별</a:t>
            </a:r>
            <a:r>
              <a:rPr lang="ko-KR" altLang="en-US" sz="1400" b="1">
                <a:latin typeface="나눔고딕" panose="020D0604000000000000" pitchFamily="50" charset="-127"/>
                <a:ea typeface="나눔고딕" panose="020D0604000000000000" pitchFamily="50" charset="-127"/>
              </a:rPr>
              <a:t> 서비스 </a:t>
            </a:r>
            <a:r>
              <a:rPr lang="ko-KR" altLang="en-US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분리</a:t>
            </a:r>
            <a:r>
              <a:rPr lang="en-US" altLang="ko-KR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8504" y="991762"/>
            <a:ext cx="9289032" cy="307777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무조건적인 </a:t>
            </a:r>
            <a:r>
              <a:rPr lang="ko-KR" altLang="en-US" sz="14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컨텐츠의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통합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연동이 아니라 각각의 채널의 특성에 </a:t>
            </a:r>
            <a:r>
              <a:rPr lang="ko-KR" altLang="en-US" sz="1400">
                <a:latin typeface="나눔고딕" panose="020D0604000000000000" pitchFamily="50" charset="-127"/>
                <a:ea typeface="나눔고딕" panose="020D0604000000000000" pitchFamily="50" charset="-127"/>
              </a:rPr>
              <a:t>적합한 서비스 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중심으로 제공하여야 합니다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</p:txBody>
      </p:sp>
      <p:sp>
        <p:nvSpPr>
          <p:cNvPr id="33" name="Rectangle 4"/>
          <p:cNvSpPr>
            <a:spLocks noChangeArrowheads="1"/>
          </p:cNvSpPr>
          <p:nvPr/>
        </p:nvSpPr>
        <p:spPr bwMode="auto">
          <a:xfrm>
            <a:off x="4646240" y="1733128"/>
            <a:ext cx="2467000" cy="46482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txBody>
          <a:bodyPr anchor="ctr">
            <a:noAutofit/>
          </a:bodyPr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8" name="Oval 9"/>
          <p:cNvSpPr>
            <a:spLocks noChangeArrowheads="1"/>
          </p:cNvSpPr>
          <p:nvPr/>
        </p:nvSpPr>
        <p:spPr bwMode="auto">
          <a:xfrm>
            <a:off x="523503" y="3409528"/>
            <a:ext cx="1430337" cy="1430338"/>
          </a:xfrm>
          <a:prstGeom prst="ellipse">
            <a:avLst/>
          </a:prstGeom>
          <a:solidFill>
            <a:schemeClr val="bg1"/>
          </a:solidFill>
          <a:ln w="57150">
            <a:solidFill>
              <a:srgbClr val="CCCC00"/>
            </a:solidFill>
            <a:round/>
            <a:headEnd/>
            <a:tailEnd/>
          </a:ln>
          <a:effectLst/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User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0" name="Text Box 11" descr="점선 눈금"/>
          <p:cNvSpPr txBox="1">
            <a:spLocks noChangeArrowheads="1"/>
          </p:cNvSpPr>
          <p:nvPr/>
        </p:nvSpPr>
        <p:spPr bwMode="auto">
          <a:xfrm>
            <a:off x="4647362" y="1733128"/>
            <a:ext cx="2465878" cy="33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pattFill prst="dotGrid">
                  <a:fgClr>
                    <a:schemeClr val="folHlink"/>
                  </a:fgClr>
                  <a:bgClr>
                    <a:srgbClr val="FFFFFF"/>
                  </a:bgClr>
                </a:patt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noAutofit/>
          </a:bodyPr>
          <a:lstStyle/>
          <a:p>
            <a:pPr algn="ctr">
              <a:lnSpc>
                <a:spcPct val="120000"/>
              </a:lnSpc>
            </a:pPr>
            <a:r>
              <a:rPr kumimoji="1" lang="en-US" altLang="ko-KR" sz="13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Multi Channel Device</a:t>
            </a:r>
          </a:p>
        </p:txBody>
      </p:sp>
      <p:sp>
        <p:nvSpPr>
          <p:cNvPr id="60" name="Line 20"/>
          <p:cNvSpPr>
            <a:spLocks noChangeShapeType="1"/>
          </p:cNvSpPr>
          <p:nvPr/>
        </p:nvSpPr>
        <p:spPr bwMode="auto">
          <a:xfrm>
            <a:off x="4417640" y="2842518"/>
            <a:ext cx="533400" cy="0"/>
          </a:xfrm>
          <a:prstGeom prst="line">
            <a:avLst/>
          </a:prstGeom>
          <a:noFill/>
          <a:ln w="28575">
            <a:solidFill>
              <a:schemeClr val="tx1">
                <a:lumMod val="50000"/>
                <a:lumOff val="50000"/>
              </a:schemeClr>
            </a:solidFill>
            <a:round/>
            <a:headEnd/>
            <a:tailEnd type="triangle" w="med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noAutofit/>
          </a:bodyPr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1" name="Rectangle 31"/>
          <p:cNvSpPr>
            <a:spLocks noChangeArrowheads="1"/>
          </p:cNvSpPr>
          <p:nvPr/>
        </p:nvSpPr>
        <p:spPr bwMode="auto">
          <a:xfrm>
            <a:off x="2868240" y="2537718"/>
            <a:ext cx="1549400" cy="60325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 anchor="ctr">
            <a:noAutofit/>
          </a:bodyPr>
          <a:lstStyle/>
          <a:p>
            <a:pPr algn="ctr"/>
            <a:r>
              <a:rPr kumimoji="1" lang="ko-KR" altLang="en-US" sz="1000">
                <a:latin typeface="나눔고딕" panose="020D0604000000000000" pitchFamily="50" charset="-127"/>
                <a:ea typeface="나눔고딕" panose="020D0604000000000000" pitchFamily="50" charset="-127"/>
              </a:rPr>
              <a:t>서비스정보</a:t>
            </a:r>
            <a:r>
              <a:rPr kumimoji="1" lang="en-US" altLang="ko-KR" sz="100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kumimoji="1" lang="en" altLang="ko-KR" sz="1000">
                <a:latin typeface="나눔고딕" panose="020D0604000000000000" pitchFamily="50" charset="-127"/>
                <a:ea typeface="나눔고딕" panose="020D0604000000000000" pitchFamily="50" charset="-127"/>
              </a:rPr>
              <a:t>XXX</a:t>
            </a:r>
            <a:r>
              <a:rPr kumimoji="1" lang="ko-KR" altLang="en-US" sz="1000">
                <a:latin typeface="나눔고딕" panose="020D0604000000000000" pitchFamily="50" charset="-127"/>
                <a:ea typeface="나눔고딕" panose="020D0604000000000000" pitchFamily="50" charset="-127"/>
              </a:rPr>
              <a:t>서비스 </a:t>
            </a:r>
            <a:r>
              <a:rPr kumimoji="1"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정보</a:t>
            </a:r>
            <a:r>
              <a:rPr kumimoji="1"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kumimoji="1" lang="ko-KR" altLang="en-US" sz="1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컨텐츠</a:t>
            </a:r>
            <a:r>
              <a:rPr kumimoji="1"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정보 등</a:t>
            </a:r>
            <a:endParaRPr lang="ko-KR" altLang="en-US" sz="1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2" name="Rectangle 32"/>
          <p:cNvSpPr>
            <a:spLocks noChangeArrowheads="1"/>
          </p:cNvSpPr>
          <p:nvPr/>
        </p:nvSpPr>
        <p:spPr bwMode="auto">
          <a:xfrm>
            <a:off x="2868240" y="3833862"/>
            <a:ext cx="1549400" cy="60325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 anchor="ctr">
            <a:noAutofit/>
          </a:bodyPr>
          <a:lstStyle/>
          <a:p>
            <a:pPr algn="ctr"/>
            <a:r>
              <a:rPr kumimoji="1"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모든 정보 및 </a:t>
            </a:r>
            <a:r>
              <a:rPr kumimoji="1" lang="en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XXX</a:t>
            </a:r>
            <a:r>
              <a:rPr kumimoji="1"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가입</a:t>
            </a:r>
          </a:p>
        </p:txBody>
      </p:sp>
      <p:sp>
        <p:nvSpPr>
          <p:cNvPr id="77" name="Rectangle 34"/>
          <p:cNvSpPr>
            <a:spLocks noChangeArrowheads="1"/>
          </p:cNvSpPr>
          <p:nvPr/>
        </p:nvSpPr>
        <p:spPr bwMode="auto">
          <a:xfrm>
            <a:off x="2868240" y="5157192"/>
            <a:ext cx="1549400" cy="60325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 anchor="ctr">
            <a:noAutofit/>
          </a:bodyPr>
          <a:lstStyle/>
          <a:p>
            <a:pPr algn="ctr"/>
            <a:r>
              <a:rPr kumimoji="1"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웹사이트와 동일한</a:t>
            </a:r>
            <a:endParaRPr kumimoji="1"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r>
              <a:rPr kumimoji="1" lang="ko-KR" altLang="en-US" sz="1000">
                <a:latin typeface="나눔고딕" panose="020D0604000000000000" pitchFamily="50" charset="-127"/>
                <a:ea typeface="나눔고딕" panose="020D0604000000000000" pitchFamily="50" charset="-127"/>
              </a:rPr>
              <a:t>서비스</a:t>
            </a:r>
            <a:endParaRPr kumimoji="1" lang="ko-KR" altLang="en-US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3" name="Line 37"/>
          <p:cNvSpPr>
            <a:spLocks noChangeShapeType="1"/>
          </p:cNvSpPr>
          <p:nvPr/>
        </p:nvSpPr>
        <p:spPr bwMode="auto">
          <a:xfrm>
            <a:off x="4417640" y="4138662"/>
            <a:ext cx="533400" cy="0"/>
          </a:xfrm>
          <a:prstGeom prst="line">
            <a:avLst/>
          </a:prstGeom>
          <a:noFill/>
          <a:ln w="28575">
            <a:solidFill>
              <a:schemeClr val="tx1">
                <a:lumMod val="50000"/>
                <a:lumOff val="50000"/>
              </a:schemeClr>
            </a:solidFill>
            <a:round/>
            <a:headEnd/>
            <a:tailEnd type="triangle" w="med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noAutofit/>
          </a:bodyPr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5" name="Line 39"/>
          <p:cNvSpPr>
            <a:spLocks noChangeShapeType="1"/>
          </p:cNvSpPr>
          <p:nvPr/>
        </p:nvSpPr>
        <p:spPr bwMode="auto">
          <a:xfrm>
            <a:off x="4417640" y="5461992"/>
            <a:ext cx="533400" cy="0"/>
          </a:xfrm>
          <a:prstGeom prst="line">
            <a:avLst/>
          </a:prstGeom>
          <a:noFill/>
          <a:ln w="28575">
            <a:solidFill>
              <a:schemeClr val="tx1">
                <a:lumMod val="50000"/>
                <a:lumOff val="50000"/>
              </a:schemeClr>
            </a:solidFill>
            <a:round/>
            <a:headEnd/>
            <a:tailEnd type="triangle" w="med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noAutofit/>
          </a:bodyPr>
          <a:lstStyle/>
          <a:p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3" name="Oval 41"/>
          <p:cNvSpPr>
            <a:spLocks noChangeArrowheads="1"/>
          </p:cNvSpPr>
          <p:nvPr/>
        </p:nvSpPr>
        <p:spPr bwMode="auto">
          <a:xfrm>
            <a:off x="7770440" y="3555764"/>
            <a:ext cx="1143000" cy="1143000"/>
          </a:xfrm>
          <a:prstGeom prst="ellipse">
            <a:avLst/>
          </a:prstGeom>
          <a:solidFill>
            <a:schemeClr val="bg1"/>
          </a:solidFill>
          <a:ln w="57150">
            <a:solidFill>
              <a:srgbClr val="C00000"/>
            </a:solidFill>
            <a:round/>
            <a:headEnd/>
            <a:tailEnd/>
          </a:ln>
          <a:effectLst/>
        </p:spPr>
        <p:txBody>
          <a:bodyPr lIns="0" tIns="0" rIns="0" bIns="0" anchor="ctr">
            <a:noAutofit/>
          </a:bodyPr>
          <a:lstStyle/>
          <a:p>
            <a:pPr algn="ctr"/>
            <a:r>
              <a:rPr lang="en" altLang="ko-KR" sz="1100">
                <a:latin typeface="나눔고딕" panose="020D0604000000000000" pitchFamily="50" charset="-127"/>
                <a:ea typeface="나눔고딕" panose="020D0604000000000000" pitchFamily="50" charset="-127"/>
              </a:rPr>
              <a:t>XXX</a:t>
            </a:r>
            <a:r>
              <a:rPr lang="ko-KR" altLang="en-US" sz="1100">
                <a:latin typeface="나눔고딕" panose="020D0604000000000000" pitchFamily="50" charset="-127"/>
                <a:ea typeface="나눔고딕" panose="020D0604000000000000" pitchFamily="50" charset="-127"/>
              </a:rPr>
              <a:t>서비스</a:t>
            </a:r>
            <a:endParaRPr lang="en-US" altLang="ko-KR" sz="11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r>
              <a:rPr lang="ko-KR" altLang="en-US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온라인</a:t>
            </a:r>
            <a:endParaRPr lang="en-US" altLang="ko-KR" sz="11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r>
              <a:rPr lang="ko-KR" altLang="en-US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판매사이트</a:t>
            </a:r>
          </a:p>
        </p:txBody>
      </p:sp>
      <p:grpSp>
        <p:nvGrpSpPr>
          <p:cNvPr id="94" name="iPhone"/>
          <p:cNvGrpSpPr>
            <a:grpSpLocks noChangeAspect="1"/>
          </p:cNvGrpSpPr>
          <p:nvPr/>
        </p:nvGrpSpPr>
        <p:grpSpPr>
          <a:xfrm>
            <a:off x="5694648" y="2348880"/>
            <a:ext cx="466380" cy="916242"/>
            <a:chOff x="508000" y="1397000"/>
            <a:chExt cx="2285999" cy="4491038"/>
          </a:xfrm>
        </p:grpSpPr>
        <p:sp>
          <p:nvSpPr>
            <p:cNvPr id="95" name="Case"/>
            <p:cNvSpPr>
              <a:spLocks/>
            </p:cNvSpPr>
            <p:nvPr/>
          </p:nvSpPr>
          <p:spPr bwMode="auto">
            <a:xfrm>
              <a:off x="508000" y="1397000"/>
              <a:ext cx="2285999" cy="4491038"/>
            </a:xfrm>
            <a:prstGeom prst="roundRect">
              <a:avLst>
                <a:gd name="adj" fmla="val 13146"/>
              </a:avLst>
            </a:prstGeom>
            <a:solidFill>
              <a:schemeClr val="tx1">
                <a:lumMod val="50000"/>
                <a:lumOff val="50000"/>
              </a:schemeClr>
            </a:solidFill>
            <a:ln w="6350" cap="flat" cmpd="sng" algn="ctr">
              <a:solidFill>
                <a:srgbClr val="333333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96" name="Display"/>
            <p:cNvSpPr>
              <a:spLocks/>
            </p:cNvSpPr>
            <p:nvPr/>
          </p:nvSpPr>
          <p:spPr bwMode="auto">
            <a:xfrm>
              <a:off x="641349" y="2147888"/>
              <a:ext cx="2019300" cy="3024188"/>
            </a:xfrm>
            <a:prstGeom prst="rect">
              <a:avLst/>
            </a:prstGeom>
            <a:solidFill>
              <a:schemeClr val="bg1"/>
            </a:solidFill>
            <a:ln w="6350" cap="flat" cmpd="sng" algn="ctr">
              <a:solidFill>
                <a:srgbClr val="333333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97" name="Speaker"/>
            <p:cNvSpPr>
              <a:spLocks/>
            </p:cNvSpPr>
            <p:nvPr/>
          </p:nvSpPr>
          <p:spPr bwMode="auto">
            <a:xfrm>
              <a:off x="1433512" y="1738314"/>
              <a:ext cx="434975" cy="84138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65000"/>
              </a:schemeClr>
            </a:solidFill>
            <a:ln w="6350" cap="flat" cmpd="sng" algn="ctr">
              <a:solidFill>
                <a:srgbClr val="333333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endParaRPr>
            </a:p>
          </p:txBody>
        </p:sp>
        <p:grpSp>
          <p:nvGrpSpPr>
            <p:cNvPr id="98" name="Camera"/>
            <p:cNvGrpSpPr/>
            <p:nvPr/>
          </p:nvGrpSpPr>
          <p:grpSpPr>
            <a:xfrm>
              <a:off x="1175120" y="1735138"/>
              <a:ext cx="90490" cy="90490"/>
              <a:chOff x="1175120" y="1735138"/>
              <a:chExt cx="90490" cy="90490"/>
            </a:xfrm>
          </p:grpSpPr>
          <p:sp>
            <p:nvSpPr>
              <p:cNvPr id="102" name="Camera Outer"/>
              <p:cNvSpPr>
                <a:spLocks/>
              </p:cNvSpPr>
              <p:nvPr/>
            </p:nvSpPr>
            <p:spPr bwMode="auto">
              <a:xfrm>
                <a:off x="1175120" y="1735138"/>
                <a:ext cx="90490" cy="90490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 w="6350" cap="flat" cmpd="sng" algn="ctr">
                <a:solidFill>
                  <a:srgbClr val="333333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900" dirty="0">
                  <a:solidFill>
                    <a:srgbClr val="333333"/>
                  </a:solidFill>
                  <a:latin typeface="Calibri" pitchFamily="34" charset="0"/>
                  <a:cs typeface="Calibri" pitchFamily="34" charset="0"/>
                </a:endParaRPr>
              </a:p>
            </p:txBody>
          </p:sp>
          <p:sp>
            <p:nvSpPr>
              <p:cNvPr id="103" name="Camera Inner"/>
              <p:cNvSpPr>
                <a:spLocks/>
              </p:cNvSpPr>
              <p:nvPr/>
            </p:nvSpPr>
            <p:spPr bwMode="auto">
              <a:xfrm>
                <a:off x="1205965" y="1765983"/>
                <a:ext cx="28800" cy="28800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 w="6350" cap="flat" cmpd="sng" algn="ctr">
                <a:solidFill>
                  <a:srgbClr val="333333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900" dirty="0">
                  <a:solidFill>
                    <a:srgbClr val="333333"/>
                  </a:solidFill>
                  <a:latin typeface="Calibri" pitchFamily="34" charset="0"/>
                  <a:cs typeface="Calibri" pitchFamily="34" charset="0"/>
                </a:endParaRPr>
              </a:p>
            </p:txBody>
          </p:sp>
        </p:grpSp>
        <p:grpSp>
          <p:nvGrpSpPr>
            <p:cNvPr id="99" name="Button"/>
            <p:cNvGrpSpPr/>
            <p:nvPr/>
          </p:nvGrpSpPr>
          <p:grpSpPr>
            <a:xfrm>
              <a:off x="1447799" y="5332413"/>
              <a:ext cx="406400" cy="406400"/>
              <a:chOff x="1447799" y="5332413"/>
              <a:chExt cx="406400" cy="406400"/>
            </a:xfrm>
          </p:grpSpPr>
          <p:sp>
            <p:nvSpPr>
              <p:cNvPr id="100" name="Button Outer"/>
              <p:cNvSpPr>
                <a:spLocks/>
              </p:cNvSpPr>
              <p:nvPr/>
            </p:nvSpPr>
            <p:spPr bwMode="auto">
              <a:xfrm>
                <a:off x="1447799" y="5332413"/>
                <a:ext cx="406400" cy="406400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 w="6350" cap="flat" cmpd="sng" algn="ctr">
                <a:solidFill>
                  <a:srgbClr val="333333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900" dirty="0">
                  <a:solidFill>
                    <a:srgbClr val="333333"/>
                  </a:solidFill>
                  <a:latin typeface="Calibri" pitchFamily="34" charset="0"/>
                  <a:cs typeface="Calibri" pitchFamily="34" charset="0"/>
                </a:endParaRPr>
              </a:p>
            </p:txBody>
          </p:sp>
          <p:sp>
            <p:nvSpPr>
              <p:cNvPr id="101" name="Button Inner"/>
              <p:cNvSpPr>
                <a:spLocks/>
              </p:cNvSpPr>
              <p:nvPr/>
            </p:nvSpPr>
            <p:spPr bwMode="auto">
              <a:xfrm>
                <a:off x="1583245" y="5467213"/>
                <a:ext cx="135508" cy="136800"/>
              </a:xfrm>
              <a:prstGeom prst="roundRect">
                <a:avLst>
                  <a:gd name="adj" fmla="val 32086"/>
                </a:avLst>
              </a:prstGeom>
              <a:solidFill>
                <a:schemeClr val="bg1">
                  <a:lumMod val="65000"/>
                </a:schemeClr>
              </a:solidFill>
              <a:ln w="6350" cap="flat" cmpd="sng" algn="ctr">
                <a:solidFill>
                  <a:srgbClr val="333333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900" dirty="0">
                  <a:solidFill>
                    <a:srgbClr val="262626"/>
                  </a:solidFill>
                  <a:latin typeface="Calibri" pitchFamily="34" charset="0"/>
                  <a:cs typeface="Calibri" pitchFamily="34" charset="0"/>
                </a:endParaRPr>
              </a:p>
            </p:txBody>
          </p:sp>
        </p:grpSp>
      </p:grpSp>
      <p:grpSp>
        <p:nvGrpSpPr>
          <p:cNvPr id="104" name="iPad"/>
          <p:cNvGrpSpPr>
            <a:grpSpLocks noChangeAspect="1"/>
          </p:cNvGrpSpPr>
          <p:nvPr/>
        </p:nvGrpSpPr>
        <p:grpSpPr>
          <a:xfrm rot="16200000">
            <a:off x="5639484" y="5068045"/>
            <a:ext cx="604361" cy="782656"/>
            <a:chOff x="4644008" y="366712"/>
            <a:chExt cx="4367724" cy="5656263"/>
          </a:xfrm>
        </p:grpSpPr>
        <p:sp>
          <p:nvSpPr>
            <p:cNvPr id="105" name="Case"/>
            <p:cNvSpPr>
              <a:spLocks/>
            </p:cNvSpPr>
            <p:nvPr/>
          </p:nvSpPr>
          <p:spPr bwMode="auto">
            <a:xfrm>
              <a:off x="4644008" y="366712"/>
              <a:ext cx="4367724" cy="5656263"/>
            </a:xfrm>
            <a:prstGeom prst="roundRect">
              <a:avLst>
                <a:gd name="adj" fmla="val 5018"/>
              </a:avLst>
            </a:prstGeom>
            <a:solidFill>
              <a:schemeClr val="tx1">
                <a:lumMod val="50000"/>
                <a:lumOff val="50000"/>
              </a:schemeClr>
            </a:solidFill>
            <a:ln w="6350" cap="flat" cmpd="sng" algn="ctr">
              <a:solidFill>
                <a:srgbClr val="333333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106" name="Display"/>
            <p:cNvSpPr>
              <a:spLocks/>
            </p:cNvSpPr>
            <p:nvPr/>
          </p:nvSpPr>
          <p:spPr bwMode="auto">
            <a:xfrm>
              <a:off x="5073683" y="868363"/>
              <a:ext cx="3508375" cy="4668838"/>
            </a:xfrm>
            <a:prstGeom prst="rect">
              <a:avLst/>
            </a:prstGeom>
            <a:solidFill>
              <a:schemeClr val="bg1"/>
            </a:solidFill>
            <a:ln w="6350" cap="flat" cmpd="sng" algn="ctr">
              <a:solidFill>
                <a:srgbClr val="333333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107" name="Camera"/>
            <p:cNvSpPr>
              <a:spLocks noChangeAspect="1"/>
            </p:cNvSpPr>
            <p:nvPr/>
          </p:nvSpPr>
          <p:spPr bwMode="auto">
            <a:xfrm>
              <a:off x="6808070" y="593813"/>
              <a:ext cx="39600" cy="396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 w="6350" cap="flat" cmpd="sng" algn="ctr">
              <a:solidFill>
                <a:srgbClr val="333333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333333"/>
                </a:solidFill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108" name="Button"/>
            <p:cNvSpPr>
              <a:spLocks/>
            </p:cNvSpPr>
            <p:nvPr/>
          </p:nvSpPr>
          <p:spPr bwMode="auto">
            <a:xfrm>
              <a:off x="6784670" y="5750837"/>
              <a:ext cx="86400" cy="86400"/>
            </a:xfrm>
            <a:prstGeom prst="roundRect">
              <a:avLst>
                <a:gd name="adj" fmla="val 25376"/>
              </a:avLst>
            </a:prstGeom>
            <a:solidFill>
              <a:schemeClr val="bg1">
                <a:lumMod val="65000"/>
              </a:schemeClr>
            </a:solidFill>
            <a:ln w="6350" cap="flat" cmpd="sng" algn="ctr">
              <a:solidFill>
                <a:srgbClr val="333333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endParaRPr>
            </a:p>
          </p:txBody>
        </p:sp>
      </p:grpSp>
      <p:pic>
        <p:nvPicPr>
          <p:cNvPr id="109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46489" y="3718634"/>
            <a:ext cx="1362695" cy="8969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0" name="TextBox 109"/>
          <p:cNvSpPr txBox="1"/>
          <p:nvPr/>
        </p:nvSpPr>
        <p:spPr>
          <a:xfrm>
            <a:off x="5469715" y="3272302"/>
            <a:ext cx="94609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Smart Phone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5725394" y="4622939"/>
            <a:ext cx="46358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Web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5469715" y="5813558"/>
            <a:ext cx="97494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Tablet Device</a:t>
            </a:r>
          </a:p>
        </p:txBody>
      </p:sp>
      <p:cxnSp>
        <p:nvCxnSpPr>
          <p:cNvPr id="4" name="꺾인 연결선 3"/>
          <p:cNvCxnSpPr>
            <a:stCxn id="71" idx="1"/>
            <a:endCxn id="38" idx="6"/>
          </p:cNvCxnSpPr>
          <p:nvPr/>
        </p:nvCxnSpPr>
        <p:spPr>
          <a:xfrm rot="10800000" flipV="1">
            <a:off x="1953840" y="2839343"/>
            <a:ext cx="914400" cy="1285354"/>
          </a:xfrm>
          <a:prstGeom prst="bentConnector3">
            <a:avLst/>
          </a:prstGeom>
          <a:noFill/>
          <a:ln w="28575">
            <a:solidFill>
              <a:schemeClr val="tx1">
                <a:lumMod val="50000"/>
                <a:lumOff val="50000"/>
              </a:schemeClr>
            </a:solidFill>
            <a:round/>
            <a:headEnd/>
            <a:tailEnd type="triangle" w="med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9" name="꺾인 연결선 8"/>
          <p:cNvCxnSpPr>
            <a:stCxn id="72" idx="1"/>
            <a:endCxn id="38" idx="6"/>
          </p:cNvCxnSpPr>
          <p:nvPr/>
        </p:nvCxnSpPr>
        <p:spPr>
          <a:xfrm rot="10800000">
            <a:off x="1953840" y="4124697"/>
            <a:ext cx="914400" cy="10790"/>
          </a:xfrm>
          <a:prstGeom prst="bentConnector3">
            <a:avLst/>
          </a:prstGeom>
          <a:noFill/>
          <a:ln w="28575">
            <a:solidFill>
              <a:schemeClr val="tx1">
                <a:lumMod val="50000"/>
                <a:lumOff val="50000"/>
              </a:schemeClr>
            </a:solidFill>
            <a:round/>
            <a:headEnd/>
            <a:tailEnd type="triangle" w="med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1" name="꺾인 연결선 10"/>
          <p:cNvCxnSpPr>
            <a:stCxn id="77" idx="1"/>
            <a:endCxn id="38" idx="6"/>
          </p:cNvCxnSpPr>
          <p:nvPr/>
        </p:nvCxnSpPr>
        <p:spPr>
          <a:xfrm rot="10800000">
            <a:off x="1953840" y="4124697"/>
            <a:ext cx="914400" cy="1334120"/>
          </a:xfrm>
          <a:prstGeom prst="bentConnector3">
            <a:avLst/>
          </a:prstGeom>
          <a:noFill/>
          <a:ln w="28575">
            <a:solidFill>
              <a:schemeClr val="tx1">
                <a:lumMod val="50000"/>
                <a:lumOff val="50000"/>
              </a:schemeClr>
            </a:solidFill>
            <a:round/>
            <a:headEnd/>
            <a:tailEnd type="triangle" w="med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" name="직사각형 12"/>
          <p:cNvSpPr/>
          <p:nvPr/>
        </p:nvSpPr>
        <p:spPr>
          <a:xfrm>
            <a:off x="6681192" y="2636912"/>
            <a:ext cx="288032" cy="482143"/>
          </a:xfrm>
          <a:prstGeom prst="rect">
            <a:avLst/>
          </a:prstGeom>
          <a:solidFill>
            <a:schemeClr val="bg1">
              <a:alpha val="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0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13" name="직사각형 112"/>
          <p:cNvSpPr/>
          <p:nvPr/>
        </p:nvSpPr>
        <p:spPr>
          <a:xfrm>
            <a:off x="6681192" y="3883625"/>
            <a:ext cx="288032" cy="482143"/>
          </a:xfrm>
          <a:prstGeom prst="rect">
            <a:avLst/>
          </a:prstGeom>
          <a:solidFill>
            <a:schemeClr val="bg1">
              <a:alpha val="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0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14" name="직사각형 113"/>
          <p:cNvSpPr/>
          <p:nvPr/>
        </p:nvSpPr>
        <p:spPr>
          <a:xfrm>
            <a:off x="6681192" y="5220574"/>
            <a:ext cx="288032" cy="482143"/>
          </a:xfrm>
          <a:prstGeom prst="rect">
            <a:avLst/>
          </a:prstGeom>
          <a:solidFill>
            <a:schemeClr val="bg1">
              <a:alpha val="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0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17" name="꺾인 연결선 16"/>
          <p:cNvCxnSpPr>
            <a:stCxn id="13" idx="3"/>
            <a:endCxn id="93" idx="2"/>
          </p:cNvCxnSpPr>
          <p:nvPr/>
        </p:nvCxnSpPr>
        <p:spPr>
          <a:xfrm>
            <a:off x="6969224" y="2877984"/>
            <a:ext cx="801216" cy="1249280"/>
          </a:xfrm>
          <a:prstGeom prst="bentConnector3">
            <a:avLst/>
          </a:prstGeom>
          <a:noFill/>
          <a:ln w="28575">
            <a:solidFill>
              <a:schemeClr val="tx1">
                <a:lumMod val="50000"/>
                <a:lumOff val="50000"/>
              </a:schemeClr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" name="꺾인 연결선 18"/>
          <p:cNvCxnSpPr>
            <a:stCxn id="113" idx="3"/>
            <a:endCxn id="93" idx="2"/>
          </p:cNvCxnSpPr>
          <p:nvPr/>
        </p:nvCxnSpPr>
        <p:spPr>
          <a:xfrm>
            <a:off x="6969224" y="4124697"/>
            <a:ext cx="801216" cy="2567"/>
          </a:xfrm>
          <a:prstGeom prst="bentConnector3">
            <a:avLst/>
          </a:prstGeom>
          <a:noFill/>
          <a:ln w="28575">
            <a:solidFill>
              <a:schemeClr val="tx1">
                <a:lumMod val="50000"/>
                <a:lumOff val="50000"/>
              </a:schemeClr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1" name="꺾인 연결선 20"/>
          <p:cNvCxnSpPr>
            <a:stCxn id="114" idx="3"/>
            <a:endCxn id="93" idx="2"/>
          </p:cNvCxnSpPr>
          <p:nvPr/>
        </p:nvCxnSpPr>
        <p:spPr>
          <a:xfrm flipV="1">
            <a:off x="6969224" y="4127264"/>
            <a:ext cx="801216" cy="1334382"/>
          </a:xfrm>
          <a:prstGeom prst="bentConnector3">
            <a:avLst/>
          </a:prstGeom>
          <a:noFill/>
          <a:ln w="28575">
            <a:solidFill>
              <a:schemeClr val="tx1">
                <a:lumMod val="50000"/>
                <a:lumOff val="50000"/>
              </a:schemeClr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2294046539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Box 2"/>
          <p:cNvSpPr txBox="1">
            <a:spLocks noChangeArrowheads="1"/>
          </p:cNvSpPr>
          <p:nvPr/>
        </p:nvSpPr>
        <p:spPr bwMode="auto">
          <a:xfrm>
            <a:off x="1" y="3106738"/>
            <a:ext cx="9905999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 algn="ctr" latinLnBrk="0"/>
            <a:r>
              <a:rPr kumimoji="0" lang="en-US" altLang="ko-KR" sz="4000" b="1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charset="0"/>
              </a:rPr>
              <a:t>End of Document</a:t>
            </a:r>
          </a:p>
        </p:txBody>
      </p:sp>
    </p:spTree>
    <p:extLst>
      <p:ext uri="{BB962C8B-B14F-4D97-AF65-F5344CB8AC3E}">
        <p14:creationId xmlns:p14="http://schemas.microsoft.com/office/powerpoint/2010/main" val="37591644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 w="3175">
          <a:solidFill>
            <a:schemeClr val="tx1"/>
          </a:solidFill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000" dirty="0">
            <a:solidFill>
              <a:schemeClr val="tx1"/>
            </a:solidFill>
            <a:latin typeface="나눔고딕" panose="020D0604000000000000" pitchFamily="50" charset="-127"/>
            <a:ea typeface="나눔고딕" panose="020D0604000000000000" pitchFamily="50" charset="-127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>
              <a:lumMod val="50000"/>
              <a:lumOff val="50000"/>
            </a:schemeClr>
          </a:solidFill>
          <a:headEnd type="none" w="med" len="med"/>
          <a:tailEnd type="none" w="med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defRPr sz="1000" smtClean="0">
            <a:latin typeface="나눔고딕" panose="020D0604000000000000" pitchFamily="50" charset="-127"/>
            <a:ea typeface="나눔고딕" panose="020D0604000000000000" pitchFamily="50" charset="-127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>
          <a:defRPr sz="1000" smtClean="0">
            <a:latin typeface="나눔고딕" panose="020D0604000000000000" pitchFamily="50" charset="-127"/>
            <a:ea typeface="나눔고딕" panose="020D0604000000000000" pitchFamily="50" charset="-127"/>
          </a:defRPr>
        </a:defPPr>
      </a:lstStyle>
    </a:txDef>
  </a:objectDefaults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3860</TotalTime>
  <Words>7576</Words>
  <Application>Microsoft Macintosh PowerPoint</Application>
  <PresentationFormat>A4 용지(210x297mm)</PresentationFormat>
  <Paragraphs>1713</Paragraphs>
  <Slides>78</Slides>
  <Notes>1</Notes>
  <HiddenSlides>0</HiddenSlides>
  <MMClips>0</MMClips>
  <ScaleCrop>false</ScaleCrop>
  <HeadingPairs>
    <vt:vector size="8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2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78</vt:i4>
      </vt:variant>
    </vt:vector>
  </HeadingPairs>
  <TitlesOfParts>
    <vt:vector size="88" baseType="lpstr">
      <vt:lpstr>나눔고딕</vt:lpstr>
      <vt:lpstr>맑은 고딕</vt:lpstr>
      <vt:lpstr>돋움</vt:lpstr>
      <vt:lpstr>Symbol</vt:lpstr>
      <vt:lpstr>Arial</vt:lpstr>
      <vt:lpstr>Calibri</vt:lpstr>
      <vt:lpstr>Wingdings</vt:lpstr>
      <vt:lpstr>Office 테마</vt:lpstr>
      <vt:lpstr>1_Office 테마</vt:lpstr>
      <vt:lpstr>Visio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koreafas2</dc:creator>
  <cp:lastModifiedBy>Hojin.chae AMARANS</cp:lastModifiedBy>
  <cp:revision>535</cp:revision>
  <dcterms:created xsi:type="dcterms:W3CDTF">2014-02-05T00:40:39Z</dcterms:created>
  <dcterms:modified xsi:type="dcterms:W3CDTF">2023-06-08T00:17:34Z</dcterms:modified>
</cp:coreProperties>
</file>