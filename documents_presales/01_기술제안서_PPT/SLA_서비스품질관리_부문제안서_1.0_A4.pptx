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736" r:id="rId1"/>
    <p:sldMasterId id="2147483738" r:id="rId2"/>
    <p:sldMasterId id="2147483652" r:id="rId3"/>
    <p:sldMasterId id="2147483762" r:id="rId4"/>
  </p:sldMasterIdLst>
  <p:notesMasterIdLst>
    <p:notesMasterId r:id="rId32"/>
  </p:notesMasterIdLst>
  <p:handoutMasterIdLst>
    <p:handoutMasterId r:id="rId33"/>
  </p:handoutMasterIdLst>
  <p:sldIdLst>
    <p:sldId id="968" r:id="rId5"/>
    <p:sldId id="986" r:id="rId6"/>
    <p:sldId id="892" r:id="rId7"/>
    <p:sldId id="973" r:id="rId8"/>
    <p:sldId id="978" r:id="rId9"/>
    <p:sldId id="975" r:id="rId10"/>
    <p:sldId id="976" r:id="rId11"/>
    <p:sldId id="977" r:id="rId12"/>
    <p:sldId id="980" r:id="rId13"/>
    <p:sldId id="985" r:id="rId14"/>
    <p:sldId id="981" r:id="rId15"/>
    <p:sldId id="982" r:id="rId16"/>
    <p:sldId id="983" r:id="rId17"/>
    <p:sldId id="984" r:id="rId18"/>
    <p:sldId id="987" r:id="rId19"/>
    <p:sldId id="988" r:id="rId20"/>
    <p:sldId id="989" r:id="rId21"/>
    <p:sldId id="990" r:id="rId22"/>
    <p:sldId id="991" r:id="rId23"/>
    <p:sldId id="972" r:id="rId24"/>
    <p:sldId id="993" r:id="rId25"/>
    <p:sldId id="994" r:id="rId26"/>
    <p:sldId id="995" r:id="rId27"/>
    <p:sldId id="996" r:id="rId28"/>
    <p:sldId id="997" r:id="rId29"/>
    <p:sldId id="992" r:id="rId30"/>
    <p:sldId id="844" r:id="rId31"/>
  </p:sldIdLst>
  <p:sldSz cx="6858000" cy="9906000" type="A4"/>
  <p:notesSz cx="9996488" cy="6864350"/>
  <p:embeddedFontLst>
    <p:embeddedFont>
      <p:font typeface="Yoon 윤고딕 530_TT" panose="020B0600000101010101" charset="-127"/>
      <p:regular r:id="rId34"/>
      <p:bold r:id="rId35"/>
      <p:italic r:id="rId36"/>
      <p:boldItalic r:id="rId37"/>
    </p:embeddedFont>
    <p:embeddedFont>
      <p:font typeface="Wingdings 2" panose="05020102010507070707" pitchFamily="18" charset="2"/>
      <p:regular r:id="rId38"/>
    </p:embeddedFont>
    <p:embeddedFont>
      <p:font typeface="나눔고딕" panose="020D0604000000000000" pitchFamily="50" charset="-127"/>
      <p:regular r:id="rId39"/>
      <p:bold r:id="rId40"/>
    </p:embeddedFont>
    <p:embeddedFont>
      <p:font typeface="나눔고딕 Bold" panose="020D0804000000000000" pitchFamily="50" charset="-127"/>
      <p:bold r:id="rId41"/>
    </p:embeddedFont>
    <p:embeddedFont>
      <p:font typeface="나눔고딕 ExtraBold" panose="020D0904000000000000" pitchFamily="50" charset="-127"/>
      <p:bold r:id="rId42"/>
    </p:embeddedFont>
    <p:embeddedFont>
      <p:font typeface="나눔고딕OTF ExtraBold" panose="020B0600000101010101" charset="0"/>
      <p:bold r:id="rId43"/>
    </p:embeddedFont>
    <p:embeddedFont>
      <p:font typeface="나눔바른고딕" panose="020B0603020101020101" pitchFamily="50" charset="-127"/>
      <p:regular r:id="rId44"/>
      <p:bold r:id="rId45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100" b="1" kern="1200">
        <a:solidFill>
          <a:schemeClr val="tx1"/>
        </a:solidFill>
        <a:latin typeface="Arial" pitchFamily="34" charset="0"/>
        <a:ea typeface="나눔고딕"/>
        <a:cs typeface="나눔고딕"/>
      </a:defRPr>
    </a:lvl1pPr>
    <a:lvl2pPr marL="457200" algn="l" rtl="0" fontAlgn="base" latinLnBrk="1">
      <a:spcBef>
        <a:spcPct val="0"/>
      </a:spcBef>
      <a:spcAft>
        <a:spcPct val="0"/>
      </a:spcAft>
      <a:defRPr kumimoji="1" sz="1100" b="1" kern="1200">
        <a:solidFill>
          <a:schemeClr val="tx1"/>
        </a:solidFill>
        <a:latin typeface="Arial" pitchFamily="34" charset="0"/>
        <a:ea typeface="나눔고딕"/>
        <a:cs typeface="나눔고딕"/>
      </a:defRPr>
    </a:lvl2pPr>
    <a:lvl3pPr marL="914400" algn="l" rtl="0" fontAlgn="base" latinLnBrk="1">
      <a:spcBef>
        <a:spcPct val="0"/>
      </a:spcBef>
      <a:spcAft>
        <a:spcPct val="0"/>
      </a:spcAft>
      <a:defRPr kumimoji="1" sz="1100" b="1" kern="1200">
        <a:solidFill>
          <a:schemeClr val="tx1"/>
        </a:solidFill>
        <a:latin typeface="Arial" pitchFamily="34" charset="0"/>
        <a:ea typeface="나눔고딕"/>
        <a:cs typeface="나눔고딕"/>
      </a:defRPr>
    </a:lvl3pPr>
    <a:lvl4pPr marL="1371600" algn="l" rtl="0" fontAlgn="base" latinLnBrk="1">
      <a:spcBef>
        <a:spcPct val="0"/>
      </a:spcBef>
      <a:spcAft>
        <a:spcPct val="0"/>
      </a:spcAft>
      <a:defRPr kumimoji="1" sz="1100" b="1" kern="1200">
        <a:solidFill>
          <a:schemeClr val="tx1"/>
        </a:solidFill>
        <a:latin typeface="Arial" pitchFamily="34" charset="0"/>
        <a:ea typeface="나눔고딕"/>
        <a:cs typeface="나눔고딕"/>
      </a:defRPr>
    </a:lvl4pPr>
    <a:lvl5pPr marL="1828800" algn="l" rtl="0" fontAlgn="base" latinLnBrk="1">
      <a:spcBef>
        <a:spcPct val="0"/>
      </a:spcBef>
      <a:spcAft>
        <a:spcPct val="0"/>
      </a:spcAft>
      <a:defRPr kumimoji="1" sz="1100" b="1" kern="1200">
        <a:solidFill>
          <a:schemeClr val="tx1"/>
        </a:solidFill>
        <a:latin typeface="Arial" pitchFamily="34" charset="0"/>
        <a:ea typeface="나눔고딕"/>
        <a:cs typeface="나눔고딕"/>
      </a:defRPr>
    </a:lvl5pPr>
    <a:lvl6pPr marL="2286000" algn="l" defTabSz="914400" rtl="0" eaLnBrk="1" latinLnBrk="1" hangingPunct="1">
      <a:defRPr kumimoji="1" sz="1100" b="1" kern="1200">
        <a:solidFill>
          <a:schemeClr val="tx1"/>
        </a:solidFill>
        <a:latin typeface="Arial" pitchFamily="34" charset="0"/>
        <a:ea typeface="나눔고딕"/>
        <a:cs typeface="나눔고딕"/>
      </a:defRPr>
    </a:lvl6pPr>
    <a:lvl7pPr marL="2743200" algn="l" defTabSz="914400" rtl="0" eaLnBrk="1" latinLnBrk="1" hangingPunct="1">
      <a:defRPr kumimoji="1" sz="1100" b="1" kern="1200">
        <a:solidFill>
          <a:schemeClr val="tx1"/>
        </a:solidFill>
        <a:latin typeface="Arial" pitchFamily="34" charset="0"/>
        <a:ea typeface="나눔고딕"/>
        <a:cs typeface="나눔고딕"/>
      </a:defRPr>
    </a:lvl7pPr>
    <a:lvl8pPr marL="3200400" algn="l" defTabSz="914400" rtl="0" eaLnBrk="1" latinLnBrk="1" hangingPunct="1">
      <a:defRPr kumimoji="1" sz="1100" b="1" kern="1200">
        <a:solidFill>
          <a:schemeClr val="tx1"/>
        </a:solidFill>
        <a:latin typeface="Arial" pitchFamily="34" charset="0"/>
        <a:ea typeface="나눔고딕"/>
        <a:cs typeface="나눔고딕"/>
      </a:defRPr>
    </a:lvl8pPr>
    <a:lvl9pPr marL="3657600" algn="l" defTabSz="914400" rtl="0" eaLnBrk="1" latinLnBrk="1" hangingPunct="1">
      <a:defRPr kumimoji="1" sz="1100" b="1" kern="1200">
        <a:solidFill>
          <a:schemeClr val="tx1"/>
        </a:solidFill>
        <a:latin typeface="Arial" pitchFamily="34" charset="0"/>
        <a:ea typeface="나눔고딕"/>
        <a:cs typeface="나눔고딕"/>
      </a:defRPr>
    </a:lvl9pPr>
  </p:defaultTextStyle>
  <p:extLst>
    <p:ext uri="{EFAFB233-063F-42B5-8137-9DF3F51BA10A}">
      <p15:sldGuideLst xmlns:p15="http://schemas.microsoft.com/office/powerpoint/2012/main">
        <p15:guide id="1" orient="horz" pos="739">
          <p15:clr>
            <a:srgbClr val="A4A3A4"/>
          </p15:clr>
        </p15:guide>
        <p15:guide id="2" orient="horz" pos="5955">
          <p15:clr>
            <a:srgbClr val="A4A3A4"/>
          </p15:clr>
        </p15:guide>
        <p15:guide id="3" orient="horz" pos="1056">
          <p15:clr>
            <a:srgbClr val="A4A3A4"/>
          </p15:clr>
        </p15:guide>
        <p15:guide id="4" orient="horz" pos="1238">
          <p15:clr>
            <a:srgbClr val="A4A3A4"/>
          </p15:clr>
        </p15:guide>
        <p15:guide id="5" orient="horz" pos="2122">
          <p15:clr>
            <a:srgbClr val="A4A3A4"/>
          </p15:clr>
        </p15:guide>
        <p15:guide id="6" pos="187">
          <p15:clr>
            <a:srgbClr val="A4A3A4"/>
          </p15:clr>
        </p15:guide>
        <p15:guide id="7" pos="413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AFF2"/>
    <a:srgbClr val="1295EE"/>
    <a:srgbClr val="303335"/>
    <a:srgbClr val="0E79C2"/>
    <a:srgbClr val="71B1EB"/>
    <a:srgbClr val="0C66A4"/>
    <a:srgbClr val="769CBC"/>
    <a:srgbClr val="D85106"/>
    <a:srgbClr val="EAEAEA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96" autoAdjust="0"/>
    <p:restoredTop sz="98694" autoAdjust="0"/>
  </p:normalViewPr>
  <p:slideViewPr>
    <p:cSldViewPr>
      <p:cViewPr varScale="1">
        <p:scale>
          <a:sx n="83" d="100"/>
          <a:sy n="83" d="100"/>
        </p:scale>
        <p:origin x="612" y="102"/>
      </p:cViewPr>
      <p:guideLst>
        <p:guide orient="horz" pos="739"/>
        <p:guide orient="horz" pos="5955"/>
        <p:guide orient="horz" pos="1056"/>
        <p:guide orient="horz" pos="1238"/>
        <p:guide orient="horz" pos="2122"/>
        <p:guide pos="187"/>
        <p:guide pos="41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-2568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6.fntdata"/><Relationship Id="rId21" Type="http://schemas.openxmlformats.org/officeDocument/2006/relationships/slide" Target="slides/slide17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3.fntdata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11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openxmlformats.org/officeDocument/2006/relationships/font" Target="fonts/font5.fntdata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1996" cy="368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2" tIns="46098" rIns="92192" bIns="46098" numCol="1" anchor="t" anchorCtr="0" compatLnSpc="1">
            <a:prstTxWarp prst="textNoShape">
              <a:avLst/>
            </a:prstTxWarp>
          </a:bodyPr>
          <a:lstStyle>
            <a:lvl1pPr defTabSz="921707">
              <a:defRPr sz="1200" b="0"/>
            </a:lvl1pPr>
          </a:lstStyle>
          <a:p>
            <a:pPr>
              <a:defRPr/>
            </a:pPr>
            <a:endParaRPr lang="en-US" altLang="ko-KR" dirty="0">
              <a:latin typeface="나눔고딕" pitchFamily="2" charset="-127"/>
            </a:endParaRPr>
          </a:p>
        </p:txBody>
      </p:sp>
      <p:sp>
        <p:nvSpPr>
          <p:cNvPr id="2662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60090" y="0"/>
            <a:ext cx="4301996" cy="368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2" tIns="46098" rIns="92192" bIns="46098" numCol="1" anchor="t" anchorCtr="0" compatLnSpc="1">
            <a:prstTxWarp prst="textNoShape">
              <a:avLst/>
            </a:prstTxWarp>
          </a:bodyPr>
          <a:lstStyle>
            <a:lvl1pPr algn="r" defTabSz="921707">
              <a:defRPr sz="1200" b="0"/>
            </a:lvl1pPr>
          </a:lstStyle>
          <a:p>
            <a:pPr>
              <a:defRPr/>
            </a:pPr>
            <a:endParaRPr lang="en-US" altLang="ko-KR" dirty="0">
              <a:latin typeface="나눔고딕" pitchFamily="2" charset="-127"/>
            </a:endParaRPr>
          </a:p>
        </p:txBody>
      </p:sp>
      <p:sp>
        <p:nvSpPr>
          <p:cNvPr id="2662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33845"/>
            <a:ext cx="4301996" cy="316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2" tIns="46098" rIns="92192" bIns="46098" numCol="1" anchor="b" anchorCtr="0" compatLnSpc="1">
            <a:prstTxWarp prst="textNoShape">
              <a:avLst/>
            </a:prstTxWarp>
          </a:bodyPr>
          <a:lstStyle>
            <a:lvl1pPr defTabSz="921707">
              <a:defRPr sz="1200" b="0"/>
            </a:lvl1pPr>
          </a:lstStyle>
          <a:p>
            <a:pPr>
              <a:defRPr/>
            </a:pPr>
            <a:endParaRPr lang="en-US" altLang="ko-KR" dirty="0">
              <a:latin typeface="나눔고딕" pitchFamily="2" charset="-127"/>
            </a:endParaRPr>
          </a:p>
        </p:txBody>
      </p:sp>
      <p:sp>
        <p:nvSpPr>
          <p:cNvPr id="2662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60090" y="6533845"/>
            <a:ext cx="4301996" cy="316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2" tIns="46098" rIns="92192" bIns="46098" numCol="1" anchor="b" anchorCtr="0" compatLnSpc="1">
            <a:prstTxWarp prst="textNoShape">
              <a:avLst/>
            </a:prstTxWarp>
          </a:bodyPr>
          <a:lstStyle>
            <a:lvl1pPr algn="r" defTabSz="921707">
              <a:defRPr sz="1200" b="0"/>
            </a:lvl1pPr>
          </a:lstStyle>
          <a:p>
            <a:pPr>
              <a:defRPr/>
            </a:pPr>
            <a:fld id="{3C27435B-A58D-473C-8F9E-16579189B228}" type="slidenum">
              <a:rPr lang="en-US" altLang="ko-KR">
                <a:latin typeface="나눔고딕" pitchFamily="2" charset="-127"/>
              </a:rPr>
              <a:pPr>
                <a:defRPr/>
              </a:pPr>
              <a:t>‹#›</a:t>
            </a:fld>
            <a:endParaRPr lang="en-US" altLang="ko-KR" dirty="0">
              <a:latin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88111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42952" cy="3193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87" tIns="46544" rIns="93087" bIns="46544" numCol="1" anchor="t" anchorCtr="0" compatLnSpc="1">
            <a:prstTxWarp prst="textNoShape">
              <a:avLst/>
            </a:prstTxWarp>
          </a:bodyPr>
          <a:lstStyle>
            <a:lvl1pPr defTabSz="930971">
              <a:defRPr sz="1200" b="0">
                <a:latin typeface="나눔고딕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715791" y="0"/>
            <a:ext cx="4229913" cy="3193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87" tIns="46544" rIns="93087" bIns="46544" numCol="1" anchor="t" anchorCtr="0" compatLnSpc="1">
            <a:prstTxWarp prst="textNoShape">
              <a:avLst/>
            </a:prstTxWarp>
          </a:bodyPr>
          <a:lstStyle>
            <a:lvl1pPr algn="r" defTabSz="930971">
              <a:defRPr sz="1200" b="0">
                <a:latin typeface="나눔고딕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148138" y="531813"/>
            <a:ext cx="1768475" cy="25542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72839" y="3244677"/>
            <a:ext cx="7316341" cy="308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87" tIns="46544" rIns="93087" bIns="465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/>
              <a:t>마스터 문자열 유형을 편집하려면 누르십시오</a:t>
            </a:r>
            <a:r>
              <a:rPr lang="en-US" altLang="ko-KR" noProof="0" dirty="0"/>
              <a:t>.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세째 수준</a:t>
            </a:r>
          </a:p>
          <a:p>
            <a:pPr lvl="3"/>
            <a:r>
              <a:rPr lang="ko-KR" altLang="en-US" noProof="0" dirty="0"/>
              <a:t>네째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43378"/>
            <a:ext cx="4342952" cy="3193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87" tIns="46544" rIns="93087" bIns="46544" numCol="1" anchor="b" anchorCtr="0" compatLnSpc="1">
            <a:prstTxWarp prst="textNoShape">
              <a:avLst/>
            </a:prstTxWarp>
          </a:bodyPr>
          <a:lstStyle>
            <a:lvl1pPr defTabSz="930971">
              <a:defRPr sz="1200" b="0">
                <a:latin typeface="나눔고딕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15791" y="6543378"/>
            <a:ext cx="4229913" cy="3193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87" tIns="46544" rIns="93087" bIns="46544" numCol="1" anchor="b" anchorCtr="0" compatLnSpc="1">
            <a:prstTxWarp prst="textNoShape">
              <a:avLst/>
            </a:prstTxWarp>
          </a:bodyPr>
          <a:lstStyle>
            <a:lvl1pPr algn="r" defTabSz="930971">
              <a:defRPr sz="1200" b="0">
                <a:latin typeface="나눔고딕" pitchFamily="2" charset="-127"/>
              </a:defRPr>
            </a:lvl1pPr>
          </a:lstStyle>
          <a:p>
            <a:pPr>
              <a:defRPr/>
            </a:pPr>
            <a:fld id="{5ECD218D-8BEB-4318-8059-F88607352D2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69203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나눔고딕" pitchFamily="2" charset="-127"/>
        <a:ea typeface="나눔고딕"/>
        <a:cs typeface="나눔고딕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나눔고딕" pitchFamily="2" charset="-127"/>
        <a:ea typeface="나눔고딕"/>
        <a:cs typeface="나눔고딕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나눔고딕" pitchFamily="2" charset="-127"/>
        <a:ea typeface="나눔고딕"/>
        <a:cs typeface="나눔고딕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나눔고딕" pitchFamily="2" charset="-127"/>
        <a:ea typeface="나눔고딕"/>
        <a:cs typeface="나눔고딕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나눔고딕" pitchFamily="2" charset="-127"/>
        <a:ea typeface="나눔고딕"/>
        <a:cs typeface="나눔고딕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0260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, 간지,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4073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1659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제안개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9235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제안사 일반사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A60004E8-47D4-2961-645D-B5C5B574FD91}"/>
              </a:ext>
            </a:extLst>
          </p:cNvPr>
          <p:cNvGrpSpPr/>
          <p:nvPr userDrawn="1"/>
        </p:nvGrpSpPr>
        <p:grpSpPr>
          <a:xfrm>
            <a:off x="317654" y="667364"/>
            <a:ext cx="3754599" cy="351189"/>
            <a:chOff x="760846" y="854534"/>
            <a:chExt cx="3754599" cy="35118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09A5FAE-4919-68B5-679F-C89668C057D6}"/>
                </a:ext>
              </a:extLst>
            </p:cNvPr>
            <p:cNvSpPr txBox="1"/>
            <p:nvPr/>
          </p:nvSpPr>
          <p:spPr>
            <a:xfrm flipH="1">
              <a:off x="1130443" y="891629"/>
              <a:ext cx="338500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r>
                <a:rPr lang="ko-KR" altLang="en-US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제안사 일반사항</a:t>
              </a: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84D04C5B-A142-6A77-66CB-9F837BBCD3FA}"/>
                </a:ext>
              </a:extLst>
            </p:cNvPr>
            <p:cNvGrpSpPr/>
            <p:nvPr/>
          </p:nvGrpSpPr>
          <p:grpSpPr>
            <a:xfrm>
              <a:off x="760846" y="854534"/>
              <a:ext cx="324620" cy="351189"/>
              <a:chOff x="539750" y="2917808"/>
              <a:chExt cx="526237" cy="526236"/>
            </a:xfrm>
          </p:grpSpPr>
          <p:sp>
            <p:nvSpPr>
              <p:cNvPr id="6" name="모서리가 둥근 직사각형 4">
                <a:extLst>
                  <a:ext uri="{FF2B5EF4-FFF2-40B4-BE49-F238E27FC236}">
                    <a16:creationId xmlns:a16="http://schemas.microsoft.com/office/drawing/2014/main" id="{DD9B0FA3-F691-1322-E9D9-B96C2F772001}"/>
                  </a:ext>
                </a:extLst>
              </p:cNvPr>
              <p:cNvSpPr/>
              <p:nvPr/>
            </p:nvSpPr>
            <p:spPr>
              <a:xfrm>
                <a:off x="539750" y="2917808"/>
                <a:ext cx="526237" cy="526236"/>
              </a:xfrm>
              <a:prstGeom prst="roundRect">
                <a:avLst>
                  <a:gd name="adj" fmla="val 11229"/>
                </a:avLst>
              </a:prstGeom>
              <a:solidFill>
                <a:srgbClr val="00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0B4C81-B860-E126-7896-EEC4EF17F40C}"/>
                  </a:ext>
                </a:extLst>
              </p:cNvPr>
              <p:cNvSpPr txBox="1"/>
              <p:nvPr/>
            </p:nvSpPr>
            <p:spPr>
              <a:xfrm flipH="1">
                <a:off x="636582" y="2952530"/>
                <a:ext cx="338951" cy="46118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Ⅱ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80239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사업수행부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47A7491-CCCE-EB02-BE4E-61F6C33AF1A9}"/>
              </a:ext>
            </a:extLst>
          </p:cNvPr>
          <p:cNvGrpSpPr/>
          <p:nvPr userDrawn="1"/>
        </p:nvGrpSpPr>
        <p:grpSpPr>
          <a:xfrm>
            <a:off x="317654" y="667364"/>
            <a:ext cx="3754599" cy="351189"/>
            <a:chOff x="760846" y="854534"/>
            <a:chExt cx="3754599" cy="35118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8AEADA0-0745-5397-0E90-9092787BDEB6}"/>
                </a:ext>
              </a:extLst>
            </p:cNvPr>
            <p:cNvSpPr txBox="1"/>
            <p:nvPr/>
          </p:nvSpPr>
          <p:spPr>
            <a:xfrm flipH="1">
              <a:off x="1130443" y="891629"/>
              <a:ext cx="338500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r>
                <a:rPr lang="ko-KR" altLang="en-US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사업 수행 부문</a:t>
              </a: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53CFA8C6-01C9-05AC-83E6-EBB91B211D5B}"/>
                </a:ext>
              </a:extLst>
            </p:cNvPr>
            <p:cNvGrpSpPr/>
            <p:nvPr/>
          </p:nvGrpSpPr>
          <p:grpSpPr>
            <a:xfrm>
              <a:off x="760846" y="854534"/>
              <a:ext cx="324620" cy="351189"/>
              <a:chOff x="539750" y="2917808"/>
              <a:chExt cx="526237" cy="526236"/>
            </a:xfrm>
          </p:grpSpPr>
          <p:sp>
            <p:nvSpPr>
              <p:cNvPr id="5" name="모서리가 둥근 직사각형 4">
                <a:extLst>
                  <a:ext uri="{FF2B5EF4-FFF2-40B4-BE49-F238E27FC236}">
                    <a16:creationId xmlns:a16="http://schemas.microsoft.com/office/drawing/2014/main" id="{FC40B84D-B907-2214-C233-663572B0E22A}"/>
                  </a:ext>
                </a:extLst>
              </p:cNvPr>
              <p:cNvSpPr/>
              <p:nvPr/>
            </p:nvSpPr>
            <p:spPr>
              <a:xfrm>
                <a:off x="539750" y="2917808"/>
                <a:ext cx="526237" cy="526236"/>
              </a:xfrm>
              <a:prstGeom prst="roundRect">
                <a:avLst>
                  <a:gd name="adj" fmla="val 11229"/>
                </a:avLst>
              </a:prstGeom>
              <a:solidFill>
                <a:srgbClr val="00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79644-E5A4-2F8C-DE7D-3B05E198B151}"/>
                  </a:ext>
                </a:extLst>
              </p:cNvPr>
              <p:cNvSpPr txBox="1"/>
              <p:nvPr/>
            </p:nvSpPr>
            <p:spPr>
              <a:xfrm flipH="1">
                <a:off x="636582" y="2952530"/>
                <a:ext cx="338951" cy="46118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Ⅲ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59235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업무품질관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C110FD88-D755-BF6E-1F80-C0EC3846A090}"/>
              </a:ext>
            </a:extLst>
          </p:cNvPr>
          <p:cNvGrpSpPr/>
          <p:nvPr userDrawn="1"/>
        </p:nvGrpSpPr>
        <p:grpSpPr>
          <a:xfrm>
            <a:off x="317654" y="667364"/>
            <a:ext cx="3754599" cy="351189"/>
            <a:chOff x="760846" y="854534"/>
            <a:chExt cx="3754599" cy="35118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88C1B84-2DED-11AD-D8DA-9F003928D8C9}"/>
                </a:ext>
              </a:extLst>
            </p:cNvPr>
            <p:cNvSpPr txBox="1"/>
            <p:nvPr/>
          </p:nvSpPr>
          <p:spPr>
            <a:xfrm flipH="1">
              <a:off x="1130443" y="891629"/>
              <a:ext cx="338500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r>
                <a:rPr lang="ko-KR" altLang="en-US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업무 품질 관리 </a:t>
              </a:r>
              <a:r>
                <a:rPr lang="en-US" altLang="ko-KR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(PMO)</a:t>
              </a:r>
              <a:endParaRPr lang="ko-KR" altLang="en-US" sz="1800" b="1" dirty="0">
                <a:solidFill>
                  <a:srgbClr val="0067B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B4453422-40CC-7F49-AFBC-CB87D09834EB}"/>
                </a:ext>
              </a:extLst>
            </p:cNvPr>
            <p:cNvGrpSpPr/>
            <p:nvPr/>
          </p:nvGrpSpPr>
          <p:grpSpPr>
            <a:xfrm>
              <a:off x="760846" y="854534"/>
              <a:ext cx="324620" cy="351189"/>
              <a:chOff x="539750" y="2917808"/>
              <a:chExt cx="526237" cy="526236"/>
            </a:xfrm>
          </p:grpSpPr>
          <p:sp>
            <p:nvSpPr>
              <p:cNvPr id="10" name="모서리가 둥근 직사각형 4">
                <a:extLst>
                  <a:ext uri="{FF2B5EF4-FFF2-40B4-BE49-F238E27FC236}">
                    <a16:creationId xmlns:a16="http://schemas.microsoft.com/office/drawing/2014/main" id="{F988B779-E2B9-62B3-B4B0-F830342E4BB1}"/>
                  </a:ext>
                </a:extLst>
              </p:cNvPr>
              <p:cNvSpPr/>
              <p:nvPr/>
            </p:nvSpPr>
            <p:spPr>
              <a:xfrm>
                <a:off x="539750" y="2917808"/>
                <a:ext cx="526237" cy="526236"/>
              </a:xfrm>
              <a:prstGeom prst="roundRect">
                <a:avLst>
                  <a:gd name="adj" fmla="val 11229"/>
                </a:avLst>
              </a:prstGeom>
              <a:solidFill>
                <a:srgbClr val="00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E9AAAA-A269-C5B2-B1A8-9CD799EF31DC}"/>
                  </a:ext>
                </a:extLst>
              </p:cNvPr>
              <p:cNvSpPr txBox="1"/>
              <p:nvPr/>
            </p:nvSpPr>
            <p:spPr>
              <a:xfrm flipH="1">
                <a:off x="636582" y="2952530"/>
                <a:ext cx="338951" cy="46118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Ⅳ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59235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사업관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B6034CF-82B2-39ED-2849-11CFAD00AA52}"/>
              </a:ext>
            </a:extLst>
          </p:cNvPr>
          <p:cNvGrpSpPr/>
          <p:nvPr userDrawn="1"/>
        </p:nvGrpSpPr>
        <p:grpSpPr>
          <a:xfrm>
            <a:off x="317654" y="667364"/>
            <a:ext cx="3754599" cy="351189"/>
            <a:chOff x="760846" y="854534"/>
            <a:chExt cx="3754599" cy="35118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6448838-0DEE-F8EC-AA57-8A6712A31677}"/>
                </a:ext>
              </a:extLst>
            </p:cNvPr>
            <p:cNvSpPr txBox="1"/>
            <p:nvPr/>
          </p:nvSpPr>
          <p:spPr>
            <a:xfrm flipH="1">
              <a:off x="1130443" y="891629"/>
              <a:ext cx="338500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r>
                <a:rPr lang="ko-KR" altLang="en-US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사업관리</a:t>
              </a: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403AFC57-069B-B409-0A9B-7579CE18A47B}"/>
                </a:ext>
              </a:extLst>
            </p:cNvPr>
            <p:cNvGrpSpPr/>
            <p:nvPr/>
          </p:nvGrpSpPr>
          <p:grpSpPr>
            <a:xfrm>
              <a:off x="760846" y="854534"/>
              <a:ext cx="324620" cy="351189"/>
              <a:chOff x="539750" y="2917808"/>
              <a:chExt cx="526237" cy="526236"/>
            </a:xfrm>
          </p:grpSpPr>
          <p:sp>
            <p:nvSpPr>
              <p:cNvPr id="5" name="모서리가 둥근 직사각형 4">
                <a:extLst>
                  <a:ext uri="{FF2B5EF4-FFF2-40B4-BE49-F238E27FC236}">
                    <a16:creationId xmlns:a16="http://schemas.microsoft.com/office/drawing/2014/main" id="{F4251416-6652-579B-E594-C7B5F8962BDC}"/>
                  </a:ext>
                </a:extLst>
              </p:cNvPr>
              <p:cNvSpPr/>
              <p:nvPr/>
            </p:nvSpPr>
            <p:spPr>
              <a:xfrm>
                <a:off x="539750" y="2917808"/>
                <a:ext cx="526237" cy="526236"/>
              </a:xfrm>
              <a:prstGeom prst="roundRect">
                <a:avLst>
                  <a:gd name="adj" fmla="val 11229"/>
                </a:avLst>
              </a:prstGeom>
              <a:solidFill>
                <a:srgbClr val="00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41DE148-3232-C55A-B3F5-BBED9FB5F76A}"/>
                  </a:ext>
                </a:extLst>
              </p:cNvPr>
              <p:cNvSpPr txBox="1"/>
              <p:nvPr/>
            </p:nvSpPr>
            <p:spPr>
              <a:xfrm flipH="1">
                <a:off x="636582" y="2952530"/>
                <a:ext cx="338951" cy="46118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Ⅴ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5923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프로젝트지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BC474CDB-8C5A-E1F5-5D78-898493C611FF}"/>
              </a:ext>
            </a:extLst>
          </p:cNvPr>
          <p:cNvGrpSpPr/>
          <p:nvPr userDrawn="1"/>
        </p:nvGrpSpPr>
        <p:grpSpPr>
          <a:xfrm>
            <a:off x="317654" y="667364"/>
            <a:ext cx="3754599" cy="351189"/>
            <a:chOff x="760846" y="854534"/>
            <a:chExt cx="3754599" cy="35118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69BA565-69A4-53DD-7398-05CBC54EF3C7}"/>
                </a:ext>
              </a:extLst>
            </p:cNvPr>
            <p:cNvSpPr txBox="1"/>
            <p:nvPr/>
          </p:nvSpPr>
          <p:spPr>
            <a:xfrm flipH="1">
              <a:off x="1130443" y="891629"/>
              <a:ext cx="338500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r>
                <a:rPr lang="ko-KR" altLang="en-US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프로젝트 지원</a:t>
              </a: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4F5821B7-D55F-4AD6-A6FF-1782A73739F6}"/>
                </a:ext>
              </a:extLst>
            </p:cNvPr>
            <p:cNvGrpSpPr/>
            <p:nvPr/>
          </p:nvGrpSpPr>
          <p:grpSpPr>
            <a:xfrm>
              <a:off x="760846" y="854534"/>
              <a:ext cx="324620" cy="351189"/>
              <a:chOff x="539750" y="2917808"/>
              <a:chExt cx="526237" cy="526236"/>
            </a:xfrm>
          </p:grpSpPr>
          <p:sp>
            <p:nvSpPr>
              <p:cNvPr id="20" name="모서리가 둥근 직사각형 4">
                <a:extLst>
                  <a:ext uri="{FF2B5EF4-FFF2-40B4-BE49-F238E27FC236}">
                    <a16:creationId xmlns:a16="http://schemas.microsoft.com/office/drawing/2014/main" id="{BF542827-4A27-0C13-7298-797FB82984DD}"/>
                  </a:ext>
                </a:extLst>
              </p:cNvPr>
              <p:cNvSpPr/>
              <p:nvPr/>
            </p:nvSpPr>
            <p:spPr>
              <a:xfrm>
                <a:off x="539750" y="2917808"/>
                <a:ext cx="526237" cy="526236"/>
              </a:xfrm>
              <a:prstGeom prst="roundRect">
                <a:avLst>
                  <a:gd name="adj" fmla="val 11229"/>
                </a:avLst>
              </a:prstGeom>
              <a:solidFill>
                <a:srgbClr val="00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ADE46A9-8018-90C3-76AE-BCA3952E19CA}"/>
                  </a:ext>
                </a:extLst>
              </p:cNvPr>
              <p:cNvSpPr txBox="1"/>
              <p:nvPr/>
            </p:nvSpPr>
            <p:spPr>
              <a:xfrm flipH="1">
                <a:off x="636582" y="2952530"/>
                <a:ext cx="338951" cy="46118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Ⅵ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59235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042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0222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각 삼각형 1">
            <a:extLst>
              <a:ext uri="{FF2B5EF4-FFF2-40B4-BE49-F238E27FC236}">
                <a16:creationId xmlns:a16="http://schemas.microsoft.com/office/drawing/2014/main" id="{BCBFB967-1E88-1EB1-DA0C-78B86404CC11}"/>
              </a:ext>
            </a:extLst>
          </p:cNvPr>
          <p:cNvSpPr/>
          <p:nvPr userDrawn="1"/>
        </p:nvSpPr>
        <p:spPr>
          <a:xfrm rot="16200000" flipV="1">
            <a:off x="-3970582" y="4405927"/>
            <a:ext cx="9902012" cy="1090159"/>
          </a:xfrm>
          <a:prstGeom prst="rtTriangle">
            <a:avLst/>
          </a:prstGeom>
          <a:solidFill>
            <a:srgbClr val="5B9BD5">
              <a:lumMod val="75000"/>
              <a:alpha val="49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 latinLnBrk="0"/>
            <a:endParaRPr lang="ko-KR" altLang="en-US" sz="1800" kern="0" dirty="0">
              <a:solidFill>
                <a:prstClr val="white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각 삼각형 2">
            <a:extLst>
              <a:ext uri="{FF2B5EF4-FFF2-40B4-BE49-F238E27FC236}">
                <a16:creationId xmlns:a16="http://schemas.microsoft.com/office/drawing/2014/main" id="{E7FD614D-FF5D-EE18-5A7C-835163C95EB8}"/>
              </a:ext>
            </a:extLst>
          </p:cNvPr>
          <p:cNvSpPr>
            <a:spLocks/>
          </p:cNvSpPr>
          <p:nvPr userDrawn="1"/>
        </p:nvSpPr>
        <p:spPr>
          <a:xfrm rot="16200000" flipV="1">
            <a:off x="-2010434" y="5824331"/>
            <a:ext cx="6531194" cy="1620180"/>
          </a:xfrm>
          <a:prstGeom prst="rtTriangle">
            <a:avLst/>
          </a:prstGeom>
          <a:solidFill>
            <a:srgbClr val="5B9BD5">
              <a:lumMod val="75000"/>
              <a:alpha val="49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 latinLnBrk="0"/>
            <a:endParaRPr lang="ko-KR" altLang="en-US" sz="1800" kern="0" dirty="0">
              <a:solidFill>
                <a:prstClr val="white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640E2E63-3B9A-F644-14C5-500745801AE4}"/>
              </a:ext>
            </a:extLst>
          </p:cNvPr>
          <p:cNvSpPr/>
          <p:nvPr userDrawn="1"/>
        </p:nvSpPr>
        <p:spPr>
          <a:xfrm rot="16200000" flipH="1" flipV="1">
            <a:off x="-4247834" y="4675443"/>
            <a:ext cx="9902012" cy="555113"/>
          </a:xfrm>
          <a:prstGeom prst="rtTriangle">
            <a:avLst/>
          </a:prstGeom>
          <a:solidFill>
            <a:srgbClr val="5B9BD5">
              <a:lumMod val="75000"/>
              <a:alpha val="49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 latinLnBrk="0"/>
            <a:endParaRPr lang="ko-KR" altLang="en-US" sz="1800" kern="0" dirty="0">
              <a:solidFill>
                <a:prstClr val="white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각 삼각형 4">
            <a:extLst>
              <a:ext uri="{FF2B5EF4-FFF2-40B4-BE49-F238E27FC236}">
                <a16:creationId xmlns:a16="http://schemas.microsoft.com/office/drawing/2014/main" id="{B202588F-84D8-0679-7BEB-12B85E66ADBC}"/>
              </a:ext>
            </a:extLst>
          </p:cNvPr>
          <p:cNvSpPr/>
          <p:nvPr userDrawn="1"/>
        </p:nvSpPr>
        <p:spPr>
          <a:xfrm rot="16200000" flipH="1" flipV="1">
            <a:off x="-3965260" y="4407922"/>
            <a:ext cx="9902012" cy="1090156"/>
          </a:xfrm>
          <a:prstGeom prst="rtTriangle">
            <a:avLst/>
          </a:prstGeom>
          <a:solidFill>
            <a:srgbClr val="5B9BD5">
              <a:lumMod val="75000"/>
              <a:alpha val="49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 latinLnBrk="0"/>
            <a:endParaRPr lang="ko-KR" altLang="en-US" sz="1800" kern="0" dirty="0">
              <a:solidFill>
                <a:prstClr val="white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각 삼각형 5">
            <a:extLst>
              <a:ext uri="{FF2B5EF4-FFF2-40B4-BE49-F238E27FC236}">
                <a16:creationId xmlns:a16="http://schemas.microsoft.com/office/drawing/2014/main" id="{5A538C62-551B-41A5-9107-5F3FE3A4CD53}"/>
              </a:ext>
            </a:extLst>
          </p:cNvPr>
          <p:cNvSpPr/>
          <p:nvPr userDrawn="1"/>
        </p:nvSpPr>
        <p:spPr>
          <a:xfrm rot="16200000" flipH="1" flipV="1">
            <a:off x="-3204966" y="3647629"/>
            <a:ext cx="8911447" cy="1620180"/>
          </a:xfrm>
          <a:prstGeom prst="rtTriangle">
            <a:avLst/>
          </a:prstGeom>
          <a:solidFill>
            <a:srgbClr val="5B9BD5">
              <a:lumMod val="75000"/>
              <a:alpha val="49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 latinLnBrk="0"/>
            <a:endParaRPr lang="ko-KR" altLang="en-US" sz="1800" kern="0" dirty="0">
              <a:solidFill>
                <a:prstClr val="white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A4E9128-B16B-BC8C-4AAA-9DC91B76BF44}"/>
              </a:ext>
            </a:extLst>
          </p:cNvPr>
          <p:cNvSpPr/>
          <p:nvPr userDrawn="1"/>
        </p:nvSpPr>
        <p:spPr bwMode="auto">
          <a:xfrm>
            <a:off x="692150" y="1722789"/>
            <a:ext cx="2016770" cy="7370671"/>
          </a:xfrm>
          <a:prstGeom prst="roundRect">
            <a:avLst/>
          </a:prstGeom>
          <a:solidFill>
            <a:sysClr val="window" lastClr="FFFFFF"/>
          </a:solidFill>
          <a:ln w="3810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100" b="1" kern="0">
              <a:solidFill>
                <a:prstClr val="black"/>
              </a:solidFill>
              <a:latin typeface="Arial" pitchFamily="34" charset="0"/>
              <a:ea typeface="휴먼둥근고딕"/>
            </a:endParaRPr>
          </a:p>
        </p:txBody>
      </p:sp>
      <p:pic>
        <p:nvPicPr>
          <p:cNvPr id="8" name="그림 28">
            <a:extLst>
              <a:ext uri="{FF2B5EF4-FFF2-40B4-BE49-F238E27FC236}">
                <a16:creationId xmlns:a16="http://schemas.microsoft.com/office/drawing/2014/main" id="{F708433B-019E-01EE-E936-F33E793BE9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584823">
            <a:off x="480713" y="1559994"/>
            <a:ext cx="258723" cy="18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8662AC8-50F1-9C36-6979-E5D8C6605B62}"/>
              </a:ext>
            </a:extLst>
          </p:cNvPr>
          <p:cNvCxnSpPr/>
          <p:nvPr userDrawn="1"/>
        </p:nvCxnSpPr>
        <p:spPr>
          <a:xfrm>
            <a:off x="1952836" y="0"/>
            <a:ext cx="0" cy="9904006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292100" sx="80000" sy="80000" algn="ctr" rotWithShape="0">
              <a:prstClr val="black">
                <a:alpha val="54000"/>
              </a:prstClr>
            </a:outerShdw>
          </a:effectLst>
        </p:spPr>
      </p:cxnSp>
      <p:grpSp>
        <p:nvGrpSpPr>
          <p:cNvPr id="13" name="그룹 27">
            <a:extLst>
              <a:ext uri="{FF2B5EF4-FFF2-40B4-BE49-F238E27FC236}">
                <a16:creationId xmlns:a16="http://schemas.microsoft.com/office/drawing/2014/main" id="{60D4C6E2-8B74-87FD-7070-75A65E643E6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745377" y="1965540"/>
            <a:ext cx="204798" cy="7019905"/>
            <a:chOff x="1933575" y="193675"/>
            <a:chExt cx="204788" cy="5375275"/>
          </a:xfrm>
        </p:grpSpPr>
        <p:pic>
          <p:nvPicPr>
            <p:cNvPr id="15" name="Picture 24" descr="악세사리">
              <a:extLst>
                <a:ext uri="{FF2B5EF4-FFF2-40B4-BE49-F238E27FC236}">
                  <a16:creationId xmlns:a16="http://schemas.microsoft.com/office/drawing/2014/main" id="{0F9AC09E-1607-7ECE-FB0F-857D80C0331E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39925" y="193675"/>
              <a:ext cx="198438" cy="5375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24" descr="악세사리">
              <a:extLst>
                <a:ext uri="{FF2B5EF4-FFF2-40B4-BE49-F238E27FC236}">
                  <a16:creationId xmlns:a16="http://schemas.microsoft.com/office/drawing/2014/main" id="{AD4C24E8-8A8F-E05E-5EA1-B11734822084}"/>
                </a:ext>
              </a:extLst>
            </p:cNvPr>
            <p:cNvPicPr preferRelativeResize="0">
              <a:picLocks noChangeAspect="1" noChangeArrowheads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33575" y="193675"/>
              <a:ext cx="198438" cy="5375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D702068-C81C-79CB-D592-E2748CB4D28D}"/>
              </a:ext>
            </a:extLst>
          </p:cNvPr>
          <p:cNvSpPr/>
          <p:nvPr userDrawn="1"/>
        </p:nvSpPr>
        <p:spPr bwMode="auto">
          <a:xfrm>
            <a:off x="1952836" y="0"/>
            <a:ext cx="4905164" cy="9904006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100" b="1" kern="0">
              <a:solidFill>
                <a:prstClr val="black"/>
              </a:solidFill>
              <a:latin typeface="Arial" pitchFamily="34" charset="0"/>
              <a:ea typeface="휴먼둥근고딕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D59CA0D-DA37-DCF9-97E2-FD33304E116E}"/>
              </a:ext>
            </a:extLst>
          </p:cNvPr>
          <p:cNvCxnSpPr/>
          <p:nvPr userDrawn="1"/>
        </p:nvCxnSpPr>
        <p:spPr>
          <a:xfrm>
            <a:off x="1944958" y="9093460"/>
            <a:ext cx="4905164" cy="0"/>
          </a:xfrm>
          <a:prstGeom prst="line">
            <a:avLst/>
          </a:prstGeom>
          <a:noFill/>
          <a:ln w="38100" cap="flat" cmpd="sng" algn="ctr">
            <a:solidFill>
              <a:srgbClr val="0063B4"/>
            </a:solidFill>
            <a:prstDash val="solid"/>
            <a:miter lim="800000"/>
          </a:ln>
          <a:effectLst/>
        </p:spPr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55A72AC-8592-3DC7-6445-64FBF034230B}"/>
              </a:ext>
            </a:extLst>
          </p:cNvPr>
          <p:cNvCxnSpPr/>
          <p:nvPr userDrawn="1"/>
        </p:nvCxnSpPr>
        <p:spPr>
          <a:xfrm>
            <a:off x="1952836" y="1722789"/>
            <a:ext cx="4905164" cy="0"/>
          </a:xfrm>
          <a:prstGeom prst="line">
            <a:avLst/>
          </a:prstGeom>
          <a:noFill/>
          <a:ln w="38100" cap="flat" cmpd="sng" algn="ctr">
            <a:solidFill>
              <a:srgbClr val="0063B4"/>
            </a:solidFill>
            <a:prstDash val="solid"/>
            <a:miter lim="800000"/>
          </a:ln>
          <a:effectLst/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61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나눔고딕" pitchFamily="50" charset="-127"/>
          <a:ea typeface="나눔고딕" pitchFamily="50" charset="-127"/>
          <a:cs typeface="나눔고딕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나눔고딕" pitchFamily="50" charset="-127"/>
          <a:ea typeface="나눔고딕" pitchFamily="50" charset="-127"/>
          <a:cs typeface="나눔고딕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나눔고딕" pitchFamily="50" charset="-127"/>
          <a:ea typeface="나눔고딕" pitchFamily="50" charset="-127"/>
          <a:cs typeface="나눔고딕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나눔고딕" pitchFamily="50" charset="-127"/>
          <a:ea typeface="나눔고딕" pitchFamily="50" charset="-127"/>
          <a:cs typeface="나눔고딕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나눔고딕" pitchFamily="50" charset="-127"/>
          <a:ea typeface="나눔고딕" pitchFamily="50" charset="-127"/>
          <a:cs typeface="나눔고딕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나눔고딕" pitchFamily="50" charset="-127"/>
          <a:ea typeface="나눔고딕" pitchFamily="50" charset="-127"/>
          <a:cs typeface="나눔고딕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나눔고딕" pitchFamily="50" charset="-127"/>
          <a:ea typeface="나눔고딕" pitchFamily="50" charset="-127"/>
          <a:cs typeface="나눔고딕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나눔고딕" pitchFamily="50" charset="-127"/>
          <a:ea typeface="나눔고딕" pitchFamily="50" charset="-127"/>
          <a:cs typeface="나눔고딕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각 삼각형 1">
            <a:extLst>
              <a:ext uri="{FF2B5EF4-FFF2-40B4-BE49-F238E27FC236}">
                <a16:creationId xmlns:a16="http://schemas.microsoft.com/office/drawing/2014/main" id="{3A9D4D58-03C6-9E96-61D4-B3475118EA43}"/>
              </a:ext>
            </a:extLst>
          </p:cNvPr>
          <p:cNvSpPr/>
          <p:nvPr userDrawn="1"/>
        </p:nvSpPr>
        <p:spPr>
          <a:xfrm rot="16200000" flipH="1" flipV="1">
            <a:off x="-4247834" y="4675443"/>
            <a:ext cx="9902012" cy="555113"/>
          </a:xfrm>
          <a:prstGeom prst="rtTriangle">
            <a:avLst/>
          </a:prstGeom>
          <a:solidFill>
            <a:srgbClr val="5B9BD5">
              <a:lumMod val="75000"/>
              <a:alpha val="49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 latinLnBrk="0"/>
            <a:endParaRPr lang="ko-KR" altLang="en-US" sz="1800" kern="0" dirty="0">
              <a:solidFill>
                <a:prstClr val="white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각 삼각형 2">
            <a:extLst>
              <a:ext uri="{FF2B5EF4-FFF2-40B4-BE49-F238E27FC236}">
                <a16:creationId xmlns:a16="http://schemas.microsoft.com/office/drawing/2014/main" id="{F54A31E7-555A-C075-8020-8E7A2B3A37BB}"/>
              </a:ext>
            </a:extLst>
          </p:cNvPr>
          <p:cNvSpPr/>
          <p:nvPr userDrawn="1"/>
        </p:nvSpPr>
        <p:spPr>
          <a:xfrm rot="16200000" flipH="1" flipV="1">
            <a:off x="-3965260" y="4407922"/>
            <a:ext cx="9902012" cy="1090156"/>
          </a:xfrm>
          <a:prstGeom prst="rtTriangle">
            <a:avLst/>
          </a:prstGeom>
          <a:solidFill>
            <a:srgbClr val="5B9BD5">
              <a:lumMod val="75000"/>
              <a:alpha val="49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 latinLnBrk="0"/>
            <a:endParaRPr lang="ko-KR" altLang="en-US" sz="1800" kern="0" dirty="0">
              <a:solidFill>
                <a:prstClr val="white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A3DBA029-5276-F63E-E135-8EA5DA1716BC}"/>
              </a:ext>
            </a:extLst>
          </p:cNvPr>
          <p:cNvSpPr/>
          <p:nvPr userDrawn="1"/>
        </p:nvSpPr>
        <p:spPr>
          <a:xfrm rot="16200000" flipH="1" flipV="1">
            <a:off x="-1021774" y="1464436"/>
            <a:ext cx="4545063" cy="1620180"/>
          </a:xfrm>
          <a:prstGeom prst="rtTriangle">
            <a:avLst/>
          </a:prstGeom>
          <a:solidFill>
            <a:srgbClr val="5B9BD5">
              <a:lumMod val="75000"/>
              <a:alpha val="49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 latinLnBrk="0"/>
            <a:endParaRPr lang="ko-KR" altLang="en-US" sz="1800" kern="0" dirty="0">
              <a:solidFill>
                <a:prstClr val="white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4C89040-799E-2823-E796-60613EDCFCC1}"/>
              </a:ext>
            </a:extLst>
          </p:cNvPr>
          <p:cNvSpPr/>
          <p:nvPr userDrawn="1"/>
        </p:nvSpPr>
        <p:spPr bwMode="auto">
          <a:xfrm>
            <a:off x="692150" y="3030712"/>
            <a:ext cx="2016770" cy="1260039"/>
          </a:xfrm>
          <a:prstGeom prst="roundRect">
            <a:avLst/>
          </a:prstGeom>
          <a:solidFill>
            <a:sysClr val="window" lastClr="FFFFFF"/>
          </a:solidFill>
          <a:ln w="3810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1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휴먼둥근고딕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3A1CAAE-4B68-7645-0336-5DD409CA2816}"/>
              </a:ext>
            </a:extLst>
          </p:cNvPr>
          <p:cNvCxnSpPr/>
          <p:nvPr userDrawn="1"/>
        </p:nvCxnSpPr>
        <p:spPr>
          <a:xfrm>
            <a:off x="1952836" y="0"/>
            <a:ext cx="0" cy="9904006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292100" sx="80000" sy="80000" algn="ctr" rotWithShape="0">
              <a:prstClr val="black">
                <a:alpha val="54000"/>
              </a:prstClr>
            </a:outerShdw>
          </a:effectLst>
        </p:spPr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9C97E462-AF4B-5AC5-55F9-C46E3A1E7739}"/>
              </a:ext>
            </a:extLst>
          </p:cNvPr>
          <p:cNvSpPr/>
          <p:nvPr userDrawn="1"/>
        </p:nvSpPr>
        <p:spPr bwMode="auto">
          <a:xfrm>
            <a:off x="1952836" y="0"/>
            <a:ext cx="4905164" cy="9904006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1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휴먼둥근고딕"/>
            </a:endParaRPr>
          </a:p>
        </p:txBody>
      </p: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075706D6-E56A-64D9-17A9-FB9754AD0B97}"/>
              </a:ext>
            </a:extLst>
          </p:cNvPr>
          <p:cNvSpPr/>
          <p:nvPr userDrawn="1"/>
        </p:nvSpPr>
        <p:spPr>
          <a:xfrm rot="10800000">
            <a:off x="1952833" y="4290750"/>
            <a:ext cx="4176503" cy="4622687"/>
          </a:xfrm>
          <a:prstGeom prst="round2SameRect">
            <a:avLst>
              <a:gd name="adj1" fmla="val 5862"/>
              <a:gd name="adj2" fmla="val 0"/>
            </a:avLst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F53F1F6-14B8-0E97-BF89-4D27C00A756B}"/>
              </a:ext>
            </a:extLst>
          </p:cNvPr>
          <p:cNvCxnSpPr/>
          <p:nvPr userDrawn="1"/>
        </p:nvCxnSpPr>
        <p:spPr>
          <a:xfrm>
            <a:off x="1952836" y="4290751"/>
            <a:ext cx="4905164" cy="0"/>
          </a:xfrm>
          <a:prstGeom prst="line">
            <a:avLst/>
          </a:prstGeom>
          <a:noFill/>
          <a:ln w="38100" cap="flat" cmpd="sng" algn="ctr">
            <a:solidFill>
              <a:srgbClr val="0063B4"/>
            </a:solidFill>
            <a:prstDash val="solid"/>
            <a:miter lim="800000"/>
          </a:ln>
          <a:effectLst/>
        </p:spPr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D5C24D1-7EBA-4E34-6425-1ED037BE7789}"/>
              </a:ext>
            </a:extLst>
          </p:cNvPr>
          <p:cNvCxnSpPr/>
          <p:nvPr userDrawn="1"/>
        </p:nvCxnSpPr>
        <p:spPr>
          <a:xfrm>
            <a:off x="1952836" y="3030712"/>
            <a:ext cx="4905164" cy="0"/>
          </a:xfrm>
          <a:prstGeom prst="line">
            <a:avLst/>
          </a:prstGeom>
          <a:noFill/>
          <a:ln w="38100" cap="flat" cmpd="sng" algn="ctr">
            <a:solidFill>
              <a:srgbClr val="0063B4"/>
            </a:solidFill>
            <a:prstDash val="solid"/>
            <a:miter lim="800000"/>
          </a:ln>
          <a:effectLst/>
        </p:spPr>
      </p:cxnSp>
      <p:grpSp>
        <p:nvGrpSpPr>
          <p:cNvPr id="11" name="그룹 27">
            <a:extLst>
              <a:ext uri="{FF2B5EF4-FFF2-40B4-BE49-F238E27FC236}">
                <a16:creationId xmlns:a16="http://schemas.microsoft.com/office/drawing/2014/main" id="{94131369-89C7-31E1-D4EF-DF87471E6AB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746510" y="193685"/>
            <a:ext cx="204798" cy="5375521"/>
            <a:chOff x="1933575" y="193675"/>
            <a:chExt cx="204788" cy="5375275"/>
          </a:xfrm>
        </p:grpSpPr>
        <p:pic>
          <p:nvPicPr>
            <p:cNvPr id="12" name="Picture 24" descr="악세사리">
              <a:extLst>
                <a:ext uri="{FF2B5EF4-FFF2-40B4-BE49-F238E27FC236}">
                  <a16:creationId xmlns:a16="http://schemas.microsoft.com/office/drawing/2014/main" id="{78E63848-C7B2-CC67-8B16-A53A488FFA01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39925" y="193675"/>
              <a:ext cx="198438" cy="5375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24" descr="악세사리">
              <a:extLst>
                <a:ext uri="{FF2B5EF4-FFF2-40B4-BE49-F238E27FC236}">
                  <a16:creationId xmlns:a16="http://schemas.microsoft.com/office/drawing/2014/main" id="{4807FE60-63C8-451A-7321-4D27A3AE41AE}"/>
                </a:ext>
              </a:extLst>
            </p:cNvPr>
            <p:cNvPicPr preferRelativeResize="0"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33575" y="193675"/>
              <a:ext cx="198438" cy="5375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4" name="그림 28">
            <a:extLst>
              <a:ext uri="{FF2B5EF4-FFF2-40B4-BE49-F238E27FC236}">
                <a16:creationId xmlns:a16="http://schemas.microsoft.com/office/drawing/2014/main" id="{0534E801-EFB1-FACB-8E41-0D4E92D640E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584823">
            <a:off x="480713" y="2867917"/>
            <a:ext cx="258723" cy="18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나눔고딕" pitchFamily="50" charset="-127"/>
          <a:ea typeface="나눔고딕" pitchFamily="50" charset="-127"/>
          <a:cs typeface="나눔고딕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나눔고딕" pitchFamily="50" charset="-127"/>
          <a:ea typeface="나눔고딕" pitchFamily="50" charset="-127"/>
          <a:cs typeface="나눔고딕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나눔고딕" pitchFamily="50" charset="-127"/>
          <a:ea typeface="나눔고딕" pitchFamily="50" charset="-127"/>
          <a:cs typeface="나눔고딕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나눔고딕" pitchFamily="50" charset="-127"/>
          <a:ea typeface="나눔고딕" pitchFamily="50" charset="-127"/>
          <a:cs typeface="나눔고딕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나눔고딕" pitchFamily="50" charset="-127"/>
          <a:ea typeface="나눔고딕" pitchFamily="50" charset="-127"/>
          <a:cs typeface="나눔고딕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나눔고딕" pitchFamily="50" charset="-127"/>
          <a:ea typeface="나눔고딕" pitchFamily="50" charset="-127"/>
          <a:cs typeface="나눔고딕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나눔고딕" pitchFamily="50" charset="-127"/>
          <a:ea typeface="나눔고딕" pitchFamily="50" charset="-127"/>
          <a:cs typeface="나눔고딕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나눔고딕" pitchFamily="50" charset="-127"/>
          <a:ea typeface="나눔고딕" pitchFamily="50" charset="-127"/>
          <a:cs typeface="나눔고딕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AEBBC2C-6DF7-0131-3B82-00BE3C7B77B1}"/>
              </a:ext>
            </a:extLst>
          </p:cNvPr>
          <p:cNvCxnSpPr>
            <a:endCxn id="12" idx="0"/>
          </p:cNvCxnSpPr>
          <p:nvPr userDrawn="1"/>
        </p:nvCxnSpPr>
        <p:spPr>
          <a:xfrm>
            <a:off x="0" y="1100572"/>
            <a:ext cx="6857999" cy="0"/>
          </a:xfrm>
          <a:prstGeom prst="line">
            <a:avLst/>
          </a:prstGeom>
          <a:noFill/>
          <a:ln w="38100" cap="flat" cmpd="sng" algn="ctr">
            <a:solidFill>
              <a:srgbClr val="0063B4"/>
            </a:solidFill>
            <a:prstDash val="solid"/>
            <a:miter lim="800000"/>
          </a:ln>
          <a:effectLst/>
        </p:spPr>
      </p:cxnSp>
      <p:sp>
        <p:nvSpPr>
          <p:cNvPr id="11" name="직각 삼각형 10">
            <a:extLst>
              <a:ext uri="{FF2B5EF4-FFF2-40B4-BE49-F238E27FC236}">
                <a16:creationId xmlns:a16="http://schemas.microsoft.com/office/drawing/2014/main" id="{43073476-896B-3D32-3E3E-FD4AD189150C}"/>
              </a:ext>
            </a:extLst>
          </p:cNvPr>
          <p:cNvSpPr/>
          <p:nvPr userDrawn="1"/>
        </p:nvSpPr>
        <p:spPr>
          <a:xfrm flipH="1" flipV="1">
            <a:off x="2132856" y="0"/>
            <a:ext cx="4725144" cy="740532"/>
          </a:xfrm>
          <a:prstGeom prst="rtTriangle">
            <a:avLst/>
          </a:prstGeom>
          <a:solidFill>
            <a:srgbClr val="5B9BD5">
              <a:lumMod val="75000"/>
              <a:alpha val="49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4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794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AA9C7722-338C-2915-5127-3B8D8D3EE10B}"/>
              </a:ext>
            </a:extLst>
          </p:cNvPr>
          <p:cNvSpPr/>
          <p:nvPr userDrawn="1"/>
        </p:nvSpPr>
        <p:spPr>
          <a:xfrm flipH="1" flipV="1">
            <a:off x="4689140" y="0"/>
            <a:ext cx="2168860" cy="1100572"/>
          </a:xfrm>
          <a:prstGeom prst="rtTriangle">
            <a:avLst/>
          </a:prstGeom>
          <a:solidFill>
            <a:srgbClr val="5B9BD5">
              <a:lumMod val="75000"/>
              <a:alpha val="49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4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794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504AFE-13EC-41F2-52BD-8A1DD6344BE5}"/>
              </a:ext>
            </a:extLst>
          </p:cNvPr>
          <p:cNvSpPr txBox="1"/>
          <p:nvPr userDrawn="1"/>
        </p:nvSpPr>
        <p:spPr>
          <a:xfrm>
            <a:off x="317654" y="273060"/>
            <a:ext cx="261103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41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00" b="1" dirty="0">
                <a:solidFill>
                  <a:srgbClr val="0067B1"/>
                </a:solidFill>
                <a:latin typeface="나눔고딕OTF ExtraBold" panose="020D0904000000000000" pitchFamily="34" charset="-127"/>
                <a:ea typeface="나눔고딕OTF ExtraBold" panose="020D0904000000000000" pitchFamily="34" charset="-127"/>
                <a:cs typeface="+mn-cs"/>
              </a:rPr>
              <a:t>SLA(Service-Level Agreement)</a:t>
            </a:r>
            <a:endParaRPr kumimoji="0" lang="ko-KR" altLang="en-US" sz="1400" b="1" dirty="0">
              <a:solidFill>
                <a:srgbClr val="0067B1"/>
              </a:solidFill>
              <a:latin typeface="나눔고딕OTF ExtraBold" panose="020D0904000000000000" pitchFamily="34" charset="-127"/>
              <a:ea typeface="나눔고딕OTF ExtraBold" panose="020D0904000000000000" pitchFamily="34" charset="-127"/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ED9409E0-7D43-93DD-E975-25F6B3C64C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29979" y="9597516"/>
            <a:ext cx="62706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 defTabSz="914341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00" b="0" dirty="0">
                <a:solidFill>
                  <a:srgbClr val="5F5F5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fld id="{A4DF5FF7-666A-4BA6-9F7C-43024BBFC0D7}" type="slidenum">
              <a:rPr kumimoji="0" lang="en-US" altLang="ko-KR" sz="900" b="0" smtClean="0">
                <a:solidFill>
                  <a:srgbClr val="5F5F5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pPr algn="ctr" defTabSz="914341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en-US" altLang="ko-KR" sz="900" b="0" dirty="0">
              <a:solidFill>
                <a:srgbClr val="5F5F5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5" r:id="rId2"/>
    <p:sldLayoutId id="2147483747" r:id="rId3"/>
    <p:sldLayoutId id="2147483748" r:id="rId4"/>
    <p:sldLayoutId id="2147483749" r:id="rId5"/>
    <p:sldLayoutId id="2147483750" r:id="rId6"/>
    <p:sldLayoutId id="2147483760" r:id="rId7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나눔고딕" pitchFamily="50" charset="-127"/>
          <a:ea typeface="나눔고딕" pitchFamily="50" charset="-127"/>
          <a:cs typeface="나눔고딕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나눔고딕" pitchFamily="50" charset="-127"/>
          <a:ea typeface="나눔고딕" pitchFamily="50" charset="-127"/>
          <a:cs typeface="나눔고딕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나눔고딕" pitchFamily="50" charset="-127"/>
          <a:ea typeface="나눔고딕" pitchFamily="50" charset="-127"/>
          <a:cs typeface="나눔고딕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나눔고딕" pitchFamily="50" charset="-127"/>
          <a:ea typeface="나눔고딕" pitchFamily="50" charset="-127"/>
          <a:cs typeface="나눔고딕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나눔고딕" pitchFamily="50" charset="-127"/>
          <a:ea typeface="나눔고딕" pitchFamily="50" charset="-127"/>
          <a:cs typeface="나눔고딕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나눔고딕" pitchFamily="50" charset="-127"/>
          <a:ea typeface="나눔고딕" pitchFamily="50" charset="-127"/>
          <a:cs typeface="나눔고딕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나눔고딕" pitchFamily="50" charset="-127"/>
          <a:ea typeface="나눔고딕" pitchFamily="50" charset="-127"/>
          <a:cs typeface="나눔고딕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나눔고딕" pitchFamily="50" charset="-127"/>
          <a:ea typeface="나눔고딕" pitchFamily="50" charset="-127"/>
          <a:cs typeface="나눔고딕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477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oleObject" Target="../embeddings/oleObject2.bin"/><Relationship Id="rId12" Type="http://schemas.openxmlformats.org/officeDocument/2006/relationships/image" Target="../media/image10.wmf"/><Relationship Id="rId2" Type="http://schemas.openxmlformats.org/officeDocument/2006/relationships/slideLayout" Target="../slideLayouts/slideLayout4.xml"/><Relationship Id="rId1" Type="http://schemas.openxmlformats.org/officeDocument/2006/relationships/video" Target="file:///D:\&#51228;&#54408;&#48156;&#54364;&#54924;%20&#48156;&#54364;&#50857;%20&#51088;&#47308;\CLIP0033.AVI" TargetMode="Externa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3.bin"/><Relationship Id="rId5" Type="http://schemas.openxmlformats.org/officeDocument/2006/relationships/oleObject" Target="../embeddings/oleObject1.bin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4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F5016E-47B4-D51A-42EB-B9D9B97F12EB}"/>
              </a:ext>
            </a:extLst>
          </p:cNvPr>
          <p:cNvSpPr txBox="1"/>
          <p:nvPr/>
        </p:nvSpPr>
        <p:spPr>
          <a:xfrm>
            <a:off x="0" y="2913017"/>
            <a:ext cx="685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itchFamily="2" charset="-127"/>
                <a:ea typeface="나눔고딕" pitchFamily="2" charset="-127"/>
                <a:cs typeface="+mn-cs"/>
              </a:rPr>
              <a:t>SLA(Service-Level Agreement)</a:t>
            </a:r>
            <a:endParaRPr kumimoji="0" lang="ko-KR" altLang="en-US" sz="2400" b="1" i="0" u="none" strike="noStrike" kern="120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itchFamily="2" charset="-127"/>
              <a:ea typeface="나눔고딕" pitchFamily="2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3A29DF-B61B-A1D4-73DB-E6E2679B6C38}"/>
              </a:ext>
            </a:extLst>
          </p:cNvPr>
          <p:cNvSpPr txBox="1"/>
          <p:nvPr/>
        </p:nvSpPr>
        <p:spPr>
          <a:xfrm>
            <a:off x="0" y="7977336"/>
            <a:ext cx="685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spc="-150" dirty="0">
                <a:latin typeface="나눔고딕" pitchFamily="2" charset="-127"/>
                <a:ea typeface="나눔고딕" pitchFamily="2" charset="-127"/>
              </a:rPr>
              <a:t>2023.      .      .</a:t>
            </a:r>
            <a:endParaRPr lang="ko-KR" altLang="en-US" sz="2000" spc="-15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0B6CB0-5731-C9CB-EF7F-30C1F2A0CA4D}"/>
              </a:ext>
            </a:extLst>
          </p:cNvPr>
          <p:cNvSpPr txBox="1"/>
          <p:nvPr/>
        </p:nvSpPr>
        <p:spPr>
          <a:xfrm>
            <a:off x="0" y="4105599"/>
            <a:ext cx="685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spc="-150" dirty="0">
                <a:latin typeface="나눔고딕" pitchFamily="2" charset="-127"/>
                <a:ea typeface="나눔고딕" pitchFamily="2" charset="-127"/>
              </a:rPr>
              <a:t>제안서</a:t>
            </a:r>
            <a:endParaRPr lang="en-US" altLang="ko-KR" sz="3200" spc="-150" dirty="0"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8596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10">
            <a:extLst>
              <a:ext uri="{FF2B5EF4-FFF2-40B4-BE49-F238E27FC236}">
                <a16:creationId xmlns:a16="http://schemas.microsoft.com/office/drawing/2014/main" id="{F5556317-BB65-EA43-78EE-C564551CF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91" r="12032" b="51622"/>
          <a:stretch>
            <a:fillRect/>
          </a:stretch>
        </p:blipFill>
        <p:spPr bwMode="auto">
          <a:xfrm>
            <a:off x="4098135" y="5830727"/>
            <a:ext cx="2538413" cy="125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" name="대각선 방향의 모서리가 둥근 사각형 88">
            <a:extLst>
              <a:ext uri="{FF2B5EF4-FFF2-40B4-BE49-F238E27FC236}">
                <a16:creationId xmlns:a16="http://schemas.microsoft.com/office/drawing/2014/main" id="{A5CED3F2-3B37-C252-B035-D8FFE699E185}"/>
              </a:ext>
            </a:extLst>
          </p:cNvPr>
          <p:cNvSpPr/>
          <p:nvPr/>
        </p:nvSpPr>
        <p:spPr bwMode="auto">
          <a:xfrm>
            <a:off x="298257" y="7858695"/>
            <a:ext cx="2740856" cy="328202"/>
          </a:xfrm>
          <a:prstGeom prst="round2DiagRect">
            <a:avLst/>
          </a:prstGeom>
          <a:solidFill>
            <a:srgbClr val="4296E4"/>
          </a:solidFill>
          <a:ln w="25400" cap="flat" cmpd="sng" algn="ctr">
            <a:noFill/>
            <a:prstDash val="solid"/>
          </a:ln>
          <a:effectLst/>
        </p:spPr>
        <p:txBody>
          <a:bodyPr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kern="0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책임과 의무</a:t>
            </a:r>
          </a:p>
        </p:txBody>
      </p:sp>
      <p:sp>
        <p:nvSpPr>
          <p:cNvPr id="30" name="대각선 방향의 모서리가 둥근 사각형 99">
            <a:extLst>
              <a:ext uri="{FF2B5EF4-FFF2-40B4-BE49-F238E27FC236}">
                <a16:creationId xmlns:a16="http://schemas.microsoft.com/office/drawing/2014/main" id="{32DEC786-1F91-852B-16E6-AB3534B17A9A}"/>
              </a:ext>
            </a:extLst>
          </p:cNvPr>
          <p:cNvSpPr/>
          <p:nvPr/>
        </p:nvSpPr>
        <p:spPr bwMode="auto">
          <a:xfrm flipH="1">
            <a:off x="3826650" y="7858695"/>
            <a:ext cx="2740853" cy="328202"/>
          </a:xfrm>
          <a:prstGeom prst="round2DiagRect">
            <a:avLst/>
          </a:prstGeom>
          <a:solidFill>
            <a:srgbClr val="4296E4"/>
          </a:solidFill>
          <a:ln w="25400" cap="flat" cmpd="sng" algn="ctr">
            <a:noFill/>
            <a:prstDash val="solid"/>
          </a:ln>
          <a:effectLst/>
        </p:spPr>
        <p:txBody>
          <a:bodyPr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kern="0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보고 및 회의</a:t>
            </a:r>
          </a:p>
        </p:txBody>
      </p:sp>
      <p:sp>
        <p:nvSpPr>
          <p:cNvPr id="31" name="대각선 방향의 모서리가 둥근 사각형 100">
            <a:extLst>
              <a:ext uri="{FF2B5EF4-FFF2-40B4-BE49-F238E27FC236}">
                <a16:creationId xmlns:a16="http://schemas.microsoft.com/office/drawing/2014/main" id="{12DCF0EC-0F23-9A9D-59ED-F589CD5536E8}"/>
              </a:ext>
            </a:extLst>
          </p:cNvPr>
          <p:cNvSpPr/>
          <p:nvPr/>
        </p:nvSpPr>
        <p:spPr bwMode="auto">
          <a:xfrm>
            <a:off x="298257" y="6764907"/>
            <a:ext cx="2740856" cy="328202"/>
          </a:xfrm>
          <a:prstGeom prst="round2DiagRect">
            <a:avLst/>
          </a:prstGeom>
          <a:solidFill>
            <a:srgbClr val="4296E4"/>
          </a:solidFill>
          <a:ln w="25400" cap="flat" cmpd="sng" algn="ctr">
            <a:noFill/>
            <a:prstDash val="solid"/>
          </a:ln>
          <a:effectLst/>
        </p:spPr>
        <p:txBody>
          <a:bodyPr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100" kern="0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SLA </a:t>
            </a:r>
            <a:r>
              <a:rPr kumimoji="1" lang="ko-KR" altLang="en-US" sz="1100" kern="0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관리</a:t>
            </a:r>
          </a:p>
        </p:txBody>
      </p:sp>
      <p:sp>
        <p:nvSpPr>
          <p:cNvPr id="32" name="대각선 방향의 모서리가 둥근 사각형 101">
            <a:extLst>
              <a:ext uri="{FF2B5EF4-FFF2-40B4-BE49-F238E27FC236}">
                <a16:creationId xmlns:a16="http://schemas.microsoft.com/office/drawing/2014/main" id="{E029C7FF-46E4-2BD0-AE69-ED65613109CF}"/>
              </a:ext>
            </a:extLst>
          </p:cNvPr>
          <p:cNvSpPr/>
          <p:nvPr/>
        </p:nvSpPr>
        <p:spPr bwMode="auto">
          <a:xfrm flipH="1">
            <a:off x="3826650" y="6764907"/>
            <a:ext cx="2740853" cy="328202"/>
          </a:xfrm>
          <a:prstGeom prst="round2DiagRect">
            <a:avLst/>
          </a:prstGeom>
          <a:solidFill>
            <a:srgbClr val="4296E4"/>
          </a:solidFill>
          <a:ln w="25400" cap="flat" cmpd="sng" algn="ctr">
            <a:noFill/>
            <a:prstDash val="solid"/>
          </a:ln>
          <a:effectLst/>
        </p:spPr>
        <p:txBody>
          <a:bodyPr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kern="0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계약조건</a:t>
            </a:r>
          </a:p>
        </p:txBody>
      </p:sp>
      <p:grpSp>
        <p:nvGrpSpPr>
          <p:cNvPr id="33" name="그룹 1">
            <a:extLst>
              <a:ext uri="{FF2B5EF4-FFF2-40B4-BE49-F238E27FC236}">
                <a16:creationId xmlns:a16="http://schemas.microsoft.com/office/drawing/2014/main" id="{DF57EF4C-4F2C-10C6-B0F2-B7B4B94C310D}"/>
              </a:ext>
            </a:extLst>
          </p:cNvPr>
          <p:cNvGrpSpPr>
            <a:grpSpLocks/>
          </p:cNvGrpSpPr>
          <p:nvPr/>
        </p:nvGrpSpPr>
        <p:grpSpPr bwMode="auto">
          <a:xfrm>
            <a:off x="2460860" y="6575716"/>
            <a:ext cx="1916113" cy="1905000"/>
            <a:chOff x="2526872" y="5819154"/>
            <a:chExt cx="1758950" cy="1905529"/>
          </a:xfrm>
        </p:grpSpPr>
        <p:grpSp>
          <p:nvGrpSpPr>
            <p:cNvPr id="34" name="그룹 126">
              <a:extLst>
                <a:ext uri="{FF2B5EF4-FFF2-40B4-BE49-F238E27FC236}">
                  <a16:creationId xmlns:a16="http://schemas.microsoft.com/office/drawing/2014/main" id="{9964E53A-D2AC-9BA9-7703-B38FF0B3C3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0372" y="5887948"/>
              <a:ext cx="1631950" cy="1767942"/>
              <a:chOff x="2536824" y="4835081"/>
              <a:chExt cx="1781176" cy="1781172"/>
            </a:xfrm>
          </p:grpSpPr>
          <p:grpSp>
            <p:nvGrpSpPr>
              <p:cNvPr id="39" name="그룹 100">
                <a:extLst>
                  <a:ext uri="{FF2B5EF4-FFF2-40B4-BE49-F238E27FC236}">
                    <a16:creationId xmlns:a16="http://schemas.microsoft.com/office/drawing/2014/main" id="{DBFD7CA3-1EC9-69CD-2C99-FF84AA6C1B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36824" y="4835081"/>
                <a:ext cx="1781176" cy="1781172"/>
                <a:chOff x="718448" y="7987549"/>
                <a:chExt cx="1116124" cy="1116124"/>
              </a:xfrm>
            </p:grpSpPr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201A7E22-DF53-E5FD-91F0-269DFDBAB481}"/>
                    </a:ext>
                  </a:extLst>
                </p:cNvPr>
                <p:cNvSpPr/>
                <p:nvPr/>
              </p:nvSpPr>
              <p:spPr bwMode="auto">
                <a:xfrm>
                  <a:off x="718448" y="7987549"/>
                  <a:ext cx="1116124" cy="1116124"/>
                </a:xfrm>
                <a:prstGeom prst="ellipse">
                  <a:avLst/>
                </a:prstGeom>
                <a:pattFill prst="dkDnDiag">
                  <a:fgClr>
                    <a:srgbClr val="0E79C2"/>
                  </a:fgClr>
                  <a:bgClr>
                    <a:srgbClr val="4CAFF2"/>
                  </a:bgClr>
                </a:pattFill>
                <a:ln w="25400" cap="flat" cmpd="sng" algn="ctr">
                  <a:solidFill>
                    <a:srgbClr val="FFFFFF"/>
                  </a:solidFill>
                  <a:prstDash val="solid"/>
                </a:ln>
                <a:effectLst>
                  <a:glow rad="76200">
                    <a:srgbClr val="FFFFFF">
                      <a:lumMod val="50000"/>
                      <a:alpha val="40000"/>
                    </a:srgbClr>
                  </a:glow>
                </a:effectLst>
              </p:spPr>
              <p:txBody>
                <a:bodyPr anchor="ctr"/>
                <a:lstStyle/>
                <a:p>
                  <a:pPr algn="ctr" fontAlgn="base" latinLnBrk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kumimoji="1" lang="ko-KR" altLang="en-US" sz="1100" kern="0" dirty="0">
                    <a:solidFill>
                      <a:srgbClr val="FFFFFF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42" name="타원 41">
                  <a:extLst>
                    <a:ext uri="{FF2B5EF4-FFF2-40B4-BE49-F238E27FC236}">
                      <a16:creationId xmlns:a16="http://schemas.microsoft.com/office/drawing/2014/main" id="{02D47209-D5C7-491F-4728-678014D93E97}"/>
                    </a:ext>
                  </a:extLst>
                </p:cNvPr>
                <p:cNvSpPr/>
                <p:nvPr/>
              </p:nvSpPr>
              <p:spPr bwMode="auto">
                <a:xfrm>
                  <a:off x="791630" y="8060407"/>
                  <a:ext cx="969761" cy="970408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 cmpd="sng" algn="ctr">
                  <a:solidFill>
                    <a:srgbClr val="0E79C2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 fontAlgn="base" latinLnBrk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kumimoji="1" lang="ko-KR" altLang="en-US" sz="1050" kern="0" dirty="0">
                    <a:solidFill>
                      <a:srgbClr val="FFFFFF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Arial" pitchFamily="34" charset="0"/>
                  </a:endParaRPr>
                </a:p>
              </p:txBody>
            </p:sp>
          </p:grpSp>
          <p:sp>
            <p:nvSpPr>
              <p:cNvPr id="40" name="Text Box 19">
                <a:extLst>
                  <a:ext uri="{FF2B5EF4-FFF2-40B4-BE49-F238E27FC236}">
                    <a16:creationId xmlns:a16="http://schemas.microsoft.com/office/drawing/2014/main" id="{1AF76945-9982-CBF8-2B41-0269E2F38C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62153" y="5523541"/>
                <a:ext cx="1708368" cy="465249"/>
              </a:xfrm>
              <a:prstGeom prst="rect">
                <a:avLst/>
              </a:prstGeom>
              <a:noFill/>
              <a:ln>
                <a:noFill/>
              </a:ln>
              <a:effectLst>
                <a:prstShdw prst="shdw17" dist="17961" dir="2700000">
                  <a:srgbClr val="808472"/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>
                <a:lvl1pPr eaLnBrk="0" hangingPunct="0">
                  <a:defRPr kumimoji="1" sz="1100" b="1">
                    <a:solidFill>
                      <a:schemeClr val="tx1"/>
                    </a:solidFill>
                    <a:latin typeface="Arial" pitchFamily="34" charset="0"/>
                    <a:ea typeface="휴먼둥근고딕"/>
                    <a:cs typeface="휴먼둥근고딕"/>
                  </a:defRPr>
                </a:lvl1pPr>
                <a:lvl2pPr marL="742950" indent="-285750" eaLnBrk="0" hangingPunct="0">
                  <a:defRPr kumimoji="1" sz="1100" b="1">
                    <a:solidFill>
                      <a:schemeClr val="tx1"/>
                    </a:solidFill>
                    <a:latin typeface="Arial" pitchFamily="34" charset="0"/>
                    <a:ea typeface="휴먼둥근고딕"/>
                    <a:cs typeface="휴먼둥근고딕"/>
                  </a:defRPr>
                </a:lvl2pPr>
                <a:lvl3pPr marL="1143000" indent="-228600" eaLnBrk="0" hangingPunct="0">
                  <a:defRPr kumimoji="1" sz="1100" b="1">
                    <a:solidFill>
                      <a:schemeClr val="tx1"/>
                    </a:solidFill>
                    <a:latin typeface="Arial" pitchFamily="34" charset="0"/>
                    <a:ea typeface="휴먼둥근고딕"/>
                    <a:cs typeface="휴먼둥근고딕"/>
                  </a:defRPr>
                </a:lvl3pPr>
                <a:lvl4pPr marL="1600200" indent="-228600" eaLnBrk="0" hangingPunct="0">
                  <a:defRPr kumimoji="1" sz="1100" b="1">
                    <a:solidFill>
                      <a:schemeClr val="tx1"/>
                    </a:solidFill>
                    <a:latin typeface="Arial" pitchFamily="34" charset="0"/>
                    <a:ea typeface="휴먼둥근고딕"/>
                    <a:cs typeface="휴먼둥근고딕"/>
                  </a:defRPr>
                </a:lvl4pPr>
                <a:lvl5pPr marL="2057400" indent="-228600" eaLnBrk="0" hangingPunct="0">
                  <a:defRPr kumimoji="1" sz="1100" b="1">
                    <a:solidFill>
                      <a:schemeClr val="tx1"/>
                    </a:solidFill>
                    <a:latin typeface="Arial" pitchFamily="34" charset="0"/>
                    <a:ea typeface="휴먼둥근고딕"/>
                    <a:cs typeface="휴먼둥근고딕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 b="1">
                    <a:solidFill>
                      <a:schemeClr val="tx1"/>
                    </a:solidFill>
                    <a:latin typeface="Arial" pitchFamily="34" charset="0"/>
                    <a:ea typeface="휴먼둥근고딕"/>
                    <a:cs typeface="휴먼둥근고딕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 b="1">
                    <a:solidFill>
                      <a:schemeClr val="tx1"/>
                    </a:solidFill>
                    <a:latin typeface="Arial" pitchFamily="34" charset="0"/>
                    <a:ea typeface="휴먼둥근고딕"/>
                    <a:cs typeface="휴먼둥근고딕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 b="1">
                    <a:solidFill>
                      <a:schemeClr val="tx1"/>
                    </a:solidFill>
                    <a:latin typeface="Arial" pitchFamily="34" charset="0"/>
                    <a:ea typeface="휴먼둥근고딕"/>
                    <a:cs typeface="휴먼둥근고딕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100" b="1">
                    <a:solidFill>
                      <a:schemeClr val="tx1"/>
                    </a:solidFill>
                    <a:latin typeface="Arial" pitchFamily="34" charset="0"/>
                    <a:ea typeface="휴먼둥근고딕"/>
                    <a:cs typeface="휴먼둥근고딕"/>
                  </a:defRPr>
                </a:lvl9pPr>
              </a:lstStyle>
              <a:p>
                <a:pPr algn="ctr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ko-KR" altLang="en-US" sz="1500" kern="0" dirty="0">
                    <a:solidFill>
                      <a:srgbClr val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Arial" pitchFamily="34" charset="0"/>
                  </a:rPr>
                  <a:t>서비스 수준</a:t>
                </a:r>
                <a:endParaRPr lang="en-US" altLang="ko-KR" sz="1500" kern="0" dirty="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endParaRPr>
              </a:p>
              <a:p>
                <a:pPr algn="ctr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ko-KR" altLang="en-US" sz="1500" kern="0" dirty="0">
                    <a:solidFill>
                      <a:srgbClr val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Arial" pitchFamily="34" charset="0"/>
                  </a:rPr>
                  <a:t>품질 향상</a:t>
                </a:r>
              </a:p>
            </p:txBody>
          </p:sp>
        </p:grpSp>
        <p:sp>
          <p:nvSpPr>
            <p:cNvPr id="35" name="원호 34">
              <a:extLst>
                <a:ext uri="{FF2B5EF4-FFF2-40B4-BE49-F238E27FC236}">
                  <a16:creationId xmlns:a16="http://schemas.microsoft.com/office/drawing/2014/main" id="{99426897-6A5A-F299-60FB-B220E464B611}"/>
                </a:ext>
              </a:extLst>
            </p:cNvPr>
            <p:cNvSpPr/>
            <p:nvPr/>
          </p:nvSpPr>
          <p:spPr>
            <a:xfrm>
              <a:off x="2526872" y="5819154"/>
              <a:ext cx="1758950" cy="1905529"/>
            </a:xfrm>
            <a:prstGeom prst="arc">
              <a:avLst>
                <a:gd name="adj1" fmla="val 716424"/>
                <a:gd name="adj2" fmla="val 6336919"/>
              </a:avLst>
            </a:prstGeom>
            <a:noFill/>
            <a:ln w="28575" cap="flat" cmpd="sng" algn="ctr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  <a:effectLst/>
          </p:spPr>
          <p:txBody>
            <a:bodyPr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100" ker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6" name="원호 35">
              <a:extLst>
                <a:ext uri="{FF2B5EF4-FFF2-40B4-BE49-F238E27FC236}">
                  <a16:creationId xmlns:a16="http://schemas.microsoft.com/office/drawing/2014/main" id="{94508014-F143-6CD4-A880-0B9AA7D96B0C}"/>
                </a:ext>
              </a:extLst>
            </p:cNvPr>
            <p:cNvSpPr/>
            <p:nvPr/>
          </p:nvSpPr>
          <p:spPr>
            <a:xfrm>
              <a:off x="2526872" y="5819154"/>
              <a:ext cx="1758950" cy="1905529"/>
            </a:xfrm>
            <a:prstGeom prst="arc">
              <a:avLst>
                <a:gd name="adj1" fmla="val 6682418"/>
                <a:gd name="adj2" fmla="val 10817908"/>
              </a:avLst>
            </a:prstGeom>
            <a:noFill/>
            <a:ln w="28575" cap="flat" cmpd="sng" algn="ctr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  <a:effectLst/>
          </p:spPr>
          <p:txBody>
            <a:bodyPr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100" ker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" name="원호 36">
              <a:extLst>
                <a:ext uri="{FF2B5EF4-FFF2-40B4-BE49-F238E27FC236}">
                  <a16:creationId xmlns:a16="http://schemas.microsoft.com/office/drawing/2014/main" id="{202FC380-5476-CD0F-3610-7740EF84E874}"/>
                </a:ext>
              </a:extLst>
            </p:cNvPr>
            <p:cNvSpPr/>
            <p:nvPr/>
          </p:nvSpPr>
          <p:spPr>
            <a:xfrm>
              <a:off x="2526872" y="5819154"/>
              <a:ext cx="1758950" cy="1905529"/>
            </a:xfrm>
            <a:prstGeom prst="arc">
              <a:avLst>
                <a:gd name="adj1" fmla="val 16583371"/>
                <a:gd name="adj2" fmla="val 347354"/>
              </a:avLst>
            </a:prstGeom>
            <a:noFill/>
            <a:ln w="28575" cap="flat" cmpd="sng" algn="ctr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  <a:effectLst/>
          </p:spPr>
          <p:txBody>
            <a:bodyPr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100" ker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" name="원호 37">
              <a:extLst>
                <a:ext uri="{FF2B5EF4-FFF2-40B4-BE49-F238E27FC236}">
                  <a16:creationId xmlns:a16="http://schemas.microsoft.com/office/drawing/2014/main" id="{030ACDC7-5B1F-6F0F-5C5F-E5562B6D56E0}"/>
                </a:ext>
              </a:extLst>
            </p:cNvPr>
            <p:cNvSpPr/>
            <p:nvPr/>
          </p:nvSpPr>
          <p:spPr>
            <a:xfrm>
              <a:off x="2526872" y="5819154"/>
              <a:ext cx="1758950" cy="1905529"/>
            </a:xfrm>
            <a:prstGeom prst="arc">
              <a:avLst>
                <a:gd name="adj1" fmla="val 11116772"/>
                <a:gd name="adj2" fmla="val 16079563"/>
              </a:avLst>
            </a:prstGeom>
            <a:noFill/>
            <a:ln w="28575" cap="flat" cmpd="sng" algn="ctr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  <a:effectLst/>
          </p:spPr>
          <p:txBody>
            <a:bodyPr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100" ker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43" name="Rectangle 188">
            <a:extLst>
              <a:ext uri="{FF2B5EF4-FFF2-40B4-BE49-F238E27FC236}">
                <a16:creationId xmlns:a16="http://schemas.microsoft.com/office/drawing/2014/main" id="{D572D204-EB2D-31AA-050D-CF2632DC3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04" y="7205422"/>
            <a:ext cx="2135653" cy="37446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defTabSz="847725" fontAlgn="base" latinLnBrk="0">
              <a:spcBef>
                <a:spcPct val="0"/>
              </a:spcBef>
              <a:spcAft>
                <a:spcPts val="400"/>
              </a:spcAft>
              <a:defRPr/>
            </a:pPr>
            <a:r>
              <a:rPr lang="ko-KR" altLang="en-US" sz="1050" dirty="0">
                <a:solidFill>
                  <a:srgbClr val="000000">
                    <a:lumMod val="75000"/>
                    <a:lumOff val="25000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 수준 설정 </a:t>
            </a:r>
            <a:r>
              <a:rPr lang="en-US" altLang="ko-KR" sz="1050" dirty="0">
                <a:solidFill>
                  <a:srgbClr val="000000">
                    <a:lumMod val="75000"/>
                    <a:lumOff val="25000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1050" dirty="0">
                <a:solidFill>
                  <a:srgbClr val="000000">
                    <a:lumMod val="75000"/>
                    <a:lumOff val="25000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 수준 관리</a:t>
            </a:r>
          </a:p>
          <a:p>
            <a:pPr defTabSz="847725" fontAlgn="base" latinLnBrk="0">
              <a:spcBef>
                <a:spcPct val="0"/>
              </a:spcBef>
              <a:spcAft>
                <a:spcPts val="400"/>
              </a:spcAft>
              <a:defRPr/>
            </a:pPr>
            <a:r>
              <a:rPr lang="ko-KR" altLang="en-US" sz="1050" dirty="0">
                <a:solidFill>
                  <a:srgbClr val="000000">
                    <a:lumMod val="75000"/>
                    <a:lumOff val="25000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 절차 </a:t>
            </a:r>
            <a:r>
              <a:rPr lang="en-US" altLang="ko-KR" sz="1050" dirty="0">
                <a:solidFill>
                  <a:srgbClr val="000000">
                    <a:lumMod val="75000"/>
                    <a:lumOff val="25000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1050" dirty="0">
                <a:solidFill>
                  <a:srgbClr val="000000">
                    <a:lumMod val="75000"/>
                    <a:lumOff val="25000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 수준 평가 방법</a:t>
            </a:r>
          </a:p>
        </p:txBody>
      </p:sp>
      <p:sp>
        <p:nvSpPr>
          <p:cNvPr id="44" name="Rectangle 188">
            <a:extLst>
              <a:ext uri="{FF2B5EF4-FFF2-40B4-BE49-F238E27FC236}">
                <a16:creationId xmlns:a16="http://schemas.microsoft.com/office/drawing/2014/main" id="{EF4A8B90-D036-6CFC-25FC-48409E578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0903" y="7205423"/>
            <a:ext cx="2135653" cy="37446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defTabSz="847725" latinLnBrk="0">
              <a:spcAft>
                <a:spcPts val="400"/>
              </a:spcAft>
            </a:pPr>
            <a:r>
              <a:rPr lang="ko-KR" altLang="en-US" sz="1050" dirty="0">
                <a:solidFill>
                  <a:srgbClr val="000000">
                    <a:lumMod val="75000"/>
                    <a:lumOff val="25000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계약문서 구성 </a:t>
            </a:r>
            <a:r>
              <a:rPr lang="en-US" altLang="ko-KR" sz="1050" dirty="0">
                <a:solidFill>
                  <a:srgbClr val="000000">
                    <a:lumMod val="75000"/>
                    <a:lumOff val="25000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1050" dirty="0">
                <a:solidFill>
                  <a:srgbClr val="000000">
                    <a:lumMod val="75000"/>
                    <a:lumOff val="25000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계약방법</a:t>
            </a:r>
          </a:p>
          <a:p>
            <a:pPr defTabSz="847725" latinLnBrk="0">
              <a:spcAft>
                <a:spcPts val="400"/>
              </a:spcAft>
            </a:pPr>
            <a:r>
              <a:rPr lang="ko-KR" altLang="en-US" sz="1050" dirty="0">
                <a:solidFill>
                  <a:srgbClr val="000000">
                    <a:lumMod val="75000"/>
                    <a:lumOff val="25000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기간</a:t>
            </a:r>
            <a:r>
              <a:rPr lang="en-US" altLang="ko-KR" sz="1050" dirty="0">
                <a:solidFill>
                  <a:srgbClr val="000000">
                    <a:lumMod val="75000"/>
                    <a:lumOff val="25000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050" dirty="0">
                <a:solidFill>
                  <a:srgbClr val="000000">
                    <a:lumMod val="75000"/>
                    <a:lumOff val="25000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금액 </a:t>
            </a:r>
            <a:r>
              <a:rPr lang="en-US" altLang="ko-KR" sz="1050" dirty="0">
                <a:solidFill>
                  <a:srgbClr val="000000">
                    <a:lumMod val="75000"/>
                    <a:lumOff val="25000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1050" dirty="0">
                <a:solidFill>
                  <a:srgbClr val="000000">
                    <a:lumMod val="75000"/>
                    <a:lumOff val="25000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및 정산 기준</a:t>
            </a:r>
          </a:p>
        </p:txBody>
      </p:sp>
      <p:sp>
        <p:nvSpPr>
          <p:cNvPr id="45" name="Rectangle 188">
            <a:extLst>
              <a:ext uri="{FF2B5EF4-FFF2-40B4-BE49-F238E27FC236}">
                <a16:creationId xmlns:a16="http://schemas.microsoft.com/office/drawing/2014/main" id="{6F33AC0D-6AFA-6766-EA46-2824C83AC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04" y="8286951"/>
            <a:ext cx="2321378" cy="37446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defTabSz="847725" latinLnBrk="0">
              <a:spcAft>
                <a:spcPts val="400"/>
              </a:spcAft>
            </a:pPr>
            <a:r>
              <a:rPr lang="ko-KR" altLang="en-US" sz="1050" dirty="0">
                <a:solidFill>
                  <a:srgbClr val="000000">
                    <a:lumMod val="75000"/>
                    <a:lumOff val="25000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업무분장 내용 </a:t>
            </a:r>
            <a:r>
              <a:rPr lang="en-US" altLang="ko-KR" sz="1050" dirty="0">
                <a:solidFill>
                  <a:srgbClr val="000000">
                    <a:lumMod val="75000"/>
                    <a:lumOff val="25000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1050" dirty="0">
                <a:solidFill>
                  <a:srgbClr val="000000">
                    <a:lumMod val="75000"/>
                    <a:lumOff val="25000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 지원 범위</a:t>
            </a:r>
          </a:p>
          <a:p>
            <a:pPr defTabSz="847725" latinLnBrk="0">
              <a:spcAft>
                <a:spcPts val="400"/>
              </a:spcAft>
            </a:pPr>
            <a:r>
              <a:rPr lang="ko-KR" altLang="en-US" sz="1050" dirty="0">
                <a:solidFill>
                  <a:srgbClr val="000000">
                    <a:lumMod val="75000"/>
                    <a:lumOff val="25000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 지원 내용 </a:t>
            </a:r>
            <a:r>
              <a:rPr lang="en-US" altLang="ko-KR" sz="1050" dirty="0">
                <a:solidFill>
                  <a:srgbClr val="000000">
                    <a:lumMod val="75000"/>
                    <a:lumOff val="25000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1050" dirty="0">
                <a:solidFill>
                  <a:srgbClr val="000000">
                    <a:lumMod val="75000"/>
                    <a:lumOff val="25000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상호의무 사항</a:t>
            </a:r>
          </a:p>
        </p:txBody>
      </p:sp>
      <p:sp>
        <p:nvSpPr>
          <p:cNvPr id="46" name="Rectangle 188">
            <a:extLst>
              <a:ext uri="{FF2B5EF4-FFF2-40B4-BE49-F238E27FC236}">
                <a16:creationId xmlns:a16="http://schemas.microsoft.com/office/drawing/2014/main" id="{4164F5DD-E8CE-91DE-206A-4D591905B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7835" y="8266260"/>
            <a:ext cx="2135653" cy="37446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defTabSz="847725" latinLnBrk="0">
              <a:spcAft>
                <a:spcPts val="400"/>
              </a:spcAft>
            </a:pPr>
            <a:r>
              <a:rPr lang="ko-KR" altLang="en-US" sz="1050" dirty="0">
                <a:solidFill>
                  <a:srgbClr val="000000">
                    <a:lumMod val="75000"/>
                    <a:lumOff val="25000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 지원 실적 보고</a:t>
            </a:r>
          </a:p>
          <a:p>
            <a:pPr defTabSz="847725" latinLnBrk="0">
              <a:spcAft>
                <a:spcPts val="400"/>
              </a:spcAft>
            </a:pPr>
            <a:r>
              <a:rPr lang="ko-KR" altLang="en-US" sz="1050" dirty="0">
                <a:solidFill>
                  <a:srgbClr val="000000">
                    <a:lumMod val="75000"/>
                    <a:lumOff val="25000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회의</a:t>
            </a:r>
          </a:p>
        </p:txBody>
      </p:sp>
      <p:sp>
        <p:nvSpPr>
          <p:cNvPr id="100" name="Text Box 37"/>
          <p:cNvSpPr txBox="1">
            <a:spLocks noChangeArrowheads="1"/>
          </p:cNvSpPr>
          <p:nvPr/>
        </p:nvSpPr>
        <p:spPr bwMode="auto">
          <a:xfrm>
            <a:off x="283952" y="1215900"/>
            <a:ext cx="6269248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1pPr>
            <a:lvl2pPr marL="742950" indent="-28575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2pPr>
            <a:lvl3pPr marL="11430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3pPr>
            <a:lvl4pPr marL="16002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4pPr>
            <a:lvl5pPr marL="20574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9pPr>
          </a:lstStyle>
          <a:p>
            <a:pPr eaLnBrk="1" latinLnBrk="0" hangingPunct="1">
              <a:lnSpc>
                <a:spcPct val="120000"/>
              </a:lnSpc>
              <a:defRPr/>
            </a:pP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나눔고딕" pitchFamily="2" charset="-127"/>
                <a:ea typeface="나눔고딕" pitchFamily="2" charset="-127"/>
                <a:cs typeface="Arial" pitchFamily="34" charset="0"/>
              </a:rPr>
              <a:t>1.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나눔고딕" pitchFamily="2" charset="-127"/>
                <a:ea typeface="나눔고딕" pitchFamily="2" charset="-127"/>
                <a:cs typeface="Arial" pitchFamily="34" charset="0"/>
              </a:rPr>
              <a:t>서비스 품질관리</a:t>
            </a:r>
            <a:endParaRPr lang="en-US" altLang="ko-KR" sz="1200" dirty="0">
              <a:solidFill>
                <a:srgbClr val="000000">
                  <a:lumMod val="75000"/>
                  <a:lumOff val="25000"/>
                </a:srgbClr>
              </a:solidFill>
              <a:latin typeface="나눔고딕" pitchFamily="2" charset="-127"/>
              <a:ea typeface="나눔고딕" pitchFamily="2" charset="-127"/>
              <a:cs typeface="Arial" pitchFamily="34" charset="0"/>
            </a:endParaRPr>
          </a:p>
          <a:p>
            <a:pPr eaLnBrk="1" latinLnBrk="0" hangingPunct="1">
              <a:lnSpc>
                <a:spcPct val="120000"/>
              </a:lnSpc>
              <a:defRPr/>
            </a:pP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나눔고딕" pitchFamily="2" charset="-127"/>
                <a:ea typeface="나눔고딕" pitchFamily="2" charset="-127"/>
                <a:cs typeface="Arial" pitchFamily="34" charset="0"/>
              </a:rPr>
              <a:t>1.1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나눔고딕" pitchFamily="2" charset="-127"/>
                <a:ea typeface="나눔고딕" pitchFamily="2" charset="-127"/>
                <a:cs typeface="Arial" pitchFamily="34" charset="0"/>
              </a:rPr>
              <a:t>개요</a:t>
            </a:r>
          </a:p>
        </p:txBody>
      </p:sp>
      <p:grpSp>
        <p:nvGrpSpPr>
          <p:cNvPr id="101" name="그룹 215"/>
          <p:cNvGrpSpPr>
            <a:grpSpLocks/>
          </p:cNvGrpSpPr>
          <p:nvPr/>
        </p:nvGrpSpPr>
        <p:grpSpPr bwMode="auto">
          <a:xfrm>
            <a:off x="296863" y="1627684"/>
            <a:ext cx="6219825" cy="1158780"/>
            <a:chOff x="333374" y="1849606"/>
            <a:chExt cx="6219826" cy="1159040"/>
          </a:xfrm>
        </p:grpSpPr>
        <p:sp>
          <p:nvSpPr>
            <p:cNvPr id="102" name="AutoShape 84"/>
            <p:cNvSpPr>
              <a:spLocks noChangeArrowheads="1"/>
            </p:cNvSpPr>
            <p:nvPr/>
          </p:nvSpPr>
          <p:spPr bwMode="auto">
            <a:xfrm>
              <a:off x="478588" y="2018243"/>
              <a:ext cx="5929399" cy="950794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1pPr>
              <a:lvl2pPr marL="742950" indent="-28575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2pPr>
              <a:lvl3pPr marL="1143000" indent="-2286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3pPr>
              <a:lvl4pPr marL="1600200" indent="-2286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4pPr>
              <a:lvl5pPr marL="2057400" indent="-2286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9pPr>
            </a:lstStyle>
            <a:p>
              <a:pPr algn="just" eaLnBrk="1" latinLnBrk="0" hangingPunct="1">
                <a:lnSpc>
                  <a:spcPct val="120000"/>
                </a:lnSpc>
                <a:spcAft>
                  <a:spcPts val="0"/>
                </a:spcAft>
                <a:defRPr/>
              </a:pP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나눔고딕" pitchFamily="2" charset="-127"/>
                  <a:ea typeface="나눔고딕" pitchFamily="2" charset="-127"/>
                  <a:cs typeface="Arial" pitchFamily="34" charset="0"/>
                </a:rPr>
                <a:t>서비스를 제공받는 업체에서는 적은 비용으로 보다 나은 서비스를 제공받기 원하고 제공받은 업체에서는 받는 비용만큼 만의 서비스를 제공하려고 한다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나눔고딕" pitchFamily="2" charset="-127"/>
                  <a:ea typeface="나눔고딕" pitchFamily="2" charset="-127"/>
                  <a:cs typeface="Arial" pitchFamily="34" charset="0"/>
                </a:rPr>
                <a:t>. </a:t>
              </a:r>
            </a:p>
            <a:p>
              <a:pPr algn="just" eaLnBrk="1" latinLnBrk="0" hangingPunct="1">
                <a:lnSpc>
                  <a:spcPct val="120000"/>
                </a:lnSpc>
                <a:spcAft>
                  <a:spcPts val="0"/>
                </a:spcAft>
                <a:defRPr/>
              </a:pP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나눔고딕" pitchFamily="2" charset="-127"/>
                  <a:ea typeface="나눔고딕" pitchFamily="2" charset="-127"/>
                  <a:cs typeface="Arial" pitchFamily="34" charset="0"/>
                </a:rPr>
                <a:t>이렇게 불 일치되는 서비스에 대한 수요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나눔고딕" pitchFamily="2" charset="-127"/>
                  <a:ea typeface="나눔고딕" pitchFamily="2" charset="-127"/>
                  <a:cs typeface="Arial" pitchFamily="34" charset="0"/>
                </a:rPr>
                <a:t>/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나눔고딕" pitchFamily="2" charset="-127"/>
                  <a:ea typeface="나눔고딕" pitchFamily="2" charset="-127"/>
                  <a:cs typeface="Arial" pitchFamily="34" charset="0"/>
                </a:rPr>
                <a:t>공급을 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나눔고딕" pitchFamily="2" charset="-127"/>
                  <a:ea typeface="나눔고딕" pitchFamily="2" charset="-127"/>
                  <a:cs typeface="Arial" pitchFamily="34" charset="0"/>
                </a:rPr>
                <a:t>Level 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나눔고딕" pitchFamily="2" charset="-127"/>
                  <a:ea typeface="나눔고딕" pitchFamily="2" charset="-127"/>
                  <a:cs typeface="Arial" pitchFamily="34" charset="0"/>
                </a:rPr>
                <a:t>화하여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나눔고딕" pitchFamily="2" charset="-127"/>
                  <a:ea typeface="나눔고딕" pitchFamily="2" charset="-127"/>
                  <a:cs typeface="Arial" pitchFamily="34" charset="0"/>
                </a:rPr>
                <a:t>, 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나눔고딕" pitchFamily="2" charset="-127"/>
                  <a:ea typeface="나눔고딕" pitchFamily="2" charset="-127"/>
                  <a:cs typeface="Arial" pitchFamily="34" charset="0"/>
                </a:rPr>
                <a:t>명확히 구분함으로써 책임과 권한을 명확히 하고 서로에 대한 이해를 넓히고자 하는 목적의 계약이 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나눔고딕" pitchFamily="2" charset="-127"/>
                  <a:ea typeface="나눔고딕" pitchFamily="2" charset="-127"/>
                  <a:cs typeface="Arial" pitchFamily="34" charset="0"/>
                </a:rPr>
                <a:t>SLA(Service Level Agreements)</a:t>
              </a:r>
            </a:p>
            <a:p>
              <a:pPr algn="just" eaLnBrk="1" latinLnBrk="0" hangingPunct="1">
                <a:lnSpc>
                  <a:spcPct val="120000"/>
                </a:lnSpc>
                <a:spcAft>
                  <a:spcPts val="0"/>
                </a:spcAft>
                <a:defRPr/>
              </a:pP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나눔고딕" pitchFamily="2" charset="-127"/>
                  <a:ea typeface="나눔고딕" pitchFamily="2" charset="-127"/>
                  <a:cs typeface="Arial" pitchFamily="34" charset="0"/>
                </a:rPr>
                <a:t>이다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나눔고딕" pitchFamily="2" charset="-127"/>
                  <a:ea typeface="나눔고딕" pitchFamily="2" charset="-127"/>
                  <a:cs typeface="Arial" pitchFamily="34" charset="0"/>
                </a:rPr>
                <a:t>. 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나눔고딕" pitchFamily="2" charset="-127"/>
                  <a:ea typeface="나눔고딕" pitchFamily="2" charset="-127"/>
                  <a:cs typeface="Arial" pitchFamily="34" charset="0"/>
                </a:rPr>
                <a:t>즉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나눔고딕" pitchFamily="2" charset="-127"/>
                  <a:ea typeface="나눔고딕" pitchFamily="2" charset="-127"/>
                  <a:cs typeface="Arial" pitchFamily="34" charset="0"/>
                </a:rPr>
                <a:t>, 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나눔고딕" pitchFamily="2" charset="-127"/>
                  <a:ea typeface="나눔고딕" pitchFamily="2" charset="-127"/>
                  <a:cs typeface="Arial" pitchFamily="34" charset="0"/>
                </a:rPr>
                <a:t>사용자와 서비스 제공자 양측간의 서비스 유형과 서비스 수준을 명확하게 하려고 한다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나눔고딕" pitchFamily="2" charset="-127"/>
                  <a:ea typeface="나눔고딕" pitchFamily="2" charset="-127"/>
                  <a:cs typeface="Arial" pitchFamily="34" charset="0"/>
                </a:rPr>
                <a:t>.</a:t>
              </a:r>
            </a:p>
          </p:txBody>
        </p:sp>
        <p:grpSp>
          <p:nvGrpSpPr>
            <p:cNvPr id="103" name="그룹 217"/>
            <p:cNvGrpSpPr>
              <a:grpSpLocks/>
            </p:cNvGrpSpPr>
            <p:nvPr/>
          </p:nvGrpSpPr>
          <p:grpSpPr bwMode="auto">
            <a:xfrm>
              <a:off x="333374" y="1849606"/>
              <a:ext cx="6219826" cy="1159040"/>
              <a:chOff x="342900" y="1822561"/>
              <a:chExt cx="6148388" cy="1159040"/>
            </a:xfrm>
          </p:grpSpPr>
          <p:cxnSp>
            <p:nvCxnSpPr>
              <p:cNvPr id="104" name="직선 연결선 103"/>
              <p:cNvCxnSpPr/>
              <p:nvPr/>
            </p:nvCxnSpPr>
            <p:spPr>
              <a:xfrm>
                <a:off x="342900" y="1905130"/>
                <a:ext cx="6148388" cy="0"/>
              </a:xfrm>
              <a:prstGeom prst="line">
                <a:avLst/>
              </a:prstGeom>
              <a:ln w="12700">
                <a:solidFill>
                  <a:srgbClr val="ADAD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 bwMode="auto">
              <a:xfrm>
                <a:off x="342900" y="1901954"/>
                <a:ext cx="0" cy="1079647"/>
              </a:xfrm>
              <a:prstGeom prst="line">
                <a:avLst/>
              </a:prstGeom>
              <a:ln w="12700">
                <a:solidFill>
                  <a:srgbClr val="ADAD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 bwMode="auto">
              <a:xfrm>
                <a:off x="6387716" y="1822561"/>
                <a:ext cx="103572" cy="80980"/>
              </a:xfrm>
              <a:prstGeom prst="line">
                <a:avLst/>
              </a:prstGeom>
              <a:ln w="12700">
                <a:solidFill>
                  <a:srgbClr val="ADAD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7" name="그룹 1"/>
          <p:cNvGrpSpPr>
            <a:grpSpLocks/>
          </p:cNvGrpSpPr>
          <p:nvPr/>
        </p:nvGrpSpPr>
        <p:grpSpPr bwMode="auto">
          <a:xfrm>
            <a:off x="292100" y="3044788"/>
            <a:ext cx="6270625" cy="385763"/>
            <a:chOff x="292100" y="2959098"/>
            <a:chExt cx="6270625" cy="385765"/>
          </a:xfrm>
        </p:grpSpPr>
        <p:grpSp>
          <p:nvGrpSpPr>
            <p:cNvPr id="108" name="그룹 107"/>
            <p:cNvGrpSpPr>
              <a:grpSpLocks/>
            </p:cNvGrpSpPr>
            <p:nvPr/>
          </p:nvGrpSpPr>
          <p:grpSpPr bwMode="auto">
            <a:xfrm>
              <a:off x="292100" y="2959098"/>
              <a:ext cx="6270625" cy="385765"/>
              <a:chOff x="334963" y="3573461"/>
              <a:chExt cx="6271218" cy="386316"/>
            </a:xfrm>
          </p:grpSpPr>
          <p:grpSp>
            <p:nvGrpSpPr>
              <p:cNvPr id="110" name="그룹 50"/>
              <p:cNvGrpSpPr>
                <a:grpSpLocks/>
              </p:cNvGrpSpPr>
              <p:nvPr/>
            </p:nvGrpSpPr>
            <p:grpSpPr bwMode="auto">
              <a:xfrm>
                <a:off x="334963" y="3573461"/>
                <a:ext cx="6271218" cy="262313"/>
                <a:chOff x="335633" y="3489640"/>
                <a:chExt cx="6270543" cy="262915"/>
              </a:xfrm>
            </p:grpSpPr>
            <p:sp>
              <p:nvSpPr>
                <p:cNvPr id="115" name="직사각형 262"/>
                <p:cNvSpPr>
                  <a:spLocks noChangeArrowheads="1"/>
                </p:cNvSpPr>
                <p:nvPr/>
              </p:nvSpPr>
              <p:spPr bwMode="auto">
                <a:xfrm>
                  <a:off x="335633" y="3489640"/>
                  <a:ext cx="6270543" cy="262915"/>
                </a:xfrm>
                <a:prstGeom prst="rect">
                  <a:avLst/>
                </a:prstGeom>
                <a:gradFill flip="none" rotWithShape="1">
                  <a:gsLst>
                    <a:gs pos="33000">
                      <a:srgbClr val="1295EE"/>
                    </a:gs>
                    <a:gs pos="0">
                      <a:srgbClr val="0B629D"/>
                    </a:gs>
                    <a:gs pos="12000">
                      <a:srgbClr val="0E76BC"/>
                    </a:gs>
                  </a:gsLst>
                  <a:lin ang="36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latinLnBrk="0">
                    <a:defRPr/>
                  </a:pPr>
                  <a:endParaRPr lang="ko-KR" altLang="en-US" sz="1000" dirty="0">
                    <a:solidFill>
                      <a:srgbClr val="FFFFFF"/>
                    </a:solidFill>
                    <a:cs typeface="Arial" pitchFamily="34" charset="0"/>
                  </a:endParaRPr>
                </a:p>
              </p:txBody>
            </p:sp>
            <p:cxnSp>
              <p:nvCxnSpPr>
                <p:cNvPr id="116" name="직선 연결선 26"/>
                <p:cNvCxnSpPr>
                  <a:cxnSpLocks noChangeShapeType="1"/>
                </p:cNvCxnSpPr>
                <p:nvPr/>
              </p:nvCxnSpPr>
              <p:spPr bwMode="auto">
                <a:xfrm>
                  <a:off x="553763" y="3618068"/>
                  <a:ext cx="138933" cy="0"/>
                </a:xfrm>
                <a:prstGeom prst="line">
                  <a:avLst/>
                </a:prstGeom>
                <a:noFill/>
                <a:ln w="12700" algn="ctr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17" name="Text Box 34"/>
                <p:cNvSpPr txBox="1">
                  <a:spLocks noChangeArrowheads="1"/>
                </p:cNvSpPr>
                <p:nvPr/>
              </p:nvSpPr>
              <p:spPr bwMode="gray">
                <a:xfrm>
                  <a:off x="764704" y="3535954"/>
                  <a:ext cx="5697056" cy="1699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0"/>
                  </a:sp3d>
                </a:bodyPr>
                <a:lstStyle>
                  <a:lvl1pPr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1pPr>
                  <a:lvl2pPr marL="742950" indent="-28575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2pPr>
                  <a:lvl3pPr marL="11430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3pPr>
                  <a:lvl4pPr marL="16002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4pPr>
                  <a:lvl5pPr marL="20574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5pPr>
                  <a:lvl6pPr marL="25146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6pPr>
                  <a:lvl7pPr marL="29718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7pPr>
                  <a:lvl8pPr marL="34290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8pPr>
                  <a:lvl9pPr marL="38862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9pPr>
                </a:lstStyle>
                <a:p>
                  <a:pPr eaLnBrk="1" latinLnBrk="0" hangingPunct="1">
                    <a:defRPr/>
                  </a:pPr>
                  <a:r>
                    <a:rPr lang="ko-KR" altLang="en-US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나눔고딕" pitchFamily="2" charset="-127"/>
                      <a:ea typeface="나눔고딕" pitchFamily="2" charset="-127"/>
                      <a:cs typeface="Arial" pitchFamily="34" charset="0"/>
                    </a:rPr>
                    <a:t>개요</a:t>
                  </a:r>
                </a:p>
              </p:txBody>
            </p:sp>
          </p:grpSp>
          <p:grpSp>
            <p:nvGrpSpPr>
              <p:cNvPr id="111" name="그룹 207"/>
              <p:cNvGrpSpPr>
                <a:grpSpLocks/>
              </p:cNvGrpSpPr>
              <p:nvPr/>
            </p:nvGrpSpPr>
            <p:grpSpPr bwMode="auto">
              <a:xfrm>
                <a:off x="1048569" y="3850655"/>
                <a:ext cx="5375678" cy="109122"/>
                <a:chOff x="1048569" y="3850655"/>
                <a:chExt cx="5375678" cy="109122"/>
              </a:xfrm>
            </p:grpSpPr>
            <p:pic>
              <p:nvPicPr>
                <p:cNvPr id="112" name="Picture 24" descr="악세사리"/>
                <p:cNvPicPr preferRelativeResize="0"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3" name="Picture 24" descr="악세사리"/>
                <p:cNvPicPr preferRelativeResize="0"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4" name="Picture 24" descr="악세사리"/>
                <p:cNvPicPr preferRelativeResize="0"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pic>
          <p:nvPicPr>
            <p:cNvPr id="109" name="Picture 184" descr="icon_a01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94" t="64084" r="6964" b="26581"/>
            <a:stretch>
              <a:fillRect/>
            </a:stretch>
          </p:blipFill>
          <p:spPr bwMode="auto">
            <a:xfrm>
              <a:off x="339725" y="2992438"/>
              <a:ext cx="169863" cy="18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5" name="직사각형 134"/>
          <p:cNvSpPr/>
          <p:nvPr/>
        </p:nvSpPr>
        <p:spPr bwMode="auto">
          <a:xfrm>
            <a:off x="296863" y="4792984"/>
            <a:ext cx="1565275" cy="925513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lang="ko-KR" altLang="en-US" sz="1050"/>
          </a:p>
        </p:txBody>
      </p:sp>
      <p:sp>
        <p:nvSpPr>
          <p:cNvPr id="136" name="직사각형 135"/>
          <p:cNvSpPr/>
          <p:nvPr/>
        </p:nvSpPr>
        <p:spPr bwMode="auto">
          <a:xfrm>
            <a:off x="3429000" y="4792984"/>
            <a:ext cx="1565275" cy="925513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lang="ko-KR" altLang="en-US" sz="1050"/>
          </a:p>
        </p:txBody>
      </p:sp>
      <p:sp>
        <p:nvSpPr>
          <p:cNvPr id="137" name="Text Box 316"/>
          <p:cNvSpPr txBox="1">
            <a:spLocks noChangeArrowheads="1"/>
          </p:cNvSpPr>
          <p:nvPr/>
        </p:nvSpPr>
        <p:spPr bwMode="gray">
          <a:xfrm>
            <a:off x="366839" y="5177340"/>
            <a:ext cx="1425919" cy="31547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2pPr marL="95250" lvl="1" indent="-95250" defTabSz="444500" latinLnBrk="0">
              <a:buClr>
                <a:schemeClr val="tx1"/>
              </a:buClr>
              <a:buSzPct val="100000"/>
              <a:buFont typeface="Arial" pitchFamily="34" charset="0"/>
              <a:buChar char="•"/>
              <a:defRPr sz="900">
                <a:latin typeface="나눔고딕" pitchFamily="18" charset="-127"/>
                <a:ea typeface="나눔고딕" pitchFamily="18" charset="-127"/>
              </a:defRPr>
            </a:lvl2pPr>
            <a:lvl3pPr marL="201613" lvl="2" indent="-106363" defTabSz="444500" latinLnBrk="0">
              <a:buClr>
                <a:schemeClr val="tx1"/>
              </a:buClr>
              <a:buSzPct val="100000"/>
              <a:buFont typeface="나눔고딕" pitchFamily="18" charset="-127"/>
              <a:buChar char="-"/>
              <a:defRPr sz="900">
                <a:latin typeface="나눔고딕" pitchFamily="18" charset="-127"/>
                <a:ea typeface="나눔고딕" pitchFamily="18" charset="-127"/>
              </a:defRPr>
            </a:lvl3pPr>
          </a:lstStyle>
          <a:p>
            <a:pPr lvl="1">
              <a:spcAft>
                <a:spcPts val="300"/>
              </a:spcAft>
              <a:buClr>
                <a:schemeClr val="tx1">
                  <a:lumMod val="75000"/>
                  <a:lumOff val="25000"/>
                </a:schemeClr>
              </a:buClr>
              <a:defRPr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2" charset="-127"/>
                <a:ea typeface="나눔고딕" pitchFamily="2" charset="-127"/>
              </a:rPr>
              <a:t> 서비스 내용</a:t>
            </a:r>
          </a:p>
          <a:p>
            <a:pPr lvl="1">
              <a:spcAft>
                <a:spcPts val="300"/>
              </a:spcAft>
              <a:buClr>
                <a:schemeClr val="tx1">
                  <a:lumMod val="75000"/>
                  <a:lumOff val="25000"/>
                </a:schemeClr>
              </a:buClr>
              <a:defRPr/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2" charset="-127"/>
                <a:ea typeface="나눔고딕" pitchFamily="2" charset="-127"/>
              </a:rPr>
              <a:t> 상호 책임사항</a:t>
            </a:r>
          </a:p>
        </p:txBody>
      </p:sp>
      <p:sp>
        <p:nvSpPr>
          <p:cNvPr id="138" name="Text Box 316"/>
          <p:cNvSpPr txBox="1">
            <a:spLocks noChangeArrowheads="1"/>
          </p:cNvSpPr>
          <p:nvPr/>
        </p:nvSpPr>
        <p:spPr bwMode="gray">
          <a:xfrm>
            <a:off x="1932991" y="5177340"/>
            <a:ext cx="1425919" cy="31547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2pPr marL="95250" lvl="1" indent="-95250" defTabSz="444500" latinLnBrk="0">
              <a:spcAft>
                <a:spcPts val="3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itchFamily="34" charset="0"/>
              <a:buChar char="•"/>
              <a:defRPr sz="1000" b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90603020101020101" pitchFamily="18" charset="-127"/>
                <a:ea typeface="나눔고딕" panose="02090603020101020101" pitchFamily="18" charset="-127"/>
              </a:defRPr>
            </a:lvl2pPr>
            <a:lvl3pPr marL="201613" lvl="2" indent="-106363" defTabSz="444500" latinLnBrk="0">
              <a:buClr>
                <a:schemeClr val="tx1"/>
              </a:buClr>
              <a:buSzPct val="100000"/>
              <a:buFont typeface="나눔고딕" pitchFamily="18" charset="-127"/>
              <a:buChar char="-"/>
              <a:defRPr sz="900">
                <a:latin typeface="나눔고딕" pitchFamily="18" charset="-127"/>
                <a:ea typeface="나눔고딕" pitchFamily="18" charset="-127"/>
              </a:defRPr>
            </a:lvl3pPr>
          </a:lstStyle>
          <a:p>
            <a:pPr lvl="1">
              <a:defRPr/>
            </a:pPr>
            <a:r>
              <a:rPr lang="ko-KR" altLang="en-US" sz="900" b="1" dirty="0">
                <a:latin typeface="나눔고딕" pitchFamily="2" charset="-127"/>
                <a:ea typeface="나눔고딕" pitchFamily="2" charset="-127"/>
              </a:rPr>
              <a:t> 서비스 수준 설정</a:t>
            </a:r>
          </a:p>
          <a:p>
            <a:pPr lvl="1">
              <a:defRPr/>
            </a:pPr>
            <a:r>
              <a:rPr lang="ko-KR" altLang="en-US" sz="900" b="1" dirty="0">
                <a:latin typeface="나눔고딕" pitchFamily="2" charset="-127"/>
                <a:ea typeface="나눔고딕" pitchFamily="2" charset="-127"/>
              </a:rPr>
              <a:t> 적용</a:t>
            </a:r>
            <a:r>
              <a:rPr lang="en-US" altLang="ko-KR" sz="900" b="1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900" b="1" dirty="0">
                <a:latin typeface="나눔고딕" pitchFamily="2" charset="-127"/>
                <a:ea typeface="나눔고딕" pitchFamily="2" charset="-127"/>
              </a:rPr>
              <a:t>예외사항</a:t>
            </a:r>
          </a:p>
        </p:txBody>
      </p:sp>
      <p:sp>
        <p:nvSpPr>
          <p:cNvPr id="139" name="Text Box 316"/>
          <p:cNvSpPr txBox="1">
            <a:spLocks noChangeArrowheads="1"/>
          </p:cNvSpPr>
          <p:nvPr/>
        </p:nvSpPr>
        <p:spPr bwMode="gray">
          <a:xfrm>
            <a:off x="3499143" y="5177340"/>
            <a:ext cx="1425919" cy="31547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2pPr marL="95250" lvl="1" indent="-95250" defTabSz="444500" latinLnBrk="0">
              <a:spcAft>
                <a:spcPts val="3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itchFamily="34" charset="0"/>
              <a:buChar char="•"/>
              <a:defRPr sz="1000" b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90603020101020101" pitchFamily="18" charset="-127"/>
                <a:ea typeface="나눔고딕" panose="02090603020101020101" pitchFamily="18" charset="-127"/>
              </a:defRPr>
            </a:lvl2pPr>
            <a:lvl3pPr marL="201613" lvl="2" indent="-106363" defTabSz="444500" latinLnBrk="0">
              <a:buClr>
                <a:schemeClr val="tx1"/>
              </a:buClr>
              <a:buSzPct val="100000"/>
              <a:buFont typeface="나눔고딕" pitchFamily="18" charset="-127"/>
              <a:buChar char="-"/>
              <a:defRPr sz="900">
                <a:latin typeface="나눔고딕" pitchFamily="18" charset="-127"/>
                <a:ea typeface="나눔고딕" pitchFamily="18" charset="-127"/>
              </a:defRPr>
            </a:lvl3pPr>
          </a:lstStyle>
          <a:p>
            <a:pPr lvl="1">
              <a:defRPr/>
            </a:pPr>
            <a:r>
              <a:rPr lang="ko-KR" altLang="en-US" sz="900" b="1" dirty="0">
                <a:latin typeface="나눔고딕" pitchFamily="2" charset="-127"/>
                <a:ea typeface="나눔고딕" pitchFamily="2" charset="-127"/>
              </a:rPr>
              <a:t> 대가</a:t>
            </a:r>
            <a:r>
              <a:rPr lang="en-US" altLang="ko-KR" sz="900" b="1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900" b="1" dirty="0">
                <a:latin typeface="나눔고딕" pitchFamily="2" charset="-127"/>
                <a:ea typeface="나눔고딕" pitchFamily="2" charset="-127"/>
              </a:rPr>
              <a:t>지불방법</a:t>
            </a:r>
          </a:p>
          <a:p>
            <a:pPr lvl="1">
              <a:defRPr/>
            </a:pPr>
            <a:r>
              <a:rPr lang="ko-KR" altLang="en-US" sz="900" b="1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900" b="1" dirty="0">
                <a:latin typeface="나눔고딕" pitchFamily="2" charset="-127"/>
                <a:ea typeface="나눔고딕" pitchFamily="2" charset="-127"/>
              </a:rPr>
              <a:t>Penalty, Reward</a:t>
            </a:r>
          </a:p>
        </p:txBody>
      </p:sp>
      <p:sp>
        <p:nvSpPr>
          <p:cNvPr id="140" name="Text Box 316"/>
          <p:cNvSpPr txBox="1">
            <a:spLocks noChangeArrowheads="1"/>
          </p:cNvSpPr>
          <p:nvPr/>
        </p:nvSpPr>
        <p:spPr bwMode="gray">
          <a:xfrm>
            <a:off x="5065296" y="5177340"/>
            <a:ext cx="1425919" cy="31547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2pPr marL="95250" lvl="1" indent="-95250" defTabSz="444500" latinLnBrk="0">
              <a:spcAft>
                <a:spcPts val="3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itchFamily="34" charset="0"/>
              <a:buChar char="•"/>
              <a:defRPr sz="1000" b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90603020101020101" pitchFamily="18" charset="-127"/>
                <a:ea typeface="나눔고딕" panose="02090603020101020101" pitchFamily="18" charset="-127"/>
              </a:defRPr>
            </a:lvl2pPr>
            <a:lvl3pPr marL="201613" lvl="2" indent="-106363" defTabSz="444500" latinLnBrk="0">
              <a:buClr>
                <a:schemeClr val="tx1"/>
              </a:buClr>
              <a:buSzPct val="100000"/>
              <a:buFont typeface="나눔고딕" pitchFamily="18" charset="-127"/>
              <a:buChar char="-"/>
              <a:defRPr sz="900">
                <a:latin typeface="나눔고딕" pitchFamily="18" charset="-127"/>
                <a:ea typeface="나눔고딕" pitchFamily="18" charset="-127"/>
              </a:defRPr>
            </a:lvl3pPr>
          </a:lstStyle>
          <a:p>
            <a:pPr lvl="1">
              <a:defRPr/>
            </a:pPr>
            <a:r>
              <a:rPr lang="ko-KR" altLang="en-US" sz="900" b="1" dirty="0">
                <a:latin typeface="나눔고딕" pitchFamily="2" charset="-127"/>
                <a:ea typeface="나눔고딕" pitchFamily="2" charset="-127"/>
              </a:rPr>
              <a:t> 관리 협의 체제</a:t>
            </a:r>
          </a:p>
          <a:p>
            <a:pPr lvl="1">
              <a:defRPr/>
            </a:pPr>
            <a:r>
              <a:rPr lang="ko-KR" altLang="en-US" sz="900" b="1" dirty="0">
                <a:latin typeface="나눔고딕" pitchFamily="2" charset="-127"/>
                <a:ea typeface="나눔고딕" pitchFamily="2" charset="-127"/>
              </a:rPr>
              <a:t> 계약기간</a:t>
            </a:r>
          </a:p>
        </p:txBody>
      </p:sp>
      <p:sp>
        <p:nvSpPr>
          <p:cNvPr id="141" name="직사각형 153"/>
          <p:cNvSpPr>
            <a:spLocks noChangeArrowheads="1"/>
          </p:cNvSpPr>
          <p:nvPr/>
        </p:nvSpPr>
        <p:spPr bwMode="auto">
          <a:xfrm flipV="1">
            <a:off x="296863" y="4792984"/>
            <a:ext cx="1565270" cy="36513"/>
          </a:xfrm>
          <a:prstGeom prst="rect">
            <a:avLst/>
          </a:prstGeom>
          <a:solidFill>
            <a:srgbClr val="007C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9525" defTabSz="1393825" eaLnBrk="0" hangingPunct="0"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1pPr>
            <a:lvl2pPr marL="742950" indent="-285750" defTabSz="1393825" eaLnBrk="0" hangingPunct="0"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2pPr>
            <a:lvl3pPr marL="1143000" indent="-228600" defTabSz="1393825" eaLnBrk="0" hangingPunct="0"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3pPr>
            <a:lvl4pPr marL="1600200" indent="-228600" defTabSz="1393825" eaLnBrk="0" hangingPunct="0"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4pPr>
            <a:lvl5pPr marL="2057400" indent="-228600" defTabSz="1393825" eaLnBrk="0" hangingPunct="0"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5pPr>
            <a:lvl6pPr marL="2514600" indent="-228600" defTabSz="1393825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6pPr>
            <a:lvl7pPr marL="2971800" indent="-228600" defTabSz="1393825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7pPr>
            <a:lvl8pPr marL="3429000" indent="-228600" defTabSz="1393825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8pPr>
            <a:lvl9pPr marL="3886200" indent="-228600" defTabSz="1393825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9pPr>
          </a:lstStyle>
          <a:p>
            <a:pPr latinLnBrk="0">
              <a:lnSpc>
                <a:spcPts val="1200"/>
              </a:lnSpc>
              <a:buClr>
                <a:srgbClr val="003366"/>
              </a:buClr>
              <a:buSzPct val="65000"/>
            </a:pPr>
            <a:endParaRPr lang="ko-KR" altLang="en-US" sz="1050">
              <a:solidFill>
                <a:srgbClr val="FFFFFF"/>
              </a:solidFill>
              <a:latin typeface="나눔고딕" charset="-127"/>
            </a:endParaRPr>
          </a:p>
        </p:txBody>
      </p:sp>
      <p:sp>
        <p:nvSpPr>
          <p:cNvPr id="142" name="직사각형 154"/>
          <p:cNvSpPr>
            <a:spLocks noChangeArrowheads="1"/>
          </p:cNvSpPr>
          <p:nvPr/>
        </p:nvSpPr>
        <p:spPr bwMode="auto">
          <a:xfrm flipV="1">
            <a:off x="1863730" y="4792984"/>
            <a:ext cx="1565270" cy="36513"/>
          </a:xfrm>
          <a:prstGeom prst="rect">
            <a:avLst/>
          </a:prstGeom>
          <a:solidFill>
            <a:srgbClr val="53B5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9525" defTabSz="1393825" eaLnBrk="0" hangingPunct="0"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1pPr>
            <a:lvl2pPr marL="742950" indent="-285750" defTabSz="1393825" eaLnBrk="0" hangingPunct="0"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2pPr>
            <a:lvl3pPr marL="1143000" indent="-228600" defTabSz="1393825" eaLnBrk="0" hangingPunct="0"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3pPr>
            <a:lvl4pPr marL="1600200" indent="-228600" defTabSz="1393825" eaLnBrk="0" hangingPunct="0"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4pPr>
            <a:lvl5pPr marL="2057400" indent="-228600" defTabSz="1393825" eaLnBrk="0" hangingPunct="0"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5pPr>
            <a:lvl6pPr marL="2514600" indent="-228600" defTabSz="1393825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6pPr>
            <a:lvl7pPr marL="2971800" indent="-228600" defTabSz="1393825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7pPr>
            <a:lvl8pPr marL="3429000" indent="-228600" defTabSz="1393825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8pPr>
            <a:lvl9pPr marL="3886200" indent="-228600" defTabSz="1393825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9pPr>
          </a:lstStyle>
          <a:p>
            <a:pPr latinLnBrk="0">
              <a:lnSpc>
                <a:spcPts val="1200"/>
              </a:lnSpc>
              <a:buClr>
                <a:srgbClr val="003366"/>
              </a:buClr>
              <a:buSzPct val="65000"/>
            </a:pPr>
            <a:endParaRPr lang="ko-KR" altLang="en-US" sz="1050">
              <a:solidFill>
                <a:srgbClr val="FFFFFF"/>
              </a:solidFill>
              <a:latin typeface="나눔고딕" charset="-127"/>
            </a:endParaRPr>
          </a:p>
        </p:txBody>
      </p:sp>
      <p:sp>
        <p:nvSpPr>
          <p:cNvPr id="143" name="직사각형 155"/>
          <p:cNvSpPr>
            <a:spLocks noChangeArrowheads="1"/>
          </p:cNvSpPr>
          <p:nvPr/>
        </p:nvSpPr>
        <p:spPr bwMode="auto">
          <a:xfrm flipV="1">
            <a:off x="3429000" y="4792984"/>
            <a:ext cx="1565270" cy="36513"/>
          </a:xfrm>
          <a:prstGeom prst="rect">
            <a:avLst/>
          </a:prstGeom>
          <a:solidFill>
            <a:srgbClr val="007C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9525" defTabSz="1393825" eaLnBrk="0" hangingPunct="0"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1pPr>
            <a:lvl2pPr marL="742950" indent="-285750" defTabSz="1393825" eaLnBrk="0" hangingPunct="0"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2pPr>
            <a:lvl3pPr marL="1143000" indent="-228600" defTabSz="1393825" eaLnBrk="0" hangingPunct="0"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3pPr>
            <a:lvl4pPr marL="1600200" indent="-228600" defTabSz="1393825" eaLnBrk="0" hangingPunct="0"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4pPr>
            <a:lvl5pPr marL="2057400" indent="-228600" defTabSz="1393825" eaLnBrk="0" hangingPunct="0"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5pPr>
            <a:lvl6pPr marL="2514600" indent="-228600" defTabSz="1393825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6pPr>
            <a:lvl7pPr marL="2971800" indent="-228600" defTabSz="1393825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7pPr>
            <a:lvl8pPr marL="3429000" indent="-228600" defTabSz="1393825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8pPr>
            <a:lvl9pPr marL="3886200" indent="-228600" defTabSz="1393825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9pPr>
          </a:lstStyle>
          <a:p>
            <a:pPr latinLnBrk="0">
              <a:lnSpc>
                <a:spcPts val="1200"/>
              </a:lnSpc>
              <a:buClr>
                <a:srgbClr val="003366"/>
              </a:buClr>
              <a:buSzPct val="65000"/>
            </a:pPr>
            <a:endParaRPr lang="ko-KR" altLang="en-US" sz="1050">
              <a:solidFill>
                <a:srgbClr val="FFFFFF"/>
              </a:solidFill>
              <a:latin typeface="나눔고딕" charset="-127"/>
            </a:endParaRPr>
          </a:p>
        </p:txBody>
      </p:sp>
      <p:sp>
        <p:nvSpPr>
          <p:cNvPr id="144" name="직사각형 156"/>
          <p:cNvSpPr>
            <a:spLocks noChangeArrowheads="1"/>
          </p:cNvSpPr>
          <p:nvPr/>
        </p:nvSpPr>
        <p:spPr bwMode="auto">
          <a:xfrm flipV="1">
            <a:off x="4995868" y="4792984"/>
            <a:ext cx="1565270" cy="36513"/>
          </a:xfrm>
          <a:prstGeom prst="rect">
            <a:avLst/>
          </a:prstGeom>
          <a:solidFill>
            <a:srgbClr val="53B5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9525" defTabSz="1393825" eaLnBrk="0" hangingPunct="0"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1pPr>
            <a:lvl2pPr marL="742950" indent="-285750" defTabSz="1393825" eaLnBrk="0" hangingPunct="0"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2pPr>
            <a:lvl3pPr marL="1143000" indent="-228600" defTabSz="1393825" eaLnBrk="0" hangingPunct="0"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3pPr>
            <a:lvl4pPr marL="1600200" indent="-228600" defTabSz="1393825" eaLnBrk="0" hangingPunct="0"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4pPr>
            <a:lvl5pPr marL="2057400" indent="-228600" defTabSz="1393825" eaLnBrk="0" hangingPunct="0"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5pPr>
            <a:lvl6pPr marL="2514600" indent="-228600" defTabSz="1393825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6pPr>
            <a:lvl7pPr marL="2971800" indent="-228600" defTabSz="1393825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7pPr>
            <a:lvl8pPr marL="3429000" indent="-228600" defTabSz="1393825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8pPr>
            <a:lvl9pPr marL="3886200" indent="-228600" defTabSz="1393825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charset="0"/>
                <a:ea typeface="나눔고딕"/>
                <a:cs typeface="나눔고딕"/>
              </a:defRPr>
            </a:lvl9pPr>
          </a:lstStyle>
          <a:p>
            <a:pPr latinLnBrk="0">
              <a:lnSpc>
                <a:spcPts val="1200"/>
              </a:lnSpc>
              <a:buClr>
                <a:srgbClr val="003366"/>
              </a:buClr>
              <a:buSzPct val="65000"/>
            </a:pPr>
            <a:endParaRPr lang="ko-KR" altLang="en-US" sz="1050">
              <a:solidFill>
                <a:srgbClr val="FFFFFF"/>
              </a:solidFill>
              <a:latin typeface="나눔고딕" charset="-127"/>
            </a:endParaRPr>
          </a:p>
        </p:txBody>
      </p:sp>
      <p:grpSp>
        <p:nvGrpSpPr>
          <p:cNvPr id="151" name="Group 187"/>
          <p:cNvGrpSpPr>
            <a:grpSpLocks/>
          </p:cNvGrpSpPr>
          <p:nvPr/>
        </p:nvGrpSpPr>
        <p:grpSpPr bwMode="auto">
          <a:xfrm rot="-5400000">
            <a:off x="3186127" y="3573315"/>
            <a:ext cx="485749" cy="5283200"/>
            <a:chOff x="1983" y="2096"/>
            <a:chExt cx="335" cy="1720"/>
          </a:xfrm>
        </p:grpSpPr>
        <p:sp>
          <p:nvSpPr>
            <p:cNvPr id="152" name="AutoShape 188"/>
            <p:cNvSpPr>
              <a:spLocks/>
            </p:cNvSpPr>
            <p:nvPr/>
          </p:nvSpPr>
          <p:spPr bwMode="gray">
            <a:xfrm flipH="1">
              <a:off x="2027" y="2096"/>
              <a:ext cx="291" cy="1720"/>
            </a:xfrm>
            <a:prstGeom prst="leftBrace">
              <a:avLst>
                <a:gd name="adj1" fmla="val 130116"/>
                <a:gd name="adj2" fmla="val 50000"/>
              </a:avLst>
            </a:prstGeom>
            <a:gradFill rotWithShape="1">
              <a:gsLst>
                <a:gs pos="0">
                  <a:srgbClr val="DDDDDD"/>
                </a:gs>
                <a:gs pos="100000">
                  <a:srgbClr val="F5F6F5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b="1" kern="1200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b="1" kern="1200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b="1" kern="1200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b="1" kern="1200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b="1" kern="1200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5pPr>
              <a:lvl6pPr marL="2286000" algn="l" defTabSz="914400" rtl="0" eaLnBrk="1" latinLnBrk="1" hangingPunct="1">
                <a:defRPr kumimoji="1" sz="1100" b="1" kern="1200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6pPr>
              <a:lvl7pPr marL="2743200" algn="l" defTabSz="914400" rtl="0" eaLnBrk="1" latinLnBrk="1" hangingPunct="1">
                <a:defRPr kumimoji="1" sz="1100" b="1" kern="1200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7pPr>
              <a:lvl8pPr marL="3200400" algn="l" defTabSz="914400" rtl="0" eaLnBrk="1" latinLnBrk="1" hangingPunct="1">
                <a:defRPr kumimoji="1" sz="1100" b="1" kern="1200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8pPr>
              <a:lvl9pPr marL="3657600" algn="l" defTabSz="914400" rtl="0" eaLnBrk="1" latinLnBrk="1" hangingPunct="1">
                <a:defRPr kumimoji="1" sz="1100" b="1" kern="1200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ko-KR" altLang="ko-KR" sz="2000" dirty="0">
                <a:latin typeface="나눔고딕" pitchFamily="2" charset="-127"/>
              </a:endParaRPr>
            </a:p>
          </p:txBody>
        </p:sp>
        <p:sp>
          <p:nvSpPr>
            <p:cNvPr id="153" name="AutoShape 189"/>
            <p:cNvSpPr>
              <a:spLocks/>
            </p:cNvSpPr>
            <p:nvPr/>
          </p:nvSpPr>
          <p:spPr bwMode="gray">
            <a:xfrm flipH="1">
              <a:off x="1983" y="2096"/>
              <a:ext cx="291" cy="1720"/>
            </a:xfrm>
            <a:prstGeom prst="leftBrace">
              <a:avLst>
                <a:gd name="adj1" fmla="val 130116"/>
                <a:gd name="adj2" fmla="val 50000"/>
              </a:avLst>
            </a:prstGeom>
            <a:gradFill rotWithShape="1">
              <a:gsLst>
                <a:gs pos="0">
                  <a:srgbClr val="B2B2B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b="1" kern="1200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b="1" kern="1200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b="1" kern="1200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b="1" kern="1200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b="1" kern="1200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5pPr>
              <a:lvl6pPr marL="2286000" algn="l" defTabSz="914400" rtl="0" eaLnBrk="1" latinLnBrk="1" hangingPunct="1">
                <a:defRPr kumimoji="1" sz="1100" b="1" kern="1200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6pPr>
              <a:lvl7pPr marL="2743200" algn="l" defTabSz="914400" rtl="0" eaLnBrk="1" latinLnBrk="1" hangingPunct="1">
                <a:defRPr kumimoji="1" sz="1100" b="1" kern="1200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7pPr>
              <a:lvl8pPr marL="3200400" algn="l" defTabSz="914400" rtl="0" eaLnBrk="1" latinLnBrk="1" hangingPunct="1">
                <a:defRPr kumimoji="1" sz="1100" b="1" kern="1200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8pPr>
              <a:lvl9pPr marL="3657600" algn="l" defTabSz="914400" rtl="0" eaLnBrk="1" latinLnBrk="1" hangingPunct="1">
                <a:defRPr kumimoji="1" sz="1100" b="1" kern="1200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ko-KR" altLang="ko-KR" sz="2000" dirty="0">
                <a:latin typeface="나눔고딕" pitchFamily="2" charset="-127"/>
              </a:endParaRPr>
            </a:p>
          </p:txBody>
        </p:sp>
      </p:grpSp>
      <p:grpSp>
        <p:nvGrpSpPr>
          <p:cNvPr id="75" name="그룹 51"/>
          <p:cNvGrpSpPr>
            <a:grpSpLocks/>
          </p:cNvGrpSpPr>
          <p:nvPr/>
        </p:nvGrpSpPr>
        <p:grpSpPr bwMode="auto">
          <a:xfrm>
            <a:off x="226277" y="4592960"/>
            <a:ext cx="250222" cy="249702"/>
            <a:chOff x="443706" y="7755654"/>
            <a:chExt cx="523952" cy="523952"/>
          </a:xfrm>
        </p:grpSpPr>
        <p:sp>
          <p:nvSpPr>
            <p:cNvPr id="76" name="눈물 방울 75"/>
            <p:cNvSpPr/>
            <p:nvPr/>
          </p:nvSpPr>
          <p:spPr bwMode="auto">
            <a:xfrm rot="8100000">
              <a:off x="443706" y="7755654"/>
              <a:ext cx="523865" cy="523136"/>
            </a:xfrm>
            <a:prstGeom prst="teardrop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latinLnBrk="0">
                <a:defRPr/>
              </a:pPr>
              <a:endParaRPr lang="ko-KR" altLang="en-US" sz="1000" dirty="0">
                <a:latin typeface="나눔고딕" pitchFamily="2" charset="-127"/>
                <a:cs typeface="Arial" pitchFamily="34" charset="0"/>
              </a:endParaRPr>
            </a:p>
          </p:txBody>
        </p:sp>
        <p:grpSp>
          <p:nvGrpSpPr>
            <p:cNvPr id="77" name="그룹 4"/>
            <p:cNvGrpSpPr>
              <a:grpSpLocks/>
            </p:cNvGrpSpPr>
            <p:nvPr/>
          </p:nvGrpSpPr>
          <p:grpSpPr bwMode="auto">
            <a:xfrm>
              <a:off x="490314" y="7800839"/>
              <a:ext cx="430737" cy="430737"/>
              <a:chOff x="1348654" y="4685337"/>
              <a:chExt cx="993388" cy="993388"/>
            </a:xfrm>
          </p:grpSpPr>
          <p:sp>
            <p:nvSpPr>
              <p:cNvPr id="78" name="타원 77"/>
              <p:cNvSpPr/>
              <p:nvPr/>
            </p:nvSpPr>
            <p:spPr>
              <a:xfrm>
                <a:off x="1348654" y="4685337"/>
                <a:ext cx="993388" cy="9933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63500" dist="50800" dir="16200000">
                  <a:schemeClr val="tx1">
                    <a:lumMod val="75000"/>
                    <a:lumOff val="25000"/>
                    <a:alpha val="5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050"/>
              </a:p>
            </p:txBody>
          </p:sp>
          <p:sp>
            <p:nvSpPr>
              <p:cNvPr id="79" name="직사각형 43"/>
              <p:cNvSpPr>
                <a:spLocks noChangeArrowheads="1"/>
              </p:cNvSpPr>
              <p:nvPr/>
            </p:nvSpPr>
            <p:spPr bwMode="auto">
              <a:xfrm>
                <a:off x="1363991" y="4809681"/>
                <a:ext cx="962713" cy="744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>
                <a:lvl1pPr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algn="ctr" latinLnBrk="0">
                  <a:defRPr/>
                </a:pPr>
                <a:r>
                  <a:rPr lang="en-US" altLang="ko-KR" sz="1000" dirty="0">
                    <a:effectLst>
                      <a:glow rad="228600">
                        <a:prstClr val="white">
                          <a:alpha val="40000"/>
                        </a:prstClr>
                      </a:glow>
                    </a:effectLst>
                    <a:latin typeface="나눔고딕" pitchFamily="2" charset="-127"/>
                    <a:ea typeface="나눔고딕" pitchFamily="2" charset="-127"/>
                  </a:rPr>
                  <a:t>01</a:t>
                </a:r>
                <a:endParaRPr lang="ko-KR" altLang="en-US" sz="1000" dirty="0">
                  <a:effectLst>
                    <a:glow rad="228600">
                      <a:prstClr val="white">
                        <a:alpha val="40000"/>
                      </a:prstClr>
                    </a:glow>
                  </a:effectLst>
                  <a:latin typeface="나눔고딕" pitchFamily="2" charset="-127"/>
                  <a:ea typeface="나눔고딕" pitchFamily="2" charset="-127"/>
                </a:endParaRPr>
              </a:p>
            </p:txBody>
          </p:sp>
        </p:grpSp>
      </p:grpSp>
      <p:grpSp>
        <p:nvGrpSpPr>
          <p:cNvPr id="80" name="그룹 51"/>
          <p:cNvGrpSpPr>
            <a:grpSpLocks/>
          </p:cNvGrpSpPr>
          <p:nvPr/>
        </p:nvGrpSpPr>
        <p:grpSpPr bwMode="auto">
          <a:xfrm>
            <a:off x="1804969" y="4592960"/>
            <a:ext cx="250222" cy="249702"/>
            <a:chOff x="443706" y="7755654"/>
            <a:chExt cx="523952" cy="523952"/>
          </a:xfrm>
        </p:grpSpPr>
        <p:sp>
          <p:nvSpPr>
            <p:cNvPr id="81" name="눈물 방울 80"/>
            <p:cNvSpPr/>
            <p:nvPr/>
          </p:nvSpPr>
          <p:spPr bwMode="auto">
            <a:xfrm rot="8100000">
              <a:off x="443706" y="7755654"/>
              <a:ext cx="523865" cy="523136"/>
            </a:xfrm>
            <a:prstGeom prst="teardrop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latinLnBrk="0">
                <a:defRPr/>
              </a:pPr>
              <a:endParaRPr lang="ko-KR" altLang="en-US" sz="1000" dirty="0">
                <a:latin typeface="나눔고딕" pitchFamily="2" charset="-127"/>
                <a:cs typeface="Arial" pitchFamily="34" charset="0"/>
              </a:endParaRPr>
            </a:p>
          </p:txBody>
        </p:sp>
        <p:grpSp>
          <p:nvGrpSpPr>
            <p:cNvPr id="82" name="그룹 4"/>
            <p:cNvGrpSpPr>
              <a:grpSpLocks/>
            </p:cNvGrpSpPr>
            <p:nvPr/>
          </p:nvGrpSpPr>
          <p:grpSpPr bwMode="auto">
            <a:xfrm>
              <a:off x="490314" y="7800839"/>
              <a:ext cx="430737" cy="430737"/>
              <a:chOff x="1348654" y="4685337"/>
              <a:chExt cx="993388" cy="993388"/>
            </a:xfrm>
          </p:grpSpPr>
          <p:sp>
            <p:nvSpPr>
              <p:cNvPr id="83" name="타원 82"/>
              <p:cNvSpPr/>
              <p:nvPr/>
            </p:nvSpPr>
            <p:spPr>
              <a:xfrm>
                <a:off x="1348654" y="4685337"/>
                <a:ext cx="993388" cy="9933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63500" dist="50800" dir="16200000">
                  <a:schemeClr val="tx1">
                    <a:lumMod val="75000"/>
                    <a:lumOff val="25000"/>
                    <a:alpha val="5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050"/>
              </a:p>
            </p:txBody>
          </p:sp>
          <p:sp>
            <p:nvSpPr>
              <p:cNvPr id="84" name="직사각형 43"/>
              <p:cNvSpPr>
                <a:spLocks noChangeArrowheads="1"/>
              </p:cNvSpPr>
              <p:nvPr/>
            </p:nvSpPr>
            <p:spPr bwMode="auto">
              <a:xfrm>
                <a:off x="1363991" y="4809681"/>
                <a:ext cx="962713" cy="744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>
                <a:lvl1pPr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algn="ctr" latinLnBrk="0">
                  <a:defRPr/>
                </a:pPr>
                <a:r>
                  <a:rPr lang="en-US" altLang="ko-KR" sz="1000" dirty="0">
                    <a:effectLst>
                      <a:glow rad="228600">
                        <a:prstClr val="white">
                          <a:alpha val="40000"/>
                        </a:prstClr>
                      </a:glow>
                    </a:effectLst>
                    <a:latin typeface="나눔고딕" pitchFamily="2" charset="-127"/>
                    <a:ea typeface="나눔고딕" pitchFamily="2" charset="-127"/>
                  </a:rPr>
                  <a:t>02</a:t>
                </a:r>
                <a:endParaRPr lang="ko-KR" altLang="en-US" sz="1000" dirty="0">
                  <a:effectLst>
                    <a:glow rad="228600">
                      <a:prstClr val="white">
                        <a:alpha val="40000"/>
                      </a:prstClr>
                    </a:glow>
                  </a:effectLst>
                  <a:latin typeface="나눔고딕" pitchFamily="2" charset="-127"/>
                  <a:ea typeface="나눔고딕" pitchFamily="2" charset="-127"/>
                </a:endParaRPr>
              </a:p>
            </p:txBody>
          </p:sp>
        </p:grpSp>
      </p:grpSp>
      <p:grpSp>
        <p:nvGrpSpPr>
          <p:cNvPr id="85" name="그룹 51"/>
          <p:cNvGrpSpPr>
            <a:grpSpLocks/>
          </p:cNvGrpSpPr>
          <p:nvPr/>
        </p:nvGrpSpPr>
        <p:grpSpPr bwMode="auto">
          <a:xfrm>
            <a:off x="3383661" y="4592960"/>
            <a:ext cx="250222" cy="249702"/>
            <a:chOff x="443706" y="7755654"/>
            <a:chExt cx="523952" cy="523952"/>
          </a:xfrm>
        </p:grpSpPr>
        <p:sp>
          <p:nvSpPr>
            <p:cNvPr id="86" name="눈물 방울 85"/>
            <p:cNvSpPr/>
            <p:nvPr/>
          </p:nvSpPr>
          <p:spPr bwMode="auto">
            <a:xfrm rot="8100000">
              <a:off x="443706" y="7755654"/>
              <a:ext cx="523865" cy="523136"/>
            </a:xfrm>
            <a:prstGeom prst="teardrop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latinLnBrk="0">
                <a:defRPr/>
              </a:pPr>
              <a:endParaRPr lang="ko-KR" altLang="en-US" sz="1000" dirty="0">
                <a:latin typeface="나눔고딕" pitchFamily="2" charset="-127"/>
                <a:cs typeface="Arial" pitchFamily="34" charset="0"/>
              </a:endParaRPr>
            </a:p>
          </p:txBody>
        </p:sp>
        <p:grpSp>
          <p:nvGrpSpPr>
            <p:cNvPr id="87" name="그룹 4"/>
            <p:cNvGrpSpPr>
              <a:grpSpLocks/>
            </p:cNvGrpSpPr>
            <p:nvPr/>
          </p:nvGrpSpPr>
          <p:grpSpPr bwMode="auto">
            <a:xfrm>
              <a:off x="490314" y="7800839"/>
              <a:ext cx="430737" cy="430737"/>
              <a:chOff x="1348654" y="4685337"/>
              <a:chExt cx="993388" cy="993388"/>
            </a:xfrm>
          </p:grpSpPr>
          <p:sp>
            <p:nvSpPr>
              <p:cNvPr id="88" name="타원 87"/>
              <p:cNvSpPr/>
              <p:nvPr/>
            </p:nvSpPr>
            <p:spPr>
              <a:xfrm>
                <a:off x="1348654" y="4685337"/>
                <a:ext cx="993388" cy="9933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63500" dist="50800" dir="16200000">
                  <a:schemeClr val="tx1">
                    <a:lumMod val="75000"/>
                    <a:lumOff val="25000"/>
                    <a:alpha val="5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050"/>
              </a:p>
            </p:txBody>
          </p:sp>
          <p:sp>
            <p:nvSpPr>
              <p:cNvPr id="89" name="직사각형 43"/>
              <p:cNvSpPr>
                <a:spLocks noChangeArrowheads="1"/>
              </p:cNvSpPr>
              <p:nvPr/>
            </p:nvSpPr>
            <p:spPr bwMode="auto">
              <a:xfrm>
                <a:off x="1363991" y="4809681"/>
                <a:ext cx="962713" cy="744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>
                <a:lvl1pPr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algn="ctr" latinLnBrk="0">
                  <a:defRPr/>
                </a:pPr>
                <a:r>
                  <a:rPr lang="en-US" altLang="ko-KR" sz="1000" dirty="0">
                    <a:effectLst>
                      <a:glow rad="228600">
                        <a:prstClr val="white">
                          <a:alpha val="40000"/>
                        </a:prstClr>
                      </a:glow>
                    </a:effectLst>
                    <a:latin typeface="나눔고딕" pitchFamily="2" charset="-127"/>
                    <a:ea typeface="나눔고딕" pitchFamily="2" charset="-127"/>
                  </a:rPr>
                  <a:t>03</a:t>
                </a:r>
                <a:endParaRPr lang="ko-KR" altLang="en-US" sz="1000" dirty="0">
                  <a:effectLst>
                    <a:glow rad="228600">
                      <a:prstClr val="white">
                        <a:alpha val="40000"/>
                      </a:prstClr>
                    </a:glow>
                  </a:effectLst>
                  <a:latin typeface="나눔고딕" pitchFamily="2" charset="-127"/>
                  <a:ea typeface="나눔고딕" pitchFamily="2" charset="-127"/>
                </a:endParaRPr>
              </a:p>
            </p:txBody>
          </p:sp>
        </p:grpSp>
      </p:grpSp>
      <p:grpSp>
        <p:nvGrpSpPr>
          <p:cNvPr id="90" name="그룹 51"/>
          <p:cNvGrpSpPr>
            <a:grpSpLocks/>
          </p:cNvGrpSpPr>
          <p:nvPr/>
        </p:nvGrpSpPr>
        <p:grpSpPr bwMode="auto">
          <a:xfrm>
            <a:off x="4962352" y="4592960"/>
            <a:ext cx="250222" cy="249702"/>
            <a:chOff x="443706" y="7755654"/>
            <a:chExt cx="523952" cy="523952"/>
          </a:xfrm>
        </p:grpSpPr>
        <p:sp>
          <p:nvSpPr>
            <p:cNvPr id="91" name="눈물 방울 90"/>
            <p:cNvSpPr/>
            <p:nvPr/>
          </p:nvSpPr>
          <p:spPr bwMode="auto">
            <a:xfrm rot="8100000">
              <a:off x="443706" y="7755654"/>
              <a:ext cx="523865" cy="523136"/>
            </a:xfrm>
            <a:prstGeom prst="teardrop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latinLnBrk="0">
                <a:defRPr/>
              </a:pPr>
              <a:endParaRPr lang="ko-KR" altLang="en-US" sz="1000" dirty="0">
                <a:latin typeface="나눔고딕" pitchFamily="2" charset="-127"/>
                <a:cs typeface="Arial" pitchFamily="34" charset="0"/>
              </a:endParaRPr>
            </a:p>
          </p:txBody>
        </p:sp>
        <p:grpSp>
          <p:nvGrpSpPr>
            <p:cNvPr id="92" name="그룹 4"/>
            <p:cNvGrpSpPr>
              <a:grpSpLocks/>
            </p:cNvGrpSpPr>
            <p:nvPr/>
          </p:nvGrpSpPr>
          <p:grpSpPr bwMode="auto">
            <a:xfrm>
              <a:off x="490314" y="7800839"/>
              <a:ext cx="430737" cy="430737"/>
              <a:chOff x="1348654" y="4685337"/>
              <a:chExt cx="993388" cy="993388"/>
            </a:xfrm>
          </p:grpSpPr>
          <p:sp>
            <p:nvSpPr>
              <p:cNvPr id="93" name="타원 92"/>
              <p:cNvSpPr/>
              <p:nvPr/>
            </p:nvSpPr>
            <p:spPr>
              <a:xfrm>
                <a:off x="1348654" y="4685337"/>
                <a:ext cx="993388" cy="9933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63500" dist="50800" dir="16200000">
                  <a:schemeClr val="tx1">
                    <a:lumMod val="75000"/>
                    <a:lumOff val="25000"/>
                    <a:alpha val="5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 latinLnBrk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050"/>
              </a:p>
            </p:txBody>
          </p:sp>
          <p:sp>
            <p:nvSpPr>
              <p:cNvPr id="94" name="직사각형 43"/>
              <p:cNvSpPr>
                <a:spLocks noChangeArrowheads="1"/>
              </p:cNvSpPr>
              <p:nvPr/>
            </p:nvSpPr>
            <p:spPr bwMode="auto">
              <a:xfrm>
                <a:off x="1363991" y="4809681"/>
                <a:ext cx="962713" cy="744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spAutoFit/>
                <a:scene3d>
                  <a:camera prst="orthographicFront"/>
                  <a:lightRig rig="threePt" dir="t"/>
                </a:scene3d>
                <a:sp3d>
                  <a:bevelT w="0"/>
                </a:sp3d>
              </a:bodyPr>
              <a:lstStyle>
                <a:lvl1pPr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algn="ctr" latinLnBrk="0">
                  <a:defRPr/>
                </a:pPr>
                <a:r>
                  <a:rPr lang="en-US" altLang="ko-KR" sz="1000" dirty="0">
                    <a:effectLst>
                      <a:glow rad="228600">
                        <a:prstClr val="white">
                          <a:alpha val="40000"/>
                        </a:prstClr>
                      </a:glow>
                    </a:effectLst>
                    <a:latin typeface="나눔고딕" pitchFamily="2" charset="-127"/>
                    <a:ea typeface="나눔고딕" pitchFamily="2" charset="-127"/>
                  </a:rPr>
                  <a:t>04</a:t>
                </a:r>
                <a:endParaRPr lang="ko-KR" altLang="en-US" sz="1000" dirty="0">
                  <a:effectLst>
                    <a:glow rad="228600">
                      <a:prstClr val="white">
                        <a:alpha val="40000"/>
                      </a:prstClr>
                    </a:glow>
                  </a:effectLst>
                  <a:latin typeface="나눔고딕" pitchFamily="2" charset="-127"/>
                  <a:ea typeface="나눔고딕" pitchFamily="2" charset="-127"/>
                </a:endParaRPr>
              </a:p>
            </p:txBody>
          </p:sp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755ACE75-5B45-D011-0424-9A9D7E6B1912}"/>
              </a:ext>
            </a:extLst>
          </p:cNvPr>
          <p:cNvGrpSpPr/>
          <p:nvPr/>
        </p:nvGrpSpPr>
        <p:grpSpPr>
          <a:xfrm>
            <a:off x="317654" y="667364"/>
            <a:ext cx="3795422" cy="351189"/>
            <a:chOff x="760846" y="854534"/>
            <a:chExt cx="3795422" cy="35118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E0F4227-1243-4D4E-8360-9662114DB0FA}"/>
                </a:ext>
              </a:extLst>
            </p:cNvPr>
            <p:cNvSpPr txBox="1"/>
            <p:nvPr/>
          </p:nvSpPr>
          <p:spPr>
            <a:xfrm flipH="1">
              <a:off x="1171266" y="891629"/>
              <a:ext cx="338500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r>
                <a:rPr lang="ko-KR" altLang="en-US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사업관리</a:t>
              </a: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F05EDA01-4781-E677-A1E0-290025B522C0}"/>
                </a:ext>
              </a:extLst>
            </p:cNvPr>
            <p:cNvGrpSpPr/>
            <p:nvPr/>
          </p:nvGrpSpPr>
          <p:grpSpPr>
            <a:xfrm>
              <a:off x="760846" y="854534"/>
              <a:ext cx="324620" cy="351189"/>
              <a:chOff x="539750" y="2917808"/>
              <a:chExt cx="526237" cy="526236"/>
            </a:xfrm>
          </p:grpSpPr>
          <p:sp>
            <p:nvSpPr>
              <p:cNvPr id="5" name="모서리가 둥근 직사각형 4">
                <a:extLst>
                  <a:ext uri="{FF2B5EF4-FFF2-40B4-BE49-F238E27FC236}">
                    <a16:creationId xmlns:a16="http://schemas.microsoft.com/office/drawing/2014/main" id="{A7254FAF-12AD-C6FA-F1D8-F21EDF506BAC}"/>
                  </a:ext>
                </a:extLst>
              </p:cNvPr>
              <p:cNvSpPr/>
              <p:nvPr/>
            </p:nvSpPr>
            <p:spPr>
              <a:xfrm>
                <a:off x="539750" y="2917808"/>
                <a:ext cx="526237" cy="526236"/>
              </a:xfrm>
              <a:prstGeom prst="roundRect">
                <a:avLst>
                  <a:gd name="adj" fmla="val 11229"/>
                </a:avLst>
              </a:prstGeom>
              <a:solidFill>
                <a:srgbClr val="00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3D8510-D1C9-FE06-E159-A144B3FFFE2E}"/>
                  </a:ext>
                </a:extLst>
              </p:cNvPr>
              <p:cNvSpPr txBox="1"/>
              <p:nvPr/>
            </p:nvSpPr>
            <p:spPr>
              <a:xfrm flipH="1">
                <a:off x="636582" y="2952530"/>
                <a:ext cx="338951" cy="46118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#</a:t>
                </a:r>
              </a:p>
            </p:txBody>
          </p:sp>
        </p:grpSp>
      </p:grpSp>
      <p:sp>
        <p:nvSpPr>
          <p:cNvPr id="7" name="모서리가 둥근 직사각형 233">
            <a:extLst>
              <a:ext uri="{FF2B5EF4-FFF2-40B4-BE49-F238E27FC236}">
                <a16:creationId xmlns:a16="http://schemas.microsoft.com/office/drawing/2014/main" id="{F938A90A-7E0B-2D76-59E5-6F7BA57895B7}"/>
              </a:ext>
            </a:extLst>
          </p:cNvPr>
          <p:cNvSpPr/>
          <p:nvPr/>
        </p:nvSpPr>
        <p:spPr>
          <a:xfrm>
            <a:off x="546066" y="4909190"/>
            <a:ext cx="1054524" cy="193160"/>
          </a:xfrm>
          <a:prstGeom prst="roundRect">
            <a:avLst>
              <a:gd name="adj" fmla="val 50000"/>
            </a:avLst>
          </a:prstGeom>
          <a:solidFill>
            <a:srgbClr val="6362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latinLnBrk="0"/>
            <a:r>
              <a:rPr lang="ko-KR" altLang="en-US" sz="80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Arial" pitchFamily="34" charset="0"/>
              </a:rPr>
              <a:t>서비스 책임사항</a:t>
            </a:r>
            <a:endParaRPr lang="ko-KR" altLang="en-US" sz="8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Arial" pitchFamily="34" charset="0"/>
            </a:endParaRPr>
          </a:p>
        </p:txBody>
      </p:sp>
      <p:sp>
        <p:nvSpPr>
          <p:cNvPr id="8" name="모서리가 둥근 직사각형 233">
            <a:extLst>
              <a:ext uri="{FF2B5EF4-FFF2-40B4-BE49-F238E27FC236}">
                <a16:creationId xmlns:a16="http://schemas.microsoft.com/office/drawing/2014/main" id="{30338218-2246-0D70-38BD-014B5F68FA8A}"/>
              </a:ext>
            </a:extLst>
          </p:cNvPr>
          <p:cNvSpPr/>
          <p:nvPr/>
        </p:nvSpPr>
        <p:spPr>
          <a:xfrm>
            <a:off x="2122448" y="4909190"/>
            <a:ext cx="1054524" cy="193160"/>
          </a:xfrm>
          <a:prstGeom prst="roundRect">
            <a:avLst>
              <a:gd name="adj" fmla="val 50000"/>
            </a:avLst>
          </a:prstGeom>
          <a:solidFill>
            <a:srgbClr val="6362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latinLnBrk="0"/>
            <a:r>
              <a:rPr lang="ko-KR" altLang="en-US" sz="80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Arial" pitchFamily="34" charset="0"/>
              </a:rPr>
              <a:t>서비스 수준</a:t>
            </a:r>
            <a:endParaRPr lang="ko-KR" altLang="en-US" sz="8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Arial" pitchFamily="34" charset="0"/>
            </a:endParaRPr>
          </a:p>
        </p:txBody>
      </p:sp>
      <p:sp>
        <p:nvSpPr>
          <p:cNvPr id="9" name="모서리가 둥근 직사각형 233">
            <a:extLst>
              <a:ext uri="{FF2B5EF4-FFF2-40B4-BE49-F238E27FC236}">
                <a16:creationId xmlns:a16="http://schemas.microsoft.com/office/drawing/2014/main" id="{49FDBEA2-DF0F-07B8-8DE8-9D56E1C5007E}"/>
              </a:ext>
            </a:extLst>
          </p:cNvPr>
          <p:cNvSpPr/>
          <p:nvPr/>
        </p:nvSpPr>
        <p:spPr>
          <a:xfrm>
            <a:off x="3693224" y="4909190"/>
            <a:ext cx="1054524" cy="193160"/>
          </a:xfrm>
          <a:prstGeom prst="roundRect">
            <a:avLst>
              <a:gd name="adj" fmla="val 50000"/>
            </a:avLst>
          </a:prstGeom>
          <a:solidFill>
            <a:srgbClr val="6362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latinLnBrk="0"/>
            <a:r>
              <a:rPr lang="ko-KR" altLang="en-US" sz="80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Arial" pitchFamily="34" charset="0"/>
              </a:rPr>
              <a:t>서비스 대가</a:t>
            </a:r>
            <a:endParaRPr lang="ko-KR" altLang="en-US" sz="800" dirty="0">
              <a:solidFill>
                <a:schemeClr val="bg1"/>
              </a:solidFill>
              <a:latin typeface="나눔고딕" pitchFamily="2" charset="-127"/>
              <a:ea typeface="나눔고딕" pitchFamily="2" charset="-127"/>
              <a:cs typeface="Arial" pitchFamily="34" charset="0"/>
            </a:endParaRPr>
          </a:p>
        </p:txBody>
      </p:sp>
      <p:sp>
        <p:nvSpPr>
          <p:cNvPr id="10" name="모서리가 둥근 직사각형 233">
            <a:extLst>
              <a:ext uri="{FF2B5EF4-FFF2-40B4-BE49-F238E27FC236}">
                <a16:creationId xmlns:a16="http://schemas.microsoft.com/office/drawing/2014/main" id="{9204FBA6-599A-5B82-B7C0-C109A9E2FDCE}"/>
              </a:ext>
            </a:extLst>
          </p:cNvPr>
          <p:cNvSpPr/>
          <p:nvPr/>
        </p:nvSpPr>
        <p:spPr>
          <a:xfrm>
            <a:off x="5298069" y="4909190"/>
            <a:ext cx="1054524" cy="193160"/>
          </a:xfrm>
          <a:prstGeom prst="roundRect">
            <a:avLst>
              <a:gd name="adj" fmla="val 50000"/>
            </a:avLst>
          </a:prstGeom>
          <a:solidFill>
            <a:srgbClr val="6362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latinLnBrk="0"/>
            <a:r>
              <a:rPr lang="ko-KR" altLang="en-US" sz="8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  <a:cs typeface="Arial" pitchFamily="34" charset="0"/>
              </a:rPr>
              <a:t>서비스 관리</a:t>
            </a:r>
          </a:p>
        </p:txBody>
      </p:sp>
      <p:sp>
        <p:nvSpPr>
          <p:cNvPr id="26" name="Text Box 13" descr="(바)_(27) copy">
            <a:extLst>
              <a:ext uri="{FF2B5EF4-FFF2-40B4-BE49-F238E27FC236}">
                <a16:creationId xmlns:a16="http://schemas.microsoft.com/office/drawing/2014/main" id="{D8F12078-5ED3-C2E8-2C70-7E3D05849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546" y="4023589"/>
            <a:ext cx="6524746" cy="307777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square" lIns="0" tIns="0" rIns="0" bIns="0" anchor="b">
            <a:spAutoFit/>
            <a:scene3d>
              <a:camera prst="orthographicFront"/>
              <a:lightRig rig="threePt" dir="t"/>
            </a:scene3d>
            <a:sp3d extrusionH="12700" contourW="50800">
              <a:bevelT w="0"/>
              <a:contourClr>
                <a:schemeClr val="bg1"/>
              </a:contourClr>
            </a:sp3d>
          </a:bodyPr>
          <a:lstStyle/>
          <a:p>
            <a:pPr algn="ctr" defTabSz="956198">
              <a:defRPr/>
            </a:pPr>
            <a:r>
              <a:rPr lang="ko-KR" altLang="en-US" sz="2000" dirty="0">
                <a:gradFill>
                  <a:gsLst>
                    <a:gs pos="0">
                      <a:srgbClr val="2084DE"/>
                    </a:gs>
                    <a:gs pos="100000">
                      <a:srgbClr val="10308A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서비스 수준 품질 향상 극대화</a:t>
            </a:r>
            <a:endParaRPr lang="en-US" altLang="ko-KR" sz="2000" dirty="0">
              <a:gradFill>
                <a:gsLst>
                  <a:gs pos="0">
                    <a:srgbClr val="2084DE"/>
                  </a:gs>
                  <a:gs pos="100000">
                    <a:srgbClr val="10308A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7" name="Text Box 13" descr="(바)_(27) copy">
            <a:extLst>
              <a:ext uri="{FF2B5EF4-FFF2-40B4-BE49-F238E27FC236}">
                <a16:creationId xmlns:a16="http://schemas.microsoft.com/office/drawing/2014/main" id="{C20455A7-1174-3405-3584-B975EA1B3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3285" y="3710465"/>
            <a:ext cx="3765269" cy="230832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square" lIns="0" tIns="0" rIns="0" bIns="0" anchor="b">
            <a:spAutoFit/>
            <a:scene3d>
              <a:camera prst="orthographicFront"/>
              <a:lightRig rig="threePt" dir="t"/>
            </a:scene3d>
            <a:sp3d extrusionH="12700" contourW="50800">
              <a:bevelT w="0"/>
              <a:contourClr>
                <a:schemeClr val="bg1"/>
              </a:contourClr>
            </a:sp3d>
          </a:bodyPr>
          <a:lstStyle/>
          <a:p>
            <a:pPr algn="ctr" defTabSz="956198">
              <a:defRPr/>
            </a:pPr>
            <a:r>
              <a:rPr lang="ko-KR" altLang="en-US" sz="15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rPr>
              <a:t>서비스 품질관리 </a:t>
            </a:r>
            <a:r>
              <a:rPr lang="en-US" altLang="ko-KR" sz="15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rPr>
              <a:t>(SLA)</a:t>
            </a:r>
            <a:r>
              <a:rPr lang="ko-KR" altLang="en-US" sz="15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rPr>
              <a:t>를 통한</a:t>
            </a:r>
            <a:endParaRPr lang="en-US" altLang="ko-KR" sz="1500" dirty="0">
              <a:solidFill>
                <a:prstClr val="black">
                  <a:lumMod val="75000"/>
                  <a:lumOff val="25000"/>
                </a:prstClr>
              </a:solidFill>
              <a:latin typeface="나눔고딕 Bold" panose="020D0804000000000000" pitchFamily="50" charset="-127"/>
              <a:ea typeface="나눔고딕 Bold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167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4" name="그룹 1">
            <a:extLst>
              <a:ext uri="{FF2B5EF4-FFF2-40B4-BE49-F238E27FC236}">
                <a16:creationId xmlns:a16="http://schemas.microsoft.com/office/drawing/2014/main" id="{18A15269-41B6-D18D-FE6E-15DA4DF7C0DE}"/>
              </a:ext>
            </a:extLst>
          </p:cNvPr>
          <p:cNvGrpSpPr>
            <a:grpSpLocks/>
          </p:cNvGrpSpPr>
          <p:nvPr/>
        </p:nvGrpSpPr>
        <p:grpSpPr bwMode="auto">
          <a:xfrm>
            <a:off x="3215083" y="7548500"/>
            <a:ext cx="1916113" cy="1905000"/>
            <a:chOff x="2526872" y="5819154"/>
            <a:chExt cx="1758950" cy="1905529"/>
          </a:xfrm>
        </p:grpSpPr>
        <p:grpSp>
          <p:nvGrpSpPr>
            <p:cNvPr id="570" name="그룹 100">
              <a:extLst>
                <a:ext uri="{FF2B5EF4-FFF2-40B4-BE49-F238E27FC236}">
                  <a16:creationId xmlns:a16="http://schemas.microsoft.com/office/drawing/2014/main" id="{1A0BC7C6-89F6-33F1-0DC4-E4CFE56999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0372" y="5887948"/>
              <a:ext cx="1631950" cy="1767942"/>
              <a:chOff x="718448" y="7987549"/>
              <a:chExt cx="1116124" cy="1116124"/>
            </a:xfrm>
          </p:grpSpPr>
          <p:sp>
            <p:nvSpPr>
              <p:cNvPr id="572" name="타원 571">
                <a:extLst>
                  <a:ext uri="{FF2B5EF4-FFF2-40B4-BE49-F238E27FC236}">
                    <a16:creationId xmlns:a16="http://schemas.microsoft.com/office/drawing/2014/main" id="{4D9941F6-E0B2-80CD-E0C3-5F0473E86C6D}"/>
                  </a:ext>
                </a:extLst>
              </p:cNvPr>
              <p:cNvSpPr/>
              <p:nvPr/>
            </p:nvSpPr>
            <p:spPr bwMode="auto">
              <a:xfrm>
                <a:off x="718448" y="7987549"/>
                <a:ext cx="1116124" cy="1116124"/>
              </a:xfrm>
              <a:prstGeom prst="ellipse">
                <a:avLst/>
              </a:prstGeom>
              <a:pattFill prst="dkDnDiag">
                <a:fgClr>
                  <a:srgbClr val="0E79C2"/>
                </a:fgClr>
                <a:bgClr>
                  <a:srgbClr val="4CAFF2"/>
                </a:bgClr>
              </a:pattFill>
              <a:ln w="25400" cap="flat" cmpd="sng" algn="ctr">
                <a:solidFill>
                  <a:srgbClr val="FFFFFF"/>
                </a:solidFill>
                <a:prstDash val="solid"/>
              </a:ln>
              <a:effectLst>
                <a:glow rad="76200">
                  <a:srgbClr val="FFFFFF">
                    <a:lumMod val="50000"/>
                    <a:alpha val="40000"/>
                  </a:srgbClr>
                </a:glow>
              </a:effectLst>
            </p:spPr>
            <p:txBody>
              <a:bodyPr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ko-KR" altLang="en-US" sz="1100" b="1" kern="0" dirty="0">
                  <a:solidFill>
                    <a:srgbClr val="FFFFFF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573" name="타원 572">
                <a:extLst>
                  <a:ext uri="{FF2B5EF4-FFF2-40B4-BE49-F238E27FC236}">
                    <a16:creationId xmlns:a16="http://schemas.microsoft.com/office/drawing/2014/main" id="{FE64B81E-27A8-AFDE-8A7F-0968951AEE6C}"/>
                  </a:ext>
                </a:extLst>
              </p:cNvPr>
              <p:cNvSpPr/>
              <p:nvPr/>
            </p:nvSpPr>
            <p:spPr bwMode="auto">
              <a:xfrm>
                <a:off x="791630" y="8060407"/>
                <a:ext cx="969761" cy="970408"/>
              </a:xfrm>
              <a:prstGeom prst="ellipse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E79C2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ko-KR" altLang="en-US" sz="1050" b="1" kern="0" dirty="0">
                  <a:solidFill>
                    <a:srgbClr val="FFFFFF"/>
                  </a:solidFill>
                  <a:latin typeface="+mn-ea"/>
                  <a:ea typeface="+mn-ea"/>
                  <a:cs typeface="Arial" pitchFamily="34" charset="0"/>
                </a:endParaRPr>
              </a:p>
            </p:txBody>
          </p:sp>
        </p:grpSp>
        <p:sp>
          <p:nvSpPr>
            <p:cNvPr id="566" name="원호 565">
              <a:extLst>
                <a:ext uri="{FF2B5EF4-FFF2-40B4-BE49-F238E27FC236}">
                  <a16:creationId xmlns:a16="http://schemas.microsoft.com/office/drawing/2014/main" id="{46F9384D-686F-AF5B-BD49-600420DCF2EB}"/>
                </a:ext>
              </a:extLst>
            </p:cNvPr>
            <p:cNvSpPr/>
            <p:nvPr/>
          </p:nvSpPr>
          <p:spPr>
            <a:xfrm>
              <a:off x="2526872" y="5819154"/>
              <a:ext cx="1758950" cy="1905529"/>
            </a:xfrm>
            <a:prstGeom prst="arc">
              <a:avLst>
                <a:gd name="adj1" fmla="val 716424"/>
                <a:gd name="adj2" fmla="val 6336919"/>
              </a:avLst>
            </a:prstGeom>
            <a:noFill/>
            <a:ln w="28575" cap="flat" cmpd="sng" algn="ctr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  <a:effectLst/>
          </p:spPr>
          <p:txBody>
            <a:bodyPr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100" b="1" kern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567" name="원호 566">
              <a:extLst>
                <a:ext uri="{FF2B5EF4-FFF2-40B4-BE49-F238E27FC236}">
                  <a16:creationId xmlns:a16="http://schemas.microsoft.com/office/drawing/2014/main" id="{7687A29F-0858-357E-ACC9-B2FDC73BD0A7}"/>
                </a:ext>
              </a:extLst>
            </p:cNvPr>
            <p:cNvSpPr/>
            <p:nvPr/>
          </p:nvSpPr>
          <p:spPr>
            <a:xfrm>
              <a:off x="2526872" y="5819154"/>
              <a:ext cx="1758950" cy="1905529"/>
            </a:xfrm>
            <a:prstGeom prst="arc">
              <a:avLst>
                <a:gd name="adj1" fmla="val 6682418"/>
                <a:gd name="adj2" fmla="val 10817908"/>
              </a:avLst>
            </a:prstGeom>
            <a:noFill/>
            <a:ln w="28575" cap="flat" cmpd="sng" algn="ctr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  <a:effectLst/>
          </p:spPr>
          <p:txBody>
            <a:bodyPr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100" b="1" kern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568" name="원호 567">
              <a:extLst>
                <a:ext uri="{FF2B5EF4-FFF2-40B4-BE49-F238E27FC236}">
                  <a16:creationId xmlns:a16="http://schemas.microsoft.com/office/drawing/2014/main" id="{1284853C-F438-033E-1285-C3B5ED14AD12}"/>
                </a:ext>
              </a:extLst>
            </p:cNvPr>
            <p:cNvSpPr/>
            <p:nvPr/>
          </p:nvSpPr>
          <p:spPr>
            <a:xfrm>
              <a:off x="2526872" y="5819154"/>
              <a:ext cx="1758950" cy="1905529"/>
            </a:xfrm>
            <a:prstGeom prst="arc">
              <a:avLst>
                <a:gd name="adj1" fmla="val 16583371"/>
                <a:gd name="adj2" fmla="val 347354"/>
              </a:avLst>
            </a:prstGeom>
            <a:noFill/>
            <a:ln w="28575" cap="flat" cmpd="sng" algn="ctr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  <a:effectLst/>
          </p:spPr>
          <p:txBody>
            <a:bodyPr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100" b="1" kern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569" name="원호 568">
              <a:extLst>
                <a:ext uri="{FF2B5EF4-FFF2-40B4-BE49-F238E27FC236}">
                  <a16:creationId xmlns:a16="http://schemas.microsoft.com/office/drawing/2014/main" id="{0DB6B601-3343-3342-0C55-9D71E9591FB7}"/>
                </a:ext>
              </a:extLst>
            </p:cNvPr>
            <p:cNvSpPr/>
            <p:nvPr/>
          </p:nvSpPr>
          <p:spPr>
            <a:xfrm>
              <a:off x="2526872" y="5819154"/>
              <a:ext cx="1758950" cy="1905529"/>
            </a:xfrm>
            <a:prstGeom prst="arc">
              <a:avLst>
                <a:gd name="adj1" fmla="val 11116772"/>
                <a:gd name="adj2" fmla="val 16079563"/>
              </a:avLst>
            </a:prstGeom>
            <a:noFill/>
            <a:ln w="28575" cap="flat" cmpd="sng" algn="ctr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  <a:effectLst/>
          </p:spPr>
          <p:txBody>
            <a:bodyPr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100" b="1" kern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525" name="AutoShape 189">
            <a:extLst>
              <a:ext uri="{FF2B5EF4-FFF2-40B4-BE49-F238E27FC236}">
                <a16:creationId xmlns:a16="http://schemas.microsoft.com/office/drawing/2014/main" id="{F4FEBA73-827C-B4F1-18EF-1541A9509478}"/>
              </a:ext>
            </a:extLst>
          </p:cNvPr>
          <p:cNvSpPr>
            <a:spLocks/>
          </p:cNvSpPr>
          <p:nvPr/>
        </p:nvSpPr>
        <p:spPr bwMode="gray">
          <a:xfrm rot="10800000" flipH="1" flipV="1">
            <a:off x="4598590" y="3502521"/>
            <a:ext cx="416302" cy="2285184"/>
          </a:xfrm>
          <a:prstGeom prst="leftBrace">
            <a:avLst>
              <a:gd name="adj1" fmla="val 130116"/>
              <a:gd name="adj2" fmla="val 50000"/>
            </a:avLst>
          </a:prstGeom>
          <a:gradFill rotWithShape="1">
            <a:gsLst>
              <a:gs pos="833">
                <a:srgbClr val="929292"/>
              </a:gs>
              <a:gs pos="37000">
                <a:srgbClr val="B2B2B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vert="eaVert" wrap="none" lIns="91429" tIns="45715" rIns="91429" bIns="45715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ko-KR" sz="900" dirty="0">
              <a:solidFill>
                <a:prstClr val="black"/>
              </a:solidFill>
              <a:latin typeface="+mj-ea"/>
              <a:ea typeface="+mj-ea"/>
            </a:endParaRPr>
          </a:p>
        </p:txBody>
      </p:sp>
      <p:grpSp>
        <p:nvGrpSpPr>
          <p:cNvPr id="57" name="그룹 1">
            <a:extLst>
              <a:ext uri="{FF2B5EF4-FFF2-40B4-BE49-F238E27FC236}">
                <a16:creationId xmlns:a16="http://schemas.microsoft.com/office/drawing/2014/main" id="{FFC222D9-1FE2-0A3E-C315-78B0B882F235}"/>
              </a:ext>
            </a:extLst>
          </p:cNvPr>
          <p:cNvGrpSpPr>
            <a:grpSpLocks/>
          </p:cNvGrpSpPr>
          <p:nvPr/>
        </p:nvGrpSpPr>
        <p:grpSpPr bwMode="auto">
          <a:xfrm>
            <a:off x="292100" y="2419152"/>
            <a:ext cx="6270625" cy="385763"/>
            <a:chOff x="292100" y="2959098"/>
            <a:chExt cx="6270625" cy="385765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3D5F568D-8F88-824C-2A5F-1E115C06FD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100" y="2959098"/>
              <a:ext cx="6270625" cy="385765"/>
              <a:chOff x="334963" y="3573461"/>
              <a:chExt cx="6271218" cy="386316"/>
            </a:xfrm>
          </p:grpSpPr>
          <p:grpSp>
            <p:nvGrpSpPr>
              <p:cNvPr id="60" name="그룹 50">
                <a:extLst>
                  <a:ext uri="{FF2B5EF4-FFF2-40B4-BE49-F238E27FC236}">
                    <a16:creationId xmlns:a16="http://schemas.microsoft.com/office/drawing/2014/main" id="{16BC3BDE-2443-FA75-BFA9-F48F8A3B4E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4963" y="3573461"/>
                <a:ext cx="6271218" cy="262313"/>
                <a:chOff x="335633" y="3489640"/>
                <a:chExt cx="6270543" cy="262915"/>
              </a:xfrm>
            </p:grpSpPr>
            <p:sp>
              <p:nvSpPr>
                <p:cNvPr id="65" name="직사각형 262">
                  <a:extLst>
                    <a:ext uri="{FF2B5EF4-FFF2-40B4-BE49-F238E27FC236}">
                      <a16:creationId xmlns:a16="http://schemas.microsoft.com/office/drawing/2014/main" id="{DEF09FB6-3EA5-A0FA-9290-8FD3F33F64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5633" y="3489640"/>
                  <a:ext cx="6270543" cy="262915"/>
                </a:xfrm>
                <a:prstGeom prst="rect">
                  <a:avLst/>
                </a:prstGeom>
                <a:gradFill flip="none" rotWithShape="1">
                  <a:gsLst>
                    <a:gs pos="33000">
                      <a:srgbClr val="1295EE"/>
                    </a:gs>
                    <a:gs pos="0">
                      <a:srgbClr val="0B629D"/>
                    </a:gs>
                    <a:gs pos="12000">
                      <a:srgbClr val="0E76BC"/>
                    </a:gs>
                  </a:gsLst>
                  <a:lin ang="36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latinLnBrk="0">
                    <a:defRPr/>
                  </a:pPr>
                  <a:endParaRPr lang="ko-KR" altLang="en-US" sz="1000" dirty="0">
                    <a:solidFill>
                      <a:srgbClr val="FFFFFF"/>
                    </a:solidFill>
                    <a:latin typeface="+mn-ea"/>
                    <a:cs typeface="Arial" pitchFamily="34" charset="0"/>
                  </a:endParaRPr>
                </a:p>
              </p:txBody>
            </p:sp>
            <p:cxnSp>
              <p:nvCxnSpPr>
                <p:cNvPr id="66" name="직선 연결선 26">
                  <a:extLst>
                    <a:ext uri="{FF2B5EF4-FFF2-40B4-BE49-F238E27FC236}">
                      <a16:creationId xmlns:a16="http://schemas.microsoft.com/office/drawing/2014/main" id="{56A06D62-2773-E8F6-7573-A49653355DDF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553763" y="3618068"/>
                  <a:ext cx="138933" cy="0"/>
                </a:xfrm>
                <a:prstGeom prst="line">
                  <a:avLst/>
                </a:prstGeom>
                <a:noFill/>
                <a:ln w="12700" algn="ctr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67" name="Text Box 34">
                  <a:extLst>
                    <a:ext uri="{FF2B5EF4-FFF2-40B4-BE49-F238E27FC236}">
                      <a16:creationId xmlns:a16="http://schemas.microsoft.com/office/drawing/2014/main" id="{8EDAC823-2538-3672-940E-9E25E5617CB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gray">
                <a:xfrm>
                  <a:off x="764704" y="3535954"/>
                  <a:ext cx="5697056" cy="1699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0"/>
                  </a:sp3d>
                </a:bodyPr>
                <a:lstStyle>
                  <a:lvl1pPr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1pPr>
                  <a:lvl2pPr marL="742950" indent="-28575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2pPr>
                  <a:lvl3pPr marL="11430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3pPr>
                  <a:lvl4pPr marL="16002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4pPr>
                  <a:lvl5pPr marL="20574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5pPr>
                  <a:lvl6pPr marL="25146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6pPr>
                  <a:lvl7pPr marL="29718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7pPr>
                  <a:lvl8pPr marL="34290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8pPr>
                  <a:lvl9pPr marL="38862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9pPr>
                </a:lstStyle>
                <a:p>
                  <a:pPr eaLnBrk="1" latinLnBrk="0" hangingPunct="1">
                    <a:defRPr/>
                  </a:pPr>
                  <a:r>
                    <a:rPr lang="ko-KR" altLang="en-US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ea"/>
                      <a:ea typeface="+mn-ea"/>
                      <a:cs typeface="Arial" pitchFamily="34" charset="0"/>
                    </a:rPr>
                    <a:t>전산업무 운영성과 측정</a:t>
                  </a:r>
                  <a:r>
                    <a:rPr lang="en-US" altLang="ko-KR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ea"/>
                      <a:ea typeface="+mn-ea"/>
                      <a:cs typeface="Arial" pitchFamily="34" charset="0"/>
                    </a:rPr>
                    <a:t>/</a:t>
                  </a:r>
                  <a:r>
                    <a:rPr lang="ko-KR" altLang="en-US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ea"/>
                      <a:ea typeface="+mn-ea"/>
                      <a:cs typeface="Arial" pitchFamily="34" charset="0"/>
                    </a:rPr>
                    <a:t>개선</a:t>
                  </a:r>
                </a:p>
              </p:txBody>
            </p:sp>
          </p:grpSp>
          <p:grpSp>
            <p:nvGrpSpPr>
              <p:cNvPr id="61" name="그룹 207">
                <a:extLst>
                  <a:ext uri="{FF2B5EF4-FFF2-40B4-BE49-F238E27FC236}">
                    <a16:creationId xmlns:a16="http://schemas.microsoft.com/office/drawing/2014/main" id="{3A0A1F2D-BA4D-881F-6B3E-198E4013FA0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8569" y="3850655"/>
                <a:ext cx="5375678" cy="109122"/>
                <a:chOff x="1048569" y="3850655"/>
                <a:chExt cx="5375678" cy="109122"/>
              </a:xfrm>
            </p:grpSpPr>
            <p:pic>
              <p:nvPicPr>
                <p:cNvPr id="62" name="Picture 24" descr="악세사리">
                  <a:extLst>
                    <a:ext uri="{FF2B5EF4-FFF2-40B4-BE49-F238E27FC236}">
                      <a16:creationId xmlns:a16="http://schemas.microsoft.com/office/drawing/2014/main" id="{D8FF4D13-75B0-F966-D764-D649BEE7C277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3" name="Picture 24" descr="악세사리">
                  <a:extLst>
                    <a:ext uri="{FF2B5EF4-FFF2-40B4-BE49-F238E27FC236}">
                      <a16:creationId xmlns:a16="http://schemas.microsoft.com/office/drawing/2014/main" id="{AEF95467-15E3-5FFA-CFE5-F75964C37781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4" name="Picture 24" descr="악세사리">
                  <a:extLst>
                    <a:ext uri="{FF2B5EF4-FFF2-40B4-BE49-F238E27FC236}">
                      <a16:creationId xmlns:a16="http://schemas.microsoft.com/office/drawing/2014/main" id="{7D9F9B53-66B5-D823-F3EA-4D5A5E267B41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pic>
          <p:nvPicPr>
            <p:cNvPr id="59" name="Picture 184" descr="icon_a01">
              <a:extLst>
                <a:ext uri="{FF2B5EF4-FFF2-40B4-BE49-F238E27FC236}">
                  <a16:creationId xmlns:a16="http://schemas.microsoft.com/office/drawing/2014/main" id="{65D8B42E-EFFF-CFF8-2887-2AA0D73DFD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94" t="64084" r="6964" b="26581"/>
            <a:stretch>
              <a:fillRect/>
            </a:stretch>
          </p:blipFill>
          <p:spPr bwMode="auto">
            <a:xfrm>
              <a:off x="339725" y="2992438"/>
              <a:ext cx="169863" cy="18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45" name="Line 14">
            <a:extLst>
              <a:ext uri="{FF2B5EF4-FFF2-40B4-BE49-F238E27FC236}">
                <a16:creationId xmlns:a16="http://schemas.microsoft.com/office/drawing/2014/main" id="{4F017D44-6175-1E98-6A76-C86563C03724}"/>
              </a:ext>
            </a:extLst>
          </p:cNvPr>
          <p:cNvSpPr>
            <a:spLocks noChangeShapeType="1"/>
          </p:cNvSpPr>
          <p:nvPr/>
        </p:nvSpPr>
        <p:spPr bwMode="auto">
          <a:xfrm>
            <a:off x="1357313" y="7783372"/>
            <a:ext cx="4829175" cy="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346" name="Text Box 15">
            <a:extLst>
              <a:ext uri="{FF2B5EF4-FFF2-40B4-BE49-F238E27FC236}">
                <a16:creationId xmlns:a16="http://schemas.microsoft.com/office/drawing/2014/main" id="{C0EB07CA-ABCA-FF0D-7461-E1AB22BB2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9213" y="7757050"/>
            <a:ext cx="655638" cy="1379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1" tIns="45715" rIns="91431" bIns="45715" anchor="ctr" anchorCtr="1"/>
          <a:lstStyle>
            <a:lvl1pPr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1pPr>
            <a:lvl2pPr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2pPr>
            <a:lvl3pPr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3pPr>
            <a:lvl4pPr marL="1370013"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4pPr>
            <a:lvl5pPr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2008</a:t>
            </a:r>
            <a:r>
              <a:rPr kumimoji="1" lang="ko-KR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년도</a:t>
            </a:r>
          </a:p>
        </p:txBody>
      </p:sp>
      <p:sp>
        <p:nvSpPr>
          <p:cNvPr id="370" name="AutoShape 18">
            <a:extLst>
              <a:ext uri="{FF2B5EF4-FFF2-40B4-BE49-F238E27FC236}">
                <a16:creationId xmlns:a16="http://schemas.microsoft.com/office/drawing/2014/main" id="{27D6F264-6EBE-C641-9320-FCA25376D22A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76250" y="7159532"/>
            <a:ext cx="5894388" cy="268494"/>
          </a:xfrm>
          <a:custGeom>
            <a:avLst/>
            <a:gdLst>
              <a:gd name="G0" fmla="+- 1393 0 0"/>
              <a:gd name="G1" fmla="+- 21600 0 1393"/>
              <a:gd name="G2" fmla="*/ 1393 1 2"/>
              <a:gd name="G3" fmla="+- 21600 0 G2"/>
              <a:gd name="G4" fmla="+/ 1393 21600 2"/>
              <a:gd name="G5" fmla="+/ G1 0 2"/>
              <a:gd name="G6" fmla="*/ 21600 21600 1393"/>
              <a:gd name="G7" fmla="*/ G6 1 2"/>
              <a:gd name="G8" fmla="+- 21600 0 G7"/>
              <a:gd name="G9" fmla="*/ 21600 1 2"/>
              <a:gd name="G10" fmla="+- 1393 0 G9"/>
              <a:gd name="G11" fmla="?: G10 G8 0"/>
              <a:gd name="G12" fmla="?: G10 G7 21600"/>
              <a:gd name="T0" fmla="*/ 20903 w 21600"/>
              <a:gd name="T1" fmla="*/ 10800 h 21600"/>
              <a:gd name="T2" fmla="*/ 10800 w 21600"/>
              <a:gd name="T3" fmla="*/ 21600 h 21600"/>
              <a:gd name="T4" fmla="*/ 697 w 21600"/>
              <a:gd name="T5" fmla="*/ 10800 h 21600"/>
              <a:gd name="T6" fmla="*/ 10800 w 21600"/>
              <a:gd name="T7" fmla="*/ 0 h 21600"/>
              <a:gd name="T8" fmla="*/ 2497 w 21600"/>
              <a:gd name="T9" fmla="*/ 2497 h 21600"/>
              <a:gd name="T10" fmla="*/ 19103 w 21600"/>
              <a:gd name="T11" fmla="*/ 1910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1393" y="21600"/>
                </a:lnTo>
                <a:lnTo>
                  <a:pt x="2020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4CAF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marL="0" marR="0" lvl="0" indent="0" algn="ctr" defTabSz="914400" eaLnBrk="1" fontAlgn="t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Service Level Management (SLM)</a:t>
            </a:r>
          </a:p>
        </p:txBody>
      </p:sp>
      <p:sp>
        <p:nvSpPr>
          <p:cNvPr id="371" name="AutoShape 19">
            <a:extLst>
              <a:ext uri="{FF2B5EF4-FFF2-40B4-BE49-F238E27FC236}">
                <a16:creationId xmlns:a16="http://schemas.microsoft.com/office/drawing/2014/main" id="{6C025F19-9A56-1EF9-4C4D-E1F7A33D6CA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852149" y="6753224"/>
            <a:ext cx="5081925" cy="371942"/>
          </a:xfrm>
          <a:custGeom>
            <a:avLst/>
            <a:gdLst>
              <a:gd name="G0" fmla="+- 2212 0 0"/>
              <a:gd name="G1" fmla="+- 21600 0 2212"/>
              <a:gd name="G2" fmla="*/ 2212 1 2"/>
              <a:gd name="G3" fmla="+- 21600 0 G2"/>
              <a:gd name="G4" fmla="+/ 2212 21600 2"/>
              <a:gd name="G5" fmla="+/ G1 0 2"/>
              <a:gd name="G6" fmla="*/ 21600 21600 2212"/>
              <a:gd name="G7" fmla="*/ G6 1 2"/>
              <a:gd name="G8" fmla="+- 21600 0 G7"/>
              <a:gd name="G9" fmla="*/ 21600 1 2"/>
              <a:gd name="G10" fmla="+- 2212 0 G9"/>
              <a:gd name="G11" fmla="?: G10 G8 0"/>
              <a:gd name="G12" fmla="?: G10 G7 21600"/>
              <a:gd name="T0" fmla="*/ 20494 w 21600"/>
              <a:gd name="T1" fmla="*/ 10800 h 21600"/>
              <a:gd name="T2" fmla="*/ 10800 w 21600"/>
              <a:gd name="T3" fmla="*/ 21600 h 21600"/>
              <a:gd name="T4" fmla="*/ 1106 w 21600"/>
              <a:gd name="T5" fmla="*/ 10800 h 21600"/>
              <a:gd name="T6" fmla="*/ 10800 w 21600"/>
              <a:gd name="T7" fmla="*/ 0 h 21600"/>
              <a:gd name="T8" fmla="*/ 2906 w 21600"/>
              <a:gd name="T9" fmla="*/ 2906 h 21600"/>
              <a:gd name="T10" fmla="*/ 18694 w 21600"/>
              <a:gd name="T11" fmla="*/ 18694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2212" y="21600"/>
                </a:lnTo>
                <a:lnTo>
                  <a:pt x="19388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1295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marL="0" marR="0" lvl="0" indent="0" algn="ctr" defTabSz="914400" eaLnBrk="1" fontAlgn="t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Service Level Agreement (SLA)</a:t>
            </a:r>
          </a:p>
        </p:txBody>
      </p:sp>
      <p:sp>
        <p:nvSpPr>
          <p:cNvPr id="372" name="AutoShape 20">
            <a:extLst>
              <a:ext uri="{FF2B5EF4-FFF2-40B4-BE49-F238E27FC236}">
                <a16:creationId xmlns:a16="http://schemas.microsoft.com/office/drawing/2014/main" id="{5291F5CA-1759-A767-C190-34AB6D72BE41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409698" y="6429375"/>
            <a:ext cx="3981451" cy="276158"/>
          </a:xfrm>
          <a:custGeom>
            <a:avLst/>
            <a:gdLst>
              <a:gd name="G0" fmla="+- 2297 0 0"/>
              <a:gd name="G1" fmla="+- 21600 0 2297"/>
              <a:gd name="G2" fmla="*/ 2297 1 2"/>
              <a:gd name="G3" fmla="+- 21600 0 G2"/>
              <a:gd name="G4" fmla="+/ 2297 21600 2"/>
              <a:gd name="G5" fmla="+/ G1 0 2"/>
              <a:gd name="G6" fmla="*/ 21600 21600 2297"/>
              <a:gd name="G7" fmla="*/ G6 1 2"/>
              <a:gd name="G8" fmla="+- 21600 0 G7"/>
              <a:gd name="G9" fmla="*/ 21600 1 2"/>
              <a:gd name="G10" fmla="+- 2297 0 G9"/>
              <a:gd name="G11" fmla="?: G10 G8 0"/>
              <a:gd name="G12" fmla="?: G10 G7 21600"/>
              <a:gd name="T0" fmla="*/ 20451 w 21600"/>
              <a:gd name="T1" fmla="*/ 10800 h 21600"/>
              <a:gd name="T2" fmla="*/ 10800 w 21600"/>
              <a:gd name="T3" fmla="*/ 21600 h 21600"/>
              <a:gd name="T4" fmla="*/ 1149 w 21600"/>
              <a:gd name="T5" fmla="*/ 10800 h 21600"/>
              <a:gd name="T6" fmla="*/ 10800 w 21600"/>
              <a:gd name="T7" fmla="*/ 0 h 21600"/>
              <a:gd name="T8" fmla="*/ 2949 w 21600"/>
              <a:gd name="T9" fmla="*/ 2949 h 21600"/>
              <a:gd name="T10" fmla="*/ 18651 w 21600"/>
              <a:gd name="T11" fmla="*/ 18651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2297" y="21600"/>
                </a:lnTo>
                <a:lnTo>
                  <a:pt x="1930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0E79C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marL="0" marR="0" lvl="0" indent="0" algn="ctr" defTabSz="914400" eaLnBrk="1" fontAlgn="t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고객사</a:t>
            </a:r>
          </a:p>
        </p:txBody>
      </p:sp>
      <p:sp>
        <p:nvSpPr>
          <p:cNvPr id="349" name="AutoShape 21">
            <a:extLst>
              <a:ext uri="{FF2B5EF4-FFF2-40B4-BE49-F238E27FC236}">
                <a16:creationId xmlns:a16="http://schemas.microsoft.com/office/drawing/2014/main" id="{D509C87B-3303-8870-71C7-652444CCE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7564022"/>
            <a:ext cx="915988" cy="304896"/>
          </a:xfrm>
          <a:prstGeom prst="homePlate">
            <a:avLst>
              <a:gd name="adj" fmla="val 52696"/>
            </a:avLst>
          </a:prstGeom>
          <a:solidFill>
            <a:srgbClr val="DDDDDD"/>
          </a:solidFill>
          <a:ln w="25400" algn="ctr">
            <a:solidFill>
              <a:sysClr val="window" lastClr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1977" rIns="0" bIns="41977" anchor="ctr"/>
          <a:lstStyle/>
          <a:p>
            <a:pPr algn="ctr" defTabSz="839788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00" kern="0">
                <a:solidFill>
                  <a:srgbClr val="1C1C1C"/>
                </a:solidFill>
                <a:latin typeface="+mn-ea"/>
                <a:ea typeface="+mn-ea"/>
                <a:cs typeface="+mn-cs"/>
              </a:rPr>
              <a:t>SLA</a:t>
            </a:r>
            <a:r>
              <a:rPr kumimoji="0" lang="ko-KR" altLang="en-US" sz="900" kern="0">
                <a:solidFill>
                  <a:srgbClr val="1C1C1C"/>
                </a:solidFill>
                <a:latin typeface="+mn-ea"/>
                <a:ea typeface="+mn-ea"/>
                <a:cs typeface="+mn-cs"/>
              </a:rPr>
              <a:t>계획</a:t>
            </a:r>
          </a:p>
        </p:txBody>
      </p:sp>
      <p:sp>
        <p:nvSpPr>
          <p:cNvPr id="350" name="AutoShape 22">
            <a:extLst>
              <a:ext uri="{FF2B5EF4-FFF2-40B4-BE49-F238E27FC236}">
                <a16:creationId xmlns:a16="http://schemas.microsoft.com/office/drawing/2014/main" id="{8524D534-F5FE-A4B1-000E-C3EEF0293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7975" y="7566216"/>
            <a:ext cx="1735138" cy="289541"/>
          </a:xfrm>
          <a:prstGeom prst="chevron">
            <a:avLst>
              <a:gd name="adj" fmla="val 66396"/>
            </a:avLst>
          </a:prstGeom>
          <a:solidFill>
            <a:srgbClr val="DDDDDD"/>
          </a:solidFill>
          <a:ln w="25400" algn="ctr">
            <a:solidFill>
              <a:sysClr val="window" lastClr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1977" rIns="0" bIns="41977" anchor="ctr"/>
          <a:lstStyle/>
          <a:p>
            <a:pPr algn="ctr" defTabSz="839788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00" kern="0">
                <a:solidFill>
                  <a:srgbClr val="1C1C1C"/>
                </a:solidFill>
                <a:latin typeface="+mn-ea"/>
                <a:ea typeface="+mn-ea"/>
                <a:cs typeface="+mn-cs"/>
              </a:rPr>
              <a:t>SLA</a:t>
            </a:r>
            <a:r>
              <a:rPr kumimoji="0" lang="ko-KR" altLang="en-US" sz="900" kern="0">
                <a:solidFill>
                  <a:srgbClr val="1C1C1C"/>
                </a:solidFill>
                <a:latin typeface="+mn-ea"/>
                <a:ea typeface="+mn-ea"/>
                <a:cs typeface="+mn-cs"/>
              </a:rPr>
              <a:t>작성</a:t>
            </a:r>
          </a:p>
        </p:txBody>
      </p:sp>
      <p:sp>
        <p:nvSpPr>
          <p:cNvPr id="351" name="AutoShape 23">
            <a:extLst>
              <a:ext uri="{FF2B5EF4-FFF2-40B4-BE49-F238E27FC236}">
                <a16:creationId xmlns:a16="http://schemas.microsoft.com/office/drawing/2014/main" id="{3CE39645-ECB3-F615-12D1-5FA44B81B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8713" y="7564022"/>
            <a:ext cx="1320800" cy="296122"/>
          </a:xfrm>
          <a:prstGeom prst="chevron">
            <a:avLst>
              <a:gd name="adj" fmla="val 55866"/>
            </a:avLst>
          </a:prstGeom>
          <a:solidFill>
            <a:srgbClr val="DDDDDD"/>
          </a:solidFill>
          <a:ln w="25400" algn="ctr">
            <a:solidFill>
              <a:sysClr val="window" lastClr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1977" rIns="0" bIns="41977" anchor="ctr"/>
          <a:lstStyle/>
          <a:p>
            <a:pPr algn="ctr" defTabSz="839788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kern="0">
                <a:solidFill>
                  <a:srgbClr val="1C1C1C"/>
                </a:solidFill>
                <a:latin typeface="+mn-ea"/>
                <a:ea typeface="+mn-ea"/>
                <a:cs typeface="+mn-cs"/>
              </a:rPr>
              <a:t>지속적 관리</a:t>
            </a:r>
          </a:p>
        </p:txBody>
      </p:sp>
      <p:sp>
        <p:nvSpPr>
          <p:cNvPr id="353" name="Rectangle 28">
            <a:extLst>
              <a:ext uri="{FF2B5EF4-FFF2-40B4-BE49-F238E27FC236}">
                <a16:creationId xmlns:a16="http://schemas.microsoft.com/office/drawing/2014/main" id="{6D7DEBAF-8116-38A5-3397-D309FB8A3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7939110"/>
            <a:ext cx="295275" cy="1109908"/>
          </a:xfrm>
          <a:prstGeom prst="rect">
            <a:avLst/>
          </a:prstGeom>
          <a:gradFill rotWithShape="1">
            <a:gsLst>
              <a:gs pos="0">
                <a:srgbClr val="F6F6F6"/>
              </a:gs>
              <a:gs pos="100000">
                <a:srgbClr val="EAEAEA"/>
              </a:gs>
            </a:gsLst>
            <a:lin ang="5400000" scaled="1"/>
          </a:gradFill>
          <a:ln w="6350" algn="ctr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2700" dir="54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1600" tIns="0" rIns="21600" bIns="0" anchor="ctr"/>
          <a:lstStyle/>
          <a:p>
            <a:pPr algn="ctr" defTabSz="808038" fontAlgn="auto" latinLnBrk="0"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</a:pPr>
            <a:r>
              <a:rPr kumimoji="0" lang="ko-KR" altLang="en-US" sz="1000" b="0" dirty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계</a:t>
            </a:r>
          </a:p>
          <a:p>
            <a:pPr algn="ctr" defTabSz="808038" fontAlgn="auto" latinLnBrk="0"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</a:pPr>
            <a:r>
              <a:rPr kumimoji="0" lang="ko-KR" altLang="en-US" sz="1000" b="0" dirty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획</a:t>
            </a:r>
          </a:p>
        </p:txBody>
      </p:sp>
      <p:sp>
        <p:nvSpPr>
          <p:cNvPr id="354" name="Rectangle 29">
            <a:extLst>
              <a:ext uri="{FF2B5EF4-FFF2-40B4-BE49-F238E27FC236}">
                <a16:creationId xmlns:a16="http://schemas.microsoft.com/office/drawing/2014/main" id="{423AEDC7-F757-9495-FD0A-5803B5D90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863" y="7939110"/>
            <a:ext cx="298450" cy="1109908"/>
          </a:xfrm>
          <a:prstGeom prst="rect">
            <a:avLst/>
          </a:prstGeom>
          <a:gradFill rotWithShape="1">
            <a:gsLst>
              <a:gs pos="0">
                <a:srgbClr val="F6F6F6"/>
              </a:gs>
              <a:gs pos="100000">
                <a:srgbClr val="EAEAEA"/>
              </a:gs>
            </a:gsLst>
            <a:lin ang="5400000" scaled="1"/>
          </a:gradFill>
          <a:ln w="6350" algn="ctr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2700" dir="54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1600" tIns="0" rIns="21600" bIns="0" anchor="ctr"/>
          <a:lstStyle/>
          <a:p>
            <a:pPr algn="ctr" defTabSz="808038" fontAlgn="auto" latinLnBrk="0"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</a:pPr>
            <a:r>
              <a:rPr kumimoji="0" lang="ko-KR" altLang="en-US" sz="1000" b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초</a:t>
            </a:r>
          </a:p>
          <a:p>
            <a:pPr algn="ctr" defTabSz="808038" fontAlgn="auto" latinLnBrk="0"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</a:pPr>
            <a:r>
              <a:rPr kumimoji="0" lang="ko-KR" altLang="en-US" sz="1000" b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기</a:t>
            </a:r>
          </a:p>
          <a:p>
            <a:pPr algn="ctr" defTabSz="808038" fontAlgn="auto" latinLnBrk="0"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</a:pPr>
            <a:r>
              <a:rPr kumimoji="0" lang="ko-KR" altLang="en-US" sz="1000" b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설</a:t>
            </a:r>
          </a:p>
          <a:p>
            <a:pPr algn="ctr" defTabSz="808038" fontAlgn="auto" latinLnBrk="0"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</a:pPr>
            <a:r>
              <a:rPr kumimoji="0" lang="ko-KR" altLang="en-US" sz="1000" b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정</a:t>
            </a:r>
          </a:p>
        </p:txBody>
      </p:sp>
      <p:sp>
        <p:nvSpPr>
          <p:cNvPr id="355" name="Rectangle 30">
            <a:extLst>
              <a:ext uri="{FF2B5EF4-FFF2-40B4-BE49-F238E27FC236}">
                <a16:creationId xmlns:a16="http://schemas.microsoft.com/office/drawing/2014/main" id="{28E70491-F9AD-6EB3-3B9A-B9DFF2FC830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850109" y="8339773"/>
            <a:ext cx="1109908" cy="306388"/>
          </a:xfrm>
          <a:prstGeom prst="rect">
            <a:avLst/>
          </a:prstGeom>
          <a:gradFill rotWithShape="1">
            <a:gsLst>
              <a:gs pos="0">
                <a:srgbClr val="F6F6F6"/>
              </a:gs>
              <a:gs pos="100000">
                <a:srgbClr val="EAEAEA"/>
              </a:gs>
            </a:gsLst>
            <a:lin ang="5400000" scaled="1"/>
          </a:gradFill>
          <a:ln w="6350" algn="ctr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2700" dir="54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1600" tIns="0" rIns="21600" bIns="0" anchor="ctr"/>
          <a:lstStyle/>
          <a:p>
            <a:pPr algn="ctr" defTabSz="808038" fontAlgn="auto" latinLnBrk="0"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</a:pPr>
            <a:r>
              <a:rPr kumimoji="0" lang="en-US" altLang="ko-KR" sz="1000" b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Negotiate</a:t>
            </a:r>
          </a:p>
        </p:txBody>
      </p:sp>
      <p:sp>
        <p:nvSpPr>
          <p:cNvPr id="356" name="Rectangle 31">
            <a:extLst>
              <a:ext uri="{FF2B5EF4-FFF2-40B4-BE49-F238E27FC236}">
                <a16:creationId xmlns:a16="http://schemas.microsoft.com/office/drawing/2014/main" id="{AD9F35BC-EC62-8987-6841-03F0A171A23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221584" y="8340076"/>
            <a:ext cx="1109908" cy="307975"/>
          </a:xfrm>
          <a:prstGeom prst="rect">
            <a:avLst/>
          </a:prstGeom>
          <a:gradFill rotWithShape="1">
            <a:gsLst>
              <a:gs pos="0">
                <a:srgbClr val="F6F6F6"/>
              </a:gs>
              <a:gs pos="100000">
                <a:srgbClr val="EAEAEA"/>
              </a:gs>
            </a:gsLst>
            <a:lin ang="5400000" scaled="1"/>
          </a:gradFill>
          <a:ln w="6350" algn="ctr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2700" dir="54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1600" tIns="0" rIns="21600" bIns="0" anchor="ctr"/>
          <a:lstStyle/>
          <a:p>
            <a:pPr algn="ctr" defTabSz="808038" fontAlgn="auto" latinLnBrk="0"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</a:pPr>
            <a:r>
              <a:rPr kumimoji="0" lang="en-US" altLang="ko-KR" sz="1000" b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Negotiate</a:t>
            </a:r>
          </a:p>
        </p:txBody>
      </p:sp>
      <p:sp>
        <p:nvSpPr>
          <p:cNvPr id="357" name="Rectangle 32">
            <a:extLst>
              <a:ext uri="{FF2B5EF4-FFF2-40B4-BE49-F238E27FC236}">
                <a16:creationId xmlns:a16="http://schemas.microsoft.com/office/drawing/2014/main" id="{C074E2F2-B692-5791-A608-6FAB29112D2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594646" y="8339773"/>
            <a:ext cx="1109908" cy="306388"/>
          </a:xfrm>
          <a:prstGeom prst="rect">
            <a:avLst/>
          </a:prstGeom>
          <a:gradFill rotWithShape="1">
            <a:gsLst>
              <a:gs pos="0">
                <a:srgbClr val="F6F6F6"/>
              </a:gs>
              <a:gs pos="100000">
                <a:srgbClr val="EAEAEA"/>
              </a:gs>
            </a:gsLst>
            <a:lin ang="5400000" scaled="1"/>
          </a:gradFill>
          <a:ln w="6350" algn="ctr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2700" dir="54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1600" tIns="0" rIns="21600" bIns="0" anchor="ctr"/>
          <a:lstStyle/>
          <a:p>
            <a:pPr algn="ctr" defTabSz="808038" fontAlgn="auto" latinLnBrk="0"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</a:pPr>
            <a:r>
              <a:rPr kumimoji="0" lang="en-US" altLang="ko-KR" sz="1000" b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Agree SLA</a:t>
            </a:r>
          </a:p>
        </p:txBody>
      </p:sp>
      <p:sp>
        <p:nvSpPr>
          <p:cNvPr id="362" name="Rectangle 37">
            <a:extLst>
              <a:ext uri="{FF2B5EF4-FFF2-40B4-BE49-F238E27FC236}">
                <a16:creationId xmlns:a16="http://schemas.microsoft.com/office/drawing/2014/main" id="{F7BDB7DE-A4A9-F3EA-7CDF-CCE6C1E2502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018759" y="8350886"/>
            <a:ext cx="1109908" cy="284163"/>
          </a:xfrm>
          <a:prstGeom prst="rect">
            <a:avLst/>
          </a:prstGeom>
          <a:gradFill rotWithShape="1">
            <a:gsLst>
              <a:gs pos="0">
                <a:srgbClr val="F6F6F6"/>
              </a:gs>
              <a:gs pos="100000">
                <a:srgbClr val="EAEAEA"/>
              </a:gs>
            </a:gsLst>
            <a:lin ang="5400000" scaled="1"/>
          </a:gradFill>
          <a:ln w="6350" algn="ctr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2700" dir="54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1600" tIns="0" rIns="21600" bIns="0" anchor="ctr"/>
          <a:lstStyle/>
          <a:p>
            <a:pPr algn="ctr" defTabSz="808038" fontAlgn="auto" latinLnBrk="0"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</a:pPr>
            <a:r>
              <a:rPr kumimoji="0" lang="en-US" altLang="ko-KR" sz="1000" b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Report</a:t>
            </a:r>
          </a:p>
        </p:txBody>
      </p:sp>
      <p:sp>
        <p:nvSpPr>
          <p:cNvPr id="363" name="Rectangle 38">
            <a:extLst>
              <a:ext uri="{FF2B5EF4-FFF2-40B4-BE49-F238E27FC236}">
                <a16:creationId xmlns:a16="http://schemas.microsoft.com/office/drawing/2014/main" id="{4B1A2180-71AA-50FD-A3EB-2F0D7F61626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385471" y="8350886"/>
            <a:ext cx="1109908" cy="284163"/>
          </a:xfrm>
          <a:prstGeom prst="rect">
            <a:avLst/>
          </a:prstGeom>
          <a:gradFill rotWithShape="1">
            <a:gsLst>
              <a:gs pos="0">
                <a:srgbClr val="F6F6F6"/>
              </a:gs>
              <a:gs pos="100000">
                <a:srgbClr val="EAEAEA"/>
              </a:gs>
            </a:gsLst>
            <a:lin ang="5400000" scaled="1"/>
          </a:gradFill>
          <a:ln w="6350" algn="ctr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2700" dir="54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1600" tIns="0" rIns="21600" bIns="0" anchor="ctr"/>
          <a:lstStyle/>
          <a:p>
            <a:pPr algn="ctr" defTabSz="808038" fontAlgn="auto" latinLnBrk="0"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</a:pPr>
            <a:r>
              <a:rPr kumimoji="0" lang="en-US" altLang="ko-KR" sz="1000" b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Review</a:t>
            </a:r>
          </a:p>
        </p:txBody>
      </p:sp>
      <p:sp>
        <p:nvSpPr>
          <p:cNvPr id="365" name="Rectangle 40">
            <a:extLst>
              <a:ext uri="{FF2B5EF4-FFF2-40B4-BE49-F238E27FC236}">
                <a16:creationId xmlns:a16="http://schemas.microsoft.com/office/drawing/2014/main" id="{30D8FCB4-9BB7-28A8-AC37-BE75580B7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7325" y="7939110"/>
            <a:ext cx="296863" cy="1109908"/>
          </a:xfrm>
          <a:prstGeom prst="rect">
            <a:avLst/>
          </a:prstGeom>
          <a:gradFill rotWithShape="1">
            <a:gsLst>
              <a:gs pos="0">
                <a:srgbClr val="F6F6F6"/>
              </a:gs>
              <a:gs pos="100000">
                <a:srgbClr val="EAEAEA"/>
              </a:gs>
            </a:gsLst>
            <a:lin ang="5400000" scaled="1"/>
          </a:gradFill>
          <a:ln w="6350" algn="ctr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2700" dir="54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1600" tIns="0" rIns="21600" bIns="0" anchor="ctr"/>
          <a:lstStyle/>
          <a:p>
            <a:pPr algn="ctr" defTabSz="808038" fontAlgn="auto" latinLnBrk="0"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</a:pPr>
            <a:r>
              <a:rPr kumimoji="0" lang="en-US" altLang="ko-KR" sz="1000" b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Catalogue</a:t>
            </a:r>
            <a:br>
              <a:rPr kumimoji="0" lang="en-US" altLang="ko-KR" sz="1000" b="0">
                <a:solidFill>
                  <a:prstClr val="black"/>
                </a:solidFill>
                <a:latin typeface="+mn-ea"/>
                <a:ea typeface="+mn-ea"/>
                <a:cs typeface="+mn-cs"/>
              </a:rPr>
            </a:br>
            <a:r>
              <a:rPr kumimoji="0" lang="en-US" altLang="ko-KR" sz="1000" b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Services</a:t>
            </a:r>
          </a:p>
        </p:txBody>
      </p:sp>
      <p:sp>
        <p:nvSpPr>
          <p:cNvPr id="366" name="Rectangle 41">
            <a:extLst>
              <a:ext uri="{FF2B5EF4-FFF2-40B4-BE49-F238E27FC236}">
                <a16:creationId xmlns:a16="http://schemas.microsoft.com/office/drawing/2014/main" id="{069C8393-3375-B0B3-34DA-EE6183577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4675" y="7939110"/>
            <a:ext cx="296863" cy="1109908"/>
          </a:xfrm>
          <a:prstGeom prst="rect">
            <a:avLst/>
          </a:prstGeom>
          <a:gradFill rotWithShape="1">
            <a:gsLst>
              <a:gs pos="0">
                <a:srgbClr val="F6F6F6"/>
              </a:gs>
              <a:gs pos="100000">
                <a:srgbClr val="EAEAEA"/>
              </a:gs>
            </a:gsLst>
            <a:lin ang="5400000" scaled="1"/>
          </a:gradFill>
          <a:ln w="6350" algn="ctr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2700" dir="54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1600" tIns="0" rIns="21600" bIns="0" anchor="ctr"/>
          <a:lstStyle/>
          <a:p>
            <a:pPr algn="ctr" defTabSz="808038" fontAlgn="auto" latinLnBrk="0"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</a:pPr>
            <a:r>
              <a:rPr kumimoji="0" lang="ko-KR" altLang="en-US" sz="1000" b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서비스 수준 설정 </a:t>
            </a:r>
            <a:r>
              <a:rPr kumimoji="0" lang="en-US" altLang="ko-KR" sz="1000" b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&amp;Draft SLA</a:t>
            </a:r>
          </a:p>
        </p:txBody>
      </p:sp>
      <p:sp>
        <p:nvSpPr>
          <p:cNvPr id="377" name="Text Box 46">
            <a:extLst>
              <a:ext uri="{FF2B5EF4-FFF2-40B4-BE49-F238E27FC236}">
                <a16:creationId xmlns:a16="http://schemas.microsoft.com/office/drawing/2014/main" id="{451E8725-C38C-8C8E-435F-F474DB7FD4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4263" y="4405809"/>
            <a:ext cx="822325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>
            <a:spAutoFit/>
          </a:bodyPr>
          <a:lstStyle/>
          <a:p>
            <a:pPr algn="ctr" fontAlgn="ctr" latinLnBrk="0"/>
            <a:r>
              <a:rPr lang="ko-KR" altLang="en-US" sz="1200" dirty="0">
                <a:solidFill>
                  <a:srgbClr val="000000"/>
                </a:solidFill>
                <a:latin typeface="+mj-ea"/>
                <a:ea typeface="+mj-ea"/>
                <a:cs typeface="+mn-cs"/>
              </a:rPr>
              <a:t>정보시스템 </a:t>
            </a:r>
            <a:br>
              <a:rPr lang="ko-KR" altLang="en-US" sz="1200" dirty="0">
                <a:solidFill>
                  <a:srgbClr val="000000"/>
                </a:solidFill>
                <a:latin typeface="+mj-ea"/>
                <a:ea typeface="+mj-ea"/>
                <a:cs typeface="+mn-cs"/>
              </a:rPr>
            </a:br>
            <a:r>
              <a:rPr lang="ko-KR" altLang="en-US" sz="1200" dirty="0">
                <a:solidFill>
                  <a:srgbClr val="000000"/>
                </a:solidFill>
                <a:latin typeface="+mj-ea"/>
                <a:ea typeface="+mj-ea"/>
                <a:cs typeface="+mn-cs"/>
              </a:rPr>
              <a:t>운영</a:t>
            </a:r>
          </a:p>
        </p:txBody>
      </p:sp>
      <p:grpSp>
        <p:nvGrpSpPr>
          <p:cNvPr id="378" name="Group 47">
            <a:extLst>
              <a:ext uri="{FF2B5EF4-FFF2-40B4-BE49-F238E27FC236}">
                <a16:creationId xmlns:a16="http://schemas.microsoft.com/office/drawing/2014/main" id="{8D1E0E41-D5D2-C97C-2EF7-8C89AC85858F}"/>
              </a:ext>
            </a:extLst>
          </p:cNvPr>
          <p:cNvGrpSpPr>
            <a:grpSpLocks/>
          </p:cNvGrpSpPr>
          <p:nvPr/>
        </p:nvGrpSpPr>
        <p:grpSpPr bwMode="auto">
          <a:xfrm>
            <a:off x="5595938" y="3666034"/>
            <a:ext cx="620712" cy="479425"/>
            <a:chOff x="1152" y="3264"/>
            <a:chExt cx="1008" cy="624"/>
          </a:xfrm>
        </p:grpSpPr>
        <p:grpSp>
          <p:nvGrpSpPr>
            <p:cNvPr id="379" name="Group 48">
              <a:extLst>
                <a:ext uri="{FF2B5EF4-FFF2-40B4-BE49-F238E27FC236}">
                  <a16:creationId xmlns:a16="http://schemas.microsoft.com/office/drawing/2014/main" id="{B1D24FDF-82D9-4AD5-11F2-23185509A8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3264"/>
              <a:ext cx="432" cy="528"/>
              <a:chOff x="1503" y="2078"/>
              <a:chExt cx="499" cy="624"/>
            </a:xfrm>
          </p:grpSpPr>
          <p:sp>
            <p:nvSpPr>
              <p:cNvPr id="434" name="Rectangle 49">
                <a:extLst>
                  <a:ext uri="{FF2B5EF4-FFF2-40B4-BE49-F238E27FC236}">
                    <a16:creationId xmlns:a16="http://schemas.microsoft.com/office/drawing/2014/main" id="{53BF17C7-826F-0C3B-EC7C-3728FF2E65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4" y="2171"/>
                <a:ext cx="382" cy="526"/>
              </a:xfrm>
              <a:prstGeom prst="rect">
                <a:avLst/>
              </a:prstGeom>
              <a:gradFill rotWithShape="0">
                <a:gsLst>
                  <a:gs pos="0">
                    <a:srgbClr val="DADADA"/>
                  </a:gs>
                  <a:gs pos="100000">
                    <a:srgbClr val="DADADA">
                      <a:gamma/>
                      <a:shade val="80000"/>
                      <a:invGamma/>
                    </a:srgbClr>
                  </a:gs>
                </a:gsLst>
                <a:lin ang="5400000" scaled="1"/>
              </a:gra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35" name="Freeform 50">
                <a:extLst>
                  <a:ext uri="{FF2B5EF4-FFF2-40B4-BE49-F238E27FC236}">
                    <a16:creationId xmlns:a16="http://schemas.microsoft.com/office/drawing/2014/main" id="{431E2FCA-97F5-C639-5358-349169D97E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" y="2078"/>
                <a:ext cx="498" cy="95"/>
              </a:xfrm>
              <a:custGeom>
                <a:avLst/>
                <a:gdLst>
                  <a:gd name="T0" fmla="*/ 497 w 498"/>
                  <a:gd name="T1" fmla="*/ 94 h 95"/>
                  <a:gd name="T2" fmla="*/ 360 w 498"/>
                  <a:gd name="T3" fmla="*/ 0 h 95"/>
                  <a:gd name="T4" fmla="*/ 0 w 498"/>
                  <a:gd name="T5" fmla="*/ 0 h 95"/>
                  <a:gd name="T6" fmla="*/ 111 w 498"/>
                  <a:gd name="T7" fmla="*/ 94 h 95"/>
                  <a:gd name="T8" fmla="*/ 497 w 498"/>
                  <a:gd name="T9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8" h="95">
                    <a:moveTo>
                      <a:pt x="497" y="94"/>
                    </a:moveTo>
                    <a:lnTo>
                      <a:pt x="360" y="0"/>
                    </a:lnTo>
                    <a:lnTo>
                      <a:pt x="0" y="0"/>
                    </a:lnTo>
                    <a:lnTo>
                      <a:pt x="111" y="94"/>
                    </a:lnTo>
                    <a:lnTo>
                      <a:pt x="497" y="94"/>
                    </a:lnTo>
                  </a:path>
                </a:pathLst>
              </a:custGeom>
              <a:gradFill rotWithShape="0">
                <a:gsLst>
                  <a:gs pos="0">
                    <a:srgbClr val="DADADA"/>
                  </a:gs>
                  <a:gs pos="100000">
                    <a:srgbClr val="DADADA">
                      <a:gamma/>
                      <a:shade val="80000"/>
                      <a:invGamma/>
                    </a:srgbClr>
                  </a:gs>
                </a:gsLst>
                <a:lin ang="5400000" scaled="1"/>
              </a:gradFill>
              <a:ln w="12700" cap="rnd" cmpd="sng">
                <a:solidFill>
                  <a:srgbClr val="80808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36" name="Freeform 51">
                <a:extLst>
                  <a:ext uri="{FF2B5EF4-FFF2-40B4-BE49-F238E27FC236}">
                    <a16:creationId xmlns:a16="http://schemas.microsoft.com/office/drawing/2014/main" id="{D1936001-7FCC-C941-C59E-29B23D55E9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3" y="2081"/>
                <a:ext cx="109" cy="621"/>
              </a:xfrm>
              <a:custGeom>
                <a:avLst/>
                <a:gdLst>
                  <a:gd name="T0" fmla="*/ 108 w 109"/>
                  <a:gd name="T1" fmla="*/ 620 h 621"/>
                  <a:gd name="T2" fmla="*/ 108 w 109"/>
                  <a:gd name="T3" fmla="*/ 86 h 621"/>
                  <a:gd name="T4" fmla="*/ 0 w 109"/>
                  <a:gd name="T5" fmla="*/ 0 h 621"/>
                  <a:gd name="T6" fmla="*/ 0 w 109"/>
                  <a:gd name="T7" fmla="*/ 489 h 621"/>
                  <a:gd name="T8" fmla="*/ 108 w 109"/>
                  <a:gd name="T9" fmla="*/ 620 h 6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" h="621">
                    <a:moveTo>
                      <a:pt x="108" y="620"/>
                    </a:moveTo>
                    <a:lnTo>
                      <a:pt x="108" y="86"/>
                    </a:lnTo>
                    <a:lnTo>
                      <a:pt x="0" y="0"/>
                    </a:lnTo>
                    <a:lnTo>
                      <a:pt x="0" y="489"/>
                    </a:lnTo>
                    <a:lnTo>
                      <a:pt x="108" y="620"/>
                    </a:lnTo>
                  </a:path>
                </a:pathLst>
              </a:custGeom>
              <a:gradFill rotWithShape="0">
                <a:gsLst>
                  <a:gs pos="0">
                    <a:srgbClr val="000000">
                      <a:gamma/>
                      <a:tint val="70196"/>
                      <a:invGamma/>
                    </a:srgbClr>
                  </a:gs>
                  <a:gs pos="100000">
                    <a:srgbClr val="000000"/>
                  </a:gs>
                </a:gsLst>
                <a:lin ang="5400000" scaled="1"/>
              </a:gradFill>
              <a:ln w="12700" cap="rnd" cmpd="sng">
                <a:solidFill>
                  <a:srgbClr val="80808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37" name="Rectangle 52">
                <a:extLst>
                  <a:ext uri="{FF2B5EF4-FFF2-40B4-BE49-F238E27FC236}">
                    <a16:creationId xmlns:a16="http://schemas.microsoft.com/office/drawing/2014/main" id="{1D26C766-4A13-370E-6DB9-6E37294EAC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2" y="2212"/>
                <a:ext cx="150" cy="386"/>
              </a:xfrm>
              <a:prstGeom prst="rect">
                <a:avLst/>
              </a:prstGeom>
              <a:solidFill>
                <a:srgbClr val="CBCBCB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38" name="Rectangle 53">
                <a:extLst>
                  <a:ext uri="{FF2B5EF4-FFF2-40B4-BE49-F238E27FC236}">
                    <a16:creationId xmlns:a16="http://schemas.microsoft.com/office/drawing/2014/main" id="{9DA0BCA0-8F61-7C0F-5923-A251412E95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2" y="2212"/>
                <a:ext cx="123" cy="86"/>
              </a:xfrm>
              <a:prstGeom prst="rect">
                <a:avLst/>
              </a:prstGeom>
              <a:solidFill>
                <a:srgbClr val="CBCBCB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39" name="Line 54">
                <a:extLst>
                  <a:ext uri="{FF2B5EF4-FFF2-40B4-BE49-F238E27FC236}">
                    <a16:creationId xmlns:a16="http://schemas.microsoft.com/office/drawing/2014/main" id="{D23A624B-43AC-6B24-3B5C-9AD76C07DC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34" y="2332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40" name="Line 55">
                <a:extLst>
                  <a:ext uri="{FF2B5EF4-FFF2-40B4-BE49-F238E27FC236}">
                    <a16:creationId xmlns:a16="http://schemas.microsoft.com/office/drawing/2014/main" id="{F8874379-4DAC-D137-AF68-4BD7B2BDE3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34" y="2371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41" name="Line 56">
                <a:extLst>
                  <a:ext uri="{FF2B5EF4-FFF2-40B4-BE49-F238E27FC236}">
                    <a16:creationId xmlns:a16="http://schemas.microsoft.com/office/drawing/2014/main" id="{16CF28CC-6663-2D29-7412-94C8D41840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34" y="2406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42" name="Line 57">
                <a:extLst>
                  <a:ext uri="{FF2B5EF4-FFF2-40B4-BE49-F238E27FC236}">
                    <a16:creationId xmlns:a16="http://schemas.microsoft.com/office/drawing/2014/main" id="{160F736C-4971-78BA-3771-2065444128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34" y="2442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43" name="Line 58">
                <a:extLst>
                  <a:ext uri="{FF2B5EF4-FFF2-40B4-BE49-F238E27FC236}">
                    <a16:creationId xmlns:a16="http://schemas.microsoft.com/office/drawing/2014/main" id="{7FE0D280-6368-C4AB-0B8D-E1F2800B81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34" y="2478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44" name="Line 59">
                <a:extLst>
                  <a:ext uri="{FF2B5EF4-FFF2-40B4-BE49-F238E27FC236}">
                    <a16:creationId xmlns:a16="http://schemas.microsoft.com/office/drawing/2014/main" id="{1C76F743-2260-9F92-9AB8-8ED422684E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34" y="2512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45" name="Line 60">
                <a:extLst>
                  <a:ext uri="{FF2B5EF4-FFF2-40B4-BE49-F238E27FC236}">
                    <a16:creationId xmlns:a16="http://schemas.microsoft.com/office/drawing/2014/main" id="{17556B39-6335-ABF4-9ACB-6C8B324D49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34" y="2552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46" name="Line 61">
                <a:extLst>
                  <a:ext uri="{FF2B5EF4-FFF2-40B4-BE49-F238E27FC236}">
                    <a16:creationId xmlns:a16="http://schemas.microsoft.com/office/drawing/2014/main" id="{3DA03778-0043-39F0-02A0-20EA5CDB32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34" y="2586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47" name="Line 62">
                <a:extLst>
                  <a:ext uri="{FF2B5EF4-FFF2-40B4-BE49-F238E27FC236}">
                    <a16:creationId xmlns:a16="http://schemas.microsoft.com/office/drawing/2014/main" id="{8894C895-84B1-3DEC-E569-518673038D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18" y="2624"/>
                <a:ext cx="372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48" name="Line 63">
                <a:extLst>
                  <a:ext uri="{FF2B5EF4-FFF2-40B4-BE49-F238E27FC236}">
                    <a16:creationId xmlns:a16="http://schemas.microsoft.com/office/drawing/2014/main" id="{A409572F-9018-F0B6-8A3F-91490861CC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18" y="2656"/>
                <a:ext cx="372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49" name="Line 64">
                <a:extLst>
                  <a:ext uri="{FF2B5EF4-FFF2-40B4-BE49-F238E27FC236}">
                    <a16:creationId xmlns:a16="http://schemas.microsoft.com/office/drawing/2014/main" id="{2557EED4-C61E-52EF-0F11-695D0E8B1C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18" y="2684"/>
                <a:ext cx="372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50" name="Rectangle 65">
                <a:extLst>
                  <a:ext uri="{FF2B5EF4-FFF2-40B4-BE49-F238E27FC236}">
                    <a16:creationId xmlns:a16="http://schemas.microsoft.com/office/drawing/2014/main" id="{51579483-D431-C866-1E15-2FEE7BE06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3" y="2227"/>
                <a:ext cx="35" cy="22"/>
              </a:xfrm>
              <a:prstGeom prst="rect">
                <a:avLst/>
              </a:prstGeom>
              <a:solidFill>
                <a:srgbClr val="474747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51" name="Rectangle 66">
                <a:extLst>
                  <a:ext uri="{FF2B5EF4-FFF2-40B4-BE49-F238E27FC236}">
                    <a16:creationId xmlns:a16="http://schemas.microsoft.com/office/drawing/2014/main" id="{EA3EAB86-4797-3FA0-05C7-323D7D55A1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2" y="2227"/>
                <a:ext cx="22" cy="22"/>
              </a:xfrm>
              <a:prstGeom prst="rect">
                <a:avLst/>
              </a:prstGeom>
              <a:solidFill>
                <a:srgbClr val="474747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52" name="Rectangle 67">
                <a:extLst>
                  <a:ext uri="{FF2B5EF4-FFF2-40B4-BE49-F238E27FC236}">
                    <a16:creationId xmlns:a16="http://schemas.microsoft.com/office/drawing/2014/main" id="{15B792DF-DD2D-7FD1-8F31-B52C991A84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3" y="2264"/>
                <a:ext cx="85" cy="22"/>
              </a:xfrm>
              <a:prstGeom prst="rect">
                <a:avLst/>
              </a:prstGeom>
              <a:solidFill>
                <a:srgbClr val="474747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53" name="Rectangle 68">
                <a:extLst>
                  <a:ext uri="{FF2B5EF4-FFF2-40B4-BE49-F238E27FC236}">
                    <a16:creationId xmlns:a16="http://schemas.microsoft.com/office/drawing/2014/main" id="{D46420C1-5701-1E99-3E52-52A5DE48F0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4" y="2238"/>
                <a:ext cx="98" cy="23"/>
              </a:xfrm>
              <a:prstGeom prst="rect">
                <a:avLst/>
              </a:prstGeom>
              <a:solidFill>
                <a:srgbClr val="474747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54" name="Rectangle 69">
                <a:extLst>
                  <a:ext uri="{FF2B5EF4-FFF2-40B4-BE49-F238E27FC236}">
                    <a16:creationId xmlns:a16="http://schemas.microsoft.com/office/drawing/2014/main" id="{115394F9-07DF-4C4E-502A-CA6AABD0FC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6" y="2271"/>
                <a:ext cx="124" cy="33"/>
              </a:xfrm>
              <a:prstGeom prst="rect">
                <a:avLst/>
              </a:prstGeom>
              <a:solidFill>
                <a:srgbClr val="919191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55" name="Rectangle 70">
                <a:extLst>
                  <a:ext uri="{FF2B5EF4-FFF2-40B4-BE49-F238E27FC236}">
                    <a16:creationId xmlns:a16="http://schemas.microsoft.com/office/drawing/2014/main" id="{50CD7188-1BC8-586F-C782-59EDDABE3A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2" y="2363"/>
                <a:ext cx="150" cy="33"/>
              </a:xfrm>
              <a:prstGeom prst="rect">
                <a:avLst/>
              </a:prstGeom>
              <a:solidFill>
                <a:srgbClr val="919191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56" name="Rectangle 71">
                <a:extLst>
                  <a:ext uri="{FF2B5EF4-FFF2-40B4-BE49-F238E27FC236}">
                    <a16:creationId xmlns:a16="http://schemas.microsoft.com/office/drawing/2014/main" id="{0B8EFB38-7033-7BF4-765F-F6D1B856F2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2" y="2423"/>
                <a:ext cx="150" cy="35"/>
              </a:xfrm>
              <a:prstGeom prst="rect">
                <a:avLst/>
              </a:prstGeom>
              <a:solidFill>
                <a:srgbClr val="919191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57" name="Rectangle 72">
                <a:extLst>
                  <a:ext uri="{FF2B5EF4-FFF2-40B4-BE49-F238E27FC236}">
                    <a16:creationId xmlns:a16="http://schemas.microsoft.com/office/drawing/2014/main" id="{21283B34-985A-EFCC-90EB-4B49039829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2" y="2486"/>
                <a:ext cx="150" cy="35"/>
              </a:xfrm>
              <a:prstGeom prst="rect">
                <a:avLst/>
              </a:prstGeom>
              <a:solidFill>
                <a:srgbClr val="919191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58" name="Rectangle 73">
                <a:extLst>
                  <a:ext uri="{FF2B5EF4-FFF2-40B4-BE49-F238E27FC236}">
                    <a16:creationId xmlns:a16="http://schemas.microsoft.com/office/drawing/2014/main" id="{96E6F145-DB4D-8103-F499-1488BC3656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2" y="2548"/>
                <a:ext cx="150" cy="34"/>
              </a:xfrm>
              <a:prstGeom prst="rect">
                <a:avLst/>
              </a:prstGeom>
              <a:solidFill>
                <a:srgbClr val="919191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59" name="Rectangle 74">
                <a:extLst>
                  <a:ext uri="{FF2B5EF4-FFF2-40B4-BE49-F238E27FC236}">
                    <a16:creationId xmlns:a16="http://schemas.microsoft.com/office/drawing/2014/main" id="{EB2CCCD0-9D8A-8E0C-5087-3FA7AE13E3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2" y="2322"/>
                <a:ext cx="86" cy="23"/>
              </a:xfrm>
              <a:prstGeom prst="rect">
                <a:avLst/>
              </a:prstGeom>
              <a:solidFill>
                <a:srgbClr val="474747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</p:grpSp>
        <p:grpSp>
          <p:nvGrpSpPr>
            <p:cNvPr id="380" name="Group 75">
              <a:extLst>
                <a:ext uri="{FF2B5EF4-FFF2-40B4-BE49-F238E27FC236}">
                  <a16:creationId xmlns:a16="http://schemas.microsoft.com/office/drawing/2014/main" id="{506AA084-F335-CD32-76D5-24A0AA8CAE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3312"/>
              <a:ext cx="432" cy="528"/>
              <a:chOff x="1503" y="2078"/>
              <a:chExt cx="499" cy="624"/>
            </a:xfrm>
          </p:grpSpPr>
          <p:sp>
            <p:nvSpPr>
              <p:cNvPr id="408" name="Rectangle 76">
                <a:extLst>
                  <a:ext uri="{FF2B5EF4-FFF2-40B4-BE49-F238E27FC236}">
                    <a16:creationId xmlns:a16="http://schemas.microsoft.com/office/drawing/2014/main" id="{03AB8CB5-A729-BC19-5E77-3D0B6835D8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4" y="2171"/>
                <a:ext cx="382" cy="526"/>
              </a:xfrm>
              <a:prstGeom prst="rect">
                <a:avLst/>
              </a:prstGeom>
              <a:gradFill rotWithShape="0">
                <a:gsLst>
                  <a:gs pos="0">
                    <a:srgbClr val="DADADA"/>
                  </a:gs>
                  <a:gs pos="100000">
                    <a:srgbClr val="DADADA">
                      <a:gamma/>
                      <a:shade val="80000"/>
                      <a:invGamma/>
                    </a:srgbClr>
                  </a:gs>
                </a:gsLst>
                <a:lin ang="5400000" scaled="1"/>
              </a:gra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09" name="Freeform 77">
                <a:extLst>
                  <a:ext uri="{FF2B5EF4-FFF2-40B4-BE49-F238E27FC236}">
                    <a16:creationId xmlns:a16="http://schemas.microsoft.com/office/drawing/2014/main" id="{B4DE770D-76B7-8AC4-8CFE-5C5A7DA5FB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" y="2078"/>
                <a:ext cx="498" cy="95"/>
              </a:xfrm>
              <a:custGeom>
                <a:avLst/>
                <a:gdLst>
                  <a:gd name="T0" fmla="*/ 497 w 498"/>
                  <a:gd name="T1" fmla="*/ 94 h 95"/>
                  <a:gd name="T2" fmla="*/ 360 w 498"/>
                  <a:gd name="T3" fmla="*/ 0 h 95"/>
                  <a:gd name="T4" fmla="*/ 0 w 498"/>
                  <a:gd name="T5" fmla="*/ 0 h 95"/>
                  <a:gd name="T6" fmla="*/ 111 w 498"/>
                  <a:gd name="T7" fmla="*/ 94 h 95"/>
                  <a:gd name="T8" fmla="*/ 497 w 498"/>
                  <a:gd name="T9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8" h="95">
                    <a:moveTo>
                      <a:pt x="497" y="94"/>
                    </a:moveTo>
                    <a:lnTo>
                      <a:pt x="360" y="0"/>
                    </a:lnTo>
                    <a:lnTo>
                      <a:pt x="0" y="0"/>
                    </a:lnTo>
                    <a:lnTo>
                      <a:pt x="111" y="94"/>
                    </a:lnTo>
                    <a:lnTo>
                      <a:pt x="497" y="94"/>
                    </a:lnTo>
                  </a:path>
                </a:pathLst>
              </a:custGeom>
              <a:gradFill rotWithShape="0">
                <a:gsLst>
                  <a:gs pos="0">
                    <a:srgbClr val="DADADA"/>
                  </a:gs>
                  <a:gs pos="100000">
                    <a:srgbClr val="DADADA">
                      <a:gamma/>
                      <a:shade val="80000"/>
                      <a:invGamma/>
                    </a:srgbClr>
                  </a:gs>
                </a:gsLst>
                <a:lin ang="5400000" scaled="1"/>
              </a:gradFill>
              <a:ln w="12700" cap="rnd" cmpd="sng">
                <a:solidFill>
                  <a:srgbClr val="80808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10" name="Freeform 78">
                <a:extLst>
                  <a:ext uri="{FF2B5EF4-FFF2-40B4-BE49-F238E27FC236}">
                    <a16:creationId xmlns:a16="http://schemas.microsoft.com/office/drawing/2014/main" id="{9A1B3530-B2F7-1EDD-8F12-04590962C2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3" y="2081"/>
                <a:ext cx="109" cy="621"/>
              </a:xfrm>
              <a:custGeom>
                <a:avLst/>
                <a:gdLst>
                  <a:gd name="T0" fmla="*/ 108 w 109"/>
                  <a:gd name="T1" fmla="*/ 620 h 621"/>
                  <a:gd name="T2" fmla="*/ 108 w 109"/>
                  <a:gd name="T3" fmla="*/ 86 h 621"/>
                  <a:gd name="T4" fmla="*/ 0 w 109"/>
                  <a:gd name="T5" fmla="*/ 0 h 621"/>
                  <a:gd name="T6" fmla="*/ 0 w 109"/>
                  <a:gd name="T7" fmla="*/ 489 h 621"/>
                  <a:gd name="T8" fmla="*/ 108 w 109"/>
                  <a:gd name="T9" fmla="*/ 620 h 6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" h="621">
                    <a:moveTo>
                      <a:pt x="108" y="620"/>
                    </a:moveTo>
                    <a:lnTo>
                      <a:pt x="108" y="86"/>
                    </a:lnTo>
                    <a:lnTo>
                      <a:pt x="0" y="0"/>
                    </a:lnTo>
                    <a:lnTo>
                      <a:pt x="0" y="489"/>
                    </a:lnTo>
                    <a:lnTo>
                      <a:pt x="108" y="620"/>
                    </a:lnTo>
                  </a:path>
                </a:pathLst>
              </a:custGeom>
              <a:gradFill rotWithShape="0">
                <a:gsLst>
                  <a:gs pos="0">
                    <a:srgbClr val="000000">
                      <a:gamma/>
                      <a:tint val="70196"/>
                      <a:invGamma/>
                    </a:srgbClr>
                  </a:gs>
                  <a:gs pos="100000">
                    <a:srgbClr val="000000"/>
                  </a:gs>
                </a:gsLst>
                <a:lin ang="5400000" scaled="1"/>
              </a:gradFill>
              <a:ln w="12700" cap="rnd" cmpd="sng">
                <a:solidFill>
                  <a:srgbClr val="80808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11" name="Rectangle 79">
                <a:extLst>
                  <a:ext uri="{FF2B5EF4-FFF2-40B4-BE49-F238E27FC236}">
                    <a16:creationId xmlns:a16="http://schemas.microsoft.com/office/drawing/2014/main" id="{AEAA7FD3-0C4B-BE13-C731-A5D23A681E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2" y="2212"/>
                <a:ext cx="150" cy="386"/>
              </a:xfrm>
              <a:prstGeom prst="rect">
                <a:avLst/>
              </a:prstGeom>
              <a:solidFill>
                <a:srgbClr val="CBCBCB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12" name="Rectangle 80">
                <a:extLst>
                  <a:ext uri="{FF2B5EF4-FFF2-40B4-BE49-F238E27FC236}">
                    <a16:creationId xmlns:a16="http://schemas.microsoft.com/office/drawing/2014/main" id="{1BB3070C-F8A6-AB4A-366A-C40B6F0280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2" y="2212"/>
                <a:ext cx="123" cy="86"/>
              </a:xfrm>
              <a:prstGeom prst="rect">
                <a:avLst/>
              </a:prstGeom>
              <a:solidFill>
                <a:srgbClr val="CBCBCB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13" name="Line 81">
                <a:extLst>
                  <a:ext uri="{FF2B5EF4-FFF2-40B4-BE49-F238E27FC236}">
                    <a16:creationId xmlns:a16="http://schemas.microsoft.com/office/drawing/2014/main" id="{11A0E44F-F350-B5A1-5904-E1734FD3AE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34" y="2332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14" name="Line 82">
                <a:extLst>
                  <a:ext uri="{FF2B5EF4-FFF2-40B4-BE49-F238E27FC236}">
                    <a16:creationId xmlns:a16="http://schemas.microsoft.com/office/drawing/2014/main" id="{3735A73C-37B5-5879-2415-FACF7ECEF3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34" y="2371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15" name="Line 83">
                <a:extLst>
                  <a:ext uri="{FF2B5EF4-FFF2-40B4-BE49-F238E27FC236}">
                    <a16:creationId xmlns:a16="http://schemas.microsoft.com/office/drawing/2014/main" id="{E0101133-DEF9-DCFC-3111-8470E37D62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34" y="2406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16" name="Line 84">
                <a:extLst>
                  <a:ext uri="{FF2B5EF4-FFF2-40B4-BE49-F238E27FC236}">
                    <a16:creationId xmlns:a16="http://schemas.microsoft.com/office/drawing/2014/main" id="{0C1027AA-B068-A291-F363-BF6873D6A7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34" y="2442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17" name="Line 85">
                <a:extLst>
                  <a:ext uri="{FF2B5EF4-FFF2-40B4-BE49-F238E27FC236}">
                    <a16:creationId xmlns:a16="http://schemas.microsoft.com/office/drawing/2014/main" id="{8147612F-D2BD-2398-68AA-4D452A6883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34" y="2478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18" name="Line 86">
                <a:extLst>
                  <a:ext uri="{FF2B5EF4-FFF2-40B4-BE49-F238E27FC236}">
                    <a16:creationId xmlns:a16="http://schemas.microsoft.com/office/drawing/2014/main" id="{2231E08D-C7FF-91CC-FDB3-25B19A9EBA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34" y="2512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19" name="Line 87">
                <a:extLst>
                  <a:ext uri="{FF2B5EF4-FFF2-40B4-BE49-F238E27FC236}">
                    <a16:creationId xmlns:a16="http://schemas.microsoft.com/office/drawing/2014/main" id="{B6C9CB51-F82A-7D38-3A3F-2E23F205B7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34" y="2552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20" name="Line 88">
                <a:extLst>
                  <a:ext uri="{FF2B5EF4-FFF2-40B4-BE49-F238E27FC236}">
                    <a16:creationId xmlns:a16="http://schemas.microsoft.com/office/drawing/2014/main" id="{33BC3F62-1B0C-F11D-7249-2D7FC53CA7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34" y="2586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21" name="Line 89">
                <a:extLst>
                  <a:ext uri="{FF2B5EF4-FFF2-40B4-BE49-F238E27FC236}">
                    <a16:creationId xmlns:a16="http://schemas.microsoft.com/office/drawing/2014/main" id="{7D0B0407-1045-8BD0-D355-2B00B4A754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18" y="2624"/>
                <a:ext cx="372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22" name="Line 90">
                <a:extLst>
                  <a:ext uri="{FF2B5EF4-FFF2-40B4-BE49-F238E27FC236}">
                    <a16:creationId xmlns:a16="http://schemas.microsoft.com/office/drawing/2014/main" id="{0083B4A6-9A04-B673-F32E-37CAF3E06A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18" y="2656"/>
                <a:ext cx="372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23" name="Line 91">
                <a:extLst>
                  <a:ext uri="{FF2B5EF4-FFF2-40B4-BE49-F238E27FC236}">
                    <a16:creationId xmlns:a16="http://schemas.microsoft.com/office/drawing/2014/main" id="{FDE636A2-CD33-20E2-7163-AD75208C94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18" y="2684"/>
                <a:ext cx="372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24" name="Rectangle 92">
                <a:extLst>
                  <a:ext uri="{FF2B5EF4-FFF2-40B4-BE49-F238E27FC236}">
                    <a16:creationId xmlns:a16="http://schemas.microsoft.com/office/drawing/2014/main" id="{2239D43B-AE5B-5CDD-3688-3492468BA7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3" y="2227"/>
                <a:ext cx="35" cy="22"/>
              </a:xfrm>
              <a:prstGeom prst="rect">
                <a:avLst/>
              </a:prstGeom>
              <a:solidFill>
                <a:srgbClr val="474747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25" name="Rectangle 93">
                <a:extLst>
                  <a:ext uri="{FF2B5EF4-FFF2-40B4-BE49-F238E27FC236}">
                    <a16:creationId xmlns:a16="http://schemas.microsoft.com/office/drawing/2014/main" id="{7D7EEA0F-D0DB-A305-1E80-62430A0486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2" y="2227"/>
                <a:ext cx="22" cy="22"/>
              </a:xfrm>
              <a:prstGeom prst="rect">
                <a:avLst/>
              </a:prstGeom>
              <a:solidFill>
                <a:srgbClr val="474747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26" name="Rectangle 94">
                <a:extLst>
                  <a:ext uri="{FF2B5EF4-FFF2-40B4-BE49-F238E27FC236}">
                    <a16:creationId xmlns:a16="http://schemas.microsoft.com/office/drawing/2014/main" id="{0F04C863-F55E-4C06-15CC-26072C95B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3" y="2264"/>
                <a:ext cx="85" cy="22"/>
              </a:xfrm>
              <a:prstGeom prst="rect">
                <a:avLst/>
              </a:prstGeom>
              <a:solidFill>
                <a:srgbClr val="474747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27" name="Rectangle 95">
                <a:extLst>
                  <a:ext uri="{FF2B5EF4-FFF2-40B4-BE49-F238E27FC236}">
                    <a16:creationId xmlns:a16="http://schemas.microsoft.com/office/drawing/2014/main" id="{2F01EE03-684D-9858-4847-6B13ABA5F8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4" y="2238"/>
                <a:ext cx="98" cy="23"/>
              </a:xfrm>
              <a:prstGeom prst="rect">
                <a:avLst/>
              </a:prstGeom>
              <a:solidFill>
                <a:srgbClr val="474747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28" name="Rectangle 96">
                <a:extLst>
                  <a:ext uri="{FF2B5EF4-FFF2-40B4-BE49-F238E27FC236}">
                    <a16:creationId xmlns:a16="http://schemas.microsoft.com/office/drawing/2014/main" id="{5CC490E2-CE53-13DF-00C0-61DF89FF92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6" y="2271"/>
                <a:ext cx="124" cy="33"/>
              </a:xfrm>
              <a:prstGeom prst="rect">
                <a:avLst/>
              </a:prstGeom>
              <a:solidFill>
                <a:srgbClr val="919191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29" name="Rectangle 97">
                <a:extLst>
                  <a:ext uri="{FF2B5EF4-FFF2-40B4-BE49-F238E27FC236}">
                    <a16:creationId xmlns:a16="http://schemas.microsoft.com/office/drawing/2014/main" id="{ACEE7577-E652-971B-739B-09E2EC2FB4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2" y="2363"/>
                <a:ext cx="150" cy="33"/>
              </a:xfrm>
              <a:prstGeom prst="rect">
                <a:avLst/>
              </a:prstGeom>
              <a:solidFill>
                <a:srgbClr val="919191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30" name="Rectangle 98">
                <a:extLst>
                  <a:ext uri="{FF2B5EF4-FFF2-40B4-BE49-F238E27FC236}">
                    <a16:creationId xmlns:a16="http://schemas.microsoft.com/office/drawing/2014/main" id="{4C7D65CE-E95E-35C4-1ECE-5EE53E1D91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2" y="2423"/>
                <a:ext cx="150" cy="35"/>
              </a:xfrm>
              <a:prstGeom prst="rect">
                <a:avLst/>
              </a:prstGeom>
              <a:solidFill>
                <a:srgbClr val="919191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31" name="Rectangle 99">
                <a:extLst>
                  <a:ext uri="{FF2B5EF4-FFF2-40B4-BE49-F238E27FC236}">
                    <a16:creationId xmlns:a16="http://schemas.microsoft.com/office/drawing/2014/main" id="{FCA1A0CA-0B8F-1BB5-3728-196C817874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2" y="2486"/>
                <a:ext cx="150" cy="35"/>
              </a:xfrm>
              <a:prstGeom prst="rect">
                <a:avLst/>
              </a:prstGeom>
              <a:solidFill>
                <a:srgbClr val="919191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32" name="Rectangle 100">
                <a:extLst>
                  <a:ext uri="{FF2B5EF4-FFF2-40B4-BE49-F238E27FC236}">
                    <a16:creationId xmlns:a16="http://schemas.microsoft.com/office/drawing/2014/main" id="{27948492-E481-6B0B-7E93-2106E20D79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2" y="2548"/>
                <a:ext cx="150" cy="34"/>
              </a:xfrm>
              <a:prstGeom prst="rect">
                <a:avLst/>
              </a:prstGeom>
              <a:solidFill>
                <a:srgbClr val="919191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33" name="Rectangle 101">
                <a:extLst>
                  <a:ext uri="{FF2B5EF4-FFF2-40B4-BE49-F238E27FC236}">
                    <a16:creationId xmlns:a16="http://schemas.microsoft.com/office/drawing/2014/main" id="{F52B40FA-E63B-BFC6-7F42-D7734B3514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2" y="2322"/>
                <a:ext cx="86" cy="23"/>
              </a:xfrm>
              <a:prstGeom prst="rect">
                <a:avLst/>
              </a:prstGeom>
              <a:solidFill>
                <a:srgbClr val="474747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</p:grpSp>
        <p:grpSp>
          <p:nvGrpSpPr>
            <p:cNvPr id="381" name="Group 102">
              <a:extLst>
                <a:ext uri="{FF2B5EF4-FFF2-40B4-BE49-F238E27FC236}">
                  <a16:creationId xmlns:a16="http://schemas.microsoft.com/office/drawing/2014/main" id="{67BDAF42-7D84-9E61-4E48-FF62EA760E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3360"/>
              <a:ext cx="432" cy="528"/>
              <a:chOff x="1503" y="2078"/>
              <a:chExt cx="499" cy="624"/>
            </a:xfrm>
          </p:grpSpPr>
          <p:sp>
            <p:nvSpPr>
              <p:cNvPr id="382" name="Rectangle 103">
                <a:extLst>
                  <a:ext uri="{FF2B5EF4-FFF2-40B4-BE49-F238E27FC236}">
                    <a16:creationId xmlns:a16="http://schemas.microsoft.com/office/drawing/2014/main" id="{5D246FF0-C31A-96D5-454D-B0EEBA8F94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4" y="2171"/>
                <a:ext cx="382" cy="526"/>
              </a:xfrm>
              <a:prstGeom prst="rect">
                <a:avLst/>
              </a:prstGeom>
              <a:gradFill rotWithShape="0">
                <a:gsLst>
                  <a:gs pos="0">
                    <a:srgbClr val="DADADA"/>
                  </a:gs>
                  <a:gs pos="100000">
                    <a:srgbClr val="DADADA">
                      <a:gamma/>
                      <a:shade val="80000"/>
                      <a:invGamma/>
                    </a:srgbClr>
                  </a:gs>
                </a:gsLst>
                <a:lin ang="5400000" scaled="1"/>
              </a:gra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383" name="Freeform 104">
                <a:extLst>
                  <a:ext uri="{FF2B5EF4-FFF2-40B4-BE49-F238E27FC236}">
                    <a16:creationId xmlns:a16="http://schemas.microsoft.com/office/drawing/2014/main" id="{CC0F7963-A847-CAA4-D4CA-CA61634DFF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" y="2078"/>
                <a:ext cx="498" cy="95"/>
              </a:xfrm>
              <a:custGeom>
                <a:avLst/>
                <a:gdLst>
                  <a:gd name="T0" fmla="*/ 497 w 498"/>
                  <a:gd name="T1" fmla="*/ 94 h 95"/>
                  <a:gd name="T2" fmla="*/ 360 w 498"/>
                  <a:gd name="T3" fmla="*/ 0 h 95"/>
                  <a:gd name="T4" fmla="*/ 0 w 498"/>
                  <a:gd name="T5" fmla="*/ 0 h 95"/>
                  <a:gd name="T6" fmla="*/ 111 w 498"/>
                  <a:gd name="T7" fmla="*/ 94 h 95"/>
                  <a:gd name="T8" fmla="*/ 497 w 498"/>
                  <a:gd name="T9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8" h="95">
                    <a:moveTo>
                      <a:pt x="497" y="94"/>
                    </a:moveTo>
                    <a:lnTo>
                      <a:pt x="360" y="0"/>
                    </a:lnTo>
                    <a:lnTo>
                      <a:pt x="0" y="0"/>
                    </a:lnTo>
                    <a:lnTo>
                      <a:pt x="111" y="94"/>
                    </a:lnTo>
                    <a:lnTo>
                      <a:pt x="497" y="94"/>
                    </a:lnTo>
                  </a:path>
                </a:pathLst>
              </a:custGeom>
              <a:gradFill rotWithShape="0">
                <a:gsLst>
                  <a:gs pos="0">
                    <a:srgbClr val="DADADA"/>
                  </a:gs>
                  <a:gs pos="100000">
                    <a:srgbClr val="DADADA">
                      <a:gamma/>
                      <a:shade val="80000"/>
                      <a:invGamma/>
                    </a:srgbClr>
                  </a:gs>
                </a:gsLst>
                <a:lin ang="5400000" scaled="1"/>
              </a:gradFill>
              <a:ln w="12700" cap="rnd" cmpd="sng">
                <a:solidFill>
                  <a:srgbClr val="80808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384" name="Freeform 105">
                <a:extLst>
                  <a:ext uri="{FF2B5EF4-FFF2-40B4-BE49-F238E27FC236}">
                    <a16:creationId xmlns:a16="http://schemas.microsoft.com/office/drawing/2014/main" id="{67A58849-D9B2-DEE2-D804-04C58DC54B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3" y="2081"/>
                <a:ext cx="109" cy="621"/>
              </a:xfrm>
              <a:custGeom>
                <a:avLst/>
                <a:gdLst>
                  <a:gd name="T0" fmla="*/ 108 w 109"/>
                  <a:gd name="T1" fmla="*/ 620 h 621"/>
                  <a:gd name="T2" fmla="*/ 108 w 109"/>
                  <a:gd name="T3" fmla="*/ 86 h 621"/>
                  <a:gd name="T4" fmla="*/ 0 w 109"/>
                  <a:gd name="T5" fmla="*/ 0 h 621"/>
                  <a:gd name="T6" fmla="*/ 0 w 109"/>
                  <a:gd name="T7" fmla="*/ 489 h 621"/>
                  <a:gd name="T8" fmla="*/ 108 w 109"/>
                  <a:gd name="T9" fmla="*/ 620 h 6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" h="621">
                    <a:moveTo>
                      <a:pt x="108" y="620"/>
                    </a:moveTo>
                    <a:lnTo>
                      <a:pt x="108" y="86"/>
                    </a:lnTo>
                    <a:lnTo>
                      <a:pt x="0" y="0"/>
                    </a:lnTo>
                    <a:lnTo>
                      <a:pt x="0" y="489"/>
                    </a:lnTo>
                    <a:lnTo>
                      <a:pt x="108" y="620"/>
                    </a:lnTo>
                  </a:path>
                </a:pathLst>
              </a:custGeom>
              <a:gradFill rotWithShape="0">
                <a:gsLst>
                  <a:gs pos="0">
                    <a:srgbClr val="000000">
                      <a:gamma/>
                      <a:tint val="70196"/>
                      <a:invGamma/>
                    </a:srgbClr>
                  </a:gs>
                  <a:gs pos="100000">
                    <a:srgbClr val="000000"/>
                  </a:gs>
                </a:gsLst>
                <a:lin ang="5400000" scaled="1"/>
              </a:gradFill>
              <a:ln w="12700" cap="rnd" cmpd="sng">
                <a:solidFill>
                  <a:srgbClr val="80808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385" name="Rectangle 106">
                <a:extLst>
                  <a:ext uri="{FF2B5EF4-FFF2-40B4-BE49-F238E27FC236}">
                    <a16:creationId xmlns:a16="http://schemas.microsoft.com/office/drawing/2014/main" id="{1875F302-F676-46CB-0B54-5A434733C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2" y="2212"/>
                <a:ext cx="150" cy="386"/>
              </a:xfrm>
              <a:prstGeom prst="rect">
                <a:avLst/>
              </a:prstGeom>
              <a:solidFill>
                <a:srgbClr val="CBCBCB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386" name="Rectangle 107">
                <a:extLst>
                  <a:ext uri="{FF2B5EF4-FFF2-40B4-BE49-F238E27FC236}">
                    <a16:creationId xmlns:a16="http://schemas.microsoft.com/office/drawing/2014/main" id="{0D13CE9E-4537-F76D-A3A1-8EBDE45195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2" y="2212"/>
                <a:ext cx="123" cy="86"/>
              </a:xfrm>
              <a:prstGeom prst="rect">
                <a:avLst/>
              </a:prstGeom>
              <a:solidFill>
                <a:srgbClr val="CBCBCB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387" name="Line 108">
                <a:extLst>
                  <a:ext uri="{FF2B5EF4-FFF2-40B4-BE49-F238E27FC236}">
                    <a16:creationId xmlns:a16="http://schemas.microsoft.com/office/drawing/2014/main" id="{5BAF551E-B594-355B-F21A-CFE22AE1BD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34" y="2332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388" name="Line 109">
                <a:extLst>
                  <a:ext uri="{FF2B5EF4-FFF2-40B4-BE49-F238E27FC236}">
                    <a16:creationId xmlns:a16="http://schemas.microsoft.com/office/drawing/2014/main" id="{1761A7DA-94E6-A211-9864-45B7A453EC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34" y="2371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389" name="Line 110">
                <a:extLst>
                  <a:ext uri="{FF2B5EF4-FFF2-40B4-BE49-F238E27FC236}">
                    <a16:creationId xmlns:a16="http://schemas.microsoft.com/office/drawing/2014/main" id="{CFD1FBCE-9EFC-DE7C-7F28-A1C4224649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34" y="2406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390" name="Line 111">
                <a:extLst>
                  <a:ext uri="{FF2B5EF4-FFF2-40B4-BE49-F238E27FC236}">
                    <a16:creationId xmlns:a16="http://schemas.microsoft.com/office/drawing/2014/main" id="{23A9E954-358E-D11F-0ACF-A6E842F423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34" y="2442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391" name="Line 112">
                <a:extLst>
                  <a:ext uri="{FF2B5EF4-FFF2-40B4-BE49-F238E27FC236}">
                    <a16:creationId xmlns:a16="http://schemas.microsoft.com/office/drawing/2014/main" id="{4B2C19BE-CF9D-9E8E-6C8F-AB030FBEF2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34" y="2478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392" name="Line 113">
                <a:extLst>
                  <a:ext uri="{FF2B5EF4-FFF2-40B4-BE49-F238E27FC236}">
                    <a16:creationId xmlns:a16="http://schemas.microsoft.com/office/drawing/2014/main" id="{C0381785-C164-990A-D7F9-7CC43D8C71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34" y="2512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393" name="Line 114">
                <a:extLst>
                  <a:ext uri="{FF2B5EF4-FFF2-40B4-BE49-F238E27FC236}">
                    <a16:creationId xmlns:a16="http://schemas.microsoft.com/office/drawing/2014/main" id="{7C5875A8-476A-351E-8111-BADC93097B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34" y="2552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394" name="Line 115">
                <a:extLst>
                  <a:ext uri="{FF2B5EF4-FFF2-40B4-BE49-F238E27FC236}">
                    <a16:creationId xmlns:a16="http://schemas.microsoft.com/office/drawing/2014/main" id="{16010852-4B0C-2431-D516-ADCF243C03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34" y="2586"/>
                <a:ext cx="159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395" name="Line 116">
                <a:extLst>
                  <a:ext uri="{FF2B5EF4-FFF2-40B4-BE49-F238E27FC236}">
                    <a16:creationId xmlns:a16="http://schemas.microsoft.com/office/drawing/2014/main" id="{37DFFC95-354A-3A0B-D676-578A0EFE2E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18" y="2624"/>
                <a:ext cx="372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396" name="Line 117">
                <a:extLst>
                  <a:ext uri="{FF2B5EF4-FFF2-40B4-BE49-F238E27FC236}">
                    <a16:creationId xmlns:a16="http://schemas.microsoft.com/office/drawing/2014/main" id="{BE603C4D-4D57-E036-0D94-3F175EF0B1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18" y="2656"/>
                <a:ext cx="372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397" name="Line 118">
                <a:extLst>
                  <a:ext uri="{FF2B5EF4-FFF2-40B4-BE49-F238E27FC236}">
                    <a16:creationId xmlns:a16="http://schemas.microsoft.com/office/drawing/2014/main" id="{0F9941EC-BEA5-D479-5012-155AD34039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18" y="2684"/>
                <a:ext cx="372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398" name="Rectangle 119">
                <a:extLst>
                  <a:ext uri="{FF2B5EF4-FFF2-40B4-BE49-F238E27FC236}">
                    <a16:creationId xmlns:a16="http://schemas.microsoft.com/office/drawing/2014/main" id="{BC6DC1B6-908B-2214-3B00-01AB5CB2FC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3" y="2227"/>
                <a:ext cx="35" cy="22"/>
              </a:xfrm>
              <a:prstGeom prst="rect">
                <a:avLst/>
              </a:prstGeom>
              <a:solidFill>
                <a:srgbClr val="474747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399" name="Rectangle 120">
                <a:extLst>
                  <a:ext uri="{FF2B5EF4-FFF2-40B4-BE49-F238E27FC236}">
                    <a16:creationId xmlns:a16="http://schemas.microsoft.com/office/drawing/2014/main" id="{16B21FD8-01B7-ED12-6478-2BE2659E89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2" y="2227"/>
                <a:ext cx="22" cy="22"/>
              </a:xfrm>
              <a:prstGeom prst="rect">
                <a:avLst/>
              </a:prstGeom>
              <a:solidFill>
                <a:srgbClr val="474747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00" name="Rectangle 121">
                <a:extLst>
                  <a:ext uri="{FF2B5EF4-FFF2-40B4-BE49-F238E27FC236}">
                    <a16:creationId xmlns:a16="http://schemas.microsoft.com/office/drawing/2014/main" id="{EF71CE34-4188-E992-8A74-2727483BD0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3" y="2264"/>
                <a:ext cx="85" cy="22"/>
              </a:xfrm>
              <a:prstGeom prst="rect">
                <a:avLst/>
              </a:prstGeom>
              <a:solidFill>
                <a:srgbClr val="474747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01" name="Rectangle 122">
                <a:extLst>
                  <a:ext uri="{FF2B5EF4-FFF2-40B4-BE49-F238E27FC236}">
                    <a16:creationId xmlns:a16="http://schemas.microsoft.com/office/drawing/2014/main" id="{AD7F9523-0D77-75A0-E106-273E3F6794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4" y="2238"/>
                <a:ext cx="98" cy="23"/>
              </a:xfrm>
              <a:prstGeom prst="rect">
                <a:avLst/>
              </a:prstGeom>
              <a:solidFill>
                <a:srgbClr val="474747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02" name="Rectangle 123">
                <a:extLst>
                  <a:ext uri="{FF2B5EF4-FFF2-40B4-BE49-F238E27FC236}">
                    <a16:creationId xmlns:a16="http://schemas.microsoft.com/office/drawing/2014/main" id="{73206755-7C9D-61C5-9A2D-353AF82862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6" y="2271"/>
                <a:ext cx="124" cy="33"/>
              </a:xfrm>
              <a:prstGeom prst="rect">
                <a:avLst/>
              </a:prstGeom>
              <a:solidFill>
                <a:srgbClr val="919191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03" name="Rectangle 124">
                <a:extLst>
                  <a:ext uri="{FF2B5EF4-FFF2-40B4-BE49-F238E27FC236}">
                    <a16:creationId xmlns:a16="http://schemas.microsoft.com/office/drawing/2014/main" id="{05A9D70A-8DAD-BB29-ABC3-2842A71F4A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2" y="2363"/>
                <a:ext cx="150" cy="33"/>
              </a:xfrm>
              <a:prstGeom prst="rect">
                <a:avLst/>
              </a:prstGeom>
              <a:solidFill>
                <a:srgbClr val="919191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04" name="Rectangle 125">
                <a:extLst>
                  <a:ext uri="{FF2B5EF4-FFF2-40B4-BE49-F238E27FC236}">
                    <a16:creationId xmlns:a16="http://schemas.microsoft.com/office/drawing/2014/main" id="{DEE374B4-5BC5-C6DE-6960-FD75EF42D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2" y="2423"/>
                <a:ext cx="150" cy="35"/>
              </a:xfrm>
              <a:prstGeom prst="rect">
                <a:avLst/>
              </a:prstGeom>
              <a:solidFill>
                <a:srgbClr val="919191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05" name="Rectangle 126">
                <a:extLst>
                  <a:ext uri="{FF2B5EF4-FFF2-40B4-BE49-F238E27FC236}">
                    <a16:creationId xmlns:a16="http://schemas.microsoft.com/office/drawing/2014/main" id="{4730174F-D615-83FA-8A09-7A05FF7EF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2" y="2486"/>
                <a:ext cx="150" cy="35"/>
              </a:xfrm>
              <a:prstGeom prst="rect">
                <a:avLst/>
              </a:prstGeom>
              <a:solidFill>
                <a:srgbClr val="919191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06" name="Rectangle 127">
                <a:extLst>
                  <a:ext uri="{FF2B5EF4-FFF2-40B4-BE49-F238E27FC236}">
                    <a16:creationId xmlns:a16="http://schemas.microsoft.com/office/drawing/2014/main" id="{D5024A08-8B12-26D5-349D-C1A9F94622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2" y="2548"/>
                <a:ext cx="150" cy="34"/>
              </a:xfrm>
              <a:prstGeom prst="rect">
                <a:avLst/>
              </a:prstGeom>
              <a:solidFill>
                <a:srgbClr val="919191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407" name="Rectangle 128">
                <a:extLst>
                  <a:ext uri="{FF2B5EF4-FFF2-40B4-BE49-F238E27FC236}">
                    <a16:creationId xmlns:a16="http://schemas.microsoft.com/office/drawing/2014/main" id="{A204C088-E086-9131-EC39-3EDFCD22C2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2" y="2322"/>
                <a:ext cx="86" cy="23"/>
              </a:xfrm>
              <a:prstGeom prst="rect">
                <a:avLst/>
              </a:prstGeom>
              <a:solidFill>
                <a:srgbClr val="474747"/>
              </a:solidFill>
              <a:ln w="12700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</p:grpSp>
      </p:grpSp>
      <p:grpSp>
        <p:nvGrpSpPr>
          <p:cNvPr id="460" name="Group 129">
            <a:extLst>
              <a:ext uri="{FF2B5EF4-FFF2-40B4-BE49-F238E27FC236}">
                <a16:creationId xmlns:a16="http://schemas.microsoft.com/office/drawing/2014/main" id="{600F04BC-7CF4-EBCB-9D1C-2964F7E64E64}"/>
              </a:ext>
            </a:extLst>
          </p:cNvPr>
          <p:cNvGrpSpPr>
            <a:grpSpLocks/>
          </p:cNvGrpSpPr>
          <p:nvPr/>
        </p:nvGrpSpPr>
        <p:grpSpPr bwMode="auto">
          <a:xfrm>
            <a:off x="5653088" y="4213721"/>
            <a:ext cx="584200" cy="433388"/>
            <a:chOff x="2304" y="3312"/>
            <a:chExt cx="720" cy="576"/>
          </a:xfrm>
        </p:grpSpPr>
        <p:sp>
          <p:nvSpPr>
            <p:cNvPr id="461" name="AutoShape 130">
              <a:extLst>
                <a:ext uri="{FF2B5EF4-FFF2-40B4-BE49-F238E27FC236}">
                  <a16:creationId xmlns:a16="http://schemas.microsoft.com/office/drawing/2014/main" id="{17D75B4E-8676-9C29-BB4E-3FD83CBDC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312"/>
              <a:ext cx="336" cy="432"/>
            </a:xfrm>
            <a:prstGeom prst="can">
              <a:avLst>
                <a:gd name="adj" fmla="val 32143"/>
              </a:avLst>
            </a:prstGeom>
            <a:gradFill rotWithShape="0">
              <a:gsLst>
                <a:gs pos="0">
                  <a:srgbClr val="FFCCCC"/>
                </a:gs>
                <a:gs pos="50000">
                  <a:srgbClr val="FFCCCC">
                    <a:gamma/>
                    <a:tint val="15294"/>
                    <a:invGamma/>
                  </a:srgbClr>
                </a:gs>
                <a:gs pos="100000">
                  <a:srgbClr val="FFCCCC"/>
                </a:gs>
              </a:gsLst>
              <a:lin ang="0" scaled="1"/>
            </a:gradFill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462" name="AutoShape 131">
              <a:extLst>
                <a:ext uri="{FF2B5EF4-FFF2-40B4-BE49-F238E27FC236}">
                  <a16:creationId xmlns:a16="http://schemas.microsoft.com/office/drawing/2014/main" id="{F05D9442-28DB-33E1-3F59-8F9F55338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3408"/>
              <a:ext cx="336" cy="432"/>
            </a:xfrm>
            <a:prstGeom prst="can">
              <a:avLst>
                <a:gd name="adj" fmla="val 32143"/>
              </a:avLst>
            </a:prstGeom>
            <a:gradFill rotWithShape="0">
              <a:gsLst>
                <a:gs pos="0">
                  <a:srgbClr val="FFCCCC"/>
                </a:gs>
                <a:gs pos="50000">
                  <a:srgbClr val="FFCCCC">
                    <a:gamma/>
                    <a:tint val="15294"/>
                    <a:invGamma/>
                  </a:srgbClr>
                </a:gs>
                <a:gs pos="100000">
                  <a:srgbClr val="FFCCCC"/>
                </a:gs>
              </a:gsLst>
              <a:lin ang="0" scaled="1"/>
            </a:gradFill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463" name="AutoShape 132">
              <a:extLst>
                <a:ext uri="{FF2B5EF4-FFF2-40B4-BE49-F238E27FC236}">
                  <a16:creationId xmlns:a16="http://schemas.microsoft.com/office/drawing/2014/main" id="{49EB3B6C-F011-7211-A8CE-59166E47CF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3456"/>
              <a:ext cx="336" cy="432"/>
            </a:xfrm>
            <a:prstGeom prst="can">
              <a:avLst>
                <a:gd name="adj" fmla="val 32143"/>
              </a:avLst>
            </a:prstGeom>
            <a:gradFill rotWithShape="0">
              <a:gsLst>
                <a:gs pos="0">
                  <a:srgbClr val="FFCCCC"/>
                </a:gs>
                <a:gs pos="50000">
                  <a:srgbClr val="FFCCCC">
                    <a:gamma/>
                    <a:tint val="15294"/>
                    <a:invGamma/>
                  </a:srgbClr>
                </a:gs>
                <a:gs pos="100000">
                  <a:srgbClr val="FFCCCC"/>
                </a:gs>
              </a:gsLst>
              <a:lin ang="0" scaled="1"/>
            </a:gradFill>
            <a:ln w="127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  <p:graphicFrame>
        <p:nvGraphicFramePr>
          <p:cNvPr id="464" name="Object 133">
            <a:extLst>
              <a:ext uri="{FF2B5EF4-FFF2-40B4-BE49-F238E27FC236}">
                <a16:creationId xmlns:a16="http://schemas.microsoft.com/office/drawing/2014/main" id="{2532D593-5F32-F979-4128-16E80725B8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983083"/>
              </p:ext>
            </p:extLst>
          </p:nvPr>
        </p:nvGraphicFramePr>
        <p:xfrm>
          <a:off x="5832475" y="4994771"/>
          <a:ext cx="392113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5" imgW="769680" imgH="457200" progId="StaticMetafile">
                  <p:embed/>
                </p:oleObj>
              </mc:Choice>
              <mc:Fallback>
                <p:oleObj name="Picture" r:id="rId5" imgW="769680" imgH="457200" progId="StaticMetafile">
                  <p:embed/>
                  <p:pic>
                    <p:nvPicPr>
                      <p:cNvPr id="130181" name="Object 1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475" y="4994771"/>
                        <a:ext cx="392113" cy="20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5" name="Group 134">
            <a:extLst>
              <a:ext uri="{FF2B5EF4-FFF2-40B4-BE49-F238E27FC236}">
                <a16:creationId xmlns:a16="http://schemas.microsoft.com/office/drawing/2014/main" id="{D4FFBD41-3AB0-2102-D32D-5C3BD4C392EB}"/>
              </a:ext>
            </a:extLst>
          </p:cNvPr>
          <p:cNvGrpSpPr>
            <a:grpSpLocks/>
          </p:cNvGrpSpPr>
          <p:nvPr/>
        </p:nvGrpSpPr>
        <p:grpSpPr bwMode="auto">
          <a:xfrm>
            <a:off x="5691188" y="5261471"/>
            <a:ext cx="506412" cy="347663"/>
            <a:chOff x="1536" y="5297"/>
            <a:chExt cx="624" cy="463"/>
          </a:xfrm>
        </p:grpSpPr>
        <p:grpSp>
          <p:nvGrpSpPr>
            <p:cNvPr id="466" name="Group 135">
              <a:extLst>
                <a:ext uri="{FF2B5EF4-FFF2-40B4-BE49-F238E27FC236}">
                  <a16:creationId xmlns:a16="http://schemas.microsoft.com/office/drawing/2014/main" id="{8502A9A5-F858-BB83-0895-89BE6C44AD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5437"/>
              <a:ext cx="463" cy="323"/>
              <a:chOff x="2364" y="2745"/>
              <a:chExt cx="756" cy="810"/>
            </a:xfrm>
          </p:grpSpPr>
          <p:graphicFrame>
            <p:nvGraphicFramePr>
              <p:cNvPr id="468" name="Object 136">
                <a:extLst>
                  <a:ext uri="{FF2B5EF4-FFF2-40B4-BE49-F238E27FC236}">
                    <a16:creationId xmlns:a16="http://schemas.microsoft.com/office/drawing/2014/main" id="{1A907E46-00D0-BB60-BD69-A748C930D7F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364" y="2745"/>
              <a:ext cx="756" cy="8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클립" r:id="rId7" imgW="1200000" imgH="1285714" progId="MS_ClipArt_Gallery.2">
                      <p:embed/>
                    </p:oleObj>
                  </mc:Choice>
                  <mc:Fallback>
                    <p:oleObj name="클립" r:id="rId7" imgW="1200000" imgH="1285714" progId="MS_ClipArt_Gallery.2">
                      <p:embed/>
                      <p:pic>
                        <p:nvPicPr>
                          <p:cNvPr id="130184" name="Object 1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64" y="2745"/>
                            <a:ext cx="756" cy="81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pic>
            <p:nvPicPr>
              <p:cNvPr id="469" name="CLIP0033.AVI">
                <a:hlinkClick r:id="" action="ppaction://media"/>
                <a:extLst>
                  <a:ext uri="{FF2B5EF4-FFF2-40B4-BE49-F238E27FC236}">
                    <a16:creationId xmlns:a16="http://schemas.microsoft.com/office/drawing/2014/main" id="{9A80A05C-FF94-C40A-9BEF-AA17C3A7785E}"/>
                  </a:ext>
                </a:extLst>
              </p:cNvPr>
              <p:cNvPicPr>
                <a:picLocks noRot="1" noChangeAspect="1" noChangeArrowheads="1"/>
              </p:cNvPicPr>
              <p:nvPr>
                <a:videoFile r:link="rId1"/>
              </p:nvPr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67" y="2775"/>
                <a:ext cx="452" cy="39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467" name="Picture 138">
              <a:extLst>
                <a:ext uri="{FF2B5EF4-FFF2-40B4-BE49-F238E27FC236}">
                  <a16:creationId xmlns:a16="http://schemas.microsoft.com/office/drawing/2014/main" id="{912BC9F0-8CA5-AFA7-294D-3D9B0B9217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6" y="5297"/>
              <a:ext cx="384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A603AB"/>
                      </a:gs>
                      <a:gs pos="21001">
                        <a:srgbClr val="0819FB"/>
                      </a:gs>
                      <a:gs pos="35001">
                        <a:srgbClr val="1A8D48"/>
                      </a:gs>
                      <a:gs pos="52000">
                        <a:srgbClr val="FFFF00"/>
                      </a:gs>
                      <a:gs pos="73000">
                        <a:srgbClr val="EE3F17"/>
                      </a:gs>
                      <a:gs pos="88000">
                        <a:srgbClr val="E81766"/>
                      </a:gs>
                      <a:gs pos="100000">
                        <a:srgbClr val="A603AB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470" name="Rectangle 139">
            <a:extLst>
              <a:ext uri="{FF2B5EF4-FFF2-40B4-BE49-F238E27FC236}">
                <a16:creationId xmlns:a16="http://schemas.microsoft.com/office/drawing/2014/main" id="{B9DC8B8F-D724-B3F2-1ADD-50E7FC01C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8" y="3743821"/>
            <a:ext cx="1016000" cy="1817688"/>
          </a:xfrm>
          <a:prstGeom prst="rect">
            <a:avLst/>
          </a:prstGeom>
          <a:solidFill>
            <a:srgbClr val="FFFFFF"/>
          </a:solidFill>
          <a:ln w="9525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2000" tIns="36000" rIns="36000" bIns="36000" anchor="ctr"/>
          <a:lstStyle/>
          <a:p>
            <a:pPr marL="0" marR="0" lvl="0" indent="0" defTabSz="91440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471" name="AutoShape 140">
            <a:extLst>
              <a:ext uri="{FF2B5EF4-FFF2-40B4-BE49-F238E27FC236}">
                <a16:creationId xmlns:a16="http://schemas.microsoft.com/office/drawing/2014/main" id="{8AC9EBAF-47F4-DF74-AA6C-3528D0E4852B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85019" y="4500265"/>
            <a:ext cx="1795462" cy="323850"/>
          </a:xfrm>
          <a:custGeom>
            <a:avLst/>
            <a:gdLst>
              <a:gd name="G0" fmla="+- 6525 0 0"/>
              <a:gd name="G1" fmla="+- 21600 0 6525"/>
              <a:gd name="G2" fmla="*/ 6525 1 2"/>
              <a:gd name="G3" fmla="+- 21600 0 G2"/>
              <a:gd name="G4" fmla="+/ 6525 21600 2"/>
              <a:gd name="G5" fmla="+/ G1 0 2"/>
              <a:gd name="G6" fmla="*/ 21600 21600 6525"/>
              <a:gd name="G7" fmla="*/ G6 1 2"/>
              <a:gd name="G8" fmla="+- 21600 0 G7"/>
              <a:gd name="G9" fmla="*/ 21600 1 2"/>
              <a:gd name="G10" fmla="+- 6525 0 G9"/>
              <a:gd name="G11" fmla="?: G10 G8 0"/>
              <a:gd name="G12" fmla="?: G10 G7 21600"/>
              <a:gd name="T0" fmla="*/ 18337 w 21600"/>
              <a:gd name="T1" fmla="*/ 10800 h 21600"/>
              <a:gd name="T2" fmla="*/ 10800 w 21600"/>
              <a:gd name="T3" fmla="*/ 21600 h 21600"/>
              <a:gd name="T4" fmla="*/ 3263 w 21600"/>
              <a:gd name="T5" fmla="*/ 10800 h 21600"/>
              <a:gd name="T6" fmla="*/ 10800 w 21600"/>
              <a:gd name="T7" fmla="*/ 0 h 21600"/>
              <a:gd name="T8" fmla="*/ 5063 w 21600"/>
              <a:gd name="T9" fmla="*/ 5063 h 21600"/>
              <a:gd name="T10" fmla="*/ 16537 w 21600"/>
              <a:gd name="T11" fmla="*/ 165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6525" y="21600"/>
                </a:lnTo>
                <a:lnTo>
                  <a:pt x="15075" y="21600"/>
                </a:lnTo>
                <a:lnTo>
                  <a:pt x="21600" y="0"/>
                </a:lnTo>
                <a:close/>
              </a:path>
            </a:pathLst>
          </a:custGeom>
          <a:gradFill rotWithShape="0">
            <a:gsLst>
              <a:gs pos="0">
                <a:srgbClr val="CCECFF"/>
              </a:gs>
              <a:gs pos="100000">
                <a:srgbClr val="CCECFF">
                  <a:gamma/>
                  <a:tint val="0"/>
                  <a:invGamma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800" b="0">
              <a:solidFill>
                <a:srgbClr val="000000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472" name="AutoShape 141">
            <a:extLst>
              <a:ext uri="{FF2B5EF4-FFF2-40B4-BE49-F238E27FC236}">
                <a16:creationId xmlns:a16="http://schemas.microsoft.com/office/drawing/2014/main" id="{90AF11B2-3A65-3C1C-5D45-FC9E30B2661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491457" y="4414540"/>
            <a:ext cx="1795462" cy="495300"/>
          </a:xfrm>
          <a:custGeom>
            <a:avLst/>
            <a:gdLst>
              <a:gd name="G0" fmla="+- 6525 0 0"/>
              <a:gd name="G1" fmla="+- 21600 0 6525"/>
              <a:gd name="G2" fmla="*/ 6525 1 2"/>
              <a:gd name="G3" fmla="+- 21600 0 G2"/>
              <a:gd name="G4" fmla="+/ 6525 21600 2"/>
              <a:gd name="G5" fmla="+/ G1 0 2"/>
              <a:gd name="G6" fmla="*/ 21600 21600 6525"/>
              <a:gd name="G7" fmla="*/ G6 1 2"/>
              <a:gd name="G8" fmla="+- 21600 0 G7"/>
              <a:gd name="G9" fmla="*/ 21600 1 2"/>
              <a:gd name="G10" fmla="+- 6525 0 G9"/>
              <a:gd name="G11" fmla="?: G10 G8 0"/>
              <a:gd name="G12" fmla="?: G10 G7 21600"/>
              <a:gd name="T0" fmla="*/ 18337 w 21600"/>
              <a:gd name="T1" fmla="*/ 10800 h 21600"/>
              <a:gd name="T2" fmla="*/ 10800 w 21600"/>
              <a:gd name="T3" fmla="*/ 21600 h 21600"/>
              <a:gd name="T4" fmla="*/ 3263 w 21600"/>
              <a:gd name="T5" fmla="*/ 10800 h 21600"/>
              <a:gd name="T6" fmla="*/ 10800 w 21600"/>
              <a:gd name="T7" fmla="*/ 0 h 21600"/>
              <a:gd name="T8" fmla="*/ 5063 w 21600"/>
              <a:gd name="T9" fmla="*/ 5063 h 21600"/>
              <a:gd name="T10" fmla="*/ 16537 w 21600"/>
              <a:gd name="T11" fmla="*/ 165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6525" y="21600"/>
                </a:lnTo>
                <a:lnTo>
                  <a:pt x="15075" y="21600"/>
                </a:lnTo>
                <a:lnTo>
                  <a:pt x="21600" y="0"/>
                </a:lnTo>
                <a:close/>
              </a:path>
            </a:pathLst>
          </a:custGeom>
          <a:gradFill rotWithShape="0">
            <a:gsLst>
              <a:gs pos="0">
                <a:srgbClr val="CCECFF">
                  <a:gamma/>
                  <a:tint val="0"/>
                  <a:invGamma/>
                </a:srgbClr>
              </a:gs>
              <a:gs pos="100000">
                <a:srgbClr val="CCEC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800" b="0">
              <a:solidFill>
                <a:srgbClr val="000000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474" name="Rectangle 143">
            <a:extLst>
              <a:ext uri="{FF2B5EF4-FFF2-40B4-BE49-F238E27FC236}">
                <a16:creationId xmlns:a16="http://schemas.microsoft.com/office/drawing/2014/main" id="{3D1A5DB0-F688-DB00-AAF1-3E14E40FA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" y="5199559"/>
            <a:ext cx="892175" cy="285750"/>
          </a:xfrm>
          <a:prstGeom prst="rect">
            <a:avLst/>
          </a:prstGeom>
          <a:gradFill rotWithShape="1">
            <a:gsLst>
              <a:gs pos="0">
                <a:srgbClr val="F6F6F6"/>
              </a:gs>
              <a:gs pos="100000">
                <a:srgbClr val="EAEAEA"/>
              </a:gs>
            </a:gsLst>
            <a:lin ang="5400000" scaled="1"/>
          </a:gradFill>
          <a:ln w="6350" algn="ctr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2700" dir="54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1600" tIns="0" rIns="21600" bIns="0" anchor="ctr"/>
          <a:lstStyle/>
          <a:p>
            <a:pPr algn="ctr" defTabSz="808038" fontAlgn="auto" latinLnBrk="0"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</a:pPr>
            <a:r>
              <a:rPr kumimoji="0" lang="ko-KR" altLang="en-US" sz="1000" b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규정</a:t>
            </a:r>
            <a:r>
              <a:rPr kumimoji="0" lang="en-US" altLang="ko-KR" sz="1000" b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/</a:t>
            </a:r>
            <a:r>
              <a:rPr kumimoji="0" lang="ko-KR" altLang="en-US" sz="1000" b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지침</a:t>
            </a:r>
          </a:p>
        </p:txBody>
      </p:sp>
      <p:sp>
        <p:nvSpPr>
          <p:cNvPr id="475" name="Rectangle 144">
            <a:extLst>
              <a:ext uri="{FF2B5EF4-FFF2-40B4-BE49-F238E27FC236}">
                <a16:creationId xmlns:a16="http://schemas.microsoft.com/office/drawing/2014/main" id="{88471F7C-38C8-EDBA-AC2B-C6D04DA52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" y="4266109"/>
            <a:ext cx="890588" cy="290512"/>
          </a:xfrm>
          <a:prstGeom prst="rect">
            <a:avLst/>
          </a:prstGeom>
          <a:gradFill rotWithShape="1">
            <a:gsLst>
              <a:gs pos="0">
                <a:srgbClr val="F6F6F6"/>
              </a:gs>
              <a:gs pos="100000">
                <a:srgbClr val="EAEAEA"/>
              </a:gs>
            </a:gsLst>
            <a:lin ang="5400000" scaled="1"/>
          </a:gradFill>
          <a:ln w="6350" algn="ctr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2700" dir="54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1600" tIns="0" rIns="21600" bIns="0" anchor="ctr"/>
          <a:lstStyle/>
          <a:p>
            <a:pPr algn="ctr" defTabSz="808038" fontAlgn="auto" latinLnBrk="0"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</a:pPr>
            <a:r>
              <a:rPr kumimoji="0" lang="ko-KR" altLang="en-US" sz="1000" b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업무규정</a:t>
            </a:r>
          </a:p>
        </p:txBody>
      </p:sp>
      <p:sp>
        <p:nvSpPr>
          <p:cNvPr id="476" name="Rectangle 145">
            <a:extLst>
              <a:ext uri="{FF2B5EF4-FFF2-40B4-BE49-F238E27FC236}">
                <a16:creationId xmlns:a16="http://schemas.microsoft.com/office/drawing/2014/main" id="{14DE4825-15B3-B6EE-2F93-20C4F9CF5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" y="4734421"/>
            <a:ext cx="892175" cy="285750"/>
          </a:xfrm>
          <a:prstGeom prst="rect">
            <a:avLst/>
          </a:prstGeom>
          <a:gradFill rotWithShape="1">
            <a:gsLst>
              <a:gs pos="0">
                <a:srgbClr val="F6F6F6"/>
              </a:gs>
              <a:gs pos="100000">
                <a:srgbClr val="EAEAEA"/>
              </a:gs>
            </a:gsLst>
            <a:lin ang="5400000" scaled="1"/>
          </a:gradFill>
          <a:ln w="6350" algn="ctr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2700" dir="54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1600" tIns="0" rIns="21600" bIns="0" anchor="ctr"/>
          <a:lstStyle/>
          <a:p>
            <a:pPr algn="ctr" defTabSz="808038" fontAlgn="auto" latinLnBrk="0"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</a:pPr>
            <a:r>
              <a:rPr kumimoji="0" lang="ko-KR" altLang="en-US" sz="1000" b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업무지침</a:t>
            </a:r>
          </a:p>
        </p:txBody>
      </p:sp>
      <p:sp>
        <p:nvSpPr>
          <p:cNvPr id="477" name="Rectangle 146">
            <a:extLst>
              <a:ext uri="{FF2B5EF4-FFF2-40B4-BE49-F238E27FC236}">
                <a16:creationId xmlns:a16="http://schemas.microsoft.com/office/drawing/2014/main" id="{1791CEE9-7A02-1961-8195-EE2B9E0EB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" y="3802559"/>
            <a:ext cx="892175" cy="288925"/>
          </a:xfrm>
          <a:prstGeom prst="rect">
            <a:avLst/>
          </a:prstGeom>
          <a:gradFill rotWithShape="1">
            <a:gsLst>
              <a:gs pos="0">
                <a:srgbClr val="F6F6F6"/>
              </a:gs>
              <a:gs pos="100000">
                <a:srgbClr val="EAEAEA"/>
              </a:gs>
            </a:gsLst>
            <a:lin ang="5400000" scaled="1"/>
          </a:gradFill>
          <a:ln w="6350" algn="ctr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2700" dir="54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1600" tIns="0" rIns="21600" bIns="0" anchor="ctr"/>
          <a:lstStyle/>
          <a:p>
            <a:pPr algn="ctr" defTabSz="808038" fontAlgn="auto" latinLnBrk="0"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</a:pPr>
            <a:r>
              <a:rPr kumimoji="0" lang="ko-KR" altLang="en-US" sz="1000" b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전사규정</a:t>
            </a:r>
          </a:p>
        </p:txBody>
      </p:sp>
      <p:cxnSp>
        <p:nvCxnSpPr>
          <p:cNvPr id="478" name="AutoShape 147">
            <a:extLst>
              <a:ext uri="{FF2B5EF4-FFF2-40B4-BE49-F238E27FC236}">
                <a16:creationId xmlns:a16="http://schemas.microsoft.com/office/drawing/2014/main" id="{2E9FCDF9-6821-A88B-D356-C3032C87203F}"/>
              </a:ext>
            </a:extLst>
          </p:cNvPr>
          <p:cNvCxnSpPr>
            <a:cxnSpLocks noChangeShapeType="1"/>
            <a:stCxn id="477" idx="2"/>
            <a:endCxn id="475" idx="0"/>
          </p:cNvCxnSpPr>
          <p:nvPr/>
        </p:nvCxnSpPr>
        <p:spPr bwMode="auto">
          <a:xfrm flipH="1">
            <a:off x="990600" y="4091484"/>
            <a:ext cx="3175" cy="174625"/>
          </a:xfrm>
          <a:prstGeom prst="straightConnector1">
            <a:avLst/>
          </a:prstGeom>
          <a:noFill/>
          <a:ln w="6350">
            <a:solidFill>
              <a:srgbClr val="80808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79" name="AutoShape 148">
            <a:extLst>
              <a:ext uri="{FF2B5EF4-FFF2-40B4-BE49-F238E27FC236}">
                <a16:creationId xmlns:a16="http://schemas.microsoft.com/office/drawing/2014/main" id="{22837FBA-339E-4CC5-F64F-931EAF7635C7}"/>
              </a:ext>
            </a:extLst>
          </p:cNvPr>
          <p:cNvCxnSpPr>
            <a:cxnSpLocks noChangeShapeType="1"/>
            <a:stCxn id="475" idx="2"/>
            <a:endCxn id="476" idx="0"/>
          </p:cNvCxnSpPr>
          <p:nvPr/>
        </p:nvCxnSpPr>
        <p:spPr bwMode="auto">
          <a:xfrm>
            <a:off x="990600" y="4556621"/>
            <a:ext cx="3175" cy="177800"/>
          </a:xfrm>
          <a:prstGeom prst="straightConnector1">
            <a:avLst/>
          </a:prstGeom>
          <a:noFill/>
          <a:ln w="6350">
            <a:solidFill>
              <a:srgbClr val="80808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80" name="AutoShape 149">
            <a:extLst>
              <a:ext uri="{FF2B5EF4-FFF2-40B4-BE49-F238E27FC236}">
                <a16:creationId xmlns:a16="http://schemas.microsoft.com/office/drawing/2014/main" id="{E7FEC919-D73B-2361-6D26-0C61F12FA780}"/>
              </a:ext>
            </a:extLst>
          </p:cNvPr>
          <p:cNvCxnSpPr>
            <a:cxnSpLocks noChangeShapeType="1"/>
            <a:stCxn id="476" idx="2"/>
            <a:endCxn id="474" idx="0"/>
          </p:cNvCxnSpPr>
          <p:nvPr/>
        </p:nvCxnSpPr>
        <p:spPr bwMode="auto">
          <a:xfrm>
            <a:off x="993775" y="5020171"/>
            <a:ext cx="0" cy="179388"/>
          </a:xfrm>
          <a:prstGeom prst="straightConnector1">
            <a:avLst/>
          </a:prstGeom>
          <a:noFill/>
          <a:ln w="6350">
            <a:solidFill>
              <a:srgbClr val="80808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graphicFrame>
        <p:nvGraphicFramePr>
          <p:cNvPr id="487" name="Object 156">
            <a:extLst>
              <a:ext uri="{FF2B5EF4-FFF2-40B4-BE49-F238E27FC236}">
                <a16:creationId xmlns:a16="http://schemas.microsoft.com/office/drawing/2014/main" id="{CB1210BB-E405-F8B4-1FFE-8B49CBEB78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2237302"/>
              </p:ext>
            </p:extLst>
          </p:nvPr>
        </p:nvGraphicFramePr>
        <p:xfrm>
          <a:off x="5718175" y="4751884"/>
          <a:ext cx="254000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11" imgW="703080" imgH="685800" progId="StaticMetafile">
                  <p:embed/>
                </p:oleObj>
              </mc:Choice>
              <mc:Fallback>
                <p:oleObj name="Picture" r:id="rId11" imgW="703080" imgH="685800" progId="StaticMetafile">
                  <p:embed/>
                  <p:pic>
                    <p:nvPicPr>
                      <p:cNvPr id="130204" name="Object 1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8175" y="4751884"/>
                        <a:ext cx="254000" cy="26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8" name="Group 157">
            <a:extLst>
              <a:ext uri="{FF2B5EF4-FFF2-40B4-BE49-F238E27FC236}">
                <a16:creationId xmlns:a16="http://schemas.microsoft.com/office/drawing/2014/main" id="{9DD49112-98C2-DA09-4267-37EC089A238A}"/>
              </a:ext>
            </a:extLst>
          </p:cNvPr>
          <p:cNvGrpSpPr>
            <a:grpSpLocks/>
          </p:cNvGrpSpPr>
          <p:nvPr/>
        </p:nvGrpSpPr>
        <p:grpSpPr bwMode="auto">
          <a:xfrm>
            <a:off x="2668425" y="3502521"/>
            <a:ext cx="1800225" cy="838200"/>
            <a:chOff x="1593" y="2258"/>
            <a:chExt cx="1134" cy="463"/>
          </a:xfrm>
        </p:grpSpPr>
        <p:sp>
          <p:nvSpPr>
            <p:cNvPr id="489" name="AutoShape 158">
              <a:extLst>
                <a:ext uri="{FF2B5EF4-FFF2-40B4-BE49-F238E27FC236}">
                  <a16:creationId xmlns:a16="http://schemas.microsoft.com/office/drawing/2014/main" id="{E50C2C4A-29CA-1F80-CF6E-9249F7D9D02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855" y="2266"/>
              <a:ext cx="872" cy="446"/>
            </a:xfrm>
            <a:prstGeom prst="roundRect">
              <a:avLst>
                <a:gd name="adj" fmla="val 6991"/>
              </a:avLst>
            </a:prstGeom>
            <a:solidFill>
              <a:srgbClr val="FFFFFF"/>
            </a:solidFill>
            <a:ln w="6350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72000" tIns="0" rIns="18000" bIns="0" anchor="ctr"/>
            <a:lstStyle>
              <a:lvl1pPr marL="44450" indent="-44450">
                <a:defRPr kumimoji="1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1pPr>
              <a:lvl2pPr marL="271463" indent="-133350">
                <a:defRPr kumimoji="1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2pPr>
              <a:lvl3pPr>
                <a:defRPr kumimoji="1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3pPr>
              <a:lvl4pPr>
                <a:defRPr kumimoji="1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4pPr>
              <a:lvl5pPr>
                <a:defRPr kumimoji="1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9pPr>
            </a:lstStyle>
            <a:p>
              <a:pPr marL="44450" marR="0" lvl="0" indent="-44450" defTabSz="914400" eaLnBrk="1" fontAlgn="ctr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Char char="•"/>
                <a:tabLst/>
                <a:defRPr/>
              </a:pPr>
              <a:r>
                <a:rPr lang="ko-KR" alt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+mn-cs"/>
                </a:rPr>
                <a:t>변경관리</a:t>
              </a:r>
            </a:p>
            <a:p>
              <a:pPr marL="44450" marR="0" lvl="0" indent="-44450" defTabSz="914400" eaLnBrk="1" fontAlgn="ctr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Char char="•"/>
                <a:tabLst/>
                <a:defRPr/>
              </a:pPr>
              <a:r>
                <a:rPr lang="ko-KR" alt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+mn-cs"/>
                </a:rPr>
                <a:t>장애관리</a:t>
              </a:r>
            </a:p>
            <a:p>
              <a:pPr marL="44450" marR="0" lvl="0" indent="-44450" defTabSz="914400" eaLnBrk="1" fontAlgn="ctr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Char char="•"/>
                <a:tabLst/>
                <a:defRPr/>
              </a:pPr>
              <a:r>
                <a:rPr lang="ko-KR" alt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+mn-cs"/>
                </a:rPr>
                <a:t>보안관리</a:t>
              </a:r>
            </a:p>
            <a:p>
              <a:pPr marL="44450" marR="0" lvl="0" indent="-44450" defTabSz="914400" eaLnBrk="1" fontAlgn="ctr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Char char="•"/>
                <a:tabLst/>
                <a:defRPr/>
              </a:pPr>
              <a:r>
                <a:rPr lang="en-US" altLang="ko-KR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+mn-cs"/>
                </a:rPr>
                <a:t>IT </a:t>
              </a:r>
              <a:r>
                <a:rPr lang="ko-KR" alt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+mn-cs"/>
                </a:rPr>
                <a:t>기획관리</a:t>
              </a:r>
            </a:p>
          </p:txBody>
        </p:sp>
        <p:sp>
          <p:nvSpPr>
            <p:cNvPr id="490" name="Rectangle 159">
              <a:extLst>
                <a:ext uri="{FF2B5EF4-FFF2-40B4-BE49-F238E27FC236}">
                  <a16:creationId xmlns:a16="http://schemas.microsoft.com/office/drawing/2014/main" id="{EC345B7E-23C3-24C7-3AAC-8BA3D321C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3" y="2258"/>
              <a:ext cx="291" cy="463"/>
            </a:xfrm>
            <a:prstGeom prst="rect">
              <a:avLst/>
            </a:prstGeom>
            <a:solidFill>
              <a:srgbClr val="C8C8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1001908" latinLnBrk="0"/>
              <a:r>
                <a:rPr lang="ko-KR" alt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+mn-cs"/>
                </a:rPr>
                <a:t>관리</a:t>
              </a:r>
              <a:br>
                <a:rPr lang="ko-KR" alt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+mn-cs"/>
                </a:rPr>
              </a:br>
              <a:r>
                <a:rPr lang="ko-KR" alt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+mn-cs"/>
                </a:rPr>
                <a:t>지침</a:t>
              </a:r>
            </a:p>
          </p:txBody>
        </p:sp>
      </p:grpSp>
      <p:grpSp>
        <p:nvGrpSpPr>
          <p:cNvPr id="491" name="Group 160">
            <a:extLst>
              <a:ext uri="{FF2B5EF4-FFF2-40B4-BE49-F238E27FC236}">
                <a16:creationId xmlns:a16="http://schemas.microsoft.com/office/drawing/2014/main" id="{884AE8A7-A9FD-9273-44F3-58FE200C85CC}"/>
              </a:ext>
            </a:extLst>
          </p:cNvPr>
          <p:cNvGrpSpPr>
            <a:grpSpLocks/>
          </p:cNvGrpSpPr>
          <p:nvPr/>
        </p:nvGrpSpPr>
        <p:grpSpPr bwMode="auto">
          <a:xfrm>
            <a:off x="2668425" y="4364534"/>
            <a:ext cx="1800225" cy="628650"/>
            <a:chOff x="1593" y="2721"/>
            <a:chExt cx="1134" cy="347"/>
          </a:xfrm>
        </p:grpSpPr>
        <p:sp>
          <p:nvSpPr>
            <p:cNvPr id="492" name="AutoShape 161">
              <a:extLst>
                <a:ext uri="{FF2B5EF4-FFF2-40B4-BE49-F238E27FC236}">
                  <a16:creationId xmlns:a16="http://schemas.microsoft.com/office/drawing/2014/main" id="{EB57BDC1-9475-ACAA-CBFA-206672BD5C4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855" y="2730"/>
              <a:ext cx="872" cy="334"/>
            </a:xfrm>
            <a:prstGeom prst="roundRect">
              <a:avLst>
                <a:gd name="adj" fmla="val 6991"/>
              </a:avLst>
            </a:prstGeom>
            <a:solidFill>
              <a:srgbClr val="FFFFFF"/>
            </a:solidFill>
            <a:ln w="6350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72000" tIns="0" rIns="18000" bIns="0" anchor="ctr"/>
            <a:lstStyle>
              <a:lvl1pPr marL="44450" indent="-44450">
                <a:defRPr kumimoji="1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1pPr>
              <a:lvl2pPr marL="271463" indent="-133350">
                <a:defRPr kumimoji="1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2pPr>
              <a:lvl3pPr>
                <a:defRPr kumimoji="1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3pPr>
              <a:lvl4pPr>
                <a:defRPr kumimoji="1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4pPr>
              <a:lvl5pPr>
                <a:defRPr kumimoji="1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9pPr>
            </a:lstStyle>
            <a:p>
              <a:pPr marL="44450" marR="0" lvl="0" indent="-44450" defTabSz="914400" eaLnBrk="1" fontAlgn="ctr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Char char="•"/>
                <a:tabLst/>
                <a:defRPr/>
              </a:pPr>
              <a:r>
                <a:rPr lang="ko-KR" alt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+mn-cs"/>
                </a:rPr>
                <a:t>프로그램 개발</a:t>
              </a:r>
            </a:p>
            <a:p>
              <a:pPr marL="44450" marR="0" lvl="0" indent="-44450" defTabSz="914400" eaLnBrk="1" fontAlgn="ctr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Char char="•"/>
                <a:tabLst/>
                <a:defRPr/>
              </a:pPr>
              <a:r>
                <a:rPr lang="ko-KR" alt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+mn-cs"/>
                </a:rPr>
                <a:t>프로그램 유지보수</a:t>
              </a:r>
            </a:p>
          </p:txBody>
        </p:sp>
        <p:sp>
          <p:nvSpPr>
            <p:cNvPr id="493" name="Rectangle 162">
              <a:extLst>
                <a:ext uri="{FF2B5EF4-FFF2-40B4-BE49-F238E27FC236}">
                  <a16:creationId xmlns:a16="http://schemas.microsoft.com/office/drawing/2014/main" id="{275D7CD3-A442-8F8D-87E0-86E710D165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3" y="2721"/>
              <a:ext cx="291" cy="347"/>
            </a:xfrm>
            <a:prstGeom prst="rect">
              <a:avLst/>
            </a:prstGeom>
            <a:solidFill>
              <a:srgbClr val="C8C8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1001908" latinLnBrk="0"/>
              <a:r>
                <a:rPr lang="ko-KR" alt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+mn-cs"/>
                </a:rPr>
                <a:t>수행</a:t>
              </a:r>
              <a:br>
                <a:rPr lang="ko-KR" alt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+mn-cs"/>
                </a:rPr>
              </a:br>
              <a:r>
                <a:rPr lang="ko-KR" alt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+mn-cs"/>
                </a:rPr>
                <a:t>기법</a:t>
              </a:r>
              <a:br>
                <a:rPr lang="ko-KR" alt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+mn-cs"/>
                </a:rPr>
              </a:br>
              <a:r>
                <a:rPr lang="ko-KR" alt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+mn-cs"/>
                </a:rPr>
                <a:t>표준</a:t>
              </a:r>
            </a:p>
          </p:txBody>
        </p:sp>
      </p:grpSp>
      <p:grpSp>
        <p:nvGrpSpPr>
          <p:cNvPr id="494" name="Group 163">
            <a:extLst>
              <a:ext uri="{FF2B5EF4-FFF2-40B4-BE49-F238E27FC236}">
                <a16:creationId xmlns:a16="http://schemas.microsoft.com/office/drawing/2014/main" id="{79B90EB4-5CDE-01BB-BD86-47A3EFC39D45}"/>
              </a:ext>
            </a:extLst>
          </p:cNvPr>
          <p:cNvGrpSpPr>
            <a:grpSpLocks/>
          </p:cNvGrpSpPr>
          <p:nvPr/>
        </p:nvGrpSpPr>
        <p:grpSpPr bwMode="auto">
          <a:xfrm>
            <a:off x="2668425" y="5018584"/>
            <a:ext cx="1800225" cy="798512"/>
            <a:chOff x="1593" y="3095"/>
            <a:chExt cx="1134" cy="441"/>
          </a:xfrm>
        </p:grpSpPr>
        <p:sp>
          <p:nvSpPr>
            <p:cNvPr id="495" name="AutoShape 164">
              <a:extLst>
                <a:ext uri="{FF2B5EF4-FFF2-40B4-BE49-F238E27FC236}">
                  <a16:creationId xmlns:a16="http://schemas.microsoft.com/office/drawing/2014/main" id="{F891F6B7-238A-3926-EA7E-B72AB557433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855" y="3104"/>
              <a:ext cx="872" cy="424"/>
            </a:xfrm>
            <a:prstGeom prst="roundRect">
              <a:avLst>
                <a:gd name="adj" fmla="val 6991"/>
              </a:avLst>
            </a:prstGeom>
            <a:solidFill>
              <a:srgbClr val="FFFFFF"/>
            </a:solidFill>
            <a:ln w="6350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72000" tIns="0" rIns="18000" bIns="0" anchor="ctr"/>
            <a:lstStyle>
              <a:lvl1pPr marL="44450" indent="-44450">
                <a:defRPr kumimoji="1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1pPr>
              <a:lvl2pPr marL="271463" indent="-133350">
                <a:defRPr kumimoji="1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2pPr>
              <a:lvl3pPr>
                <a:defRPr kumimoji="1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3pPr>
              <a:lvl4pPr>
                <a:defRPr kumimoji="1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4pPr>
              <a:lvl5pPr>
                <a:defRPr kumimoji="1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9pPr>
            </a:lstStyle>
            <a:p>
              <a:pPr marL="44450" marR="0" lvl="0" indent="-44450" defTabSz="914400" eaLnBrk="1" fontAlgn="ctr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Char char="•"/>
                <a:tabLst/>
                <a:defRPr/>
              </a:pPr>
              <a:r>
                <a:rPr lang="ko-KR" alt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+mn-cs"/>
                </a:rPr>
                <a:t>백업 정책</a:t>
              </a:r>
            </a:p>
            <a:p>
              <a:pPr marL="44450" marR="0" lvl="0" indent="-44450" defTabSz="914400" eaLnBrk="1" fontAlgn="ctr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Char char="•"/>
                <a:tabLst/>
                <a:defRPr/>
              </a:pPr>
              <a:r>
                <a:rPr lang="ko-KR" alt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+mn-cs"/>
                </a:rPr>
                <a:t>기계실 운영</a:t>
              </a:r>
            </a:p>
            <a:p>
              <a:pPr marL="44450" marR="0" lvl="0" indent="-44450" defTabSz="914400" eaLnBrk="1" fontAlgn="ctr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Char char="•"/>
                <a:tabLst/>
                <a:defRPr/>
              </a:pPr>
              <a:r>
                <a:rPr lang="ko-KR" alt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+mn-cs"/>
                </a:rPr>
                <a:t>정기점검</a:t>
              </a:r>
            </a:p>
            <a:p>
              <a:pPr marL="44450" marR="0" lvl="0" indent="-44450" defTabSz="914400" eaLnBrk="1" fontAlgn="ctr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Char char="•"/>
                <a:tabLst/>
                <a:defRPr/>
              </a:pPr>
              <a:r>
                <a:rPr lang="ko-KR" alt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+mn-cs"/>
                </a:rPr>
                <a:t>자원도입</a:t>
              </a:r>
              <a:r>
                <a:rPr lang="en-US" altLang="ko-KR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+mn-cs"/>
                </a:rPr>
                <a:t>/</a:t>
              </a:r>
              <a:r>
                <a:rPr lang="ko-KR" alt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+mn-cs"/>
                </a:rPr>
                <a:t>유지보수</a:t>
              </a:r>
            </a:p>
          </p:txBody>
        </p:sp>
        <p:sp>
          <p:nvSpPr>
            <p:cNvPr id="496" name="Rectangle 165">
              <a:extLst>
                <a:ext uri="{FF2B5EF4-FFF2-40B4-BE49-F238E27FC236}">
                  <a16:creationId xmlns:a16="http://schemas.microsoft.com/office/drawing/2014/main" id="{0ACF589C-E9CF-E19B-D368-680BCAFDB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3" y="3095"/>
              <a:ext cx="291" cy="441"/>
            </a:xfrm>
            <a:prstGeom prst="rect">
              <a:avLst/>
            </a:prstGeom>
            <a:solidFill>
              <a:srgbClr val="C8C8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defTabSz="1001908" latinLnBrk="0"/>
              <a:r>
                <a:rPr lang="ko-KR" alt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+mn-cs"/>
                </a:rPr>
                <a:t>자원</a:t>
              </a:r>
              <a:br>
                <a:rPr lang="ko-KR" alt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+mn-cs"/>
                </a:rPr>
              </a:br>
              <a:r>
                <a:rPr lang="ko-KR" alt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+mn-cs"/>
                </a:rPr>
                <a:t>운영</a:t>
              </a:r>
            </a:p>
            <a:p>
              <a:pPr algn="ctr" defTabSz="1001908" latinLnBrk="0"/>
              <a:r>
                <a:rPr lang="ko-KR" alt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+mn-cs"/>
                </a:rPr>
                <a:t>표준</a:t>
              </a:r>
            </a:p>
          </p:txBody>
        </p:sp>
      </p:grpSp>
      <p:grpSp>
        <p:nvGrpSpPr>
          <p:cNvPr id="512" name="그룹 511">
            <a:extLst>
              <a:ext uri="{FF2B5EF4-FFF2-40B4-BE49-F238E27FC236}">
                <a16:creationId xmlns:a16="http://schemas.microsoft.com/office/drawing/2014/main" id="{86797EEE-566A-D768-7EFD-0A06A5211984}"/>
              </a:ext>
            </a:extLst>
          </p:cNvPr>
          <p:cNvGrpSpPr/>
          <p:nvPr/>
        </p:nvGrpSpPr>
        <p:grpSpPr>
          <a:xfrm>
            <a:off x="317654" y="667364"/>
            <a:ext cx="3795422" cy="351189"/>
            <a:chOff x="760846" y="854534"/>
            <a:chExt cx="3795422" cy="351189"/>
          </a:xfrm>
        </p:grpSpPr>
        <p:sp>
          <p:nvSpPr>
            <p:cNvPr id="513" name="TextBox 512">
              <a:extLst>
                <a:ext uri="{FF2B5EF4-FFF2-40B4-BE49-F238E27FC236}">
                  <a16:creationId xmlns:a16="http://schemas.microsoft.com/office/drawing/2014/main" id="{4BE3D62B-D029-CE85-BD2D-BE9707855486}"/>
                </a:ext>
              </a:extLst>
            </p:cNvPr>
            <p:cNvSpPr txBox="1"/>
            <p:nvPr/>
          </p:nvSpPr>
          <p:spPr>
            <a:xfrm flipH="1">
              <a:off x="1171266" y="891629"/>
              <a:ext cx="338500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r>
                <a:rPr lang="ko-KR" altLang="en-US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사업관리</a:t>
              </a:r>
            </a:p>
          </p:txBody>
        </p:sp>
        <p:grpSp>
          <p:nvGrpSpPr>
            <p:cNvPr id="514" name="그룹 513">
              <a:extLst>
                <a:ext uri="{FF2B5EF4-FFF2-40B4-BE49-F238E27FC236}">
                  <a16:creationId xmlns:a16="http://schemas.microsoft.com/office/drawing/2014/main" id="{62362976-A941-895A-B28C-CD3E78805729}"/>
                </a:ext>
              </a:extLst>
            </p:cNvPr>
            <p:cNvGrpSpPr/>
            <p:nvPr/>
          </p:nvGrpSpPr>
          <p:grpSpPr>
            <a:xfrm>
              <a:off x="760846" y="854534"/>
              <a:ext cx="324620" cy="351189"/>
              <a:chOff x="539750" y="2917808"/>
              <a:chExt cx="526237" cy="526236"/>
            </a:xfrm>
          </p:grpSpPr>
          <p:sp>
            <p:nvSpPr>
              <p:cNvPr id="515" name="모서리가 둥근 직사각형 4">
                <a:extLst>
                  <a:ext uri="{FF2B5EF4-FFF2-40B4-BE49-F238E27FC236}">
                    <a16:creationId xmlns:a16="http://schemas.microsoft.com/office/drawing/2014/main" id="{9EA29E59-AC0C-EA71-50F6-8BC89E0CE728}"/>
                  </a:ext>
                </a:extLst>
              </p:cNvPr>
              <p:cNvSpPr/>
              <p:nvPr/>
            </p:nvSpPr>
            <p:spPr>
              <a:xfrm>
                <a:off x="539750" y="2917808"/>
                <a:ext cx="526237" cy="526236"/>
              </a:xfrm>
              <a:prstGeom prst="roundRect">
                <a:avLst>
                  <a:gd name="adj" fmla="val 11229"/>
                </a:avLst>
              </a:prstGeom>
              <a:solidFill>
                <a:srgbClr val="00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516" name="TextBox 515">
                <a:extLst>
                  <a:ext uri="{FF2B5EF4-FFF2-40B4-BE49-F238E27FC236}">
                    <a16:creationId xmlns:a16="http://schemas.microsoft.com/office/drawing/2014/main" id="{E58B244B-D029-6836-77AE-F2096C76E5CF}"/>
                  </a:ext>
                </a:extLst>
              </p:cNvPr>
              <p:cNvSpPr txBox="1"/>
              <p:nvPr/>
            </p:nvSpPr>
            <p:spPr>
              <a:xfrm flipH="1">
                <a:off x="636582" y="2952530"/>
                <a:ext cx="338951" cy="46118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#</a:t>
                </a:r>
              </a:p>
            </p:txBody>
          </p:sp>
        </p:grpSp>
      </p:grpSp>
      <p:sp>
        <p:nvSpPr>
          <p:cNvPr id="517" name="Text Box 37">
            <a:extLst>
              <a:ext uri="{FF2B5EF4-FFF2-40B4-BE49-F238E27FC236}">
                <a16:creationId xmlns:a16="http://schemas.microsoft.com/office/drawing/2014/main" id="{5C5B285B-B001-1D7A-1BDB-11C583997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952" y="1215900"/>
            <a:ext cx="6269248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1pPr>
            <a:lvl2pPr marL="742950" indent="-28575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2pPr>
            <a:lvl3pPr marL="11430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3pPr>
            <a:lvl4pPr marL="16002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4pPr>
            <a:lvl5pPr marL="20574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9pPr>
          </a:lstStyle>
          <a:p>
            <a:pPr eaLnBrk="1" latinLnBrk="0" hangingPunct="1">
              <a:lnSpc>
                <a:spcPct val="120000"/>
              </a:lnSpc>
              <a:defRPr/>
            </a:pP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나눔고딕" pitchFamily="2" charset="-127"/>
                <a:ea typeface="나눔고딕" pitchFamily="2" charset="-127"/>
                <a:cs typeface="Arial" pitchFamily="34" charset="0"/>
              </a:rPr>
              <a:t>1.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나눔고딕" pitchFamily="2" charset="-127"/>
                <a:ea typeface="나눔고딕" pitchFamily="2" charset="-127"/>
                <a:cs typeface="Arial" pitchFamily="34" charset="0"/>
              </a:rPr>
              <a:t>서비스 품질관리</a:t>
            </a:r>
            <a:endParaRPr lang="en-US" altLang="ko-KR" sz="1200" dirty="0">
              <a:solidFill>
                <a:srgbClr val="000000">
                  <a:lumMod val="75000"/>
                  <a:lumOff val="25000"/>
                </a:srgbClr>
              </a:solidFill>
              <a:latin typeface="나눔고딕" pitchFamily="2" charset="-127"/>
              <a:ea typeface="나눔고딕" pitchFamily="2" charset="-127"/>
              <a:cs typeface="Arial" pitchFamily="34" charset="0"/>
            </a:endParaRPr>
          </a:p>
          <a:p>
            <a:pPr eaLnBrk="1" latinLnBrk="0" hangingPunct="1">
              <a:lnSpc>
                <a:spcPct val="120000"/>
              </a:lnSpc>
              <a:defRPr/>
            </a:pP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나눔고딕" pitchFamily="2" charset="-127"/>
                <a:ea typeface="나눔고딕" pitchFamily="2" charset="-127"/>
                <a:cs typeface="Arial" pitchFamily="34" charset="0"/>
              </a:rPr>
              <a:t>1.2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나눔고딕" pitchFamily="2" charset="-127"/>
                <a:ea typeface="나눔고딕" pitchFamily="2" charset="-127"/>
                <a:cs typeface="Arial" pitchFamily="34" charset="0"/>
              </a:rPr>
              <a:t>도입 목적</a:t>
            </a:r>
          </a:p>
        </p:txBody>
      </p:sp>
      <p:grpSp>
        <p:nvGrpSpPr>
          <p:cNvPr id="518" name="그룹 517">
            <a:extLst>
              <a:ext uri="{FF2B5EF4-FFF2-40B4-BE49-F238E27FC236}">
                <a16:creationId xmlns:a16="http://schemas.microsoft.com/office/drawing/2014/main" id="{D23531DD-C012-A946-061B-036124C8637D}"/>
              </a:ext>
            </a:extLst>
          </p:cNvPr>
          <p:cNvGrpSpPr/>
          <p:nvPr/>
        </p:nvGrpSpPr>
        <p:grpSpPr>
          <a:xfrm>
            <a:off x="1547352" y="4141694"/>
            <a:ext cx="1003798" cy="1003798"/>
            <a:chOff x="2901950" y="4329100"/>
            <a:chExt cx="762000" cy="762000"/>
          </a:xfrm>
        </p:grpSpPr>
        <p:sp>
          <p:nvSpPr>
            <p:cNvPr id="519" name="타원 518">
              <a:extLst>
                <a:ext uri="{FF2B5EF4-FFF2-40B4-BE49-F238E27FC236}">
                  <a16:creationId xmlns:a16="http://schemas.microsoft.com/office/drawing/2014/main" id="{35D2B027-33D8-8334-B15A-90F882588DCF}"/>
                </a:ext>
              </a:extLst>
            </p:cNvPr>
            <p:cNvSpPr/>
            <p:nvPr/>
          </p:nvSpPr>
          <p:spPr>
            <a:xfrm>
              <a:off x="2901950" y="4329100"/>
              <a:ext cx="762000" cy="762000"/>
            </a:xfrm>
            <a:prstGeom prst="ellipse">
              <a:avLst/>
            </a:prstGeom>
            <a:solidFill>
              <a:srgbClr val="007CD8"/>
            </a:solidFill>
            <a:ln w="285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00">
                <a:solidFill>
                  <a:prstClr val="white"/>
                </a:solidFill>
                <a:latin typeface="+mn-ea"/>
              </a:endParaRPr>
            </a:p>
          </p:txBody>
        </p:sp>
        <p:sp>
          <p:nvSpPr>
            <p:cNvPr id="520" name="원호 519">
              <a:extLst>
                <a:ext uri="{FF2B5EF4-FFF2-40B4-BE49-F238E27FC236}">
                  <a16:creationId xmlns:a16="http://schemas.microsoft.com/office/drawing/2014/main" id="{9F2A50F2-1E30-5180-E7BC-0E4AD459FDF2}"/>
                </a:ext>
              </a:extLst>
            </p:cNvPr>
            <p:cNvSpPr/>
            <p:nvPr/>
          </p:nvSpPr>
          <p:spPr>
            <a:xfrm>
              <a:off x="2908301" y="4335451"/>
              <a:ext cx="749300" cy="749300"/>
            </a:xfrm>
            <a:prstGeom prst="arc">
              <a:avLst>
                <a:gd name="adj1" fmla="val 7600422"/>
                <a:gd name="adj2" fmla="val 18369945"/>
              </a:avLst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30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521" name="TextBox 213">
              <a:extLst>
                <a:ext uri="{FF2B5EF4-FFF2-40B4-BE49-F238E27FC236}">
                  <a16:creationId xmlns:a16="http://schemas.microsoft.com/office/drawing/2014/main" id="{9DEE0122-D0EF-625F-8BFB-D7CF178B27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4442" y="4579115"/>
              <a:ext cx="477012" cy="288543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defPPr>
                <a:defRPr lang="ko-KR"/>
              </a:defPPr>
              <a:lvl1pPr algn="ctr" latinLnBrk="0">
                <a:lnSpc>
                  <a:spcPct val="95000"/>
                </a:lnSpc>
                <a:defRPr sz="1100" kern="0">
                  <a:solidFill>
                    <a:schemeClr val="bg1"/>
                  </a:solidFill>
                  <a:latin typeface="Rix모던고딕 B" pitchFamily="18" charset="-127"/>
                  <a:ea typeface="Rix모던고딕 B" pitchFamily="18" charset="-127"/>
                  <a:cs typeface="Arial" pitchFamily="34" charset="0"/>
                </a:defRPr>
              </a:lvl1pPr>
            </a:lstStyle>
            <a:p>
              <a:r>
                <a:rPr lang="ko-KR" altLang="en-US" sz="1300" kern="120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  <a:cs typeface="굴림" pitchFamily="50" charset="-127"/>
                </a:rPr>
                <a:t>표준</a:t>
              </a:r>
              <a:endParaRPr lang="en-US" altLang="ko-KR" sz="1300" kern="1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굴림" pitchFamily="50" charset="-127"/>
              </a:endParaRPr>
            </a:p>
            <a:p>
              <a:r>
                <a:rPr lang="ko-KR" altLang="en-US" sz="1300" kern="120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  <a:cs typeface="굴림" pitchFamily="50" charset="-127"/>
                </a:rPr>
                <a:t>운영절차</a:t>
              </a:r>
            </a:p>
          </p:txBody>
        </p:sp>
      </p:grpSp>
      <p:grpSp>
        <p:nvGrpSpPr>
          <p:cNvPr id="557" name="그룹 16">
            <a:extLst>
              <a:ext uri="{FF2B5EF4-FFF2-40B4-BE49-F238E27FC236}">
                <a16:creationId xmlns:a16="http://schemas.microsoft.com/office/drawing/2014/main" id="{C5A0C9B1-F685-C413-C6FA-87601D381975}"/>
              </a:ext>
            </a:extLst>
          </p:cNvPr>
          <p:cNvGrpSpPr>
            <a:grpSpLocks/>
          </p:cNvGrpSpPr>
          <p:nvPr/>
        </p:nvGrpSpPr>
        <p:grpSpPr bwMode="auto">
          <a:xfrm>
            <a:off x="342900" y="2855319"/>
            <a:ext cx="5246688" cy="169277"/>
            <a:chOff x="342900" y="3330737"/>
            <a:chExt cx="5246341" cy="170762"/>
          </a:xfrm>
        </p:grpSpPr>
        <p:pic>
          <p:nvPicPr>
            <p:cNvPr id="558" name="Picture 176" descr="1">
              <a:extLst>
                <a:ext uri="{FF2B5EF4-FFF2-40B4-BE49-F238E27FC236}">
                  <a16:creationId xmlns:a16="http://schemas.microsoft.com/office/drawing/2014/main" id="{0F3C6FB8-26F1-53CA-4D55-6B0000B3FB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900" y="3370758"/>
              <a:ext cx="148389" cy="81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9" name="Text Box 34">
              <a:extLst>
                <a:ext uri="{FF2B5EF4-FFF2-40B4-BE49-F238E27FC236}">
                  <a16:creationId xmlns:a16="http://schemas.microsoft.com/office/drawing/2014/main" id="{0CD9A1A5-DD00-1986-F282-A4A9162CDD63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41717" y="3330737"/>
              <a:ext cx="5047524" cy="170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1pPr>
              <a:lvl2pPr marL="742950" indent="-285750"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2pPr>
              <a:lvl3pPr marL="1143000" indent="-228600"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3pPr>
              <a:lvl4pPr marL="1600200" indent="-228600"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4pPr>
              <a:lvl5pPr marL="2057400" indent="-228600"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5pPr>
              <a:lvl6pPr marL="2514600" indent="-228600" defTabSz="787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6pPr>
              <a:lvl7pPr marL="2971800" indent="-228600" defTabSz="787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7pPr>
              <a:lvl8pPr marL="3429000" indent="-228600" defTabSz="787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8pPr>
              <a:lvl9pPr marL="3886200" indent="-228600" defTabSz="787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9pPr>
            </a:lstStyle>
            <a:p>
              <a:pPr eaLnBrk="1" latinLnBrk="0" hangingPunct="1">
                <a:defRPr/>
              </a:pPr>
              <a:r>
                <a:rPr lang="ko-KR" altLang="en-US" dirty="0">
                  <a:latin typeface="+mn-ea"/>
                  <a:ea typeface="+mn-ea"/>
                  <a:cs typeface="Arial" pitchFamily="34" charset="0"/>
                </a:rPr>
                <a:t>전산업무 운영 체계</a:t>
              </a:r>
            </a:p>
          </p:txBody>
        </p:sp>
      </p:grpSp>
      <p:grpSp>
        <p:nvGrpSpPr>
          <p:cNvPr id="560" name="그룹 16">
            <a:extLst>
              <a:ext uri="{FF2B5EF4-FFF2-40B4-BE49-F238E27FC236}">
                <a16:creationId xmlns:a16="http://schemas.microsoft.com/office/drawing/2014/main" id="{BF9A5D3B-C081-3506-78BA-E60B2767CC87}"/>
              </a:ext>
            </a:extLst>
          </p:cNvPr>
          <p:cNvGrpSpPr>
            <a:grpSpLocks/>
          </p:cNvGrpSpPr>
          <p:nvPr/>
        </p:nvGrpSpPr>
        <p:grpSpPr bwMode="auto">
          <a:xfrm>
            <a:off x="342900" y="6024219"/>
            <a:ext cx="5246688" cy="169277"/>
            <a:chOff x="342900" y="3330737"/>
            <a:chExt cx="5246341" cy="170762"/>
          </a:xfrm>
        </p:grpSpPr>
        <p:pic>
          <p:nvPicPr>
            <p:cNvPr id="561" name="Picture 176" descr="1">
              <a:extLst>
                <a:ext uri="{FF2B5EF4-FFF2-40B4-BE49-F238E27FC236}">
                  <a16:creationId xmlns:a16="http://schemas.microsoft.com/office/drawing/2014/main" id="{9EE6D03F-1B10-0DD7-AD48-3C1D62B278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900" y="3370758"/>
              <a:ext cx="148389" cy="81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2" name="Text Box 34">
              <a:extLst>
                <a:ext uri="{FF2B5EF4-FFF2-40B4-BE49-F238E27FC236}">
                  <a16:creationId xmlns:a16="http://schemas.microsoft.com/office/drawing/2014/main" id="{233B66A2-CAC3-96D2-5F3B-787B8DE8E02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41717" y="3330737"/>
              <a:ext cx="5047524" cy="170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1pPr>
              <a:lvl2pPr marL="742950" indent="-285750"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2pPr>
              <a:lvl3pPr marL="1143000" indent="-228600"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3pPr>
              <a:lvl4pPr marL="1600200" indent="-228600"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4pPr>
              <a:lvl5pPr marL="2057400" indent="-228600"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5pPr>
              <a:lvl6pPr marL="2514600" indent="-228600" defTabSz="787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6pPr>
              <a:lvl7pPr marL="2971800" indent="-228600" defTabSz="787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7pPr>
              <a:lvl8pPr marL="3429000" indent="-228600" defTabSz="787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8pPr>
              <a:lvl9pPr marL="3886200" indent="-228600" defTabSz="787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9pPr>
            </a:lstStyle>
            <a:p>
              <a:pPr eaLnBrk="1" latinLnBrk="0" hangingPunct="1">
                <a:defRPr/>
              </a:pPr>
              <a:r>
                <a:rPr lang="ko-KR" altLang="en-US" dirty="0">
                  <a:latin typeface="+mn-ea"/>
                  <a:ea typeface="+mn-ea"/>
                  <a:cs typeface="Arial" pitchFamily="34" charset="0"/>
                </a:rPr>
                <a:t>서비스수준 관리 운영 체계</a:t>
              </a:r>
            </a:p>
          </p:txBody>
        </p:sp>
      </p:grpSp>
      <p:sp>
        <p:nvSpPr>
          <p:cNvPr id="358" name="AutoShape 33">
            <a:extLst>
              <a:ext uri="{FF2B5EF4-FFF2-40B4-BE49-F238E27FC236}">
                <a16:creationId xmlns:a16="http://schemas.microsoft.com/office/drawing/2014/main" id="{DAE3995A-3192-D2B2-84E6-88949C3EE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337" y="7553055"/>
            <a:ext cx="1606550" cy="302702"/>
          </a:xfrm>
          <a:prstGeom prst="chevron">
            <a:avLst>
              <a:gd name="adj" fmla="val 48380"/>
            </a:avLst>
          </a:prstGeom>
          <a:solidFill>
            <a:srgbClr val="DDDDDD"/>
          </a:solidFill>
          <a:ln w="25400" algn="ctr">
            <a:solidFill>
              <a:sysClr val="window" lastClr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1977" rIns="0" bIns="41977" anchor="ctr"/>
          <a:lstStyle/>
          <a:p>
            <a:pPr algn="ctr" defTabSz="839788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kern="0" dirty="0">
                <a:solidFill>
                  <a:srgbClr val="1C1C1C"/>
                </a:solidFill>
                <a:latin typeface="+mn-ea"/>
                <a:ea typeface="+mn-ea"/>
                <a:cs typeface="+mn-cs"/>
              </a:rPr>
              <a:t>정기적 검토</a:t>
            </a:r>
            <a:r>
              <a:rPr kumimoji="0" lang="en-US" altLang="ko-KR" sz="900" kern="0" dirty="0">
                <a:solidFill>
                  <a:srgbClr val="1C1C1C"/>
                </a:solidFill>
                <a:latin typeface="+mn-ea"/>
                <a:ea typeface="+mn-ea"/>
                <a:cs typeface="+mn-cs"/>
              </a:rPr>
              <a:t>/</a:t>
            </a:r>
            <a:r>
              <a:rPr kumimoji="0" lang="ko-KR" altLang="en-US" sz="900" kern="0" dirty="0">
                <a:solidFill>
                  <a:srgbClr val="1C1C1C"/>
                </a:solidFill>
                <a:latin typeface="+mn-ea"/>
                <a:ea typeface="+mn-ea"/>
                <a:cs typeface="+mn-cs"/>
              </a:rPr>
              <a:t>개선</a:t>
            </a:r>
          </a:p>
        </p:txBody>
      </p:sp>
      <p:sp>
        <p:nvSpPr>
          <p:cNvPr id="359" name="Rectangle 34">
            <a:extLst>
              <a:ext uri="{FF2B5EF4-FFF2-40B4-BE49-F238E27FC236}">
                <a16:creationId xmlns:a16="http://schemas.microsoft.com/office/drawing/2014/main" id="{92E49078-D27E-A86E-9E60-5BD6A753E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5208" y="8337815"/>
            <a:ext cx="1210808" cy="331788"/>
          </a:xfrm>
          <a:prstGeom prst="rect">
            <a:avLst/>
          </a:prstGeom>
          <a:gradFill rotWithShape="1">
            <a:gsLst>
              <a:gs pos="0">
                <a:srgbClr val="F6F6F6"/>
              </a:gs>
              <a:gs pos="100000">
                <a:srgbClr val="EAEAEA"/>
              </a:gs>
            </a:gsLst>
            <a:lin ang="5400000" scaled="1"/>
          </a:gradFill>
          <a:ln w="6350" algn="ctr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2700" dir="54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1600" tIns="0" rIns="21600" bIns="0" anchor="ctr"/>
          <a:lstStyle/>
          <a:p>
            <a:pPr algn="ctr" defTabSz="808038" fontAlgn="auto" latinLnBrk="0"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</a:pPr>
            <a:r>
              <a:rPr kumimoji="0" lang="en-US" altLang="ko-KR" sz="1000">
                <a:solidFill>
                  <a:prstClr val="black"/>
                </a:solidFill>
                <a:latin typeface="+mn-ea"/>
                <a:ea typeface="+mn-ea"/>
                <a:cs typeface="+mn-cs"/>
              </a:rPr>
              <a:t>Review SLA, </a:t>
            </a:r>
          </a:p>
          <a:p>
            <a:pPr algn="ctr" defTabSz="808038" fontAlgn="auto" latinLnBrk="0"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</a:pPr>
            <a:r>
              <a:rPr kumimoji="0" lang="ko-KR" altLang="en-US" sz="1000">
                <a:solidFill>
                  <a:prstClr val="black"/>
                </a:solidFill>
                <a:latin typeface="+mn-ea"/>
                <a:ea typeface="+mn-ea"/>
                <a:cs typeface="+mn-cs"/>
              </a:rPr>
              <a:t>계약 운영 기준</a:t>
            </a:r>
          </a:p>
        </p:txBody>
      </p:sp>
      <p:sp>
        <p:nvSpPr>
          <p:cNvPr id="360" name="Rectangle 35">
            <a:extLst>
              <a:ext uri="{FF2B5EF4-FFF2-40B4-BE49-F238E27FC236}">
                <a16:creationId xmlns:a16="http://schemas.microsoft.com/office/drawing/2014/main" id="{E291857F-483A-7624-0C39-F4F43AC1D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5208" y="8755897"/>
            <a:ext cx="1210808" cy="330200"/>
          </a:xfrm>
          <a:prstGeom prst="rect">
            <a:avLst/>
          </a:prstGeom>
          <a:gradFill rotWithShape="1">
            <a:gsLst>
              <a:gs pos="0">
                <a:srgbClr val="F6F6F6"/>
              </a:gs>
              <a:gs pos="100000">
                <a:srgbClr val="EAEAEA"/>
              </a:gs>
            </a:gsLst>
            <a:lin ang="5400000" scaled="1"/>
          </a:gradFill>
          <a:ln w="6350" algn="ctr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2700" dir="54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1600" tIns="0" rIns="21600" bIns="0" anchor="ctr"/>
          <a:lstStyle/>
          <a:p>
            <a:pPr algn="ctr" defTabSz="808038" fontAlgn="auto" latinLnBrk="0"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</a:pPr>
            <a:r>
              <a:rPr kumimoji="0" lang="en-US" altLang="ko-KR" sz="1000">
                <a:solidFill>
                  <a:prstClr val="black"/>
                </a:solidFill>
                <a:latin typeface="+mn-ea"/>
                <a:ea typeface="+mn-ea"/>
                <a:cs typeface="+mn-cs"/>
              </a:rPr>
              <a:t>Review </a:t>
            </a:r>
            <a:br>
              <a:rPr kumimoji="0" lang="en-US" altLang="ko-KR" sz="1000">
                <a:solidFill>
                  <a:prstClr val="black"/>
                </a:solidFill>
                <a:latin typeface="+mn-ea"/>
                <a:ea typeface="+mn-ea"/>
                <a:cs typeface="+mn-cs"/>
              </a:rPr>
            </a:br>
            <a:r>
              <a:rPr kumimoji="0" lang="en-US" altLang="ko-KR" sz="1000">
                <a:solidFill>
                  <a:prstClr val="black"/>
                </a:solidFill>
                <a:latin typeface="+mn-ea"/>
                <a:ea typeface="+mn-ea"/>
                <a:cs typeface="+mn-cs"/>
              </a:rPr>
              <a:t>SLM process</a:t>
            </a:r>
          </a:p>
        </p:txBody>
      </p:sp>
      <p:sp>
        <p:nvSpPr>
          <p:cNvPr id="361" name="Rectangle 36">
            <a:extLst>
              <a:ext uri="{FF2B5EF4-FFF2-40B4-BE49-F238E27FC236}">
                <a16:creationId xmlns:a16="http://schemas.microsoft.com/office/drawing/2014/main" id="{6BD77CC4-4ECE-2797-AABF-F499A6B12E6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680621" y="8349160"/>
            <a:ext cx="1109908" cy="282575"/>
          </a:xfrm>
          <a:prstGeom prst="rect">
            <a:avLst/>
          </a:prstGeom>
          <a:gradFill rotWithShape="1">
            <a:gsLst>
              <a:gs pos="0">
                <a:srgbClr val="F6F6F6"/>
              </a:gs>
              <a:gs pos="100000">
                <a:srgbClr val="EAEAEA"/>
              </a:gs>
            </a:gsLst>
            <a:lin ang="5400000" scaled="1"/>
          </a:gradFill>
          <a:ln w="6350" algn="ctr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2700" dir="54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1600" tIns="0" rIns="21600" bIns="0" anchor="ctr"/>
          <a:lstStyle/>
          <a:p>
            <a:pPr algn="ctr" defTabSz="808038" fontAlgn="auto" latinLnBrk="0"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</a:pPr>
            <a:r>
              <a:rPr kumimoji="0" lang="en-US" altLang="ko-KR" sz="1000" b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Monitor</a:t>
            </a:r>
          </a:p>
        </p:txBody>
      </p:sp>
      <p:sp>
        <p:nvSpPr>
          <p:cNvPr id="364" name="Rectangle 39">
            <a:extLst>
              <a:ext uri="{FF2B5EF4-FFF2-40B4-BE49-F238E27FC236}">
                <a16:creationId xmlns:a16="http://schemas.microsoft.com/office/drawing/2014/main" id="{4434C0EF-54BC-26C5-4BB1-924A32158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5208" y="7932895"/>
            <a:ext cx="1210808" cy="331788"/>
          </a:xfrm>
          <a:prstGeom prst="rect">
            <a:avLst/>
          </a:prstGeom>
          <a:gradFill rotWithShape="1">
            <a:gsLst>
              <a:gs pos="0">
                <a:srgbClr val="F6F6F6"/>
              </a:gs>
              <a:gs pos="100000">
                <a:srgbClr val="EAEAEA"/>
              </a:gs>
            </a:gsLst>
            <a:lin ang="5400000" scaled="1"/>
          </a:gradFill>
          <a:ln w="6350" algn="ctr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2700" dir="54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1600" tIns="0" rIns="21600" bIns="0" anchor="ctr"/>
          <a:lstStyle/>
          <a:p>
            <a:pPr algn="ctr" defTabSz="808038" fontAlgn="auto" latinLnBrk="0"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</a:pPr>
            <a:r>
              <a:rPr kumimoji="0" lang="en-US" altLang="ko-KR" sz="1000">
                <a:solidFill>
                  <a:prstClr val="black"/>
                </a:solidFill>
                <a:latin typeface="+mn-ea"/>
                <a:ea typeface="+mn-ea"/>
                <a:cs typeface="+mn-cs"/>
              </a:rPr>
              <a:t>SPI </a:t>
            </a:r>
            <a:r>
              <a:rPr kumimoji="0" lang="ko-KR" altLang="en-US" sz="1000">
                <a:solidFill>
                  <a:prstClr val="black"/>
                </a:solidFill>
                <a:latin typeface="+mn-ea"/>
                <a:ea typeface="+mn-ea"/>
                <a:cs typeface="+mn-cs"/>
              </a:rPr>
              <a:t>활동</a:t>
            </a:r>
          </a:p>
        </p:txBody>
      </p:sp>
      <p:grpSp>
        <p:nvGrpSpPr>
          <p:cNvPr id="574" name="그룹 215">
            <a:extLst>
              <a:ext uri="{FF2B5EF4-FFF2-40B4-BE49-F238E27FC236}">
                <a16:creationId xmlns:a16="http://schemas.microsoft.com/office/drawing/2014/main" id="{09E4F44A-B78F-C3D8-68CB-69CC7EDA67FB}"/>
              </a:ext>
            </a:extLst>
          </p:cNvPr>
          <p:cNvGrpSpPr>
            <a:grpSpLocks/>
          </p:cNvGrpSpPr>
          <p:nvPr/>
        </p:nvGrpSpPr>
        <p:grpSpPr bwMode="auto">
          <a:xfrm>
            <a:off x="296863" y="1627685"/>
            <a:ext cx="6219825" cy="540239"/>
            <a:chOff x="333374" y="1849606"/>
            <a:chExt cx="6219826" cy="540360"/>
          </a:xfrm>
        </p:grpSpPr>
        <p:sp>
          <p:nvSpPr>
            <p:cNvPr id="575" name="AutoShape 84">
              <a:extLst>
                <a:ext uri="{FF2B5EF4-FFF2-40B4-BE49-F238E27FC236}">
                  <a16:creationId xmlns:a16="http://schemas.microsoft.com/office/drawing/2014/main" id="{24EC8ED5-12E8-E95F-7AF1-E8147AC62B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588" y="2018243"/>
              <a:ext cx="5929399" cy="371723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1pPr>
              <a:lvl2pPr marL="742950" indent="-28575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2pPr>
              <a:lvl3pPr marL="1143000" indent="-2286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3pPr>
              <a:lvl4pPr marL="1600200" indent="-2286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4pPr>
              <a:lvl5pPr marL="2057400" indent="-2286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9pPr>
            </a:lstStyle>
            <a:p>
              <a:pPr algn="just" eaLnBrk="1" latinLnBrk="0" hangingPunct="1">
                <a:lnSpc>
                  <a:spcPct val="120000"/>
                </a:lnSpc>
                <a:spcAft>
                  <a:spcPts val="0"/>
                </a:spcAft>
                <a:defRPr/>
              </a:pP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나눔고딕" pitchFamily="2" charset="-127"/>
                  <a:ea typeface="나눔고딕" pitchFamily="2" charset="-127"/>
                  <a:cs typeface="Arial" pitchFamily="34" charset="0"/>
                </a:rPr>
                <a:t>SLA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나눔고딕" pitchFamily="2" charset="-127"/>
                  <a:ea typeface="나눔고딕" pitchFamily="2" charset="-127"/>
                  <a:cs typeface="Arial" pitchFamily="34" charset="0"/>
                </a:rPr>
                <a:t>의 궁극적인 목적은 정보시스템 운영에 대한 성과를 측정하고 평가하여 측정결과에 대한 문제점을 도출하고 프로세스 개선을 통한 서비스수준의 향상을 이끌어내는 것이다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나눔고딕" pitchFamily="2" charset="-127"/>
                  <a:ea typeface="나눔고딕" pitchFamily="2" charset="-127"/>
                  <a:cs typeface="Arial" pitchFamily="34" charset="0"/>
                </a:rPr>
                <a:t>. </a:t>
              </a:r>
            </a:p>
          </p:txBody>
        </p:sp>
        <p:grpSp>
          <p:nvGrpSpPr>
            <p:cNvPr id="576" name="그룹 217">
              <a:extLst>
                <a:ext uri="{FF2B5EF4-FFF2-40B4-BE49-F238E27FC236}">
                  <a16:creationId xmlns:a16="http://schemas.microsoft.com/office/drawing/2014/main" id="{0E6FA7F2-FE77-CE8C-1529-779C617674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3374" y="1849606"/>
              <a:ext cx="6219826" cy="540360"/>
              <a:chOff x="342900" y="1822561"/>
              <a:chExt cx="6148388" cy="540360"/>
            </a:xfrm>
          </p:grpSpPr>
          <p:cxnSp>
            <p:nvCxnSpPr>
              <p:cNvPr id="577" name="직선 연결선 576">
                <a:extLst>
                  <a:ext uri="{FF2B5EF4-FFF2-40B4-BE49-F238E27FC236}">
                    <a16:creationId xmlns:a16="http://schemas.microsoft.com/office/drawing/2014/main" id="{DFE6EB40-F78B-CFA5-DA32-857629D5F317}"/>
                  </a:ext>
                </a:extLst>
              </p:cNvPr>
              <p:cNvCxnSpPr/>
              <p:nvPr/>
            </p:nvCxnSpPr>
            <p:spPr>
              <a:xfrm>
                <a:off x="342900" y="1905130"/>
                <a:ext cx="6148388" cy="0"/>
              </a:xfrm>
              <a:prstGeom prst="line">
                <a:avLst/>
              </a:prstGeom>
              <a:ln w="12700">
                <a:solidFill>
                  <a:srgbClr val="ADAD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8" name="직선 연결선 577">
                <a:extLst>
                  <a:ext uri="{FF2B5EF4-FFF2-40B4-BE49-F238E27FC236}">
                    <a16:creationId xmlns:a16="http://schemas.microsoft.com/office/drawing/2014/main" id="{515C294B-A5E8-CF61-9E49-2CC0BE13419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42900" y="1901954"/>
                <a:ext cx="0" cy="460967"/>
              </a:xfrm>
              <a:prstGeom prst="line">
                <a:avLst/>
              </a:prstGeom>
              <a:ln w="12700">
                <a:solidFill>
                  <a:srgbClr val="ADAD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9" name="직선 연결선 578">
                <a:extLst>
                  <a:ext uri="{FF2B5EF4-FFF2-40B4-BE49-F238E27FC236}">
                    <a16:creationId xmlns:a16="http://schemas.microsoft.com/office/drawing/2014/main" id="{CB4882E1-7F4D-CEF5-97FD-D3DFFDAF22EE}"/>
                  </a:ext>
                </a:extLst>
              </p:cNvPr>
              <p:cNvCxnSpPr/>
              <p:nvPr/>
            </p:nvCxnSpPr>
            <p:spPr bwMode="auto">
              <a:xfrm>
                <a:off x="6387716" y="1822561"/>
                <a:ext cx="103572" cy="80980"/>
              </a:xfrm>
              <a:prstGeom prst="line">
                <a:avLst/>
              </a:prstGeom>
              <a:ln w="12700">
                <a:solidFill>
                  <a:srgbClr val="ADAD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954549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Box 37"/>
          <p:cNvSpPr txBox="1">
            <a:spLocks noChangeArrowheads="1"/>
          </p:cNvSpPr>
          <p:nvPr/>
        </p:nvSpPr>
        <p:spPr bwMode="auto">
          <a:xfrm>
            <a:off x="283952" y="1215900"/>
            <a:ext cx="6269248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1pPr>
            <a:lvl2pPr marL="742950" indent="-28575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2pPr>
            <a:lvl3pPr marL="11430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3pPr>
            <a:lvl4pPr marL="16002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4pPr>
            <a:lvl5pPr marL="20574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9pPr>
          </a:lstStyle>
          <a:p>
            <a:pPr eaLnBrk="1" latinLnBrk="0" hangingPunct="1">
              <a:lnSpc>
                <a:spcPct val="120000"/>
              </a:lnSpc>
              <a:defRPr/>
            </a:pP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2. SLA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관리</a:t>
            </a:r>
            <a:endParaRPr lang="en-US" altLang="ko-KR" sz="1200" dirty="0">
              <a:solidFill>
                <a:srgbClr val="000000">
                  <a:lumMod val="75000"/>
                  <a:lumOff val="25000"/>
                </a:srgbClr>
              </a:solidFill>
              <a:latin typeface="+mn-ea"/>
              <a:ea typeface="+mn-ea"/>
              <a:cs typeface="Arial" pitchFamily="34" charset="0"/>
            </a:endParaRPr>
          </a:p>
          <a:p>
            <a:pPr eaLnBrk="1" latinLnBrk="0" hangingPunct="1">
              <a:lnSpc>
                <a:spcPct val="120000"/>
              </a:lnSpc>
              <a:defRPr/>
            </a:pP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2.1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서비스</a:t>
            </a: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수준 협약</a:t>
            </a: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(SLA)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기반 사업 관리 방안</a:t>
            </a:r>
          </a:p>
        </p:txBody>
      </p:sp>
      <p:grpSp>
        <p:nvGrpSpPr>
          <p:cNvPr id="107" name="그룹 1"/>
          <p:cNvGrpSpPr>
            <a:grpSpLocks/>
          </p:cNvGrpSpPr>
          <p:nvPr/>
        </p:nvGrpSpPr>
        <p:grpSpPr bwMode="auto">
          <a:xfrm>
            <a:off x="292100" y="2611689"/>
            <a:ext cx="6270625" cy="385763"/>
            <a:chOff x="292100" y="2959098"/>
            <a:chExt cx="6270625" cy="385765"/>
          </a:xfrm>
        </p:grpSpPr>
        <p:grpSp>
          <p:nvGrpSpPr>
            <p:cNvPr id="108" name="그룹 107"/>
            <p:cNvGrpSpPr>
              <a:grpSpLocks/>
            </p:cNvGrpSpPr>
            <p:nvPr/>
          </p:nvGrpSpPr>
          <p:grpSpPr bwMode="auto">
            <a:xfrm>
              <a:off x="292100" y="2959098"/>
              <a:ext cx="6270625" cy="385765"/>
              <a:chOff x="334963" y="3573461"/>
              <a:chExt cx="6271218" cy="386316"/>
            </a:xfrm>
          </p:grpSpPr>
          <p:grpSp>
            <p:nvGrpSpPr>
              <p:cNvPr id="110" name="그룹 50"/>
              <p:cNvGrpSpPr>
                <a:grpSpLocks/>
              </p:cNvGrpSpPr>
              <p:nvPr/>
            </p:nvGrpSpPr>
            <p:grpSpPr bwMode="auto">
              <a:xfrm>
                <a:off x="334963" y="3573461"/>
                <a:ext cx="6271218" cy="262313"/>
                <a:chOff x="335633" y="3489640"/>
                <a:chExt cx="6270543" cy="262915"/>
              </a:xfrm>
            </p:grpSpPr>
            <p:sp>
              <p:nvSpPr>
                <p:cNvPr id="115" name="직사각형 262"/>
                <p:cNvSpPr>
                  <a:spLocks noChangeArrowheads="1"/>
                </p:cNvSpPr>
                <p:nvPr/>
              </p:nvSpPr>
              <p:spPr bwMode="auto">
                <a:xfrm>
                  <a:off x="335633" y="3489640"/>
                  <a:ext cx="6270543" cy="262915"/>
                </a:xfrm>
                <a:prstGeom prst="rect">
                  <a:avLst/>
                </a:prstGeom>
                <a:gradFill flip="none" rotWithShape="1">
                  <a:gsLst>
                    <a:gs pos="33000">
                      <a:srgbClr val="1295EE"/>
                    </a:gs>
                    <a:gs pos="0">
                      <a:srgbClr val="0B629D"/>
                    </a:gs>
                    <a:gs pos="12000">
                      <a:srgbClr val="0E76BC"/>
                    </a:gs>
                  </a:gsLst>
                  <a:lin ang="36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latinLnBrk="0">
                    <a:defRPr/>
                  </a:pPr>
                  <a:endParaRPr lang="ko-KR" altLang="en-US" sz="1000" dirty="0">
                    <a:solidFill>
                      <a:srgbClr val="FFFFFF"/>
                    </a:solidFill>
                    <a:latin typeface="+mn-ea"/>
                    <a:cs typeface="Arial" pitchFamily="34" charset="0"/>
                  </a:endParaRPr>
                </a:p>
              </p:txBody>
            </p:sp>
            <p:cxnSp>
              <p:nvCxnSpPr>
                <p:cNvPr id="116" name="직선 연결선 26"/>
                <p:cNvCxnSpPr>
                  <a:cxnSpLocks noChangeShapeType="1"/>
                </p:cNvCxnSpPr>
                <p:nvPr/>
              </p:nvCxnSpPr>
              <p:spPr bwMode="auto">
                <a:xfrm>
                  <a:off x="553763" y="3618068"/>
                  <a:ext cx="138933" cy="0"/>
                </a:xfrm>
                <a:prstGeom prst="line">
                  <a:avLst/>
                </a:prstGeom>
                <a:noFill/>
                <a:ln w="12700" algn="ctr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17" name="Text Box 34"/>
                <p:cNvSpPr txBox="1">
                  <a:spLocks noChangeArrowheads="1"/>
                </p:cNvSpPr>
                <p:nvPr/>
              </p:nvSpPr>
              <p:spPr bwMode="gray">
                <a:xfrm>
                  <a:off x="764704" y="3535954"/>
                  <a:ext cx="5697056" cy="1699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0"/>
                  </a:sp3d>
                </a:bodyPr>
                <a:lstStyle>
                  <a:lvl1pPr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1pPr>
                  <a:lvl2pPr marL="742950" indent="-28575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2pPr>
                  <a:lvl3pPr marL="11430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3pPr>
                  <a:lvl4pPr marL="16002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4pPr>
                  <a:lvl5pPr marL="20574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5pPr>
                  <a:lvl6pPr marL="25146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6pPr>
                  <a:lvl7pPr marL="29718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7pPr>
                  <a:lvl8pPr marL="34290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8pPr>
                  <a:lvl9pPr marL="38862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9pPr>
                </a:lstStyle>
                <a:p>
                  <a:pPr eaLnBrk="1" latinLnBrk="0" hangingPunct="1">
                    <a:defRPr/>
                  </a:pPr>
                  <a:r>
                    <a:rPr lang="ko-KR" altLang="en-US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ea"/>
                      <a:ea typeface="+mn-ea"/>
                      <a:cs typeface="Arial" pitchFamily="34" charset="0"/>
                    </a:rPr>
                    <a:t>서비스수준협약</a:t>
                  </a:r>
                  <a:r>
                    <a:rPr lang="en-US" altLang="ko-KR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ea"/>
                      <a:ea typeface="+mn-ea"/>
                      <a:cs typeface="Arial" pitchFamily="34" charset="0"/>
                    </a:rPr>
                    <a:t>(SLA) </a:t>
                  </a:r>
                  <a:r>
                    <a:rPr lang="ko-KR" altLang="en-US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ea"/>
                      <a:ea typeface="+mn-ea"/>
                      <a:cs typeface="Arial" pitchFamily="34" charset="0"/>
                    </a:rPr>
                    <a:t>기반 사업관리 방법 적용</a:t>
                  </a:r>
                </a:p>
              </p:txBody>
            </p:sp>
          </p:grpSp>
          <p:grpSp>
            <p:nvGrpSpPr>
              <p:cNvPr id="111" name="그룹 207"/>
              <p:cNvGrpSpPr>
                <a:grpSpLocks/>
              </p:cNvGrpSpPr>
              <p:nvPr/>
            </p:nvGrpSpPr>
            <p:grpSpPr bwMode="auto">
              <a:xfrm>
                <a:off x="1048569" y="3850655"/>
                <a:ext cx="5375678" cy="109122"/>
                <a:chOff x="1048569" y="3850655"/>
                <a:chExt cx="5375678" cy="109122"/>
              </a:xfrm>
            </p:grpSpPr>
            <p:pic>
              <p:nvPicPr>
                <p:cNvPr id="112" name="Picture 24" descr="악세사리"/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3" name="Picture 24" descr="악세사리"/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4" name="Picture 24" descr="악세사리"/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pic>
          <p:nvPicPr>
            <p:cNvPr id="109" name="Picture 184" descr="icon_a01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94" t="64084" r="6964" b="26581"/>
            <a:stretch>
              <a:fillRect/>
            </a:stretch>
          </p:blipFill>
          <p:spPr bwMode="auto">
            <a:xfrm>
              <a:off x="339725" y="2992438"/>
              <a:ext cx="169863" cy="18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6" name="그룹 16">
            <a:extLst>
              <a:ext uri="{FF2B5EF4-FFF2-40B4-BE49-F238E27FC236}">
                <a16:creationId xmlns:a16="http://schemas.microsoft.com/office/drawing/2014/main" id="{89F4255D-31D2-E81A-7E7A-CCDE5620BE08}"/>
              </a:ext>
            </a:extLst>
          </p:cNvPr>
          <p:cNvGrpSpPr>
            <a:grpSpLocks/>
          </p:cNvGrpSpPr>
          <p:nvPr/>
        </p:nvGrpSpPr>
        <p:grpSpPr bwMode="auto">
          <a:xfrm>
            <a:off x="342900" y="3043261"/>
            <a:ext cx="5246688" cy="169277"/>
            <a:chOff x="342900" y="3330737"/>
            <a:chExt cx="5246341" cy="170762"/>
          </a:xfrm>
        </p:grpSpPr>
        <p:pic>
          <p:nvPicPr>
            <p:cNvPr id="27" name="Picture 176" descr="1">
              <a:extLst>
                <a:ext uri="{FF2B5EF4-FFF2-40B4-BE49-F238E27FC236}">
                  <a16:creationId xmlns:a16="http://schemas.microsoft.com/office/drawing/2014/main" id="{9C2B08A7-79C8-194E-8C5F-C30A01887F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900" y="3370758"/>
              <a:ext cx="148389" cy="81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Text Box 34">
              <a:extLst>
                <a:ext uri="{FF2B5EF4-FFF2-40B4-BE49-F238E27FC236}">
                  <a16:creationId xmlns:a16="http://schemas.microsoft.com/office/drawing/2014/main" id="{0D43F75E-7794-F777-B9E9-6D97CE591CBA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41717" y="3330737"/>
              <a:ext cx="5047524" cy="170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1pPr>
              <a:lvl2pPr marL="742950" indent="-285750"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2pPr>
              <a:lvl3pPr marL="1143000" indent="-228600"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3pPr>
              <a:lvl4pPr marL="1600200" indent="-228600"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4pPr>
              <a:lvl5pPr marL="2057400" indent="-228600"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5pPr>
              <a:lvl6pPr marL="2514600" indent="-228600" defTabSz="787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6pPr>
              <a:lvl7pPr marL="2971800" indent="-228600" defTabSz="787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7pPr>
              <a:lvl8pPr marL="3429000" indent="-228600" defTabSz="787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8pPr>
              <a:lvl9pPr marL="3886200" indent="-228600" defTabSz="787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9pPr>
            </a:lstStyle>
            <a:p>
              <a:pPr eaLnBrk="1" latinLnBrk="0" hangingPunct="1">
                <a:defRPr/>
              </a:pPr>
              <a:r>
                <a:rPr lang="ko-KR" altLang="en-US" dirty="0">
                  <a:latin typeface="+mn-ea"/>
                  <a:ea typeface="+mn-ea"/>
                  <a:cs typeface="Arial" pitchFamily="34" charset="0"/>
                </a:rPr>
                <a:t>서비스수준협약</a:t>
              </a:r>
              <a:r>
                <a:rPr lang="en-US" altLang="ko-KR" dirty="0">
                  <a:latin typeface="+mn-ea"/>
                  <a:ea typeface="+mn-ea"/>
                  <a:cs typeface="Arial" pitchFamily="34" charset="0"/>
                </a:rPr>
                <a:t>(SLA) </a:t>
              </a:r>
              <a:r>
                <a:rPr lang="ko-KR" altLang="en-US" dirty="0">
                  <a:latin typeface="+mn-ea"/>
                  <a:ea typeface="+mn-ea"/>
                  <a:cs typeface="Arial" pitchFamily="34" charset="0"/>
                </a:rPr>
                <a:t>기반 사업 관리 체계</a:t>
              </a:r>
            </a:p>
          </p:txBody>
        </p:sp>
      </p:grpSp>
      <p:sp>
        <p:nvSpPr>
          <p:cNvPr id="168" name="AutoShape 325">
            <a:extLst>
              <a:ext uri="{FF2B5EF4-FFF2-40B4-BE49-F238E27FC236}">
                <a16:creationId xmlns:a16="http://schemas.microsoft.com/office/drawing/2014/main" id="{B1E9E8BC-B03B-4BEA-341C-470E8FBEA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8368" y="3689500"/>
            <a:ext cx="2863343" cy="406399"/>
          </a:xfrm>
          <a:prstGeom prst="roundRect">
            <a:avLst>
              <a:gd name="adj" fmla="val 7407"/>
            </a:avLst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 defTabSz="741363"/>
            <a:r>
              <a:rPr kumimoji="0" lang="ko-KR" altLang="en-US" sz="1200" dirty="0">
                <a:solidFill>
                  <a:srgbClr val="FFFFFF"/>
                </a:solidFill>
                <a:latin typeface="+mn-ea"/>
                <a:ea typeface="+mn-ea"/>
                <a:cs typeface="+mn-cs"/>
              </a:rPr>
              <a:t>사업 관리 목적</a:t>
            </a:r>
            <a:endParaRPr kumimoji="0" lang="ko-KR" altLang="ko-KR" sz="1200" dirty="0">
              <a:solidFill>
                <a:srgbClr val="FFFFFF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169" name="AutoShape 326">
            <a:extLst>
              <a:ext uri="{FF2B5EF4-FFF2-40B4-BE49-F238E27FC236}">
                <a16:creationId xmlns:a16="http://schemas.microsoft.com/office/drawing/2014/main" id="{1D89C230-7DE5-4765-D2FE-A3ADFD28C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4553" y="3663481"/>
            <a:ext cx="2948783" cy="1659900"/>
          </a:xfrm>
          <a:prstGeom prst="roundRect">
            <a:avLst>
              <a:gd name="adj" fmla="val 1606"/>
            </a:avLst>
          </a:prstGeom>
          <a:noFill/>
          <a:ln w="19050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ko-KR" altLang="en-US" sz="2000" b="0">
              <a:solidFill>
                <a:srgbClr val="FFFFFF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A05F843B-60CF-6F6F-63BF-342F8B009CE7}"/>
              </a:ext>
            </a:extLst>
          </p:cNvPr>
          <p:cNvSpPr txBox="1"/>
          <p:nvPr/>
        </p:nvSpPr>
        <p:spPr>
          <a:xfrm>
            <a:off x="3504553" y="4200814"/>
            <a:ext cx="2948783" cy="1078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ko-KR" altLang="en-US" b="0" dirty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일정 수준의 서비스 보장</a:t>
            </a:r>
          </a:p>
          <a:p>
            <a:pPr marL="171450" indent="-171450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ko-KR" altLang="en-US" b="0" dirty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적절한 통제와 서비스 품질의 객관적 평가</a:t>
            </a:r>
          </a:p>
          <a:p>
            <a:pPr marL="171450" indent="-171450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ko-KR" altLang="en-US" b="0" dirty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계약 당사자 간의 의사소통 도구</a:t>
            </a:r>
          </a:p>
          <a:p>
            <a:pPr marL="171450" indent="-171450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ko-KR" altLang="en-US" b="0" dirty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서비스수준의 개선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63489BE-88F7-835D-9EA5-E1308D412076}"/>
              </a:ext>
            </a:extLst>
          </p:cNvPr>
          <p:cNvGrpSpPr/>
          <p:nvPr/>
        </p:nvGrpSpPr>
        <p:grpSpPr>
          <a:xfrm>
            <a:off x="788720" y="3656856"/>
            <a:ext cx="2502621" cy="2389895"/>
            <a:chOff x="788720" y="4160912"/>
            <a:chExt cx="2502621" cy="2049455"/>
          </a:xfrm>
        </p:grpSpPr>
        <p:sp>
          <p:nvSpPr>
            <p:cNvPr id="163" name="Rectangle 83" descr="ㅁ5">
              <a:extLst>
                <a:ext uri="{FF2B5EF4-FFF2-40B4-BE49-F238E27FC236}">
                  <a16:creationId xmlns:a16="http://schemas.microsoft.com/office/drawing/2014/main" id="{AF2A4BA8-BEEE-5B87-6494-8FE7D9E1E7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720" y="4160912"/>
              <a:ext cx="2502621" cy="206038"/>
            </a:xfrm>
            <a:prstGeom prst="rect">
              <a:avLst/>
            </a:prstGeom>
            <a:gradFill rotWithShape="1">
              <a:gsLst>
                <a:gs pos="0">
                  <a:srgbClr val="F6F6F6"/>
                </a:gs>
                <a:gs pos="100000">
                  <a:srgbClr val="EAEAEA"/>
                </a:gs>
              </a:gsLst>
              <a:lin ang="5400000" scaled="1"/>
            </a:gradFill>
            <a:ln w="6350" algn="ctr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2700" dir="54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21600" tIns="0" rIns="21600" bIns="0" anchor="ctr"/>
            <a:lstStyle/>
            <a:p>
              <a:pPr algn="ctr" defTabSz="808038" fontAlgn="auto" latinLnBrk="0">
                <a:spcBef>
                  <a:spcPts val="0"/>
                </a:spcBef>
                <a:spcAft>
                  <a:spcPts val="0"/>
                </a:spcAft>
                <a:buClr>
                  <a:prstClr val="black">
                    <a:lumMod val="50000"/>
                    <a:lumOff val="50000"/>
                  </a:prstClr>
                </a:buClr>
              </a:pPr>
              <a:r>
                <a:rPr kumimoji="0" lang="ko-KR" altLang="en-US" sz="1000" dirty="0">
                  <a:solidFill>
                    <a:prstClr val="black"/>
                  </a:solidFill>
                  <a:latin typeface="+mn-ea"/>
                  <a:ea typeface="+mn-ea"/>
                  <a:cs typeface="+mn-cs"/>
                </a:rPr>
                <a:t>서비스 영역 및 수준 지표 분석</a:t>
              </a:r>
              <a:r>
                <a:rPr kumimoji="0" lang="en-US" altLang="ko-KR" sz="1000" dirty="0">
                  <a:solidFill>
                    <a:prstClr val="black"/>
                  </a:solidFill>
                  <a:latin typeface="+mn-ea"/>
                  <a:ea typeface="+mn-ea"/>
                  <a:cs typeface="+mn-cs"/>
                </a:rPr>
                <a:t>, </a:t>
              </a:r>
              <a:r>
                <a:rPr kumimoji="0" lang="ko-KR" altLang="en-US" sz="1000" dirty="0">
                  <a:solidFill>
                    <a:prstClr val="black"/>
                  </a:solidFill>
                  <a:latin typeface="+mn-ea"/>
                  <a:ea typeface="+mn-ea"/>
                  <a:cs typeface="+mn-cs"/>
                </a:rPr>
                <a:t>정의</a:t>
              </a:r>
            </a:p>
          </p:txBody>
        </p:sp>
        <p:sp>
          <p:nvSpPr>
            <p:cNvPr id="164" name="Rectangle 83" descr="ㅁ5">
              <a:extLst>
                <a:ext uri="{FF2B5EF4-FFF2-40B4-BE49-F238E27FC236}">
                  <a16:creationId xmlns:a16="http://schemas.microsoft.com/office/drawing/2014/main" id="{FB19E2A1-523E-15BC-1F38-598737EC8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720" y="4621766"/>
              <a:ext cx="2502621" cy="206038"/>
            </a:xfrm>
            <a:prstGeom prst="rect">
              <a:avLst/>
            </a:prstGeom>
            <a:gradFill rotWithShape="1">
              <a:gsLst>
                <a:gs pos="0">
                  <a:srgbClr val="F6F6F6"/>
                </a:gs>
                <a:gs pos="100000">
                  <a:srgbClr val="EAEAEA"/>
                </a:gs>
              </a:gsLst>
              <a:lin ang="5400000" scaled="1"/>
            </a:gradFill>
            <a:ln w="6350" algn="ctr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2700" dir="54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21600" tIns="0" rIns="21600" bIns="0" anchor="ctr"/>
            <a:lstStyle/>
            <a:p>
              <a:pPr algn="ctr" defTabSz="808038" fontAlgn="auto" latinLnBrk="0">
                <a:spcBef>
                  <a:spcPts val="0"/>
                </a:spcBef>
                <a:spcAft>
                  <a:spcPts val="0"/>
                </a:spcAft>
                <a:buClr>
                  <a:prstClr val="black">
                    <a:lumMod val="50000"/>
                    <a:lumOff val="50000"/>
                  </a:prstClr>
                </a:buClr>
              </a:pPr>
              <a:r>
                <a:rPr kumimoji="0" lang="ko-KR" altLang="en-US" sz="1000" dirty="0">
                  <a:solidFill>
                    <a:prstClr val="black"/>
                  </a:solidFill>
                  <a:latin typeface="+mn-ea"/>
                  <a:ea typeface="+mn-ea"/>
                  <a:cs typeface="+mn-cs"/>
                </a:rPr>
                <a:t>목표 수준 결정</a:t>
              </a:r>
              <a:r>
                <a:rPr kumimoji="0" lang="en-US" altLang="ko-KR" sz="1000" dirty="0">
                  <a:solidFill>
                    <a:prstClr val="black"/>
                  </a:solidFill>
                  <a:latin typeface="+mn-ea"/>
                  <a:ea typeface="+mn-ea"/>
                  <a:cs typeface="+mn-cs"/>
                </a:rPr>
                <a:t>, </a:t>
              </a:r>
              <a:r>
                <a:rPr kumimoji="0" lang="ko-KR" altLang="en-US" sz="1000" dirty="0">
                  <a:solidFill>
                    <a:prstClr val="black"/>
                  </a:solidFill>
                  <a:latin typeface="+mn-ea"/>
                  <a:ea typeface="+mn-ea"/>
                  <a:cs typeface="+mn-cs"/>
                </a:rPr>
                <a:t>서비스수준목표</a:t>
              </a:r>
              <a:r>
                <a:rPr kumimoji="0" lang="en-US" altLang="ko-KR" sz="1000" dirty="0">
                  <a:solidFill>
                    <a:prstClr val="black"/>
                  </a:solidFill>
                  <a:latin typeface="+mn-ea"/>
                  <a:ea typeface="+mn-ea"/>
                  <a:cs typeface="+mn-cs"/>
                </a:rPr>
                <a:t>(SLO) </a:t>
              </a:r>
              <a:r>
                <a:rPr kumimoji="0" lang="ko-KR" altLang="en-US" sz="1000" dirty="0">
                  <a:solidFill>
                    <a:prstClr val="black"/>
                  </a:solidFill>
                  <a:latin typeface="+mn-ea"/>
                  <a:ea typeface="+mn-ea"/>
                  <a:cs typeface="+mn-cs"/>
                </a:rPr>
                <a:t>도출</a:t>
              </a:r>
            </a:p>
          </p:txBody>
        </p:sp>
        <p:sp>
          <p:nvSpPr>
            <p:cNvPr id="165" name="Rectangle 83" descr="ㅁ5">
              <a:extLst>
                <a:ext uri="{FF2B5EF4-FFF2-40B4-BE49-F238E27FC236}">
                  <a16:creationId xmlns:a16="http://schemas.microsoft.com/office/drawing/2014/main" id="{ED4FCF93-74AC-43EB-5D67-D9EE859C12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720" y="5082620"/>
              <a:ext cx="2502621" cy="206038"/>
            </a:xfrm>
            <a:prstGeom prst="rect">
              <a:avLst/>
            </a:prstGeom>
            <a:gradFill rotWithShape="1">
              <a:gsLst>
                <a:gs pos="0">
                  <a:srgbClr val="F6F6F6"/>
                </a:gs>
                <a:gs pos="100000">
                  <a:srgbClr val="EAEAEA"/>
                </a:gs>
              </a:gsLst>
              <a:lin ang="5400000" scaled="1"/>
            </a:gradFill>
            <a:ln w="6350" algn="ctr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2700" dir="54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21600" tIns="0" rIns="21600" bIns="0" anchor="ctr"/>
            <a:lstStyle/>
            <a:p>
              <a:pPr algn="ctr" defTabSz="808038" fontAlgn="auto" latinLnBrk="0">
                <a:spcBef>
                  <a:spcPts val="0"/>
                </a:spcBef>
                <a:spcAft>
                  <a:spcPts val="0"/>
                </a:spcAft>
                <a:buClr>
                  <a:prstClr val="black">
                    <a:lumMod val="50000"/>
                    <a:lumOff val="50000"/>
                  </a:prstClr>
                </a:buClr>
              </a:pPr>
              <a:r>
                <a:rPr kumimoji="0" lang="en-US" altLang="ko-KR" sz="1000" dirty="0">
                  <a:solidFill>
                    <a:prstClr val="black"/>
                  </a:solidFill>
                  <a:latin typeface="+mn-ea"/>
                  <a:ea typeface="+mn-ea"/>
                  <a:cs typeface="+mn-cs"/>
                </a:rPr>
                <a:t>SLA </a:t>
              </a:r>
              <a:r>
                <a:rPr kumimoji="0" lang="ko-KR" altLang="en-US" sz="1000" dirty="0">
                  <a:solidFill>
                    <a:prstClr val="black"/>
                  </a:solidFill>
                  <a:latin typeface="+mn-ea"/>
                  <a:ea typeface="+mn-ea"/>
                  <a:cs typeface="+mn-cs"/>
                </a:rPr>
                <a:t>계약</a:t>
              </a:r>
              <a:r>
                <a:rPr kumimoji="0" lang="en-US" altLang="ko-KR" sz="1000" dirty="0">
                  <a:solidFill>
                    <a:prstClr val="black"/>
                  </a:solidFill>
                  <a:latin typeface="+mn-ea"/>
                  <a:ea typeface="+mn-ea"/>
                  <a:cs typeface="+mn-cs"/>
                </a:rPr>
                <a:t>, R&amp;R </a:t>
              </a:r>
              <a:r>
                <a:rPr kumimoji="0" lang="ko-KR" altLang="en-US" sz="1000" dirty="0">
                  <a:solidFill>
                    <a:prstClr val="black"/>
                  </a:solidFill>
                  <a:latin typeface="+mn-ea"/>
                  <a:ea typeface="+mn-ea"/>
                  <a:cs typeface="+mn-cs"/>
                </a:rPr>
                <a:t>정의</a:t>
              </a:r>
            </a:p>
          </p:txBody>
        </p:sp>
        <p:sp>
          <p:nvSpPr>
            <p:cNvPr id="166" name="Rectangle 83" descr="ㅁ5">
              <a:extLst>
                <a:ext uri="{FF2B5EF4-FFF2-40B4-BE49-F238E27FC236}">
                  <a16:creationId xmlns:a16="http://schemas.microsoft.com/office/drawing/2014/main" id="{3E779B62-2595-34FB-83D0-562A1A050E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720" y="5543474"/>
              <a:ext cx="2502621" cy="206038"/>
            </a:xfrm>
            <a:prstGeom prst="rect">
              <a:avLst/>
            </a:prstGeom>
            <a:gradFill rotWithShape="1">
              <a:gsLst>
                <a:gs pos="0">
                  <a:srgbClr val="F6F6F6"/>
                </a:gs>
                <a:gs pos="100000">
                  <a:srgbClr val="EAEAEA"/>
                </a:gs>
              </a:gsLst>
              <a:lin ang="5400000" scaled="1"/>
            </a:gradFill>
            <a:ln w="6350" algn="ctr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2700" dir="54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21600" tIns="0" rIns="21600" bIns="0" anchor="ctr"/>
            <a:lstStyle/>
            <a:p>
              <a:pPr algn="ctr" defTabSz="808038" fontAlgn="auto" latinLnBrk="0">
                <a:spcBef>
                  <a:spcPts val="0"/>
                </a:spcBef>
                <a:spcAft>
                  <a:spcPts val="0"/>
                </a:spcAft>
                <a:buClr>
                  <a:prstClr val="black">
                    <a:lumMod val="50000"/>
                    <a:lumOff val="50000"/>
                  </a:prstClr>
                </a:buClr>
              </a:pPr>
              <a:r>
                <a:rPr kumimoji="0" lang="ko-KR" altLang="en-US" sz="1000" dirty="0">
                  <a:solidFill>
                    <a:prstClr val="black"/>
                  </a:solidFill>
                  <a:latin typeface="+mn-ea"/>
                  <a:ea typeface="+mn-ea"/>
                  <a:cs typeface="+mn-cs"/>
                </a:rPr>
                <a:t>서비스 수준 측정</a:t>
              </a:r>
              <a:r>
                <a:rPr kumimoji="0" lang="en-US" altLang="ko-KR" sz="1000" dirty="0">
                  <a:solidFill>
                    <a:prstClr val="black"/>
                  </a:solidFill>
                  <a:latin typeface="+mn-ea"/>
                  <a:ea typeface="+mn-ea"/>
                  <a:cs typeface="+mn-cs"/>
                </a:rPr>
                <a:t>, </a:t>
              </a:r>
              <a:r>
                <a:rPr kumimoji="0" lang="ko-KR" altLang="en-US" sz="1000" dirty="0">
                  <a:solidFill>
                    <a:prstClr val="black"/>
                  </a:solidFill>
                  <a:latin typeface="+mn-ea"/>
                  <a:ea typeface="+mn-ea"/>
                  <a:cs typeface="+mn-cs"/>
                </a:rPr>
                <a:t>모니터링</a:t>
              </a:r>
            </a:p>
          </p:txBody>
        </p:sp>
        <p:sp>
          <p:nvSpPr>
            <p:cNvPr id="167" name="Rectangle 83" descr="ㅁ5">
              <a:extLst>
                <a:ext uri="{FF2B5EF4-FFF2-40B4-BE49-F238E27FC236}">
                  <a16:creationId xmlns:a16="http://schemas.microsoft.com/office/drawing/2014/main" id="{15C92386-62AC-7BC1-9FE5-9DF6015C6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720" y="6004329"/>
              <a:ext cx="2502621" cy="206038"/>
            </a:xfrm>
            <a:prstGeom prst="rect">
              <a:avLst/>
            </a:prstGeom>
            <a:gradFill rotWithShape="1">
              <a:gsLst>
                <a:gs pos="0">
                  <a:srgbClr val="F6F6F6"/>
                </a:gs>
                <a:gs pos="100000">
                  <a:srgbClr val="EAEAEA"/>
                </a:gs>
              </a:gsLst>
              <a:lin ang="5400000" scaled="1"/>
            </a:gradFill>
            <a:ln w="6350" algn="ctr">
              <a:solidFill>
                <a:srgbClr val="B2B2B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2700" dir="54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21600" tIns="0" rIns="21600" bIns="0" anchor="ctr"/>
            <a:lstStyle/>
            <a:p>
              <a:pPr algn="ctr" defTabSz="808038" fontAlgn="auto" latinLnBrk="0">
                <a:spcBef>
                  <a:spcPts val="0"/>
                </a:spcBef>
                <a:spcAft>
                  <a:spcPts val="0"/>
                </a:spcAft>
                <a:buClr>
                  <a:prstClr val="black">
                    <a:lumMod val="50000"/>
                    <a:lumOff val="50000"/>
                  </a:prstClr>
                </a:buClr>
              </a:pPr>
              <a:r>
                <a:rPr kumimoji="0" lang="ko-KR" altLang="en-US" sz="1000" dirty="0">
                  <a:solidFill>
                    <a:prstClr val="black"/>
                  </a:solidFill>
                  <a:latin typeface="+mn-ea"/>
                  <a:ea typeface="+mn-ea"/>
                  <a:cs typeface="+mn-cs"/>
                </a:rPr>
                <a:t>평가 및 결과적용</a:t>
              </a:r>
              <a:r>
                <a:rPr kumimoji="0" lang="en-US" altLang="ko-KR" sz="1000" dirty="0">
                  <a:solidFill>
                    <a:prstClr val="black"/>
                  </a:solidFill>
                  <a:latin typeface="+mn-ea"/>
                  <a:ea typeface="+mn-ea"/>
                  <a:cs typeface="+mn-cs"/>
                </a:rPr>
                <a:t>, </a:t>
              </a:r>
              <a:r>
                <a:rPr kumimoji="0" lang="ko-KR" altLang="en-US" sz="1000" dirty="0">
                  <a:solidFill>
                    <a:prstClr val="black"/>
                  </a:solidFill>
                  <a:latin typeface="+mn-ea"/>
                  <a:ea typeface="+mn-ea"/>
                  <a:cs typeface="+mn-cs"/>
                </a:rPr>
                <a:t>개선도출</a:t>
              </a:r>
            </a:p>
          </p:txBody>
        </p:sp>
        <p:cxnSp>
          <p:nvCxnSpPr>
            <p:cNvPr id="171" name="직선 화살표 연결선 170">
              <a:extLst>
                <a:ext uri="{FF2B5EF4-FFF2-40B4-BE49-F238E27FC236}">
                  <a16:creationId xmlns:a16="http://schemas.microsoft.com/office/drawing/2014/main" id="{6772C874-199C-E2CE-8169-BF2DB41A491C}"/>
                </a:ext>
              </a:extLst>
            </p:cNvPr>
            <p:cNvCxnSpPr>
              <a:stCxn id="163" idx="2"/>
              <a:endCxn id="164" idx="0"/>
            </p:cNvCxnSpPr>
            <p:nvPr/>
          </p:nvCxnSpPr>
          <p:spPr>
            <a:xfrm>
              <a:off x="2040031" y="4366950"/>
              <a:ext cx="0" cy="254816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triangle"/>
            </a:ln>
            <a:effectLst/>
          </p:spPr>
        </p:cxnSp>
        <p:cxnSp>
          <p:nvCxnSpPr>
            <p:cNvPr id="172" name="직선 화살표 연결선 171">
              <a:extLst>
                <a:ext uri="{FF2B5EF4-FFF2-40B4-BE49-F238E27FC236}">
                  <a16:creationId xmlns:a16="http://schemas.microsoft.com/office/drawing/2014/main" id="{5F722B2C-DD3D-A521-74C6-6CC756ACEB5B}"/>
                </a:ext>
              </a:extLst>
            </p:cNvPr>
            <p:cNvCxnSpPr>
              <a:stCxn id="164" idx="2"/>
              <a:endCxn id="165" idx="0"/>
            </p:cNvCxnSpPr>
            <p:nvPr/>
          </p:nvCxnSpPr>
          <p:spPr>
            <a:xfrm>
              <a:off x="2040031" y="4827804"/>
              <a:ext cx="0" cy="254816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triangle"/>
            </a:ln>
            <a:effectLst/>
          </p:spPr>
        </p:cxnSp>
        <p:cxnSp>
          <p:nvCxnSpPr>
            <p:cNvPr id="173" name="직선 화살표 연결선 172">
              <a:extLst>
                <a:ext uri="{FF2B5EF4-FFF2-40B4-BE49-F238E27FC236}">
                  <a16:creationId xmlns:a16="http://schemas.microsoft.com/office/drawing/2014/main" id="{C44F0E17-CD24-9F7F-5685-C95A07B09834}"/>
                </a:ext>
              </a:extLst>
            </p:cNvPr>
            <p:cNvCxnSpPr>
              <a:stCxn id="165" idx="2"/>
              <a:endCxn id="166" idx="0"/>
            </p:cNvCxnSpPr>
            <p:nvPr/>
          </p:nvCxnSpPr>
          <p:spPr>
            <a:xfrm>
              <a:off x="2040031" y="5288658"/>
              <a:ext cx="0" cy="254816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triangle"/>
            </a:ln>
            <a:effectLst/>
          </p:spPr>
        </p:cxnSp>
        <p:cxnSp>
          <p:nvCxnSpPr>
            <p:cNvPr id="174" name="직선 화살표 연결선 173">
              <a:extLst>
                <a:ext uri="{FF2B5EF4-FFF2-40B4-BE49-F238E27FC236}">
                  <a16:creationId xmlns:a16="http://schemas.microsoft.com/office/drawing/2014/main" id="{A6ACD4C3-9B48-510F-FA07-F5EA9AAAD830}"/>
                </a:ext>
              </a:extLst>
            </p:cNvPr>
            <p:cNvCxnSpPr>
              <a:stCxn id="166" idx="2"/>
              <a:endCxn id="167" idx="0"/>
            </p:cNvCxnSpPr>
            <p:nvPr/>
          </p:nvCxnSpPr>
          <p:spPr>
            <a:xfrm>
              <a:off x="2040031" y="5749512"/>
              <a:ext cx="0" cy="254817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triangle"/>
            </a:ln>
            <a:effectLst/>
          </p:spPr>
        </p:cxnSp>
        <p:cxnSp>
          <p:nvCxnSpPr>
            <p:cNvPr id="175" name="꺾인 연결선 448">
              <a:extLst>
                <a:ext uri="{FF2B5EF4-FFF2-40B4-BE49-F238E27FC236}">
                  <a16:creationId xmlns:a16="http://schemas.microsoft.com/office/drawing/2014/main" id="{48AC4F51-D486-6437-14AB-3926FAD9624E}"/>
                </a:ext>
              </a:extLst>
            </p:cNvPr>
            <p:cNvCxnSpPr>
              <a:stCxn id="167" idx="2"/>
            </p:cNvCxnSpPr>
            <p:nvPr/>
          </p:nvCxnSpPr>
          <p:spPr>
            <a:xfrm rot="5400000" flipH="1">
              <a:off x="1375198" y="5545534"/>
              <a:ext cx="1292828" cy="36838"/>
            </a:xfrm>
            <a:prstGeom prst="bentConnector4">
              <a:avLst>
                <a:gd name="adj1" fmla="val -11788"/>
                <a:gd name="adj2" fmla="val 4206139"/>
              </a:avLst>
            </a:prstGeom>
            <a:noFill/>
            <a:ln w="190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triangle"/>
            </a:ln>
            <a:effectLst/>
          </p:spPr>
        </p:cxnSp>
      </p:grp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54610EA0-FAC2-2986-373B-4698403EF447}"/>
              </a:ext>
            </a:extLst>
          </p:cNvPr>
          <p:cNvGrpSpPr/>
          <p:nvPr/>
        </p:nvGrpSpPr>
        <p:grpSpPr>
          <a:xfrm>
            <a:off x="270854" y="7545288"/>
            <a:ext cx="6266982" cy="509588"/>
            <a:chOff x="187692" y="7635977"/>
            <a:chExt cx="7987706" cy="509588"/>
          </a:xfrm>
        </p:grpSpPr>
        <p:grpSp>
          <p:nvGrpSpPr>
            <p:cNvPr id="182" name="Group 141">
              <a:extLst>
                <a:ext uri="{FF2B5EF4-FFF2-40B4-BE49-F238E27FC236}">
                  <a16:creationId xmlns:a16="http://schemas.microsoft.com/office/drawing/2014/main" id="{E2E616C1-D0AB-D31D-02B1-53D0D15B1E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692" y="7635977"/>
              <a:ext cx="1718028" cy="509588"/>
              <a:chOff x="1023" y="1490"/>
              <a:chExt cx="1050" cy="321"/>
            </a:xfrm>
          </p:grpSpPr>
          <p:sp>
            <p:nvSpPr>
              <p:cNvPr id="195" name="Freeform 585">
                <a:extLst>
                  <a:ext uri="{FF2B5EF4-FFF2-40B4-BE49-F238E27FC236}">
                    <a16:creationId xmlns:a16="http://schemas.microsoft.com/office/drawing/2014/main" id="{345FB56E-EDA6-0C7F-F20F-AB85E3AECA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1" y="1544"/>
                <a:ext cx="122" cy="199"/>
              </a:xfrm>
              <a:custGeom>
                <a:avLst/>
                <a:gdLst>
                  <a:gd name="T0" fmla="*/ 0 w 99"/>
                  <a:gd name="T1" fmla="*/ 0 h 240"/>
                  <a:gd name="T2" fmla="*/ 2147483647 w 99"/>
                  <a:gd name="T3" fmla="*/ 1780621857 h 240"/>
                  <a:gd name="T4" fmla="*/ 2147483647 w 99"/>
                  <a:gd name="T5" fmla="*/ 1780621857 h 240"/>
                  <a:gd name="T6" fmla="*/ 0 w 99"/>
                  <a:gd name="T7" fmla="*/ 0 h 24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240"/>
                  <a:gd name="T14" fmla="*/ 99 w 99"/>
                  <a:gd name="T15" fmla="*/ 240 h 24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240">
                    <a:moveTo>
                      <a:pt x="0" y="0"/>
                    </a:moveTo>
                    <a:lnTo>
                      <a:pt x="99" y="129"/>
                    </a:lnTo>
                    <a:lnTo>
                      <a:pt x="12" y="2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47C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82630" tIns="42968" rIns="82630" bIns="42968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90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  <p:sp>
            <p:nvSpPr>
              <p:cNvPr id="196" name="AutoShape 586">
                <a:extLst>
                  <a:ext uri="{FF2B5EF4-FFF2-40B4-BE49-F238E27FC236}">
                    <a16:creationId xmlns:a16="http://schemas.microsoft.com/office/drawing/2014/main" id="{129641B4-C59F-4682-6330-110CB23C27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3" y="1490"/>
                <a:ext cx="1005" cy="321"/>
              </a:xfrm>
              <a:prstGeom prst="homePlate">
                <a:avLst>
                  <a:gd name="adj" fmla="val 39570"/>
                </a:avLst>
              </a:prstGeom>
              <a:solidFill>
                <a:srgbClr val="DDDDDD"/>
              </a:solidFill>
              <a:ln w="25400" algn="ctr">
                <a:solidFill>
                  <a:sysClr val="window" lastClr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41977" rIns="0" bIns="41977" anchor="ctr"/>
              <a:lstStyle/>
              <a:p>
                <a:pPr marL="0" marR="0" lvl="0" indent="0" algn="ctr" defTabSz="83978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i="0" u="none" strike="noStrike" kern="0" cap="none" spc="0" normalizeH="0" baseline="0" noProof="0" dirty="0">
                    <a:ln>
                      <a:noFill/>
                    </a:ln>
                    <a:solidFill>
                      <a:srgbClr val="1C1C1C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SLA </a:t>
                </a:r>
                <a:r>
                  <a:rPr kumimoji="0" lang="ko-KR" altLang="en-US" sz="900" i="0" u="none" strike="noStrike" kern="0" cap="none" spc="0" normalizeH="0" baseline="0" noProof="0" dirty="0">
                    <a:ln>
                      <a:noFill/>
                    </a:ln>
                    <a:solidFill>
                      <a:srgbClr val="1C1C1C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기반 </a:t>
                </a:r>
                <a:endParaRPr kumimoji="0" lang="en-US" altLang="ko-KR" sz="900" i="0" u="none" strike="noStrike" kern="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  <a:p>
                <a:pPr marL="0" marR="0" lvl="0" indent="0" algn="ctr" defTabSz="83978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i="0" u="none" strike="noStrike" kern="0" cap="none" spc="0" normalizeH="0" baseline="0" noProof="0" dirty="0">
                    <a:ln>
                      <a:noFill/>
                    </a:ln>
                    <a:solidFill>
                      <a:srgbClr val="1C1C1C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사업 관리 단계</a:t>
                </a:r>
                <a:endParaRPr kumimoji="0" lang="ko-KR" altLang="ko-KR" sz="900" i="0" u="none" strike="noStrike" kern="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</p:grpSp>
        <p:grpSp>
          <p:nvGrpSpPr>
            <p:cNvPr id="183" name="Group 125">
              <a:extLst>
                <a:ext uri="{FF2B5EF4-FFF2-40B4-BE49-F238E27FC236}">
                  <a16:creationId xmlns:a16="http://schemas.microsoft.com/office/drawing/2014/main" id="{9DB445BC-278A-217C-519A-6D3E1D0D6D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10742" y="7635977"/>
              <a:ext cx="1780204" cy="509588"/>
              <a:chOff x="1636" y="2301"/>
              <a:chExt cx="982" cy="289"/>
            </a:xfrm>
          </p:grpSpPr>
          <p:sp>
            <p:nvSpPr>
              <p:cNvPr id="193" name="Freeform 587">
                <a:extLst>
                  <a:ext uri="{FF2B5EF4-FFF2-40B4-BE49-F238E27FC236}">
                    <a16:creationId xmlns:a16="http://schemas.microsoft.com/office/drawing/2014/main" id="{BCCF46EA-BD70-F583-8979-6236D53F84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9" y="2350"/>
                <a:ext cx="109" cy="179"/>
              </a:xfrm>
              <a:custGeom>
                <a:avLst/>
                <a:gdLst>
                  <a:gd name="T0" fmla="*/ 0 w 99"/>
                  <a:gd name="T1" fmla="*/ 0 h 240"/>
                  <a:gd name="T2" fmla="*/ 2147483647 w 99"/>
                  <a:gd name="T3" fmla="*/ 1601664887 h 240"/>
                  <a:gd name="T4" fmla="*/ 2147483647 w 99"/>
                  <a:gd name="T5" fmla="*/ 1601664887 h 240"/>
                  <a:gd name="T6" fmla="*/ 0 w 99"/>
                  <a:gd name="T7" fmla="*/ 0 h 24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240"/>
                  <a:gd name="T14" fmla="*/ 99 w 99"/>
                  <a:gd name="T15" fmla="*/ 240 h 24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240">
                    <a:moveTo>
                      <a:pt x="0" y="0"/>
                    </a:moveTo>
                    <a:lnTo>
                      <a:pt x="99" y="129"/>
                    </a:lnTo>
                    <a:lnTo>
                      <a:pt x="12" y="2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47C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82630" tIns="42968" rIns="82630" bIns="42968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90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  <p:sp>
            <p:nvSpPr>
              <p:cNvPr id="194" name="AutoShape 588">
                <a:extLst>
                  <a:ext uri="{FF2B5EF4-FFF2-40B4-BE49-F238E27FC236}">
                    <a16:creationId xmlns:a16="http://schemas.microsoft.com/office/drawing/2014/main" id="{15B5ED59-8CA0-F88B-B85B-7A8A72865F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6" y="2301"/>
                <a:ext cx="941" cy="289"/>
              </a:xfrm>
              <a:prstGeom prst="chevron">
                <a:avLst>
                  <a:gd name="adj" fmla="val 42299"/>
                </a:avLst>
              </a:prstGeom>
              <a:solidFill>
                <a:srgbClr val="DDDDDD"/>
              </a:solidFill>
              <a:ln w="25400" algn="ctr">
                <a:solidFill>
                  <a:sysClr val="window" lastClr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41977" rIns="0" bIns="41977" anchor="ctr"/>
              <a:lstStyle/>
              <a:p>
                <a:pPr marL="0" marR="0" lvl="0" indent="0" algn="ctr" defTabSz="83978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i="0" u="none" strike="noStrike" kern="0" cap="none" spc="0" normalizeH="0" baseline="0" noProof="0" dirty="0">
                    <a:ln>
                      <a:noFill/>
                    </a:ln>
                    <a:solidFill>
                      <a:srgbClr val="1C1C1C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서비스 제안</a:t>
                </a:r>
                <a:endParaRPr kumimoji="0" lang="ko-KR" altLang="ko-KR" sz="900" i="0" u="none" strike="noStrike" kern="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</p:grpSp>
        <p:grpSp>
          <p:nvGrpSpPr>
            <p:cNvPr id="184" name="Group 128">
              <a:extLst>
                <a:ext uri="{FF2B5EF4-FFF2-40B4-BE49-F238E27FC236}">
                  <a16:creationId xmlns:a16="http://schemas.microsoft.com/office/drawing/2014/main" id="{51DBB0C4-5A92-CEB1-4556-3E34E107E2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95968" y="7635977"/>
              <a:ext cx="1781840" cy="509588"/>
              <a:chOff x="2544" y="2301"/>
              <a:chExt cx="983" cy="289"/>
            </a:xfrm>
          </p:grpSpPr>
          <p:sp>
            <p:nvSpPr>
              <p:cNvPr id="191" name="Freeform 589">
                <a:extLst>
                  <a:ext uri="{FF2B5EF4-FFF2-40B4-BE49-F238E27FC236}">
                    <a16:creationId xmlns:a16="http://schemas.microsoft.com/office/drawing/2014/main" id="{C62C3A0B-35CF-EB05-59EC-15F14E4E50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2350"/>
                <a:ext cx="110" cy="179"/>
              </a:xfrm>
              <a:custGeom>
                <a:avLst/>
                <a:gdLst>
                  <a:gd name="T0" fmla="*/ 0 w 99"/>
                  <a:gd name="T1" fmla="*/ 0 h 240"/>
                  <a:gd name="T2" fmla="*/ 2147483647 w 99"/>
                  <a:gd name="T3" fmla="*/ 1601664887 h 240"/>
                  <a:gd name="T4" fmla="*/ 2147483647 w 99"/>
                  <a:gd name="T5" fmla="*/ 1601664887 h 240"/>
                  <a:gd name="T6" fmla="*/ 0 w 99"/>
                  <a:gd name="T7" fmla="*/ 0 h 24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240"/>
                  <a:gd name="T14" fmla="*/ 99 w 99"/>
                  <a:gd name="T15" fmla="*/ 240 h 24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240">
                    <a:moveTo>
                      <a:pt x="0" y="0"/>
                    </a:moveTo>
                    <a:lnTo>
                      <a:pt x="99" y="129"/>
                    </a:lnTo>
                    <a:lnTo>
                      <a:pt x="12" y="2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47C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82630" tIns="42968" rIns="82630" bIns="42968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90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  <p:sp>
            <p:nvSpPr>
              <p:cNvPr id="192" name="AutoShape 590">
                <a:extLst>
                  <a:ext uri="{FF2B5EF4-FFF2-40B4-BE49-F238E27FC236}">
                    <a16:creationId xmlns:a16="http://schemas.microsoft.com/office/drawing/2014/main" id="{C47D62E1-35E7-A0A2-C9D3-75804FF73E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2301"/>
                <a:ext cx="941" cy="289"/>
              </a:xfrm>
              <a:prstGeom prst="chevron">
                <a:avLst>
                  <a:gd name="adj" fmla="val 42299"/>
                </a:avLst>
              </a:prstGeom>
              <a:solidFill>
                <a:srgbClr val="DDDDDD"/>
              </a:solidFill>
              <a:ln w="25400" algn="ctr">
                <a:solidFill>
                  <a:sysClr val="window" lastClr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41977" rIns="0" bIns="41977" anchor="ctr"/>
              <a:lstStyle/>
              <a:p>
                <a:pPr marL="0" marR="0" lvl="0" indent="0" algn="ctr" defTabSz="83978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i="0" u="none" strike="noStrike" kern="0" cap="none" spc="0" normalizeH="0" baseline="0" noProof="0" dirty="0">
                    <a:ln>
                      <a:noFill/>
                    </a:ln>
                    <a:solidFill>
                      <a:srgbClr val="1C1C1C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서비스 정의</a:t>
                </a:r>
                <a:endParaRPr kumimoji="0" lang="ko-KR" altLang="ko-KR" sz="900" i="0" u="none" strike="noStrike" kern="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</p:grpSp>
        <p:grpSp>
          <p:nvGrpSpPr>
            <p:cNvPr id="185" name="Group 131">
              <a:extLst>
                <a:ext uri="{FF2B5EF4-FFF2-40B4-BE49-F238E27FC236}">
                  <a16:creationId xmlns:a16="http://schemas.microsoft.com/office/drawing/2014/main" id="{0E329329-FF28-1CAB-6169-83C7D1B2F0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82830" y="7635977"/>
              <a:ext cx="1781840" cy="509588"/>
              <a:chOff x="2544" y="2301"/>
              <a:chExt cx="983" cy="289"/>
            </a:xfrm>
          </p:grpSpPr>
          <p:sp>
            <p:nvSpPr>
              <p:cNvPr id="189" name="Freeform 589">
                <a:extLst>
                  <a:ext uri="{FF2B5EF4-FFF2-40B4-BE49-F238E27FC236}">
                    <a16:creationId xmlns:a16="http://schemas.microsoft.com/office/drawing/2014/main" id="{3974ADC0-BD1D-96C2-7324-8837D7978A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2350"/>
                <a:ext cx="110" cy="179"/>
              </a:xfrm>
              <a:custGeom>
                <a:avLst/>
                <a:gdLst>
                  <a:gd name="T0" fmla="*/ 0 w 99"/>
                  <a:gd name="T1" fmla="*/ 0 h 240"/>
                  <a:gd name="T2" fmla="*/ 2147483647 w 99"/>
                  <a:gd name="T3" fmla="*/ 1601664887 h 240"/>
                  <a:gd name="T4" fmla="*/ 2147483647 w 99"/>
                  <a:gd name="T5" fmla="*/ 1601664887 h 240"/>
                  <a:gd name="T6" fmla="*/ 0 w 99"/>
                  <a:gd name="T7" fmla="*/ 0 h 24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240"/>
                  <a:gd name="T14" fmla="*/ 99 w 99"/>
                  <a:gd name="T15" fmla="*/ 240 h 24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240">
                    <a:moveTo>
                      <a:pt x="0" y="0"/>
                    </a:moveTo>
                    <a:lnTo>
                      <a:pt x="99" y="129"/>
                    </a:lnTo>
                    <a:lnTo>
                      <a:pt x="12" y="2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47C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82630" tIns="42968" rIns="82630" bIns="42968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90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  <p:sp>
            <p:nvSpPr>
              <p:cNvPr id="190" name="AutoShape 590">
                <a:extLst>
                  <a:ext uri="{FF2B5EF4-FFF2-40B4-BE49-F238E27FC236}">
                    <a16:creationId xmlns:a16="http://schemas.microsoft.com/office/drawing/2014/main" id="{D01C8A74-7BEE-9304-2BD1-E1ABB9E7F9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2301"/>
                <a:ext cx="941" cy="289"/>
              </a:xfrm>
              <a:prstGeom prst="chevron">
                <a:avLst>
                  <a:gd name="adj" fmla="val 42299"/>
                </a:avLst>
              </a:prstGeom>
              <a:solidFill>
                <a:srgbClr val="DDDDDD"/>
              </a:solidFill>
              <a:ln w="25400" algn="ctr">
                <a:solidFill>
                  <a:sysClr val="window" lastClr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41977" rIns="0" bIns="41977" anchor="ctr"/>
              <a:lstStyle/>
              <a:p>
                <a:pPr marL="0" marR="0" lvl="0" indent="0" algn="ctr" defTabSz="83978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i="0" u="none" strike="noStrike" kern="0" cap="none" spc="0" normalizeH="0" baseline="0" noProof="0" dirty="0">
                    <a:ln>
                      <a:noFill/>
                    </a:ln>
                    <a:solidFill>
                      <a:srgbClr val="1C1C1C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서비스 협약</a:t>
                </a:r>
                <a:endParaRPr kumimoji="0" lang="ko-KR" altLang="ko-KR" sz="900" i="0" u="none" strike="noStrike" kern="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</p:grpSp>
        <p:sp>
          <p:nvSpPr>
            <p:cNvPr id="188" name="AutoShape 590">
              <a:extLst>
                <a:ext uri="{FF2B5EF4-FFF2-40B4-BE49-F238E27FC236}">
                  <a16:creationId xmlns:a16="http://schemas.microsoft.com/office/drawing/2014/main" id="{0857FE7A-C282-2CDF-FE8E-218AEFBFFF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9690" y="7635977"/>
              <a:ext cx="1705708" cy="509588"/>
            </a:xfrm>
            <a:prstGeom prst="chevron">
              <a:avLst>
                <a:gd name="adj" fmla="val 42299"/>
              </a:avLst>
            </a:prstGeom>
            <a:solidFill>
              <a:srgbClr val="DDDDDD"/>
            </a:solidFill>
            <a:ln w="25400" algn="ctr">
              <a:solidFill>
                <a:sysClr val="window" lastClr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1977" rIns="0" bIns="41977" anchor="ctr"/>
            <a:lstStyle/>
            <a:p>
              <a:pPr marL="0" marR="0" lvl="0" indent="0" algn="ctr" defTabSz="83978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i="0" u="none" strike="noStrike" kern="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서비스 관리</a:t>
              </a:r>
              <a:endParaRPr kumimoji="0" lang="ko-KR" altLang="ko-KR" sz="900" i="0" u="none" strike="noStrike" kern="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sp>
        <p:nvSpPr>
          <p:cNvPr id="197" name="Text Box 68">
            <a:extLst>
              <a:ext uri="{FF2B5EF4-FFF2-40B4-BE49-F238E27FC236}">
                <a16:creationId xmlns:a16="http://schemas.microsoft.com/office/drawing/2014/main" id="{69D33A8F-1150-0C13-A2F7-C60F7B1E1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73" y="8278198"/>
            <a:ext cx="749300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defTabSz="881063" eaLnBrk="0" hangingPunct="0"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1pPr>
            <a:lvl2pPr marL="742950" indent="-285750" defTabSz="881063" eaLnBrk="0" hangingPunct="0"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2pPr>
            <a:lvl3pPr marL="1143000" indent="-228600" defTabSz="881063" eaLnBrk="0" hangingPunct="0"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3pPr>
            <a:lvl4pPr marL="1600200" indent="-228600" defTabSz="881063" eaLnBrk="0" hangingPunct="0"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4pPr>
            <a:lvl5pPr marL="2057400" indent="-228600" defTabSz="881063" eaLnBrk="0" hangingPunct="0"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5pPr>
            <a:lvl6pPr marL="2514600" indent="-228600" algn="ctr" defTabSz="8810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6pPr>
            <a:lvl7pPr marL="2971800" indent="-228600" algn="ctr" defTabSz="8810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7pPr>
            <a:lvl8pPr marL="3429000" indent="-228600" algn="ctr" defTabSz="8810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8pPr>
            <a:lvl9pPr marL="3886200" indent="-228600" algn="ctr" defTabSz="8810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9pPr>
          </a:lstStyle>
          <a:p>
            <a:pPr algn="r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dirty="0">
                <a:solidFill>
                  <a:srgbClr val="003366"/>
                </a:solidFill>
                <a:latin typeface="+mn-ea"/>
                <a:ea typeface="+mn-ea"/>
                <a:cs typeface="+mn-cs"/>
              </a:rPr>
              <a:t>Activity</a:t>
            </a:r>
          </a:p>
        </p:txBody>
      </p:sp>
      <p:sp>
        <p:nvSpPr>
          <p:cNvPr id="198" name="Line 116">
            <a:extLst>
              <a:ext uri="{FF2B5EF4-FFF2-40B4-BE49-F238E27FC236}">
                <a16:creationId xmlns:a16="http://schemas.microsoft.com/office/drawing/2014/main" id="{02A05B87-D6E1-EDB8-6B56-49530F4F4B4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18593" y="8077881"/>
            <a:ext cx="7254" cy="811137"/>
          </a:xfrm>
          <a:prstGeom prst="line">
            <a:avLst/>
          </a:prstGeom>
          <a:noFill/>
          <a:ln w="19050" cap="rnd">
            <a:solidFill>
              <a:srgbClr val="C0C0C0"/>
            </a:solidFill>
            <a:prstDash val="sysDot"/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800" b="0">
              <a:solidFill>
                <a:prstClr val="black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199" name="TextBox 100">
            <a:extLst>
              <a:ext uri="{FF2B5EF4-FFF2-40B4-BE49-F238E27FC236}">
                <a16:creationId xmlns:a16="http://schemas.microsoft.com/office/drawing/2014/main" id="{B92F7F25-E86E-EF44-1D9F-F0DD14176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0473" y="8286413"/>
            <a:ext cx="1202727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36000" tIns="0" rIns="36000" bIns="0">
            <a:spAutoFit/>
          </a:bodyPr>
          <a:lstStyle>
            <a:lvl1pPr defTabSz="741363" eaLnBrk="0" hangingPunct="0"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1pPr>
            <a:lvl2pPr marL="742950" indent="-285750" defTabSz="741363" eaLnBrk="0" hangingPunct="0"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2pPr>
            <a:lvl3pPr marL="1143000" indent="-228600" defTabSz="741363" eaLnBrk="0" hangingPunct="0"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3pPr>
            <a:lvl4pPr marL="1600200" indent="-228600" defTabSz="741363" eaLnBrk="0" hangingPunct="0"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4pPr>
            <a:lvl5pPr marL="2057400" indent="-228600" defTabSz="741363" eaLnBrk="0" hangingPunct="0"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5pPr>
            <a:lvl6pPr marL="2514600" indent="-228600" algn="ctr" defTabSz="7413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6pPr>
            <a:lvl7pPr marL="2971800" indent="-228600" algn="ctr" defTabSz="7413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7pPr>
            <a:lvl8pPr marL="3429000" indent="-228600" algn="ctr" defTabSz="7413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8pPr>
            <a:lvl9pPr marL="3886200" indent="-228600" algn="ctr" defTabSz="7413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9pPr>
          </a:lstStyle>
          <a:p>
            <a:pPr marL="144000" indent="-1440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Font typeface="Wingdings" pitchFamily="2" charset="2"/>
              <a:buChar char="l"/>
            </a:pPr>
            <a:r>
              <a:rPr kumimoji="0" lang="ko-KR" altLang="en-US" sz="900" b="0" dirty="0">
                <a:solidFill>
                  <a:srgbClr val="1C1C1C"/>
                </a:solidFill>
                <a:latin typeface="+mn-ea"/>
                <a:ea typeface="+mn-ea"/>
                <a:cs typeface="+mn-cs"/>
              </a:rPr>
              <a:t>프로젝트 착수</a:t>
            </a:r>
          </a:p>
          <a:p>
            <a:pPr marL="144000" indent="-1440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Font typeface="Wingdings" pitchFamily="2" charset="2"/>
              <a:buChar char="l"/>
            </a:pPr>
            <a:r>
              <a:rPr kumimoji="0" lang="ko-KR" altLang="en-US" sz="900" b="0" dirty="0">
                <a:solidFill>
                  <a:srgbClr val="1C1C1C"/>
                </a:solidFill>
                <a:latin typeface="+mn-ea"/>
                <a:ea typeface="+mn-ea"/>
                <a:cs typeface="+mn-cs"/>
              </a:rPr>
              <a:t>정보자원 조사</a:t>
            </a:r>
          </a:p>
          <a:p>
            <a:pPr marL="144000" indent="-1440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Font typeface="Wingdings" pitchFamily="2" charset="2"/>
              <a:buChar char="l"/>
            </a:pPr>
            <a:r>
              <a:rPr kumimoji="0" lang="ko-KR" altLang="en-US" sz="900" b="0" dirty="0">
                <a:solidFill>
                  <a:srgbClr val="1C1C1C"/>
                </a:solidFill>
                <a:latin typeface="+mn-ea"/>
                <a:ea typeface="+mn-ea"/>
                <a:cs typeface="+mn-cs"/>
              </a:rPr>
              <a:t>정보서비스 조사</a:t>
            </a:r>
          </a:p>
          <a:p>
            <a:pPr marL="144000" indent="-1440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Font typeface="Wingdings" pitchFamily="2" charset="2"/>
              <a:buChar char="l"/>
            </a:pPr>
            <a:r>
              <a:rPr kumimoji="0" lang="ko-KR" altLang="en-US" sz="900" b="0" dirty="0">
                <a:solidFill>
                  <a:srgbClr val="1C1C1C"/>
                </a:solidFill>
                <a:latin typeface="+mn-ea"/>
                <a:ea typeface="+mn-ea"/>
                <a:cs typeface="+mn-cs"/>
              </a:rPr>
              <a:t>조직목표 분석</a:t>
            </a:r>
          </a:p>
        </p:txBody>
      </p:sp>
      <p:sp>
        <p:nvSpPr>
          <p:cNvPr id="200" name="Line 155">
            <a:extLst>
              <a:ext uri="{FF2B5EF4-FFF2-40B4-BE49-F238E27FC236}">
                <a16:creationId xmlns:a16="http://schemas.microsoft.com/office/drawing/2014/main" id="{0CCF0B5A-ABC4-1416-449E-CF1108EE6F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8593" y="8168938"/>
            <a:ext cx="1224607" cy="0"/>
          </a:xfrm>
          <a:prstGeom prst="line">
            <a:avLst/>
          </a:prstGeom>
          <a:noFill/>
          <a:ln w="6350">
            <a:solidFill>
              <a:srgbClr val="2B78BF"/>
            </a:solidFill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800" b="0">
              <a:solidFill>
                <a:prstClr val="black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201" name="Line 148">
            <a:extLst>
              <a:ext uri="{FF2B5EF4-FFF2-40B4-BE49-F238E27FC236}">
                <a16:creationId xmlns:a16="http://schemas.microsoft.com/office/drawing/2014/main" id="{D5631B2C-8342-EF8E-BDBF-E5CEFBB4F86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4701" y="8054876"/>
            <a:ext cx="0" cy="834142"/>
          </a:xfrm>
          <a:prstGeom prst="line">
            <a:avLst/>
          </a:prstGeom>
          <a:noFill/>
          <a:ln w="9525">
            <a:solidFill>
              <a:srgbClr val="2B78B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800" b="0">
              <a:solidFill>
                <a:prstClr val="black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202" name="Line 157">
            <a:extLst>
              <a:ext uri="{FF2B5EF4-FFF2-40B4-BE49-F238E27FC236}">
                <a16:creationId xmlns:a16="http://schemas.microsoft.com/office/drawing/2014/main" id="{468D7993-EE29-3ACC-B5B2-FB07FE7A857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1096" y="8168938"/>
            <a:ext cx="1245018" cy="0"/>
          </a:xfrm>
          <a:prstGeom prst="line">
            <a:avLst/>
          </a:prstGeom>
          <a:noFill/>
          <a:ln w="6350">
            <a:solidFill>
              <a:srgbClr val="2B78BF"/>
            </a:solidFill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800" b="0">
              <a:solidFill>
                <a:prstClr val="black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203" name="Line 148">
            <a:extLst>
              <a:ext uri="{FF2B5EF4-FFF2-40B4-BE49-F238E27FC236}">
                <a16:creationId xmlns:a16="http://schemas.microsoft.com/office/drawing/2014/main" id="{7F7DCF17-A001-BBE3-3378-95EC30F7DA2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9577" y="8054876"/>
            <a:ext cx="0" cy="834142"/>
          </a:xfrm>
          <a:prstGeom prst="line">
            <a:avLst/>
          </a:prstGeom>
          <a:noFill/>
          <a:ln w="9525">
            <a:solidFill>
              <a:srgbClr val="2B78B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800" b="0">
              <a:solidFill>
                <a:prstClr val="black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204" name="Line 150">
            <a:extLst>
              <a:ext uri="{FF2B5EF4-FFF2-40B4-BE49-F238E27FC236}">
                <a16:creationId xmlns:a16="http://schemas.microsoft.com/office/drawing/2014/main" id="{D2042B61-B946-A14F-7AA7-3E0AD5F0195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63807" y="8054876"/>
            <a:ext cx="0" cy="834142"/>
          </a:xfrm>
          <a:prstGeom prst="line">
            <a:avLst/>
          </a:prstGeom>
          <a:noFill/>
          <a:ln w="9525">
            <a:solidFill>
              <a:srgbClr val="2B78B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800" b="0">
              <a:solidFill>
                <a:prstClr val="black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205" name="Line 156">
            <a:extLst>
              <a:ext uri="{FF2B5EF4-FFF2-40B4-BE49-F238E27FC236}">
                <a16:creationId xmlns:a16="http://schemas.microsoft.com/office/drawing/2014/main" id="{6364178B-7CE2-A6C4-7940-0367EF6EE7F0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8168938"/>
            <a:ext cx="1211501" cy="0"/>
          </a:xfrm>
          <a:prstGeom prst="line">
            <a:avLst/>
          </a:prstGeom>
          <a:noFill/>
          <a:ln w="6350">
            <a:solidFill>
              <a:srgbClr val="2B78BF"/>
            </a:solidFill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800" b="0">
              <a:solidFill>
                <a:prstClr val="black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206" name="Line 148">
            <a:extLst>
              <a:ext uri="{FF2B5EF4-FFF2-40B4-BE49-F238E27FC236}">
                <a16:creationId xmlns:a16="http://schemas.microsoft.com/office/drawing/2014/main" id="{99085789-DC85-E511-A89F-70D8D1D564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8054876"/>
            <a:ext cx="0" cy="834142"/>
          </a:xfrm>
          <a:prstGeom prst="line">
            <a:avLst/>
          </a:prstGeom>
          <a:noFill/>
          <a:ln w="9525">
            <a:solidFill>
              <a:srgbClr val="2B78B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800" b="0">
              <a:solidFill>
                <a:prstClr val="black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207" name="Line 157">
            <a:extLst>
              <a:ext uri="{FF2B5EF4-FFF2-40B4-BE49-F238E27FC236}">
                <a16:creationId xmlns:a16="http://schemas.microsoft.com/office/drawing/2014/main" id="{6C98E6F4-D4EE-76A6-3DF7-C3ACC04DDDE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8318" y="8168938"/>
            <a:ext cx="1245018" cy="0"/>
          </a:xfrm>
          <a:prstGeom prst="line">
            <a:avLst/>
          </a:prstGeom>
          <a:noFill/>
          <a:ln w="6350">
            <a:solidFill>
              <a:srgbClr val="2B78BF"/>
            </a:solidFill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800" b="0">
              <a:solidFill>
                <a:prstClr val="black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208" name="TextBox 100">
            <a:extLst>
              <a:ext uri="{FF2B5EF4-FFF2-40B4-BE49-F238E27FC236}">
                <a16:creationId xmlns:a16="http://schemas.microsoft.com/office/drawing/2014/main" id="{BEFC527C-24C1-5B40-1CDE-0CAFF1301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2263" y="8286413"/>
            <a:ext cx="1202727" cy="446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36000" tIns="0" rIns="36000" bIns="0">
            <a:spAutoFit/>
          </a:bodyPr>
          <a:lstStyle>
            <a:lvl1pPr defTabSz="741363" eaLnBrk="0" hangingPunct="0"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1pPr>
            <a:lvl2pPr marL="742950" indent="-285750" defTabSz="741363" eaLnBrk="0" hangingPunct="0"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2pPr>
            <a:lvl3pPr marL="1143000" indent="-228600" defTabSz="741363" eaLnBrk="0" hangingPunct="0"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3pPr>
            <a:lvl4pPr marL="1600200" indent="-228600" defTabSz="741363" eaLnBrk="0" hangingPunct="0"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4pPr>
            <a:lvl5pPr marL="2057400" indent="-228600" defTabSz="741363" eaLnBrk="0" hangingPunct="0"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5pPr>
            <a:lvl6pPr marL="2514600" indent="-228600" algn="ctr" defTabSz="7413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6pPr>
            <a:lvl7pPr marL="2971800" indent="-228600" algn="ctr" defTabSz="7413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7pPr>
            <a:lvl8pPr marL="3429000" indent="-228600" algn="ctr" defTabSz="7413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8pPr>
            <a:lvl9pPr marL="3886200" indent="-228600" algn="ctr" defTabSz="7413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9pPr>
          </a:lstStyle>
          <a:p>
            <a:pPr marL="144000" indent="-1440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Font typeface="Wingdings" pitchFamily="2" charset="2"/>
              <a:buChar char="l"/>
            </a:pPr>
            <a:r>
              <a:rPr kumimoji="0" lang="ko-KR" altLang="en-US" sz="900" b="0" dirty="0">
                <a:solidFill>
                  <a:srgbClr val="1C1C1C"/>
                </a:solidFill>
                <a:latin typeface="+mn-ea"/>
                <a:ea typeface="+mn-ea"/>
                <a:cs typeface="+mn-cs"/>
              </a:rPr>
              <a:t>서비스 영역도출</a:t>
            </a:r>
          </a:p>
          <a:p>
            <a:pPr marL="144000" indent="-1440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Font typeface="Wingdings" pitchFamily="2" charset="2"/>
              <a:buChar char="l"/>
            </a:pPr>
            <a:r>
              <a:rPr kumimoji="0" lang="ko-KR" altLang="en-US" sz="900" b="0" dirty="0">
                <a:solidFill>
                  <a:srgbClr val="1C1C1C"/>
                </a:solidFill>
                <a:latin typeface="+mn-ea"/>
                <a:ea typeface="+mn-ea"/>
                <a:cs typeface="+mn-cs"/>
              </a:rPr>
              <a:t>서비스지표 선정</a:t>
            </a:r>
          </a:p>
          <a:p>
            <a:pPr marL="144000" indent="-1440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Font typeface="Wingdings" pitchFamily="2" charset="2"/>
              <a:buChar char="l"/>
            </a:pPr>
            <a:r>
              <a:rPr kumimoji="0" lang="ko-KR" altLang="en-US" sz="900" b="0" dirty="0">
                <a:solidFill>
                  <a:srgbClr val="1C1C1C"/>
                </a:solidFill>
                <a:latin typeface="+mn-ea"/>
                <a:ea typeface="+mn-ea"/>
                <a:cs typeface="+mn-cs"/>
              </a:rPr>
              <a:t>초기 </a:t>
            </a:r>
            <a:r>
              <a:rPr kumimoji="0" lang="en-US" altLang="ko-KR" sz="900" b="0" dirty="0">
                <a:solidFill>
                  <a:srgbClr val="1C1C1C"/>
                </a:solidFill>
                <a:latin typeface="+mn-ea"/>
                <a:ea typeface="+mn-ea"/>
                <a:cs typeface="+mn-cs"/>
              </a:rPr>
              <a:t>SLA </a:t>
            </a:r>
            <a:r>
              <a:rPr kumimoji="0" lang="ko-KR" altLang="en-US" sz="900" b="0" dirty="0">
                <a:solidFill>
                  <a:srgbClr val="1C1C1C"/>
                </a:solidFill>
                <a:latin typeface="+mn-ea"/>
                <a:ea typeface="+mn-ea"/>
                <a:cs typeface="+mn-cs"/>
              </a:rPr>
              <a:t>작성</a:t>
            </a:r>
          </a:p>
        </p:txBody>
      </p:sp>
      <p:sp>
        <p:nvSpPr>
          <p:cNvPr id="209" name="TextBox 100">
            <a:extLst>
              <a:ext uri="{FF2B5EF4-FFF2-40B4-BE49-F238E27FC236}">
                <a16:creationId xmlns:a16="http://schemas.microsoft.com/office/drawing/2014/main" id="{D4D86DAC-6A5E-57A4-34B1-651F2E1BC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9405" y="8286413"/>
            <a:ext cx="1202727" cy="599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36000" tIns="0" rIns="36000" bIns="0">
            <a:spAutoFit/>
          </a:bodyPr>
          <a:lstStyle>
            <a:lvl1pPr defTabSz="741363" eaLnBrk="0" hangingPunct="0"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1pPr>
            <a:lvl2pPr marL="742950" indent="-285750" defTabSz="741363" eaLnBrk="0" hangingPunct="0"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2pPr>
            <a:lvl3pPr marL="1143000" indent="-228600" defTabSz="741363" eaLnBrk="0" hangingPunct="0"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3pPr>
            <a:lvl4pPr marL="1600200" indent="-228600" defTabSz="741363" eaLnBrk="0" hangingPunct="0"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4pPr>
            <a:lvl5pPr marL="2057400" indent="-228600" defTabSz="741363" eaLnBrk="0" hangingPunct="0"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5pPr>
            <a:lvl6pPr marL="2514600" indent="-228600" algn="ctr" defTabSz="7413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6pPr>
            <a:lvl7pPr marL="2971800" indent="-228600" algn="ctr" defTabSz="7413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7pPr>
            <a:lvl8pPr marL="3429000" indent="-228600" algn="ctr" defTabSz="7413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8pPr>
            <a:lvl9pPr marL="3886200" indent="-228600" algn="ctr" defTabSz="7413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9pPr>
          </a:lstStyle>
          <a:p>
            <a:pPr marL="144000" indent="-1440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Font typeface="Wingdings" pitchFamily="2" charset="2"/>
              <a:buChar char="l"/>
            </a:pPr>
            <a:r>
              <a:rPr kumimoji="0" lang="ko-KR" altLang="en-US" sz="900" b="0" dirty="0">
                <a:solidFill>
                  <a:srgbClr val="1C1C1C"/>
                </a:solidFill>
                <a:latin typeface="+mn-ea"/>
                <a:ea typeface="+mn-ea"/>
                <a:cs typeface="+mn-cs"/>
              </a:rPr>
              <a:t>초기값 측정</a:t>
            </a:r>
          </a:p>
          <a:p>
            <a:pPr marL="144000" indent="-1440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Font typeface="Wingdings" pitchFamily="2" charset="2"/>
              <a:buChar char="l"/>
            </a:pPr>
            <a:r>
              <a:rPr kumimoji="0" lang="ko-KR" altLang="en-US" sz="900" b="0" dirty="0">
                <a:solidFill>
                  <a:srgbClr val="1C1C1C"/>
                </a:solidFill>
                <a:latin typeface="+mn-ea"/>
                <a:ea typeface="+mn-ea"/>
                <a:cs typeface="+mn-cs"/>
              </a:rPr>
              <a:t>서비스수준 목표 정의</a:t>
            </a:r>
          </a:p>
          <a:p>
            <a:pPr marL="144000" indent="-1440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Font typeface="Wingdings" pitchFamily="2" charset="2"/>
              <a:buChar char="l"/>
            </a:pPr>
            <a:r>
              <a:rPr kumimoji="0" lang="ko-KR" altLang="en-US" sz="900" b="0" dirty="0">
                <a:solidFill>
                  <a:srgbClr val="1C1C1C"/>
                </a:solidFill>
                <a:latin typeface="+mn-ea"/>
                <a:ea typeface="+mn-ea"/>
                <a:cs typeface="+mn-cs"/>
              </a:rPr>
              <a:t>협약 체결</a:t>
            </a:r>
          </a:p>
        </p:txBody>
      </p:sp>
      <p:sp>
        <p:nvSpPr>
          <p:cNvPr id="210" name="TextBox 100">
            <a:extLst>
              <a:ext uri="{FF2B5EF4-FFF2-40B4-BE49-F238E27FC236}">
                <a16:creationId xmlns:a16="http://schemas.microsoft.com/office/drawing/2014/main" id="{49C768C9-20C3-DB3E-811C-3031030110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7655" y="8286413"/>
            <a:ext cx="1202727" cy="599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36000" tIns="0" rIns="36000" bIns="0">
            <a:spAutoFit/>
          </a:bodyPr>
          <a:lstStyle>
            <a:lvl1pPr defTabSz="741363" eaLnBrk="0" hangingPunct="0"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1pPr>
            <a:lvl2pPr marL="742950" indent="-285750" defTabSz="741363" eaLnBrk="0" hangingPunct="0"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2pPr>
            <a:lvl3pPr marL="1143000" indent="-228600" defTabSz="741363" eaLnBrk="0" hangingPunct="0"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3pPr>
            <a:lvl4pPr marL="1600200" indent="-228600" defTabSz="741363" eaLnBrk="0" hangingPunct="0"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4pPr>
            <a:lvl5pPr marL="2057400" indent="-228600" defTabSz="741363" eaLnBrk="0" hangingPunct="0"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5pPr>
            <a:lvl6pPr marL="2514600" indent="-228600" algn="ctr" defTabSz="7413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6pPr>
            <a:lvl7pPr marL="2971800" indent="-228600" algn="ctr" defTabSz="7413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7pPr>
            <a:lvl8pPr marL="3429000" indent="-228600" algn="ctr" defTabSz="7413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8pPr>
            <a:lvl9pPr marL="3886200" indent="-228600" algn="ctr" defTabSz="7413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KoPub돋움체 Bold" pitchFamily="18" charset="-127"/>
                <a:ea typeface="KoPub돋움체 Bold" pitchFamily="18" charset="-127"/>
              </a:defRPr>
            </a:lvl9pPr>
          </a:lstStyle>
          <a:p>
            <a:pPr marL="144000" indent="-1440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Font typeface="Wingdings" pitchFamily="2" charset="2"/>
              <a:buChar char="l"/>
            </a:pPr>
            <a:r>
              <a:rPr kumimoji="0" lang="ko-KR" altLang="en-US" sz="900" b="0" dirty="0">
                <a:solidFill>
                  <a:srgbClr val="1C1C1C"/>
                </a:solidFill>
                <a:latin typeface="+mn-ea"/>
                <a:ea typeface="+mn-ea"/>
                <a:cs typeface="+mn-cs"/>
              </a:rPr>
              <a:t>서비스수준  측정</a:t>
            </a:r>
            <a:r>
              <a:rPr kumimoji="0" lang="en-US" altLang="ko-KR" sz="900" b="0" dirty="0">
                <a:solidFill>
                  <a:srgbClr val="1C1C1C"/>
                </a:solidFill>
                <a:latin typeface="+mn-ea"/>
                <a:ea typeface="+mn-ea"/>
                <a:cs typeface="+mn-cs"/>
              </a:rPr>
              <a:t>/</a:t>
            </a:r>
            <a:r>
              <a:rPr kumimoji="0" lang="ko-KR" altLang="en-US" sz="900" b="0" dirty="0">
                <a:solidFill>
                  <a:srgbClr val="1C1C1C"/>
                </a:solidFill>
                <a:latin typeface="+mn-ea"/>
                <a:ea typeface="+mn-ea"/>
                <a:cs typeface="+mn-cs"/>
              </a:rPr>
              <a:t>평가</a:t>
            </a:r>
          </a:p>
          <a:p>
            <a:pPr marL="144000" indent="-1440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Font typeface="Wingdings" pitchFamily="2" charset="2"/>
              <a:buChar char="l"/>
            </a:pPr>
            <a:r>
              <a:rPr kumimoji="0" lang="ko-KR" altLang="en-US" sz="900" b="0" dirty="0">
                <a:solidFill>
                  <a:srgbClr val="1C1C1C"/>
                </a:solidFill>
                <a:latin typeface="+mn-ea"/>
                <a:ea typeface="+mn-ea"/>
                <a:cs typeface="+mn-cs"/>
              </a:rPr>
              <a:t>평가결과 분석</a:t>
            </a:r>
            <a:r>
              <a:rPr kumimoji="0" lang="en-US" altLang="ko-KR" sz="900" b="0" dirty="0">
                <a:solidFill>
                  <a:srgbClr val="1C1C1C"/>
                </a:solidFill>
                <a:latin typeface="+mn-ea"/>
                <a:ea typeface="+mn-ea"/>
                <a:cs typeface="+mn-cs"/>
              </a:rPr>
              <a:t>/</a:t>
            </a:r>
            <a:r>
              <a:rPr kumimoji="0" lang="ko-KR" altLang="en-US" sz="900" b="0" dirty="0">
                <a:solidFill>
                  <a:srgbClr val="1C1C1C"/>
                </a:solidFill>
                <a:latin typeface="+mn-ea"/>
                <a:ea typeface="+mn-ea"/>
                <a:cs typeface="+mn-cs"/>
              </a:rPr>
              <a:t>적용</a:t>
            </a:r>
          </a:p>
          <a:p>
            <a:pPr marL="144000" indent="-1440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  <a:buFont typeface="Wingdings" pitchFamily="2" charset="2"/>
              <a:buChar char="l"/>
            </a:pPr>
            <a:r>
              <a:rPr kumimoji="0" lang="en-US" altLang="ko-KR" sz="900" b="0" dirty="0">
                <a:solidFill>
                  <a:srgbClr val="1C1C1C"/>
                </a:solidFill>
                <a:latin typeface="+mn-ea"/>
                <a:ea typeface="+mn-ea"/>
                <a:cs typeface="+mn-cs"/>
              </a:rPr>
              <a:t>SLA </a:t>
            </a:r>
            <a:r>
              <a:rPr kumimoji="0" lang="ko-KR" altLang="en-US" sz="900" b="0" dirty="0">
                <a:solidFill>
                  <a:srgbClr val="1C1C1C"/>
                </a:solidFill>
                <a:latin typeface="+mn-ea"/>
                <a:ea typeface="+mn-ea"/>
                <a:cs typeface="+mn-cs"/>
              </a:rPr>
              <a:t>관리</a:t>
            </a:r>
          </a:p>
        </p:txBody>
      </p:sp>
      <p:pic>
        <p:nvPicPr>
          <p:cNvPr id="219" name="Picture 66" descr="기본_화살-가로용">
            <a:extLst>
              <a:ext uri="{FF2B5EF4-FFF2-40B4-BE49-F238E27FC236}">
                <a16:creationId xmlns:a16="http://schemas.microsoft.com/office/drawing/2014/main" id="{84749339-163A-3413-222D-716C4A98E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9"/>
          <a:stretch>
            <a:fillRect/>
          </a:stretch>
        </p:blipFill>
        <p:spPr bwMode="auto">
          <a:xfrm>
            <a:off x="2046781" y="6489394"/>
            <a:ext cx="2764438" cy="874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0" name="그룹 16">
            <a:extLst>
              <a:ext uri="{FF2B5EF4-FFF2-40B4-BE49-F238E27FC236}">
                <a16:creationId xmlns:a16="http://schemas.microsoft.com/office/drawing/2014/main" id="{708BCBE8-54BC-82E6-BBF9-E5285981CF3C}"/>
              </a:ext>
            </a:extLst>
          </p:cNvPr>
          <p:cNvGrpSpPr>
            <a:grpSpLocks/>
          </p:cNvGrpSpPr>
          <p:nvPr/>
        </p:nvGrpSpPr>
        <p:grpSpPr bwMode="auto">
          <a:xfrm>
            <a:off x="342900" y="7131235"/>
            <a:ext cx="5246688" cy="169277"/>
            <a:chOff x="342900" y="3330737"/>
            <a:chExt cx="5246341" cy="170762"/>
          </a:xfrm>
        </p:grpSpPr>
        <p:pic>
          <p:nvPicPr>
            <p:cNvPr id="221" name="Picture 176" descr="1">
              <a:extLst>
                <a:ext uri="{FF2B5EF4-FFF2-40B4-BE49-F238E27FC236}">
                  <a16:creationId xmlns:a16="http://schemas.microsoft.com/office/drawing/2014/main" id="{A27D03C3-14C9-28CA-51EF-B973460D37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900" y="3370758"/>
              <a:ext cx="148389" cy="81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2" name="Text Box 34">
              <a:extLst>
                <a:ext uri="{FF2B5EF4-FFF2-40B4-BE49-F238E27FC236}">
                  <a16:creationId xmlns:a16="http://schemas.microsoft.com/office/drawing/2014/main" id="{DEC77693-36FD-C2FA-9C7E-2CB3D5270F4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41717" y="3330737"/>
              <a:ext cx="5047524" cy="170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1pPr>
              <a:lvl2pPr marL="742950" indent="-285750"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2pPr>
              <a:lvl3pPr marL="1143000" indent="-228600"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3pPr>
              <a:lvl4pPr marL="1600200" indent="-228600"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4pPr>
              <a:lvl5pPr marL="2057400" indent="-228600"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5pPr>
              <a:lvl6pPr marL="2514600" indent="-228600" defTabSz="787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6pPr>
              <a:lvl7pPr marL="2971800" indent="-228600" defTabSz="787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7pPr>
              <a:lvl8pPr marL="3429000" indent="-228600" defTabSz="787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8pPr>
              <a:lvl9pPr marL="3886200" indent="-228600" defTabSz="787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9pPr>
            </a:lstStyle>
            <a:p>
              <a:pPr eaLnBrk="1" latinLnBrk="0" hangingPunct="1">
                <a:defRPr/>
              </a:pPr>
              <a:r>
                <a:rPr lang="ko-KR" altLang="en-US" dirty="0">
                  <a:latin typeface="+mn-ea"/>
                  <a:ea typeface="+mn-ea"/>
                  <a:cs typeface="Arial" pitchFamily="34" charset="0"/>
                </a:rPr>
                <a:t>서비스수준협약</a:t>
              </a:r>
              <a:r>
                <a:rPr lang="en-US" altLang="ko-KR" dirty="0">
                  <a:latin typeface="+mn-ea"/>
                  <a:ea typeface="+mn-ea"/>
                  <a:cs typeface="Arial" pitchFamily="34" charset="0"/>
                </a:rPr>
                <a:t>(SLA) </a:t>
              </a:r>
              <a:r>
                <a:rPr lang="ko-KR" altLang="en-US" dirty="0">
                  <a:latin typeface="+mn-ea"/>
                  <a:ea typeface="+mn-ea"/>
                  <a:cs typeface="Arial" pitchFamily="34" charset="0"/>
                </a:rPr>
                <a:t>기반 사업 관리 방법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EF6A552F-C2B2-2D78-E00C-9FEE808BDD8A}"/>
              </a:ext>
            </a:extLst>
          </p:cNvPr>
          <p:cNvGrpSpPr/>
          <p:nvPr/>
        </p:nvGrpSpPr>
        <p:grpSpPr>
          <a:xfrm>
            <a:off x="317654" y="667364"/>
            <a:ext cx="3795422" cy="351189"/>
            <a:chOff x="760846" y="854534"/>
            <a:chExt cx="3795422" cy="35118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5783F15-C2C5-CC75-60DE-7E5A1906D984}"/>
                </a:ext>
              </a:extLst>
            </p:cNvPr>
            <p:cNvSpPr txBox="1"/>
            <p:nvPr/>
          </p:nvSpPr>
          <p:spPr>
            <a:xfrm flipH="1">
              <a:off x="1171266" y="891629"/>
              <a:ext cx="338500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r>
                <a:rPr lang="ko-KR" altLang="en-US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사업관리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B6F417A4-A067-F006-92EE-405B51B7E416}"/>
                </a:ext>
              </a:extLst>
            </p:cNvPr>
            <p:cNvGrpSpPr/>
            <p:nvPr/>
          </p:nvGrpSpPr>
          <p:grpSpPr>
            <a:xfrm>
              <a:off x="760846" y="854534"/>
              <a:ext cx="324620" cy="351189"/>
              <a:chOff x="539750" y="2917808"/>
              <a:chExt cx="526237" cy="526236"/>
            </a:xfrm>
          </p:grpSpPr>
          <p:sp>
            <p:nvSpPr>
              <p:cNvPr id="10" name="모서리가 둥근 직사각형 4">
                <a:extLst>
                  <a:ext uri="{FF2B5EF4-FFF2-40B4-BE49-F238E27FC236}">
                    <a16:creationId xmlns:a16="http://schemas.microsoft.com/office/drawing/2014/main" id="{C4976A10-3F5A-1EB9-E181-EF6F595225E8}"/>
                  </a:ext>
                </a:extLst>
              </p:cNvPr>
              <p:cNvSpPr/>
              <p:nvPr/>
            </p:nvSpPr>
            <p:spPr>
              <a:xfrm>
                <a:off x="539750" y="2917808"/>
                <a:ext cx="526237" cy="526236"/>
              </a:xfrm>
              <a:prstGeom prst="roundRect">
                <a:avLst>
                  <a:gd name="adj" fmla="val 11229"/>
                </a:avLst>
              </a:prstGeom>
              <a:solidFill>
                <a:srgbClr val="00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2DE366-F409-6803-EA4B-18B40447115E}"/>
                  </a:ext>
                </a:extLst>
              </p:cNvPr>
              <p:cNvSpPr txBox="1"/>
              <p:nvPr/>
            </p:nvSpPr>
            <p:spPr>
              <a:xfrm flipH="1">
                <a:off x="636582" y="2952530"/>
                <a:ext cx="338951" cy="46118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#</a:t>
                </a:r>
              </a:p>
            </p:txBody>
          </p:sp>
        </p:grpSp>
      </p:grpSp>
      <p:grpSp>
        <p:nvGrpSpPr>
          <p:cNvPr id="13" name="그룹 215">
            <a:extLst>
              <a:ext uri="{FF2B5EF4-FFF2-40B4-BE49-F238E27FC236}">
                <a16:creationId xmlns:a16="http://schemas.microsoft.com/office/drawing/2014/main" id="{6E85E722-723E-8580-DCF4-0FFC77FE2863}"/>
              </a:ext>
            </a:extLst>
          </p:cNvPr>
          <p:cNvGrpSpPr>
            <a:grpSpLocks/>
          </p:cNvGrpSpPr>
          <p:nvPr/>
        </p:nvGrpSpPr>
        <p:grpSpPr bwMode="auto">
          <a:xfrm>
            <a:off x="296863" y="1661031"/>
            <a:ext cx="6219825" cy="901803"/>
            <a:chOff x="333374" y="1849606"/>
            <a:chExt cx="6219826" cy="1287643"/>
          </a:xfrm>
        </p:grpSpPr>
        <p:sp>
          <p:nvSpPr>
            <p:cNvPr id="14" name="AutoShape 84">
              <a:extLst>
                <a:ext uri="{FF2B5EF4-FFF2-40B4-BE49-F238E27FC236}">
                  <a16:creationId xmlns:a16="http://schemas.microsoft.com/office/drawing/2014/main" id="{28F461F5-5A35-324B-CFE8-A272713BA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588" y="2018243"/>
              <a:ext cx="5929399" cy="1119006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1pPr>
              <a:lvl2pPr marL="742950" indent="-28575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2pPr>
              <a:lvl3pPr marL="1143000" indent="-2286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3pPr>
              <a:lvl4pPr marL="1600200" indent="-2286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4pPr>
              <a:lvl5pPr marL="2057400" indent="-2286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9pPr>
            </a:lstStyle>
            <a:p>
              <a:pPr algn="just" eaLnBrk="1" latinLnBrk="0" hangingPunct="1">
                <a:lnSpc>
                  <a:spcPct val="120000"/>
                </a:lnSpc>
                <a:spcAft>
                  <a:spcPts val="0"/>
                </a:spcAft>
                <a:defRPr/>
              </a:pP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제안사는 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SLA 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기반 사업 관리 방법에 대한 명확한 이해를 바탕으로 서비스수준 지표 수립 준비부터 분석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, 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설계를 통하여 서비스수준협약을 수립하고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, 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무엇을 측정할 것인가를 결정하고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, 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달성되어야 하는 목표를 명확히 하고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, 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현재의 상태와 미래의 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IT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서비스 발전방향을 제시할 수 있는 단계별 추진방안을 제시합니다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.</a:t>
              </a:r>
            </a:p>
          </p:txBody>
        </p:sp>
        <p:grpSp>
          <p:nvGrpSpPr>
            <p:cNvPr id="15" name="그룹 217">
              <a:extLst>
                <a:ext uri="{FF2B5EF4-FFF2-40B4-BE49-F238E27FC236}">
                  <a16:creationId xmlns:a16="http://schemas.microsoft.com/office/drawing/2014/main" id="{8D38FB84-EB18-ACCF-D473-21434E0DA9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3374" y="1849606"/>
              <a:ext cx="6219826" cy="1159040"/>
              <a:chOff x="342900" y="1822561"/>
              <a:chExt cx="6148388" cy="1159040"/>
            </a:xfrm>
          </p:grpSpPr>
          <p:cxnSp>
            <p:nvCxnSpPr>
              <p:cNvPr id="16" name="직선 연결선 15">
                <a:extLst>
                  <a:ext uri="{FF2B5EF4-FFF2-40B4-BE49-F238E27FC236}">
                    <a16:creationId xmlns:a16="http://schemas.microsoft.com/office/drawing/2014/main" id="{9390C195-D7CF-3D29-B2A4-7E0777075F22}"/>
                  </a:ext>
                </a:extLst>
              </p:cNvPr>
              <p:cNvCxnSpPr/>
              <p:nvPr/>
            </p:nvCxnSpPr>
            <p:spPr>
              <a:xfrm>
                <a:off x="342900" y="1905130"/>
                <a:ext cx="6148388" cy="0"/>
              </a:xfrm>
              <a:prstGeom prst="line">
                <a:avLst/>
              </a:prstGeom>
              <a:ln w="12700">
                <a:solidFill>
                  <a:srgbClr val="ADAD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D6CAC4AC-8E1D-79D9-05CE-21E343FE74E9}"/>
                  </a:ext>
                </a:extLst>
              </p:cNvPr>
              <p:cNvCxnSpPr/>
              <p:nvPr/>
            </p:nvCxnSpPr>
            <p:spPr bwMode="auto">
              <a:xfrm>
                <a:off x="342900" y="1901954"/>
                <a:ext cx="0" cy="1079647"/>
              </a:xfrm>
              <a:prstGeom prst="line">
                <a:avLst/>
              </a:prstGeom>
              <a:ln w="12700">
                <a:solidFill>
                  <a:srgbClr val="ADAD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254F2CC7-0A81-B2BC-75FE-8DA5AAD02B63}"/>
                  </a:ext>
                </a:extLst>
              </p:cNvPr>
              <p:cNvCxnSpPr/>
              <p:nvPr/>
            </p:nvCxnSpPr>
            <p:spPr bwMode="auto">
              <a:xfrm>
                <a:off x="6387716" y="1822561"/>
                <a:ext cx="103572" cy="80980"/>
              </a:xfrm>
              <a:prstGeom prst="line">
                <a:avLst/>
              </a:prstGeom>
              <a:ln w="12700">
                <a:solidFill>
                  <a:srgbClr val="ADAD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543590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그룹 1"/>
          <p:cNvGrpSpPr>
            <a:grpSpLocks/>
          </p:cNvGrpSpPr>
          <p:nvPr/>
        </p:nvGrpSpPr>
        <p:grpSpPr bwMode="auto">
          <a:xfrm>
            <a:off x="292100" y="2972383"/>
            <a:ext cx="6270625" cy="385763"/>
            <a:chOff x="292100" y="2959098"/>
            <a:chExt cx="6270625" cy="385765"/>
          </a:xfrm>
        </p:grpSpPr>
        <p:grpSp>
          <p:nvGrpSpPr>
            <p:cNvPr id="108" name="그룹 107"/>
            <p:cNvGrpSpPr>
              <a:grpSpLocks/>
            </p:cNvGrpSpPr>
            <p:nvPr/>
          </p:nvGrpSpPr>
          <p:grpSpPr bwMode="auto">
            <a:xfrm>
              <a:off x="292100" y="2959098"/>
              <a:ext cx="6270625" cy="385765"/>
              <a:chOff x="334963" y="3573461"/>
              <a:chExt cx="6271218" cy="386316"/>
            </a:xfrm>
          </p:grpSpPr>
          <p:grpSp>
            <p:nvGrpSpPr>
              <p:cNvPr id="110" name="그룹 50"/>
              <p:cNvGrpSpPr>
                <a:grpSpLocks/>
              </p:cNvGrpSpPr>
              <p:nvPr/>
            </p:nvGrpSpPr>
            <p:grpSpPr bwMode="auto">
              <a:xfrm>
                <a:off x="334963" y="3573461"/>
                <a:ext cx="6271218" cy="262313"/>
                <a:chOff x="335633" y="3489640"/>
                <a:chExt cx="6270543" cy="262915"/>
              </a:xfrm>
            </p:grpSpPr>
            <p:sp>
              <p:nvSpPr>
                <p:cNvPr id="115" name="직사각형 262"/>
                <p:cNvSpPr>
                  <a:spLocks noChangeArrowheads="1"/>
                </p:cNvSpPr>
                <p:nvPr/>
              </p:nvSpPr>
              <p:spPr bwMode="auto">
                <a:xfrm>
                  <a:off x="335633" y="3489640"/>
                  <a:ext cx="6270543" cy="262915"/>
                </a:xfrm>
                <a:prstGeom prst="rect">
                  <a:avLst/>
                </a:prstGeom>
                <a:gradFill flip="none" rotWithShape="1">
                  <a:gsLst>
                    <a:gs pos="33000">
                      <a:srgbClr val="1295EE"/>
                    </a:gs>
                    <a:gs pos="0">
                      <a:srgbClr val="0B629D"/>
                    </a:gs>
                    <a:gs pos="12000">
                      <a:srgbClr val="0E76BC"/>
                    </a:gs>
                  </a:gsLst>
                  <a:lin ang="36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latinLnBrk="0">
                    <a:defRPr/>
                  </a:pPr>
                  <a:endParaRPr lang="ko-KR" altLang="en-US" sz="1000" dirty="0">
                    <a:solidFill>
                      <a:srgbClr val="FFFFFF"/>
                    </a:solidFill>
                    <a:latin typeface="+mn-ea"/>
                    <a:cs typeface="Arial" pitchFamily="34" charset="0"/>
                  </a:endParaRPr>
                </a:p>
              </p:txBody>
            </p:sp>
            <p:cxnSp>
              <p:nvCxnSpPr>
                <p:cNvPr id="116" name="직선 연결선 26"/>
                <p:cNvCxnSpPr>
                  <a:cxnSpLocks noChangeShapeType="1"/>
                </p:cNvCxnSpPr>
                <p:nvPr/>
              </p:nvCxnSpPr>
              <p:spPr bwMode="auto">
                <a:xfrm>
                  <a:off x="553763" y="3618068"/>
                  <a:ext cx="138933" cy="0"/>
                </a:xfrm>
                <a:prstGeom prst="line">
                  <a:avLst/>
                </a:prstGeom>
                <a:noFill/>
                <a:ln w="12700" algn="ctr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17" name="Text Box 34"/>
                <p:cNvSpPr txBox="1">
                  <a:spLocks noChangeArrowheads="1"/>
                </p:cNvSpPr>
                <p:nvPr/>
              </p:nvSpPr>
              <p:spPr bwMode="gray">
                <a:xfrm>
                  <a:off x="764704" y="3535954"/>
                  <a:ext cx="5697056" cy="1699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0"/>
                  </a:sp3d>
                </a:bodyPr>
                <a:lstStyle>
                  <a:lvl1pPr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1pPr>
                  <a:lvl2pPr marL="742950" indent="-28575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2pPr>
                  <a:lvl3pPr marL="11430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3pPr>
                  <a:lvl4pPr marL="16002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4pPr>
                  <a:lvl5pPr marL="20574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5pPr>
                  <a:lvl6pPr marL="25146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6pPr>
                  <a:lvl7pPr marL="29718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7pPr>
                  <a:lvl8pPr marL="34290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8pPr>
                  <a:lvl9pPr marL="38862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9pPr>
                </a:lstStyle>
                <a:p>
                  <a:pPr eaLnBrk="1" latinLnBrk="0" hangingPunct="1">
                    <a:defRPr/>
                  </a:pPr>
                  <a:r>
                    <a:rPr lang="ko-KR" altLang="en-US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ea"/>
                      <a:ea typeface="+mn-ea"/>
                      <a:cs typeface="Arial" pitchFamily="34" charset="0"/>
                    </a:rPr>
                    <a:t>서비스 수준 목표 설정</a:t>
                  </a:r>
                </a:p>
              </p:txBody>
            </p:sp>
          </p:grpSp>
          <p:grpSp>
            <p:nvGrpSpPr>
              <p:cNvPr id="111" name="그룹 207"/>
              <p:cNvGrpSpPr>
                <a:grpSpLocks/>
              </p:cNvGrpSpPr>
              <p:nvPr/>
            </p:nvGrpSpPr>
            <p:grpSpPr bwMode="auto">
              <a:xfrm>
                <a:off x="1048569" y="3850655"/>
                <a:ext cx="5375678" cy="109122"/>
                <a:chOff x="1048569" y="3850655"/>
                <a:chExt cx="5375678" cy="109122"/>
              </a:xfrm>
            </p:grpSpPr>
            <p:pic>
              <p:nvPicPr>
                <p:cNvPr id="112" name="Picture 24" descr="악세사리"/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3" name="Picture 24" descr="악세사리"/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4" name="Picture 24" descr="악세사리"/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pic>
          <p:nvPicPr>
            <p:cNvPr id="109" name="Picture 184" descr="icon_a01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94" t="64084" r="6964" b="26581"/>
            <a:stretch>
              <a:fillRect/>
            </a:stretch>
          </p:blipFill>
          <p:spPr bwMode="auto">
            <a:xfrm>
              <a:off x="339725" y="2992438"/>
              <a:ext cx="169863" cy="18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3" name="직사각형 262">
            <a:extLst>
              <a:ext uri="{FF2B5EF4-FFF2-40B4-BE49-F238E27FC236}">
                <a16:creationId xmlns:a16="http://schemas.microsoft.com/office/drawing/2014/main" id="{3A5B331C-A696-7A80-8D9A-0444DFD69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099" y="3654388"/>
            <a:ext cx="6261101" cy="2273803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FAB1B81-FF69-8A49-A6BC-64944A6CCC34}"/>
              </a:ext>
            </a:extLst>
          </p:cNvPr>
          <p:cNvSpPr/>
          <p:nvPr/>
        </p:nvSpPr>
        <p:spPr>
          <a:xfrm rot="16200000" flipH="1">
            <a:off x="3307240" y="2756588"/>
            <a:ext cx="1669108" cy="4460127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35" name="직사각형 262">
            <a:extLst>
              <a:ext uri="{FF2B5EF4-FFF2-40B4-BE49-F238E27FC236}">
                <a16:creationId xmlns:a16="http://schemas.microsoft.com/office/drawing/2014/main" id="{6FE52361-955F-8D09-5120-83F019433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099" y="3393916"/>
            <a:ext cx="6261101" cy="280860"/>
          </a:xfrm>
          <a:prstGeom prst="round2SameRect">
            <a:avLst>
              <a:gd name="adj1" fmla="val 31179"/>
              <a:gd name="adj2" fmla="val 0"/>
            </a:avLst>
          </a:prstGeom>
          <a:solidFill>
            <a:srgbClr val="9B99A1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637" tIns="47819" rIns="95637" bIns="47819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굴림"/>
              </a:rPr>
              <a:t>Service Level Agreement</a:t>
            </a:r>
          </a:p>
        </p:txBody>
      </p:sp>
      <p:sp>
        <p:nvSpPr>
          <p:cNvPr id="36" name="왼쪽 대괄호 35">
            <a:extLst>
              <a:ext uri="{FF2B5EF4-FFF2-40B4-BE49-F238E27FC236}">
                <a16:creationId xmlns:a16="http://schemas.microsoft.com/office/drawing/2014/main" id="{52C6BD7B-B1A1-BCCA-BCCC-402EE87F800F}"/>
              </a:ext>
            </a:extLst>
          </p:cNvPr>
          <p:cNvSpPr/>
          <p:nvPr/>
        </p:nvSpPr>
        <p:spPr>
          <a:xfrm rot="16200000" flipH="1">
            <a:off x="2622741" y="3161812"/>
            <a:ext cx="246180" cy="1662406"/>
          </a:xfrm>
          <a:prstGeom prst="leftBracket">
            <a:avLst>
              <a:gd name="adj" fmla="val 85715"/>
            </a:avLst>
          </a:prstGeom>
          <a:noFill/>
          <a:ln w="19050" cap="flat" cmpd="sng" algn="ctr">
            <a:solidFill>
              <a:srgbClr val="1F497D">
                <a:lumMod val="40000"/>
                <a:lumOff val="60000"/>
              </a:srgbClr>
            </a:solidFill>
            <a:prstDash val="solid"/>
            <a:headEnd type="oval" w="sm" len="sm"/>
            <a:tailEnd type="oval" w="sm" len="sm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FD6F22-2CB2-B84E-C28B-AA91BE2FA72F}"/>
              </a:ext>
            </a:extLst>
          </p:cNvPr>
          <p:cNvSpPr txBox="1"/>
          <p:nvPr/>
        </p:nvSpPr>
        <p:spPr>
          <a:xfrm>
            <a:off x="2072624" y="3903870"/>
            <a:ext cx="1346415" cy="200439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algn="ctr" defTabSz="1001908" fontAlgn="auto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defRPr/>
            </a:pPr>
            <a:r>
              <a:rPr kumimoji="0" lang="en-US" altLang="ko-KR" sz="1200" spc="-1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  <a:cs typeface="+mn-cs"/>
              </a:rPr>
              <a:t>C </a:t>
            </a:r>
            <a:r>
              <a:rPr kumimoji="0" lang="ko-KR" altLang="en-US" sz="1200" spc="-1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  <a:cs typeface="+mn-cs"/>
              </a:rPr>
              <a:t>등급</a:t>
            </a:r>
            <a:r>
              <a:rPr kumimoji="0" lang="en-US" altLang="ko-KR" sz="1200" spc="-1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  <a:cs typeface="+mn-cs"/>
              </a:rPr>
              <a:t>(</a:t>
            </a:r>
            <a:r>
              <a:rPr kumimoji="0" lang="ko-KR" altLang="en-US" sz="1200" spc="-1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  <a:cs typeface="+mn-cs"/>
              </a:rPr>
              <a:t>낮음</a:t>
            </a:r>
            <a:r>
              <a:rPr kumimoji="0" lang="en-US" altLang="ko-KR" sz="1200" spc="-1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  <a:cs typeface="+mn-cs"/>
              </a:rPr>
              <a:t>)</a:t>
            </a:r>
          </a:p>
        </p:txBody>
      </p:sp>
      <p:sp>
        <p:nvSpPr>
          <p:cNvPr id="38" name="왼쪽 대괄호 37">
            <a:extLst>
              <a:ext uri="{FF2B5EF4-FFF2-40B4-BE49-F238E27FC236}">
                <a16:creationId xmlns:a16="http://schemas.microsoft.com/office/drawing/2014/main" id="{E0807FDA-E2C0-90DD-7CC1-1AA9EC5E8419}"/>
              </a:ext>
            </a:extLst>
          </p:cNvPr>
          <p:cNvSpPr/>
          <p:nvPr/>
        </p:nvSpPr>
        <p:spPr>
          <a:xfrm rot="16200000" flipH="1">
            <a:off x="4224252" y="3280719"/>
            <a:ext cx="246180" cy="1424590"/>
          </a:xfrm>
          <a:prstGeom prst="leftBracket">
            <a:avLst>
              <a:gd name="adj" fmla="val 70239"/>
            </a:avLst>
          </a:prstGeom>
          <a:noFill/>
          <a:ln w="1905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  <a:headEnd type="oval" w="sm" len="sm"/>
            <a:tailEnd type="oval" w="sm" len="sm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8FF3C21-7FDC-FA05-7825-163BB3890B84}"/>
              </a:ext>
            </a:extLst>
          </p:cNvPr>
          <p:cNvSpPr txBox="1"/>
          <p:nvPr/>
        </p:nvSpPr>
        <p:spPr>
          <a:xfrm>
            <a:off x="3810441" y="3903870"/>
            <a:ext cx="1073803" cy="200439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algn="ctr" defTabSz="1001908" fontAlgn="auto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defRPr/>
            </a:pPr>
            <a:r>
              <a:rPr kumimoji="0" lang="en-US" altLang="ko-KR" sz="1200" spc="-1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  <a:cs typeface="+mn-cs"/>
              </a:rPr>
              <a:t>B </a:t>
            </a:r>
            <a:r>
              <a:rPr kumimoji="0" lang="ko-KR" altLang="en-US" sz="1200" spc="-1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  <a:cs typeface="+mn-cs"/>
              </a:rPr>
              <a:t>등급</a:t>
            </a:r>
            <a:r>
              <a:rPr kumimoji="0" lang="en-US" altLang="ko-KR" sz="1200" spc="-1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  <a:cs typeface="+mn-cs"/>
              </a:rPr>
              <a:t>(</a:t>
            </a:r>
            <a:r>
              <a:rPr kumimoji="0" lang="ko-KR" altLang="en-US" sz="1200" spc="-1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  <a:cs typeface="+mn-cs"/>
              </a:rPr>
              <a:t>보통</a:t>
            </a:r>
            <a:r>
              <a:rPr kumimoji="0" lang="en-US" altLang="ko-KR" sz="1200" spc="-1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  <a:cs typeface="+mn-cs"/>
              </a:rPr>
              <a:t>)</a:t>
            </a:r>
          </a:p>
        </p:txBody>
      </p:sp>
      <p:cxnSp>
        <p:nvCxnSpPr>
          <p:cNvPr id="41" name="꺾인 연결선 102">
            <a:extLst>
              <a:ext uri="{FF2B5EF4-FFF2-40B4-BE49-F238E27FC236}">
                <a16:creationId xmlns:a16="http://schemas.microsoft.com/office/drawing/2014/main" id="{34F07EE7-B393-290A-0AF5-B1D003941F74}"/>
              </a:ext>
            </a:extLst>
          </p:cNvPr>
          <p:cNvCxnSpPr>
            <a:stCxn id="52" idx="3"/>
            <a:endCxn id="53" idx="2"/>
          </p:cNvCxnSpPr>
          <p:nvPr/>
        </p:nvCxnSpPr>
        <p:spPr>
          <a:xfrm flipV="1">
            <a:off x="4860823" y="4585320"/>
            <a:ext cx="866447" cy="288523"/>
          </a:xfrm>
          <a:prstGeom prst="bentConnector2">
            <a:avLst/>
          </a:prstGeom>
          <a:pattFill prst="ltDnDiag">
            <a:fgClr>
              <a:srgbClr val="DADADC"/>
            </a:fgClr>
            <a:bgClr>
              <a:srgbClr val="BCBCC0"/>
            </a:bgClr>
          </a:patt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42" name="왼쪽 대괄호 41">
            <a:extLst>
              <a:ext uri="{FF2B5EF4-FFF2-40B4-BE49-F238E27FC236}">
                <a16:creationId xmlns:a16="http://schemas.microsoft.com/office/drawing/2014/main" id="{BC1D97B6-0B9A-4895-C97B-1B2A50B08CFA}"/>
              </a:ext>
            </a:extLst>
          </p:cNvPr>
          <p:cNvSpPr/>
          <p:nvPr/>
        </p:nvSpPr>
        <p:spPr>
          <a:xfrm rot="16200000" flipH="1">
            <a:off x="5613217" y="3374359"/>
            <a:ext cx="246180" cy="1237313"/>
          </a:xfrm>
          <a:prstGeom prst="leftBracket">
            <a:avLst>
              <a:gd name="adj" fmla="val 77977"/>
            </a:avLst>
          </a:prstGeom>
          <a:noFill/>
          <a:ln w="19050" cap="flat" cmpd="sng" algn="ctr">
            <a:solidFill>
              <a:srgbClr val="F79646">
                <a:lumMod val="75000"/>
              </a:srgbClr>
            </a:solidFill>
            <a:prstDash val="solid"/>
            <a:headEnd type="oval" w="sm" len="sm"/>
            <a:tailEnd type="oval" w="sm" len="sm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A2C7F77-7F82-1F5C-0083-D869FE428A08}"/>
              </a:ext>
            </a:extLst>
          </p:cNvPr>
          <p:cNvSpPr txBox="1"/>
          <p:nvPr/>
        </p:nvSpPr>
        <p:spPr>
          <a:xfrm>
            <a:off x="5308536" y="3903870"/>
            <a:ext cx="855541" cy="200439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algn="ctr" defTabSz="1001908" fontAlgn="auto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defRPr/>
            </a:pPr>
            <a:r>
              <a:rPr kumimoji="0" lang="en-US" altLang="ko-KR" sz="1200" spc="-1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  <a:cs typeface="+mn-cs"/>
              </a:rPr>
              <a:t>A </a:t>
            </a:r>
            <a:r>
              <a:rPr kumimoji="0" lang="ko-KR" altLang="en-US" sz="1200" spc="-1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  <a:cs typeface="+mn-cs"/>
              </a:rPr>
              <a:t>등급</a:t>
            </a:r>
            <a:r>
              <a:rPr kumimoji="0" lang="en-US" altLang="ko-KR" sz="1200" spc="-1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  <a:cs typeface="+mn-cs"/>
              </a:rPr>
              <a:t>(</a:t>
            </a:r>
            <a:r>
              <a:rPr kumimoji="0" lang="ko-KR" altLang="en-US" sz="1200" spc="-1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  <a:cs typeface="+mn-cs"/>
              </a:rPr>
              <a:t>높음</a:t>
            </a:r>
            <a:r>
              <a:rPr kumimoji="0" lang="en-US" altLang="ko-KR" sz="1200" spc="-1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  <a:cs typeface="+mn-cs"/>
              </a:rPr>
              <a:t>)</a:t>
            </a:r>
          </a:p>
        </p:txBody>
      </p:sp>
      <p:sp>
        <p:nvSpPr>
          <p:cNvPr id="45" name="오른쪽 화살표 106">
            <a:extLst>
              <a:ext uri="{FF2B5EF4-FFF2-40B4-BE49-F238E27FC236}">
                <a16:creationId xmlns:a16="http://schemas.microsoft.com/office/drawing/2014/main" id="{9D5C7832-483C-7F19-A915-5EF45974E82E}"/>
              </a:ext>
            </a:extLst>
          </p:cNvPr>
          <p:cNvSpPr/>
          <p:nvPr/>
        </p:nvSpPr>
        <p:spPr>
          <a:xfrm>
            <a:off x="496721" y="3803007"/>
            <a:ext cx="1240091" cy="430814"/>
          </a:xfrm>
          <a:prstGeom prst="rightArrow">
            <a:avLst>
              <a:gd name="adj1" fmla="val 100000"/>
              <a:gd name="adj2" fmla="val 49752"/>
            </a:avLst>
          </a:prstGeom>
          <a:pattFill prst="dkDnDiag">
            <a:fgClr>
              <a:srgbClr val="8DC0EF"/>
            </a:fgClr>
            <a:bgClr>
              <a:srgbClr val="65AAE9"/>
            </a:bgClr>
          </a:patt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637" tIns="47819" rIns="95637" bIns="47819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01BBFD-B594-7B4E-FBF2-724B9400BD2F}"/>
              </a:ext>
            </a:extLst>
          </p:cNvPr>
          <p:cNvSpPr txBox="1"/>
          <p:nvPr/>
        </p:nvSpPr>
        <p:spPr>
          <a:xfrm>
            <a:off x="397088" y="3868600"/>
            <a:ext cx="1242224" cy="307777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>
            <a:no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>
            <a:defPPr>
              <a:defRPr lang="ko-KR"/>
            </a:defPPr>
            <a:lvl1pPr algn="ctr" defTabSz="1001908" latinLnBrk="0"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 marL="0" marR="0" lvl="0" indent="0" algn="ctr" defTabSz="100190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  <a:cs typeface="+mn-cs"/>
              </a:rPr>
              <a:t>시스템 중요도</a:t>
            </a:r>
            <a:endParaRPr kumimoji="0" lang="ko-KR" altLang="en-US" sz="120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863F1146-8B57-EA06-DA8E-F4A8CBBB81E8}"/>
              </a:ext>
            </a:extLst>
          </p:cNvPr>
          <p:cNvSpPr/>
          <p:nvPr/>
        </p:nvSpPr>
        <p:spPr>
          <a:xfrm>
            <a:off x="496720" y="4314148"/>
            <a:ext cx="1026963" cy="276921"/>
          </a:xfrm>
          <a:prstGeom prst="rect">
            <a:avLst/>
          </a:prstGeom>
          <a:solidFill>
            <a:srgbClr val="C8C8C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lvl="0" indent="0" algn="ctr" defTabSz="100190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A </a:t>
            </a:r>
            <a:r>
              <a:rPr kumimoji="0" lang="ko-KR" altLang="en-US" sz="120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등급</a:t>
            </a:r>
            <a:r>
              <a: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</a:t>
            </a:r>
            <a:r>
              <a:rPr kumimoji="0" lang="ko-KR" altLang="en-US" sz="120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높음</a:t>
            </a:r>
            <a:r>
              <a: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)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CC916439-B740-3716-72C9-8FFEEB82B172}"/>
              </a:ext>
            </a:extLst>
          </p:cNvPr>
          <p:cNvSpPr/>
          <p:nvPr/>
        </p:nvSpPr>
        <p:spPr>
          <a:xfrm>
            <a:off x="3833860" y="4735243"/>
            <a:ext cx="1026963" cy="277200"/>
          </a:xfrm>
          <a:prstGeom prst="rect">
            <a:avLst/>
          </a:prstGeom>
          <a:solidFill>
            <a:srgbClr val="C8C8C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lvl="0" indent="0" algn="ctr" defTabSz="100190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신속한 해결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9C5B313-EC2D-C872-7487-AEB267A0C4FC}"/>
              </a:ext>
            </a:extLst>
          </p:cNvPr>
          <p:cNvSpPr/>
          <p:nvPr/>
        </p:nvSpPr>
        <p:spPr>
          <a:xfrm>
            <a:off x="5213788" y="4308120"/>
            <a:ext cx="1026963" cy="277200"/>
          </a:xfrm>
          <a:prstGeom prst="rect">
            <a:avLst/>
          </a:prstGeom>
          <a:solidFill>
            <a:srgbClr val="8DC0E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lvl="0" indent="0" algn="ctr" defTabSz="100190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즉각적 해결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BDC61FC-E3B8-19BD-BEA7-0B4A67E39B13}"/>
              </a:ext>
            </a:extLst>
          </p:cNvPr>
          <p:cNvSpPr/>
          <p:nvPr/>
        </p:nvSpPr>
        <p:spPr>
          <a:xfrm>
            <a:off x="2232349" y="5165487"/>
            <a:ext cx="1026963" cy="277200"/>
          </a:xfrm>
          <a:prstGeom prst="rect">
            <a:avLst/>
          </a:prstGeom>
          <a:solidFill>
            <a:srgbClr val="C8C8C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lvl="0" indent="0" algn="ctr" defTabSz="100190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관리적 해결</a:t>
            </a:r>
          </a:p>
        </p:txBody>
      </p:sp>
      <p:cxnSp>
        <p:nvCxnSpPr>
          <p:cNvPr id="77" name="꺾인 연결선 102">
            <a:extLst>
              <a:ext uri="{FF2B5EF4-FFF2-40B4-BE49-F238E27FC236}">
                <a16:creationId xmlns:a16="http://schemas.microsoft.com/office/drawing/2014/main" id="{04F9A861-F9B7-C622-AA67-7BF6FE16F43F}"/>
              </a:ext>
            </a:extLst>
          </p:cNvPr>
          <p:cNvCxnSpPr>
            <a:stCxn id="57" idx="3"/>
            <a:endCxn id="52" idx="2"/>
          </p:cNvCxnSpPr>
          <p:nvPr/>
        </p:nvCxnSpPr>
        <p:spPr>
          <a:xfrm flipV="1">
            <a:off x="3259312" y="5012443"/>
            <a:ext cx="1088030" cy="291644"/>
          </a:xfrm>
          <a:prstGeom prst="bentConnector2">
            <a:avLst/>
          </a:prstGeom>
          <a:pattFill prst="ltDnDiag">
            <a:fgClr>
              <a:srgbClr val="DADADC"/>
            </a:fgClr>
            <a:bgClr>
              <a:srgbClr val="BCBCC0"/>
            </a:bgClr>
          </a:patt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69D6BB79-36C6-7E34-B9AD-2CA7C8114415}"/>
              </a:ext>
            </a:extLst>
          </p:cNvPr>
          <p:cNvSpPr/>
          <p:nvPr/>
        </p:nvSpPr>
        <p:spPr>
          <a:xfrm>
            <a:off x="496720" y="4732480"/>
            <a:ext cx="1026963" cy="276921"/>
          </a:xfrm>
          <a:prstGeom prst="rect">
            <a:avLst/>
          </a:prstGeom>
          <a:solidFill>
            <a:srgbClr val="C8C8C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lvl="0" indent="0" algn="ctr" defTabSz="100190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B </a:t>
            </a:r>
            <a:r>
              <a:rPr kumimoji="0" lang="ko-KR" altLang="en-US" sz="120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등급</a:t>
            </a:r>
            <a:r>
              <a: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</a:t>
            </a:r>
            <a:r>
              <a:rPr kumimoji="0" lang="ko-KR" altLang="en-US" sz="120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보통</a:t>
            </a:r>
            <a:r>
              <a: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)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9ECC800E-873E-0277-E5F5-ED59E7CD7E58}"/>
              </a:ext>
            </a:extLst>
          </p:cNvPr>
          <p:cNvSpPr/>
          <p:nvPr/>
        </p:nvSpPr>
        <p:spPr>
          <a:xfrm>
            <a:off x="496720" y="5165020"/>
            <a:ext cx="1026963" cy="276921"/>
          </a:xfrm>
          <a:prstGeom prst="rect">
            <a:avLst/>
          </a:prstGeom>
          <a:solidFill>
            <a:srgbClr val="C8C8C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lvl="0" indent="0" algn="ctr" defTabSz="100190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C </a:t>
            </a:r>
            <a:r>
              <a:rPr kumimoji="0" lang="ko-KR" altLang="en-US" sz="120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등급</a:t>
            </a:r>
            <a:r>
              <a: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</a:t>
            </a:r>
            <a:r>
              <a:rPr kumimoji="0" lang="ko-KR" altLang="en-US" sz="120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낮음</a:t>
            </a:r>
            <a:r>
              <a: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)</a:t>
            </a:r>
          </a:p>
        </p:txBody>
      </p:sp>
      <p:grpSp>
        <p:nvGrpSpPr>
          <p:cNvPr id="82" name="그룹 16">
            <a:extLst>
              <a:ext uri="{FF2B5EF4-FFF2-40B4-BE49-F238E27FC236}">
                <a16:creationId xmlns:a16="http://schemas.microsoft.com/office/drawing/2014/main" id="{E6352D2B-72E6-B92F-F161-42640623A7FF}"/>
              </a:ext>
            </a:extLst>
          </p:cNvPr>
          <p:cNvGrpSpPr>
            <a:grpSpLocks/>
          </p:cNvGrpSpPr>
          <p:nvPr/>
        </p:nvGrpSpPr>
        <p:grpSpPr bwMode="auto">
          <a:xfrm>
            <a:off x="342900" y="6278426"/>
            <a:ext cx="5246688" cy="169277"/>
            <a:chOff x="342900" y="3330737"/>
            <a:chExt cx="5246341" cy="170762"/>
          </a:xfrm>
        </p:grpSpPr>
        <p:pic>
          <p:nvPicPr>
            <p:cNvPr id="83" name="Picture 176" descr="1">
              <a:extLst>
                <a:ext uri="{FF2B5EF4-FFF2-40B4-BE49-F238E27FC236}">
                  <a16:creationId xmlns:a16="http://schemas.microsoft.com/office/drawing/2014/main" id="{03363A82-D60F-3761-CCF2-CCD1FEFBB6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900" y="3370758"/>
              <a:ext cx="148389" cy="81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4" name="Text Box 34">
              <a:extLst>
                <a:ext uri="{FF2B5EF4-FFF2-40B4-BE49-F238E27FC236}">
                  <a16:creationId xmlns:a16="http://schemas.microsoft.com/office/drawing/2014/main" id="{1827ADE0-DBA5-F053-FCCB-87CEF987CD4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41717" y="3330737"/>
              <a:ext cx="5047524" cy="170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1pPr>
              <a:lvl2pPr marL="742950" indent="-285750"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2pPr>
              <a:lvl3pPr marL="1143000" indent="-228600"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3pPr>
              <a:lvl4pPr marL="1600200" indent="-228600"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4pPr>
              <a:lvl5pPr marL="2057400" indent="-228600"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5pPr>
              <a:lvl6pPr marL="2514600" indent="-228600" defTabSz="787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6pPr>
              <a:lvl7pPr marL="2971800" indent="-228600" defTabSz="787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7pPr>
              <a:lvl8pPr marL="3429000" indent="-228600" defTabSz="787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8pPr>
              <a:lvl9pPr marL="3886200" indent="-228600" defTabSz="787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9pPr>
            </a:lstStyle>
            <a:p>
              <a:pPr eaLnBrk="1" latinLnBrk="0" hangingPunct="1">
                <a:defRPr/>
              </a:pPr>
              <a:r>
                <a:rPr lang="en-US" altLang="ko-KR" dirty="0">
                  <a:latin typeface="+mn-ea"/>
                  <a:ea typeface="+mn-ea"/>
                  <a:cs typeface="Arial" pitchFamily="34" charset="0"/>
                </a:rPr>
                <a:t> SLA </a:t>
              </a:r>
              <a:r>
                <a:rPr lang="ko-KR" altLang="en-US" dirty="0">
                  <a:latin typeface="+mn-ea"/>
                  <a:ea typeface="+mn-ea"/>
                  <a:cs typeface="Arial" pitchFamily="34" charset="0"/>
                </a:rPr>
                <a:t>평가표</a:t>
              </a:r>
              <a:r>
                <a:rPr lang="en-US" altLang="ko-KR" dirty="0">
                  <a:latin typeface="+mn-ea"/>
                  <a:ea typeface="+mn-ea"/>
                  <a:cs typeface="Arial" pitchFamily="34" charset="0"/>
                </a:rPr>
                <a:t>(</a:t>
              </a:r>
              <a:r>
                <a:rPr lang="ko-KR" altLang="en-US" dirty="0">
                  <a:latin typeface="+mn-ea"/>
                  <a:ea typeface="+mn-ea"/>
                  <a:cs typeface="Arial" pitchFamily="34" charset="0"/>
                </a:rPr>
                <a:t>예시</a:t>
              </a:r>
              <a:r>
                <a:rPr lang="en-US" altLang="ko-KR" dirty="0">
                  <a:latin typeface="+mn-ea"/>
                  <a:ea typeface="+mn-ea"/>
                  <a:cs typeface="Arial" pitchFamily="34" charset="0"/>
                </a:rPr>
                <a:t>)</a:t>
              </a:r>
            </a:p>
          </p:txBody>
        </p:sp>
      </p:grpSp>
      <p:graphicFrame>
        <p:nvGraphicFramePr>
          <p:cNvPr id="85" name="Group 261">
            <a:extLst>
              <a:ext uri="{FF2B5EF4-FFF2-40B4-BE49-F238E27FC236}">
                <a16:creationId xmlns:a16="http://schemas.microsoft.com/office/drawing/2014/main" id="{A3005C6E-9CCE-B9A3-A748-CE14E013FC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73750"/>
              </p:ext>
            </p:extLst>
          </p:nvPr>
        </p:nvGraphicFramePr>
        <p:xfrm>
          <a:off x="291782" y="6617975"/>
          <a:ext cx="6261101" cy="631998"/>
        </p:xfrm>
        <a:graphic>
          <a:graphicData uri="http://schemas.openxmlformats.org/drawingml/2006/table">
            <a:tbl>
              <a:tblPr/>
              <a:tblGrid>
                <a:gridCol w="1151408">
                  <a:extLst>
                    <a:ext uri="{9D8B030D-6E8A-4147-A177-3AD203B41FA5}">
                      <a16:colId xmlns:a16="http://schemas.microsoft.com/office/drawing/2014/main" val="3081372851"/>
                    </a:ext>
                  </a:extLst>
                </a:gridCol>
                <a:gridCol w="1306504">
                  <a:extLst>
                    <a:ext uri="{9D8B030D-6E8A-4147-A177-3AD203B41FA5}">
                      <a16:colId xmlns:a16="http://schemas.microsoft.com/office/drawing/2014/main" val="2909795400"/>
                    </a:ext>
                  </a:extLst>
                </a:gridCol>
                <a:gridCol w="1271101">
                  <a:extLst>
                    <a:ext uri="{9D8B030D-6E8A-4147-A177-3AD203B41FA5}">
                      <a16:colId xmlns:a16="http://schemas.microsoft.com/office/drawing/2014/main" val="4251532507"/>
                    </a:ext>
                  </a:extLst>
                </a:gridCol>
                <a:gridCol w="1264358">
                  <a:extLst>
                    <a:ext uri="{9D8B030D-6E8A-4147-A177-3AD203B41FA5}">
                      <a16:colId xmlns:a16="http://schemas.microsoft.com/office/drawing/2014/main" val="165322957"/>
                    </a:ext>
                  </a:extLst>
                </a:gridCol>
                <a:gridCol w="1267730">
                  <a:extLst>
                    <a:ext uri="{9D8B030D-6E8A-4147-A177-3AD203B41FA5}">
                      <a16:colId xmlns:a16="http://schemas.microsoft.com/office/drawing/2014/main" val="3154115232"/>
                    </a:ext>
                  </a:extLst>
                </a:gridCol>
              </a:tblGrid>
              <a:tr h="315999">
                <a:tc>
                  <a:txBody>
                    <a:bodyPr/>
                    <a:lstStyle>
                      <a:lvl1pPr marL="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1pPr>
                      <a:lvl2pPr marL="457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2pPr>
                      <a:lvl3pPr marL="914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3pPr>
                      <a:lvl4pPr marL="1371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4pPr>
                      <a:lvl5pPr marL="18288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5pPr>
                      <a:lvl6pPr marL="22860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6pPr>
                      <a:lvl7pPr marL="2743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7pPr>
                      <a:lvl8pPr marL="3200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8pPr>
                      <a:lvl9pPr marL="3657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측정결과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9CBC"/>
                    </a:solidFill>
                  </a:tcPr>
                </a:tc>
                <a:tc>
                  <a:txBody>
                    <a:bodyPr/>
                    <a:lstStyle>
                      <a:lvl1pPr marL="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1pPr>
                      <a:lvl2pPr marL="457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2pPr>
                      <a:lvl3pPr marL="914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3pPr>
                      <a:lvl4pPr marL="1371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4pPr>
                      <a:lvl5pPr marL="18288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5pPr>
                      <a:lvl6pPr marL="22860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6pPr>
                      <a:lvl7pPr marL="2743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7pPr>
                      <a:lvl8pPr marL="3200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8pPr>
                      <a:lvl9pPr marL="3657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목표수준 이상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9CBC"/>
                    </a:solidFill>
                  </a:tcPr>
                </a:tc>
                <a:tc>
                  <a:txBody>
                    <a:bodyPr/>
                    <a:lstStyle>
                      <a:lvl1pPr marL="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1pPr>
                      <a:lvl2pPr marL="457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2pPr>
                      <a:lvl3pPr marL="914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3pPr>
                      <a:lvl4pPr marL="1371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4pPr>
                      <a:lvl5pPr marL="18288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5pPr>
                      <a:lvl6pPr marL="22860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6pPr>
                      <a:lvl7pPr marL="2743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7pPr>
                      <a:lvl8pPr marL="3200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8pPr>
                      <a:lvl9pPr marL="3657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기본수준 이상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9CBC"/>
                    </a:solidFill>
                  </a:tcPr>
                </a:tc>
                <a:tc>
                  <a:txBody>
                    <a:bodyPr/>
                    <a:lstStyle>
                      <a:lvl1pPr marL="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1pPr>
                      <a:lvl2pPr marL="457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2pPr>
                      <a:lvl3pPr marL="914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3pPr>
                      <a:lvl4pPr marL="1371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4pPr>
                      <a:lvl5pPr marL="18288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5pPr>
                      <a:lvl6pPr marL="22860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6pPr>
                      <a:lvl7pPr marL="2743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7pPr>
                      <a:lvl8pPr marL="3200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8pPr>
                      <a:lvl9pPr marL="3657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최저수준 이상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9CBC"/>
                    </a:solidFill>
                  </a:tcPr>
                </a:tc>
                <a:tc>
                  <a:txBody>
                    <a:bodyPr/>
                    <a:lstStyle>
                      <a:lvl1pPr marL="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1pPr>
                      <a:lvl2pPr marL="457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2pPr>
                      <a:lvl3pPr marL="914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3pPr>
                      <a:lvl4pPr marL="1371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4pPr>
                      <a:lvl5pPr marL="18288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5pPr>
                      <a:lvl6pPr marL="22860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6pPr>
                      <a:lvl7pPr marL="2743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7pPr>
                      <a:lvl8pPr marL="3200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8pPr>
                      <a:lvl9pPr marL="3657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기타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9C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4611500"/>
                  </a:ext>
                </a:extLst>
              </a:tr>
              <a:tr h="315999">
                <a:tc>
                  <a:txBody>
                    <a:bodyPr/>
                    <a:lstStyle>
                      <a:lvl1pPr marL="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1pPr>
                      <a:lvl2pPr marL="457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2pPr>
                      <a:lvl3pPr marL="914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3pPr>
                      <a:lvl4pPr marL="1371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4pPr>
                      <a:lvl5pPr marL="18288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5pPr>
                      <a:lvl6pPr marL="22860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6pPr>
                      <a:lvl7pPr marL="2743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7pPr>
                      <a:lvl8pPr marL="3200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8pPr>
                      <a:lvl9pPr marL="3657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달성도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E0F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1pPr>
                      <a:lvl2pPr marL="457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2pPr>
                      <a:lvl3pPr marL="914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3pPr>
                      <a:lvl4pPr marL="1371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4pPr>
                      <a:lvl5pPr marL="18288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5pPr>
                      <a:lvl6pPr marL="22860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6pPr>
                      <a:lvl7pPr marL="2743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7pPr>
                      <a:lvl8pPr marL="3200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8pPr>
                      <a:lvl9pPr marL="3657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1.0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1pPr>
                      <a:lvl2pPr marL="457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2pPr>
                      <a:lvl3pPr marL="914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3pPr>
                      <a:lvl4pPr marL="1371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4pPr>
                      <a:lvl5pPr marL="18288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5pPr>
                      <a:lvl6pPr marL="22860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6pPr>
                      <a:lvl7pPr marL="2743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7pPr>
                      <a:lvl8pPr marL="3200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8pPr>
                      <a:lvl9pPr marL="3657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0.9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1pPr>
                      <a:lvl2pPr marL="457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2pPr>
                      <a:lvl3pPr marL="914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3pPr>
                      <a:lvl4pPr marL="1371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4pPr>
                      <a:lvl5pPr marL="18288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5pPr>
                      <a:lvl6pPr marL="22860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6pPr>
                      <a:lvl7pPr marL="2743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7pPr>
                      <a:lvl8pPr marL="3200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8pPr>
                      <a:lvl9pPr marL="3657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0.8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1pPr>
                      <a:lvl2pPr marL="457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2pPr>
                      <a:lvl3pPr marL="914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3pPr>
                      <a:lvl4pPr marL="1371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4pPr>
                      <a:lvl5pPr marL="18288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5pPr>
                      <a:lvl6pPr marL="22860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6pPr>
                      <a:lvl7pPr marL="2743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7pPr>
                      <a:lvl8pPr marL="3200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8pPr>
                      <a:lvl9pPr marL="3657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0.7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418729"/>
                  </a:ext>
                </a:extLst>
              </a:tr>
            </a:tbl>
          </a:graphicData>
        </a:graphic>
      </p:graphicFrame>
      <p:grpSp>
        <p:nvGrpSpPr>
          <p:cNvPr id="86" name="그룹 16">
            <a:extLst>
              <a:ext uri="{FF2B5EF4-FFF2-40B4-BE49-F238E27FC236}">
                <a16:creationId xmlns:a16="http://schemas.microsoft.com/office/drawing/2014/main" id="{191B358E-58C7-ADC1-4ECD-63AFA7ADAC3F}"/>
              </a:ext>
            </a:extLst>
          </p:cNvPr>
          <p:cNvGrpSpPr>
            <a:grpSpLocks/>
          </p:cNvGrpSpPr>
          <p:nvPr/>
        </p:nvGrpSpPr>
        <p:grpSpPr bwMode="auto">
          <a:xfrm>
            <a:off x="342900" y="7581304"/>
            <a:ext cx="5246688" cy="169277"/>
            <a:chOff x="342900" y="3330737"/>
            <a:chExt cx="5246341" cy="170762"/>
          </a:xfrm>
        </p:grpSpPr>
        <p:pic>
          <p:nvPicPr>
            <p:cNvPr id="87" name="Picture 176" descr="1">
              <a:extLst>
                <a:ext uri="{FF2B5EF4-FFF2-40B4-BE49-F238E27FC236}">
                  <a16:creationId xmlns:a16="http://schemas.microsoft.com/office/drawing/2014/main" id="{8EE58042-C3D7-FCD2-86BC-86DF8AD137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900" y="3370758"/>
              <a:ext cx="148389" cy="81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" name="Text Box 34">
              <a:extLst>
                <a:ext uri="{FF2B5EF4-FFF2-40B4-BE49-F238E27FC236}">
                  <a16:creationId xmlns:a16="http://schemas.microsoft.com/office/drawing/2014/main" id="{4CFEBA9F-3521-4EA0-FF1C-3E5FC0F2B6D8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41717" y="3330737"/>
              <a:ext cx="5047524" cy="170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1pPr>
              <a:lvl2pPr marL="742950" indent="-285750"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2pPr>
              <a:lvl3pPr marL="1143000" indent="-228600"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3pPr>
              <a:lvl4pPr marL="1600200" indent="-228600"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4pPr>
              <a:lvl5pPr marL="2057400" indent="-228600"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5pPr>
              <a:lvl6pPr marL="2514600" indent="-228600" defTabSz="787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6pPr>
              <a:lvl7pPr marL="2971800" indent="-228600" defTabSz="787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7pPr>
              <a:lvl8pPr marL="3429000" indent="-228600" defTabSz="787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8pPr>
              <a:lvl9pPr marL="3886200" indent="-228600" defTabSz="787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9pPr>
            </a:lstStyle>
            <a:p>
              <a:pPr eaLnBrk="1" latinLnBrk="0" hangingPunct="1">
                <a:defRPr/>
              </a:pPr>
              <a:r>
                <a:rPr lang="ko-KR" altLang="en-US" dirty="0">
                  <a:latin typeface="+mn-ea"/>
                  <a:ea typeface="+mn-ea"/>
                  <a:cs typeface="Arial" pitchFamily="34" charset="0"/>
                </a:rPr>
                <a:t> 종합평가</a:t>
              </a:r>
              <a:r>
                <a:rPr lang="en-US" altLang="ko-KR" dirty="0">
                  <a:latin typeface="+mn-ea"/>
                  <a:ea typeface="+mn-ea"/>
                  <a:cs typeface="Arial" pitchFamily="34" charset="0"/>
                </a:rPr>
                <a:t>(</a:t>
              </a:r>
              <a:r>
                <a:rPr lang="ko-KR" altLang="en-US" dirty="0">
                  <a:latin typeface="+mn-ea"/>
                  <a:ea typeface="+mn-ea"/>
                  <a:cs typeface="Arial" pitchFamily="34" charset="0"/>
                </a:rPr>
                <a:t>예시</a:t>
              </a:r>
              <a:r>
                <a:rPr lang="en-US" altLang="ko-KR" dirty="0">
                  <a:latin typeface="+mn-ea"/>
                  <a:ea typeface="+mn-ea"/>
                  <a:cs typeface="Arial" pitchFamily="34" charset="0"/>
                </a:rPr>
                <a:t>)</a:t>
              </a:r>
            </a:p>
          </p:txBody>
        </p:sp>
      </p:grpSp>
      <p:graphicFrame>
        <p:nvGraphicFramePr>
          <p:cNvPr id="89" name="Group 274">
            <a:extLst>
              <a:ext uri="{FF2B5EF4-FFF2-40B4-BE49-F238E27FC236}">
                <a16:creationId xmlns:a16="http://schemas.microsoft.com/office/drawing/2014/main" id="{5BCA8D9C-343B-5E2A-3395-E394262F01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029963"/>
              </p:ext>
            </p:extLst>
          </p:nvPr>
        </p:nvGraphicFramePr>
        <p:xfrm>
          <a:off x="291781" y="7926234"/>
          <a:ext cx="6261099" cy="691891"/>
        </p:xfrm>
        <a:graphic>
          <a:graphicData uri="http://schemas.openxmlformats.org/drawingml/2006/table">
            <a:tbl>
              <a:tblPr/>
              <a:tblGrid>
                <a:gridCol w="1029475">
                  <a:extLst>
                    <a:ext uri="{9D8B030D-6E8A-4147-A177-3AD203B41FA5}">
                      <a16:colId xmlns:a16="http://schemas.microsoft.com/office/drawing/2014/main" val="2614216794"/>
                    </a:ext>
                  </a:extLst>
                </a:gridCol>
                <a:gridCol w="802014">
                  <a:extLst>
                    <a:ext uri="{9D8B030D-6E8A-4147-A177-3AD203B41FA5}">
                      <a16:colId xmlns:a16="http://schemas.microsoft.com/office/drawing/2014/main" val="4252447080"/>
                    </a:ext>
                  </a:extLst>
                </a:gridCol>
                <a:gridCol w="802014">
                  <a:extLst>
                    <a:ext uri="{9D8B030D-6E8A-4147-A177-3AD203B41FA5}">
                      <a16:colId xmlns:a16="http://schemas.microsoft.com/office/drawing/2014/main" val="386736493"/>
                    </a:ext>
                  </a:extLst>
                </a:gridCol>
                <a:gridCol w="882889">
                  <a:extLst>
                    <a:ext uri="{9D8B030D-6E8A-4147-A177-3AD203B41FA5}">
                      <a16:colId xmlns:a16="http://schemas.microsoft.com/office/drawing/2014/main" val="3774204480"/>
                    </a:ext>
                  </a:extLst>
                </a:gridCol>
                <a:gridCol w="882889">
                  <a:extLst>
                    <a:ext uri="{9D8B030D-6E8A-4147-A177-3AD203B41FA5}">
                      <a16:colId xmlns:a16="http://schemas.microsoft.com/office/drawing/2014/main" val="25310840"/>
                    </a:ext>
                  </a:extLst>
                </a:gridCol>
                <a:gridCol w="882889">
                  <a:extLst>
                    <a:ext uri="{9D8B030D-6E8A-4147-A177-3AD203B41FA5}">
                      <a16:colId xmlns:a16="http://schemas.microsoft.com/office/drawing/2014/main" val="3924049078"/>
                    </a:ext>
                  </a:extLst>
                </a:gridCol>
                <a:gridCol w="978929">
                  <a:extLst>
                    <a:ext uri="{9D8B030D-6E8A-4147-A177-3AD203B41FA5}">
                      <a16:colId xmlns:a16="http://schemas.microsoft.com/office/drawing/2014/main" val="969170711"/>
                    </a:ext>
                  </a:extLst>
                </a:gridCol>
              </a:tblGrid>
              <a:tr h="347546">
                <a:tc>
                  <a:txBody>
                    <a:bodyPr/>
                    <a:lstStyle>
                      <a:lvl1pPr marL="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1pPr>
                      <a:lvl2pPr marL="457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2pPr>
                      <a:lvl3pPr marL="914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3pPr>
                      <a:lvl4pPr marL="1371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4pPr>
                      <a:lvl5pPr marL="18288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5pPr>
                      <a:lvl6pPr marL="22860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6pPr>
                      <a:lvl7pPr marL="2743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7pPr>
                      <a:lvl8pPr marL="3200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8pPr>
                      <a:lvl9pPr marL="3657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종합평가 점수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9CBC"/>
                    </a:solidFill>
                  </a:tcPr>
                </a:tc>
                <a:tc>
                  <a:txBody>
                    <a:bodyPr/>
                    <a:lstStyle>
                      <a:lvl1pPr marL="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1pPr>
                      <a:lvl2pPr marL="457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2pPr>
                      <a:lvl3pPr marL="914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3pPr>
                      <a:lvl4pPr marL="1371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4pPr>
                      <a:lvl5pPr marL="18288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5pPr>
                      <a:lvl6pPr marL="22860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6pPr>
                      <a:lvl7pPr marL="2743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7pPr>
                      <a:lvl8pPr marL="3200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8pPr>
                      <a:lvl9pPr marL="3657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90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점 이상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9CBC"/>
                    </a:solidFill>
                  </a:tcPr>
                </a:tc>
                <a:tc>
                  <a:txBody>
                    <a:bodyPr/>
                    <a:lstStyle>
                      <a:lvl1pPr marL="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1pPr>
                      <a:lvl2pPr marL="457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2pPr>
                      <a:lvl3pPr marL="914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3pPr>
                      <a:lvl4pPr marL="1371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4pPr>
                      <a:lvl5pPr marL="18288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5pPr>
                      <a:lvl6pPr marL="22860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6pPr>
                      <a:lvl7pPr marL="2743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7pPr>
                      <a:lvl8pPr marL="3200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8pPr>
                      <a:lvl9pPr marL="3657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85~90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점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9CBC"/>
                    </a:solidFill>
                  </a:tcPr>
                </a:tc>
                <a:tc>
                  <a:txBody>
                    <a:bodyPr/>
                    <a:lstStyle>
                      <a:lvl1pPr marL="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1pPr>
                      <a:lvl2pPr marL="457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2pPr>
                      <a:lvl3pPr marL="914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3pPr>
                      <a:lvl4pPr marL="1371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4pPr>
                      <a:lvl5pPr marL="18288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5pPr>
                      <a:lvl6pPr marL="22860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6pPr>
                      <a:lvl7pPr marL="2743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7pPr>
                      <a:lvl8pPr marL="3200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8pPr>
                      <a:lvl9pPr marL="3657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80~85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점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9CBC"/>
                    </a:solidFill>
                  </a:tcPr>
                </a:tc>
                <a:tc>
                  <a:txBody>
                    <a:bodyPr/>
                    <a:lstStyle>
                      <a:lvl1pPr marL="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1pPr>
                      <a:lvl2pPr marL="457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2pPr>
                      <a:lvl3pPr marL="914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3pPr>
                      <a:lvl4pPr marL="1371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4pPr>
                      <a:lvl5pPr marL="18288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5pPr>
                      <a:lvl6pPr marL="22860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6pPr>
                      <a:lvl7pPr marL="2743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7pPr>
                      <a:lvl8pPr marL="3200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8pPr>
                      <a:lvl9pPr marL="3657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75~80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점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9CBC"/>
                    </a:solidFill>
                  </a:tcPr>
                </a:tc>
                <a:tc>
                  <a:txBody>
                    <a:bodyPr/>
                    <a:lstStyle>
                      <a:lvl1pPr marL="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1pPr>
                      <a:lvl2pPr marL="457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2pPr>
                      <a:lvl3pPr marL="914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3pPr>
                      <a:lvl4pPr marL="1371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4pPr>
                      <a:lvl5pPr marL="18288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5pPr>
                      <a:lvl6pPr marL="22860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6pPr>
                      <a:lvl7pPr marL="2743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7pPr>
                      <a:lvl8pPr marL="3200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8pPr>
                      <a:lvl9pPr marL="3657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70~75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점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9CBC"/>
                    </a:solidFill>
                  </a:tcPr>
                </a:tc>
                <a:tc>
                  <a:txBody>
                    <a:bodyPr/>
                    <a:lstStyle>
                      <a:lvl1pPr marL="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1pPr>
                      <a:lvl2pPr marL="457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2pPr>
                      <a:lvl3pPr marL="914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3pPr>
                      <a:lvl4pPr marL="1371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4pPr>
                      <a:lvl5pPr marL="18288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5pPr>
                      <a:lvl6pPr marL="22860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6pPr>
                      <a:lvl7pPr marL="2743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7pPr>
                      <a:lvl8pPr marL="3200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8pPr>
                      <a:lvl9pPr marL="3657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70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점 미만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9C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7476805"/>
                  </a:ext>
                </a:extLst>
              </a:tr>
              <a:tr h="344345">
                <a:tc>
                  <a:txBody>
                    <a:bodyPr/>
                    <a:lstStyle>
                      <a:lvl1pPr marL="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1pPr>
                      <a:lvl2pPr marL="457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2pPr>
                      <a:lvl3pPr marL="914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3pPr>
                      <a:lvl4pPr marL="1371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4pPr>
                      <a:lvl5pPr marL="18288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5pPr>
                      <a:lvl6pPr marL="22860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6pPr>
                      <a:lvl7pPr marL="2743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7pPr>
                      <a:lvl8pPr marL="3200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8pPr>
                      <a:lvl9pPr marL="3657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평가등급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E0F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1pPr>
                      <a:lvl2pPr marL="457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2pPr>
                      <a:lvl3pPr marL="914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3pPr>
                      <a:lvl4pPr marL="1371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4pPr>
                      <a:lvl5pPr marL="18288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5pPr>
                      <a:lvl6pPr marL="22860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6pPr>
                      <a:lvl7pPr marL="2743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7pPr>
                      <a:lvl8pPr marL="3200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8pPr>
                      <a:lvl9pPr marL="3657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A(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탁월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)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1pPr>
                      <a:lvl2pPr marL="457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2pPr>
                      <a:lvl3pPr marL="914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3pPr>
                      <a:lvl4pPr marL="1371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4pPr>
                      <a:lvl5pPr marL="18288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5pPr>
                      <a:lvl6pPr marL="22860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6pPr>
                      <a:lvl7pPr marL="2743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7pPr>
                      <a:lvl8pPr marL="3200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8pPr>
                      <a:lvl9pPr marL="3657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B(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우수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)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1pPr>
                      <a:lvl2pPr marL="457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2pPr>
                      <a:lvl3pPr marL="914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3pPr>
                      <a:lvl4pPr marL="1371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4pPr>
                      <a:lvl5pPr marL="18288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5pPr>
                      <a:lvl6pPr marL="22860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6pPr>
                      <a:lvl7pPr marL="2743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7pPr>
                      <a:lvl8pPr marL="3200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8pPr>
                      <a:lvl9pPr marL="3657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C(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보통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)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1pPr>
                      <a:lvl2pPr marL="457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2pPr>
                      <a:lvl3pPr marL="914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3pPr>
                      <a:lvl4pPr marL="1371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4pPr>
                      <a:lvl5pPr marL="18288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5pPr>
                      <a:lvl6pPr marL="22860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6pPr>
                      <a:lvl7pPr marL="2743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7pPr>
                      <a:lvl8pPr marL="3200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8pPr>
                      <a:lvl9pPr marL="3657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D(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미흡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)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1pPr>
                      <a:lvl2pPr marL="457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2pPr>
                      <a:lvl3pPr marL="914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3pPr>
                      <a:lvl4pPr marL="1371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4pPr>
                      <a:lvl5pPr marL="18288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5pPr>
                      <a:lvl6pPr marL="22860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6pPr>
                      <a:lvl7pPr marL="2743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7pPr>
                      <a:lvl8pPr marL="3200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8pPr>
                      <a:lvl9pPr marL="3657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E(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불량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)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1pPr>
                      <a:lvl2pPr marL="457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2pPr>
                      <a:lvl3pPr marL="914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3pPr>
                      <a:lvl4pPr marL="1371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SzPct val="80000"/>
                        <a:buFont typeface="Wingdings 2" panose="05020102010507070707" pitchFamily="18" charset="2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4pPr>
                      <a:lvl5pPr marL="18288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5pPr>
                      <a:lvl6pPr marL="22860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6pPr>
                      <a:lvl7pPr marL="27432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7pPr>
                      <a:lvl8pPr marL="32004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8pPr>
                      <a:lvl9pPr marL="3657600" algn="just" defTabSz="914400" rtl="0" eaLnBrk="0" fontAlgn="ctr" latinLnBrk="1" hangingPunct="0">
                        <a:lnSpc>
                          <a:spcPct val="110000"/>
                        </a:lnSpc>
                        <a:spcBef>
                          <a:spcPct val="40000"/>
                        </a:spcBef>
                        <a:spcAft>
                          <a:spcPct val="40000"/>
                        </a:spcAft>
                        <a:buClr>
                          <a:srgbClr val="B2B2B2"/>
                        </a:buClr>
                        <a:buFont typeface="산돌고딕 L" pitchFamily="50" charset="-127"/>
                        <a:defRPr kumimoji="1" sz="1000" kern="1200">
                          <a:solidFill>
                            <a:schemeClr val="tx1"/>
                          </a:solidFill>
                          <a:latin typeface="산돌명조 M" pitchFamily="18" charset="-127"/>
                          <a:ea typeface="산돌명조 M" pitchFamily="18" charset="-127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F(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매우 불량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한컴바탕" pitchFamily="18" charset="2"/>
                        </a:rPr>
                        <a:t>)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한컴바탕" pitchFamily="18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518751"/>
                  </a:ext>
                </a:extLst>
              </a:tr>
            </a:tbl>
          </a:graphicData>
        </a:graphic>
      </p:graphicFrame>
      <p:grpSp>
        <p:nvGrpSpPr>
          <p:cNvPr id="90" name="그룹 89">
            <a:extLst>
              <a:ext uri="{FF2B5EF4-FFF2-40B4-BE49-F238E27FC236}">
                <a16:creationId xmlns:a16="http://schemas.microsoft.com/office/drawing/2014/main" id="{CECE5370-870A-6095-63E0-9D1AA4CAB5C5}"/>
              </a:ext>
            </a:extLst>
          </p:cNvPr>
          <p:cNvGrpSpPr/>
          <p:nvPr/>
        </p:nvGrpSpPr>
        <p:grpSpPr>
          <a:xfrm>
            <a:off x="317654" y="667364"/>
            <a:ext cx="3795422" cy="351189"/>
            <a:chOff x="760846" y="854534"/>
            <a:chExt cx="3795422" cy="351189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B23ED0B5-FC03-9EDB-552E-0251ED256C35}"/>
                </a:ext>
              </a:extLst>
            </p:cNvPr>
            <p:cNvSpPr txBox="1"/>
            <p:nvPr/>
          </p:nvSpPr>
          <p:spPr>
            <a:xfrm flipH="1">
              <a:off x="1171266" y="891629"/>
              <a:ext cx="338500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r>
                <a:rPr lang="ko-KR" altLang="en-US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사업관리</a:t>
              </a:r>
            </a:p>
          </p:txBody>
        </p: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C1624E86-EDCB-71A7-0741-0C7CBE2744F1}"/>
                </a:ext>
              </a:extLst>
            </p:cNvPr>
            <p:cNvGrpSpPr/>
            <p:nvPr/>
          </p:nvGrpSpPr>
          <p:grpSpPr>
            <a:xfrm>
              <a:off x="760846" y="854534"/>
              <a:ext cx="324620" cy="351189"/>
              <a:chOff x="539750" y="2917808"/>
              <a:chExt cx="526237" cy="526236"/>
            </a:xfrm>
          </p:grpSpPr>
          <p:sp>
            <p:nvSpPr>
              <p:cNvPr id="93" name="모서리가 둥근 직사각형 4">
                <a:extLst>
                  <a:ext uri="{FF2B5EF4-FFF2-40B4-BE49-F238E27FC236}">
                    <a16:creationId xmlns:a16="http://schemas.microsoft.com/office/drawing/2014/main" id="{FB990D4C-A124-BFD5-1396-36778953D0B9}"/>
                  </a:ext>
                </a:extLst>
              </p:cNvPr>
              <p:cNvSpPr/>
              <p:nvPr/>
            </p:nvSpPr>
            <p:spPr>
              <a:xfrm>
                <a:off x="539750" y="2917808"/>
                <a:ext cx="526237" cy="526236"/>
              </a:xfrm>
              <a:prstGeom prst="roundRect">
                <a:avLst>
                  <a:gd name="adj" fmla="val 11229"/>
                </a:avLst>
              </a:prstGeom>
              <a:solidFill>
                <a:srgbClr val="00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0AE09AF-7851-9313-985A-E20C908F8363}"/>
                  </a:ext>
                </a:extLst>
              </p:cNvPr>
              <p:cNvSpPr txBox="1"/>
              <p:nvPr/>
            </p:nvSpPr>
            <p:spPr>
              <a:xfrm flipH="1">
                <a:off x="636582" y="2952530"/>
                <a:ext cx="338951" cy="46118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#</a:t>
                </a:r>
              </a:p>
            </p:txBody>
          </p:sp>
        </p:grpSp>
      </p:grpSp>
      <p:sp>
        <p:nvSpPr>
          <p:cNvPr id="95" name="Text Box 37">
            <a:extLst>
              <a:ext uri="{FF2B5EF4-FFF2-40B4-BE49-F238E27FC236}">
                <a16:creationId xmlns:a16="http://schemas.microsoft.com/office/drawing/2014/main" id="{F041B27B-47E0-6695-98A4-438E38B2E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952" y="1215900"/>
            <a:ext cx="6269248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1pPr>
            <a:lvl2pPr marL="742950" indent="-28575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2pPr>
            <a:lvl3pPr marL="11430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3pPr>
            <a:lvl4pPr marL="16002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4pPr>
            <a:lvl5pPr marL="20574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9pPr>
          </a:lstStyle>
          <a:p>
            <a:pPr eaLnBrk="1" latinLnBrk="0" hangingPunct="1">
              <a:lnSpc>
                <a:spcPct val="120000"/>
              </a:lnSpc>
              <a:defRPr/>
            </a:pP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2. SLA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관리</a:t>
            </a:r>
            <a:endParaRPr lang="en-US" altLang="ko-KR" sz="1200" dirty="0">
              <a:solidFill>
                <a:srgbClr val="000000">
                  <a:lumMod val="75000"/>
                  <a:lumOff val="25000"/>
                </a:srgbClr>
              </a:solidFill>
              <a:latin typeface="+mn-ea"/>
              <a:ea typeface="+mn-ea"/>
              <a:cs typeface="Arial" pitchFamily="34" charset="0"/>
            </a:endParaRPr>
          </a:p>
          <a:p>
            <a:pPr eaLnBrk="1" latinLnBrk="0" hangingPunct="1">
              <a:lnSpc>
                <a:spcPct val="120000"/>
              </a:lnSpc>
              <a:defRPr/>
            </a:pP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2.2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목표</a:t>
            </a: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수립</a:t>
            </a:r>
          </a:p>
        </p:txBody>
      </p:sp>
      <p:grpSp>
        <p:nvGrpSpPr>
          <p:cNvPr id="96" name="그룹 215">
            <a:extLst>
              <a:ext uri="{FF2B5EF4-FFF2-40B4-BE49-F238E27FC236}">
                <a16:creationId xmlns:a16="http://schemas.microsoft.com/office/drawing/2014/main" id="{40683BC4-C357-EE42-17D6-7A001B85C3EF}"/>
              </a:ext>
            </a:extLst>
          </p:cNvPr>
          <p:cNvGrpSpPr>
            <a:grpSpLocks/>
          </p:cNvGrpSpPr>
          <p:nvPr/>
        </p:nvGrpSpPr>
        <p:grpSpPr bwMode="auto">
          <a:xfrm>
            <a:off x="296863" y="1647717"/>
            <a:ext cx="6219825" cy="1158780"/>
            <a:chOff x="333374" y="1849606"/>
            <a:chExt cx="6219826" cy="1159040"/>
          </a:xfrm>
        </p:grpSpPr>
        <p:sp>
          <p:nvSpPr>
            <p:cNvPr id="97" name="AutoShape 84">
              <a:extLst>
                <a:ext uri="{FF2B5EF4-FFF2-40B4-BE49-F238E27FC236}">
                  <a16:creationId xmlns:a16="http://schemas.microsoft.com/office/drawing/2014/main" id="{3F51E8C3-07C4-6D3F-F3C4-36E96FB1D9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588" y="2018243"/>
              <a:ext cx="5929399" cy="759609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1pPr>
              <a:lvl2pPr marL="742950" indent="-28575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2pPr>
              <a:lvl3pPr marL="1143000" indent="-2286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3pPr>
              <a:lvl4pPr marL="1600200" indent="-2286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4pPr>
              <a:lvl5pPr marL="2057400" indent="-2286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9pPr>
            </a:lstStyle>
            <a:p>
              <a:pPr algn="just" eaLnBrk="1" latinLnBrk="0" hangingPunct="1">
                <a:lnSpc>
                  <a:spcPct val="120000"/>
                </a:lnSpc>
                <a:spcAft>
                  <a:spcPts val="0"/>
                </a:spcAft>
                <a:defRPr/>
              </a:pP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제안사는 유지보수의 결과를 토대로 관리항목별 월 단위 서비스 수준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(SLA)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목표를 설정하며 체계적으로 목표수준 달성을 위한 역할 및 업무 수행정의를 통해 서비스 요구사항에 대한 최상 수준의 운영서비스를 제공할 수 있도록 서비스 수준 목표를 수립합니다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. 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또한 서비스 수준 목표를 수립함에 있어서 장비의 이중화와 중요도를 포함하여 목표를 합리화 합니다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.</a:t>
              </a:r>
            </a:p>
          </p:txBody>
        </p:sp>
        <p:grpSp>
          <p:nvGrpSpPr>
            <p:cNvPr id="98" name="그룹 217">
              <a:extLst>
                <a:ext uri="{FF2B5EF4-FFF2-40B4-BE49-F238E27FC236}">
                  <a16:creationId xmlns:a16="http://schemas.microsoft.com/office/drawing/2014/main" id="{90B1DC35-88FE-AB32-4FD4-F5FE44D41F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3374" y="1849606"/>
              <a:ext cx="6219826" cy="1159040"/>
              <a:chOff x="342900" y="1822561"/>
              <a:chExt cx="6148388" cy="1159040"/>
            </a:xfrm>
          </p:grpSpPr>
          <p:cxnSp>
            <p:nvCxnSpPr>
              <p:cNvPr id="99" name="직선 연결선 98">
                <a:extLst>
                  <a:ext uri="{FF2B5EF4-FFF2-40B4-BE49-F238E27FC236}">
                    <a16:creationId xmlns:a16="http://schemas.microsoft.com/office/drawing/2014/main" id="{412E1C77-CF07-DF0E-2781-A63B875ABE6A}"/>
                  </a:ext>
                </a:extLst>
              </p:cNvPr>
              <p:cNvCxnSpPr/>
              <p:nvPr/>
            </p:nvCxnSpPr>
            <p:spPr>
              <a:xfrm>
                <a:off x="342900" y="1905130"/>
                <a:ext cx="6148388" cy="0"/>
              </a:xfrm>
              <a:prstGeom prst="line">
                <a:avLst/>
              </a:prstGeom>
              <a:ln w="12700">
                <a:solidFill>
                  <a:srgbClr val="ADAD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>
                <a:extLst>
                  <a:ext uri="{FF2B5EF4-FFF2-40B4-BE49-F238E27FC236}">
                    <a16:creationId xmlns:a16="http://schemas.microsoft.com/office/drawing/2014/main" id="{68000FB0-B449-959F-6506-C14D7BBE1786}"/>
                  </a:ext>
                </a:extLst>
              </p:cNvPr>
              <p:cNvCxnSpPr/>
              <p:nvPr/>
            </p:nvCxnSpPr>
            <p:spPr bwMode="auto">
              <a:xfrm>
                <a:off x="342900" y="1901954"/>
                <a:ext cx="0" cy="1079647"/>
              </a:xfrm>
              <a:prstGeom prst="line">
                <a:avLst/>
              </a:prstGeom>
              <a:ln w="12700">
                <a:solidFill>
                  <a:srgbClr val="ADAD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연결선 118">
                <a:extLst>
                  <a:ext uri="{FF2B5EF4-FFF2-40B4-BE49-F238E27FC236}">
                    <a16:creationId xmlns:a16="http://schemas.microsoft.com/office/drawing/2014/main" id="{1222A9E0-5433-38E7-837C-4A44CB18057F}"/>
                  </a:ext>
                </a:extLst>
              </p:cNvPr>
              <p:cNvCxnSpPr/>
              <p:nvPr/>
            </p:nvCxnSpPr>
            <p:spPr bwMode="auto">
              <a:xfrm>
                <a:off x="6387716" y="1822561"/>
                <a:ext cx="103572" cy="80980"/>
              </a:xfrm>
              <a:prstGeom prst="line">
                <a:avLst/>
              </a:prstGeom>
              <a:ln w="12700">
                <a:solidFill>
                  <a:srgbClr val="ADAD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45494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그룹 215"/>
          <p:cNvGrpSpPr>
            <a:grpSpLocks/>
          </p:cNvGrpSpPr>
          <p:nvPr/>
        </p:nvGrpSpPr>
        <p:grpSpPr bwMode="auto">
          <a:xfrm>
            <a:off x="296863" y="1653475"/>
            <a:ext cx="6219825" cy="1509735"/>
            <a:chOff x="333374" y="1849606"/>
            <a:chExt cx="6219826" cy="1510074"/>
          </a:xfrm>
        </p:grpSpPr>
        <p:sp>
          <p:nvSpPr>
            <p:cNvPr id="102" name="AutoShape 84"/>
            <p:cNvSpPr>
              <a:spLocks noChangeArrowheads="1"/>
            </p:cNvSpPr>
            <p:nvPr/>
          </p:nvSpPr>
          <p:spPr bwMode="auto">
            <a:xfrm>
              <a:off x="478588" y="2018243"/>
              <a:ext cx="5929399" cy="1341437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1pPr>
              <a:lvl2pPr marL="742950" indent="-28575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2pPr>
              <a:lvl3pPr marL="1143000" indent="-2286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3pPr>
              <a:lvl4pPr marL="1600200" indent="-2286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4pPr>
              <a:lvl5pPr marL="2057400" indent="-2286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9pPr>
            </a:lstStyle>
            <a:p>
              <a:pPr algn="just" eaLnBrk="1" latinLnBrk="0" hangingPunct="1">
                <a:lnSpc>
                  <a:spcPct val="120000"/>
                </a:lnSpc>
                <a:spcAft>
                  <a:spcPts val="0"/>
                </a:spcAft>
                <a:defRPr/>
              </a:pP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업무시스템 운영관리 서비스의 효율성 측정을 위한 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SLA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지표들을 체계적으로 도출하기 위해서는 고객사의 업무 현황에서부터 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IT 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수준 및 운영 현황까지 참고하여 전체적으로 조망할 수 있는 틀이 필요합니다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. 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제안사에서는 어떠한 속성들로 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SLA 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지표를 선정해야 하는지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, 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어떻게 지표들의 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Pool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을 구성해야 하는지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, 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이렇게 구성된 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Pool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에서 어떻게 적합한 지표들을 선택해야 하는지에 대한 과학적이고 전체적인 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SLA 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지표 선정 프레임워크를 제안 합니다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. 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이러한 프레임워크를 통하여 고객사의 비즈니스 및 서비스 요구와 직접적이고 긴밀하게 연계된 항목을 선정함으로써 유지보수운영 효율로 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XXXX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의 만족도를 극대화 시킬 수 있습니다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.</a:t>
              </a:r>
            </a:p>
          </p:txBody>
        </p:sp>
        <p:grpSp>
          <p:nvGrpSpPr>
            <p:cNvPr id="103" name="그룹 217"/>
            <p:cNvGrpSpPr>
              <a:grpSpLocks/>
            </p:cNvGrpSpPr>
            <p:nvPr/>
          </p:nvGrpSpPr>
          <p:grpSpPr bwMode="auto">
            <a:xfrm>
              <a:off x="333374" y="1849606"/>
              <a:ext cx="6219826" cy="1510074"/>
              <a:chOff x="342900" y="1822561"/>
              <a:chExt cx="6148388" cy="1510074"/>
            </a:xfrm>
          </p:grpSpPr>
          <p:cxnSp>
            <p:nvCxnSpPr>
              <p:cNvPr id="104" name="직선 연결선 103"/>
              <p:cNvCxnSpPr/>
              <p:nvPr/>
            </p:nvCxnSpPr>
            <p:spPr>
              <a:xfrm>
                <a:off x="342900" y="1905130"/>
                <a:ext cx="6148388" cy="0"/>
              </a:xfrm>
              <a:prstGeom prst="line">
                <a:avLst/>
              </a:prstGeom>
              <a:ln w="12700">
                <a:solidFill>
                  <a:srgbClr val="ADAD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>
                <a:cxnSpLocks/>
              </p:cNvCxnSpPr>
              <p:nvPr/>
            </p:nvCxnSpPr>
            <p:spPr bwMode="auto">
              <a:xfrm>
                <a:off x="342900" y="1901954"/>
                <a:ext cx="0" cy="1430681"/>
              </a:xfrm>
              <a:prstGeom prst="line">
                <a:avLst/>
              </a:prstGeom>
              <a:ln w="12700">
                <a:solidFill>
                  <a:srgbClr val="ADAD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 bwMode="auto">
              <a:xfrm>
                <a:off x="6387716" y="1822561"/>
                <a:ext cx="103572" cy="80980"/>
              </a:xfrm>
              <a:prstGeom prst="line">
                <a:avLst/>
              </a:prstGeom>
              <a:ln w="12700">
                <a:solidFill>
                  <a:srgbClr val="ADAD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7" name="그룹 1"/>
          <p:cNvGrpSpPr>
            <a:grpSpLocks/>
          </p:cNvGrpSpPr>
          <p:nvPr/>
        </p:nvGrpSpPr>
        <p:grpSpPr bwMode="auto">
          <a:xfrm>
            <a:off x="292100" y="3358898"/>
            <a:ext cx="6270625" cy="385763"/>
            <a:chOff x="292100" y="2959098"/>
            <a:chExt cx="6270625" cy="385765"/>
          </a:xfrm>
        </p:grpSpPr>
        <p:grpSp>
          <p:nvGrpSpPr>
            <p:cNvPr id="108" name="그룹 107"/>
            <p:cNvGrpSpPr>
              <a:grpSpLocks/>
            </p:cNvGrpSpPr>
            <p:nvPr/>
          </p:nvGrpSpPr>
          <p:grpSpPr bwMode="auto">
            <a:xfrm>
              <a:off x="292100" y="2959098"/>
              <a:ext cx="6270625" cy="385765"/>
              <a:chOff x="334963" y="3573461"/>
              <a:chExt cx="6271218" cy="386316"/>
            </a:xfrm>
          </p:grpSpPr>
          <p:grpSp>
            <p:nvGrpSpPr>
              <p:cNvPr id="110" name="그룹 50"/>
              <p:cNvGrpSpPr>
                <a:grpSpLocks/>
              </p:cNvGrpSpPr>
              <p:nvPr/>
            </p:nvGrpSpPr>
            <p:grpSpPr bwMode="auto">
              <a:xfrm>
                <a:off x="334963" y="3573461"/>
                <a:ext cx="6271218" cy="262313"/>
                <a:chOff x="335633" y="3489640"/>
                <a:chExt cx="6270543" cy="262915"/>
              </a:xfrm>
            </p:grpSpPr>
            <p:sp>
              <p:nvSpPr>
                <p:cNvPr id="115" name="직사각형 262"/>
                <p:cNvSpPr>
                  <a:spLocks noChangeArrowheads="1"/>
                </p:cNvSpPr>
                <p:nvPr/>
              </p:nvSpPr>
              <p:spPr bwMode="auto">
                <a:xfrm>
                  <a:off x="335633" y="3489640"/>
                  <a:ext cx="6270543" cy="262915"/>
                </a:xfrm>
                <a:prstGeom prst="rect">
                  <a:avLst/>
                </a:prstGeom>
                <a:gradFill flip="none" rotWithShape="1">
                  <a:gsLst>
                    <a:gs pos="33000">
                      <a:srgbClr val="1295EE"/>
                    </a:gs>
                    <a:gs pos="0">
                      <a:srgbClr val="0B629D"/>
                    </a:gs>
                    <a:gs pos="12000">
                      <a:srgbClr val="0E76BC"/>
                    </a:gs>
                  </a:gsLst>
                  <a:lin ang="36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latinLnBrk="0">
                    <a:defRPr/>
                  </a:pPr>
                  <a:endParaRPr lang="ko-KR" altLang="en-US" sz="1000" dirty="0">
                    <a:solidFill>
                      <a:srgbClr val="FFFFFF"/>
                    </a:solidFill>
                    <a:latin typeface="+mn-ea"/>
                    <a:cs typeface="Arial" pitchFamily="34" charset="0"/>
                  </a:endParaRPr>
                </a:p>
              </p:txBody>
            </p:sp>
            <p:cxnSp>
              <p:nvCxnSpPr>
                <p:cNvPr id="116" name="직선 연결선 26"/>
                <p:cNvCxnSpPr>
                  <a:cxnSpLocks noChangeShapeType="1"/>
                </p:cNvCxnSpPr>
                <p:nvPr/>
              </p:nvCxnSpPr>
              <p:spPr bwMode="auto">
                <a:xfrm>
                  <a:off x="553763" y="3618068"/>
                  <a:ext cx="138933" cy="0"/>
                </a:xfrm>
                <a:prstGeom prst="line">
                  <a:avLst/>
                </a:prstGeom>
                <a:noFill/>
                <a:ln w="12700" algn="ctr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17" name="Text Box 34"/>
                <p:cNvSpPr txBox="1">
                  <a:spLocks noChangeArrowheads="1"/>
                </p:cNvSpPr>
                <p:nvPr/>
              </p:nvSpPr>
              <p:spPr bwMode="gray">
                <a:xfrm>
                  <a:off x="764704" y="3535954"/>
                  <a:ext cx="5697056" cy="1699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0"/>
                  </a:sp3d>
                </a:bodyPr>
                <a:lstStyle>
                  <a:lvl1pPr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1pPr>
                  <a:lvl2pPr marL="742950" indent="-28575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2pPr>
                  <a:lvl3pPr marL="11430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3pPr>
                  <a:lvl4pPr marL="16002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4pPr>
                  <a:lvl5pPr marL="20574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5pPr>
                  <a:lvl6pPr marL="25146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6pPr>
                  <a:lvl7pPr marL="29718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7pPr>
                  <a:lvl8pPr marL="34290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8pPr>
                  <a:lvl9pPr marL="38862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9pPr>
                </a:lstStyle>
                <a:p>
                  <a:pPr eaLnBrk="1" latinLnBrk="0" hangingPunct="1">
                    <a:defRPr/>
                  </a:pPr>
                  <a:r>
                    <a:rPr lang="ko-KR" altLang="en-US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ea"/>
                      <a:ea typeface="+mn-ea"/>
                      <a:cs typeface="Arial" pitchFamily="34" charset="0"/>
                    </a:rPr>
                    <a:t>서비스수준협약</a:t>
                  </a:r>
                  <a:r>
                    <a:rPr lang="en-US" altLang="ko-KR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ea"/>
                      <a:ea typeface="+mn-ea"/>
                      <a:cs typeface="Arial" pitchFamily="34" charset="0"/>
                    </a:rPr>
                    <a:t>(SLA) </a:t>
                  </a:r>
                  <a:r>
                    <a:rPr lang="ko-KR" altLang="en-US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ea"/>
                      <a:ea typeface="+mn-ea"/>
                      <a:cs typeface="Arial" pitchFamily="34" charset="0"/>
                    </a:rPr>
                    <a:t>기반 사업관리 방법 적용</a:t>
                  </a:r>
                </a:p>
              </p:txBody>
            </p:sp>
          </p:grpSp>
          <p:grpSp>
            <p:nvGrpSpPr>
              <p:cNvPr id="111" name="그룹 207"/>
              <p:cNvGrpSpPr>
                <a:grpSpLocks/>
              </p:cNvGrpSpPr>
              <p:nvPr/>
            </p:nvGrpSpPr>
            <p:grpSpPr bwMode="auto">
              <a:xfrm>
                <a:off x="1048569" y="3850655"/>
                <a:ext cx="5375678" cy="109122"/>
                <a:chOff x="1048569" y="3850655"/>
                <a:chExt cx="5375678" cy="109122"/>
              </a:xfrm>
            </p:grpSpPr>
            <p:pic>
              <p:nvPicPr>
                <p:cNvPr id="112" name="Picture 24" descr="악세사리"/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3" name="Picture 24" descr="악세사리"/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4" name="Picture 24" descr="악세사리"/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pic>
          <p:nvPicPr>
            <p:cNvPr id="109" name="Picture 184" descr="icon_a01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94" t="64084" r="6964" b="26581"/>
            <a:stretch>
              <a:fillRect/>
            </a:stretch>
          </p:blipFill>
          <p:spPr bwMode="auto">
            <a:xfrm>
              <a:off x="339725" y="2992438"/>
              <a:ext cx="169863" cy="18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6" name="그룹 16">
            <a:extLst>
              <a:ext uri="{FF2B5EF4-FFF2-40B4-BE49-F238E27FC236}">
                <a16:creationId xmlns:a16="http://schemas.microsoft.com/office/drawing/2014/main" id="{89F4255D-31D2-E81A-7E7A-CCDE5620BE08}"/>
              </a:ext>
            </a:extLst>
          </p:cNvPr>
          <p:cNvGrpSpPr>
            <a:grpSpLocks/>
          </p:cNvGrpSpPr>
          <p:nvPr/>
        </p:nvGrpSpPr>
        <p:grpSpPr bwMode="auto">
          <a:xfrm>
            <a:off x="342900" y="3804198"/>
            <a:ext cx="5246688" cy="169277"/>
            <a:chOff x="342900" y="3330737"/>
            <a:chExt cx="5246341" cy="170762"/>
          </a:xfrm>
        </p:grpSpPr>
        <p:pic>
          <p:nvPicPr>
            <p:cNvPr id="27" name="Picture 176" descr="1">
              <a:extLst>
                <a:ext uri="{FF2B5EF4-FFF2-40B4-BE49-F238E27FC236}">
                  <a16:creationId xmlns:a16="http://schemas.microsoft.com/office/drawing/2014/main" id="{9C2B08A7-79C8-194E-8C5F-C30A01887F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900" y="3370758"/>
              <a:ext cx="148389" cy="81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Text Box 34">
              <a:extLst>
                <a:ext uri="{FF2B5EF4-FFF2-40B4-BE49-F238E27FC236}">
                  <a16:creationId xmlns:a16="http://schemas.microsoft.com/office/drawing/2014/main" id="{0D43F75E-7794-F777-B9E9-6D97CE591CBA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41717" y="3330737"/>
              <a:ext cx="5047524" cy="170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1pPr>
              <a:lvl2pPr marL="742950" indent="-285750"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2pPr>
              <a:lvl3pPr marL="1143000" indent="-228600"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3pPr>
              <a:lvl4pPr marL="1600200" indent="-228600"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4pPr>
              <a:lvl5pPr marL="2057400" indent="-228600" defTabSz="7874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5pPr>
              <a:lvl6pPr marL="2514600" indent="-228600" defTabSz="787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6pPr>
              <a:lvl7pPr marL="2971800" indent="-228600" defTabSz="787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7pPr>
              <a:lvl8pPr marL="3429000" indent="-228600" defTabSz="787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8pPr>
              <a:lvl9pPr marL="3886200" indent="-228600" defTabSz="787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9pPr>
            </a:lstStyle>
            <a:p>
              <a:pPr eaLnBrk="1" latinLnBrk="0" hangingPunct="1">
                <a:defRPr/>
              </a:pPr>
              <a:r>
                <a:rPr lang="ko-KR" altLang="en-US" dirty="0">
                  <a:latin typeface="+mn-ea"/>
                  <a:ea typeface="+mn-ea"/>
                  <a:cs typeface="Arial" pitchFamily="34" charset="0"/>
                </a:rPr>
                <a:t>서비스수준협약</a:t>
              </a:r>
              <a:r>
                <a:rPr lang="en-US" altLang="ko-KR" dirty="0">
                  <a:latin typeface="+mn-ea"/>
                  <a:ea typeface="+mn-ea"/>
                  <a:cs typeface="Arial" pitchFamily="34" charset="0"/>
                </a:rPr>
                <a:t>(SLA) </a:t>
              </a:r>
              <a:r>
                <a:rPr lang="ko-KR" altLang="en-US" dirty="0">
                  <a:latin typeface="+mn-ea"/>
                  <a:ea typeface="+mn-ea"/>
                  <a:cs typeface="Arial" pitchFamily="34" charset="0"/>
                </a:rPr>
                <a:t>기반 사업 관리 체계</a:t>
              </a:r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CEF16947-5A82-6189-5696-8FA6387FDA90}"/>
              </a:ext>
            </a:extLst>
          </p:cNvPr>
          <p:cNvGrpSpPr/>
          <p:nvPr/>
        </p:nvGrpSpPr>
        <p:grpSpPr>
          <a:xfrm>
            <a:off x="270853" y="4316002"/>
            <a:ext cx="6270174" cy="509588"/>
            <a:chOff x="270854" y="7179716"/>
            <a:chExt cx="5021967" cy="509588"/>
          </a:xfrm>
        </p:grpSpPr>
        <p:grpSp>
          <p:nvGrpSpPr>
            <p:cNvPr id="90" name="Group 141">
              <a:extLst>
                <a:ext uri="{FF2B5EF4-FFF2-40B4-BE49-F238E27FC236}">
                  <a16:creationId xmlns:a16="http://schemas.microsoft.com/office/drawing/2014/main" id="{248D52B0-2D42-925E-45C9-9C61CDF009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0854" y="7179716"/>
              <a:ext cx="1347928" cy="509588"/>
              <a:chOff x="1023" y="1490"/>
              <a:chExt cx="1050" cy="321"/>
            </a:xfrm>
          </p:grpSpPr>
          <p:sp>
            <p:nvSpPr>
              <p:cNvPr id="118" name="Freeform 585">
                <a:extLst>
                  <a:ext uri="{FF2B5EF4-FFF2-40B4-BE49-F238E27FC236}">
                    <a16:creationId xmlns:a16="http://schemas.microsoft.com/office/drawing/2014/main" id="{E908D6AA-24C5-9F7F-701A-B3A5B71C3E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1" y="1544"/>
                <a:ext cx="122" cy="199"/>
              </a:xfrm>
              <a:custGeom>
                <a:avLst/>
                <a:gdLst>
                  <a:gd name="T0" fmla="*/ 0 w 99"/>
                  <a:gd name="T1" fmla="*/ 0 h 240"/>
                  <a:gd name="T2" fmla="*/ 2147483647 w 99"/>
                  <a:gd name="T3" fmla="*/ 1780621857 h 240"/>
                  <a:gd name="T4" fmla="*/ 2147483647 w 99"/>
                  <a:gd name="T5" fmla="*/ 1780621857 h 240"/>
                  <a:gd name="T6" fmla="*/ 0 w 99"/>
                  <a:gd name="T7" fmla="*/ 0 h 24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240"/>
                  <a:gd name="T14" fmla="*/ 99 w 99"/>
                  <a:gd name="T15" fmla="*/ 240 h 24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240">
                    <a:moveTo>
                      <a:pt x="0" y="0"/>
                    </a:moveTo>
                    <a:lnTo>
                      <a:pt x="99" y="129"/>
                    </a:lnTo>
                    <a:lnTo>
                      <a:pt x="12" y="2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47C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82630" tIns="42968" rIns="82630" bIns="42968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  <p:sp>
            <p:nvSpPr>
              <p:cNvPr id="119" name="AutoShape 586">
                <a:extLst>
                  <a:ext uri="{FF2B5EF4-FFF2-40B4-BE49-F238E27FC236}">
                    <a16:creationId xmlns:a16="http://schemas.microsoft.com/office/drawing/2014/main" id="{A7F92315-20AD-9E92-6C4A-742F09937F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3" y="1490"/>
                <a:ext cx="1005" cy="321"/>
              </a:xfrm>
              <a:prstGeom prst="homePlate">
                <a:avLst>
                  <a:gd name="adj" fmla="val 39570"/>
                </a:avLst>
              </a:prstGeom>
              <a:solidFill>
                <a:srgbClr val="DDDDDD"/>
              </a:solidFill>
              <a:ln w="25400" algn="ctr">
                <a:solidFill>
                  <a:sysClr val="window" lastClr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41977" rIns="0" bIns="41977" anchor="ctr"/>
              <a:lstStyle/>
              <a:p>
                <a:pPr marL="0" marR="0" lvl="0" indent="0" algn="ctr" defTabSz="83978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i="0" u="none" strike="noStrike" kern="0" cap="none" spc="0" normalizeH="0" baseline="0" noProof="0" dirty="0">
                    <a:ln>
                      <a:noFill/>
                    </a:ln>
                    <a:solidFill>
                      <a:srgbClr val="1C1C1C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측정 항목 도출</a:t>
                </a:r>
                <a:endParaRPr kumimoji="0" lang="ko-KR" altLang="ko-KR" sz="1050" i="0" u="none" strike="noStrike" kern="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</p:grpSp>
        <p:grpSp>
          <p:nvGrpSpPr>
            <p:cNvPr id="91" name="Group 125">
              <a:extLst>
                <a:ext uri="{FF2B5EF4-FFF2-40B4-BE49-F238E27FC236}">
                  <a16:creationId xmlns:a16="http://schemas.microsoft.com/office/drawing/2014/main" id="{B19C1259-11C6-65A9-360D-94EEEC6A27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65806" y="7179716"/>
              <a:ext cx="1396710" cy="509588"/>
              <a:chOff x="1636" y="2301"/>
              <a:chExt cx="982" cy="289"/>
            </a:xfrm>
          </p:grpSpPr>
          <p:sp>
            <p:nvSpPr>
              <p:cNvPr id="98" name="Freeform 587">
                <a:extLst>
                  <a:ext uri="{FF2B5EF4-FFF2-40B4-BE49-F238E27FC236}">
                    <a16:creationId xmlns:a16="http://schemas.microsoft.com/office/drawing/2014/main" id="{1799F47A-053A-DEF7-B695-E3FE5CB7EE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9" y="2350"/>
                <a:ext cx="109" cy="179"/>
              </a:xfrm>
              <a:custGeom>
                <a:avLst/>
                <a:gdLst>
                  <a:gd name="T0" fmla="*/ 0 w 99"/>
                  <a:gd name="T1" fmla="*/ 0 h 240"/>
                  <a:gd name="T2" fmla="*/ 2147483647 w 99"/>
                  <a:gd name="T3" fmla="*/ 1601664887 h 240"/>
                  <a:gd name="T4" fmla="*/ 2147483647 w 99"/>
                  <a:gd name="T5" fmla="*/ 1601664887 h 240"/>
                  <a:gd name="T6" fmla="*/ 0 w 99"/>
                  <a:gd name="T7" fmla="*/ 0 h 24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240"/>
                  <a:gd name="T14" fmla="*/ 99 w 99"/>
                  <a:gd name="T15" fmla="*/ 240 h 24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240">
                    <a:moveTo>
                      <a:pt x="0" y="0"/>
                    </a:moveTo>
                    <a:lnTo>
                      <a:pt x="99" y="129"/>
                    </a:lnTo>
                    <a:lnTo>
                      <a:pt x="12" y="2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47C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82630" tIns="42968" rIns="82630" bIns="42968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  <p:sp>
            <p:nvSpPr>
              <p:cNvPr id="99" name="AutoShape 588">
                <a:extLst>
                  <a:ext uri="{FF2B5EF4-FFF2-40B4-BE49-F238E27FC236}">
                    <a16:creationId xmlns:a16="http://schemas.microsoft.com/office/drawing/2014/main" id="{759144C9-D57D-0AFD-98F3-8A26EBFACE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6" y="2301"/>
                <a:ext cx="941" cy="289"/>
              </a:xfrm>
              <a:prstGeom prst="chevron">
                <a:avLst>
                  <a:gd name="adj" fmla="val 42299"/>
                </a:avLst>
              </a:prstGeom>
              <a:solidFill>
                <a:srgbClr val="DDDDDD"/>
              </a:solidFill>
              <a:ln w="25400" algn="ctr">
                <a:solidFill>
                  <a:sysClr val="window" lastClr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41977" rIns="0" bIns="41977" anchor="ctr"/>
              <a:lstStyle/>
              <a:p>
                <a:pPr marL="0" marR="0" lvl="0" indent="0" algn="ctr" defTabSz="83978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i="0" u="none" strike="noStrike" kern="0" cap="none" spc="0" normalizeH="0" baseline="0" noProof="0" dirty="0">
                    <a:ln>
                      <a:noFill/>
                    </a:ln>
                    <a:solidFill>
                      <a:srgbClr val="1C1C1C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측정항목 선정</a:t>
                </a:r>
                <a:endParaRPr kumimoji="0" lang="ko-KR" altLang="ko-KR" sz="1050" i="0" u="none" strike="noStrike" kern="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</p:grpSp>
        <p:grpSp>
          <p:nvGrpSpPr>
            <p:cNvPr id="92" name="Group 128">
              <a:extLst>
                <a:ext uri="{FF2B5EF4-FFF2-40B4-BE49-F238E27FC236}">
                  <a16:creationId xmlns:a16="http://schemas.microsoft.com/office/drawing/2014/main" id="{0BFC03F4-F19F-01E3-F99E-859D915C62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09541" y="7179716"/>
              <a:ext cx="1397993" cy="509588"/>
              <a:chOff x="2544" y="2301"/>
              <a:chExt cx="983" cy="289"/>
            </a:xfrm>
          </p:grpSpPr>
          <p:sp>
            <p:nvSpPr>
              <p:cNvPr id="96" name="Freeform 589">
                <a:extLst>
                  <a:ext uri="{FF2B5EF4-FFF2-40B4-BE49-F238E27FC236}">
                    <a16:creationId xmlns:a16="http://schemas.microsoft.com/office/drawing/2014/main" id="{53EA051C-1397-E3DE-5AB4-49AFCCD9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2350"/>
                <a:ext cx="110" cy="179"/>
              </a:xfrm>
              <a:custGeom>
                <a:avLst/>
                <a:gdLst>
                  <a:gd name="T0" fmla="*/ 0 w 99"/>
                  <a:gd name="T1" fmla="*/ 0 h 240"/>
                  <a:gd name="T2" fmla="*/ 2147483647 w 99"/>
                  <a:gd name="T3" fmla="*/ 1601664887 h 240"/>
                  <a:gd name="T4" fmla="*/ 2147483647 w 99"/>
                  <a:gd name="T5" fmla="*/ 1601664887 h 240"/>
                  <a:gd name="T6" fmla="*/ 0 w 99"/>
                  <a:gd name="T7" fmla="*/ 0 h 24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240"/>
                  <a:gd name="T14" fmla="*/ 99 w 99"/>
                  <a:gd name="T15" fmla="*/ 240 h 24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240">
                    <a:moveTo>
                      <a:pt x="0" y="0"/>
                    </a:moveTo>
                    <a:lnTo>
                      <a:pt x="99" y="129"/>
                    </a:lnTo>
                    <a:lnTo>
                      <a:pt x="12" y="2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47C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82630" tIns="42968" rIns="82630" bIns="42968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  <p:sp>
            <p:nvSpPr>
              <p:cNvPr id="97" name="AutoShape 590">
                <a:extLst>
                  <a:ext uri="{FF2B5EF4-FFF2-40B4-BE49-F238E27FC236}">
                    <a16:creationId xmlns:a16="http://schemas.microsoft.com/office/drawing/2014/main" id="{7B3F641E-DD55-23A9-550C-079C4404D4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2301"/>
                <a:ext cx="941" cy="289"/>
              </a:xfrm>
              <a:prstGeom prst="chevron">
                <a:avLst>
                  <a:gd name="adj" fmla="val 42299"/>
                </a:avLst>
              </a:prstGeom>
              <a:solidFill>
                <a:srgbClr val="DDDDDD"/>
              </a:solidFill>
              <a:ln w="25400" algn="ctr">
                <a:solidFill>
                  <a:sysClr val="window" lastClr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41977" rIns="0" bIns="41977" anchor="ctr"/>
              <a:lstStyle/>
              <a:p>
                <a:pPr marL="0" marR="0" lvl="0" indent="0" algn="ctr" defTabSz="83978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i="0" u="none" strike="noStrike" kern="0" cap="none" spc="0" normalizeH="0" baseline="0" noProof="0" dirty="0">
                    <a:ln>
                      <a:noFill/>
                    </a:ln>
                    <a:solidFill>
                      <a:srgbClr val="1C1C1C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측정항목 정의</a:t>
                </a:r>
                <a:endParaRPr kumimoji="0" lang="ko-KR" altLang="ko-KR" sz="1050" i="0" u="none" strike="noStrike" kern="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</p:grpSp>
        <p:sp>
          <p:nvSpPr>
            <p:cNvPr id="95" name="AutoShape 590">
              <a:extLst>
                <a:ext uri="{FF2B5EF4-FFF2-40B4-BE49-F238E27FC236}">
                  <a16:creationId xmlns:a16="http://schemas.microsoft.com/office/drawing/2014/main" id="{472CA3C3-FC17-F11F-69B4-233761E12F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4559" y="7179716"/>
              <a:ext cx="1338262" cy="509588"/>
            </a:xfrm>
            <a:prstGeom prst="chevron">
              <a:avLst>
                <a:gd name="adj" fmla="val 42299"/>
              </a:avLst>
            </a:prstGeom>
            <a:solidFill>
              <a:srgbClr val="DDDDDD"/>
            </a:solidFill>
            <a:ln w="25400" algn="ctr">
              <a:solidFill>
                <a:sysClr val="window" lastClr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1977" rIns="0" bIns="41977" anchor="ctr"/>
            <a:lstStyle/>
            <a:p>
              <a:pPr marL="0" marR="0" lvl="0" indent="0" algn="ctr" defTabSz="83978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i="0" u="none" strike="noStrike" kern="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목표치 설정</a:t>
              </a:r>
              <a:endParaRPr kumimoji="0" lang="ko-KR" altLang="ko-KR" sz="1050" i="0" u="none" strike="noStrike" kern="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5B1911D0-2F09-8EE9-ABFA-D66D2B43982B}"/>
              </a:ext>
            </a:extLst>
          </p:cNvPr>
          <p:cNvGrpSpPr/>
          <p:nvPr/>
        </p:nvGrpSpPr>
        <p:grpSpPr>
          <a:xfrm>
            <a:off x="260648" y="4850520"/>
            <a:ext cx="1458661" cy="4496953"/>
            <a:chOff x="260648" y="4091462"/>
            <a:chExt cx="1458661" cy="3678237"/>
          </a:xfrm>
        </p:grpSpPr>
        <p:sp>
          <p:nvSpPr>
            <p:cNvPr id="121" name="AutoShape 7">
              <a:extLst>
                <a:ext uri="{FF2B5EF4-FFF2-40B4-BE49-F238E27FC236}">
                  <a16:creationId xmlns:a16="http://schemas.microsoft.com/office/drawing/2014/main" id="{D0546CC8-AE8F-3D04-707A-A63307426FF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0648" y="4091462"/>
              <a:ext cx="1458661" cy="3678237"/>
            </a:xfrm>
            <a:prstGeom prst="roundRect">
              <a:avLst>
                <a:gd name="adj" fmla="val 4560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31765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 algn="ctr">
                  <a:solidFill>
                    <a:srgbClr val="4D4D4D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8948" tIns="0" rIns="95637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22" name="AutoShape 35">
              <a:extLst>
                <a:ext uri="{FF2B5EF4-FFF2-40B4-BE49-F238E27FC236}">
                  <a16:creationId xmlns:a16="http://schemas.microsoft.com/office/drawing/2014/main" id="{BAC6FFE4-1275-5A9A-CD2A-EDA854714C8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16683" y="4148612"/>
              <a:ext cx="1344839" cy="3475037"/>
            </a:xfrm>
            <a:prstGeom prst="roundRect">
              <a:avLst>
                <a:gd name="adj" fmla="val 6509"/>
              </a:avLst>
            </a:prstGeom>
            <a:solidFill>
              <a:sysClr val="window" lastClr="FFFFFF"/>
            </a:solidFill>
            <a:ln w="31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8948" tIns="0" rIns="95637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1171D3AF-9235-2849-12FC-63FEC6CAFC78}"/>
              </a:ext>
            </a:extLst>
          </p:cNvPr>
          <p:cNvGrpSpPr/>
          <p:nvPr/>
        </p:nvGrpSpPr>
        <p:grpSpPr>
          <a:xfrm>
            <a:off x="1784391" y="4850520"/>
            <a:ext cx="1458661" cy="4496953"/>
            <a:chOff x="1784391" y="4091462"/>
            <a:chExt cx="1458661" cy="3678237"/>
          </a:xfrm>
        </p:grpSpPr>
        <p:sp>
          <p:nvSpPr>
            <p:cNvPr id="124" name="AutoShape 8">
              <a:extLst>
                <a:ext uri="{FF2B5EF4-FFF2-40B4-BE49-F238E27FC236}">
                  <a16:creationId xmlns:a16="http://schemas.microsoft.com/office/drawing/2014/main" id="{853B50DC-2BE2-DD37-9B35-116961AE3DC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84391" y="4091462"/>
              <a:ext cx="1458661" cy="3678237"/>
            </a:xfrm>
            <a:prstGeom prst="roundRect">
              <a:avLst>
                <a:gd name="adj" fmla="val 4560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31765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 algn="ctr">
                  <a:solidFill>
                    <a:srgbClr val="4D4D4D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8948" tIns="0" rIns="95637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25" name="AutoShape 36">
              <a:extLst>
                <a:ext uri="{FF2B5EF4-FFF2-40B4-BE49-F238E27FC236}">
                  <a16:creationId xmlns:a16="http://schemas.microsoft.com/office/drawing/2014/main" id="{13663F14-AA60-B352-AAD0-ADFAE575A03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840426" y="4148612"/>
              <a:ext cx="1344839" cy="3475037"/>
            </a:xfrm>
            <a:prstGeom prst="roundRect">
              <a:avLst>
                <a:gd name="adj" fmla="val 6509"/>
              </a:avLst>
            </a:prstGeom>
            <a:solidFill>
              <a:sysClr val="window" lastClr="FFFFFF"/>
            </a:solidFill>
            <a:ln w="31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8948" tIns="0" rIns="95637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30F6E20E-CAFB-E338-B5B3-3BD2053916ED}"/>
              </a:ext>
            </a:extLst>
          </p:cNvPr>
          <p:cNvGrpSpPr/>
          <p:nvPr/>
        </p:nvGrpSpPr>
        <p:grpSpPr>
          <a:xfrm>
            <a:off x="3368567" y="4850520"/>
            <a:ext cx="1458661" cy="4496953"/>
            <a:chOff x="3368567" y="4091462"/>
            <a:chExt cx="1458661" cy="3678237"/>
          </a:xfrm>
        </p:grpSpPr>
        <p:sp>
          <p:nvSpPr>
            <p:cNvPr id="127" name="AutoShape 9">
              <a:extLst>
                <a:ext uri="{FF2B5EF4-FFF2-40B4-BE49-F238E27FC236}">
                  <a16:creationId xmlns:a16="http://schemas.microsoft.com/office/drawing/2014/main" id="{C74E1798-F1B6-04DB-9DFB-DA360E57659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368567" y="4091462"/>
              <a:ext cx="1458661" cy="3678237"/>
            </a:xfrm>
            <a:prstGeom prst="roundRect">
              <a:avLst>
                <a:gd name="adj" fmla="val 4560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31765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 algn="ctr">
                  <a:solidFill>
                    <a:srgbClr val="4D4D4D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8948" tIns="0" rIns="95637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28" name="AutoShape 37">
              <a:extLst>
                <a:ext uri="{FF2B5EF4-FFF2-40B4-BE49-F238E27FC236}">
                  <a16:creationId xmlns:a16="http://schemas.microsoft.com/office/drawing/2014/main" id="{A3245477-A4E2-3FEA-E320-E5BA25EA827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424602" y="4148612"/>
              <a:ext cx="1344839" cy="3475037"/>
            </a:xfrm>
            <a:prstGeom prst="roundRect">
              <a:avLst>
                <a:gd name="adj" fmla="val 6509"/>
              </a:avLst>
            </a:prstGeom>
            <a:solidFill>
              <a:sysClr val="window" lastClr="FFFFFF"/>
            </a:solidFill>
            <a:ln w="31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8948" tIns="0" rIns="95637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22A3A269-A3E3-C100-BBEC-DFD53168C504}"/>
              </a:ext>
            </a:extLst>
          </p:cNvPr>
          <p:cNvGrpSpPr/>
          <p:nvPr/>
        </p:nvGrpSpPr>
        <p:grpSpPr>
          <a:xfrm>
            <a:off x="4906443" y="4850520"/>
            <a:ext cx="1458661" cy="4496953"/>
            <a:chOff x="4906443" y="4091462"/>
            <a:chExt cx="1458661" cy="3678237"/>
          </a:xfrm>
        </p:grpSpPr>
        <p:sp>
          <p:nvSpPr>
            <p:cNvPr id="130" name="AutoShape 10">
              <a:extLst>
                <a:ext uri="{FF2B5EF4-FFF2-40B4-BE49-F238E27FC236}">
                  <a16:creationId xmlns:a16="http://schemas.microsoft.com/office/drawing/2014/main" id="{7E0485A1-83F2-2023-5880-61136E71A66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906443" y="4091462"/>
              <a:ext cx="1458661" cy="3678237"/>
            </a:xfrm>
            <a:prstGeom prst="roundRect">
              <a:avLst>
                <a:gd name="adj" fmla="val 4560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31765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 algn="ctr">
                  <a:solidFill>
                    <a:srgbClr val="4D4D4D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8948" tIns="0" rIns="95637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31" name="AutoShape 38">
              <a:extLst>
                <a:ext uri="{FF2B5EF4-FFF2-40B4-BE49-F238E27FC236}">
                  <a16:creationId xmlns:a16="http://schemas.microsoft.com/office/drawing/2014/main" id="{757BC55A-DB1D-5276-364D-C73CBF38315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962478" y="4148612"/>
              <a:ext cx="1344839" cy="3475037"/>
            </a:xfrm>
            <a:prstGeom prst="roundRect">
              <a:avLst>
                <a:gd name="adj" fmla="val 6509"/>
              </a:avLst>
            </a:prstGeom>
            <a:solidFill>
              <a:sysClr val="window" lastClr="FFFFFF"/>
            </a:solidFill>
            <a:ln w="31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8948" tIns="0" rIns="95637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sp>
        <p:nvSpPr>
          <p:cNvPr id="132" name="Text Box 39">
            <a:extLst>
              <a:ext uri="{FF2B5EF4-FFF2-40B4-BE49-F238E27FC236}">
                <a16:creationId xmlns:a16="http://schemas.microsoft.com/office/drawing/2014/main" id="{E1EFBF82-A7B6-E907-A2F7-D9C96E2BF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740" y="5096692"/>
            <a:ext cx="1222263" cy="500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8F8F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379413" indent="-1143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679450" indent="-1206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1588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338263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17954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2526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27098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1670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fontAlgn="ctr" latinLnBrk="0">
              <a:lnSpc>
                <a:spcPct val="120000"/>
              </a:lnSpc>
              <a:spcBef>
                <a:spcPts val="0"/>
              </a:spcBef>
              <a:spcAft>
                <a:spcPct val="20000"/>
              </a:spcAft>
              <a:buClr>
                <a:srgbClr val="84B2CC"/>
              </a:buClr>
              <a:buSzPct val="50000"/>
              <a:buFont typeface="Wingdings" pitchFamily="2" charset="2"/>
              <a:buNone/>
            </a:pPr>
            <a:r>
              <a:rPr lang="ko-KR" altLang="en-US" sz="1050" b="0" dirty="0" err="1">
                <a:solidFill>
                  <a:prstClr val="black"/>
                </a:solidFill>
                <a:latin typeface="+mn-ea"/>
                <a:ea typeface="+mn-ea"/>
                <a:cs typeface="+mn-cs"/>
              </a:rPr>
              <a:t>고객사</a:t>
            </a:r>
            <a:r>
              <a:rPr lang="ko-KR" altLang="en-US" sz="1050" b="0" dirty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 운영 보고자료 조사 및 기존 </a:t>
            </a:r>
            <a:r>
              <a:rPr lang="en-US" altLang="ko-KR" sz="1050" b="0" dirty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SLA </a:t>
            </a:r>
            <a:r>
              <a:rPr lang="ko-KR" altLang="en-US" sz="1050" b="0" dirty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자료분석</a:t>
            </a:r>
          </a:p>
        </p:txBody>
      </p:sp>
      <p:sp>
        <p:nvSpPr>
          <p:cNvPr id="133" name="Text Box 40">
            <a:extLst>
              <a:ext uri="{FF2B5EF4-FFF2-40B4-BE49-F238E27FC236}">
                <a16:creationId xmlns:a16="http://schemas.microsoft.com/office/drawing/2014/main" id="{FA37479A-E590-FA27-1518-B2A86D17A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3234" y="5096692"/>
            <a:ext cx="1222263" cy="500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8F8F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379413" indent="-1143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679450" indent="-1206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1588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338263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17954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2526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27098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1670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fontAlgn="ctr" latinLnBrk="0">
              <a:lnSpc>
                <a:spcPct val="120000"/>
              </a:lnSpc>
              <a:spcBef>
                <a:spcPts val="0"/>
              </a:spcBef>
              <a:spcAft>
                <a:spcPct val="20000"/>
              </a:spcAft>
              <a:buClr>
                <a:srgbClr val="84B2CC"/>
              </a:buClr>
              <a:buSzPct val="50000"/>
              <a:buFont typeface="Wingdings" pitchFamily="2" charset="2"/>
              <a:buNone/>
            </a:pPr>
            <a:r>
              <a:rPr lang="ko-KR" altLang="en-US" sz="1050" b="0" dirty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영역별 담당자 전체 토의를 통해 측정항목을 선정</a:t>
            </a:r>
          </a:p>
        </p:txBody>
      </p:sp>
      <p:sp>
        <p:nvSpPr>
          <p:cNvPr id="134" name="Text Box 41">
            <a:extLst>
              <a:ext uri="{FF2B5EF4-FFF2-40B4-BE49-F238E27FC236}">
                <a16:creationId xmlns:a16="http://schemas.microsoft.com/office/drawing/2014/main" id="{E91A82F4-0D70-AB86-6838-55EE638769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9161" y="5096692"/>
            <a:ext cx="1222263" cy="36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8F8F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379413" indent="-1143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679450" indent="-1206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1588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338263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17954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2526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27098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1670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fontAlgn="ctr" latinLnBrk="0">
              <a:lnSpc>
                <a:spcPct val="120000"/>
              </a:lnSpc>
              <a:spcBef>
                <a:spcPts val="0"/>
              </a:spcBef>
              <a:spcAft>
                <a:spcPct val="20000"/>
              </a:spcAft>
              <a:buClr>
                <a:srgbClr val="84B2CC"/>
              </a:buClr>
              <a:buSzPct val="50000"/>
              <a:buFont typeface="Wingdings" pitchFamily="2" charset="2"/>
              <a:buNone/>
            </a:pPr>
            <a:r>
              <a:rPr lang="ko-KR" altLang="en-US" sz="1050" b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선정된 측정항목의 특성을 상세기술</a:t>
            </a:r>
          </a:p>
        </p:txBody>
      </p:sp>
      <p:sp>
        <p:nvSpPr>
          <p:cNvPr id="135" name="Text Box 42">
            <a:extLst>
              <a:ext uri="{FF2B5EF4-FFF2-40B4-BE49-F238E27FC236}">
                <a16:creationId xmlns:a16="http://schemas.microsoft.com/office/drawing/2014/main" id="{4FE30140-4482-71FF-4193-F356612D8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7037" y="5096692"/>
            <a:ext cx="1222263" cy="36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8F8F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379413" indent="-1143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679450" indent="-1206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158875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338263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17954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2526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27098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1670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fontAlgn="ctr" latinLnBrk="0">
              <a:lnSpc>
                <a:spcPct val="120000"/>
              </a:lnSpc>
              <a:spcBef>
                <a:spcPts val="0"/>
              </a:spcBef>
              <a:spcAft>
                <a:spcPct val="20000"/>
              </a:spcAft>
              <a:buClr>
                <a:srgbClr val="84B2CC"/>
              </a:buClr>
              <a:buSzPct val="50000"/>
              <a:buFont typeface="Wingdings" pitchFamily="2" charset="2"/>
              <a:buNone/>
            </a:pPr>
            <a:r>
              <a:rPr lang="ko-KR" altLang="en-US" sz="1050" b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세부 측정 항목별 목표치를 부여</a:t>
            </a:r>
          </a:p>
        </p:txBody>
      </p:sp>
      <p:grpSp>
        <p:nvGrpSpPr>
          <p:cNvPr id="136" name="Group 43">
            <a:extLst>
              <a:ext uri="{FF2B5EF4-FFF2-40B4-BE49-F238E27FC236}">
                <a16:creationId xmlns:a16="http://schemas.microsoft.com/office/drawing/2014/main" id="{06FC3C72-2689-CE12-9FC9-6176F8A1FCB0}"/>
              </a:ext>
            </a:extLst>
          </p:cNvPr>
          <p:cNvGrpSpPr>
            <a:grpSpLocks/>
          </p:cNvGrpSpPr>
          <p:nvPr/>
        </p:nvGrpSpPr>
        <p:grpSpPr bwMode="auto">
          <a:xfrm>
            <a:off x="391979" y="5934446"/>
            <a:ext cx="1160975" cy="519112"/>
            <a:chOff x="412" y="3529"/>
            <a:chExt cx="663" cy="327"/>
          </a:xfrm>
        </p:grpSpPr>
        <p:sp>
          <p:nvSpPr>
            <p:cNvPr id="137" name="AutoShape 44">
              <a:extLst>
                <a:ext uri="{FF2B5EF4-FFF2-40B4-BE49-F238E27FC236}">
                  <a16:creationId xmlns:a16="http://schemas.microsoft.com/office/drawing/2014/main" id="{D5621E7E-C940-F927-39FE-7174C0E1F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3529"/>
              <a:ext cx="648" cy="327"/>
            </a:xfrm>
            <a:prstGeom prst="roundRect">
              <a:avLst>
                <a:gd name="adj" fmla="val 10870"/>
              </a:avLst>
            </a:prstGeom>
            <a:gradFill rotWithShape="1">
              <a:gsLst>
                <a:gs pos="0">
                  <a:srgbClr val="9DCBF1"/>
                </a:gs>
                <a:gs pos="100000">
                  <a:srgbClr val="9DCBF1">
                    <a:gamma/>
                    <a:tint val="69804"/>
                    <a:invGamma/>
                  </a:srgbClr>
                </a:gs>
              </a:gsLst>
              <a:lin ang="270000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17961" dir="2700000" algn="ctr" rotWithShape="0">
                <a:srgbClr val="B2B2B2"/>
              </a:outerShdw>
            </a:effectLst>
          </p:spPr>
          <p:txBody>
            <a:bodyPr lIns="0" tIns="0" rIns="0" bIns="0" anchor="ctr"/>
            <a:lstStyle/>
            <a:p>
              <a:pPr algn="ctr" defTabSz="995363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1400">
                  <a:solidFill>
                    <a:prstClr val="black"/>
                  </a:solidFill>
                  <a:latin typeface="+mn-ea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138" name="Text Box 45">
              <a:extLst>
                <a:ext uri="{FF2B5EF4-FFF2-40B4-BE49-F238E27FC236}">
                  <a16:creationId xmlns:a16="http://schemas.microsoft.com/office/drawing/2014/main" id="{C32B801A-F7F1-E218-6921-F51B2D5DCD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12" y="3563"/>
              <a:ext cx="662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fontAlgn="auto" latinLnBrk="0">
                <a:spcBef>
                  <a:spcPct val="50000"/>
                </a:spcBef>
                <a:spcAft>
                  <a:spcPts val="0"/>
                </a:spcAft>
              </a:pPr>
              <a:r>
                <a:rPr kumimoji="0" lang="ko-KR" altLang="ko-KR" dirty="0" err="1">
                  <a:solidFill>
                    <a:prstClr val="black"/>
                  </a:solidFill>
                  <a:latin typeface="+mn-ea"/>
                  <a:ea typeface="+mn-ea"/>
                  <a:cs typeface="+mn-cs"/>
                </a:rPr>
                <a:t>고객사</a:t>
              </a:r>
              <a:br>
                <a:rPr kumimoji="0" lang="ko-KR" altLang="ko-KR" dirty="0">
                  <a:solidFill>
                    <a:prstClr val="black"/>
                  </a:solidFill>
                  <a:latin typeface="+mn-ea"/>
                  <a:ea typeface="+mn-ea"/>
                  <a:cs typeface="+mn-cs"/>
                </a:rPr>
              </a:br>
              <a:r>
                <a:rPr kumimoji="0" lang="ko-KR" altLang="ko-KR" dirty="0">
                  <a:solidFill>
                    <a:prstClr val="black"/>
                  </a:solidFill>
                  <a:latin typeface="+mn-ea"/>
                  <a:ea typeface="+mn-ea"/>
                  <a:cs typeface="+mn-cs"/>
                </a:rPr>
                <a:t>유지보수 현황</a:t>
              </a:r>
            </a:p>
          </p:txBody>
        </p:sp>
      </p:grpSp>
      <p:grpSp>
        <p:nvGrpSpPr>
          <p:cNvPr id="139" name="Group 46">
            <a:extLst>
              <a:ext uri="{FF2B5EF4-FFF2-40B4-BE49-F238E27FC236}">
                <a16:creationId xmlns:a16="http://schemas.microsoft.com/office/drawing/2014/main" id="{20D35F69-B88A-199A-B2DB-361223CDDA18}"/>
              </a:ext>
            </a:extLst>
          </p:cNvPr>
          <p:cNvGrpSpPr>
            <a:grpSpLocks/>
          </p:cNvGrpSpPr>
          <p:nvPr/>
        </p:nvGrpSpPr>
        <p:grpSpPr bwMode="auto">
          <a:xfrm>
            <a:off x="1903465" y="5934446"/>
            <a:ext cx="1159223" cy="519112"/>
            <a:chOff x="1316" y="3529"/>
            <a:chExt cx="662" cy="327"/>
          </a:xfrm>
        </p:grpSpPr>
        <p:sp>
          <p:nvSpPr>
            <p:cNvPr id="140" name="AutoShape 47">
              <a:extLst>
                <a:ext uri="{FF2B5EF4-FFF2-40B4-BE49-F238E27FC236}">
                  <a16:creationId xmlns:a16="http://schemas.microsoft.com/office/drawing/2014/main" id="{FE8C108D-A720-586D-7D41-8C249B1849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3" y="3529"/>
              <a:ext cx="648" cy="327"/>
            </a:xfrm>
            <a:prstGeom prst="roundRect">
              <a:avLst>
                <a:gd name="adj" fmla="val 10870"/>
              </a:avLst>
            </a:prstGeom>
            <a:gradFill rotWithShape="1">
              <a:gsLst>
                <a:gs pos="0">
                  <a:srgbClr val="9DCBF1"/>
                </a:gs>
                <a:gs pos="100000">
                  <a:srgbClr val="9DCBF1">
                    <a:gamma/>
                    <a:tint val="69804"/>
                    <a:invGamma/>
                  </a:srgbClr>
                </a:gs>
              </a:gsLst>
              <a:lin ang="270000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17961" dir="2700000" algn="ctr" rotWithShape="0">
                <a:srgbClr val="B2B2B2"/>
              </a:outerShdw>
            </a:effectLst>
          </p:spPr>
          <p:txBody>
            <a:bodyPr lIns="0" tIns="0" rIns="0" bIns="0" anchor="ctr"/>
            <a:lstStyle/>
            <a:p>
              <a:pPr algn="ctr" defTabSz="995363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1400">
                  <a:solidFill>
                    <a:prstClr val="black"/>
                  </a:solidFill>
                  <a:latin typeface="+mn-ea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141" name="Text Box 48">
              <a:extLst>
                <a:ext uri="{FF2B5EF4-FFF2-40B4-BE49-F238E27FC236}">
                  <a16:creationId xmlns:a16="http://schemas.microsoft.com/office/drawing/2014/main" id="{5227F90C-7617-F561-95C3-CB53A2210A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316" y="3617"/>
              <a:ext cx="662" cy="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fontAlgn="auto" latinLnBrk="0">
                <a:spcBef>
                  <a:spcPct val="50000"/>
                </a:spcBef>
                <a:spcAft>
                  <a:spcPts val="0"/>
                </a:spcAft>
              </a:pPr>
              <a:r>
                <a:rPr kumimoji="0" lang="ko-KR" altLang="ko-KR">
                  <a:solidFill>
                    <a:prstClr val="black"/>
                  </a:solidFill>
                  <a:latin typeface="+mn-ea"/>
                  <a:ea typeface="+mn-ea"/>
                  <a:cs typeface="+mn-cs"/>
                </a:rPr>
                <a:t>도출된 측정항목</a:t>
              </a:r>
            </a:p>
          </p:txBody>
        </p:sp>
      </p:grpSp>
      <p:grpSp>
        <p:nvGrpSpPr>
          <p:cNvPr id="142" name="Group 49">
            <a:extLst>
              <a:ext uri="{FF2B5EF4-FFF2-40B4-BE49-F238E27FC236}">
                <a16:creationId xmlns:a16="http://schemas.microsoft.com/office/drawing/2014/main" id="{BE4E8E9B-5938-BA22-56DF-27CB1D1B9758}"/>
              </a:ext>
            </a:extLst>
          </p:cNvPr>
          <p:cNvGrpSpPr>
            <a:grpSpLocks/>
          </p:cNvGrpSpPr>
          <p:nvPr/>
        </p:nvGrpSpPr>
        <p:grpSpPr bwMode="auto">
          <a:xfrm>
            <a:off x="3503400" y="5934446"/>
            <a:ext cx="1160975" cy="519112"/>
            <a:chOff x="2236" y="3529"/>
            <a:chExt cx="663" cy="327"/>
          </a:xfrm>
        </p:grpSpPr>
        <p:sp>
          <p:nvSpPr>
            <p:cNvPr id="143" name="AutoShape 50">
              <a:extLst>
                <a:ext uri="{FF2B5EF4-FFF2-40B4-BE49-F238E27FC236}">
                  <a16:creationId xmlns:a16="http://schemas.microsoft.com/office/drawing/2014/main" id="{E57CF641-4AA8-FC18-D4E1-F15086D9BE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1" y="3529"/>
              <a:ext cx="648" cy="327"/>
            </a:xfrm>
            <a:prstGeom prst="roundRect">
              <a:avLst>
                <a:gd name="adj" fmla="val 10870"/>
              </a:avLst>
            </a:prstGeom>
            <a:gradFill rotWithShape="1">
              <a:gsLst>
                <a:gs pos="0">
                  <a:srgbClr val="9DCBF1"/>
                </a:gs>
                <a:gs pos="100000">
                  <a:srgbClr val="9DCBF1">
                    <a:gamma/>
                    <a:tint val="69804"/>
                    <a:invGamma/>
                  </a:srgbClr>
                </a:gs>
              </a:gsLst>
              <a:lin ang="270000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17961" dir="2700000" algn="ctr" rotWithShape="0">
                <a:srgbClr val="B2B2B2"/>
              </a:outerShdw>
            </a:effectLst>
          </p:spPr>
          <p:txBody>
            <a:bodyPr lIns="0" tIns="0" rIns="0" bIns="0" anchor="ctr"/>
            <a:lstStyle/>
            <a:p>
              <a:pPr algn="ctr" defTabSz="995363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1400">
                  <a:solidFill>
                    <a:prstClr val="black"/>
                  </a:solidFill>
                  <a:latin typeface="+mn-ea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144" name="Text Box 51">
              <a:extLst>
                <a:ext uri="{FF2B5EF4-FFF2-40B4-BE49-F238E27FC236}">
                  <a16:creationId xmlns:a16="http://schemas.microsoft.com/office/drawing/2014/main" id="{C28C82C4-C0C8-F6BE-0E6B-3732F44B4C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2236" y="3563"/>
              <a:ext cx="662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fontAlgn="auto" latinLnBrk="0">
                <a:spcBef>
                  <a:spcPct val="50000"/>
                </a:spcBef>
                <a:spcAft>
                  <a:spcPts val="0"/>
                </a:spcAft>
              </a:pPr>
              <a:r>
                <a:rPr kumimoji="0" lang="ko-KR" altLang="ko-KR">
                  <a:solidFill>
                    <a:prstClr val="black"/>
                  </a:solidFill>
                  <a:latin typeface="+mn-ea"/>
                  <a:ea typeface="+mn-ea"/>
                  <a:cs typeface="+mn-cs"/>
                </a:rPr>
                <a:t>항목별 측정현황 조사</a:t>
              </a:r>
            </a:p>
          </p:txBody>
        </p:sp>
      </p:grpSp>
      <p:grpSp>
        <p:nvGrpSpPr>
          <p:cNvPr id="145" name="Group 52">
            <a:extLst>
              <a:ext uri="{FF2B5EF4-FFF2-40B4-BE49-F238E27FC236}">
                <a16:creationId xmlns:a16="http://schemas.microsoft.com/office/drawing/2014/main" id="{D2EC522D-1899-D612-A581-88E29E628171}"/>
              </a:ext>
            </a:extLst>
          </p:cNvPr>
          <p:cNvGrpSpPr>
            <a:grpSpLocks/>
          </p:cNvGrpSpPr>
          <p:nvPr/>
        </p:nvGrpSpPr>
        <p:grpSpPr bwMode="auto">
          <a:xfrm>
            <a:off x="5053535" y="5934446"/>
            <a:ext cx="1160975" cy="519112"/>
            <a:chOff x="3155" y="3529"/>
            <a:chExt cx="663" cy="327"/>
          </a:xfrm>
        </p:grpSpPr>
        <p:sp>
          <p:nvSpPr>
            <p:cNvPr id="146" name="AutoShape 53">
              <a:extLst>
                <a:ext uri="{FF2B5EF4-FFF2-40B4-BE49-F238E27FC236}">
                  <a16:creationId xmlns:a16="http://schemas.microsoft.com/office/drawing/2014/main" id="{6053CC04-9012-F5D9-0F0D-83F04EB8B8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5" y="3529"/>
              <a:ext cx="648" cy="327"/>
            </a:xfrm>
            <a:prstGeom prst="roundRect">
              <a:avLst>
                <a:gd name="adj" fmla="val 10870"/>
              </a:avLst>
            </a:prstGeom>
            <a:gradFill rotWithShape="1">
              <a:gsLst>
                <a:gs pos="0">
                  <a:srgbClr val="9DCBF1"/>
                </a:gs>
                <a:gs pos="100000">
                  <a:srgbClr val="9DCBF1">
                    <a:gamma/>
                    <a:tint val="69804"/>
                    <a:invGamma/>
                  </a:srgbClr>
                </a:gs>
              </a:gsLst>
              <a:lin ang="270000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17961" dir="2700000" algn="ctr" rotWithShape="0">
                <a:srgbClr val="B2B2B2"/>
              </a:outerShdw>
            </a:effectLst>
          </p:spPr>
          <p:txBody>
            <a:bodyPr lIns="0" tIns="0" rIns="0" bIns="0" anchor="ctr"/>
            <a:lstStyle/>
            <a:p>
              <a:pPr algn="ctr" defTabSz="995363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1400">
                  <a:solidFill>
                    <a:prstClr val="black"/>
                  </a:solidFill>
                  <a:latin typeface="+mn-ea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147" name="Text Box 54">
              <a:extLst>
                <a:ext uri="{FF2B5EF4-FFF2-40B4-BE49-F238E27FC236}">
                  <a16:creationId xmlns:a16="http://schemas.microsoft.com/office/drawing/2014/main" id="{487D6D59-CD02-B0A4-C61C-8C99F3C69C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156" y="3617"/>
              <a:ext cx="662" cy="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fontAlgn="auto" latinLnBrk="0">
                <a:spcBef>
                  <a:spcPct val="50000"/>
                </a:spcBef>
                <a:spcAft>
                  <a:spcPts val="0"/>
                </a:spcAft>
              </a:pPr>
              <a:r>
                <a:rPr kumimoji="0" lang="ko-KR" altLang="ko-KR">
                  <a:solidFill>
                    <a:prstClr val="black"/>
                  </a:solidFill>
                  <a:latin typeface="+mn-ea"/>
                  <a:ea typeface="+mn-ea"/>
                  <a:cs typeface="+mn-cs"/>
                </a:rPr>
                <a:t>항목별 목표치</a:t>
              </a:r>
            </a:p>
          </p:txBody>
        </p:sp>
      </p:grpSp>
      <p:grpSp>
        <p:nvGrpSpPr>
          <p:cNvPr id="148" name="Group 55">
            <a:extLst>
              <a:ext uri="{FF2B5EF4-FFF2-40B4-BE49-F238E27FC236}">
                <a16:creationId xmlns:a16="http://schemas.microsoft.com/office/drawing/2014/main" id="{BEB152F2-B481-F05F-A97B-A808D1E96F56}"/>
              </a:ext>
            </a:extLst>
          </p:cNvPr>
          <p:cNvGrpSpPr>
            <a:grpSpLocks/>
          </p:cNvGrpSpPr>
          <p:nvPr/>
        </p:nvGrpSpPr>
        <p:grpSpPr bwMode="auto">
          <a:xfrm>
            <a:off x="363962" y="7001246"/>
            <a:ext cx="1243276" cy="519112"/>
            <a:chOff x="396" y="4201"/>
            <a:chExt cx="710" cy="327"/>
          </a:xfrm>
        </p:grpSpPr>
        <p:sp>
          <p:nvSpPr>
            <p:cNvPr id="149" name="AutoShape 56">
              <a:extLst>
                <a:ext uri="{FF2B5EF4-FFF2-40B4-BE49-F238E27FC236}">
                  <a16:creationId xmlns:a16="http://schemas.microsoft.com/office/drawing/2014/main" id="{00D0774B-3A7E-069E-4C5A-B5189D621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4201"/>
              <a:ext cx="648" cy="327"/>
            </a:xfrm>
            <a:prstGeom prst="roundRect">
              <a:avLst>
                <a:gd name="adj" fmla="val 10870"/>
              </a:avLst>
            </a:prstGeom>
            <a:gradFill rotWithShape="1">
              <a:gsLst>
                <a:gs pos="0">
                  <a:srgbClr val="9DCBF1"/>
                </a:gs>
                <a:gs pos="100000">
                  <a:srgbClr val="9DCBF1">
                    <a:gamma/>
                    <a:tint val="69804"/>
                    <a:invGamma/>
                  </a:srgbClr>
                </a:gs>
              </a:gsLst>
              <a:lin ang="270000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17961" dir="2700000" algn="ctr" rotWithShape="0">
                <a:srgbClr val="B2B2B2"/>
              </a:outerShdw>
            </a:effectLst>
          </p:spPr>
          <p:txBody>
            <a:bodyPr lIns="0" tIns="0" rIns="0" bIns="0" anchor="ctr"/>
            <a:lstStyle/>
            <a:p>
              <a:pPr algn="ctr" defTabSz="995363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1400">
                  <a:solidFill>
                    <a:prstClr val="black"/>
                  </a:solidFill>
                  <a:latin typeface="+mn-ea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150" name="Text Box 57">
              <a:extLst>
                <a:ext uri="{FF2B5EF4-FFF2-40B4-BE49-F238E27FC236}">
                  <a16:creationId xmlns:a16="http://schemas.microsoft.com/office/drawing/2014/main" id="{E5C7E875-8C4B-E4CA-EFF9-DADE850B2D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96" y="4235"/>
              <a:ext cx="710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fontAlgn="auto" latinLnBrk="0">
                <a:spcBef>
                  <a:spcPct val="50000"/>
                </a:spcBef>
                <a:spcAft>
                  <a:spcPts val="0"/>
                </a:spcAft>
              </a:pPr>
              <a:r>
                <a:rPr kumimoji="0" lang="ko-KR" altLang="ko-KR" dirty="0">
                  <a:solidFill>
                    <a:prstClr val="black"/>
                  </a:solidFill>
                  <a:latin typeface="+mn-ea"/>
                  <a:ea typeface="+mn-ea"/>
                  <a:cs typeface="+mn-cs"/>
                </a:rPr>
                <a:t>Benchmarking/Brain Storm</a:t>
              </a:r>
            </a:p>
          </p:txBody>
        </p:sp>
      </p:grpSp>
      <p:grpSp>
        <p:nvGrpSpPr>
          <p:cNvPr id="151" name="Group 58">
            <a:extLst>
              <a:ext uri="{FF2B5EF4-FFF2-40B4-BE49-F238E27FC236}">
                <a16:creationId xmlns:a16="http://schemas.microsoft.com/office/drawing/2014/main" id="{04D6A3CA-C2BA-E0BC-C393-66AFE415E81E}"/>
              </a:ext>
            </a:extLst>
          </p:cNvPr>
          <p:cNvGrpSpPr>
            <a:grpSpLocks/>
          </p:cNvGrpSpPr>
          <p:nvPr/>
        </p:nvGrpSpPr>
        <p:grpSpPr bwMode="auto">
          <a:xfrm>
            <a:off x="1903465" y="7001246"/>
            <a:ext cx="1159223" cy="519112"/>
            <a:chOff x="1316" y="4201"/>
            <a:chExt cx="662" cy="327"/>
          </a:xfrm>
        </p:grpSpPr>
        <p:sp>
          <p:nvSpPr>
            <p:cNvPr id="152" name="AutoShape 59">
              <a:extLst>
                <a:ext uri="{FF2B5EF4-FFF2-40B4-BE49-F238E27FC236}">
                  <a16:creationId xmlns:a16="http://schemas.microsoft.com/office/drawing/2014/main" id="{692497E0-D0E9-F530-6253-CDDF0CCC7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3" y="4201"/>
              <a:ext cx="648" cy="327"/>
            </a:xfrm>
            <a:prstGeom prst="roundRect">
              <a:avLst>
                <a:gd name="adj" fmla="val 10870"/>
              </a:avLst>
            </a:prstGeom>
            <a:gradFill rotWithShape="1">
              <a:gsLst>
                <a:gs pos="0">
                  <a:srgbClr val="9DCBF1"/>
                </a:gs>
                <a:gs pos="100000">
                  <a:srgbClr val="9DCBF1">
                    <a:gamma/>
                    <a:tint val="69804"/>
                    <a:invGamma/>
                  </a:srgbClr>
                </a:gs>
              </a:gsLst>
              <a:lin ang="270000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17961" dir="2700000" algn="ctr" rotWithShape="0">
                <a:srgbClr val="B2B2B2"/>
              </a:outerShdw>
            </a:effectLst>
          </p:spPr>
          <p:txBody>
            <a:bodyPr lIns="0" tIns="0" rIns="0" bIns="0" anchor="ctr"/>
            <a:lstStyle/>
            <a:p>
              <a:pPr algn="ctr" defTabSz="995363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1400">
                  <a:solidFill>
                    <a:prstClr val="black"/>
                  </a:solidFill>
                  <a:latin typeface="+mn-ea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153" name="Text Box 60">
              <a:extLst>
                <a:ext uri="{FF2B5EF4-FFF2-40B4-BE49-F238E27FC236}">
                  <a16:creationId xmlns:a16="http://schemas.microsoft.com/office/drawing/2014/main" id="{3D2571F5-E3E8-4759-8DD5-B2F60650F1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316" y="4289"/>
              <a:ext cx="662" cy="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fontAlgn="auto" latinLnBrk="0">
                <a:spcBef>
                  <a:spcPct val="50000"/>
                </a:spcBef>
                <a:spcAft>
                  <a:spcPts val="0"/>
                </a:spcAft>
              </a:pPr>
              <a:r>
                <a:rPr kumimoji="0" lang="ko-KR" altLang="ko-KR">
                  <a:solidFill>
                    <a:prstClr val="black"/>
                  </a:solidFill>
                  <a:latin typeface="+mn-ea"/>
                  <a:ea typeface="+mn-ea"/>
                  <a:cs typeface="+mn-cs"/>
                </a:rPr>
                <a:t>측정항목 선정</a:t>
              </a:r>
            </a:p>
          </p:txBody>
        </p:sp>
      </p:grpSp>
      <p:grpSp>
        <p:nvGrpSpPr>
          <p:cNvPr id="154" name="Group 61">
            <a:extLst>
              <a:ext uri="{FF2B5EF4-FFF2-40B4-BE49-F238E27FC236}">
                <a16:creationId xmlns:a16="http://schemas.microsoft.com/office/drawing/2014/main" id="{9FFACAE7-749D-5A16-CEB1-B723CA11E38D}"/>
              </a:ext>
            </a:extLst>
          </p:cNvPr>
          <p:cNvGrpSpPr>
            <a:grpSpLocks/>
          </p:cNvGrpSpPr>
          <p:nvPr/>
        </p:nvGrpSpPr>
        <p:grpSpPr bwMode="auto">
          <a:xfrm>
            <a:off x="3503400" y="7001246"/>
            <a:ext cx="1160975" cy="519112"/>
            <a:chOff x="2236" y="4201"/>
            <a:chExt cx="663" cy="327"/>
          </a:xfrm>
        </p:grpSpPr>
        <p:sp>
          <p:nvSpPr>
            <p:cNvPr id="155" name="AutoShape 62">
              <a:extLst>
                <a:ext uri="{FF2B5EF4-FFF2-40B4-BE49-F238E27FC236}">
                  <a16:creationId xmlns:a16="http://schemas.microsoft.com/office/drawing/2014/main" id="{8C84CD2E-09A4-7A5C-F0E3-E9693989A7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1" y="4201"/>
              <a:ext cx="648" cy="327"/>
            </a:xfrm>
            <a:prstGeom prst="roundRect">
              <a:avLst>
                <a:gd name="adj" fmla="val 10870"/>
              </a:avLst>
            </a:prstGeom>
            <a:gradFill rotWithShape="1">
              <a:gsLst>
                <a:gs pos="0">
                  <a:srgbClr val="9DCBF1"/>
                </a:gs>
                <a:gs pos="100000">
                  <a:srgbClr val="9DCBF1">
                    <a:gamma/>
                    <a:tint val="69804"/>
                    <a:invGamma/>
                  </a:srgbClr>
                </a:gs>
              </a:gsLst>
              <a:lin ang="270000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17961" dir="2700000" algn="ctr" rotWithShape="0">
                <a:srgbClr val="B2B2B2"/>
              </a:outerShdw>
            </a:effectLst>
          </p:spPr>
          <p:txBody>
            <a:bodyPr lIns="0" tIns="0" rIns="0" bIns="0" anchor="ctr"/>
            <a:lstStyle/>
            <a:p>
              <a:pPr algn="ctr" defTabSz="995363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1400">
                  <a:solidFill>
                    <a:prstClr val="black"/>
                  </a:solidFill>
                  <a:latin typeface="+mn-ea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156" name="Text Box 63">
              <a:extLst>
                <a:ext uri="{FF2B5EF4-FFF2-40B4-BE49-F238E27FC236}">
                  <a16:creationId xmlns:a16="http://schemas.microsoft.com/office/drawing/2014/main" id="{C8689D6A-F630-620E-B68A-006CDB870B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2236" y="4235"/>
              <a:ext cx="662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fontAlgn="auto" latinLnBrk="0">
                <a:spcBef>
                  <a:spcPct val="50000"/>
                </a:spcBef>
                <a:spcAft>
                  <a:spcPts val="0"/>
                </a:spcAft>
              </a:pPr>
              <a:r>
                <a:rPr kumimoji="0" lang="ko-KR" altLang="ko-KR">
                  <a:solidFill>
                    <a:prstClr val="black"/>
                  </a:solidFill>
                  <a:latin typeface="+mn-ea"/>
                  <a:ea typeface="+mn-ea"/>
                  <a:cs typeface="+mn-cs"/>
                </a:rPr>
                <a:t>측정항목 상세 정의</a:t>
              </a:r>
            </a:p>
          </p:txBody>
        </p:sp>
      </p:grpSp>
      <p:sp>
        <p:nvSpPr>
          <p:cNvPr id="157" name="Line 64">
            <a:extLst>
              <a:ext uri="{FF2B5EF4-FFF2-40B4-BE49-F238E27FC236}">
                <a16:creationId xmlns:a16="http://schemas.microsoft.com/office/drawing/2014/main" id="{1C7184AE-2969-B768-B6E0-09A239A6CAC0}"/>
              </a:ext>
            </a:extLst>
          </p:cNvPr>
          <p:cNvSpPr>
            <a:spLocks noChangeShapeType="1"/>
          </p:cNvSpPr>
          <p:nvPr/>
        </p:nvSpPr>
        <p:spPr bwMode="gray">
          <a:xfrm>
            <a:off x="990853" y="6477371"/>
            <a:ext cx="0" cy="490537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8948" tIns="0" rIns="95637" bIns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2400" b="0">
              <a:solidFill>
                <a:prstClr val="black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211" name="Line 65">
            <a:extLst>
              <a:ext uri="{FF2B5EF4-FFF2-40B4-BE49-F238E27FC236}">
                <a16:creationId xmlns:a16="http://schemas.microsoft.com/office/drawing/2014/main" id="{58C8E978-5791-3426-C57E-681C143F4291}"/>
              </a:ext>
            </a:extLst>
          </p:cNvPr>
          <p:cNvSpPr>
            <a:spLocks noChangeShapeType="1"/>
          </p:cNvSpPr>
          <p:nvPr/>
        </p:nvSpPr>
        <p:spPr bwMode="gray">
          <a:xfrm>
            <a:off x="2483077" y="6477371"/>
            <a:ext cx="0" cy="490537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8948" tIns="0" rIns="95637" bIns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2400" b="0">
              <a:solidFill>
                <a:prstClr val="black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212" name="Line 66">
            <a:extLst>
              <a:ext uri="{FF2B5EF4-FFF2-40B4-BE49-F238E27FC236}">
                <a16:creationId xmlns:a16="http://schemas.microsoft.com/office/drawing/2014/main" id="{9C8BD5FB-8C1B-E488-E179-AC963A427A41}"/>
              </a:ext>
            </a:extLst>
          </p:cNvPr>
          <p:cNvSpPr>
            <a:spLocks noChangeShapeType="1"/>
          </p:cNvSpPr>
          <p:nvPr/>
        </p:nvSpPr>
        <p:spPr bwMode="gray">
          <a:xfrm>
            <a:off x="4083013" y="6477371"/>
            <a:ext cx="0" cy="490537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8948" tIns="0" rIns="95637" bIns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2400" b="0">
              <a:solidFill>
                <a:prstClr val="black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214" name="AutoShape 68">
            <a:extLst>
              <a:ext uri="{FF2B5EF4-FFF2-40B4-BE49-F238E27FC236}">
                <a16:creationId xmlns:a16="http://schemas.microsoft.com/office/drawing/2014/main" id="{371779C9-89F8-982D-0786-1D4F3A267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94" y="8314020"/>
            <a:ext cx="1141160" cy="743165"/>
          </a:xfrm>
          <a:prstGeom prst="roundRect">
            <a:avLst>
              <a:gd name="adj" fmla="val 10870"/>
            </a:avLst>
          </a:prstGeom>
          <a:gradFill rotWithShape="1">
            <a:gsLst>
              <a:gs pos="0">
                <a:srgbClr val="CFCFCF"/>
              </a:gs>
              <a:gs pos="100000">
                <a:srgbClr val="CFCFCF">
                  <a:gamma/>
                  <a:tint val="0"/>
                  <a:invGamma/>
                </a:srgbClr>
              </a:gs>
            </a:gsLst>
            <a:lin ang="2700000" scaled="1"/>
          </a:gradFill>
          <a:ln w="12700" algn="ctr">
            <a:solidFill>
              <a:srgbClr val="FFFFFF"/>
            </a:solidFill>
            <a:round/>
            <a:headEnd/>
            <a:tailEnd/>
          </a:ln>
          <a:effectLst>
            <a:outerShdw dist="17961" dir="2700000" algn="ctr" rotWithShape="0">
              <a:srgbClr val="B2B2B2"/>
            </a:outerShdw>
          </a:effectLst>
        </p:spPr>
        <p:txBody>
          <a:bodyPr lIns="0" tIns="0" rIns="0" bIns="0" anchor="ctr"/>
          <a:lstStyle/>
          <a:p>
            <a:pPr marL="0" marR="0" lvl="0" indent="0" algn="ctr" defTabSz="99536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</a:p>
        </p:txBody>
      </p:sp>
      <p:sp>
        <p:nvSpPr>
          <p:cNvPr id="215" name="Text Box 69">
            <a:extLst>
              <a:ext uri="{FF2B5EF4-FFF2-40B4-BE49-F238E27FC236}">
                <a16:creationId xmlns:a16="http://schemas.microsoft.com/office/drawing/2014/main" id="{E60B8123-6CA2-6E26-C8F8-F2E11E3025C8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85378" y="8485129"/>
            <a:ext cx="116581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ko-KR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서비스 영역별</a:t>
            </a:r>
            <a:br>
              <a:rPr kumimoji="0" lang="ko-KR" altLang="ko-KR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</a:br>
            <a:r>
              <a:rPr kumimoji="0" lang="ko-KR" altLang="ko-KR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측정가능 항목</a:t>
            </a:r>
          </a:p>
        </p:txBody>
      </p:sp>
      <p:sp>
        <p:nvSpPr>
          <p:cNvPr id="216" name="AutoShape 70">
            <a:extLst>
              <a:ext uri="{FF2B5EF4-FFF2-40B4-BE49-F238E27FC236}">
                <a16:creationId xmlns:a16="http://schemas.microsoft.com/office/drawing/2014/main" id="{585177F5-0B87-A5AF-444D-E71D443A7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1309" y="8314020"/>
            <a:ext cx="1141160" cy="743165"/>
          </a:xfrm>
          <a:prstGeom prst="roundRect">
            <a:avLst>
              <a:gd name="adj" fmla="val 10870"/>
            </a:avLst>
          </a:prstGeom>
          <a:gradFill rotWithShape="1">
            <a:gsLst>
              <a:gs pos="0">
                <a:srgbClr val="CFCFCF"/>
              </a:gs>
              <a:gs pos="100000">
                <a:srgbClr val="CFCFCF">
                  <a:gamma/>
                  <a:tint val="0"/>
                  <a:invGamma/>
                </a:srgbClr>
              </a:gs>
            </a:gsLst>
            <a:lin ang="2700000" scaled="1"/>
          </a:gradFill>
          <a:ln w="12700" algn="ctr">
            <a:solidFill>
              <a:srgbClr val="FFFFFF"/>
            </a:solidFill>
            <a:round/>
            <a:headEnd/>
            <a:tailEnd/>
          </a:ln>
          <a:effectLst>
            <a:outerShdw dist="17961" dir="2700000" algn="ctr" rotWithShape="0">
              <a:srgbClr val="B2B2B2"/>
            </a:outerShdw>
          </a:effectLst>
        </p:spPr>
        <p:txBody>
          <a:bodyPr lIns="0" tIns="0" rIns="0" bIns="0" anchor="ctr"/>
          <a:lstStyle/>
          <a:p>
            <a:pPr marL="0" marR="0" lvl="0" indent="0" algn="ctr" defTabSz="99536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</a:p>
        </p:txBody>
      </p:sp>
      <p:sp>
        <p:nvSpPr>
          <p:cNvPr id="217" name="Text Box 71">
            <a:extLst>
              <a:ext uri="{FF2B5EF4-FFF2-40B4-BE49-F238E27FC236}">
                <a16:creationId xmlns:a16="http://schemas.microsoft.com/office/drawing/2014/main" id="{BF6163E7-C0EA-380C-A595-DB532AB09A6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918982" y="8483368"/>
            <a:ext cx="116581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ko-KR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서비스 영역별</a:t>
            </a:r>
            <a:br>
              <a:rPr kumimoji="0" lang="ko-KR" altLang="ko-KR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</a:br>
            <a:r>
              <a:rPr kumimoji="0" lang="ko-KR" altLang="ko-KR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측정 항목</a:t>
            </a:r>
          </a:p>
        </p:txBody>
      </p:sp>
      <p:sp>
        <p:nvSpPr>
          <p:cNvPr id="218" name="AutoShape 72">
            <a:extLst>
              <a:ext uri="{FF2B5EF4-FFF2-40B4-BE49-F238E27FC236}">
                <a16:creationId xmlns:a16="http://schemas.microsoft.com/office/drawing/2014/main" id="{1C640E58-019C-ACB5-63E8-C6E2E7A7E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296" y="8314020"/>
            <a:ext cx="1141160" cy="743165"/>
          </a:xfrm>
          <a:prstGeom prst="roundRect">
            <a:avLst>
              <a:gd name="adj" fmla="val 10870"/>
            </a:avLst>
          </a:prstGeom>
          <a:gradFill rotWithShape="1">
            <a:gsLst>
              <a:gs pos="0">
                <a:srgbClr val="CFCFCF"/>
              </a:gs>
              <a:gs pos="100000">
                <a:srgbClr val="CFCFCF">
                  <a:gamma/>
                  <a:tint val="0"/>
                  <a:invGamma/>
                </a:srgbClr>
              </a:gs>
            </a:gsLst>
            <a:lin ang="2700000" scaled="1"/>
          </a:gradFill>
          <a:ln w="12700" algn="ctr">
            <a:solidFill>
              <a:srgbClr val="FFFFFF"/>
            </a:solidFill>
            <a:round/>
            <a:headEnd/>
            <a:tailEnd/>
          </a:ln>
          <a:effectLst>
            <a:outerShdw dist="17961" dir="2700000" algn="ctr" rotWithShape="0">
              <a:srgbClr val="B2B2B2"/>
            </a:outerShdw>
          </a:effectLst>
        </p:spPr>
        <p:txBody>
          <a:bodyPr lIns="0" tIns="0" rIns="0" bIns="0" anchor="ctr"/>
          <a:lstStyle/>
          <a:p>
            <a:pPr marL="0" marR="0" lvl="0" indent="0" algn="ctr" defTabSz="99536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</a:p>
        </p:txBody>
      </p:sp>
      <p:sp>
        <p:nvSpPr>
          <p:cNvPr id="223" name="Text Box 73">
            <a:extLst>
              <a:ext uri="{FF2B5EF4-FFF2-40B4-BE49-F238E27FC236}">
                <a16:creationId xmlns:a16="http://schemas.microsoft.com/office/drawing/2014/main" id="{43720D00-91DB-9BB2-EBEA-576B5D87BF47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506880" y="8483368"/>
            <a:ext cx="116581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ko-KR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측정항목별</a:t>
            </a:r>
            <a:br>
              <a:rPr kumimoji="0" lang="ko-KR" altLang="en-US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</a:br>
            <a:r>
              <a:rPr kumimoji="0" lang="ko-KR" altLang="ko-KR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정의서</a:t>
            </a:r>
          </a:p>
        </p:txBody>
      </p:sp>
      <p:sp>
        <p:nvSpPr>
          <p:cNvPr id="224" name="AutoShape 74">
            <a:extLst>
              <a:ext uri="{FF2B5EF4-FFF2-40B4-BE49-F238E27FC236}">
                <a16:creationId xmlns:a16="http://schemas.microsoft.com/office/drawing/2014/main" id="{4C982AD4-484C-0357-056F-3031AF4C4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317" y="8314020"/>
            <a:ext cx="1141160" cy="743165"/>
          </a:xfrm>
          <a:prstGeom prst="roundRect">
            <a:avLst>
              <a:gd name="adj" fmla="val 10870"/>
            </a:avLst>
          </a:prstGeom>
          <a:gradFill rotWithShape="1">
            <a:gsLst>
              <a:gs pos="0">
                <a:srgbClr val="CFCFCF"/>
              </a:gs>
              <a:gs pos="100000">
                <a:srgbClr val="CFCFCF">
                  <a:gamma/>
                  <a:tint val="0"/>
                  <a:invGamma/>
                </a:srgbClr>
              </a:gs>
            </a:gsLst>
            <a:lin ang="2700000" scaled="1"/>
          </a:gradFill>
          <a:ln w="12700" algn="ctr">
            <a:solidFill>
              <a:srgbClr val="FFFFFF"/>
            </a:solidFill>
            <a:round/>
            <a:headEnd/>
            <a:tailEnd/>
          </a:ln>
          <a:effectLst>
            <a:outerShdw dist="17961" dir="2700000" algn="ctr" rotWithShape="0">
              <a:srgbClr val="B2B2B2"/>
            </a:outerShdw>
          </a:effectLst>
        </p:spPr>
        <p:txBody>
          <a:bodyPr lIns="0" tIns="0" rIns="0" bIns="0" anchor="ctr"/>
          <a:lstStyle/>
          <a:p>
            <a:pPr marL="0" marR="0" lvl="0" indent="0" algn="ctr" defTabSz="99536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</a:p>
        </p:txBody>
      </p:sp>
      <p:sp>
        <p:nvSpPr>
          <p:cNvPr id="225" name="Text Box 75">
            <a:extLst>
              <a:ext uri="{FF2B5EF4-FFF2-40B4-BE49-F238E27FC236}">
                <a16:creationId xmlns:a16="http://schemas.microsoft.com/office/drawing/2014/main" id="{BF98A8AD-107D-455E-E25D-936295BBBDD9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066078" y="8483368"/>
            <a:ext cx="116581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ko-KR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측정 항목</a:t>
            </a:r>
            <a:br>
              <a:rPr kumimoji="0" lang="ko-KR" altLang="en-US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</a:br>
            <a:r>
              <a:rPr kumimoji="0" lang="ko-KR" altLang="ko-KR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목표치</a:t>
            </a:r>
          </a:p>
        </p:txBody>
      </p:sp>
      <p:sp>
        <p:nvSpPr>
          <p:cNvPr id="226" name="AutoShape 76">
            <a:extLst>
              <a:ext uri="{FF2B5EF4-FFF2-40B4-BE49-F238E27FC236}">
                <a16:creationId xmlns:a16="http://schemas.microsoft.com/office/drawing/2014/main" id="{F1767A1D-4E29-CAA6-89E6-31FD832A73A6}"/>
              </a:ext>
            </a:extLst>
          </p:cNvPr>
          <p:cNvSpPr>
            <a:spLocks noChangeArrowheads="1"/>
          </p:cNvSpPr>
          <p:nvPr/>
        </p:nvSpPr>
        <p:spPr bwMode="gray">
          <a:xfrm>
            <a:off x="247457" y="8060599"/>
            <a:ext cx="6177886" cy="1213947"/>
          </a:xfrm>
          <a:prstGeom prst="roundRect">
            <a:avLst>
              <a:gd name="adj" fmla="val 8847"/>
            </a:avLst>
          </a:prstGeom>
          <a:noFill/>
          <a:ln w="28575" algn="ctr">
            <a:solidFill>
              <a:srgbClr val="003366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8948" tIns="0" rIns="95637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27" name="Rectangle 77">
            <a:extLst>
              <a:ext uri="{FF2B5EF4-FFF2-40B4-BE49-F238E27FC236}">
                <a16:creationId xmlns:a16="http://schemas.microsoft.com/office/drawing/2014/main" id="{B90A1A3F-DA6A-8C66-A688-84081F249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6006" y="7953384"/>
            <a:ext cx="3106492" cy="211326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8D9CB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C0C0C0"/>
                  </a:outerShdw>
                </a:effectLst>
              </a14:hiddenEffects>
            </a:ext>
          </a:extLst>
        </p:spPr>
        <p:txBody>
          <a:bodyPr wrap="none" lIns="90000" tIns="46800" rIns="10800" bIns="468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28" name="AutoShape 78">
            <a:extLst>
              <a:ext uri="{FF2B5EF4-FFF2-40B4-BE49-F238E27FC236}">
                <a16:creationId xmlns:a16="http://schemas.microsoft.com/office/drawing/2014/main" id="{6AF9D9A0-E2A6-92F4-C6F0-97E2A1C54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9970" y="7916402"/>
            <a:ext cx="2955042" cy="299379"/>
          </a:xfrm>
          <a:prstGeom prst="roundRect">
            <a:avLst>
              <a:gd name="adj" fmla="val 16667"/>
            </a:avLst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 defTabSz="741363"/>
            <a:r>
              <a:rPr kumimoji="0" lang="ko-KR" altLang="en-US" sz="1050" dirty="0">
                <a:solidFill>
                  <a:srgbClr val="FFFFFF"/>
                </a:solidFill>
                <a:latin typeface="+mn-ea"/>
                <a:ea typeface="+mn-ea"/>
                <a:cs typeface="+mn-cs"/>
              </a:rPr>
              <a:t>산출물</a:t>
            </a:r>
          </a:p>
        </p:txBody>
      </p:sp>
      <p:sp>
        <p:nvSpPr>
          <p:cNvPr id="229" name="Rectangle 79">
            <a:extLst>
              <a:ext uri="{FF2B5EF4-FFF2-40B4-BE49-F238E27FC236}">
                <a16:creationId xmlns:a16="http://schemas.microsoft.com/office/drawing/2014/main" id="{C8871197-E791-8AD1-9361-776AB651B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3755" y="8011499"/>
            <a:ext cx="84530" cy="82770"/>
          </a:xfrm>
          <a:prstGeom prst="rect">
            <a:avLst/>
          </a:prstGeom>
          <a:solidFill>
            <a:srgbClr val="AACBD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31" name="Rectangle 83">
            <a:extLst>
              <a:ext uri="{FF2B5EF4-FFF2-40B4-BE49-F238E27FC236}">
                <a16:creationId xmlns:a16="http://schemas.microsoft.com/office/drawing/2014/main" id="{C5A260F9-BF64-91BC-0762-EE5CD89DA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14" y="8018543"/>
            <a:ext cx="82769" cy="81008"/>
          </a:xfrm>
          <a:prstGeom prst="rect">
            <a:avLst/>
          </a:prstGeom>
          <a:solidFill>
            <a:srgbClr val="AACBDA"/>
          </a:solidFill>
          <a:ln w="3175" algn="ctr">
            <a:solidFill>
              <a:sysClr val="window" lastClr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32" name="AutoShape 84">
            <a:extLst>
              <a:ext uri="{FF2B5EF4-FFF2-40B4-BE49-F238E27FC236}">
                <a16:creationId xmlns:a16="http://schemas.microsoft.com/office/drawing/2014/main" id="{19657904-A9D3-AA17-A115-E3E252FFB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0598" y="8221064"/>
            <a:ext cx="2976175" cy="84531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ysClr val="window" lastClr="FFFFFF">
                  <a:gamma/>
                  <a:shade val="85882"/>
                  <a:invGamma/>
                </a:sysClr>
              </a:gs>
              <a:gs pos="100000">
                <a:sysClr val="window" lastClr="FFFFFF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1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5FCE3AF-8FA5-ED2B-9854-73C98937137A}"/>
              </a:ext>
            </a:extLst>
          </p:cNvPr>
          <p:cNvGrpSpPr/>
          <p:nvPr/>
        </p:nvGrpSpPr>
        <p:grpSpPr>
          <a:xfrm>
            <a:off x="317654" y="667364"/>
            <a:ext cx="3795422" cy="351189"/>
            <a:chOff x="760846" y="854534"/>
            <a:chExt cx="3795422" cy="35118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567EDC5-DC75-99B6-2627-8CB648210414}"/>
                </a:ext>
              </a:extLst>
            </p:cNvPr>
            <p:cNvSpPr txBox="1"/>
            <p:nvPr/>
          </p:nvSpPr>
          <p:spPr>
            <a:xfrm flipH="1">
              <a:off x="1171266" y="891629"/>
              <a:ext cx="338500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r>
                <a:rPr lang="ko-KR" altLang="en-US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사업관리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2A07C359-F0CE-3B10-DC6D-A1722ED7E844}"/>
                </a:ext>
              </a:extLst>
            </p:cNvPr>
            <p:cNvGrpSpPr/>
            <p:nvPr/>
          </p:nvGrpSpPr>
          <p:grpSpPr>
            <a:xfrm>
              <a:off x="760846" y="854534"/>
              <a:ext cx="324620" cy="351189"/>
              <a:chOff x="539750" y="2917808"/>
              <a:chExt cx="526237" cy="526236"/>
            </a:xfrm>
          </p:grpSpPr>
          <p:sp>
            <p:nvSpPr>
              <p:cNvPr id="10" name="모서리가 둥근 직사각형 4">
                <a:extLst>
                  <a:ext uri="{FF2B5EF4-FFF2-40B4-BE49-F238E27FC236}">
                    <a16:creationId xmlns:a16="http://schemas.microsoft.com/office/drawing/2014/main" id="{B1B67159-2A0A-748F-D8F7-42398DA9D5AA}"/>
                  </a:ext>
                </a:extLst>
              </p:cNvPr>
              <p:cNvSpPr/>
              <p:nvPr/>
            </p:nvSpPr>
            <p:spPr>
              <a:xfrm>
                <a:off x="539750" y="2917808"/>
                <a:ext cx="526237" cy="526236"/>
              </a:xfrm>
              <a:prstGeom prst="roundRect">
                <a:avLst>
                  <a:gd name="adj" fmla="val 11229"/>
                </a:avLst>
              </a:prstGeom>
              <a:solidFill>
                <a:srgbClr val="00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49C550-2BBA-0E56-5628-FCB89C92769F}"/>
                  </a:ext>
                </a:extLst>
              </p:cNvPr>
              <p:cNvSpPr txBox="1"/>
              <p:nvPr/>
            </p:nvSpPr>
            <p:spPr>
              <a:xfrm flipH="1">
                <a:off x="636582" y="2952530"/>
                <a:ext cx="338951" cy="46118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#</a:t>
                </a:r>
              </a:p>
            </p:txBody>
          </p:sp>
        </p:grpSp>
      </p:grpSp>
      <p:sp>
        <p:nvSpPr>
          <p:cNvPr id="12" name="Text Box 37">
            <a:extLst>
              <a:ext uri="{FF2B5EF4-FFF2-40B4-BE49-F238E27FC236}">
                <a16:creationId xmlns:a16="http://schemas.microsoft.com/office/drawing/2014/main" id="{F90D3BFB-DA55-F29C-19CA-CDD51771C5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952" y="1215900"/>
            <a:ext cx="6269248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1pPr>
            <a:lvl2pPr marL="742950" indent="-28575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2pPr>
            <a:lvl3pPr marL="11430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3pPr>
            <a:lvl4pPr marL="16002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4pPr>
            <a:lvl5pPr marL="20574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9pPr>
          </a:lstStyle>
          <a:p>
            <a:pPr eaLnBrk="1" latinLnBrk="0" hangingPunct="1">
              <a:lnSpc>
                <a:spcPct val="120000"/>
              </a:lnSpc>
              <a:defRPr/>
            </a:pP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2. SLA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관리</a:t>
            </a:r>
            <a:endParaRPr lang="en-US" altLang="ko-KR" sz="1200" dirty="0">
              <a:solidFill>
                <a:srgbClr val="000000">
                  <a:lumMod val="75000"/>
                  <a:lumOff val="25000"/>
                </a:srgbClr>
              </a:solidFill>
              <a:latin typeface="+mn-ea"/>
              <a:ea typeface="+mn-ea"/>
              <a:cs typeface="Arial" pitchFamily="34" charset="0"/>
            </a:endParaRPr>
          </a:p>
          <a:p>
            <a:pPr eaLnBrk="1" latinLnBrk="0" hangingPunct="1">
              <a:lnSpc>
                <a:spcPct val="120000"/>
              </a:lnSpc>
              <a:defRPr/>
            </a:pP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2.3 SLA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측정항목 관리 방안</a:t>
            </a:r>
          </a:p>
        </p:txBody>
      </p:sp>
    </p:spTree>
    <p:extLst>
      <p:ext uri="{BB962C8B-B14F-4D97-AF65-F5344CB8AC3E}">
        <p14:creationId xmlns:p14="http://schemas.microsoft.com/office/powerpoint/2010/main" val="3904243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그룹 1"/>
          <p:cNvGrpSpPr>
            <a:grpSpLocks/>
          </p:cNvGrpSpPr>
          <p:nvPr/>
        </p:nvGrpSpPr>
        <p:grpSpPr bwMode="auto">
          <a:xfrm>
            <a:off x="292100" y="2699929"/>
            <a:ext cx="6270625" cy="385763"/>
            <a:chOff x="292100" y="2959098"/>
            <a:chExt cx="6270625" cy="385765"/>
          </a:xfrm>
        </p:grpSpPr>
        <p:grpSp>
          <p:nvGrpSpPr>
            <p:cNvPr id="108" name="그룹 107"/>
            <p:cNvGrpSpPr>
              <a:grpSpLocks/>
            </p:cNvGrpSpPr>
            <p:nvPr/>
          </p:nvGrpSpPr>
          <p:grpSpPr bwMode="auto">
            <a:xfrm>
              <a:off x="292100" y="2959098"/>
              <a:ext cx="6270625" cy="385765"/>
              <a:chOff x="334963" y="3573461"/>
              <a:chExt cx="6271218" cy="386316"/>
            </a:xfrm>
          </p:grpSpPr>
          <p:grpSp>
            <p:nvGrpSpPr>
              <p:cNvPr id="110" name="그룹 50"/>
              <p:cNvGrpSpPr>
                <a:grpSpLocks/>
              </p:cNvGrpSpPr>
              <p:nvPr/>
            </p:nvGrpSpPr>
            <p:grpSpPr bwMode="auto">
              <a:xfrm>
                <a:off x="334963" y="3573461"/>
                <a:ext cx="6271218" cy="262313"/>
                <a:chOff x="335633" y="3489640"/>
                <a:chExt cx="6270543" cy="262915"/>
              </a:xfrm>
            </p:grpSpPr>
            <p:sp>
              <p:nvSpPr>
                <p:cNvPr id="115" name="직사각형 262"/>
                <p:cNvSpPr>
                  <a:spLocks noChangeArrowheads="1"/>
                </p:cNvSpPr>
                <p:nvPr/>
              </p:nvSpPr>
              <p:spPr bwMode="auto">
                <a:xfrm>
                  <a:off x="335633" y="3489640"/>
                  <a:ext cx="6270543" cy="262915"/>
                </a:xfrm>
                <a:prstGeom prst="rect">
                  <a:avLst/>
                </a:prstGeom>
                <a:gradFill flip="none" rotWithShape="1">
                  <a:gsLst>
                    <a:gs pos="33000">
                      <a:srgbClr val="1295EE"/>
                    </a:gs>
                    <a:gs pos="0">
                      <a:srgbClr val="0B629D"/>
                    </a:gs>
                    <a:gs pos="12000">
                      <a:srgbClr val="0E76BC"/>
                    </a:gs>
                  </a:gsLst>
                  <a:lin ang="36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latinLnBrk="0">
                    <a:defRPr/>
                  </a:pPr>
                  <a:endParaRPr lang="ko-KR" altLang="en-US" sz="1000" dirty="0">
                    <a:solidFill>
                      <a:srgbClr val="FFFFFF"/>
                    </a:solidFill>
                    <a:latin typeface="+mn-ea"/>
                    <a:cs typeface="Arial" pitchFamily="34" charset="0"/>
                  </a:endParaRPr>
                </a:p>
              </p:txBody>
            </p:sp>
            <p:cxnSp>
              <p:nvCxnSpPr>
                <p:cNvPr id="116" name="직선 연결선 26"/>
                <p:cNvCxnSpPr>
                  <a:cxnSpLocks noChangeShapeType="1"/>
                </p:cNvCxnSpPr>
                <p:nvPr/>
              </p:nvCxnSpPr>
              <p:spPr bwMode="auto">
                <a:xfrm>
                  <a:off x="553763" y="3618068"/>
                  <a:ext cx="138933" cy="0"/>
                </a:xfrm>
                <a:prstGeom prst="line">
                  <a:avLst/>
                </a:prstGeom>
                <a:noFill/>
                <a:ln w="12700" algn="ctr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17" name="Text Box 34"/>
                <p:cNvSpPr txBox="1">
                  <a:spLocks noChangeArrowheads="1"/>
                </p:cNvSpPr>
                <p:nvPr/>
              </p:nvSpPr>
              <p:spPr bwMode="gray">
                <a:xfrm>
                  <a:off x="764704" y="3535954"/>
                  <a:ext cx="5697056" cy="1699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0"/>
                  </a:sp3d>
                </a:bodyPr>
                <a:lstStyle>
                  <a:lvl1pPr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1pPr>
                  <a:lvl2pPr marL="742950" indent="-28575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2pPr>
                  <a:lvl3pPr marL="11430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3pPr>
                  <a:lvl4pPr marL="16002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4pPr>
                  <a:lvl5pPr marL="20574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5pPr>
                  <a:lvl6pPr marL="25146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6pPr>
                  <a:lvl7pPr marL="29718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7pPr>
                  <a:lvl8pPr marL="34290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8pPr>
                  <a:lvl9pPr marL="38862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9pPr>
                </a:lstStyle>
                <a:p>
                  <a:pPr eaLnBrk="1" latinLnBrk="0" hangingPunct="1">
                    <a:defRPr/>
                  </a:pPr>
                  <a:r>
                    <a:rPr lang="ko-KR" altLang="en-US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ea"/>
                      <a:ea typeface="+mn-ea"/>
                      <a:cs typeface="Arial" pitchFamily="34" charset="0"/>
                    </a:rPr>
                    <a:t>서비스수준협약</a:t>
                  </a:r>
                  <a:r>
                    <a:rPr lang="en-US" altLang="ko-KR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ea"/>
                      <a:ea typeface="+mn-ea"/>
                      <a:cs typeface="Arial" pitchFamily="34" charset="0"/>
                    </a:rPr>
                    <a:t>(SLA) </a:t>
                  </a:r>
                  <a:r>
                    <a:rPr lang="ko-KR" altLang="en-US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ea"/>
                      <a:ea typeface="+mn-ea"/>
                      <a:cs typeface="Arial" pitchFamily="34" charset="0"/>
                    </a:rPr>
                    <a:t>협의체</a:t>
                  </a:r>
                  <a:r>
                    <a:rPr lang="en-US" altLang="ko-KR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ea"/>
                      <a:ea typeface="+mn-ea"/>
                      <a:cs typeface="Arial" pitchFamily="34" charset="0"/>
                    </a:rPr>
                    <a:t> </a:t>
                  </a:r>
                  <a:r>
                    <a:rPr lang="ko-KR" altLang="en-US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ea"/>
                      <a:ea typeface="+mn-ea"/>
                      <a:cs typeface="Arial" pitchFamily="34" charset="0"/>
                    </a:rPr>
                    <a:t>구성</a:t>
                  </a:r>
                </a:p>
              </p:txBody>
            </p:sp>
          </p:grpSp>
          <p:grpSp>
            <p:nvGrpSpPr>
              <p:cNvPr id="111" name="그룹 207"/>
              <p:cNvGrpSpPr>
                <a:grpSpLocks/>
              </p:cNvGrpSpPr>
              <p:nvPr/>
            </p:nvGrpSpPr>
            <p:grpSpPr bwMode="auto">
              <a:xfrm>
                <a:off x="1048569" y="3850655"/>
                <a:ext cx="5375678" cy="109122"/>
                <a:chOff x="1048569" y="3850655"/>
                <a:chExt cx="5375678" cy="109122"/>
              </a:xfrm>
            </p:grpSpPr>
            <p:pic>
              <p:nvPicPr>
                <p:cNvPr id="112" name="Picture 24" descr="악세사리"/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3" name="Picture 24" descr="악세사리"/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4" name="Picture 24" descr="악세사리"/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pic>
          <p:nvPicPr>
            <p:cNvPr id="109" name="Picture 184" descr="icon_a01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94" t="64084" r="6964" b="26581"/>
            <a:stretch>
              <a:fillRect/>
            </a:stretch>
          </p:blipFill>
          <p:spPr bwMode="auto">
            <a:xfrm>
              <a:off x="339725" y="2992438"/>
              <a:ext cx="169863" cy="18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5" name="AutoShape 95">
            <a:extLst>
              <a:ext uri="{FF2B5EF4-FFF2-40B4-BE49-F238E27FC236}">
                <a16:creationId xmlns:a16="http://schemas.microsoft.com/office/drawing/2014/main" id="{4B17BD7B-0477-3E57-CB95-6F09CFC6043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234912" y="4261359"/>
            <a:ext cx="1532186" cy="3678237"/>
          </a:xfrm>
          <a:prstGeom prst="roundRect">
            <a:avLst>
              <a:gd name="adj" fmla="val 4560"/>
            </a:avLst>
          </a:prstGeom>
          <a:gradFill rotWithShape="1">
            <a:gsLst>
              <a:gs pos="0">
                <a:srgbClr val="EAEAEA"/>
              </a:gs>
              <a:gs pos="100000">
                <a:srgbClr val="EAEAEA">
                  <a:gamma/>
                  <a:tint val="31765"/>
                  <a:invGamma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algn="ctr">
                <a:solidFill>
                  <a:srgbClr val="4D4D4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8948" tIns="0" rIns="95637" bIns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36" name="AutoShape 95">
            <a:extLst>
              <a:ext uri="{FF2B5EF4-FFF2-40B4-BE49-F238E27FC236}">
                <a16:creationId xmlns:a16="http://schemas.microsoft.com/office/drawing/2014/main" id="{2A18CB12-F5CF-7522-2239-33F7F06DC01B}"/>
              </a:ext>
            </a:extLst>
          </p:cNvPr>
          <p:cNvSpPr>
            <a:spLocks noChangeArrowheads="1"/>
          </p:cNvSpPr>
          <p:nvPr/>
        </p:nvSpPr>
        <p:spPr bwMode="gray">
          <a:xfrm>
            <a:off x="2060848" y="4261359"/>
            <a:ext cx="1532186" cy="3678237"/>
          </a:xfrm>
          <a:prstGeom prst="roundRect">
            <a:avLst>
              <a:gd name="adj" fmla="val 4560"/>
            </a:avLst>
          </a:prstGeom>
          <a:gradFill rotWithShape="1">
            <a:gsLst>
              <a:gs pos="0">
                <a:srgbClr val="EAEAEA"/>
              </a:gs>
              <a:gs pos="100000">
                <a:srgbClr val="EAEAEA">
                  <a:gamma/>
                  <a:tint val="31765"/>
                  <a:invGamma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algn="ctr">
                <a:solidFill>
                  <a:srgbClr val="4D4D4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8948" tIns="0" rIns="95637" bIns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237" name="그룹 236">
            <a:extLst>
              <a:ext uri="{FF2B5EF4-FFF2-40B4-BE49-F238E27FC236}">
                <a16:creationId xmlns:a16="http://schemas.microsoft.com/office/drawing/2014/main" id="{E5CA307B-6D93-3336-C58D-2E35F54BF5FE}"/>
              </a:ext>
            </a:extLst>
          </p:cNvPr>
          <p:cNvGrpSpPr/>
          <p:nvPr/>
        </p:nvGrpSpPr>
        <p:grpSpPr>
          <a:xfrm>
            <a:off x="225325" y="3199850"/>
            <a:ext cx="6386815" cy="3649109"/>
            <a:chOff x="225326" y="2288704"/>
            <a:chExt cx="5795962" cy="3311525"/>
          </a:xfrm>
        </p:grpSpPr>
        <p:sp>
          <p:nvSpPr>
            <p:cNvPr id="238" name="AutoShape 97">
              <a:extLst>
                <a:ext uri="{FF2B5EF4-FFF2-40B4-BE49-F238E27FC236}">
                  <a16:creationId xmlns:a16="http://schemas.microsoft.com/office/drawing/2014/main" id="{656428B5-100C-9DD6-6075-D487AD3D85E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998563" y="3044354"/>
              <a:ext cx="1219200" cy="541338"/>
            </a:xfrm>
            <a:prstGeom prst="roundRect">
              <a:avLst>
                <a:gd name="adj" fmla="val 6509"/>
              </a:avLst>
            </a:prstGeom>
            <a:solidFill>
              <a:srgbClr val="FFFFFF"/>
            </a:solidFill>
            <a:ln w="31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8948" tIns="0" rIns="95637" bIns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i="0" u="none" strike="noStrike" kern="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rPr>
                <a:t>SLA </a:t>
              </a:r>
              <a:r>
                <a:rPr kumimoji="1" lang="ko-KR" altLang="en-US" sz="1200" i="0" u="none" strike="noStrike" kern="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rPr>
                <a:t>책임자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i="0" u="none" strike="noStrike" kern="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rPr>
                <a:t>(</a:t>
              </a:r>
              <a:r>
                <a:rPr kumimoji="1" lang="ko-KR" altLang="en-US" sz="1200" i="0" u="none" strike="noStrike" kern="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rPr>
                <a:t>사업 총괄 팀장</a:t>
              </a:r>
              <a:r>
                <a:rPr kumimoji="1" lang="en-US" altLang="ko-KR" sz="1200" i="0" u="none" strike="noStrike" kern="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rPr>
                <a:t>)</a:t>
              </a:r>
            </a:p>
          </p:txBody>
        </p:sp>
        <p:grpSp>
          <p:nvGrpSpPr>
            <p:cNvPr id="239" name="Group 98">
              <a:extLst>
                <a:ext uri="{FF2B5EF4-FFF2-40B4-BE49-F238E27FC236}">
                  <a16:creationId xmlns:a16="http://schemas.microsoft.com/office/drawing/2014/main" id="{473015EA-412E-C977-E2E3-2205C2E10B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20788" y="2288704"/>
              <a:ext cx="1052513" cy="519113"/>
              <a:chOff x="412" y="3529"/>
              <a:chExt cx="663" cy="327"/>
            </a:xfrm>
          </p:grpSpPr>
          <p:sp>
            <p:nvSpPr>
              <p:cNvPr id="257" name="AutoShape 99">
                <a:extLst>
                  <a:ext uri="{FF2B5EF4-FFF2-40B4-BE49-F238E27FC236}">
                    <a16:creationId xmlns:a16="http://schemas.microsoft.com/office/drawing/2014/main" id="{D8D7F9FC-0756-DAD7-E72F-B7FF14E147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" y="3529"/>
                <a:ext cx="648" cy="327"/>
              </a:xfrm>
              <a:prstGeom prst="roundRect">
                <a:avLst>
                  <a:gd name="adj" fmla="val 10870"/>
                </a:avLst>
              </a:prstGeom>
              <a:gradFill rotWithShape="1">
                <a:gsLst>
                  <a:gs pos="0">
                    <a:srgbClr val="9DCBF1"/>
                  </a:gs>
                  <a:gs pos="100000">
                    <a:srgbClr val="9DCBF1">
                      <a:gamma/>
                      <a:tint val="69804"/>
                      <a:invGamma/>
                    </a:srgbClr>
                  </a:gs>
                </a:gsLst>
                <a:lin ang="2700000" scaled="1"/>
              </a:gradFill>
              <a:ln w="12700" algn="ctr">
                <a:solidFill>
                  <a:srgbClr val="FFFFFF"/>
                </a:solidFill>
                <a:round/>
                <a:headEnd/>
                <a:tailEnd/>
              </a:ln>
              <a:effectLst>
                <a:outerShdw dist="17961" dir="2700000" algn="ctr" rotWithShape="0">
                  <a:srgbClr val="B2B2B2"/>
                </a:outerShdw>
              </a:effectLst>
            </p:spPr>
            <p:txBody>
              <a:bodyPr lIns="0" tIns="0" rIns="0" bIns="0" anchor="ctr"/>
              <a:lstStyle/>
              <a:p>
                <a:pPr algn="ctr" defTabSz="995363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ko-KR" sz="1100">
                    <a:solidFill>
                      <a:srgbClr val="000000"/>
                    </a:solidFill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258" name="Text Box 100">
                <a:extLst>
                  <a:ext uri="{FF2B5EF4-FFF2-40B4-BE49-F238E27FC236}">
                    <a16:creationId xmlns:a16="http://schemas.microsoft.com/office/drawing/2014/main" id="{64074657-A1B3-11CB-9CF6-2C84835BC0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412" y="3629"/>
                <a:ext cx="662" cy="1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fontAlgn="base" latinLnBrk="0"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ko-KR" altLang="ko-KR" sz="1000">
                    <a:solidFill>
                      <a:srgbClr val="000000"/>
                    </a:solidFill>
                    <a:latin typeface="+mn-ea"/>
                    <a:ea typeface="+mn-ea"/>
                  </a:rPr>
                  <a:t>고객사</a:t>
                </a:r>
              </a:p>
            </p:txBody>
          </p:sp>
        </p:grpSp>
        <p:sp>
          <p:nvSpPr>
            <p:cNvPr id="240" name="AutoShape 101">
              <a:extLst>
                <a:ext uri="{FF2B5EF4-FFF2-40B4-BE49-F238E27FC236}">
                  <a16:creationId xmlns:a16="http://schemas.microsoft.com/office/drawing/2014/main" id="{C572BB73-6EBB-E4A6-5B01-42FAE4259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76" y="2972917"/>
              <a:ext cx="1028700" cy="669925"/>
            </a:xfrm>
            <a:prstGeom prst="roundRect">
              <a:avLst>
                <a:gd name="adj" fmla="val 10870"/>
              </a:avLst>
            </a:prstGeom>
            <a:gradFill rotWithShape="1">
              <a:gsLst>
                <a:gs pos="0">
                  <a:srgbClr val="CFCFCF"/>
                </a:gs>
                <a:gs pos="100000">
                  <a:srgbClr val="CFCFCF">
                    <a:gamma/>
                    <a:tint val="0"/>
                    <a:invGamma/>
                  </a:srgbClr>
                </a:gs>
              </a:gsLst>
              <a:lin ang="270000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17961" dir="2700000" algn="ctr" rotWithShape="0">
                <a:srgbClr val="B2B2B2"/>
              </a:outerShdw>
            </a:effectLst>
          </p:spPr>
          <p:txBody>
            <a:bodyPr lIns="0" tIns="0" rIns="0" bIns="0" anchor="ctr"/>
            <a:lstStyle/>
            <a:p>
              <a:pPr algn="ctr" defTabSz="995363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1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241" name="Text Box 102">
              <a:extLst>
                <a:ext uri="{FF2B5EF4-FFF2-40B4-BE49-F238E27FC236}">
                  <a16:creationId xmlns:a16="http://schemas.microsoft.com/office/drawing/2014/main" id="{4AB937BD-54B3-C77B-49BD-3758E4AEE2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98363" y="3208858"/>
              <a:ext cx="1050925" cy="223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fontAlgn="base" latinLnBrk="0">
                <a:spcBef>
                  <a:spcPct val="50000"/>
                </a:spcBef>
                <a:spcAft>
                  <a:spcPct val="0"/>
                </a:spcAft>
              </a:pPr>
              <a:r>
                <a:rPr kumimoji="1" lang="ko-KR" altLang="en-US" sz="1000" i="1">
                  <a:solidFill>
                    <a:srgbClr val="000000"/>
                  </a:solidFill>
                  <a:latin typeface="+mn-ea"/>
                  <a:ea typeface="+mn-ea"/>
                </a:rPr>
                <a:t>경영운영위원회</a:t>
              </a:r>
            </a:p>
          </p:txBody>
        </p:sp>
        <p:sp>
          <p:nvSpPr>
            <p:cNvPr id="242" name="AutoShape 103">
              <a:extLst>
                <a:ext uri="{FF2B5EF4-FFF2-40B4-BE49-F238E27FC236}">
                  <a16:creationId xmlns:a16="http://schemas.microsoft.com/office/drawing/2014/main" id="{3C3E220F-B2A0-04AB-B9EA-9BCCD1A7CAA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26" y="2907232"/>
              <a:ext cx="5792787" cy="821334"/>
            </a:xfrm>
            <a:prstGeom prst="roundRect">
              <a:avLst>
                <a:gd name="adj" fmla="val 8847"/>
              </a:avLst>
            </a:prstGeom>
            <a:noFill/>
            <a:ln w="28575" algn="ctr">
              <a:solidFill>
                <a:srgbClr val="003366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8948" tIns="0" rIns="95637" bIns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43" name="AutoShape 104">
              <a:extLst>
                <a:ext uri="{FF2B5EF4-FFF2-40B4-BE49-F238E27FC236}">
                  <a16:creationId xmlns:a16="http://schemas.microsoft.com/office/drawing/2014/main" id="{4E844173-53B9-0826-9DFD-3D6D14B2C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701" y="3887317"/>
              <a:ext cx="1028700" cy="669925"/>
            </a:xfrm>
            <a:prstGeom prst="roundRect">
              <a:avLst>
                <a:gd name="adj" fmla="val 10870"/>
              </a:avLst>
            </a:prstGeom>
            <a:gradFill rotWithShape="1">
              <a:gsLst>
                <a:gs pos="0">
                  <a:srgbClr val="CFCFCF"/>
                </a:gs>
                <a:gs pos="100000">
                  <a:srgbClr val="CFCFCF">
                    <a:gamma/>
                    <a:tint val="0"/>
                    <a:invGamma/>
                  </a:srgbClr>
                </a:gs>
              </a:gsLst>
              <a:lin ang="270000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17961" dir="2700000" algn="ctr" rotWithShape="0">
                <a:srgbClr val="B2B2B2"/>
              </a:outerShdw>
            </a:effectLst>
          </p:spPr>
          <p:txBody>
            <a:bodyPr lIns="0" tIns="0" rIns="0" bIns="0" anchor="ctr"/>
            <a:lstStyle/>
            <a:p>
              <a:pPr algn="ctr" defTabSz="995363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1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244" name="Text Box 105">
              <a:extLst>
                <a:ext uri="{FF2B5EF4-FFF2-40B4-BE49-F238E27FC236}">
                  <a16:creationId xmlns:a16="http://schemas.microsoft.com/office/drawing/2014/main" id="{8457FAA7-21D4-6015-77B8-09F853D07E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07888" y="4123258"/>
              <a:ext cx="1050925" cy="223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fontAlgn="base" latinLnBrk="0">
                <a:spcBef>
                  <a:spcPct val="50000"/>
                </a:spcBef>
                <a:spcAft>
                  <a:spcPct val="0"/>
                </a:spcAft>
              </a:pPr>
              <a:r>
                <a:rPr kumimoji="1" lang="ko-KR" altLang="en-US" sz="1000" i="1" dirty="0">
                  <a:solidFill>
                    <a:srgbClr val="000000"/>
                  </a:solidFill>
                  <a:latin typeface="+mn-ea"/>
                  <a:ea typeface="+mn-ea"/>
                </a:rPr>
                <a:t>실무운영위원회</a:t>
              </a:r>
            </a:p>
          </p:txBody>
        </p:sp>
        <p:grpSp>
          <p:nvGrpSpPr>
            <p:cNvPr id="245" name="Group 106">
              <a:extLst>
                <a:ext uri="{FF2B5EF4-FFF2-40B4-BE49-F238E27FC236}">
                  <a16:creationId xmlns:a16="http://schemas.microsoft.com/office/drawing/2014/main" id="{98D60083-644C-E164-1DBC-6A425EC586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08338" y="2288704"/>
              <a:ext cx="1052513" cy="519113"/>
              <a:chOff x="412" y="3529"/>
              <a:chExt cx="663" cy="327"/>
            </a:xfrm>
          </p:grpSpPr>
          <p:sp>
            <p:nvSpPr>
              <p:cNvPr id="255" name="AutoShape 107">
                <a:extLst>
                  <a:ext uri="{FF2B5EF4-FFF2-40B4-BE49-F238E27FC236}">
                    <a16:creationId xmlns:a16="http://schemas.microsoft.com/office/drawing/2014/main" id="{7AB7447B-D96B-FD6C-33DB-4C61490A9E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" y="3529"/>
                <a:ext cx="648" cy="327"/>
              </a:xfrm>
              <a:prstGeom prst="roundRect">
                <a:avLst>
                  <a:gd name="adj" fmla="val 10870"/>
                </a:avLst>
              </a:prstGeom>
              <a:gradFill rotWithShape="1">
                <a:gsLst>
                  <a:gs pos="0">
                    <a:srgbClr val="9DCBF1"/>
                  </a:gs>
                  <a:gs pos="100000">
                    <a:srgbClr val="9DCBF1">
                      <a:gamma/>
                      <a:tint val="69804"/>
                      <a:invGamma/>
                    </a:srgbClr>
                  </a:gs>
                </a:gsLst>
                <a:lin ang="2700000" scaled="1"/>
              </a:gradFill>
              <a:ln w="12700" algn="ctr">
                <a:solidFill>
                  <a:srgbClr val="FFFFFF"/>
                </a:solidFill>
                <a:round/>
                <a:headEnd/>
                <a:tailEnd/>
              </a:ln>
              <a:effectLst>
                <a:outerShdw dist="17961" dir="2700000" algn="ctr" rotWithShape="0">
                  <a:srgbClr val="B2B2B2"/>
                </a:outerShdw>
              </a:effectLst>
            </p:spPr>
            <p:txBody>
              <a:bodyPr lIns="0" tIns="0" rIns="0" bIns="0" anchor="ctr"/>
              <a:lstStyle/>
              <a:p>
                <a:pPr algn="ctr" defTabSz="995363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ko-KR" sz="1100">
                    <a:solidFill>
                      <a:srgbClr val="000000"/>
                    </a:solidFill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256" name="Text Box 108">
                <a:extLst>
                  <a:ext uri="{FF2B5EF4-FFF2-40B4-BE49-F238E27FC236}">
                    <a16:creationId xmlns:a16="http://schemas.microsoft.com/office/drawing/2014/main" id="{8721D7C9-4F33-2370-071A-1D87346CB5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412" y="3629"/>
                <a:ext cx="662" cy="1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fontAlgn="base" latinLnBrk="0"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ko-KR" altLang="en-US" sz="1000" dirty="0">
                    <a:solidFill>
                      <a:srgbClr val="000000"/>
                    </a:solidFill>
                    <a:latin typeface="+mn-ea"/>
                    <a:ea typeface="+mn-ea"/>
                  </a:rPr>
                  <a:t>제안사</a:t>
                </a:r>
              </a:p>
            </p:txBody>
          </p:sp>
        </p:grpSp>
        <p:sp>
          <p:nvSpPr>
            <p:cNvPr id="246" name="AutoShape 109">
              <a:extLst>
                <a:ext uri="{FF2B5EF4-FFF2-40B4-BE49-F238E27FC236}">
                  <a16:creationId xmlns:a16="http://schemas.microsoft.com/office/drawing/2014/main" id="{11B7DA3B-FCA1-72C4-95F9-80B4D1723B0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949601" y="3044354"/>
              <a:ext cx="1219200" cy="541338"/>
            </a:xfrm>
            <a:prstGeom prst="roundRect">
              <a:avLst>
                <a:gd name="adj" fmla="val 6509"/>
              </a:avLst>
            </a:prstGeom>
            <a:solidFill>
              <a:srgbClr val="FFFFFF"/>
            </a:solidFill>
            <a:ln w="31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8948" tIns="0" rIns="95637" bIns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rPr>
                <a:t>SLA </a:t>
              </a:r>
              <a:r>
                <a:rPr kumimoji="1" lang="ko-KR" altLang="en-US" sz="12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rPr>
                <a:t>책임자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rPr>
                <a:t>(</a:t>
              </a:r>
              <a:r>
                <a:rPr kumimoji="1" lang="ko-KR" altLang="en-US" sz="12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rPr>
                <a:t>사업  총괄</a:t>
              </a:r>
              <a:r>
                <a:rPr kumimoji="1" lang="en-US" altLang="ko-KR" sz="12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rPr>
                <a:t>)</a:t>
              </a:r>
            </a:p>
          </p:txBody>
        </p:sp>
        <p:sp>
          <p:nvSpPr>
            <p:cNvPr id="247" name="AutoShape 110">
              <a:extLst>
                <a:ext uri="{FF2B5EF4-FFF2-40B4-BE49-F238E27FC236}">
                  <a16:creationId xmlns:a16="http://schemas.microsoft.com/office/drawing/2014/main" id="{70B0AB7C-C528-8571-E400-0A673B81DD2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8501" y="3801592"/>
              <a:ext cx="5792787" cy="863600"/>
            </a:xfrm>
            <a:prstGeom prst="roundRect">
              <a:avLst>
                <a:gd name="adj" fmla="val 8847"/>
              </a:avLst>
            </a:prstGeom>
            <a:noFill/>
            <a:ln w="28575" algn="ctr">
              <a:solidFill>
                <a:srgbClr val="003366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8948" tIns="0" rIns="95637" bIns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48" name="AutoShape 111">
              <a:extLst>
                <a:ext uri="{FF2B5EF4-FFF2-40B4-BE49-F238E27FC236}">
                  <a16:creationId xmlns:a16="http://schemas.microsoft.com/office/drawing/2014/main" id="{8B729199-E470-2434-F4E1-D04A9D2DB05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8501" y="4736629"/>
              <a:ext cx="5792787" cy="863600"/>
            </a:xfrm>
            <a:prstGeom prst="roundRect">
              <a:avLst>
                <a:gd name="adj" fmla="val 8847"/>
              </a:avLst>
            </a:prstGeom>
            <a:noFill/>
            <a:ln w="28575" algn="ctr">
              <a:solidFill>
                <a:srgbClr val="003366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8948" tIns="0" rIns="95637" bIns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49" name="AutoShape 112">
              <a:extLst>
                <a:ext uri="{FF2B5EF4-FFF2-40B4-BE49-F238E27FC236}">
                  <a16:creationId xmlns:a16="http://schemas.microsoft.com/office/drawing/2014/main" id="{D7985984-A6F6-5F1C-B184-0280B4F98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701" y="4809654"/>
              <a:ext cx="1028700" cy="669925"/>
            </a:xfrm>
            <a:prstGeom prst="roundRect">
              <a:avLst>
                <a:gd name="adj" fmla="val 10870"/>
              </a:avLst>
            </a:prstGeom>
            <a:gradFill rotWithShape="1">
              <a:gsLst>
                <a:gs pos="0">
                  <a:srgbClr val="CFCFCF"/>
                </a:gs>
                <a:gs pos="100000">
                  <a:srgbClr val="CFCFCF">
                    <a:gamma/>
                    <a:tint val="0"/>
                    <a:invGamma/>
                  </a:srgbClr>
                </a:gs>
              </a:gsLst>
              <a:lin ang="270000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17961" dir="2700000" algn="ctr" rotWithShape="0">
                <a:srgbClr val="B2B2B2"/>
              </a:outerShdw>
            </a:effectLst>
          </p:spPr>
          <p:txBody>
            <a:bodyPr lIns="0" tIns="0" rIns="0" bIns="0" anchor="ctr"/>
            <a:lstStyle/>
            <a:p>
              <a:pPr algn="ctr" defTabSz="995363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1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250" name="Text Box 113">
              <a:extLst>
                <a:ext uri="{FF2B5EF4-FFF2-40B4-BE49-F238E27FC236}">
                  <a16:creationId xmlns:a16="http://schemas.microsoft.com/office/drawing/2014/main" id="{61F63292-F76B-8BC3-C4D0-FD6B83B269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07888" y="5045595"/>
              <a:ext cx="1050925" cy="223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fontAlgn="base" latinLnBrk="0">
                <a:spcBef>
                  <a:spcPct val="50000"/>
                </a:spcBef>
                <a:spcAft>
                  <a:spcPct val="0"/>
                </a:spcAft>
              </a:pPr>
              <a:r>
                <a:rPr kumimoji="1" lang="ko-KR" altLang="en-US" sz="1000" i="1">
                  <a:solidFill>
                    <a:srgbClr val="000000"/>
                  </a:solidFill>
                  <a:latin typeface="+mn-ea"/>
                  <a:ea typeface="+mn-ea"/>
                </a:rPr>
                <a:t>실무자</a:t>
              </a:r>
            </a:p>
          </p:txBody>
        </p:sp>
        <p:sp>
          <p:nvSpPr>
            <p:cNvPr id="251" name="AutoShape 114">
              <a:extLst>
                <a:ext uri="{FF2B5EF4-FFF2-40B4-BE49-F238E27FC236}">
                  <a16:creationId xmlns:a16="http://schemas.microsoft.com/office/drawing/2014/main" id="{DD2759F8-2A60-063F-2975-BB7EE4B651A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992213" y="3955579"/>
              <a:ext cx="1219200" cy="541338"/>
            </a:xfrm>
            <a:prstGeom prst="roundRect">
              <a:avLst>
                <a:gd name="adj" fmla="val 6509"/>
              </a:avLst>
            </a:prstGeom>
            <a:solidFill>
              <a:srgbClr val="FFFFFF"/>
            </a:solidFill>
            <a:ln w="31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8948" tIns="0" rIns="95637" bIns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en-US" sz="1200" i="0" u="none" strike="noStrike" kern="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rPr>
                <a:t>SLA 관리자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en-US" sz="1200" i="0" u="none" strike="noStrike" kern="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rPr>
                <a:t>(관리총괄담당자)</a:t>
              </a:r>
              <a:endParaRPr kumimoji="1" lang="en-US" altLang="ko-KR" sz="120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52" name="AutoShape 115">
              <a:extLst>
                <a:ext uri="{FF2B5EF4-FFF2-40B4-BE49-F238E27FC236}">
                  <a16:creationId xmlns:a16="http://schemas.microsoft.com/office/drawing/2014/main" id="{82C0A0D2-2948-4D3A-92E9-1B6CF932A71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992213" y="4879504"/>
              <a:ext cx="1219200" cy="541338"/>
            </a:xfrm>
            <a:prstGeom prst="roundRect">
              <a:avLst>
                <a:gd name="adj" fmla="val 6509"/>
              </a:avLst>
            </a:prstGeom>
            <a:solidFill>
              <a:srgbClr val="FFFFFF"/>
            </a:solidFill>
            <a:ln w="31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8948" tIns="0" rIns="95637" bIns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en-US" sz="1200" i="0" u="none" strike="noStrike" kern="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rPr>
                <a:t>운영 담당자</a:t>
              </a:r>
              <a:endParaRPr kumimoji="1" lang="ko-KR" altLang="en-US" sz="120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53" name="AutoShape 116">
              <a:extLst>
                <a:ext uri="{FF2B5EF4-FFF2-40B4-BE49-F238E27FC236}">
                  <a16:creationId xmlns:a16="http://schemas.microsoft.com/office/drawing/2014/main" id="{AA9D0E83-3B9F-1225-25C6-6B5CCFC3107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924201" y="4881092"/>
              <a:ext cx="1219200" cy="541337"/>
            </a:xfrm>
            <a:prstGeom prst="roundRect">
              <a:avLst>
                <a:gd name="adj" fmla="val 6509"/>
              </a:avLst>
            </a:prstGeom>
            <a:solidFill>
              <a:srgbClr val="FFFFFF"/>
            </a:solidFill>
            <a:ln w="31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8948" tIns="0" rIns="95637" bIns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en-US" sz="1200" i="0" u="none" strike="noStrike" kern="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rPr>
                <a:t>상주운영자/</a:t>
              </a:r>
              <a:endParaRPr kumimoji="1" lang="en-US" altLang="ko-KR" sz="120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en-US" sz="1200" i="0" u="none" strike="noStrike" kern="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rPr>
                <a:t>유지보수인력</a:t>
              </a:r>
              <a:endParaRPr kumimoji="1" lang="ko-KR" altLang="en-US" sz="120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54" name="AutoShape 117">
              <a:extLst>
                <a:ext uri="{FF2B5EF4-FFF2-40B4-BE49-F238E27FC236}">
                  <a16:creationId xmlns:a16="http://schemas.microsoft.com/office/drawing/2014/main" id="{D8D5F587-2ED7-E725-A4A2-148F43EA277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936901" y="3963517"/>
              <a:ext cx="1219200" cy="541337"/>
            </a:xfrm>
            <a:prstGeom prst="roundRect">
              <a:avLst>
                <a:gd name="adj" fmla="val 6509"/>
              </a:avLst>
            </a:prstGeom>
            <a:solidFill>
              <a:srgbClr val="FFFFFF"/>
            </a:solidFill>
            <a:ln w="31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8948" tIns="0" rIns="95637" bIns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rPr>
                <a:t>SLA </a:t>
              </a:r>
              <a:r>
                <a:rPr kumimoji="1" lang="ko-KR" altLang="en-US" sz="12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rPr>
                <a:t>관리자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rPr>
                <a:t>(</a:t>
              </a:r>
              <a:r>
                <a:rPr kumimoji="1" lang="ko-KR" altLang="en-US" sz="12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rPr>
                <a:t>수행 </a:t>
              </a:r>
              <a:r>
                <a:rPr kumimoji="1" lang="en-US" altLang="ko-KR" sz="120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rPr>
                <a:t>PM)</a:t>
              </a:r>
            </a:p>
          </p:txBody>
        </p:sp>
      </p:grpSp>
      <p:graphicFrame>
        <p:nvGraphicFramePr>
          <p:cNvPr id="259" name="Group 118">
            <a:extLst>
              <a:ext uri="{FF2B5EF4-FFF2-40B4-BE49-F238E27FC236}">
                <a16:creationId xmlns:a16="http://schemas.microsoft.com/office/drawing/2014/main" id="{9D970B8B-9F9F-2076-A919-252D37F9F6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674772"/>
              </p:ext>
            </p:extLst>
          </p:nvPr>
        </p:nvGraphicFramePr>
        <p:xfrm>
          <a:off x="188913" y="7039463"/>
          <a:ext cx="6480174" cy="2295132"/>
        </p:xfrm>
        <a:graphic>
          <a:graphicData uri="http://schemas.openxmlformats.org/drawingml/2006/table">
            <a:tbl>
              <a:tblPr/>
              <a:tblGrid>
                <a:gridCol w="2020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9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235825" algn="r"/>
                        </a:tabLst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구분</a:t>
                      </a: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9CB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235825" algn="r"/>
                        </a:tabLst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주요기능</a:t>
                      </a:r>
                    </a:p>
                  </a:txBody>
                  <a:tcPr marL="54000" marR="54000" marT="18000" marB="18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9C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04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235825" algn="r"/>
                        </a:tabLst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경영운영위원회</a:t>
                      </a: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Char char="§"/>
                        <a:tabLst>
                          <a:tab pos="7235825" algn="r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운영서비스 실무위원회로부터 상정된 안건에 대한 심의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조정</a:t>
                      </a: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Char char="§"/>
                        <a:tabLst>
                          <a:tab pos="7235825" algn="r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계약 내용 변경 및 개정 승인</a:t>
                      </a:r>
                    </a:p>
                  </a:txBody>
                  <a:tcPr marL="54000" marR="54000" marT="18000" marB="18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04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235825" algn="r"/>
                        </a:tabLst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실무운영위원회</a:t>
                      </a: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Char char="§"/>
                        <a:tabLst>
                          <a:tab pos="7235825" algn="r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월간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연간 보고 주관</a:t>
                      </a: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7235825" algn="r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  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서비스 실적평가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개선활동 및 관리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패널티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보상 적용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, SLA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개정</a:t>
                      </a: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Char char="§"/>
                        <a:tabLst>
                          <a:tab pos="7235825" algn="r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실무자 간 합의 미 도출 사항의 경영위원회 상정</a:t>
                      </a:r>
                    </a:p>
                  </a:txBody>
                  <a:tcPr marL="54000" marR="54000" marT="18000" marB="18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04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235825" algn="r"/>
                        </a:tabLst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실무자</a:t>
                      </a:r>
                    </a:p>
                  </a:txBody>
                  <a:tcPr marL="54000" marR="54000" marT="18000" marB="1800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Char char="§"/>
                        <a:tabLst>
                          <a:tab pos="7235825" algn="r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관리 지표 수집</a:t>
                      </a: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Char char="§"/>
                        <a:tabLst>
                          <a:tab pos="7235825" algn="r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개선 사항 이행</a:t>
                      </a:r>
                    </a:p>
                  </a:txBody>
                  <a:tcPr marL="54000" marR="54000" marT="18000" marB="18000" anchor="ctr" horzOverflow="overflow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5ADB6CFD-367F-02D7-5A96-B47003E7BE66}"/>
              </a:ext>
            </a:extLst>
          </p:cNvPr>
          <p:cNvGrpSpPr/>
          <p:nvPr/>
        </p:nvGrpSpPr>
        <p:grpSpPr>
          <a:xfrm>
            <a:off x="317654" y="667364"/>
            <a:ext cx="3795422" cy="351189"/>
            <a:chOff x="760846" y="854534"/>
            <a:chExt cx="3795422" cy="35118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829045-8C3B-F8A8-B2BC-3B2DBBCAA02E}"/>
                </a:ext>
              </a:extLst>
            </p:cNvPr>
            <p:cNvSpPr txBox="1"/>
            <p:nvPr/>
          </p:nvSpPr>
          <p:spPr>
            <a:xfrm flipH="1">
              <a:off x="1171266" y="891629"/>
              <a:ext cx="338500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r>
                <a:rPr lang="ko-KR" altLang="en-US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사업관리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010A584B-B986-6A1E-18B3-CE6E37446D3F}"/>
                </a:ext>
              </a:extLst>
            </p:cNvPr>
            <p:cNvGrpSpPr/>
            <p:nvPr/>
          </p:nvGrpSpPr>
          <p:grpSpPr>
            <a:xfrm>
              <a:off x="760846" y="854534"/>
              <a:ext cx="324620" cy="351189"/>
              <a:chOff x="539750" y="2917808"/>
              <a:chExt cx="526237" cy="526236"/>
            </a:xfrm>
          </p:grpSpPr>
          <p:sp>
            <p:nvSpPr>
              <p:cNvPr id="10" name="모서리가 둥근 직사각형 4">
                <a:extLst>
                  <a:ext uri="{FF2B5EF4-FFF2-40B4-BE49-F238E27FC236}">
                    <a16:creationId xmlns:a16="http://schemas.microsoft.com/office/drawing/2014/main" id="{0029786B-2381-9E77-D8A6-1FEB7B2F40F7}"/>
                  </a:ext>
                </a:extLst>
              </p:cNvPr>
              <p:cNvSpPr/>
              <p:nvPr/>
            </p:nvSpPr>
            <p:spPr>
              <a:xfrm>
                <a:off x="539750" y="2917808"/>
                <a:ext cx="526237" cy="526236"/>
              </a:xfrm>
              <a:prstGeom prst="roundRect">
                <a:avLst>
                  <a:gd name="adj" fmla="val 11229"/>
                </a:avLst>
              </a:prstGeom>
              <a:solidFill>
                <a:srgbClr val="00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3C16A23-BF50-51DF-8BF8-93DAA8270211}"/>
                  </a:ext>
                </a:extLst>
              </p:cNvPr>
              <p:cNvSpPr txBox="1"/>
              <p:nvPr/>
            </p:nvSpPr>
            <p:spPr>
              <a:xfrm flipH="1">
                <a:off x="636582" y="2952530"/>
                <a:ext cx="338951" cy="46118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#</a:t>
                </a:r>
              </a:p>
            </p:txBody>
          </p:sp>
        </p:grpSp>
      </p:grpSp>
      <p:sp>
        <p:nvSpPr>
          <p:cNvPr id="12" name="Text Box 37">
            <a:extLst>
              <a:ext uri="{FF2B5EF4-FFF2-40B4-BE49-F238E27FC236}">
                <a16:creationId xmlns:a16="http://schemas.microsoft.com/office/drawing/2014/main" id="{00CE31BE-B248-B89C-8176-CE83233FD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952" y="1215900"/>
            <a:ext cx="6269248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1pPr>
            <a:lvl2pPr marL="742950" indent="-28575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2pPr>
            <a:lvl3pPr marL="11430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3pPr>
            <a:lvl4pPr marL="16002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4pPr>
            <a:lvl5pPr marL="20574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9pPr>
          </a:lstStyle>
          <a:p>
            <a:pPr eaLnBrk="1" latinLnBrk="0" hangingPunct="1">
              <a:lnSpc>
                <a:spcPct val="120000"/>
              </a:lnSpc>
              <a:defRPr/>
            </a:pP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2. SLA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관리</a:t>
            </a:r>
            <a:endParaRPr lang="en-US" altLang="ko-KR" sz="1200" dirty="0">
              <a:solidFill>
                <a:srgbClr val="000000">
                  <a:lumMod val="75000"/>
                  <a:lumOff val="25000"/>
                </a:srgbClr>
              </a:solidFill>
              <a:latin typeface="+mn-ea"/>
              <a:ea typeface="+mn-ea"/>
              <a:cs typeface="Arial" pitchFamily="34" charset="0"/>
            </a:endParaRPr>
          </a:p>
          <a:p>
            <a:pPr eaLnBrk="1" latinLnBrk="0" hangingPunct="1">
              <a:lnSpc>
                <a:spcPct val="120000"/>
              </a:lnSpc>
              <a:defRPr/>
            </a:pP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2.4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서비스 수준 관리 협의체 구성 방안</a:t>
            </a:r>
          </a:p>
        </p:txBody>
      </p:sp>
      <p:grpSp>
        <p:nvGrpSpPr>
          <p:cNvPr id="13" name="그룹 215">
            <a:extLst>
              <a:ext uri="{FF2B5EF4-FFF2-40B4-BE49-F238E27FC236}">
                <a16:creationId xmlns:a16="http://schemas.microsoft.com/office/drawing/2014/main" id="{EED49B73-8F59-6F01-EC6A-BC0265A3B62E}"/>
              </a:ext>
            </a:extLst>
          </p:cNvPr>
          <p:cNvGrpSpPr>
            <a:grpSpLocks/>
          </p:cNvGrpSpPr>
          <p:nvPr/>
        </p:nvGrpSpPr>
        <p:grpSpPr bwMode="auto">
          <a:xfrm>
            <a:off x="296863" y="1680324"/>
            <a:ext cx="6219825" cy="819765"/>
            <a:chOff x="333374" y="1849606"/>
            <a:chExt cx="6219826" cy="1159040"/>
          </a:xfrm>
        </p:grpSpPr>
        <p:sp>
          <p:nvSpPr>
            <p:cNvPr id="14" name="AutoShape 84">
              <a:extLst>
                <a:ext uri="{FF2B5EF4-FFF2-40B4-BE49-F238E27FC236}">
                  <a16:creationId xmlns:a16="http://schemas.microsoft.com/office/drawing/2014/main" id="{42D848FC-1B41-022C-C8F2-6678AC4AA7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588" y="2018243"/>
              <a:ext cx="5929399" cy="565666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1pPr>
              <a:lvl2pPr marL="742950" indent="-28575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2pPr>
              <a:lvl3pPr marL="1143000" indent="-2286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3pPr>
              <a:lvl4pPr marL="1600200" indent="-2286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4pPr>
              <a:lvl5pPr marL="2057400" indent="-2286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9pPr>
            </a:lstStyle>
            <a:p>
              <a:pPr algn="just" eaLnBrk="1" latinLnBrk="0" hangingPunct="1">
                <a:lnSpc>
                  <a:spcPct val="120000"/>
                </a:lnSpc>
                <a:spcAft>
                  <a:spcPts val="0"/>
                </a:spcAft>
                <a:defRPr/>
              </a:pP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제안사은 서비스수준 관리에 대한 체계적인 의사소통을 위해 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SLA 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협의체를 운영합니다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. SLA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협의체는 경영운영위원회와 실무운영위원회로 구성되며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, 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경영운영위원회는 주로 실무조정이 어려운 사안에 대한 최종적인 의사결정을 담당합니다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.</a:t>
              </a:r>
            </a:p>
          </p:txBody>
        </p:sp>
        <p:grpSp>
          <p:nvGrpSpPr>
            <p:cNvPr id="15" name="그룹 217">
              <a:extLst>
                <a:ext uri="{FF2B5EF4-FFF2-40B4-BE49-F238E27FC236}">
                  <a16:creationId xmlns:a16="http://schemas.microsoft.com/office/drawing/2014/main" id="{F3BF0D95-AD67-7B48-6898-31C03A9F80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3374" y="1849606"/>
              <a:ext cx="6219826" cy="1159040"/>
              <a:chOff x="342900" y="1822561"/>
              <a:chExt cx="6148388" cy="1159040"/>
            </a:xfrm>
          </p:grpSpPr>
          <p:cxnSp>
            <p:nvCxnSpPr>
              <p:cNvPr id="16" name="직선 연결선 15">
                <a:extLst>
                  <a:ext uri="{FF2B5EF4-FFF2-40B4-BE49-F238E27FC236}">
                    <a16:creationId xmlns:a16="http://schemas.microsoft.com/office/drawing/2014/main" id="{E5FC95CD-9518-84A2-E31C-CFB5DB6F1CE6}"/>
                  </a:ext>
                </a:extLst>
              </p:cNvPr>
              <p:cNvCxnSpPr/>
              <p:nvPr/>
            </p:nvCxnSpPr>
            <p:spPr>
              <a:xfrm>
                <a:off x="342900" y="1905130"/>
                <a:ext cx="6148388" cy="0"/>
              </a:xfrm>
              <a:prstGeom prst="line">
                <a:avLst/>
              </a:prstGeom>
              <a:ln w="12700">
                <a:solidFill>
                  <a:srgbClr val="ADAD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AE309F0B-E03A-D0A1-1948-1950C9EBE9E6}"/>
                  </a:ext>
                </a:extLst>
              </p:cNvPr>
              <p:cNvCxnSpPr/>
              <p:nvPr/>
            </p:nvCxnSpPr>
            <p:spPr bwMode="auto">
              <a:xfrm>
                <a:off x="342900" y="1901954"/>
                <a:ext cx="0" cy="1079647"/>
              </a:xfrm>
              <a:prstGeom prst="line">
                <a:avLst/>
              </a:prstGeom>
              <a:ln w="12700">
                <a:solidFill>
                  <a:srgbClr val="ADAD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94BC9BBF-565D-2811-EC9B-A91BAC41214C}"/>
                  </a:ext>
                </a:extLst>
              </p:cNvPr>
              <p:cNvCxnSpPr/>
              <p:nvPr/>
            </p:nvCxnSpPr>
            <p:spPr bwMode="auto">
              <a:xfrm>
                <a:off x="6387716" y="1822561"/>
                <a:ext cx="103572" cy="80980"/>
              </a:xfrm>
              <a:prstGeom prst="line">
                <a:avLst/>
              </a:prstGeom>
              <a:ln w="12700">
                <a:solidFill>
                  <a:srgbClr val="ADAD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6845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Box 37"/>
          <p:cNvSpPr txBox="1">
            <a:spLocks noChangeArrowheads="1"/>
          </p:cNvSpPr>
          <p:nvPr/>
        </p:nvSpPr>
        <p:spPr bwMode="auto">
          <a:xfrm>
            <a:off x="283952" y="1215900"/>
            <a:ext cx="6269248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1pPr>
            <a:lvl2pPr marL="742950" indent="-28575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2pPr>
            <a:lvl3pPr marL="11430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3pPr>
            <a:lvl4pPr marL="16002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4pPr>
            <a:lvl5pPr marL="20574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9pPr>
          </a:lstStyle>
          <a:p>
            <a:pPr eaLnBrk="1" latinLnBrk="0" hangingPunct="1">
              <a:lnSpc>
                <a:spcPct val="120000"/>
              </a:lnSpc>
              <a:defRPr/>
            </a:pP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3.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측정 및 개선</a:t>
            </a:r>
            <a:endParaRPr lang="en-US" altLang="ko-KR" sz="1200" dirty="0">
              <a:solidFill>
                <a:srgbClr val="000000">
                  <a:lumMod val="75000"/>
                  <a:lumOff val="25000"/>
                </a:srgbClr>
              </a:solidFill>
              <a:latin typeface="+mn-ea"/>
              <a:ea typeface="+mn-ea"/>
              <a:cs typeface="Arial" pitchFamily="34" charset="0"/>
            </a:endParaRPr>
          </a:p>
          <a:p>
            <a:pPr eaLnBrk="1" latinLnBrk="0" hangingPunct="1">
              <a:lnSpc>
                <a:spcPct val="120000"/>
              </a:lnSpc>
              <a:defRPr/>
            </a:pP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3.1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서비스 수준 관리 측정 체계 구축</a:t>
            </a:r>
          </a:p>
        </p:txBody>
      </p:sp>
      <p:grpSp>
        <p:nvGrpSpPr>
          <p:cNvPr id="101" name="그룹 215"/>
          <p:cNvGrpSpPr>
            <a:grpSpLocks/>
          </p:cNvGrpSpPr>
          <p:nvPr/>
        </p:nvGrpSpPr>
        <p:grpSpPr bwMode="auto">
          <a:xfrm>
            <a:off x="296863" y="1682911"/>
            <a:ext cx="6219825" cy="585772"/>
            <a:chOff x="333374" y="1849606"/>
            <a:chExt cx="6219826" cy="1159040"/>
          </a:xfrm>
        </p:grpSpPr>
        <p:sp>
          <p:nvSpPr>
            <p:cNvPr id="102" name="AutoShape 84"/>
            <p:cNvSpPr>
              <a:spLocks noChangeArrowheads="1"/>
            </p:cNvSpPr>
            <p:nvPr/>
          </p:nvSpPr>
          <p:spPr bwMode="auto">
            <a:xfrm>
              <a:off x="478588" y="2018243"/>
              <a:ext cx="5929399" cy="735347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1pPr>
              <a:lvl2pPr marL="742950" indent="-28575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2pPr>
              <a:lvl3pPr marL="1143000" indent="-2286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3pPr>
              <a:lvl4pPr marL="1600200" indent="-2286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4pPr>
              <a:lvl5pPr marL="2057400" indent="-2286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9pPr>
            </a:lstStyle>
            <a:p>
              <a:pPr algn="just" eaLnBrk="1" latinLnBrk="0" hangingPunct="1">
                <a:lnSpc>
                  <a:spcPct val="120000"/>
                </a:lnSpc>
                <a:spcAft>
                  <a:spcPts val="0"/>
                </a:spcAft>
                <a:defRPr/>
              </a:pP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SLA 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서비스 항목과 측정지표로 등록되어 있는 사항들의 측정을 지원하기 위해 고객사의 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ServiceDesk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의 활용 및 고도화를 통하여 서비스 수준 측정 체계를 구축합니다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.</a:t>
              </a:r>
            </a:p>
          </p:txBody>
        </p:sp>
        <p:grpSp>
          <p:nvGrpSpPr>
            <p:cNvPr id="103" name="그룹 217"/>
            <p:cNvGrpSpPr>
              <a:grpSpLocks/>
            </p:cNvGrpSpPr>
            <p:nvPr/>
          </p:nvGrpSpPr>
          <p:grpSpPr bwMode="auto">
            <a:xfrm>
              <a:off x="333374" y="1849606"/>
              <a:ext cx="6219826" cy="1159040"/>
              <a:chOff x="342900" y="1822561"/>
              <a:chExt cx="6148388" cy="1159040"/>
            </a:xfrm>
          </p:grpSpPr>
          <p:cxnSp>
            <p:nvCxnSpPr>
              <p:cNvPr id="104" name="직선 연결선 103"/>
              <p:cNvCxnSpPr/>
              <p:nvPr/>
            </p:nvCxnSpPr>
            <p:spPr>
              <a:xfrm>
                <a:off x="342900" y="1905130"/>
                <a:ext cx="6148388" cy="0"/>
              </a:xfrm>
              <a:prstGeom prst="line">
                <a:avLst/>
              </a:prstGeom>
              <a:ln w="12700">
                <a:solidFill>
                  <a:srgbClr val="ADAD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 bwMode="auto">
              <a:xfrm>
                <a:off x="342900" y="1901954"/>
                <a:ext cx="0" cy="1079647"/>
              </a:xfrm>
              <a:prstGeom prst="line">
                <a:avLst/>
              </a:prstGeom>
              <a:ln w="12700">
                <a:solidFill>
                  <a:srgbClr val="ADAD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 bwMode="auto">
              <a:xfrm>
                <a:off x="6387716" y="1822561"/>
                <a:ext cx="103572" cy="80980"/>
              </a:xfrm>
              <a:prstGeom prst="line">
                <a:avLst/>
              </a:prstGeom>
              <a:ln w="12700">
                <a:solidFill>
                  <a:srgbClr val="ADAD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19" name="그룹 318">
            <a:extLst>
              <a:ext uri="{FF2B5EF4-FFF2-40B4-BE49-F238E27FC236}">
                <a16:creationId xmlns:a16="http://schemas.microsoft.com/office/drawing/2014/main" id="{D86205B3-802F-B8D4-AE9C-6D833B11F64D}"/>
              </a:ext>
            </a:extLst>
          </p:cNvPr>
          <p:cNvGrpSpPr/>
          <p:nvPr/>
        </p:nvGrpSpPr>
        <p:grpSpPr>
          <a:xfrm>
            <a:off x="189478" y="2854551"/>
            <a:ext cx="6480174" cy="1143898"/>
            <a:chOff x="189478" y="5744718"/>
            <a:chExt cx="6480174" cy="1368522"/>
          </a:xfrm>
        </p:grpSpPr>
        <p:sp>
          <p:nvSpPr>
            <p:cNvPr id="320" name="AutoShape 108">
              <a:extLst>
                <a:ext uri="{FF2B5EF4-FFF2-40B4-BE49-F238E27FC236}">
                  <a16:creationId xmlns:a16="http://schemas.microsoft.com/office/drawing/2014/main" id="{B7DA3CAE-493E-51F3-052A-20C87701510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786486" y="3187306"/>
              <a:ext cx="1286157" cy="6480174"/>
            </a:xfrm>
            <a:prstGeom prst="roundRect">
              <a:avLst>
                <a:gd name="adj" fmla="val 4208"/>
              </a:avLst>
            </a:pr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5998" tIns="0" rIns="35998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321" name="AutoShape 109">
              <a:extLst>
                <a:ext uri="{FF2B5EF4-FFF2-40B4-BE49-F238E27FC236}">
                  <a16:creationId xmlns:a16="http://schemas.microsoft.com/office/drawing/2014/main" id="{9F5B0A5B-E9F5-15F4-3FF5-1635658F7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211" y="5744718"/>
              <a:ext cx="6414820" cy="1368522"/>
            </a:xfrm>
            <a:prstGeom prst="roundRect">
              <a:avLst>
                <a:gd name="adj" fmla="val 7407"/>
              </a:avLst>
            </a:prstGeom>
            <a:noFill/>
            <a:ln w="9525">
              <a:solidFill>
                <a:srgbClr val="B2B2B2"/>
              </a:solidFill>
              <a:round/>
              <a:headEnd/>
              <a:tailEnd/>
            </a:ln>
            <a:effectLst>
              <a:outerShdw dist="12700" algn="ctr" rotWithShape="0">
                <a:sysClr val="window" lastClr="FFFFFF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grpSp>
          <p:nvGrpSpPr>
            <p:cNvPr id="322" name="Group 110">
              <a:extLst>
                <a:ext uri="{FF2B5EF4-FFF2-40B4-BE49-F238E27FC236}">
                  <a16:creationId xmlns:a16="http://schemas.microsoft.com/office/drawing/2014/main" id="{FE0EF945-0649-3814-9553-0EAC50414D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493" y="5801739"/>
              <a:ext cx="1388206" cy="1257647"/>
              <a:chOff x="289" y="521"/>
              <a:chExt cx="1232" cy="397"/>
            </a:xfrm>
          </p:grpSpPr>
          <p:sp>
            <p:nvSpPr>
              <p:cNvPr id="323" name="AutoShape 111">
                <a:extLst>
                  <a:ext uri="{FF2B5EF4-FFF2-40B4-BE49-F238E27FC236}">
                    <a16:creationId xmlns:a16="http://schemas.microsoft.com/office/drawing/2014/main" id="{C8E7B95A-DF82-FE01-50A3-E13AD83254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9" y="521"/>
                <a:ext cx="1232" cy="397"/>
              </a:xfrm>
              <a:prstGeom prst="roundRect">
                <a:avLst>
                  <a:gd name="adj" fmla="val 3778"/>
                </a:avLst>
              </a:prstGeom>
              <a:blipFill dpi="0" rotWithShape="1">
                <a:blip r:embed="rId2"/>
                <a:srcRect/>
                <a:stretch>
                  <a:fillRect/>
                </a:stretch>
              </a:blipFill>
              <a:ln w="6350" algn="ctr">
                <a:solidFill>
                  <a:srgbClr val="759CBD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rgbClr val="B2B2B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324" name="AutoShape 112">
                <a:extLst>
                  <a:ext uri="{FF2B5EF4-FFF2-40B4-BE49-F238E27FC236}">
                    <a16:creationId xmlns:a16="http://schemas.microsoft.com/office/drawing/2014/main" id="{936772A5-C602-BCFC-485E-4B93645A5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" y="542"/>
                <a:ext cx="1187" cy="354"/>
              </a:xfrm>
              <a:prstGeom prst="roundRect">
                <a:avLst>
                  <a:gd name="adj" fmla="val 1412"/>
                </a:avLst>
              </a:prstGeom>
              <a:solidFill>
                <a:sysClr val="window" lastClr="FFFFFF"/>
              </a:solidFill>
              <a:ln w="6350" algn="ctr">
                <a:solidFill>
                  <a:srgbClr val="759CBD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rgbClr val="B2B2B2"/>
                      </a:outerShdw>
                    </a:effectLst>
                  </a14:hiddenEffects>
                </a:ext>
              </a:extLst>
            </p:spPr>
            <p:txBody>
              <a:bodyPr lIns="36000" tIns="36000" rIns="36000" bIns="36000" anchor="ctr"/>
              <a:lstStyle/>
              <a:p>
                <a:pPr marL="0" marR="0" lvl="0" indent="0" algn="ctr" defTabSz="88106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i="0" u="none" strike="noStrike" kern="0" cap="none" spc="0" normalizeH="0" baseline="0" noProof="0" dirty="0">
                    <a:ln>
                      <a:noFill/>
                    </a:ln>
                    <a:solidFill>
                      <a:srgbClr val="1C1C1C"/>
                    </a:solidFill>
                    <a:effectLst/>
                    <a:uLnTx/>
                    <a:uFillTx/>
                    <a:latin typeface="+mj-ea"/>
                    <a:ea typeface="+mj-ea"/>
                    <a:cs typeface="+mn-cs"/>
                  </a:rPr>
                  <a:t>SLA</a:t>
                </a:r>
              </a:p>
              <a:p>
                <a:pPr marL="0" marR="0" lvl="0" indent="0" algn="ctr" defTabSz="88106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i="0" u="none" strike="noStrike" kern="0" cap="none" spc="0" normalizeH="0" baseline="0" noProof="0" dirty="0">
                    <a:ln>
                      <a:noFill/>
                    </a:ln>
                    <a:solidFill>
                      <a:srgbClr val="1C1C1C"/>
                    </a:solidFill>
                    <a:effectLst/>
                    <a:uLnTx/>
                    <a:uFillTx/>
                    <a:latin typeface="+mj-ea"/>
                    <a:ea typeface="+mj-ea"/>
                    <a:cs typeface="+mn-cs"/>
                  </a:rPr>
                  <a:t> </a:t>
                </a:r>
                <a:r>
                  <a:rPr kumimoji="0" lang="ko-KR" altLang="en-US" sz="1200" i="0" u="none" strike="noStrike" kern="0" cap="none" spc="0" normalizeH="0" baseline="0" noProof="0" dirty="0">
                    <a:ln>
                      <a:noFill/>
                    </a:ln>
                    <a:solidFill>
                      <a:srgbClr val="1C1C1C"/>
                    </a:solidFill>
                    <a:effectLst/>
                    <a:uLnTx/>
                    <a:uFillTx/>
                    <a:latin typeface="+mj-ea"/>
                    <a:ea typeface="+mj-ea"/>
                    <a:cs typeface="+mn-cs"/>
                  </a:rPr>
                  <a:t>서비스수준관리</a:t>
                </a:r>
              </a:p>
            </p:txBody>
          </p:sp>
        </p:grpSp>
      </p:grpSp>
      <p:sp>
        <p:nvSpPr>
          <p:cNvPr id="325" name="TextBox 324">
            <a:extLst>
              <a:ext uri="{FF2B5EF4-FFF2-40B4-BE49-F238E27FC236}">
                <a16:creationId xmlns:a16="http://schemas.microsoft.com/office/drawing/2014/main" id="{91BBFF47-307B-0EDA-AF03-D20590913F0A}"/>
              </a:ext>
            </a:extLst>
          </p:cNvPr>
          <p:cNvSpPr txBox="1"/>
          <p:nvPr/>
        </p:nvSpPr>
        <p:spPr>
          <a:xfrm>
            <a:off x="1628775" y="2981144"/>
            <a:ext cx="489656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50" dirty="0">
                <a:solidFill>
                  <a:prstClr val="black"/>
                </a:solidFill>
                <a:latin typeface="+mj-ea"/>
                <a:ea typeface="+mj-ea"/>
                <a:cs typeface="+mn-cs"/>
              </a:rPr>
              <a:t>서비스 수준 평가 </a:t>
            </a:r>
            <a:r>
              <a:rPr kumimoji="0" lang="en-US" altLang="ko-KR" sz="1050" dirty="0">
                <a:solidFill>
                  <a:prstClr val="black"/>
                </a:solidFill>
                <a:latin typeface="+mj-ea"/>
                <a:ea typeface="+mj-ea"/>
                <a:cs typeface="+mn-cs"/>
              </a:rPr>
              <a:t>/ </a:t>
            </a:r>
            <a:r>
              <a:rPr kumimoji="0" lang="ko-KR" altLang="en-US" sz="1050" dirty="0">
                <a:solidFill>
                  <a:prstClr val="black"/>
                </a:solidFill>
                <a:latin typeface="+mj-ea"/>
                <a:ea typeface="+mj-ea"/>
                <a:cs typeface="+mn-cs"/>
              </a:rPr>
              <a:t>모니터링 </a:t>
            </a:r>
            <a:r>
              <a:rPr kumimoji="0" lang="en-US" altLang="ko-KR" sz="1050" dirty="0">
                <a:solidFill>
                  <a:prstClr val="black"/>
                </a:solidFill>
                <a:latin typeface="+mj-ea"/>
                <a:ea typeface="+mj-ea"/>
                <a:cs typeface="+mn-cs"/>
              </a:rPr>
              <a:t>/ </a:t>
            </a:r>
            <a:r>
              <a:rPr kumimoji="0" lang="ko-KR" altLang="en-US" sz="1050" dirty="0">
                <a:solidFill>
                  <a:prstClr val="black"/>
                </a:solidFill>
                <a:latin typeface="+mj-ea"/>
                <a:ea typeface="+mj-ea"/>
                <a:cs typeface="+mn-cs"/>
              </a:rPr>
              <a:t>문서화 </a:t>
            </a:r>
            <a:r>
              <a:rPr kumimoji="0" lang="en-US" altLang="ko-KR" sz="1050" dirty="0">
                <a:solidFill>
                  <a:prstClr val="black"/>
                </a:solidFill>
                <a:latin typeface="+mj-ea"/>
                <a:ea typeface="+mj-ea"/>
                <a:cs typeface="+mn-cs"/>
              </a:rPr>
              <a:t>/ </a:t>
            </a:r>
            <a:r>
              <a:rPr kumimoji="0" lang="ko-KR" altLang="en-US" sz="1050" dirty="0">
                <a:solidFill>
                  <a:prstClr val="black"/>
                </a:solidFill>
                <a:latin typeface="+mj-ea"/>
                <a:ea typeface="+mj-ea"/>
                <a:cs typeface="+mn-cs"/>
              </a:rPr>
              <a:t>개선 </a:t>
            </a:r>
            <a:r>
              <a:rPr kumimoji="0" lang="en-US" altLang="ko-KR" sz="1050" dirty="0">
                <a:solidFill>
                  <a:prstClr val="black"/>
                </a:solidFill>
                <a:latin typeface="+mj-ea"/>
                <a:ea typeface="+mj-ea"/>
                <a:cs typeface="+mn-cs"/>
              </a:rPr>
              <a:t>/ </a:t>
            </a:r>
            <a:r>
              <a:rPr kumimoji="0" lang="ko-KR" altLang="en-US" sz="1050" dirty="0">
                <a:solidFill>
                  <a:prstClr val="black"/>
                </a:solidFill>
                <a:latin typeface="+mj-ea"/>
                <a:ea typeface="+mj-ea"/>
                <a:cs typeface="+mn-cs"/>
              </a:rPr>
              <a:t>개정</a:t>
            </a:r>
          </a:p>
        </p:txBody>
      </p:sp>
      <p:sp>
        <p:nvSpPr>
          <p:cNvPr id="326" name="직사각형 325">
            <a:extLst>
              <a:ext uri="{FF2B5EF4-FFF2-40B4-BE49-F238E27FC236}">
                <a16:creationId xmlns:a16="http://schemas.microsoft.com/office/drawing/2014/main" id="{E21C38B1-621C-A45C-B669-4DEE4971A618}"/>
              </a:ext>
            </a:extLst>
          </p:cNvPr>
          <p:cNvSpPr/>
          <p:nvPr/>
        </p:nvSpPr>
        <p:spPr>
          <a:xfrm>
            <a:off x="1763265" y="3286632"/>
            <a:ext cx="1082316" cy="576166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장애관리</a:t>
            </a:r>
          </a:p>
        </p:txBody>
      </p:sp>
      <p:sp>
        <p:nvSpPr>
          <p:cNvPr id="327" name="직사각형 326">
            <a:extLst>
              <a:ext uri="{FF2B5EF4-FFF2-40B4-BE49-F238E27FC236}">
                <a16:creationId xmlns:a16="http://schemas.microsoft.com/office/drawing/2014/main" id="{1F452396-AE7C-C6FC-AA29-DFA8A40B652D}"/>
              </a:ext>
            </a:extLst>
          </p:cNvPr>
          <p:cNvSpPr/>
          <p:nvPr/>
        </p:nvSpPr>
        <p:spPr>
          <a:xfrm>
            <a:off x="2974622" y="3286632"/>
            <a:ext cx="1082316" cy="576166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문제관리</a:t>
            </a:r>
          </a:p>
        </p:txBody>
      </p:sp>
      <p:sp>
        <p:nvSpPr>
          <p:cNvPr id="328" name="직사각형 327">
            <a:extLst>
              <a:ext uri="{FF2B5EF4-FFF2-40B4-BE49-F238E27FC236}">
                <a16:creationId xmlns:a16="http://schemas.microsoft.com/office/drawing/2014/main" id="{ADAD07F4-C902-AD37-576F-60DF133FF659}"/>
              </a:ext>
            </a:extLst>
          </p:cNvPr>
          <p:cNvSpPr/>
          <p:nvPr/>
        </p:nvSpPr>
        <p:spPr>
          <a:xfrm>
            <a:off x="4185979" y="3286632"/>
            <a:ext cx="1082316" cy="576166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변경관리</a:t>
            </a:r>
          </a:p>
        </p:txBody>
      </p:sp>
      <p:sp>
        <p:nvSpPr>
          <p:cNvPr id="329" name="직사각형 328">
            <a:extLst>
              <a:ext uri="{FF2B5EF4-FFF2-40B4-BE49-F238E27FC236}">
                <a16:creationId xmlns:a16="http://schemas.microsoft.com/office/drawing/2014/main" id="{752A9E30-6B35-2B87-F6FF-8D8B7390B721}"/>
              </a:ext>
            </a:extLst>
          </p:cNvPr>
          <p:cNvSpPr/>
          <p:nvPr/>
        </p:nvSpPr>
        <p:spPr>
          <a:xfrm>
            <a:off x="5397337" y="3286632"/>
            <a:ext cx="1082316" cy="576166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구성관리</a:t>
            </a:r>
          </a:p>
        </p:txBody>
      </p:sp>
      <p:sp>
        <p:nvSpPr>
          <p:cNvPr id="330" name="TextBox 103">
            <a:extLst>
              <a:ext uri="{FF2B5EF4-FFF2-40B4-BE49-F238E27FC236}">
                <a16:creationId xmlns:a16="http://schemas.microsoft.com/office/drawing/2014/main" id="{FB05F0B7-258D-7EC5-0481-919AB4C07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6018" y="4098431"/>
            <a:ext cx="922628" cy="369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>
              <a:defRPr/>
            </a:pPr>
            <a:r>
              <a:rPr lang="en-US" altLang="ko-KR" sz="900" b="0" kern="0">
                <a:solidFill>
                  <a:srgbClr val="000000"/>
                </a:solidFill>
                <a:latin typeface="+mj-ea"/>
                <a:ea typeface="+mj-ea"/>
                <a:cs typeface="+mn-cs"/>
              </a:rPr>
              <a:t>2</a:t>
            </a:r>
            <a:r>
              <a:rPr lang="ko-KR" altLang="en-US" sz="900" b="0" kern="0">
                <a:solidFill>
                  <a:srgbClr val="000000"/>
                </a:solidFill>
                <a:latin typeface="+mj-ea"/>
                <a:ea typeface="+mj-ea"/>
                <a:cs typeface="+mn-cs"/>
              </a:rPr>
              <a:t>선조직</a:t>
            </a:r>
          </a:p>
          <a:p>
            <a:pPr algn="ctr" latinLnBrk="0">
              <a:defRPr/>
            </a:pPr>
            <a:r>
              <a:rPr lang="en-US" altLang="ko-KR" sz="900" b="0" kern="0">
                <a:solidFill>
                  <a:srgbClr val="000000"/>
                </a:solidFill>
                <a:latin typeface="+mj-ea"/>
                <a:ea typeface="+mj-ea"/>
                <a:cs typeface="+mn-cs"/>
              </a:rPr>
              <a:t>(</a:t>
            </a:r>
            <a:r>
              <a:rPr lang="ko-KR" altLang="en-US" sz="900" b="0" kern="0">
                <a:solidFill>
                  <a:srgbClr val="000000"/>
                </a:solidFill>
                <a:latin typeface="+mj-ea"/>
                <a:ea typeface="+mj-ea"/>
                <a:cs typeface="+mn-cs"/>
              </a:rPr>
              <a:t>유지보수업체</a:t>
            </a:r>
            <a:r>
              <a:rPr lang="en-US" altLang="ko-KR" sz="900" b="0" kern="0">
                <a:solidFill>
                  <a:srgbClr val="000000"/>
                </a:solidFill>
                <a:latin typeface="+mj-ea"/>
                <a:ea typeface="+mj-ea"/>
                <a:cs typeface="+mn-cs"/>
              </a:rPr>
              <a:t>)</a:t>
            </a:r>
          </a:p>
        </p:txBody>
      </p:sp>
      <p:cxnSp>
        <p:nvCxnSpPr>
          <p:cNvPr id="331" name="Shape 224">
            <a:extLst>
              <a:ext uri="{FF2B5EF4-FFF2-40B4-BE49-F238E27FC236}">
                <a16:creationId xmlns:a16="http://schemas.microsoft.com/office/drawing/2014/main" id="{B09FF913-5748-DEA9-B7FD-5157B52AD819}"/>
              </a:ext>
            </a:extLst>
          </p:cNvPr>
          <p:cNvCxnSpPr>
            <a:cxnSpLocks noChangeShapeType="1"/>
            <a:endCxn id="338" idx="0"/>
          </p:cNvCxnSpPr>
          <p:nvPr/>
        </p:nvCxnSpPr>
        <p:spPr bwMode="auto">
          <a:xfrm rot="5400000">
            <a:off x="2406333" y="6337680"/>
            <a:ext cx="1044393" cy="571815"/>
          </a:xfrm>
          <a:prstGeom prst="bentConnector3">
            <a:avLst>
              <a:gd name="adj1" fmla="val 33219"/>
            </a:avLst>
          </a:prstGeom>
          <a:noFill/>
          <a:ln w="28575" algn="ctr">
            <a:solidFill>
              <a:srgbClr val="339966"/>
            </a:solidFill>
            <a:prstDash val="sys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2" name="AutoShape 488">
            <a:extLst>
              <a:ext uri="{FF2B5EF4-FFF2-40B4-BE49-F238E27FC236}">
                <a16:creationId xmlns:a16="http://schemas.microsoft.com/office/drawing/2014/main" id="{03AB1118-B107-A11D-BE24-91FF19AF46C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394076" y="4969563"/>
            <a:ext cx="1168898" cy="772433"/>
          </a:xfrm>
          <a:prstGeom prst="bentConnector3">
            <a:avLst>
              <a:gd name="adj1" fmla="val 49838"/>
            </a:avLst>
          </a:prstGeom>
          <a:noFill/>
          <a:ln w="19050">
            <a:solidFill>
              <a:sysClr val="windowText" lastClr="000000">
                <a:lumMod val="50000"/>
                <a:lumOff val="50000"/>
              </a:sysClr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3" name="AutoShape 488">
            <a:extLst>
              <a:ext uri="{FF2B5EF4-FFF2-40B4-BE49-F238E27FC236}">
                <a16:creationId xmlns:a16="http://schemas.microsoft.com/office/drawing/2014/main" id="{58D1ED0D-01F2-7613-E6D5-1E548B958FE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394076" y="5741996"/>
            <a:ext cx="1168898" cy="1130755"/>
          </a:xfrm>
          <a:prstGeom prst="bentConnector3">
            <a:avLst>
              <a:gd name="adj1" fmla="val 49838"/>
            </a:avLst>
          </a:prstGeom>
          <a:noFill/>
          <a:ln w="19050">
            <a:solidFill>
              <a:sysClr val="windowText" lastClr="000000">
                <a:lumMod val="50000"/>
                <a:lumOff val="50000"/>
              </a:sysClr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4" name="AutoShape 488">
            <a:extLst>
              <a:ext uri="{FF2B5EF4-FFF2-40B4-BE49-F238E27FC236}">
                <a16:creationId xmlns:a16="http://schemas.microsoft.com/office/drawing/2014/main" id="{BBECAEE7-0F52-73E1-A32A-E69C8E23618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394076" y="5741996"/>
            <a:ext cx="1168898" cy="255332"/>
          </a:xfrm>
          <a:prstGeom prst="bentConnector3">
            <a:avLst>
              <a:gd name="adj1" fmla="val 49838"/>
            </a:avLst>
          </a:prstGeom>
          <a:noFill/>
          <a:ln w="19050">
            <a:solidFill>
              <a:sysClr val="windowText" lastClr="000000">
                <a:lumMod val="50000"/>
                <a:lumOff val="50000"/>
              </a:sysClr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5" name="TextBox 103">
            <a:extLst>
              <a:ext uri="{FF2B5EF4-FFF2-40B4-BE49-F238E27FC236}">
                <a16:creationId xmlns:a16="http://schemas.microsoft.com/office/drawing/2014/main" id="{AFAEE8B8-33E8-B0F5-38F5-45DD0D08FD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7197" y="4731396"/>
            <a:ext cx="510664" cy="369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>
              <a:defRPr/>
            </a:pPr>
            <a:r>
              <a:rPr lang="ko-KR" altLang="en-US" sz="900" b="0" kern="0" dirty="0">
                <a:solidFill>
                  <a:srgbClr val="000000"/>
                </a:solidFill>
                <a:latin typeface="+mj-ea"/>
                <a:ea typeface="+mj-ea"/>
                <a:cs typeface="+mn-cs"/>
              </a:rPr>
              <a:t>서비스</a:t>
            </a:r>
          </a:p>
          <a:p>
            <a:pPr algn="ctr" latinLnBrk="0">
              <a:defRPr/>
            </a:pPr>
            <a:r>
              <a:rPr lang="ko-KR" altLang="en-US" sz="900" b="0" kern="0" dirty="0">
                <a:solidFill>
                  <a:srgbClr val="000000"/>
                </a:solidFill>
                <a:latin typeface="+mj-ea"/>
                <a:ea typeface="+mj-ea"/>
                <a:cs typeface="+mn-cs"/>
              </a:rPr>
              <a:t>요청</a:t>
            </a:r>
          </a:p>
        </p:txBody>
      </p:sp>
      <p:sp>
        <p:nvSpPr>
          <p:cNvPr id="336" name="TextBox 103">
            <a:extLst>
              <a:ext uri="{FF2B5EF4-FFF2-40B4-BE49-F238E27FC236}">
                <a16:creationId xmlns:a16="http://schemas.microsoft.com/office/drawing/2014/main" id="{9ED093F4-7346-AD00-294F-A12C29154E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5051" y="6638327"/>
            <a:ext cx="510664" cy="369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>
              <a:defRPr/>
            </a:pPr>
            <a:r>
              <a:rPr lang="ko-KR" altLang="en-US" sz="900" b="0" kern="0">
                <a:solidFill>
                  <a:srgbClr val="000000"/>
                </a:solidFill>
                <a:latin typeface="+mj-ea"/>
                <a:ea typeface="+mj-ea"/>
                <a:cs typeface="+mn-cs"/>
              </a:rPr>
              <a:t>서비스</a:t>
            </a:r>
          </a:p>
          <a:p>
            <a:pPr algn="ctr" latinLnBrk="0">
              <a:defRPr/>
            </a:pPr>
            <a:r>
              <a:rPr lang="ko-KR" altLang="en-US" sz="900" b="0" kern="0">
                <a:solidFill>
                  <a:srgbClr val="000000"/>
                </a:solidFill>
                <a:latin typeface="+mj-ea"/>
                <a:ea typeface="+mj-ea"/>
                <a:cs typeface="+mn-cs"/>
              </a:rPr>
              <a:t>요청</a:t>
            </a:r>
          </a:p>
        </p:txBody>
      </p:sp>
      <p:sp>
        <p:nvSpPr>
          <p:cNvPr id="337" name="TextBox 103">
            <a:extLst>
              <a:ext uri="{FF2B5EF4-FFF2-40B4-BE49-F238E27FC236}">
                <a16:creationId xmlns:a16="http://schemas.microsoft.com/office/drawing/2014/main" id="{842CAC0A-96A4-7096-22C1-C67A34E82E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0709" y="5111176"/>
            <a:ext cx="703772" cy="369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>
              <a:defRPr/>
            </a:pPr>
            <a:r>
              <a:rPr lang="en-US" altLang="ko-KR" sz="900" b="0" kern="0">
                <a:solidFill>
                  <a:srgbClr val="000000"/>
                </a:solidFill>
                <a:latin typeface="+mj-ea"/>
                <a:ea typeface="+mj-ea"/>
                <a:cs typeface="+mn-cs"/>
              </a:rPr>
              <a:t>1</a:t>
            </a:r>
            <a:r>
              <a:rPr lang="ko-KR" altLang="en-US" sz="900" b="0" kern="0">
                <a:solidFill>
                  <a:srgbClr val="000000"/>
                </a:solidFill>
                <a:latin typeface="+mj-ea"/>
                <a:ea typeface="+mj-ea"/>
                <a:cs typeface="+mn-cs"/>
              </a:rPr>
              <a:t>선조직</a:t>
            </a:r>
          </a:p>
          <a:p>
            <a:pPr algn="ctr" latinLnBrk="0">
              <a:defRPr/>
            </a:pPr>
            <a:r>
              <a:rPr lang="en-US" altLang="ko-KR" sz="900" b="0" kern="0">
                <a:solidFill>
                  <a:srgbClr val="000000"/>
                </a:solidFill>
                <a:latin typeface="+mj-ea"/>
                <a:ea typeface="+mj-ea"/>
                <a:cs typeface="+mn-cs"/>
              </a:rPr>
              <a:t>(</a:t>
            </a:r>
            <a:r>
              <a:rPr lang="ko-KR" altLang="en-US" sz="900" b="0" kern="0">
                <a:solidFill>
                  <a:srgbClr val="000000"/>
                </a:solidFill>
                <a:latin typeface="+mj-ea"/>
                <a:ea typeface="+mj-ea"/>
                <a:cs typeface="+mn-cs"/>
              </a:rPr>
              <a:t>운영요원</a:t>
            </a:r>
            <a:r>
              <a:rPr lang="en-US" altLang="ko-KR" sz="900" b="0" kern="0">
                <a:solidFill>
                  <a:srgbClr val="000000"/>
                </a:solidFill>
                <a:latin typeface="+mj-ea"/>
                <a:ea typeface="+mj-ea"/>
                <a:cs typeface="+mn-cs"/>
              </a:rPr>
              <a:t>)</a:t>
            </a:r>
          </a:p>
        </p:txBody>
      </p:sp>
      <p:sp>
        <p:nvSpPr>
          <p:cNvPr id="338" name="TextBox 103">
            <a:extLst>
              <a:ext uri="{FF2B5EF4-FFF2-40B4-BE49-F238E27FC236}">
                <a16:creationId xmlns:a16="http://schemas.microsoft.com/office/drawing/2014/main" id="{60068B34-532F-5AAF-A778-F90B0BB9B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7289" y="7145784"/>
            <a:ext cx="510664" cy="369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>
              <a:defRPr/>
            </a:pPr>
            <a:r>
              <a:rPr lang="ko-KR" altLang="en-US" sz="900" b="0" kern="0">
                <a:solidFill>
                  <a:srgbClr val="000000"/>
                </a:solidFill>
                <a:latin typeface="+mj-ea"/>
                <a:ea typeface="+mj-ea"/>
                <a:cs typeface="+mn-cs"/>
              </a:rPr>
              <a:t>만족도</a:t>
            </a:r>
            <a:br>
              <a:rPr lang="ko-KR" altLang="en-US" sz="900" b="0" kern="0">
                <a:solidFill>
                  <a:srgbClr val="000000"/>
                </a:solidFill>
                <a:latin typeface="+mj-ea"/>
                <a:ea typeface="+mj-ea"/>
                <a:cs typeface="+mn-cs"/>
              </a:rPr>
            </a:br>
            <a:r>
              <a:rPr lang="ko-KR" altLang="en-US" sz="900" b="0" kern="0">
                <a:solidFill>
                  <a:srgbClr val="000000"/>
                </a:solidFill>
                <a:latin typeface="+mj-ea"/>
                <a:ea typeface="+mj-ea"/>
                <a:cs typeface="+mn-cs"/>
              </a:rPr>
              <a:t>결과</a:t>
            </a:r>
          </a:p>
        </p:txBody>
      </p:sp>
      <p:sp>
        <p:nvSpPr>
          <p:cNvPr id="339" name="TextBox 103">
            <a:extLst>
              <a:ext uri="{FF2B5EF4-FFF2-40B4-BE49-F238E27FC236}">
                <a16:creationId xmlns:a16="http://schemas.microsoft.com/office/drawing/2014/main" id="{8A1713CA-437D-4319-95E2-F7D1B0A84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1591" y="5499537"/>
            <a:ext cx="493499" cy="231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>
              <a:defRPr/>
            </a:pPr>
            <a:r>
              <a:rPr lang="en-US" altLang="ko-KR" sz="900" b="0" kern="0">
                <a:solidFill>
                  <a:srgbClr val="000000"/>
                </a:solidFill>
                <a:latin typeface="+mj-ea"/>
                <a:ea typeface="+mj-ea"/>
                <a:cs typeface="+mn-cs"/>
              </a:rPr>
              <a:t>IT</a:t>
            </a:r>
            <a:r>
              <a:rPr lang="ko-KR" altLang="en-US" sz="900" b="0" kern="0">
                <a:solidFill>
                  <a:srgbClr val="000000"/>
                </a:solidFill>
                <a:latin typeface="+mj-ea"/>
                <a:ea typeface="+mj-ea"/>
                <a:cs typeface="+mn-cs"/>
              </a:rPr>
              <a:t>요청</a:t>
            </a:r>
          </a:p>
        </p:txBody>
      </p:sp>
      <p:sp>
        <p:nvSpPr>
          <p:cNvPr id="340" name="TextBox 103">
            <a:extLst>
              <a:ext uri="{FF2B5EF4-FFF2-40B4-BE49-F238E27FC236}">
                <a16:creationId xmlns:a16="http://schemas.microsoft.com/office/drawing/2014/main" id="{BB43B7FF-49C7-122D-3829-B070F093C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154" y="5902919"/>
            <a:ext cx="510664" cy="231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>
              <a:defRPr/>
            </a:pPr>
            <a:r>
              <a:rPr lang="ko-KR" altLang="en-US" sz="900" b="0" kern="0">
                <a:solidFill>
                  <a:srgbClr val="000000"/>
                </a:solidFill>
                <a:latin typeface="+mj-ea"/>
                <a:ea typeface="+mj-ea"/>
                <a:cs typeface="+mn-cs"/>
              </a:rPr>
              <a:t>피드백</a:t>
            </a:r>
          </a:p>
        </p:txBody>
      </p:sp>
      <p:grpSp>
        <p:nvGrpSpPr>
          <p:cNvPr id="341" name="Group 126">
            <a:extLst>
              <a:ext uri="{FF2B5EF4-FFF2-40B4-BE49-F238E27FC236}">
                <a16:creationId xmlns:a16="http://schemas.microsoft.com/office/drawing/2014/main" id="{3BA5BE62-30B5-03B7-80EB-09717D3C2958}"/>
              </a:ext>
            </a:extLst>
          </p:cNvPr>
          <p:cNvGrpSpPr>
            <a:grpSpLocks/>
          </p:cNvGrpSpPr>
          <p:nvPr/>
        </p:nvGrpSpPr>
        <p:grpSpPr bwMode="auto">
          <a:xfrm>
            <a:off x="563489" y="4285102"/>
            <a:ext cx="686607" cy="823928"/>
            <a:chOff x="-342" y="2086"/>
            <a:chExt cx="436" cy="450"/>
          </a:xfrm>
        </p:grpSpPr>
        <p:sp>
          <p:nvSpPr>
            <p:cNvPr id="342" name="AutoShape 127">
              <a:extLst>
                <a:ext uri="{FF2B5EF4-FFF2-40B4-BE49-F238E27FC236}">
                  <a16:creationId xmlns:a16="http://schemas.microsoft.com/office/drawing/2014/main" id="{863632F7-CAE8-7B65-7306-FE19FF49A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42" y="2086"/>
              <a:ext cx="436" cy="402"/>
            </a:xfrm>
            <a:prstGeom prst="roundRect">
              <a:avLst>
                <a:gd name="adj" fmla="val 3292"/>
              </a:avLst>
            </a:prstGeom>
            <a:solidFill>
              <a:srgbClr val="FFFFFF"/>
            </a:solidFill>
            <a:ln w="25400" cmpd="thinThick">
              <a:solidFill>
                <a:srgbClr val="99CC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sz="1800" b="0" kern="0">
                <a:solidFill>
                  <a:srgbClr val="000000"/>
                </a:solidFill>
                <a:latin typeface="+mj-ea"/>
                <a:ea typeface="+mj-ea"/>
                <a:cs typeface="+mn-cs"/>
              </a:endParaRPr>
            </a:p>
          </p:txBody>
        </p:sp>
        <p:sp>
          <p:nvSpPr>
            <p:cNvPr id="343" name="AutoShape 128">
              <a:extLst>
                <a:ext uri="{FF2B5EF4-FFF2-40B4-BE49-F238E27FC236}">
                  <a16:creationId xmlns:a16="http://schemas.microsoft.com/office/drawing/2014/main" id="{C1F8E593-6D64-5A90-9FDF-7D413C9AA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6" y="2323"/>
              <a:ext cx="424" cy="213"/>
            </a:xfrm>
            <a:prstGeom prst="roundRect">
              <a:avLst>
                <a:gd name="adj" fmla="val 6755"/>
              </a:avLst>
            </a:prstGeom>
            <a:gradFill rotWithShape="1">
              <a:gsLst>
                <a:gs pos="0">
                  <a:srgbClr val="DDDDDD"/>
                </a:gs>
                <a:gs pos="100000">
                  <a:srgbClr val="DDDDDD">
                    <a:gamma/>
                    <a:tint val="0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C0C0C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72000" tIns="48834" rIns="97200" bIns="48834" anchor="ctr">
              <a:spAutoFit/>
            </a:bodyPr>
            <a:lstStyle/>
            <a:p>
              <a:pPr latinLnBrk="0">
                <a:defRPr/>
              </a:pPr>
              <a:endParaRPr lang="ko-KR" altLang="en-US" sz="1800" b="0" kern="0">
                <a:solidFill>
                  <a:srgbClr val="000000"/>
                </a:solidFill>
                <a:latin typeface="+mj-ea"/>
                <a:ea typeface="+mj-ea"/>
                <a:cs typeface="+mn-cs"/>
              </a:endParaRPr>
            </a:p>
          </p:txBody>
        </p:sp>
        <p:sp>
          <p:nvSpPr>
            <p:cNvPr id="344" name="Text Box 129">
              <a:extLst>
                <a:ext uri="{FF2B5EF4-FFF2-40B4-BE49-F238E27FC236}">
                  <a16:creationId xmlns:a16="http://schemas.microsoft.com/office/drawing/2014/main" id="{8D68C222-981C-0E84-C7D9-F8338CB64F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55" y="2358"/>
              <a:ext cx="261" cy="1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CCECFF"/>
                      </a:gs>
                      <a:gs pos="100000">
                        <a:srgbClr val="CCECFF">
                          <a:gamma/>
                          <a:tint val="0"/>
                          <a:invGamma/>
                        </a:srgbClr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6969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2000" tIns="48834" rIns="97200" bIns="48834">
              <a:spAutoFit/>
            </a:bodyPr>
            <a:lstStyle>
              <a:lvl1pPr marL="342900" indent="-3429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latinLnBrk="0">
                <a:lnSpc>
                  <a:spcPct val="90000"/>
                </a:lnSpc>
                <a:spcBef>
                  <a:spcPct val="25000"/>
                </a:spcBef>
                <a:spcAft>
                  <a:spcPct val="25000"/>
                </a:spcAft>
                <a:defRPr/>
              </a:pPr>
              <a:r>
                <a:rPr lang="ko-KR" altLang="en-US" sz="1000" b="0" kern="0">
                  <a:solidFill>
                    <a:srgbClr val="000000"/>
                  </a:solidFill>
                  <a:latin typeface="+mj-ea"/>
                  <a:ea typeface="+mj-ea"/>
                  <a:cs typeface="+mn-cs"/>
                </a:rPr>
                <a:t>전화</a:t>
              </a:r>
            </a:p>
          </p:txBody>
        </p:sp>
        <p:pic>
          <p:nvPicPr>
            <p:cNvPr id="345" name="Picture 130" descr="3D_22">
              <a:extLst>
                <a:ext uri="{FF2B5EF4-FFF2-40B4-BE49-F238E27FC236}">
                  <a16:creationId xmlns:a16="http://schemas.microsoft.com/office/drawing/2014/main" id="{502E9F45-B48D-7531-3738-BA10FCD726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61" y="2122"/>
              <a:ext cx="275" cy="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46" name="Group 132">
            <a:extLst>
              <a:ext uri="{FF2B5EF4-FFF2-40B4-BE49-F238E27FC236}">
                <a16:creationId xmlns:a16="http://schemas.microsoft.com/office/drawing/2014/main" id="{EB627DF4-C8B6-D020-35A0-0FA955D7C067}"/>
              </a:ext>
            </a:extLst>
          </p:cNvPr>
          <p:cNvGrpSpPr>
            <a:grpSpLocks/>
          </p:cNvGrpSpPr>
          <p:nvPr/>
        </p:nvGrpSpPr>
        <p:grpSpPr bwMode="auto">
          <a:xfrm>
            <a:off x="4737372" y="6561624"/>
            <a:ext cx="1527700" cy="542848"/>
            <a:chOff x="1975" y="3825"/>
            <a:chExt cx="712" cy="253"/>
          </a:xfrm>
        </p:grpSpPr>
        <p:pic>
          <p:nvPicPr>
            <p:cNvPr id="347" name="Picture 133" descr="그림34">
              <a:extLst>
                <a:ext uri="{FF2B5EF4-FFF2-40B4-BE49-F238E27FC236}">
                  <a16:creationId xmlns:a16="http://schemas.microsoft.com/office/drawing/2014/main" id="{E9ADBB7F-F045-76CB-E3B5-A0C856C770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18000" contrast="-3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5" y="3825"/>
              <a:ext cx="712" cy="2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8" name="Text Box 29">
              <a:extLst>
                <a:ext uri="{FF2B5EF4-FFF2-40B4-BE49-F238E27FC236}">
                  <a16:creationId xmlns:a16="http://schemas.microsoft.com/office/drawing/2014/main" id="{0817920E-F76A-51EA-9815-A8F73EEE5C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0" y="3892"/>
              <a:ext cx="542" cy="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latinLnBrk="0">
                <a:defRPr/>
              </a:pPr>
              <a:r>
                <a:rPr lang="ko-KR" altLang="en-US" sz="1000" kern="0" dirty="0">
                  <a:latin typeface="+mj-ea"/>
                  <a:ea typeface="+mj-ea"/>
                  <a:cs typeface="+mn-cs"/>
                </a:rPr>
                <a:t>구성 및 처리</a:t>
              </a:r>
              <a:br>
                <a:rPr lang="ko-KR" altLang="en-US" sz="1000" kern="0" dirty="0">
                  <a:latin typeface="+mj-ea"/>
                  <a:ea typeface="+mj-ea"/>
                  <a:cs typeface="+mn-cs"/>
                </a:rPr>
              </a:br>
              <a:r>
                <a:rPr lang="ko-KR" altLang="en-US" sz="1000" kern="0" dirty="0">
                  <a:latin typeface="+mj-ea"/>
                  <a:ea typeface="+mj-ea"/>
                  <a:cs typeface="+mn-cs"/>
                </a:rPr>
                <a:t>이력저장소</a:t>
              </a:r>
            </a:p>
          </p:txBody>
        </p:sp>
      </p:grpSp>
      <p:pic>
        <p:nvPicPr>
          <p:cNvPr id="349" name="Picture 135" descr="22">
            <a:extLst>
              <a:ext uri="{FF2B5EF4-FFF2-40B4-BE49-F238E27FC236}">
                <a16:creationId xmlns:a16="http://schemas.microsoft.com/office/drawing/2014/main" id="{E8C20947-CAD9-0D27-16AE-9B785F6E9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118" y="4632696"/>
            <a:ext cx="514955" cy="57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0" name="Picture 136" descr="22">
            <a:extLst>
              <a:ext uri="{FF2B5EF4-FFF2-40B4-BE49-F238E27FC236}">
                <a16:creationId xmlns:a16="http://schemas.microsoft.com/office/drawing/2014/main" id="{502E6FDE-D175-0C93-859E-1286AE1FEB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118" y="5602529"/>
            <a:ext cx="514955" cy="57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1" name="Picture 137" descr="22">
            <a:extLst>
              <a:ext uri="{FF2B5EF4-FFF2-40B4-BE49-F238E27FC236}">
                <a16:creationId xmlns:a16="http://schemas.microsoft.com/office/drawing/2014/main" id="{C40C9454-EED4-3D20-586A-335E586E7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118" y="6563778"/>
            <a:ext cx="514955" cy="57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2" name="AutoShape 152">
            <a:extLst>
              <a:ext uri="{FF2B5EF4-FFF2-40B4-BE49-F238E27FC236}">
                <a16:creationId xmlns:a16="http://schemas.microsoft.com/office/drawing/2014/main" id="{6D79CB68-4797-B67F-0E7A-96D41D6AD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1529" y="4366636"/>
            <a:ext cx="1212290" cy="319701"/>
          </a:xfrm>
          <a:prstGeom prst="roundRect">
            <a:avLst>
              <a:gd name="adj" fmla="val 0"/>
            </a:avLst>
          </a:prstGeom>
          <a:solidFill>
            <a:srgbClr val="9DCBF1"/>
          </a:solidFill>
          <a:ln w="12700" algn="ctr">
            <a:solidFill>
              <a:srgbClr val="FFFFFF"/>
            </a:solidFill>
            <a:round/>
            <a:headEnd/>
            <a:tailEnd/>
          </a:ln>
          <a:effectLst>
            <a:outerShdw dist="17961" dir="2700000" algn="ctr" rotWithShape="0">
              <a:srgbClr val="B2B2B2"/>
            </a:outerShdw>
          </a:effectLst>
        </p:spPr>
        <p:txBody>
          <a:bodyPr lIns="0" tIns="0" rIns="0" bIns="0" anchor="ctr"/>
          <a:lstStyle/>
          <a:p>
            <a:pPr algn="ctr" defTabSz="995363" latinLnBrk="0">
              <a:defRPr/>
            </a:pPr>
            <a:r>
              <a:rPr lang="en-US" altLang="ko-KR" sz="1000" b="0" kern="0">
                <a:solidFill>
                  <a:srgbClr val="000000"/>
                </a:solidFill>
                <a:latin typeface="+mj-ea"/>
                <a:ea typeface="+mj-ea"/>
                <a:cs typeface="+mn-cs"/>
              </a:rPr>
              <a:t>IT</a:t>
            </a:r>
            <a:r>
              <a:rPr lang="ko-KR" altLang="en-US" sz="1000" b="0" kern="0">
                <a:solidFill>
                  <a:srgbClr val="000000"/>
                </a:solidFill>
                <a:latin typeface="+mj-ea"/>
                <a:ea typeface="+mj-ea"/>
                <a:cs typeface="+mn-cs"/>
              </a:rPr>
              <a:t>서비스관리</a:t>
            </a:r>
          </a:p>
        </p:txBody>
      </p:sp>
      <p:pic>
        <p:nvPicPr>
          <p:cNvPr id="353" name="Picture 140" descr="회의">
            <a:extLst>
              <a:ext uri="{FF2B5EF4-FFF2-40B4-BE49-F238E27FC236}">
                <a16:creationId xmlns:a16="http://schemas.microsoft.com/office/drawing/2014/main" id="{76CC9849-0BBA-7863-051B-19020EA1D2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2" b="14482"/>
          <a:stretch>
            <a:fillRect/>
          </a:stretch>
        </p:blipFill>
        <p:spPr bwMode="auto">
          <a:xfrm>
            <a:off x="4399905" y="4016896"/>
            <a:ext cx="918337" cy="72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54" name="그룹 353">
            <a:extLst>
              <a:ext uri="{FF2B5EF4-FFF2-40B4-BE49-F238E27FC236}">
                <a16:creationId xmlns:a16="http://schemas.microsoft.com/office/drawing/2014/main" id="{E635E61C-4406-2479-39AC-7C314BF33105}"/>
              </a:ext>
            </a:extLst>
          </p:cNvPr>
          <p:cNvGrpSpPr/>
          <p:nvPr/>
        </p:nvGrpSpPr>
        <p:grpSpPr>
          <a:xfrm>
            <a:off x="563489" y="5411834"/>
            <a:ext cx="2175686" cy="933356"/>
            <a:chOff x="563489" y="5070887"/>
            <a:chExt cx="2175686" cy="933356"/>
          </a:xfrm>
        </p:grpSpPr>
        <p:grpSp>
          <p:nvGrpSpPr>
            <p:cNvPr id="355" name="Group 141">
              <a:extLst>
                <a:ext uri="{FF2B5EF4-FFF2-40B4-BE49-F238E27FC236}">
                  <a16:creationId xmlns:a16="http://schemas.microsoft.com/office/drawing/2014/main" id="{A2E37A91-F332-F50D-6AFB-EC37AC756B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03673" y="5070887"/>
              <a:ext cx="935502" cy="933356"/>
              <a:chOff x="1449" y="3144"/>
              <a:chExt cx="436" cy="435"/>
            </a:xfrm>
          </p:grpSpPr>
          <p:sp>
            <p:nvSpPr>
              <p:cNvPr id="361" name="AutoShape 142">
                <a:extLst>
                  <a:ext uri="{FF2B5EF4-FFF2-40B4-BE49-F238E27FC236}">
                    <a16:creationId xmlns:a16="http://schemas.microsoft.com/office/drawing/2014/main" id="{6CA17161-BA7B-6104-554B-6B7E0868FB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9" y="3144"/>
                <a:ext cx="436" cy="402"/>
              </a:xfrm>
              <a:prstGeom prst="roundRect">
                <a:avLst>
                  <a:gd name="adj" fmla="val 3292"/>
                </a:avLst>
              </a:prstGeom>
              <a:solidFill>
                <a:srgbClr val="FFFFFF"/>
              </a:solidFill>
              <a:ln w="25400" cmpd="thinThick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800" b="0" kern="0">
                  <a:solidFill>
                    <a:srgbClr val="000000"/>
                  </a:solidFill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362" name="AutoShape 143">
                <a:extLst>
                  <a:ext uri="{FF2B5EF4-FFF2-40B4-BE49-F238E27FC236}">
                    <a16:creationId xmlns:a16="http://schemas.microsoft.com/office/drawing/2014/main" id="{F2260C7E-D48E-D1E5-0005-F3AE2FA9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5" y="3397"/>
                <a:ext cx="424" cy="182"/>
              </a:xfrm>
              <a:prstGeom prst="roundRect">
                <a:avLst>
                  <a:gd name="adj" fmla="val 6755"/>
                </a:avLst>
              </a:prstGeom>
              <a:gradFill rotWithShape="1">
                <a:gsLst>
                  <a:gs pos="0">
                    <a:srgbClr val="DDDDDD"/>
                  </a:gs>
                  <a:gs pos="100000">
                    <a:srgbClr val="DDDDDD">
                      <a:gamma/>
                      <a:tint val="0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72000" tIns="48834" rIns="97200" bIns="48834" anchor="ctr">
                <a:spAutoFit/>
              </a:bodyPr>
              <a:lstStyle/>
              <a:p>
                <a:pPr latinLnBrk="0">
                  <a:defRPr/>
                </a:pPr>
                <a:endParaRPr lang="ko-KR" altLang="en-US" sz="1800" b="0" kern="0">
                  <a:solidFill>
                    <a:srgbClr val="000000"/>
                  </a:solidFill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363" name="Text Box 144">
                <a:extLst>
                  <a:ext uri="{FF2B5EF4-FFF2-40B4-BE49-F238E27FC236}">
                    <a16:creationId xmlns:a16="http://schemas.microsoft.com/office/drawing/2014/main" id="{5338B6D7-7719-1105-CDCC-4BB8D9C34A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1" y="3417"/>
                <a:ext cx="398" cy="1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CCECFF"/>
                        </a:gs>
                        <a:gs pos="100000">
                          <a:srgbClr val="CCECFF">
                            <a:gamma/>
                            <a:tint val="0"/>
                            <a:invGamma/>
                          </a:srgbClr>
                        </a:gs>
                      </a:gsLst>
                      <a:lin ang="5400000" scaled="1"/>
                    </a:gra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96969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72000" tIns="48834" rIns="97200" bIns="48834">
                <a:spAutoFit/>
              </a:bodyPr>
              <a:lstStyle>
                <a:lvl1pPr marL="342900" indent="-3429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latinLnBrk="0">
                  <a:lnSpc>
                    <a:spcPct val="90000"/>
                  </a:lnSpc>
                  <a:spcBef>
                    <a:spcPct val="25000"/>
                  </a:spcBef>
                  <a:spcAft>
                    <a:spcPct val="25000"/>
                  </a:spcAft>
                  <a:defRPr/>
                </a:pPr>
                <a:r>
                  <a:rPr lang="en-US" altLang="ko-KR" sz="1000" b="0" kern="0">
                    <a:solidFill>
                      <a:srgbClr val="000000"/>
                    </a:solidFill>
                    <a:latin typeface="+mj-ea"/>
                    <a:ea typeface="+mj-ea"/>
                    <a:cs typeface="+mn-cs"/>
                  </a:rPr>
                  <a:t>Servicedesk</a:t>
                </a:r>
              </a:p>
            </p:txBody>
          </p:sp>
          <p:pic>
            <p:nvPicPr>
              <p:cNvPr id="364" name="Picture 3">
                <a:extLst>
                  <a:ext uri="{FF2B5EF4-FFF2-40B4-BE49-F238E27FC236}">
                    <a16:creationId xmlns:a16="http://schemas.microsoft.com/office/drawing/2014/main" id="{8674F4DE-B270-730E-46B2-F0DA1AA786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02" y="3163"/>
                <a:ext cx="331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356" name="Group 146">
              <a:extLst>
                <a:ext uri="{FF2B5EF4-FFF2-40B4-BE49-F238E27FC236}">
                  <a16:creationId xmlns:a16="http://schemas.microsoft.com/office/drawing/2014/main" id="{86CF1878-03ED-3AF9-7C1E-04B3590817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3489" y="5135256"/>
              <a:ext cx="686607" cy="826074"/>
              <a:chOff x="871" y="3174"/>
              <a:chExt cx="320" cy="385"/>
            </a:xfrm>
          </p:grpSpPr>
          <p:sp>
            <p:nvSpPr>
              <p:cNvPr id="357" name="AutoShape 147">
                <a:extLst>
                  <a:ext uri="{FF2B5EF4-FFF2-40B4-BE49-F238E27FC236}">
                    <a16:creationId xmlns:a16="http://schemas.microsoft.com/office/drawing/2014/main" id="{810D53C8-333F-58A6-4305-D6D8EC0DD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1" y="3174"/>
                <a:ext cx="320" cy="343"/>
              </a:xfrm>
              <a:prstGeom prst="roundRect">
                <a:avLst>
                  <a:gd name="adj" fmla="val 3292"/>
                </a:avLst>
              </a:prstGeom>
              <a:solidFill>
                <a:srgbClr val="FFFFFF"/>
              </a:solidFill>
              <a:ln w="25400" cmpd="thinThick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latinLnBrk="0">
                  <a:defRPr/>
                </a:pPr>
                <a:endParaRPr lang="ko-KR" altLang="en-US" sz="1800" b="0" kern="0">
                  <a:solidFill>
                    <a:srgbClr val="000000"/>
                  </a:solidFill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358" name="AutoShape 148">
                <a:extLst>
                  <a:ext uri="{FF2B5EF4-FFF2-40B4-BE49-F238E27FC236}">
                    <a16:creationId xmlns:a16="http://schemas.microsoft.com/office/drawing/2014/main" id="{881BC00B-D9E9-C55A-1EFE-DB7ECE58B8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5" y="3377"/>
                <a:ext cx="312" cy="182"/>
              </a:xfrm>
              <a:prstGeom prst="roundRect">
                <a:avLst>
                  <a:gd name="adj" fmla="val 6755"/>
                </a:avLst>
              </a:prstGeom>
              <a:gradFill rotWithShape="1">
                <a:gsLst>
                  <a:gs pos="0">
                    <a:srgbClr val="DDDDDD"/>
                  </a:gs>
                  <a:gs pos="100000">
                    <a:srgbClr val="DDDDDD">
                      <a:gamma/>
                      <a:tint val="0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C0C0C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72000" tIns="48834" rIns="97200" bIns="48834" anchor="ctr">
                <a:spAutoFit/>
              </a:bodyPr>
              <a:lstStyle/>
              <a:p>
                <a:pPr latinLnBrk="0">
                  <a:defRPr/>
                </a:pPr>
                <a:endParaRPr lang="ko-KR" altLang="en-US" sz="1800" b="0" kern="0">
                  <a:solidFill>
                    <a:srgbClr val="000000"/>
                  </a:solidFill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359" name="Text Box 149">
                <a:extLst>
                  <a:ext uri="{FF2B5EF4-FFF2-40B4-BE49-F238E27FC236}">
                    <a16:creationId xmlns:a16="http://schemas.microsoft.com/office/drawing/2014/main" id="{048CC80C-707F-24AB-87B1-0AB1605B16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7" y="3406"/>
                <a:ext cx="248" cy="1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CCECFF"/>
                        </a:gs>
                        <a:gs pos="100000">
                          <a:srgbClr val="CCECFF">
                            <a:gamma/>
                            <a:tint val="0"/>
                            <a:invGamma/>
                          </a:srgbClr>
                        </a:gs>
                      </a:gsLst>
                      <a:lin ang="5400000" scaled="1"/>
                    </a:gra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96969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72000" tIns="48834" rIns="97200" bIns="48834">
                <a:spAutoFit/>
              </a:bodyPr>
              <a:lstStyle>
                <a:lvl1pPr marL="342900" indent="-3429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latinLnBrk="0">
                  <a:lnSpc>
                    <a:spcPct val="90000"/>
                  </a:lnSpc>
                  <a:spcBef>
                    <a:spcPct val="25000"/>
                  </a:spcBef>
                  <a:spcAft>
                    <a:spcPct val="25000"/>
                  </a:spcAft>
                  <a:defRPr/>
                </a:pPr>
                <a:r>
                  <a:rPr lang="ko-KR" altLang="en-US" sz="1000" b="0" kern="0">
                    <a:solidFill>
                      <a:srgbClr val="000000"/>
                    </a:solidFill>
                    <a:latin typeface="+mj-ea"/>
                    <a:ea typeface="+mj-ea"/>
                    <a:cs typeface="+mn-cs"/>
                  </a:rPr>
                  <a:t>인터넷</a:t>
                </a:r>
              </a:p>
            </p:txBody>
          </p:sp>
          <p:pic>
            <p:nvPicPr>
              <p:cNvPr id="360" name="Picture 3">
                <a:extLst>
                  <a:ext uri="{FF2B5EF4-FFF2-40B4-BE49-F238E27FC236}">
                    <a16:creationId xmlns:a16="http://schemas.microsoft.com/office/drawing/2014/main" id="{18C92A6B-7911-271E-A9E9-96F568C56D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07" y="3202"/>
                <a:ext cx="232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365" name="Group 151">
            <a:extLst>
              <a:ext uri="{FF2B5EF4-FFF2-40B4-BE49-F238E27FC236}">
                <a16:creationId xmlns:a16="http://schemas.microsoft.com/office/drawing/2014/main" id="{20BE5AE7-3DCF-71FF-CF6C-C5E8754FF582}"/>
              </a:ext>
            </a:extLst>
          </p:cNvPr>
          <p:cNvGrpSpPr>
            <a:grpSpLocks/>
          </p:cNvGrpSpPr>
          <p:nvPr/>
        </p:nvGrpSpPr>
        <p:grpSpPr bwMode="auto">
          <a:xfrm>
            <a:off x="563489" y="6647994"/>
            <a:ext cx="686607" cy="826074"/>
            <a:chOff x="871" y="4002"/>
            <a:chExt cx="320" cy="385"/>
          </a:xfrm>
        </p:grpSpPr>
        <p:sp>
          <p:nvSpPr>
            <p:cNvPr id="366" name="AutoShape 152">
              <a:extLst>
                <a:ext uri="{FF2B5EF4-FFF2-40B4-BE49-F238E27FC236}">
                  <a16:creationId xmlns:a16="http://schemas.microsoft.com/office/drawing/2014/main" id="{2598F188-D73D-BFBB-9DF5-7B55A4FD1C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" y="4002"/>
              <a:ext cx="320" cy="343"/>
            </a:xfrm>
            <a:prstGeom prst="roundRect">
              <a:avLst>
                <a:gd name="adj" fmla="val 3292"/>
              </a:avLst>
            </a:prstGeom>
            <a:solidFill>
              <a:srgbClr val="FFFFFF"/>
            </a:solidFill>
            <a:ln w="25400" cmpd="thinThick">
              <a:solidFill>
                <a:srgbClr val="99CC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sz="1800" b="0" kern="0">
                <a:solidFill>
                  <a:srgbClr val="000000"/>
                </a:solidFill>
                <a:latin typeface="+mj-ea"/>
                <a:ea typeface="+mj-ea"/>
                <a:cs typeface="+mn-cs"/>
              </a:endParaRPr>
            </a:p>
          </p:txBody>
        </p:sp>
        <p:sp>
          <p:nvSpPr>
            <p:cNvPr id="367" name="AutoShape 153">
              <a:extLst>
                <a:ext uri="{FF2B5EF4-FFF2-40B4-BE49-F238E27FC236}">
                  <a16:creationId xmlns:a16="http://schemas.microsoft.com/office/drawing/2014/main" id="{AB48ED0D-52BF-5964-01CE-A63312C9E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" y="4205"/>
              <a:ext cx="312" cy="182"/>
            </a:xfrm>
            <a:prstGeom prst="roundRect">
              <a:avLst>
                <a:gd name="adj" fmla="val 6755"/>
              </a:avLst>
            </a:prstGeom>
            <a:gradFill rotWithShape="1">
              <a:gsLst>
                <a:gs pos="0">
                  <a:srgbClr val="DDDDDD"/>
                </a:gs>
                <a:gs pos="100000">
                  <a:srgbClr val="DDDDDD">
                    <a:gamma/>
                    <a:tint val="0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C0C0C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72000" tIns="48834" rIns="97200" bIns="48834" anchor="ctr">
              <a:spAutoFit/>
            </a:bodyPr>
            <a:lstStyle/>
            <a:p>
              <a:pPr latinLnBrk="0">
                <a:defRPr/>
              </a:pPr>
              <a:endParaRPr lang="ko-KR" altLang="en-US" sz="1800" b="0" kern="0">
                <a:solidFill>
                  <a:srgbClr val="000000"/>
                </a:solidFill>
                <a:latin typeface="+mj-ea"/>
                <a:ea typeface="+mj-ea"/>
                <a:cs typeface="+mn-cs"/>
              </a:endParaRPr>
            </a:p>
          </p:txBody>
        </p:sp>
        <p:sp>
          <p:nvSpPr>
            <p:cNvPr id="368" name="Text Box 154">
              <a:extLst>
                <a:ext uri="{FF2B5EF4-FFF2-40B4-BE49-F238E27FC236}">
                  <a16:creationId xmlns:a16="http://schemas.microsoft.com/office/drawing/2014/main" id="{F8A8A9A5-2621-9CC8-2272-D71CA944D9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5" y="4234"/>
              <a:ext cx="192" cy="1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CCECFF"/>
                      </a:gs>
                      <a:gs pos="100000">
                        <a:srgbClr val="CCECFF">
                          <a:gamma/>
                          <a:tint val="0"/>
                          <a:invGamma/>
                        </a:srgbClr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6969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2000" tIns="48834" rIns="97200" bIns="48834">
              <a:spAutoFit/>
            </a:bodyPr>
            <a:lstStyle>
              <a:lvl1pPr marL="342900" indent="-3429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latinLnBrk="0">
                <a:lnSpc>
                  <a:spcPct val="90000"/>
                </a:lnSpc>
                <a:spcBef>
                  <a:spcPct val="25000"/>
                </a:spcBef>
                <a:spcAft>
                  <a:spcPct val="25000"/>
                </a:spcAft>
                <a:defRPr/>
              </a:pPr>
              <a:r>
                <a:rPr lang="ko-KR" altLang="en-US" sz="1000" b="0" kern="0">
                  <a:solidFill>
                    <a:srgbClr val="000000"/>
                  </a:solidFill>
                  <a:latin typeface="+mj-ea"/>
                  <a:ea typeface="+mj-ea"/>
                  <a:cs typeface="+mn-cs"/>
                </a:rPr>
                <a:t>기타</a:t>
              </a:r>
            </a:p>
          </p:txBody>
        </p:sp>
        <p:pic>
          <p:nvPicPr>
            <p:cNvPr id="369" name="Picture 3">
              <a:extLst>
                <a:ext uri="{FF2B5EF4-FFF2-40B4-BE49-F238E27FC236}">
                  <a16:creationId xmlns:a16="http://schemas.microsoft.com/office/drawing/2014/main" id="{A9DEDD61-9FDD-EC94-3A9E-9BE29F6691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3" y="4041"/>
              <a:ext cx="232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70" name="Group 156">
            <a:extLst>
              <a:ext uri="{FF2B5EF4-FFF2-40B4-BE49-F238E27FC236}">
                <a16:creationId xmlns:a16="http://schemas.microsoft.com/office/drawing/2014/main" id="{BFCD1770-1F48-31EA-47E8-79656DCD6C23}"/>
              </a:ext>
            </a:extLst>
          </p:cNvPr>
          <p:cNvGrpSpPr>
            <a:grpSpLocks/>
          </p:cNvGrpSpPr>
          <p:nvPr/>
        </p:nvGrpSpPr>
        <p:grpSpPr bwMode="auto">
          <a:xfrm>
            <a:off x="4562974" y="4834387"/>
            <a:ext cx="1871004" cy="1549157"/>
            <a:chOff x="2363" y="2866"/>
            <a:chExt cx="872" cy="722"/>
          </a:xfrm>
        </p:grpSpPr>
        <p:sp>
          <p:nvSpPr>
            <p:cNvPr id="371" name="AutoShape 157">
              <a:extLst>
                <a:ext uri="{FF2B5EF4-FFF2-40B4-BE49-F238E27FC236}">
                  <a16:creationId xmlns:a16="http://schemas.microsoft.com/office/drawing/2014/main" id="{041D8D2E-546E-A9B2-D58F-DDB4BF13A1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3" y="2866"/>
              <a:ext cx="872" cy="722"/>
            </a:xfrm>
            <a:prstGeom prst="roundRect">
              <a:avLst>
                <a:gd name="adj" fmla="val 3292"/>
              </a:avLst>
            </a:prstGeom>
            <a:solidFill>
              <a:srgbClr val="FFFFFF"/>
            </a:solidFill>
            <a:ln w="25400" cmpd="thinThick">
              <a:solidFill>
                <a:srgbClr val="99CC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latinLnBrk="0">
                <a:defRPr/>
              </a:pPr>
              <a:endParaRPr lang="ko-KR" altLang="en-US" sz="1800" b="0" kern="0">
                <a:solidFill>
                  <a:srgbClr val="000000"/>
                </a:solidFill>
                <a:latin typeface="+mj-ea"/>
                <a:ea typeface="+mj-ea"/>
                <a:cs typeface="+mn-cs"/>
              </a:endParaRPr>
            </a:p>
          </p:txBody>
        </p:sp>
        <p:pic>
          <p:nvPicPr>
            <p:cNvPr id="372" name="Picture 8">
              <a:extLst>
                <a:ext uri="{FF2B5EF4-FFF2-40B4-BE49-F238E27FC236}">
                  <a16:creationId xmlns:a16="http://schemas.microsoft.com/office/drawing/2014/main" id="{49A18EB5-E3D1-5F4B-557A-820DDF0BCF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87" y="2887"/>
              <a:ext cx="591" cy="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3" name="Picture 2">
              <a:extLst>
                <a:ext uri="{FF2B5EF4-FFF2-40B4-BE49-F238E27FC236}">
                  <a16:creationId xmlns:a16="http://schemas.microsoft.com/office/drawing/2014/main" id="{E191BB2D-6858-B2CF-793D-EDF09D37E0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5" y="3256"/>
              <a:ext cx="620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4" name="Picture 2">
              <a:extLst>
                <a:ext uri="{FF2B5EF4-FFF2-40B4-BE49-F238E27FC236}">
                  <a16:creationId xmlns:a16="http://schemas.microsoft.com/office/drawing/2014/main" id="{58828688-F808-4AD2-6250-32D333E253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6" y="2961"/>
              <a:ext cx="417" cy="592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375" name="직선 화살표 연결선 374">
            <a:extLst>
              <a:ext uri="{FF2B5EF4-FFF2-40B4-BE49-F238E27FC236}">
                <a16:creationId xmlns:a16="http://schemas.microsoft.com/office/drawing/2014/main" id="{66B9338C-9F80-3E4C-E241-F1E084096F4A}"/>
              </a:ext>
            </a:extLst>
          </p:cNvPr>
          <p:cNvCxnSpPr>
            <a:stCxn id="361" idx="1"/>
            <a:endCxn id="357" idx="3"/>
          </p:cNvCxnSpPr>
          <p:nvPr/>
        </p:nvCxnSpPr>
        <p:spPr>
          <a:xfrm flipH="1">
            <a:off x="1250096" y="5843109"/>
            <a:ext cx="553577" cy="107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tailEnd type="triangle"/>
          </a:ln>
          <a:effectLst/>
        </p:spPr>
      </p:cxnSp>
      <p:cxnSp>
        <p:nvCxnSpPr>
          <p:cNvPr id="376" name="꺾인 연결선 122">
            <a:extLst>
              <a:ext uri="{FF2B5EF4-FFF2-40B4-BE49-F238E27FC236}">
                <a16:creationId xmlns:a16="http://schemas.microsoft.com/office/drawing/2014/main" id="{D729E07F-F45F-9C11-2209-784ED299264C}"/>
              </a:ext>
            </a:extLst>
          </p:cNvPr>
          <p:cNvCxnSpPr>
            <a:stCxn id="342" idx="3"/>
            <a:endCxn id="361" idx="0"/>
          </p:cNvCxnSpPr>
          <p:nvPr/>
        </p:nvCxnSpPr>
        <p:spPr>
          <a:xfrm>
            <a:off x="1250096" y="4653123"/>
            <a:ext cx="1021328" cy="758711"/>
          </a:xfrm>
          <a:prstGeom prst="bentConnector2">
            <a:avLst/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tailEnd type="triangle"/>
          </a:ln>
          <a:effectLst/>
        </p:spPr>
      </p:cxnSp>
      <p:cxnSp>
        <p:nvCxnSpPr>
          <p:cNvPr id="377" name="꺾인 연결선 124">
            <a:extLst>
              <a:ext uri="{FF2B5EF4-FFF2-40B4-BE49-F238E27FC236}">
                <a16:creationId xmlns:a16="http://schemas.microsoft.com/office/drawing/2014/main" id="{D6579760-3E50-AFC1-601E-7A3B79F80515}"/>
              </a:ext>
            </a:extLst>
          </p:cNvPr>
          <p:cNvCxnSpPr>
            <a:stCxn id="366" idx="3"/>
            <a:endCxn id="363" idx="2"/>
          </p:cNvCxnSpPr>
          <p:nvPr/>
        </p:nvCxnSpPr>
        <p:spPr>
          <a:xfrm flipV="1">
            <a:off x="1250096" y="6235762"/>
            <a:ext cx="1027765" cy="780211"/>
          </a:xfrm>
          <a:prstGeom prst="bentConnector2">
            <a:avLst/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tailEnd type="triangle"/>
          </a:ln>
          <a:effectLst/>
        </p:spPr>
      </p:cxnSp>
      <p:graphicFrame>
        <p:nvGraphicFramePr>
          <p:cNvPr id="378" name="Group 86">
            <a:extLst>
              <a:ext uri="{FF2B5EF4-FFF2-40B4-BE49-F238E27FC236}">
                <a16:creationId xmlns:a16="http://schemas.microsoft.com/office/drawing/2014/main" id="{734C0039-62D9-A5BF-13A5-04AB8EBCC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709325"/>
              </p:ext>
            </p:extLst>
          </p:nvPr>
        </p:nvGraphicFramePr>
        <p:xfrm>
          <a:off x="172582" y="7547543"/>
          <a:ext cx="6497070" cy="2085977"/>
        </p:xfrm>
        <a:graphic>
          <a:graphicData uri="http://schemas.openxmlformats.org/drawingml/2006/table">
            <a:tbl>
              <a:tblPr/>
              <a:tblGrid>
                <a:gridCol w="1274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2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7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235825" algn="r"/>
                        </a:tabLst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종류</a:t>
                      </a:r>
                    </a:p>
                  </a:txBody>
                  <a:tcPr marL="54000" marR="54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9C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235825" algn="r"/>
                        </a:tabLst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적용 방법</a:t>
                      </a:r>
                    </a:p>
                  </a:txBody>
                  <a:tcPr marL="54000" marR="54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9C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235825" algn="r"/>
                        </a:tabLst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비고</a:t>
                      </a:r>
                    </a:p>
                  </a:txBody>
                  <a:tcPr marL="54000" marR="54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9C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235825" algn="r"/>
                        </a:tabLst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장애관리</a:t>
                      </a:r>
                    </a:p>
                  </a:txBody>
                  <a:tcPr marL="54000" marR="54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Char char="§"/>
                        <a:tabLst>
                          <a:tab pos="7235825" algn="r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다양한 유형의 서비스 요청 등록을 지원하는 서비스 요청접수화면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사용자에게 직접 해결방안을 제시하기 위한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FAQ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및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KEDB(Known Error DB)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조회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서비스 요청처리 상황조회 기능 제공</a:t>
                      </a:r>
                    </a:p>
                  </a:txBody>
                  <a:tcPr marL="54000" marR="54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Char char="§"/>
                        <a:tabLst>
                          <a:tab pos="7235825" algn="r"/>
                        </a:tabLst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ServiceDesk</a:t>
                      </a:r>
                    </a:p>
                  </a:txBody>
                  <a:tcPr marL="54000" marR="54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235825" algn="r"/>
                        </a:tabLst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문제관리</a:t>
                      </a:r>
                    </a:p>
                  </a:txBody>
                  <a:tcPr marL="54000" marR="54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Char char="§"/>
                        <a:tabLst>
                          <a:tab pos="7235825" algn="r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장애관리 프로세스에서 해결 되지 않아 문제관리 조직에 요청된 문제해결 요청에 대해 문제가 발생한 정확한 원인을 분석하여 이러한 문제가 재발하지 않도록 차단하기 위한 해결책을 제시</a:t>
                      </a:r>
                    </a:p>
                  </a:txBody>
                  <a:tcPr marL="54000" marR="54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Char char="§"/>
                        <a:tabLst>
                          <a:tab pos="7235825" algn="r"/>
                        </a:tabLst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4000" marR="54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235825" algn="r"/>
                        </a:tabLst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변경관리</a:t>
                      </a:r>
                    </a:p>
                  </a:txBody>
                  <a:tcPr marL="54000" marR="54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Char char="§"/>
                        <a:tabLst>
                          <a:tab pos="7235825" algn="r"/>
                        </a:tabLst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시스템에 대한 변경사항을 관리하는 프로세스로 시스템 변경에 대한 계획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검토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승인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구현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검증 및 추적하는 활동</a:t>
                      </a:r>
                    </a:p>
                  </a:txBody>
                  <a:tcPr marL="54000" marR="54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Char char="§"/>
                        <a:tabLst>
                          <a:tab pos="7235825" algn="r"/>
                        </a:tabLst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4000" marR="54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7235825" algn="r"/>
                        </a:tabLst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구성관리</a:t>
                      </a:r>
                    </a:p>
                  </a:txBody>
                  <a:tcPr marL="54000" marR="54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Char char="§"/>
                        <a:tabLst>
                          <a:tab pos="7235825" algn="r"/>
                        </a:tabLst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정보시스템을 구성하는 하드웨어 및 소프트웨어의 구성현황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이력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구성도 등의 효율적 관리를 위한 활동</a:t>
                      </a:r>
                    </a:p>
                  </a:txBody>
                  <a:tcPr marL="54000" marR="54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Char char="§"/>
                        <a:tabLst>
                          <a:tab pos="7235825" algn="r"/>
                        </a:tabLst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4000" marR="54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ED1FD860-5991-0BAB-AF64-E616240457F8}"/>
              </a:ext>
            </a:extLst>
          </p:cNvPr>
          <p:cNvGrpSpPr/>
          <p:nvPr/>
        </p:nvGrpSpPr>
        <p:grpSpPr>
          <a:xfrm>
            <a:off x="317654" y="667364"/>
            <a:ext cx="3795422" cy="351189"/>
            <a:chOff x="760846" y="854534"/>
            <a:chExt cx="3795422" cy="35118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480ADA2-CA07-08A6-4B21-04FD032E3046}"/>
                </a:ext>
              </a:extLst>
            </p:cNvPr>
            <p:cNvSpPr txBox="1"/>
            <p:nvPr/>
          </p:nvSpPr>
          <p:spPr>
            <a:xfrm flipH="1">
              <a:off x="1171266" y="891629"/>
              <a:ext cx="338500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r>
                <a:rPr lang="ko-KR" altLang="en-US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사업관리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264F3664-B739-2270-EED6-2E69EF39384C}"/>
                </a:ext>
              </a:extLst>
            </p:cNvPr>
            <p:cNvGrpSpPr/>
            <p:nvPr/>
          </p:nvGrpSpPr>
          <p:grpSpPr>
            <a:xfrm>
              <a:off x="760846" y="854534"/>
              <a:ext cx="324620" cy="351189"/>
              <a:chOff x="539750" y="2917808"/>
              <a:chExt cx="526237" cy="526236"/>
            </a:xfrm>
          </p:grpSpPr>
          <p:sp>
            <p:nvSpPr>
              <p:cNvPr id="10" name="모서리가 둥근 직사각형 4">
                <a:extLst>
                  <a:ext uri="{FF2B5EF4-FFF2-40B4-BE49-F238E27FC236}">
                    <a16:creationId xmlns:a16="http://schemas.microsoft.com/office/drawing/2014/main" id="{83E9B15C-B470-97B0-065F-97BA0E61A43B}"/>
                  </a:ext>
                </a:extLst>
              </p:cNvPr>
              <p:cNvSpPr/>
              <p:nvPr/>
            </p:nvSpPr>
            <p:spPr>
              <a:xfrm>
                <a:off x="539750" y="2917808"/>
                <a:ext cx="526237" cy="526236"/>
              </a:xfrm>
              <a:prstGeom prst="roundRect">
                <a:avLst>
                  <a:gd name="adj" fmla="val 11229"/>
                </a:avLst>
              </a:prstGeom>
              <a:solidFill>
                <a:srgbClr val="00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87968E0-0BD0-C484-45C5-CB1D04E86C30}"/>
                  </a:ext>
                </a:extLst>
              </p:cNvPr>
              <p:cNvSpPr txBox="1"/>
              <p:nvPr/>
            </p:nvSpPr>
            <p:spPr>
              <a:xfrm flipH="1">
                <a:off x="636582" y="2952530"/>
                <a:ext cx="338951" cy="46118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#</a:t>
                </a:r>
              </a:p>
            </p:txBody>
          </p:sp>
        </p:grpSp>
      </p:grpSp>
      <p:grpSp>
        <p:nvGrpSpPr>
          <p:cNvPr id="23" name="그룹 1">
            <a:extLst>
              <a:ext uri="{FF2B5EF4-FFF2-40B4-BE49-F238E27FC236}">
                <a16:creationId xmlns:a16="http://schemas.microsoft.com/office/drawing/2014/main" id="{FF306416-426A-B519-EE38-B4AB36F9DE1B}"/>
              </a:ext>
            </a:extLst>
          </p:cNvPr>
          <p:cNvGrpSpPr>
            <a:grpSpLocks/>
          </p:cNvGrpSpPr>
          <p:nvPr/>
        </p:nvGrpSpPr>
        <p:grpSpPr bwMode="auto">
          <a:xfrm>
            <a:off x="292100" y="2443001"/>
            <a:ext cx="6270625" cy="385763"/>
            <a:chOff x="292100" y="2959098"/>
            <a:chExt cx="6270625" cy="385765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8F0C2BD6-15E2-696D-A793-1C1E936B0D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100" y="2959098"/>
              <a:ext cx="6270625" cy="385765"/>
              <a:chOff x="334963" y="3573461"/>
              <a:chExt cx="6271218" cy="386316"/>
            </a:xfrm>
          </p:grpSpPr>
          <p:grpSp>
            <p:nvGrpSpPr>
              <p:cNvPr id="26" name="그룹 50">
                <a:extLst>
                  <a:ext uri="{FF2B5EF4-FFF2-40B4-BE49-F238E27FC236}">
                    <a16:creationId xmlns:a16="http://schemas.microsoft.com/office/drawing/2014/main" id="{EEDD2916-8A6B-D2D3-09D6-4008FE66F1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4963" y="3573461"/>
                <a:ext cx="6271218" cy="262313"/>
                <a:chOff x="335633" y="3489640"/>
                <a:chExt cx="6270543" cy="262915"/>
              </a:xfrm>
            </p:grpSpPr>
            <p:sp>
              <p:nvSpPr>
                <p:cNvPr id="31" name="직사각형 262">
                  <a:extLst>
                    <a:ext uri="{FF2B5EF4-FFF2-40B4-BE49-F238E27FC236}">
                      <a16:creationId xmlns:a16="http://schemas.microsoft.com/office/drawing/2014/main" id="{E8EAB310-3A39-9AE4-D229-81B4DC744C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5633" y="3489640"/>
                  <a:ext cx="6270543" cy="262915"/>
                </a:xfrm>
                <a:prstGeom prst="rect">
                  <a:avLst/>
                </a:prstGeom>
                <a:gradFill flip="none" rotWithShape="1">
                  <a:gsLst>
                    <a:gs pos="33000">
                      <a:srgbClr val="1295EE"/>
                    </a:gs>
                    <a:gs pos="0">
                      <a:srgbClr val="0B629D"/>
                    </a:gs>
                    <a:gs pos="12000">
                      <a:srgbClr val="0E76BC"/>
                    </a:gs>
                  </a:gsLst>
                  <a:lin ang="36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latinLnBrk="0">
                    <a:defRPr/>
                  </a:pPr>
                  <a:endParaRPr lang="ko-KR" altLang="en-US" sz="1000" dirty="0">
                    <a:solidFill>
                      <a:srgbClr val="FFFFFF"/>
                    </a:solidFill>
                    <a:latin typeface="+mn-ea"/>
                    <a:cs typeface="Arial" pitchFamily="34" charset="0"/>
                  </a:endParaRPr>
                </a:p>
              </p:txBody>
            </p:sp>
            <p:cxnSp>
              <p:nvCxnSpPr>
                <p:cNvPr id="32" name="직선 연결선 26">
                  <a:extLst>
                    <a:ext uri="{FF2B5EF4-FFF2-40B4-BE49-F238E27FC236}">
                      <a16:creationId xmlns:a16="http://schemas.microsoft.com/office/drawing/2014/main" id="{7BE91287-718E-6892-981D-30E5BCB589FB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553763" y="3618068"/>
                  <a:ext cx="138933" cy="0"/>
                </a:xfrm>
                <a:prstGeom prst="line">
                  <a:avLst/>
                </a:prstGeom>
                <a:noFill/>
                <a:ln w="12700" algn="ctr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33" name="Text Box 34">
                  <a:extLst>
                    <a:ext uri="{FF2B5EF4-FFF2-40B4-BE49-F238E27FC236}">
                      <a16:creationId xmlns:a16="http://schemas.microsoft.com/office/drawing/2014/main" id="{91093AA7-8C7C-478D-EB7C-21CA079B6C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gray">
                <a:xfrm>
                  <a:off x="764704" y="3535954"/>
                  <a:ext cx="5697056" cy="1699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0"/>
                  </a:sp3d>
                </a:bodyPr>
                <a:lstStyle>
                  <a:lvl1pPr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1pPr>
                  <a:lvl2pPr marL="742950" indent="-28575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2pPr>
                  <a:lvl3pPr marL="11430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3pPr>
                  <a:lvl4pPr marL="16002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4pPr>
                  <a:lvl5pPr marL="20574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5pPr>
                  <a:lvl6pPr marL="25146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6pPr>
                  <a:lvl7pPr marL="29718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7pPr>
                  <a:lvl8pPr marL="34290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8pPr>
                  <a:lvl9pPr marL="38862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9pPr>
                </a:lstStyle>
                <a:p>
                  <a:pPr eaLnBrk="1" latinLnBrk="0" hangingPunct="1">
                    <a:defRPr/>
                  </a:pPr>
                  <a:r>
                    <a:rPr lang="ko-KR" altLang="en-US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ea"/>
                      <a:ea typeface="+mn-ea"/>
                      <a:cs typeface="Arial" pitchFamily="34" charset="0"/>
                    </a:rPr>
                    <a:t>서비스 수준 측정 체계</a:t>
                  </a:r>
                </a:p>
              </p:txBody>
            </p:sp>
          </p:grpSp>
          <p:grpSp>
            <p:nvGrpSpPr>
              <p:cNvPr id="27" name="그룹 207">
                <a:extLst>
                  <a:ext uri="{FF2B5EF4-FFF2-40B4-BE49-F238E27FC236}">
                    <a16:creationId xmlns:a16="http://schemas.microsoft.com/office/drawing/2014/main" id="{051F88FF-56CF-1CA2-79F2-BE2E4FC742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8569" y="3850655"/>
                <a:ext cx="5375678" cy="109122"/>
                <a:chOff x="1048569" y="3850655"/>
                <a:chExt cx="5375678" cy="109122"/>
              </a:xfrm>
            </p:grpSpPr>
            <p:pic>
              <p:nvPicPr>
                <p:cNvPr id="28" name="Picture 24" descr="악세사리">
                  <a:extLst>
                    <a:ext uri="{FF2B5EF4-FFF2-40B4-BE49-F238E27FC236}">
                      <a16:creationId xmlns:a16="http://schemas.microsoft.com/office/drawing/2014/main" id="{7C0D2E20-DD82-7E02-38E0-7D3A1F9370DC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9" name="Picture 24" descr="악세사리">
                  <a:extLst>
                    <a:ext uri="{FF2B5EF4-FFF2-40B4-BE49-F238E27FC236}">
                      <a16:creationId xmlns:a16="http://schemas.microsoft.com/office/drawing/2014/main" id="{2C033781-53A3-4E6D-932C-518908C7D9A7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0" name="Picture 24" descr="악세사리">
                  <a:extLst>
                    <a:ext uri="{FF2B5EF4-FFF2-40B4-BE49-F238E27FC236}">
                      <a16:creationId xmlns:a16="http://schemas.microsoft.com/office/drawing/2014/main" id="{6AEA066B-548D-02A4-8AD5-623D7FCA8C06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pic>
          <p:nvPicPr>
            <p:cNvPr id="25" name="Picture 184" descr="icon_a01">
              <a:extLst>
                <a:ext uri="{FF2B5EF4-FFF2-40B4-BE49-F238E27FC236}">
                  <a16:creationId xmlns:a16="http://schemas.microsoft.com/office/drawing/2014/main" id="{38F23071-402C-1702-5876-7D573AB26E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94" t="64084" r="6964" b="26581"/>
            <a:stretch>
              <a:fillRect/>
            </a:stretch>
          </p:blipFill>
          <p:spPr bwMode="auto">
            <a:xfrm>
              <a:off x="339725" y="2992438"/>
              <a:ext cx="169863" cy="18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44126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" name="그룹 1">
            <a:extLst>
              <a:ext uri="{FF2B5EF4-FFF2-40B4-BE49-F238E27FC236}">
                <a16:creationId xmlns:a16="http://schemas.microsoft.com/office/drawing/2014/main" id="{20C9A1F0-DCFD-E08F-6A54-3AC003095DF2}"/>
              </a:ext>
            </a:extLst>
          </p:cNvPr>
          <p:cNvGrpSpPr>
            <a:grpSpLocks/>
          </p:cNvGrpSpPr>
          <p:nvPr/>
        </p:nvGrpSpPr>
        <p:grpSpPr bwMode="auto">
          <a:xfrm>
            <a:off x="292100" y="2370993"/>
            <a:ext cx="6270625" cy="385763"/>
            <a:chOff x="292100" y="2959098"/>
            <a:chExt cx="6270625" cy="385765"/>
          </a:xfrm>
        </p:grpSpPr>
        <p:grpSp>
          <p:nvGrpSpPr>
            <p:cNvPr id="380" name="그룹 379">
              <a:extLst>
                <a:ext uri="{FF2B5EF4-FFF2-40B4-BE49-F238E27FC236}">
                  <a16:creationId xmlns:a16="http://schemas.microsoft.com/office/drawing/2014/main" id="{E95A62F3-83D4-009C-B29D-EB26A3AF23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100" y="2959098"/>
              <a:ext cx="6270625" cy="385765"/>
              <a:chOff x="334963" y="3573461"/>
              <a:chExt cx="6271218" cy="386316"/>
            </a:xfrm>
          </p:grpSpPr>
          <p:grpSp>
            <p:nvGrpSpPr>
              <p:cNvPr id="382" name="그룹 50">
                <a:extLst>
                  <a:ext uri="{FF2B5EF4-FFF2-40B4-BE49-F238E27FC236}">
                    <a16:creationId xmlns:a16="http://schemas.microsoft.com/office/drawing/2014/main" id="{51C39BFD-6404-92EB-323E-EDF8058A15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4963" y="3573461"/>
                <a:ext cx="6271218" cy="262313"/>
                <a:chOff x="335633" y="3489640"/>
                <a:chExt cx="6270543" cy="262915"/>
              </a:xfrm>
            </p:grpSpPr>
            <p:sp>
              <p:nvSpPr>
                <p:cNvPr id="387" name="직사각형 262">
                  <a:extLst>
                    <a:ext uri="{FF2B5EF4-FFF2-40B4-BE49-F238E27FC236}">
                      <a16:creationId xmlns:a16="http://schemas.microsoft.com/office/drawing/2014/main" id="{2FE9E542-F47C-80E6-0B4C-88545D6763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5633" y="3489640"/>
                  <a:ext cx="6270543" cy="262915"/>
                </a:xfrm>
                <a:prstGeom prst="rect">
                  <a:avLst/>
                </a:prstGeom>
                <a:gradFill flip="none" rotWithShape="1">
                  <a:gsLst>
                    <a:gs pos="33000">
                      <a:srgbClr val="1295EE"/>
                    </a:gs>
                    <a:gs pos="0">
                      <a:srgbClr val="0B629D"/>
                    </a:gs>
                    <a:gs pos="12000">
                      <a:srgbClr val="0E76BC"/>
                    </a:gs>
                  </a:gsLst>
                  <a:lin ang="36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latinLnBrk="0">
                    <a:defRPr/>
                  </a:pPr>
                  <a:endParaRPr lang="ko-KR" altLang="en-US" sz="1000" dirty="0">
                    <a:solidFill>
                      <a:srgbClr val="FFFFFF"/>
                    </a:solidFill>
                    <a:latin typeface="+mn-ea"/>
                    <a:cs typeface="Arial" pitchFamily="34" charset="0"/>
                  </a:endParaRPr>
                </a:p>
              </p:txBody>
            </p:sp>
            <p:cxnSp>
              <p:nvCxnSpPr>
                <p:cNvPr id="388" name="직선 연결선 26">
                  <a:extLst>
                    <a:ext uri="{FF2B5EF4-FFF2-40B4-BE49-F238E27FC236}">
                      <a16:creationId xmlns:a16="http://schemas.microsoft.com/office/drawing/2014/main" id="{249F653A-D072-CD2E-5D42-0D784E46193D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553763" y="3618068"/>
                  <a:ext cx="138933" cy="0"/>
                </a:xfrm>
                <a:prstGeom prst="line">
                  <a:avLst/>
                </a:prstGeom>
                <a:noFill/>
                <a:ln w="12700" algn="ctr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389" name="Text Box 34">
                  <a:extLst>
                    <a:ext uri="{FF2B5EF4-FFF2-40B4-BE49-F238E27FC236}">
                      <a16:creationId xmlns:a16="http://schemas.microsoft.com/office/drawing/2014/main" id="{59A0579A-1EEE-843A-3AD0-ED35284ECAF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gray">
                <a:xfrm>
                  <a:off x="764704" y="3535954"/>
                  <a:ext cx="5697056" cy="1699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0"/>
                  </a:sp3d>
                </a:bodyPr>
                <a:lstStyle>
                  <a:lvl1pPr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1pPr>
                  <a:lvl2pPr marL="742950" indent="-28575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2pPr>
                  <a:lvl3pPr marL="11430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3pPr>
                  <a:lvl4pPr marL="16002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4pPr>
                  <a:lvl5pPr marL="20574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5pPr>
                  <a:lvl6pPr marL="25146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6pPr>
                  <a:lvl7pPr marL="29718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7pPr>
                  <a:lvl8pPr marL="34290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8pPr>
                  <a:lvl9pPr marL="38862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9pPr>
                </a:lstStyle>
                <a:p>
                  <a:pPr eaLnBrk="1" latinLnBrk="0" hangingPunct="1">
                    <a:defRPr/>
                  </a:pPr>
                  <a:r>
                    <a:rPr lang="ko-KR" altLang="en-US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ea"/>
                      <a:ea typeface="+mn-ea"/>
                      <a:cs typeface="Arial" pitchFamily="34" charset="0"/>
                    </a:rPr>
                    <a:t>평가항목 및 측정지표 관리방안</a:t>
                  </a:r>
                </a:p>
              </p:txBody>
            </p:sp>
          </p:grpSp>
          <p:grpSp>
            <p:nvGrpSpPr>
              <p:cNvPr id="383" name="그룹 207">
                <a:extLst>
                  <a:ext uri="{FF2B5EF4-FFF2-40B4-BE49-F238E27FC236}">
                    <a16:creationId xmlns:a16="http://schemas.microsoft.com/office/drawing/2014/main" id="{F2DFF7F9-0C3F-4138-351B-AA85BD2DC9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8569" y="3850655"/>
                <a:ext cx="5375678" cy="109122"/>
                <a:chOff x="1048569" y="3850655"/>
                <a:chExt cx="5375678" cy="109122"/>
              </a:xfrm>
            </p:grpSpPr>
            <p:pic>
              <p:nvPicPr>
                <p:cNvPr id="384" name="Picture 24" descr="악세사리">
                  <a:extLst>
                    <a:ext uri="{FF2B5EF4-FFF2-40B4-BE49-F238E27FC236}">
                      <a16:creationId xmlns:a16="http://schemas.microsoft.com/office/drawing/2014/main" id="{09A75D01-09BD-EACA-6E44-02FD74C9CFEC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85" name="Picture 24" descr="악세사리">
                  <a:extLst>
                    <a:ext uri="{FF2B5EF4-FFF2-40B4-BE49-F238E27FC236}">
                      <a16:creationId xmlns:a16="http://schemas.microsoft.com/office/drawing/2014/main" id="{0C70376E-148E-F91D-A8C0-9EB8C174284C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86" name="Picture 24" descr="악세사리">
                  <a:extLst>
                    <a:ext uri="{FF2B5EF4-FFF2-40B4-BE49-F238E27FC236}">
                      <a16:creationId xmlns:a16="http://schemas.microsoft.com/office/drawing/2014/main" id="{04EF89B1-6686-D9EC-F272-655788833FB9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pic>
          <p:nvPicPr>
            <p:cNvPr id="381" name="Picture 184" descr="icon_a01">
              <a:extLst>
                <a:ext uri="{FF2B5EF4-FFF2-40B4-BE49-F238E27FC236}">
                  <a16:creationId xmlns:a16="http://schemas.microsoft.com/office/drawing/2014/main" id="{10BA7D2C-0A3C-99FC-04F0-196D74B20A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94" t="64084" r="6964" b="26581"/>
            <a:stretch>
              <a:fillRect/>
            </a:stretch>
          </p:blipFill>
          <p:spPr bwMode="auto">
            <a:xfrm>
              <a:off x="339725" y="2992438"/>
              <a:ext cx="169863" cy="18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Rectangle 4">
            <a:extLst>
              <a:ext uri="{FF2B5EF4-FFF2-40B4-BE49-F238E27FC236}">
                <a16:creationId xmlns:a16="http://schemas.microsoft.com/office/drawing/2014/main" id="{E487F549-4DBC-DBA3-DB35-1149BC3FE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4476" y="5322309"/>
            <a:ext cx="1185863" cy="313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739ACD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9CC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92075" indent="-92075"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1pPr>
            <a:lvl2pPr marL="282575" indent="-92075"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2pPr>
            <a:lvl3pPr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3pPr>
            <a:lvl4pPr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4pPr>
            <a:lvl5pPr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9pPr>
          </a:lstStyle>
          <a:p>
            <a:pPr algn="ctr" latinLnBrk="0">
              <a:lnSpc>
                <a:spcPct val="85000"/>
              </a:lnSpc>
              <a:buClr>
                <a:srgbClr val="3683D0"/>
              </a:buClr>
              <a:buSzPct val="90000"/>
              <a:buFont typeface="Wingdings 2" pitchFamily="18" charset="2"/>
              <a:buNone/>
            </a:pPr>
            <a:r>
              <a:rPr lang="ko-KR" altLang="en-US" sz="1200" dirty="0">
                <a:solidFill>
                  <a:srgbClr val="4D4D4D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제안사 평가항목 리스트 참조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43EB6C7B-7C17-0707-A563-1EE0C3A51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513" y="3614738"/>
            <a:ext cx="1724025" cy="225425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739ACD"/>
            </a:solidFill>
            <a:miter lim="800000"/>
            <a:headEnd/>
            <a:tailEnd/>
          </a:ln>
          <a:effectLst>
            <a:outerShdw dist="35921" dir="2700000" algn="ctr" rotWithShape="0">
              <a:srgbClr val="C9E4FF"/>
            </a:outerShdw>
          </a:effectLst>
        </p:spPr>
        <p:txBody>
          <a:bodyPr lIns="0" rIns="0" anchor="ctr"/>
          <a:lstStyle/>
          <a:p>
            <a:pPr algn="ctr" latinLnBrk="0"/>
            <a:r>
              <a:rPr lang="ko-KR" altLang="en-US" sz="1200">
                <a:latin typeface="나눔고딕" panose="020D0604000000000000" pitchFamily="50" charset="-127"/>
                <a:ea typeface="나눔고딕" panose="020D0604000000000000" pitchFamily="50" charset="-127"/>
              </a:rPr>
              <a:t>평가항목</a:t>
            </a:r>
            <a:r>
              <a:rPr lang="en-US" altLang="ko-KR" sz="120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>
                <a:latin typeface="나눔고딕" panose="020D0604000000000000" pitchFamily="50" charset="-127"/>
                <a:ea typeface="나눔고딕" panose="020D0604000000000000" pitchFamily="50" charset="-127"/>
              </a:rPr>
              <a:t>측정방법 정의</a:t>
            </a:r>
          </a:p>
        </p:txBody>
      </p:sp>
      <p:cxnSp>
        <p:nvCxnSpPr>
          <p:cNvPr id="10" name="AutoShape 6">
            <a:extLst>
              <a:ext uri="{FF2B5EF4-FFF2-40B4-BE49-F238E27FC236}">
                <a16:creationId xmlns:a16="http://schemas.microsoft.com/office/drawing/2014/main" id="{77A1E853-8988-89F9-93FD-8083819639D0}"/>
              </a:ext>
            </a:extLst>
          </p:cNvPr>
          <p:cNvCxnSpPr>
            <a:cxnSpLocks noChangeShapeType="1"/>
            <a:stCxn id="9" idx="2"/>
            <a:endCxn id="36" idx="0"/>
          </p:cNvCxnSpPr>
          <p:nvPr/>
        </p:nvCxnSpPr>
        <p:spPr bwMode="auto">
          <a:xfrm>
            <a:off x="2932113" y="3840163"/>
            <a:ext cx="0" cy="206375"/>
          </a:xfrm>
          <a:prstGeom prst="straightConnector1">
            <a:avLst/>
          </a:prstGeom>
          <a:noFill/>
          <a:ln w="3175">
            <a:solidFill>
              <a:srgbClr val="4D4D4D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2880DBE9-77FA-EC3C-6352-314093440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513" y="4891088"/>
            <a:ext cx="1724025" cy="223837"/>
          </a:xfrm>
          <a:prstGeom prst="rect">
            <a:avLst/>
          </a:prstGeom>
          <a:solidFill>
            <a:srgbClr val="CBD9F5"/>
          </a:solidFill>
          <a:ln w="12700" algn="ctr">
            <a:solidFill>
              <a:srgbClr val="739ACD"/>
            </a:solidFill>
            <a:miter lim="800000"/>
            <a:headEnd/>
            <a:tailEnd/>
          </a:ln>
          <a:effectLst>
            <a:outerShdw dist="35921" dir="2700000" algn="ctr" rotWithShape="0">
              <a:srgbClr val="C9E4FF"/>
            </a:outerShdw>
          </a:effectLst>
        </p:spPr>
        <p:txBody>
          <a:bodyPr lIns="0" rIns="0" anchor="ctr"/>
          <a:lstStyle/>
          <a:p>
            <a:pPr algn="ctr" latinLnBrk="0"/>
            <a:r>
              <a:rPr lang="ko-KR" altLang="en-US" sz="1200">
                <a:latin typeface="나눔고딕" panose="020D0604000000000000" pitchFamily="50" charset="-127"/>
                <a:ea typeface="나눔고딕" panose="020D0604000000000000" pitchFamily="50" charset="-127"/>
              </a:rPr>
              <a:t>변화추이 분석</a:t>
            </a:r>
          </a:p>
        </p:txBody>
      </p:sp>
      <p:cxnSp>
        <p:nvCxnSpPr>
          <p:cNvPr id="12" name="AutoShape 8">
            <a:extLst>
              <a:ext uri="{FF2B5EF4-FFF2-40B4-BE49-F238E27FC236}">
                <a16:creationId xmlns:a16="http://schemas.microsoft.com/office/drawing/2014/main" id="{684301EF-FBFC-8B7C-D248-93A25FA98B7E}"/>
              </a:ext>
            </a:extLst>
          </p:cNvPr>
          <p:cNvCxnSpPr>
            <a:cxnSpLocks noChangeShapeType="1"/>
            <a:stCxn id="11" idx="2"/>
            <a:endCxn id="30" idx="0"/>
          </p:cNvCxnSpPr>
          <p:nvPr/>
        </p:nvCxnSpPr>
        <p:spPr bwMode="auto">
          <a:xfrm>
            <a:off x="2930525" y="5114925"/>
            <a:ext cx="0" cy="198438"/>
          </a:xfrm>
          <a:prstGeom prst="straightConnector1">
            <a:avLst/>
          </a:prstGeom>
          <a:noFill/>
          <a:ln w="3175">
            <a:solidFill>
              <a:srgbClr val="4D4D4D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Rectangle 9">
            <a:extLst>
              <a:ext uri="{FF2B5EF4-FFF2-40B4-BE49-F238E27FC236}">
                <a16:creationId xmlns:a16="http://schemas.microsoft.com/office/drawing/2014/main" id="{F446339A-3988-2F15-446E-EB2D15C1C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0" y="4737100"/>
            <a:ext cx="803105" cy="156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739ACD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9CC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92075" indent="-92075"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1pPr>
            <a:lvl2pPr marL="198438" indent="-92075"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2pPr>
            <a:lvl3pPr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3pPr>
            <a:lvl4pPr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4pPr>
            <a:lvl5pPr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9pPr>
          </a:lstStyle>
          <a:p>
            <a:pPr latinLnBrk="0">
              <a:lnSpc>
                <a:spcPct val="85000"/>
              </a:lnSpc>
              <a:buClr>
                <a:srgbClr val="3683D0"/>
              </a:buClr>
              <a:buSzPct val="90000"/>
              <a:buFont typeface="Wingdings 2" pitchFamily="18" charset="2"/>
              <a:buChar char="¡"/>
            </a:pPr>
            <a:r>
              <a:rPr lang="ko-KR" altLang="en-US" sz="1200">
                <a:solidFill>
                  <a:srgbClr val="4D4D4D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측정 </a:t>
            </a:r>
            <a:r>
              <a:rPr lang="en-US" altLang="ko-KR" sz="1200">
                <a:solidFill>
                  <a:srgbClr val="4D4D4D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Data </a:t>
            </a:r>
          </a:p>
        </p:txBody>
      </p:sp>
      <p:sp>
        <p:nvSpPr>
          <p:cNvPr id="14" name="AutoShape 10">
            <a:extLst>
              <a:ext uri="{FF2B5EF4-FFF2-40B4-BE49-F238E27FC236}">
                <a16:creationId xmlns:a16="http://schemas.microsoft.com/office/drawing/2014/main" id="{35ED768B-DBF6-7D49-D4E9-7CDBE2084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513" y="6710363"/>
            <a:ext cx="1724025" cy="373062"/>
          </a:xfrm>
          <a:prstGeom prst="diamond">
            <a:avLst/>
          </a:prstGeom>
          <a:solidFill>
            <a:schemeClr val="bg1"/>
          </a:solidFill>
          <a:ln w="12700" algn="ctr">
            <a:solidFill>
              <a:srgbClr val="739ACD"/>
            </a:solidFill>
            <a:miter lim="800000"/>
            <a:headEnd/>
            <a:tailEnd/>
          </a:ln>
          <a:effectLst>
            <a:outerShdw dist="35921" dir="2700000" algn="ctr" rotWithShape="0">
              <a:srgbClr val="C9E4FF"/>
            </a:outerShdw>
          </a:effectLst>
        </p:spPr>
        <p:txBody>
          <a:bodyPr lIns="0" rIns="0" anchor="ctr"/>
          <a:lstStyle/>
          <a:p>
            <a:pPr algn="ctr"/>
            <a:r>
              <a:rPr lang="ko-KR" altLang="en-US" sz="1200">
                <a:latin typeface="나눔고딕" panose="020D0604000000000000" pitchFamily="50" charset="-127"/>
                <a:ea typeface="나눔고딕" panose="020D0604000000000000" pitchFamily="50" charset="-127"/>
              </a:rPr>
              <a:t>변경</a:t>
            </a: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D2491751-8F18-533A-6DCE-9CFD9A2EB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513" y="2784475"/>
            <a:ext cx="1724025" cy="225425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739ACD"/>
            </a:solidFill>
            <a:miter lim="800000"/>
            <a:headEnd/>
            <a:tailEnd/>
          </a:ln>
          <a:effectLst>
            <a:outerShdw dist="35921" dir="2700000" algn="ctr" rotWithShape="0">
              <a:srgbClr val="C9E4FF"/>
            </a:outerShdw>
          </a:effectLst>
        </p:spPr>
        <p:txBody>
          <a:bodyPr lIns="0" rIns="0" anchor="ctr"/>
          <a:lstStyle/>
          <a:p>
            <a:pPr algn="ctr" latinLnBrk="0"/>
            <a:r>
              <a:rPr lang="ko-KR" altLang="en-US" sz="1200">
                <a:latin typeface="나눔고딕" panose="020D0604000000000000" pitchFamily="50" charset="-127"/>
                <a:ea typeface="나눔고딕" panose="020D0604000000000000" pitchFamily="50" charset="-127"/>
              </a:rPr>
              <a:t>서비스수준현황조사 결과</a:t>
            </a: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B0BB8B7C-D9FA-D3ED-BA72-7DD2DBBEE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6508" y="2981909"/>
            <a:ext cx="2242602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739ACD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9CC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92075" indent="-92075"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1pPr>
            <a:lvl2pPr marL="198438" indent="-92075"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2pPr>
            <a:lvl3pPr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3pPr>
            <a:lvl4pPr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4pPr>
            <a:lvl5pPr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9pPr>
          </a:lstStyle>
          <a:p>
            <a:pPr latinLnBrk="0">
              <a:lnSpc>
                <a:spcPct val="85000"/>
              </a:lnSpc>
              <a:buClr>
                <a:srgbClr val="3683D0"/>
              </a:buClr>
              <a:buSzPct val="90000"/>
              <a:buFont typeface="Wingdings 2" pitchFamily="18" charset="2"/>
              <a:buChar char="¡"/>
            </a:pPr>
            <a:r>
              <a:rPr lang="ko-KR" altLang="en-US" sz="1200" dirty="0">
                <a:solidFill>
                  <a:srgbClr val="4D4D4D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향후 서비스 수준 요구사항</a:t>
            </a:r>
          </a:p>
          <a:p>
            <a:pPr latinLnBrk="0">
              <a:lnSpc>
                <a:spcPct val="85000"/>
              </a:lnSpc>
              <a:buClr>
                <a:srgbClr val="3683D0"/>
              </a:buClr>
              <a:buSzPct val="90000"/>
              <a:buFont typeface="Wingdings 2" pitchFamily="18" charset="2"/>
              <a:buChar char="¡"/>
            </a:pPr>
            <a:r>
              <a:rPr lang="ko-KR" altLang="en-US" sz="1200" dirty="0">
                <a:solidFill>
                  <a:srgbClr val="4D4D4D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정보시스템 인프라 위탁운영 현황</a:t>
            </a:r>
            <a:br>
              <a:rPr lang="ko-KR" altLang="en-US" sz="1200" dirty="0">
                <a:solidFill>
                  <a:srgbClr val="4D4D4D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1200" dirty="0">
                <a:solidFill>
                  <a:srgbClr val="4D4D4D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200" dirty="0">
                <a:solidFill>
                  <a:srgbClr val="4D4D4D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우선순위 검토</a:t>
            </a:r>
            <a:r>
              <a:rPr lang="en-US" altLang="ko-KR" sz="1200" dirty="0">
                <a:solidFill>
                  <a:srgbClr val="4D4D4D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latinLnBrk="0">
              <a:lnSpc>
                <a:spcPct val="85000"/>
              </a:lnSpc>
              <a:buClr>
                <a:srgbClr val="3683D0"/>
              </a:buClr>
              <a:buSzPct val="90000"/>
              <a:buFont typeface="Wingdings 2" pitchFamily="18" charset="2"/>
              <a:buChar char="¡"/>
            </a:pPr>
            <a:r>
              <a:rPr lang="ko-KR" altLang="en-US" sz="1200" dirty="0">
                <a:solidFill>
                  <a:srgbClr val="4D4D4D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 수준조사 결과</a:t>
            </a:r>
          </a:p>
          <a:p>
            <a:pPr latinLnBrk="0">
              <a:lnSpc>
                <a:spcPct val="85000"/>
              </a:lnSpc>
              <a:buClr>
                <a:srgbClr val="3683D0"/>
              </a:buClr>
              <a:buSzPct val="90000"/>
              <a:buFont typeface="Wingdings 2" pitchFamily="18" charset="2"/>
              <a:buChar char="¡"/>
            </a:pPr>
            <a:r>
              <a:rPr lang="ko-KR" altLang="en-US" sz="1200" dirty="0">
                <a:solidFill>
                  <a:srgbClr val="4D4D4D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기존 측정지표</a:t>
            </a:r>
          </a:p>
        </p:txBody>
      </p:sp>
      <p:cxnSp>
        <p:nvCxnSpPr>
          <p:cNvPr id="17" name="AutoShape 13">
            <a:extLst>
              <a:ext uri="{FF2B5EF4-FFF2-40B4-BE49-F238E27FC236}">
                <a16:creationId xmlns:a16="http://schemas.microsoft.com/office/drawing/2014/main" id="{73976D3E-9696-367A-57E0-C65D9E4B6AA9}"/>
              </a:ext>
            </a:extLst>
          </p:cNvPr>
          <p:cNvCxnSpPr>
            <a:cxnSpLocks noChangeShapeType="1"/>
            <a:stCxn id="15" idx="2"/>
            <a:endCxn id="9" idx="0"/>
          </p:cNvCxnSpPr>
          <p:nvPr/>
        </p:nvCxnSpPr>
        <p:spPr bwMode="auto">
          <a:xfrm>
            <a:off x="2932113" y="3009900"/>
            <a:ext cx="0" cy="604838"/>
          </a:xfrm>
          <a:prstGeom prst="straightConnector1">
            <a:avLst/>
          </a:prstGeom>
          <a:noFill/>
          <a:ln w="3175">
            <a:solidFill>
              <a:srgbClr val="4D4D4D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Rectangle 14">
            <a:extLst>
              <a:ext uri="{FF2B5EF4-FFF2-40B4-BE49-F238E27FC236}">
                <a16:creationId xmlns:a16="http://schemas.microsoft.com/office/drawing/2014/main" id="{40AE0807-B3DE-B3D3-7362-3B13E6AB9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6250" y="7123113"/>
            <a:ext cx="234872" cy="156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739ACD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9CC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92075" indent="-92075"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1pPr>
            <a:lvl2pPr marL="282575" indent="-92075"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2pPr>
            <a:lvl3pPr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3pPr>
            <a:lvl4pPr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4pPr>
            <a:lvl5pPr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9pPr>
          </a:lstStyle>
          <a:p>
            <a:pPr latinLnBrk="0">
              <a:lnSpc>
                <a:spcPct val="85000"/>
              </a:lnSpc>
              <a:buClr>
                <a:srgbClr val="3683D0"/>
              </a:buClr>
              <a:buSzPct val="90000"/>
              <a:buFont typeface="Wingdings 2" pitchFamily="18" charset="2"/>
              <a:buNone/>
            </a:pPr>
            <a:r>
              <a:rPr lang="en-US" altLang="ko-KR" sz="1200">
                <a:solidFill>
                  <a:srgbClr val="4D4D4D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Yes</a:t>
            </a:r>
          </a:p>
        </p:txBody>
      </p:sp>
      <p:sp>
        <p:nvSpPr>
          <p:cNvPr id="19" name="Rectangle 15">
            <a:extLst>
              <a:ext uri="{FF2B5EF4-FFF2-40B4-BE49-F238E27FC236}">
                <a16:creationId xmlns:a16="http://schemas.microsoft.com/office/drawing/2014/main" id="{F7CC00C4-6855-4476-EB9C-8C9A90849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25" y="5965825"/>
            <a:ext cx="205184" cy="156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739ACD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9CC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92075" indent="-92075"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1pPr>
            <a:lvl2pPr marL="282575" indent="-92075"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2pPr>
            <a:lvl3pPr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3pPr>
            <a:lvl4pPr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4pPr>
            <a:lvl5pPr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9pPr>
          </a:lstStyle>
          <a:p>
            <a:pPr latinLnBrk="0">
              <a:lnSpc>
                <a:spcPct val="85000"/>
              </a:lnSpc>
              <a:buClr>
                <a:srgbClr val="3683D0"/>
              </a:buClr>
              <a:buSzPct val="90000"/>
              <a:buFont typeface="Wingdings 2" pitchFamily="18" charset="2"/>
              <a:buNone/>
            </a:pPr>
            <a:r>
              <a:rPr lang="en-US" altLang="ko-KR" sz="1200">
                <a:solidFill>
                  <a:srgbClr val="4D4D4D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No</a:t>
            </a:r>
          </a:p>
        </p:txBody>
      </p:sp>
      <p:cxnSp>
        <p:nvCxnSpPr>
          <p:cNvPr id="20" name="AutoShape 16">
            <a:extLst>
              <a:ext uri="{FF2B5EF4-FFF2-40B4-BE49-F238E27FC236}">
                <a16:creationId xmlns:a16="http://schemas.microsoft.com/office/drawing/2014/main" id="{177BA089-75D1-BAA6-C54D-588642488D1D}"/>
              </a:ext>
            </a:extLst>
          </p:cNvPr>
          <p:cNvCxnSpPr>
            <a:cxnSpLocks noChangeShapeType="1"/>
            <a:stCxn id="14" idx="3"/>
            <a:endCxn id="11" idx="3"/>
          </p:cNvCxnSpPr>
          <p:nvPr/>
        </p:nvCxnSpPr>
        <p:spPr bwMode="auto">
          <a:xfrm flipV="1">
            <a:off x="3792538" y="5003800"/>
            <a:ext cx="1587" cy="1893888"/>
          </a:xfrm>
          <a:prstGeom prst="bentConnector3">
            <a:avLst>
              <a:gd name="adj1" fmla="val 14300000"/>
            </a:avLst>
          </a:prstGeom>
          <a:noFill/>
          <a:ln w="3175">
            <a:solidFill>
              <a:srgbClr val="4D4D4D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Rectangle 17">
            <a:extLst>
              <a:ext uri="{FF2B5EF4-FFF2-40B4-BE49-F238E27FC236}">
                <a16:creationId xmlns:a16="http://schemas.microsoft.com/office/drawing/2014/main" id="{0A3B1813-8212-5D2F-E4E7-A7184537C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513" y="5807075"/>
            <a:ext cx="1724025" cy="225425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739ACD"/>
            </a:solidFill>
            <a:miter lim="800000"/>
            <a:headEnd/>
            <a:tailEnd/>
          </a:ln>
          <a:effectLst>
            <a:outerShdw dist="35921" dir="2700000" algn="ctr" rotWithShape="0">
              <a:srgbClr val="C9E4FF"/>
            </a:outerShdw>
          </a:effectLst>
        </p:spPr>
        <p:txBody>
          <a:bodyPr lIns="0" rIns="0" anchor="ctr"/>
          <a:lstStyle/>
          <a:p>
            <a:pPr algn="ctr" latinLnBrk="0"/>
            <a:r>
              <a:rPr lang="en-US" altLang="ko-KR" sz="1200">
                <a:latin typeface="나눔고딕" panose="020D0604000000000000" pitchFamily="50" charset="-127"/>
                <a:ea typeface="나눔고딕" panose="020D0604000000000000" pitchFamily="50" charset="-127"/>
              </a:rPr>
              <a:t>SLA </a:t>
            </a:r>
            <a:r>
              <a:rPr lang="ko-KR" altLang="en-US" sz="1200">
                <a:latin typeface="나눔고딕" panose="020D0604000000000000" pitchFamily="50" charset="-127"/>
                <a:ea typeface="나눔고딕" panose="020D0604000000000000" pitchFamily="50" charset="-127"/>
              </a:rPr>
              <a:t>개정요청</a:t>
            </a:r>
          </a:p>
        </p:txBody>
      </p:sp>
      <p:cxnSp>
        <p:nvCxnSpPr>
          <p:cNvPr id="22" name="AutoShape 18">
            <a:extLst>
              <a:ext uri="{FF2B5EF4-FFF2-40B4-BE49-F238E27FC236}">
                <a16:creationId xmlns:a16="http://schemas.microsoft.com/office/drawing/2014/main" id="{841E89BA-601A-4F44-4217-618ED2106CB8}"/>
              </a:ext>
            </a:extLst>
          </p:cNvPr>
          <p:cNvCxnSpPr>
            <a:cxnSpLocks noChangeShapeType="1"/>
            <a:stCxn id="14" idx="2"/>
            <a:endCxn id="25" idx="0"/>
          </p:cNvCxnSpPr>
          <p:nvPr/>
        </p:nvCxnSpPr>
        <p:spPr bwMode="auto">
          <a:xfrm>
            <a:off x="2932113" y="7083425"/>
            <a:ext cx="0" cy="228600"/>
          </a:xfrm>
          <a:prstGeom prst="straightConnector1">
            <a:avLst/>
          </a:prstGeom>
          <a:noFill/>
          <a:ln w="3175">
            <a:solidFill>
              <a:srgbClr val="4D4D4D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Rectangle 19">
            <a:extLst>
              <a:ext uri="{FF2B5EF4-FFF2-40B4-BE49-F238E27FC236}">
                <a16:creationId xmlns:a16="http://schemas.microsoft.com/office/drawing/2014/main" id="{5A7B1C44-5181-A210-7E4A-11F4D8E50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513" y="6257925"/>
            <a:ext cx="1724025" cy="223838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739ACD"/>
            </a:solidFill>
            <a:miter lim="800000"/>
            <a:headEnd/>
            <a:tailEnd/>
          </a:ln>
          <a:effectLst>
            <a:outerShdw dist="35921" dir="2700000" algn="ctr" rotWithShape="0">
              <a:srgbClr val="C9E4FF"/>
            </a:outerShdw>
          </a:effectLst>
        </p:spPr>
        <p:txBody>
          <a:bodyPr lIns="0" rIns="0" anchor="ctr"/>
          <a:lstStyle/>
          <a:p>
            <a:pPr algn="ctr" latinLnBrk="0"/>
            <a:r>
              <a:rPr lang="ko-KR" altLang="en-US" sz="1200">
                <a:latin typeface="나눔고딕" panose="020D0604000000000000" pitchFamily="50" charset="-127"/>
                <a:ea typeface="나눔고딕" panose="020D0604000000000000" pitchFamily="50" charset="-127"/>
              </a:rPr>
              <a:t>서비스보고회의시 검토</a:t>
            </a:r>
          </a:p>
        </p:txBody>
      </p: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0002D350-74F3-C70C-1F0F-F33C64C3F8C7}"/>
              </a:ext>
            </a:extLst>
          </p:cNvPr>
          <p:cNvCxnSpPr>
            <a:cxnSpLocks noChangeShapeType="1"/>
            <a:stCxn id="21" idx="2"/>
            <a:endCxn id="23" idx="0"/>
          </p:cNvCxnSpPr>
          <p:nvPr/>
        </p:nvCxnSpPr>
        <p:spPr bwMode="auto">
          <a:xfrm>
            <a:off x="2932113" y="6032500"/>
            <a:ext cx="0" cy="225425"/>
          </a:xfrm>
          <a:prstGeom prst="straightConnector1">
            <a:avLst/>
          </a:prstGeom>
          <a:noFill/>
          <a:ln w="3175">
            <a:solidFill>
              <a:srgbClr val="4D4D4D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Rectangle 21">
            <a:extLst>
              <a:ext uri="{FF2B5EF4-FFF2-40B4-BE49-F238E27FC236}">
                <a16:creationId xmlns:a16="http://schemas.microsoft.com/office/drawing/2014/main" id="{47F2C756-B755-57EA-E6FD-516FFB9A3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513" y="7312025"/>
            <a:ext cx="1724025" cy="225425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739ACD"/>
            </a:solidFill>
            <a:miter lim="800000"/>
            <a:headEnd/>
            <a:tailEnd/>
          </a:ln>
          <a:effectLst>
            <a:outerShdw dist="35921" dir="2700000" algn="ctr" rotWithShape="0">
              <a:srgbClr val="C9E4FF"/>
            </a:outerShdw>
          </a:effectLst>
        </p:spPr>
        <p:txBody>
          <a:bodyPr lIns="0" rIns="0" anchor="ctr"/>
          <a:lstStyle/>
          <a:p>
            <a:pPr algn="ctr" latinLnBrk="0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SLA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변경</a:t>
            </a:r>
          </a:p>
        </p:txBody>
      </p: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CE9B6802-5C59-C933-8BB8-68A8EC56B41C}"/>
              </a:ext>
            </a:extLst>
          </p:cNvPr>
          <p:cNvCxnSpPr>
            <a:cxnSpLocks noChangeShapeType="1"/>
            <a:stCxn id="23" idx="2"/>
            <a:endCxn id="14" idx="0"/>
          </p:cNvCxnSpPr>
          <p:nvPr/>
        </p:nvCxnSpPr>
        <p:spPr bwMode="auto">
          <a:xfrm>
            <a:off x="2932113" y="6481763"/>
            <a:ext cx="0" cy="228600"/>
          </a:xfrm>
          <a:prstGeom prst="straightConnector1">
            <a:avLst/>
          </a:prstGeom>
          <a:noFill/>
          <a:ln w="3175">
            <a:solidFill>
              <a:srgbClr val="4D4D4D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75B2C113-AB3A-FE90-0B81-7F7866025449}"/>
              </a:ext>
            </a:extLst>
          </p:cNvPr>
          <p:cNvCxnSpPr>
            <a:cxnSpLocks noChangeShapeType="1"/>
            <a:stCxn id="25" idx="2"/>
            <a:endCxn id="9" idx="1"/>
          </p:cNvCxnSpPr>
          <p:nvPr/>
        </p:nvCxnSpPr>
        <p:spPr bwMode="auto">
          <a:xfrm rot="16200000" flipV="1">
            <a:off x="595313" y="5200650"/>
            <a:ext cx="3810000" cy="863600"/>
          </a:xfrm>
          <a:prstGeom prst="bentConnector4">
            <a:avLst>
              <a:gd name="adj1" fmla="val -2875"/>
              <a:gd name="adj2" fmla="val 127481"/>
            </a:avLst>
          </a:prstGeom>
          <a:noFill/>
          <a:ln w="3175">
            <a:solidFill>
              <a:srgbClr val="4D4D4D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Rectangle 24">
            <a:extLst>
              <a:ext uri="{FF2B5EF4-FFF2-40B4-BE49-F238E27FC236}">
                <a16:creationId xmlns:a16="http://schemas.microsoft.com/office/drawing/2014/main" id="{602DDB67-CEB0-0D4F-BD59-981EF26C7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513" y="4445000"/>
            <a:ext cx="1724025" cy="225425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739ACD"/>
            </a:solidFill>
            <a:miter lim="800000"/>
            <a:headEnd/>
            <a:tailEnd/>
          </a:ln>
          <a:effectLst>
            <a:outerShdw dist="35921" dir="2700000" algn="ctr" rotWithShape="0">
              <a:srgbClr val="C9E4FF"/>
            </a:outerShdw>
          </a:effectLst>
        </p:spPr>
        <p:txBody>
          <a:bodyPr lIns="0" rIns="0" anchor="ctr"/>
          <a:lstStyle/>
          <a:p>
            <a:pPr algn="ctr" latinLnBrk="0"/>
            <a:r>
              <a:rPr lang="ko-KR" altLang="en-US" sz="1200">
                <a:latin typeface="나눔고딕" panose="020D0604000000000000" pitchFamily="50" charset="-127"/>
                <a:ea typeface="나눔고딕" panose="020D0604000000000000" pitchFamily="50" charset="-127"/>
              </a:rPr>
              <a:t>측정 </a:t>
            </a:r>
            <a:r>
              <a:rPr lang="en-US" altLang="ko-KR" sz="1200">
                <a:latin typeface="나눔고딕" panose="020D0604000000000000" pitchFamily="50" charset="-127"/>
                <a:ea typeface="나눔고딕" panose="020D0604000000000000" pitchFamily="50" charset="-127"/>
              </a:rPr>
              <a:t>Data </a:t>
            </a:r>
            <a:r>
              <a:rPr lang="ko-KR" altLang="en-US" sz="1200">
                <a:latin typeface="나눔고딕" panose="020D0604000000000000" pitchFamily="50" charset="-127"/>
                <a:ea typeface="나눔고딕" panose="020D0604000000000000" pitchFamily="50" charset="-127"/>
              </a:rPr>
              <a:t>수집</a:t>
            </a:r>
          </a:p>
        </p:txBody>
      </p: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1A8D1EF6-5C02-7937-76B8-573A12E309BE}"/>
              </a:ext>
            </a:extLst>
          </p:cNvPr>
          <p:cNvCxnSpPr>
            <a:cxnSpLocks noChangeShapeType="1"/>
            <a:stCxn id="28" idx="2"/>
            <a:endCxn id="11" idx="0"/>
          </p:cNvCxnSpPr>
          <p:nvPr/>
        </p:nvCxnSpPr>
        <p:spPr bwMode="auto">
          <a:xfrm>
            <a:off x="2932113" y="4670425"/>
            <a:ext cx="0" cy="220663"/>
          </a:xfrm>
          <a:prstGeom prst="straightConnector1">
            <a:avLst/>
          </a:prstGeom>
          <a:noFill/>
          <a:ln w="3175">
            <a:solidFill>
              <a:srgbClr val="4D4D4D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Rectangle 26">
            <a:extLst>
              <a:ext uri="{FF2B5EF4-FFF2-40B4-BE49-F238E27FC236}">
                <a16:creationId xmlns:a16="http://schemas.microsoft.com/office/drawing/2014/main" id="{48D3A43C-3B99-3718-62E8-5CEC7CFA7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513" y="5313363"/>
            <a:ext cx="1724025" cy="279400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739ACD"/>
            </a:solidFill>
            <a:miter lim="800000"/>
            <a:headEnd/>
            <a:tailEnd/>
          </a:ln>
          <a:effectLst>
            <a:outerShdw dist="35921" dir="2700000" algn="ctr" rotWithShape="0">
              <a:srgbClr val="C9E4FF"/>
            </a:outerShdw>
          </a:effectLst>
        </p:spPr>
        <p:txBody>
          <a:bodyPr lIns="0" rIns="0" anchor="ctr"/>
          <a:lstStyle/>
          <a:p>
            <a:pPr algn="ctr" latinLnBrk="0">
              <a:lnSpc>
                <a:spcPct val="90000"/>
              </a:lnSpc>
            </a:pPr>
            <a:r>
              <a:rPr lang="ko-KR" altLang="en-US" sz="1200">
                <a:latin typeface="나눔고딕" panose="020D0604000000000000" pitchFamily="50" charset="-127"/>
                <a:ea typeface="나눔고딕" panose="020D0604000000000000" pitchFamily="50" charset="-127"/>
              </a:rPr>
              <a:t>평가항목</a:t>
            </a:r>
            <a:r>
              <a:rPr lang="en-US" altLang="ko-KR" sz="120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>
                <a:latin typeface="나눔고딕" panose="020D0604000000000000" pitchFamily="50" charset="-127"/>
                <a:ea typeface="나눔고딕" panose="020D0604000000000000" pitchFamily="50" charset="-127"/>
              </a:rPr>
              <a:t>측정방법 변경검토</a:t>
            </a:r>
          </a:p>
        </p:txBody>
      </p: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578A2BFB-9EC5-11A4-0C5D-329AD32FAC77}"/>
              </a:ext>
            </a:extLst>
          </p:cNvPr>
          <p:cNvCxnSpPr>
            <a:cxnSpLocks noChangeShapeType="1"/>
            <a:stCxn id="30" idx="2"/>
            <a:endCxn id="21" idx="0"/>
          </p:cNvCxnSpPr>
          <p:nvPr/>
        </p:nvCxnSpPr>
        <p:spPr bwMode="auto">
          <a:xfrm>
            <a:off x="2930525" y="5592763"/>
            <a:ext cx="0" cy="214312"/>
          </a:xfrm>
          <a:prstGeom prst="straightConnector1">
            <a:avLst/>
          </a:prstGeom>
          <a:noFill/>
          <a:ln w="3175">
            <a:solidFill>
              <a:srgbClr val="4D4D4D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AutoShape 29">
            <a:extLst>
              <a:ext uri="{FF2B5EF4-FFF2-40B4-BE49-F238E27FC236}">
                <a16:creationId xmlns:a16="http://schemas.microsoft.com/office/drawing/2014/main" id="{43DA0651-C6FB-2CE0-8A1F-5A944F5E655A}"/>
              </a:ext>
            </a:extLst>
          </p:cNvPr>
          <p:cNvCxnSpPr>
            <a:cxnSpLocks noChangeShapeType="1"/>
            <a:endCxn id="30" idx="3"/>
          </p:cNvCxnSpPr>
          <p:nvPr/>
        </p:nvCxnSpPr>
        <p:spPr bwMode="auto">
          <a:xfrm flipH="1" flipV="1">
            <a:off x="3792538" y="5453063"/>
            <a:ext cx="1119187" cy="1587"/>
          </a:xfrm>
          <a:prstGeom prst="straightConnector1">
            <a:avLst/>
          </a:prstGeom>
          <a:noFill/>
          <a:ln w="3175">
            <a:solidFill>
              <a:srgbClr val="4D4D4D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Rectangle 30">
            <a:extLst>
              <a:ext uri="{FF2B5EF4-FFF2-40B4-BE49-F238E27FC236}">
                <a16:creationId xmlns:a16="http://schemas.microsoft.com/office/drawing/2014/main" id="{1C86CC04-F07D-9BC0-0BD5-6FC85DF4D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613" y="3165475"/>
            <a:ext cx="1724025" cy="223838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739ACD"/>
            </a:solidFill>
            <a:miter lim="800000"/>
            <a:headEnd/>
            <a:tailEnd/>
          </a:ln>
          <a:effectLst>
            <a:outerShdw dist="35921" dir="2700000" algn="ctr" rotWithShape="0">
              <a:srgbClr val="C9E4FF"/>
            </a:outerShdw>
          </a:effectLst>
        </p:spPr>
        <p:txBody>
          <a:bodyPr lIns="0" rIns="0" anchor="ctr"/>
          <a:lstStyle/>
          <a:p>
            <a:pPr algn="ctr" latinLnBrk="0"/>
            <a:r>
              <a:rPr lang="ko-KR" altLang="en-US" sz="1200">
                <a:latin typeface="나눔고딕" panose="020D0604000000000000" pitchFamily="50" charset="-127"/>
                <a:ea typeface="나눔고딕" panose="020D0604000000000000" pitchFamily="50" charset="-127"/>
              </a:rPr>
              <a:t>고객요청</a:t>
            </a:r>
            <a:r>
              <a:rPr lang="en-US" altLang="ko-KR" sz="120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>
                <a:latin typeface="나눔고딕" panose="020D0604000000000000" pitchFamily="50" charset="-127"/>
                <a:ea typeface="나눔고딕" panose="020D0604000000000000" pitchFamily="50" charset="-127"/>
              </a:rPr>
              <a:t>서비스 추가</a:t>
            </a:r>
          </a:p>
        </p:txBody>
      </p:sp>
      <p:cxnSp>
        <p:nvCxnSpPr>
          <p:cNvPr id="35" name="AutoShape 31">
            <a:extLst>
              <a:ext uri="{FF2B5EF4-FFF2-40B4-BE49-F238E27FC236}">
                <a16:creationId xmlns:a16="http://schemas.microsoft.com/office/drawing/2014/main" id="{E41D23B5-2E08-FCDF-97C8-AEE2C0431AF1}"/>
              </a:ext>
            </a:extLst>
          </p:cNvPr>
          <p:cNvCxnSpPr>
            <a:cxnSpLocks noChangeShapeType="1"/>
            <a:stCxn id="34" idx="3"/>
            <a:endCxn id="9" idx="0"/>
          </p:cNvCxnSpPr>
          <p:nvPr/>
        </p:nvCxnSpPr>
        <p:spPr bwMode="auto">
          <a:xfrm>
            <a:off x="2052638" y="3278188"/>
            <a:ext cx="879475" cy="336550"/>
          </a:xfrm>
          <a:prstGeom prst="bentConnector2">
            <a:avLst/>
          </a:prstGeom>
          <a:noFill/>
          <a:ln w="3175">
            <a:solidFill>
              <a:srgbClr val="4D4D4D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Rectangle 32">
            <a:extLst>
              <a:ext uri="{FF2B5EF4-FFF2-40B4-BE49-F238E27FC236}">
                <a16:creationId xmlns:a16="http://schemas.microsoft.com/office/drawing/2014/main" id="{5BC9BE53-8A95-4FE0-6991-8C4A9E88F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513" y="4046538"/>
            <a:ext cx="1724025" cy="223837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739ACD"/>
            </a:solidFill>
            <a:miter lim="800000"/>
            <a:headEnd/>
            <a:tailEnd/>
          </a:ln>
          <a:effectLst>
            <a:outerShdw dist="35921" dir="2700000" algn="ctr" rotWithShape="0">
              <a:srgbClr val="C9E4FF"/>
            </a:outerShdw>
          </a:effectLst>
        </p:spPr>
        <p:txBody>
          <a:bodyPr lIns="0" rIns="0" anchor="ctr"/>
          <a:lstStyle/>
          <a:p>
            <a:pPr algn="ctr" latinLnBrk="0"/>
            <a:r>
              <a:rPr lang="en-US" altLang="ko-KR" sz="1200">
                <a:latin typeface="나눔고딕" panose="020D0604000000000000" pitchFamily="50" charset="-127"/>
                <a:ea typeface="나눔고딕" panose="020D0604000000000000" pitchFamily="50" charset="-127"/>
              </a:rPr>
              <a:t>SLA </a:t>
            </a:r>
            <a:r>
              <a:rPr lang="ko-KR" altLang="en-US" sz="1200">
                <a:latin typeface="나눔고딕" panose="020D0604000000000000" pitchFamily="50" charset="-127"/>
                <a:ea typeface="나눔고딕" panose="020D0604000000000000" pitchFamily="50" charset="-127"/>
              </a:rPr>
              <a:t>적용</a:t>
            </a:r>
          </a:p>
        </p:txBody>
      </p:sp>
      <p:cxnSp>
        <p:nvCxnSpPr>
          <p:cNvPr id="37" name="AutoShape 33">
            <a:extLst>
              <a:ext uri="{FF2B5EF4-FFF2-40B4-BE49-F238E27FC236}">
                <a16:creationId xmlns:a16="http://schemas.microsoft.com/office/drawing/2014/main" id="{714C3173-3E24-A8DE-2E77-DA7E8B111622}"/>
              </a:ext>
            </a:extLst>
          </p:cNvPr>
          <p:cNvCxnSpPr>
            <a:cxnSpLocks noChangeShapeType="1"/>
            <a:stCxn id="36" idx="2"/>
            <a:endCxn id="28" idx="0"/>
          </p:cNvCxnSpPr>
          <p:nvPr/>
        </p:nvCxnSpPr>
        <p:spPr bwMode="auto">
          <a:xfrm>
            <a:off x="2932113" y="4270375"/>
            <a:ext cx="0" cy="174625"/>
          </a:xfrm>
          <a:prstGeom prst="straightConnector1">
            <a:avLst/>
          </a:prstGeom>
          <a:noFill/>
          <a:ln w="3175">
            <a:solidFill>
              <a:srgbClr val="4D4D4D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38" name="Group 34">
            <a:extLst>
              <a:ext uri="{FF2B5EF4-FFF2-40B4-BE49-F238E27FC236}">
                <a16:creationId xmlns:a16="http://schemas.microsoft.com/office/drawing/2014/main" id="{6A711AA0-E379-ABDD-A4DA-298C71ACA5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287372"/>
              </p:ext>
            </p:extLst>
          </p:nvPr>
        </p:nvGraphicFramePr>
        <p:xfrm>
          <a:off x="471488" y="7766049"/>
          <a:ext cx="5876925" cy="1893885"/>
        </p:xfrm>
        <a:graphic>
          <a:graphicData uri="http://schemas.openxmlformats.org/drawingml/2006/table">
            <a:tbl>
              <a:tblPr/>
              <a:tblGrid>
                <a:gridCol w="1373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2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87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항목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시기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담당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비고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7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SLA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적용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kumimoji="1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개월 이내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고객사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제안사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7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SLA </a:t>
                      </a:r>
                      <a:r>
                        <a:rPr kumimoji="1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평가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월 </a:t>
                      </a: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kumimoji="1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고객사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매월 말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7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연 </a:t>
                      </a: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kumimoji="1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고객사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제안사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 후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7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재 개정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연 </a:t>
                      </a: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kumimoji="1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제안사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협상 후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9" name="그룹 38">
            <a:extLst>
              <a:ext uri="{FF2B5EF4-FFF2-40B4-BE49-F238E27FC236}">
                <a16:creationId xmlns:a16="http://schemas.microsoft.com/office/drawing/2014/main" id="{E7A6FB73-2198-D9FC-3589-2596D76E7E94}"/>
              </a:ext>
            </a:extLst>
          </p:cNvPr>
          <p:cNvGrpSpPr/>
          <p:nvPr/>
        </p:nvGrpSpPr>
        <p:grpSpPr>
          <a:xfrm>
            <a:off x="317654" y="667364"/>
            <a:ext cx="3795422" cy="351189"/>
            <a:chOff x="760846" y="854534"/>
            <a:chExt cx="3795422" cy="35118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96446DE-CCBE-A9E4-9406-F371976AE521}"/>
                </a:ext>
              </a:extLst>
            </p:cNvPr>
            <p:cNvSpPr txBox="1"/>
            <p:nvPr/>
          </p:nvSpPr>
          <p:spPr>
            <a:xfrm flipH="1">
              <a:off x="1171266" y="891629"/>
              <a:ext cx="338500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r>
                <a:rPr lang="ko-KR" altLang="en-US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사업관리</a:t>
              </a:r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41BBF220-71A4-7848-23C6-855AA3562132}"/>
                </a:ext>
              </a:extLst>
            </p:cNvPr>
            <p:cNvGrpSpPr/>
            <p:nvPr/>
          </p:nvGrpSpPr>
          <p:grpSpPr>
            <a:xfrm>
              <a:off x="760846" y="854534"/>
              <a:ext cx="324620" cy="351189"/>
              <a:chOff x="539750" y="2917808"/>
              <a:chExt cx="526237" cy="526236"/>
            </a:xfrm>
          </p:grpSpPr>
          <p:sp>
            <p:nvSpPr>
              <p:cNvPr id="42" name="모서리가 둥근 직사각형 4">
                <a:extLst>
                  <a:ext uri="{FF2B5EF4-FFF2-40B4-BE49-F238E27FC236}">
                    <a16:creationId xmlns:a16="http://schemas.microsoft.com/office/drawing/2014/main" id="{9F6E76A4-5DFD-D1FF-3EE8-F80433AA2C7E}"/>
                  </a:ext>
                </a:extLst>
              </p:cNvPr>
              <p:cNvSpPr/>
              <p:nvPr/>
            </p:nvSpPr>
            <p:spPr>
              <a:xfrm>
                <a:off x="539750" y="2917808"/>
                <a:ext cx="526237" cy="526236"/>
              </a:xfrm>
              <a:prstGeom prst="roundRect">
                <a:avLst>
                  <a:gd name="adj" fmla="val 11229"/>
                </a:avLst>
              </a:prstGeom>
              <a:solidFill>
                <a:srgbClr val="00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84ADE00-0CC1-8D90-5E92-2BB29097F5B2}"/>
                  </a:ext>
                </a:extLst>
              </p:cNvPr>
              <p:cNvSpPr txBox="1"/>
              <p:nvPr/>
            </p:nvSpPr>
            <p:spPr>
              <a:xfrm flipH="1">
                <a:off x="636582" y="2952530"/>
                <a:ext cx="338951" cy="46118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#</a:t>
                </a:r>
              </a:p>
            </p:txBody>
          </p:sp>
        </p:grpSp>
      </p:grpSp>
      <p:sp>
        <p:nvSpPr>
          <p:cNvPr id="44" name="Text Box 37">
            <a:extLst>
              <a:ext uri="{FF2B5EF4-FFF2-40B4-BE49-F238E27FC236}">
                <a16:creationId xmlns:a16="http://schemas.microsoft.com/office/drawing/2014/main" id="{056A0CA4-2288-2471-67C4-ECB45076F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952" y="1215900"/>
            <a:ext cx="6269248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1pPr>
            <a:lvl2pPr marL="742950" indent="-28575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2pPr>
            <a:lvl3pPr marL="11430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3pPr>
            <a:lvl4pPr marL="16002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4pPr>
            <a:lvl5pPr marL="20574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9pPr>
          </a:lstStyle>
          <a:p>
            <a:pPr eaLnBrk="1" latinLnBrk="0" hangingPunct="1">
              <a:lnSpc>
                <a:spcPct val="120000"/>
              </a:lnSpc>
              <a:defRPr/>
            </a:pP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3.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측정 및 개선</a:t>
            </a:r>
            <a:endParaRPr lang="en-US" altLang="ko-KR" sz="1200" dirty="0">
              <a:solidFill>
                <a:srgbClr val="000000">
                  <a:lumMod val="75000"/>
                  <a:lumOff val="25000"/>
                </a:srgbClr>
              </a:solidFill>
              <a:latin typeface="+mn-ea"/>
              <a:ea typeface="+mn-ea"/>
              <a:cs typeface="Arial" pitchFamily="34" charset="0"/>
            </a:endParaRPr>
          </a:p>
          <a:p>
            <a:pPr eaLnBrk="1" latinLnBrk="0" hangingPunct="1">
              <a:lnSpc>
                <a:spcPct val="120000"/>
              </a:lnSpc>
              <a:defRPr/>
            </a:pP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3.2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평가항목 및 측정지표 관리방안</a:t>
            </a:r>
          </a:p>
        </p:txBody>
      </p:sp>
      <p:grpSp>
        <p:nvGrpSpPr>
          <p:cNvPr id="45" name="그룹 215">
            <a:extLst>
              <a:ext uri="{FF2B5EF4-FFF2-40B4-BE49-F238E27FC236}">
                <a16:creationId xmlns:a16="http://schemas.microsoft.com/office/drawing/2014/main" id="{6BEEE0EC-9659-5865-561E-6A6FF17FDA2C}"/>
              </a:ext>
            </a:extLst>
          </p:cNvPr>
          <p:cNvGrpSpPr>
            <a:grpSpLocks/>
          </p:cNvGrpSpPr>
          <p:nvPr/>
        </p:nvGrpSpPr>
        <p:grpSpPr bwMode="auto">
          <a:xfrm>
            <a:off x="296863" y="1693422"/>
            <a:ext cx="6219825" cy="574295"/>
            <a:chOff x="333374" y="1849606"/>
            <a:chExt cx="6219826" cy="1159040"/>
          </a:xfrm>
        </p:grpSpPr>
        <p:sp>
          <p:nvSpPr>
            <p:cNvPr id="46" name="AutoShape 84">
              <a:extLst>
                <a:ext uri="{FF2B5EF4-FFF2-40B4-BE49-F238E27FC236}">
                  <a16:creationId xmlns:a16="http://schemas.microsoft.com/office/drawing/2014/main" id="{BC714FE6-D203-897C-78BD-76C6961292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588" y="2018242"/>
              <a:ext cx="5929399" cy="750042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1pPr>
              <a:lvl2pPr marL="742950" indent="-28575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2pPr>
              <a:lvl3pPr marL="1143000" indent="-2286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3pPr>
              <a:lvl4pPr marL="1600200" indent="-2286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4pPr>
              <a:lvl5pPr marL="2057400" indent="-2286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9pPr>
            </a:lstStyle>
            <a:p>
              <a:pPr algn="just" eaLnBrk="1" latinLnBrk="0" hangingPunct="1">
                <a:lnSpc>
                  <a:spcPct val="120000"/>
                </a:lnSpc>
                <a:spcAft>
                  <a:spcPts val="0"/>
                </a:spcAft>
                <a:defRPr/>
              </a:pP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제안사는 측정 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Data 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변화추이 분석을 통해 평가항목 측정지표의 적정성 등을 검토하여 고객사의 상황에 맞는 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SLA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지표를 적용하고 품질관리에 따른 성과지표와 연계하여 관리하겠습니다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.</a:t>
              </a:r>
            </a:p>
          </p:txBody>
        </p:sp>
        <p:grpSp>
          <p:nvGrpSpPr>
            <p:cNvPr id="47" name="그룹 217">
              <a:extLst>
                <a:ext uri="{FF2B5EF4-FFF2-40B4-BE49-F238E27FC236}">
                  <a16:creationId xmlns:a16="http://schemas.microsoft.com/office/drawing/2014/main" id="{9D0D2EB5-BBA4-BC04-43AD-BC37E255F1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3374" y="1849606"/>
              <a:ext cx="6219826" cy="1159040"/>
              <a:chOff x="342900" y="1822561"/>
              <a:chExt cx="6148388" cy="1159040"/>
            </a:xfrm>
          </p:grpSpPr>
          <p:cxnSp>
            <p:nvCxnSpPr>
              <p:cNvPr id="48" name="직선 연결선 47">
                <a:extLst>
                  <a:ext uri="{FF2B5EF4-FFF2-40B4-BE49-F238E27FC236}">
                    <a16:creationId xmlns:a16="http://schemas.microsoft.com/office/drawing/2014/main" id="{622A29A1-B325-54CE-AECB-CD1F4B77BAD3}"/>
                  </a:ext>
                </a:extLst>
              </p:cNvPr>
              <p:cNvCxnSpPr/>
              <p:nvPr/>
            </p:nvCxnSpPr>
            <p:spPr>
              <a:xfrm>
                <a:off x="342900" y="1905130"/>
                <a:ext cx="6148388" cy="0"/>
              </a:xfrm>
              <a:prstGeom prst="line">
                <a:avLst/>
              </a:prstGeom>
              <a:ln w="12700">
                <a:solidFill>
                  <a:srgbClr val="ADAD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>
                <a:extLst>
                  <a:ext uri="{FF2B5EF4-FFF2-40B4-BE49-F238E27FC236}">
                    <a16:creationId xmlns:a16="http://schemas.microsoft.com/office/drawing/2014/main" id="{D968B5A8-5EFF-6A3B-DADE-235B081378AA}"/>
                  </a:ext>
                </a:extLst>
              </p:cNvPr>
              <p:cNvCxnSpPr/>
              <p:nvPr/>
            </p:nvCxnSpPr>
            <p:spPr bwMode="auto">
              <a:xfrm>
                <a:off x="342900" y="1901954"/>
                <a:ext cx="0" cy="1079647"/>
              </a:xfrm>
              <a:prstGeom prst="line">
                <a:avLst/>
              </a:prstGeom>
              <a:ln w="12700">
                <a:solidFill>
                  <a:srgbClr val="ADAD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7F4B7C89-1632-6E6A-DAC4-C64E5BDB520D}"/>
                  </a:ext>
                </a:extLst>
              </p:cNvPr>
              <p:cNvCxnSpPr/>
              <p:nvPr/>
            </p:nvCxnSpPr>
            <p:spPr bwMode="auto">
              <a:xfrm>
                <a:off x="6387716" y="1822561"/>
                <a:ext cx="103572" cy="80980"/>
              </a:xfrm>
              <a:prstGeom prst="line">
                <a:avLst/>
              </a:prstGeom>
              <a:ln w="12700">
                <a:solidFill>
                  <a:srgbClr val="ADAD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902030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" name="그룹 1">
            <a:extLst>
              <a:ext uri="{FF2B5EF4-FFF2-40B4-BE49-F238E27FC236}">
                <a16:creationId xmlns:a16="http://schemas.microsoft.com/office/drawing/2014/main" id="{20C9A1F0-DCFD-E08F-6A54-3AC003095DF2}"/>
              </a:ext>
            </a:extLst>
          </p:cNvPr>
          <p:cNvGrpSpPr>
            <a:grpSpLocks/>
          </p:cNvGrpSpPr>
          <p:nvPr/>
        </p:nvGrpSpPr>
        <p:grpSpPr bwMode="auto">
          <a:xfrm>
            <a:off x="292100" y="2396716"/>
            <a:ext cx="6270625" cy="385763"/>
            <a:chOff x="292100" y="2959098"/>
            <a:chExt cx="6270625" cy="385765"/>
          </a:xfrm>
        </p:grpSpPr>
        <p:grpSp>
          <p:nvGrpSpPr>
            <p:cNvPr id="380" name="그룹 379">
              <a:extLst>
                <a:ext uri="{FF2B5EF4-FFF2-40B4-BE49-F238E27FC236}">
                  <a16:creationId xmlns:a16="http://schemas.microsoft.com/office/drawing/2014/main" id="{E95A62F3-83D4-009C-B29D-EB26A3AF23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100" y="2959098"/>
              <a:ext cx="6270625" cy="385765"/>
              <a:chOff x="334963" y="3573461"/>
              <a:chExt cx="6271218" cy="386316"/>
            </a:xfrm>
          </p:grpSpPr>
          <p:grpSp>
            <p:nvGrpSpPr>
              <p:cNvPr id="382" name="그룹 50">
                <a:extLst>
                  <a:ext uri="{FF2B5EF4-FFF2-40B4-BE49-F238E27FC236}">
                    <a16:creationId xmlns:a16="http://schemas.microsoft.com/office/drawing/2014/main" id="{51C39BFD-6404-92EB-323E-EDF8058A15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4963" y="3573461"/>
                <a:ext cx="6271218" cy="262313"/>
                <a:chOff x="335633" y="3489640"/>
                <a:chExt cx="6270543" cy="262915"/>
              </a:xfrm>
            </p:grpSpPr>
            <p:sp>
              <p:nvSpPr>
                <p:cNvPr id="387" name="직사각형 262">
                  <a:extLst>
                    <a:ext uri="{FF2B5EF4-FFF2-40B4-BE49-F238E27FC236}">
                      <a16:creationId xmlns:a16="http://schemas.microsoft.com/office/drawing/2014/main" id="{2FE9E542-F47C-80E6-0B4C-88545D6763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5633" y="3489640"/>
                  <a:ext cx="6270543" cy="262915"/>
                </a:xfrm>
                <a:prstGeom prst="rect">
                  <a:avLst/>
                </a:prstGeom>
                <a:gradFill flip="none" rotWithShape="1">
                  <a:gsLst>
                    <a:gs pos="33000">
                      <a:srgbClr val="1295EE"/>
                    </a:gs>
                    <a:gs pos="0">
                      <a:srgbClr val="0B629D"/>
                    </a:gs>
                    <a:gs pos="12000">
                      <a:srgbClr val="0E76BC"/>
                    </a:gs>
                  </a:gsLst>
                  <a:lin ang="36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latinLnBrk="0">
                    <a:defRPr/>
                  </a:pPr>
                  <a:endParaRPr lang="ko-KR" altLang="en-US" sz="1000" dirty="0">
                    <a:solidFill>
                      <a:srgbClr val="FFFFFF"/>
                    </a:solidFill>
                    <a:latin typeface="+mn-ea"/>
                    <a:cs typeface="Arial" pitchFamily="34" charset="0"/>
                  </a:endParaRPr>
                </a:p>
              </p:txBody>
            </p:sp>
            <p:cxnSp>
              <p:nvCxnSpPr>
                <p:cNvPr id="388" name="직선 연결선 26">
                  <a:extLst>
                    <a:ext uri="{FF2B5EF4-FFF2-40B4-BE49-F238E27FC236}">
                      <a16:creationId xmlns:a16="http://schemas.microsoft.com/office/drawing/2014/main" id="{249F653A-D072-CD2E-5D42-0D784E46193D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553763" y="3618068"/>
                  <a:ext cx="138933" cy="0"/>
                </a:xfrm>
                <a:prstGeom prst="line">
                  <a:avLst/>
                </a:prstGeom>
                <a:noFill/>
                <a:ln w="12700" algn="ctr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389" name="Text Box 34">
                  <a:extLst>
                    <a:ext uri="{FF2B5EF4-FFF2-40B4-BE49-F238E27FC236}">
                      <a16:creationId xmlns:a16="http://schemas.microsoft.com/office/drawing/2014/main" id="{59A0579A-1EEE-843A-3AD0-ED35284ECAF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gray">
                <a:xfrm>
                  <a:off x="764704" y="3535954"/>
                  <a:ext cx="5697056" cy="1699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0"/>
                  </a:sp3d>
                </a:bodyPr>
                <a:lstStyle>
                  <a:lvl1pPr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1pPr>
                  <a:lvl2pPr marL="742950" indent="-28575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2pPr>
                  <a:lvl3pPr marL="11430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3pPr>
                  <a:lvl4pPr marL="16002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4pPr>
                  <a:lvl5pPr marL="20574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5pPr>
                  <a:lvl6pPr marL="25146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6pPr>
                  <a:lvl7pPr marL="29718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7pPr>
                  <a:lvl8pPr marL="34290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8pPr>
                  <a:lvl9pPr marL="38862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9pPr>
                </a:lstStyle>
                <a:p>
                  <a:pPr eaLnBrk="1" latinLnBrk="0" hangingPunct="1">
                    <a:defRPr/>
                  </a:pPr>
                  <a:r>
                    <a:rPr lang="ko-KR" altLang="en-US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ea"/>
                      <a:ea typeface="+mn-ea"/>
                      <a:cs typeface="Arial" pitchFamily="34" charset="0"/>
                    </a:rPr>
                    <a:t>서비스 수준 평가</a:t>
                  </a:r>
                  <a:r>
                    <a:rPr lang="en-US" altLang="ko-KR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ea"/>
                      <a:ea typeface="+mn-ea"/>
                      <a:cs typeface="Arial" pitchFamily="34" charset="0"/>
                    </a:rPr>
                    <a:t>(</a:t>
                  </a:r>
                  <a:r>
                    <a:rPr lang="ko-KR" altLang="en-US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ea"/>
                      <a:ea typeface="+mn-ea"/>
                      <a:cs typeface="Arial" pitchFamily="34" charset="0"/>
                    </a:rPr>
                    <a:t>예시</a:t>
                  </a:r>
                  <a:r>
                    <a:rPr lang="en-US" altLang="ko-KR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ea"/>
                      <a:ea typeface="+mn-ea"/>
                      <a:cs typeface="Arial" pitchFamily="34" charset="0"/>
                    </a:rPr>
                    <a:t>)</a:t>
                  </a:r>
                </a:p>
              </p:txBody>
            </p:sp>
          </p:grpSp>
          <p:grpSp>
            <p:nvGrpSpPr>
              <p:cNvPr id="383" name="그룹 207">
                <a:extLst>
                  <a:ext uri="{FF2B5EF4-FFF2-40B4-BE49-F238E27FC236}">
                    <a16:creationId xmlns:a16="http://schemas.microsoft.com/office/drawing/2014/main" id="{F2DFF7F9-0C3F-4138-351B-AA85BD2DC9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8569" y="3850655"/>
                <a:ext cx="5375678" cy="109122"/>
                <a:chOff x="1048569" y="3850655"/>
                <a:chExt cx="5375678" cy="109122"/>
              </a:xfrm>
            </p:grpSpPr>
            <p:pic>
              <p:nvPicPr>
                <p:cNvPr id="384" name="Picture 24" descr="악세사리">
                  <a:extLst>
                    <a:ext uri="{FF2B5EF4-FFF2-40B4-BE49-F238E27FC236}">
                      <a16:creationId xmlns:a16="http://schemas.microsoft.com/office/drawing/2014/main" id="{09A75D01-09BD-EACA-6E44-02FD74C9CFEC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85" name="Picture 24" descr="악세사리">
                  <a:extLst>
                    <a:ext uri="{FF2B5EF4-FFF2-40B4-BE49-F238E27FC236}">
                      <a16:creationId xmlns:a16="http://schemas.microsoft.com/office/drawing/2014/main" id="{0C70376E-148E-F91D-A8C0-9EB8C174284C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86" name="Picture 24" descr="악세사리">
                  <a:extLst>
                    <a:ext uri="{FF2B5EF4-FFF2-40B4-BE49-F238E27FC236}">
                      <a16:creationId xmlns:a16="http://schemas.microsoft.com/office/drawing/2014/main" id="{04EF89B1-6686-D9EC-F272-655788833FB9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pic>
          <p:nvPicPr>
            <p:cNvPr id="381" name="Picture 184" descr="icon_a01">
              <a:extLst>
                <a:ext uri="{FF2B5EF4-FFF2-40B4-BE49-F238E27FC236}">
                  <a16:creationId xmlns:a16="http://schemas.microsoft.com/office/drawing/2014/main" id="{10BA7D2C-0A3C-99FC-04F0-196D74B20A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94" t="64084" r="6964" b="26581"/>
            <a:stretch>
              <a:fillRect/>
            </a:stretch>
          </p:blipFill>
          <p:spPr bwMode="auto">
            <a:xfrm>
              <a:off x="339725" y="2992438"/>
              <a:ext cx="169863" cy="18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390" name="Group 127">
            <a:extLst>
              <a:ext uri="{FF2B5EF4-FFF2-40B4-BE49-F238E27FC236}">
                <a16:creationId xmlns:a16="http://schemas.microsoft.com/office/drawing/2014/main" id="{0B22F0F3-93E1-62D8-7F1D-3909A45CE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009423"/>
              </p:ext>
            </p:extLst>
          </p:nvPr>
        </p:nvGraphicFramePr>
        <p:xfrm>
          <a:off x="292100" y="2796968"/>
          <a:ext cx="6261100" cy="1787040"/>
        </p:xfrm>
        <a:graphic>
          <a:graphicData uri="http://schemas.openxmlformats.org/drawingml/2006/table">
            <a:tbl>
              <a:tblPr/>
              <a:tblGrid>
                <a:gridCol w="997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9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06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굴림" pitchFamily="50" charset="-127"/>
                        </a:rPr>
                        <a:t>항 목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9CB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굴림" pitchFamily="50" charset="-127"/>
                        </a:rPr>
                        <a:t>내 용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9CB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굴림" pitchFamily="50" charset="-127"/>
                        </a:rPr>
                        <a:t>측정항목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굴림" pitchFamily="50" charset="-127"/>
                        </a:rPr>
                        <a:t>장애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굴림" pitchFamily="50" charset="-127"/>
                        </a:rPr>
                        <a:t>적기처리율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  <a:cs typeface="굴림" pitchFamily="50" charset="-127"/>
                      </a:endParaRP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굴림" pitchFamily="50" charset="-127"/>
                        </a:rPr>
                        <a:t>목적 및 정의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굴림" pitchFamily="50" charset="-127"/>
                        </a:rPr>
                        <a:t>장애 접수시 목표로 한 장애 완료처리 시간 이내 시스템 장애가 처리된 비율을 측정하여 서비스 유지보수성을 측정하는 지표로 사용한다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굴림" pitchFamily="50" charset="-127"/>
                        </a:rPr>
                        <a:t>.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굴림" pitchFamily="50" charset="-127"/>
                        </a:rPr>
                        <a:t>측정 방법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굴림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굴림" pitchFamily="50" charset="-127"/>
                        </a:rPr>
                        <a:t>계산 방법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굴림" pitchFamily="50" charset="-127"/>
                        </a:rPr>
                        <a:t>)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굴림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굴림" pitchFamily="50" charset="-127"/>
                        </a:rPr>
                        <a:t>목표시간 내의 장애처리건수 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굴림" pitchFamily="50" charset="-127"/>
                        </a:rPr>
                        <a:t>/ 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굴림" pitchFamily="50" charset="-127"/>
                        </a:rPr>
                        <a:t>전체장애건수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굴림" pitchFamily="50" charset="-127"/>
                        </a:rPr>
                        <a:t>) * 100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굴림" pitchFamily="50" charset="-127"/>
                        </a:rPr>
                        <a:t>1) 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굴림" pitchFamily="50" charset="-127"/>
                        </a:rPr>
                        <a:t>목표시간 내의 장애처리 건수 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굴림" pitchFamily="50" charset="-127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굴림" pitchFamily="50" charset="-127"/>
                        </a:rPr>
                        <a:t>측정기간내 완료 예정되어 있으며 목표시간 내 처리완료된 장애처리 건수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굴림" pitchFamily="50" charset="-127"/>
                        </a:rPr>
                        <a:t>목표수준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굴림" pitchFamily="50" charset="-127"/>
                        </a:rPr>
                        <a:t>목표 수준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9CB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굴림" pitchFamily="50" charset="-127"/>
                        </a:rPr>
                        <a:t>최소 수준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9CB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굴림" pitchFamily="50" charset="-127"/>
                        </a:rPr>
                        <a:t>측정주기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굴림" pitchFamily="50" charset="-127"/>
                        </a:rPr>
                        <a:t>월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굴림" pitchFamily="50" charset="-127"/>
                        </a:rPr>
                        <a:t>측정도구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  <a:cs typeface="굴림" pitchFamily="50" charset="-127"/>
                      </a:endParaRP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굴림" pitchFamily="50" charset="-127"/>
                        </a:rPr>
                        <a:t>측정대상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굴림" pitchFamily="50" charset="-127"/>
                        </a:rPr>
                        <a:t>어플리케이션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46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굴림" pitchFamily="50" charset="-127"/>
                        </a:rPr>
                        <a:t>전제조건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굴림" pitchFamily="50" charset="-127"/>
                        </a:rPr>
                        <a:t>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굴림" pitchFamily="50" charset="-127"/>
                        </a:rPr>
                        <a:t>측정대상은 응용시스템의 어플리케이션 관리 서비스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굴림" pitchFamily="50" charset="-127"/>
                        </a:rPr>
                        <a:t>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  <a:cs typeface="굴림" pitchFamily="50" charset="-127"/>
                        </a:rPr>
                        <a:t>월간 장애 일지 및 리포트를 통해 장애 발생 건수와 적기 처리 장애해결 건수를 산출한다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391" name="Group 164">
            <a:extLst>
              <a:ext uri="{FF2B5EF4-FFF2-40B4-BE49-F238E27FC236}">
                <a16:creationId xmlns:a16="http://schemas.microsoft.com/office/drawing/2014/main" id="{A4CD85C9-BBA1-938A-B4EC-1E17E39671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992600"/>
              </p:ext>
            </p:extLst>
          </p:nvPr>
        </p:nvGraphicFramePr>
        <p:xfrm>
          <a:off x="292100" y="4677278"/>
          <a:ext cx="6261100" cy="1711988"/>
        </p:xfrm>
        <a:graphic>
          <a:graphicData uri="http://schemas.openxmlformats.org/drawingml/2006/table">
            <a:tbl>
              <a:tblPr/>
              <a:tblGrid>
                <a:gridCol w="1107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99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2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10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항 목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9CB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내 용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9CB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측정항목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장애 발생 건수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목적 및 정의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합의된 기간 동안의 어플리케이션 장애 건수를  집계하여 유지보수의 안정성을 측정하는 지표로 사용한다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.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측정 방법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계산 방법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)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월간 접수된 장애 발생 건수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목표수준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목표 수준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9CB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최소 수준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69CB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측정주기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월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측정도구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측정대상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어플리케이션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전제조건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1)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천재지변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자연재해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, Internet Service Provider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에 의한 정지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고객사정에 의한 정지는 제외한다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2)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월별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Helpdesk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리포트를 통해 어플리케이션 장애 발생 건수를 산출한다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3)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집계 기간은 수혜자와 제공자가 상호 협의하여 변경할 수 있다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.</a:t>
                      </a:r>
                    </a:p>
                  </a:txBody>
                  <a:tcPr marL="36000" marR="36000" marT="18000" marB="18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92" name="Rectangle 42">
            <a:extLst>
              <a:ext uri="{FF2B5EF4-FFF2-40B4-BE49-F238E27FC236}">
                <a16:creationId xmlns:a16="http://schemas.microsoft.com/office/drawing/2014/main" id="{DC2447BE-2C6C-9696-E861-AF08318EBAC0}"/>
              </a:ext>
            </a:extLst>
          </p:cNvPr>
          <p:cNvSpPr>
            <a:spLocks noChangeArrowheads="1"/>
          </p:cNvSpPr>
          <p:nvPr/>
        </p:nvSpPr>
        <p:spPr bwMode="auto">
          <a:xfrm rot="19800000">
            <a:off x="2241426" y="4398206"/>
            <a:ext cx="1943100" cy="450850"/>
          </a:xfrm>
          <a:prstGeom prst="rect">
            <a:avLst/>
          </a:prstGeom>
          <a:solidFill>
            <a:schemeClr val="bg1">
              <a:alpha val="30000"/>
            </a:schemeClr>
          </a:solidFill>
          <a:ln w="57150" cmpd="thinThick" algn="ctr">
            <a:solidFill>
              <a:srgbClr val="C54426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rgbClr val="C54426"/>
                </a:solidFill>
                <a:latin typeface="+mn-ea"/>
                <a:ea typeface="+mn-ea"/>
              </a:rPr>
              <a:t>예 시</a:t>
            </a:r>
          </a:p>
        </p:txBody>
      </p:sp>
      <p:grpSp>
        <p:nvGrpSpPr>
          <p:cNvPr id="393" name="그룹 1">
            <a:extLst>
              <a:ext uri="{FF2B5EF4-FFF2-40B4-BE49-F238E27FC236}">
                <a16:creationId xmlns:a16="http://schemas.microsoft.com/office/drawing/2014/main" id="{77A28E3F-5D05-D8C8-927C-F8DD4202F7B0}"/>
              </a:ext>
            </a:extLst>
          </p:cNvPr>
          <p:cNvGrpSpPr>
            <a:grpSpLocks/>
          </p:cNvGrpSpPr>
          <p:nvPr/>
        </p:nvGrpSpPr>
        <p:grpSpPr bwMode="auto">
          <a:xfrm>
            <a:off x="292100" y="6578882"/>
            <a:ext cx="6270625" cy="385763"/>
            <a:chOff x="292100" y="2959098"/>
            <a:chExt cx="6270625" cy="385765"/>
          </a:xfrm>
        </p:grpSpPr>
        <p:grpSp>
          <p:nvGrpSpPr>
            <p:cNvPr id="394" name="그룹 393">
              <a:extLst>
                <a:ext uri="{FF2B5EF4-FFF2-40B4-BE49-F238E27FC236}">
                  <a16:creationId xmlns:a16="http://schemas.microsoft.com/office/drawing/2014/main" id="{9D2F460F-EDAA-0F73-395A-00969582F0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100" y="2959098"/>
              <a:ext cx="6270625" cy="385765"/>
              <a:chOff x="334963" y="3573461"/>
              <a:chExt cx="6271218" cy="386316"/>
            </a:xfrm>
          </p:grpSpPr>
          <p:grpSp>
            <p:nvGrpSpPr>
              <p:cNvPr id="396" name="그룹 50">
                <a:extLst>
                  <a:ext uri="{FF2B5EF4-FFF2-40B4-BE49-F238E27FC236}">
                    <a16:creationId xmlns:a16="http://schemas.microsoft.com/office/drawing/2014/main" id="{08C59A9B-E324-73E8-17D7-72DB7232F2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4963" y="3573461"/>
                <a:ext cx="6271218" cy="262313"/>
                <a:chOff x="335633" y="3489640"/>
                <a:chExt cx="6270543" cy="262915"/>
              </a:xfrm>
            </p:grpSpPr>
            <p:sp>
              <p:nvSpPr>
                <p:cNvPr id="401" name="직사각형 262">
                  <a:extLst>
                    <a:ext uri="{FF2B5EF4-FFF2-40B4-BE49-F238E27FC236}">
                      <a16:creationId xmlns:a16="http://schemas.microsoft.com/office/drawing/2014/main" id="{1F2D37EA-2226-415B-0E5B-C61FC02598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5633" y="3489640"/>
                  <a:ext cx="6270543" cy="262915"/>
                </a:xfrm>
                <a:prstGeom prst="rect">
                  <a:avLst/>
                </a:prstGeom>
                <a:gradFill flip="none" rotWithShape="1">
                  <a:gsLst>
                    <a:gs pos="33000">
                      <a:srgbClr val="1295EE"/>
                    </a:gs>
                    <a:gs pos="0">
                      <a:srgbClr val="0B629D"/>
                    </a:gs>
                    <a:gs pos="12000">
                      <a:srgbClr val="0E76BC"/>
                    </a:gs>
                  </a:gsLst>
                  <a:lin ang="36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latinLnBrk="0">
                    <a:defRPr/>
                  </a:pPr>
                  <a:endParaRPr lang="ko-KR" altLang="en-US" sz="1000" dirty="0">
                    <a:solidFill>
                      <a:srgbClr val="FFFFFF"/>
                    </a:solidFill>
                    <a:latin typeface="+mn-ea"/>
                    <a:cs typeface="Arial" pitchFamily="34" charset="0"/>
                  </a:endParaRPr>
                </a:p>
              </p:txBody>
            </p:sp>
            <p:cxnSp>
              <p:nvCxnSpPr>
                <p:cNvPr id="402" name="직선 연결선 26">
                  <a:extLst>
                    <a:ext uri="{FF2B5EF4-FFF2-40B4-BE49-F238E27FC236}">
                      <a16:creationId xmlns:a16="http://schemas.microsoft.com/office/drawing/2014/main" id="{85A7CAB2-FB03-122E-C07A-CE8788F13693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553763" y="3618068"/>
                  <a:ext cx="138933" cy="0"/>
                </a:xfrm>
                <a:prstGeom prst="line">
                  <a:avLst/>
                </a:prstGeom>
                <a:noFill/>
                <a:ln w="12700" algn="ctr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403" name="Text Box 34">
                  <a:extLst>
                    <a:ext uri="{FF2B5EF4-FFF2-40B4-BE49-F238E27FC236}">
                      <a16:creationId xmlns:a16="http://schemas.microsoft.com/office/drawing/2014/main" id="{B529D0AC-EDD5-47DB-8E41-6ADFE0684B2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gray">
                <a:xfrm>
                  <a:off x="764704" y="3535954"/>
                  <a:ext cx="5697056" cy="1699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0"/>
                  </a:sp3d>
                </a:bodyPr>
                <a:lstStyle>
                  <a:lvl1pPr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1pPr>
                  <a:lvl2pPr marL="742950" indent="-28575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2pPr>
                  <a:lvl3pPr marL="11430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3pPr>
                  <a:lvl4pPr marL="16002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4pPr>
                  <a:lvl5pPr marL="20574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5pPr>
                  <a:lvl6pPr marL="25146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6pPr>
                  <a:lvl7pPr marL="29718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7pPr>
                  <a:lvl8pPr marL="34290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8pPr>
                  <a:lvl9pPr marL="38862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9pPr>
                </a:lstStyle>
                <a:p>
                  <a:pPr eaLnBrk="1" latinLnBrk="0" hangingPunct="1">
                    <a:defRPr/>
                  </a:pPr>
                  <a:r>
                    <a:rPr lang="ko-KR" altLang="en-US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ea"/>
                      <a:ea typeface="+mn-ea"/>
                      <a:cs typeface="Arial" pitchFamily="34" charset="0"/>
                    </a:rPr>
                    <a:t>서비스 수준 개선 프로그램</a:t>
                  </a:r>
                </a:p>
              </p:txBody>
            </p:sp>
          </p:grpSp>
          <p:grpSp>
            <p:nvGrpSpPr>
              <p:cNvPr id="397" name="그룹 207">
                <a:extLst>
                  <a:ext uri="{FF2B5EF4-FFF2-40B4-BE49-F238E27FC236}">
                    <a16:creationId xmlns:a16="http://schemas.microsoft.com/office/drawing/2014/main" id="{2CEC5CD0-D7F8-D4A5-EB4C-5856E9A3C4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8569" y="3850655"/>
                <a:ext cx="5375678" cy="109122"/>
                <a:chOff x="1048569" y="3850655"/>
                <a:chExt cx="5375678" cy="109122"/>
              </a:xfrm>
            </p:grpSpPr>
            <p:pic>
              <p:nvPicPr>
                <p:cNvPr id="398" name="Picture 24" descr="악세사리">
                  <a:extLst>
                    <a:ext uri="{FF2B5EF4-FFF2-40B4-BE49-F238E27FC236}">
                      <a16:creationId xmlns:a16="http://schemas.microsoft.com/office/drawing/2014/main" id="{EDD09C65-EB07-D1BD-ECB8-D1290B170990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99" name="Picture 24" descr="악세사리">
                  <a:extLst>
                    <a:ext uri="{FF2B5EF4-FFF2-40B4-BE49-F238E27FC236}">
                      <a16:creationId xmlns:a16="http://schemas.microsoft.com/office/drawing/2014/main" id="{3FA5FC1A-DCF4-A806-C1CA-8F29AD0B204F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00" name="Picture 24" descr="악세사리">
                  <a:extLst>
                    <a:ext uri="{FF2B5EF4-FFF2-40B4-BE49-F238E27FC236}">
                      <a16:creationId xmlns:a16="http://schemas.microsoft.com/office/drawing/2014/main" id="{E04C983C-6067-D774-AF94-892C898F895D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pic>
          <p:nvPicPr>
            <p:cNvPr id="395" name="Picture 184" descr="icon_a01">
              <a:extLst>
                <a:ext uri="{FF2B5EF4-FFF2-40B4-BE49-F238E27FC236}">
                  <a16:creationId xmlns:a16="http://schemas.microsoft.com/office/drawing/2014/main" id="{27303E0D-2479-0431-C481-596C563971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94" t="64084" r="6964" b="26581"/>
            <a:stretch>
              <a:fillRect/>
            </a:stretch>
          </p:blipFill>
          <p:spPr bwMode="auto">
            <a:xfrm>
              <a:off x="339725" y="2992438"/>
              <a:ext cx="169863" cy="18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3" name="AutoShape 65">
            <a:extLst>
              <a:ext uri="{FF2B5EF4-FFF2-40B4-BE49-F238E27FC236}">
                <a16:creationId xmlns:a16="http://schemas.microsoft.com/office/drawing/2014/main" id="{11110659-1E60-C817-C355-0816DF02C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967" y="7218359"/>
            <a:ext cx="3528119" cy="2487951"/>
          </a:xfrm>
          <a:prstGeom prst="roundRect">
            <a:avLst>
              <a:gd name="adj" fmla="val 4625"/>
            </a:avLst>
          </a:prstGeom>
          <a:noFill/>
          <a:ln w="12700" algn="ctr">
            <a:solidFill>
              <a:srgbClr val="70B1CE"/>
            </a:solidFill>
            <a:round/>
            <a:headEnd/>
            <a:tailEnd/>
          </a:ln>
          <a:effectLst>
            <a:outerShdw dist="12700" dir="5400000" algn="ctr" rotWithShape="0">
              <a:srgbClr val="C0CFE8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lIns="90000" tIns="46800" rIns="90000" bIns="46800" anchor="ctr"/>
          <a:lstStyle/>
          <a:p>
            <a:endParaRPr lang="ko-KR" altLang="en-US" sz="1800" b="0">
              <a:solidFill>
                <a:srgbClr val="000000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8D42D676-AF15-C271-1089-67FEB690C2E9}"/>
              </a:ext>
            </a:extLst>
          </p:cNvPr>
          <p:cNvSpPr txBox="1"/>
          <p:nvPr/>
        </p:nvSpPr>
        <p:spPr>
          <a:xfrm>
            <a:off x="242396" y="6994389"/>
            <a:ext cx="2465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dirty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서비스 수준 평가</a:t>
            </a: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C00FCC97-D2B2-5EAF-DF90-AA3B024A082C}"/>
              </a:ext>
            </a:extLst>
          </p:cNvPr>
          <p:cNvSpPr txBox="1"/>
          <p:nvPr/>
        </p:nvSpPr>
        <p:spPr>
          <a:xfrm>
            <a:off x="3672482" y="6994389"/>
            <a:ext cx="2465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dirty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서비스 수준 개선</a:t>
            </a:r>
          </a:p>
        </p:txBody>
      </p:sp>
      <p:grpSp>
        <p:nvGrpSpPr>
          <p:cNvPr id="456" name="그룹 455">
            <a:extLst>
              <a:ext uri="{FF2B5EF4-FFF2-40B4-BE49-F238E27FC236}">
                <a16:creationId xmlns:a16="http://schemas.microsoft.com/office/drawing/2014/main" id="{76C7A61F-1156-2E05-DEB2-93B08284633F}"/>
              </a:ext>
            </a:extLst>
          </p:cNvPr>
          <p:cNvGrpSpPr/>
          <p:nvPr/>
        </p:nvGrpSpPr>
        <p:grpSpPr>
          <a:xfrm>
            <a:off x="3212976" y="7679828"/>
            <a:ext cx="3352639" cy="386088"/>
            <a:chOff x="187692" y="7635977"/>
            <a:chExt cx="7987707" cy="509588"/>
          </a:xfrm>
        </p:grpSpPr>
        <p:grpSp>
          <p:nvGrpSpPr>
            <p:cNvPr id="457" name="Group 141">
              <a:extLst>
                <a:ext uri="{FF2B5EF4-FFF2-40B4-BE49-F238E27FC236}">
                  <a16:creationId xmlns:a16="http://schemas.microsoft.com/office/drawing/2014/main" id="{E0973A88-F770-865C-75FE-41F5D6B975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692" y="7635977"/>
              <a:ext cx="1718028" cy="509588"/>
              <a:chOff x="1023" y="1490"/>
              <a:chExt cx="1050" cy="321"/>
            </a:xfrm>
          </p:grpSpPr>
          <p:sp>
            <p:nvSpPr>
              <p:cNvPr id="470" name="Freeform 585">
                <a:extLst>
                  <a:ext uri="{FF2B5EF4-FFF2-40B4-BE49-F238E27FC236}">
                    <a16:creationId xmlns:a16="http://schemas.microsoft.com/office/drawing/2014/main" id="{03835BEC-C7F2-8F3A-5F61-D38D9359B3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1" y="1544"/>
                <a:ext cx="122" cy="199"/>
              </a:xfrm>
              <a:custGeom>
                <a:avLst/>
                <a:gdLst>
                  <a:gd name="T0" fmla="*/ 0 w 99"/>
                  <a:gd name="T1" fmla="*/ 0 h 240"/>
                  <a:gd name="T2" fmla="*/ 2147483647 w 99"/>
                  <a:gd name="T3" fmla="*/ 1780621857 h 240"/>
                  <a:gd name="T4" fmla="*/ 2147483647 w 99"/>
                  <a:gd name="T5" fmla="*/ 1780621857 h 240"/>
                  <a:gd name="T6" fmla="*/ 0 w 99"/>
                  <a:gd name="T7" fmla="*/ 0 h 24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240"/>
                  <a:gd name="T14" fmla="*/ 99 w 99"/>
                  <a:gd name="T15" fmla="*/ 240 h 24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240">
                    <a:moveTo>
                      <a:pt x="0" y="0"/>
                    </a:moveTo>
                    <a:lnTo>
                      <a:pt x="99" y="129"/>
                    </a:lnTo>
                    <a:lnTo>
                      <a:pt x="12" y="2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47C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82630" tIns="42968" rIns="82630" bIns="42968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90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  <p:sp>
            <p:nvSpPr>
              <p:cNvPr id="471" name="AutoShape 586">
                <a:extLst>
                  <a:ext uri="{FF2B5EF4-FFF2-40B4-BE49-F238E27FC236}">
                    <a16:creationId xmlns:a16="http://schemas.microsoft.com/office/drawing/2014/main" id="{F4F5B7F0-3042-3559-BEF8-FC3FBB2D67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3" y="1490"/>
                <a:ext cx="1005" cy="321"/>
              </a:xfrm>
              <a:prstGeom prst="homePlate">
                <a:avLst>
                  <a:gd name="adj" fmla="val 39570"/>
                </a:avLst>
              </a:prstGeom>
              <a:solidFill>
                <a:srgbClr val="DDDDDD"/>
              </a:solidFill>
              <a:ln w="25400" algn="ctr">
                <a:solidFill>
                  <a:sysClr val="window" lastClr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41977" rIns="0" bIns="41977" anchor="ctr"/>
              <a:lstStyle/>
              <a:p>
                <a:pPr marL="0" marR="0" lvl="0" indent="0" algn="ctr" defTabSz="83978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i="0" u="none" strike="noStrike" kern="0" cap="none" spc="0" normalizeH="0" baseline="0" noProof="0" dirty="0">
                    <a:ln>
                      <a:noFill/>
                    </a:ln>
                    <a:solidFill>
                      <a:srgbClr val="1C1C1C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정의</a:t>
                </a:r>
                <a:endParaRPr kumimoji="0" lang="ko-KR" altLang="ko-KR" sz="900" i="0" u="none" strike="noStrike" kern="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</p:grpSp>
        <p:grpSp>
          <p:nvGrpSpPr>
            <p:cNvPr id="458" name="Group 125">
              <a:extLst>
                <a:ext uri="{FF2B5EF4-FFF2-40B4-BE49-F238E27FC236}">
                  <a16:creationId xmlns:a16="http://schemas.microsoft.com/office/drawing/2014/main" id="{BED5CC9F-0A1C-BFEC-8A80-12A842828E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10742" y="7635977"/>
              <a:ext cx="1780204" cy="509588"/>
              <a:chOff x="1636" y="2301"/>
              <a:chExt cx="982" cy="289"/>
            </a:xfrm>
          </p:grpSpPr>
          <p:sp>
            <p:nvSpPr>
              <p:cNvPr id="468" name="Freeform 587">
                <a:extLst>
                  <a:ext uri="{FF2B5EF4-FFF2-40B4-BE49-F238E27FC236}">
                    <a16:creationId xmlns:a16="http://schemas.microsoft.com/office/drawing/2014/main" id="{4A0A3111-76C2-AE32-A469-6848C42AF7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9" y="2350"/>
                <a:ext cx="109" cy="179"/>
              </a:xfrm>
              <a:custGeom>
                <a:avLst/>
                <a:gdLst>
                  <a:gd name="T0" fmla="*/ 0 w 99"/>
                  <a:gd name="T1" fmla="*/ 0 h 240"/>
                  <a:gd name="T2" fmla="*/ 2147483647 w 99"/>
                  <a:gd name="T3" fmla="*/ 1601664887 h 240"/>
                  <a:gd name="T4" fmla="*/ 2147483647 w 99"/>
                  <a:gd name="T5" fmla="*/ 1601664887 h 240"/>
                  <a:gd name="T6" fmla="*/ 0 w 99"/>
                  <a:gd name="T7" fmla="*/ 0 h 24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240"/>
                  <a:gd name="T14" fmla="*/ 99 w 99"/>
                  <a:gd name="T15" fmla="*/ 240 h 24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240">
                    <a:moveTo>
                      <a:pt x="0" y="0"/>
                    </a:moveTo>
                    <a:lnTo>
                      <a:pt x="99" y="129"/>
                    </a:lnTo>
                    <a:lnTo>
                      <a:pt x="12" y="2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47C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82630" tIns="42968" rIns="82630" bIns="42968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90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  <p:sp>
            <p:nvSpPr>
              <p:cNvPr id="469" name="AutoShape 588">
                <a:extLst>
                  <a:ext uri="{FF2B5EF4-FFF2-40B4-BE49-F238E27FC236}">
                    <a16:creationId xmlns:a16="http://schemas.microsoft.com/office/drawing/2014/main" id="{308D4357-3F87-042A-1465-C2FCD15A9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6" y="2301"/>
                <a:ext cx="941" cy="289"/>
              </a:xfrm>
              <a:prstGeom prst="chevron">
                <a:avLst>
                  <a:gd name="adj" fmla="val 42299"/>
                </a:avLst>
              </a:prstGeom>
              <a:solidFill>
                <a:srgbClr val="DDDDDD"/>
              </a:solidFill>
              <a:ln w="25400" algn="ctr">
                <a:solidFill>
                  <a:sysClr val="window" lastClr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41977" rIns="0" bIns="41977" anchor="ctr"/>
              <a:lstStyle/>
              <a:p>
                <a:pPr marL="0" marR="0" lvl="0" indent="0" algn="ctr" defTabSz="83978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i="0" u="none" strike="noStrike" kern="0" cap="none" spc="0" normalizeH="0" baseline="0" noProof="0" dirty="0">
                    <a:ln>
                      <a:noFill/>
                    </a:ln>
                    <a:solidFill>
                      <a:srgbClr val="1C1C1C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측정</a:t>
                </a:r>
                <a:endParaRPr kumimoji="0" lang="ko-KR" altLang="ko-KR" sz="900" i="0" u="none" strike="noStrike" kern="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</p:grpSp>
        <p:grpSp>
          <p:nvGrpSpPr>
            <p:cNvPr id="459" name="Group 128">
              <a:extLst>
                <a:ext uri="{FF2B5EF4-FFF2-40B4-BE49-F238E27FC236}">
                  <a16:creationId xmlns:a16="http://schemas.microsoft.com/office/drawing/2014/main" id="{B2059F2B-EA7E-6DD2-F09A-6D55179779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95968" y="7635977"/>
              <a:ext cx="1781840" cy="509588"/>
              <a:chOff x="2544" y="2301"/>
              <a:chExt cx="983" cy="289"/>
            </a:xfrm>
          </p:grpSpPr>
          <p:sp>
            <p:nvSpPr>
              <p:cNvPr id="466" name="Freeform 589">
                <a:extLst>
                  <a:ext uri="{FF2B5EF4-FFF2-40B4-BE49-F238E27FC236}">
                    <a16:creationId xmlns:a16="http://schemas.microsoft.com/office/drawing/2014/main" id="{8E14384E-B1BB-77E9-4A14-29C3681895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2350"/>
                <a:ext cx="110" cy="179"/>
              </a:xfrm>
              <a:custGeom>
                <a:avLst/>
                <a:gdLst>
                  <a:gd name="T0" fmla="*/ 0 w 99"/>
                  <a:gd name="T1" fmla="*/ 0 h 240"/>
                  <a:gd name="T2" fmla="*/ 2147483647 w 99"/>
                  <a:gd name="T3" fmla="*/ 1601664887 h 240"/>
                  <a:gd name="T4" fmla="*/ 2147483647 w 99"/>
                  <a:gd name="T5" fmla="*/ 1601664887 h 240"/>
                  <a:gd name="T6" fmla="*/ 0 w 99"/>
                  <a:gd name="T7" fmla="*/ 0 h 24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240"/>
                  <a:gd name="T14" fmla="*/ 99 w 99"/>
                  <a:gd name="T15" fmla="*/ 240 h 24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240">
                    <a:moveTo>
                      <a:pt x="0" y="0"/>
                    </a:moveTo>
                    <a:lnTo>
                      <a:pt x="99" y="129"/>
                    </a:lnTo>
                    <a:lnTo>
                      <a:pt x="12" y="2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47C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82630" tIns="42968" rIns="82630" bIns="42968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90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  <p:sp>
            <p:nvSpPr>
              <p:cNvPr id="467" name="AutoShape 590">
                <a:extLst>
                  <a:ext uri="{FF2B5EF4-FFF2-40B4-BE49-F238E27FC236}">
                    <a16:creationId xmlns:a16="http://schemas.microsoft.com/office/drawing/2014/main" id="{95015869-D5F3-A4AC-DA24-3271BF8740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2301"/>
                <a:ext cx="941" cy="289"/>
              </a:xfrm>
              <a:prstGeom prst="chevron">
                <a:avLst>
                  <a:gd name="adj" fmla="val 42299"/>
                </a:avLst>
              </a:prstGeom>
              <a:solidFill>
                <a:srgbClr val="DDDDDD"/>
              </a:solidFill>
              <a:ln w="25400" algn="ctr">
                <a:solidFill>
                  <a:sysClr val="window" lastClr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41977" rIns="0" bIns="41977" anchor="ctr"/>
              <a:lstStyle/>
              <a:p>
                <a:pPr marL="0" marR="0" lvl="0" indent="0" algn="ctr" defTabSz="83978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i="0" u="none" strike="noStrike" kern="0" cap="none" spc="0" normalizeH="0" baseline="0" noProof="0" dirty="0">
                    <a:ln>
                      <a:noFill/>
                    </a:ln>
                    <a:solidFill>
                      <a:srgbClr val="1C1C1C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분석</a:t>
                </a:r>
                <a:endParaRPr kumimoji="0" lang="ko-KR" altLang="ko-KR" sz="900" i="0" u="none" strike="noStrike" kern="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</p:grpSp>
        <p:grpSp>
          <p:nvGrpSpPr>
            <p:cNvPr id="460" name="Group 131">
              <a:extLst>
                <a:ext uri="{FF2B5EF4-FFF2-40B4-BE49-F238E27FC236}">
                  <a16:creationId xmlns:a16="http://schemas.microsoft.com/office/drawing/2014/main" id="{9DF370CF-EBF3-DE4D-6C07-2BAEDBA0E0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82830" y="7635977"/>
              <a:ext cx="1781840" cy="509588"/>
              <a:chOff x="2544" y="2301"/>
              <a:chExt cx="983" cy="289"/>
            </a:xfrm>
          </p:grpSpPr>
          <p:sp>
            <p:nvSpPr>
              <p:cNvPr id="464" name="Freeform 589">
                <a:extLst>
                  <a:ext uri="{FF2B5EF4-FFF2-40B4-BE49-F238E27FC236}">
                    <a16:creationId xmlns:a16="http://schemas.microsoft.com/office/drawing/2014/main" id="{B326BE01-CB71-1E33-709B-F99545458E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2350"/>
                <a:ext cx="110" cy="179"/>
              </a:xfrm>
              <a:custGeom>
                <a:avLst/>
                <a:gdLst>
                  <a:gd name="T0" fmla="*/ 0 w 99"/>
                  <a:gd name="T1" fmla="*/ 0 h 240"/>
                  <a:gd name="T2" fmla="*/ 2147483647 w 99"/>
                  <a:gd name="T3" fmla="*/ 1601664887 h 240"/>
                  <a:gd name="T4" fmla="*/ 2147483647 w 99"/>
                  <a:gd name="T5" fmla="*/ 1601664887 h 240"/>
                  <a:gd name="T6" fmla="*/ 0 w 99"/>
                  <a:gd name="T7" fmla="*/ 0 h 24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240"/>
                  <a:gd name="T14" fmla="*/ 99 w 99"/>
                  <a:gd name="T15" fmla="*/ 240 h 24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240">
                    <a:moveTo>
                      <a:pt x="0" y="0"/>
                    </a:moveTo>
                    <a:lnTo>
                      <a:pt x="99" y="129"/>
                    </a:lnTo>
                    <a:lnTo>
                      <a:pt x="12" y="2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47C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82630" tIns="42968" rIns="82630" bIns="42968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90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  <p:sp>
            <p:nvSpPr>
              <p:cNvPr id="465" name="AutoShape 590">
                <a:extLst>
                  <a:ext uri="{FF2B5EF4-FFF2-40B4-BE49-F238E27FC236}">
                    <a16:creationId xmlns:a16="http://schemas.microsoft.com/office/drawing/2014/main" id="{EC3715F7-0E0A-F72C-A849-6BA268BC19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2301"/>
                <a:ext cx="941" cy="289"/>
              </a:xfrm>
              <a:prstGeom prst="chevron">
                <a:avLst>
                  <a:gd name="adj" fmla="val 42299"/>
                </a:avLst>
              </a:prstGeom>
              <a:solidFill>
                <a:srgbClr val="DDDDDD"/>
              </a:solidFill>
              <a:ln w="25400" algn="ctr">
                <a:solidFill>
                  <a:sysClr val="window" lastClr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41977" rIns="0" bIns="41977" anchor="ctr"/>
              <a:lstStyle/>
              <a:p>
                <a:pPr marL="0" marR="0" lvl="0" indent="0" algn="ctr" defTabSz="83978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00" i="0" u="none" strike="noStrike" kern="0" cap="none" spc="0" normalizeH="0" baseline="0" noProof="0" dirty="0">
                    <a:ln>
                      <a:noFill/>
                    </a:ln>
                    <a:solidFill>
                      <a:srgbClr val="1C1C1C"/>
                    </a:solidFill>
                    <a:effectLst/>
                    <a:uLnTx/>
                    <a:uFillTx/>
                    <a:latin typeface="+mn-ea"/>
                    <a:ea typeface="+mn-ea"/>
                    <a:cs typeface="+mn-cs"/>
                  </a:rPr>
                  <a:t>개선</a:t>
                </a:r>
                <a:endParaRPr kumimoji="0" lang="ko-KR" altLang="ko-KR" sz="900" i="0" u="none" strike="noStrike" kern="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endParaRPr>
              </a:p>
            </p:txBody>
          </p:sp>
        </p:grpSp>
        <p:sp>
          <p:nvSpPr>
            <p:cNvPr id="463" name="AutoShape 590">
              <a:extLst>
                <a:ext uri="{FF2B5EF4-FFF2-40B4-BE49-F238E27FC236}">
                  <a16:creationId xmlns:a16="http://schemas.microsoft.com/office/drawing/2014/main" id="{718EF197-59FD-B42B-E835-FFADF29F3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9691" y="7635977"/>
              <a:ext cx="1705708" cy="509588"/>
            </a:xfrm>
            <a:prstGeom prst="chevron">
              <a:avLst>
                <a:gd name="adj" fmla="val 42299"/>
              </a:avLst>
            </a:prstGeom>
            <a:solidFill>
              <a:srgbClr val="DDDDDD"/>
            </a:solidFill>
            <a:ln w="25400" algn="ctr">
              <a:solidFill>
                <a:sysClr val="window" lastClr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41977" rIns="0" bIns="41977" anchor="ctr"/>
            <a:lstStyle/>
            <a:p>
              <a:pPr marL="0" marR="0" lvl="0" indent="0" algn="ctr" defTabSz="83978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i="0" u="none" strike="noStrike" kern="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통제</a:t>
              </a:r>
              <a:endParaRPr kumimoji="0" lang="ko-KR" altLang="ko-KR" sz="900" i="0" u="none" strike="noStrike" kern="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sp>
        <p:nvSpPr>
          <p:cNvPr id="472" name="TextBox 471">
            <a:extLst>
              <a:ext uri="{FF2B5EF4-FFF2-40B4-BE49-F238E27FC236}">
                <a16:creationId xmlns:a16="http://schemas.microsoft.com/office/drawing/2014/main" id="{C4400BAD-268F-49A4-5A72-412D17F856C6}"/>
              </a:ext>
            </a:extLst>
          </p:cNvPr>
          <p:cNvSpPr txBox="1"/>
          <p:nvPr/>
        </p:nvSpPr>
        <p:spPr>
          <a:xfrm>
            <a:off x="3212976" y="8122134"/>
            <a:ext cx="637314" cy="55399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b="0" dirty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문제확인 및 개선 대상 확인</a:t>
            </a:r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DE582266-B114-7FE8-D9FD-CCD9FD696135}"/>
              </a:ext>
            </a:extLst>
          </p:cNvPr>
          <p:cNvSpPr txBox="1"/>
          <p:nvPr/>
        </p:nvSpPr>
        <p:spPr>
          <a:xfrm>
            <a:off x="3934075" y="8122134"/>
            <a:ext cx="582422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b="0" dirty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현재 수준 측정</a:t>
            </a:r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615E7716-0B9D-8019-8DD1-B55498958364}"/>
              </a:ext>
            </a:extLst>
          </p:cNvPr>
          <p:cNvSpPr txBox="1"/>
          <p:nvPr/>
        </p:nvSpPr>
        <p:spPr>
          <a:xfrm>
            <a:off x="4613814" y="8122134"/>
            <a:ext cx="582422" cy="55399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b="0" dirty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데이터 수집 및 분석</a:t>
            </a:r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ABF96870-D033-D2B2-67FD-1665686F84A2}"/>
              </a:ext>
            </a:extLst>
          </p:cNvPr>
          <p:cNvSpPr txBox="1"/>
          <p:nvPr/>
        </p:nvSpPr>
        <p:spPr>
          <a:xfrm>
            <a:off x="5265413" y="8122134"/>
            <a:ext cx="582422" cy="55399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b="0" dirty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개선안 수립 및 검증</a:t>
            </a:r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5AAE8329-1209-189C-57BA-FC3E764AA4C3}"/>
              </a:ext>
            </a:extLst>
          </p:cNvPr>
          <p:cNvSpPr txBox="1"/>
          <p:nvPr/>
        </p:nvSpPr>
        <p:spPr>
          <a:xfrm>
            <a:off x="5916440" y="8122134"/>
            <a:ext cx="582422" cy="55399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b="0" dirty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개선 성과 검증 및 최적화</a:t>
            </a:r>
          </a:p>
        </p:txBody>
      </p:sp>
      <p:sp>
        <p:nvSpPr>
          <p:cNvPr id="478" name="Rectangle 108">
            <a:extLst>
              <a:ext uri="{FF2B5EF4-FFF2-40B4-BE49-F238E27FC236}">
                <a16:creationId xmlns:a16="http://schemas.microsoft.com/office/drawing/2014/main" id="{1150E0DB-A816-D2F7-3B1B-24216D237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1955" y="9179171"/>
            <a:ext cx="188626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2000" tIns="0" rIns="72000" bIns="0" anchor="ctr">
            <a:spAutoFit/>
          </a:bodyPr>
          <a:lstStyle/>
          <a:p>
            <a:pPr algn="ctr"/>
            <a:r>
              <a:rPr lang="en" altLang="ko-KR" sz="1050" dirty="0">
                <a:solidFill>
                  <a:srgbClr val="003478"/>
                </a:solidFill>
                <a:latin typeface="+mn-ea"/>
                <a:ea typeface="+mn-ea"/>
                <a:cs typeface="+mn-cs"/>
              </a:rPr>
              <a:t>XXXX</a:t>
            </a:r>
            <a:r>
              <a:rPr lang="ko-KR" altLang="en-US" sz="1050" dirty="0">
                <a:solidFill>
                  <a:srgbClr val="003478"/>
                </a:solidFill>
                <a:latin typeface="+mn-ea"/>
                <a:ea typeface="+mn-ea"/>
                <a:cs typeface="+mn-cs"/>
              </a:rPr>
              <a:t>과 제안사의 협의를 통한</a:t>
            </a:r>
            <a:endParaRPr lang="en-US" altLang="ko-KR" sz="1050" dirty="0">
              <a:solidFill>
                <a:srgbClr val="003478"/>
              </a:solidFill>
              <a:latin typeface="+mn-ea"/>
              <a:ea typeface="+mn-ea"/>
              <a:cs typeface="+mn-cs"/>
            </a:endParaRPr>
          </a:p>
          <a:p>
            <a:pPr algn="ctr"/>
            <a:r>
              <a:rPr lang="ko-KR" altLang="en-US" sz="1050" dirty="0">
                <a:solidFill>
                  <a:srgbClr val="003478"/>
                </a:solidFill>
                <a:latin typeface="+mn-ea"/>
                <a:ea typeface="+mn-ea"/>
                <a:cs typeface="+mn-cs"/>
              </a:rPr>
              <a:t>서비스 수준 조정</a:t>
            </a:r>
          </a:p>
        </p:txBody>
      </p:sp>
      <p:pic>
        <p:nvPicPr>
          <p:cNvPr id="485" name="Picture 69" descr="기본_화살-가로용">
            <a:extLst>
              <a:ext uri="{FF2B5EF4-FFF2-40B4-BE49-F238E27FC236}">
                <a16:creationId xmlns:a16="http://schemas.microsoft.com/office/drawing/2014/main" id="{0F0EDB40-70C4-8684-9D02-79AD4DAAE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9"/>
          <a:stretch>
            <a:fillRect/>
          </a:stretch>
        </p:blipFill>
        <p:spPr bwMode="auto">
          <a:xfrm rot="10800000">
            <a:off x="3608932" y="8732350"/>
            <a:ext cx="2592186" cy="42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6" name="오른쪽 화살표 180">
            <a:extLst>
              <a:ext uri="{FF2B5EF4-FFF2-40B4-BE49-F238E27FC236}">
                <a16:creationId xmlns:a16="http://schemas.microsoft.com/office/drawing/2014/main" id="{2EB8108C-403A-380B-BB26-A100AD665370}"/>
              </a:ext>
            </a:extLst>
          </p:cNvPr>
          <p:cNvSpPr/>
          <p:nvPr/>
        </p:nvSpPr>
        <p:spPr>
          <a:xfrm>
            <a:off x="2781300" y="8284089"/>
            <a:ext cx="431676" cy="353943"/>
          </a:xfrm>
          <a:prstGeom prst="rightArrow">
            <a:avLst/>
          </a:prstGeom>
          <a:gradFill flip="none" rotWithShape="1">
            <a:gsLst>
              <a:gs pos="0">
                <a:sysClr val="window" lastClr="FFFFFF">
                  <a:lumMod val="50000"/>
                </a:sysClr>
              </a:gs>
              <a:gs pos="100000">
                <a:sysClr val="window" lastClr="FFFFFF"/>
              </a:gs>
            </a:gsLst>
            <a:lin ang="10800000" scaled="1"/>
            <a:tileRect/>
          </a:gradFill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489" name="AutoShape 65">
            <a:extLst>
              <a:ext uri="{FF2B5EF4-FFF2-40B4-BE49-F238E27FC236}">
                <a16:creationId xmlns:a16="http://schemas.microsoft.com/office/drawing/2014/main" id="{E5D4D4C1-E6C8-18FD-2F4E-23A01D2FD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452" y="7218359"/>
            <a:ext cx="2589848" cy="2487951"/>
          </a:xfrm>
          <a:prstGeom prst="roundRect">
            <a:avLst>
              <a:gd name="adj" fmla="val 4625"/>
            </a:avLst>
          </a:prstGeom>
          <a:noFill/>
          <a:ln w="12700" algn="ctr">
            <a:solidFill>
              <a:srgbClr val="70B1CE"/>
            </a:solidFill>
            <a:round/>
            <a:headEnd/>
            <a:tailEnd/>
          </a:ln>
          <a:effectLst>
            <a:outerShdw dist="12700" dir="5400000" algn="ctr" rotWithShape="0">
              <a:srgbClr val="C0CFE8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lIns="90000" tIns="46800" rIns="90000" bIns="46800" anchor="ctr"/>
          <a:lstStyle/>
          <a:p>
            <a:endParaRPr lang="ko-KR" altLang="en-US" sz="1800" b="0">
              <a:solidFill>
                <a:srgbClr val="000000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490" name="Rectangle 83" descr="ㅁ5">
            <a:extLst>
              <a:ext uri="{FF2B5EF4-FFF2-40B4-BE49-F238E27FC236}">
                <a16:creationId xmlns:a16="http://schemas.microsoft.com/office/drawing/2014/main" id="{56CCE0C1-B7FD-07E8-D3B9-1AF39CF61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81" y="7440831"/>
            <a:ext cx="1918763" cy="206038"/>
          </a:xfrm>
          <a:prstGeom prst="rect">
            <a:avLst/>
          </a:prstGeom>
          <a:gradFill rotWithShape="1">
            <a:gsLst>
              <a:gs pos="0">
                <a:srgbClr val="F6F6F6"/>
              </a:gs>
              <a:gs pos="100000">
                <a:srgbClr val="EAEAEA"/>
              </a:gs>
            </a:gsLst>
            <a:lin ang="5400000" scaled="1"/>
          </a:gradFill>
          <a:ln w="6350" algn="ctr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2700" dir="54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1600" tIns="0" rIns="21600" bIns="0" anchor="ctr"/>
          <a:lstStyle/>
          <a:p>
            <a:pPr algn="ctr" defTabSz="808038" fontAlgn="auto" latinLnBrk="0"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</a:pPr>
            <a:r>
              <a:rPr kumimoji="0" lang="ko-KR" altLang="en-US" sz="800" dirty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월간 서비스 수준평가 시행</a:t>
            </a:r>
          </a:p>
        </p:txBody>
      </p:sp>
      <p:sp>
        <p:nvSpPr>
          <p:cNvPr id="491" name="Rectangle 83" descr="ㅁ5">
            <a:extLst>
              <a:ext uri="{FF2B5EF4-FFF2-40B4-BE49-F238E27FC236}">
                <a16:creationId xmlns:a16="http://schemas.microsoft.com/office/drawing/2014/main" id="{2981E45F-8EAF-3B48-CAF4-E73672C64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81" y="7901685"/>
            <a:ext cx="1918763" cy="206038"/>
          </a:xfrm>
          <a:prstGeom prst="rect">
            <a:avLst/>
          </a:prstGeom>
          <a:gradFill rotWithShape="1">
            <a:gsLst>
              <a:gs pos="0">
                <a:srgbClr val="F6F6F6"/>
              </a:gs>
              <a:gs pos="100000">
                <a:srgbClr val="EAEAEA"/>
              </a:gs>
            </a:gsLst>
            <a:lin ang="5400000" scaled="1"/>
          </a:gradFill>
          <a:ln w="6350" algn="ctr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2700" dir="54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1600" tIns="0" rIns="21600" bIns="0" anchor="ctr"/>
          <a:lstStyle/>
          <a:p>
            <a:pPr algn="ctr" defTabSz="808038" fontAlgn="auto" latinLnBrk="0"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</a:pPr>
            <a:r>
              <a:rPr kumimoji="0" lang="ko-KR" altLang="en-US" sz="800" dirty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목표 수준 미달 항목 발생</a:t>
            </a:r>
          </a:p>
        </p:txBody>
      </p:sp>
      <p:sp>
        <p:nvSpPr>
          <p:cNvPr id="492" name="Rectangle 83" descr="ㅁ5">
            <a:extLst>
              <a:ext uri="{FF2B5EF4-FFF2-40B4-BE49-F238E27FC236}">
                <a16:creationId xmlns:a16="http://schemas.microsoft.com/office/drawing/2014/main" id="{3F24D869-E4A1-9B9F-1185-951AB58CB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81" y="8362539"/>
            <a:ext cx="1918763" cy="206038"/>
          </a:xfrm>
          <a:prstGeom prst="rect">
            <a:avLst/>
          </a:prstGeom>
          <a:solidFill>
            <a:srgbClr val="769CBC"/>
          </a:solidFill>
          <a:ln w="6350" algn="ctr">
            <a:solidFill>
              <a:srgbClr val="B2B2B2"/>
            </a:solidFill>
            <a:miter lim="800000"/>
            <a:headEnd/>
            <a:tailEnd/>
          </a:ln>
          <a:effectLst/>
        </p:spPr>
        <p:txBody>
          <a:bodyPr lIns="21600" tIns="0" rIns="21600" bIns="0" anchor="ctr"/>
          <a:lstStyle/>
          <a:p>
            <a:pPr algn="ctr" defTabSz="808038" fontAlgn="auto" latinLnBrk="0"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</a:pPr>
            <a:r>
              <a:rPr kumimoji="0" lang="ko-KR" altLang="en-US" sz="800" dirty="0">
                <a:solidFill>
                  <a:prstClr val="white"/>
                </a:solidFill>
                <a:latin typeface="+mn-ea"/>
                <a:ea typeface="+mn-ea"/>
                <a:cs typeface="+mn-cs"/>
              </a:rPr>
              <a:t>서비스 수준 개선 프로그램</a:t>
            </a:r>
          </a:p>
        </p:txBody>
      </p:sp>
      <p:sp>
        <p:nvSpPr>
          <p:cNvPr id="493" name="Rectangle 83" descr="ㅁ5">
            <a:extLst>
              <a:ext uri="{FF2B5EF4-FFF2-40B4-BE49-F238E27FC236}">
                <a16:creationId xmlns:a16="http://schemas.microsoft.com/office/drawing/2014/main" id="{D351BC4F-A0E8-D86F-4B13-67176764E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81" y="8823393"/>
            <a:ext cx="1918763" cy="206038"/>
          </a:xfrm>
          <a:prstGeom prst="rect">
            <a:avLst/>
          </a:prstGeom>
          <a:gradFill rotWithShape="1">
            <a:gsLst>
              <a:gs pos="0">
                <a:srgbClr val="F6F6F6"/>
              </a:gs>
              <a:gs pos="100000">
                <a:srgbClr val="EAEAEA"/>
              </a:gs>
            </a:gsLst>
            <a:lin ang="5400000" scaled="1"/>
          </a:gradFill>
          <a:ln w="6350" algn="ctr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2700" dir="54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1600" tIns="0" rIns="21600" bIns="0" anchor="ctr"/>
          <a:lstStyle/>
          <a:p>
            <a:pPr algn="ctr" defTabSz="808038" fontAlgn="auto" latinLnBrk="0"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</a:pPr>
            <a:r>
              <a:rPr kumimoji="0" lang="en-US" altLang="ko-KR" sz="800" dirty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SLA </a:t>
            </a:r>
            <a:r>
              <a:rPr kumimoji="0" lang="ko-KR" altLang="en-US" sz="800" dirty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개정 요청서 작성</a:t>
            </a:r>
          </a:p>
        </p:txBody>
      </p:sp>
      <p:sp>
        <p:nvSpPr>
          <p:cNvPr id="494" name="Rectangle 83" descr="ㅁ5">
            <a:extLst>
              <a:ext uri="{FF2B5EF4-FFF2-40B4-BE49-F238E27FC236}">
                <a16:creationId xmlns:a16="http://schemas.microsoft.com/office/drawing/2014/main" id="{525F704F-0BAC-96B0-5B2A-8CAB249A8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81" y="9284248"/>
            <a:ext cx="1918763" cy="206038"/>
          </a:xfrm>
          <a:prstGeom prst="rect">
            <a:avLst/>
          </a:prstGeom>
          <a:gradFill rotWithShape="1">
            <a:gsLst>
              <a:gs pos="0">
                <a:srgbClr val="F6F6F6"/>
              </a:gs>
              <a:gs pos="100000">
                <a:srgbClr val="EAEAEA"/>
              </a:gs>
            </a:gsLst>
            <a:lin ang="5400000" scaled="1"/>
          </a:gradFill>
          <a:ln w="6350" algn="ctr">
            <a:solidFill>
              <a:srgbClr val="B2B2B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2700" dir="54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1600" tIns="0" rIns="21600" bIns="0" anchor="ctr"/>
          <a:lstStyle/>
          <a:p>
            <a:pPr algn="ctr" defTabSz="808038" fontAlgn="auto" latinLnBrk="0">
              <a:spcBef>
                <a:spcPts val="0"/>
              </a:spcBef>
              <a:spcAft>
                <a:spcPts val="0"/>
              </a:spcAft>
              <a:buClr>
                <a:prstClr val="black">
                  <a:lumMod val="50000"/>
                  <a:lumOff val="50000"/>
                </a:prstClr>
              </a:buClr>
            </a:pPr>
            <a:r>
              <a:rPr kumimoji="0" lang="en-US" altLang="ko-KR" sz="800" dirty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SLA </a:t>
            </a:r>
            <a:r>
              <a:rPr kumimoji="0" lang="ko-KR" altLang="en-US" sz="800" dirty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개정</a:t>
            </a:r>
          </a:p>
        </p:txBody>
      </p:sp>
      <p:cxnSp>
        <p:nvCxnSpPr>
          <p:cNvPr id="495" name="직선 화살표 연결선 494">
            <a:extLst>
              <a:ext uri="{FF2B5EF4-FFF2-40B4-BE49-F238E27FC236}">
                <a16:creationId xmlns:a16="http://schemas.microsoft.com/office/drawing/2014/main" id="{198E26CD-F4F6-DA15-F438-8ECF6045DC7D}"/>
              </a:ext>
            </a:extLst>
          </p:cNvPr>
          <p:cNvCxnSpPr>
            <a:stCxn id="490" idx="2"/>
            <a:endCxn id="491" idx="0"/>
          </p:cNvCxnSpPr>
          <p:nvPr/>
        </p:nvCxnSpPr>
        <p:spPr>
          <a:xfrm>
            <a:off x="1508063" y="7646869"/>
            <a:ext cx="0" cy="254816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tailEnd type="triangle"/>
          </a:ln>
          <a:effectLst/>
        </p:spPr>
      </p:cxnSp>
      <p:cxnSp>
        <p:nvCxnSpPr>
          <p:cNvPr id="496" name="직선 화살표 연결선 495">
            <a:extLst>
              <a:ext uri="{FF2B5EF4-FFF2-40B4-BE49-F238E27FC236}">
                <a16:creationId xmlns:a16="http://schemas.microsoft.com/office/drawing/2014/main" id="{65675489-B8F7-4BB7-EF94-29549BC19651}"/>
              </a:ext>
            </a:extLst>
          </p:cNvPr>
          <p:cNvCxnSpPr>
            <a:stCxn id="491" idx="2"/>
            <a:endCxn id="492" idx="0"/>
          </p:cNvCxnSpPr>
          <p:nvPr/>
        </p:nvCxnSpPr>
        <p:spPr>
          <a:xfrm>
            <a:off x="1508063" y="8107723"/>
            <a:ext cx="0" cy="254816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tailEnd type="triangle"/>
          </a:ln>
          <a:effectLst/>
        </p:spPr>
      </p:cxnSp>
      <p:cxnSp>
        <p:nvCxnSpPr>
          <p:cNvPr id="497" name="직선 화살표 연결선 496">
            <a:extLst>
              <a:ext uri="{FF2B5EF4-FFF2-40B4-BE49-F238E27FC236}">
                <a16:creationId xmlns:a16="http://schemas.microsoft.com/office/drawing/2014/main" id="{A6283BE4-0A85-8335-DDE4-D2E15A5B71ED}"/>
              </a:ext>
            </a:extLst>
          </p:cNvPr>
          <p:cNvCxnSpPr>
            <a:stCxn id="492" idx="2"/>
            <a:endCxn id="493" idx="0"/>
          </p:cNvCxnSpPr>
          <p:nvPr/>
        </p:nvCxnSpPr>
        <p:spPr>
          <a:xfrm>
            <a:off x="1508063" y="8568577"/>
            <a:ext cx="0" cy="254816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tailEnd type="triangle"/>
          </a:ln>
          <a:effectLst/>
        </p:spPr>
      </p:cxnSp>
      <p:cxnSp>
        <p:nvCxnSpPr>
          <p:cNvPr id="498" name="직선 화살표 연결선 497">
            <a:extLst>
              <a:ext uri="{FF2B5EF4-FFF2-40B4-BE49-F238E27FC236}">
                <a16:creationId xmlns:a16="http://schemas.microsoft.com/office/drawing/2014/main" id="{FAAE53D9-72C8-319B-E0F3-0A47697E9B2B}"/>
              </a:ext>
            </a:extLst>
          </p:cNvPr>
          <p:cNvCxnSpPr>
            <a:stCxn id="493" idx="2"/>
            <a:endCxn id="494" idx="0"/>
          </p:cNvCxnSpPr>
          <p:nvPr/>
        </p:nvCxnSpPr>
        <p:spPr>
          <a:xfrm>
            <a:off x="1508063" y="9029431"/>
            <a:ext cx="0" cy="254817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tailEnd type="triangle"/>
          </a:ln>
          <a:effectLst/>
        </p:spPr>
      </p:cxnSp>
      <p:cxnSp>
        <p:nvCxnSpPr>
          <p:cNvPr id="499" name="꺾인 연결선 138">
            <a:extLst>
              <a:ext uri="{FF2B5EF4-FFF2-40B4-BE49-F238E27FC236}">
                <a16:creationId xmlns:a16="http://schemas.microsoft.com/office/drawing/2014/main" id="{36B8B62C-1556-27E1-1A94-94868CE7D8F1}"/>
              </a:ext>
            </a:extLst>
          </p:cNvPr>
          <p:cNvCxnSpPr>
            <a:stCxn id="492" idx="1"/>
            <a:endCxn id="490" idx="1"/>
          </p:cNvCxnSpPr>
          <p:nvPr/>
        </p:nvCxnSpPr>
        <p:spPr>
          <a:xfrm rot="10800000">
            <a:off x="548681" y="7543850"/>
            <a:ext cx="12700" cy="921708"/>
          </a:xfrm>
          <a:prstGeom prst="bentConnector3">
            <a:avLst>
              <a:gd name="adj1" fmla="val 1800000"/>
            </a:avLst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tailEnd type="triangle"/>
          </a:ln>
          <a:effectLst/>
        </p:spPr>
      </p:cxnSp>
      <p:grpSp>
        <p:nvGrpSpPr>
          <p:cNvPr id="7" name="그룹 6">
            <a:extLst>
              <a:ext uri="{FF2B5EF4-FFF2-40B4-BE49-F238E27FC236}">
                <a16:creationId xmlns:a16="http://schemas.microsoft.com/office/drawing/2014/main" id="{9D923817-14A1-E225-DD21-75D0C0FF2305}"/>
              </a:ext>
            </a:extLst>
          </p:cNvPr>
          <p:cNvGrpSpPr/>
          <p:nvPr/>
        </p:nvGrpSpPr>
        <p:grpSpPr>
          <a:xfrm>
            <a:off x="317654" y="667364"/>
            <a:ext cx="3795422" cy="351189"/>
            <a:chOff x="760846" y="854534"/>
            <a:chExt cx="3795422" cy="35118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5CE58DD-A2DB-ADCF-0C8E-4C3AB07E883D}"/>
                </a:ext>
              </a:extLst>
            </p:cNvPr>
            <p:cNvSpPr txBox="1"/>
            <p:nvPr/>
          </p:nvSpPr>
          <p:spPr>
            <a:xfrm flipH="1">
              <a:off x="1171266" y="891629"/>
              <a:ext cx="338500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r>
                <a:rPr lang="ko-KR" altLang="en-US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사업관리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AB88964C-3E4A-0F78-A43F-38F95434D156}"/>
                </a:ext>
              </a:extLst>
            </p:cNvPr>
            <p:cNvGrpSpPr/>
            <p:nvPr/>
          </p:nvGrpSpPr>
          <p:grpSpPr>
            <a:xfrm>
              <a:off x="760846" y="854534"/>
              <a:ext cx="324620" cy="351189"/>
              <a:chOff x="539750" y="2917808"/>
              <a:chExt cx="526237" cy="526236"/>
            </a:xfrm>
          </p:grpSpPr>
          <p:sp>
            <p:nvSpPr>
              <p:cNvPr id="10" name="모서리가 둥근 직사각형 4">
                <a:extLst>
                  <a:ext uri="{FF2B5EF4-FFF2-40B4-BE49-F238E27FC236}">
                    <a16:creationId xmlns:a16="http://schemas.microsoft.com/office/drawing/2014/main" id="{24023B84-FE64-263D-4D97-338A5CBB5199}"/>
                  </a:ext>
                </a:extLst>
              </p:cNvPr>
              <p:cNvSpPr/>
              <p:nvPr/>
            </p:nvSpPr>
            <p:spPr>
              <a:xfrm>
                <a:off x="539750" y="2917808"/>
                <a:ext cx="526237" cy="526236"/>
              </a:xfrm>
              <a:prstGeom prst="roundRect">
                <a:avLst>
                  <a:gd name="adj" fmla="val 11229"/>
                </a:avLst>
              </a:prstGeom>
              <a:solidFill>
                <a:srgbClr val="00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CA2B317-CDAC-A683-9439-F4DD38018F02}"/>
                  </a:ext>
                </a:extLst>
              </p:cNvPr>
              <p:cNvSpPr txBox="1"/>
              <p:nvPr/>
            </p:nvSpPr>
            <p:spPr>
              <a:xfrm flipH="1">
                <a:off x="636582" y="2952530"/>
                <a:ext cx="338951" cy="46118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#</a:t>
                </a:r>
              </a:p>
            </p:txBody>
          </p:sp>
        </p:grpSp>
      </p:grpSp>
      <p:sp>
        <p:nvSpPr>
          <p:cNvPr id="12" name="Text Box 37">
            <a:extLst>
              <a:ext uri="{FF2B5EF4-FFF2-40B4-BE49-F238E27FC236}">
                <a16:creationId xmlns:a16="http://schemas.microsoft.com/office/drawing/2014/main" id="{FFDB67DC-1C5E-DB41-0A81-11615668D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952" y="1215900"/>
            <a:ext cx="6269248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1pPr>
            <a:lvl2pPr marL="742950" indent="-28575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2pPr>
            <a:lvl3pPr marL="11430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3pPr>
            <a:lvl4pPr marL="16002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4pPr>
            <a:lvl5pPr marL="20574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9pPr>
          </a:lstStyle>
          <a:p>
            <a:pPr eaLnBrk="1" latinLnBrk="0" hangingPunct="1">
              <a:lnSpc>
                <a:spcPct val="120000"/>
              </a:lnSpc>
              <a:defRPr/>
            </a:pP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3.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측정 및 개선</a:t>
            </a:r>
            <a:endParaRPr lang="en-US" altLang="ko-KR" sz="1200" dirty="0">
              <a:solidFill>
                <a:srgbClr val="000000">
                  <a:lumMod val="75000"/>
                  <a:lumOff val="25000"/>
                </a:srgbClr>
              </a:solidFill>
              <a:latin typeface="+mn-ea"/>
              <a:ea typeface="+mn-ea"/>
              <a:cs typeface="Arial" pitchFamily="34" charset="0"/>
            </a:endParaRPr>
          </a:p>
          <a:p>
            <a:pPr eaLnBrk="1" latinLnBrk="0" hangingPunct="1">
              <a:lnSpc>
                <a:spcPct val="120000"/>
              </a:lnSpc>
              <a:defRPr/>
            </a:pP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3.3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서비스 수준 관리 개선 방안</a:t>
            </a:r>
          </a:p>
        </p:txBody>
      </p:sp>
      <p:grpSp>
        <p:nvGrpSpPr>
          <p:cNvPr id="13" name="그룹 215">
            <a:extLst>
              <a:ext uri="{FF2B5EF4-FFF2-40B4-BE49-F238E27FC236}">
                <a16:creationId xmlns:a16="http://schemas.microsoft.com/office/drawing/2014/main" id="{3373BF04-E691-CD16-A208-56D598726707}"/>
              </a:ext>
            </a:extLst>
          </p:cNvPr>
          <p:cNvGrpSpPr>
            <a:grpSpLocks/>
          </p:cNvGrpSpPr>
          <p:nvPr/>
        </p:nvGrpSpPr>
        <p:grpSpPr bwMode="auto">
          <a:xfrm>
            <a:off x="296863" y="1691809"/>
            <a:ext cx="6219825" cy="574295"/>
            <a:chOff x="333374" y="1849606"/>
            <a:chExt cx="6219826" cy="1159040"/>
          </a:xfrm>
        </p:grpSpPr>
        <p:sp>
          <p:nvSpPr>
            <p:cNvPr id="14" name="AutoShape 84">
              <a:extLst>
                <a:ext uri="{FF2B5EF4-FFF2-40B4-BE49-F238E27FC236}">
                  <a16:creationId xmlns:a16="http://schemas.microsoft.com/office/drawing/2014/main" id="{850BA729-5CEE-4850-3146-AE1B5E820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588" y="2018243"/>
              <a:ext cx="5929399" cy="371723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1pPr>
              <a:lvl2pPr marL="742950" indent="-28575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2pPr>
              <a:lvl3pPr marL="1143000" indent="-2286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3pPr>
              <a:lvl4pPr marL="1600200" indent="-2286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4pPr>
              <a:lvl5pPr marL="2057400" indent="-228600" eaLnBrk="0" hangingPunct="0"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pitchFamily="34" charset="0"/>
                  <a:ea typeface="나눔고딕"/>
                  <a:cs typeface="나눔고딕"/>
                </a:defRPr>
              </a:lvl9pPr>
            </a:lstStyle>
            <a:p>
              <a:pPr algn="just" eaLnBrk="1" latinLnBrk="0" hangingPunct="1">
                <a:lnSpc>
                  <a:spcPct val="120000"/>
                </a:lnSpc>
                <a:spcAft>
                  <a:spcPts val="0"/>
                </a:spcAft>
                <a:defRPr/>
              </a:pP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제안사는 고객사의 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SLA 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평가지표에 대한 목표수준을 재정의하고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, 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최저수준에 대한 미달 지표는 서비스개선 프로그램을 실시하여 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SLA</a:t>
              </a:r>
              <a:r>
                <a:rPr lang="ko-KR" altLang="en-US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에 대한 평가 및 관리를 수행합니다</a:t>
              </a:r>
              <a:r>
                <a:rPr lang="en-US" altLang="ko-KR" sz="105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ea"/>
                  <a:ea typeface="+mn-ea"/>
                  <a:cs typeface="Arial" pitchFamily="34" charset="0"/>
                </a:rPr>
                <a:t>.</a:t>
              </a:r>
            </a:p>
          </p:txBody>
        </p:sp>
        <p:grpSp>
          <p:nvGrpSpPr>
            <p:cNvPr id="15" name="그룹 217">
              <a:extLst>
                <a:ext uri="{FF2B5EF4-FFF2-40B4-BE49-F238E27FC236}">
                  <a16:creationId xmlns:a16="http://schemas.microsoft.com/office/drawing/2014/main" id="{10E3BA6A-F145-670E-E8C9-2882A38FBA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3374" y="1849606"/>
              <a:ext cx="6219826" cy="1159040"/>
              <a:chOff x="342900" y="1822561"/>
              <a:chExt cx="6148388" cy="1159040"/>
            </a:xfrm>
          </p:grpSpPr>
          <p:cxnSp>
            <p:nvCxnSpPr>
              <p:cNvPr id="16" name="직선 연결선 15">
                <a:extLst>
                  <a:ext uri="{FF2B5EF4-FFF2-40B4-BE49-F238E27FC236}">
                    <a16:creationId xmlns:a16="http://schemas.microsoft.com/office/drawing/2014/main" id="{A12013D8-609C-03ED-D817-4051BC9005B9}"/>
                  </a:ext>
                </a:extLst>
              </p:cNvPr>
              <p:cNvCxnSpPr/>
              <p:nvPr/>
            </p:nvCxnSpPr>
            <p:spPr>
              <a:xfrm>
                <a:off x="342900" y="1905130"/>
                <a:ext cx="6148388" cy="0"/>
              </a:xfrm>
              <a:prstGeom prst="line">
                <a:avLst/>
              </a:prstGeom>
              <a:ln w="12700">
                <a:solidFill>
                  <a:srgbClr val="ADAD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77D8BF26-CE6F-FF1B-5A9B-BED9701CD25E}"/>
                  </a:ext>
                </a:extLst>
              </p:cNvPr>
              <p:cNvCxnSpPr/>
              <p:nvPr/>
            </p:nvCxnSpPr>
            <p:spPr bwMode="auto">
              <a:xfrm>
                <a:off x="342900" y="1901954"/>
                <a:ext cx="0" cy="1079647"/>
              </a:xfrm>
              <a:prstGeom prst="line">
                <a:avLst/>
              </a:prstGeom>
              <a:ln w="12700">
                <a:solidFill>
                  <a:srgbClr val="ADAD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F3FC3453-2CE8-1B2A-7EBE-F3DEC8072AF6}"/>
                  </a:ext>
                </a:extLst>
              </p:cNvPr>
              <p:cNvCxnSpPr/>
              <p:nvPr/>
            </p:nvCxnSpPr>
            <p:spPr bwMode="auto">
              <a:xfrm>
                <a:off x="6387716" y="1822561"/>
                <a:ext cx="103572" cy="80980"/>
              </a:xfrm>
              <a:prstGeom prst="line">
                <a:avLst/>
              </a:prstGeom>
              <a:ln w="12700">
                <a:solidFill>
                  <a:srgbClr val="ADADA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622110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Box 37"/>
          <p:cNvSpPr txBox="1">
            <a:spLocks noChangeArrowheads="1"/>
          </p:cNvSpPr>
          <p:nvPr/>
        </p:nvSpPr>
        <p:spPr bwMode="auto">
          <a:xfrm>
            <a:off x="283952" y="1215900"/>
            <a:ext cx="6269248" cy="203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1pPr>
            <a:lvl2pPr marL="742950" indent="-28575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2pPr>
            <a:lvl3pPr marL="11430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3pPr>
            <a:lvl4pPr marL="16002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4pPr>
            <a:lvl5pPr marL="20574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9pPr>
          </a:lstStyle>
          <a:p>
            <a:pPr eaLnBrk="1" latinLnBrk="0" hangingPunct="1">
              <a:lnSpc>
                <a:spcPct val="120000"/>
              </a:lnSpc>
              <a:defRPr/>
            </a:pP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서비스 수준 평가표 </a:t>
            </a: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(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예시</a:t>
            </a: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)</a:t>
            </a:r>
            <a:endParaRPr lang="ko-KR" altLang="en-US" sz="1200" dirty="0">
              <a:solidFill>
                <a:srgbClr val="000000">
                  <a:lumMod val="75000"/>
                  <a:lumOff val="25000"/>
                </a:srgbClr>
              </a:solidFill>
              <a:latin typeface="+mn-ea"/>
              <a:ea typeface="+mn-ea"/>
              <a:cs typeface="Arial" pitchFamily="34" charset="0"/>
            </a:endParaRPr>
          </a:p>
        </p:txBody>
      </p:sp>
      <p:grpSp>
        <p:nvGrpSpPr>
          <p:cNvPr id="379" name="그룹 1">
            <a:extLst>
              <a:ext uri="{FF2B5EF4-FFF2-40B4-BE49-F238E27FC236}">
                <a16:creationId xmlns:a16="http://schemas.microsoft.com/office/drawing/2014/main" id="{20C9A1F0-DCFD-E08F-6A54-3AC003095DF2}"/>
              </a:ext>
            </a:extLst>
          </p:cNvPr>
          <p:cNvGrpSpPr>
            <a:grpSpLocks/>
          </p:cNvGrpSpPr>
          <p:nvPr/>
        </p:nvGrpSpPr>
        <p:grpSpPr bwMode="auto">
          <a:xfrm>
            <a:off x="292100" y="1522765"/>
            <a:ext cx="6270625" cy="385763"/>
            <a:chOff x="292100" y="2959098"/>
            <a:chExt cx="6270625" cy="385765"/>
          </a:xfrm>
        </p:grpSpPr>
        <p:grpSp>
          <p:nvGrpSpPr>
            <p:cNvPr id="380" name="그룹 379">
              <a:extLst>
                <a:ext uri="{FF2B5EF4-FFF2-40B4-BE49-F238E27FC236}">
                  <a16:creationId xmlns:a16="http://schemas.microsoft.com/office/drawing/2014/main" id="{E95A62F3-83D4-009C-B29D-EB26A3AF23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100" y="2959098"/>
              <a:ext cx="6270625" cy="385765"/>
              <a:chOff x="334963" y="3573461"/>
              <a:chExt cx="6271218" cy="386316"/>
            </a:xfrm>
          </p:grpSpPr>
          <p:grpSp>
            <p:nvGrpSpPr>
              <p:cNvPr id="382" name="그룹 50">
                <a:extLst>
                  <a:ext uri="{FF2B5EF4-FFF2-40B4-BE49-F238E27FC236}">
                    <a16:creationId xmlns:a16="http://schemas.microsoft.com/office/drawing/2014/main" id="{51C39BFD-6404-92EB-323E-EDF8058A15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4963" y="3573461"/>
                <a:ext cx="6271218" cy="262313"/>
                <a:chOff x="335633" y="3489640"/>
                <a:chExt cx="6270543" cy="262915"/>
              </a:xfrm>
            </p:grpSpPr>
            <p:sp>
              <p:nvSpPr>
                <p:cNvPr id="387" name="직사각형 262">
                  <a:extLst>
                    <a:ext uri="{FF2B5EF4-FFF2-40B4-BE49-F238E27FC236}">
                      <a16:creationId xmlns:a16="http://schemas.microsoft.com/office/drawing/2014/main" id="{2FE9E542-F47C-80E6-0B4C-88545D6763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5633" y="3489640"/>
                  <a:ext cx="6270543" cy="262915"/>
                </a:xfrm>
                <a:prstGeom prst="rect">
                  <a:avLst/>
                </a:prstGeom>
                <a:gradFill flip="none" rotWithShape="1">
                  <a:gsLst>
                    <a:gs pos="33000">
                      <a:srgbClr val="1295EE"/>
                    </a:gs>
                    <a:gs pos="0">
                      <a:srgbClr val="0B629D"/>
                    </a:gs>
                    <a:gs pos="12000">
                      <a:srgbClr val="0E76BC"/>
                    </a:gs>
                  </a:gsLst>
                  <a:lin ang="36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latinLnBrk="0">
                    <a:defRPr/>
                  </a:pPr>
                  <a:endParaRPr lang="ko-KR" altLang="en-US" sz="1000" dirty="0">
                    <a:solidFill>
                      <a:srgbClr val="FFFFFF"/>
                    </a:solidFill>
                    <a:latin typeface="+mn-ea"/>
                    <a:cs typeface="Arial" pitchFamily="34" charset="0"/>
                  </a:endParaRPr>
                </a:p>
              </p:txBody>
            </p:sp>
            <p:cxnSp>
              <p:nvCxnSpPr>
                <p:cNvPr id="388" name="직선 연결선 26">
                  <a:extLst>
                    <a:ext uri="{FF2B5EF4-FFF2-40B4-BE49-F238E27FC236}">
                      <a16:creationId xmlns:a16="http://schemas.microsoft.com/office/drawing/2014/main" id="{249F653A-D072-CD2E-5D42-0D784E46193D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553763" y="3618068"/>
                  <a:ext cx="138933" cy="0"/>
                </a:xfrm>
                <a:prstGeom prst="line">
                  <a:avLst/>
                </a:prstGeom>
                <a:noFill/>
                <a:ln w="12700" algn="ctr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389" name="Text Box 34">
                  <a:extLst>
                    <a:ext uri="{FF2B5EF4-FFF2-40B4-BE49-F238E27FC236}">
                      <a16:creationId xmlns:a16="http://schemas.microsoft.com/office/drawing/2014/main" id="{59A0579A-1EEE-843A-3AD0-ED35284ECAF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gray">
                <a:xfrm>
                  <a:off x="764704" y="3535954"/>
                  <a:ext cx="5697056" cy="1699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0"/>
                  </a:sp3d>
                </a:bodyPr>
                <a:lstStyle>
                  <a:lvl1pPr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1pPr>
                  <a:lvl2pPr marL="742950" indent="-28575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2pPr>
                  <a:lvl3pPr marL="11430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3pPr>
                  <a:lvl4pPr marL="16002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4pPr>
                  <a:lvl5pPr marL="20574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5pPr>
                  <a:lvl6pPr marL="25146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6pPr>
                  <a:lvl7pPr marL="29718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7pPr>
                  <a:lvl8pPr marL="34290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8pPr>
                  <a:lvl9pPr marL="38862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9pPr>
                </a:lstStyle>
                <a:p>
                  <a:pPr eaLnBrk="1" latinLnBrk="0" hangingPunct="1">
                    <a:defRPr/>
                  </a:pPr>
                  <a:r>
                    <a:rPr lang="ko-KR" altLang="en-US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ea"/>
                      <a:ea typeface="+mn-ea"/>
                      <a:cs typeface="Arial" pitchFamily="34" charset="0"/>
                    </a:rPr>
                    <a:t>서비스 수준 평가표 </a:t>
                  </a:r>
                  <a:r>
                    <a:rPr lang="en-US" altLang="ko-KR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ea"/>
                      <a:ea typeface="+mn-ea"/>
                      <a:cs typeface="Arial" pitchFamily="34" charset="0"/>
                    </a:rPr>
                    <a:t>(</a:t>
                  </a:r>
                  <a:r>
                    <a:rPr lang="ko-KR" altLang="en-US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ea"/>
                      <a:ea typeface="+mn-ea"/>
                      <a:cs typeface="Arial" pitchFamily="34" charset="0"/>
                    </a:rPr>
                    <a:t>예시</a:t>
                  </a:r>
                  <a:r>
                    <a:rPr lang="en-US" altLang="ko-KR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ea"/>
                      <a:ea typeface="+mn-ea"/>
                      <a:cs typeface="Arial" pitchFamily="34" charset="0"/>
                    </a:rPr>
                    <a:t>)</a:t>
                  </a:r>
                </a:p>
              </p:txBody>
            </p:sp>
          </p:grpSp>
          <p:grpSp>
            <p:nvGrpSpPr>
              <p:cNvPr id="383" name="그룹 207">
                <a:extLst>
                  <a:ext uri="{FF2B5EF4-FFF2-40B4-BE49-F238E27FC236}">
                    <a16:creationId xmlns:a16="http://schemas.microsoft.com/office/drawing/2014/main" id="{F2DFF7F9-0C3F-4138-351B-AA85BD2DC9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8569" y="3850655"/>
                <a:ext cx="5375678" cy="109122"/>
                <a:chOff x="1048569" y="3850655"/>
                <a:chExt cx="5375678" cy="109122"/>
              </a:xfrm>
            </p:grpSpPr>
            <p:pic>
              <p:nvPicPr>
                <p:cNvPr id="384" name="Picture 24" descr="악세사리">
                  <a:extLst>
                    <a:ext uri="{FF2B5EF4-FFF2-40B4-BE49-F238E27FC236}">
                      <a16:creationId xmlns:a16="http://schemas.microsoft.com/office/drawing/2014/main" id="{09A75D01-09BD-EACA-6E44-02FD74C9CFEC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85" name="Picture 24" descr="악세사리">
                  <a:extLst>
                    <a:ext uri="{FF2B5EF4-FFF2-40B4-BE49-F238E27FC236}">
                      <a16:creationId xmlns:a16="http://schemas.microsoft.com/office/drawing/2014/main" id="{0C70376E-148E-F91D-A8C0-9EB8C174284C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86" name="Picture 24" descr="악세사리">
                  <a:extLst>
                    <a:ext uri="{FF2B5EF4-FFF2-40B4-BE49-F238E27FC236}">
                      <a16:creationId xmlns:a16="http://schemas.microsoft.com/office/drawing/2014/main" id="{04EF89B1-6686-D9EC-F272-655788833FB9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pic>
          <p:nvPicPr>
            <p:cNvPr id="381" name="Picture 184" descr="icon_a01">
              <a:extLst>
                <a:ext uri="{FF2B5EF4-FFF2-40B4-BE49-F238E27FC236}">
                  <a16:creationId xmlns:a16="http://schemas.microsoft.com/office/drawing/2014/main" id="{10BA7D2C-0A3C-99FC-04F0-196D74B20A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94" t="64084" r="6964" b="26581"/>
            <a:stretch>
              <a:fillRect/>
            </a:stretch>
          </p:blipFill>
          <p:spPr bwMode="auto">
            <a:xfrm>
              <a:off x="339725" y="2992438"/>
              <a:ext cx="169863" cy="18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00" name="Rectangle 2">
            <a:extLst>
              <a:ext uri="{FF2B5EF4-FFF2-40B4-BE49-F238E27FC236}">
                <a16:creationId xmlns:a16="http://schemas.microsoft.com/office/drawing/2014/main" id="{37ED0376-E478-F5C8-D421-1C7F4DAD4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50" y="2000250"/>
            <a:ext cx="6337300" cy="7416800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  <a:miter lim="800000"/>
            <a:headEnd/>
            <a:tailEnd/>
          </a:ln>
        </p:spPr>
        <p:txBody>
          <a:bodyPr wrap="none" tIns="180000" bIns="180000"/>
          <a:lstStyle>
            <a:lvl1pPr marL="371475" indent="-219075"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9pPr>
          </a:lstStyle>
          <a:p>
            <a:pPr>
              <a:lnSpc>
                <a:spcPct val="125000"/>
              </a:lnSpc>
              <a:spcBef>
                <a:spcPct val="50000"/>
              </a:spcBef>
              <a:buFont typeface="Wingdings" pitchFamily="2" charset="2"/>
              <a:buChar char="q"/>
            </a:pPr>
            <a:endParaRPr lang="en-US" altLang="ko-KR" sz="1200">
              <a:solidFill>
                <a:srgbClr val="0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ct val="50000"/>
              </a:spcBef>
              <a:buFont typeface="Wingdings" pitchFamily="2" charset="2"/>
              <a:buChar char="q"/>
            </a:pPr>
            <a:endParaRPr lang="en-US" altLang="ko-KR" sz="1200">
              <a:solidFill>
                <a:srgbClr val="0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ct val="50000"/>
              </a:spcBef>
              <a:buFont typeface="Wingdings" pitchFamily="2" charset="2"/>
              <a:buChar char="q"/>
            </a:pPr>
            <a:endParaRPr lang="en-US" altLang="ko-KR" sz="12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501" name="Rectangle 3">
            <a:extLst>
              <a:ext uri="{FF2B5EF4-FFF2-40B4-BE49-F238E27FC236}">
                <a16:creationId xmlns:a16="http://schemas.microsoft.com/office/drawing/2014/main" id="{E4671F24-4414-6E28-1840-8DB9443F6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2153613"/>
            <a:ext cx="592296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9pPr>
          </a:lstStyle>
          <a:p>
            <a:pPr algn="ctr"/>
            <a:r>
              <a:rPr lang="ko-KR" altLang="en-US" sz="1200" u="sng" dirty="0">
                <a:solidFill>
                  <a:srgbClr val="000000"/>
                </a:solidFill>
                <a:latin typeface="+mn-ea"/>
                <a:ea typeface="+mn-ea"/>
              </a:rPr>
              <a:t>서비스 수준 평가표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endParaRPr lang="ko-KR" altLang="en-US" sz="1200" dirty="0">
              <a:latin typeface="+mn-ea"/>
              <a:ea typeface="+mn-ea"/>
            </a:endParaRPr>
          </a:p>
          <a:p>
            <a:pPr eaLnBrk="0" latinLnBrk="0" hangingPunct="0"/>
            <a:br>
              <a:rPr lang="ko-KR" altLang="en-US" sz="1200" u="sng" dirty="0">
                <a:solidFill>
                  <a:srgbClr val="000000"/>
                </a:solidFill>
                <a:latin typeface="+mn-ea"/>
                <a:ea typeface="+mn-ea"/>
              </a:rPr>
            </a:br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</a:rPr>
              <a:t>1. 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대상기간 </a:t>
            </a:r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</a:rPr>
              <a:t>:    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년    월    일  ～    년    월   일 </a:t>
            </a:r>
            <a:endParaRPr lang="ko-KR" altLang="en-US" sz="1200" dirty="0">
              <a:latin typeface="+mn-ea"/>
              <a:ea typeface="+mn-ea"/>
            </a:endParaRPr>
          </a:p>
          <a:p>
            <a:pPr eaLnBrk="0" latinLnBrk="0" hangingPunct="0"/>
            <a:b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</a:br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</a:rPr>
              <a:t>2. 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종합평가 </a:t>
            </a:r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</a:rPr>
              <a:t>: </a:t>
            </a:r>
            <a:endParaRPr lang="en-US" altLang="ko-KR" sz="1200" dirty="0">
              <a:latin typeface="+mn-ea"/>
              <a:ea typeface="+mn-ea"/>
            </a:endParaRPr>
          </a:p>
        </p:txBody>
      </p:sp>
      <p:graphicFrame>
        <p:nvGraphicFramePr>
          <p:cNvPr id="502" name="Group 4">
            <a:extLst>
              <a:ext uri="{FF2B5EF4-FFF2-40B4-BE49-F238E27FC236}">
                <a16:creationId xmlns:a16="http://schemas.microsoft.com/office/drawing/2014/main" id="{C6CD3F56-E4D1-3A61-EB20-B9238FF27E90}"/>
              </a:ext>
            </a:extLst>
          </p:cNvPr>
          <p:cNvGraphicFramePr>
            <a:graphicFrameLocks noGrp="1"/>
          </p:cNvGraphicFramePr>
          <p:nvPr/>
        </p:nvGraphicFramePr>
        <p:xfrm>
          <a:off x="452438" y="3175000"/>
          <a:ext cx="5948362" cy="649923"/>
        </p:xfrm>
        <a:graphic>
          <a:graphicData uri="http://schemas.openxmlformats.org/drawingml/2006/table">
            <a:tbl>
              <a:tblPr/>
              <a:tblGrid>
                <a:gridCol w="665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7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47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77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4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종합평가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점수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1B1EB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</a:t>
                      </a: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점 이상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1B1EB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85</a:t>
                      </a: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～</a:t>
                      </a: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90</a:t>
                      </a: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점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미만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1B1EB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80</a:t>
                      </a: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～</a:t>
                      </a: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85</a:t>
                      </a: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점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미만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1B1EB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75</a:t>
                      </a: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～</a:t>
                      </a: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80</a:t>
                      </a: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점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미만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1B1EB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70</a:t>
                      </a: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～</a:t>
                      </a: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75</a:t>
                      </a: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점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미만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1B1EB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70</a:t>
                      </a: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점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미만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1B1EB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평가등급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S(</a:t>
                      </a: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탁월</a:t>
                      </a: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A(</a:t>
                      </a: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우수</a:t>
                      </a: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kumimoji="1" lang="en-US" altLang="ko-K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B(</a:t>
                      </a: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보통</a:t>
                      </a: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kumimoji="1" lang="en-US" altLang="ko-K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C(</a:t>
                      </a: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미흡</a:t>
                      </a: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kumimoji="1" lang="en-US" altLang="ko-K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D(</a:t>
                      </a: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불량</a:t>
                      </a: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kumimoji="1" lang="en-US" altLang="ko-K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E(</a:t>
                      </a:r>
                      <a:r>
                        <a:rPr kumimoji="1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매우불량</a:t>
                      </a: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3" name="Group 142">
            <a:extLst>
              <a:ext uri="{FF2B5EF4-FFF2-40B4-BE49-F238E27FC236}">
                <a16:creationId xmlns:a16="http://schemas.microsoft.com/office/drawing/2014/main" id="{AABEA391-8E39-02B4-5705-21FDE4B98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877684"/>
              </p:ext>
            </p:extLst>
          </p:nvPr>
        </p:nvGraphicFramePr>
        <p:xfrm>
          <a:off x="452438" y="4305300"/>
          <a:ext cx="5942012" cy="4968878"/>
        </p:xfrm>
        <a:graphic>
          <a:graphicData uri="http://schemas.openxmlformats.org/drawingml/2006/table">
            <a:tbl>
              <a:tblPr/>
              <a:tblGrid>
                <a:gridCol w="89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0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7663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SLA 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항목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1B1EB">
                        <a:alpha val="50195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가중치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1B1EB">
                        <a:alpha val="50195"/>
                      </a:srgbClr>
                    </a:solidFill>
                  </a:tcPr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평 가 수 준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1B1EB">
                        <a:alpha val="5019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평 가 결 과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1B1EB">
                        <a:alpha val="5019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목표수준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이상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달성도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1.0)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1B1EB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목표수준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~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기본수준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달성도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0.85)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1B1EB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기본수준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~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최소수준 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달성도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0.7)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1B1EB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최소수준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이하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달성도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0.55)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1B1EB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측정</a:t>
                      </a:r>
                      <a:b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결과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1B1EB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평가</a:t>
                      </a:r>
                      <a:b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점수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1B1EB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서버가용율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네트워크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가용율</a:t>
                      </a:r>
                      <a:endParaRPr kumimoji="1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</a:t>
                      </a: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DBMS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가용율</a:t>
                      </a:r>
                      <a:endParaRPr kumimoji="1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정보보안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가용율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고객요청처리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납기준수율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4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4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575">
                <a:tc gridSpan="7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ACAE4">
                        <a:alpha val="5019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04" name="Rectangle 128">
            <a:extLst>
              <a:ext uri="{FF2B5EF4-FFF2-40B4-BE49-F238E27FC236}">
                <a16:creationId xmlns:a16="http://schemas.microsoft.com/office/drawing/2014/main" id="{CF3557DF-2C59-F0AF-B0C4-D376F9C9A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813" y="3836988"/>
            <a:ext cx="6048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산돌명조 M" pitchFamily="18" charset="-127"/>
                <a:ea typeface="산돌명조 M" pitchFamily="18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  <a:latin typeface="+mn-ea"/>
                <a:ea typeface="+mn-ea"/>
              </a:rPr>
              <a:t>3. SLA </a:t>
            </a:r>
            <a:r>
              <a:rPr lang="ko-KR" altLang="en-US" sz="1200">
                <a:solidFill>
                  <a:srgbClr val="000000"/>
                </a:solidFill>
                <a:latin typeface="+mn-ea"/>
                <a:ea typeface="+mn-ea"/>
              </a:rPr>
              <a:t>항목별 평가</a:t>
            </a:r>
            <a:r>
              <a:rPr lang="ko-KR" altLang="en-US" sz="1200">
                <a:solidFill>
                  <a:srgbClr val="000000"/>
                </a:solidFill>
                <a:latin typeface="+mn-ea"/>
                <a:ea typeface="+mn-ea"/>
                <a:cs typeface="한양신명조"/>
              </a:rPr>
              <a:t> </a:t>
            </a:r>
            <a:endParaRPr lang="ko-KR" altLang="en-US" sz="1200">
              <a:latin typeface="+mn-ea"/>
              <a:ea typeface="+mn-ea"/>
            </a:endParaRPr>
          </a:p>
          <a:p>
            <a:pPr algn="r" eaLnBrk="0" latinLnBrk="0" hangingPunct="0"/>
            <a:r>
              <a:rPr lang="en-US" altLang="ko-KR" sz="120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200">
                <a:solidFill>
                  <a:srgbClr val="000000"/>
                </a:solidFill>
                <a:latin typeface="+mn-ea"/>
                <a:ea typeface="+mn-ea"/>
              </a:rPr>
              <a:t>측정기준</a:t>
            </a:r>
            <a:r>
              <a:rPr lang="en-US" altLang="ko-KR" sz="1200">
                <a:solidFill>
                  <a:srgbClr val="000000"/>
                </a:solidFill>
                <a:latin typeface="+mn-ea"/>
                <a:ea typeface="+mn-ea"/>
              </a:rPr>
              <a:t>:</a:t>
            </a:r>
            <a:r>
              <a:rPr lang="ko-KR" altLang="en-US" sz="1200">
                <a:solidFill>
                  <a:srgbClr val="000000"/>
                </a:solidFill>
                <a:latin typeface="+mn-ea"/>
                <a:ea typeface="+mn-ea"/>
              </a:rPr>
              <a:t>월</a:t>
            </a:r>
            <a:r>
              <a:rPr lang="en-US" altLang="ko-KR" sz="1200">
                <a:solidFill>
                  <a:srgbClr val="000000"/>
                </a:solidFill>
                <a:latin typeface="+mn-ea"/>
                <a:ea typeface="+mn-ea"/>
              </a:rPr>
              <a:t>)</a:t>
            </a:r>
            <a:endParaRPr lang="en-US" altLang="ko-KR" sz="1200">
              <a:latin typeface="+mn-ea"/>
              <a:ea typeface="+mn-ea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717F1E1E-930F-1368-6322-8F30DAF83A11}"/>
              </a:ext>
            </a:extLst>
          </p:cNvPr>
          <p:cNvGrpSpPr/>
          <p:nvPr/>
        </p:nvGrpSpPr>
        <p:grpSpPr>
          <a:xfrm>
            <a:off x="317654" y="667364"/>
            <a:ext cx="3795422" cy="351189"/>
            <a:chOff x="760846" y="854534"/>
            <a:chExt cx="3795422" cy="35118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E5628DE-BB2C-9A5A-0855-DD7FBD100CE6}"/>
                </a:ext>
              </a:extLst>
            </p:cNvPr>
            <p:cNvSpPr txBox="1"/>
            <p:nvPr/>
          </p:nvSpPr>
          <p:spPr>
            <a:xfrm flipH="1">
              <a:off x="1171266" y="891629"/>
              <a:ext cx="338500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r>
                <a:rPr lang="en-US" altLang="ko-KR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SLA </a:t>
              </a:r>
              <a:r>
                <a:rPr lang="ko-KR" altLang="en-US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예시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1B0DD281-19B3-84F2-50CD-B69206DC857F}"/>
                </a:ext>
              </a:extLst>
            </p:cNvPr>
            <p:cNvGrpSpPr/>
            <p:nvPr/>
          </p:nvGrpSpPr>
          <p:grpSpPr>
            <a:xfrm>
              <a:off x="760846" y="854534"/>
              <a:ext cx="324620" cy="351189"/>
              <a:chOff x="539750" y="2917808"/>
              <a:chExt cx="526237" cy="526236"/>
            </a:xfrm>
          </p:grpSpPr>
          <p:sp>
            <p:nvSpPr>
              <p:cNvPr id="10" name="모서리가 둥근 직사각형 4">
                <a:extLst>
                  <a:ext uri="{FF2B5EF4-FFF2-40B4-BE49-F238E27FC236}">
                    <a16:creationId xmlns:a16="http://schemas.microsoft.com/office/drawing/2014/main" id="{2D8D30C0-156F-69D0-3CB3-290D1D47226E}"/>
                  </a:ext>
                </a:extLst>
              </p:cNvPr>
              <p:cNvSpPr/>
              <p:nvPr/>
            </p:nvSpPr>
            <p:spPr>
              <a:xfrm>
                <a:off x="539750" y="2917808"/>
                <a:ext cx="526237" cy="526236"/>
              </a:xfrm>
              <a:prstGeom prst="roundRect">
                <a:avLst>
                  <a:gd name="adj" fmla="val 11229"/>
                </a:avLst>
              </a:prstGeom>
              <a:solidFill>
                <a:srgbClr val="00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F98A2D-14F7-D810-917C-9A689E494AE3}"/>
                  </a:ext>
                </a:extLst>
              </p:cNvPr>
              <p:cNvSpPr txBox="1"/>
              <p:nvPr/>
            </p:nvSpPr>
            <p:spPr>
              <a:xfrm flipH="1">
                <a:off x="636582" y="2952530"/>
                <a:ext cx="338951" cy="46118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#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67267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Box 37"/>
          <p:cNvSpPr txBox="1">
            <a:spLocks noChangeArrowheads="1"/>
          </p:cNvSpPr>
          <p:nvPr/>
        </p:nvSpPr>
        <p:spPr bwMode="auto">
          <a:xfrm>
            <a:off x="283952" y="1215900"/>
            <a:ext cx="6269248" cy="203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1pPr>
            <a:lvl2pPr marL="742950" indent="-28575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2pPr>
            <a:lvl3pPr marL="11430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3pPr>
            <a:lvl4pPr marL="16002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4pPr>
            <a:lvl5pPr marL="20574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9pPr>
          </a:lstStyle>
          <a:p>
            <a:pPr eaLnBrk="1" latinLnBrk="0" hangingPunct="1">
              <a:lnSpc>
                <a:spcPct val="120000"/>
              </a:lnSpc>
              <a:defRPr/>
            </a:pP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SLA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성과측정지표 정의서</a:t>
            </a: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(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예시</a:t>
            </a: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) (1/4)</a:t>
            </a:r>
            <a:endParaRPr lang="ko-KR" altLang="en-US" sz="1200" dirty="0">
              <a:solidFill>
                <a:srgbClr val="000000">
                  <a:lumMod val="75000"/>
                  <a:lumOff val="25000"/>
                </a:srgbClr>
              </a:solidFill>
              <a:latin typeface="+mn-ea"/>
              <a:ea typeface="+mn-ea"/>
              <a:cs typeface="Arial" pitchFamily="34" charset="0"/>
            </a:endParaRPr>
          </a:p>
        </p:txBody>
      </p:sp>
      <p:grpSp>
        <p:nvGrpSpPr>
          <p:cNvPr id="379" name="그룹 1">
            <a:extLst>
              <a:ext uri="{FF2B5EF4-FFF2-40B4-BE49-F238E27FC236}">
                <a16:creationId xmlns:a16="http://schemas.microsoft.com/office/drawing/2014/main" id="{20C9A1F0-DCFD-E08F-6A54-3AC003095DF2}"/>
              </a:ext>
            </a:extLst>
          </p:cNvPr>
          <p:cNvGrpSpPr>
            <a:grpSpLocks/>
          </p:cNvGrpSpPr>
          <p:nvPr/>
        </p:nvGrpSpPr>
        <p:grpSpPr bwMode="auto">
          <a:xfrm>
            <a:off x="292100" y="1522765"/>
            <a:ext cx="6270625" cy="385763"/>
            <a:chOff x="292100" y="2959098"/>
            <a:chExt cx="6270625" cy="385765"/>
          </a:xfrm>
        </p:grpSpPr>
        <p:grpSp>
          <p:nvGrpSpPr>
            <p:cNvPr id="380" name="그룹 379">
              <a:extLst>
                <a:ext uri="{FF2B5EF4-FFF2-40B4-BE49-F238E27FC236}">
                  <a16:creationId xmlns:a16="http://schemas.microsoft.com/office/drawing/2014/main" id="{E95A62F3-83D4-009C-B29D-EB26A3AF23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100" y="2959098"/>
              <a:ext cx="6270625" cy="385765"/>
              <a:chOff x="334963" y="3573461"/>
              <a:chExt cx="6271218" cy="386316"/>
            </a:xfrm>
          </p:grpSpPr>
          <p:grpSp>
            <p:nvGrpSpPr>
              <p:cNvPr id="382" name="그룹 50">
                <a:extLst>
                  <a:ext uri="{FF2B5EF4-FFF2-40B4-BE49-F238E27FC236}">
                    <a16:creationId xmlns:a16="http://schemas.microsoft.com/office/drawing/2014/main" id="{51C39BFD-6404-92EB-323E-EDF8058A15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4963" y="3573461"/>
                <a:ext cx="6271218" cy="262313"/>
                <a:chOff x="335633" y="3489640"/>
                <a:chExt cx="6270543" cy="262915"/>
              </a:xfrm>
            </p:grpSpPr>
            <p:sp>
              <p:nvSpPr>
                <p:cNvPr id="387" name="직사각형 262">
                  <a:extLst>
                    <a:ext uri="{FF2B5EF4-FFF2-40B4-BE49-F238E27FC236}">
                      <a16:creationId xmlns:a16="http://schemas.microsoft.com/office/drawing/2014/main" id="{2FE9E542-F47C-80E6-0B4C-88545D6763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5633" y="3489640"/>
                  <a:ext cx="6270543" cy="262915"/>
                </a:xfrm>
                <a:prstGeom prst="rect">
                  <a:avLst/>
                </a:prstGeom>
                <a:gradFill flip="none" rotWithShape="1">
                  <a:gsLst>
                    <a:gs pos="33000">
                      <a:srgbClr val="1295EE"/>
                    </a:gs>
                    <a:gs pos="0">
                      <a:srgbClr val="0B629D"/>
                    </a:gs>
                    <a:gs pos="12000">
                      <a:srgbClr val="0E76BC"/>
                    </a:gs>
                  </a:gsLst>
                  <a:lin ang="36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latinLnBrk="0">
                    <a:defRPr/>
                  </a:pPr>
                  <a:endParaRPr lang="ko-KR" altLang="en-US" sz="1000" dirty="0">
                    <a:solidFill>
                      <a:srgbClr val="FFFFFF"/>
                    </a:solidFill>
                    <a:latin typeface="+mn-ea"/>
                    <a:cs typeface="Arial" pitchFamily="34" charset="0"/>
                  </a:endParaRPr>
                </a:p>
              </p:txBody>
            </p:sp>
            <p:cxnSp>
              <p:nvCxnSpPr>
                <p:cNvPr id="388" name="직선 연결선 26">
                  <a:extLst>
                    <a:ext uri="{FF2B5EF4-FFF2-40B4-BE49-F238E27FC236}">
                      <a16:creationId xmlns:a16="http://schemas.microsoft.com/office/drawing/2014/main" id="{249F653A-D072-CD2E-5D42-0D784E46193D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553763" y="3618068"/>
                  <a:ext cx="138933" cy="0"/>
                </a:xfrm>
                <a:prstGeom prst="line">
                  <a:avLst/>
                </a:prstGeom>
                <a:noFill/>
                <a:ln w="12700" algn="ctr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389" name="Text Box 34">
                  <a:extLst>
                    <a:ext uri="{FF2B5EF4-FFF2-40B4-BE49-F238E27FC236}">
                      <a16:creationId xmlns:a16="http://schemas.microsoft.com/office/drawing/2014/main" id="{59A0579A-1EEE-843A-3AD0-ED35284ECAF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gray">
                <a:xfrm>
                  <a:off x="764704" y="3535954"/>
                  <a:ext cx="5697056" cy="1699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0"/>
                  </a:sp3d>
                </a:bodyPr>
                <a:lstStyle>
                  <a:lvl1pPr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1pPr>
                  <a:lvl2pPr marL="742950" indent="-28575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2pPr>
                  <a:lvl3pPr marL="11430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3pPr>
                  <a:lvl4pPr marL="16002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4pPr>
                  <a:lvl5pPr marL="20574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5pPr>
                  <a:lvl6pPr marL="25146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6pPr>
                  <a:lvl7pPr marL="29718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7pPr>
                  <a:lvl8pPr marL="34290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8pPr>
                  <a:lvl9pPr marL="38862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9pPr>
                </a:lstStyle>
                <a:p>
                  <a:pPr eaLnBrk="1" latinLnBrk="0" hangingPunct="1">
                    <a:defRPr/>
                  </a:pPr>
                  <a:r>
                    <a:rPr lang="en-US" altLang="ko-KR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ea"/>
                      <a:ea typeface="+mn-ea"/>
                      <a:cs typeface="Arial" pitchFamily="34" charset="0"/>
                    </a:rPr>
                    <a:t>SLA </a:t>
                  </a:r>
                  <a:r>
                    <a:rPr lang="ko-KR" altLang="en-US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ea"/>
                      <a:ea typeface="+mn-ea"/>
                      <a:cs typeface="Arial" pitchFamily="34" charset="0"/>
                    </a:rPr>
                    <a:t>성과측정지표 정의서</a:t>
                  </a:r>
                </a:p>
              </p:txBody>
            </p:sp>
          </p:grpSp>
          <p:grpSp>
            <p:nvGrpSpPr>
              <p:cNvPr id="383" name="그룹 207">
                <a:extLst>
                  <a:ext uri="{FF2B5EF4-FFF2-40B4-BE49-F238E27FC236}">
                    <a16:creationId xmlns:a16="http://schemas.microsoft.com/office/drawing/2014/main" id="{F2DFF7F9-0C3F-4138-351B-AA85BD2DC9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8569" y="3850655"/>
                <a:ext cx="5375678" cy="109122"/>
                <a:chOff x="1048569" y="3850655"/>
                <a:chExt cx="5375678" cy="109122"/>
              </a:xfrm>
            </p:grpSpPr>
            <p:pic>
              <p:nvPicPr>
                <p:cNvPr id="384" name="Picture 24" descr="악세사리">
                  <a:extLst>
                    <a:ext uri="{FF2B5EF4-FFF2-40B4-BE49-F238E27FC236}">
                      <a16:creationId xmlns:a16="http://schemas.microsoft.com/office/drawing/2014/main" id="{09A75D01-09BD-EACA-6E44-02FD74C9CFEC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85" name="Picture 24" descr="악세사리">
                  <a:extLst>
                    <a:ext uri="{FF2B5EF4-FFF2-40B4-BE49-F238E27FC236}">
                      <a16:creationId xmlns:a16="http://schemas.microsoft.com/office/drawing/2014/main" id="{0C70376E-148E-F91D-A8C0-9EB8C174284C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86" name="Picture 24" descr="악세사리">
                  <a:extLst>
                    <a:ext uri="{FF2B5EF4-FFF2-40B4-BE49-F238E27FC236}">
                      <a16:creationId xmlns:a16="http://schemas.microsoft.com/office/drawing/2014/main" id="{04EF89B1-6686-D9EC-F272-655788833FB9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pic>
          <p:nvPicPr>
            <p:cNvPr id="381" name="Picture 184" descr="icon_a01">
              <a:extLst>
                <a:ext uri="{FF2B5EF4-FFF2-40B4-BE49-F238E27FC236}">
                  <a16:creationId xmlns:a16="http://schemas.microsoft.com/office/drawing/2014/main" id="{10BA7D2C-0A3C-99FC-04F0-196D74B20A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94" t="64084" r="6964" b="26581"/>
            <a:stretch>
              <a:fillRect/>
            </a:stretch>
          </p:blipFill>
          <p:spPr bwMode="auto">
            <a:xfrm>
              <a:off x="339725" y="2992438"/>
              <a:ext cx="169863" cy="18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506" name="Group 109">
            <a:extLst>
              <a:ext uri="{FF2B5EF4-FFF2-40B4-BE49-F238E27FC236}">
                <a16:creationId xmlns:a16="http://schemas.microsoft.com/office/drawing/2014/main" id="{35A9B8DB-EAD4-F0EB-10FB-F055E423CE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4691339"/>
              </p:ext>
            </p:extLst>
          </p:nvPr>
        </p:nvGraphicFramePr>
        <p:xfrm>
          <a:off x="260350" y="2000250"/>
          <a:ext cx="6337300" cy="7416804"/>
        </p:xfrm>
        <a:graphic>
          <a:graphicData uri="http://schemas.openxmlformats.org/drawingml/2006/table">
            <a:tbl>
              <a:tblPr/>
              <a:tblGrid>
                <a:gridCol w="865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2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6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 분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1B1EB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 용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1B1EB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 표 명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서버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가용율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목적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서버를 최적의 상태로 운용함으로써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서버 가용율을 상승시켜 지속적인 서비스 제공을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목적으로 한다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 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3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정의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서버 가용율이란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서버가 정상적으로 작동하여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모든 사용자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서버관리자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서버운영자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개발자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서비스 운영자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최종 사용자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 서버를 사용할 수 있고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서버 위에 구동되는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OS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와 서비스가 정상적으로 구동되는 시간의 비율을 말한다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b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즉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서버 정상 구동 시간에서 장애시간을 뺌으로써 서버 가용율을 산출한다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l"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서버에 대한 가용율은 개별적으로 산정한다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l"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가용율의 단위는 소수점 이하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X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자리까지 산정한다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(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반올림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l"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장애란 서비스에 영향을 미칠수 있는 모든 경우를 말한다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l"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이중화가 되어 있어 서비스에 영향이 없는 장애도 서버 관점에서는 장애로 간주한다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 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산출식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 – {(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장애시간 합계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분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))/ 60*24*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운영일수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}}*100 } 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적용시간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24 * 7 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32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측정대상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서버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(DB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서버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WEB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서버 등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l"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개발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유휴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테스트 서버 등은 가용율 산정 시 제외된다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 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8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측정방법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통합모니터링 서버에서 시스템 별로 측정한다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l"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서비스데스크에 책정된 서버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CI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 장애시간 추출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l"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모니터링에 의한 자동 장애 등록 및 수동 장애 입력 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68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측정주기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매월 첫째 날부터 마지막 날까지 월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 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0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보고주기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매월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목표수준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고객과 협의 후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8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최소수준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고객과 협의 후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92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적용조건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4625" indent="-174625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4460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174625" marR="0" lvl="0" indent="-17462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 서비스수준은 서비스에 투입되고 통합 모니터링 서버로 성능을 측정 가능한 서버에 </a:t>
                      </a:r>
                    </a:p>
                    <a:p>
                      <a:pPr marL="174625" marR="0" lvl="0" indent="-17462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대해서만 유효하며 상호 합의하에 아래와 같은 경우는 대상에서 제외한다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446088" marR="0" lvl="1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l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서비스 팀의 요청으로 시스템이 중단된 경우</a:t>
                      </a:r>
                    </a:p>
                    <a:p>
                      <a:pPr marL="446088" marR="0" lvl="1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l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계획된 작업에 의하여 시스템이 중단된 경우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서버 유지보수 및 점검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174625" marR="0" lvl="0" indent="-17462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 서비스평가 항목에 대한 보고일자는 “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사용자”와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사전 합의하에 정한다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174625" marR="0" lvl="0" indent="-17462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월 중간에 투입된 서버는 당월 측정대상에서는 제외되며 익월 측정 대상부터 포함한다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174625" marR="0" lvl="0" indent="-17462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월별로 정보시스템 통합유지보수 및 위탁운영에 대한 정확한 대상을 사전에 검토하여 진행한다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AB09DE66-9326-EF37-FC96-187F18F7290E}"/>
              </a:ext>
            </a:extLst>
          </p:cNvPr>
          <p:cNvGrpSpPr/>
          <p:nvPr/>
        </p:nvGrpSpPr>
        <p:grpSpPr>
          <a:xfrm>
            <a:off x="317654" y="667364"/>
            <a:ext cx="3795422" cy="351189"/>
            <a:chOff x="760846" y="854534"/>
            <a:chExt cx="3795422" cy="35118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BD93585-A6A8-9FD3-ED33-059094841F4F}"/>
                </a:ext>
              </a:extLst>
            </p:cNvPr>
            <p:cNvSpPr txBox="1"/>
            <p:nvPr/>
          </p:nvSpPr>
          <p:spPr>
            <a:xfrm flipH="1">
              <a:off x="1171266" y="891629"/>
              <a:ext cx="338500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r>
                <a:rPr lang="en-US" altLang="ko-KR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SLA </a:t>
              </a:r>
              <a:r>
                <a:rPr lang="ko-KR" altLang="en-US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예시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8E463409-C577-E34C-BC42-7911EAD23E30}"/>
                </a:ext>
              </a:extLst>
            </p:cNvPr>
            <p:cNvGrpSpPr/>
            <p:nvPr/>
          </p:nvGrpSpPr>
          <p:grpSpPr>
            <a:xfrm>
              <a:off x="760846" y="854534"/>
              <a:ext cx="324620" cy="351189"/>
              <a:chOff x="539750" y="2917808"/>
              <a:chExt cx="526237" cy="526236"/>
            </a:xfrm>
          </p:grpSpPr>
          <p:sp>
            <p:nvSpPr>
              <p:cNvPr id="10" name="모서리가 둥근 직사각형 4">
                <a:extLst>
                  <a:ext uri="{FF2B5EF4-FFF2-40B4-BE49-F238E27FC236}">
                    <a16:creationId xmlns:a16="http://schemas.microsoft.com/office/drawing/2014/main" id="{43075641-DB8D-2118-EF2B-7B45EBA72C20}"/>
                  </a:ext>
                </a:extLst>
              </p:cNvPr>
              <p:cNvSpPr/>
              <p:nvPr/>
            </p:nvSpPr>
            <p:spPr>
              <a:xfrm>
                <a:off x="539750" y="2917808"/>
                <a:ext cx="526237" cy="526236"/>
              </a:xfrm>
              <a:prstGeom prst="roundRect">
                <a:avLst>
                  <a:gd name="adj" fmla="val 11229"/>
                </a:avLst>
              </a:prstGeom>
              <a:solidFill>
                <a:srgbClr val="00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F021CE-F825-0599-8672-0DEC7A6F3E45}"/>
                  </a:ext>
                </a:extLst>
              </p:cNvPr>
              <p:cNvSpPr txBox="1"/>
              <p:nvPr/>
            </p:nvSpPr>
            <p:spPr>
              <a:xfrm flipH="1">
                <a:off x="636582" y="2952530"/>
                <a:ext cx="338951" cy="46118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#</a:t>
                </a:r>
              </a:p>
            </p:txBody>
          </p:sp>
        </p:grpSp>
      </p:grpSp>
      <p:sp>
        <p:nvSpPr>
          <p:cNvPr id="12" name="Rectangle 42">
            <a:extLst>
              <a:ext uri="{FF2B5EF4-FFF2-40B4-BE49-F238E27FC236}">
                <a16:creationId xmlns:a16="http://schemas.microsoft.com/office/drawing/2014/main" id="{F295C2B4-6813-CAF5-4987-F6C08636B77C}"/>
              </a:ext>
            </a:extLst>
          </p:cNvPr>
          <p:cNvSpPr>
            <a:spLocks noChangeArrowheads="1"/>
          </p:cNvSpPr>
          <p:nvPr/>
        </p:nvSpPr>
        <p:spPr bwMode="auto">
          <a:xfrm rot="19800000">
            <a:off x="2241426" y="4398206"/>
            <a:ext cx="1943100" cy="450850"/>
          </a:xfrm>
          <a:prstGeom prst="rect">
            <a:avLst/>
          </a:prstGeom>
          <a:solidFill>
            <a:schemeClr val="bg1">
              <a:alpha val="30000"/>
            </a:schemeClr>
          </a:solidFill>
          <a:ln w="57150" cmpd="thinThick" algn="ctr">
            <a:solidFill>
              <a:srgbClr val="C54426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rgbClr val="C54426"/>
                </a:solidFill>
                <a:latin typeface="+mn-ea"/>
                <a:ea typeface="+mn-ea"/>
              </a:rPr>
              <a:t>예 시</a:t>
            </a:r>
          </a:p>
        </p:txBody>
      </p:sp>
    </p:spTree>
    <p:extLst>
      <p:ext uri="{BB962C8B-B14F-4D97-AF65-F5344CB8AC3E}">
        <p14:creationId xmlns:p14="http://schemas.microsoft.com/office/powerpoint/2010/main" val="2292410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Box 37"/>
          <p:cNvSpPr txBox="1">
            <a:spLocks noChangeArrowheads="1"/>
          </p:cNvSpPr>
          <p:nvPr/>
        </p:nvSpPr>
        <p:spPr bwMode="auto">
          <a:xfrm>
            <a:off x="283952" y="1215900"/>
            <a:ext cx="6269248" cy="203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1pPr>
            <a:lvl2pPr marL="742950" indent="-28575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2pPr>
            <a:lvl3pPr marL="11430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3pPr>
            <a:lvl4pPr marL="16002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4pPr>
            <a:lvl5pPr marL="20574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9pPr>
          </a:lstStyle>
          <a:p>
            <a:pPr eaLnBrk="1" latinLnBrk="0" hangingPunct="1">
              <a:lnSpc>
                <a:spcPct val="120000"/>
              </a:lnSpc>
              <a:defRPr/>
            </a:pP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SLA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성과측정지표 정의서</a:t>
            </a: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(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예시</a:t>
            </a: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) (2/4)</a:t>
            </a:r>
            <a:endParaRPr lang="ko-KR" altLang="en-US" sz="1200" dirty="0">
              <a:solidFill>
                <a:srgbClr val="000000">
                  <a:lumMod val="75000"/>
                  <a:lumOff val="25000"/>
                </a:srgbClr>
              </a:solidFill>
              <a:latin typeface="+mn-ea"/>
              <a:ea typeface="+mn-ea"/>
              <a:cs typeface="Arial" pitchFamily="34" charset="0"/>
            </a:endParaRPr>
          </a:p>
        </p:txBody>
      </p:sp>
      <p:grpSp>
        <p:nvGrpSpPr>
          <p:cNvPr id="379" name="그룹 1">
            <a:extLst>
              <a:ext uri="{FF2B5EF4-FFF2-40B4-BE49-F238E27FC236}">
                <a16:creationId xmlns:a16="http://schemas.microsoft.com/office/drawing/2014/main" id="{20C9A1F0-DCFD-E08F-6A54-3AC003095DF2}"/>
              </a:ext>
            </a:extLst>
          </p:cNvPr>
          <p:cNvGrpSpPr>
            <a:grpSpLocks/>
          </p:cNvGrpSpPr>
          <p:nvPr/>
        </p:nvGrpSpPr>
        <p:grpSpPr bwMode="auto">
          <a:xfrm>
            <a:off x="292100" y="1522765"/>
            <a:ext cx="6270625" cy="385763"/>
            <a:chOff x="292100" y="2959098"/>
            <a:chExt cx="6270625" cy="385765"/>
          </a:xfrm>
        </p:grpSpPr>
        <p:grpSp>
          <p:nvGrpSpPr>
            <p:cNvPr id="380" name="그룹 379">
              <a:extLst>
                <a:ext uri="{FF2B5EF4-FFF2-40B4-BE49-F238E27FC236}">
                  <a16:creationId xmlns:a16="http://schemas.microsoft.com/office/drawing/2014/main" id="{E95A62F3-83D4-009C-B29D-EB26A3AF23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100" y="2959098"/>
              <a:ext cx="6270625" cy="385765"/>
              <a:chOff x="334963" y="3573461"/>
              <a:chExt cx="6271218" cy="386316"/>
            </a:xfrm>
          </p:grpSpPr>
          <p:grpSp>
            <p:nvGrpSpPr>
              <p:cNvPr id="382" name="그룹 50">
                <a:extLst>
                  <a:ext uri="{FF2B5EF4-FFF2-40B4-BE49-F238E27FC236}">
                    <a16:creationId xmlns:a16="http://schemas.microsoft.com/office/drawing/2014/main" id="{51C39BFD-6404-92EB-323E-EDF8058A15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4963" y="3573461"/>
                <a:ext cx="6271218" cy="262313"/>
                <a:chOff x="335633" y="3489640"/>
                <a:chExt cx="6270543" cy="262915"/>
              </a:xfrm>
            </p:grpSpPr>
            <p:sp>
              <p:nvSpPr>
                <p:cNvPr id="387" name="직사각형 262">
                  <a:extLst>
                    <a:ext uri="{FF2B5EF4-FFF2-40B4-BE49-F238E27FC236}">
                      <a16:creationId xmlns:a16="http://schemas.microsoft.com/office/drawing/2014/main" id="{2FE9E542-F47C-80E6-0B4C-88545D6763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5633" y="3489640"/>
                  <a:ext cx="6270543" cy="262915"/>
                </a:xfrm>
                <a:prstGeom prst="rect">
                  <a:avLst/>
                </a:prstGeom>
                <a:gradFill flip="none" rotWithShape="1">
                  <a:gsLst>
                    <a:gs pos="33000">
                      <a:srgbClr val="1295EE"/>
                    </a:gs>
                    <a:gs pos="0">
                      <a:srgbClr val="0B629D"/>
                    </a:gs>
                    <a:gs pos="12000">
                      <a:srgbClr val="0E76BC"/>
                    </a:gs>
                  </a:gsLst>
                  <a:lin ang="36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latinLnBrk="0">
                    <a:defRPr/>
                  </a:pPr>
                  <a:endParaRPr lang="ko-KR" altLang="en-US" sz="1000" dirty="0">
                    <a:solidFill>
                      <a:srgbClr val="FFFFFF"/>
                    </a:solidFill>
                    <a:latin typeface="+mn-ea"/>
                    <a:cs typeface="Arial" pitchFamily="34" charset="0"/>
                  </a:endParaRPr>
                </a:p>
              </p:txBody>
            </p:sp>
            <p:cxnSp>
              <p:nvCxnSpPr>
                <p:cNvPr id="388" name="직선 연결선 26">
                  <a:extLst>
                    <a:ext uri="{FF2B5EF4-FFF2-40B4-BE49-F238E27FC236}">
                      <a16:creationId xmlns:a16="http://schemas.microsoft.com/office/drawing/2014/main" id="{249F653A-D072-CD2E-5D42-0D784E46193D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553763" y="3618068"/>
                  <a:ext cx="138933" cy="0"/>
                </a:xfrm>
                <a:prstGeom prst="line">
                  <a:avLst/>
                </a:prstGeom>
                <a:noFill/>
                <a:ln w="12700" algn="ctr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389" name="Text Box 34">
                  <a:extLst>
                    <a:ext uri="{FF2B5EF4-FFF2-40B4-BE49-F238E27FC236}">
                      <a16:creationId xmlns:a16="http://schemas.microsoft.com/office/drawing/2014/main" id="{59A0579A-1EEE-843A-3AD0-ED35284ECAF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gray">
                <a:xfrm>
                  <a:off x="764704" y="3535954"/>
                  <a:ext cx="5697056" cy="1699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0"/>
                  </a:sp3d>
                </a:bodyPr>
                <a:lstStyle>
                  <a:lvl1pPr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1pPr>
                  <a:lvl2pPr marL="742950" indent="-28575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2pPr>
                  <a:lvl3pPr marL="11430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3pPr>
                  <a:lvl4pPr marL="16002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4pPr>
                  <a:lvl5pPr marL="20574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5pPr>
                  <a:lvl6pPr marL="25146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6pPr>
                  <a:lvl7pPr marL="29718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7pPr>
                  <a:lvl8pPr marL="34290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8pPr>
                  <a:lvl9pPr marL="38862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9pPr>
                </a:lstStyle>
                <a:p>
                  <a:pPr eaLnBrk="1" latinLnBrk="0" hangingPunct="1">
                    <a:defRPr/>
                  </a:pPr>
                  <a:r>
                    <a:rPr lang="en-US" altLang="ko-KR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ea"/>
                      <a:ea typeface="+mn-ea"/>
                      <a:cs typeface="Arial" pitchFamily="34" charset="0"/>
                    </a:rPr>
                    <a:t>SLA </a:t>
                  </a:r>
                  <a:r>
                    <a:rPr lang="ko-KR" altLang="en-US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ea"/>
                      <a:ea typeface="+mn-ea"/>
                      <a:cs typeface="Arial" pitchFamily="34" charset="0"/>
                    </a:rPr>
                    <a:t>성과측정지표 정의서</a:t>
                  </a:r>
                </a:p>
              </p:txBody>
            </p:sp>
          </p:grpSp>
          <p:grpSp>
            <p:nvGrpSpPr>
              <p:cNvPr id="383" name="그룹 207">
                <a:extLst>
                  <a:ext uri="{FF2B5EF4-FFF2-40B4-BE49-F238E27FC236}">
                    <a16:creationId xmlns:a16="http://schemas.microsoft.com/office/drawing/2014/main" id="{F2DFF7F9-0C3F-4138-351B-AA85BD2DC9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8569" y="3850655"/>
                <a:ext cx="5375678" cy="109122"/>
                <a:chOff x="1048569" y="3850655"/>
                <a:chExt cx="5375678" cy="109122"/>
              </a:xfrm>
            </p:grpSpPr>
            <p:pic>
              <p:nvPicPr>
                <p:cNvPr id="384" name="Picture 24" descr="악세사리">
                  <a:extLst>
                    <a:ext uri="{FF2B5EF4-FFF2-40B4-BE49-F238E27FC236}">
                      <a16:creationId xmlns:a16="http://schemas.microsoft.com/office/drawing/2014/main" id="{09A75D01-09BD-EACA-6E44-02FD74C9CFEC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85" name="Picture 24" descr="악세사리">
                  <a:extLst>
                    <a:ext uri="{FF2B5EF4-FFF2-40B4-BE49-F238E27FC236}">
                      <a16:creationId xmlns:a16="http://schemas.microsoft.com/office/drawing/2014/main" id="{0C70376E-148E-F91D-A8C0-9EB8C174284C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86" name="Picture 24" descr="악세사리">
                  <a:extLst>
                    <a:ext uri="{FF2B5EF4-FFF2-40B4-BE49-F238E27FC236}">
                      <a16:creationId xmlns:a16="http://schemas.microsoft.com/office/drawing/2014/main" id="{04EF89B1-6686-D9EC-F272-655788833FB9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pic>
          <p:nvPicPr>
            <p:cNvPr id="381" name="Picture 184" descr="icon_a01">
              <a:extLst>
                <a:ext uri="{FF2B5EF4-FFF2-40B4-BE49-F238E27FC236}">
                  <a16:creationId xmlns:a16="http://schemas.microsoft.com/office/drawing/2014/main" id="{10BA7D2C-0A3C-99FC-04F0-196D74B20A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94" t="64084" r="6964" b="26581"/>
            <a:stretch>
              <a:fillRect/>
            </a:stretch>
          </p:blipFill>
          <p:spPr bwMode="auto">
            <a:xfrm>
              <a:off x="339725" y="2992438"/>
              <a:ext cx="169863" cy="18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512" name="Group 116">
            <a:extLst>
              <a:ext uri="{FF2B5EF4-FFF2-40B4-BE49-F238E27FC236}">
                <a16:creationId xmlns:a16="http://schemas.microsoft.com/office/drawing/2014/main" id="{3BA704CC-4FE6-2D08-90B9-C0405D9886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5877381"/>
              </p:ext>
            </p:extLst>
          </p:nvPr>
        </p:nvGraphicFramePr>
        <p:xfrm>
          <a:off x="260350" y="2000250"/>
          <a:ext cx="6337300" cy="7410455"/>
        </p:xfrm>
        <a:graphic>
          <a:graphicData uri="http://schemas.openxmlformats.org/drawingml/2006/table">
            <a:tbl>
              <a:tblPr/>
              <a:tblGrid>
                <a:gridCol w="865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2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 분</a:t>
                      </a:r>
                    </a:p>
                  </a:txBody>
                  <a:tcPr marL="0" marR="0" marT="46800" marB="4680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1B1EB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 용</a:t>
                      </a:r>
                    </a:p>
                  </a:txBody>
                  <a:tcPr marL="0" marR="0" marT="46800" marB="4680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1B1EB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 표 명</a:t>
                      </a:r>
                    </a:p>
                  </a:txBody>
                  <a:tcPr marL="0" marR="0" marT="46800" marB="4680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정보시스템 안정성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46800" marB="4680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목적</a:t>
                      </a:r>
                    </a:p>
                  </a:txBody>
                  <a:tcPr marL="0" marR="0" marT="46800" marB="4680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서버를 최적의 상태로 운용함으로써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서버 장애시간을 감소시켜 지속적인 서비스 제공을 목적으로 한다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46800" marB="4680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정의</a:t>
                      </a:r>
                    </a:p>
                  </a:txBody>
                  <a:tcPr marL="0" marR="0" marT="46800" marB="4680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정보시스템 가용성이란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서버 가용율 향상을 위한 관련 서버당 장애시간을 측정하는 지표를 말한다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36000" marR="36000" marT="46800" marB="4680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산출식</a:t>
                      </a:r>
                    </a:p>
                  </a:txBody>
                  <a:tcPr marL="0" marR="0" marT="46800" marB="4680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월 총 장애시간 분 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월말 기준 서버대수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46800" marB="4680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적용시간</a:t>
                      </a:r>
                    </a:p>
                  </a:txBody>
                  <a:tcPr marL="0" marR="0" marT="46800" marB="4680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24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시간 *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46800" marB="4680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측정대상</a:t>
                      </a:r>
                    </a:p>
                  </a:txBody>
                  <a:tcPr marL="0" marR="0" marT="46800" marB="4680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정보시스템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테스트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유휴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불용 서버는 지표 산정 시 제외한다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36000" marR="36000" marT="46800" marB="4680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06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측정방법</a:t>
                      </a:r>
                    </a:p>
                  </a:txBody>
                  <a:tcPr marL="0" marR="0" marT="46800" marB="4680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장애시간은 분단위로 산정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서버의 장애시간 추출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모니터링에 의한 자동 장애 등록 및 수동 장애 입력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단위는 소수점 이하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자리까지 산정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반올림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 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46800" marB="4680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측정주기</a:t>
                      </a:r>
                    </a:p>
                  </a:txBody>
                  <a:tcPr marL="0" marR="0" marT="46800" marB="4680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매월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46800" marB="4680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보고주기</a:t>
                      </a:r>
                    </a:p>
                  </a:txBody>
                  <a:tcPr marL="0" marR="0" marT="46800" marB="4680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매월</a:t>
                      </a:r>
                    </a:p>
                  </a:txBody>
                  <a:tcPr marL="36000" marR="36000" marT="46800" marB="4680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최고수준</a:t>
                      </a:r>
                    </a:p>
                  </a:txBody>
                  <a:tcPr marL="0" marR="0" marT="46800" marB="4680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고객과 협의 후</a:t>
                      </a:r>
                    </a:p>
                  </a:txBody>
                  <a:tcPr marL="36000" marR="36000" marT="46800" marB="4680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목표수준</a:t>
                      </a:r>
                    </a:p>
                  </a:txBody>
                  <a:tcPr marL="0" marR="0" marT="46800" marB="4680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고객과 협의 후</a:t>
                      </a:r>
                    </a:p>
                  </a:txBody>
                  <a:tcPr marL="36000" marR="36000" marT="46800" marB="4680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최소수준</a:t>
                      </a:r>
                    </a:p>
                  </a:txBody>
                  <a:tcPr marL="0" marR="0" marT="46800" marB="4680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고객과 협의 후</a:t>
                      </a:r>
                    </a:p>
                  </a:txBody>
                  <a:tcPr marL="36000" marR="36000" marT="46800" marB="4680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41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적용조건</a:t>
                      </a:r>
                    </a:p>
                  </a:txBody>
                  <a:tcPr marL="0" marR="0" marT="46800" marB="4680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4625" indent="-174625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174625" marR="0" lvl="0" indent="-174625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 서비스수준은 서비스에 투입되고 측정 가능한 서버에 대해서만 유효하며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유지보수 수행담당의 귀책사유로 발생한 장애가 아닌 경우는 대상에서 제외한다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b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ㆍ고객의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요청으로 시스템이 중단된 경우</a:t>
                      </a:r>
                      <a:b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ㆍ계획된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작업에 의하여 시스템이 중단된 경우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서버 유지보수 및 점검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</a:t>
                      </a:r>
                    </a:p>
                    <a:p>
                      <a:pPr marL="174625" marR="0" lvl="0" indent="-174625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2.Planned Downtime</a:t>
                      </a:r>
                      <a:b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ㆍ정기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매주 수요일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00:00 ~ 08:00</a:t>
                      </a:r>
                      <a:b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ㆍ비정기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사안 발생 시 상호 협의에 의해 결정된 시간</a:t>
                      </a:r>
                    </a:p>
                    <a:p>
                      <a:pPr marL="174625" marR="0" lvl="0" indent="-174625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 서비스평가 항목에 대한 보고일자는 고객과 사전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협의하에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정한다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174625" marR="0" lvl="0" indent="-174625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월 중간에 투입된 서버는 당월 측정 대상에서는 제외되며 익월 측정 대상부터 포함한다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174625" marR="0" lvl="0" indent="-174625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월별로 서버에 대한 정확한 대상을 사전에 검토하여 진행한다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36000" marR="36000" marT="46800" marB="4680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E031B407-BE1B-B056-87F4-04B3944B3F25}"/>
              </a:ext>
            </a:extLst>
          </p:cNvPr>
          <p:cNvGrpSpPr/>
          <p:nvPr/>
        </p:nvGrpSpPr>
        <p:grpSpPr>
          <a:xfrm>
            <a:off x="317654" y="667364"/>
            <a:ext cx="3795422" cy="351189"/>
            <a:chOff x="760846" y="854534"/>
            <a:chExt cx="3795422" cy="35118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5985654-1CDB-24FB-4B50-42D25B496E98}"/>
                </a:ext>
              </a:extLst>
            </p:cNvPr>
            <p:cNvSpPr txBox="1"/>
            <p:nvPr/>
          </p:nvSpPr>
          <p:spPr>
            <a:xfrm flipH="1">
              <a:off x="1171266" y="891629"/>
              <a:ext cx="338500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r>
                <a:rPr lang="en-US" altLang="ko-KR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SLA </a:t>
              </a:r>
              <a:r>
                <a:rPr lang="ko-KR" altLang="en-US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예시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E2130950-A138-2312-A611-BB1E89787413}"/>
                </a:ext>
              </a:extLst>
            </p:cNvPr>
            <p:cNvGrpSpPr/>
            <p:nvPr/>
          </p:nvGrpSpPr>
          <p:grpSpPr>
            <a:xfrm>
              <a:off x="760846" y="854534"/>
              <a:ext cx="324620" cy="351189"/>
              <a:chOff x="539750" y="2917808"/>
              <a:chExt cx="526237" cy="526236"/>
            </a:xfrm>
          </p:grpSpPr>
          <p:sp>
            <p:nvSpPr>
              <p:cNvPr id="10" name="모서리가 둥근 직사각형 4">
                <a:extLst>
                  <a:ext uri="{FF2B5EF4-FFF2-40B4-BE49-F238E27FC236}">
                    <a16:creationId xmlns:a16="http://schemas.microsoft.com/office/drawing/2014/main" id="{36A649C6-8B42-BB0C-2B12-7C6031844A95}"/>
                  </a:ext>
                </a:extLst>
              </p:cNvPr>
              <p:cNvSpPr/>
              <p:nvPr/>
            </p:nvSpPr>
            <p:spPr>
              <a:xfrm>
                <a:off x="539750" y="2917808"/>
                <a:ext cx="526237" cy="526236"/>
              </a:xfrm>
              <a:prstGeom prst="roundRect">
                <a:avLst>
                  <a:gd name="adj" fmla="val 11229"/>
                </a:avLst>
              </a:prstGeom>
              <a:solidFill>
                <a:srgbClr val="00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DCF1B4-6649-680C-FD23-B736CD24AADB}"/>
                  </a:ext>
                </a:extLst>
              </p:cNvPr>
              <p:cNvSpPr txBox="1"/>
              <p:nvPr/>
            </p:nvSpPr>
            <p:spPr>
              <a:xfrm flipH="1">
                <a:off x="636582" y="2952530"/>
                <a:ext cx="338951" cy="46118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#</a:t>
                </a:r>
              </a:p>
            </p:txBody>
          </p:sp>
        </p:grpSp>
      </p:grpSp>
      <p:sp>
        <p:nvSpPr>
          <p:cNvPr id="12" name="Rectangle 42">
            <a:extLst>
              <a:ext uri="{FF2B5EF4-FFF2-40B4-BE49-F238E27FC236}">
                <a16:creationId xmlns:a16="http://schemas.microsoft.com/office/drawing/2014/main" id="{EB4EB360-7CD5-47F4-E92C-1F144B4BB823}"/>
              </a:ext>
            </a:extLst>
          </p:cNvPr>
          <p:cNvSpPr>
            <a:spLocks noChangeArrowheads="1"/>
          </p:cNvSpPr>
          <p:nvPr/>
        </p:nvSpPr>
        <p:spPr bwMode="auto">
          <a:xfrm rot="19800000">
            <a:off x="2241426" y="4398206"/>
            <a:ext cx="1943100" cy="450850"/>
          </a:xfrm>
          <a:prstGeom prst="rect">
            <a:avLst/>
          </a:prstGeom>
          <a:solidFill>
            <a:schemeClr val="bg1">
              <a:alpha val="30000"/>
            </a:schemeClr>
          </a:solidFill>
          <a:ln w="57150" cmpd="thinThick" algn="ctr">
            <a:solidFill>
              <a:srgbClr val="C54426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rgbClr val="C54426"/>
                </a:solidFill>
                <a:latin typeface="+mn-ea"/>
                <a:ea typeface="+mn-ea"/>
              </a:rPr>
              <a:t>예 시</a:t>
            </a:r>
          </a:p>
        </p:txBody>
      </p:sp>
    </p:spTree>
    <p:extLst>
      <p:ext uri="{BB962C8B-B14F-4D97-AF65-F5344CB8AC3E}">
        <p14:creationId xmlns:p14="http://schemas.microsoft.com/office/powerpoint/2010/main" val="1674131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Box 37"/>
          <p:cNvSpPr txBox="1">
            <a:spLocks noChangeArrowheads="1"/>
          </p:cNvSpPr>
          <p:nvPr/>
        </p:nvSpPr>
        <p:spPr bwMode="auto">
          <a:xfrm>
            <a:off x="283952" y="1215900"/>
            <a:ext cx="6269248" cy="203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1pPr>
            <a:lvl2pPr marL="742950" indent="-28575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2pPr>
            <a:lvl3pPr marL="11430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3pPr>
            <a:lvl4pPr marL="16002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4pPr>
            <a:lvl5pPr marL="20574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9pPr>
          </a:lstStyle>
          <a:p>
            <a:pPr eaLnBrk="1" latinLnBrk="0" hangingPunct="1">
              <a:lnSpc>
                <a:spcPct val="120000"/>
              </a:lnSpc>
              <a:defRPr/>
            </a:pP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SLA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성과측정지표 정의서</a:t>
            </a: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(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예시</a:t>
            </a: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) (3/4)</a:t>
            </a:r>
            <a:endParaRPr lang="ko-KR" altLang="en-US" sz="1200" dirty="0">
              <a:solidFill>
                <a:srgbClr val="000000">
                  <a:lumMod val="75000"/>
                  <a:lumOff val="25000"/>
                </a:srgbClr>
              </a:solidFill>
              <a:latin typeface="+mn-ea"/>
              <a:ea typeface="+mn-ea"/>
              <a:cs typeface="Arial" pitchFamily="34" charset="0"/>
            </a:endParaRPr>
          </a:p>
        </p:txBody>
      </p:sp>
      <p:grpSp>
        <p:nvGrpSpPr>
          <p:cNvPr id="379" name="그룹 1">
            <a:extLst>
              <a:ext uri="{FF2B5EF4-FFF2-40B4-BE49-F238E27FC236}">
                <a16:creationId xmlns:a16="http://schemas.microsoft.com/office/drawing/2014/main" id="{20C9A1F0-DCFD-E08F-6A54-3AC003095DF2}"/>
              </a:ext>
            </a:extLst>
          </p:cNvPr>
          <p:cNvGrpSpPr>
            <a:grpSpLocks/>
          </p:cNvGrpSpPr>
          <p:nvPr/>
        </p:nvGrpSpPr>
        <p:grpSpPr bwMode="auto">
          <a:xfrm>
            <a:off x="292100" y="1522765"/>
            <a:ext cx="6270625" cy="385763"/>
            <a:chOff x="292100" y="2959098"/>
            <a:chExt cx="6270625" cy="385765"/>
          </a:xfrm>
        </p:grpSpPr>
        <p:grpSp>
          <p:nvGrpSpPr>
            <p:cNvPr id="380" name="그룹 379">
              <a:extLst>
                <a:ext uri="{FF2B5EF4-FFF2-40B4-BE49-F238E27FC236}">
                  <a16:creationId xmlns:a16="http://schemas.microsoft.com/office/drawing/2014/main" id="{E95A62F3-83D4-009C-B29D-EB26A3AF23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100" y="2959098"/>
              <a:ext cx="6270625" cy="385765"/>
              <a:chOff x="334963" y="3573461"/>
              <a:chExt cx="6271218" cy="386316"/>
            </a:xfrm>
          </p:grpSpPr>
          <p:grpSp>
            <p:nvGrpSpPr>
              <p:cNvPr id="382" name="그룹 50">
                <a:extLst>
                  <a:ext uri="{FF2B5EF4-FFF2-40B4-BE49-F238E27FC236}">
                    <a16:creationId xmlns:a16="http://schemas.microsoft.com/office/drawing/2014/main" id="{51C39BFD-6404-92EB-323E-EDF8058A15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4963" y="3573461"/>
                <a:ext cx="6271218" cy="262313"/>
                <a:chOff x="335633" y="3489640"/>
                <a:chExt cx="6270543" cy="262915"/>
              </a:xfrm>
            </p:grpSpPr>
            <p:sp>
              <p:nvSpPr>
                <p:cNvPr id="387" name="직사각형 262">
                  <a:extLst>
                    <a:ext uri="{FF2B5EF4-FFF2-40B4-BE49-F238E27FC236}">
                      <a16:creationId xmlns:a16="http://schemas.microsoft.com/office/drawing/2014/main" id="{2FE9E542-F47C-80E6-0B4C-88545D6763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5633" y="3489640"/>
                  <a:ext cx="6270543" cy="262915"/>
                </a:xfrm>
                <a:prstGeom prst="rect">
                  <a:avLst/>
                </a:prstGeom>
                <a:gradFill flip="none" rotWithShape="1">
                  <a:gsLst>
                    <a:gs pos="33000">
                      <a:srgbClr val="1295EE"/>
                    </a:gs>
                    <a:gs pos="0">
                      <a:srgbClr val="0B629D"/>
                    </a:gs>
                    <a:gs pos="12000">
                      <a:srgbClr val="0E76BC"/>
                    </a:gs>
                  </a:gsLst>
                  <a:lin ang="36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latinLnBrk="0">
                    <a:defRPr/>
                  </a:pPr>
                  <a:endParaRPr lang="ko-KR" altLang="en-US" sz="1000" dirty="0">
                    <a:solidFill>
                      <a:srgbClr val="FFFFFF"/>
                    </a:solidFill>
                    <a:latin typeface="+mn-ea"/>
                    <a:cs typeface="Arial" pitchFamily="34" charset="0"/>
                  </a:endParaRPr>
                </a:p>
              </p:txBody>
            </p:sp>
            <p:cxnSp>
              <p:nvCxnSpPr>
                <p:cNvPr id="388" name="직선 연결선 26">
                  <a:extLst>
                    <a:ext uri="{FF2B5EF4-FFF2-40B4-BE49-F238E27FC236}">
                      <a16:creationId xmlns:a16="http://schemas.microsoft.com/office/drawing/2014/main" id="{249F653A-D072-CD2E-5D42-0D784E46193D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553763" y="3618068"/>
                  <a:ext cx="138933" cy="0"/>
                </a:xfrm>
                <a:prstGeom prst="line">
                  <a:avLst/>
                </a:prstGeom>
                <a:noFill/>
                <a:ln w="12700" algn="ctr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389" name="Text Box 34">
                  <a:extLst>
                    <a:ext uri="{FF2B5EF4-FFF2-40B4-BE49-F238E27FC236}">
                      <a16:creationId xmlns:a16="http://schemas.microsoft.com/office/drawing/2014/main" id="{59A0579A-1EEE-843A-3AD0-ED35284ECAF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gray">
                <a:xfrm>
                  <a:off x="764704" y="3535954"/>
                  <a:ext cx="5697056" cy="1699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0"/>
                  </a:sp3d>
                </a:bodyPr>
                <a:lstStyle>
                  <a:lvl1pPr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1pPr>
                  <a:lvl2pPr marL="742950" indent="-28575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2pPr>
                  <a:lvl3pPr marL="11430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3pPr>
                  <a:lvl4pPr marL="16002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4pPr>
                  <a:lvl5pPr marL="20574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5pPr>
                  <a:lvl6pPr marL="25146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6pPr>
                  <a:lvl7pPr marL="29718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7pPr>
                  <a:lvl8pPr marL="34290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8pPr>
                  <a:lvl9pPr marL="38862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9pPr>
                </a:lstStyle>
                <a:p>
                  <a:pPr eaLnBrk="1" latinLnBrk="0" hangingPunct="1">
                    <a:defRPr/>
                  </a:pPr>
                  <a:r>
                    <a:rPr lang="en-US" altLang="ko-KR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ea"/>
                      <a:ea typeface="+mn-ea"/>
                      <a:cs typeface="Arial" pitchFamily="34" charset="0"/>
                    </a:rPr>
                    <a:t>SLA </a:t>
                  </a:r>
                  <a:r>
                    <a:rPr lang="ko-KR" altLang="en-US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ea"/>
                      <a:ea typeface="+mn-ea"/>
                      <a:cs typeface="Arial" pitchFamily="34" charset="0"/>
                    </a:rPr>
                    <a:t>성과측정지표 정의서</a:t>
                  </a:r>
                </a:p>
              </p:txBody>
            </p:sp>
          </p:grpSp>
          <p:grpSp>
            <p:nvGrpSpPr>
              <p:cNvPr id="383" name="그룹 207">
                <a:extLst>
                  <a:ext uri="{FF2B5EF4-FFF2-40B4-BE49-F238E27FC236}">
                    <a16:creationId xmlns:a16="http://schemas.microsoft.com/office/drawing/2014/main" id="{F2DFF7F9-0C3F-4138-351B-AA85BD2DC9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8569" y="3850655"/>
                <a:ext cx="5375678" cy="109122"/>
                <a:chOff x="1048569" y="3850655"/>
                <a:chExt cx="5375678" cy="109122"/>
              </a:xfrm>
            </p:grpSpPr>
            <p:pic>
              <p:nvPicPr>
                <p:cNvPr id="384" name="Picture 24" descr="악세사리">
                  <a:extLst>
                    <a:ext uri="{FF2B5EF4-FFF2-40B4-BE49-F238E27FC236}">
                      <a16:creationId xmlns:a16="http://schemas.microsoft.com/office/drawing/2014/main" id="{09A75D01-09BD-EACA-6E44-02FD74C9CFEC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85" name="Picture 24" descr="악세사리">
                  <a:extLst>
                    <a:ext uri="{FF2B5EF4-FFF2-40B4-BE49-F238E27FC236}">
                      <a16:creationId xmlns:a16="http://schemas.microsoft.com/office/drawing/2014/main" id="{0C70376E-148E-F91D-A8C0-9EB8C174284C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86" name="Picture 24" descr="악세사리">
                  <a:extLst>
                    <a:ext uri="{FF2B5EF4-FFF2-40B4-BE49-F238E27FC236}">
                      <a16:creationId xmlns:a16="http://schemas.microsoft.com/office/drawing/2014/main" id="{04EF89B1-6686-D9EC-F272-655788833FB9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pic>
          <p:nvPicPr>
            <p:cNvPr id="381" name="Picture 184" descr="icon_a01">
              <a:extLst>
                <a:ext uri="{FF2B5EF4-FFF2-40B4-BE49-F238E27FC236}">
                  <a16:creationId xmlns:a16="http://schemas.microsoft.com/office/drawing/2014/main" id="{10BA7D2C-0A3C-99FC-04F0-196D74B20A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94" t="64084" r="6964" b="26581"/>
            <a:stretch>
              <a:fillRect/>
            </a:stretch>
          </p:blipFill>
          <p:spPr bwMode="auto">
            <a:xfrm>
              <a:off x="339725" y="2992438"/>
              <a:ext cx="169863" cy="18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516" name="Group 116">
            <a:extLst>
              <a:ext uri="{FF2B5EF4-FFF2-40B4-BE49-F238E27FC236}">
                <a16:creationId xmlns:a16="http://schemas.microsoft.com/office/drawing/2014/main" id="{BD6C024D-0195-C715-CA7B-F183335325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1704814"/>
              </p:ext>
            </p:extLst>
          </p:nvPr>
        </p:nvGraphicFramePr>
        <p:xfrm>
          <a:off x="260350" y="2000250"/>
          <a:ext cx="6337300" cy="7416803"/>
        </p:xfrm>
        <a:graphic>
          <a:graphicData uri="http://schemas.openxmlformats.org/drawingml/2006/table">
            <a:tbl>
              <a:tblPr/>
              <a:tblGrid>
                <a:gridCol w="865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2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13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 분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1B1EB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 용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1B1EB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 표 명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 요청 처리 만족율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목적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공식적인 요청 절차에 의해 접수되는 고객의 요청사항을 신속하게 검토하여 만족스럽게 처리함으로써 고객 만족도를 향상 시키는데 목적이 있다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정의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공식적인 요청절차로 접수되어 사전에 고객과 합의된 일정 내에 처리가 완료된 요청 건수 대비 고객의 만족 정도가 “보통” 이상으로 회신한 요청 처리건수로 고객 요청 처리 만족율을 측정한다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(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장애처리는 해당사항 없음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산출식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적기 처리되고 만족도 조사 결과 “보통” 이상인 요청 건수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÷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 요청 처리 건수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× 100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4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적용시간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해당사항 없음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측정대상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 요청 건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77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측정방법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공식적인 요청절차로 접수되어 처리된 요청 건수 추출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처리된 요청 건수의 만족도 조사 결과 추출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장애 처리 제외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만족도 구분은 “만족”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“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보통”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“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미흡”의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단계로 구분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만족도 회신이 없는 요청 처리 건은 만족도 조사 결과를 “보통”으로 간주함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만족율의 단위는 소수점 이하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자리까지 산정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반올림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측정주기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매월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9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보고주기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매월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최고수준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고객과 협의 후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목표수준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고객과 협의 후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2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최소수준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고객과 협의 후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52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적용조건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4625" indent="-174625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174625" marR="0" lvl="0" indent="-17462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＊용어정의</a:t>
                      </a:r>
                    </a:p>
                    <a:p>
                      <a:pPr marL="174625" marR="0" lvl="0" indent="-17462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공식적인 요청절차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사용자가 적정절차를 통하여 업무를 요청하는 것을 말한다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174625" marR="0" lvl="0" indent="-17462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처리예정일자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공식적인 요청절차에 따라 요청을 등록할 때 요청처리가 완료될 수 있도록 고객과 합의한 일자를 말한다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174625" marR="0" lvl="0" indent="-17462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처리완료일자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작업 수행 결과에 대해 고객에게 승인을 받은 날짜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또는 시간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 한다</a:t>
                      </a:r>
                    </a:p>
                    <a:p>
                      <a:pPr marL="174625" marR="0" lvl="0" indent="-17462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＊적용대상</a:t>
                      </a:r>
                    </a:p>
                    <a:p>
                      <a:pPr marL="174625" marR="0" lvl="0" indent="-17462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 서비스 수준은 공식적인 요청절차로 접수된 사항에 대해서만 유효하며 상호 합의 하에 아래와 같은 경우는 대상에서 제외한다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      </a:t>
                      </a:r>
                    </a:p>
                    <a:p>
                      <a:pPr marL="174625" marR="0" lvl="0" indent="-17462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-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요청사항이 정당한 사유로 사전에 고객과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SP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사이의 합의에 의해 작업 공정이 장기화될 경우</a:t>
                      </a:r>
                    </a:p>
                    <a:p>
                      <a:pPr marL="174625" marR="0" lvl="0" indent="-17462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요청사항이 요청자에 의해 취소된 경우</a:t>
                      </a:r>
                    </a:p>
                    <a:p>
                      <a:pPr marL="174625" marR="0" lvl="0" indent="-17462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 서비스 평가 항목에 대한 보고일자는 고객과 사전 합의하에 정하며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처리 예정 일자가 매월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일부터 매월 말일자까지 등록된 사항으로 제한한다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174625" marR="0" lvl="0" indent="-17462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고객의 사유로 요청처리일자 연기사유 발생 시 별도의 합의에 의해 일정을 조정한다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9B87BD7C-799F-6BD1-DBC3-CC4FDCFE3284}"/>
              </a:ext>
            </a:extLst>
          </p:cNvPr>
          <p:cNvGrpSpPr/>
          <p:nvPr/>
        </p:nvGrpSpPr>
        <p:grpSpPr>
          <a:xfrm>
            <a:off x="317654" y="667364"/>
            <a:ext cx="3795422" cy="351189"/>
            <a:chOff x="760846" y="854534"/>
            <a:chExt cx="3795422" cy="35118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F7A3C99-86D1-4898-C404-73ECFEA7E1E5}"/>
                </a:ext>
              </a:extLst>
            </p:cNvPr>
            <p:cNvSpPr txBox="1"/>
            <p:nvPr/>
          </p:nvSpPr>
          <p:spPr>
            <a:xfrm flipH="1">
              <a:off x="1171266" y="891629"/>
              <a:ext cx="338500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r>
                <a:rPr lang="en-US" altLang="ko-KR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SLA </a:t>
              </a:r>
              <a:r>
                <a:rPr lang="ko-KR" altLang="en-US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예시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7E941099-03B1-3343-FFDC-D13458275D19}"/>
                </a:ext>
              </a:extLst>
            </p:cNvPr>
            <p:cNvGrpSpPr/>
            <p:nvPr/>
          </p:nvGrpSpPr>
          <p:grpSpPr>
            <a:xfrm>
              <a:off x="760846" y="854534"/>
              <a:ext cx="324620" cy="351189"/>
              <a:chOff x="539750" y="2917808"/>
              <a:chExt cx="526237" cy="526236"/>
            </a:xfrm>
          </p:grpSpPr>
          <p:sp>
            <p:nvSpPr>
              <p:cNvPr id="10" name="모서리가 둥근 직사각형 4">
                <a:extLst>
                  <a:ext uri="{FF2B5EF4-FFF2-40B4-BE49-F238E27FC236}">
                    <a16:creationId xmlns:a16="http://schemas.microsoft.com/office/drawing/2014/main" id="{D30DC9AF-6908-5D86-6322-0074C82209C0}"/>
                  </a:ext>
                </a:extLst>
              </p:cNvPr>
              <p:cNvSpPr/>
              <p:nvPr/>
            </p:nvSpPr>
            <p:spPr>
              <a:xfrm>
                <a:off x="539750" y="2917808"/>
                <a:ext cx="526237" cy="526236"/>
              </a:xfrm>
              <a:prstGeom prst="roundRect">
                <a:avLst>
                  <a:gd name="adj" fmla="val 11229"/>
                </a:avLst>
              </a:prstGeom>
              <a:solidFill>
                <a:srgbClr val="00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70E7770-7A7F-E573-24D6-A5E8640E6062}"/>
                  </a:ext>
                </a:extLst>
              </p:cNvPr>
              <p:cNvSpPr txBox="1"/>
              <p:nvPr/>
            </p:nvSpPr>
            <p:spPr>
              <a:xfrm flipH="1">
                <a:off x="636582" y="2952530"/>
                <a:ext cx="338951" cy="46118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#</a:t>
                </a:r>
              </a:p>
            </p:txBody>
          </p:sp>
        </p:grpSp>
      </p:grpSp>
      <p:sp>
        <p:nvSpPr>
          <p:cNvPr id="12" name="Rectangle 42">
            <a:extLst>
              <a:ext uri="{FF2B5EF4-FFF2-40B4-BE49-F238E27FC236}">
                <a16:creationId xmlns:a16="http://schemas.microsoft.com/office/drawing/2014/main" id="{84C5F44B-69D9-050A-D4C6-BCEF910719FF}"/>
              </a:ext>
            </a:extLst>
          </p:cNvPr>
          <p:cNvSpPr>
            <a:spLocks noChangeArrowheads="1"/>
          </p:cNvSpPr>
          <p:nvPr/>
        </p:nvSpPr>
        <p:spPr bwMode="auto">
          <a:xfrm rot="19800000">
            <a:off x="2241426" y="4398206"/>
            <a:ext cx="1943100" cy="450850"/>
          </a:xfrm>
          <a:prstGeom prst="rect">
            <a:avLst/>
          </a:prstGeom>
          <a:solidFill>
            <a:schemeClr val="bg1">
              <a:alpha val="30000"/>
            </a:schemeClr>
          </a:solidFill>
          <a:ln w="57150" cmpd="thinThick" algn="ctr">
            <a:solidFill>
              <a:srgbClr val="C54426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rgbClr val="C54426"/>
                </a:solidFill>
                <a:latin typeface="+mn-ea"/>
                <a:ea typeface="+mn-ea"/>
              </a:rPr>
              <a:t>예 시</a:t>
            </a:r>
          </a:p>
        </p:txBody>
      </p:sp>
    </p:spTree>
    <p:extLst>
      <p:ext uri="{BB962C8B-B14F-4D97-AF65-F5344CB8AC3E}">
        <p14:creationId xmlns:p14="http://schemas.microsoft.com/office/powerpoint/2010/main" val="236254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Box 37"/>
          <p:cNvSpPr txBox="1">
            <a:spLocks noChangeArrowheads="1"/>
          </p:cNvSpPr>
          <p:nvPr/>
        </p:nvSpPr>
        <p:spPr bwMode="auto">
          <a:xfrm>
            <a:off x="283952" y="1215900"/>
            <a:ext cx="6269248" cy="203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1pPr>
            <a:lvl2pPr marL="742950" indent="-28575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2pPr>
            <a:lvl3pPr marL="11430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3pPr>
            <a:lvl4pPr marL="16002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4pPr>
            <a:lvl5pPr marL="20574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9pPr>
          </a:lstStyle>
          <a:p>
            <a:pPr eaLnBrk="1" latinLnBrk="0" hangingPunct="1">
              <a:lnSpc>
                <a:spcPct val="120000"/>
              </a:lnSpc>
              <a:defRPr/>
            </a:pP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SLA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성과측정지표 정의서</a:t>
            </a: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(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예시</a:t>
            </a: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) (4/4)</a:t>
            </a:r>
            <a:endParaRPr lang="ko-KR" altLang="en-US" sz="1200" dirty="0">
              <a:solidFill>
                <a:srgbClr val="000000">
                  <a:lumMod val="75000"/>
                  <a:lumOff val="25000"/>
                </a:srgbClr>
              </a:solidFill>
              <a:latin typeface="+mn-ea"/>
              <a:ea typeface="+mn-ea"/>
              <a:cs typeface="Arial" pitchFamily="34" charset="0"/>
            </a:endParaRPr>
          </a:p>
        </p:txBody>
      </p:sp>
      <p:grpSp>
        <p:nvGrpSpPr>
          <p:cNvPr id="379" name="그룹 1">
            <a:extLst>
              <a:ext uri="{FF2B5EF4-FFF2-40B4-BE49-F238E27FC236}">
                <a16:creationId xmlns:a16="http://schemas.microsoft.com/office/drawing/2014/main" id="{20C9A1F0-DCFD-E08F-6A54-3AC003095DF2}"/>
              </a:ext>
            </a:extLst>
          </p:cNvPr>
          <p:cNvGrpSpPr>
            <a:grpSpLocks/>
          </p:cNvGrpSpPr>
          <p:nvPr/>
        </p:nvGrpSpPr>
        <p:grpSpPr bwMode="auto">
          <a:xfrm>
            <a:off x="292100" y="1522765"/>
            <a:ext cx="6270625" cy="385763"/>
            <a:chOff x="292100" y="2959098"/>
            <a:chExt cx="6270625" cy="385765"/>
          </a:xfrm>
        </p:grpSpPr>
        <p:grpSp>
          <p:nvGrpSpPr>
            <p:cNvPr id="380" name="그룹 379">
              <a:extLst>
                <a:ext uri="{FF2B5EF4-FFF2-40B4-BE49-F238E27FC236}">
                  <a16:creationId xmlns:a16="http://schemas.microsoft.com/office/drawing/2014/main" id="{E95A62F3-83D4-009C-B29D-EB26A3AF23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100" y="2959098"/>
              <a:ext cx="6270625" cy="385765"/>
              <a:chOff x="334963" y="3573461"/>
              <a:chExt cx="6271218" cy="386316"/>
            </a:xfrm>
          </p:grpSpPr>
          <p:grpSp>
            <p:nvGrpSpPr>
              <p:cNvPr id="382" name="그룹 50">
                <a:extLst>
                  <a:ext uri="{FF2B5EF4-FFF2-40B4-BE49-F238E27FC236}">
                    <a16:creationId xmlns:a16="http://schemas.microsoft.com/office/drawing/2014/main" id="{51C39BFD-6404-92EB-323E-EDF8058A15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4963" y="3573461"/>
                <a:ext cx="6271218" cy="262313"/>
                <a:chOff x="335633" y="3489640"/>
                <a:chExt cx="6270543" cy="262915"/>
              </a:xfrm>
            </p:grpSpPr>
            <p:sp>
              <p:nvSpPr>
                <p:cNvPr id="387" name="직사각형 262">
                  <a:extLst>
                    <a:ext uri="{FF2B5EF4-FFF2-40B4-BE49-F238E27FC236}">
                      <a16:creationId xmlns:a16="http://schemas.microsoft.com/office/drawing/2014/main" id="{2FE9E542-F47C-80E6-0B4C-88545D6763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5633" y="3489640"/>
                  <a:ext cx="6270543" cy="262915"/>
                </a:xfrm>
                <a:prstGeom prst="rect">
                  <a:avLst/>
                </a:prstGeom>
                <a:gradFill flip="none" rotWithShape="1">
                  <a:gsLst>
                    <a:gs pos="33000">
                      <a:srgbClr val="1295EE"/>
                    </a:gs>
                    <a:gs pos="0">
                      <a:srgbClr val="0B629D"/>
                    </a:gs>
                    <a:gs pos="12000">
                      <a:srgbClr val="0E76BC"/>
                    </a:gs>
                  </a:gsLst>
                  <a:lin ang="36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latinLnBrk="0">
                    <a:defRPr/>
                  </a:pPr>
                  <a:endParaRPr lang="ko-KR" altLang="en-US" sz="1000" dirty="0">
                    <a:solidFill>
                      <a:srgbClr val="FFFFFF"/>
                    </a:solidFill>
                    <a:latin typeface="+mn-ea"/>
                    <a:cs typeface="Arial" pitchFamily="34" charset="0"/>
                  </a:endParaRPr>
                </a:p>
              </p:txBody>
            </p:sp>
            <p:cxnSp>
              <p:nvCxnSpPr>
                <p:cNvPr id="388" name="직선 연결선 26">
                  <a:extLst>
                    <a:ext uri="{FF2B5EF4-FFF2-40B4-BE49-F238E27FC236}">
                      <a16:creationId xmlns:a16="http://schemas.microsoft.com/office/drawing/2014/main" id="{249F653A-D072-CD2E-5D42-0D784E46193D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553763" y="3618068"/>
                  <a:ext cx="138933" cy="0"/>
                </a:xfrm>
                <a:prstGeom prst="line">
                  <a:avLst/>
                </a:prstGeom>
                <a:noFill/>
                <a:ln w="12700" algn="ctr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389" name="Text Box 34">
                  <a:extLst>
                    <a:ext uri="{FF2B5EF4-FFF2-40B4-BE49-F238E27FC236}">
                      <a16:creationId xmlns:a16="http://schemas.microsoft.com/office/drawing/2014/main" id="{59A0579A-1EEE-843A-3AD0-ED35284ECAF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gray">
                <a:xfrm>
                  <a:off x="764704" y="3535954"/>
                  <a:ext cx="5697056" cy="1699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>
                  <a:spAutoFit/>
                  <a:scene3d>
                    <a:camera prst="orthographicFront"/>
                    <a:lightRig rig="threePt" dir="t"/>
                  </a:scene3d>
                  <a:sp3d>
                    <a:bevelT w="0"/>
                  </a:sp3d>
                </a:bodyPr>
                <a:lstStyle>
                  <a:lvl1pPr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1pPr>
                  <a:lvl2pPr marL="742950" indent="-28575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2pPr>
                  <a:lvl3pPr marL="11430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3pPr>
                  <a:lvl4pPr marL="16002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4pPr>
                  <a:lvl5pPr marL="2057400" indent="-228600" defTabSz="787400" eaLnBrk="0" hangingPunct="0"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5pPr>
                  <a:lvl6pPr marL="25146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6pPr>
                  <a:lvl7pPr marL="29718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7pPr>
                  <a:lvl8pPr marL="34290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8pPr>
                  <a:lvl9pPr marL="3886200" indent="-228600" defTabSz="787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100" b="1">
                      <a:solidFill>
                        <a:schemeClr val="tx1"/>
                      </a:solidFill>
                      <a:latin typeface="Arial" pitchFamily="34" charset="0"/>
                      <a:ea typeface="나눔고딕"/>
                      <a:cs typeface="나눔고딕"/>
                    </a:defRPr>
                  </a:lvl9pPr>
                </a:lstStyle>
                <a:p>
                  <a:pPr eaLnBrk="1" latinLnBrk="0" hangingPunct="1">
                    <a:defRPr/>
                  </a:pPr>
                  <a:r>
                    <a:rPr lang="en-US" altLang="ko-KR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ea"/>
                      <a:ea typeface="+mn-ea"/>
                      <a:cs typeface="Arial" pitchFamily="34" charset="0"/>
                    </a:rPr>
                    <a:t>SLA </a:t>
                  </a:r>
                  <a:r>
                    <a:rPr lang="ko-KR" altLang="en-US" dirty="0">
                      <a:solidFill>
                        <a:srgbClr val="FFFF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ea"/>
                      <a:ea typeface="+mn-ea"/>
                      <a:cs typeface="Arial" pitchFamily="34" charset="0"/>
                    </a:rPr>
                    <a:t>성과측정지표 정의서</a:t>
                  </a:r>
                </a:p>
              </p:txBody>
            </p:sp>
          </p:grpSp>
          <p:grpSp>
            <p:nvGrpSpPr>
              <p:cNvPr id="383" name="그룹 207">
                <a:extLst>
                  <a:ext uri="{FF2B5EF4-FFF2-40B4-BE49-F238E27FC236}">
                    <a16:creationId xmlns:a16="http://schemas.microsoft.com/office/drawing/2014/main" id="{F2DFF7F9-0C3F-4138-351B-AA85BD2DC9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8569" y="3850655"/>
                <a:ext cx="5375678" cy="109122"/>
                <a:chOff x="1048569" y="3850655"/>
                <a:chExt cx="5375678" cy="109122"/>
              </a:xfrm>
            </p:grpSpPr>
            <p:pic>
              <p:nvPicPr>
                <p:cNvPr id="384" name="Picture 24" descr="악세사리">
                  <a:extLst>
                    <a:ext uri="{FF2B5EF4-FFF2-40B4-BE49-F238E27FC236}">
                      <a16:creationId xmlns:a16="http://schemas.microsoft.com/office/drawing/2014/main" id="{09A75D01-09BD-EACA-6E44-02FD74C9CFEC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85" name="Picture 24" descr="악세사리">
                  <a:extLst>
                    <a:ext uri="{FF2B5EF4-FFF2-40B4-BE49-F238E27FC236}">
                      <a16:creationId xmlns:a16="http://schemas.microsoft.com/office/drawing/2014/main" id="{0C70376E-148E-F91D-A8C0-9EB8C174284C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86" name="Picture 24" descr="악세사리">
                  <a:extLst>
                    <a:ext uri="{FF2B5EF4-FFF2-40B4-BE49-F238E27FC236}">
                      <a16:creationId xmlns:a16="http://schemas.microsoft.com/office/drawing/2014/main" id="{04EF89B1-6686-D9EC-F272-655788833FB9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48569" y="3850655"/>
                  <a:ext cx="5375678" cy="10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pic>
          <p:nvPicPr>
            <p:cNvPr id="381" name="Picture 184" descr="icon_a01">
              <a:extLst>
                <a:ext uri="{FF2B5EF4-FFF2-40B4-BE49-F238E27FC236}">
                  <a16:creationId xmlns:a16="http://schemas.microsoft.com/office/drawing/2014/main" id="{10BA7D2C-0A3C-99FC-04F0-196D74B20A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894" t="64084" r="6964" b="26581"/>
            <a:stretch>
              <a:fillRect/>
            </a:stretch>
          </p:blipFill>
          <p:spPr bwMode="auto">
            <a:xfrm>
              <a:off x="339725" y="2992438"/>
              <a:ext cx="169863" cy="18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518" name="Group 116">
            <a:extLst>
              <a:ext uri="{FF2B5EF4-FFF2-40B4-BE49-F238E27FC236}">
                <a16:creationId xmlns:a16="http://schemas.microsoft.com/office/drawing/2014/main" id="{BAD0F8A4-BDDC-6434-88DE-3CDD528EFE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2274294"/>
              </p:ext>
            </p:extLst>
          </p:nvPr>
        </p:nvGraphicFramePr>
        <p:xfrm>
          <a:off x="260350" y="1997075"/>
          <a:ext cx="6337300" cy="7416803"/>
        </p:xfrm>
        <a:graphic>
          <a:graphicData uri="http://schemas.openxmlformats.org/drawingml/2006/table">
            <a:tbl>
              <a:tblPr/>
              <a:tblGrid>
                <a:gridCol w="865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2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13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 분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1B1EB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 용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1B1EB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 표 명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 요청 처리 납기 준수율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목적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공식적인 요청 절차에 의해 접수되는 고객의 요청사항을 신속하게 검토하여 처리함으로써 고객의 업무상 요구를 신속하게 지원하는 데에 목적이 있다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정의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공식적인 요청절차로 접수되어 사전에 고객과 합의된 일정 내에 처리가 완료된 요청 건수 대비 처리한 모든 요청 처리건수로 고객요청 처리 납기 준수율을 측정한다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(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장애처리는 해당사항 없음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산출식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합의된 시간 내에 처리 완료된 고객 요청 건수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÷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 요청 처리 건수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× 100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적용시간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해당사항 없음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측정대상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접수 및 처리되는 고객 요청 건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79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측정방법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공식적인 요청절차로 접수되어 처리된 요청 건수 추출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사전에 고객과 합의된 일정 내에 처리가 완료된 요청 건수 추출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장애 처리 제외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납기 준수율의 단위는 소수점 이하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자리까지 산정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반올림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측정주기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매월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보고주기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매월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최고수준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고객과 협의 후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목표수준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고객과 협의 후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최소수준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고객과 협의 후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9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적용조건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4625" indent="-174625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174625" marR="0" lvl="0" indent="-17462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＊용어 정의</a:t>
                      </a:r>
                    </a:p>
                    <a:p>
                      <a:pPr marL="174625" marR="0" lvl="0" indent="-17462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공식적인 요청절차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사용자가 공식절차를 통하여 업무를 요청하는 것을 말한다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174625" marR="0" lvl="0" indent="-17462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처리예정일자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공식적인 요청절차에 따라 요청을 등록할 때 요청처리가 완료될 수 있도록 고객과 합의한 일자를 말한다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174625" marR="0" lvl="0" indent="-17462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처리완료일자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작업 수행 결과에 대해 고객에게 승인을 받은 날짜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또는 시간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 한다</a:t>
                      </a:r>
                    </a:p>
                    <a:p>
                      <a:pPr marL="174625" marR="0" lvl="0" indent="-17462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 서비스 수준은 공식적인 요청절차로 접수된 사항에 대해서만 유효하며 상호 합의 하에 아래와 같은 경우는 대상에서 제외한다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      </a:t>
                      </a:r>
                    </a:p>
                    <a:p>
                      <a:pPr marL="174625" marR="0" lvl="0" indent="-17462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-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요청사항이 정당한 사유로 사전에 고객과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SP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사이의 합의에 의해 작업 공정이 장기화될 경우</a:t>
                      </a:r>
                    </a:p>
                    <a:p>
                      <a:pPr marL="174625" marR="0" lvl="0" indent="-17462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요청사항이 요청자에 의해 취소된 경우</a:t>
                      </a:r>
                    </a:p>
                    <a:p>
                      <a:pPr marL="174625" marR="0" lvl="0" indent="-17462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 서비스 평가 항목에 대한 보고일자는 고객과 사전 합의하에 정하며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처리 예정 일자가 매월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일부터 매월 말일자까지 등록된 사항으로 제한한다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marL="174625" marR="0" lvl="0" indent="-17462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고객의 사유로 요청처리일자 연기사유 발생 시 별도의 합의에 의해 일정을 조정한다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36000" marR="36000" marT="0" marB="0" anchor="ctr" horzOverflow="overflow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519" name="그룹 518">
            <a:extLst>
              <a:ext uri="{FF2B5EF4-FFF2-40B4-BE49-F238E27FC236}">
                <a16:creationId xmlns:a16="http://schemas.microsoft.com/office/drawing/2014/main" id="{CA96E603-DA2F-D2F0-69F3-F58EE45A3F62}"/>
              </a:ext>
            </a:extLst>
          </p:cNvPr>
          <p:cNvGrpSpPr/>
          <p:nvPr/>
        </p:nvGrpSpPr>
        <p:grpSpPr>
          <a:xfrm>
            <a:off x="317654" y="667364"/>
            <a:ext cx="3795422" cy="351189"/>
            <a:chOff x="760846" y="854534"/>
            <a:chExt cx="3795422" cy="351189"/>
          </a:xfrm>
        </p:grpSpPr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138EF92F-4632-97AD-057C-6F5D4A921718}"/>
                </a:ext>
              </a:extLst>
            </p:cNvPr>
            <p:cNvSpPr txBox="1"/>
            <p:nvPr/>
          </p:nvSpPr>
          <p:spPr>
            <a:xfrm flipH="1">
              <a:off x="1171266" y="891629"/>
              <a:ext cx="338500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r>
                <a:rPr lang="en-US" altLang="ko-KR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SLA </a:t>
              </a:r>
              <a:r>
                <a:rPr lang="ko-KR" altLang="en-US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예시</a:t>
              </a:r>
            </a:p>
          </p:txBody>
        </p:sp>
        <p:grpSp>
          <p:nvGrpSpPr>
            <p:cNvPr id="521" name="그룹 520">
              <a:extLst>
                <a:ext uri="{FF2B5EF4-FFF2-40B4-BE49-F238E27FC236}">
                  <a16:creationId xmlns:a16="http://schemas.microsoft.com/office/drawing/2014/main" id="{8C8B2C9A-EC0E-1A12-B145-A9EB37C1FF40}"/>
                </a:ext>
              </a:extLst>
            </p:cNvPr>
            <p:cNvGrpSpPr/>
            <p:nvPr/>
          </p:nvGrpSpPr>
          <p:grpSpPr>
            <a:xfrm>
              <a:off x="760846" y="854534"/>
              <a:ext cx="324620" cy="351189"/>
              <a:chOff x="539750" y="2917808"/>
              <a:chExt cx="526237" cy="526236"/>
            </a:xfrm>
          </p:grpSpPr>
          <p:sp>
            <p:nvSpPr>
              <p:cNvPr id="522" name="모서리가 둥근 직사각형 4">
                <a:extLst>
                  <a:ext uri="{FF2B5EF4-FFF2-40B4-BE49-F238E27FC236}">
                    <a16:creationId xmlns:a16="http://schemas.microsoft.com/office/drawing/2014/main" id="{C19C0930-B00C-6C83-9703-ABCC059E9C34}"/>
                  </a:ext>
                </a:extLst>
              </p:cNvPr>
              <p:cNvSpPr/>
              <p:nvPr/>
            </p:nvSpPr>
            <p:spPr>
              <a:xfrm>
                <a:off x="539750" y="2917808"/>
                <a:ext cx="526237" cy="526236"/>
              </a:xfrm>
              <a:prstGeom prst="roundRect">
                <a:avLst>
                  <a:gd name="adj" fmla="val 11229"/>
                </a:avLst>
              </a:prstGeom>
              <a:solidFill>
                <a:srgbClr val="00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523" name="TextBox 522">
                <a:extLst>
                  <a:ext uri="{FF2B5EF4-FFF2-40B4-BE49-F238E27FC236}">
                    <a16:creationId xmlns:a16="http://schemas.microsoft.com/office/drawing/2014/main" id="{1BF05DD1-B9F6-340F-566D-FA966B5603A0}"/>
                  </a:ext>
                </a:extLst>
              </p:cNvPr>
              <p:cNvSpPr txBox="1"/>
              <p:nvPr/>
            </p:nvSpPr>
            <p:spPr>
              <a:xfrm flipH="1">
                <a:off x="636582" y="2952530"/>
                <a:ext cx="338951" cy="46118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#</a:t>
                </a:r>
              </a:p>
            </p:txBody>
          </p:sp>
        </p:grpSp>
      </p:grpSp>
      <p:sp>
        <p:nvSpPr>
          <p:cNvPr id="524" name="Rectangle 42">
            <a:extLst>
              <a:ext uri="{FF2B5EF4-FFF2-40B4-BE49-F238E27FC236}">
                <a16:creationId xmlns:a16="http://schemas.microsoft.com/office/drawing/2014/main" id="{52440386-915E-94C7-AD2E-6A6E174AC2BB}"/>
              </a:ext>
            </a:extLst>
          </p:cNvPr>
          <p:cNvSpPr>
            <a:spLocks noChangeArrowheads="1"/>
          </p:cNvSpPr>
          <p:nvPr/>
        </p:nvSpPr>
        <p:spPr bwMode="auto">
          <a:xfrm rot="19800000">
            <a:off x="2241426" y="4398206"/>
            <a:ext cx="1943100" cy="450850"/>
          </a:xfrm>
          <a:prstGeom prst="rect">
            <a:avLst/>
          </a:prstGeom>
          <a:solidFill>
            <a:schemeClr val="bg1">
              <a:alpha val="30000"/>
            </a:schemeClr>
          </a:solidFill>
          <a:ln w="57150" cmpd="thinThick" algn="ctr">
            <a:solidFill>
              <a:srgbClr val="C54426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>
                <a:solidFill>
                  <a:srgbClr val="C54426"/>
                </a:solidFill>
                <a:latin typeface="+mn-ea"/>
                <a:ea typeface="+mn-ea"/>
              </a:rPr>
              <a:t>예 시</a:t>
            </a:r>
          </a:p>
        </p:txBody>
      </p:sp>
    </p:spTree>
    <p:extLst>
      <p:ext uri="{BB962C8B-B14F-4D97-AF65-F5344CB8AC3E}">
        <p14:creationId xmlns:p14="http://schemas.microsoft.com/office/powerpoint/2010/main" val="186374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9" name="그룹 518">
            <a:extLst>
              <a:ext uri="{FF2B5EF4-FFF2-40B4-BE49-F238E27FC236}">
                <a16:creationId xmlns:a16="http://schemas.microsoft.com/office/drawing/2014/main" id="{CA96E603-DA2F-D2F0-69F3-F58EE45A3F62}"/>
              </a:ext>
            </a:extLst>
          </p:cNvPr>
          <p:cNvGrpSpPr/>
          <p:nvPr/>
        </p:nvGrpSpPr>
        <p:grpSpPr>
          <a:xfrm>
            <a:off x="317654" y="667364"/>
            <a:ext cx="3795422" cy="351189"/>
            <a:chOff x="760846" y="854534"/>
            <a:chExt cx="3795422" cy="351189"/>
          </a:xfrm>
        </p:grpSpPr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138EF92F-4632-97AD-057C-6F5D4A921718}"/>
                </a:ext>
              </a:extLst>
            </p:cNvPr>
            <p:cNvSpPr txBox="1"/>
            <p:nvPr/>
          </p:nvSpPr>
          <p:spPr>
            <a:xfrm flipH="1">
              <a:off x="1171266" y="891629"/>
              <a:ext cx="338500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r>
                <a:rPr lang="en-US" altLang="ko-KR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Appendix</a:t>
              </a:r>
              <a:endParaRPr lang="ko-KR" altLang="en-US" sz="1800" b="1" dirty="0">
                <a:solidFill>
                  <a:srgbClr val="0067B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grpSp>
          <p:nvGrpSpPr>
            <p:cNvPr id="521" name="그룹 520">
              <a:extLst>
                <a:ext uri="{FF2B5EF4-FFF2-40B4-BE49-F238E27FC236}">
                  <a16:creationId xmlns:a16="http://schemas.microsoft.com/office/drawing/2014/main" id="{8C8B2C9A-EC0E-1A12-B145-A9EB37C1FF40}"/>
                </a:ext>
              </a:extLst>
            </p:cNvPr>
            <p:cNvGrpSpPr/>
            <p:nvPr/>
          </p:nvGrpSpPr>
          <p:grpSpPr>
            <a:xfrm>
              <a:off x="760846" y="854534"/>
              <a:ext cx="324620" cy="351189"/>
              <a:chOff x="539750" y="2917808"/>
              <a:chExt cx="526237" cy="526236"/>
            </a:xfrm>
          </p:grpSpPr>
          <p:sp>
            <p:nvSpPr>
              <p:cNvPr id="522" name="모서리가 둥근 직사각형 4">
                <a:extLst>
                  <a:ext uri="{FF2B5EF4-FFF2-40B4-BE49-F238E27FC236}">
                    <a16:creationId xmlns:a16="http://schemas.microsoft.com/office/drawing/2014/main" id="{C19C0930-B00C-6C83-9703-ABCC059E9C34}"/>
                  </a:ext>
                </a:extLst>
              </p:cNvPr>
              <p:cNvSpPr/>
              <p:nvPr/>
            </p:nvSpPr>
            <p:spPr>
              <a:xfrm>
                <a:off x="539750" y="2917808"/>
                <a:ext cx="526237" cy="526236"/>
              </a:xfrm>
              <a:prstGeom prst="roundRect">
                <a:avLst>
                  <a:gd name="adj" fmla="val 11229"/>
                </a:avLst>
              </a:prstGeom>
              <a:solidFill>
                <a:srgbClr val="00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523" name="TextBox 522">
                <a:extLst>
                  <a:ext uri="{FF2B5EF4-FFF2-40B4-BE49-F238E27FC236}">
                    <a16:creationId xmlns:a16="http://schemas.microsoft.com/office/drawing/2014/main" id="{1BF05DD1-B9F6-340F-566D-FA966B5603A0}"/>
                  </a:ext>
                </a:extLst>
              </p:cNvPr>
              <p:cNvSpPr txBox="1"/>
              <p:nvPr/>
            </p:nvSpPr>
            <p:spPr>
              <a:xfrm flipH="1">
                <a:off x="636582" y="2952530"/>
                <a:ext cx="338951" cy="46118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-</a:t>
                </a:r>
              </a:p>
            </p:txBody>
          </p:sp>
        </p:grpSp>
      </p:grpSp>
      <p:sp>
        <p:nvSpPr>
          <p:cNvPr id="525" name="Text Box 37">
            <a:extLst>
              <a:ext uri="{FF2B5EF4-FFF2-40B4-BE49-F238E27FC236}">
                <a16:creationId xmlns:a16="http://schemas.microsoft.com/office/drawing/2014/main" id="{361F8A67-9EED-F72F-A64A-D6CD82D57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952" y="1215900"/>
            <a:ext cx="6269248" cy="203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1pPr>
            <a:lvl2pPr marL="742950" indent="-28575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2pPr>
            <a:lvl3pPr marL="11430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3pPr>
            <a:lvl4pPr marL="16002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4pPr>
            <a:lvl5pPr marL="20574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9pPr>
          </a:lstStyle>
          <a:p>
            <a:pPr eaLnBrk="1" latinLnBrk="0" hangingPunct="1">
              <a:lnSpc>
                <a:spcPct val="120000"/>
              </a:lnSpc>
              <a:defRPr/>
            </a:pP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1. SLA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 추진 절차</a:t>
            </a:r>
          </a:p>
        </p:txBody>
      </p:sp>
      <p:sp>
        <p:nvSpPr>
          <p:cNvPr id="533" name="Rectangle 4">
            <a:extLst>
              <a:ext uri="{FF2B5EF4-FFF2-40B4-BE49-F238E27FC236}">
                <a16:creationId xmlns:a16="http://schemas.microsoft.com/office/drawing/2014/main" id="{1C75CD5C-5C34-AFE8-FDEC-40ECAE233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594" y="1653475"/>
            <a:ext cx="1365078" cy="37315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anchor="t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latinLnBrk="0"/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rPr>
              <a:t>서비스 조사</a:t>
            </a:r>
          </a:p>
        </p:txBody>
      </p:sp>
      <p:sp>
        <p:nvSpPr>
          <p:cNvPr id="534" name="Rectangle 5">
            <a:extLst>
              <a:ext uri="{FF2B5EF4-FFF2-40B4-BE49-F238E27FC236}">
                <a16:creationId xmlns:a16="http://schemas.microsoft.com/office/drawing/2014/main" id="{1F2E0562-94C5-33F0-77EF-738A75629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269" y="2168175"/>
            <a:ext cx="252792" cy="302386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latinLnBrk="0"/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rPr>
              <a:t>SLA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rPr>
              <a:t>추진 프로젝트  착수</a:t>
            </a:r>
          </a:p>
        </p:txBody>
      </p:sp>
      <p:sp>
        <p:nvSpPr>
          <p:cNvPr id="535" name="Rectangle 8">
            <a:extLst>
              <a:ext uri="{FF2B5EF4-FFF2-40B4-BE49-F238E27FC236}">
                <a16:creationId xmlns:a16="http://schemas.microsoft.com/office/drawing/2014/main" id="{52E3D4DC-8FF9-FED3-0EAF-EA582A10E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3737" y="2168175"/>
            <a:ext cx="252792" cy="147976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latinLnBrk="0"/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rPr>
              <a:t>정보자원 조사</a:t>
            </a:r>
          </a:p>
        </p:txBody>
      </p:sp>
      <p:sp>
        <p:nvSpPr>
          <p:cNvPr id="536" name="Rectangle 9">
            <a:extLst>
              <a:ext uri="{FF2B5EF4-FFF2-40B4-BE49-F238E27FC236}">
                <a16:creationId xmlns:a16="http://schemas.microsoft.com/office/drawing/2014/main" id="{7BE41C3C-A0FB-DB7F-9E2B-48120FC51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8205" y="2168175"/>
            <a:ext cx="252792" cy="147976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latinLnBrk="0"/>
            <a:r>
              <a:rPr lang="ko-KR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rPr>
              <a:t>정보서비스 조사</a:t>
            </a:r>
          </a:p>
        </p:txBody>
      </p:sp>
      <p:sp>
        <p:nvSpPr>
          <p:cNvPr id="537" name="Rectangle 10">
            <a:extLst>
              <a:ext uri="{FF2B5EF4-FFF2-40B4-BE49-F238E27FC236}">
                <a16:creationId xmlns:a16="http://schemas.microsoft.com/office/drawing/2014/main" id="{1DDA13E7-2BE9-4065-DF00-2857A26CA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3789" y="1653475"/>
            <a:ext cx="1365078" cy="37315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anchor="t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latinLnBrk="0"/>
            <a:r>
              <a:rPr lang="ko-KR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rPr>
              <a:t>서비스 정의</a:t>
            </a:r>
          </a:p>
        </p:txBody>
      </p:sp>
      <p:sp>
        <p:nvSpPr>
          <p:cNvPr id="538" name="Rectangle 11">
            <a:extLst>
              <a:ext uri="{FF2B5EF4-FFF2-40B4-BE49-F238E27FC236}">
                <a16:creationId xmlns:a16="http://schemas.microsoft.com/office/drawing/2014/main" id="{4EE1299B-8D78-1A52-51C8-A39E06E0A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5465" y="2168175"/>
            <a:ext cx="252792" cy="302386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latinLnBrk="0"/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rPr>
              <a:t>서비스 도출</a:t>
            </a:r>
          </a:p>
        </p:txBody>
      </p:sp>
      <p:sp>
        <p:nvSpPr>
          <p:cNvPr id="539" name="Rectangle 12">
            <a:extLst>
              <a:ext uri="{FF2B5EF4-FFF2-40B4-BE49-F238E27FC236}">
                <a16:creationId xmlns:a16="http://schemas.microsoft.com/office/drawing/2014/main" id="{599FE19D-110E-0605-9150-7F3070411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932" y="2168175"/>
            <a:ext cx="252792" cy="302386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latinLnBrk="0"/>
            <a:r>
              <a:rPr lang="ko-KR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rPr>
              <a:t>측정방법 정의</a:t>
            </a:r>
          </a:p>
        </p:txBody>
      </p:sp>
      <p:sp>
        <p:nvSpPr>
          <p:cNvPr id="540" name="Rectangle 13">
            <a:extLst>
              <a:ext uri="{FF2B5EF4-FFF2-40B4-BE49-F238E27FC236}">
                <a16:creationId xmlns:a16="http://schemas.microsoft.com/office/drawing/2014/main" id="{934E4AD2-D7CA-FBB1-A412-E4185F6B8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400" y="3840949"/>
            <a:ext cx="252792" cy="135108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latinLnBrk="0"/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rPr>
              <a:t>SLA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rPr>
              <a:t>작성</a:t>
            </a:r>
          </a:p>
        </p:txBody>
      </p:sp>
      <p:sp>
        <p:nvSpPr>
          <p:cNvPr id="541" name="Rectangle 14">
            <a:extLst>
              <a:ext uri="{FF2B5EF4-FFF2-40B4-BE49-F238E27FC236}">
                <a16:creationId xmlns:a16="http://schemas.microsoft.com/office/drawing/2014/main" id="{0B8BEB96-DD0E-A955-E942-66E90D0E6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9984" y="1653475"/>
            <a:ext cx="1365078" cy="37315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anchor="t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latinLnBrk="0"/>
            <a:r>
              <a:rPr lang="ko-KR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rPr>
              <a:t>서비스 협약</a:t>
            </a:r>
          </a:p>
        </p:txBody>
      </p:sp>
      <p:sp>
        <p:nvSpPr>
          <p:cNvPr id="542" name="Rectangle 15">
            <a:extLst>
              <a:ext uri="{FF2B5EF4-FFF2-40B4-BE49-F238E27FC236}">
                <a16:creationId xmlns:a16="http://schemas.microsoft.com/office/drawing/2014/main" id="{F855221B-D90A-F7C4-F438-093D4070B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660" y="3840949"/>
            <a:ext cx="252792" cy="135108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latinLnBrk="0"/>
            <a:r>
              <a:rPr lang="ko-KR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rPr>
              <a:t>초기값 측정</a:t>
            </a:r>
          </a:p>
        </p:txBody>
      </p:sp>
      <p:sp>
        <p:nvSpPr>
          <p:cNvPr id="543" name="Rectangle 16">
            <a:extLst>
              <a:ext uri="{FF2B5EF4-FFF2-40B4-BE49-F238E27FC236}">
                <a16:creationId xmlns:a16="http://schemas.microsoft.com/office/drawing/2014/main" id="{64DCCAD3-4B11-D43F-A751-6CCEECE1D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6127" y="2168175"/>
            <a:ext cx="252792" cy="302386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latinLnBrk="0"/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rPr>
              <a:t>서비스 목표 설정</a:t>
            </a:r>
          </a:p>
        </p:txBody>
      </p:sp>
      <p:sp>
        <p:nvSpPr>
          <p:cNvPr id="544" name="Rectangle 17">
            <a:extLst>
              <a:ext uri="{FF2B5EF4-FFF2-40B4-BE49-F238E27FC236}">
                <a16:creationId xmlns:a16="http://schemas.microsoft.com/office/drawing/2014/main" id="{90590C35-E6E4-C3D3-3F36-75DB2B365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0595" y="2168175"/>
            <a:ext cx="252792" cy="302386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latinLnBrk="0"/>
            <a:r>
              <a:rPr lang="ko-KR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rPr>
              <a:t>협약 체결</a:t>
            </a:r>
          </a:p>
        </p:txBody>
      </p:sp>
      <p:sp>
        <p:nvSpPr>
          <p:cNvPr id="545" name="Rectangle 18">
            <a:extLst>
              <a:ext uri="{FF2B5EF4-FFF2-40B4-BE49-F238E27FC236}">
                <a16:creationId xmlns:a16="http://schemas.microsoft.com/office/drawing/2014/main" id="{D6ACCADE-197A-5055-6695-4E40B715E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6179" y="1653475"/>
            <a:ext cx="1365078" cy="37315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anchor="t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latinLnBrk="0"/>
            <a:r>
              <a:rPr lang="ko-KR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rPr>
              <a:t>서비스 관리</a:t>
            </a:r>
          </a:p>
        </p:txBody>
      </p:sp>
      <p:sp>
        <p:nvSpPr>
          <p:cNvPr id="546" name="Rectangle 19">
            <a:extLst>
              <a:ext uri="{FF2B5EF4-FFF2-40B4-BE49-F238E27FC236}">
                <a16:creationId xmlns:a16="http://schemas.microsoft.com/office/drawing/2014/main" id="{2872A1BE-30AF-E6B2-D8E0-84914618D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7855" y="3840949"/>
            <a:ext cx="252792" cy="135108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latinLnBrk="0"/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rPr>
              <a:t>서비스 측정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rPr>
              <a:t>/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rPr>
              <a:t>보고</a:t>
            </a:r>
          </a:p>
        </p:txBody>
      </p:sp>
      <p:sp>
        <p:nvSpPr>
          <p:cNvPr id="547" name="Rectangle 20">
            <a:extLst>
              <a:ext uri="{FF2B5EF4-FFF2-40B4-BE49-F238E27FC236}">
                <a16:creationId xmlns:a16="http://schemas.microsoft.com/office/drawing/2014/main" id="{A9207793-9EFC-F187-5EF0-1E6F7E818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2322" y="2168175"/>
            <a:ext cx="252792" cy="147976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latinLnBrk="0"/>
            <a:r>
              <a:rPr lang="ko-KR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rPr>
              <a:t>평가 및 조치</a:t>
            </a:r>
          </a:p>
        </p:txBody>
      </p:sp>
      <p:sp>
        <p:nvSpPr>
          <p:cNvPr id="548" name="Rectangle 21">
            <a:extLst>
              <a:ext uri="{FF2B5EF4-FFF2-40B4-BE49-F238E27FC236}">
                <a16:creationId xmlns:a16="http://schemas.microsoft.com/office/drawing/2014/main" id="{C7F9F30F-2C4B-5497-8EF9-545261F6D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6790" y="2168175"/>
            <a:ext cx="252792" cy="302386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latinLnBrk="0"/>
            <a:r>
              <a:rPr lang="ko-KR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rPr>
              <a:t>서비스 통제</a:t>
            </a:r>
          </a:p>
        </p:txBody>
      </p:sp>
      <p:sp>
        <p:nvSpPr>
          <p:cNvPr id="551" name="Line 25">
            <a:extLst>
              <a:ext uri="{FF2B5EF4-FFF2-40B4-BE49-F238E27FC236}">
                <a16:creationId xmlns:a16="http://schemas.microsoft.com/office/drawing/2014/main" id="{EA697E78-642C-9F45-7FAA-615F6DF60A0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2062" y="2940224"/>
            <a:ext cx="151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ko-KR" altLang="en-US" sz="105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2" name="Line 26">
            <a:extLst>
              <a:ext uri="{FF2B5EF4-FFF2-40B4-BE49-F238E27FC236}">
                <a16:creationId xmlns:a16="http://schemas.microsoft.com/office/drawing/2014/main" id="{7F0B6C47-F307-FCFD-F012-4B23F7C0EAE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3903" y="2940224"/>
            <a:ext cx="151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ko-KR" altLang="en-US" sz="105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3" name="Line 38">
            <a:extLst>
              <a:ext uri="{FF2B5EF4-FFF2-40B4-BE49-F238E27FC236}">
                <a16:creationId xmlns:a16="http://schemas.microsoft.com/office/drawing/2014/main" id="{67491794-7800-2758-6A9B-4BAB60F489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0997" y="2940224"/>
            <a:ext cx="40446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ko-KR" altLang="en-US" sz="105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4" name="Line 39">
            <a:extLst>
              <a:ext uri="{FF2B5EF4-FFF2-40B4-BE49-F238E27FC236}">
                <a16:creationId xmlns:a16="http://schemas.microsoft.com/office/drawing/2014/main" id="{300EEA45-3A8D-BDA3-B87A-BA8E735C4E7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8257" y="4548661"/>
            <a:ext cx="151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ko-KR" altLang="en-US" sz="105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5" name="Line 40">
            <a:extLst>
              <a:ext uri="{FF2B5EF4-FFF2-40B4-BE49-F238E27FC236}">
                <a16:creationId xmlns:a16="http://schemas.microsoft.com/office/drawing/2014/main" id="{8815E913-06B7-763B-AE46-8DD2D387434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10098" y="4548661"/>
            <a:ext cx="151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ko-KR" altLang="en-US" sz="105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6" name="Line 41">
            <a:extLst>
              <a:ext uri="{FF2B5EF4-FFF2-40B4-BE49-F238E27FC236}">
                <a16:creationId xmlns:a16="http://schemas.microsoft.com/office/drawing/2014/main" id="{12AE0C18-F808-B6F3-7F36-2155D1EAEE2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4452" y="4548661"/>
            <a:ext cx="151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ko-KR" altLang="en-US" sz="105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7" name="Line 42">
            <a:extLst>
              <a:ext uri="{FF2B5EF4-FFF2-40B4-BE49-F238E27FC236}">
                <a16:creationId xmlns:a16="http://schemas.microsoft.com/office/drawing/2014/main" id="{6F879FDF-42B4-7A65-1ED8-8360DCA99C7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6293" y="4548661"/>
            <a:ext cx="151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ko-KR" altLang="en-US" sz="105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8" name="Line 43">
            <a:extLst>
              <a:ext uri="{FF2B5EF4-FFF2-40B4-BE49-F238E27FC236}">
                <a16:creationId xmlns:a16="http://schemas.microsoft.com/office/drawing/2014/main" id="{3EE8E004-63DF-F63A-7EE8-177ADEB195BC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7192" y="4548661"/>
            <a:ext cx="40446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ko-KR" altLang="en-US" sz="105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9" name="Line 44">
            <a:extLst>
              <a:ext uri="{FF2B5EF4-FFF2-40B4-BE49-F238E27FC236}">
                <a16:creationId xmlns:a16="http://schemas.microsoft.com/office/drawing/2014/main" id="{A1E87089-FF92-006D-7E2C-6DABABCFCA8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3387" y="4548661"/>
            <a:ext cx="40446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ko-KR" altLang="en-US" sz="105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60" name="AutoShape 45">
            <a:extLst>
              <a:ext uri="{FF2B5EF4-FFF2-40B4-BE49-F238E27FC236}">
                <a16:creationId xmlns:a16="http://schemas.microsoft.com/office/drawing/2014/main" id="{AA651585-FE2C-95DE-4AC1-8F3A2E4DABC7}"/>
              </a:ext>
            </a:extLst>
          </p:cNvPr>
          <p:cNvCxnSpPr>
            <a:cxnSpLocks noChangeShapeType="1"/>
            <a:stCxn id="546" idx="3"/>
            <a:endCxn id="547" idx="1"/>
          </p:cNvCxnSpPr>
          <p:nvPr/>
        </p:nvCxnSpPr>
        <p:spPr bwMode="auto">
          <a:xfrm flipV="1">
            <a:off x="5530647" y="2908056"/>
            <a:ext cx="151675" cy="160843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1" name="Line 47">
            <a:extLst>
              <a:ext uri="{FF2B5EF4-FFF2-40B4-BE49-F238E27FC236}">
                <a16:creationId xmlns:a16="http://schemas.microsoft.com/office/drawing/2014/main" id="{E02D54AD-FA1E-A43B-6631-69854ED46545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5530647" y="4677336"/>
            <a:ext cx="55614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ko-KR" altLang="en-US" sz="105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2" name="Line 48">
            <a:extLst>
              <a:ext uri="{FF2B5EF4-FFF2-40B4-BE49-F238E27FC236}">
                <a16:creationId xmlns:a16="http://schemas.microsoft.com/office/drawing/2014/main" id="{833FB0F1-278C-20EE-D303-E54D18847F3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8257" y="2940224"/>
            <a:ext cx="151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ko-KR" altLang="en-US" sz="105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3" name="Line 49">
            <a:extLst>
              <a:ext uri="{FF2B5EF4-FFF2-40B4-BE49-F238E27FC236}">
                <a16:creationId xmlns:a16="http://schemas.microsoft.com/office/drawing/2014/main" id="{DEDB8E0C-D5A7-A0BC-62E0-F5175C5F5AF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6293" y="2940224"/>
            <a:ext cx="151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ko-KR" altLang="en-US" sz="105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4" name="Line 50">
            <a:extLst>
              <a:ext uri="{FF2B5EF4-FFF2-40B4-BE49-F238E27FC236}">
                <a16:creationId xmlns:a16="http://schemas.microsoft.com/office/drawing/2014/main" id="{707FED2A-AC26-A3E9-B5AE-7AE10BE4776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5115" y="2940224"/>
            <a:ext cx="151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ko-KR" altLang="en-US" sz="105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8" name="모서리가 둥근 직사각형 187">
            <a:extLst>
              <a:ext uri="{FF2B5EF4-FFF2-40B4-BE49-F238E27FC236}">
                <a16:creationId xmlns:a16="http://schemas.microsoft.com/office/drawing/2014/main" id="{F0F5CD0D-74F9-20DB-B7F9-848416077952}"/>
              </a:ext>
            </a:extLst>
          </p:cNvPr>
          <p:cNvSpPr/>
          <p:nvPr/>
        </p:nvSpPr>
        <p:spPr>
          <a:xfrm>
            <a:off x="330888" y="1653475"/>
            <a:ext cx="293889" cy="2039385"/>
          </a:xfrm>
          <a:prstGeom prst="roundRect">
            <a:avLst>
              <a:gd name="adj" fmla="val 4522"/>
            </a:avLst>
          </a:prstGeom>
          <a:solidFill>
            <a:srgbClr val="C4BBEF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IT </a:t>
            </a:r>
            <a:r>
              <a:rPr kumimoji="1"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기획부서</a:t>
            </a:r>
            <a:endParaRPr kumimoji="1"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/</a:t>
            </a: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현업</a:t>
            </a:r>
          </a:p>
        </p:txBody>
      </p:sp>
      <p:sp>
        <p:nvSpPr>
          <p:cNvPr id="659" name="모서리가 둥근 직사각형 187">
            <a:extLst>
              <a:ext uri="{FF2B5EF4-FFF2-40B4-BE49-F238E27FC236}">
                <a16:creationId xmlns:a16="http://schemas.microsoft.com/office/drawing/2014/main" id="{DDC0116D-DB55-12FC-D4E8-54027482EB9D}"/>
              </a:ext>
            </a:extLst>
          </p:cNvPr>
          <p:cNvSpPr/>
          <p:nvPr/>
        </p:nvSpPr>
        <p:spPr>
          <a:xfrm>
            <a:off x="330888" y="3759263"/>
            <a:ext cx="293889" cy="1625785"/>
          </a:xfrm>
          <a:prstGeom prst="roundRect">
            <a:avLst>
              <a:gd name="adj" fmla="val 4522"/>
            </a:avLst>
          </a:prstGeom>
          <a:solidFill>
            <a:srgbClr val="C4BBEF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공급업체</a:t>
            </a:r>
          </a:p>
        </p:txBody>
      </p:sp>
      <p:grpSp>
        <p:nvGrpSpPr>
          <p:cNvPr id="680" name="그룹 679">
            <a:extLst>
              <a:ext uri="{FF2B5EF4-FFF2-40B4-BE49-F238E27FC236}">
                <a16:creationId xmlns:a16="http://schemas.microsoft.com/office/drawing/2014/main" id="{932CE319-A451-CB1C-B128-2BFD3D568856}"/>
              </a:ext>
            </a:extLst>
          </p:cNvPr>
          <p:cNvGrpSpPr/>
          <p:nvPr/>
        </p:nvGrpSpPr>
        <p:grpSpPr>
          <a:xfrm>
            <a:off x="346912" y="5690764"/>
            <a:ext cx="6166671" cy="614456"/>
            <a:chOff x="346912" y="5690764"/>
            <a:chExt cx="6166671" cy="614456"/>
          </a:xfrm>
        </p:grpSpPr>
        <p:sp>
          <p:nvSpPr>
            <p:cNvPr id="660" name="직사각형 262">
              <a:extLst>
                <a:ext uri="{FF2B5EF4-FFF2-40B4-BE49-F238E27FC236}">
                  <a16:creationId xmlns:a16="http://schemas.microsoft.com/office/drawing/2014/main" id="{610564B8-9B36-FBE5-D649-151E96BBFE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912" y="5690764"/>
              <a:ext cx="1795715" cy="255627"/>
            </a:xfrm>
            <a:prstGeom prst="rect">
              <a:avLst/>
            </a:prstGeom>
            <a:solidFill>
              <a:srgbClr val="E5E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1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서비스 조사</a:t>
              </a:r>
            </a:p>
          </p:txBody>
        </p:sp>
        <p:sp>
          <p:nvSpPr>
            <p:cNvPr id="664" name="Text Box 316">
              <a:extLst>
                <a:ext uri="{FF2B5EF4-FFF2-40B4-BE49-F238E27FC236}">
                  <a16:creationId xmlns:a16="http://schemas.microsoft.com/office/drawing/2014/main" id="{B11FA7DB-E9D4-3979-1E89-5AB3CC8E3065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234499" y="5743528"/>
              <a:ext cx="4279084" cy="561692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defPPr>
                <a:defRPr lang="ko-KR"/>
              </a:defPPr>
              <a:lvl2pPr marL="95250" lvl="1" indent="-95250" defTabSz="444500" latinLnBrk="0"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100000"/>
                <a:buFont typeface="Arial" pitchFamily="34" charset="0"/>
                <a:buChar char="•"/>
                <a:defRPr sz="1050" b="0">
                  <a:solidFill>
                    <a:schemeClr val="tx1">
                      <a:lumMod val="75000"/>
                      <a:lumOff val="25000"/>
                    </a:schemeClr>
                  </a:solidFill>
                  <a:latin typeface="Yoon 윤고딕 520_TT" pitchFamily="18" charset="-127"/>
                  <a:ea typeface="Yoon 윤고딕 520_TT" pitchFamily="18" charset="-127"/>
                </a:defRPr>
              </a:lvl2pPr>
              <a:lvl3pPr marL="201613" lvl="2" indent="-106363" defTabSz="444500" latinLnBrk="0">
                <a:buClr>
                  <a:schemeClr val="tx1"/>
                </a:buClr>
                <a:buSzPct val="100000"/>
                <a:buFont typeface="Rix모던고딕 B" pitchFamily="18" charset="-127"/>
                <a:buChar char="-"/>
                <a:defRPr sz="900">
                  <a:latin typeface="Rix모던고딕 M" pitchFamily="18" charset="-127"/>
                  <a:ea typeface="Rix모던고딕 M" pitchFamily="18" charset="-127"/>
                </a:defRPr>
              </a:lvl3pPr>
            </a:lstStyle>
            <a:p>
              <a:pPr lvl="1" fontAlgn="base">
                <a:spcBef>
                  <a:spcPct val="0"/>
                </a:spcBef>
                <a:buClr>
                  <a:srgbClr val="000000">
                    <a:lumMod val="75000"/>
                    <a:lumOff val="25000"/>
                  </a:srgbClr>
                </a:buClr>
                <a:defRPr/>
              </a:pP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SLA 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추진 프로젝트 착수 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: 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조직 구성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, 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팀원 교육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, 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작업 일정계획 수립</a:t>
              </a:r>
            </a:p>
            <a:p>
              <a:pPr lvl="1" fontAlgn="base">
                <a:spcBef>
                  <a:spcPct val="0"/>
                </a:spcBef>
                <a:buClr>
                  <a:srgbClr val="000000">
                    <a:lumMod val="75000"/>
                    <a:lumOff val="25000"/>
                  </a:srgbClr>
                </a:buClr>
                <a:defRPr/>
              </a:pP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정보자원 조사 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: 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업무 현황 조사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, 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시스템 현황 조사</a:t>
              </a:r>
            </a:p>
            <a:p>
              <a:pPr lvl="1" fontAlgn="base">
                <a:spcBef>
                  <a:spcPct val="0"/>
                </a:spcBef>
                <a:buClr>
                  <a:srgbClr val="000000">
                    <a:lumMod val="75000"/>
                    <a:lumOff val="25000"/>
                  </a:srgbClr>
                </a:buClr>
                <a:defRPr/>
              </a:pP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정보서비스 조사 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: 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서비스 항목 조사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, 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서비스 내용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/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절차 조사</a:t>
              </a:r>
            </a:p>
          </p:txBody>
        </p:sp>
      </p:grpSp>
      <p:grpSp>
        <p:nvGrpSpPr>
          <p:cNvPr id="681" name="그룹 680">
            <a:extLst>
              <a:ext uri="{FF2B5EF4-FFF2-40B4-BE49-F238E27FC236}">
                <a16:creationId xmlns:a16="http://schemas.microsoft.com/office/drawing/2014/main" id="{9FC43A44-8D45-CD24-5620-FE607C51F6D7}"/>
              </a:ext>
            </a:extLst>
          </p:cNvPr>
          <p:cNvGrpSpPr/>
          <p:nvPr/>
        </p:nvGrpSpPr>
        <p:grpSpPr>
          <a:xfrm>
            <a:off x="346912" y="6541430"/>
            <a:ext cx="6166676" cy="937623"/>
            <a:chOff x="346912" y="6011806"/>
            <a:chExt cx="6166676" cy="937623"/>
          </a:xfrm>
        </p:grpSpPr>
        <p:sp>
          <p:nvSpPr>
            <p:cNvPr id="661" name="직사각형 660">
              <a:extLst>
                <a:ext uri="{FF2B5EF4-FFF2-40B4-BE49-F238E27FC236}">
                  <a16:creationId xmlns:a16="http://schemas.microsoft.com/office/drawing/2014/main" id="{7FEA5490-E79A-978C-19F8-FB4CD198F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912" y="6011806"/>
              <a:ext cx="1795715" cy="255627"/>
            </a:xfrm>
            <a:prstGeom prst="rect">
              <a:avLst/>
            </a:prstGeom>
            <a:solidFill>
              <a:srgbClr val="CCCC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1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서비스 정의</a:t>
              </a:r>
            </a:p>
          </p:txBody>
        </p:sp>
        <p:sp>
          <p:nvSpPr>
            <p:cNvPr id="665" name="Text Box 316">
              <a:extLst>
                <a:ext uri="{FF2B5EF4-FFF2-40B4-BE49-F238E27FC236}">
                  <a16:creationId xmlns:a16="http://schemas.microsoft.com/office/drawing/2014/main" id="{E72592E4-1DDC-BCD0-A9A2-E237DADA73DA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234503" y="6064571"/>
              <a:ext cx="4279085" cy="884858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defPPr>
                <a:defRPr lang="ko-KR"/>
              </a:defPPr>
              <a:lvl2pPr marL="95250" lvl="1" indent="-95250" defTabSz="444500" latinLnBrk="0"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100000"/>
                <a:buFont typeface="Arial" pitchFamily="34" charset="0"/>
                <a:buChar char="•"/>
                <a:defRPr sz="1050" b="0">
                  <a:solidFill>
                    <a:schemeClr val="tx1">
                      <a:lumMod val="75000"/>
                      <a:lumOff val="25000"/>
                    </a:schemeClr>
                  </a:solidFill>
                  <a:latin typeface="Yoon 윤고딕 520_TT" pitchFamily="18" charset="-127"/>
                  <a:ea typeface="Yoon 윤고딕 520_TT" pitchFamily="18" charset="-127"/>
                </a:defRPr>
              </a:lvl2pPr>
              <a:lvl3pPr marL="201613" lvl="2" indent="-106363" defTabSz="444500" latinLnBrk="0">
                <a:buClr>
                  <a:schemeClr val="tx1"/>
                </a:buClr>
                <a:buSzPct val="100000"/>
                <a:buFont typeface="Rix모던고딕 B" pitchFamily="18" charset="-127"/>
                <a:buChar char="-"/>
                <a:defRPr sz="900">
                  <a:latin typeface="Rix모던고딕 M" pitchFamily="18" charset="-127"/>
                  <a:ea typeface="Rix모던고딕 M" pitchFamily="18" charset="-127"/>
                </a:defRPr>
              </a:lvl3pPr>
            </a:lstStyle>
            <a:p>
              <a:pPr lvl="1" fontAlgn="base">
                <a:spcBef>
                  <a:spcPct val="0"/>
                </a:spcBef>
                <a:buClr>
                  <a:srgbClr val="000000">
                    <a:lumMod val="75000"/>
                    <a:lumOff val="25000"/>
                  </a:srgbClr>
                </a:buClr>
                <a:defRPr/>
              </a:pP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서비스 도출 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: 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범위 및 항목 선정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, 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서비스 절차 정의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, 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서비스 내용 정의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, 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서비스 역할 및 책임 정의</a:t>
              </a:r>
            </a:p>
            <a:p>
              <a:pPr lvl="1" fontAlgn="base">
                <a:spcBef>
                  <a:spcPct val="0"/>
                </a:spcBef>
                <a:buClr>
                  <a:srgbClr val="000000">
                    <a:lumMod val="75000"/>
                    <a:lumOff val="25000"/>
                  </a:srgbClr>
                </a:buClr>
                <a:defRPr/>
              </a:pP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측정방법 정의 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: 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측정항목 선정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, 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측정방법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/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도구 정의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, 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보고 및 승인절차 정의</a:t>
              </a:r>
            </a:p>
            <a:p>
              <a:pPr lvl="1" fontAlgn="base">
                <a:spcBef>
                  <a:spcPct val="0"/>
                </a:spcBef>
                <a:buClr>
                  <a:srgbClr val="000000">
                    <a:lumMod val="75000"/>
                    <a:lumOff val="25000"/>
                  </a:srgbClr>
                </a:buClr>
                <a:defRPr/>
              </a:pP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SLA 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작성 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: 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관리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/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개정 절차 정의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, 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전제조건 정의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, SLA 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초안 작성</a:t>
              </a:r>
            </a:p>
          </p:txBody>
        </p:sp>
      </p:grpSp>
      <p:grpSp>
        <p:nvGrpSpPr>
          <p:cNvPr id="682" name="그룹 681">
            <a:extLst>
              <a:ext uri="{FF2B5EF4-FFF2-40B4-BE49-F238E27FC236}">
                <a16:creationId xmlns:a16="http://schemas.microsoft.com/office/drawing/2014/main" id="{AA21B453-CBE6-69FD-67B1-C47683F00DEE}"/>
              </a:ext>
            </a:extLst>
          </p:cNvPr>
          <p:cNvGrpSpPr/>
          <p:nvPr/>
        </p:nvGrpSpPr>
        <p:grpSpPr>
          <a:xfrm>
            <a:off x="346912" y="7715263"/>
            <a:ext cx="6166675" cy="614456"/>
            <a:chOff x="346912" y="6332849"/>
            <a:chExt cx="6166675" cy="614456"/>
          </a:xfrm>
        </p:grpSpPr>
        <p:sp>
          <p:nvSpPr>
            <p:cNvPr id="662" name="직사각형 262">
              <a:extLst>
                <a:ext uri="{FF2B5EF4-FFF2-40B4-BE49-F238E27FC236}">
                  <a16:creationId xmlns:a16="http://schemas.microsoft.com/office/drawing/2014/main" id="{456E7A8F-B144-2DE0-DCDC-BA4043B9ED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912" y="6332849"/>
              <a:ext cx="1795715" cy="255627"/>
            </a:xfrm>
            <a:prstGeom prst="rect">
              <a:avLst/>
            </a:prstGeom>
            <a:solidFill>
              <a:srgbClr val="ACAB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100" b="1" dirty="0">
                  <a:solidFill>
                    <a:prstClr val="white"/>
                  </a:solidFill>
                  <a:latin typeface="+mn-ea"/>
                </a:rPr>
                <a:t>서비스 협약</a:t>
              </a:r>
            </a:p>
          </p:txBody>
        </p:sp>
        <p:sp>
          <p:nvSpPr>
            <p:cNvPr id="666" name="Text Box 316">
              <a:extLst>
                <a:ext uri="{FF2B5EF4-FFF2-40B4-BE49-F238E27FC236}">
                  <a16:creationId xmlns:a16="http://schemas.microsoft.com/office/drawing/2014/main" id="{ACB5CFD4-0458-085C-3557-69C76BC3DCD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234502" y="6385613"/>
              <a:ext cx="4279085" cy="561692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defPPr>
                <a:defRPr lang="ko-KR"/>
              </a:defPPr>
              <a:lvl2pPr marL="95250" lvl="1" indent="-95250" defTabSz="444500" latinLnBrk="0"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100000"/>
                <a:buFont typeface="Arial" pitchFamily="34" charset="0"/>
                <a:buChar char="•"/>
                <a:defRPr sz="1050" b="0">
                  <a:solidFill>
                    <a:schemeClr val="tx1">
                      <a:lumMod val="75000"/>
                      <a:lumOff val="25000"/>
                    </a:schemeClr>
                  </a:solidFill>
                  <a:latin typeface="Yoon 윤고딕 520_TT" pitchFamily="18" charset="-127"/>
                  <a:ea typeface="Yoon 윤고딕 520_TT" pitchFamily="18" charset="-127"/>
                </a:defRPr>
              </a:lvl2pPr>
              <a:lvl3pPr marL="201613" lvl="2" indent="-106363" defTabSz="444500" latinLnBrk="0">
                <a:buClr>
                  <a:schemeClr val="tx1"/>
                </a:buClr>
                <a:buSzPct val="100000"/>
                <a:buFont typeface="Rix모던고딕 B" pitchFamily="18" charset="-127"/>
                <a:buChar char="-"/>
                <a:defRPr sz="900">
                  <a:latin typeface="Rix모던고딕 M" pitchFamily="18" charset="-127"/>
                  <a:ea typeface="Rix모던고딕 M" pitchFamily="18" charset="-127"/>
                </a:defRPr>
              </a:lvl3pPr>
            </a:lstStyle>
            <a:p>
              <a:pPr lvl="1" fontAlgn="base">
                <a:spcBef>
                  <a:spcPct val="0"/>
                </a:spcBef>
                <a:buClr>
                  <a:srgbClr val="000000">
                    <a:lumMod val="75000"/>
                    <a:lumOff val="25000"/>
                  </a:srgbClr>
                </a:buClr>
                <a:defRPr/>
              </a:pP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초기값 측정 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: 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지표 측정 실시 및 보고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, 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측정항목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/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방법 조정</a:t>
              </a:r>
            </a:p>
            <a:p>
              <a:pPr lvl="1" fontAlgn="base">
                <a:spcBef>
                  <a:spcPct val="0"/>
                </a:spcBef>
                <a:buClr>
                  <a:srgbClr val="000000">
                    <a:lumMod val="75000"/>
                    <a:lumOff val="25000"/>
                  </a:srgbClr>
                </a:buClr>
                <a:defRPr/>
              </a:pP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서비스 목표 설정 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: 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목표 수준 결정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, 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평가기준 정의</a:t>
              </a:r>
            </a:p>
            <a:p>
              <a:pPr lvl="1" fontAlgn="base">
                <a:spcBef>
                  <a:spcPct val="0"/>
                </a:spcBef>
                <a:buClr>
                  <a:srgbClr val="000000">
                    <a:lumMod val="75000"/>
                    <a:lumOff val="25000"/>
                  </a:srgbClr>
                </a:buClr>
                <a:defRPr/>
              </a:pP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협약 체결 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: 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협약서 협상과 조정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, SLA 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승인</a:t>
              </a:r>
            </a:p>
          </p:txBody>
        </p:sp>
      </p:grpSp>
      <p:grpSp>
        <p:nvGrpSpPr>
          <p:cNvPr id="683" name="그룹 682">
            <a:extLst>
              <a:ext uri="{FF2B5EF4-FFF2-40B4-BE49-F238E27FC236}">
                <a16:creationId xmlns:a16="http://schemas.microsoft.com/office/drawing/2014/main" id="{6BA231CB-714A-5B1A-F3F2-07528807B22E}"/>
              </a:ext>
            </a:extLst>
          </p:cNvPr>
          <p:cNvGrpSpPr/>
          <p:nvPr/>
        </p:nvGrpSpPr>
        <p:grpSpPr>
          <a:xfrm>
            <a:off x="346912" y="8565929"/>
            <a:ext cx="6166675" cy="614456"/>
            <a:chOff x="346912" y="6653892"/>
            <a:chExt cx="6166675" cy="614456"/>
          </a:xfrm>
        </p:grpSpPr>
        <p:sp>
          <p:nvSpPr>
            <p:cNvPr id="663" name="직사각형 262">
              <a:extLst>
                <a:ext uri="{FF2B5EF4-FFF2-40B4-BE49-F238E27FC236}">
                  <a16:creationId xmlns:a16="http://schemas.microsoft.com/office/drawing/2014/main" id="{D1B8A387-01B4-EE04-0D74-F2F218D836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912" y="6653892"/>
              <a:ext cx="1795715" cy="255627"/>
            </a:xfrm>
            <a:prstGeom prst="rect">
              <a:avLst/>
            </a:prstGeom>
            <a:solidFill>
              <a:srgbClr val="8F8E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100" b="1" dirty="0">
                  <a:solidFill>
                    <a:prstClr val="white"/>
                  </a:solidFill>
                  <a:latin typeface="+mn-ea"/>
                </a:rPr>
                <a:t>서비스 관리</a:t>
              </a:r>
            </a:p>
          </p:txBody>
        </p:sp>
        <p:sp>
          <p:nvSpPr>
            <p:cNvPr id="667" name="Text Box 316">
              <a:extLst>
                <a:ext uri="{FF2B5EF4-FFF2-40B4-BE49-F238E27FC236}">
                  <a16:creationId xmlns:a16="http://schemas.microsoft.com/office/drawing/2014/main" id="{CC28E667-8A32-CE63-1493-652026781CC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234502" y="6706656"/>
              <a:ext cx="4279085" cy="561692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defPPr>
                <a:defRPr lang="ko-KR"/>
              </a:defPPr>
              <a:lvl2pPr marL="95250" lvl="1" indent="-95250" defTabSz="444500" latinLnBrk="0">
                <a:spcAft>
                  <a:spcPts val="30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100000"/>
                <a:buFont typeface="Arial" pitchFamily="34" charset="0"/>
                <a:buChar char="•"/>
                <a:defRPr sz="1050" b="0">
                  <a:solidFill>
                    <a:schemeClr val="tx1">
                      <a:lumMod val="75000"/>
                      <a:lumOff val="25000"/>
                    </a:schemeClr>
                  </a:solidFill>
                  <a:latin typeface="Yoon 윤고딕 520_TT" pitchFamily="18" charset="-127"/>
                  <a:ea typeface="Yoon 윤고딕 520_TT" pitchFamily="18" charset="-127"/>
                </a:defRPr>
              </a:lvl2pPr>
              <a:lvl3pPr marL="201613" lvl="2" indent="-106363" defTabSz="444500" latinLnBrk="0">
                <a:buClr>
                  <a:schemeClr val="tx1"/>
                </a:buClr>
                <a:buSzPct val="100000"/>
                <a:buFont typeface="Rix모던고딕 B" pitchFamily="18" charset="-127"/>
                <a:buChar char="-"/>
                <a:defRPr sz="900">
                  <a:latin typeface="Rix모던고딕 M" pitchFamily="18" charset="-127"/>
                  <a:ea typeface="Rix모던고딕 M" pitchFamily="18" charset="-127"/>
                </a:defRPr>
              </a:lvl3pPr>
            </a:lstStyle>
            <a:p>
              <a:pPr lvl="1" fontAlgn="base">
                <a:spcBef>
                  <a:spcPct val="0"/>
                </a:spcBef>
                <a:buClr>
                  <a:srgbClr val="000000">
                    <a:lumMod val="75000"/>
                    <a:lumOff val="25000"/>
                  </a:srgbClr>
                </a:buClr>
                <a:defRPr/>
              </a:pP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서비스 측정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/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보고 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: 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서비스 성과 측정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, 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측정결과 분석 평가</a:t>
              </a:r>
            </a:p>
            <a:p>
              <a:pPr lvl="1" fontAlgn="base">
                <a:spcBef>
                  <a:spcPct val="0"/>
                </a:spcBef>
                <a:buClr>
                  <a:srgbClr val="000000">
                    <a:lumMod val="75000"/>
                    <a:lumOff val="25000"/>
                  </a:srgbClr>
                </a:buClr>
                <a:defRPr/>
              </a:pP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평가 및 조치 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: 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서비스 성과 분석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, 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서비스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/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업무 조정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, 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평가내용 반영</a:t>
              </a:r>
            </a:p>
            <a:p>
              <a:pPr lvl="1" fontAlgn="base">
                <a:spcBef>
                  <a:spcPct val="0"/>
                </a:spcBef>
                <a:buClr>
                  <a:srgbClr val="000000">
                    <a:lumMod val="75000"/>
                    <a:lumOff val="25000"/>
                  </a:srgbClr>
                </a:buClr>
                <a:defRPr/>
              </a:pP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서비스 통제 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: 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개정 요청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, 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영향 분석</a:t>
              </a:r>
              <a:r>
                <a:rPr kumimoji="1" lang="en-US" altLang="ko-KR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, </a:t>
              </a:r>
              <a:r>
                <a:rPr kumimoji="1" lang="ko-KR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+mn-ea"/>
                  <a:ea typeface="+mn-ea"/>
                </a:rPr>
                <a:t>변경 관리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3539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9" name="그룹 518">
            <a:extLst>
              <a:ext uri="{FF2B5EF4-FFF2-40B4-BE49-F238E27FC236}">
                <a16:creationId xmlns:a16="http://schemas.microsoft.com/office/drawing/2014/main" id="{CA96E603-DA2F-D2F0-69F3-F58EE45A3F62}"/>
              </a:ext>
            </a:extLst>
          </p:cNvPr>
          <p:cNvGrpSpPr/>
          <p:nvPr/>
        </p:nvGrpSpPr>
        <p:grpSpPr>
          <a:xfrm>
            <a:off x="317654" y="667364"/>
            <a:ext cx="3795422" cy="351189"/>
            <a:chOff x="760846" y="854534"/>
            <a:chExt cx="3795422" cy="351189"/>
          </a:xfrm>
        </p:grpSpPr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138EF92F-4632-97AD-057C-6F5D4A921718}"/>
                </a:ext>
              </a:extLst>
            </p:cNvPr>
            <p:cNvSpPr txBox="1"/>
            <p:nvPr/>
          </p:nvSpPr>
          <p:spPr>
            <a:xfrm flipH="1">
              <a:off x="1171266" y="891629"/>
              <a:ext cx="338500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r>
                <a:rPr lang="en-US" altLang="ko-KR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Appendix</a:t>
              </a:r>
              <a:endParaRPr lang="ko-KR" altLang="en-US" sz="1800" b="1" dirty="0">
                <a:solidFill>
                  <a:srgbClr val="0067B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grpSp>
          <p:nvGrpSpPr>
            <p:cNvPr id="521" name="그룹 520">
              <a:extLst>
                <a:ext uri="{FF2B5EF4-FFF2-40B4-BE49-F238E27FC236}">
                  <a16:creationId xmlns:a16="http://schemas.microsoft.com/office/drawing/2014/main" id="{8C8B2C9A-EC0E-1A12-B145-A9EB37C1FF40}"/>
                </a:ext>
              </a:extLst>
            </p:cNvPr>
            <p:cNvGrpSpPr/>
            <p:nvPr/>
          </p:nvGrpSpPr>
          <p:grpSpPr>
            <a:xfrm>
              <a:off x="760846" y="854534"/>
              <a:ext cx="324620" cy="351189"/>
              <a:chOff x="539750" y="2917808"/>
              <a:chExt cx="526237" cy="526236"/>
            </a:xfrm>
          </p:grpSpPr>
          <p:sp>
            <p:nvSpPr>
              <p:cNvPr id="522" name="모서리가 둥근 직사각형 4">
                <a:extLst>
                  <a:ext uri="{FF2B5EF4-FFF2-40B4-BE49-F238E27FC236}">
                    <a16:creationId xmlns:a16="http://schemas.microsoft.com/office/drawing/2014/main" id="{C19C0930-B00C-6C83-9703-ABCC059E9C34}"/>
                  </a:ext>
                </a:extLst>
              </p:cNvPr>
              <p:cNvSpPr/>
              <p:nvPr/>
            </p:nvSpPr>
            <p:spPr>
              <a:xfrm>
                <a:off x="539750" y="2917808"/>
                <a:ext cx="526237" cy="526236"/>
              </a:xfrm>
              <a:prstGeom prst="roundRect">
                <a:avLst>
                  <a:gd name="adj" fmla="val 11229"/>
                </a:avLst>
              </a:prstGeom>
              <a:solidFill>
                <a:srgbClr val="00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523" name="TextBox 522">
                <a:extLst>
                  <a:ext uri="{FF2B5EF4-FFF2-40B4-BE49-F238E27FC236}">
                    <a16:creationId xmlns:a16="http://schemas.microsoft.com/office/drawing/2014/main" id="{1BF05DD1-B9F6-340F-566D-FA966B5603A0}"/>
                  </a:ext>
                </a:extLst>
              </p:cNvPr>
              <p:cNvSpPr txBox="1"/>
              <p:nvPr/>
            </p:nvSpPr>
            <p:spPr>
              <a:xfrm flipH="1">
                <a:off x="636582" y="2952530"/>
                <a:ext cx="338951" cy="46118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-</a:t>
                </a:r>
              </a:p>
            </p:txBody>
          </p:sp>
        </p:grpSp>
      </p:grpSp>
      <p:sp>
        <p:nvSpPr>
          <p:cNvPr id="525" name="Text Box 37">
            <a:extLst>
              <a:ext uri="{FF2B5EF4-FFF2-40B4-BE49-F238E27FC236}">
                <a16:creationId xmlns:a16="http://schemas.microsoft.com/office/drawing/2014/main" id="{361F8A67-9EED-F72F-A64A-D6CD82D57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952" y="1215900"/>
            <a:ext cx="6269248" cy="203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1pPr>
            <a:lvl2pPr marL="742950" indent="-28575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2pPr>
            <a:lvl3pPr marL="11430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3pPr>
            <a:lvl4pPr marL="16002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4pPr>
            <a:lvl5pPr marL="20574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9pPr>
          </a:lstStyle>
          <a:p>
            <a:pPr eaLnBrk="1" latinLnBrk="0" hangingPunct="1">
              <a:lnSpc>
                <a:spcPct val="120000"/>
              </a:lnSpc>
              <a:defRPr/>
            </a:pP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2. SLA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측정 지표 사례 </a:t>
            </a: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(1/10)</a:t>
            </a:r>
            <a:endParaRPr lang="ko-KR" altLang="en-US" sz="1200" dirty="0">
              <a:solidFill>
                <a:srgbClr val="000000">
                  <a:lumMod val="75000"/>
                  <a:lumOff val="25000"/>
                </a:srgbClr>
              </a:solidFill>
              <a:latin typeface="+mn-ea"/>
              <a:ea typeface="+mn-ea"/>
              <a:cs typeface="Arial" pitchFamily="34" charset="0"/>
            </a:endParaRPr>
          </a:p>
        </p:txBody>
      </p:sp>
      <p:sp>
        <p:nvSpPr>
          <p:cNvPr id="684" name="Rectangle 44">
            <a:extLst>
              <a:ext uri="{FF2B5EF4-FFF2-40B4-BE49-F238E27FC236}">
                <a16:creationId xmlns:a16="http://schemas.microsoft.com/office/drawing/2014/main" id="{DD31FE5A-473E-8784-60C1-2911EE6181B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67393" y="1681728"/>
            <a:ext cx="5979736" cy="2359096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 w="19050">
            <a:pattFill prst="dkUpDiag">
              <a:fgClr>
                <a:srgbClr val="888888"/>
              </a:fgClr>
              <a:bgClr>
                <a:srgbClr val="C5C5C5"/>
              </a:bgClr>
            </a:patt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latin typeface="+mn-ea"/>
              <a:ea typeface="+mn-ea"/>
            </a:endParaRPr>
          </a:p>
        </p:txBody>
      </p:sp>
      <p:sp>
        <p:nvSpPr>
          <p:cNvPr id="685" name="Text Box 316">
            <a:extLst>
              <a:ext uri="{FF2B5EF4-FFF2-40B4-BE49-F238E27FC236}">
                <a16:creationId xmlns:a16="http://schemas.microsoft.com/office/drawing/2014/main" id="{FA051F05-E7E4-F7E8-D8B4-104F78AC768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36712" y="1970987"/>
            <a:ext cx="3852428" cy="194925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2pPr marL="95250" lvl="1" indent="-95250" defTabSz="444500" latinLnBrk="0">
              <a:buClr>
                <a:schemeClr val="tx1"/>
              </a:buClr>
              <a:buSzPct val="100000"/>
              <a:buFont typeface="Arial" pitchFamily="34" charset="0"/>
              <a:buChar char="•"/>
              <a:defRPr sz="900">
                <a:latin typeface="Rix모던고딕 M" pitchFamily="18" charset="-127"/>
                <a:ea typeface="Rix모던고딕 M" pitchFamily="18" charset="-127"/>
              </a:defRPr>
            </a:lvl2pPr>
            <a:lvl3pPr marL="201613" lvl="2" indent="-106363" defTabSz="444500" latinLnBrk="0">
              <a:buClr>
                <a:schemeClr val="tx1"/>
              </a:buClr>
              <a:buSzPct val="100000"/>
              <a:buFont typeface="Rix모던고딕 B" pitchFamily="18" charset="-127"/>
              <a:buChar char="-"/>
              <a:defRPr sz="900">
                <a:latin typeface="Rix모던고딕 M" pitchFamily="18" charset="-127"/>
                <a:ea typeface="Rix모던고딕 M" pitchFamily="18" charset="-127"/>
              </a:defRPr>
            </a:lvl3pPr>
          </a:lstStyle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중장기 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IT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계획 적중도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년간 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IT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과제 이행도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기술 적용도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데이터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아키텍쳐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 일관성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인력 계획 달성도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보고 충실도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위원회 정기 실시 비율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개발비용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절감율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유지보수비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절감율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운영비용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절감율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IT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투자 회수율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IT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투자비용 절감액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직무 만족도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사용자 만족도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표준 및 절차 개선 효과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부정 손실액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장애 손실액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인수 인계 절차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준수율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품질정책 준수도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시스템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이용율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업무 숙지도</a:t>
            </a:r>
          </a:p>
        </p:txBody>
      </p:sp>
      <p:sp>
        <p:nvSpPr>
          <p:cNvPr id="686" name="한쪽 모서리가 둥근 사각형 125">
            <a:extLst>
              <a:ext uri="{FF2B5EF4-FFF2-40B4-BE49-F238E27FC236}">
                <a16:creationId xmlns:a16="http://schemas.microsoft.com/office/drawing/2014/main" id="{747F0377-FFF6-8205-99DD-BF94D87C3756}"/>
              </a:ext>
            </a:extLst>
          </p:cNvPr>
          <p:cNvSpPr/>
          <p:nvPr/>
        </p:nvSpPr>
        <p:spPr>
          <a:xfrm flipH="1">
            <a:off x="279792" y="1624578"/>
            <a:ext cx="4157319" cy="270968"/>
          </a:xfrm>
          <a:prstGeom prst="round1Rect">
            <a:avLst>
              <a:gd name="adj" fmla="val 27915"/>
            </a:avLst>
          </a:prstGeom>
          <a:solidFill>
            <a:srgbClr val="6362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dirty="0">
                <a:solidFill>
                  <a:schemeClr val="bg1"/>
                </a:solidFill>
                <a:latin typeface="+mn-ea"/>
              </a:rPr>
              <a:t>기획 및 운영 혁신 지표</a:t>
            </a:r>
          </a:p>
        </p:txBody>
      </p:sp>
      <p:graphicFrame>
        <p:nvGraphicFramePr>
          <p:cNvPr id="687" name="Group 34">
            <a:extLst>
              <a:ext uri="{FF2B5EF4-FFF2-40B4-BE49-F238E27FC236}">
                <a16:creationId xmlns:a16="http://schemas.microsoft.com/office/drawing/2014/main" id="{A22FE601-ABB6-BF26-03BD-9211D27FAC38}"/>
              </a:ext>
            </a:extLst>
          </p:cNvPr>
          <p:cNvGraphicFramePr>
            <a:graphicFrameLocks noGrp="1"/>
          </p:cNvGraphicFramePr>
          <p:nvPr/>
        </p:nvGraphicFramePr>
        <p:xfrm>
          <a:off x="586475" y="4232920"/>
          <a:ext cx="5960655" cy="5219220"/>
        </p:xfrm>
        <a:graphic>
          <a:graphicData uri="http://schemas.openxmlformats.org/drawingml/2006/table">
            <a:tbl>
              <a:tblPr/>
              <a:tblGrid>
                <a:gridCol w="160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9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73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effectLst/>
                          <a:latin typeface="+mn-ea"/>
                          <a:ea typeface="+mn-ea"/>
                        </a:rPr>
                        <a:t>항   목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effectLst/>
                          <a:latin typeface="+mn-ea"/>
                          <a:ea typeface="+mn-ea"/>
                        </a:rPr>
                        <a:t>주요 내용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effectLst/>
                          <a:latin typeface="+mn-ea"/>
                          <a:ea typeface="+mn-ea"/>
                        </a:rPr>
                        <a:t>측정단위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중장기 </a:t>
                      </a:r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IT </a:t>
                      </a:r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계획 적중도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계획의 정확성 정도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000085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년간 </a:t>
                      </a:r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IT </a:t>
                      </a:r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과제 이행도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수행중인 과제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계획된 과제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274041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기술 적용도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적용 기술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계획된 요소 기술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202120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데이터 </a:t>
                      </a:r>
                      <a:r>
                        <a:rPr lang="ko-KR" altLang="en-US" sz="1100" b="0" i="0" u="none" strike="noStrike" dirty="0" err="1">
                          <a:effectLst/>
                          <a:latin typeface="+mn-ea"/>
                          <a:ea typeface="+mn-ea"/>
                        </a:rPr>
                        <a:t>아키텍쳐</a:t>
                      </a:r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 일관성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수립된 모델과의 일관성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928159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인력 계획 달성도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차이인력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계획인력 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053239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보고 충실도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계획된 항목의 실제 보고 정도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=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보고 횟수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계획 횟수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509746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위원회 정기 실시 비율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실시 건수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계획된 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484124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개발비용 절감율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표준 개발비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실제 개발비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) 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표준 개발비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705883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유지보수비 절감율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표준 유지보수비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실제 유지보수비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) 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표준 유지보수비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403595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운영비용 절감율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표준 운영비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실제 운영비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) 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표준 운영비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843952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100" b="0" i="0" u="none" strike="noStrike">
                          <a:effectLst/>
                          <a:latin typeface="+mn-ea"/>
                          <a:ea typeface="+mn-ea"/>
                        </a:rPr>
                        <a:t>IT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투자 회수율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효과금액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투지비용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(IT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기여도 고객 합의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02356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IT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투자비용 절감액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개발요청된 응용프로그램중 기각된 프로젝트 예상 비용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원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299581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직무 만족도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정보시스템실원의 직무 만족도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6804453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표준 및 절차 개선 효과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개선적용 사례의 발표 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건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450467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부정 손실액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부정행위 금전적 손실액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원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625733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장애 손실액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장애건별 예산 손실액 누적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원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972069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인수 인계 절차 준수율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준수 건수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대상 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488309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품질정책 준수도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위반건수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건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시스템 이용율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실 사용자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사용대상자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사용자 만족도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정기적인 사용자 만족도 조사 내용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점수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업무 숙지도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개인별 업무 숙지기간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수행 인력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개월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6510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9" name="그룹 518">
            <a:extLst>
              <a:ext uri="{FF2B5EF4-FFF2-40B4-BE49-F238E27FC236}">
                <a16:creationId xmlns:a16="http://schemas.microsoft.com/office/drawing/2014/main" id="{CA96E603-DA2F-D2F0-69F3-F58EE45A3F62}"/>
              </a:ext>
            </a:extLst>
          </p:cNvPr>
          <p:cNvGrpSpPr/>
          <p:nvPr/>
        </p:nvGrpSpPr>
        <p:grpSpPr>
          <a:xfrm>
            <a:off x="317654" y="667364"/>
            <a:ext cx="3795422" cy="351189"/>
            <a:chOff x="760846" y="854534"/>
            <a:chExt cx="3795422" cy="351189"/>
          </a:xfrm>
        </p:grpSpPr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138EF92F-4632-97AD-057C-6F5D4A921718}"/>
                </a:ext>
              </a:extLst>
            </p:cNvPr>
            <p:cNvSpPr txBox="1"/>
            <p:nvPr/>
          </p:nvSpPr>
          <p:spPr>
            <a:xfrm flipH="1">
              <a:off x="1171266" y="891629"/>
              <a:ext cx="338500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r>
                <a:rPr lang="en-US" altLang="ko-KR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Appendix</a:t>
              </a:r>
              <a:endParaRPr lang="ko-KR" altLang="en-US" sz="1800" b="1" dirty="0">
                <a:solidFill>
                  <a:srgbClr val="0067B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grpSp>
          <p:nvGrpSpPr>
            <p:cNvPr id="521" name="그룹 520">
              <a:extLst>
                <a:ext uri="{FF2B5EF4-FFF2-40B4-BE49-F238E27FC236}">
                  <a16:creationId xmlns:a16="http://schemas.microsoft.com/office/drawing/2014/main" id="{8C8B2C9A-EC0E-1A12-B145-A9EB37C1FF40}"/>
                </a:ext>
              </a:extLst>
            </p:cNvPr>
            <p:cNvGrpSpPr/>
            <p:nvPr/>
          </p:nvGrpSpPr>
          <p:grpSpPr>
            <a:xfrm>
              <a:off x="760846" y="854534"/>
              <a:ext cx="324620" cy="351189"/>
              <a:chOff x="539750" y="2917808"/>
              <a:chExt cx="526237" cy="526236"/>
            </a:xfrm>
          </p:grpSpPr>
          <p:sp>
            <p:nvSpPr>
              <p:cNvPr id="522" name="모서리가 둥근 직사각형 4">
                <a:extLst>
                  <a:ext uri="{FF2B5EF4-FFF2-40B4-BE49-F238E27FC236}">
                    <a16:creationId xmlns:a16="http://schemas.microsoft.com/office/drawing/2014/main" id="{C19C0930-B00C-6C83-9703-ABCC059E9C34}"/>
                  </a:ext>
                </a:extLst>
              </p:cNvPr>
              <p:cNvSpPr/>
              <p:nvPr/>
            </p:nvSpPr>
            <p:spPr>
              <a:xfrm>
                <a:off x="539750" y="2917808"/>
                <a:ext cx="526237" cy="526236"/>
              </a:xfrm>
              <a:prstGeom prst="roundRect">
                <a:avLst>
                  <a:gd name="adj" fmla="val 11229"/>
                </a:avLst>
              </a:prstGeom>
              <a:solidFill>
                <a:srgbClr val="00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523" name="TextBox 522">
                <a:extLst>
                  <a:ext uri="{FF2B5EF4-FFF2-40B4-BE49-F238E27FC236}">
                    <a16:creationId xmlns:a16="http://schemas.microsoft.com/office/drawing/2014/main" id="{1BF05DD1-B9F6-340F-566D-FA966B5603A0}"/>
                  </a:ext>
                </a:extLst>
              </p:cNvPr>
              <p:cNvSpPr txBox="1"/>
              <p:nvPr/>
            </p:nvSpPr>
            <p:spPr>
              <a:xfrm flipH="1">
                <a:off x="636582" y="2952530"/>
                <a:ext cx="338951" cy="46118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-</a:t>
                </a:r>
              </a:p>
            </p:txBody>
          </p:sp>
        </p:grpSp>
      </p:grpSp>
      <p:sp>
        <p:nvSpPr>
          <p:cNvPr id="525" name="Text Box 37">
            <a:extLst>
              <a:ext uri="{FF2B5EF4-FFF2-40B4-BE49-F238E27FC236}">
                <a16:creationId xmlns:a16="http://schemas.microsoft.com/office/drawing/2014/main" id="{361F8A67-9EED-F72F-A64A-D6CD82D57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952" y="1215900"/>
            <a:ext cx="6269248" cy="203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1pPr>
            <a:lvl2pPr marL="742950" indent="-28575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2pPr>
            <a:lvl3pPr marL="11430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3pPr>
            <a:lvl4pPr marL="16002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4pPr>
            <a:lvl5pPr marL="20574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9pPr>
          </a:lstStyle>
          <a:p>
            <a:pPr eaLnBrk="1" latinLnBrk="0" hangingPunct="1">
              <a:lnSpc>
                <a:spcPct val="120000"/>
              </a:lnSpc>
              <a:defRPr/>
            </a:pP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2. SLA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측정 지표 사례 </a:t>
            </a: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(2/10)</a:t>
            </a:r>
            <a:endParaRPr lang="ko-KR" altLang="en-US" sz="1200" dirty="0">
              <a:solidFill>
                <a:srgbClr val="000000">
                  <a:lumMod val="75000"/>
                  <a:lumOff val="25000"/>
                </a:srgbClr>
              </a:solidFill>
              <a:latin typeface="+mn-ea"/>
              <a:ea typeface="+mn-ea"/>
              <a:cs typeface="Arial" pitchFamily="34" charset="0"/>
            </a:endParaRPr>
          </a:p>
        </p:txBody>
      </p:sp>
      <p:sp>
        <p:nvSpPr>
          <p:cNvPr id="684" name="Rectangle 44">
            <a:extLst>
              <a:ext uri="{FF2B5EF4-FFF2-40B4-BE49-F238E27FC236}">
                <a16:creationId xmlns:a16="http://schemas.microsoft.com/office/drawing/2014/main" id="{DD31FE5A-473E-8784-60C1-2911EE6181B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67393" y="1681728"/>
            <a:ext cx="5979736" cy="2359096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 w="19050">
            <a:pattFill prst="dkUpDiag">
              <a:fgClr>
                <a:srgbClr val="888888"/>
              </a:fgClr>
              <a:bgClr>
                <a:srgbClr val="C5C5C5"/>
              </a:bgClr>
            </a:patt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latin typeface="+mn-ea"/>
              <a:ea typeface="+mn-ea"/>
            </a:endParaRPr>
          </a:p>
        </p:txBody>
      </p:sp>
      <p:sp>
        <p:nvSpPr>
          <p:cNvPr id="685" name="Text Box 316">
            <a:extLst>
              <a:ext uri="{FF2B5EF4-FFF2-40B4-BE49-F238E27FC236}">
                <a16:creationId xmlns:a16="http://schemas.microsoft.com/office/drawing/2014/main" id="{FA051F05-E7E4-F7E8-D8B4-104F78AC768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36712" y="1970987"/>
            <a:ext cx="3852428" cy="194925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2pPr marL="95250" lvl="1" indent="-95250" defTabSz="444500" latinLnBrk="0">
              <a:buClr>
                <a:schemeClr val="tx1"/>
              </a:buClr>
              <a:buSzPct val="100000"/>
              <a:buFont typeface="Arial" pitchFamily="34" charset="0"/>
              <a:buChar char="•"/>
              <a:defRPr sz="900">
                <a:latin typeface="Rix모던고딕 M" pitchFamily="18" charset="-127"/>
                <a:ea typeface="Rix모던고딕 M" pitchFamily="18" charset="-127"/>
              </a:defRPr>
            </a:lvl2pPr>
            <a:lvl3pPr marL="201613" lvl="2" indent="-106363" defTabSz="444500" latinLnBrk="0">
              <a:buClr>
                <a:schemeClr val="tx1"/>
              </a:buClr>
              <a:buSzPct val="100000"/>
              <a:buFont typeface="Rix모던고딕 B" pitchFamily="18" charset="-127"/>
              <a:buChar char="-"/>
              <a:defRPr sz="900">
                <a:latin typeface="Rix모던고딕 M" pitchFamily="18" charset="-127"/>
                <a:ea typeface="Rix모던고딕 M" pitchFamily="18" charset="-127"/>
              </a:defRPr>
            </a:lvl3pPr>
          </a:lstStyle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S/R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적기 처리율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S/R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기각율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S/R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처리 만족도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S/R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처리 절차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준수율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변경 절차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준수율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문서화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최신성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 유지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변경업무 적시 처리율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동료간 테스트 실시율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형상이력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준수율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사용자 만족도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장애처리 품질</a:t>
            </a:r>
          </a:p>
        </p:txBody>
      </p:sp>
      <p:sp>
        <p:nvSpPr>
          <p:cNvPr id="686" name="한쪽 모서리가 둥근 사각형 125">
            <a:extLst>
              <a:ext uri="{FF2B5EF4-FFF2-40B4-BE49-F238E27FC236}">
                <a16:creationId xmlns:a16="http://schemas.microsoft.com/office/drawing/2014/main" id="{747F0377-FFF6-8205-99DD-BF94D87C3756}"/>
              </a:ext>
            </a:extLst>
          </p:cNvPr>
          <p:cNvSpPr/>
          <p:nvPr/>
        </p:nvSpPr>
        <p:spPr>
          <a:xfrm flipH="1">
            <a:off x="279792" y="1624578"/>
            <a:ext cx="4157319" cy="270968"/>
          </a:xfrm>
          <a:prstGeom prst="round1Rect">
            <a:avLst>
              <a:gd name="adj" fmla="val 27915"/>
            </a:avLst>
          </a:prstGeom>
          <a:solidFill>
            <a:srgbClr val="6362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dirty="0">
                <a:solidFill>
                  <a:schemeClr val="bg1"/>
                </a:solidFill>
                <a:latin typeface="+mn-ea"/>
              </a:rPr>
              <a:t>변경관리 지표</a:t>
            </a:r>
          </a:p>
        </p:txBody>
      </p:sp>
      <p:graphicFrame>
        <p:nvGraphicFramePr>
          <p:cNvPr id="687" name="Group 34">
            <a:extLst>
              <a:ext uri="{FF2B5EF4-FFF2-40B4-BE49-F238E27FC236}">
                <a16:creationId xmlns:a16="http://schemas.microsoft.com/office/drawing/2014/main" id="{A22FE601-ABB6-BF26-03BD-9211D27FAC38}"/>
              </a:ext>
            </a:extLst>
          </p:cNvPr>
          <p:cNvGraphicFramePr>
            <a:graphicFrameLocks noGrp="1"/>
          </p:cNvGraphicFramePr>
          <p:nvPr/>
        </p:nvGraphicFramePr>
        <p:xfrm>
          <a:off x="586475" y="4232920"/>
          <a:ext cx="5960655" cy="2856610"/>
        </p:xfrm>
        <a:graphic>
          <a:graphicData uri="http://schemas.openxmlformats.org/drawingml/2006/table">
            <a:tbl>
              <a:tblPr/>
              <a:tblGrid>
                <a:gridCol w="160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9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73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effectLst/>
                          <a:latin typeface="+mn-ea"/>
                          <a:ea typeface="+mn-ea"/>
                        </a:rPr>
                        <a:t>항   목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effectLst/>
                          <a:latin typeface="+mn-ea"/>
                          <a:ea typeface="+mn-ea"/>
                        </a:rPr>
                        <a:t>주요 내용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effectLst/>
                          <a:latin typeface="+mn-ea"/>
                          <a:ea typeface="+mn-ea"/>
                        </a:rPr>
                        <a:t>측정단위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S/R </a:t>
                      </a:r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적기 처리율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납기내 처리건수 </a:t>
                      </a:r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접수건수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000085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S/R </a:t>
                      </a:r>
                      <a:r>
                        <a:rPr lang="ko-KR" altLang="en-US" sz="1100" b="0" i="0" u="none" strike="noStrike" dirty="0" err="1">
                          <a:effectLst/>
                          <a:latin typeface="+mn-ea"/>
                          <a:ea typeface="+mn-ea"/>
                        </a:rPr>
                        <a:t>기각율</a:t>
                      </a:r>
                      <a:endParaRPr lang="ko-KR" altLang="en-US" sz="11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기각된 </a:t>
                      </a:r>
                      <a:r>
                        <a:rPr lang="en-US" sz="1100" b="0" i="0" u="none" strike="noStrike">
                          <a:effectLst/>
                          <a:latin typeface="+mn-ea"/>
                          <a:ea typeface="+mn-ea"/>
                        </a:rPr>
                        <a:t>S/R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건수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총 </a:t>
                      </a:r>
                      <a:r>
                        <a:rPr lang="en-US" sz="1100" b="0" i="0" u="none" strike="noStrike">
                          <a:effectLst/>
                          <a:latin typeface="+mn-ea"/>
                          <a:ea typeface="+mn-ea"/>
                        </a:rPr>
                        <a:t>S/R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274041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S/R </a:t>
                      </a:r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처리 만족도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만족건수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접수 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202120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S/R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처리 절차 준수율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위반건수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928159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변경 절차 준수율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변경처리 절차 미준수 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053239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문서화 </a:t>
                      </a:r>
                      <a:r>
                        <a:rPr lang="ko-KR" altLang="en-US" sz="1100" b="0" i="0" u="none" strike="noStrike" dirty="0" err="1">
                          <a:effectLst/>
                          <a:latin typeface="+mn-ea"/>
                          <a:ea typeface="+mn-ea"/>
                        </a:rPr>
                        <a:t>최신성</a:t>
                      </a:r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 유지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문서변경처리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변경사항 발생 총건수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509746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변경업무 적시 처리율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적시처리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전체 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484124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동료간 테스트 실시율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S/R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처리후 적용전에 동료간 테스트 실시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705883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형상이력 </a:t>
                      </a:r>
                      <a:r>
                        <a:rPr lang="ko-KR" altLang="en-US" sz="1100" b="0" i="0" u="none" strike="noStrike" dirty="0" err="1">
                          <a:effectLst/>
                          <a:latin typeface="+mn-ea"/>
                          <a:ea typeface="+mn-ea"/>
                        </a:rPr>
                        <a:t>준수율</a:t>
                      </a:r>
                      <a:endParaRPr lang="ko-KR" altLang="en-US" sz="11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준수건수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총건수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403595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사용자 만족도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정기적인 사용자 만족도 조사 내용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점수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843952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장애처리 품질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해결된 장애로 인해 발생되는 장애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재발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02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25985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9" name="그룹 518">
            <a:extLst>
              <a:ext uri="{FF2B5EF4-FFF2-40B4-BE49-F238E27FC236}">
                <a16:creationId xmlns:a16="http://schemas.microsoft.com/office/drawing/2014/main" id="{CA96E603-DA2F-D2F0-69F3-F58EE45A3F62}"/>
              </a:ext>
            </a:extLst>
          </p:cNvPr>
          <p:cNvGrpSpPr/>
          <p:nvPr/>
        </p:nvGrpSpPr>
        <p:grpSpPr>
          <a:xfrm>
            <a:off x="317654" y="667364"/>
            <a:ext cx="3795422" cy="351189"/>
            <a:chOff x="760846" y="854534"/>
            <a:chExt cx="3795422" cy="351189"/>
          </a:xfrm>
        </p:grpSpPr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138EF92F-4632-97AD-057C-6F5D4A921718}"/>
                </a:ext>
              </a:extLst>
            </p:cNvPr>
            <p:cNvSpPr txBox="1"/>
            <p:nvPr/>
          </p:nvSpPr>
          <p:spPr>
            <a:xfrm flipH="1">
              <a:off x="1171266" y="891629"/>
              <a:ext cx="338500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r>
                <a:rPr lang="en-US" altLang="ko-KR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Appendix</a:t>
              </a:r>
              <a:endParaRPr lang="ko-KR" altLang="en-US" sz="1800" b="1" dirty="0">
                <a:solidFill>
                  <a:srgbClr val="0067B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grpSp>
          <p:nvGrpSpPr>
            <p:cNvPr id="521" name="그룹 520">
              <a:extLst>
                <a:ext uri="{FF2B5EF4-FFF2-40B4-BE49-F238E27FC236}">
                  <a16:creationId xmlns:a16="http://schemas.microsoft.com/office/drawing/2014/main" id="{8C8B2C9A-EC0E-1A12-B145-A9EB37C1FF40}"/>
                </a:ext>
              </a:extLst>
            </p:cNvPr>
            <p:cNvGrpSpPr/>
            <p:nvPr/>
          </p:nvGrpSpPr>
          <p:grpSpPr>
            <a:xfrm>
              <a:off x="760846" y="854534"/>
              <a:ext cx="324620" cy="351189"/>
              <a:chOff x="539750" y="2917808"/>
              <a:chExt cx="526237" cy="526236"/>
            </a:xfrm>
          </p:grpSpPr>
          <p:sp>
            <p:nvSpPr>
              <p:cNvPr id="522" name="모서리가 둥근 직사각형 4">
                <a:extLst>
                  <a:ext uri="{FF2B5EF4-FFF2-40B4-BE49-F238E27FC236}">
                    <a16:creationId xmlns:a16="http://schemas.microsoft.com/office/drawing/2014/main" id="{C19C0930-B00C-6C83-9703-ABCC059E9C34}"/>
                  </a:ext>
                </a:extLst>
              </p:cNvPr>
              <p:cNvSpPr/>
              <p:nvPr/>
            </p:nvSpPr>
            <p:spPr>
              <a:xfrm>
                <a:off x="539750" y="2917808"/>
                <a:ext cx="526237" cy="526236"/>
              </a:xfrm>
              <a:prstGeom prst="roundRect">
                <a:avLst>
                  <a:gd name="adj" fmla="val 11229"/>
                </a:avLst>
              </a:prstGeom>
              <a:solidFill>
                <a:srgbClr val="00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523" name="TextBox 522">
                <a:extLst>
                  <a:ext uri="{FF2B5EF4-FFF2-40B4-BE49-F238E27FC236}">
                    <a16:creationId xmlns:a16="http://schemas.microsoft.com/office/drawing/2014/main" id="{1BF05DD1-B9F6-340F-566D-FA966B5603A0}"/>
                  </a:ext>
                </a:extLst>
              </p:cNvPr>
              <p:cNvSpPr txBox="1"/>
              <p:nvPr/>
            </p:nvSpPr>
            <p:spPr>
              <a:xfrm flipH="1">
                <a:off x="636582" y="2952530"/>
                <a:ext cx="338951" cy="46118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-</a:t>
                </a:r>
              </a:p>
            </p:txBody>
          </p:sp>
        </p:grpSp>
      </p:grpSp>
      <p:sp>
        <p:nvSpPr>
          <p:cNvPr id="525" name="Text Box 37">
            <a:extLst>
              <a:ext uri="{FF2B5EF4-FFF2-40B4-BE49-F238E27FC236}">
                <a16:creationId xmlns:a16="http://schemas.microsoft.com/office/drawing/2014/main" id="{361F8A67-9EED-F72F-A64A-D6CD82D57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952" y="1215900"/>
            <a:ext cx="6269248" cy="203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1pPr>
            <a:lvl2pPr marL="742950" indent="-28575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2pPr>
            <a:lvl3pPr marL="11430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3pPr>
            <a:lvl4pPr marL="16002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4pPr>
            <a:lvl5pPr marL="20574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9pPr>
          </a:lstStyle>
          <a:p>
            <a:pPr eaLnBrk="1" latinLnBrk="0" hangingPunct="1">
              <a:lnSpc>
                <a:spcPct val="120000"/>
              </a:lnSpc>
              <a:defRPr/>
            </a:pP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2. SLA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측정 지표 사례 </a:t>
            </a: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(3/10)</a:t>
            </a:r>
            <a:endParaRPr lang="ko-KR" altLang="en-US" sz="1200" dirty="0">
              <a:solidFill>
                <a:srgbClr val="000000">
                  <a:lumMod val="75000"/>
                  <a:lumOff val="25000"/>
                </a:srgbClr>
              </a:solidFill>
              <a:latin typeface="+mn-ea"/>
              <a:ea typeface="+mn-ea"/>
              <a:cs typeface="Arial" pitchFamily="34" charset="0"/>
            </a:endParaRPr>
          </a:p>
        </p:txBody>
      </p:sp>
      <p:sp>
        <p:nvSpPr>
          <p:cNvPr id="684" name="Rectangle 44">
            <a:extLst>
              <a:ext uri="{FF2B5EF4-FFF2-40B4-BE49-F238E27FC236}">
                <a16:creationId xmlns:a16="http://schemas.microsoft.com/office/drawing/2014/main" id="{DD31FE5A-473E-8784-60C1-2911EE6181B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67393" y="1681728"/>
            <a:ext cx="5979736" cy="2359096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 w="19050">
            <a:pattFill prst="dkUpDiag">
              <a:fgClr>
                <a:srgbClr val="888888"/>
              </a:fgClr>
              <a:bgClr>
                <a:srgbClr val="C5C5C5"/>
              </a:bgClr>
            </a:patt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latin typeface="+mn-ea"/>
              <a:ea typeface="+mn-ea"/>
            </a:endParaRPr>
          </a:p>
        </p:txBody>
      </p:sp>
      <p:sp>
        <p:nvSpPr>
          <p:cNvPr id="685" name="Text Box 316">
            <a:extLst>
              <a:ext uri="{FF2B5EF4-FFF2-40B4-BE49-F238E27FC236}">
                <a16:creationId xmlns:a16="http://schemas.microsoft.com/office/drawing/2014/main" id="{FA051F05-E7E4-F7E8-D8B4-104F78AC768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36712" y="1970987"/>
            <a:ext cx="3852428" cy="194925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2pPr marL="95250" lvl="1" indent="-95250" defTabSz="444500" latinLnBrk="0">
              <a:buClr>
                <a:schemeClr val="tx1"/>
              </a:buClr>
              <a:buSzPct val="100000"/>
              <a:buFont typeface="Arial" pitchFamily="34" charset="0"/>
              <a:buChar char="•"/>
              <a:defRPr sz="900">
                <a:latin typeface="Rix모던고딕 M" pitchFamily="18" charset="-127"/>
                <a:ea typeface="Rix모던고딕 M" pitchFamily="18" charset="-127"/>
              </a:defRPr>
            </a:lvl2pPr>
            <a:lvl3pPr marL="201613" lvl="2" indent="-106363" defTabSz="444500" latinLnBrk="0">
              <a:buClr>
                <a:schemeClr val="tx1"/>
              </a:buClr>
              <a:buSzPct val="100000"/>
              <a:buFont typeface="Rix모던고딕 B" pitchFamily="18" charset="-127"/>
              <a:buChar char="-"/>
              <a:defRPr sz="900">
                <a:latin typeface="Rix모던고딕 M" pitchFamily="18" charset="-127"/>
                <a:ea typeface="Rix모던고딕 M" pitchFamily="18" charset="-127"/>
              </a:defRPr>
            </a:lvl3pPr>
          </a:lstStyle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보안 침해 건수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보안자료 유출사고 건수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보안 취약성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보안정책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준수율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보안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개선율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보안점검 점수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보안사고 손실액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접근권한 부여 위반 건수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침입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탐지율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접근 로그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점검율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사용자 관리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출력물 관리 절차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미준수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 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부정 손실액</a:t>
            </a:r>
          </a:p>
        </p:txBody>
      </p:sp>
      <p:sp>
        <p:nvSpPr>
          <p:cNvPr id="686" name="한쪽 모서리가 둥근 사각형 125">
            <a:extLst>
              <a:ext uri="{FF2B5EF4-FFF2-40B4-BE49-F238E27FC236}">
                <a16:creationId xmlns:a16="http://schemas.microsoft.com/office/drawing/2014/main" id="{747F0377-FFF6-8205-99DD-BF94D87C3756}"/>
              </a:ext>
            </a:extLst>
          </p:cNvPr>
          <p:cNvSpPr/>
          <p:nvPr/>
        </p:nvSpPr>
        <p:spPr>
          <a:xfrm flipH="1">
            <a:off x="279792" y="1624578"/>
            <a:ext cx="4157319" cy="270968"/>
          </a:xfrm>
          <a:prstGeom prst="round1Rect">
            <a:avLst>
              <a:gd name="adj" fmla="val 27915"/>
            </a:avLst>
          </a:prstGeom>
          <a:solidFill>
            <a:srgbClr val="6362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dirty="0">
                <a:solidFill>
                  <a:schemeClr val="bg1"/>
                </a:solidFill>
                <a:latin typeface="+mn-ea"/>
              </a:rPr>
              <a:t>보안관리</a:t>
            </a:r>
            <a:r>
              <a:rPr kumimoji="1" lang="en-US" altLang="ko-KR" sz="1200" dirty="0">
                <a:solidFill>
                  <a:schemeClr val="bg1"/>
                </a:solidFill>
                <a:latin typeface="+mn-ea"/>
              </a:rPr>
              <a:t> </a:t>
            </a:r>
            <a:r>
              <a:rPr kumimoji="1" lang="ko-KR" altLang="en-US" sz="1200" dirty="0">
                <a:solidFill>
                  <a:schemeClr val="bg1"/>
                </a:solidFill>
                <a:latin typeface="+mn-ea"/>
              </a:rPr>
              <a:t>지표</a:t>
            </a:r>
          </a:p>
        </p:txBody>
      </p:sp>
      <p:graphicFrame>
        <p:nvGraphicFramePr>
          <p:cNvPr id="687" name="Group 34">
            <a:extLst>
              <a:ext uri="{FF2B5EF4-FFF2-40B4-BE49-F238E27FC236}">
                <a16:creationId xmlns:a16="http://schemas.microsoft.com/office/drawing/2014/main" id="{A22FE601-ABB6-BF26-03BD-9211D27FA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534648"/>
              </p:ext>
            </p:extLst>
          </p:nvPr>
        </p:nvGraphicFramePr>
        <p:xfrm>
          <a:off x="586475" y="4232920"/>
          <a:ext cx="5960655" cy="2856610"/>
        </p:xfrm>
        <a:graphic>
          <a:graphicData uri="http://schemas.openxmlformats.org/drawingml/2006/table">
            <a:tbl>
              <a:tblPr/>
              <a:tblGrid>
                <a:gridCol w="1798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4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73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effectLst/>
                          <a:latin typeface="+mn-ea"/>
                          <a:ea typeface="+mn-ea"/>
                        </a:rPr>
                        <a:t>항 목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effectLst/>
                          <a:latin typeface="+mn-ea"/>
                          <a:ea typeface="+mn-ea"/>
                        </a:rPr>
                        <a:t>주요 내용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effectLst/>
                          <a:latin typeface="+mn-ea"/>
                          <a:ea typeface="+mn-ea"/>
                        </a:rPr>
                        <a:t>측정단위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보안 침해 건수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보안침해 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건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000085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보안자료 유출사고 건수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공급자의 책임으로 발생된 유출사고 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건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274041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보안 취약성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점검을 통한 취약성 진단 건수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신규 발견 건수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건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202120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보안정책 준수율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체크리트 활용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928159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보안 개선율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개선완료 건수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취약점 개선 계획 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053239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보안점검 점수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전문 보안그룹의 보안점검 결과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점수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509746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보안사고 손실액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보안사고에 의한 손실금액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원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484124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접근권한 부여 위반 건수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위반건수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건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705883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침입 탐지율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목표 시간내 발견 건수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전체 불법 침입 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403595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접근 로그 점검율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점검 횟수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계획 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843952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사용자 관리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미준수 건수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점검시 미준수 발견 건수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건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02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73146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9" name="그룹 518">
            <a:extLst>
              <a:ext uri="{FF2B5EF4-FFF2-40B4-BE49-F238E27FC236}">
                <a16:creationId xmlns:a16="http://schemas.microsoft.com/office/drawing/2014/main" id="{CA96E603-DA2F-D2F0-69F3-F58EE45A3F62}"/>
              </a:ext>
            </a:extLst>
          </p:cNvPr>
          <p:cNvGrpSpPr/>
          <p:nvPr/>
        </p:nvGrpSpPr>
        <p:grpSpPr>
          <a:xfrm>
            <a:off x="317654" y="667364"/>
            <a:ext cx="3795422" cy="351189"/>
            <a:chOff x="760846" y="854534"/>
            <a:chExt cx="3795422" cy="351189"/>
          </a:xfrm>
        </p:grpSpPr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138EF92F-4632-97AD-057C-6F5D4A921718}"/>
                </a:ext>
              </a:extLst>
            </p:cNvPr>
            <p:cNvSpPr txBox="1"/>
            <p:nvPr/>
          </p:nvSpPr>
          <p:spPr>
            <a:xfrm flipH="1">
              <a:off x="1171266" y="891629"/>
              <a:ext cx="338500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r>
                <a:rPr lang="en-US" altLang="ko-KR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Appendix</a:t>
              </a:r>
              <a:endParaRPr lang="ko-KR" altLang="en-US" sz="1800" b="1" dirty="0">
                <a:solidFill>
                  <a:srgbClr val="0067B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grpSp>
          <p:nvGrpSpPr>
            <p:cNvPr id="521" name="그룹 520">
              <a:extLst>
                <a:ext uri="{FF2B5EF4-FFF2-40B4-BE49-F238E27FC236}">
                  <a16:creationId xmlns:a16="http://schemas.microsoft.com/office/drawing/2014/main" id="{8C8B2C9A-EC0E-1A12-B145-A9EB37C1FF40}"/>
                </a:ext>
              </a:extLst>
            </p:cNvPr>
            <p:cNvGrpSpPr/>
            <p:nvPr/>
          </p:nvGrpSpPr>
          <p:grpSpPr>
            <a:xfrm>
              <a:off x="760846" y="854534"/>
              <a:ext cx="324620" cy="351189"/>
              <a:chOff x="539750" y="2917808"/>
              <a:chExt cx="526237" cy="526236"/>
            </a:xfrm>
          </p:grpSpPr>
          <p:sp>
            <p:nvSpPr>
              <p:cNvPr id="522" name="모서리가 둥근 직사각형 4">
                <a:extLst>
                  <a:ext uri="{FF2B5EF4-FFF2-40B4-BE49-F238E27FC236}">
                    <a16:creationId xmlns:a16="http://schemas.microsoft.com/office/drawing/2014/main" id="{C19C0930-B00C-6C83-9703-ABCC059E9C34}"/>
                  </a:ext>
                </a:extLst>
              </p:cNvPr>
              <p:cNvSpPr/>
              <p:nvPr/>
            </p:nvSpPr>
            <p:spPr>
              <a:xfrm>
                <a:off x="539750" y="2917808"/>
                <a:ext cx="526237" cy="526236"/>
              </a:xfrm>
              <a:prstGeom prst="roundRect">
                <a:avLst>
                  <a:gd name="adj" fmla="val 11229"/>
                </a:avLst>
              </a:prstGeom>
              <a:solidFill>
                <a:srgbClr val="00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523" name="TextBox 522">
                <a:extLst>
                  <a:ext uri="{FF2B5EF4-FFF2-40B4-BE49-F238E27FC236}">
                    <a16:creationId xmlns:a16="http://schemas.microsoft.com/office/drawing/2014/main" id="{1BF05DD1-B9F6-340F-566D-FA966B5603A0}"/>
                  </a:ext>
                </a:extLst>
              </p:cNvPr>
              <p:cNvSpPr txBox="1"/>
              <p:nvPr/>
            </p:nvSpPr>
            <p:spPr>
              <a:xfrm flipH="1">
                <a:off x="636582" y="2952530"/>
                <a:ext cx="338951" cy="46118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-</a:t>
                </a:r>
              </a:p>
            </p:txBody>
          </p:sp>
        </p:grpSp>
      </p:grpSp>
      <p:sp>
        <p:nvSpPr>
          <p:cNvPr id="525" name="Text Box 37">
            <a:extLst>
              <a:ext uri="{FF2B5EF4-FFF2-40B4-BE49-F238E27FC236}">
                <a16:creationId xmlns:a16="http://schemas.microsoft.com/office/drawing/2014/main" id="{361F8A67-9EED-F72F-A64A-D6CD82D57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952" y="1215900"/>
            <a:ext cx="6269248" cy="203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1pPr>
            <a:lvl2pPr marL="742950" indent="-28575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2pPr>
            <a:lvl3pPr marL="11430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3pPr>
            <a:lvl4pPr marL="16002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4pPr>
            <a:lvl5pPr marL="20574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9pPr>
          </a:lstStyle>
          <a:p>
            <a:pPr eaLnBrk="1" latinLnBrk="0" hangingPunct="1">
              <a:lnSpc>
                <a:spcPct val="120000"/>
              </a:lnSpc>
              <a:defRPr/>
            </a:pP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2. SLA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측정 지표 사례 </a:t>
            </a: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(4/10)</a:t>
            </a:r>
            <a:endParaRPr lang="ko-KR" altLang="en-US" sz="1200" dirty="0">
              <a:solidFill>
                <a:srgbClr val="000000">
                  <a:lumMod val="75000"/>
                  <a:lumOff val="25000"/>
                </a:srgbClr>
              </a:solidFill>
              <a:latin typeface="+mn-ea"/>
              <a:ea typeface="+mn-ea"/>
              <a:cs typeface="Arial" pitchFamily="34" charset="0"/>
            </a:endParaRPr>
          </a:p>
        </p:txBody>
      </p:sp>
      <p:sp>
        <p:nvSpPr>
          <p:cNvPr id="684" name="Rectangle 44">
            <a:extLst>
              <a:ext uri="{FF2B5EF4-FFF2-40B4-BE49-F238E27FC236}">
                <a16:creationId xmlns:a16="http://schemas.microsoft.com/office/drawing/2014/main" id="{DD31FE5A-473E-8784-60C1-2911EE6181B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67393" y="1681728"/>
            <a:ext cx="5979736" cy="2359096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 w="19050">
            <a:pattFill prst="dkUpDiag">
              <a:fgClr>
                <a:srgbClr val="888888"/>
              </a:fgClr>
              <a:bgClr>
                <a:srgbClr val="C5C5C5"/>
              </a:bgClr>
            </a:patt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latin typeface="+mn-ea"/>
              <a:ea typeface="+mn-ea"/>
            </a:endParaRPr>
          </a:p>
        </p:txBody>
      </p:sp>
      <p:sp>
        <p:nvSpPr>
          <p:cNvPr id="685" name="Text Box 316">
            <a:extLst>
              <a:ext uri="{FF2B5EF4-FFF2-40B4-BE49-F238E27FC236}">
                <a16:creationId xmlns:a16="http://schemas.microsoft.com/office/drawing/2014/main" id="{FA051F05-E7E4-F7E8-D8B4-104F78AC768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36712" y="1970987"/>
            <a:ext cx="3852428" cy="194925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2pPr marL="95250" lvl="1" indent="-95250" defTabSz="444500" latinLnBrk="0">
              <a:buClr>
                <a:schemeClr val="tx1"/>
              </a:buClr>
              <a:buSzPct val="100000"/>
              <a:buFont typeface="Arial" pitchFamily="34" charset="0"/>
              <a:buChar char="•"/>
              <a:defRPr sz="900">
                <a:latin typeface="Rix모던고딕 M" pitchFamily="18" charset="-127"/>
                <a:ea typeface="Rix모던고딕 M" pitchFamily="18" charset="-127"/>
              </a:defRPr>
            </a:lvl2pPr>
            <a:lvl3pPr marL="201613" lvl="2" indent="-106363" defTabSz="444500" latinLnBrk="0">
              <a:buClr>
                <a:schemeClr val="tx1"/>
              </a:buClr>
              <a:buSzPct val="100000"/>
              <a:buFont typeface="Rix모던고딕 B" pitchFamily="18" charset="-127"/>
              <a:buChar char="-"/>
              <a:defRPr sz="900">
                <a:latin typeface="Rix모던고딕 M" pitchFamily="18" charset="-127"/>
                <a:ea typeface="Rix모던고딕 M" pitchFamily="18" charset="-127"/>
              </a:defRPr>
            </a:lvl3pPr>
          </a:lstStyle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장애 건수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평균 장애 시간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가용도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(Availability)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동일장애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발생율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장애처리 품질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원인 불명 장애 건수 비율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장애 처리율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적시 장애처리율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장애처리절차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준수율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종합 장애 지수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장애 손실액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재해복구 소요시간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System Recovery Escalation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시스템 복구 시간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데이터 복구 시간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결함율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복구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성공율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백업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준수율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데이터 결함발생 건수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사용자 만족도</a:t>
            </a:r>
          </a:p>
        </p:txBody>
      </p:sp>
      <p:sp>
        <p:nvSpPr>
          <p:cNvPr id="686" name="한쪽 모서리가 둥근 사각형 125">
            <a:extLst>
              <a:ext uri="{FF2B5EF4-FFF2-40B4-BE49-F238E27FC236}">
                <a16:creationId xmlns:a16="http://schemas.microsoft.com/office/drawing/2014/main" id="{747F0377-FFF6-8205-99DD-BF94D87C3756}"/>
              </a:ext>
            </a:extLst>
          </p:cNvPr>
          <p:cNvSpPr/>
          <p:nvPr/>
        </p:nvSpPr>
        <p:spPr>
          <a:xfrm flipH="1">
            <a:off x="279792" y="1624578"/>
            <a:ext cx="4157319" cy="270968"/>
          </a:xfrm>
          <a:prstGeom prst="round1Rect">
            <a:avLst>
              <a:gd name="adj" fmla="val 27915"/>
            </a:avLst>
          </a:prstGeom>
          <a:solidFill>
            <a:srgbClr val="6362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장애관리 지표</a:t>
            </a:r>
            <a:endParaRPr kumimoji="1" lang="ko-KR" altLang="en-US" sz="1200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687" name="Group 34">
            <a:extLst>
              <a:ext uri="{FF2B5EF4-FFF2-40B4-BE49-F238E27FC236}">
                <a16:creationId xmlns:a16="http://schemas.microsoft.com/office/drawing/2014/main" id="{A22FE601-ABB6-BF26-03BD-9211D27FA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703722"/>
              </p:ext>
            </p:extLst>
          </p:nvPr>
        </p:nvGraphicFramePr>
        <p:xfrm>
          <a:off x="586475" y="4232920"/>
          <a:ext cx="5960655" cy="5176261"/>
        </p:xfrm>
        <a:graphic>
          <a:graphicData uri="http://schemas.openxmlformats.org/drawingml/2006/table">
            <a:tbl>
              <a:tblPr/>
              <a:tblGrid>
                <a:gridCol w="2050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2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73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effectLst/>
                          <a:latin typeface="+mn-ea"/>
                          <a:ea typeface="+mn-ea"/>
                        </a:rPr>
                        <a:t>항 목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effectLst/>
                          <a:latin typeface="+mn-ea"/>
                          <a:ea typeface="+mn-ea"/>
                        </a:rPr>
                        <a:t>주요 내용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effectLst/>
                          <a:latin typeface="+mn-ea"/>
                          <a:ea typeface="+mn-ea"/>
                        </a:rPr>
                        <a:t>측정단위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장애 건수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응용프로그램 장애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서버 장애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네트워크 장애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건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279759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평균 장애 시간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장애시간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장애건수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초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864723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가용도</a:t>
                      </a:r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Availability)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응용프로그램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서버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네트워크 가용도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875867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동일장애 발생율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동일장애 발생 건수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총 장애건수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568386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장애처리 품질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해결된 장애에서 발생되는 장애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재발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582601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원인 불명 장애 건수 비율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원인불명 장애 건수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총 장애건수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01347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장애 처리율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처리 완료건수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장애발생 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668300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적시 장애처리율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목표시간내 처리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전체 장애 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591069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장애처리절차 준수율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절차준수건수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장애발생 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229842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종합 장애 지수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장애시간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실제 가동 총시간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+mn-ea"/>
                          <a:ea typeface="+mn-ea"/>
                        </a:rPr>
                        <a:t>PPM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000085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장애 손실액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장애건별 예산 손실액 누적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원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274041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재해복구 소요시간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재해복구계획의 테스트 성공 소요시간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시간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202120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100" b="0" i="0" u="none" strike="noStrike">
                          <a:effectLst/>
                          <a:latin typeface="+mn-ea"/>
                          <a:ea typeface="+mn-ea"/>
                        </a:rPr>
                        <a:t>System Recovery Escalation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복구 시작시간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재해시작시간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시간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928159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시스템 복구 시간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시스템 복구 시간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시간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053239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데이터 복구 시간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100" b="0" i="0" u="none" strike="noStrike">
                          <a:effectLst/>
                          <a:latin typeface="+mn-ea"/>
                          <a:ea typeface="+mn-ea"/>
                        </a:rPr>
                        <a:t>Restore Time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시간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509746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 err="1">
                          <a:effectLst/>
                          <a:latin typeface="+mn-ea"/>
                          <a:ea typeface="+mn-ea"/>
                        </a:rPr>
                        <a:t>결함율</a:t>
                      </a:r>
                      <a:endParaRPr lang="ko-KR" altLang="en-US" sz="11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결함 프로그램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전체 대상 프로그램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484124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복구 성공율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복구 성공 건수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복구작업 건수 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705883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백업 준수율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실시건수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계획건수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403595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데이터 결함발생 건수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중복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비 일치성으로 인해 발생한 결함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건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843952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사용자 만족도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정기적인 사용자 만족도 조사 내용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점수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02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01931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9" name="그룹 518">
            <a:extLst>
              <a:ext uri="{FF2B5EF4-FFF2-40B4-BE49-F238E27FC236}">
                <a16:creationId xmlns:a16="http://schemas.microsoft.com/office/drawing/2014/main" id="{CA96E603-DA2F-D2F0-69F3-F58EE45A3F62}"/>
              </a:ext>
            </a:extLst>
          </p:cNvPr>
          <p:cNvGrpSpPr/>
          <p:nvPr/>
        </p:nvGrpSpPr>
        <p:grpSpPr>
          <a:xfrm>
            <a:off x="317654" y="667364"/>
            <a:ext cx="3795422" cy="351189"/>
            <a:chOff x="760846" y="854534"/>
            <a:chExt cx="3795422" cy="351189"/>
          </a:xfrm>
        </p:grpSpPr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138EF92F-4632-97AD-057C-6F5D4A921718}"/>
                </a:ext>
              </a:extLst>
            </p:cNvPr>
            <p:cNvSpPr txBox="1"/>
            <p:nvPr/>
          </p:nvSpPr>
          <p:spPr>
            <a:xfrm flipH="1">
              <a:off x="1171266" y="891629"/>
              <a:ext cx="338500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r>
                <a:rPr lang="en-US" altLang="ko-KR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Appendix</a:t>
              </a:r>
              <a:endParaRPr lang="ko-KR" altLang="en-US" sz="1800" b="1" dirty="0">
                <a:solidFill>
                  <a:srgbClr val="0067B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grpSp>
          <p:nvGrpSpPr>
            <p:cNvPr id="521" name="그룹 520">
              <a:extLst>
                <a:ext uri="{FF2B5EF4-FFF2-40B4-BE49-F238E27FC236}">
                  <a16:creationId xmlns:a16="http://schemas.microsoft.com/office/drawing/2014/main" id="{8C8B2C9A-EC0E-1A12-B145-A9EB37C1FF40}"/>
                </a:ext>
              </a:extLst>
            </p:cNvPr>
            <p:cNvGrpSpPr/>
            <p:nvPr/>
          </p:nvGrpSpPr>
          <p:grpSpPr>
            <a:xfrm>
              <a:off x="760846" y="854534"/>
              <a:ext cx="324620" cy="351189"/>
              <a:chOff x="539750" y="2917808"/>
              <a:chExt cx="526237" cy="526236"/>
            </a:xfrm>
          </p:grpSpPr>
          <p:sp>
            <p:nvSpPr>
              <p:cNvPr id="522" name="모서리가 둥근 직사각형 4">
                <a:extLst>
                  <a:ext uri="{FF2B5EF4-FFF2-40B4-BE49-F238E27FC236}">
                    <a16:creationId xmlns:a16="http://schemas.microsoft.com/office/drawing/2014/main" id="{C19C0930-B00C-6C83-9703-ABCC059E9C34}"/>
                  </a:ext>
                </a:extLst>
              </p:cNvPr>
              <p:cNvSpPr/>
              <p:nvPr/>
            </p:nvSpPr>
            <p:spPr>
              <a:xfrm>
                <a:off x="539750" y="2917808"/>
                <a:ext cx="526237" cy="526236"/>
              </a:xfrm>
              <a:prstGeom prst="roundRect">
                <a:avLst>
                  <a:gd name="adj" fmla="val 11229"/>
                </a:avLst>
              </a:prstGeom>
              <a:solidFill>
                <a:srgbClr val="00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523" name="TextBox 522">
                <a:extLst>
                  <a:ext uri="{FF2B5EF4-FFF2-40B4-BE49-F238E27FC236}">
                    <a16:creationId xmlns:a16="http://schemas.microsoft.com/office/drawing/2014/main" id="{1BF05DD1-B9F6-340F-566D-FA966B5603A0}"/>
                  </a:ext>
                </a:extLst>
              </p:cNvPr>
              <p:cNvSpPr txBox="1"/>
              <p:nvPr/>
            </p:nvSpPr>
            <p:spPr>
              <a:xfrm flipH="1">
                <a:off x="636582" y="2952530"/>
                <a:ext cx="338951" cy="46118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-</a:t>
                </a:r>
              </a:p>
            </p:txBody>
          </p:sp>
        </p:grpSp>
      </p:grpSp>
      <p:sp>
        <p:nvSpPr>
          <p:cNvPr id="525" name="Text Box 37">
            <a:extLst>
              <a:ext uri="{FF2B5EF4-FFF2-40B4-BE49-F238E27FC236}">
                <a16:creationId xmlns:a16="http://schemas.microsoft.com/office/drawing/2014/main" id="{361F8A67-9EED-F72F-A64A-D6CD82D57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952" y="1215900"/>
            <a:ext cx="6269248" cy="203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1pPr>
            <a:lvl2pPr marL="742950" indent="-28575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2pPr>
            <a:lvl3pPr marL="11430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3pPr>
            <a:lvl4pPr marL="16002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4pPr>
            <a:lvl5pPr marL="20574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9pPr>
          </a:lstStyle>
          <a:p>
            <a:pPr eaLnBrk="1" latinLnBrk="0" hangingPunct="1">
              <a:lnSpc>
                <a:spcPct val="120000"/>
              </a:lnSpc>
              <a:defRPr/>
            </a:pP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2. SLA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측정 지표 사례 </a:t>
            </a: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(5/10)</a:t>
            </a:r>
            <a:endParaRPr lang="ko-KR" altLang="en-US" sz="1200" dirty="0">
              <a:solidFill>
                <a:srgbClr val="000000">
                  <a:lumMod val="75000"/>
                  <a:lumOff val="25000"/>
                </a:srgbClr>
              </a:solidFill>
              <a:latin typeface="+mn-ea"/>
              <a:ea typeface="+mn-ea"/>
              <a:cs typeface="Arial" pitchFamily="34" charset="0"/>
            </a:endParaRPr>
          </a:p>
        </p:txBody>
      </p:sp>
      <p:sp>
        <p:nvSpPr>
          <p:cNvPr id="684" name="Rectangle 44">
            <a:extLst>
              <a:ext uri="{FF2B5EF4-FFF2-40B4-BE49-F238E27FC236}">
                <a16:creationId xmlns:a16="http://schemas.microsoft.com/office/drawing/2014/main" id="{DD31FE5A-473E-8784-60C1-2911EE6181B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67393" y="1681728"/>
            <a:ext cx="5979736" cy="2359096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 w="19050">
            <a:pattFill prst="dkUpDiag">
              <a:fgClr>
                <a:srgbClr val="888888"/>
              </a:fgClr>
              <a:bgClr>
                <a:srgbClr val="C5C5C5"/>
              </a:bgClr>
            </a:patt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latin typeface="+mn-ea"/>
              <a:ea typeface="+mn-ea"/>
            </a:endParaRPr>
          </a:p>
        </p:txBody>
      </p:sp>
      <p:sp>
        <p:nvSpPr>
          <p:cNvPr id="685" name="Text Box 316">
            <a:extLst>
              <a:ext uri="{FF2B5EF4-FFF2-40B4-BE49-F238E27FC236}">
                <a16:creationId xmlns:a16="http://schemas.microsoft.com/office/drawing/2014/main" id="{FA051F05-E7E4-F7E8-D8B4-104F78AC768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36712" y="1970987"/>
            <a:ext cx="3852428" cy="194925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2pPr marL="95250" lvl="1" indent="-95250" defTabSz="444500" latinLnBrk="0">
              <a:buClr>
                <a:schemeClr val="tx1"/>
              </a:buClr>
              <a:buSzPct val="100000"/>
              <a:buFont typeface="Arial" pitchFamily="34" charset="0"/>
              <a:buChar char="•"/>
              <a:defRPr sz="900">
                <a:latin typeface="Rix모던고딕 M" pitchFamily="18" charset="-127"/>
                <a:ea typeface="Rix모던고딕 M" pitchFamily="18" charset="-127"/>
              </a:defRPr>
            </a:lvl2pPr>
            <a:lvl3pPr marL="201613" lvl="2" indent="-106363" defTabSz="444500" latinLnBrk="0">
              <a:buClr>
                <a:schemeClr val="tx1"/>
              </a:buClr>
              <a:buSzPct val="100000"/>
              <a:buFont typeface="Rix모던고딕 B" pitchFamily="18" charset="-127"/>
              <a:buChar char="-"/>
              <a:defRPr sz="900">
                <a:latin typeface="Rix모던고딕 M" pitchFamily="18" charset="-127"/>
                <a:ea typeface="Rix모던고딕 M" pitchFamily="18" charset="-127"/>
              </a:defRPr>
            </a:lvl3pPr>
          </a:lstStyle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전화응답 속도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즉시 처리율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Call 1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차 처리율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Call 2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차 처리율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적시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대응율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고객 클레임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해결율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Call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응답 평균 시간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미처리 건수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반복 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Call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횟수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Help Desk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고객 만족도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Happy call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비율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콜센터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접수율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사용자 교육 니즈 충족도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사용자 교육 만족도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시스템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이용율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사용미숙으로 인한 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Call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비율</a:t>
            </a:r>
          </a:p>
        </p:txBody>
      </p:sp>
      <p:sp>
        <p:nvSpPr>
          <p:cNvPr id="686" name="한쪽 모서리가 둥근 사각형 125">
            <a:extLst>
              <a:ext uri="{FF2B5EF4-FFF2-40B4-BE49-F238E27FC236}">
                <a16:creationId xmlns:a16="http://schemas.microsoft.com/office/drawing/2014/main" id="{747F0377-FFF6-8205-99DD-BF94D87C3756}"/>
              </a:ext>
            </a:extLst>
          </p:cNvPr>
          <p:cNvSpPr/>
          <p:nvPr/>
        </p:nvSpPr>
        <p:spPr>
          <a:xfrm flipH="1">
            <a:off x="279792" y="1624578"/>
            <a:ext cx="4157319" cy="270968"/>
          </a:xfrm>
          <a:prstGeom prst="round1Rect">
            <a:avLst>
              <a:gd name="adj" fmla="val 27915"/>
            </a:avLst>
          </a:prstGeom>
          <a:solidFill>
            <a:srgbClr val="6362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>
                <a:solidFill>
                  <a:schemeClr val="bg1"/>
                </a:solidFill>
                <a:latin typeface="+mn-ea"/>
              </a:rPr>
              <a:t>Help Desk </a:t>
            </a:r>
            <a:r>
              <a:rPr kumimoji="1" lang="ko-KR" altLang="en-US" sz="1200" dirty="0">
                <a:solidFill>
                  <a:schemeClr val="bg1"/>
                </a:solidFill>
                <a:latin typeface="+mn-ea"/>
              </a:rPr>
              <a:t>관련 지표</a:t>
            </a:r>
          </a:p>
        </p:txBody>
      </p:sp>
      <p:graphicFrame>
        <p:nvGraphicFramePr>
          <p:cNvPr id="687" name="Group 34">
            <a:extLst>
              <a:ext uri="{FF2B5EF4-FFF2-40B4-BE49-F238E27FC236}">
                <a16:creationId xmlns:a16="http://schemas.microsoft.com/office/drawing/2014/main" id="{A22FE601-ABB6-BF26-03BD-9211D27FAC38}"/>
              </a:ext>
            </a:extLst>
          </p:cNvPr>
          <p:cNvGraphicFramePr>
            <a:graphicFrameLocks noGrp="1"/>
          </p:cNvGraphicFramePr>
          <p:nvPr/>
        </p:nvGraphicFramePr>
        <p:xfrm>
          <a:off x="586475" y="4232920"/>
          <a:ext cx="5960655" cy="2856610"/>
        </p:xfrm>
        <a:graphic>
          <a:graphicData uri="http://schemas.openxmlformats.org/drawingml/2006/table">
            <a:tbl>
              <a:tblPr/>
              <a:tblGrid>
                <a:gridCol w="1690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26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73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effectLst/>
                          <a:latin typeface="+mn-ea"/>
                          <a:ea typeface="+mn-ea"/>
                        </a:rPr>
                        <a:t>항 목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effectLst/>
                          <a:latin typeface="+mn-ea"/>
                          <a:ea typeface="+mn-ea"/>
                        </a:rPr>
                        <a:t>주요 내용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effectLst/>
                          <a:latin typeface="+mn-ea"/>
                          <a:ea typeface="+mn-ea"/>
                        </a:rPr>
                        <a:t>측정단위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전화응답 속도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담당자가 전화응답을 하는데 걸리는 시간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전화받는 시간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초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000085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즉시 처리율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즉시 처리건수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총 요청건수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274041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100" b="0" i="0" u="none" strike="noStrike">
                          <a:effectLst/>
                          <a:latin typeface="+mn-ea"/>
                          <a:ea typeface="+mn-ea"/>
                        </a:rPr>
                        <a:t>Call 1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차 처리율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차 처리건수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총 요청건수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202120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Call 2</a:t>
                      </a:r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차 처리율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차 처리건수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총 요청건수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928159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적시 대응율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약속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이내 처리 비율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053239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고객 클레임 해결율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해결건수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접수 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509746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Call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응답 평균 시간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평균 응답시간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초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484124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미처리 건수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100" b="0" i="0" u="none" strike="noStrike">
                          <a:effectLst/>
                          <a:latin typeface="+mn-ea"/>
                          <a:ea typeface="+mn-ea"/>
                        </a:rPr>
                        <a:t>Incidents in Backlog (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주 단위 건수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건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705883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반복 </a:t>
                      </a:r>
                      <a:r>
                        <a:rPr lang="en-US" sz="1100" b="0" i="0" u="none" strike="noStrike">
                          <a:effectLst/>
                          <a:latin typeface="+mn-ea"/>
                          <a:ea typeface="+mn-ea"/>
                        </a:rPr>
                        <a:t>Call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횟수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동일건에 대한 반복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Call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비율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403595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100" b="0" i="0" u="none" strike="noStrike">
                          <a:effectLst/>
                          <a:latin typeface="+mn-ea"/>
                          <a:ea typeface="+mn-ea"/>
                        </a:rPr>
                        <a:t>Help Desk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고객 만족도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만족도 조사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843952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Happy call </a:t>
                      </a:r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비율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100" b="0" i="0" u="none" strike="noStrike">
                          <a:effectLst/>
                          <a:latin typeface="+mn-ea"/>
                          <a:ea typeface="+mn-ea"/>
                        </a:rPr>
                        <a:t>Happy call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건수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접수 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02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15959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9" name="그룹 518">
            <a:extLst>
              <a:ext uri="{FF2B5EF4-FFF2-40B4-BE49-F238E27FC236}">
                <a16:creationId xmlns:a16="http://schemas.microsoft.com/office/drawing/2014/main" id="{CA96E603-DA2F-D2F0-69F3-F58EE45A3F62}"/>
              </a:ext>
            </a:extLst>
          </p:cNvPr>
          <p:cNvGrpSpPr/>
          <p:nvPr/>
        </p:nvGrpSpPr>
        <p:grpSpPr>
          <a:xfrm>
            <a:off x="317654" y="667364"/>
            <a:ext cx="3795422" cy="351189"/>
            <a:chOff x="760846" y="854534"/>
            <a:chExt cx="3795422" cy="351189"/>
          </a:xfrm>
        </p:grpSpPr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138EF92F-4632-97AD-057C-6F5D4A921718}"/>
                </a:ext>
              </a:extLst>
            </p:cNvPr>
            <p:cNvSpPr txBox="1"/>
            <p:nvPr/>
          </p:nvSpPr>
          <p:spPr>
            <a:xfrm flipH="1">
              <a:off x="1171266" y="891629"/>
              <a:ext cx="338500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r>
                <a:rPr lang="en-US" altLang="ko-KR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Appendix</a:t>
              </a:r>
              <a:endParaRPr lang="ko-KR" altLang="en-US" sz="1800" b="1" dirty="0">
                <a:solidFill>
                  <a:srgbClr val="0067B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grpSp>
          <p:nvGrpSpPr>
            <p:cNvPr id="521" name="그룹 520">
              <a:extLst>
                <a:ext uri="{FF2B5EF4-FFF2-40B4-BE49-F238E27FC236}">
                  <a16:creationId xmlns:a16="http://schemas.microsoft.com/office/drawing/2014/main" id="{8C8B2C9A-EC0E-1A12-B145-A9EB37C1FF40}"/>
                </a:ext>
              </a:extLst>
            </p:cNvPr>
            <p:cNvGrpSpPr/>
            <p:nvPr/>
          </p:nvGrpSpPr>
          <p:grpSpPr>
            <a:xfrm>
              <a:off x="760846" y="854534"/>
              <a:ext cx="324620" cy="351189"/>
              <a:chOff x="539750" y="2917808"/>
              <a:chExt cx="526237" cy="526236"/>
            </a:xfrm>
          </p:grpSpPr>
          <p:sp>
            <p:nvSpPr>
              <p:cNvPr id="522" name="모서리가 둥근 직사각형 4">
                <a:extLst>
                  <a:ext uri="{FF2B5EF4-FFF2-40B4-BE49-F238E27FC236}">
                    <a16:creationId xmlns:a16="http://schemas.microsoft.com/office/drawing/2014/main" id="{C19C0930-B00C-6C83-9703-ABCC059E9C34}"/>
                  </a:ext>
                </a:extLst>
              </p:cNvPr>
              <p:cNvSpPr/>
              <p:nvPr/>
            </p:nvSpPr>
            <p:spPr>
              <a:xfrm>
                <a:off x="539750" y="2917808"/>
                <a:ext cx="526237" cy="526236"/>
              </a:xfrm>
              <a:prstGeom prst="roundRect">
                <a:avLst>
                  <a:gd name="adj" fmla="val 11229"/>
                </a:avLst>
              </a:prstGeom>
              <a:solidFill>
                <a:srgbClr val="00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523" name="TextBox 522">
                <a:extLst>
                  <a:ext uri="{FF2B5EF4-FFF2-40B4-BE49-F238E27FC236}">
                    <a16:creationId xmlns:a16="http://schemas.microsoft.com/office/drawing/2014/main" id="{1BF05DD1-B9F6-340F-566D-FA966B5603A0}"/>
                  </a:ext>
                </a:extLst>
              </p:cNvPr>
              <p:cNvSpPr txBox="1"/>
              <p:nvPr/>
            </p:nvSpPr>
            <p:spPr>
              <a:xfrm flipH="1">
                <a:off x="636582" y="2952530"/>
                <a:ext cx="338951" cy="46118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-</a:t>
                </a:r>
              </a:p>
            </p:txBody>
          </p:sp>
        </p:grpSp>
      </p:grpSp>
      <p:sp>
        <p:nvSpPr>
          <p:cNvPr id="525" name="Text Box 37">
            <a:extLst>
              <a:ext uri="{FF2B5EF4-FFF2-40B4-BE49-F238E27FC236}">
                <a16:creationId xmlns:a16="http://schemas.microsoft.com/office/drawing/2014/main" id="{361F8A67-9EED-F72F-A64A-D6CD82D57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952" y="1215900"/>
            <a:ext cx="6269248" cy="203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1pPr>
            <a:lvl2pPr marL="742950" indent="-28575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2pPr>
            <a:lvl3pPr marL="11430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3pPr>
            <a:lvl4pPr marL="16002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4pPr>
            <a:lvl5pPr marL="20574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9pPr>
          </a:lstStyle>
          <a:p>
            <a:pPr eaLnBrk="1" latinLnBrk="0" hangingPunct="1">
              <a:lnSpc>
                <a:spcPct val="120000"/>
              </a:lnSpc>
              <a:defRPr/>
            </a:pP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2. SLA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측정 지표 사례 </a:t>
            </a: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(6/10)</a:t>
            </a:r>
            <a:endParaRPr lang="ko-KR" altLang="en-US" sz="1200" dirty="0">
              <a:solidFill>
                <a:srgbClr val="000000">
                  <a:lumMod val="75000"/>
                  <a:lumOff val="25000"/>
                </a:srgbClr>
              </a:solidFill>
              <a:latin typeface="+mn-ea"/>
              <a:ea typeface="+mn-ea"/>
              <a:cs typeface="Arial" pitchFamily="34" charset="0"/>
            </a:endParaRPr>
          </a:p>
        </p:txBody>
      </p:sp>
      <p:sp>
        <p:nvSpPr>
          <p:cNvPr id="684" name="Rectangle 44">
            <a:extLst>
              <a:ext uri="{FF2B5EF4-FFF2-40B4-BE49-F238E27FC236}">
                <a16:creationId xmlns:a16="http://schemas.microsoft.com/office/drawing/2014/main" id="{DD31FE5A-473E-8784-60C1-2911EE6181B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67393" y="1681728"/>
            <a:ext cx="5979736" cy="2359096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 w="19050">
            <a:pattFill prst="dkUpDiag">
              <a:fgClr>
                <a:srgbClr val="888888"/>
              </a:fgClr>
              <a:bgClr>
                <a:srgbClr val="C5C5C5"/>
              </a:bgClr>
            </a:patt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latin typeface="+mn-ea"/>
              <a:ea typeface="+mn-ea"/>
            </a:endParaRPr>
          </a:p>
        </p:txBody>
      </p:sp>
      <p:sp>
        <p:nvSpPr>
          <p:cNvPr id="685" name="Text Box 316">
            <a:extLst>
              <a:ext uri="{FF2B5EF4-FFF2-40B4-BE49-F238E27FC236}">
                <a16:creationId xmlns:a16="http://schemas.microsoft.com/office/drawing/2014/main" id="{FA051F05-E7E4-F7E8-D8B4-104F78AC768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36712" y="1970987"/>
            <a:ext cx="3852428" cy="194925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2pPr marL="95250" lvl="1" indent="-95250" defTabSz="444500" latinLnBrk="0">
              <a:buClr>
                <a:schemeClr val="tx1"/>
              </a:buClr>
              <a:buSzPct val="100000"/>
              <a:buFont typeface="Arial" pitchFamily="34" charset="0"/>
              <a:buChar char="•"/>
              <a:defRPr sz="900">
                <a:latin typeface="Rix모던고딕 M" pitchFamily="18" charset="-127"/>
                <a:ea typeface="Rix모던고딕 M" pitchFamily="18" charset="-127"/>
              </a:defRPr>
            </a:lvl2pPr>
            <a:lvl3pPr marL="201613" lvl="2" indent="-106363" defTabSz="444500" latinLnBrk="0">
              <a:buClr>
                <a:schemeClr val="tx1"/>
              </a:buClr>
              <a:buSzPct val="100000"/>
              <a:buFont typeface="Rix모던고딕 B" pitchFamily="18" charset="-127"/>
              <a:buChar char="-"/>
              <a:defRPr sz="900">
                <a:latin typeface="Rix모던고딕 M" pitchFamily="18" charset="-127"/>
                <a:ea typeface="Rix모던고딕 M" pitchFamily="18" charset="-127"/>
              </a:defRPr>
            </a:lvl3pPr>
          </a:lstStyle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CPU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사용율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 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Memory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사용율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Disk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사용율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기간시스템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가동율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서버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가동율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온라인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가동율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시스템 응답시간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유지보수계획 수립 완전성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시스템 운영절차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준수율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인수 인계 절차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준수율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접근 로그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점검율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백업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준수율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출력물 처리절차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준수율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장애 건수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시스템 복구 시간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복구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성공율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System Recovery Escalation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데이터 복구 시간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데이터 결함발생 건수</a:t>
            </a:r>
          </a:p>
        </p:txBody>
      </p:sp>
      <p:sp>
        <p:nvSpPr>
          <p:cNvPr id="686" name="한쪽 모서리가 둥근 사각형 125">
            <a:extLst>
              <a:ext uri="{FF2B5EF4-FFF2-40B4-BE49-F238E27FC236}">
                <a16:creationId xmlns:a16="http://schemas.microsoft.com/office/drawing/2014/main" id="{747F0377-FFF6-8205-99DD-BF94D87C3756}"/>
              </a:ext>
            </a:extLst>
          </p:cNvPr>
          <p:cNvSpPr/>
          <p:nvPr/>
        </p:nvSpPr>
        <p:spPr>
          <a:xfrm flipH="1">
            <a:off x="279792" y="1624578"/>
            <a:ext cx="4157319" cy="270968"/>
          </a:xfrm>
          <a:prstGeom prst="round1Rect">
            <a:avLst>
              <a:gd name="adj" fmla="val 27915"/>
            </a:avLst>
          </a:prstGeom>
          <a:solidFill>
            <a:srgbClr val="6362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dirty="0">
                <a:solidFill>
                  <a:schemeClr val="bg1"/>
                </a:solidFill>
                <a:latin typeface="+mn-ea"/>
              </a:rPr>
              <a:t>시스템</a:t>
            </a:r>
            <a:r>
              <a:rPr kumimoji="1" lang="en-US" altLang="ko-KR" sz="1200" dirty="0">
                <a:solidFill>
                  <a:schemeClr val="bg1"/>
                </a:solidFill>
                <a:latin typeface="+mn-ea"/>
              </a:rPr>
              <a:t> </a:t>
            </a:r>
            <a:r>
              <a:rPr kumimoji="1" lang="ko-KR" altLang="en-US" sz="1200" dirty="0">
                <a:solidFill>
                  <a:schemeClr val="bg1"/>
                </a:solidFill>
                <a:latin typeface="+mn-ea"/>
              </a:rPr>
              <a:t>운영 지표</a:t>
            </a:r>
          </a:p>
        </p:txBody>
      </p:sp>
      <p:graphicFrame>
        <p:nvGraphicFramePr>
          <p:cNvPr id="687" name="Group 34">
            <a:extLst>
              <a:ext uri="{FF2B5EF4-FFF2-40B4-BE49-F238E27FC236}">
                <a16:creationId xmlns:a16="http://schemas.microsoft.com/office/drawing/2014/main" id="{A22FE601-ABB6-BF26-03BD-9211D27FAC38}"/>
              </a:ext>
            </a:extLst>
          </p:cNvPr>
          <p:cNvGraphicFramePr>
            <a:graphicFrameLocks noGrp="1"/>
          </p:cNvGraphicFramePr>
          <p:nvPr/>
        </p:nvGraphicFramePr>
        <p:xfrm>
          <a:off x="586475" y="4232920"/>
          <a:ext cx="5960655" cy="4918522"/>
        </p:xfrm>
        <a:graphic>
          <a:graphicData uri="http://schemas.openxmlformats.org/drawingml/2006/table">
            <a:tbl>
              <a:tblPr/>
              <a:tblGrid>
                <a:gridCol w="2050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2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73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effectLst/>
                          <a:latin typeface="+mn-ea"/>
                          <a:ea typeface="+mn-ea"/>
                        </a:rPr>
                        <a:t>항    목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effectLst/>
                          <a:latin typeface="+mn-ea"/>
                          <a:ea typeface="+mn-ea"/>
                        </a:rPr>
                        <a:t>주요 내용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effectLst/>
                          <a:latin typeface="+mn-ea"/>
                          <a:ea typeface="+mn-ea"/>
                        </a:rPr>
                        <a:t>측정단위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CPU </a:t>
                      </a:r>
                      <a:r>
                        <a:rPr lang="ko-KR" altLang="en-US" sz="1100" b="0" i="0" u="none" strike="noStrike" dirty="0" err="1">
                          <a:effectLst/>
                          <a:latin typeface="+mn-ea"/>
                          <a:ea typeface="+mn-ea"/>
                        </a:rPr>
                        <a:t>사용율</a:t>
                      </a:r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Peak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시간의 평균 사용율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214501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Memory </a:t>
                      </a:r>
                      <a:r>
                        <a:rPr lang="ko-KR" altLang="en-US" sz="1100" b="0" i="0" u="none" strike="noStrike" dirty="0" err="1">
                          <a:effectLst/>
                          <a:latin typeface="+mn-ea"/>
                          <a:ea typeface="+mn-ea"/>
                        </a:rPr>
                        <a:t>사용율</a:t>
                      </a:r>
                      <a:endParaRPr lang="ko-KR" altLang="en-US" sz="11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Peak </a:t>
                      </a:r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시간의 평균 </a:t>
                      </a:r>
                      <a:r>
                        <a:rPr lang="ko-KR" altLang="en-US" sz="1100" b="0" i="0" u="none" strike="noStrike" dirty="0" err="1">
                          <a:effectLst/>
                          <a:latin typeface="+mn-ea"/>
                          <a:ea typeface="+mn-ea"/>
                        </a:rPr>
                        <a:t>사용율</a:t>
                      </a:r>
                      <a:endParaRPr lang="ko-KR" altLang="en-US" sz="11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946105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100" b="0" i="0" u="none" strike="noStrike">
                          <a:effectLst/>
                          <a:latin typeface="+mn-ea"/>
                          <a:ea typeface="+mn-ea"/>
                        </a:rPr>
                        <a:t>Disk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사용율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Peak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시간의 평균 사용율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662034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기간시스템 </a:t>
                      </a:r>
                      <a:r>
                        <a:rPr lang="ko-KR" altLang="en-US" sz="1100" b="0" i="0" u="none" strike="noStrike" dirty="0" err="1">
                          <a:effectLst/>
                          <a:latin typeface="+mn-ea"/>
                          <a:ea typeface="+mn-ea"/>
                        </a:rPr>
                        <a:t>가동율</a:t>
                      </a:r>
                      <a:endParaRPr lang="ko-KR" altLang="en-US" sz="11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가동시간 </a:t>
                      </a:r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/ (</a:t>
                      </a:r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가동시간</a:t>
                      </a:r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불가동시간</a:t>
                      </a:r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347442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서버 가동율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가동시간 </a:t>
                      </a:r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/ (</a:t>
                      </a:r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가동시간</a:t>
                      </a:r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불가동시간</a:t>
                      </a:r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360024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온라인 가동율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가동시간 </a:t>
                      </a:r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/ (</a:t>
                      </a:r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가동시간</a:t>
                      </a:r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불가동시간</a:t>
                      </a:r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564089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시스템 응답시간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On-line</a:t>
                      </a:r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의 평균 응답시간 </a:t>
                      </a:r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네트워크 제외</a:t>
                      </a:r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초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158019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유지보수계획 수립 완전성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인수된 시스템의 유지보수 계획 완전성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396768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시스템 운영절차 </a:t>
                      </a:r>
                      <a:r>
                        <a:rPr lang="ko-KR" altLang="en-US" sz="1100" b="0" i="0" u="none" strike="noStrike" dirty="0" err="1">
                          <a:effectLst/>
                          <a:latin typeface="+mn-ea"/>
                          <a:ea typeface="+mn-ea"/>
                        </a:rPr>
                        <a:t>준수율</a:t>
                      </a:r>
                      <a:endParaRPr lang="ko-KR" altLang="en-US" sz="11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미준수 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000085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인수 인계 절차 준수율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준수 건수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대상 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274041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접근 로그 점검율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점검 횟수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계획 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202120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백업 준수율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실시건수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계획건수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928159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출력물 처리절차 </a:t>
                      </a:r>
                      <a:r>
                        <a:rPr lang="ko-KR" altLang="en-US" sz="1100" b="0" i="0" u="none" strike="noStrike" dirty="0" err="1">
                          <a:effectLst/>
                          <a:latin typeface="+mn-ea"/>
                          <a:ea typeface="+mn-ea"/>
                        </a:rPr>
                        <a:t>준수율</a:t>
                      </a:r>
                      <a:endParaRPr lang="ko-KR" altLang="en-US" sz="11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미준수 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053239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장애 건수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시스템 장애건수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건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509746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시스템 복구 시간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시스템 복구 시간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시간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484124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복구 성공율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복구 성공 건수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복구작업 건수 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705883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System Recovery Escalation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복구 시작시간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재해시작시간   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복구 대응시간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시간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403595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데이터 복구 시간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100" b="0" i="0" u="none" strike="noStrike">
                          <a:effectLst/>
                          <a:latin typeface="+mn-ea"/>
                          <a:ea typeface="+mn-ea"/>
                        </a:rPr>
                        <a:t>Restore Time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시간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843952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데이터 결함발생 건수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중복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비 일치성으로 인해 발생한 결함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건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02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8856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9" name="그룹 518">
            <a:extLst>
              <a:ext uri="{FF2B5EF4-FFF2-40B4-BE49-F238E27FC236}">
                <a16:creationId xmlns:a16="http://schemas.microsoft.com/office/drawing/2014/main" id="{CA96E603-DA2F-D2F0-69F3-F58EE45A3F62}"/>
              </a:ext>
            </a:extLst>
          </p:cNvPr>
          <p:cNvGrpSpPr/>
          <p:nvPr/>
        </p:nvGrpSpPr>
        <p:grpSpPr>
          <a:xfrm>
            <a:off x="317654" y="667364"/>
            <a:ext cx="3795422" cy="351189"/>
            <a:chOff x="760846" y="854534"/>
            <a:chExt cx="3795422" cy="351189"/>
          </a:xfrm>
        </p:grpSpPr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138EF92F-4632-97AD-057C-6F5D4A921718}"/>
                </a:ext>
              </a:extLst>
            </p:cNvPr>
            <p:cNvSpPr txBox="1"/>
            <p:nvPr/>
          </p:nvSpPr>
          <p:spPr>
            <a:xfrm flipH="1">
              <a:off x="1171266" y="891629"/>
              <a:ext cx="338500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r>
                <a:rPr lang="en-US" altLang="ko-KR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Appendix</a:t>
              </a:r>
              <a:endParaRPr lang="ko-KR" altLang="en-US" sz="1800" b="1" dirty="0">
                <a:solidFill>
                  <a:srgbClr val="0067B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grpSp>
          <p:nvGrpSpPr>
            <p:cNvPr id="521" name="그룹 520">
              <a:extLst>
                <a:ext uri="{FF2B5EF4-FFF2-40B4-BE49-F238E27FC236}">
                  <a16:creationId xmlns:a16="http://schemas.microsoft.com/office/drawing/2014/main" id="{8C8B2C9A-EC0E-1A12-B145-A9EB37C1FF40}"/>
                </a:ext>
              </a:extLst>
            </p:cNvPr>
            <p:cNvGrpSpPr/>
            <p:nvPr/>
          </p:nvGrpSpPr>
          <p:grpSpPr>
            <a:xfrm>
              <a:off x="760846" y="854534"/>
              <a:ext cx="324620" cy="351189"/>
              <a:chOff x="539750" y="2917808"/>
              <a:chExt cx="526237" cy="526236"/>
            </a:xfrm>
          </p:grpSpPr>
          <p:sp>
            <p:nvSpPr>
              <p:cNvPr id="522" name="모서리가 둥근 직사각형 4">
                <a:extLst>
                  <a:ext uri="{FF2B5EF4-FFF2-40B4-BE49-F238E27FC236}">
                    <a16:creationId xmlns:a16="http://schemas.microsoft.com/office/drawing/2014/main" id="{C19C0930-B00C-6C83-9703-ABCC059E9C34}"/>
                  </a:ext>
                </a:extLst>
              </p:cNvPr>
              <p:cNvSpPr/>
              <p:nvPr/>
            </p:nvSpPr>
            <p:spPr>
              <a:xfrm>
                <a:off x="539750" y="2917808"/>
                <a:ext cx="526237" cy="526236"/>
              </a:xfrm>
              <a:prstGeom prst="roundRect">
                <a:avLst>
                  <a:gd name="adj" fmla="val 11229"/>
                </a:avLst>
              </a:prstGeom>
              <a:solidFill>
                <a:srgbClr val="00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523" name="TextBox 522">
                <a:extLst>
                  <a:ext uri="{FF2B5EF4-FFF2-40B4-BE49-F238E27FC236}">
                    <a16:creationId xmlns:a16="http://schemas.microsoft.com/office/drawing/2014/main" id="{1BF05DD1-B9F6-340F-566D-FA966B5603A0}"/>
                  </a:ext>
                </a:extLst>
              </p:cNvPr>
              <p:cNvSpPr txBox="1"/>
              <p:nvPr/>
            </p:nvSpPr>
            <p:spPr>
              <a:xfrm flipH="1">
                <a:off x="636582" y="2952530"/>
                <a:ext cx="338951" cy="46118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-</a:t>
                </a:r>
              </a:p>
            </p:txBody>
          </p:sp>
        </p:grpSp>
      </p:grpSp>
      <p:sp>
        <p:nvSpPr>
          <p:cNvPr id="525" name="Text Box 37">
            <a:extLst>
              <a:ext uri="{FF2B5EF4-FFF2-40B4-BE49-F238E27FC236}">
                <a16:creationId xmlns:a16="http://schemas.microsoft.com/office/drawing/2014/main" id="{361F8A67-9EED-F72F-A64A-D6CD82D57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952" y="1215900"/>
            <a:ext cx="6269248" cy="203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1pPr>
            <a:lvl2pPr marL="742950" indent="-28575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2pPr>
            <a:lvl3pPr marL="11430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3pPr>
            <a:lvl4pPr marL="16002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4pPr>
            <a:lvl5pPr marL="20574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9pPr>
          </a:lstStyle>
          <a:p>
            <a:pPr eaLnBrk="1" latinLnBrk="0" hangingPunct="1">
              <a:lnSpc>
                <a:spcPct val="120000"/>
              </a:lnSpc>
              <a:defRPr/>
            </a:pP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2. SLA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측정 지표 사례 </a:t>
            </a: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(7/10)</a:t>
            </a:r>
            <a:endParaRPr lang="ko-KR" altLang="en-US" sz="1200" dirty="0">
              <a:solidFill>
                <a:srgbClr val="000000">
                  <a:lumMod val="75000"/>
                  <a:lumOff val="25000"/>
                </a:srgbClr>
              </a:solidFill>
              <a:latin typeface="+mn-ea"/>
              <a:ea typeface="+mn-ea"/>
              <a:cs typeface="Arial" pitchFamily="34" charset="0"/>
            </a:endParaRPr>
          </a:p>
        </p:txBody>
      </p:sp>
      <p:sp>
        <p:nvSpPr>
          <p:cNvPr id="684" name="Rectangle 44">
            <a:extLst>
              <a:ext uri="{FF2B5EF4-FFF2-40B4-BE49-F238E27FC236}">
                <a16:creationId xmlns:a16="http://schemas.microsoft.com/office/drawing/2014/main" id="{DD31FE5A-473E-8784-60C1-2911EE6181B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67393" y="1681728"/>
            <a:ext cx="5979736" cy="2359096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 w="19050">
            <a:pattFill prst="dkUpDiag">
              <a:fgClr>
                <a:srgbClr val="888888"/>
              </a:fgClr>
              <a:bgClr>
                <a:srgbClr val="C5C5C5"/>
              </a:bgClr>
            </a:patt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latin typeface="+mn-ea"/>
              <a:ea typeface="+mn-ea"/>
            </a:endParaRPr>
          </a:p>
        </p:txBody>
      </p:sp>
      <p:sp>
        <p:nvSpPr>
          <p:cNvPr id="685" name="Text Box 316">
            <a:extLst>
              <a:ext uri="{FF2B5EF4-FFF2-40B4-BE49-F238E27FC236}">
                <a16:creationId xmlns:a16="http://schemas.microsoft.com/office/drawing/2014/main" id="{FA051F05-E7E4-F7E8-D8B4-104F78AC768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36712" y="1970987"/>
            <a:ext cx="3852428" cy="194925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2pPr marL="95250" lvl="1" indent="-95250" defTabSz="444500" latinLnBrk="0">
              <a:buClr>
                <a:schemeClr val="tx1"/>
              </a:buClr>
              <a:buSzPct val="100000"/>
              <a:buFont typeface="Arial" pitchFamily="34" charset="0"/>
              <a:buChar char="•"/>
              <a:defRPr sz="900">
                <a:latin typeface="Rix모던고딕 M" pitchFamily="18" charset="-127"/>
                <a:ea typeface="Rix모던고딕 M" pitchFamily="18" charset="-127"/>
              </a:defRPr>
            </a:lvl2pPr>
            <a:lvl3pPr marL="201613" lvl="2" indent="-106363" defTabSz="444500" latinLnBrk="0">
              <a:buClr>
                <a:schemeClr val="tx1"/>
              </a:buClr>
              <a:buSzPct val="100000"/>
              <a:buFont typeface="Rix모던고딕 B" pitchFamily="18" charset="-127"/>
              <a:buChar char="-"/>
              <a:defRPr sz="900">
                <a:latin typeface="Rix모던고딕 M" pitchFamily="18" charset="-127"/>
                <a:ea typeface="Rix모던고딕 M" pitchFamily="18" charset="-127"/>
              </a:defRPr>
            </a:lvl3pPr>
          </a:lstStyle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LAN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사용율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WAN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사용율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LAN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가동율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WAN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가동율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LAN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응답시간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WAN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응답시간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장애 건수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네트워크관리 절차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미준수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유지보수계획 수립 완전성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인수 인계 절차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준수율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고객 만족도</a:t>
            </a:r>
          </a:p>
        </p:txBody>
      </p:sp>
      <p:sp>
        <p:nvSpPr>
          <p:cNvPr id="686" name="한쪽 모서리가 둥근 사각형 125">
            <a:extLst>
              <a:ext uri="{FF2B5EF4-FFF2-40B4-BE49-F238E27FC236}">
                <a16:creationId xmlns:a16="http://schemas.microsoft.com/office/drawing/2014/main" id="{747F0377-FFF6-8205-99DD-BF94D87C3756}"/>
              </a:ext>
            </a:extLst>
          </p:cNvPr>
          <p:cNvSpPr/>
          <p:nvPr/>
        </p:nvSpPr>
        <p:spPr>
          <a:xfrm flipH="1">
            <a:off x="279792" y="1624578"/>
            <a:ext cx="4157319" cy="270968"/>
          </a:xfrm>
          <a:prstGeom prst="round1Rect">
            <a:avLst>
              <a:gd name="adj" fmla="val 27915"/>
            </a:avLst>
          </a:prstGeom>
          <a:solidFill>
            <a:srgbClr val="6362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네트워크 관리 지표</a:t>
            </a:r>
            <a:endParaRPr kumimoji="1" lang="ko-KR" altLang="en-US" sz="1200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687" name="Group 34">
            <a:extLst>
              <a:ext uri="{FF2B5EF4-FFF2-40B4-BE49-F238E27FC236}">
                <a16:creationId xmlns:a16="http://schemas.microsoft.com/office/drawing/2014/main" id="{A22FE601-ABB6-BF26-03BD-9211D27FAC38}"/>
              </a:ext>
            </a:extLst>
          </p:cNvPr>
          <p:cNvGraphicFramePr>
            <a:graphicFrameLocks noGrp="1"/>
          </p:cNvGraphicFramePr>
          <p:nvPr/>
        </p:nvGraphicFramePr>
        <p:xfrm>
          <a:off x="586475" y="4232920"/>
          <a:ext cx="5960655" cy="3028434"/>
        </p:xfrm>
        <a:graphic>
          <a:graphicData uri="http://schemas.openxmlformats.org/drawingml/2006/table">
            <a:tbl>
              <a:tblPr/>
              <a:tblGrid>
                <a:gridCol w="2050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2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73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effectLst/>
                          <a:latin typeface="+mn-ea"/>
                          <a:ea typeface="+mn-ea"/>
                        </a:rPr>
                        <a:t>항 목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effectLst/>
                          <a:latin typeface="+mn-ea"/>
                          <a:ea typeface="+mn-ea"/>
                        </a:rPr>
                        <a:t>주요 내용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effectLst/>
                          <a:latin typeface="+mn-ea"/>
                          <a:ea typeface="+mn-ea"/>
                        </a:rPr>
                        <a:t>측정단위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LAN </a:t>
                      </a:r>
                      <a:r>
                        <a:rPr lang="ko-KR" altLang="en-US" sz="1100" b="0" i="0" u="none" strike="noStrike" dirty="0" err="1">
                          <a:effectLst/>
                          <a:latin typeface="+mn-ea"/>
                          <a:ea typeface="+mn-ea"/>
                        </a:rPr>
                        <a:t>사용율</a:t>
                      </a:r>
                      <a:endParaRPr lang="ko-KR" altLang="en-US" sz="11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Peak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시간의 평균 사용율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214501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WAN </a:t>
                      </a:r>
                      <a:r>
                        <a:rPr lang="ko-KR" altLang="en-US" sz="1100" b="0" i="0" u="none" strike="noStrike" dirty="0" err="1">
                          <a:effectLst/>
                          <a:latin typeface="+mn-ea"/>
                          <a:ea typeface="+mn-ea"/>
                        </a:rPr>
                        <a:t>사용율</a:t>
                      </a:r>
                      <a:endParaRPr lang="ko-KR" altLang="en-US" sz="11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Peak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시간의 평균 사용율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946105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100" b="0" i="0" u="none" strike="noStrike">
                          <a:effectLst/>
                          <a:latin typeface="+mn-ea"/>
                          <a:ea typeface="+mn-ea"/>
                        </a:rPr>
                        <a:t>LAN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가동율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가동시간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(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가동시간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불가동시간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662034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WAN </a:t>
                      </a:r>
                      <a:r>
                        <a:rPr lang="ko-KR" altLang="en-US" sz="1100" b="0" i="0" u="none" strike="noStrike" dirty="0" err="1">
                          <a:effectLst/>
                          <a:latin typeface="+mn-ea"/>
                          <a:ea typeface="+mn-ea"/>
                        </a:rPr>
                        <a:t>가동율</a:t>
                      </a:r>
                      <a:endParaRPr lang="ko-KR" altLang="en-US" sz="11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가동시간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(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가동시간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불가동시간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347442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100" b="0" i="0" u="none" strike="noStrike">
                          <a:effectLst/>
                          <a:latin typeface="+mn-ea"/>
                          <a:ea typeface="+mn-ea"/>
                        </a:rPr>
                        <a:t>LAN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응답시간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On-line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의 평균 네트워크 응답시간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초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360024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100" b="0" i="0" u="none" strike="noStrike">
                          <a:effectLst/>
                          <a:latin typeface="+mn-ea"/>
                          <a:ea typeface="+mn-ea"/>
                        </a:rPr>
                        <a:t>WAN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응답시간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On-line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의 평균 네트워크 응답시간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초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564089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장애 건수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네트워크 장애발생 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건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158019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네트워크관리 절차 </a:t>
                      </a:r>
                      <a:r>
                        <a:rPr lang="ko-KR" altLang="en-US" sz="1100" b="0" i="0" u="none" strike="noStrike" dirty="0" err="1">
                          <a:effectLst/>
                          <a:latin typeface="+mn-ea"/>
                          <a:ea typeface="+mn-ea"/>
                        </a:rPr>
                        <a:t>미준수</a:t>
                      </a:r>
                      <a:endParaRPr lang="ko-KR" altLang="en-US" sz="11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표준절차 미준수 건수 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건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396768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유지보수계획 수립 완전성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인수된 시스템의 유지보수 계획 완전성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000085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인수 인계 절차 준수율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준수 건수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대상 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274041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고객 만족도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고객 만족도 조사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202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44998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9" name="그룹 518">
            <a:extLst>
              <a:ext uri="{FF2B5EF4-FFF2-40B4-BE49-F238E27FC236}">
                <a16:creationId xmlns:a16="http://schemas.microsoft.com/office/drawing/2014/main" id="{CA96E603-DA2F-D2F0-69F3-F58EE45A3F62}"/>
              </a:ext>
            </a:extLst>
          </p:cNvPr>
          <p:cNvGrpSpPr/>
          <p:nvPr/>
        </p:nvGrpSpPr>
        <p:grpSpPr>
          <a:xfrm>
            <a:off x="317654" y="667364"/>
            <a:ext cx="3795422" cy="351189"/>
            <a:chOff x="760846" y="854534"/>
            <a:chExt cx="3795422" cy="351189"/>
          </a:xfrm>
        </p:grpSpPr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138EF92F-4632-97AD-057C-6F5D4A921718}"/>
                </a:ext>
              </a:extLst>
            </p:cNvPr>
            <p:cNvSpPr txBox="1"/>
            <p:nvPr/>
          </p:nvSpPr>
          <p:spPr>
            <a:xfrm flipH="1">
              <a:off x="1171266" y="891629"/>
              <a:ext cx="338500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r>
                <a:rPr lang="en-US" altLang="ko-KR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Appendix</a:t>
              </a:r>
              <a:endParaRPr lang="ko-KR" altLang="en-US" sz="1800" b="1" dirty="0">
                <a:solidFill>
                  <a:srgbClr val="0067B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grpSp>
          <p:nvGrpSpPr>
            <p:cNvPr id="521" name="그룹 520">
              <a:extLst>
                <a:ext uri="{FF2B5EF4-FFF2-40B4-BE49-F238E27FC236}">
                  <a16:creationId xmlns:a16="http://schemas.microsoft.com/office/drawing/2014/main" id="{8C8B2C9A-EC0E-1A12-B145-A9EB37C1FF40}"/>
                </a:ext>
              </a:extLst>
            </p:cNvPr>
            <p:cNvGrpSpPr/>
            <p:nvPr/>
          </p:nvGrpSpPr>
          <p:grpSpPr>
            <a:xfrm>
              <a:off x="760846" y="854534"/>
              <a:ext cx="324620" cy="351189"/>
              <a:chOff x="539750" y="2917808"/>
              <a:chExt cx="526237" cy="526236"/>
            </a:xfrm>
          </p:grpSpPr>
          <p:sp>
            <p:nvSpPr>
              <p:cNvPr id="522" name="모서리가 둥근 직사각형 4">
                <a:extLst>
                  <a:ext uri="{FF2B5EF4-FFF2-40B4-BE49-F238E27FC236}">
                    <a16:creationId xmlns:a16="http://schemas.microsoft.com/office/drawing/2014/main" id="{C19C0930-B00C-6C83-9703-ABCC059E9C34}"/>
                  </a:ext>
                </a:extLst>
              </p:cNvPr>
              <p:cNvSpPr/>
              <p:nvPr/>
            </p:nvSpPr>
            <p:spPr>
              <a:xfrm>
                <a:off x="539750" y="2917808"/>
                <a:ext cx="526237" cy="526236"/>
              </a:xfrm>
              <a:prstGeom prst="roundRect">
                <a:avLst>
                  <a:gd name="adj" fmla="val 11229"/>
                </a:avLst>
              </a:prstGeom>
              <a:solidFill>
                <a:srgbClr val="00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523" name="TextBox 522">
                <a:extLst>
                  <a:ext uri="{FF2B5EF4-FFF2-40B4-BE49-F238E27FC236}">
                    <a16:creationId xmlns:a16="http://schemas.microsoft.com/office/drawing/2014/main" id="{1BF05DD1-B9F6-340F-566D-FA966B5603A0}"/>
                  </a:ext>
                </a:extLst>
              </p:cNvPr>
              <p:cNvSpPr txBox="1"/>
              <p:nvPr/>
            </p:nvSpPr>
            <p:spPr>
              <a:xfrm flipH="1">
                <a:off x="636582" y="2952530"/>
                <a:ext cx="338951" cy="46118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-</a:t>
                </a:r>
              </a:p>
            </p:txBody>
          </p:sp>
        </p:grpSp>
      </p:grpSp>
      <p:sp>
        <p:nvSpPr>
          <p:cNvPr id="525" name="Text Box 37">
            <a:extLst>
              <a:ext uri="{FF2B5EF4-FFF2-40B4-BE49-F238E27FC236}">
                <a16:creationId xmlns:a16="http://schemas.microsoft.com/office/drawing/2014/main" id="{361F8A67-9EED-F72F-A64A-D6CD82D57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952" y="1215900"/>
            <a:ext cx="6269248" cy="203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1pPr>
            <a:lvl2pPr marL="742950" indent="-28575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2pPr>
            <a:lvl3pPr marL="11430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3pPr>
            <a:lvl4pPr marL="16002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4pPr>
            <a:lvl5pPr marL="20574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9pPr>
          </a:lstStyle>
          <a:p>
            <a:pPr eaLnBrk="1" latinLnBrk="0" hangingPunct="1">
              <a:lnSpc>
                <a:spcPct val="120000"/>
              </a:lnSpc>
              <a:defRPr/>
            </a:pP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2. SLA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측정 지표 사례 </a:t>
            </a: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(8/10)</a:t>
            </a:r>
            <a:endParaRPr lang="ko-KR" altLang="en-US" sz="1200" dirty="0">
              <a:solidFill>
                <a:srgbClr val="000000">
                  <a:lumMod val="75000"/>
                  <a:lumOff val="25000"/>
                </a:srgbClr>
              </a:solidFill>
              <a:latin typeface="+mn-ea"/>
              <a:ea typeface="+mn-ea"/>
              <a:cs typeface="Arial" pitchFamily="34" charset="0"/>
            </a:endParaRPr>
          </a:p>
        </p:txBody>
      </p:sp>
      <p:sp>
        <p:nvSpPr>
          <p:cNvPr id="684" name="Rectangle 44">
            <a:extLst>
              <a:ext uri="{FF2B5EF4-FFF2-40B4-BE49-F238E27FC236}">
                <a16:creationId xmlns:a16="http://schemas.microsoft.com/office/drawing/2014/main" id="{DD31FE5A-473E-8784-60C1-2911EE6181B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67393" y="1681728"/>
            <a:ext cx="5979736" cy="2359096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 w="19050">
            <a:pattFill prst="dkUpDiag">
              <a:fgClr>
                <a:srgbClr val="888888"/>
              </a:fgClr>
              <a:bgClr>
                <a:srgbClr val="C5C5C5"/>
              </a:bgClr>
            </a:patt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latin typeface="+mn-ea"/>
              <a:ea typeface="+mn-ea"/>
            </a:endParaRPr>
          </a:p>
        </p:txBody>
      </p:sp>
      <p:sp>
        <p:nvSpPr>
          <p:cNvPr id="685" name="Text Box 316">
            <a:extLst>
              <a:ext uri="{FF2B5EF4-FFF2-40B4-BE49-F238E27FC236}">
                <a16:creationId xmlns:a16="http://schemas.microsoft.com/office/drawing/2014/main" id="{FA051F05-E7E4-F7E8-D8B4-104F78AC768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36712" y="1970987"/>
            <a:ext cx="3852428" cy="194925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2pPr marL="95250" lvl="1" indent="-95250" defTabSz="444500" latinLnBrk="0">
              <a:buClr>
                <a:schemeClr val="tx1"/>
              </a:buClr>
              <a:buSzPct val="100000"/>
              <a:buFont typeface="Arial" pitchFamily="34" charset="0"/>
              <a:buChar char="•"/>
              <a:defRPr sz="900">
                <a:latin typeface="Rix모던고딕 M" pitchFamily="18" charset="-127"/>
                <a:ea typeface="Rix모던고딕 M" pitchFamily="18" charset="-127"/>
              </a:defRPr>
            </a:lvl2pPr>
            <a:lvl3pPr marL="201613" lvl="2" indent="-106363" defTabSz="444500" latinLnBrk="0">
              <a:buClr>
                <a:schemeClr val="tx1"/>
              </a:buClr>
              <a:buSzPct val="100000"/>
              <a:buFont typeface="Rix모던고딕 B" pitchFamily="18" charset="-127"/>
              <a:buChar char="-"/>
              <a:defRPr sz="900">
                <a:latin typeface="Rix모던고딕 M" pitchFamily="18" charset="-127"/>
                <a:ea typeface="Rix모던고딕 M" pitchFamily="18" charset="-127"/>
              </a:defRPr>
            </a:lvl3pPr>
          </a:lstStyle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온라인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가동율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응용프로그램 응답속도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업무처리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착오율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Batch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작업처리율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Batch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작업처리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착오율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장애 건수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결함율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사용자 만족도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지원 작업 건수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응용시스템 작업 지원율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장애처리 품질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데이터 결함발생 건수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사용미숙으로 인한 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Call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비율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동료간 테스트 실시율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재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검사율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품질정책 준수도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형상이력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준수율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,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인수 인계 절차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준수율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프로세스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개선율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86" name="한쪽 모서리가 둥근 사각형 125">
            <a:extLst>
              <a:ext uri="{FF2B5EF4-FFF2-40B4-BE49-F238E27FC236}">
                <a16:creationId xmlns:a16="http://schemas.microsoft.com/office/drawing/2014/main" id="{747F0377-FFF6-8205-99DD-BF94D87C3756}"/>
              </a:ext>
            </a:extLst>
          </p:cNvPr>
          <p:cNvSpPr/>
          <p:nvPr/>
        </p:nvSpPr>
        <p:spPr>
          <a:xfrm flipH="1">
            <a:off x="279792" y="1624578"/>
            <a:ext cx="4157319" cy="270968"/>
          </a:xfrm>
          <a:prstGeom prst="round1Rect">
            <a:avLst>
              <a:gd name="adj" fmla="val 27915"/>
            </a:avLst>
          </a:prstGeom>
          <a:solidFill>
            <a:srgbClr val="6362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응용 프로그램 운영</a:t>
            </a:r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유지보수 관련 지표</a:t>
            </a:r>
            <a:endParaRPr kumimoji="1" lang="ko-KR" altLang="en-US" sz="1200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687" name="Group 34">
            <a:extLst>
              <a:ext uri="{FF2B5EF4-FFF2-40B4-BE49-F238E27FC236}">
                <a16:creationId xmlns:a16="http://schemas.microsoft.com/office/drawing/2014/main" id="{A22FE601-ABB6-BF26-03BD-9211D27FAC38}"/>
              </a:ext>
            </a:extLst>
          </p:cNvPr>
          <p:cNvGraphicFramePr>
            <a:graphicFrameLocks noGrp="1"/>
          </p:cNvGraphicFramePr>
          <p:nvPr/>
        </p:nvGraphicFramePr>
        <p:xfrm>
          <a:off x="586475" y="4232920"/>
          <a:ext cx="5960655" cy="3105975"/>
        </p:xfrm>
        <a:graphic>
          <a:graphicData uri="http://schemas.openxmlformats.org/drawingml/2006/table">
            <a:tbl>
              <a:tblPr/>
              <a:tblGrid>
                <a:gridCol w="19064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6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73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effectLst/>
                          <a:latin typeface="+mn-ea"/>
                          <a:ea typeface="+mn-ea"/>
                        </a:rPr>
                        <a:t>항  목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effectLst/>
                          <a:latin typeface="+mn-ea"/>
                          <a:ea typeface="+mn-ea"/>
                        </a:rPr>
                        <a:t>주요 내용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effectLst/>
                          <a:latin typeface="+mn-ea"/>
                          <a:ea typeface="+mn-ea"/>
                        </a:rPr>
                        <a:t>측정단위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온라인 </a:t>
                      </a:r>
                      <a:r>
                        <a:rPr lang="ko-KR" altLang="en-US" sz="1100" b="0" i="0" u="none" strike="noStrike" dirty="0" err="1">
                          <a:effectLst/>
                          <a:latin typeface="+mn-ea"/>
                          <a:ea typeface="+mn-ea"/>
                        </a:rPr>
                        <a:t>가동율</a:t>
                      </a:r>
                      <a:endParaRPr lang="ko-KR" altLang="en-US" sz="11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가동시간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/(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가동시간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불가동시간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214501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응용프로그램 응답속도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Application Program </a:t>
                      </a:r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응답속도의 합</a:t>
                      </a:r>
                      <a:endParaRPr lang="en-US" altLang="ko-KR" sz="1100" b="0" i="0" u="none" strike="noStrike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just" fontAlgn="ctr"/>
                      <a:r>
                        <a:rPr 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Application Program </a:t>
                      </a:r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개수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초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946105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업무처리 착오율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처리건수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금액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) 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전체 건수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금액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662034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Batch </a:t>
                      </a:r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작업처리율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야간 자동작업처리율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인쇄일정 준수율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347442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Batch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작업처리 착오율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착오건수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전체 요청건수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360024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장애 건수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응용프로그램 장애 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건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564089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결함율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결함 프로그램 </a:t>
                      </a:r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전체 대상 프로그램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158019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사용자 만족도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정기적인 사용자 만족도 조사 내용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396768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지원 작업 건수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정기작업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긴급 보고용 등 작업량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000085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응용시스템 작업 지원율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완료 건수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요청 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274041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장애처리 품질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해결된 장애로 인해 발생되는 장애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재발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202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71338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9" name="그룹 518">
            <a:extLst>
              <a:ext uri="{FF2B5EF4-FFF2-40B4-BE49-F238E27FC236}">
                <a16:creationId xmlns:a16="http://schemas.microsoft.com/office/drawing/2014/main" id="{CA96E603-DA2F-D2F0-69F3-F58EE45A3F62}"/>
              </a:ext>
            </a:extLst>
          </p:cNvPr>
          <p:cNvGrpSpPr/>
          <p:nvPr/>
        </p:nvGrpSpPr>
        <p:grpSpPr>
          <a:xfrm>
            <a:off x="317654" y="667364"/>
            <a:ext cx="3795422" cy="351189"/>
            <a:chOff x="760846" y="854534"/>
            <a:chExt cx="3795422" cy="351189"/>
          </a:xfrm>
        </p:grpSpPr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138EF92F-4632-97AD-057C-6F5D4A921718}"/>
                </a:ext>
              </a:extLst>
            </p:cNvPr>
            <p:cNvSpPr txBox="1"/>
            <p:nvPr/>
          </p:nvSpPr>
          <p:spPr>
            <a:xfrm flipH="1">
              <a:off x="1171266" y="891629"/>
              <a:ext cx="338500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r>
                <a:rPr lang="en-US" altLang="ko-KR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Appendix</a:t>
              </a:r>
              <a:endParaRPr lang="ko-KR" altLang="en-US" sz="1800" b="1" dirty="0">
                <a:solidFill>
                  <a:srgbClr val="0067B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grpSp>
          <p:nvGrpSpPr>
            <p:cNvPr id="521" name="그룹 520">
              <a:extLst>
                <a:ext uri="{FF2B5EF4-FFF2-40B4-BE49-F238E27FC236}">
                  <a16:creationId xmlns:a16="http://schemas.microsoft.com/office/drawing/2014/main" id="{8C8B2C9A-EC0E-1A12-B145-A9EB37C1FF40}"/>
                </a:ext>
              </a:extLst>
            </p:cNvPr>
            <p:cNvGrpSpPr/>
            <p:nvPr/>
          </p:nvGrpSpPr>
          <p:grpSpPr>
            <a:xfrm>
              <a:off x="760846" y="854534"/>
              <a:ext cx="324620" cy="351189"/>
              <a:chOff x="539750" y="2917808"/>
              <a:chExt cx="526237" cy="526236"/>
            </a:xfrm>
          </p:grpSpPr>
          <p:sp>
            <p:nvSpPr>
              <p:cNvPr id="522" name="모서리가 둥근 직사각형 4">
                <a:extLst>
                  <a:ext uri="{FF2B5EF4-FFF2-40B4-BE49-F238E27FC236}">
                    <a16:creationId xmlns:a16="http://schemas.microsoft.com/office/drawing/2014/main" id="{C19C0930-B00C-6C83-9703-ABCC059E9C34}"/>
                  </a:ext>
                </a:extLst>
              </p:cNvPr>
              <p:cNvSpPr/>
              <p:nvPr/>
            </p:nvSpPr>
            <p:spPr>
              <a:xfrm>
                <a:off x="539750" y="2917808"/>
                <a:ext cx="526237" cy="526236"/>
              </a:xfrm>
              <a:prstGeom prst="roundRect">
                <a:avLst>
                  <a:gd name="adj" fmla="val 11229"/>
                </a:avLst>
              </a:prstGeom>
              <a:solidFill>
                <a:srgbClr val="00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523" name="TextBox 522">
                <a:extLst>
                  <a:ext uri="{FF2B5EF4-FFF2-40B4-BE49-F238E27FC236}">
                    <a16:creationId xmlns:a16="http://schemas.microsoft.com/office/drawing/2014/main" id="{1BF05DD1-B9F6-340F-566D-FA966B5603A0}"/>
                  </a:ext>
                </a:extLst>
              </p:cNvPr>
              <p:cNvSpPr txBox="1"/>
              <p:nvPr/>
            </p:nvSpPr>
            <p:spPr>
              <a:xfrm flipH="1">
                <a:off x="636582" y="2952530"/>
                <a:ext cx="338951" cy="46118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-</a:t>
                </a:r>
              </a:p>
            </p:txBody>
          </p:sp>
        </p:grpSp>
      </p:grpSp>
      <p:sp>
        <p:nvSpPr>
          <p:cNvPr id="525" name="Text Box 37">
            <a:extLst>
              <a:ext uri="{FF2B5EF4-FFF2-40B4-BE49-F238E27FC236}">
                <a16:creationId xmlns:a16="http://schemas.microsoft.com/office/drawing/2014/main" id="{361F8A67-9EED-F72F-A64A-D6CD82D57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952" y="1215900"/>
            <a:ext cx="6269248" cy="203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1pPr>
            <a:lvl2pPr marL="742950" indent="-28575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2pPr>
            <a:lvl3pPr marL="11430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3pPr>
            <a:lvl4pPr marL="16002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4pPr>
            <a:lvl5pPr marL="20574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9pPr>
          </a:lstStyle>
          <a:p>
            <a:pPr eaLnBrk="1" latinLnBrk="0" hangingPunct="1">
              <a:lnSpc>
                <a:spcPct val="120000"/>
              </a:lnSpc>
              <a:defRPr/>
            </a:pP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2. SLA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측정 지표 사례 </a:t>
            </a: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(9/10)</a:t>
            </a:r>
            <a:endParaRPr lang="ko-KR" altLang="en-US" sz="1200" dirty="0">
              <a:solidFill>
                <a:srgbClr val="000000">
                  <a:lumMod val="75000"/>
                  <a:lumOff val="25000"/>
                </a:srgbClr>
              </a:solidFill>
              <a:latin typeface="+mn-ea"/>
              <a:ea typeface="+mn-ea"/>
              <a:cs typeface="Arial" pitchFamily="34" charset="0"/>
            </a:endParaRPr>
          </a:p>
        </p:txBody>
      </p:sp>
      <p:sp>
        <p:nvSpPr>
          <p:cNvPr id="684" name="Rectangle 44">
            <a:extLst>
              <a:ext uri="{FF2B5EF4-FFF2-40B4-BE49-F238E27FC236}">
                <a16:creationId xmlns:a16="http://schemas.microsoft.com/office/drawing/2014/main" id="{DD31FE5A-473E-8784-60C1-2911EE6181B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67393" y="1681728"/>
            <a:ext cx="5979736" cy="2359096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 w="19050">
            <a:pattFill prst="dkUpDiag">
              <a:fgClr>
                <a:srgbClr val="888888"/>
              </a:fgClr>
              <a:bgClr>
                <a:srgbClr val="C5C5C5"/>
              </a:bgClr>
            </a:patt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latin typeface="+mn-ea"/>
              <a:ea typeface="+mn-ea"/>
            </a:endParaRPr>
          </a:p>
        </p:txBody>
      </p:sp>
      <p:sp>
        <p:nvSpPr>
          <p:cNvPr id="685" name="Text Box 316">
            <a:extLst>
              <a:ext uri="{FF2B5EF4-FFF2-40B4-BE49-F238E27FC236}">
                <a16:creationId xmlns:a16="http://schemas.microsoft.com/office/drawing/2014/main" id="{FA051F05-E7E4-F7E8-D8B4-104F78AC768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36712" y="2060755"/>
            <a:ext cx="3852428" cy="176971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2pPr marL="95250" lvl="1" indent="-95250" defTabSz="444500" latinLnBrk="0">
              <a:buClr>
                <a:schemeClr val="tx1"/>
              </a:buClr>
              <a:buSzPct val="100000"/>
              <a:buFont typeface="Arial" pitchFamily="34" charset="0"/>
              <a:buChar char="•"/>
              <a:defRPr sz="900">
                <a:latin typeface="Rix모던고딕 M" pitchFamily="18" charset="-127"/>
                <a:ea typeface="Rix모던고딕 M" pitchFamily="18" charset="-127"/>
              </a:defRPr>
            </a:lvl2pPr>
            <a:lvl3pPr marL="201613" lvl="2" indent="-106363" defTabSz="444500" latinLnBrk="0">
              <a:buClr>
                <a:schemeClr val="tx1"/>
              </a:buClr>
              <a:buSzPct val="100000"/>
              <a:buFont typeface="Rix모던고딕 B" pitchFamily="18" charset="-127"/>
              <a:buChar char="-"/>
              <a:defRPr sz="900">
                <a:latin typeface="Rix모던고딕 M" pitchFamily="18" charset="-127"/>
                <a:ea typeface="Rix모던고딕 M" pitchFamily="18" charset="-127"/>
              </a:defRPr>
            </a:lvl3pPr>
          </a:lstStyle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장애처리 시간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적시 장애처리율 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동일장애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발생율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작업처리 적시성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유지보수계획 수립 완전성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OA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기기 예방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점검율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OA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기기 정비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완수율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Installation Time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Installation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정확도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고객 만족도</a:t>
            </a:r>
          </a:p>
        </p:txBody>
      </p:sp>
      <p:sp>
        <p:nvSpPr>
          <p:cNvPr id="686" name="한쪽 모서리가 둥근 사각형 125">
            <a:extLst>
              <a:ext uri="{FF2B5EF4-FFF2-40B4-BE49-F238E27FC236}">
                <a16:creationId xmlns:a16="http://schemas.microsoft.com/office/drawing/2014/main" id="{747F0377-FFF6-8205-99DD-BF94D87C3756}"/>
              </a:ext>
            </a:extLst>
          </p:cNvPr>
          <p:cNvSpPr/>
          <p:nvPr/>
        </p:nvSpPr>
        <p:spPr>
          <a:xfrm flipH="1">
            <a:off x="279792" y="1624578"/>
            <a:ext cx="4157319" cy="270968"/>
          </a:xfrm>
          <a:prstGeom prst="round1Rect">
            <a:avLst>
              <a:gd name="adj" fmla="val 27915"/>
            </a:avLst>
          </a:prstGeom>
          <a:solidFill>
            <a:srgbClr val="6362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Desktop </a:t>
            </a:r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운영</a:t>
            </a:r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유지보수 관련 지표</a:t>
            </a:r>
            <a:endParaRPr kumimoji="1" lang="ko-KR" altLang="en-US" sz="1200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687" name="Group 34">
            <a:extLst>
              <a:ext uri="{FF2B5EF4-FFF2-40B4-BE49-F238E27FC236}">
                <a16:creationId xmlns:a16="http://schemas.microsoft.com/office/drawing/2014/main" id="{A22FE601-ABB6-BF26-03BD-9211D27FAC38}"/>
              </a:ext>
            </a:extLst>
          </p:cNvPr>
          <p:cNvGraphicFramePr>
            <a:graphicFrameLocks noGrp="1"/>
          </p:cNvGraphicFramePr>
          <p:nvPr/>
        </p:nvGraphicFramePr>
        <p:xfrm>
          <a:off x="586475" y="4232920"/>
          <a:ext cx="5960655" cy="3028434"/>
        </p:xfrm>
        <a:graphic>
          <a:graphicData uri="http://schemas.openxmlformats.org/drawingml/2006/table">
            <a:tbl>
              <a:tblPr/>
              <a:tblGrid>
                <a:gridCol w="19064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6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73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effectLst/>
                          <a:latin typeface="+mn-ea"/>
                          <a:ea typeface="+mn-ea"/>
                        </a:rPr>
                        <a:t>항 목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effectLst/>
                          <a:latin typeface="+mn-ea"/>
                          <a:ea typeface="+mn-ea"/>
                        </a:rPr>
                        <a:t>주요 내용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effectLst/>
                          <a:latin typeface="+mn-ea"/>
                          <a:ea typeface="+mn-ea"/>
                        </a:rPr>
                        <a:t>측정단위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가용도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가동중인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Desktop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의 가동율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사전 정의된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214501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장애처리 시간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장해처리 평균 시간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(LAN, WAN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접속별 정의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시간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946105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적시 장애처리율 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계획시간 내 해결 건수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전체 장애 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662034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동일장애 발생율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동일장애 발생 건수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전체 장애 건수 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347442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작업처리 적시성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계획시간 내 처리 건수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전체 요청 건수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변경요청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360024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유지보수계획 수립 완전성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인수된 시스템의 유지보수 계획 완전성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564089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OA</a:t>
                      </a:r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기기 예방 </a:t>
                      </a:r>
                      <a:r>
                        <a:rPr lang="ko-KR" altLang="en-US" sz="1100" b="0" i="0" u="none" strike="noStrike" dirty="0" err="1">
                          <a:effectLst/>
                          <a:latin typeface="+mn-ea"/>
                          <a:ea typeface="+mn-ea"/>
                        </a:rPr>
                        <a:t>점검율</a:t>
                      </a:r>
                      <a:endParaRPr lang="ko-KR" altLang="en-US" sz="11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실시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계획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158019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OA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기기 정비 완수율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실시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요청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396768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Installation Time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목표시간내 처리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총 실시 계획건수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000085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100" b="0" i="0" u="none" strike="noStrike">
                          <a:effectLst/>
                          <a:latin typeface="+mn-ea"/>
                          <a:ea typeface="+mn-ea"/>
                        </a:rPr>
                        <a:t>Installation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정확도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100" b="0" i="0" u="none" strike="noStrike">
                          <a:effectLst/>
                          <a:latin typeface="+mn-ea"/>
                          <a:ea typeface="+mn-ea"/>
                        </a:rPr>
                        <a:t>H/W, OS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설치 및 </a:t>
                      </a:r>
                      <a:r>
                        <a:rPr lang="en-US" sz="1100" b="0" i="0" u="none" strike="noStrike">
                          <a:effectLst/>
                          <a:latin typeface="+mn-ea"/>
                          <a:ea typeface="+mn-ea"/>
                        </a:rPr>
                        <a:t>Upgrade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성공율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274041"/>
                  </a:ext>
                </a:extLst>
              </a:tr>
              <a:tr h="23626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고객 만족도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고객 만족도 조사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점수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202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79614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9" name="그룹 518">
            <a:extLst>
              <a:ext uri="{FF2B5EF4-FFF2-40B4-BE49-F238E27FC236}">
                <a16:creationId xmlns:a16="http://schemas.microsoft.com/office/drawing/2014/main" id="{CA96E603-DA2F-D2F0-69F3-F58EE45A3F62}"/>
              </a:ext>
            </a:extLst>
          </p:cNvPr>
          <p:cNvGrpSpPr/>
          <p:nvPr/>
        </p:nvGrpSpPr>
        <p:grpSpPr>
          <a:xfrm>
            <a:off x="317654" y="667364"/>
            <a:ext cx="3795422" cy="351189"/>
            <a:chOff x="760846" y="854534"/>
            <a:chExt cx="3795422" cy="351189"/>
          </a:xfrm>
        </p:grpSpPr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138EF92F-4632-97AD-057C-6F5D4A921718}"/>
                </a:ext>
              </a:extLst>
            </p:cNvPr>
            <p:cNvSpPr txBox="1"/>
            <p:nvPr/>
          </p:nvSpPr>
          <p:spPr>
            <a:xfrm flipH="1">
              <a:off x="1171266" y="891629"/>
              <a:ext cx="338500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r>
                <a:rPr lang="en-US" altLang="ko-KR" sz="1800" b="1" dirty="0">
                  <a:solidFill>
                    <a:srgbClr val="0067B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Appendix</a:t>
              </a:r>
              <a:endParaRPr lang="ko-KR" altLang="en-US" sz="1800" b="1" dirty="0">
                <a:solidFill>
                  <a:srgbClr val="0067B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grpSp>
          <p:nvGrpSpPr>
            <p:cNvPr id="521" name="그룹 520">
              <a:extLst>
                <a:ext uri="{FF2B5EF4-FFF2-40B4-BE49-F238E27FC236}">
                  <a16:creationId xmlns:a16="http://schemas.microsoft.com/office/drawing/2014/main" id="{8C8B2C9A-EC0E-1A12-B145-A9EB37C1FF40}"/>
                </a:ext>
              </a:extLst>
            </p:cNvPr>
            <p:cNvGrpSpPr/>
            <p:nvPr/>
          </p:nvGrpSpPr>
          <p:grpSpPr>
            <a:xfrm>
              <a:off x="760846" y="854534"/>
              <a:ext cx="324620" cy="351189"/>
              <a:chOff x="539750" y="2917808"/>
              <a:chExt cx="526237" cy="526236"/>
            </a:xfrm>
          </p:grpSpPr>
          <p:sp>
            <p:nvSpPr>
              <p:cNvPr id="522" name="모서리가 둥근 직사각형 4">
                <a:extLst>
                  <a:ext uri="{FF2B5EF4-FFF2-40B4-BE49-F238E27FC236}">
                    <a16:creationId xmlns:a16="http://schemas.microsoft.com/office/drawing/2014/main" id="{C19C0930-B00C-6C83-9703-ABCC059E9C34}"/>
                  </a:ext>
                </a:extLst>
              </p:cNvPr>
              <p:cNvSpPr/>
              <p:nvPr/>
            </p:nvSpPr>
            <p:spPr>
              <a:xfrm>
                <a:off x="539750" y="2917808"/>
                <a:ext cx="526237" cy="526236"/>
              </a:xfrm>
              <a:prstGeom prst="roundRect">
                <a:avLst>
                  <a:gd name="adj" fmla="val 11229"/>
                </a:avLst>
              </a:prstGeom>
              <a:solidFill>
                <a:srgbClr val="00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523" name="TextBox 522">
                <a:extLst>
                  <a:ext uri="{FF2B5EF4-FFF2-40B4-BE49-F238E27FC236}">
                    <a16:creationId xmlns:a16="http://schemas.microsoft.com/office/drawing/2014/main" id="{1BF05DD1-B9F6-340F-566D-FA966B5603A0}"/>
                  </a:ext>
                </a:extLst>
              </p:cNvPr>
              <p:cNvSpPr txBox="1"/>
              <p:nvPr/>
            </p:nvSpPr>
            <p:spPr>
              <a:xfrm flipH="1">
                <a:off x="636582" y="2952530"/>
                <a:ext cx="338951" cy="46118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altLang="ko-KR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-</a:t>
                </a:r>
              </a:p>
            </p:txBody>
          </p:sp>
        </p:grpSp>
      </p:grpSp>
      <p:sp>
        <p:nvSpPr>
          <p:cNvPr id="525" name="Text Box 37">
            <a:extLst>
              <a:ext uri="{FF2B5EF4-FFF2-40B4-BE49-F238E27FC236}">
                <a16:creationId xmlns:a16="http://schemas.microsoft.com/office/drawing/2014/main" id="{361F8A67-9EED-F72F-A64A-D6CD82D57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952" y="1215900"/>
            <a:ext cx="6269248" cy="203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1pPr>
            <a:lvl2pPr marL="742950" indent="-28575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2pPr>
            <a:lvl3pPr marL="11430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3pPr>
            <a:lvl4pPr marL="16002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4pPr>
            <a:lvl5pPr marL="2057400" indent="-228600" eaLnBrk="0" hangingPunct="0"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 b="1">
                <a:solidFill>
                  <a:schemeClr val="tx1"/>
                </a:solidFill>
                <a:latin typeface="Arial" pitchFamily="34" charset="0"/>
                <a:ea typeface="나눔고딕"/>
                <a:cs typeface="나눔고딕"/>
              </a:defRPr>
            </a:lvl9pPr>
          </a:lstStyle>
          <a:p>
            <a:pPr eaLnBrk="1" latinLnBrk="0" hangingPunct="1">
              <a:lnSpc>
                <a:spcPct val="120000"/>
              </a:lnSpc>
              <a:defRPr/>
            </a:pP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2. SLA </a:t>
            </a:r>
            <a:r>
              <a:rPr lang="ko-KR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측정 지표 사례 </a:t>
            </a:r>
            <a:r>
              <a:rPr lang="en-US" altLang="ko-KR" sz="1200" dirty="0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  <a:cs typeface="Arial" pitchFamily="34" charset="0"/>
              </a:rPr>
              <a:t>(10/10)</a:t>
            </a:r>
            <a:endParaRPr lang="ko-KR" altLang="en-US" sz="1200" dirty="0">
              <a:solidFill>
                <a:srgbClr val="000000">
                  <a:lumMod val="75000"/>
                  <a:lumOff val="25000"/>
                </a:srgbClr>
              </a:solidFill>
              <a:latin typeface="+mn-ea"/>
              <a:ea typeface="+mn-ea"/>
              <a:cs typeface="Arial" pitchFamily="34" charset="0"/>
            </a:endParaRPr>
          </a:p>
        </p:txBody>
      </p:sp>
      <p:sp>
        <p:nvSpPr>
          <p:cNvPr id="684" name="Rectangle 44">
            <a:extLst>
              <a:ext uri="{FF2B5EF4-FFF2-40B4-BE49-F238E27FC236}">
                <a16:creationId xmlns:a16="http://schemas.microsoft.com/office/drawing/2014/main" id="{DD31FE5A-473E-8784-60C1-2911EE6181B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67393" y="1681728"/>
            <a:ext cx="5979736" cy="2359096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 w="19050">
            <a:pattFill prst="dkUpDiag">
              <a:fgClr>
                <a:srgbClr val="888888"/>
              </a:fgClr>
              <a:bgClr>
                <a:srgbClr val="C5C5C5"/>
              </a:bgClr>
            </a:patt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latin typeface="+mn-ea"/>
              <a:ea typeface="+mn-ea"/>
            </a:endParaRPr>
          </a:p>
        </p:txBody>
      </p:sp>
      <p:sp>
        <p:nvSpPr>
          <p:cNvPr id="685" name="Text Box 316">
            <a:extLst>
              <a:ext uri="{FF2B5EF4-FFF2-40B4-BE49-F238E27FC236}">
                <a16:creationId xmlns:a16="http://schemas.microsoft.com/office/drawing/2014/main" id="{FA051F05-E7E4-F7E8-D8B4-104F78AC768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36712" y="2240291"/>
            <a:ext cx="3852428" cy="1410643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2pPr marL="95250" lvl="1" indent="-95250" defTabSz="444500" latinLnBrk="0">
              <a:buClr>
                <a:schemeClr val="tx1"/>
              </a:buClr>
              <a:buSzPct val="100000"/>
              <a:buFont typeface="Arial" pitchFamily="34" charset="0"/>
              <a:buChar char="•"/>
              <a:defRPr sz="900">
                <a:latin typeface="Rix모던고딕 M" pitchFamily="18" charset="-127"/>
                <a:ea typeface="Rix모던고딕 M" pitchFamily="18" charset="-127"/>
              </a:defRPr>
            </a:lvl2pPr>
            <a:lvl3pPr marL="201613" lvl="2" indent="-106363" defTabSz="444500" latinLnBrk="0">
              <a:buClr>
                <a:schemeClr val="tx1"/>
              </a:buClr>
              <a:buSzPct val="100000"/>
              <a:buFont typeface="Rix모던고딕 B" pitchFamily="18" charset="-127"/>
              <a:buChar char="-"/>
              <a:defRPr sz="900">
                <a:latin typeface="Rix모던고딕 M" pitchFamily="18" charset="-127"/>
                <a:ea typeface="Rix모던고딕 M" pitchFamily="18" charset="-127"/>
              </a:defRPr>
            </a:lvl3pPr>
          </a:lstStyle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프로젝트 적시 완성도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프로젝트 납기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지연율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프로젝트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검사율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개발 절차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준수율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품질정책 준수도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프로그램 </a:t>
            </a:r>
            <a:r>
              <a:rPr kumimoji="1" lang="ko-KR" alt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결함율</a:t>
            </a:r>
            <a:endParaRPr kumimoji="1" lang="ko-KR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인수</a:t>
            </a:r>
            <a:r>
              <a:rPr kumimoji="1"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Test </a:t>
            </a: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정확성 </a:t>
            </a:r>
          </a:p>
          <a:p>
            <a:pPr marL="142875" lvl="1" indent="-142875" fontAlgn="base">
              <a:spcBef>
                <a:spcPct val="0"/>
              </a:spcBef>
              <a:spcAft>
                <a:spcPts val="200"/>
              </a:spcAft>
              <a:buClr>
                <a:srgbClr val="646464"/>
              </a:buClr>
              <a:buFont typeface="Yoon 윤고딕 530_TT" panose="02090603020101020101" pitchFamily="18" charset="-127"/>
              <a:buChar char="+"/>
              <a:defRPr/>
            </a:pPr>
            <a:r>
              <a:rPr kumimoji="1"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고객 만족도</a:t>
            </a:r>
          </a:p>
        </p:txBody>
      </p:sp>
      <p:sp>
        <p:nvSpPr>
          <p:cNvPr id="686" name="한쪽 모서리가 둥근 사각형 125">
            <a:extLst>
              <a:ext uri="{FF2B5EF4-FFF2-40B4-BE49-F238E27FC236}">
                <a16:creationId xmlns:a16="http://schemas.microsoft.com/office/drawing/2014/main" id="{747F0377-FFF6-8205-99DD-BF94D87C3756}"/>
              </a:ext>
            </a:extLst>
          </p:cNvPr>
          <p:cNvSpPr/>
          <p:nvPr/>
        </p:nvSpPr>
        <p:spPr>
          <a:xfrm flipH="1">
            <a:off x="279792" y="1624578"/>
            <a:ext cx="4157319" cy="270968"/>
          </a:xfrm>
          <a:prstGeom prst="round1Rect">
            <a:avLst>
              <a:gd name="adj" fmla="val 27915"/>
            </a:avLst>
          </a:prstGeom>
          <a:solidFill>
            <a:srgbClr val="6362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응용 프로그램 개발 관련 지표</a:t>
            </a:r>
            <a:endParaRPr kumimoji="1" lang="ko-KR" altLang="en-US" sz="1200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687" name="Group 34">
            <a:extLst>
              <a:ext uri="{FF2B5EF4-FFF2-40B4-BE49-F238E27FC236}">
                <a16:creationId xmlns:a16="http://schemas.microsoft.com/office/drawing/2014/main" id="{A22FE601-ABB6-BF26-03BD-9211D27FA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526332"/>
              </p:ext>
            </p:extLst>
          </p:nvPr>
        </p:nvGraphicFramePr>
        <p:xfrm>
          <a:off x="586475" y="4232920"/>
          <a:ext cx="5960655" cy="2319651"/>
        </p:xfrm>
        <a:graphic>
          <a:graphicData uri="http://schemas.openxmlformats.org/drawingml/2006/table">
            <a:tbl>
              <a:tblPr/>
              <a:tblGrid>
                <a:gridCol w="19064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6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73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effectLst/>
                          <a:latin typeface="+mn-ea"/>
                          <a:ea typeface="+mn-ea"/>
                        </a:rPr>
                        <a:t>항 목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effectLst/>
                          <a:latin typeface="+mn-ea"/>
                          <a:ea typeface="+mn-ea"/>
                        </a:rPr>
                        <a:t>주요 내용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effectLst/>
                          <a:latin typeface="+mn-ea"/>
                          <a:ea typeface="+mn-ea"/>
                        </a:rPr>
                        <a:t>측정단위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프로젝트 적시 완성도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기간내 완성건수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전체건수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214501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프로젝트 납기 지연율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지연일수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프로젝트 전체 수행일수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946105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프로젝트 </a:t>
                      </a:r>
                      <a:r>
                        <a:rPr lang="ko-KR" altLang="en-US" sz="1100" b="0" i="0" u="none" strike="noStrike" dirty="0" err="1">
                          <a:effectLst/>
                          <a:latin typeface="+mn-ea"/>
                          <a:ea typeface="+mn-ea"/>
                        </a:rPr>
                        <a:t>검사율</a:t>
                      </a:r>
                      <a:endParaRPr lang="ko-KR" altLang="en-US" sz="11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검사 프로젝트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대상 프로젝트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662034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개발 절차 준수율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승인된 변경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개발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건수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전체건수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347442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품질정책 준수도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위반건수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건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360024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프로그램 결함율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인수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Test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시 결함건수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전체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Test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자체 개발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564089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인수</a:t>
                      </a:r>
                      <a:r>
                        <a:rPr lang="en-US" sz="1100" b="0" i="0" u="none" strike="noStrike">
                          <a:effectLst/>
                          <a:latin typeface="+mn-ea"/>
                          <a:ea typeface="+mn-ea"/>
                        </a:rPr>
                        <a:t>Test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정확성 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신규 응용프로그램 결함발견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총 개발 건수 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외주 개발</a:t>
                      </a:r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158019"/>
                  </a:ext>
                </a:extLst>
              </a:tr>
              <a:tr h="257739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고객 만족도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100" b="0" i="0" u="none" strike="noStrike">
                          <a:effectLst/>
                          <a:latin typeface="+mn-ea"/>
                          <a:ea typeface="+mn-ea"/>
                        </a:rPr>
                        <a:t>신규 응용프로그램에 대한 고객의 만족도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+mn-ea"/>
                          <a:ea typeface="+mn-ea"/>
                        </a:rPr>
                        <a:t>점수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396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12131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 bwMode="auto">
          <a:xfrm>
            <a:off x="1320800" y="4016896"/>
            <a:ext cx="4216400" cy="4590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 latinLnBrk="0">
              <a:lnSpc>
                <a:spcPct val="130000"/>
              </a:lnSpc>
            </a:pPr>
            <a:r>
              <a:rPr lang="en-US" altLang="ko-KR" sz="1800" dirty="0">
                <a:solidFill>
                  <a:schemeClr val="bg1"/>
                </a:solidFill>
                <a:latin typeface="나눔고딕" pitchFamily="2" charset="-127"/>
                <a:ea typeface="나눔고딕" pitchFamily="2" charset="-127"/>
              </a:rPr>
              <a:t>SLA(Service-Level Agreement)</a:t>
            </a:r>
          </a:p>
        </p:txBody>
      </p:sp>
    </p:spTree>
    <p:extLst>
      <p:ext uri="{BB962C8B-B14F-4D97-AF65-F5344CB8AC3E}">
        <p14:creationId xmlns:p14="http://schemas.microsoft.com/office/powerpoint/2010/main" val="1566873584"/>
      </p:ext>
    </p:extLst>
  </p:cSld>
  <p:clrMapOvr>
    <a:masterClrMapping/>
  </p:clrMapOvr>
</p:sld>
</file>

<file path=ppt/theme/theme1.xml><?xml version="1.0" encoding="utf-8"?>
<a:theme xmlns:a="http://schemas.openxmlformats.org/drawingml/2006/main" name="2_6장">
  <a:themeElements>
    <a:clrScheme name="6장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6장">
      <a:majorFont>
        <a:latin typeface="나눔고딕"/>
        <a:ea typeface="나눔고딕"/>
        <a:cs typeface="나눔고딕"/>
      </a:majorFont>
      <a:minorFont>
        <a:latin typeface="나눔고딕"/>
        <a:ea typeface="나눔고딕"/>
        <a:cs typeface="나눔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1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나눔고딕"/>
            <a:cs typeface="나눔고딕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1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나눔고딕"/>
            <a:cs typeface="나눔고딕"/>
          </a:defRPr>
        </a:defPPr>
      </a:lstStyle>
    </a:lnDef>
  </a:objectDefaults>
  <a:extraClrSchemeLst>
    <a:extraClrScheme>
      <a:clrScheme name="6장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장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장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장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장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장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장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6장">
  <a:themeElements>
    <a:clrScheme name="6장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6장">
      <a:majorFont>
        <a:latin typeface="나눔고딕"/>
        <a:ea typeface="나눔고딕"/>
        <a:cs typeface="나눔고딕"/>
      </a:majorFont>
      <a:minorFont>
        <a:latin typeface="나눔고딕"/>
        <a:ea typeface="나눔고딕"/>
        <a:cs typeface="나눔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1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나눔고딕"/>
            <a:cs typeface="나눔고딕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1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나눔고딕"/>
            <a:cs typeface="나눔고딕"/>
          </a:defRPr>
        </a:defPPr>
      </a:lstStyle>
    </a:lnDef>
  </a:objectDefaults>
  <a:extraClrSchemeLst>
    <a:extraClrScheme>
      <a:clrScheme name="6장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장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장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장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장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장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장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6장">
  <a:themeElements>
    <a:clrScheme name="6장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6장">
      <a:majorFont>
        <a:latin typeface="나눔고딕"/>
        <a:ea typeface="나눔고딕"/>
        <a:cs typeface="나눔고딕"/>
      </a:majorFont>
      <a:minorFont>
        <a:latin typeface="나눔고딕"/>
        <a:ea typeface="나눔고딕"/>
        <a:cs typeface="나눔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85000"/>
          </a:schemeClr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100" b="1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나눔고딕"/>
            <a:cs typeface="나눔고딕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1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나눔고딕"/>
            <a:cs typeface="나눔고딕"/>
          </a:defRPr>
        </a:defPPr>
      </a:lstStyle>
    </a:lnDef>
  </a:objectDefaults>
  <a:extraClrSchemeLst>
    <a:extraClrScheme>
      <a:clrScheme name="6장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장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장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장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장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장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장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빈페이지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16311</TotalTime>
  <Words>5039</Words>
  <Application>Microsoft Office PowerPoint</Application>
  <PresentationFormat>A4 용지(210x297mm)</PresentationFormat>
  <Paragraphs>1285</Paragraphs>
  <Slides>27</Slides>
  <Notes>0</Notes>
  <HiddenSlides>0</HiddenSlides>
  <MMClips>1</MMClips>
  <ScaleCrop>false</ScaleCrop>
  <HeadingPairs>
    <vt:vector size="8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4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27</vt:i4>
      </vt:variant>
    </vt:vector>
  </HeadingPairs>
  <TitlesOfParts>
    <vt:vector size="42" baseType="lpstr">
      <vt:lpstr>Wingdings 2</vt:lpstr>
      <vt:lpstr>나눔고딕 ExtraBold</vt:lpstr>
      <vt:lpstr>나눔고딕OTF ExtraBold</vt:lpstr>
      <vt:lpstr>나눔고딕</vt:lpstr>
      <vt:lpstr>Wingdings</vt:lpstr>
      <vt:lpstr>나눔바른고딕</vt:lpstr>
      <vt:lpstr>Arial</vt:lpstr>
      <vt:lpstr>Yoon 윤고딕 530_TT</vt:lpstr>
      <vt:lpstr>나눔고딕 Bold</vt:lpstr>
      <vt:lpstr>2_6장</vt:lpstr>
      <vt:lpstr>3_6장</vt:lpstr>
      <vt:lpstr>6장</vt:lpstr>
      <vt:lpstr>빈페이지</vt:lpstr>
      <vt:lpstr>Picture</vt:lpstr>
      <vt:lpstr>클립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(주)오더커뮤니케이션즈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제안서</dc:title>
  <dc:subject>오더</dc:subject>
  <dc:creator>전략기획팀</dc:creator>
  <cp:lastModifiedBy>Hojin.chae AMARANS</cp:lastModifiedBy>
  <cp:revision>1905</cp:revision>
  <cp:lastPrinted>2014-12-22T01:06:09Z</cp:lastPrinted>
  <dcterms:created xsi:type="dcterms:W3CDTF">1998-11-28T07:19:35Z</dcterms:created>
  <dcterms:modified xsi:type="dcterms:W3CDTF">2023-07-10T03:00:52Z</dcterms:modified>
</cp:coreProperties>
</file>