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haansoftxlsx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5" r:id="rId111"/>
  </p:sldMasterIdLst>
  <p:notesMasterIdLst>
    <p:notesMasterId r:id="rId273"/>
  </p:notesMasterIdLst>
  <p:handoutMasterIdLst>
    <p:handoutMasterId r:id="rId274"/>
  </p:handoutMasterIdLst>
  <p:sldIdLst>
    <p:sldId id="256" r:id="rId112"/>
    <p:sldId id="258" r:id="rId113"/>
    <p:sldId id="696" r:id="rId114"/>
    <p:sldId id="745" r:id="rId115"/>
    <p:sldId id="934" r:id="rId116"/>
    <p:sldId id="746" r:id="rId117"/>
    <p:sldId id="930" r:id="rId118"/>
    <p:sldId id="784" r:id="rId119"/>
    <p:sldId id="785" r:id="rId120"/>
    <p:sldId id="742" r:id="rId121"/>
    <p:sldId id="743" r:id="rId122"/>
    <p:sldId id="786" r:id="rId123"/>
    <p:sldId id="678" r:id="rId124"/>
    <p:sldId id="935" r:id="rId125"/>
    <p:sldId id="738" r:id="rId126"/>
    <p:sldId id="741" r:id="rId127"/>
    <p:sldId id="740" r:id="rId128"/>
    <p:sldId id="747" r:id="rId129"/>
    <p:sldId id="749" r:id="rId130"/>
    <p:sldId id="904" r:id="rId131"/>
    <p:sldId id="750" r:id="rId132"/>
    <p:sldId id="751" r:id="rId133"/>
    <p:sldId id="752" r:id="rId134"/>
    <p:sldId id="753" r:id="rId135"/>
    <p:sldId id="754" r:id="rId136"/>
    <p:sldId id="758" r:id="rId137"/>
    <p:sldId id="757" r:id="rId138"/>
    <p:sldId id="937" r:id="rId139"/>
    <p:sldId id="886" r:id="rId140"/>
    <p:sldId id="788" r:id="rId141"/>
    <p:sldId id="922" r:id="rId142"/>
    <p:sldId id="792" r:id="rId143"/>
    <p:sldId id="938" r:id="rId144"/>
    <p:sldId id="887" r:id="rId145"/>
    <p:sldId id="939" r:id="rId146"/>
    <p:sldId id="777" r:id="rId147"/>
    <p:sldId id="775" r:id="rId148"/>
    <p:sldId id="914" r:id="rId149"/>
    <p:sldId id="916" r:id="rId150"/>
    <p:sldId id="915" r:id="rId151"/>
    <p:sldId id="913" r:id="rId152"/>
    <p:sldId id="850" r:id="rId153"/>
    <p:sldId id="763" r:id="rId154"/>
    <p:sldId id="927" r:id="rId155"/>
    <p:sldId id="926" r:id="rId156"/>
    <p:sldId id="928" r:id="rId157"/>
    <p:sldId id="765" r:id="rId158"/>
    <p:sldId id="766" r:id="rId159"/>
    <p:sldId id="767" r:id="rId160"/>
    <p:sldId id="769" r:id="rId161"/>
    <p:sldId id="781" r:id="rId162"/>
    <p:sldId id="771" r:id="rId163"/>
    <p:sldId id="791" r:id="rId164"/>
    <p:sldId id="789" r:id="rId165"/>
    <p:sldId id="931" r:id="rId166"/>
    <p:sldId id="795" r:id="rId167"/>
    <p:sldId id="794" r:id="rId168"/>
    <p:sldId id="796" r:id="rId169"/>
    <p:sldId id="812" r:id="rId170"/>
    <p:sldId id="803" r:id="rId171"/>
    <p:sldId id="799" r:id="rId172"/>
    <p:sldId id="848" r:id="rId173"/>
    <p:sldId id="797" r:id="rId174"/>
    <p:sldId id="804" r:id="rId175"/>
    <p:sldId id="805" r:id="rId176"/>
    <p:sldId id="806" r:id="rId177"/>
    <p:sldId id="807" r:id="rId178"/>
    <p:sldId id="924" r:id="rId179"/>
    <p:sldId id="808" r:id="rId180"/>
    <p:sldId id="809" r:id="rId181"/>
    <p:sldId id="811" r:id="rId182"/>
    <p:sldId id="810" r:id="rId183"/>
    <p:sldId id="813" r:id="rId184"/>
    <p:sldId id="814" r:id="rId185"/>
    <p:sldId id="815" r:id="rId186"/>
    <p:sldId id="816" r:id="rId187"/>
    <p:sldId id="817" r:id="rId188"/>
    <p:sldId id="819" r:id="rId189"/>
    <p:sldId id="818" r:id="rId190"/>
    <p:sldId id="821" r:id="rId191"/>
    <p:sldId id="822" r:id="rId192"/>
    <p:sldId id="820" r:id="rId193"/>
    <p:sldId id="823" r:id="rId194"/>
    <p:sldId id="933" r:id="rId195"/>
    <p:sldId id="932" r:id="rId196"/>
    <p:sldId id="824" r:id="rId197"/>
    <p:sldId id="827" r:id="rId198"/>
    <p:sldId id="899" r:id="rId199"/>
    <p:sldId id="829" r:id="rId200"/>
    <p:sldId id="831" r:id="rId201"/>
    <p:sldId id="830" r:id="rId202"/>
    <p:sldId id="826" r:id="rId203"/>
    <p:sldId id="941" r:id="rId204"/>
    <p:sldId id="833" r:id="rId205"/>
    <p:sldId id="834" r:id="rId206"/>
    <p:sldId id="835" r:id="rId207"/>
    <p:sldId id="836" r:id="rId208"/>
    <p:sldId id="853" r:id="rId209"/>
    <p:sldId id="852" r:id="rId210"/>
    <p:sldId id="856" r:id="rId211"/>
    <p:sldId id="918" r:id="rId212"/>
    <p:sldId id="917" r:id="rId213"/>
    <p:sldId id="919" r:id="rId214"/>
    <p:sldId id="920" r:id="rId215"/>
    <p:sldId id="855" r:id="rId216"/>
    <p:sldId id="854" r:id="rId217"/>
    <p:sldId id="838" r:id="rId218"/>
    <p:sldId id="837" r:id="rId219"/>
    <p:sldId id="841" r:id="rId220"/>
    <p:sldId id="842" r:id="rId221"/>
    <p:sldId id="839" r:id="rId222"/>
    <p:sldId id="843" r:id="rId223"/>
    <p:sldId id="844" r:id="rId224"/>
    <p:sldId id="942" r:id="rId225"/>
    <p:sldId id="943" r:id="rId226"/>
    <p:sldId id="845" r:id="rId227"/>
    <p:sldId id="840" r:id="rId228"/>
    <p:sldId id="857" r:id="rId229"/>
    <p:sldId id="858" r:id="rId230"/>
    <p:sldId id="859" r:id="rId231"/>
    <p:sldId id="862" r:id="rId232"/>
    <p:sldId id="860" r:id="rId233"/>
    <p:sldId id="861" r:id="rId234"/>
    <p:sldId id="863" r:id="rId235"/>
    <p:sldId id="897" r:id="rId236"/>
    <p:sldId id="902" r:id="rId237"/>
    <p:sldId id="903" r:id="rId238"/>
    <p:sldId id="898" r:id="rId239"/>
    <p:sldId id="864" r:id="rId240"/>
    <p:sldId id="865" r:id="rId241"/>
    <p:sldId id="866" r:id="rId242"/>
    <p:sldId id="867" r:id="rId243"/>
    <p:sldId id="868" r:id="rId244"/>
    <p:sldId id="869" r:id="rId245"/>
    <p:sldId id="875" r:id="rId246"/>
    <p:sldId id="870" r:id="rId247"/>
    <p:sldId id="871" r:id="rId248"/>
    <p:sldId id="876" r:id="rId249"/>
    <p:sldId id="872" r:id="rId250"/>
    <p:sldId id="873" r:id="rId251"/>
    <p:sldId id="874" r:id="rId252"/>
    <p:sldId id="877" r:id="rId253"/>
    <p:sldId id="878" r:id="rId254"/>
    <p:sldId id="879" r:id="rId255"/>
    <p:sldId id="880" r:id="rId256"/>
    <p:sldId id="883" r:id="rId257"/>
    <p:sldId id="881" r:id="rId258"/>
    <p:sldId id="889" r:id="rId259"/>
    <p:sldId id="885" r:id="rId260"/>
    <p:sldId id="940" r:id="rId261"/>
    <p:sldId id="884" r:id="rId262"/>
    <p:sldId id="890" r:id="rId263"/>
    <p:sldId id="891" r:id="rId264"/>
    <p:sldId id="892" r:id="rId265"/>
    <p:sldId id="893" r:id="rId266"/>
    <p:sldId id="894" r:id="rId267"/>
    <p:sldId id="895" r:id="rId268"/>
    <p:sldId id="900" r:id="rId269"/>
    <p:sldId id="901" r:id="rId270"/>
    <p:sldId id="896" r:id="rId271"/>
    <p:sldId id="670" r:id="rId272"/>
  </p:sldIdLst>
  <p:sldSz cx="12801600" cy="9601200" type="A3"/>
  <p:notesSz cx="6797675" cy="9926638"/>
  <p:defaultTextStyle>
    <a:defPPr>
      <a:defRPr lang="ko-KR"/>
    </a:defPPr>
    <a:lvl1pPr marL="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1pPr>
    <a:lvl2pPr marL="64008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2pPr>
    <a:lvl3pPr marL="128016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3pPr>
    <a:lvl4pPr marL="192024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4pPr>
    <a:lvl5pPr marL="256032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5pPr>
    <a:lvl6pPr marL="320040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6pPr>
    <a:lvl7pPr marL="384048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7pPr>
    <a:lvl8pPr marL="448056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8pPr>
    <a:lvl9pPr marL="5120640" algn="l" defTabSz="1280160" rtl="0" eaLnBrk="1" latinLnBrk="1" hangingPunct="1">
      <a:defRPr sz="25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9A64B138-78F9-4E0D-833C-2DF177C1F4D5}">
          <p14:sldIdLst>
            <p14:sldId id="256"/>
            <p14:sldId id="258"/>
            <p14:sldId id="696"/>
          </p14:sldIdLst>
        </p14:section>
        <p14:section name="로그인" id="{5F66B5DE-9777-4E78-A5CA-E083E8DBED0C}">
          <p14:sldIdLst>
            <p14:sldId id="745"/>
            <p14:sldId id="934"/>
            <p14:sldId id="746"/>
            <p14:sldId id="930"/>
            <p14:sldId id="784"/>
            <p14:sldId id="785"/>
          </p14:sldIdLst>
        </p14:section>
        <p14:section name="티커" id="{482F56AF-9015-4A1A-A60D-0FFE3AC9CA67}">
          <p14:sldIdLst>
            <p14:sldId id="742"/>
            <p14:sldId id="743"/>
            <p14:sldId id="786"/>
          </p14:sldIdLst>
        </p14:section>
        <p14:section name="출입관리" id="{928889DF-22CE-404E-9BE9-C46ED5D6A679}">
          <p14:sldIdLst>
            <p14:sldId id="678"/>
            <p14:sldId id="935"/>
            <p14:sldId id="738"/>
            <p14:sldId id="741"/>
            <p14:sldId id="740"/>
            <p14:sldId id="747"/>
            <p14:sldId id="749"/>
            <p14:sldId id="904"/>
            <p14:sldId id="750"/>
            <p14:sldId id="751"/>
            <p14:sldId id="752"/>
            <p14:sldId id="753"/>
            <p14:sldId id="754"/>
          </p14:sldIdLst>
        </p14:section>
        <p14:section name="안전관리 - 안전현황" id="{0305AE47-B6DB-4C40-976D-F58B85843C4C}">
          <p14:sldIdLst>
            <p14:sldId id="758"/>
            <p14:sldId id="757"/>
            <p14:sldId id="937"/>
            <p14:sldId id="886"/>
            <p14:sldId id="788"/>
            <p14:sldId id="922"/>
            <p14:sldId id="792"/>
            <p14:sldId id="938"/>
            <p14:sldId id="887"/>
            <p14:sldId id="939"/>
            <p14:sldId id="777"/>
            <p14:sldId id="775"/>
            <p14:sldId id="914"/>
            <p14:sldId id="916"/>
            <p14:sldId id="915"/>
            <p14:sldId id="913"/>
            <p14:sldId id="850"/>
          </p14:sldIdLst>
        </p14:section>
        <p14:section name="안전관리 - 안전점검 현황" id="{736AAA31-A1F0-40A0-B9E3-EB32F9B0CBB8}">
          <p14:sldIdLst>
            <p14:sldId id="763"/>
            <p14:sldId id="927"/>
            <p14:sldId id="926"/>
            <p14:sldId id="928"/>
          </p14:sldIdLst>
        </p14:section>
        <p14:section name="안전관리-위치기반 안전관리" id="{5BE66221-C9C4-459F-AED8-A6F5C56ED6F1}">
          <p14:sldIdLst>
            <p14:sldId id="765"/>
            <p14:sldId id="766"/>
            <p14:sldId id="767"/>
            <p14:sldId id="769"/>
            <p14:sldId id="781"/>
            <p14:sldId id="771"/>
            <p14:sldId id="791"/>
          </p14:sldIdLst>
        </p14:section>
        <p14:section name="안전관리 - 안전 모니터링" id="{9778A696-5578-4D43-8210-85599025DC96}">
          <p14:sldIdLst>
            <p14:sldId id="789"/>
            <p14:sldId id="931"/>
            <p14:sldId id="795"/>
            <p14:sldId id="794"/>
            <p14:sldId id="796"/>
            <p14:sldId id="812"/>
            <p14:sldId id="803"/>
            <p14:sldId id="799"/>
            <p14:sldId id="848"/>
            <p14:sldId id="797"/>
          </p14:sldIdLst>
        </p14:section>
        <p14:section name="안전모니터링-비상대피현황" id="{24D272C1-7DA9-47FC-9ADE-9AF0C9BFAD06}">
          <p14:sldIdLst>
            <p14:sldId id="804"/>
            <p14:sldId id="805"/>
            <p14:sldId id="806"/>
            <p14:sldId id="807"/>
            <p14:sldId id="924"/>
            <p14:sldId id="808"/>
            <p14:sldId id="809"/>
          </p14:sldIdLst>
        </p14:section>
        <p14:section name="안전관리 - 안전 리포트" id="{7EEF1992-9CEE-4019-967A-D75D5701104A}">
          <p14:sldIdLst>
            <p14:sldId id="811"/>
            <p14:sldId id="810"/>
            <p14:sldId id="813"/>
            <p14:sldId id="814"/>
            <p14:sldId id="815"/>
            <p14:sldId id="816"/>
            <p14:sldId id="817"/>
            <p14:sldId id="819"/>
            <p14:sldId id="818"/>
          </p14:sldIdLst>
        </p14:section>
        <p14:section name="event" id="{1C97EA15-04CA-4E28-9859-8D60654DA469}">
          <p14:sldIdLst>
            <p14:sldId id="821"/>
            <p14:sldId id="822"/>
            <p14:sldId id="820"/>
            <p14:sldId id="823"/>
            <p14:sldId id="933"/>
            <p14:sldId id="932"/>
            <p14:sldId id="824"/>
            <p14:sldId id="827"/>
            <p14:sldId id="899"/>
            <p14:sldId id="829"/>
            <p14:sldId id="831"/>
            <p14:sldId id="830"/>
            <p14:sldId id="826"/>
            <p14:sldId id="941"/>
            <p14:sldId id="833"/>
            <p14:sldId id="834"/>
            <p14:sldId id="835"/>
            <p14:sldId id="836"/>
            <p14:sldId id="853"/>
            <p14:sldId id="852"/>
            <p14:sldId id="856"/>
            <p14:sldId id="918"/>
            <p14:sldId id="917"/>
            <p14:sldId id="919"/>
            <p14:sldId id="920"/>
            <p14:sldId id="855"/>
            <p14:sldId id="854"/>
          </p14:sldIdLst>
        </p14:section>
        <p14:section name="디바이스 관리 - AP 설치현황" id="{2F12A6AE-8B55-44B2-9AEE-254A09852271}">
          <p14:sldIdLst>
            <p14:sldId id="838"/>
            <p14:sldId id="837"/>
            <p14:sldId id="841"/>
            <p14:sldId id="842"/>
          </p14:sldIdLst>
        </p14:section>
        <p14:section name="디바이스 관리 - 가스센서 설치 현황" id="{818D3DB9-7E62-4E04-923A-DE2C23AD5E50}">
          <p14:sldIdLst>
            <p14:sldId id="839"/>
            <p14:sldId id="843"/>
            <p14:sldId id="844"/>
          </p14:sldIdLst>
        </p14:section>
        <p14:section name="위치보기/지도보기" id="{D2D35988-62C0-4E42-A4E4-89E38F4BA68F}">
          <p14:sldIdLst>
            <p14:sldId id="942"/>
            <p14:sldId id="943"/>
          </p14:sldIdLst>
        </p14:section>
        <p14:section name="설정" id="{A3B6F4C4-C600-4C4D-8CDB-666DB0E018EF}">
          <p14:sldIdLst>
            <p14:sldId id="845"/>
            <p14:sldId id="840"/>
            <p14:sldId id="857"/>
            <p14:sldId id="858"/>
            <p14:sldId id="859"/>
            <p14:sldId id="862"/>
            <p14:sldId id="860"/>
            <p14:sldId id="861"/>
            <p14:sldId id="863"/>
            <p14:sldId id="897"/>
            <p14:sldId id="902"/>
            <p14:sldId id="903"/>
            <p14:sldId id="898"/>
            <p14:sldId id="864"/>
            <p14:sldId id="865"/>
            <p14:sldId id="866"/>
            <p14:sldId id="867"/>
            <p14:sldId id="868"/>
            <p14:sldId id="869"/>
            <p14:sldId id="875"/>
            <p14:sldId id="870"/>
            <p14:sldId id="871"/>
            <p14:sldId id="876"/>
            <p14:sldId id="872"/>
            <p14:sldId id="873"/>
            <p14:sldId id="874"/>
            <p14:sldId id="877"/>
            <p14:sldId id="878"/>
            <p14:sldId id="879"/>
            <p14:sldId id="880"/>
            <p14:sldId id="883"/>
            <p14:sldId id="881"/>
            <p14:sldId id="889"/>
            <p14:sldId id="885"/>
            <p14:sldId id="940"/>
            <p14:sldId id="884"/>
            <p14:sldId id="890"/>
            <p14:sldId id="891"/>
            <p14:sldId id="892"/>
            <p14:sldId id="893"/>
            <p14:sldId id="894"/>
            <p14:sldId id="895"/>
            <p14:sldId id="900"/>
            <p14:sldId id="901"/>
            <p14:sldId id="896"/>
            <p14:sldId id="67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3024">
          <p15:clr>
            <a:srgbClr val="A4A3A4"/>
          </p15:clr>
        </p15:guide>
        <p15:guide id="2" pos="4032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04040"/>
    <a:srgbClr val="FF604F"/>
    <a:srgbClr val="DA1500"/>
    <a:srgbClr val="C41300"/>
    <a:srgbClr val="FF1D05"/>
    <a:srgbClr val="FF412D"/>
    <a:srgbClr val="FFAFA7"/>
    <a:srgbClr val="FF5947"/>
    <a:srgbClr val="FF6C5D"/>
    <a:srgbClr val="FF827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071" autoAdjust="0"/>
    <p:restoredTop sz="95916" autoAdjust="0"/>
  </p:normalViewPr>
  <p:slideViewPr>
    <p:cSldViewPr>
      <p:cViewPr>
        <p:scale>
          <a:sx n="160" d="100"/>
          <a:sy n="160" d="100"/>
        </p:scale>
        <p:origin x="1568" y="144"/>
      </p:cViewPr>
      <p:guideLst>
        <p:guide orient="horz" pos="3024"/>
        <p:guide pos="4032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>
      <p:cViewPr varScale="1">
        <p:scale>
          <a:sx n="104" d="100"/>
          <a:sy n="104" d="100"/>
        </p:scale>
        <p:origin x="2742" y="12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6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slide" Target="slides/slide48.xml"/><Relationship Id="rId170" Type="http://schemas.openxmlformats.org/officeDocument/2006/relationships/slide" Target="slides/slide59.xml"/><Relationship Id="rId226" Type="http://schemas.openxmlformats.org/officeDocument/2006/relationships/slide" Target="slides/slide115.xml"/><Relationship Id="rId268" Type="http://schemas.openxmlformats.org/officeDocument/2006/relationships/slide" Target="slides/slide157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slide" Target="slides/slide17.xml"/><Relationship Id="rId5" Type="http://schemas.openxmlformats.org/officeDocument/2006/relationships/customXml" Target="../customXml/item5.xml"/><Relationship Id="rId181" Type="http://schemas.openxmlformats.org/officeDocument/2006/relationships/slide" Target="slides/slide70.xml"/><Relationship Id="rId237" Type="http://schemas.openxmlformats.org/officeDocument/2006/relationships/slide" Target="slides/slide126.xml"/><Relationship Id="rId258" Type="http://schemas.openxmlformats.org/officeDocument/2006/relationships/slide" Target="slides/slide147.xml"/><Relationship Id="rId22" Type="http://schemas.openxmlformats.org/officeDocument/2006/relationships/customXml" Target="../customXml/item22.xml"/><Relationship Id="rId43" Type="http://schemas.openxmlformats.org/officeDocument/2006/relationships/customXml" Target="../customXml/item43.xml"/><Relationship Id="rId64" Type="http://schemas.openxmlformats.org/officeDocument/2006/relationships/customXml" Target="../customXml/item64.xml"/><Relationship Id="rId118" Type="http://schemas.openxmlformats.org/officeDocument/2006/relationships/slide" Target="slides/slide7.xml"/><Relationship Id="rId139" Type="http://schemas.openxmlformats.org/officeDocument/2006/relationships/slide" Target="slides/slide28.xml"/><Relationship Id="rId85" Type="http://schemas.openxmlformats.org/officeDocument/2006/relationships/customXml" Target="../customXml/item85.xml"/><Relationship Id="rId150" Type="http://schemas.openxmlformats.org/officeDocument/2006/relationships/slide" Target="slides/slide39.xml"/><Relationship Id="rId171" Type="http://schemas.openxmlformats.org/officeDocument/2006/relationships/slide" Target="slides/slide60.xml"/><Relationship Id="rId192" Type="http://schemas.openxmlformats.org/officeDocument/2006/relationships/slide" Target="slides/slide81.xml"/><Relationship Id="rId206" Type="http://schemas.openxmlformats.org/officeDocument/2006/relationships/slide" Target="slides/slide95.xml"/><Relationship Id="rId227" Type="http://schemas.openxmlformats.org/officeDocument/2006/relationships/slide" Target="slides/slide116.xml"/><Relationship Id="rId248" Type="http://schemas.openxmlformats.org/officeDocument/2006/relationships/slide" Target="slides/slide137.xml"/><Relationship Id="rId269" Type="http://schemas.openxmlformats.org/officeDocument/2006/relationships/slide" Target="slides/slide158.xml"/><Relationship Id="rId12" Type="http://schemas.openxmlformats.org/officeDocument/2006/relationships/customXml" Target="../customXml/item12.xml"/><Relationship Id="rId33" Type="http://schemas.openxmlformats.org/officeDocument/2006/relationships/customXml" Target="../customXml/item33.xml"/><Relationship Id="rId108" Type="http://schemas.openxmlformats.org/officeDocument/2006/relationships/customXml" Target="../customXml/item108.xml"/><Relationship Id="rId129" Type="http://schemas.openxmlformats.org/officeDocument/2006/relationships/slide" Target="slides/slide18.xml"/><Relationship Id="rId54" Type="http://schemas.openxmlformats.org/officeDocument/2006/relationships/customXml" Target="../customXml/item54.xml"/><Relationship Id="rId75" Type="http://schemas.openxmlformats.org/officeDocument/2006/relationships/customXml" Target="../customXml/item75.xml"/><Relationship Id="rId96" Type="http://schemas.openxmlformats.org/officeDocument/2006/relationships/customXml" Target="../customXml/item96.xml"/><Relationship Id="rId140" Type="http://schemas.openxmlformats.org/officeDocument/2006/relationships/slide" Target="slides/slide29.xml"/><Relationship Id="rId161" Type="http://schemas.openxmlformats.org/officeDocument/2006/relationships/slide" Target="slides/slide50.xml"/><Relationship Id="rId182" Type="http://schemas.openxmlformats.org/officeDocument/2006/relationships/slide" Target="slides/slide71.xml"/><Relationship Id="rId217" Type="http://schemas.openxmlformats.org/officeDocument/2006/relationships/slide" Target="slides/slide106.xml"/><Relationship Id="rId6" Type="http://schemas.openxmlformats.org/officeDocument/2006/relationships/customXml" Target="../customXml/item6.xml"/><Relationship Id="rId238" Type="http://schemas.openxmlformats.org/officeDocument/2006/relationships/slide" Target="slides/slide127.xml"/><Relationship Id="rId259" Type="http://schemas.openxmlformats.org/officeDocument/2006/relationships/slide" Target="slides/slide148.xml"/><Relationship Id="rId23" Type="http://schemas.openxmlformats.org/officeDocument/2006/relationships/customXml" Target="../customXml/item23.xml"/><Relationship Id="rId119" Type="http://schemas.openxmlformats.org/officeDocument/2006/relationships/slide" Target="slides/slide8.xml"/><Relationship Id="rId270" Type="http://schemas.openxmlformats.org/officeDocument/2006/relationships/slide" Target="slides/slide159.xml"/><Relationship Id="rId44" Type="http://schemas.openxmlformats.org/officeDocument/2006/relationships/customXml" Target="../customXml/item44.xml"/><Relationship Id="rId65" Type="http://schemas.openxmlformats.org/officeDocument/2006/relationships/customXml" Target="../customXml/item65.xml"/><Relationship Id="rId86" Type="http://schemas.openxmlformats.org/officeDocument/2006/relationships/customXml" Target="../customXml/item86.xml"/><Relationship Id="rId130" Type="http://schemas.openxmlformats.org/officeDocument/2006/relationships/slide" Target="slides/slide19.xml"/><Relationship Id="rId151" Type="http://schemas.openxmlformats.org/officeDocument/2006/relationships/slide" Target="slides/slide40.xml"/><Relationship Id="rId172" Type="http://schemas.openxmlformats.org/officeDocument/2006/relationships/slide" Target="slides/slide61.xml"/><Relationship Id="rId193" Type="http://schemas.openxmlformats.org/officeDocument/2006/relationships/slide" Target="slides/slide82.xml"/><Relationship Id="rId207" Type="http://schemas.openxmlformats.org/officeDocument/2006/relationships/slide" Target="slides/slide96.xml"/><Relationship Id="rId228" Type="http://schemas.openxmlformats.org/officeDocument/2006/relationships/slide" Target="slides/slide117.xml"/><Relationship Id="rId249" Type="http://schemas.openxmlformats.org/officeDocument/2006/relationships/slide" Target="slides/slide138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slide" Target="slides/slide149.xml"/><Relationship Id="rId34" Type="http://schemas.openxmlformats.org/officeDocument/2006/relationships/customXml" Target="../customXml/item34.xml"/><Relationship Id="rId55" Type="http://schemas.openxmlformats.org/officeDocument/2006/relationships/customXml" Target="../customXml/item55.xml"/><Relationship Id="rId76" Type="http://schemas.openxmlformats.org/officeDocument/2006/relationships/customXml" Target="../customXml/item76.xml"/><Relationship Id="rId97" Type="http://schemas.openxmlformats.org/officeDocument/2006/relationships/customXml" Target="../customXml/item97.xml"/><Relationship Id="rId120" Type="http://schemas.openxmlformats.org/officeDocument/2006/relationships/slide" Target="slides/slide9.xml"/><Relationship Id="rId141" Type="http://schemas.openxmlformats.org/officeDocument/2006/relationships/slide" Target="slides/slide30.xml"/><Relationship Id="rId7" Type="http://schemas.openxmlformats.org/officeDocument/2006/relationships/customXml" Target="../customXml/item7.xml"/><Relationship Id="rId162" Type="http://schemas.openxmlformats.org/officeDocument/2006/relationships/slide" Target="slides/slide51.xml"/><Relationship Id="rId183" Type="http://schemas.openxmlformats.org/officeDocument/2006/relationships/slide" Target="slides/slide72.xml"/><Relationship Id="rId218" Type="http://schemas.openxmlformats.org/officeDocument/2006/relationships/slide" Target="slides/slide107.xml"/><Relationship Id="rId239" Type="http://schemas.openxmlformats.org/officeDocument/2006/relationships/slide" Target="slides/slide128.xml"/><Relationship Id="rId250" Type="http://schemas.openxmlformats.org/officeDocument/2006/relationships/slide" Target="slides/slide139.xml"/><Relationship Id="rId271" Type="http://schemas.openxmlformats.org/officeDocument/2006/relationships/slide" Target="slides/slide160.xml"/><Relationship Id="rId24" Type="http://schemas.openxmlformats.org/officeDocument/2006/relationships/customXml" Target="../customXml/item24.xml"/><Relationship Id="rId45" Type="http://schemas.openxmlformats.org/officeDocument/2006/relationships/customXml" Target="../customXml/item45.xml"/><Relationship Id="rId66" Type="http://schemas.openxmlformats.org/officeDocument/2006/relationships/customXml" Target="../customXml/item66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131" Type="http://schemas.openxmlformats.org/officeDocument/2006/relationships/slide" Target="slides/slide20.xml"/><Relationship Id="rId152" Type="http://schemas.openxmlformats.org/officeDocument/2006/relationships/slide" Target="slides/slide41.xml"/><Relationship Id="rId173" Type="http://schemas.openxmlformats.org/officeDocument/2006/relationships/slide" Target="slides/slide62.xml"/><Relationship Id="rId194" Type="http://schemas.openxmlformats.org/officeDocument/2006/relationships/slide" Target="slides/slide83.xml"/><Relationship Id="rId208" Type="http://schemas.openxmlformats.org/officeDocument/2006/relationships/slide" Target="slides/slide97.xml"/><Relationship Id="rId229" Type="http://schemas.openxmlformats.org/officeDocument/2006/relationships/slide" Target="slides/slide118.xml"/><Relationship Id="rId240" Type="http://schemas.openxmlformats.org/officeDocument/2006/relationships/slide" Target="slides/slide129.xml"/><Relationship Id="rId261" Type="http://schemas.openxmlformats.org/officeDocument/2006/relationships/slide" Target="slides/slide150.xml"/><Relationship Id="rId14" Type="http://schemas.openxmlformats.org/officeDocument/2006/relationships/customXml" Target="../customXml/item14.xml"/><Relationship Id="rId35" Type="http://schemas.openxmlformats.org/officeDocument/2006/relationships/customXml" Target="../customXml/item35.xml"/><Relationship Id="rId56" Type="http://schemas.openxmlformats.org/officeDocument/2006/relationships/customXml" Target="../customXml/item56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8" Type="http://schemas.openxmlformats.org/officeDocument/2006/relationships/customXml" Target="../customXml/item8.xml"/><Relationship Id="rId98" Type="http://schemas.openxmlformats.org/officeDocument/2006/relationships/customXml" Target="../customXml/item98.xml"/><Relationship Id="rId121" Type="http://schemas.openxmlformats.org/officeDocument/2006/relationships/slide" Target="slides/slide10.xml"/><Relationship Id="rId142" Type="http://schemas.openxmlformats.org/officeDocument/2006/relationships/slide" Target="slides/slide31.xml"/><Relationship Id="rId163" Type="http://schemas.openxmlformats.org/officeDocument/2006/relationships/slide" Target="slides/slide52.xml"/><Relationship Id="rId184" Type="http://schemas.openxmlformats.org/officeDocument/2006/relationships/slide" Target="slides/slide73.xml"/><Relationship Id="rId219" Type="http://schemas.openxmlformats.org/officeDocument/2006/relationships/slide" Target="slides/slide108.xml"/><Relationship Id="rId230" Type="http://schemas.openxmlformats.org/officeDocument/2006/relationships/slide" Target="slides/slide119.xml"/><Relationship Id="rId251" Type="http://schemas.openxmlformats.org/officeDocument/2006/relationships/slide" Target="slides/slide140.xml"/><Relationship Id="rId25" Type="http://schemas.openxmlformats.org/officeDocument/2006/relationships/customXml" Target="../customXml/item25.xml"/><Relationship Id="rId46" Type="http://schemas.openxmlformats.org/officeDocument/2006/relationships/customXml" Target="../customXml/item46.xml"/><Relationship Id="rId67" Type="http://schemas.openxmlformats.org/officeDocument/2006/relationships/customXml" Target="../customXml/item67.xml"/><Relationship Id="rId272" Type="http://schemas.openxmlformats.org/officeDocument/2006/relationships/slide" Target="slides/slide161.xml"/><Relationship Id="rId88" Type="http://schemas.openxmlformats.org/officeDocument/2006/relationships/customXml" Target="../customXml/item88.xml"/><Relationship Id="rId111" Type="http://schemas.openxmlformats.org/officeDocument/2006/relationships/slideMaster" Target="slideMasters/slideMaster1.xml"/><Relationship Id="rId132" Type="http://schemas.openxmlformats.org/officeDocument/2006/relationships/slide" Target="slides/slide21.xml"/><Relationship Id="rId153" Type="http://schemas.openxmlformats.org/officeDocument/2006/relationships/slide" Target="slides/slide42.xml"/><Relationship Id="rId174" Type="http://schemas.openxmlformats.org/officeDocument/2006/relationships/slide" Target="slides/slide63.xml"/><Relationship Id="rId195" Type="http://schemas.openxmlformats.org/officeDocument/2006/relationships/slide" Target="slides/slide84.xml"/><Relationship Id="rId209" Type="http://schemas.openxmlformats.org/officeDocument/2006/relationships/slide" Target="slides/slide98.xml"/><Relationship Id="rId220" Type="http://schemas.openxmlformats.org/officeDocument/2006/relationships/slide" Target="slides/slide109.xml"/><Relationship Id="rId241" Type="http://schemas.openxmlformats.org/officeDocument/2006/relationships/slide" Target="slides/slide130.xml"/><Relationship Id="rId15" Type="http://schemas.openxmlformats.org/officeDocument/2006/relationships/customXml" Target="../customXml/item15.xml"/><Relationship Id="rId36" Type="http://schemas.openxmlformats.org/officeDocument/2006/relationships/customXml" Target="../customXml/item36.xml"/><Relationship Id="rId57" Type="http://schemas.openxmlformats.org/officeDocument/2006/relationships/customXml" Target="../customXml/item57.xml"/><Relationship Id="rId262" Type="http://schemas.openxmlformats.org/officeDocument/2006/relationships/slide" Target="slides/slide151.xml"/><Relationship Id="rId78" Type="http://schemas.openxmlformats.org/officeDocument/2006/relationships/customXml" Target="../customXml/item78.xml"/><Relationship Id="rId99" Type="http://schemas.openxmlformats.org/officeDocument/2006/relationships/customXml" Target="../customXml/item99.xml"/><Relationship Id="rId101" Type="http://schemas.openxmlformats.org/officeDocument/2006/relationships/customXml" Target="../customXml/item101.xml"/><Relationship Id="rId122" Type="http://schemas.openxmlformats.org/officeDocument/2006/relationships/slide" Target="slides/slide11.xml"/><Relationship Id="rId143" Type="http://schemas.openxmlformats.org/officeDocument/2006/relationships/slide" Target="slides/slide32.xml"/><Relationship Id="rId164" Type="http://schemas.openxmlformats.org/officeDocument/2006/relationships/slide" Target="slides/slide53.xml"/><Relationship Id="rId185" Type="http://schemas.openxmlformats.org/officeDocument/2006/relationships/slide" Target="slides/slide74.xml"/><Relationship Id="rId9" Type="http://schemas.openxmlformats.org/officeDocument/2006/relationships/customXml" Target="../customXml/item9.xml"/><Relationship Id="rId210" Type="http://schemas.openxmlformats.org/officeDocument/2006/relationships/slide" Target="slides/slide99.xml"/><Relationship Id="rId26" Type="http://schemas.openxmlformats.org/officeDocument/2006/relationships/customXml" Target="../customXml/item26.xml"/><Relationship Id="rId231" Type="http://schemas.openxmlformats.org/officeDocument/2006/relationships/slide" Target="slides/slide120.xml"/><Relationship Id="rId252" Type="http://schemas.openxmlformats.org/officeDocument/2006/relationships/slide" Target="slides/slide141.xml"/><Relationship Id="rId273" Type="http://schemas.openxmlformats.org/officeDocument/2006/relationships/notesMaster" Target="notesMasters/notesMaster1.xml"/><Relationship Id="rId47" Type="http://schemas.openxmlformats.org/officeDocument/2006/relationships/customXml" Target="../customXml/item47.xml"/><Relationship Id="rId68" Type="http://schemas.openxmlformats.org/officeDocument/2006/relationships/customXml" Target="../customXml/item68.xml"/><Relationship Id="rId89" Type="http://schemas.openxmlformats.org/officeDocument/2006/relationships/customXml" Target="../customXml/item89.xml"/><Relationship Id="rId112" Type="http://schemas.openxmlformats.org/officeDocument/2006/relationships/slide" Target="slides/slide1.xml"/><Relationship Id="rId133" Type="http://schemas.openxmlformats.org/officeDocument/2006/relationships/slide" Target="slides/slide22.xml"/><Relationship Id="rId154" Type="http://schemas.openxmlformats.org/officeDocument/2006/relationships/slide" Target="slides/slide43.xml"/><Relationship Id="rId175" Type="http://schemas.openxmlformats.org/officeDocument/2006/relationships/slide" Target="slides/slide64.xml"/><Relationship Id="rId196" Type="http://schemas.openxmlformats.org/officeDocument/2006/relationships/slide" Target="slides/slide85.xml"/><Relationship Id="rId200" Type="http://schemas.openxmlformats.org/officeDocument/2006/relationships/slide" Target="slides/slide89.xml"/><Relationship Id="rId16" Type="http://schemas.openxmlformats.org/officeDocument/2006/relationships/customXml" Target="../customXml/item16.xml"/><Relationship Id="rId221" Type="http://schemas.openxmlformats.org/officeDocument/2006/relationships/slide" Target="slides/slide110.xml"/><Relationship Id="rId242" Type="http://schemas.openxmlformats.org/officeDocument/2006/relationships/slide" Target="slides/slide131.xml"/><Relationship Id="rId263" Type="http://schemas.openxmlformats.org/officeDocument/2006/relationships/slide" Target="slides/slide152.xml"/><Relationship Id="rId37" Type="http://schemas.openxmlformats.org/officeDocument/2006/relationships/customXml" Target="../customXml/item37.xml"/><Relationship Id="rId58" Type="http://schemas.openxmlformats.org/officeDocument/2006/relationships/customXml" Target="../customXml/item58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23" Type="http://schemas.openxmlformats.org/officeDocument/2006/relationships/slide" Target="slides/slide12.xml"/><Relationship Id="rId144" Type="http://schemas.openxmlformats.org/officeDocument/2006/relationships/slide" Target="slides/slide33.xml"/><Relationship Id="rId90" Type="http://schemas.openxmlformats.org/officeDocument/2006/relationships/customXml" Target="../customXml/item90.xml"/><Relationship Id="rId165" Type="http://schemas.openxmlformats.org/officeDocument/2006/relationships/slide" Target="slides/slide54.xml"/><Relationship Id="rId186" Type="http://schemas.openxmlformats.org/officeDocument/2006/relationships/slide" Target="slides/slide75.xml"/><Relationship Id="rId211" Type="http://schemas.openxmlformats.org/officeDocument/2006/relationships/slide" Target="slides/slide100.xml"/><Relationship Id="rId232" Type="http://schemas.openxmlformats.org/officeDocument/2006/relationships/slide" Target="slides/slide121.xml"/><Relationship Id="rId253" Type="http://schemas.openxmlformats.org/officeDocument/2006/relationships/slide" Target="slides/slide142.xml"/><Relationship Id="rId274" Type="http://schemas.openxmlformats.org/officeDocument/2006/relationships/handoutMaster" Target="handoutMasters/handoutMaster1.xml"/><Relationship Id="rId27" Type="http://schemas.openxmlformats.org/officeDocument/2006/relationships/customXml" Target="../customXml/item27.xml"/><Relationship Id="rId48" Type="http://schemas.openxmlformats.org/officeDocument/2006/relationships/customXml" Target="../customXml/item48.xml"/><Relationship Id="rId69" Type="http://schemas.openxmlformats.org/officeDocument/2006/relationships/customXml" Target="../customXml/item69.xml"/><Relationship Id="rId113" Type="http://schemas.openxmlformats.org/officeDocument/2006/relationships/slide" Target="slides/slide2.xml"/><Relationship Id="rId134" Type="http://schemas.openxmlformats.org/officeDocument/2006/relationships/slide" Target="slides/slide23.xml"/><Relationship Id="rId80" Type="http://schemas.openxmlformats.org/officeDocument/2006/relationships/customXml" Target="../customXml/item80.xml"/><Relationship Id="rId155" Type="http://schemas.openxmlformats.org/officeDocument/2006/relationships/slide" Target="slides/slide44.xml"/><Relationship Id="rId176" Type="http://schemas.openxmlformats.org/officeDocument/2006/relationships/slide" Target="slides/slide65.xml"/><Relationship Id="rId197" Type="http://schemas.openxmlformats.org/officeDocument/2006/relationships/slide" Target="slides/slide86.xml"/><Relationship Id="rId201" Type="http://schemas.openxmlformats.org/officeDocument/2006/relationships/slide" Target="slides/slide90.xml"/><Relationship Id="rId222" Type="http://schemas.openxmlformats.org/officeDocument/2006/relationships/slide" Target="slides/slide111.xml"/><Relationship Id="rId243" Type="http://schemas.openxmlformats.org/officeDocument/2006/relationships/slide" Target="slides/slide132.xml"/><Relationship Id="rId264" Type="http://schemas.openxmlformats.org/officeDocument/2006/relationships/slide" Target="slides/slide153.xml"/><Relationship Id="rId17" Type="http://schemas.openxmlformats.org/officeDocument/2006/relationships/customXml" Target="../customXml/item17.xml"/><Relationship Id="rId38" Type="http://schemas.openxmlformats.org/officeDocument/2006/relationships/customXml" Target="../customXml/item38.xml"/><Relationship Id="rId59" Type="http://schemas.openxmlformats.org/officeDocument/2006/relationships/customXml" Target="../customXml/item59.xml"/><Relationship Id="rId103" Type="http://schemas.openxmlformats.org/officeDocument/2006/relationships/customXml" Target="../customXml/item103.xml"/><Relationship Id="rId124" Type="http://schemas.openxmlformats.org/officeDocument/2006/relationships/slide" Target="slides/slide13.xml"/><Relationship Id="rId70" Type="http://schemas.openxmlformats.org/officeDocument/2006/relationships/customXml" Target="../customXml/item70.xml"/><Relationship Id="rId91" Type="http://schemas.openxmlformats.org/officeDocument/2006/relationships/customXml" Target="../customXml/item91.xml"/><Relationship Id="rId145" Type="http://schemas.openxmlformats.org/officeDocument/2006/relationships/slide" Target="slides/slide34.xml"/><Relationship Id="rId166" Type="http://schemas.openxmlformats.org/officeDocument/2006/relationships/slide" Target="slides/slide55.xml"/><Relationship Id="rId187" Type="http://schemas.openxmlformats.org/officeDocument/2006/relationships/slide" Target="slides/slide76.xml"/><Relationship Id="rId1" Type="http://schemas.openxmlformats.org/officeDocument/2006/relationships/customXml" Target="../customXml/item1.xml"/><Relationship Id="rId212" Type="http://schemas.openxmlformats.org/officeDocument/2006/relationships/slide" Target="slides/slide101.xml"/><Relationship Id="rId233" Type="http://schemas.openxmlformats.org/officeDocument/2006/relationships/slide" Target="slides/slide122.xml"/><Relationship Id="rId254" Type="http://schemas.openxmlformats.org/officeDocument/2006/relationships/slide" Target="slides/slide143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slide" Target="slides/slide3.xml"/><Relationship Id="rId275" Type="http://schemas.openxmlformats.org/officeDocument/2006/relationships/presProps" Target="presProps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slide" Target="slides/slide24.xml"/><Relationship Id="rId156" Type="http://schemas.openxmlformats.org/officeDocument/2006/relationships/slide" Target="slides/slide45.xml"/><Relationship Id="rId177" Type="http://schemas.openxmlformats.org/officeDocument/2006/relationships/slide" Target="slides/slide66.xml"/><Relationship Id="rId198" Type="http://schemas.openxmlformats.org/officeDocument/2006/relationships/slide" Target="slides/slide87.xml"/><Relationship Id="rId202" Type="http://schemas.openxmlformats.org/officeDocument/2006/relationships/slide" Target="slides/slide91.xml"/><Relationship Id="rId223" Type="http://schemas.openxmlformats.org/officeDocument/2006/relationships/slide" Target="slides/slide112.xml"/><Relationship Id="rId244" Type="http://schemas.openxmlformats.org/officeDocument/2006/relationships/slide" Target="slides/slide133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slide" Target="slides/slide154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slide" Target="slides/slide14.xml"/><Relationship Id="rId146" Type="http://schemas.openxmlformats.org/officeDocument/2006/relationships/slide" Target="slides/slide35.xml"/><Relationship Id="rId167" Type="http://schemas.openxmlformats.org/officeDocument/2006/relationships/slide" Target="slides/slide56.xml"/><Relationship Id="rId188" Type="http://schemas.openxmlformats.org/officeDocument/2006/relationships/slide" Target="slides/slide77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slide" Target="slides/slide102.xml"/><Relationship Id="rId234" Type="http://schemas.openxmlformats.org/officeDocument/2006/relationships/slide" Target="slides/slide123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slide" Target="slides/slide144.xml"/><Relationship Id="rId276" Type="http://schemas.openxmlformats.org/officeDocument/2006/relationships/viewProps" Target="viewProps.xml"/><Relationship Id="rId40" Type="http://schemas.openxmlformats.org/officeDocument/2006/relationships/customXml" Target="../customXml/item40.xml"/><Relationship Id="rId115" Type="http://schemas.openxmlformats.org/officeDocument/2006/relationships/slide" Target="slides/slide4.xml"/><Relationship Id="rId136" Type="http://schemas.openxmlformats.org/officeDocument/2006/relationships/slide" Target="slides/slide25.xml"/><Relationship Id="rId157" Type="http://schemas.openxmlformats.org/officeDocument/2006/relationships/slide" Target="slides/slide46.xml"/><Relationship Id="rId178" Type="http://schemas.openxmlformats.org/officeDocument/2006/relationships/slide" Target="slides/slide67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slide" Target="slides/slide88.xml"/><Relationship Id="rId203" Type="http://schemas.openxmlformats.org/officeDocument/2006/relationships/slide" Target="slides/slide92.xml"/><Relationship Id="rId19" Type="http://schemas.openxmlformats.org/officeDocument/2006/relationships/customXml" Target="../customXml/item19.xml"/><Relationship Id="rId224" Type="http://schemas.openxmlformats.org/officeDocument/2006/relationships/slide" Target="slides/slide113.xml"/><Relationship Id="rId245" Type="http://schemas.openxmlformats.org/officeDocument/2006/relationships/slide" Target="slides/slide134.xml"/><Relationship Id="rId266" Type="http://schemas.openxmlformats.org/officeDocument/2006/relationships/slide" Target="slides/slide155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slide" Target="slides/slide15.xml"/><Relationship Id="rId147" Type="http://schemas.openxmlformats.org/officeDocument/2006/relationships/slide" Target="slides/slide36.xml"/><Relationship Id="rId168" Type="http://schemas.openxmlformats.org/officeDocument/2006/relationships/slide" Target="slides/slide57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slide" Target="slides/slide78.xml"/><Relationship Id="rId3" Type="http://schemas.openxmlformats.org/officeDocument/2006/relationships/customXml" Target="../customXml/item3.xml"/><Relationship Id="rId214" Type="http://schemas.openxmlformats.org/officeDocument/2006/relationships/slide" Target="slides/slide103.xml"/><Relationship Id="rId235" Type="http://schemas.openxmlformats.org/officeDocument/2006/relationships/slide" Target="slides/slide124.xml"/><Relationship Id="rId256" Type="http://schemas.openxmlformats.org/officeDocument/2006/relationships/slide" Target="slides/slide145.xml"/><Relationship Id="rId277" Type="http://schemas.openxmlformats.org/officeDocument/2006/relationships/theme" Target="theme/theme1.xml"/><Relationship Id="rId116" Type="http://schemas.openxmlformats.org/officeDocument/2006/relationships/slide" Target="slides/slide5.xml"/><Relationship Id="rId137" Type="http://schemas.openxmlformats.org/officeDocument/2006/relationships/slide" Target="slides/slide26.xml"/><Relationship Id="rId158" Type="http://schemas.openxmlformats.org/officeDocument/2006/relationships/slide" Target="slides/slide47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slide" Target="slides/slide68.xml"/><Relationship Id="rId190" Type="http://schemas.openxmlformats.org/officeDocument/2006/relationships/slide" Target="slides/slide79.xml"/><Relationship Id="rId204" Type="http://schemas.openxmlformats.org/officeDocument/2006/relationships/slide" Target="slides/slide93.xml"/><Relationship Id="rId225" Type="http://schemas.openxmlformats.org/officeDocument/2006/relationships/slide" Target="slides/slide114.xml"/><Relationship Id="rId246" Type="http://schemas.openxmlformats.org/officeDocument/2006/relationships/slide" Target="slides/slide135.xml"/><Relationship Id="rId267" Type="http://schemas.openxmlformats.org/officeDocument/2006/relationships/slide" Target="slides/slide156.xml"/><Relationship Id="rId106" Type="http://schemas.openxmlformats.org/officeDocument/2006/relationships/customXml" Target="../customXml/item106.xml"/><Relationship Id="rId127" Type="http://schemas.openxmlformats.org/officeDocument/2006/relationships/slide" Target="slides/slide16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slide" Target="slides/slide37.xml"/><Relationship Id="rId169" Type="http://schemas.openxmlformats.org/officeDocument/2006/relationships/slide" Target="slides/slide58.xml"/><Relationship Id="rId4" Type="http://schemas.openxmlformats.org/officeDocument/2006/relationships/customXml" Target="../customXml/item4.xml"/><Relationship Id="rId180" Type="http://schemas.openxmlformats.org/officeDocument/2006/relationships/slide" Target="slides/slide69.xml"/><Relationship Id="rId215" Type="http://schemas.openxmlformats.org/officeDocument/2006/relationships/slide" Target="slides/slide104.xml"/><Relationship Id="rId236" Type="http://schemas.openxmlformats.org/officeDocument/2006/relationships/slide" Target="slides/slide125.xml"/><Relationship Id="rId257" Type="http://schemas.openxmlformats.org/officeDocument/2006/relationships/slide" Target="slides/slide146.xml"/><Relationship Id="rId278" Type="http://schemas.openxmlformats.org/officeDocument/2006/relationships/tableStyles" Target="tableStyles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slide" Target="slides/slide27.xml"/><Relationship Id="rId191" Type="http://schemas.openxmlformats.org/officeDocument/2006/relationships/slide" Target="slides/slide80.xml"/><Relationship Id="rId205" Type="http://schemas.openxmlformats.org/officeDocument/2006/relationships/slide" Target="slides/slide94.xml"/><Relationship Id="rId247" Type="http://schemas.openxmlformats.org/officeDocument/2006/relationships/slide" Target="slides/slide136.xml"/><Relationship Id="rId107" Type="http://schemas.openxmlformats.org/officeDocument/2006/relationships/customXml" Target="../customXml/item107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slide" Target="slides/slide38.xml"/><Relationship Id="rId95" Type="http://schemas.openxmlformats.org/officeDocument/2006/relationships/customXml" Target="../customXml/item95.xml"/><Relationship Id="rId160" Type="http://schemas.openxmlformats.org/officeDocument/2006/relationships/slide" Target="slides/slide49.xml"/><Relationship Id="rId216" Type="http://schemas.openxmlformats.org/officeDocument/2006/relationships/slide" Target="slides/slide10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66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7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88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99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B8E-3745-AA33-5FA2715E786B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B8E-3745-AA33-5FA2715E786B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B8E-3745-AA33-5FA2715E786B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B8E-3745-AA33-5FA2715E786B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B8E-3745-AA33-5FA2715E786B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9B8E-3745-AA33-5FA2715E786B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9B8E-3745-AA33-5FA2715E786B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9B8E-3745-AA33-5FA2715E786B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9B8E-3745-AA33-5FA2715E786B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9B8E-3745-AA33-5FA2715E786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3"/>
                <c:pt idx="0">
                  <c:v>일일 방문자</c:v>
                </c:pt>
                <c:pt idx="1">
                  <c:v>수시 방문자</c:v>
                </c:pt>
                <c:pt idx="2">
                  <c:v>임직원</c:v>
                </c:pt>
              </c:strCache>
            </c:strRef>
          </c:cat>
          <c:val>
            <c:numRef>
              <c:f>Sheet1!$B$2:$B$6</c:f>
              <c:numCache>
                <c:formatCode>#,##0_ </c:formatCode>
                <c:ptCount val="5"/>
                <c:pt idx="0">
                  <c:v>124</c:v>
                </c:pt>
                <c:pt idx="1">
                  <c:v>47</c:v>
                </c:pt>
                <c:pt idx="2">
                  <c:v>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B8E-3745-AA33-5FA2715E7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BA-F944-BC58-8C4A8C9903AB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7BA-F944-BC58-8C4A8C9903AB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7BA-F944-BC58-8C4A8C9903AB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7BA-F944-BC58-8C4A8C9903AB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7BA-F944-BC58-8C4A8C9903AB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47BA-F944-BC58-8C4A8C9903AB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47BA-F944-BC58-8C4A8C9903AB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47BA-F944-BC58-8C4A8C9903AB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47BA-F944-BC58-8C4A8C9903AB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47BA-F944-BC58-8C4A8C9903A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2"/>
                <c:pt idx="0">
                  <c:v>일반 작업자</c:v>
                </c:pt>
                <c:pt idx="1">
                  <c:v>특수 작업자</c:v>
                </c:pt>
              </c:strCache>
            </c:strRef>
          </c:cat>
          <c:val>
            <c:numRef>
              <c:f>Sheet1!$B$2:$B$6</c:f>
              <c:numCache>
                <c:formatCode>#,##0_ </c:formatCode>
                <c:ptCount val="5"/>
                <c:pt idx="0">
                  <c:v>129</c:v>
                </c:pt>
                <c:pt idx="1">
                  <c:v>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7BA-F944-BC58-8C4A8C9903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8FD-3048-ACBF-97A2E66C646E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8FD-3048-ACBF-97A2E66C646E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8FD-3048-ACBF-97A2E66C646E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8FD-3048-ACBF-97A2E66C646E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8FD-3048-ACBF-97A2E66C646E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A8FD-3048-ACBF-97A2E66C646E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A8FD-3048-ACBF-97A2E66C646E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8FD-3048-ACBF-97A2E66C646E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A8FD-3048-ACBF-97A2E66C646E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A8FD-3048-ACBF-97A2E66C64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2"/>
                <c:pt idx="0">
                  <c:v>작업자</c:v>
                </c:pt>
                <c:pt idx="1">
                  <c:v>작업 구역</c:v>
                </c:pt>
              </c:strCache>
            </c:strRef>
          </c:cat>
          <c:val>
            <c:numRef>
              <c:f>Sheet1!$B$2:$B$6</c:f>
              <c:numCache>
                <c:formatCode>#,##0_ </c:formatCode>
                <c:ptCount val="5"/>
                <c:pt idx="0">
                  <c:v>2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8FD-3048-ACBF-97A2E66C64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DCA-6C47-9C46-B0FE82A63082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DCA-6C47-9C46-B0FE82A63082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DCA-6C47-9C46-B0FE82A63082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DCA-6C47-9C46-B0FE82A63082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DCA-6C47-9C46-B0FE82A63082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DCA-6C47-9C46-B0FE82A63082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3DCA-6C47-9C46-B0FE82A63082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3DCA-6C47-9C46-B0FE82A63082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3DCA-6C47-9C46-B0FE82A63082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3DCA-6C47-9C46-B0FE82A6308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2"/>
                <c:pt idx="0">
                  <c:v>작업자</c:v>
                </c:pt>
                <c:pt idx="1">
                  <c:v>작업 구역</c:v>
                </c:pt>
              </c:strCache>
            </c:strRef>
          </c:cat>
          <c:val>
            <c:numRef>
              <c:f>Sheet1!$B$2:$B$6</c:f>
              <c:numCache>
                <c:formatCode>#,##0_ </c:formatCode>
                <c:ptCount val="5"/>
                <c:pt idx="0">
                  <c:v>2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DCA-6C47-9C46-B0FE82A630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E91-7D46-8A79-3C9C9F9AF409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E91-7D46-8A79-3C9C9F9AF409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E91-7D46-8A79-3C9C9F9AF409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E91-7D46-8A79-3C9C9F9AF409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E91-7D46-8A79-3C9C9F9AF409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E91-7D46-8A79-3C9C9F9AF409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E91-7D46-8A79-3C9C9F9AF409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1E91-7D46-8A79-3C9C9F9AF409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1E91-7D46-8A79-3C9C9F9AF409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1E91-7D46-8A79-3C9C9F9AF4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침범상황</c:v>
                </c:pt>
                <c:pt idx="1">
                  <c:v>가스위험</c:v>
                </c:pt>
                <c:pt idx="2">
                  <c:v>심박수 위험</c:v>
                </c:pt>
                <c:pt idx="3">
                  <c:v>긴급호출</c:v>
                </c:pt>
                <c:pt idx="4">
                  <c:v>AP 배터리</c:v>
                </c:pt>
              </c:strCache>
            </c:strRef>
          </c:cat>
          <c:val>
            <c:numRef>
              <c:f>Sheet1!$B$2:$B$6</c:f>
              <c:numCache>
                <c:formatCode>0%</c:formatCode>
                <c:ptCount val="5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E91-7D46-8A79-3C9C9F9AF4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A00-C94F-BE0C-FF21434554CB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A00-C94F-BE0C-FF21434554CB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A00-C94F-BE0C-FF21434554CB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A00-C94F-BE0C-FF21434554CB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A00-C94F-BE0C-FF21434554CB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CA00-C94F-BE0C-FF21434554CB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CA00-C94F-BE0C-FF21434554CB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CA00-C94F-BE0C-FF21434554CB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CA00-C94F-BE0C-FF21434554CB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CA00-C94F-BE0C-FF21434554C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침범상황</c:v>
                </c:pt>
                <c:pt idx="1">
                  <c:v>가스위험</c:v>
                </c:pt>
                <c:pt idx="2">
                  <c:v>심박수 위험</c:v>
                </c:pt>
                <c:pt idx="3">
                  <c:v>긴급호출</c:v>
                </c:pt>
                <c:pt idx="4">
                  <c:v>AP 배터리</c:v>
                </c:pt>
              </c:strCache>
            </c:strRef>
          </c:cat>
          <c:val>
            <c:numRef>
              <c:f>Sheet1!$B$2:$B$6</c:f>
              <c:numCache>
                <c:formatCode>0%</c:formatCode>
                <c:ptCount val="5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A00-C94F-BE0C-FF21434554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AC1-DF40-B717-E6B3A50A2DD8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AC1-DF40-B717-E6B3A50A2DD8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AC1-DF40-B717-E6B3A50A2DD8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AC1-DF40-B717-E6B3A50A2DD8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AC1-DF40-B717-E6B3A50A2DD8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AC1-DF40-B717-E6B3A50A2DD8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5AC1-DF40-B717-E6B3A50A2DD8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5AC1-DF40-B717-E6B3A50A2DD8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5AC1-DF40-B717-E6B3A50A2DD8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5AC1-DF40-B717-E6B3A50A2D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침범상황</c:v>
                </c:pt>
                <c:pt idx="1">
                  <c:v>가스위험</c:v>
                </c:pt>
                <c:pt idx="2">
                  <c:v>심박수 위험</c:v>
                </c:pt>
                <c:pt idx="3">
                  <c:v>긴급호출</c:v>
                </c:pt>
                <c:pt idx="4">
                  <c:v>AP 배터리</c:v>
                </c:pt>
              </c:strCache>
            </c:strRef>
          </c:cat>
          <c:val>
            <c:numRef>
              <c:f>Sheet1!$B$2:$B$6</c:f>
              <c:numCache>
                <c:formatCode>0%</c:formatCode>
                <c:ptCount val="5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AC1-DF40-B717-E6B3A50A2D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CD8-3248-964E-C1C78D302192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CD8-3248-964E-C1C78D302192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CD8-3248-964E-C1C78D302192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CD8-3248-964E-C1C78D302192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CD8-3248-964E-C1C78D302192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ACD8-3248-964E-C1C78D302192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ACD8-3248-964E-C1C78D302192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CD8-3248-964E-C1C78D302192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ACD8-3248-964E-C1C78D302192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ACD8-3248-964E-C1C78D30219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침범상황</c:v>
                </c:pt>
                <c:pt idx="1">
                  <c:v>가스위험</c:v>
                </c:pt>
                <c:pt idx="2">
                  <c:v>심박수 위험</c:v>
                </c:pt>
                <c:pt idx="3">
                  <c:v>긴급호출</c:v>
                </c:pt>
                <c:pt idx="4">
                  <c:v>AP 배터리</c:v>
                </c:pt>
              </c:strCache>
            </c:strRef>
          </c:cat>
          <c:val>
            <c:numRef>
              <c:f>Sheet1!$B$2:$B$6</c:f>
              <c:numCache>
                <c:formatCode>0%</c:formatCode>
                <c:ptCount val="5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CD8-3248-964E-C1C78D3021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effectLst/>
          </c:spPr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612-174B-9B7C-40DB23CA29F6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612-174B-9B7C-40DB23CA29F6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612-174B-9B7C-40DB23CA29F6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612-174B-9B7C-40DB23CA29F6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612-174B-9B7C-40DB23CA29F6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0612-174B-9B7C-40DB23CA29F6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0612-174B-9B7C-40DB23CA29F6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0612-174B-9B7C-40DB23CA29F6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0612-174B-9B7C-40DB23CA29F6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spc="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ko-Kore-K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0612-174B-9B7C-40DB23CA29F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spc="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ko-Kore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침범상황</c:v>
                </c:pt>
                <c:pt idx="1">
                  <c:v>가스위험</c:v>
                </c:pt>
                <c:pt idx="2">
                  <c:v>심박수 위험</c:v>
                </c:pt>
                <c:pt idx="3">
                  <c:v>긴급호출</c:v>
                </c:pt>
                <c:pt idx="4">
                  <c:v>AP 배터리</c:v>
                </c:pt>
              </c:strCache>
            </c:strRef>
          </c:cat>
          <c:val>
            <c:numRef>
              <c:f>Sheet1!$B$2:$B$6</c:f>
              <c:numCache>
                <c:formatCode>0%</c:formatCode>
                <c:ptCount val="5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612-174B-9B7C-40DB23CA29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ore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cs:styleClr val="auto"/>
    </cs:fontRef>
    <cs:defRPr sz="133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33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9D63421-4283-442E-90A1-764DA1F428FB}" type="datetimeFigureOut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2023. 4. 4.</a:t>
            </a:fld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4DD37E2-94AF-4697-8D78-8E45425D2E7E}" type="slidenum">
              <a:rPr lang="ko-KR" altLang="en-US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‹#›</a:t>
            </a:fld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180778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0AC1BC-3168-45D9-AEB9-4BE4C10206D9}" type="datetimeFigureOut">
              <a:rPr lang="ko-KR" altLang="en-US" smtClean="0"/>
              <a:t>2023. 4. 4.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65225" y="1241425"/>
            <a:ext cx="44672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450" y="4776788"/>
            <a:ext cx="5438775" cy="390842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6A30B70-8532-49E7-8E01-7E45E2F9BD3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4866000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빈 페이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851679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로그인 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15" name="TextBox 14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금요일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DE94C5D-03A5-0CCB-B7A4-B939E17DA15B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4162470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출입 관리_작업자 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출입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37" name="직사각형 36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금요일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6" name="직사각형 15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모서리가 둥근 직사각형 16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Search Box Rectangle"/>
          <p:cNvSpPr>
            <a:spLocks/>
          </p:cNvSpPr>
          <p:nvPr userDrawn="1"/>
        </p:nvSpPr>
        <p:spPr bwMode="auto">
          <a:xfrm>
            <a:off x="7336904" y="1855626"/>
            <a:ext cx="230567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19" name="Chevron"/>
          <p:cNvSpPr>
            <a:spLocks noChangeAspect="1"/>
          </p:cNvSpPr>
          <p:nvPr userDrawn="1"/>
        </p:nvSpPr>
        <p:spPr bwMode="auto">
          <a:xfrm>
            <a:off x="9425136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5" name="직사각형 24"/>
          <p:cNvSpPr/>
          <p:nvPr userDrawn="1"/>
        </p:nvSpPr>
        <p:spPr>
          <a:xfrm>
            <a:off x="413686" y="1886663"/>
            <a:ext cx="1684539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작업자 목록</a:t>
            </a:r>
          </a:p>
        </p:txBody>
      </p:sp>
      <p:sp>
        <p:nvSpPr>
          <p:cNvPr id="33" name="직사각형 32"/>
          <p:cNvSpPr/>
          <p:nvPr userDrawn="1"/>
        </p:nvSpPr>
        <p:spPr>
          <a:xfrm>
            <a:off x="2098225" y="1886663"/>
            <a:ext cx="1684726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출입문 진입</a:t>
            </a:r>
            <a:r>
              <a:rPr lang="en-US" altLang="ko-KR" sz="11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100">
                <a:solidFill>
                  <a:schemeClr val="tx1"/>
                </a:solidFill>
                <a:latin typeface="+mn-ea"/>
              </a:rPr>
              <a:t>진출 현황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/>
          <p:cNvSpPr/>
          <p:nvPr userDrawn="1"/>
        </p:nvSpPr>
        <p:spPr>
          <a:xfrm>
            <a:off x="3782952" y="1886663"/>
            <a:ext cx="1684726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차량 목록</a:t>
            </a:r>
          </a:p>
        </p:txBody>
      </p:sp>
      <p:sp>
        <p:nvSpPr>
          <p:cNvPr id="39" name="직사각형 38"/>
          <p:cNvSpPr/>
          <p:nvPr userDrawn="1"/>
        </p:nvSpPr>
        <p:spPr>
          <a:xfrm>
            <a:off x="422053" y="2250661"/>
            <a:ext cx="1667272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grpSp>
        <p:nvGrpSpPr>
          <p:cNvPr id="42" name="그룹 41"/>
          <p:cNvGrpSpPr/>
          <p:nvPr userDrawn="1"/>
        </p:nvGrpSpPr>
        <p:grpSpPr>
          <a:xfrm>
            <a:off x="3773864" y="1886662"/>
            <a:ext cx="1690832" cy="363999"/>
            <a:chOff x="-8483" y="-76"/>
            <a:chExt cx="12810083" cy="9601276"/>
          </a:xfrm>
        </p:grpSpPr>
        <p:sp>
          <p:nvSpPr>
            <p:cNvPr id="43" name="직사각형 42"/>
            <p:cNvSpPr/>
            <p:nvPr/>
          </p:nvSpPr>
          <p:spPr>
            <a:xfrm>
              <a:off x="-8483" y="-76"/>
              <a:ext cx="12810083" cy="9601276"/>
            </a:xfrm>
            <a:prstGeom prst="rect">
              <a:avLst/>
            </a:prstGeom>
            <a:solidFill>
              <a:srgbClr val="000000">
                <a:alpha val="73000"/>
              </a:srgbClr>
            </a:solidFill>
            <a:ln w="952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향후작업</a:t>
              </a:r>
            </a:p>
          </p:txBody>
        </p:sp>
        <p:cxnSp>
          <p:nvCxnSpPr>
            <p:cNvPr id="44" name="직선 연결선 43"/>
            <p:cNvCxnSpPr/>
            <p:nvPr/>
          </p:nvCxnSpPr>
          <p:spPr>
            <a:xfrm flipH="1">
              <a:off x="0" y="-76"/>
              <a:ext cx="12801600" cy="9601276"/>
            </a:xfrm>
            <a:prstGeom prst="line">
              <a:avLst/>
            </a:prstGeom>
            <a:ln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2140E570-8437-5E9E-EA2D-7FE68B8B2D1F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2220142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출입 관리_진입/진출 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출입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37" name="직사각형 36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금요일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6" name="직사각형 15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모서리가 둥근 직사각형 16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Search Box Rectangle"/>
          <p:cNvSpPr>
            <a:spLocks/>
          </p:cNvSpPr>
          <p:nvPr userDrawn="1"/>
        </p:nvSpPr>
        <p:spPr bwMode="auto">
          <a:xfrm>
            <a:off x="7336904" y="1855626"/>
            <a:ext cx="230567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19" name="Chevron"/>
          <p:cNvSpPr>
            <a:spLocks noChangeAspect="1"/>
          </p:cNvSpPr>
          <p:nvPr userDrawn="1"/>
        </p:nvSpPr>
        <p:spPr bwMode="auto">
          <a:xfrm>
            <a:off x="9425136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5" name="직사각형 24"/>
          <p:cNvSpPr/>
          <p:nvPr userDrawn="1"/>
        </p:nvSpPr>
        <p:spPr>
          <a:xfrm>
            <a:off x="413686" y="1886663"/>
            <a:ext cx="1684539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작업자 목록</a:t>
            </a:r>
          </a:p>
        </p:txBody>
      </p:sp>
      <p:sp>
        <p:nvSpPr>
          <p:cNvPr id="33" name="직사각형 32"/>
          <p:cNvSpPr/>
          <p:nvPr userDrawn="1"/>
        </p:nvSpPr>
        <p:spPr>
          <a:xfrm>
            <a:off x="2098225" y="1886663"/>
            <a:ext cx="1684726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출입문 진입</a:t>
            </a:r>
            <a:r>
              <a:rPr lang="en-US" altLang="ko-KR" sz="11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100">
                <a:solidFill>
                  <a:schemeClr val="tx1"/>
                </a:solidFill>
                <a:latin typeface="+mn-ea"/>
              </a:rPr>
              <a:t>진출 현황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/>
          <p:cNvSpPr/>
          <p:nvPr userDrawn="1"/>
        </p:nvSpPr>
        <p:spPr>
          <a:xfrm>
            <a:off x="3782952" y="1886663"/>
            <a:ext cx="1684726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차량 목록</a:t>
            </a:r>
          </a:p>
        </p:txBody>
      </p:sp>
      <p:sp>
        <p:nvSpPr>
          <p:cNvPr id="39" name="직사각형 38"/>
          <p:cNvSpPr/>
          <p:nvPr userDrawn="1"/>
        </p:nvSpPr>
        <p:spPr>
          <a:xfrm>
            <a:off x="2114183" y="2250661"/>
            <a:ext cx="1667272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grpSp>
        <p:nvGrpSpPr>
          <p:cNvPr id="41" name="그룹 40"/>
          <p:cNvGrpSpPr/>
          <p:nvPr userDrawn="1"/>
        </p:nvGrpSpPr>
        <p:grpSpPr>
          <a:xfrm>
            <a:off x="3773864" y="1886662"/>
            <a:ext cx="1690832" cy="363999"/>
            <a:chOff x="-8483" y="-76"/>
            <a:chExt cx="12810083" cy="9601276"/>
          </a:xfrm>
        </p:grpSpPr>
        <p:sp>
          <p:nvSpPr>
            <p:cNvPr id="42" name="직사각형 41"/>
            <p:cNvSpPr/>
            <p:nvPr/>
          </p:nvSpPr>
          <p:spPr>
            <a:xfrm>
              <a:off x="-8483" y="-76"/>
              <a:ext cx="12810083" cy="9601276"/>
            </a:xfrm>
            <a:prstGeom prst="rect">
              <a:avLst/>
            </a:prstGeom>
            <a:solidFill>
              <a:srgbClr val="000000">
                <a:alpha val="73000"/>
              </a:srgbClr>
            </a:solidFill>
            <a:ln w="952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lvl="0"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향후작업</a:t>
              </a:r>
            </a:p>
          </p:txBody>
        </p:sp>
        <p:cxnSp>
          <p:nvCxnSpPr>
            <p:cNvPr id="43" name="직선 연결선 42"/>
            <p:cNvCxnSpPr/>
            <p:nvPr/>
          </p:nvCxnSpPr>
          <p:spPr>
            <a:xfrm flipH="1">
              <a:off x="0" y="-76"/>
              <a:ext cx="12801600" cy="9601276"/>
            </a:xfrm>
            <a:prstGeom prst="line">
              <a:avLst/>
            </a:prstGeom>
            <a:ln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1E5DFA16-30A6-88ED-EF6B-65E2A571CD76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54634473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출입 관리_차량 목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출입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37" name="직사각형 36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금요일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6" name="직사각형 15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모서리가 둥근 직사각형 16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Search Box Rectangle"/>
          <p:cNvSpPr>
            <a:spLocks/>
          </p:cNvSpPr>
          <p:nvPr userDrawn="1"/>
        </p:nvSpPr>
        <p:spPr bwMode="auto">
          <a:xfrm>
            <a:off x="7336904" y="1855626"/>
            <a:ext cx="230567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19" name="Chevron"/>
          <p:cNvSpPr>
            <a:spLocks noChangeAspect="1"/>
          </p:cNvSpPr>
          <p:nvPr userDrawn="1"/>
        </p:nvSpPr>
        <p:spPr bwMode="auto">
          <a:xfrm>
            <a:off x="9425136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5" name="직사각형 24"/>
          <p:cNvSpPr/>
          <p:nvPr userDrawn="1"/>
        </p:nvSpPr>
        <p:spPr>
          <a:xfrm>
            <a:off x="413686" y="1886663"/>
            <a:ext cx="1684539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작업자 목록</a:t>
            </a:r>
          </a:p>
        </p:txBody>
      </p:sp>
      <p:sp>
        <p:nvSpPr>
          <p:cNvPr id="33" name="직사각형 32"/>
          <p:cNvSpPr/>
          <p:nvPr userDrawn="1"/>
        </p:nvSpPr>
        <p:spPr>
          <a:xfrm>
            <a:off x="2098225" y="1886663"/>
            <a:ext cx="1684726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출입문 진입</a:t>
            </a:r>
            <a:r>
              <a:rPr lang="en-US" altLang="ko-KR" sz="11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100">
                <a:solidFill>
                  <a:schemeClr val="tx1"/>
                </a:solidFill>
                <a:latin typeface="+mn-ea"/>
              </a:rPr>
              <a:t>진출 현황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/>
          <p:cNvSpPr/>
          <p:nvPr userDrawn="1"/>
        </p:nvSpPr>
        <p:spPr>
          <a:xfrm>
            <a:off x="3782952" y="1886663"/>
            <a:ext cx="1684726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차량 목록</a:t>
            </a:r>
          </a:p>
        </p:txBody>
      </p:sp>
      <p:sp>
        <p:nvSpPr>
          <p:cNvPr id="39" name="직사각형 38"/>
          <p:cNvSpPr/>
          <p:nvPr userDrawn="1"/>
        </p:nvSpPr>
        <p:spPr>
          <a:xfrm>
            <a:off x="3796912" y="2250661"/>
            <a:ext cx="1667272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grpSp>
        <p:nvGrpSpPr>
          <p:cNvPr id="41" name="그룹 40"/>
          <p:cNvGrpSpPr/>
          <p:nvPr userDrawn="1"/>
        </p:nvGrpSpPr>
        <p:grpSpPr>
          <a:xfrm>
            <a:off x="3773864" y="1886662"/>
            <a:ext cx="1690832" cy="363999"/>
            <a:chOff x="-8483" y="-76"/>
            <a:chExt cx="12810083" cy="9601276"/>
          </a:xfrm>
        </p:grpSpPr>
        <p:sp>
          <p:nvSpPr>
            <p:cNvPr id="42" name="직사각형 41"/>
            <p:cNvSpPr/>
            <p:nvPr/>
          </p:nvSpPr>
          <p:spPr>
            <a:xfrm>
              <a:off x="-8483" y="-76"/>
              <a:ext cx="12810083" cy="9601276"/>
            </a:xfrm>
            <a:prstGeom prst="rect">
              <a:avLst/>
            </a:prstGeom>
            <a:solidFill>
              <a:srgbClr val="000000">
                <a:alpha val="73000"/>
              </a:srgbClr>
            </a:solidFill>
            <a:ln w="952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lvl="0"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향후작업</a:t>
              </a:r>
            </a:p>
          </p:txBody>
        </p:sp>
        <p:cxnSp>
          <p:nvCxnSpPr>
            <p:cNvPr id="43" name="직선 연결선 42"/>
            <p:cNvCxnSpPr/>
            <p:nvPr/>
          </p:nvCxnSpPr>
          <p:spPr>
            <a:xfrm flipH="1">
              <a:off x="0" y="-76"/>
              <a:ext cx="12801600" cy="9601276"/>
            </a:xfrm>
            <a:prstGeom prst="line">
              <a:avLst/>
            </a:prstGeom>
            <a:ln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003402AE-E536-1A67-73A8-F086005D0B81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6160156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안전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직사각형 38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직사각형 20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22" name="직사각형 21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25" name="직사각형 24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38" name="직사각형 37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33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4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3" name="직사각형 42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23" name="직사각형 22"/>
          <p:cNvSpPr/>
          <p:nvPr userDrawn="1"/>
        </p:nvSpPr>
        <p:spPr>
          <a:xfrm>
            <a:off x="427305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359010B-E630-8FFB-0A97-F256533FBDF4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987656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안전점검 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직사각형 38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직사각형 20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22" name="직사각형 21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25" name="직사각형 24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38" name="직사각형 37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33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4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3" name="직사각형 42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23" name="직사각형 22"/>
          <p:cNvSpPr/>
          <p:nvPr userDrawn="1"/>
        </p:nvSpPr>
        <p:spPr>
          <a:xfrm>
            <a:off x="1608154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3C13FD3-B110-F0AE-6FEE-11C653F31D83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085407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위치기반 안전관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직사각형 38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1766092"/>
            <a:ext cx="9722360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4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3" name="직사각형 42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44" name="직사각형 43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45" name="직사각형 44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1100" b="1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47" name="직사각형 46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48" name="직사각형 47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49" name="직사각형 48"/>
          <p:cNvSpPr/>
          <p:nvPr userDrawn="1"/>
        </p:nvSpPr>
        <p:spPr>
          <a:xfrm>
            <a:off x="2791776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BFEC215-6239-33CD-EE09-C0DCA1099CA0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699448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안전 모니터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9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43" name="직사각형 42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44" name="직사각형 43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46" name="직사각형 45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47" name="직사각형 46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48" name="직사각형 47"/>
          <p:cNvSpPr/>
          <p:nvPr userDrawn="1"/>
        </p:nvSpPr>
        <p:spPr>
          <a:xfrm>
            <a:off x="3971733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AA57E05-414A-2C80-37E2-83414D2A4705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352313826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비상 대피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9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43" name="직사각형 42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44" name="직사각형 43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46" name="직사각형 45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47" name="직사각형 46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48" name="직사각형 47"/>
          <p:cNvSpPr/>
          <p:nvPr userDrawn="1"/>
        </p:nvSpPr>
        <p:spPr>
          <a:xfrm>
            <a:off x="5154890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C61396B-0604-2C73-700F-0917266F08F0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79853069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안전관리_안전 리포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 userDrawn="1"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Search Box Rectangle"/>
          <p:cNvSpPr>
            <a:spLocks/>
          </p:cNvSpPr>
          <p:nvPr userDrawn="1"/>
        </p:nvSpPr>
        <p:spPr bwMode="auto">
          <a:xfrm>
            <a:off x="7810668" y="1855626"/>
            <a:ext cx="183190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39" name="Chevron"/>
          <p:cNvSpPr>
            <a:spLocks noChangeAspect="1"/>
          </p:cNvSpPr>
          <p:nvPr userDrawn="1"/>
        </p:nvSpPr>
        <p:spPr bwMode="auto">
          <a:xfrm>
            <a:off x="9433449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0" name="직사각형 39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42" name="직사각형 41"/>
          <p:cNvSpPr/>
          <p:nvPr userDrawn="1"/>
        </p:nvSpPr>
        <p:spPr>
          <a:xfrm>
            <a:off x="418950" y="1886662"/>
            <a:ext cx="1181863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안전현황</a:t>
            </a:r>
          </a:p>
        </p:txBody>
      </p:sp>
      <p:sp>
        <p:nvSpPr>
          <p:cNvPr id="43" name="직사각형 42"/>
          <p:cNvSpPr/>
          <p:nvPr userDrawn="1"/>
        </p:nvSpPr>
        <p:spPr>
          <a:xfrm>
            <a:off x="160081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안전점검 현황</a:t>
            </a:r>
          </a:p>
        </p:txBody>
      </p:sp>
      <p:sp>
        <p:nvSpPr>
          <p:cNvPr id="44" name="직사각형 43"/>
          <p:cNvSpPr/>
          <p:nvPr userDrawn="1"/>
        </p:nvSpPr>
        <p:spPr>
          <a:xfrm>
            <a:off x="2782808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위치기반</a:t>
            </a:r>
            <a:endParaRPr lang="en-US" altLang="ko-KR" sz="1100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안전관리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/>
          <p:cNvSpPr/>
          <p:nvPr userDrawn="1"/>
        </p:nvSpPr>
        <p:spPr>
          <a:xfrm>
            <a:off x="3964803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안전 모니터링</a:t>
            </a:r>
          </a:p>
        </p:txBody>
      </p:sp>
      <p:sp>
        <p:nvSpPr>
          <p:cNvPr id="46" name="직사각형 45"/>
          <p:cNvSpPr/>
          <p:nvPr userDrawn="1"/>
        </p:nvSpPr>
        <p:spPr>
          <a:xfrm>
            <a:off x="5146797" y="1886662"/>
            <a:ext cx="118199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 대피현황</a:t>
            </a:r>
          </a:p>
        </p:txBody>
      </p:sp>
      <p:sp>
        <p:nvSpPr>
          <p:cNvPr id="47" name="직사각형 46"/>
          <p:cNvSpPr/>
          <p:nvPr userDrawn="1"/>
        </p:nvSpPr>
        <p:spPr>
          <a:xfrm>
            <a:off x="6328792" y="1886662"/>
            <a:ext cx="118199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안전 리포트</a:t>
            </a:r>
          </a:p>
        </p:txBody>
      </p:sp>
      <p:sp>
        <p:nvSpPr>
          <p:cNvPr id="48" name="직사각형 47"/>
          <p:cNvSpPr/>
          <p:nvPr userDrawn="1"/>
        </p:nvSpPr>
        <p:spPr>
          <a:xfrm>
            <a:off x="6338532" y="2250660"/>
            <a:ext cx="1168133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C8E4BD-DE17-0BFF-D5BC-83B96F50BD33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400203858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디바이스 관리_AP 설치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디바이스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9" name="직사각형 18"/>
          <p:cNvSpPr/>
          <p:nvPr userDrawn="1"/>
        </p:nvSpPr>
        <p:spPr>
          <a:xfrm>
            <a:off x="418949" y="1886662"/>
            <a:ext cx="2065905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100" b="0" dirty="0">
                <a:solidFill>
                  <a:schemeClr val="tx1"/>
                </a:solidFill>
                <a:latin typeface="+mn-ea"/>
              </a:rPr>
              <a:t>AP </a:t>
            </a:r>
            <a:r>
              <a:rPr lang="ko-KR" altLang="en-US" sz="1100" b="0">
                <a:solidFill>
                  <a:schemeClr val="tx1"/>
                </a:solidFill>
                <a:latin typeface="+mn-ea"/>
              </a:rPr>
              <a:t>설치현황</a:t>
            </a:r>
            <a:endParaRPr lang="ko-KR" altLang="en-US" sz="11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/>
          <p:cNvSpPr/>
          <p:nvPr userDrawn="1"/>
        </p:nvSpPr>
        <p:spPr>
          <a:xfrm>
            <a:off x="2484854" y="1886662"/>
            <a:ext cx="2066136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>
                <a:solidFill>
                  <a:schemeClr val="tx1"/>
                </a:solidFill>
                <a:latin typeface="+mn-ea"/>
              </a:rPr>
              <a:t>가스센서</a:t>
            </a:r>
            <a:r>
              <a:rPr lang="en-US" altLang="ko-KR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100">
                <a:solidFill>
                  <a:schemeClr val="tx1"/>
                </a:solidFill>
                <a:latin typeface="+mn-ea"/>
              </a:rPr>
              <a:t>설치현황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/>
          <p:cNvSpPr/>
          <p:nvPr userDrawn="1"/>
        </p:nvSpPr>
        <p:spPr>
          <a:xfrm>
            <a:off x="423675" y="2250660"/>
            <a:ext cx="2041905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3ECB0C3-FC4B-5D0B-DB7F-1E57A193F838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63077037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디바이스 관리_AP 설치현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 lvl="0"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디바이스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9" name="직사각형 18"/>
          <p:cNvSpPr/>
          <p:nvPr userDrawn="1"/>
        </p:nvSpPr>
        <p:spPr>
          <a:xfrm>
            <a:off x="418949" y="1886662"/>
            <a:ext cx="2065905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100" dirty="0">
                <a:solidFill>
                  <a:schemeClr val="tx1"/>
                </a:solidFill>
                <a:latin typeface="+mn-ea"/>
              </a:rPr>
              <a:t>AP </a:t>
            </a:r>
            <a:r>
              <a:rPr lang="ko-KR" altLang="en-US" sz="1100">
                <a:solidFill>
                  <a:schemeClr val="tx1"/>
                </a:solidFill>
                <a:latin typeface="+mn-ea"/>
              </a:rPr>
              <a:t>설치현황</a:t>
            </a:r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/>
          <p:cNvSpPr/>
          <p:nvPr userDrawn="1"/>
        </p:nvSpPr>
        <p:spPr>
          <a:xfrm>
            <a:off x="2484854" y="1886662"/>
            <a:ext cx="2066136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100" b="0">
                <a:solidFill>
                  <a:schemeClr val="tx1"/>
                </a:solidFill>
                <a:latin typeface="+mn-ea"/>
              </a:rPr>
              <a:t>가스센서</a:t>
            </a:r>
            <a:r>
              <a:rPr lang="en-US" altLang="ko-KR" sz="1100" b="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1100" b="0">
                <a:solidFill>
                  <a:schemeClr val="tx1"/>
                </a:solidFill>
                <a:latin typeface="+mn-ea"/>
              </a:rPr>
              <a:t>설치현황</a:t>
            </a:r>
            <a:endParaRPr lang="ko-KR" altLang="en-US" sz="11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/>
          <p:cNvSpPr/>
          <p:nvPr userDrawn="1"/>
        </p:nvSpPr>
        <p:spPr>
          <a:xfrm>
            <a:off x="2500241" y="2250660"/>
            <a:ext cx="2041905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4BC714C-6C56-2D41-B701-3F9376712B87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26188117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설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 userDrawn="1"/>
        </p:nvSpPr>
        <p:spPr>
          <a:xfrm>
            <a:off x="411791" y="1128192"/>
            <a:ext cx="9722359" cy="72728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6" name="직사각형 25"/>
          <p:cNvSpPr/>
          <p:nvPr userDrawn="1"/>
        </p:nvSpPr>
        <p:spPr>
          <a:xfrm>
            <a:off x="414350" y="1122185"/>
            <a:ext cx="9721080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>
              <a:latin typeface="+mn-ea"/>
            </a:endParaRPr>
          </a:p>
        </p:txBody>
      </p:sp>
      <p:sp>
        <p:nvSpPr>
          <p:cNvPr id="27" name="직사각형 26"/>
          <p:cNvSpPr/>
          <p:nvPr userDrawn="1"/>
        </p:nvSpPr>
        <p:spPr>
          <a:xfrm>
            <a:off x="3638636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안전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/>
          <p:cNvSpPr/>
          <p:nvPr userDrawn="1"/>
        </p:nvSpPr>
        <p:spPr>
          <a:xfrm>
            <a:off x="4550991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lvl="0"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디바이스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직사각형 28"/>
          <p:cNvSpPr/>
          <p:nvPr userDrawn="1"/>
        </p:nvSpPr>
        <p:spPr>
          <a:xfrm>
            <a:off x="2727923" y="1122185"/>
            <a:ext cx="913705" cy="6417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출입 관리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30" name="그림 29"/>
          <p:cNvPicPr>
            <a:picLocks noChangeAspect="1"/>
          </p:cNvPicPr>
          <p:nvPr userDrawn="1"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0306" y="1184099"/>
            <a:ext cx="368938" cy="36893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 userDrawn="1"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7509" y="1302481"/>
            <a:ext cx="280282" cy="280282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135" y="1295456"/>
            <a:ext cx="288306" cy="288307"/>
          </a:xfrm>
          <a:prstGeom prst="rect">
            <a:avLst/>
          </a:prstGeom>
        </p:spPr>
      </p:pic>
      <p:pic>
        <p:nvPicPr>
          <p:cNvPr id="35" name="그림 34"/>
          <p:cNvPicPr>
            <a:picLocks noChangeAspect="1"/>
          </p:cNvPicPr>
          <p:nvPr userDrawn="1"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040" y="1211005"/>
            <a:ext cx="315126" cy="315126"/>
          </a:xfrm>
          <a:prstGeom prst="rect">
            <a:avLst/>
          </a:prstGeom>
        </p:spPr>
      </p:pic>
      <p:pic>
        <p:nvPicPr>
          <p:cNvPr id="36" name="그림 35"/>
          <p:cNvPicPr>
            <a:picLocks noChangeAspect="1"/>
          </p:cNvPicPr>
          <p:nvPr userDrawn="1"/>
        </p:nvPicPr>
        <p:blipFill>
          <a:blip r:embed="rId6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2110" y="1238099"/>
            <a:ext cx="294039" cy="294039"/>
          </a:xfrm>
          <a:prstGeom prst="rect">
            <a:avLst/>
          </a:prstGeom>
        </p:spPr>
      </p:pic>
      <p:sp>
        <p:nvSpPr>
          <p:cNvPr id="41" name="직사각형 40"/>
          <p:cNvSpPr/>
          <p:nvPr userDrawn="1"/>
        </p:nvSpPr>
        <p:spPr>
          <a:xfrm>
            <a:off x="410705" y="1766092"/>
            <a:ext cx="9723445" cy="50405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6760840" y="1272208"/>
            <a:ext cx="18405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400" b="1" dirty="0"/>
              <a:t>0000.00.00 (</a:t>
            </a:r>
            <a:r>
              <a:rPr lang="ko-KR" altLang="en-US" sz="1400" b="1" dirty="0"/>
              <a:t>월요일</a:t>
            </a:r>
            <a:r>
              <a:rPr lang="en-US" altLang="ko-KR" sz="1400" b="1" dirty="0"/>
              <a:t>)</a:t>
            </a:r>
            <a:endParaRPr lang="ko-KR" altLang="en-US" sz="1400" b="1" dirty="0"/>
          </a:p>
        </p:txBody>
      </p:sp>
      <p:sp>
        <p:nvSpPr>
          <p:cNvPr id="18" name="직사각형 17"/>
          <p:cNvSpPr/>
          <p:nvPr userDrawn="1"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9" name="TextBox 18"/>
          <p:cNvSpPr txBox="1"/>
          <p:nvPr userDrawn="1"/>
        </p:nvSpPr>
        <p:spPr>
          <a:xfrm>
            <a:off x="9468355" y="1837151"/>
            <a:ext cx="4700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/>
              <a:t>■ ■ ■</a:t>
            </a:r>
            <a:endParaRPr lang="en-US" altLang="ko-KR" sz="600" dirty="0"/>
          </a:p>
          <a:p>
            <a:r>
              <a:rPr lang="ko-KR" altLang="en-US" sz="600" dirty="0"/>
              <a:t>■ ■ ■</a:t>
            </a:r>
            <a:endParaRPr lang="en-US" altLang="ko-KR" sz="600" dirty="0"/>
          </a:p>
          <a:p>
            <a:r>
              <a:rPr lang="ko-KR" altLang="en-US" sz="600" dirty="0"/>
              <a:t>■ ■ ■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4931DBC-3077-0388-79ED-43B977C21E09}"/>
              </a:ext>
            </a:extLst>
          </p:cNvPr>
          <p:cNvSpPr txBox="1"/>
          <p:nvPr userDrawn="1"/>
        </p:nvSpPr>
        <p:spPr>
          <a:xfrm>
            <a:off x="1304076" y="1320568"/>
            <a:ext cx="5421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kumimoji="1" lang="en-US" altLang="ko-Kore-KR" sz="1000" b="1" dirty="0"/>
              <a:t>LOGO</a:t>
            </a:r>
            <a:endParaRPr kumimoji="1" lang="ko-Kore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133149088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 userDrawn="1"/>
        </p:nvSpPr>
        <p:spPr>
          <a:xfrm>
            <a:off x="0" y="0"/>
            <a:ext cx="12801600" cy="9601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22920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01"/>
          <p:cNvSpPr>
            <a:spLocks noChangeArrowheads="1"/>
          </p:cNvSpPr>
          <p:nvPr userDrawn="1"/>
        </p:nvSpPr>
        <p:spPr bwMode="auto">
          <a:xfrm>
            <a:off x="10544204" y="0"/>
            <a:ext cx="2257396" cy="96012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8719" tIns="49359" rIns="98719" bIns="49359" anchor="ctr"/>
          <a:lstStyle/>
          <a:p>
            <a:pPr algn="l">
              <a:defRPr/>
            </a:pPr>
            <a:endParaRPr lang="ko-KR" altLang="en-US" sz="1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Rectangle 601"/>
          <p:cNvSpPr>
            <a:spLocks noChangeArrowheads="1"/>
          </p:cNvSpPr>
          <p:nvPr userDrawn="1"/>
        </p:nvSpPr>
        <p:spPr bwMode="auto">
          <a:xfrm>
            <a:off x="1" y="0"/>
            <a:ext cx="12801600" cy="9601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8719" tIns="49359" rIns="98719" bIns="49359" anchor="ctr"/>
          <a:lstStyle/>
          <a:p>
            <a:pPr algn="l">
              <a:defRPr/>
            </a:pPr>
            <a:endParaRPr lang="ko-KR" altLang="en-US" sz="1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Rectangle 601"/>
          <p:cNvSpPr>
            <a:spLocks noChangeArrowheads="1"/>
          </p:cNvSpPr>
          <p:nvPr userDrawn="1"/>
        </p:nvSpPr>
        <p:spPr bwMode="auto">
          <a:xfrm>
            <a:off x="10544204" y="379322"/>
            <a:ext cx="2257396" cy="219075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8719" tIns="49359" rIns="98719" bIns="49359" anchor="ctr"/>
          <a:lstStyle/>
          <a:p>
            <a:pPr algn="l">
              <a:defRPr/>
            </a:pP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Page Description</a:t>
            </a:r>
            <a:endParaRPr lang="ko-KR" altLang="en-US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Rectangle 601"/>
          <p:cNvSpPr>
            <a:spLocks noChangeArrowheads="1"/>
          </p:cNvSpPr>
          <p:nvPr userDrawn="1"/>
        </p:nvSpPr>
        <p:spPr bwMode="auto">
          <a:xfrm>
            <a:off x="10544204" y="987130"/>
            <a:ext cx="2257396" cy="219075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8719" tIns="49359" rIns="98719" bIns="49359" anchor="ctr"/>
          <a:lstStyle/>
          <a:p>
            <a:pPr algn="l">
              <a:defRPr/>
            </a:pP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Contents Description</a:t>
            </a:r>
            <a:endParaRPr lang="ko-KR" altLang="en-US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Rectangle 601"/>
          <p:cNvSpPr>
            <a:spLocks noChangeArrowheads="1"/>
          </p:cNvSpPr>
          <p:nvPr userDrawn="1"/>
        </p:nvSpPr>
        <p:spPr bwMode="auto">
          <a:xfrm>
            <a:off x="0" y="0"/>
            <a:ext cx="12801600" cy="371444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lIns="98719" tIns="49359" rIns="98719" bIns="49359" anchor="ctr"/>
          <a:lstStyle/>
          <a:p>
            <a:pPr algn="l">
              <a:defRPr/>
            </a:pPr>
            <a:endParaRPr lang="ko-KR" altLang="en-US" sz="1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auto">
          <a:xfrm>
            <a:off x="11862890" y="28289"/>
            <a:ext cx="628650" cy="234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107495" tIns="53748" rIns="107495" bIns="53748"/>
          <a:lstStyle/>
          <a:p>
            <a:pPr algn="r" defTabSz="1074594">
              <a:defRPr/>
            </a:pPr>
            <a:fld id="{EE050C3E-96E2-4E58-8C3E-E1D292A00795}" type="slidenum">
              <a:rPr lang="en-US" altLang="ko-KR" sz="1200">
                <a:solidFill>
                  <a:srgbClr val="80808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algn="r" defTabSz="1074594">
                <a:defRPr/>
              </a:pPr>
              <a:t>‹#›</a:t>
            </a:fld>
            <a:endParaRPr lang="en-US" altLang="ko-KR" sz="1200" dirty="0">
              <a:solidFill>
                <a:srgbClr val="80808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11025127" y="83792"/>
            <a:ext cx="1201737" cy="2159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l">
              <a:defRPr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Page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05627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24" r:id="rId2"/>
    <p:sldLayoutId id="2147483714" r:id="rId3"/>
    <p:sldLayoutId id="2147483721" r:id="rId4"/>
    <p:sldLayoutId id="2147483722" r:id="rId5"/>
    <p:sldLayoutId id="2147483713" r:id="rId6"/>
    <p:sldLayoutId id="2147483723" r:id="rId7"/>
    <p:sldLayoutId id="2147483717" r:id="rId8"/>
    <p:sldLayoutId id="2147483718" r:id="rId9"/>
    <p:sldLayoutId id="2147483719" r:id="rId10"/>
    <p:sldLayoutId id="2147483720" r:id="rId11"/>
    <p:sldLayoutId id="2147483716" r:id="rId12"/>
    <p:sldLayoutId id="2147483725" r:id="rId13"/>
    <p:sldLayoutId id="2147483726" r:id="rId14"/>
    <p:sldLayoutId id="2147483702" r:id="rId1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tags" Target="../tags/tag3.xml"/><Relationship Id="rId7" Type="http://schemas.openxmlformats.org/officeDocument/2006/relationships/image" Target="../media/image14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image" Target="../media/image16.png"/><Relationship Id="rId5" Type="http://schemas.openxmlformats.org/officeDocument/2006/relationships/image" Target="../media/image17.png"/><Relationship Id="rId4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tags" Target="../tags/tag6.xml"/><Relationship Id="rId2" Type="http://schemas.openxmlformats.org/officeDocument/2006/relationships/tags" Target="../tags/tag5.xml"/><Relationship Id="rId1" Type="http://schemas.openxmlformats.org/officeDocument/2006/relationships/tags" Target="../tags/tag4.xml"/><Relationship Id="rId4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tags" Target="../tags/tag9.xml"/><Relationship Id="rId2" Type="http://schemas.openxmlformats.org/officeDocument/2006/relationships/tags" Target="../tags/tag8.xml"/><Relationship Id="rId1" Type="http://schemas.openxmlformats.org/officeDocument/2006/relationships/tags" Target="../tags/tag7.xml"/><Relationship Id="rId5" Type="http://schemas.openxmlformats.org/officeDocument/2006/relationships/image" Target="../media/image17.png"/><Relationship Id="rId4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customXml" Target="../../customXml/item50.xml"/><Relationship Id="rId1" Type="http://schemas.openxmlformats.org/officeDocument/2006/relationships/customXml" Target="../../customXml/item70.xml"/><Relationship Id="rId4" Type="http://schemas.openxmlformats.org/officeDocument/2006/relationships/image" Target="../media/image2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tags" Target="../tags/tag10.xml"/><Relationship Id="rId2" Type="http://schemas.openxmlformats.org/officeDocument/2006/relationships/customXml" Target="../../customXml/item65.xml"/><Relationship Id="rId1" Type="http://schemas.openxmlformats.org/officeDocument/2006/relationships/customXml" Target="../../customXml/item93.xml"/><Relationship Id="rId6" Type="http://schemas.openxmlformats.org/officeDocument/2006/relationships/image" Target="../media/image20.png"/><Relationship Id="rId5" Type="http://schemas.openxmlformats.org/officeDocument/2006/relationships/image" Target="../media/image21.png"/><Relationship Id="rId4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tags" Target="../tags/tag11.xml"/><Relationship Id="rId7" Type="http://schemas.openxmlformats.org/officeDocument/2006/relationships/image" Target="../media/image14.png"/><Relationship Id="rId2" Type="http://schemas.openxmlformats.org/officeDocument/2006/relationships/customXml" Target="../../customXml/item24.xml"/><Relationship Id="rId1" Type="http://schemas.openxmlformats.org/officeDocument/2006/relationships/customXml" Target="../../customXml/item85.xml"/><Relationship Id="rId6" Type="http://schemas.openxmlformats.org/officeDocument/2006/relationships/image" Target="../media/image20.png"/><Relationship Id="rId5" Type="http://schemas.openxmlformats.org/officeDocument/2006/relationships/image" Target="../media/image21.png"/><Relationship Id="rId10" Type="http://schemas.openxmlformats.org/officeDocument/2006/relationships/image" Target="../media/image23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2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5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25.jpeg"/><Relationship Id="rId7" Type="http://schemas.openxmlformats.org/officeDocument/2006/relationships/image" Target="../media/image12.pn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customXml" Target="../../customXml/item3.xml"/><Relationship Id="rId1" Type="http://schemas.openxmlformats.org/officeDocument/2006/relationships/customXml" Target="../../customXml/item14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34.png"/><Relationship Id="rId2" Type="http://schemas.openxmlformats.org/officeDocument/2006/relationships/customXml" Target="../../customXml/item54.xml"/><Relationship Id="rId1" Type="http://schemas.openxmlformats.org/officeDocument/2006/relationships/customXml" Target="../../customXml/item102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customXml" Target="../../customXml/item18.xml"/><Relationship Id="rId1" Type="http://schemas.openxmlformats.org/officeDocument/2006/relationships/customXml" Target="../../customXml/item5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customXml" Target="../../customXml/item27.xml"/><Relationship Id="rId1" Type="http://schemas.openxmlformats.org/officeDocument/2006/relationships/customXml" Target="../../customXml/item47.xml"/><Relationship Id="rId5" Type="http://schemas.openxmlformats.org/officeDocument/2006/relationships/image" Target="../media/image21.png"/><Relationship Id="rId4" Type="http://schemas.openxmlformats.org/officeDocument/2006/relationships/image" Target="../media/image36.jpe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22.png"/><Relationship Id="rId2" Type="http://schemas.openxmlformats.org/officeDocument/2006/relationships/customXml" Target="../../customXml/item84.xml"/><Relationship Id="rId1" Type="http://schemas.openxmlformats.org/officeDocument/2006/relationships/customXml" Target="../../customXml/item98.xml"/><Relationship Id="rId6" Type="http://schemas.openxmlformats.org/officeDocument/2006/relationships/image" Target="../media/image20.png"/><Relationship Id="rId5" Type="http://schemas.openxmlformats.org/officeDocument/2006/relationships/image" Target="../media/image21.png"/><Relationship Id="rId4" Type="http://schemas.openxmlformats.org/officeDocument/2006/relationships/image" Target="../media/image36.jpe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19.png"/><Relationship Id="rId2" Type="http://schemas.openxmlformats.org/officeDocument/2006/relationships/customXml" Target="../../customXml/item107.xml"/><Relationship Id="rId1" Type="http://schemas.openxmlformats.org/officeDocument/2006/relationships/customXml" Target="../../customXml/item16.xml"/><Relationship Id="rId6" Type="http://schemas.openxmlformats.org/officeDocument/2006/relationships/image" Target="../media/image17.png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png"/><Relationship Id="rId4" Type="http://schemas.openxmlformats.org/officeDocument/2006/relationships/chart" Target="../charts/char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customXml" Target="../../customXml/item15.xml"/><Relationship Id="rId1" Type="http://schemas.openxmlformats.org/officeDocument/2006/relationships/customXml" Target="../../customXml/item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7.png"/><Relationship Id="rId4" Type="http://schemas.openxmlformats.org/officeDocument/2006/relationships/image" Target="../media/image39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7.png"/><Relationship Id="rId4" Type="http://schemas.openxmlformats.org/officeDocument/2006/relationships/image" Target="../media/image39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customXml" Target="../../customXml/item49.xml"/><Relationship Id="rId1" Type="http://schemas.openxmlformats.org/officeDocument/2006/relationships/customXml" Target="../../customXml/item6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12.xml"/><Relationship Id="rId6" Type="http://schemas.openxmlformats.org/officeDocument/2006/relationships/image" Target="../media/image39.png"/><Relationship Id="rId5" Type="http://schemas.openxmlformats.org/officeDocument/2006/relationships/image" Target="../media/image40.png"/><Relationship Id="rId4" Type="http://schemas.openxmlformats.org/officeDocument/2006/relationships/image" Target="../media/image17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customXml" Target="../../customXml/item80.xml"/><Relationship Id="rId1" Type="http://schemas.openxmlformats.org/officeDocument/2006/relationships/customXml" Target="../../customXml/item4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customXml" Target="../../customXml/item36.xml"/><Relationship Id="rId1" Type="http://schemas.openxmlformats.org/officeDocument/2006/relationships/customXml" Target="../../customXml/item11.xml"/><Relationship Id="rId4" Type="http://schemas.openxmlformats.org/officeDocument/2006/relationships/image" Target="../media/image41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customXml" Target="../../customXml/item8.xml"/><Relationship Id="rId1" Type="http://schemas.openxmlformats.org/officeDocument/2006/relationships/customXml" Target="../../customXml/item99.xml"/><Relationship Id="rId5" Type="http://schemas.openxmlformats.org/officeDocument/2006/relationships/image" Target="../media/image9.png"/><Relationship Id="rId4" Type="http://schemas.openxmlformats.org/officeDocument/2006/relationships/image" Target="../media/image2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customXml" Target="../../customXml/item92.xml"/><Relationship Id="rId1" Type="http://schemas.openxmlformats.org/officeDocument/2006/relationships/customXml" Target="../../customXml/item88.xml"/><Relationship Id="rId5" Type="http://schemas.openxmlformats.org/officeDocument/2006/relationships/image" Target="../media/image42.png"/><Relationship Id="rId4" Type="http://schemas.openxmlformats.org/officeDocument/2006/relationships/image" Target="../media/image21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9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43.png"/><Relationship Id="rId4" Type="http://schemas.openxmlformats.org/officeDocument/2006/relationships/image" Target="../media/image39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slideLayout" Target="../slideLayouts/slideLayout9.xml"/><Relationship Id="rId7" Type="http://schemas.openxmlformats.org/officeDocument/2006/relationships/image" Target="../media/image34.png"/><Relationship Id="rId2" Type="http://schemas.openxmlformats.org/officeDocument/2006/relationships/customXml" Target="../../customXml/item4.xml"/><Relationship Id="rId1" Type="http://schemas.openxmlformats.org/officeDocument/2006/relationships/customXml" Target="../../customXml/item81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20.png"/><Relationship Id="rId9" Type="http://schemas.openxmlformats.org/officeDocument/2006/relationships/image" Target="../media/image49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7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1.png"/><Relationship Id="rId4" Type="http://schemas.openxmlformats.org/officeDocument/2006/relationships/image" Target="../media/image37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customXml" Target="../../customXml/item106.xml"/><Relationship Id="rId1" Type="http://schemas.openxmlformats.org/officeDocument/2006/relationships/customXml" Target="../../customXml/item6.xml"/><Relationship Id="rId5" Type="http://schemas.openxmlformats.org/officeDocument/2006/relationships/image" Target="../media/image11.png"/><Relationship Id="rId4" Type="http://schemas.openxmlformats.org/officeDocument/2006/relationships/image" Target="../media/image20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tags" Target="../tags/tag15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5" Type="http://schemas.openxmlformats.org/officeDocument/2006/relationships/slideLayout" Target="../slideLayouts/slideLayout9.xml"/><Relationship Id="rId4" Type="http://schemas.openxmlformats.org/officeDocument/2006/relationships/tags" Target="../tags/tag16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tags" Target="../tags/tag17.xml"/><Relationship Id="rId2" Type="http://schemas.openxmlformats.org/officeDocument/2006/relationships/customXml" Target="../../customXml/item101.xml"/><Relationship Id="rId1" Type="http://schemas.openxmlformats.org/officeDocument/2006/relationships/customXml" Target="../../customXml/item31.xml"/><Relationship Id="rId5" Type="http://schemas.openxmlformats.org/officeDocument/2006/relationships/slideLayout" Target="../slideLayouts/slideLayout9.xml"/><Relationship Id="rId4" Type="http://schemas.openxmlformats.org/officeDocument/2006/relationships/tags" Target="../tags/tag18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9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0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10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0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44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customXml" Target="../../customXml/item109.xml"/><Relationship Id="rId1" Type="http://schemas.openxmlformats.org/officeDocument/2006/relationships/customXml" Target="../../customXml/item40.xml"/><Relationship Id="rId4" Type="http://schemas.openxmlformats.org/officeDocument/2006/relationships/image" Target="../media/image20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customXml" Target="../../customXml/item28.xml"/><Relationship Id="rId1" Type="http://schemas.openxmlformats.org/officeDocument/2006/relationships/customXml" Target="../../customXml/item8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4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1.xml"/><Relationship Id="rId4" Type="http://schemas.openxmlformats.org/officeDocument/2006/relationships/chart" Target="../charts/char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1.xml"/><Relationship Id="rId4" Type="http://schemas.openxmlformats.org/officeDocument/2006/relationships/chart" Target="../charts/chart8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customXml" Target="../../customXml/item53.xml"/><Relationship Id="rId1" Type="http://schemas.openxmlformats.org/officeDocument/2006/relationships/customXml" Target="../../customXml/item108.xml"/><Relationship Id="rId4" Type="http://schemas.openxmlformats.org/officeDocument/2006/relationships/image" Target="../media/image41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12.xml"/><Relationship Id="rId1" Type="http://schemas.openxmlformats.org/officeDocument/2006/relationships/customXml" Target="../../customXml/item89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20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32.xml"/><Relationship Id="rId1" Type="http://schemas.openxmlformats.org/officeDocument/2006/relationships/customXml" Target="../../customXml/item43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customXml" Target="../../customXml/item71.xml"/><Relationship Id="rId1" Type="http://schemas.openxmlformats.org/officeDocument/2006/relationships/customXml" Target="../../customXml/item64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60.png"/><Relationship Id="rId18" Type="http://schemas.openxmlformats.org/officeDocument/2006/relationships/image" Target="../media/image34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9.png"/><Relationship Id="rId12" Type="http://schemas.openxmlformats.org/officeDocument/2006/relationships/image" Target="../media/image59.png"/><Relationship Id="rId17" Type="http://schemas.openxmlformats.org/officeDocument/2006/relationships/image" Target="../media/image47.png"/><Relationship Id="rId2" Type="http://schemas.openxmlformats.org/officeDocument/2006/relationships/customXml" Target="../../customXml/item67.xml"/><Relationship Id="rId16" Type="http://schemas.openxmlformats.org/officeDocument/2006/relationships/image" Target="../media/image46.png"/><Relationship Id="rId1" Type="http://schemas.openxmlformats.org/officeDocument/2006/relationships/customXml" Target="../../customXml/item5.xml"/><Relationship Id="rId6" Type="http://schemas.openxmlformats.org/officeDocument/2006/relationships/image" Target="../media/image11.png"/><Relationship Id="rId11" Type="http://schemas.openxmlformats.org/officeDocument/2006/relationships/image" Target="../media/image30.png"/><Relationship Id="rId5" Type="http://schemas.openxmlformats.org/officeDocument/2006/relationships/image" Target="../media/image10.png"/><Relationship Id="rId15" Type="http://schemas.openxmlformats.org/officeDocument/2006/relationships/image" Target="../media/image12.png"/><Relationship Id="rId10" Type="http://schemas.openxmlformats.org/officeDocument/2006/relationships/image" Target="../media/image58.png"/><Relationship Id="rId19" Type="http://schemas.openxmlformats.org/officeDocument/2006/relationships/image" Target="../media/image48.png"/><Relationship Id="rId4" Type="http://schemas.openxmlformats.org/officeDocument/2006/relationships/image" Target="../media/image20.png"/><Relationship Id="rId9" Type="http://schemas.openxmlformats.org/officeDocument/2006/relationships/image" Target="../media/image57.png"/><Relationship Id="rId14" Type="http://schemas.openxmlformats.org/officeDocument/2006/relationships/image" Target="../media/image61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58.xml"/><Relationship Id="rId1" Type="http://schemas.openxmlformats.org/officeDocument/2006/relationships/customXml" Target="../../customXml/item78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20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103.xml"/><Relationship Id="rId1" Type="http://schemas.openxmlformats.org/officeDocument/2006/relationships/customXml" Target="../../customXml/item37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20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9.xml"/><Relationship Id="rId1" Type="http://schemas.openxmlformats.org/officeDocument/2006/relationships/customXml" Target="../../customXml/item59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20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74.xml"/><Relationship Id="rId1" Type="http://schemas.openxmlformats.org/officeDocument/2006/relationships/customXml" Target="../../customXml/item21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69.xml"/><Relationship Id="rId1" Type="http://schemas.openxmlformats.org/officeDocument/2006/relationships/customXml" Target="../../customXml/item73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104.xml"/><Relationship Id="rId1" Type="http://schemas.openxmlformats.org/officeDocument/2006/relationships/customXml" Target="../../customXml/item35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34.xml"/><Relationship Id="rId1" Type="http://schemas.openxmlformats.org/officeDocument/2006/relationships/customXml" Target="../../customXml/item48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62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33.xml"/><Relationship Id="rId1" Type="http://schemas.openxmlformats.org/officeDocument/2006/relationships/customXml" Target="../../customXml/item17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62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59.png"/><Relationship Id="rId3" Type="http://schemas.openxmlformats.org/officeDocument/2006/relationships/customXml" Target="../../customXml/item46.xml"/><Relationship Id="rId7" Type="http://schemas.openxmlformats.org/officeDocument/2006/relationships/image" Target="../media/image11.png"/><Relationship Id="rId12" Type="http://schemas.openxmlformats.org/officeDocument/2006/relationships/image" Target="../media/image30.png"/><Relationship Id="rId2" Type="http://schemas.openxmlformats.org/officeDocument/2006/relationships/customXml" Target="../../customXml/item96.xml"/><Relationship Id="rId16" Type="http://schemas.openxmlformats.org/officeDocument/2006/relationships/image" Target="../media/image12.png"/><Relationship Id="rId1" Type="http://schemas.openxmlformats.org/officeDocument/2006/relationships/customXml" Target="../../customXml/item55.xml"/><Relationship Id="rId6" Type="http://schemas.openxmlformats.org/officeDocument/2006/relationships/image" Target="../media/image10.png"/><Relationship Id="rId11" Type="http://schemas.openxmlformats.org/officeDocument/2006/relationships/image" Target="../media/image58.png"/><Relationship Id="rId5" Type="http://schemas.openxmlformats.org/officeDocument/2006/relationships/slideLayout" Target="../slideLayouts/slideLayout1.xml"/><Relationship Id="rId15" Type="http://schemas.openxmlformats.org/officeDocument/2006/relationships/image" Target="../media/image61.png"/><Relationship Id="rId10" Type="http://schemas.openxmlformats.org/officeDocument/2006/relationships/image" Target="../media/image57.png"/><Relationship Id="rId4" Type="http://schemas.openxmlformats.org/officeDocument/2006/relationships/customXml" Target="../../customXml/item51.xml"/><Relationship Id="rId9" Type="http://schemas.openxmlformats.org/officeDocument/2006/relationships/image" Target="../media/image42.png"/><Relationship Id="rId14" Type="http://schemas.openxmlformats.org/officeDocument/2006/relationships/image" Target="../media/image60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59.png"/><Relationship Id="rId3" Type="http://schemas.openxmlformats.org/officeDocument/2006/relationships/customXml" Target="../../customXml/item105.xml"/><Relationship Id="rId7" Type="http://schemas.openxmlformats.org/officeDocument/2006/relationships/image" Target="../media/image11.png"/><Relationship Id="rId12" Type="http://schemas.openxmlformats.org/officeDocument/2006/relationships/image" Target="../media/image30.png"/><Relationship Id="rId2" Type="http://schemas.openxmlformats.org/officeDocument/2006/relationships/customXml" Target="../../customXml/item68.xml"/><Relationship Id="rId16" Type="http://schemas.openxmlformats.org/officeDocument/2006/relationships/image" Target="../media/image12.png"/><Relationship Id="rId1" Type="http://schemas.openxmlformats.org/officeDocument/2006/relationships/customXml" Target="../../customXml/item66.xml"/><Relationship Id="rId6" Type="http://schemas.openxmlformats.org/officeDocument/2006/relationships/image" Target="../media/image10.png"/><Relationship Id="rId11" Type="http://schemas.openxmlformats.org/officeDocument/2006/relationships/image" Target="../media/image58.png"/><Relationship Id="rId5" Type="http://schemas.openxmlformats.org/officeDocument/2006/relationships/slideLayout" Target="../slideLayouts/slideLayout1.xml"/><Relationship Id="rId15" Type="http://schemas.openxmlformats.org/officeDocument/2006/relationships/image" Target="../media/image61.png"/><Relationship Id="rId10" Type="http://schemas.openxmlformats.org/officeDocument/2006/relationships/image" Target="../media/image57.png"/><Relationship Id="rId4" Type="http://schemas.openxmlformats.org/officeDocument/2006/relationships/customXml" Target="../../customXml/item61.xml"/><Relationship Id="rId9" Type="http://schemas.openxmlformats.org/officeDocument/2006/relationships/image" Target="../media/image42.png"/><Relationship Id="rId14" Type="http://schemas.openxmlformats.org/officeDocument/2006/relationships/image" Target="../media/image60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18" Type="http://schemas.openxmlformats.org/officeDocument/2006/relationships/image" Target="../media/image23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17" Type="http://schemas.openxmlformats.org/officeDocument/2006/relationships/image" Target="../media/image22.png"/><Relationship Id="rId2" Type="http://schemas.openxmlformats.org/officeDocument/2006/relationships/customXml" Target="../../customXml/item57.xml"/><Relationship Id="rId16" Type="http://schemas.openxmlformats.org/officeDocument/2006/relationships/image" Target="../media/image36.jpeg"/><Relationship Id="rId1" Type="http://schemas.openxmlformats.org/officeDocument/2006/relationships/customXml" Target="../../customXml/item19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20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39.xml"/><Relationship Id="rId1" Type="http://schemas.openxmlformats.org/officeDocument/2006/relationships/customXml" Target="../../customXml/item60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83.xml"/><Relationship Id="rId1" Type="http://schemas.openxmlformats.org/officeDocument/2006/relationships/customXml" Target="../../customXml/item94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56.xml"/><Relationship Id="rId1" Type="http://schemas.openxmlformats.org/officeDocument/2006/relationships/customXml" Target="../../customXml/item26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62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2.png"/><Relationship Id="rId12" Type="http://schemas.openxmlformats.org/officeDocument/2006/relationships/image" Target="../media/image60.png"/><Relationship Id="rId2" Type="http://schemas.openxmlformats.org/officeDocument/2006/relationships/customXml" Target="../../customXml/item44.xml"/><Relationship Id="rId1" Type="http://schemas.openxmlformats.org/officeDocument/2006/relationships/customXml" Target="../../customXml/item23.xml"/><Relationship Id="rId6" Type="http://schemas.openxmlformats.org/officeDocument/2006/relationships/image" Target="../media/image9.png"/><Relationship Id="rId11" Type="http://schemas.openxmlformats.org/officeDocument/2006/relationships/image" Target="../media/image59.png"/><Relationship Id="rId5" Type="http://schemas.openxmlformats.org/officeDocument/2006/relationships/image" Target="../media/image11.png"/><Relationship Id="rId15" Type="http://schemas.openxmlformats.org/officeDocument/2006/relationships/image" Target="../media/image62.png"/><Relationship Id="rId10" Type="http://schemas.openxmlformats.org/officeDocument/2006/relationships/image" Target="../media/image30.png"/><Relationship Id="rId4" Type="http://schemas.openxmlformats.org/officeDocument/2006/relationships/image" Target="../media/image10.png"/><Relationship Id="rId9" Type="http://schemas.openxmlformats.org/officeDocument/2006/relationships/image" Target="../media/image58.png"/><Relationship Id="rId14" Type="http://schemas.openxmlformats.org/officeDocument/2006/relationships/image" Target="../media/image12.png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3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customXml" Target="../../customXml/item76.xml"/><Relationship Id="rId1" Type="http://schemas.openxmlformats.org/officeDocument/2006/relationships/customXml" Target="../../customXml/item8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3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3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5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customXml" Target="../../customXml/item90.xml"/><Relationship Id="rId1" Type="http://schemas.openxmlformats.org/officeDocument/2006/relationships/customXml" Target="../../customXml/item91.xml"/><Relationship Id="rId4" Type="http://schemas.openxmlformats.org/officeDocument/2006/relationships/image" Target="../media/image65.pn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tags" Target="../tags/tag21.xml"/><Relationship Id="rId2" Type="http://schemas.openxmlformats.org/officeDocument/2006/relationships/tags" Target="../tags/tag20.xml"/><Relationship Id="rId1" Type="http://schemas.openxmlformats.org/officeDocument/2006/relationships/tags" Target="../tags/tag19.xml"/><Relationship Id="rId5" Type="http://schemas.openxmlformats.org/officeDocument/2006/relationships/image" Target="../media/image17.png"/><Relationship Id="rId4" Type="http://schemas.openxmlformats.org/officeDocument/2006/relationships/slideLayout" Target="../slideLayouts/slideLayout14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4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4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4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tags" Target="../tags/tag24.xml"/><Relationship Id="rId2" Type="http://schemas.openxmlformats.org/officeDocument/2006/relationships/tags" Target="../tags/tag23.xml"/><Relationship Id="rId1" Type="http://schemas.openxmlformats.org/officeDocument/2006/relationships/tags" Target="../tags/tag22.xml"/><Relationship Id="rId4" Type="http://schemas.openxmlformats.org/officeDocument/2006/relationships/slideLayout" Target="../slideLayouts/slideLayout1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tags" Target="../tags/tag27.xml"/><Relationship Id="rId2" Type="http://schemas.openxmlformats.org/officeDocument/2006/relationships/tags" Target="../tags/tag26.xml"/><Relationship Id="rId1" Type="http://schemas.openxmlformats.org/officeDocument/2006/relationships/tags" Target="../tags/tag25.xml"/><Relationship Id="rId6" Type="http://schemas.openxmlformats.org/officeDocument/2006/relationships/image" Target="../media/image7.png"/><Relationship Id="rId5" Type="http://schemas.openxmlformats.org/officeDocument/2006/relationships/image" Target="../media/image66.png"/><Relationship Id="rId4" Type="http://schemas.openxmlformats.org/officeDocument/2006/relationships/slideLayout" Target="../slideLayouts/slideLayout14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tags" Target="../tags/tag30.xml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66.png"/><Relationship Id="rId5" Type="http://schemas.openxmlformats.org/officeDocument/2006/relationships/image" Target="../media/image7.png"/><Relationship Id="rId4" Type="http://schemas.openxmlformats.org/officeDocument/2006/relationships/slideLayout" Target="../slideLayouts/slideLayout14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tags" Target="../tags/tag33.xml"/><Relationship Id="rId2" Type="http://schemas.openxmlformats.org/officeDocument/2006/relationships/tags" Target="../tags/tag32.xml"/><Relationship Id="rId1" Type="http://schemas.openxmlformats.org/officeDocument/2006/relationships/tags" Target="../tags/tag31.xml"/><Relationship Id="rId6" Type="http://schemas.openxmlformats.org/officeDocument/2006/relationships/image" Target="../media/image66.png"/><Relationship Id="rId5" Type="http://schemas.openxmlformats.org/officeDocument/2006/relationships/image" Target="../media/image7.png"/><Relationship Id="rId4" Type="http://schemas.openxmlformats.org/officeDocument/2006/relationships/slideLayout" Target="../slideLayouts/slideLayout1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tags" Target="../tags/tag36.xml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image" Target="../media/image66.png"/><Relationship Id="rId5" Type="http://schemas.openxmlformats.org/officeDocument/2006/relationships/image" Target="../media/image7.png"/><Relationship Id="rId4" Type="http://schemas.openxmlformats.org/officeDocument/2006/relationships/slideLayout" Target="../slideLayouts/slideLayout14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tags" Target="../tags/tag39.xml"/><Relationship Id="rId2" Type="http://schemas.openxmlformats.org/officeDocument/2006/relationships/tags" Target="../tags/tag38.xml"/><Relationship Id="rId1" Type="http://schemas.openxmlformats.org/officeDocument/2006/relationships/tags" Target="../tags/tag37.xml"/><Relationship Id="rId5" Type="http://schemas.openxmlformats.org/officeDocument/2006/relationships/image" Target="../media/image17.png"/><Relationship Id="rId4" Type="http://schemas.openxmlformats.org/officeDocument/2006/relationships/slideLayout" Target="../slideLayouts/slideLayout14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tags" Target="../tags/tag41.xml"/><Relationship Id="rId1" Type="http://schemas.openxmlformats.org/officeDocument/2006/relationships/tags" Target="../tags/tag40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customXml" Target="../../customXml/item77.xml"/><Relationship Id="rId1" Type="http://schemas.openxmlformats.org/officeDocument/2006/relationships/customXml" Target="../../customXml/item45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customXml" Target="../../customXml/item25.xml"/><Relationship Id="rId1" Type="http://schemas.openxmlformats.org/officeDocument/2006/relationships/customXml" Target="../../customXml/item97.xml"/><Relationship Id="rId4" Type="http://schemas.openxmlformats.org/officeDocument/2006/relationships/image" Target="../media/image34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33.png"/><Relationship Id="rId2" Type="http://schemas.openxmlformats.org/officeDocument/2006/relationships/customXml" Target="../../customXml/item75.xml"/><Relationship Id="rId1" Type="http://schemas.openxmlformats.org/officeDocument/2006/relationships/customXml" Target="../../customXml/item29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4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customXml" Target="../../customXml/item110.xml"/><Relationship Id="rId1" Type="http://schemas.openxmlformats.org/officeDocument/2006/relationships/customXml" Target="../../customXml/item100.xml"/><Relationship Id="rId4" Type="http://schemas.openxmlformats.org/officeDocument/2006/relationships/image" Target="../media/image34.png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4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customXml" Target="../../customXml/item79.xml"/><Relationship Id="rId1" Type="http://schemas.openxmlformats.org/officeDocument/2006/relationships/customXml" Target="../../customXml/item10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직선 연결선 10"/>
          <p:cNvCxnSpPr/>
          <p:nvPr/>
        </p:nvCxnSpPr>
        <p:spPr>
          <a:xfrm>
            <a:off x="344491" y="3212976"/>
            <a:ext cx="11999176" cy="0"/>
          </a:xfrm>
          <a:prstGeom prst="line">
            <a:avLst/>
          </a:prstGeom>
          <a:ln w="19050">
            <a:solidFill>
              <a:srgbClr val="434B5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4"/>
          <p:cNvSpPr>
            <a:spLocks noChangeArrowheads="1"/>
          </p:cNvSpPr>
          <p:nvPr/>
        </p:nvSpPr>
        <p:spPr bwMode="auto">
          <a:xfrm>
            <a:off x="344490" y="1988840"/>
            <a:ext cx="11423440" cy="6250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rIns="18000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0" hangingPunct="1">
              <a:lnSpc>
                <a:spcPct val="120000"/>
              </a:lnSpc>
            </a:pPr>
            <a:r>
              <a:rPr lang="en-US" altLang="ko-KR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IoT Solution MMI : </a:t>
            </a:r>
            <a:r>
              <a:rPr lang="ko-KR" altLang="en-US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관제 시스템</a:t>
            </a:r>
            <a:endParaRPr lang="en-US" altLang="ko-KR" sz="32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itchFamily="34" charset="0"/>
            </a:endParaRPr>
          </a:p>
        </p:txBody>
      </p:sp>
      <p:sp>
        <p:nvSpPr>
          <p:cNvPr id="13" name="Rectangle 14"/>
          <p:cNvSpPr>
            <a:spLocks noChangeArrowheads="1"/>
          </p:cNvSpPr>
          <p:nvPr/>
        </p:nvSpPr>
        <p:spPr bwMode="auto">
          <a:xfrm>
            <a:off x="344490" y="2604865"/>
            <a:ext cx="11423440" cy="508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rIns="18000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0" hangingPunct="1">
              <a:lnSpc>
                <a:spcPct val="120000"/>
              </a:lnSpc>
            </a:pP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Smart Safety Solution</a:t>
            </a:r>
          </a:p>
        </p:txBody>
      </p:sp>
      <p:sp>
        <p:nvSpPr>
          <p:cNvPr id="14" name="Rectangle 14"/>
          <p:cNvSpPr>
            <a:spLocks noChangeArrowheads="1"/>
          </p:cNvSpPr>
          <p:nvPr/>
        </p:nvSpPr>
        <p:spPr bwMode="auto">
          <a:xfrm>
            <a:off x="344490" y="3415632"/>
            <a:ext cx="8896983" cy="275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rIns="18000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0" hangingPunct="1">
              <a:lnSpc>
                <a:spcPct val="120000"/>
              </a:lnSpc>
            </a:pPr>
            <a:r>
              <a:rPr lang="en-US" altLang="ko-KR" sz="11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itchFamily="34" charset="0"/>
              </a:rPr>
              <a:t>0000.00.00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6"/>
          <p:cNvSpPr>
            <a:spLocks noChangeArrowheads="1"/>
          </p:cNvSpPr>
          <p:nvPr/>
        </p:nvSpPr>
        <p:spPr bwMode="auto">
          <a:xfrm>
            <a:off x="496144" y="336104"/>
            <a:ext cx="2259013" cy="46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06675" tIns="53338" rIns="106675" bIns="53338" anchor="ctr"/>
          <a:lstStyle/>
          <a:p>
            <a:pPr defTabSz="1065213"/>
            <a:r>
              <a:rPr kumimoji="0" lang="ko-KR" altLang="en-US" sz="1600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개정 이력 </a:t>
            </a:r>
            <a:r>
              <a:rPr kumimoji="0" lang="en-US" altLang="ko-KR" sz="1600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(History)</a:t>
            </a:r>
            <a:endParaRPr kumimoji="0" lang="ko-KR" altLang="en-US" sz="1600" u="sng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" name="Group 2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659620"/>
              </p:ext>
            </p:extLst>
          </p:nvPr>
        </p:nvGraphicFramePr>
        <p:xfrm>
          <a:off x="496144" y="1040954"/>
          <a:ext cx="11881319" cy="226638"/>
        </p:xfrm>
        <a:graphic>
          <a:graphicData uri="http://schemas.openxmlformats.org/drawingml/2006/table">
            <a:tbl>
              <a:tblPr/>
              <a:tblGrid>
                <a:gridCol w="757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57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71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80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42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70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66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Version</a:t>
                      </a:r>
                    </a:p>
                  </a:txBody>
                  <a:tcPr marL="58154" marR="58154" marT="39008" marB="39008" anchor="ctr" horzOverflow="overflow">
                    <a:lnL cap="flat">
                      <a:noFill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Amendment / Addition Detail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Write Data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Author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Agreement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Distribution date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Group 20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880547"/>
              </p:ext>
            </p:extLst>
          </p:nvPr>
        </p:nvGraphicFramePr>
        <p:xfrm>
          <a:off x="496144" y="1285429"/>
          <a:ext cx="11881319" cy="7020635"/>
        </p:xfrm>
        <a:graphic>
          <a:graphicData uri="http://schemas.openxmlformats.org/drawingml/2006/table">
            <a:tbl>
              <a:tblPr/>
              <a:tblGrid>
                <a:gridCol w="757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57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71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80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42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70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1.03~1.06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history-001 (</a:t>
                      </a:r>
                      <a:r>
                        <a:rPr kumimoji="1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가스센서 위치변경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디바이스 설치 위치에 대한 내용 변경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관제는 필드매니저와 다르게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'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설치 위치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'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만 변경 가능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history-002 (</a:t>
                      </a:r>
                      <a:r>
                        <a:rPr kumimoji="1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안전 모니터링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r>
                        <a:rPr kumimoji="1" lang="ko-KR" altLang="en-US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가스센서</a:t>
                      </a: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가스센서 예열 남은시간 표기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history-003 / history-004 / history-005 / history-006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좌측 표기방식 변경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선택됨을 표기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비상선포 된 빌딩만 보여짐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3D Map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보기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현장 상황조치 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history-007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작업구역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&amp;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작업자의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STEL/TWA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위험알림 추가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history-008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푸시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&amp; AP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알림을 컨트롤 할 것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history-009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일일 안전현황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MMI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배포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            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 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일일 발생되는 안전상황에 대한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KPI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화면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history-010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안전점검 현황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MMI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배포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history-011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서버에서 가스센서의 버전을 변경할 수 없기 때문에 삭제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history-012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en-US" altLang="ko-KR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Ver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변경버튼 삭제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(2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번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history-013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안전관리자 여부 추가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1.07~1.08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history-014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현장선택 팝업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-&gt;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 후 팝업으로 변경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history-015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비상선포 전에는 좌측 메뉴영역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 Map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영역에서 터치하여 상세내용을 보는 액션 없음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비상선포 전 상태에서는 터치되는 내용은 없음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.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비상현황이 없기 때문</a:t>
                      </a:r>
                      <a:b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</a:b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비상선포 후 상태에서는 비상선포 된 빌딩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층만 보여지게 됨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1.09~1.10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History-016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스마트 태그 발급 시 출입구역 지정하는 부분 삭제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1.11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History-017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소속현장 및 관리자 권한 표시 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[GUI </a:t>
                      </a:r>
                      <a:r>
                        <a:rPr kumimoji="1" lang="ko-KR" altLang="en-US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수정 필요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1.12-1.20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History-018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경고 해제사유 입력필드 추가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이미지는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개만 등록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History-019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경고 해제사유 입력내용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History-020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조치 전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후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--&gt;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경고 중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경고 해제 두가지로 변경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History-021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선택 후 현장상황조치 기능 생성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테이블 선택영역 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History-022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비상대피 안내방송 삭제 및 화면내용 수정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History-023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관계자 투입 기능 정의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History-024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아이콘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History-025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이벤트 조치완료 버튼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History-026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이벤트 조치내용 팝업 추가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(popup 050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History-027 : STEL/ TWA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에 대한 노출방식 및 문구 변경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History-028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이벤트 조치 프로세스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History-029 : [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위치태그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배터리 부족 시 표기방식 변경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리스트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,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정보페이지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History-030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온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습도를 통한 화재위험 판단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History-031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로그인 프로세스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History-032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출입등록 프로세스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History-033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가스센서 규칙적용 프로세스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History-034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경고구역 등록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해제 프로세스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History-035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관리자를 안전관리자로 설정하는 부분 삭제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(popup-049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삭제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History-036 : worker</a:t>
                      </a: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를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안전관리자로 설정하는 부분 추가</a:t>
                      </a:r>
                    </a:p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History-037 :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경보에 대한 도움말 팝업 추가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(popup 051 </a:t>
                      </a: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추가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)</a:t>
                      </a: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1.21~1.22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History-038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미대피자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대피자는 전체 지역의 정보와 각 층의 미대피자로 구분함 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1.23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History-039 :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지도보기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MMI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1.24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History-040 : Map builder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Project ID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와 관제 현장 매칭기능 추가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1.25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History-041 :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출입문 진입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진출에 대한 내용 수정 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(UI 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개발단에서 정리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: 21</a:t>
                      </a:r>
                      <a:r>
                        <a:rPr kumimoji="1" lang="ko-KR" altLang="en-US" sz="8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01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1.26</a:t>
                      </a: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</a:pP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History-042 :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소속 현장을 선택한 다음에 소속회사를 선택해야 함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관리자</a:t>
                      </a:r>
                      <a:r>
                        <a:rPr kumimoji="1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: 130 </a:t>
                      </a:r>
                      <a:r>
                        <a:rPr kumimoji="1" lang="ko-KR" altLang="en-US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</a:t>
                      </a:r>
                      <a:endParaRPr kumimoji="1" lang="en-US" altLang="ko-KR" sz="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58154" marR="58154" marT="39008" marB="39008" anchor="ctr" horzOverflow="overflow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/>
          <p:cNvSpPr txBox="1"/>
          <p:nvPr/>
        </p:nvSpPr>
        <p:spPr>
          <a:xfrm>
            <a:off x="352128" y="696144"/>
            <a:ext cx="16661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800" b="1" dirty="0">
                <a:latin typeface="+mn-ea"/>
              </a:rPr>
              <a:t>Popup </a:t>
            </a:r>
            <a:r>
              <a:rPr lang="ko-KR" altLang="en-US" sz="1800" b="1">
                <a:latin typeface="+mn-ea"/>
              </a:rPr>
              <a:t>조견표</a:t>
            </a:r>
            <a:endParaRPr lang="ko-KR" altLang="en-US" sz="1800" b="1" dirty="0" err="1">
              <a:latin typeface="+mn-ea"/>
            </a:endParaRPr>
          </a:p>
        </p:txBody>
      </p:sp>
      <p:graphicFrame>
        <p:nvGraphicFramePr>
          <p:cNvPr id="19" name="표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775346"/>
              </p:ext>
            </p:extLst>
          </p:nvPr>
        </p:nvGraphicFramePr>
        <p:xfrm>
          <a:off x="352128" y="1344216"/>
          <a:ext cx="4014995" cy="7716094"/>
        </p:xfrm>
        <a:graphic>
          <a:graphicData uri="http://schemas.openxmlformats.org/drawingml/2006/table">
            <a:tbl>
              <a:tblPr/>
              <a:tblGrid>
                <a:gridCol w="7024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80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89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55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명칭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발생상황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내용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팝업종류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000-1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 현장 선택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Popup 000-2</a:t>
                      </a:r>
                      <a:endParaRPr lang="ko-KR" altLang="en-US" sz="800" b="0" i="0" u="none" strike="sngStrike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상시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dirty="0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티커</a:t>
                      </a:r>
                      <a:r>
                        <a:rPr lang="ko-KR" altLang="en-US" sz="800" b="0" i="0" u="none" strike="sng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리스트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출입자 개별 등록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출입자 일괄 등록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Popup 003</a:t>
                      </a:r>
                      <a:endParaRPr lang="ko-KR" altLang="en-US" sz="800" b="0" i="0" u="none" strike="sng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출입 지역 선택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구역 선택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작업자 진입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진출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구역 입실 정보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작업자 상세정보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가스센서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009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 작업현장보기 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경고지역 등록현황 전체보기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경고지역 상세내용 보기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현장상황조치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종 팝업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침범발생 이벤트 리스트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조치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긴급호출 이벤트 리스트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조치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밴드 착용자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안전점검일지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밴드 착용자 위험상황 발생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graphicFrame>
        <p:nvGraphicFramePr>
          <p:cNvPr id="20" name="표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9498656"/>
              </p:ext>
            </p:extLst>
          </p:nvPr>
        </p:nvGraphicFramePr>
        <p:xfrm>
          <a:off x="4439132" y="1344216"/>
          <a:ext cx="4014995" cy="7716094"/>
        </p:xfrm>
        <a:graphic>
          <a:graphicData uri="http://schemas.openxmlformats.org/drawingml/2006/table">
            <a:tbl>
              <a:tblPr/>
              <a:tblGrid>
                <a:gridCol w="7024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80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89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55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명칭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발생상황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내용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팝업종류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비상선포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비상지역 설정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비상선포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비상상황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입실자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비상선포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지난 대피현황 보기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통제구역 </a:t>
                      </a:r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침범자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가스위험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심박수 위험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스마트 태그 긴급 호출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안전밴드 긴급 호출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작업자 정지 발생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화재위험 발생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발생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029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가스센서 배터리 부족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안전밴드 배터리 부족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스마트태그 배터리 부족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AP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</a:rPr>
                        <a:t>상세정보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CCTV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영상 크게 보기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Popup 034</a:t>
                      </a:r>
                      <a:endParaRPr lang="ko-KR" altLang="en-US" sz="800" b="0" i="0" u="none" strike="sng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지난 영상보기 리스트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폭염주의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강품주의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graphicFrame>
        <p:nvGraphicFramePr>
          <p:cNvPr id="21" name="표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9795340"/>
              </p:ext>
            </p:extLst>
          </p:nvPr>
        </p:nvGraphicFramePr>
        <p:xfrm>
          <a:off x="8543588" y="1344216"/>
          <a:ext cx="4014995" cy="7716094"/>
        </p:xfrm>
        <a:graphic>
          <a:graphicData uri="http://schemas.openxmlformats.org/drawingml/2006/table">
            <a:tbl>
              <a:tblPr/>
              <a:tblGrid>
                <a:gridCol w="7024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80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89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55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명칭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발생상황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 내용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팝업종류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지난 안전점검 일지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소속 현장 선택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039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 권한 선택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관리자 일괄 등록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가스 경보 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Ver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Popup 042</a:t>
                      </a:r>
                      <a:endParaRPr lang="ko-KR" altLang="en-US" sz="800" b="0" i="0" u="none" strike="sng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경보 </a:t>
                      </a:r>
                      <a:r>
                        <a:rPr lang="en-US" altLang="ko-KR" sz="800" b="0" i="0" u="none" strike="sngStrike" kern="1200" dirty="0" err="1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Ver</a:t>
                      </a:r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b="0" i="0" u="none" strike="sng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리스트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반납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작업구역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STEL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 알림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작업구역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TWA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 알림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작업자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STEL</a:t>
                      </a:r>
                      <a:r>
                        <a:rPr lang="en-US" altLang="ko-KR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 알림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작업자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TWA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 알림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048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지난 안전점검 현황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사이드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Popup 049</a:t>
                      </a:r>
                      <a:endParaRPr lang="ko-KR" altLang="en-US" sz="800" b="0" i="0" u="none" strike="sng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태그 인식</a:t>
                      </a:r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b="0" i="0" u="none" strike="sngStrike" kern="120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관리자 연결</a:t>
                      </a:r>
                      <a:r>
                        <a:rPr lang="en-US" altLang="ko-KR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b="0" i="0" u="none" strike="sngStrike" kern="1200" dirty="0"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sngStrike" kern="1200" dirty="0"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040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050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조치내용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Popup 051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경보에 대한 도움말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팝업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480889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로그인</a:t>
            </a:r>
          </a:p>
        </p:txBody>
      </p:sp>
    </p:spTree>
    <p:extLst>
      <p:ext uri="{BB962C8B-B14F-4D97-AF65-F5344CB8AC3E}">
        <p14:creationId xmlns:p14="http://schemas.microsoft.com/office/powerpoint/2010/main" val="14370624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904B73DB-AE5C-6E85-7E03-2DFBA47DA1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91668" y="2292077"/>
            <a:ext cx="2159000" cy="2997200"/>
          </a:xfrm>
          <a:prstGeom prst="rect">
            <a:avLst/>
          </a:prstGeom>
        </p:spPr>
      </p:pic>
      <p:sp>
        <p:nvSpPr>
          <p:cNvPr id="85" name="직사각형 84"/>
          <p:cNvSpPr/>
          <p:nvPr/>
        </p:nvSpPr>
        <p:spPr>
          <a:xfrm>
            <a:off x="4995930" y="4196080"/>
            <a:ext cx="1280410" cy="388496"/>
          </a:xfrm>
          <a:prstGeom prst="rect">
            <a:avLst/>
          </a:prstGeom>
          <a:solidFill>
            <a:schemeClr val="bg1">
              <a:alpha val="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208112" y="1201349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005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99228" y="1202105"/>
            <a:ext cx="10326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/>
              <a:t>로그인</a:t>
            </a:r>
            <a:r>
              <a:rPr lang="en-US" altLang="ko-KR" sz="900" dirty="0"/>
              <a:t> </a:t>
            </a:r>
            <a:r>
              <a:rPr lang="ko-KR" altLang="en-US" sz="900"/>
              <a:t>프로세스</a:t>
            </a:r>
            <a:endParaRPr lang="ko-KR" altLang="en-US" sz="900" dirty="0"/>
          </a:p>
        </p:txBody>
      </p:sp>
      <p:sp>
        <p:nvSpPr>
          <p:cNvPr id="21" name="다이아몬드 20"/>
          <p:cNvSpPr/>
          <p:nvPr/>
        </p:nvSpPr>
        <p:spPr>
          <a:xfrm>
            <a:off x="7912968" y="4841362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계정 판단</a:t>
            </a:r>
          </a:p>
        </p:txBody>
      </p:sp>
      <p:sp>
        <p:nvSpPr>
          <p:cNvPr id="23" name="모서리가 둥근 직사각형 22"/>
          <p:cNvSpPr/>
          <p:nvPr/>
        </p:nvSpPr>
        <p:spPr>
          <a:xfrm>
            <a:off x="7822601" y="732088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소속 현장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모서리가 둥근 직사각형 23"/>
          <p:cNvSpPr/>
          <p:nvPr/>
        </p:nvSpPr>
        <p:spPr>
          <a:xfrm>
            <a:off x="9888362" y="732088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소속현장 선택</a:t>
            </a:r>
          </a:p>
        </p:txBody>
      </p:sp>
      <p:sp>
        <p:nvSpPr>
          <p:cNvPr id="25" name="모서리가 둥근 직사각형 24"/>
          <p:cNvSpPr/>
          <p:nvPr/>
        </p:nvSpPr>
        <p:spPr>
          <a:xfrm>
            <a:off x="10896474" y="5736704"/>
            <a:ext cx="1404869" cy="524997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선택된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현장으로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로그인 완료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7" name="직선 화살표 연결선 26"/>
          <p:cNvCxnSpPr>
            <a:stCxn id="23" idx="3"/>
            <a:endCxn id="24" idx="1"/>
          </p:cNvCxnSpPr>
          <p:nvPr/>
        </p:nvCxnSpPr>
        <p:spPr>
          <a:xfrm>
            <a:off x="9227470" y="7464896"/>
            <a:ext cx="66089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꺾인 연결선 28"/>
          <p:cNvCxnSpPr>
            <a:stCxn id="24" idx="3"/>
            <a:endCxn id="25" idx="2"/>
          </p:cNvCxnSpPr>
          <p:nvPr/>
        </p:nvCxnSpPr>
        <p:spPr>
          <a:xfrm flipV="1">
            <a:off x="11293231" y="6261701"/>
            <a:ext cx="305678" cy="1203195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5932035" y="732088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소속현장 없음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alert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" name="직선 화살표 연결선 32"/>
          <p:cNvCxnSpPr>
            <a:stCxn id="23" idx="1"/>
            <a:endCxn id="31" idx="3"/>
          </p:cNvCxnSpPr>
          <p:nvPr/>
        </p:nvCxnSpPr>
        <p:spPr>
          <a:xfrm flipH="1">
            <a:off x="7336904" y="7464896"/>
            <a:ext cx="48569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꺾인 연결선 34"/>
          <p:cNvCxnSpPr>
            <a:cxnSpLocks/>
            <a:stCxn id="31" idx="1"/>
          </p:cNvCxnSpPr>
          <p:nvPr/>
        </p:nvCxnSpPr>
        <p:spPr>
          <a:xfrm rot="10800000">
            <a:off x="5640359" y="4996574"/>
            <a:ext cx="291676" cy="2468322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36"/>
          <p:cNvCxnSpPr>
            <a:stCxn id="85" idx="3"/>
            <a:endCxn id="21" idx="0"/>
          </p:cNvCxnSpPr>
          <p:nvPr/>
        </p:nvCxnSpPr>
        <p:spPr>
          <a:xfrm>
            <a:off x="6276340" y="4390328"/>
            <a:ext cx="2248696" cy="45103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화살표 연결선 42"/>
          <p:cNvCxnSpPr>
            <a:stCxn id="49" idx="2"/>
            <a:endCxn id="23" idx="0"/>
          </p:cNvCxnSpPr>
          <p:nvPr/>
        </p:nvCxnSpPr>
        <p:spPr>
          <a:xfrm>
            <a:off x="8525036" y="6944977"/>
            <a:ext cx="0" cy="37590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모서리가 둥근 직사각형 48"/>
          <p:cNvSpPr/>
          <p:nvPr/>
        </p:nvSpPr>
        <p:spPr>
          <a:xfrm>
            <a:off x="7822601" y="6656945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사용 권한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1" name="직선 화살표 연결선 50"/>
          <p:cNvCxnSpPr>
            <a:stCxn id="65" idx="2"/>
            <a:endCxn id="49" idx="0"/>
          </p:cNvCxnSpPr>
          <p:nvPr/>
        </p:nvCxnSpPr>
        <p:spPr>
          <a:xfrm>
            <a:off x="8525036" y="6261701"/>
            <a:ext cx="0" cy="3952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5932035" y="6656945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권한 없음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alert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8" name="직선 화살표 연결선 57"/>
          <p:cNvCxnSpPr>
            <a:stCxn id="49" idx="1"/>
            <a:endCxn id="56" idx="3"/>
          </p:cNvCxnSpPr>
          <p:nvPr/>
        </p:nvCxnSpPr>
        <p:spPr>
          <a:xfrm flipH="1">
            <a:off x="7336904" y="6800961"/>
            <a:ext cx="48569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꺾인 연결선 59"/>
          <p:cNvCxnSpPr>
            <a:cxnSpLocks/>
            <a:stCxn id="56" idx="1"/>
          </p:cNvCxnSpPr>
          <p:nvPr/>
        </p:nvCxnSpPr>
        <p:spPr>
          <a:xfrm rot="10800000">
            <a:off x="5640359" y="4996575"/>
            <a:ext cx="291676" cy="1804387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모서리가 둥근 직사각형 64"/>
          <p:cNvSpPr/>
          <p:nvPr/>
        </p:nvSpPr>
        <p:spPr>
          <a:xfrm>
            <a:off x="7822601" y="5973669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사용 승인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5932034" y="5973669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승인대기 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중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alert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69" name="직선 화살표 연결선 68"/>
          <p:cNvCxnSpPr>
            <a:stCxn id="21" idx="2"/>
            <a:endCxn id="65" idx="0"/>
          </p:cNvCxnSpPr>
          <p:nvPr/>
        </p:nvCxnSpPr>
        <p:spPr>
          <a:xfrm>
            <a:off x="8525036" y="5555925"/>
            <a:ext cx="0" cy="4177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/>
          <p:cNvCxnSpPr>
            <a:stCxn id="65" idx="1"/>
            <a:endCxn id="68" idx="3"/>
          </p:cNvCxnSpPr>
          <p:nvPr/>
        </p:nvCxnSpPr>
        <p:spPr>
          <a:xfrm flipH="1">
            <a:off x="7336903" y="6117685"/>
            <a:ext cx="48569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꺾인 연결선 74"/>
          <p:cNvCxnSpPr>
            <a:cxnSpLocks/>
            <a:stCxn id="68" idx="1"/>
          </p:cNvCxnSpPr>
          <p:nvPr/>
        </p:nvCxnSpPr>
        <p:spPr>
          <a:xfrm rot="10800000">
            <a:off x="5640360" y="4996575"/>
            <a:ext cx="291675" cy="1121111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/>
          <p:cNvSpPr txBox="1"/>
          <p:nvPr/>
        </p:nvSpPr>
        <p:spPr>
          <a:xfrm>
            <a:off x="7491101" y="5873190"/>
            <a:ext cx="34176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No</a:t>
            </a:r>
            <a:endParaRPr lang="ko-KR" altLang="en-US" sz="900" dirty="0"/>
          </a:p>
        </p:txBody>
      </p:sp>
      <p:sp>
        <p:nvSpPr>
          <p:cNvPr id="78" name="TextBox 77"/>
          <p:cNvSpPr txBox="1"/>
          <p:nvPr/>
        </p:nvSpPr>
        <p:spPr>
          <a:xfrm>
            <a:off x="7491101" y="6569631"/>
            <a:ext cx="34176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No</a:t>
            </a:r>
            <a:endParaRPr lang="ko-KR" altLang="en-US" sz="900" dirty="0"/>
          </a:p>
        </p:txBody>
      </p:sp>
      <p:sp>
        <p:nvSpPr>
          <p:cNvPr id="79" name="TextBox 78"/>
          <p:cNvSpPr txBox="1"/>
          <p:nvPr/>
        </p:nvSpPr>
        <p:spPr>
          <a:xfrm>
            <a:off x="7491101" y="7238155"/>
            <a:ext cx="34176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No</a:t>
            </a:r>
            <a:endParaRPr lang="ko-KR" altLang="en-US" sz="900" dirty="0"/>
          </a:p>
        </p:txBody>
      </p:sp>
      <p:sp>
        <p:nvSpPr>
          <p:cNvPr id="80" name="TextBox 79"/>
          <p:cNvSpPr txBox="1"/>
          <p:nvPr/>
        </p:nvSpPr>
        <p:spPr>
          <a:xfrm>
            <a:off x="8534493" y="6300250"/>
            <a:ext cx="36260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Yes</a:t>
            </a:r>
            <a:endParaRPr lang="ko-KR" altLang="en-US" sz="900" dirty="0"/>
          </a:p>
        </p:txBody>
      </p:sp>
      <p:sp>
        <p:nvSpPr>
          <p:cNvPr id="81" name="TextBox 80"/>
          <p:cNvSpPr txBox="1"/>
          <p:nvPr/>
        </p:nvSpPr>
        <p:spPr>
          <a:xfrm>
            <a:off x="8534493" y="6943940"/>
            <a:ext cx="36260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Yes</a:t>
            </a:r>
            <a:endParaRPr lang="ko-KR" altLang="en-US" sz="900" dirty="0"/>
          </a:p>
        </p:txBody>
      </p:sp>
      <p:sp>
        <p:nvSpPr>
          <p:cNvPr id="82" name="TextBox 81"/>
          <p:cNvSpPr txBox="1"/>
          <p:nvPr/>
        </p:nvSpPr>
        <p:spPr>
          <a:xfrm>
            <a:off x="9237730" y="7228953"/>
            <a:ext cx="36260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900" dirty="0"/>
              <a:t>Yes</a:t>
            </a:r>
            <a:endParaRPr lang="ko-KR" altLang="en-US" sz="900" dirty="0"/>
          </a:p>
        </p:txBody>
      </p:sp>
      <p:sp>
        <p:nvSpPr>
          <p:cNvPr id="91" name="직사각형 90"/>
          <p:cNvSpPr/>
          <p:nvPr/>
        </p:nvSpPr>
        <p:spPr>
          <a:xfrm>
            <a:off x="4995930" y="4630420"/>
            <a:ext cx="1280410" cy="136880"/>
          </a:xfrm>
          <a:prstGeom prst="rect">
            <a:avLst/>
          </a:prstGeom>
          <a:solidFill>
            <a:schemeClr val="bg1">
              <a:alpha val="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2610735" y="4554844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계정생성 페이지</a:t>
            </a:r>
          </a:p>
        </p:txBody>
      </p:sp>
      <p:sp>
        <p:nvSpPr>
          <p:cNvPr id="96" name="모서리가 둥근 직사각형 95"/>
          <p:cNvSpPr/>
          <p:nvPr/>
        </p:nvSpPr>
        <p:spPr>
          <a:xfrm>
            <a:off x="712168" y="4554844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생성요청</a:t>
            </a:r>
          </a:p>
        </p:txBody>
      </p:sp>
      <p:cxnSp>
        <p:nvCxnSpPr>
          <p:cNvPr id="97" name="꺾인 연결선 96"/>
          <p:cNvCxnSpPr>
            <a:stCxn id="91" idx="1"/>
            <a:endCxn id="95" idx="3"/>
          </p:cNvCxnSpPr>
          <p:nvPr/>
        </p:nvCxnSpPr>
        <p:spPr>
          <a:xfrm rot="10800000">
            <a:off x="4015604" y="4698860"/>
            <a:ext cx="980326" cy="12700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화살표 연결선 99"/>
          <p:cNvCxnSpPr>
            <a:stCxn id="95" idx="1"/>
            <a:endCxn id="96" idx="3"/>
          </p:cNvCxnSpPr>
          <p:nvPr/>
        </p:nvCxnSpPr>
        <p:spPr>
          <a:xfrm flipH="1">
            <a:off x="2117037" y="4698860"/>
            <a:ext cx="49369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꺾인 연결선 102"/>
          <p:cNvCxnSpPr>
            <a:cxnSpLocks/>
            <a:stCxn id="96" idx="0"/>
          </p:cNvCxnSpPr>
          <p:nvPr/>
        </p:nvCxnSpPr>
        <p:spPr>
          <a:xfrm rot="5400000" flipH="1" flipV="1">
            <a:off x="2459036" y="2449999"/>
            <a:ext cx="1060413" cy="3149279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462108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직사각형 28"/>
          <p:cNvSpPr/>
          <p:nvPr/>
        </p:nvSpPr>
        <p:spPr>
          <a:xfrm>
            <a:off x="3520480" y="2504205"/>
            <a:ext cx="3528392" cy="73518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rgbClr val="393F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bg1"/>
                </a:solidFill>
                <a:latin typeface="+mn-ea"/>
              </a:rPr>
              <a:t>관제 시스템</a:t>
            </a:r>
          </a:p>
        </p:txBody>
      </p:sp>
      <p:sp>
        <p:nvSpPr>
          <p:cNvPr id="30" name="직사각형 29"/>
          <p:cNvSpPr/>
          <p:nvPr/>
        </p:nvSpPr>
        <p:spPr>
          <a:xfrm>
            <a:off x="3520480" y="3239388"/>
            <a:ext cx="3528392" cy="4233369"/>
          </a:xfrm>
          <a:prstGeom prst="rect">
            <a:avLst/>
          </a:prstGeom>
          <a:solidFill>
            <a:schemeClr val="bg1"/>
          </a:solidFill>
          <a:ln w="3175">
            <a:solidFill>
              <a:srgbClr val="393F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4204556" y="4046982"/>
            <a:ext cx="2160240" cy="432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4204556" y="3718828"/>
            <a:ext cx="90601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>
                <a:latin typeface="+mn-ea"/>
              </a:rPr>
              <a:t>아이디</a:t>
            </a:r>
            <a:r>
              <a:rPr lang="en-US" altLang="ko-KR" sz="1050" dirty="0">
                <a:latin typeface="+mn-ea"/>
              </a:rPr>
              <a:t> </a:t>
            </a:r>
            <a:r>
              <a:rPr lang="ko-KR" altLang="en-US" sz="1050">
                <a:latin typeface="+mn-ea"/>
              </a:rPr>
              <a:t>입력</a:t>
            </a:r>
          </a:p>
        </p:txBody>
      </p:sp>
      <p:sp>
        <p:nvSpPr>
          <p:cNvPr id="33" name="직사각형 32"/>
          <p:cNvSpPr/>
          <p:nvPr/>
        </p:nvSpPr>
        <p:spPr>
          <a:xfrm>
            <a:off x="4204556" y="4952478"/>
            <a:ext cx="2160240" cy="432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**********</a:t>
            </a:r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204556" y="4624324"/>
            <a:ext cx="10406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>
                <a:latin typeface="+mn-ea"/>
              </a:rPr>
              <a:t>비밀번호 입력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204556" y="5505534"/>
            <a:ext cx="135806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>
                <a:latin typeface="+mn-ea"/>
              </a:rPr>
              <a:t>□ 아이디 기억하기</a:t>
            </a:r>
          </a:p>
        </p:txBody>
      </p:sp>
      <p:sp>
        <p:nvSpPr>
          <p:cNvPr id="36" name="직사각형 35"/>
          <p:cNvSpPr/>
          <p:nvPr/>
        </p:nvSpPr>
        <p:spPr>
          <a:xfrm>
            <a:off x="4204556" y="6176614"/>
            <a:ext cx="2160240" cy="64172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rgbClr val="393F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Login</a:t>
            </a:r>
            <a:endParaRPr lang="ko-KR" altLang="en-US" sz="1200" b="1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2926501" y="7668743"/>
            <a:ext cx="471635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본 시스템은 스마트 관제를 위한 시스템으로서 불법으로 사용시에는 </a:t>
            </a:r>
            <a:r>
              <a:rPr lang="ko-KR" altLang="en-US" sz="800" dirty="0" err="1">
                <a:latin typeface="+mn-ea"/>
              </a:rPr>
              <a:t>법적제재를</a:t>
            </a:r>
            <a:r>
              <a:rPr lang="ko-KR" altLang="en-US" sz="800" dirty="0">
                <a:latin typeface="+mn-ea"/>
              </a:rPr>
              <a:t> 받을 수 있습니다</a:t>
            </a:r>
            <a:r>
              <a:rPr lang="en-US" altLang="ko-KR" sz="800" dirty="0">
                <a:latin typeface="+mn-ea"/>
              </a:rPr>
              <a:t>.</a:t>
            </a:r>
          </a:p>
          <a:p>
            <a:pPr algn="ctr"/>
            <a:r>
              <a:rPr lang="ko-KR" altLang="en-US" sz="800" dirty="0">
                <a:latin typeface="+mn-ea"/>
              </a:rPr>
              <a:t>본 정보는 대외비이므로 외부 유출을 불허합니다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grpSp>
        <p:nvGrpSpPr>
          <p:cNvPr id="38" name="그룹 37"/>
          <p:cNvGrpSpPr/>
          <p:nvPr/>
        </p:nvGrpSpPr>
        <p:grpSpPr>
          <a:xfrm>
            <a:off x="480766" y="2504205"/>
            <a:ext cx="2732570" cy="1995752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9" name="직사각형 38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아이디 또는 비밀번호가</a:t>
              </a:r>
              <a:endParaRPr lang="en-US" altLang="ko-KR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일치하지 않습니다</a:t>
              </a:r>
              <a:r>
                <a:rPr lang="en-US" altLang="ko-KR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5195776" y="393744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5195776" y="486199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758151" y="24243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4204556" y="6891256"/>
            <a:ext cx="149271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n-ea"/>
              </a:rPr>
              <a:t>관리자 계정 생성하기</a:t>
            </a:r>
          </a:p>
        </p:txBody>
      </p:sp>
      <p:graphicFrame>
        <p:nvGraphicFramePr>
          <p:cNvPr id="45" name="표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383001"/>
              </p:ext>
            </p:extLst>
          </p:nvPr>
        </p:nvGraphicFramePr>
        <p:xfrm>
          <a:off x="10633534" y="1272208"/>
          <a:ext cx="2088232" cy="23178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계정관리에서 생성한 아이디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비밀번호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****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로그인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아이디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비밀번호 불일 치 시 출력 알럿창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승인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대기중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알럿창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소속된 현장이 없는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권한이 없는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계정 생성하기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6" name="직사각형 45"/>
          <p:cNvSpPr/>
          <p:nvPr/>
        </p:nvSpPr>
        <p:spPr>
          <a:xfrm>
            <a:off x="4026756" y="69300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47" name="그룹 46"/>
          <p:cNvGrpSpPr/>
          <p:nvPr/>
        </p:nvGrpSpPr>
        <p:grpSpPr>
          <a:xfrm>
            <a:off x="480766" y="4822584"/>
            <a:ext cx="2732570" cy="1995752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8" name="직사각형 47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사용승인 대기중인 계정입니다</a:t>
              </a:r>
              <a:r>
                <a:rPr lang="en-US" altLang="ko-KR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</a:p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r>
                <a:rPr lang="en-US" altLang="ko-KR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50" name="직사각형 49"/>
          <p:cNvSpPr/>
          <p:nvPr/>
        </p:nvSpPr>
        <p:spPr>
          <a:xfrm>
            <a:off x="1758151" y="47427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5195776" y="60553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9" name="모서리가 둥근 사각형 설명선 58"/>
          <p:cNvSpPr/>
          <p:nvPr/>
        </p:nvSpPr>
        <p:spPr>
          <a:xfrm>
            <a:off x="6343207" y="5785585"/>
            <a:ext cx="800850" cy="318109"/>
          </a:xfrm>
          <a:prstGeom prst="wedgeRoundRectCallout">
            <a:avLst>
              <a:gd name="adj1" fmla="val -72581"/>
              <a:gd name="adj2" fmla="val 102491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000-1</a:t>
            </a:r>
          </a:p>
          <a:p>
            <a:pPr algn="ctr"/>
            <a:r>
              <a:rPr lang="ko-KR" altLang="en-US" sz="800" dirty="0">
                <a:latin typeface="+mn-ea"/>
              </a:rPr>
              <a:t>현장선택 팝업</a:t>
            </a:r>
          </a:p>
        </p:txBody>
      </p:sp>
      <p:sp>
        <p:nvSpPr>
          <p:cNvPr id="60" name="모서리가 둥근 사각형 설명선 59"/>
          <p:cNvSpPr/>
          <p:nvPr/>
        </p:nvSpPr>
        <p:spPr>
          <a:xfrm>
            <a:off x="2429629" y="2261447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61" name="모서리가 둥근 사각형 설명선 60"/>
          <p:cNvSpPr/>
          <p:nvPr/>
        </p:nvSpPr>
        <p:spPr>
          <a:xfrm>
            <a:off x="2429629" y="4567062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7381370" y="2504205"/>
            <a:ext cx="2732570" cy="1995752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3" name="직사각형 52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소속된 현장이 없습니다</a:t>
              </a:r>
              <a:endParaRPr lang="en-US" altLang="ko-KR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</a:p>
          </p:txBody>
        </p:sp>
      </p:grpSp>
      <p:sp>
        <p:nvSpPr>
          <p:cNvPr id="55" name="직사각형 54"/>
          <p:cNvSpPr/>
          <p:nvPr/>
        </p:nvSpPr>
        <p:spPr>
          <a:xfrm>
            <a:off x="8658755" y="24243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7381370" y="4822584"/>
            <a:ext cx="2732570" cy="1995752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7" name="직사각형 56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사용권한이 없습니다</a:t>
              </a:r>
              <a:endParaRPr lang="en-US" altLang="ko-KR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13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endPara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62" name="직사각형 61"/>
          <p:cNvSpPr/>
          <p:nvPr/>
        </p:nvSpPr>
        <p:spPr>
          <a:xfrm>
            <a:off x="8658755" y="47427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3" name="모서리가 둥근 사각형 설명선 62"/>
          <p:cNvSpPr/>
          <p:nvPr/>
        </p:nvSpPr>
        <p:spPr>
          <a:xfrm>
            <a:off x="9330233" y="2261447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64" name="모서리가 둥근 사각형 설명선 63"/>
          <p:cNvSpPr/>
          <p:nvPr/>
        </p:nvSpPr>
        <p:spPr>
          <a:xfrm>
            <a:off x="9330233" y="4567062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0020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직사각형 9"/>
          <p:cNvSpPr/>
          <p:nvPr/>
        </p:nvSpPr>
        <p:spPr>
          <a:xfrm>
            <a:off x="403493" y="1128193"/>
            <a:ext cx="9730657" cy="7011230"/>
          </a:xfrm>
          <a:prstGeom prst="rect">
            <a:avLst/>
          </a:prstGeom>
          <a:solidFill>
            <a:srgbClr val="000000">
              <a:alpha val="16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3808512" y="2640360"/>
            <a:ext cx="3240360" cy="424847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en-US" altLang="ko-KR" sz="14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관리 현장 선택</a:t>
            </a:r>
          </a:p>
        </p:txBody>
      </p:sp>
      <p:sp>
        <p:nvSpPr>
          <p:cNvPr id="3" name="직사각형 2"/>
          <p:cNvSpPr/>
          <p:nvPr/>
        </p:nvSpPr>
        <p:spPr>
          <a:xfrm>
            <a:off x="3808512" y="3360440"/>
            <a:ext cx="3240360" cy="57606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부산 국도건설 현장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3808512" y="3936504"/>
            <a:ext cx="3240360" cy="57606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밀양 </a:t>
            </a:r>
            <a:r>
              <a:rPr lang="en-US" altLang="ko-KR" sz="14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>
                <a:solidFill>
                  <a:schemeClr val="tx1"/>
                </a:solidFill>
                <a:latin typeface="+mn-ea"/>
              </a:rPr>
              <a:t>공구 터널 현장</a:t>
            </a:r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3808512" y="4512568"/>
            <a:ext cx="3240360" cy="57606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400" dirty="0">
                <a:solidFill>
                  <a:schemeClr val="tx1"/>
                </a:solidFill>
                <a:latin typeface="+mn-ea"/>
              </a:rPr>
              <a:t>000000</a:t>
            </a:r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400" dirty="0">
                <a:solidFill>
                  <a:schemeClr val="tx1"/>
                </a:solidFill>
                <a:latin typeface="+mn-ea"/>
              </a:rPr>
              <a:t>0000</a:t>
            </a:r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 건설현장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3808512" y="5088632"/>
            <a:ext cx="3240360" cy="57606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부산 사상하단 </a:t>
            </a:r>
            <a:r>
              <a:rPr lang="en-US" altLang="ko-KR" sz="14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>
                <a:solidFill>
                  <a:schemeClr val="tx1"/>
                </a:solidFill>
                <a:latin typeface="+mn-ea"/>
              </a:rPr>
              <a:t>공구</a:t>
            </a:r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430114" y="6312768"/>
            <a:ext cx="1618758" cy="57606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확인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3808512" y="6312768"/>
            <a:ext cx="1618758" cy="57606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  <a:latin typeface="+mn-ea"/>
              </a:rPr>
              <a:t>취소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5445075" y="257092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0913960"/>
              </p:ext>
            </p:extLst>
          </p:nvPr>
        </p:nvGraphicFramePr>
        <p:xfrm>
          <a:off x="10633534" y="1272208"/>
          <a:ext cx="2088232" cy="21114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로그인 후 출력되는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관리자에서 정해진 현장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없을경우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빈 공간으로 나옴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내용이 없기 때문에 로그인할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모서리가 둥근 직사각형 1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000-1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1561736" y="632805"/>
            <a:ext cx="9172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현장선택 팝업</a:t>
            </a:r>
          </a:p>
        </p:txBody>
      </p:sp>
      <p:sp>
        <p:nvSpPr>
          <p:cNvPr id="16" name="직사각형 15"/>
          <p:cNvSpPr/>
          <p:nvPr/>
        </p:nvSpPr>
        <p:spPr>
          <a:xfrm>
            <a:off x="3630712" y="35279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7266132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6858658" y="1776264"/>
            <a:ext cx="3291786" cy="50405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l"/>
            <a:r>
              <a:rPr lang="ko-KR" altLang="en-US" sz="1800" dirty="0">
                <a:solidFill>
                  <a:schemeClr val="bg1"/>
                </a:solidFill>
                <a:latin typeface="+mn-ea"/>
              </a:rPr>
              <a:t>홍길동 관리자</a:t>
            </a:r>
          </a:p>
        </p:txBody>
      </p:sp>
      <p:sp>
        <p:nvSpPr>
          <p:cNvPr id="3" name="모서리가 둥근 직사각형 2"/>
          <p:cNvSpPr/>
          <p:nvPr/>
        </p:nvSpPr>
        <p:spPr>
          <a:xfrm>
            <a:off x="8771135" y="1899923"/>
            <a:ext cx="1311692" cy="253468"/>
          </a:xfrm>
          <a:prstGeom prst="roundRect">
            <a:avLst>
              <a:gd name="adj" fmla="val 47614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로그아웃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6544816" y="199228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7661371"/>
              </p:ext>
            </p:extLst>
          </p:nvPr>
        </p:nvGraphicFramePr>
        <p:xfrm>
          <a:off x="10633534" y="1332582"/>
          <a:ext cx="2088232" cy="9379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로그아웃 버튼을 누르면 해당 계정의 로그아웃 버튼이 나타남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빈 화면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아무곳이나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터치하면 팝업은 사라짐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626826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직사각형 84"/>
          <p:cNvSpPr/>
          <p:nvPr/>
        </p:nvSpPr>
        <p:spPr>
          <a:xfrm>
            <a:off x="8500301" y="8145623"/>
            <a:ext cx="1360643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사진이 등록되지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 </a:t>
            </a:r>
            <a:r>
              <a:rPr lang="ko-KR" altLang="en-US" sz="60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않았습니다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계정생성요청을 진행하시겠습니까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?</a:t>
            </a:r>
            <a:endParaRPr lang="ko-KR" altLang="en-US" sz="600" dirty="0">
              <a:solidFill>
                <a:schemeClr val="tx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9932815" y="8145623"/>
            <a:ext cx="1360643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입력하신 내용으로 계정생성요청을 진행하시겠습니까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?</a:t>
            </a:r>
            <a:endParaRPr lang="ko-KR" altLang="en-US" sz="700" dirty="0">
              <a:solidFill>
                <a:schemeClr val="tx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568152" y="1879417"/>
            <a:ext cx="24256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>
                <a:latin typeface="+mn-ea"/>
              </a:rPr>
              <a:t>관리자 계정 생성하기</a:t>
            </a:r>
            <a:endParaRPr lang="ko-KR" altLang="en-US" sz="1200" dirty="0">
              <a:latin typeface="+mn-ea"/>
            </a:endParaRPr>
          </a:p>
        </p:txBody>
      </p:sp>
      <p:sp>
        <p:nvSpPr>
          <p:cNvPr id="88" name="Search Box Rectangle"/>
          <p:cNvSpPr>
            <a:spLocks/>
          </p:cNvSpPr>
          <p:nvPr/>
        </p:nvSpPr>
        <p:spPr bwMode="auto">
          <a:xfrm>
            <a:off x="4027164" y="3203605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영문으로 입력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9" name="Search Box Rectangle"/>
          <p:cNvSpPr>
            <a:spLocks/>
          </p:cNvSpPr>
          <p:nvPr/>
        </p:nvSpPr>
        <p:spPr bwMode="auto">
          <a:xfrm>
            <a:off x="4027164" y="2696313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한글로 입력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2526717" y="3223100"/>
            <a:ext cx="9732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관리자 </a:t>
            </a:r>
            <a:r>
              <a:rPr lang="en-US" altLang="ko-KR" sz="1200" dirty="0">
                <a:latin typeface="+mn-ea"/>
              </a:rPr>
              <a:t>ID</a:t>
            </a:r>
            <a:endParaRPr lang="ko-KR" altLang="en-US" sz="1200" dirty="0">
              <a:latin typeface="+mn-ea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2526491" y="2715808"/>
            <a:ext cx="9750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관리자 명</a:t>
            </a:r>
          </a:p>
        </p:txBody>
      </p:sp>
      <p:sp>
        <p:nvSpPr>
          <p:cNvPr id="92" name="Search Box Rectangle"/>
          <p:cNvSpPr>
            <a:spLocks/>
          </p:cNvSpPr>
          <p:nvPr/>
        </p:nvSpPr>
        <p:spPr bwMode="auto">
          <a:xfrm>
            <a:off x="5392688" y="7220914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생성 요청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3" name="Search Box Rectangle"/>
          <p:cNvSpPr>
            <a:spLocks/>
          </p:cNvSpPr>
          <p:nvPr/>
        </p:nvSpPr>
        <p:spPr bwMode="auto">
          <a:xfrm>
            <a:off x="4269309" y="7220914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4" name="Search Box Rectangle"/>
          <p:cNvSpPr>
            <a:spLocks/>
          </p:cNvSpPr>
          <p:nvPr/>
        </p:nvSpPr>
        <p:spPr bwMode="auto">
          <a:xfrm>
            <a:off x="4027165" y="4206550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010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533489" y="4226045"/>
            <a:ext cx="918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연락처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5016002" y="4226045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</a:rPr>
              <a:t>-</a:t>
            </a:r>
            <a:endParaRPr lang="ko-KR" altLang="en-US" sz="1200" dirty="0">
              <a:latin typeface="+mn-ea"/>
            </a:endParaRPr>
          </a:p>
        </p:txBody>
      </p:sp>
      <p:sp>
        <p:nvSpPr>
          <p:cNvPr id="97" name="Search Box Rectangle"/>
          <p:cNvSpPr>
            <a:spLocks/>
          </p:cNvSpPr>
          <p:nvPr/>
        </p:nvSpPr>
        <p:spPr bwMode="auto">
          <a:xfrm>
            <a:off x="5318546" y="4206550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1234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307383" y="4226045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</a:rPr>
              <a:t>-</a:t>
            </a:r>
            <a:endParaRPr lang="ko-KR" altLang="en-US" sz="1200" dirty="0">
              <a:latin typeface="+mn-ea"/>
            </a:endParaRPr>
          </a:p>
        </p:txBody>
      </p:sp>
      <p:sp>
        <p:nvSpPr>
          <p:cNvPr id="99" name="Search Box Rectangle"/>
          <p:cNvSpPr>
            <a:spLocks/>
          </p:cNvSpPr>
          <p:nvPr/>
        </p:nvSpPr>
        <p:spPr bwMode="auto">
          <a:xfrm>
            <a:off x="6609927" y="4206550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1234</a:t>
            </a:r>
          </a:p>
        </p:txBody>
      </p:sp>
      <p:sp>
        <p:nvSpPr>
          <p:cNvPr id="100" name="Search Box Rectangle"/>
          <p:cNvSpPr>
            <a:spLocks/>
          </p:cNvSpPr>
          <p:nvPr/>
        </p:nvSpPr>
        <p:spPr bwMode="auto">
          <a:xfrm>
            <a:off x="4027165" y="5692305"/>
            <a:ext cx="252740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Image003-00123.jpg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2533489" y="5711800"/>
            <a:ext cx="918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사진 등록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6688832" y="5692305"/>
            <a:ext cx="315990" cy="315990"/>
            <a:chOff x="3514444" y="6764375"/>
            <a:chExt cx="700012" cy="700012"/>
          </a:xfrm>
        </p:grpSpPr>
        <p:sp>
          <p:nvSpPr>
            <p:cNvPr id="103" name="타원 102"/>
            <p:cNvSpPr/>
            <p:nvPr/>
          </p:nvSpPr>
          <p:spPr>
            <a:xfrm>
              <a:off x="3514444" y="6764375"/>
              <a:ext cx="700012" cy="700012"/>
            </a:xfrm>
            <a:prstGeom prst="ellipse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algn="ctr" defTabSz="914400" latinLnBrk="0"/>
              <a:endPara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endParaRPr>
            </a:p>
          </p:txBody>
        </p:sp>
        <p:pic>
          <p:nvPicPr>
            <p:cNvPr id="104" name="그림 10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41909" y="6884331"/>
              <a:ext cx="445081" cy="445081"/>
            </a:xfrm>
            <a:prstGeom prst="rect">
              <a:avLst/>
            </a:prstGeom>
          </p:spPr>
        </p:pic>
      </p:grpSp>
      <p:pic>
        <p:nvPicPr>
          <p:cNvPr id="105" name="그림 10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2231" y="5636086"/>
            <a:ext cx="431172" cy="431172"/>
          </a:xfrm>
          <a:prstGeom prst="rect">
            <a:avLst/>
          </a:prstGeom>
        </p:spPr>
      </p:pic>
      <p:sp>
        <p:nvSpPr>
          <p:cNvPr id="106" name="직사각형 105"/>
          <p:cNvSpPr/>
          <p:nvPr/>
        </p:nvSpPr>
        <p:spPr>
          <a:xfrm>
            <a:off x="2152328" y="27638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2152328" y="323034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8" name="직사각형 107"/>
          <p:cNvSpPr/>
          <p:nvPr/>
        </p:nvSpPr>
        <p:spPr>
          <a:xfrm>
            <a:off x="2152328" y="42606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9" name="직사각형 108"/>
          <p:cNvSpPr/>
          <p:nvPr/>
        </p:nvSpPr>
        <p:spPr>
          <a:xfrm>
            <a:off x="2152328" y="575642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0" name="직사각형 109"/>
          <p:cNvSpPr/>
          <p:nvPr/>
        </p:nvSpPr>
        <p:spPr>
          <a:xfrm>
            <a:off x="6757927" y="553363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1" name="직사각형 110"/>
          <p:cNvSpPr/>
          <p:nvPr/>
        </p:nvSpPr>
        <p:spPr>
          <a:xfrm>
            <a:off x="7238917" y="553363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2" name="Search Box Rectangle"/>
          <p:cNvSpPr>
            <a:spLocks/>
          </p:cNvSpPr>
          <p:nvPr/>
        </p:nvSpPr>
        <p:spPr bwMode="auto">
          <a:xfrm>
            <a:off x="4027164" y="3695577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영문</a:t>
            </a: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, </a:t>
            </a:r>
            <a:r>
              <a:rPr lang="ko-KR" altLang="en-US" sz="100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숫자 포함 </a:t>
            </a: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8</a:t>
            </a:r>
            <a:r>
              <a:rPr lang="ko-KR" altLang="en-US" sz="100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자리 이상</a:t>
            </a: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~16</a:t>
            </a:r>
            <a:r>
              <a:rPr lang="ko-KR" altLang="en-US" sz="100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자리 이하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2536145" y="3715072"/>
            <a:ext cx="8968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비밀번호</a:t>
            </a:r>
          </a:p>
        </p:txBody>
      </p:sp>
      <p:sp>
        <p:nvSpPr>
          <p:cNvPr id="114" name="직사각형 113"/>
          <p:cNvSpPr/>
          <p:nvPr/>
        </p:nvSpPr>
        <p:spPr>
          <a:xfrm>
            <a:off x="2152328" y="375382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5" name="직사각형 114"/>
          <p:cNvSpPr/>
          <p:nvPr/>
        </p:nvSpPr>
        <p:spPr>
          <a:xfrm>
            <a:off x="2393199" y="6325719"/>
            <a:ext cx="5150204" cy="55827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최종 관리자의 승인 </a:t>
            </a:r>
            <a:r>
              <a:rPr lang="ko-KR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후 접속하실 수 있습니다</a:t>
            </a:r>
            <a:endParaRPr lang="ko-KR" altLang="en-US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graphicFrame>
        <p:nvGraphicFramePr>
          <p:cNvPr id="116" name="표 1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1881537"/>
              </p:ext>
            </p:extLst>
          </p:nvPr>
        </p:nvGraphicFramePr>
        <p:xfrm>
          <a:off x="10633534" y="1272208"/>
          <a:ext cx="2088232" cy="7041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17" name="표 1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7221960"/>
              </p:ext>
            </p:extLst>
          </p:nvPr>
        </p:nvGraphicFramePr>
        <p:xfrm>
          <a:off x="10633534" y="1272208"/>
          <a:ext cx="2088232" cy="31338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관리자명 입력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비밀번호 입력 필드 </a:t>
                      </a:r>
                      <a:r>
                        <a:rPr lang="en-US" altLang="ko-KR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보임</a:t>
                      </a:r>
                      <a:r>
                        <a:rPr lang="en-US" altLang="ko-KR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연락처 입력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소속회사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관리자에서 등록된 협력업체 목록에서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사진등록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사진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 촬영 버튼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기본 카메라 앱 실행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사진첩에서 선택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사진첩 앱 실행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생성요청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 현장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관리자에서 등록한 현장 목록에서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18" name="직사각형 117"/>
          <p:cNvSpPr/>
          <p:nvPr/>
        </p:nvSpPr>
        <p:spPr>
          <a:xfrm>
            <a:off x="5807844" y="70913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2536145" y="4761435"/>
            <a:ext cx="8968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소속 회사</a:t>
            </a:r>
          </a:p>
        </p:txBody>
      </p:sp>
      <p:sp>
        <p:nvSpPr>
          <p:cNvPr id="120" name="직사각형 119"/>
          <p:cNvSpPr/>
          <p:nvPr/>
        </p:nvSpPr>
        <p:spPr>
          <a:xfrm>
            <a:off x="2152328" y="480019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3359777" y="3253541"/>
            <a:ext cx="45397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3359777" y="2753817"/>
            <a:ext cx="45397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3359777" y="4256953"/>
            <a:ext cx="6069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359777" y="3759738"/>
            <a:ext cx="5927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3359777" y="4792445"/>
            <a:ext cx="5927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26" name="직사각형 125"/>
          <p:cNvSpPr/>
          <p:nvPr/>
        </p:nvSpPr>
        <p:spPr>
          <a:xfrm>
            <a:off x="9060412" y="80657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7-6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7" name="직사각형 126"/>
          <p:cNvSpPr/>
          <p:nvPr/>
        </p:nvSpPr>
        <p:spPr>
          <a:xfrm>
            <a:off x="10516525" y="80657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7-7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8" name="직사각형 127"/>
          <p:cNvSpPr/>
          <p:nvPr/>
        </p:nvSpPr>
        <p:spPr>
          <a:xfrm>
            <a:off x="8500301" y="8733604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129" name="직사각형 128"/>
          <p:cNvSpPr/>
          <p:nvPr/>
        </p:nvSpPr>
        <p:spPr>
          <a:xfrm>
            <a:off x="9177967" y="8733604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130" name="직사각형 129"/>
          <p:cNvSpPr/>
          <p:nvPr/>
        </p:nvSpPr>
        <p:spPr>
          <a:xfrm>
            <a:off x="9932815" y="8733604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131" name="직사각형 130"/>
          <p:cNvSpPr/>
          <p:nvPr/>
        </p:nvSpPr>
        <p:spPr>
          <a:xfrm>
            <a:off x="10610481" y="8733604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확인</a:t>
            </a:r>
          </a:p>
        </p:txBody>
      </p:sp>
      <p:grpSp>
        <p:nvGrpSpPr>
          <p:cNvPr id="132" name="그룹 131"/>
          <p:cNvGrpSpPr/>
          <p:nvPr/>
        </p:nvGrpSpPr>
        <p:grpSpPr>
          <a:xfrm>
            <a:off x="8500301" y="3393095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3" name="직사각형 132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관리자명을 입력하세요</a:t>
              </a:r>
            </a:p>
          </p:txBody>
        </p:sp>
      </p:grpSp>
      <p:sp>
        <p:nvSpPr>
          <p:cNvPr id="135" name="직사각형 134"/>
          <p:cNvSpPr/>
          <p:nvPr/>
        </p:nvSpPr>
        <p:spPr>
          <a:xfrm>
            <a:off x="9095106" y="33132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36" name="그룹 135"/>
          <p:cNvGrpSpPr/>
          <p:nvPr/>
        </p:nvGrpSpPr>
        <p:grpSpPr>
          <a:xfrm>
            <a:off x="8500301" y="4622245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7" name="직사각형 136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38" name="직사각형 137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ID </a:t>
              </a:r>
              <a:r>
                <a:rPr lang="ko-KR" altLang="en-US" sz="7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를 입력하세요</a:t>
              </a:r>
              <a:endPara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139" name="직사각형 138"/>
          <p:cNvSpPr/>
          <p:nvPr/>
        </p:nvSpPr>
        <p:spPr>
          <a:xfrm>
            <a:off x="9095106" y="454237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10008709" y="4622245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1" name="직사각형 140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42" name="직사각형 141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중복되는 관리자 관리자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ID</a:t>
              </a:r>
              <a:r>
                <a:rPr lang="ko-KR" altLang="en-US" sz="7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가 존재합니다</a:t>
              </a:r>
              <a:endParaRPr lang="ko-KR" altLang="en-US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143" name="직사각형 142"/>
          <p:cNvSpPr/>
          <p:nvPr/>
        </p:nvSpPr>
        <p:spPr>
          <a:xfrm>
            <a:off x="10603514" y="454237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44" name="그룹 143"/>
          <p:cNvGrpSpPr/>
          <p:nvPr/>
        </p:nvGrpSpPr>
        <p:grpSpPr>
          <a:xfrm>
            <a:off x="8500301" y="5769221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5" name="직사각형 144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46" name="직사각형 145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비밀번호를 입력하세요</a:t>
              </a:r>
            </a:p>
          </p:txBody>
        </p:sp>
      </p:grpSp>
      <p:sp>
        <p:nvSpPr>
          <p:cNvPr id="147" name="직사각형 146"/>
          <p:cNvSpPr/>
          <p:nvPr/>
        </p:nvSpPr>
        <p:spPr>
          <a:xfrm>
            <a:off x="9095106" y="568935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48" name="그룹 147"/>
          <p:cNvGrpSpPr/>
          <p:nvPr/>
        </p:nvGrpSpPr>
        <p:grpSpPr>
          <a:xfrm>
            <a:off x="10008709" y="5773596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9" name="직사각형 148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50" name="직사각형 149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연락처를 입력하세요</a:t>
              </a:r>
            </a:p>
          </p:txBody>
        </p:sp>
      </p:grpSp>
      <p:sp>
        <p:nvSpPr>
          <p:cNvPr id="151" name="직사각형 150"/>
          <p:cNvSpPr/>
          <p:nvPr/>
        </p:nvSpPr>
        <p:spPr>
          <a:xfrm>
            <a:off x="10568820" y="569372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52" name="그룹 151"/>
          <p:cNvGrpSpPr/>
          <p:nvPr/>
        </p:nvGrpSpPr>
        <p:grpSpPr>
          <a:xfrm>
            <a:off x="8500301" y="6942486"/>
            <a:ext cx="1360643" cy="903449"/>
            <a:chOff x="-404683" y="4019789"/>
            <a:chExt cx="2732570" cy="142887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3" name="직사각형 152"/>
            <p:cNvSpPr/>
            <p:nvPr/>
          </p:nvSpPr>
          <p:spPr>
            <a:xfrm>
              <a:off x="-404683" y="4949729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154" name="직사각형 153"/>
            <p:cNvSpPr/>
            <p:nvPr/>
          </p:nvSpPr>
          <p:spPr>
            <a:xfrm>
              <a:off x="-404683" y="4019789"/>
              <a:ext cx="2732570" cy="9362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소속을 입력하세요</a:t>
              </a: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9060412" y="686261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56" name="Search Box Rectangle"/>
          <p:cNvSpPr>
            <a:spLocks/>
          </p:cNvSpPr>
          <p:nvPr/>
        </p:nvSpPr>
        <p:spPr bwMode="auto">
          <a:xfrm>
            <a:off x="4027164" y="474079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cs typeface="Segoe UI" pitchFamily="34" charset="0"/>
              </a:rPr>
              <a:t>소속 회사 선택</a:t>
            </a:r>
            <a:endParaRPr lang="de-DE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7" name="Chevron"/>
          <p:cNvSpPr>
            <a:spLocks noChangeAspect="1"/>
          </p:cNvSpPr>
          <p:nvPr/>
        </p:nvSpPr>
        <p:spPr bwMode="auto">
          <a:xfrm>
            <a:off x="7315116" y="485711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8" name="모서리가 둥근 사각형 설명선 157"/>
          <p:cNvSpPr/>
          <p:nvPr/>
        </p:nvSpPr>
        <p:spPr>
          <a:xfrm>
            <a:off x="7996854" y="3282666"/>
            <a:ext cx="800850" cy="215587"/>
          </a:xfrm>
          <a:prstGeom prst="wedgeRoundRectCallout">
            <a:avLst>
              <a:gd name="adj1" fmla="val 40409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59" name="모서리가 둥근 사각형 설명선 158"/>
          <p:cNvSpPr/>
          <p:nvPr/>
        </p:nvSpPr>
        <p:spPr>
          <a:xfrm>
            <a:off x="7996854" y="4465271"/>
            <a:ext cx="800850" cy="215587"/>
          </a:xfrm>
          <a:prstGeom prst="wedgeRoundRectCallout">
            <a:avLst>
              <a:gd name="adj1" fmla="val 40409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0" name="모서리가 둥근 사각형 설명선 159"/>
          <p:cNvSpPr/>
          <p:nvPr/>
        </p:nvSpPr>
        <p:spPr>
          <a:xfrm>
            <a:off x="7996854" y="5647743"/>
            <a:ext cx="800850" cy="215587"/>
          </a:xfrm>
          <a:prstGeom prst="wedgeRoundRectCallout">
            <a:avLst>
              <a:gd name="adj1" fmla="val 40409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1" name="모서리가 둥근 사각형 설명선 160"/>
          <p:cNvSpPr/>
          <p:nvPr/>
        </p:nvSpPr>
        <p:spPr>
          <a:xfrm>
            <a:off x="7996854" y="6802074"/>
            <a:ext cx="800850" cy="215587"/>
          </a:xfrm>
          <a:prstGeom prst="wedgeRoundRectCallout">
            <a:avLst>
              <a:gd name="adj1" fmla="val 40409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2" name="모서리가 둥근 사각형 설명선 161"/>
          <p:cNvSpPr/>
          <p:nvPr/>
        </p:nvSpPr>
        <p:spPr>
          <a:xfrm>
            <a:off x="7996854" y="8016311"/>
            <a:ext cx="800850" cy="215587"/>
          </a:xfrm>
          <a:prstGeom prst="wedgeRoundRectCallout">
            <a:avLst>
              <a:gd name="adj1" fmla="val 40409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3" name="모서리가 둥근 사각형 설명선 162"/>
          <p:cNvSpPr/>
          <p:nvPr/>
        </p:nvSpPr>
        <p:spPr>
          <a:xfrm>
            <a:off x="10975694" y="4465271"/>
            <a:ext cx="800850" cy="215587"/>
          </a:xfrm>
          <a:prstGeom prst="wedgeRoundRectCallout">
            <a:avLst>
              <a:gd name="adj1" fmla="val -39903"/>
              <a:gd name="adj2" fmla="val 74632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4" name="모서리가 둥근 사각형 설명선 163"/>
          <p:cNvSpPr/>
          <p:nvPr/>
        </p:nvSpPr>
        <p:spPr>
          <a:xfrm>
            <a:off x="10975694" y="5647743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5" name="모서리가 둥근 사각형 설명선 164"/>
          <p:cNvSpPr/>
          <p:nvPr/>
        </p:nvSpPr>
        <p:spPr>
          <a:xfrm>
            <a:off x="10975694" y="7940653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2536145" y="5262355"/>
            <a:ext cx="8968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소속 현장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359777" y="5293365"/>
            <a:ext cx="5927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n-ea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168" name="Search Box Rectangle"/>
          <p:cNvSpPr>
            <a:spLocks/>
          </p:cNvSpPr>
          <p:nvPr/>
        </p:nvSpPr>
        <p:spPr bwMode="auto">
          <a:xfrm>
            <a:off x="4027164" y="524171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cs typeface="Segoe UI" pitchFamily="34" charset="0"/>
              </a:rPr>
              <a:t>소속 현장 선택</a:t>
            </a:r>
            <a:endParaRPr lang="de-DE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69" name="Chevron"/>
          <p:cNvSpPr>
            <a:spLocks noChangeAspect="1"/>
          </p:cNvSpPr>
          <p:nvPr/>
        </p:nvSpPr>
        <p:spPr bwMode="auto">
          <a:xfrm>
            <a:off x="7315116" y="535803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70" name="직사각형 169"/>
          <p:cNvSpPr/>
          <p:nvPr/>
        </p:nvSpPr>
        <p:spPr>
          <a:xfrm>
            <a:off x="2152328" y="53002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865600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</a:rPr>
              <a:t>ticker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1030971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/>
          <p:cNvSpPr txBox="1"/>
          <p:nvPr/>
        </p:nvSpPr>
        <p:spPr>
          <a:xfrm>
            <a:off x="10599179" y="632805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티커</a:t>
            </a:r>
            <a:r>
              <a:rPr lang="ko-KR" altLang="en-US" sz="900" dirty="0">
                <a:latin typeface="+mn-ea"/>
              </a:rPr>
              <a:t> 영역 설명</a:t>
            </a:r>
          </a:p>
        </p:txBody>
      </p:sp>
      <p:sp>
        <p:nvSpPr>
          <p:cNvPr id="59" name="직사각형 58"/>
          <p:cNvSpPr/>
          <p:nvPr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403493" y="1128193"/>
            <a:ext cx="9730657" cy="7011230"/>
          </a:xfrm>
          <a:prstGeom prst="rect">
            <a:avLst/>
          </a:prstGeom>
          <a:solidFill>
            <a:srgbClr val="000000">
              <a:alpha val="16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496144" y="793017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64" name="표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697630"/>
              </p:ext>
            </p:extLst>
          </p:nvPr>
        </p:nvGraphicFramePr>
        <p:xfrm>
          <a:off x="10633534" y="1272208"/>
          <a:ext cx="2088232" cy="8068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현장에서 발생되는 모든 내용에 대해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티커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티커를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누르면 이벤트 창 열림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9" name="그룹 8"/>
          <p:cNvGrpSpPr/>
          <p:nvPr/>
        </p:nvGrpSpPr>
        <p:grpSpPr>
          <a:xfrm>
            <a:off x="2152328" y="7995119"/>
            <a:ext cx="387470" cy="671124"/>
            <a:chOff x="2832550" y="2318284"/>
            <a:chExt cx="387470" cy="671124"/>
          </a:xfrm>
        </p:grpSpPr>
        <p:grpSp>
          <p:nvGrpSpPr>
            <p:cNvPr id="10" name="그룹 46"/>
            <p:cNvGrpSpPr/>
            <p:nvPr/>
          </p:nvGrpSpPr>
          <p:grpSpPr>
            <a:xfrm rot="19349804">
              <a:off x="2832550" y="2524652"/>
              <a:ext cx="225739" cy="464756"/>
              <a:chOff x="5745088" y="1844824"/>
              <a:chExt cx="1224136" cy="2520280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4" name="모서리가 둥근 직사각형 13"/>
              <p:cNvSpPr/>
              <p:nvPr/>
            </p:nvSpPr>
            <p:spPr>
              <a:xfrm>
                <a:off x="5745088" y="1844824"/>
                <a:ext cx="1224136" cy="2520280"/>
              </a:xfrm>
              <a:prstGeom prst="roundRect">
                <a:avLst>
                  <a:gd name="adj" fmla="val 47225"/>
                </a:avLst>
              </a:prstGeom>
              <a:solidFill>
                <a:srgbClr val="F79646">
                  <a:lumMod val="40000"/>
                  <a:lumOff val="60000"/>
                </a:srgbClr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5" name="모서리가 둥근 직사각형 14"/>
              <p:cNvSpPr/>
              <p:nvPr/>
            </p:nvSpPr>
            <p:spPr>
              <a:xfrm>
                <a:off x="5796314" y="1844824"/>
                <a:ext cx="1133694" cy="1400446"/>
              </a:xfrm>
              <a:prstGeom prst="roundRect">
                <a:avLst>
                  <a:gd name="adj" fmla="val 48615"/>
                </a:avLst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1" name="직선 연결선 10"/>
            <p:cNvCxnSpPr/>
            <p:nvPr/>
          </p:nvCxnSpPr>
          <p:spPr>
            <a:xfrm flipV="1">
              <a:off x="2869770" y="2318284"/>
              <a:ext cx="0" cy="158422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  <p:cxnSp>
          <p:nvCxnSpPr>
            <p:cNvPr id="12" name="직선 연결선 11"/>
            <p:cNvCxnSpPr/>
            <p:nvPr/>
          </p:nvCxnSpPr>
          <p:spPr>
            <a:xfrm rot="1800000" flipV="1">
              <a:off x="3029776" y="2370524"/>
              <a:ext cx="0" cy="158422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  <p:cxnSp>
          <p:nvCxnSpPr>
            <p:cNvPr id="13" name="직선 연결선 12"/>
            <p:cNvCxnSpPr/>
            <p:nvPr/>
          </p:nvCxnSpPr>
          <p:spPr>
            <a:xfrm rot="5400000" flipV="1">
              <a:off x="3140809" y="2495491"/>
              <a:ext cx="0" cy="158422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</p:grpSp>
      <p:cxnSp>
        <p:nvCxnSpPr>
          <p:cNvPr id="16" name="꺾인 연결선 15"/>
          <p:cNvCxnSpPr>
            <a:stCxn id="15" idx="0"/>
          </p:cNvCxnSpPr>
          <p:nvPr/>
        </p:nvCxnSpPr>
        <p:spPr>
          <a:xfrm rot="5400000" flipH="1" flipV="1">
            <a:off x="2826613" y="1290279"/>
            <a:ext cx="6256553" cy="7660573"/>
          </a:xfrm>
          <a:prstGeom prst="bentConnector2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/>
          <p:cNvSpPr/>
          <p:nvPr/>
        </p:nvSpPr>
        <p:spPr>
          <a:xfrm>
            <a:off x="2171030" y="66728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4511539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직사각형 49"/>
          <p:cNvSpPr/>
          <p:nvPr/>
        </p:nvSpPr>
        <p:spPr>
          <a:xfrm>
            <a:off x="403493" y="1128192"/>
            <a:ext cx="9730657" cy="7272809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7015545" y="1774106"/>
            <a:ext cx="3117688" cy="6338862"/>
          </a:xfrm>
          <a:prstGeom prst="rect">
            <a:avLst/>
          </a:prstGeom>
          <a:solidFill>
            <a:srgbClr val="FFFF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0588862" y="632805"/>
            <a:ext cx="196079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티커를</a:t>
            </a:r>
            <a:r>
              <a:rPr lang="ko-KR" altLang="en-US" sz="900" dirty="0">
                <a:latin typeface="+mn-ea"/>
              </a:rPr>
              <a:t> 누르면 이벤트 팝업이 열림</a:t>
            </a:r>
          </a:p>
        </p:txBody>
      </p:sp>
      <p:sp>
        <p:nvSpPr>
          <p:cNvPr id="38" name="모서리가 둥근 직사각형 37"/>
          <p:cNvSpPr/>
          <p:nvPr/>
        </p:nvSpPr>
        <p:spPr>
          <a:xfrm>
            <a:off x="7192889" y="2303834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780486" y="2331143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경고구역 등록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낙석주의</a:t>
            </a:r>
            <a:endParaRPr lang="ko-KR" altLang="en-US" sz="500" dirty="0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9339179" y="2383229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7780486" y="2717186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43" name="자유형 42"/>
          <p:cNvSpPr/>
          <p:nvPr/>
        </p:nvSpPr>
        <p:spPr>
          <a:xfrm>
            <a:off x="7189491" y="230383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모서리가 둥근 직사각형 50"/>
          <p:cNvSpPr/>
          <p:nvPr/>
        </p:nvSpPr>
        <p:spPr>
          <a:xfrm>
            <a:off x="7192889" y="3038554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7780486" y="3065863"/>
            <a:ext cx="10198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산소농도 </a:t>
            </a:r>
            <a:r>
              <a:rPr lang="en-US" altLang="ko-KR" sz="900" b="1" dirty="0">
                <a:latin typeface="+mn-ea"/>
              </a:rPr>
              <a:t>11.7%</a:t>
            </a:r>
          </a:p>
          <a:p>
            <a:r>
              <a:rPr lang="ko-KR" altLang="en-US" sz="900" dirty="0">
                <a:latin typeface="+mn-ea"/>
              </a:rPr>
              <a:t>위험</a:t>
            </a:r>
            <a:r>
              <a:rPr lang="en-US" altLang="ko-KR" sz="900" dirty="0">
                <a:latin typeface="+mn-ea"/>
              </a:rPr>
              <a:t>. </a:t>
            </a:r>
            <a:r>
              <a:rPr lang="ko-KR" altLang="en-US" sz="900">
                <a:latin typeface="+mn-ea"/>
              </a:rPr>
              <a:t>작업중단</a:t>
            </a:r>
            <a:r>
              <a:rPr lang="en-US" altLang="ko-KR" sz="900" dirty="0">
                <a:latin typeface="+mn-ea"/>
              </a:rPr>
              <a:t>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9339179" y="3117950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7780486" y="3451907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56" name="자유형 55"/>
          <p:cNvSpPr/>
          <p:nvPr/>
        </p:nvSpPr>
        <p:spPr>
          <a:xfrm>
            <a:off x="7189491" y="303855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7192889" y="3762894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780486" y="3790203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심박수 낮음</a:t>
            </a:r>
          </a:p>
          <a:p>
            <a:r>
              <a:rPr lang="ko-KR" altLang="en-US" sz="900" dirty="0">
                <a:latin typeface="+mn-ea"/>
              </a:rPr>
              <a:t>홍길동 특수작업자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9339179" y="3842290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7780486" y="4176247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62" name="자유형 61"/>
          <p:cNvSpPr/>
          <p:nvPr/>
        </p:nvSpPr>
        <p:spPr>
          <a:xfrm>
            <a:off x="7189491" y="376289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7192889" y="4679265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780486" y="4706574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침범발생 발생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홍길동 일반출입자</a:t>
            </a:r>
            <a:endParaRPr lang="ko-KR" altLang="en-US" sz="500" dirty="0">
              <a:latin typeface="+mn-ea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9406506" y="4758660"/>
            <a:ext cx="553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780486" y="5092617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69" name="자유형 68"/>
          <p:cNvSpPr/>
          <p:nvPr/>
        </p:nvSpPr>
        <p:spPr>
          <a:xfrm>
            <a:off x="7189491" y="4679265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0" name="그림 6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1815" y="4863097"/>
            <a:ext cx="315882" cy="260227"/>
          </a:xfrm>
          <a:prstGeom prst="rect">
            <a:avLst/>
          </a:prstGeom>
        </p:spPr>
      </p:pic>
      <p:grpSp>
        <p:nvGrpSpPr>
          <p:cNvPr id="71" name="그룹 70"/>
          <p:cNvGrpSpPr/>
          <p:nvPr/>
        </p:nvGrpSpPr>
        <p:grpSpPr>
          <a:xfrm>
            <a:off x="7359321" y="4439599"/>
            <a:ext cx="2460187" cy="215444"/>
            <a:chOff x="7136751" y="5319391"/>
            <a:chExt cx="2931482" cy="256716"/>
          </a:xfrm>
        </p:grpSpPr>
        <p:cxnSp>
          <p:nvCxnSpPr>
            <p:cNvPr id="72" name="직선 연결선 71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extBox 72"/>
            <p:cNvSpPr txBox="1"/>
            <p:nvPr/>
          </p:nvSpPr>
          <p:spPr>
            <a:xfrm>
              <a:off x="8078158" y="5319391"/>
              <a:ext cx="1219019" cy="25671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800" dirty="0"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800" dirty="0"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74" name="그림 7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5302" y="3207006"/>
            <a:ext cx="368909" cy="303911"/>
          </a:xfrm>
          <a:prstGeom prst="rect">
            <a:avLst/>
          </a:prstGeom>
        </p:spPr>
      </p:pic>
      <p:pic>
        <p:nvPicPr>
          <p:cNvPr id="75" name="그림 7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36042" y="3916088"/>
            <a:ext cx="447429" cy="368596"/>
          </a:xfrm>
          <a:prstGeom prst="rect">
            <a:avLst/>
          </a:prstGeom>
        </p:spPr>
      </p:pic>
      <p:sp>
        <p:nvSpPr>
          <p:cNvPr id="76" name="모서리가 둥근 직사각형 75"/>
          <p:cNvSpPr/>
          <p:nvPr/>
        </p:nvSpPr>
        <p:spPr>
          <a:xfrm>
            <a:off x="7192889" y="5394133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7780486" y="5421441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경고구역 등록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낙석주의</a:t>
            </a:r>
            <a:endParaRPr lang="ko-KR" altLang="en-US" sz="500" dirty="0">
              <a:latin typeface="+mn-e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9339179" y="5473528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780486" y="5807485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81" name="자유형 80"/>
          <p:cNvSpPr/>
          <p:nvPr/>
        </p:nvSpPr>
        <p:spPr>
          <a:xfrm>
            <a:off x="7189491" y="5394133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7192889" y="6123723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7780486" y="6151032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침범발생 발생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홍길동 일반출입자</a:t>
            </a:r>
            <a:endParaRPr lang="ko-KR" altLang="en-US" sz="500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9406506" y="6203118"/>
            <a:ext cx="553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7780486" y="6537075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88" name="자유형 87"/>
          <p:cNvSpPr/>
          <p:nvPr/>
        </p:nvSpPr>
        <p:spPr>
          <a:xfrm>
            <a:off x="7189491" y="6123723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9" name="그림 8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1815" y="6307555"/>
            <a:ext cx="315882" cy="260227"/>
          </a:xfrm>
          <a:prstGeom prst="rect">
            <a:avLst/>
          </a:prstGeom>
        </p:spPr>
      </p:pic>
      <p:sp>
        <p:nvSpPr>
          <p:cNvPr id="91" name="모서리가 둥근 직사각형 90"/>
          <p:cNvSpPr/>
          <p:nvPr/>
        </p:nvSpPr>
        <p:spPr>
          <a:xfrm>
            <a:off x="7192889" y="6860087"/>
            <a:ext cx="2844292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7780486" y="6887395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경고구역 등록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낙석주의</a:t>
            </a:r>
            <a:endParaRPr lang="ko-KR" altLang="en-US" sz="500" dirty="0">
              <a:latin typeface="+mn-ea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9339179" y="6939482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7780486" y="7273439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>
                <a:latin typeface="+mn-ea"/>
              </a:rPr>
              <a:t>공장</a:t>
            </a:r>
            <a:r>
              <a:rPr lang="en-US" altLang="ko-KR" sz="700" dirty="0">
                <a:latin typeface="+mn-ea"/>
              </a:rPr>
              <a:t>] 1</a:t>
            </a:r>
            <a:r>
              <a:rPr lang="ko-KR" altLang="en-US" sz="700">
                <a:latin typeface="+mn-ea"/>
              </a:rPr>
              <a:t>층 </a:t>
            </a:r>
            <a:r>
              <a:rPr lang="en-US" altLang="ko-KR" sz="700" dirty="0">
                <a:latin typeface="+mn-ea"/>
              </a:rPr>
              <a:t>A-1 </a:t>
            </a:r>
            <a:r>
              <a:rPr lang="ko-KR" altLang="en-US" sz="700">
                <a:latin typeface="+mn-ea"/>
              </a:rPr>
              <a:t>구역</a:t>
            </a:r>
          </a:p>
        </p:txBody>
      </p:sp>
      <p:sp>
        <p:nvSpPr>
          <p:cNvPr id="96" name="자유형 95"/>
          <p:cNvSpPr/>
          <p:nvPr/>
        </p:nvSpPr>
        <p:spPr>
          <a:xfrm>
            <a:off x="7189491" y="6860087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98" name="직선 연결선 97"/>
          <p:cNvCxnSpPr/>
          <p:nvPr/>
        </p:nvCxnSpPr>
        <p:spPr>
          <a:xfrm>
            <a:off x="10042272" y="2297868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pic>
        <p:nvPicPr>
          <p:cNvPr id="99" name="그림 9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4352" y="7014026"/>
            <a:ext cx="359440" cy="359440"/>
          </a:xfrm>
          <a:prstGeom prst="rect">
            <a:avLst/>
          </a:prstGeom>
        </p:spPr>
      </p:pic>
      <p:pic>
        <p:nvPicPr>
          <p:cNvPr id="103" name="그림 10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4352" y="5550257"/>
            <a:ext cx="359440" cy="359440"/>
          </a:xfrm>
          <a:prstGeom prst="rect">
            <a:avLst/>
          </a:prstGeom>
        </p:spPr>
      </p:pic>
      <p:pic>
        <p:nvPicPr>
          <p:cNvPr id="105" name="그림 10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4352" y="2447125"/>
            <a:ext cx="359440" cy="359440"/>
          </a:xfrm>
          <a:prstGeom prst="rect">
            <a:avLst/>
          </a:prstGeom>
        </p:spPr>
      </p:pic>
      <p:graphicFrame>
        <p:nvGraphicFramePr>
          <p:cNvPr id="63" name="표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6544978"/>
              </p:ext>
            </p:extLst>
          </p:nvPr>
        </p:nvGraphicFramePr>
        <p:xfrm>
          <a:off x="10633534" y="1272208"/>
          <a:ext cx="2088232" cy="4694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티커에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보여지는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콘텐츠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7" name="직사각형 66"/>
          <p:cNvSpPr/>
          <p:nvPr/>
        </p:nvSpPr>
        <p:spPr>
          <a:xfrm>
            <a:off x="6607540" y="1774106"/>
            <a:ext cx="411827" cy="507252"/>
          </a:xfrm>
          <a:prstGeom prst="rect">
            <a:avLst/>
          </a:prstGeom>
          <a:solidFill>
            <a:srgbClr val="FFFFF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모서리가 둥근 직사각형 78"/>
          <p:cNvSpPr/>
          <p:nvPr/>
        </p:nvSpPr>
        <p:spPr>
          <a:xfrm>
            <a:off x="6689805" y="1937220"/>
            <a:ext cx="228060" cy="185270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2623708" y="49121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7104277" y="1888950"/>
            <a:ext cx="710894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94" name="모서리가 둥근 직사각형 93"/>
          <p:cNvSpPr/>
          <p:nvPr/>
        </p:nvSpPr>
        <p:spPr>
          <a:xfrm>
            <a:off x="7849431" y="1888950"/>
            <a:ext cx="710894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8596877" y="1888950"/>
            <a:ext cx="710894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9341784" y="1888950"/>
            <a:ext cx="710894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7192889" y="7544768"/>
            <a:ext cx="2844292" cy="520670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7780486" y="7572076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경고구역 등록</a:t>
            </a:r>
            <a:endParaRPr lang="en-US" altLang="ko-KR" sz="900" b="1" dirty="0">
              <a:latin typeface="+mn-ea"/>
            </a:endParaRPr>
          </a:p>
          <a:p>
            <a:r>
              <a:rPr lang="ko-KR" altLang="en-US" sz="900" dirty="0">
                <a:latin typeface="+mn-ea"/>
              </a:rPr>
              <a:t>낙석주의</a:t>
            </a:r>
            <a:endParaRPr lang="ko-KR" altLang="en-US" sz="500" dirty="0">
              <a:latin typeface="+mn-ea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9339179" y="7624163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0000.00.00</a:t>
            </a:r>
          </a:p>
          <a:p>
            <a:pPr algn="r"/>
            <a:r>
              <a:rPr lang="en-US" altLang="ko-KR" sz="700" dirty="0">
                <a:latin typeface="+mn-ea"/>
              </a:rPr>
              <a:t>14:32:30</a:t>
            </a:r>
            <a:endParaRPr lang="ko-KR" altLang="en-US" sz="300" dirty="0">
              <a:latin typeface="+mn-ea"/>
            </a:endParaRPr>
          </a:p>
        </p:txBody>
      </p:sp>
      <p:sp>
        <p:nvSpPr>
          <p:cNvPr id="111" name="자유형 110"/>
          <p:cNvSpPr/>
          <p:nvPr/>
        </p:nvSpPr>
        <p:spPr>
          <a:xfrm>
            <a:off x="7189491" y="7544768"/>
            <a:ext cx="540530" cy="568200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그림 11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4352" y="7698707"/>
            <a:ext cx="359440" cy="359440"/>
          </a:xfrm>
          <a:prstGeom prst="rect">
            <a:avLst/>
          </a:prstGeom>
        </p:spPr>
      </p:pic>
      <p:cxnSp>
        <p:nvCxnSpPr>
          <p:cNvPr id="122" name="꺾인 연결선 121"/>
          <p:cNvCxnSpPr>
            <a:stCxn id="68" idx="1"/>
            <a:endCxn id="18" idx="0"/>
          </p:cNvCxnSpPr>
          <p:nvPr/>
        </p:nvCxnSpPr>
        <p:spPr>
          <a:xfrm rot="10800000" flipV="1">
            <a:off x="1372838" y="5192645"/>
            <a:ext cx="6407649" cy="2920322"/>
          </a:xfrm>
          <a:prstGeom prst="bentConnector2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꺾인 연결선 122"/>
          <p:cNvCxnSpPr>
            <a:stCxn id="65" idx="1"/>
            <a:endCxn id="125" idx="0"/>
          </p:cNvCxnSpPr>
          <p:nvPr/>
        </p:nvCxnSpPr>
        <p:spPr>
          <a:xfrm rot="10800000" flipV="1">
            <a:off x="2855972" y="4891240"/>
            <a:ext cx="4924515" cy="3208972"/>
          </a:xfrm>
          <a:prstGeom prst="bentConnector2">
            <a:avLst/>
          </a:prstGeom>
          <a:ln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346586" y="4896410"/>
            <a:ext cx="114967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>
                <a:solidFill>
                  <a:schemeClr val="bg1"/>
                </a:solidFill>
              </a:rPr>
              <a:t>앞쪽 </a:t>
            </a:r>
            <a:r>
              <a:rPr lang="en-US" altLang="ko-KR" sz="1000" dirty="0">
                <a:solidFill>
                  <a:schemeClr val="bg1"/>
                </a:solidFill>
              </a:rPr>
              <a:t>: </a:t>
            </a:r>
            <a:r>
              <a:rPr lang="ko-KR" altLang="en-US" sz="1000">
                <a:solidFill>
                  <a:schemeClr val="bg1"/>
                </a:solidFill>
              </a:rPr>
              <a:t>위치</a:t>
            </a:r>
            <a:r>
              <a:rPr lang="en-US" altLang="ko-KR" sz="1000" dirty="0">
                <a:solidFill>
                  <a:schemeClr val="bg1"/>
                </a:solidFill>
              </a:rPr>
              <a:t>(</a:t>
            </a:r>
            <a:r>
              <a:rPr lang="ko-KR" altLang="en-US" sz="1000">
                <a:solidFill>
                  <a:schemeClr val="bg1"/>
                </a:solidFill>
              </a:rPr>
              <a:t>구역</a:t>
            </a:r>
            <a:r>
              <a:rPr lang="en-US" altLang="ko-KR" sz="1000" dirty="0">
                <a:solidFill>
                  <a:schemeClr val="bg1"/>
                </a:solidFill>
              </a:rPr>
              <a:t>)</a:t>
            </a:r>
            <a:endParaRPr lang="ko-KR" altLang="en-US" sz="1000" dirty="0">
              <a:solidFill>
                <a:schemeClr val="bg1"/>
              </a:solidFill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2958309" y="4552686"/>
            <a:ext cx="118173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>
                <a:solidFill>
                  <a:schemeClr val="bg1"/>
                </a:solidFill>
              </a:rPr>
              <a:t>뒤쪽 </a:t>
            </a:r>
            <a:r>
              <a:rPr lang="en-US" altLang="ko-KR" sz="1000" dirty="0">
                <a:solidFill>
                  <a:schemeClr val="bg1"/>
                </a:solidFill>
              </a:rPr>
              <a:t>: 1 </a:t>
            </a:r>
            <a:r>
              <a:rPr lang="ko-KR" altLang="en-US" sz="1000">
                <a:solidFill>
                  <a:schemeClr val="bg1"/>
                </a:solidFill>
              </a:rPr>
              <a:t>행 </a:t>
            </a:r>
            <a:r>
              <a:rPr lang="en-US" altLang="ko-KR" sz="1000" dirty="0">
                <a:solidFill>
                  <a:schemeClr val="bg1"/>
                </a:solidFill>
              </a:rPr>
              <a:t>+ 2</a:t>
            </a:r>
            <a:r>
              <a:rPr lang="ko-KR" altLang="en-US" sz="1000">
                <a:solidFill>
                  <a:schemeClr val="bg1"/>
                </a:solidFill>
              </a:rPr>
              <a:t>행</a:t>
            </a:r>
            <a:endParaRPr lang="ko-KR" altLang="en-US" sz="1000" dirty="0">
              <a:solidFill>
                <a:schemeClr val="bg1"/>
              </a:solidFill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593345" y="8112967"/>
            <a:ext cx="1558983" cy="275279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/>
          <p:cNvSpPr/>
          <p:nvPr/>
        </p:nvSpPr>
        <p:spPr>
          <a:xfrm>
            <a:off x="2136548" y="8100212"/>
            <a:ext cx="1438845" cy="286309"/>
          </a:xfrm>
          <a:prstGeom prst="rect">
            <a:avLst/>
          </a:prstGeom>
          <a:noFill/>
          <a:ln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6083220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출입 관리</a:t>
            </a:r>
          </a:p>
        </p:txBody>
      </p:sp>
    </p:spTree>
    <p:extLst>
      <p:ext uri="{BB962C8B-B14F-4D97-AF65-F5344CB8AC3E}">
        <p14:creationId xmlns:p14="http://schemas.microsoft.com/office/powerpoint/2010/main" val="38505000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3"/>
          <p:cNvSpPr/>
          <p:nvPr/>
        </p:nvSpPr>
        <p:spPr>
          <a:xfrm>
            <a:off x="6885453" y="1416224"/>
            <a:ext cx="1800200" cy="1944216"/>
          </a:xfrm>
          <a:prstGeom prst="roundRect">
            <a:avLst>
              <a:gd name="adj" fmla="val 6508"/>
            </a:avLst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작업자 등록정보</a:t>
            </a:r>
          </a:p>
        </p:txBody>
      </p:sp>
      <p:sp>
        <p:nvSpPr>
          <p:cNvPr id="2" name="모서리가 둥근 직사각형 1"/>
          <p:cNvSpPr/>
          <p:nvPr/>
        </p:nvSpPr>
        <p:spPr>
          <a:xfrm>
            <a:off x="208112" y="632049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006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99228" y="632805"/>
            <a:ext cx="114807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/>
              <a:t>출입등록</a:t>
            </a:r>
            <a:r>
              <a:rPr lang="en-US" altLang="ko-KR" sz="900" dirty="0"/>
              <a:t> </a:t>
            </a:r>
            <a:r>
              <a:rPr lang="ko-KR" altLang="en-US" sz="900"/>
              <a:t>프로세스</a:t>
            </a:r>
            <a:endParaRPr lang="ko-KR" altLang="en-US" sz="900" dirty="0"/>
          </a:p>
        </p:txBody>
      </p:sp>
      <p:sp>
        <p:nvSpPr>
          <p:cNvPr id="56" name="모서리가 둥근 직사각형 55"/>
          <p:cNvSpPr/>
          <p:nvPr/>
        </p:nvSpPr>
        <p:spPr>
          <a:xfrm>
            <a:off x="696974" y="2244316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개별등록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모서리가 둥근 직사각형 58"/>
          <p:cNvSpPr/>
          <p:nvPr/>
        </p:nvSpPr>
        <p:spPr>
          <a:xfrm>
            <a:off x="7101477" y="1776264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기본정보 입력</a:t>
            </a:r>
          </a:p>
        </p:txBody>
      </p:sp>
      <p:sp>
        <p:nvSpPr>
          <p:cNvPr id="61" name="모서리가 둥근 직사각형 60"/>
          <p:cNvSpPr/>
          <p:nvPr/>
        </p:nvSpPr>
        <p:spPr>
          <a:xfrm>
            <a:off x="7101477" y="2208312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방문구분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기간 입력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모서리가 둥근 직사각형 71"/>
          <p:cNvSpPr/>
          <p:nvPr/>
        </p:nvSpPr>
        <p:spPr>
          <a:xfrm>
            <a:off x="7101477" y="264036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스마트 태그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매칭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모서리가 둥근 직사각형 72"/>
          <p:cNvSpPr/>
          <p:nvPr/>
        </p:nvSpPr>
        <p:spPr>
          <a:xfrm>
            <a:off x="7101477" y="2970461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안전밴드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매칭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화살표 연결선 14"/>
          <p:cNvCxnSpPr>
            <a:stCxn id="56" idx="3"/>
            <a:endCxn id="4" idx="1"/>
          </p:cNvCxnSpPr>
          <p:nvPr/>
        </p:nvCxnSpPr>
        <p:spPr>
          <a:xfrm>
            <a:off x="2101843" y="2388332"/>
            <a:ext cx="478361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그림 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888632" y="4856983"/>
            <a:ext cx="500854" cy="50085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7" name="Search Box Rectangle"/>
          <p:cNvSpPr>
            <a:spLocks/>
          </p:cNvSpPr>
          <p:nvPr/>
        </p:nvSpPr>
        <p:spPr bwMode="auto">
          <a:xfrm>
            <a:off x="2223124" y="5709859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2299819" y="6069779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solidFill>
                  <a:srgbClr val="FF0000"/>
                </a:solidFill>
              </a:rPr>
              <a:t>버튼 터치</a:t>
            </a:r>
          </a:p>
        </p:txBody>
      </p:sp>
      <p:cxnSp>
        <p:nvCxnSpPr>
          <p:cNvPr id="79" name="직선 화살표 연결선 78"/>
          <p:cNvCxnSpPr>
            <a:stCxn id="77" idx="3"/>
          </p:cNvCxnSpPr>
          <p:nvPr/>
        </p:nvCxnSpPr>
        <p:spPr>
          <a:xfrm flipV="1">
            <a:off x="3231236" y="5864345"/>
            <a:ext cx="2991534" cy="350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다이아몬드 79"/>
          <p:cNvSpPr/>
          <p:nvPr/>
        </p:nvSpPr>
        <p:spPr>
          <a:xfrm>
            <a:off x="4639806" y="5510572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인식기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활성화</a:t>
            </a:r>
          </a:p>
        </p:txBody>
      </p:sp>
      <p:sp>
        <p:nvSpPr>
          <p:cNvPr id="81" name="폭발 2 80"/>
          <p:cNvSpPr/>
          <p:nvPr/>
        </p:nvSpPr>
        <p:spPr>
          <a:xfrm>
            <a:off x="5251874" y="4856983"/>
            <a:ext cx="295821" cy="250427"/>
          </a:xfrm>
          <a:prstGeom prst="irregularSeal2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pic>
        <p:nvPicPr>
          <p:cNvPr id="82" name="그림 8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0169" y="5616762"/>
            <a:ext cx="477525" cy="477525"/>
          </a:xfrm>
          <a:prstGeom prst="rect">
            <a:avLst/>
          </a:prstGeom>
        </p:spPr>
      </p:pic>
      <p:cxnSp>
        <p:nvCxnSpPr>
          <p:cNvPr id="83" name="직선 화살표 연결선 82"/>
          <p:cNvCxnSpPr>
            <a:stCxn id="80" idx="3"/>
            <a:endCxn id="82" idx="1"/>
          </p:cNvCxnSpPr>
          <p:nvPr/>
        </p:nvCxnSpPr>
        <p:spPr>
          <a:xfrm flipV="1">
            <a:off x="5863942" y="5855525"/>
            <a:ext cx="1486227" cy="123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4" name="그림 8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700000" flipH="1">
            <a:off x="7223109" y="4554984"/>
            <a:ext cx="500854" cy="500854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85" name="그림 8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1703" y="5032353"/>
            <a:ext cx="478219" cy="478219"/>
          </a:xfrm>
          <a:prstGeom prst="rect">
            <a:avLst/>
          </a:prstGeom>
        </p:spPr>
      </p:pic>
      <p:cxnSp>
        <p:nvCxnSpPr>
          <p:cNvPr id="86" name="직선 연결선 85"/>
          <p:cNvCxnSpPr/>
          <p:nvPr/>
        </p:nvCxnSpPr>
        <p:spPr>
          <a:xfrm>
            <a:off x="7827694" y="4816155"/>
            <a:ext cx="373306" cy="16604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/>
          <p:cNvCxnSpPr/>
          <p:nvPr/>
        </p:nvCxnSpPr>
        <p:spPr>
          <a:xfrm>
            <a:off x="7696944" y="4818194"/>
            <a:ext cx="72008" cy="48695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5994676" y="5648901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바코드</a:t>
            </a:r>
            <a:r>
              <a:rPr lang="en-US" altLang="ko-KR" sz="800" dirty="0"/>
              <a:t> </a:t>
            </a:r>
            <a:r>
              <a:rPr lang="ko-KR" altLang="en-US" sz="800"/>
              <a:t>촬영</a:t>
            </a:r>
            <a:endParaRPr lang="ko-KR" altLang="en-US" sz="800" dirty="0" err="1"/>
          </a:p>
        </p:txBody>
      </p:sp>
      <p:sp>
        <p:nvSpPr>
          <p:cNvPr id="89" name="Search Box Rectangle"/>
          <p:cNvSpPr>
            <a:spLocks/>
          </p:cNvSpPr>
          <p:nvPr/>
        </p:nvSpPr>
        <p:spPr bwMode="auto">
          <a:xfrm>
            <a:off x="9148897" y="5702564"/>
            <a:ext cx="187459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8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tag-385-6031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0" name="Search Box Rectangle"/>
          <p:cNvSpPr>
            <a:spLocks/>
          </p:cNvSpPr>
          <p:nvPr/>
        </p:nvSpPr>
        <p:spPr bwMode="auto">
          <a:xfrm>
            <a:off x="11081320" y="5702564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91" name="직선 화살표 연결선 90"/>
          <p:cNvCxnSpPr>
            <a:stCxn id="82" idx="3"/>
          </p:cNvCxnSpPr>
          <p:nvPr/>
        </p:nvCxnSpPr>
        <p:spPr>
          <a:xfrm>
            <a:off x="7827694" y="5855525"/>
            <a:ext cx="1321203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7841703" y="5648901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인식성공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55683" y="6069779"/>
            <a:ext cx="9765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solidFill>
                  <a:srgbClr val="FF0000"/>
                </a:solidFill>
              </a:rPr>
              <a:t>바코드 번호 입력</a:t>
            </a:r>
          </a:p>
        </p:txBody>
      </p:sp>
      <p:cxnSp>
        <p:nvCxnSpPr>
          <p:cNvPr id="94" name="꺾인 연결선 93"/>
          <p:cNvCxnSpPr>
            <a:stCxn id="90" idx="0"/>
            <a:endCxn id="76" idx="0"/>
          </p:cNvCxnSpPr>
          <p:nvPr/>
        </p:nvCxnSpPr>
        <p:spPr>
          <a:xfrm rot="16200000" flipV="1">
            <a:off x="7939428" y="2056615"/>
            <a:ext cx="845581" cy="6446317"/>
          </a:xfrm>
          <a:prstGeom prst="bentConnector3">
            <a:avLst>
              <a:gd name="adj1" fmla="val 168792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11339154" y="5187763"/>
            <a:ext cx="492443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/>
              <a:t>재시도</a:t>
            </a:r>
            <a:endParaRPr lang="ko-KR" altLang="en-US" sz="800" dirty="0" err="1"/>
          </a:p>
        </p:txBody>
      </p:sp>
      <p:sp>
        <p:nvSpPr>
          <p:cNvPr id="96" name="직사각형 95"/>
          <p:cNvSpPr/>
          <p:nvPr/>
        </p:nvSpPr>
        <p:spPr>
          <a:xfrm>
            <a:off x="1772885" y="4613822"/>
            <a:ext cx="2232248" cy="77245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바코드 인식 중 입니다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잠시만 기다리세요</a:t>
            </a:r>
          </a:p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97" name="직사각형 96"/>
          <p:cNvSpPr/>
          <p:nvPr/>
        </p:nvSpPr>
        <p:spPr>
          <a:xfrm>
            <a:off x="1772885" y="5060653"/>
            <a:ext cx="2232248" cy="32562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98" name="모서리가 둥근 사각형 설명선 97"/>
          <p:cNvSpPr/>
          <p:nvPr/>
        </p:nvSpPr>
        <p:spPr>
          <a:xfrm>
            <a:off x="3519268" y="4332994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cxnSp>
        <p:nvCxnSpPr>
          <p:cNvPr id="99" name="직선 화살표 연결선 98"/>
          <p:cNvCxnSpPr>
            <a:stCxn id="96" idx="2"/>
          </p:cNvCxnSpPr>
          <p:nvPr/>
        </p:nvCxnSpPr>
        <p:spPr>
          <a:xfrm>
            <a:off x="2889009" y="5386275"/>
            <a:ext cx="751365" cy="478070"/>
          </a:xfrm>
          <a:prstGeom prst="straightConnector1">
            <a:avLst/>
          </a:prstGeom>
          <a:ln>
            <a:solidFill>
              <a:srgbClr val="C55A1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모서리가 둥근 직사각형 100"/>
          <p:cNvSpPr/>
          <p:nvPr/>
        </p:nvSpPr>
        <p:spPr>
          <a:xfrm>
            <a:off x="620757" y="4168571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001</a:t>
            </a:r>
            <a:endParaRPr lang="ko-KR" altLang="en-US" sz="800" dirty="0"/>
          </a:p>
        </p:txBody>
      </p:sp>
      <p:sp>
        <p:nvSpPr>
          <p:cNvPr id="102" name="TextBox 101"/>
          <p:cNvSpPr txBox="1"/>
          <p:nvPr/>
        </p:nvSpPr>
        <p:spPr>
          <a:xfrm>
            <a:off x="1611873" y="4169327"/>
            <a:ext cx="143981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배포</a:t>
            </a:r>
            <a:r>
              <a:rPr lang="en-US" altLang="ko-KR" sz="900" dirty="0"/>
              <a:t>(</a:t>
            </a:r>
            <a:r>
              <a:rPr lang="ko-KR" altLang="en-US" sz="900"/>
              <a:t>등록</a:t>
            </a:r>
            <a:r>
              <a:rPr lang="en-US" altLang="ko-KR" sz="900" dirty="0"/>
              <a:t>) : </a:t>
            </a:r>
            <a:r>
              <a:rPr lang="ko-KR" altLang="en-US" sz="900"/>
              <a:t>바코드 인식</a:t>
            </a:r>
          </a:p>
        </p:txBody>
      </p:sp>
      <p:cxnSp>
        <p:nvCxnSpPr>
          <p:cNvPr id="19" name="꺾인 연결선 18"/>
          <p:cNvCxnSpPr>
            <a:stCxn id="72" idx="1"/>
            <a:endCxn id="101" idx="0"/>
          </p:cNvCxnSpPr>
          <p:nvPr/>
        </p:nvCxnSpPr>
        <p:spPr>
          <a:xfrm rot="10800000" flipV="1">
            <a:off x="1116315" y="2784375"/>
            <a:ext cx="5985162" cy="1384195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" name="그림 10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888632" y="7658072"/>
            <a:ext cx="500854" cy="50085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04" name="Search Box Rectangle"/>
          <p:cNvSpPr>
            <a:spLocks/>
          </p:cNvSpPr>
          <p:nvPr/>
        </p:nvSpPr>
        <p:spPr bwMode="auto">
          <a:xfrm>
            <a:off x="2223124" y="8510948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2299819" y="8870868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solidFill>
                  <a:srgbClr val="FF0000"/>
                </a:solidFill>
              </a:rPr>
              <a:t>버튼 터치</a:t>
            </a:r>
          </a:p>
        </p:txBody>
      </p:sp>
      <p:cxnSp>
        <p:nvCxnSpPr>
          <p:cNvPr id="106" name="직선 화살표 연결선 105"/>
          <p:cNvCxnSpPr>
            <a:stCxn id="104" idx="3"/>
          </p:cNvCxnSpPr>
          <p:nvPr/>
        </p:nvCxnSpPr>
        <p:spPr>
          <a:xfrm flipV="1">
            <a:off x="3231236" y="8665434"/>
            <a:ext cx="2991534" cy="350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다이아몬드 106"/>
          <p:cNvSpPr/>
          <p:nvPr/>
        </p:nvSpPr>
        <p:spPr>
          <a:xfrm>
            <a:off x="4639806" y="8311661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인식기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활성화</a:t>
            </a:r>
          </a:p>
        </p:txBody>
      </p:sp>
      <p:sp>
        <p:nvSpPr>
          <p:cNvPr id="108" name="폭발 2 107"/>
          <p:cNvSpPr/>
          <p:nvPr/>
        </p:nvSpPr>
        <p:spPr>
          <a:xfrm>
            <a:off x="5251874" y="7658072"/>
            <a:ext cx="295821" cy="250427"/>
          </a:xfrm>
          <a:prstGeom prst="irregularSeal2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cxnSp>
        <p:nvCxnSpPr>
          <p:cNvPr id="110" name="직선 화살표 연결선 109"/>
          <p:cNvCxnSpPr>
            <a:stCxn id="107" idx="3"/>
          </p:cNvCxnSpPr>
          <p:nvPr/>
        </p:nvCxnSpPr>
        <p:spPr>
          <a:xfrm flipV="1">
            <a:off x="5863942" y="8656614"/>
            <a:ext cx="1486227" cy="123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1" name="그림 1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700000" flipH="1">
            <a:off x="7223109" y="7356073"/>
            <a:ext cx="500854" cy="500854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112" name="그림 11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1703" y="7833442"/>
            <a:ext cx="478219" cy="478219"/>
          </a:xfrm>
          <a:prstGeom prst="rect">
            <a:avLst/>
          </a:prstGeom>
        </p:spPr>
      </p:pic>
      <p:cxnSp>
        <p:nvCxnSpPr>
          <p:cNvPr id="113" name="직선 연결선 112"/>
          <p:cNvCxnSpPr/>
          <p:nvPr/>
        </p:nvCxnSpPr>
        <p:spPr>
          <a:xfrm>
            <a:off x="7827694" y="7617244"/>
            <a:ext cx="373306" cy="16604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연결선 113"/>
          <p:cNvCxnSpPr/>
          <p:nvPr/>
        </p:nvCxnSpPr>
        <p:spPr>
          <a:xfrm>
            <a:off x="7696944" y="7619283"/>
            <a:ext cx="72008" cy="48695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/>
          <p:cNvSpPr txBox="1"/>
          <p:nvPr/>
        </p:nvSpPr>
        <p:spPr>
          <a:xfrm>
            <a:off x="5994676" y="8449990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바코드</a:t>
            </a:r>
            <a:r>
              <a:rPr lang="en-US" altLang="ko-KR" sz="800" dirty="0"/>
              <a:t> </a:t>
            </a:r>
            <a:r>
              <a:rPr lang="ko-KR" altLang="en-US" sz="800"/>
              <a:t>촬영</a:t>
            </a:r>
            <a:endParaRPr lang="ko-KR" altLang="en-US" sz="800" dirty="0" err="1"/>
          </a:p>
        </p:txBody>
      </p:sp>
      <p:sp>
        <p:nvSpPr>
          <p:cNvPr id="116" name="Search Box Rectangle"/>
          <p:cNvSpPr>
            <a:spLocks/>
          </p:cNvSpPr>
          <p:nvPr/>
        </p:nvSpPr>
        <p:spPr bwMode="auto">
          <a:xfrm>
            <a:off x="9148897" y="8503653"/>
            <a:ext cx="187459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8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tag-385-6031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17" name="Search Box Rectangle"/>
          <p:cNvSpPr>
            <a:spLocks/>
          </p:cNvSpPr>
          <p:nvPr/>
        </p:nvSpPr>
        <p:spPr bwMode="auto">
          <a:xfrm>
            <a:off x="11081320" y="8503653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18" name="직선 화살표 연결선 117"/>
          <p:cNvCxnSpPr/>
          <p:nvPr/>
        </p:nvCxnSpPr>
        <p:spPr>
          <a:xfrm>
            <a:off x="7827694" y="8656614"/>
            <a:ext cx="1321203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TextBox 118"/>
          <p:cNvSpPr txBox="1"/>
          <p:nvPr/>
        </p:nvSpPr>
        <p:spPr>
          <a:xfrm>
            <a:off x="7841703" y="8449990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인식성공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155683" y="8870868"/>
            <a:ext cx="97654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solidFill>
                  <a:srgbClr val="FF0000"/>
                </a:solidFill>
              </a:rPr>
              <a:t>바코드 번호 입력</a:t>
            </a:r>
          </a:p>
        </p:txBody>
      </p:sp>
      <p:cxnSp>
        <p:nvCxnSpPr>
          <p:cNvPr id="121" name="꺾인 연결선 120"/>
          <p:cNvCxnSpPr>
            <a:stCxn id="117" idx="0"/>
            <a:endCxn id="103" idx="0"/>
          </p:cNvCxnSpPr>
          <p:nvPr/>
        </p:nvCxnSpPr>
        <p:spPr>
          <a:xfrm rot="16200000" flipV="1">
            <a:off x="7939428" y="4857704"/>
            <a:ext cx="845581" cy="6446317"/>
          </a:xfrm>
          <a:prstGeom prst="bentConnector3">
            <a:avLst>
              <a:gd name="adj1" fmla="val 168792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TextBox 121"/>
          <p:cNvSpPr txBox="1"/>
          <p:nvPr/>
        </p:nvSpPr>
        <p:spPr>
          <a:xfrm>
            <a:off x="11339154" y="7988852"/>
            <a:ext cx="492443" cy="215444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800"/>
              <a:t>재시도</a:t>
            </a:r>
            <a:endParaRPr lang="ko-KR" altLang="en-US" sz="800" dirty="0" err="1"/>
          </a:p>
        </p:txBody>
      </p:sp>
      <p:sp>
        <p:nvSpPr>
          <p:cNvPr id="123" name="직사각형 122"/>
          <p:cNvSpPr/>
          <p:nvPr/>
        </p:nvSpPr>
        <p:spPr>
          <a:xfrm>
            <a:off x="1772885" y="7414911"/>
            <a:ext cx="2232248" cy="77245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바코드 인식 중 입니다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잠시만 기다리세요</a:t>
            </a:r>
          </a:p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4" name="직사각형 123"/>
          <p:cNvSpPr/>
          <p:nvPr/>
        </p:nvSpPr>
        <p:spPr>
          <a:xfrm>
            <a:off x="1772885" y="7861742"/>
            <a:ext cx="2232248" cy="32562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125" name="모서리가 둥근 사각형 설명선 124"/>
          <p:cNvSpPr/>
          <p:nvPr/>
        </p:nvSpPr>
        <p:spPr>
          <a:xfrm>
            <a:off x="3519268" y="7134083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cxnSp>
        <p:nvCxnSpPr>
          <p:cNvPr id="126" name="직선 화살표 연결선 125"/>
          <p:cNvCxnSpPr>
            <a:stCxn id="123" idx="2"/>
          </p:cNvCxnSpPr>
          <p:nvPr/>
        </p:nvCxnSpPr>
        <p:spPr>
          <a:xfrm>
            <a:off x="2889009" y="8187364"/>
            <a:ext cx="751365" cy="478070"/>
          </a:xfrm>
          <a:prstGeom prst="straightConnector1">
            <a:avLst/>
          </a:prstGeom>
          <a:ln>
            <a:solidFill>
              <a:srgbClr val="C55A1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/>
          <p:cNvSpPr txBox="1"/>
          <p:nvPr/>
        </p:nvSpPr>
        <p:spPr>
          <a:xfrm>
            <a:off x="1611873" y="6970416"/>
            <a:ext cx="143981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배포</a:t>
            </a:r>
            <a:r>
              <a:rPr lang="en-US" altLang="ko-KR" sz="900" dirty="0"/>
              <a:t>(</a:t>
            </a:r>
            <a:r>
              <a:rPr lang="ko-KR" altLang="en-US" sz="900"/>
              <a:t>등록</a:t>
            </a:r>
            <a:r>
              <a:rPr lang="en-US" altLang="ko-KR" sz="900" dirty="0"/>
              <a:t>) : </a:t>
            </a:r>
            <a:r>
              <a:rPr lang="ko-KR" altLang="en-US" sz="900"/>
              <a:t>바코드 인식</a:t>
            </a:r>
          </a:p>
        </p:txBody>
      </p:sp>
      <p:pic>
        <p:nvPicPr>
          <p:cNvPr id="129" name="그림 12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64178" y="8441543"/>
            <a:ext cx="474960" cy="474960"/>
          </a:xfrm>
          <a:prstGeom prst="rect">
            <a:avLst/>
          </a:prstGeom>
        </p:spPr>
      </p:pic>
      <p:cxnSp>
        <p:nvCxnSpPr>
          <p:cNvPr id="130" name="꺾인 연결선 129"/>
          <p:cNvCxnSpPr>
            <a:stCxn id="73" idx="1"/>
            <a:endCxn id="101" idx="0"/>
          </p:cNvCxnSpPr>
          <p:nvPr/>
        </p:nvCxnSpPr>
        <p:spPr>
          <a:xfrm rot="10800000" flipV="1">
            <a:off x="1116315" y="3114477"/>
            <a:ext cx="5985162" cy="105409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모서리가 둥근 직사각형 130"/>
          <p:cNvSpPr/>
          <p:nvPr/>
        </p:nvSpPr>
        <p:spPr>
          <a:xfrm>
            <a:off x="2940436" y="178023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일괄등록</a:t>
            </a:r>
          </a:p>
        </p:txBody>
      </p:sp>
      <p:sp>
        <p:nvSpPr>
          <p:cNvPr id="132" name="모서리가 둥근 직사각형 131"/>
          <p:cNvSpPr/>
          <p:nvPr/>
        </p:nvSpPr>
        <p:spPr>
          <a:xfrm>
            <a:off x="696974" y="1780230"/>
            <a:ext cx="1937133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일괄등록 양식 입력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엑셀파일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4616488" y="1780230"/>
            <a:ext cx="1404869" cy="288032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파일 업로드</a:t>
            </a:r>
          </a:p>
        </p:txBody>
      </p:sp>
      <p:cxnSp>
        <p:nvCxnSpPr>
          <p:cNvPr id="41" name="직선 화살표 연결선 40"/>
          <p:cNvCxnSpPr>
            <a:stCxn id="132" idx="3"/>
            <a:endCxn id="131" idx="1"/>
          </p:cNvCxnSpPr>
          <p:nvPr/>
        </p:nvCxnSpPr>
        <p:spPr>
          <a:xfrm>
            <a:off x="2634107" y="1924246"/>
            <a:ext cx="30632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화살표 연결선 42"/>
          <p:cNvCxnSpPr>
            <a:stCxn id="131" idx="3"/>
            <a:endCxn id="133" idx="1"/>
          </p:cNvCxnSpPr>
          <p:nvPr/>
        </p:nvCxnSpPr>
        <p:spPr>
          <a:xfrm>
            <a:off x="4345305" y="1924246"/>
            <a:ext cx="27118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화살표 연결선 133"/>
          <p:cNvCxnSpPr>
            <a:stCxn id="133" idx="3"/>
            <a:endCxn id="59" idx="1"/>
          </p:cNvCxnSpPr>
          <p:nvPr/>
        </p:nvCxnSpPr>
        <p:spPr>
          <a:xfrm flipV="1">
            <a:off x="6021357" y="1920280"/>
            <a:ext cx="1080120" cy="396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TextBox 134"/>
          <p:cNvSpPr txBox="1"/>
          <p:nvPr/>
        </p:nvSpPr>
        <p:spPr>
          <a:xfrm>
            <a:off x="6048364" y="1577293"/>
            <a:ext cx="837089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800" dirty="0"/>
              <a:t>default :</a:t>
            </a:r>
          </a:p>
          <a:p>
            <a:r>
              <a:rPr lang="ko-KR" altLang="en-US" sz="800" dirty="0"/>
              <a:t>승인대기</a:t>
            </a:r>
            <a:r>
              <a:rPr lang="en-US" altLang="ko-KR" sz="800" dirty="0"/>
              <a:t> </a:t>
            </a:r>
            <a:r>
              <a:rPr lang="ko-KR" altLang="en-US" sz="800"/>
              <a:t>상태</a:t>
            </a:r>
            <a:endParaRPr lang="ko-KR" altLang="en-US" sz="800" dirty="0"/>
          </a:p>
        </p:txBody>
      </p:sp>
      <p:cxnSp>
        <p:nvCxnSpPr>
          <p:cNvPr id="138" name="직선 연결선 137"/>
          <p:cNvCxnSpPr/>
          <p:nvPr/>
        </p:nvCxnSpPr>
        <p:spPr>
          <a:xfrm>
            <a:off x="1665540" y="6600800"/>
            <a:ext cx="10620513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왼쪽 중괄호 138"/>
          <p:cNvSpPr/>
          <p:nvPr/>
        </p:nvSpPr>
        <p:spPr>
          <a:xfrm>
            <a:off x="1366540" y="4658367"/>
            <a:ext cx="233292" cy="1842962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xtBox 139"/>
          <p:cNvSpPr txBox="1"/>
          <p:nvPr/>
        </p:nvSpPr>
        <p:spPr>
          <a:xfrm>
            <a:off x="585557" y="5429655"/>
            <a:ext cx="780983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000" dirty="0"/>
              <a:t>Smart Tag</a:t>
            </a:r>
            <a:endParaRPr lang="ko-KR" altLang="en-US" sz="1000" dirty="0"/>
          </a:p>
        </p:txBody>
      </p:sp>
      <p:sp>
        <p:nvSpPr>
          <p:cNvPr id="141" name="왼쪽 중괄호 140"/>
          <p:cNvSpPr/>
          <p:nvPr/>
        </p:nvSpPr>
        <p:spPr>
          <a:xfrm>
            <a:off x="1366540" y="6969014"/>
            <a:ext cx="233292" cy="1842962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TextBox 141"/>
          <p:cNvSpPr txBox="1"/>
          <p:nvPr/>
        </p:nvSpPr>
        <p:spPr>
          <a:xfrm>
            <a:off x="490979" y="7740302"/>
            <a:ext cx="875561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000" dirty="0"/>
              <a:t>Safety Band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396401627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2" name="표 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5096224"/>
              </p:ext>
            </p:extLst>
          </p:nvPr>
        </p:nvGraphicFramePr>
        <p:xfrm>
          <a:off x="657612" y="3110369"/>
          <a:ext cx="9220683" cy="5001676"/>
        </p:xfrm>
        <a:graphic>
          <a:graphicData uri="http://schemas.openxmlformats.org/drawingml/2006/table">
            <a:tbl>
              <a:tblPr/>
              <a:tblGrid>
                <a:gridCol w="7863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8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8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57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03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307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46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826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8261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작업자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작업자 소속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출입구역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 구분▲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방문구분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방문기간▲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Device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발급 일시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반납일시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공사현장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승인 대기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나임원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안전관리자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  <a:endParaRPr lang="ko-KR" alt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6" name="그룹 5"/>
          <p:cNvGrpSpPr/>
          <p:nvPr/>
        </p:nvGrpSpPr>
        <p:grpSpPr>
          <a:xfrm>
            <a:off x="7388287" y="2640360"/>
            <a:ext cx="2540905" cy="360040"/>
            <a:chOff x="6216165" y="3409447"/>
            <a:chExt cx="2540905" cy="460588"/>
          </a:xfrm>
        </p:grpSpPr>
        <p:sp>
          <p:nvSpPr>
            <p:cNvPr id="7" name="Search Box Rectangle"/>
            <p:cNvSpPr>
              <a:spLocks/>
            </p:cNvSpPr>
            <p:nvPr/>
          </p:nvSpPr>
          <p:spPr bwMode="auto">
            <a:xfrm>
              <a:off x="6216165" y="3409447"/>
              <a:ext cx="2540905" cy="4605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작업자 검색</a:t>
              </a:r>
              <a:endParaRPr lang="de-DE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grpSp>
          <p:nvGrpSpPr>
            <p:cNvPr id="8" name="Search Button"/>
            <p:cNvGrpSpPr>
              <a:grpSpLocks noChangeAspect="1"/>
            </p:cNvGrpSpPr>
            <p:nvPr/>
          </p:nvGrpSpPr>
          <p:grpSpPr>
            <a:xfrm>
              <a:off x="8438167" y="3466473"/>
              <a:ext cx="268008" cy="346536"/>
              <a:chOff x="7353453" y="2672191"/>
              <a:chExt cx="183869" cy="237744"/>
            </a:xfrm>
          </p:grpSpPr>
          <p:sp>
            <p:nvSpPr>
              <p:cNvPr id="10" name="Search Button Rectangle"/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7353453" y="2672191"/>
                <a:ext cx="183869" cy="237744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+mn-ea"/>
                  <a:cs typeface="Calibri" pitchFamily="34" charset="0"/>
                </a:endParaRPr>
              </a:p>
            </p:txBody>
          </p:sp>
          <p:sp>
            <p:nvSpPr>
              <p:cNvPr id="11" name="Search Icon"/>
              <p:cNvSpPr>
                <a:spLocks noChangeAspect="1"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80303" y="2708767"/>
                <a:ext cx="128572" cy="164592"/>
              </a:xfrm>
              <a:custGeom>
                <a:avLst/>
                <a:gdLst>
                  <a:gd name="T0" fmla="*/ 22 w 592"/>
                  <a:gd name="T1" fmla="*/ 483 h 592"/>
                  <a:gd name="T2" fmla="*/ 170 w 592"/>
                  <a:gd name="T3" fmla="*/ 338 h 592"/>
                  <a:gd name="T4" fmla="*/ 147 w 592"/>
                  <a:gd name="T5" fmla="*/ 225 h 592"/>
                  <a:gd name="T6" fmla="*/ 366 w 592"/>
                  <a:gd name="T7" fmla="*/ 0 h 592"/>
                  <a:gd name="T8" fmla="*/ 592 w 592"/>
                  <a:gd name="T9" fmla="*/ 225 h 592"/>
                  <a:gd name="T10" fmla="*/ 366 w 592"/>
                  <a:gd name="T11" fmla="*/ 444 h 592"/>
                  <a:gd name="T12" fmla="*/ 258 w 592"/>
                  <a:gd name="T13" fmla="*/ 424 h 592"/>
                  <a:gd name="T14" fmla="*/ 109 w 592"/>
                  <a:gd name="T15" fmla="*/ 570 h 592"/>
                  <a:gd name="T16" fmla="*/ 22 w 592"/>
                  <a:gd name="T17" fmla="*/ 570 h 592"/>
                  <a:gd name="T18" fmla="*/ 22 w 592"/>
                  <a:gd name="T19" fmla="*/ 483 h 592"/>
                  <a:gd name="T20" fmla="*/ 366 w 592"/>
                  <a:gd name="T21" fmla="*/ 84 h 592"/>
                  <a:gd name="T22" fmla="*/ 225 w 592"/>
                  <a:gd name="T23" fmla="*/ 225 h 592"/>
                  <a:gd name="T24" fmla="*/ 366 w 592"/>
                  <a:gd name="T25" fmla="*/ 367 h 592"/>
                  <a:gd name="T26" fmla="*/ 507 w 592"/>
                  <a:gd name="T27" fmla="*/ 225 h 592"/>
                  <a:gd name="T28" fmla="*/ 366 w 592"/>
                  <a:gd name="T29" fmla="*/ 84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2" h="592">
                    <a:moveTo>
                      <a:pt x="22" y="483"/>
                    </a:moveTo>
                    <a:lnTo>
                      <a:pt x="170" y="338"/>
                    </a:lnTo>
                    <a:cubicBezTo>
                      <a:pt x="151" y="305"/>
                      <a:pt x="147" y="267"/>
                      <a:pt x="147" y="225"/>
                    </a:cubicBezTo>
                    <a:cubicBezTo>
                      <a:pt x="147" y="101"/>
                      <a:pt x="241" y="0"/>
                      <a:pt x="366" y="0"/>
                    </a:cubicBezTo>
                    <a:cubicBezTo>
                      <a:pt x="491" y="0"/>
                      <a:pt x="592" y="101"/>
                      <a:pt x="592" y="225"/>
                    </a:cubicBezTo>
                    <a:cubicBezTo>
                      <a:pt x="592" y="350"/>
                      <a:pt x="491" y="444"/>
                      <a:pt x="366" y="444"/>
                    </a:cubicBezTo>
                    <a:cubicBezTo>
                      <a:pt x="327" y="444"/>
                      <a:pt x="290" y="441"/>
                      <a:pt x="258" y="424"/>
                    </a:cubicBezTo>
                    <a:lnTo>
                      <a:pt x="109" y="570"/>
                    </a:lnTo>
                    <a:cubicBezTo>
                      <a:pt x="87" y="592"/>
                      <a:pt x="44" y="592"/>
                      <a:pt x="22" y="570"/>
                    </a:cubicBezTo>
                    <a:cubicBezTo>
                      <a:pt x="0" y="548"/>
                      <a:pt x="0" y="505"/>
                      <a:pt x="22" y="483"/>
                    </a:cubicBezTo>
                    <a:close/>
                    <a:moveTo>
                      <a:pt x="366" y="84"/>
                    </a:moveTo>
                    <a:cubicBezTo>
                      <a:pt x="288" y="84"/>
                      <a:pt x="225" y="148"/>
                      <a:pt x="225" y="225"/>
                    </a:cubicBezTo>
                    <a:cubicBezTo>
                      <a:pt x="225" y="303"/>
                      <a:pt x="288" y="367"/>
                      <a:pt x="366" y="367"/>
                    </a:cubicBezTo>
                    <a:cubicBezTo>
                      <a:pt x="444" y="367"/>
                      <a:pt x="507" y="303"/>
                      <a:pt x="507" y="225"/>
                    </a:cubicBezTo>
                    <a:cubicBezTo>
                      <a:pt x="507" y="148"/>
                      <a:pt x="444" y="84"/>
                      <a:pt x="36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900" dirty="0">
                  <a:latin typeface="+mn-ea"/>
                  <a:cs typeface="Calibri" pitchFamily="34" charset="0"/>
                </a:endParaRPr>
              </a:p>
            </p:txBody>
          </p:sp>
        </p:grpSp>
        <p:sp>
          <p:nvSpPr>
            <p:cNvPr id="9" name="Clear Button"/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8216311" y="3512376"/>
              <a:ext cx="160950" cy="233047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2" name="직사각형 11"/>
          <p:cNvSpPr/>
          <p:nvPr/>
        </p:nvSpPr>
        <p:spPr>
          <a:xfrm>
            <a:off x="4255909" y="2640360"/>
            <a:ext cx="879170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개별 등록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5240018" y="2640360"/>
            <a:ext cx="879170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14" name="직사각형 13"/>
          <p:cNvSpPr/>
          <p:nvPr/>
        </p:nvSpPr>
        <p:spPr>
          <a:xfrm>
            <a:off x="6224127" y="2640360"/>
            <a:ext cx="879170" cy="368341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반납</a:t>
            </a:r>
          </a:p>
        </p:txBody>
      </p:sp>
      <p:sp>
        <p:nvSpPr>
          <p:cNvPr id="15" name="Search Box Rectangle"/>
          <p:cNvSpPr>
            <a:spLocks/>
          </p:cNvSpPr>
          <p:nvPr/>
        </p:nvSpPr>
        <p:spPr bwMode="auto">
          <a:xfrm>
            <a:off x="728729" y="2784376"/>
            <a:ext cx="268743" cy="22440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de-DE" sz="8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16" name="Chevron"/>
          <p:cNvSpPr>
            <a:spLocks noChangeAspect="1"/>
          </p:cNvSpPr>
          <p:nvPr/>
        </p:nvSpPr>
        <p:spPr bwMode="auto">
          <a:xfrm>
            <a:off x="800737" y="2837387"/>
            <a:ext cx="144016" cy="102341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1016761" y="2784376"/>
            <a:ext cx="14590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 dirty="0">
                <a:latin typeface="+mn-ea"/>
              </a:rPr>
              <a:t>안전 밴드 착용자만 보기</a:t>
            </a:r>
            <a:endParaRPr lang="de-DE" altLang="ko-KR" sz="900" dirty="0">
              <a:latin typeface="+mn-ea"/>
            </a:endParaRPr>
          </a:p>
        </p:txBody>
      </p:sp>
      <p:pic>
        <p:nvPicPr>
          <p:cNvPr id="21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657613" y="8044616"/>
            <a:ext cx="9271577" cy="14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2" name="직선 연결선 21"/>
          <p:cNvCxnSpPr/>
          <p:nvPr/>
        </p:nvCxnSpPr>
        <p:spPr>
          <a:xfrm>
            <a:off x="9864270" y="348649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그림 2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6904" y="4331581"/>
            <a:ext cx="211110" cy="211110"/>
          </a:xfrm>
          <a:prstGeom prst="rect">
            <a:avLst/>
          </a:prstGeom>
        </p:spPr>
      </p:pic>
      <p:pic>
        <p:nvPicPr>
          <p:cNvPr id="24" name="그림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6904" y="5100029"/>
            <a:ext cx="211110" cy="211110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6904" y="5863313"/>
            <a:ext cx="211110" cy="211110"/>
          </a:xfrm>
          <a:prstGeom prst="rect">
            <a:avLst/>
          </a:prstGeom>
        </p:spPr>
      </p:pic>
      <p:sp>
        <p:nvSpPr>
          <p:cNvPr id="26" name="직사각형 25"/>
          <p:cNvSpPr/>
          <p:nvPr/>
        </p:nvSpPr>
        <p:spPr>
          <a:xfrm>
            <a:off x="9840291" y="174264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8445264" y="174264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774200" y="265299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4603886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5602983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6587092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8487516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5" name="모서리가 둥근 사각형 설명선 34"/>
          <p:cNvSpPr/>
          <p:nvPr/>
        </p:nvSpPr>
        <p:spPr>
          <a:xfrm>
            <a:off x="2962470" y="2383816"/>
            <a:ext cx="1220544" cy="337003"/>
          </a:xfrm>
          <a:prstGeom prst="wedgeRoundRectCallout">
            <a:avLst>
              <a:gd name="adj1" fmla="val 75243"/>
              <a:gd name="adj2" fmla="val 114170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001</a:t>
            </a:r>
          </a:p>
          <a:p>
            <a:pPr algn="ctr"/>
            <a:r>
              <a:rPr lang="ko-KR" altLang="en-US" sz="800" dirty="0">
                <a:latin typeface="+mn-ea"/>
              </a:rPr>
              <a:t>개별등록 팝업</a:t>
            </a:r>
          </a:p>
        </p:txBody>
      </p:sp>
      <p:sp>
        <p:nvSpPr>
          <p:cNvPr id="36" name="모서리가 둥근 사각형 설명선 35"/>
          <p:cNvSpPr/>
          <p:nvPr/>
        </p:nvSpPr>
        <p:spPr>
          <a:xfrm>
            <a:off x="4725597" y="2181414"/>
            <a:ext cx="800850" cy="318109"/>
          </a:xfrm>
          <a:prstGeom prst="wedgeRoundRectCallout">
            <a:avLst>
              <a:gd name="adj1" fmla="val 39663"/>
              <a:gd name="adj2" fmla="val 121979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002</a:t>
            </a:r>
          </a:p>
          <a:p>
            <a:pPr algn="ctr"/>
            <a:r>
              <a:rPr lang="ko-KR" altLang="en-US" sz="800" dirty="0">
                <a:latin typeface="+mn-ea"/>
              </a:rPr>
              <a:t>일괄등록 팝업</a:t>
            </a:r>
          </a:p>
        </p:txBody>
      </p:sp>
      <p:sp>
        <p:nvSpPr>
          <p:cNvPr id="37" name="직사각형 36"/>
          <p:cNvSpPr/>
          <p:nvPr/>
        </p:nvSpPr>
        <p:spPr>
          <a:xfrm>
            <a:off x="9827979" y="36390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8" name="직사각형 37"/>
          <p:cNvSpPr/>
          <p:nvPr/>
        </p:nvSpPr>
        <p:spPr>
          <a:xfrm>
            <a:off x="9319344" y="30242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5388968" y="30004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40" name="그림 3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120" y="3899437"/>
            <a:ext cx="243548" cy="243548"/>
          </a:xfrm>
          <a:prstGeom prst="rect">
            <a:avLst/>
          </a:prstGeom>
        </p:spPr>
      </p:pic>
      <p:pic>
        <p:nvPicPr>
          <p:cNvPr id="41" name="그림 4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120" y="4706128"/>
            <a:ext cx="243548" cy="243548"/>
          </a:xfrm>
          <a:prstGeom prst="rect">
            <a:avLst/>
          </a:prstGeom>
        </p:spPr>
      </p:pic>
      <p:pic>
        <p:nvPicPr>
          <p:cNvPr id="42" name="그림 4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120" y="5442965"/>
            <a:ext cx="243548" cy="243548"/>
          </a:xfrm>
          <a:prstGeom prst="rect">
            <a:avLst/>
          </a:prstGeom>
        </p:spPr>
      </p:pic>
      <p:pic>
        <p:nvPicPr>
          <p:cNvPr id="43" name="그림 4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120" y="6608549"/>
            <a:ext cx="243548" cy="243548"/>
          </a:xfrm>
          <a:prstGeom prst="rect">
            <a:avLst/>
          </a:prstGeom>
        </p:spPr>
      </p:pic>
      <p:sp>
        <p:nvSpPr>
          <p:cNvPr id="44" name="직사각형 43"/>
          <p:cNvSpPr/>
          <p:nvPr/>
        </p:nvSpPr>
        <p:spPr>
          <a:xfrm>
            <a:off x="7362026" y="37911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6150992" y="30004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6" name="직사각형 45"/>
          <p:cNvSpPr/>
          <p:nvPr/>
        </p:nvSpPr>
        <p:spPr>
          <a:xfrm>
            <a:off x="831473" y="5660369"/>
            <a:ext cx="1464872" cy="311141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latin typeface="+mn-ea"/>
              </a:rPr>
              <a:t>터치영역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1527607" y="555648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8" name="모서리가 둥근 사각형 설명선 47"/>
          <p:cNvSpPr/>
          <p:nvPr/>
        </p:nvSpPr>
        <p:spPr>
          <a:xfrm>
            <a:off x="1021112" y="6103383"/>
            <a:ext cx="1059208" cy="366026"/>
          </a:xfrm>
          <a:prstGeom prst="wedgeRoundRectCallout">
            <a:avLst>
              <a:gd name="adj1" fmla="val 58651"/>
              <a:gd name="adj2" fmla="val -117391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001</a:t>
            </a:r>
          </a:p>
          <a:p>
            <a:pPr algn="ctr"/>
            <a:r>
              <a:rPr lang="ko-KR" altLang="en-US" sz="800" dirty="0">
                <a:latin typeface="+mn-ea"/>
              </a:rPr>
              <a:t>출입자 등록 팝업</a:t>
            </a: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3583370"/>
              </p:ext>
            </p:extLst>
          </p:nvPr>
        </p:nvGraphicFramePr>
        <p:xfrm>
          <a:off x="10633534" y="1272208"/>
          <a:ext cx="2088232" cy="14082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0" name="TextBox 49"/>
          <p:cNvSpPr txBox="1"/>
          <p:nvPr/>
        </p:nvSpPr>
        <p:spPr>
          <a:xfrm>
            <a:off x="10599179" y="632805"/>
            <a:ext cx="118814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출입자에 대한 관리</a:t>
            </a:r>
            <a:endParaRPr lang="en-US" altLang="ko-KR" sz="900" dirty="0">
              <a:latin typeface="+mn-ea"/>
            </a:endParaRPr>
          </a:p>
          <a:p>
            <a:r>
              <a:rPr lang="en-US" altLang="ko-KR" sz="900" dirty="0">
                <a:latin typeface="+mn-ea"/>
              </a:rPr>
              <a:t>(</a:t>
            </a:r>
            <a:r>
              <a:rPr lang="ko-KR" altLang="en-US" sz="900">
                <a:latin typeface="+mn-ea"/>
              </a:rPr>
              <a:t>출입 </a:t>
            </a:r>
            <a:r>
              <a:rPr lang="en-US" altLang="ko-KR" sz="900" dirty="0">
                <a:latin typeface="+mn-ea"/>
              </a:rPr>
              <a:t>Tag </a:t>
            </a:r>
            <a:r>
              <a:rPr lang="ko-KR" altLang="en-US" sz="900">
                <a:latin typeface="+mn-ea"/>
              </a:rPr>
              <a:t>와</a:t>
            </a:r>
            <a:r>
              <a:rPr lang="en-US" altLang="ko-KR" sz="900" dirty="0">
                <a:latin typeface="+mn-ea"/>
              </a:rPr>
              <a:t> band)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51" name="표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7123307"/>
              </p:ext>
            </p:extLst>
          </p:nvPr>
        </p:nvGraphicFramePr>
        <p:xfrm>
          <a:off x="10633534" y="1272208"/>
          <a:ext cx="2088232" cy="640509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Complex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 명칭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Event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사이드팝업 영역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체크 영역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체크 해제할 때 까지 계속 체크되어있는 상태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 팝업 출력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(popup 001)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일괄등록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(popup 002)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 팝업 출력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&amp;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바코드 인식기 활성화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반납처리 완료 후 화면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새로고침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검색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검색 후 현재 화면에서 검색된 내용이 보여지게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스크롤 기준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1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(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날짜의 데이터는 전체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그 이후의 데이터는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당겨서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더보기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반납일시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사용중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 사용 중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반납일시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반압의 년월일시분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미반납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출입불가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상태로 된 사용자가 태그를 반납하지 않았을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출입구분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승인대기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 가능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 불가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반납되었을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출입자와 연결되어있는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있을 시 아이콘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 구분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일일 방문자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당일로 구분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방문기간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 세팅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우측 캘린더 선택 비활성화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수시방문자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기간지정 필요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임직원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방문기간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터치영역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 페이지 팝업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pic>
        <p:nvPicPr>
          <p:cNvPr id="67" name="그림 6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120" y="7759619"/>
            <a:ext cx="243548" cy="243548"/>
          </a:xfrm>
          <a:prstGeom prst="rect">
            <a:avLst/>
          </a:prstGeom>
        </p:spPr>
      </p:pic>
      <p:sp>
        <p:nvSpPr>
          <p:cNvPr id="59" name="모서리가 둥근 사각형 설명선 58"/>
          <p:cNvSpPr/>
          <p:nvPr/>
        </p:nvSpPr>
        <p:spPr>
          <a:xfrm>
            <a:off x="6686105" y="2181414"/>
            <a:ext cx="1153483" cy="318109"/>
          </a:xfrm>
          <a:prstGeom prst="wedgeRoundRectCallout">
            <a:avLst>
              <a:gd name="adj1" fmla="val -30520"/>
              <a:gd name="adj2" fmla="val 137802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043</a:t>
            </a:r>
          </a:p>
          <a:p>
            <a:pPr algn="ctr"/>
            <a:r>
              <a:rPr lang="ko-KR" altLang="en-US" sz="800" dirty="0">
                <a:latin typeface="+mn-ea"/>
              </a:rPr>
              <a:t>디바이스 반납</a:t>
            </a:r>
          </a:p>
        </p:txBody>
      </p:sp>
      <p:graphicFrame>
        <p:nvGraphicFramePr>
          <p:cNvPr id="53" name="표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577078"/>
              </p:ext>
            </p:extLst>
          </p:nvPr>
        </p:nvGraphicFramePr>
        <p:xfrm>
          <a:off x="10633534" y="7897295"/>
          <a:ext cx="2088232" cy="9388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안전관리자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이름밑에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4" name="직사각형 53"/>
          <p:cNvSpPr/>
          <p:nvPr/>
        </p:nvSpPr>
        <p:spPr>
          <a:xfrm>
            <a:off x="517817" y="421544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317163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표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659711"/>
              </p:ext>
            </p:extLst>
          </p:nvPr>
        </p:nvGraphicFramePr>
        <p:xfrm>
          <a:off x="657612" y="1272208"/>
          <a:ext cx="9182680" cy="7328320"/>
        </p:xfrm>
        <a:graphic>
          <a:graphicData uri="http://schemas.openxmlformats.org/drawingml/2006/table">
            <a:tbl>
              <a:tblPr/>
              <a:tblGrid>
                <a:gridCol w="783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7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85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19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69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256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1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7815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7815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작업자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작업자 소속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출입구역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 구분▲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방문구분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방문기간▲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Device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발급 일시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반납일시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공사현장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승인 대기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나임원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안전관리자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출입 가능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  <a:endParaRPr lang="ko-KR" altLang="en-US" sz="800" b="0" i="0" u="none" strike="noStrike" dirty="0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반납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공사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출입 불가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0000.00.00 10:00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사용중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0000.00.00 10:00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미반납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843387"/>
              </p:ext>
            </p:extLst>
          </p:nvPr>
        </p:nvGraphicFramePr>
        <p:xfrm>
          <a:off x="10633534" y="1272208"/>
          <a:ext cx="2088232" cy="59740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</a:t>
                      </a:r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시나리오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 </a:t>
                      </a:r>
                      <a:r>
                        <a:rPr lang="ko-KR" altLang="en-US" sz="80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설명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 사용자 승인 대기 중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정상적으로 사용되는 상황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출입자가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발급받고 사용중일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92075" indent="-92075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출입자와 연결되어있는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스마트 태그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 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와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함께 있을 시 두줄로 표현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92075" indent="-92075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 아이콘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일반 출입과 같이 출입관련 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사용중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으로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사용중일 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사용중으로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반납했을 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출입구분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반납일시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일시표현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출입자가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발급받고 반납했을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 사용자가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받납했을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latinLnBrk="1">
                        <a:buAutoNum type="arabicParenR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사용자를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출입불가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한 상태인데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92075" indent="-92075" latinLnBrk="1">
                        <a:buAutoNum type="arabicParenR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태그와 밴드 둘 다 미반납 상태일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latinLnBrk="1">
                        <a:buAutoNum type="arabicParenR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출입불가 조치된 사용자가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했을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latinLnBrk="1">
                        <a:buAutoNum type="arabicParenR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출입불가 조치된 사용자가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92075" indent="-92075" latinLnBrk="1">
                        <a:buAutoNum type="arabicParenR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안전밴드만 반납한 상태일 때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태그는 반납하지 않음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일괄적으로 모두 반납 했을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날짜가 지나서 출입불가로 변경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미반납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날짜가 지나서 출입불가로 변경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미반납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4" name="그림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5599" y="3269868"/>
            <a:ext cx="211110" cy="211110"/>
          </a:xfrm>
          <a:prstGeom prst="rect">
            <a:avLst/>
          </a:prstGeom>
        </p:spPr>
      </p:pic>
      <p:pic>
        <p:nvPicPr>
          <p:cNvPr id="5" name="그림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5599" y="4045936"/>
            <a:ext cx="211110" cy="211110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5599" y="5234681"/>
            <a:ext cx="211110" cy="211110"/>
          </a:xfrm>
          <a:prstGeom prst="rect">
            <a:avLst/>
          </a:prstGeom>
        </p:spPr>
      </p:pic>
      <p:sp>
        <p:nvSpPr>
          <p:cNvPr id="7" name="왼쪽 중괄호 6"/>
          <p:cNvSpPr/>
          <p:nvPr/>
        </p:nvSpPr>
        <p:spPr>
          <a:xfrm>
            <a:off x="568152" y="2845244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사각형 7"/>
          <p:cNvSpPr/>
          <p:nvPr/>
        </p:nvSpPr>
        <p:spPr>
          <a:xfrm>
            <a:off x="302828" y="309662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" name="왼쪽 중괄호 8"/>
          <p:cNvSpPr/>
          <p:nvPr/>
        </p:nvSpPr>
        <p:spPr>
          <a:xfrm>
            <a:off x="568152" y="3641839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/>
          <p:cNvSpPr/>
          <p:nvPr/>
        </p:nvSpPr>
        <p:spPr>
          <a:xfrm>
            <a:off x="302828" y="389321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1" name="왼쪽 중괄호 10"/>
          <p:cNvSpPr/>
          <p:nvPr/>
        </p:nvSpPr>
        <p:spPr>
          <a:xfrm>
            <a:off x="568152" y="4369062"/>
            <a:ext cx="45719" cy="390030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/>
          <p:cNvSpPr/>
          <p:nvPr/>
        </p:nvSpPr>
        <p:spPr>
          <a:xfrm>
            <a:off x="302828" y="4473145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왼쪽 중괄호 12"/>
          <p:cNvSpPr/>
          <p:nvPr/>
        </p:nvSpPr>
        <p:spPr>
          <a:xfrm>
            <a:off x="568152" y="4802584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/>
          <p:cNvSpPr/>
          <p:nvPr/>
        </p:nvSpPr>
        <p:spPr>
          <a:xfrm>
            <a:off x="302828" y="505396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5" name="왼쪽 중괄호 14"/>
          <p:cNvSpPr/>
          <p:nvPr/>
        </p:nvSpPr>
        <p:spPr>
          <a:xfrm>
            <a:off x="568152" y="5529807"/>
            <a:ext cx="45719" cy="390030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/>
          <p:cNvSpPr/>
          <p:nvPr/>
        </p:nvSpPr>
        <p:spPr>
          <a:xfrm>
            <a:off x="302828" y="5633890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왼쪽 중괄호 16"/>
          <p:cNvSpPr/>
          <p:nvPr/>
        </p:nvSpPr>
        <p:spPr>
          <a:xfrm>
            <a:off x="568152" y="5951466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직사각형 17"/>
          <p:cNvSpPr/>
          <p:nvPr/>
        </p:nvSpPr>
        <p:spPr>
          <a:xfrm>
            <a:off x="302828" y="6202843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왼쪽 중괄호 18"/>
          <p:cNvSpPr/>
          <p:nvPr/>
        </p:nvSpPr>
        <p:spPr>
          <a:xfrm>
            <a:off x="568152" y="6701492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/>
          <p:cNvSpPr/>
          <p:nvPr/>
        </p:nvSpPr>
        <p:spPr>
          <a:xfrm>
            <a:off x="302828" y="6952869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" name="왼쪽 중괄호 20"/>
          <p:cNvSpPr/>
          <p:nvPr/>
        </p:nvSpPr>
        <p:spPr>
          <a:xfrm>
            <a:off x="568152" y="2064296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직사각형 21"/>
          <p:cNvSpPr/>
          <p:nvPr/>
        </p:nvSpPr>
        <p:spPr>
          <a:xfrm>
            <a:off x="302828" y="2315673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5599" y="2507096"/>
            <a:ext cx="211110" cy="211110"/>
          </a:xfrm>
          <a:prstGeom prst="rect">
            <a:avLst/>
          </a:prstGeom>
        </p:spPr>
      </p:pic>
      <p:sp>
        <p:nvSpPr>
          <p:cNvPr id="24" name="왼쪽 중괄호 23"/>
          <p:cNvSpPr/>
          <p:nvPr/>
        </p:nvSpPr>
        <p:spPr>
          <a:xfrm>
            <a:off x="568152" y="1617833"/>
            <a:ext cx="45719" cy="390030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직사각형 24"/>
          <p:cNvSpPr/>
          <p:nvPr/>
        </p:nvSpPr>
        <p:spPr>
          <a:xfrm>
            <a:off x="302828" y="172191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2085668"/>
            <a:ext cx="243548" cy="243548"/>
          </a:xfrm>
          <a:prstGeom prst="rect">
            <a:avLst/>
          </a:prstGeom>
        </p:spPr>
      </p:pic>
      <p:pic>
        <p:nvPicPr>
          <p:cNvPr id="27" name="그림 2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2853065"/>
            <a:ext cx="243548" cy="243548"/>
          </a:xfrm>
          <a:prstGeom prst="rect">
            <a:avLst/>
          </a:prstGeom>
        </p:spPr>
      </p:pic>
      <p:pic>
        <p:nvPicPr>
          <p:cNvPr id="28" name="그림 2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3620462"/>
            <a:ext cx="243548" cy="243548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4781265"/>
            <a:ext cx="243548" cy="243548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5942068"/>
            <a:ext cx="243548" cy="24354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5599" y="8300681"/>
            <a:ext cx="211110" cy="211110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7875207"/>
            <a:ext cx="243548" cy="243548"/>
          </a:xfrm>
          <a:prstGeom prst="rect">
            <a:avLst/>
          </a:prstGeom>
        </p:spPr>
      </p:pic>
      <p:pic>
        <p:nvPicPr>
          <p:cNvPr id="33" name="그림 3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9380" y="7470002"/>
            <a:ext cx="243548" cy="243548"/>
          </a:xfrm>
          <a:prstGeom prst="rect">
            <a:avLst/>
          </a:prstGeom>
        </p:spPr>
      </p:pic>
      <p:sp>
        <p:nvSpPr>
          <p:cNvPr id="34" name="왼쪽 중괄호 33"/>
          <p:cNvSpPr/>
          <p:nvPr/>
        </p:nvSpPr>
        <p:spPr>
          <a:xfrm>
            <a:off x="568152" y="7447913"/>
            <a:ext cx="45719" cy="390030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/>
          <p:cNvSpPr/>
          <p:nvPr/>
        </p:nvSpPr>
        <p:spPr>
          <a:xfrm>
            <a:off x="302828" y="755199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6" name="왼쪽 중괄호 35"/>
          <p:cNvSpPr/>
          <p:nvPr/>
        </p:nvSpPr>
        <p:spPr>
          <a:xfrm>
            <a:off x="568152" y="7875207"/>
            <a:ext cx="45719" cy="683731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/>
          <p:cNvSpPr/>
          <p:nvPr/>
        </p:nvSpPr>
        <p:spPr>
          <a:xfrm>
            <a:off x="302828" y="8126584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" name="오른쪽 대괄호 2"/>
          <p:cNvSpPr/>
          <p:nvPr/>
        </p:nvSpPr>
        <p:spPr>
          <a:xfrm>
            <a:off x="9929192" y="1617833"/>
            <a:ext cx="216026" cy="6982695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직사각형 39"/>
          <p:cNvSpPr/>
          <p:nvPr/>
        </p:nvSpPr>
        <p:spPr>
          <a:xfrm>
            <a:off x="10056318" y="481255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9049870"/>
              </p:ext>
            </p:extLst>
          </p:nvPr>
        </p:nvGraphicFramePr>
        <p:xfrm>
          <a:off x="10633534" y="7462821"/>
          <a:ext cx="2088232" cy="5721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등록자의 소속과 동일한 작업자만 보여져야 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509480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직사각형 87"/>
          <p:cNvSpPr/>
          <p:nvPr/>
        </p:nvSpPr>
        <p:spPr>
          <a:xfrm>
            <a:off x="403493" y="1128192"/>
            <a:ext cx="9730657" cy="7272809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001</a:t>
            </a:r>
            <a:endParaRPr lang="ko-KR" altLang="en-US" sz="800" dirty="0"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1561736" y="632805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출입자 등록</a:t>
            </a:r>
          </a:p>
        </p:txBody>
      </p:sp>
      <p:sp>
        <p:nvSpPr>
          <p:cNvPr id="7" name="직사각형 6"/>
          <p:cNvSpPr/>
          <p:nvPr/>
        </p:nvSpPr>
        <p:spPr>
          <a:xfrm>
            <a:off x="1720280" y="1363937"/>
            <a:ext cx="7632848" cy="732509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821499" y="1381407"/>
            <a:ext cx="753163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작업자 개별 등록</a:t>
            </a:r>
          </a:p>
        </p:txBody>
      </p:sp>
      <p:sp>
        <p:nvSpPr>
          <p:cNvPr id="9" name="Search Box Rectangle"/>
          <p:cNvSpPr>
            <a:spLocks/>
          </p:cNvSpPr>
          <p:nvPr/>
        </p:nvSpPr>
        <p:spPr bwMode="auto">
          <a:xfrm>
            <a:off x="3201804" y="1795548"/>
            <a:ext cx="51432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홍길동</a:t>
            </a:r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821499" y="1815043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작업자 성명</a:t>
            </a:r>
          </a:p>
        </p:txBody>
      </p:sp>
      <p:sp>
        <p:nvSpPr>
          <p:cNvPr id="10" name="Search Box Rectangle"/>
          <p:cNvSpPr>
            <a:spLocks/>
          </p:cNvSpPr>
          <p:nvPr/>
        </p:nvSpPr>
        <p:spPr bwMode="auto">
          <a:xfrm>
            <a:off x="3201804" y="2278549"/>
            <a:ext cx="5143212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200" dirty="0" err="1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xxxx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 xx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                                                                ▼</a:t>
            </a:r>
            <a:endParaRPr lang="de-DE" sz="1200" dirty="0">
              <a:solidFill>
                <a:schemeClr val="bg1">
                  <a:lumMod val="50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821499" y="2298044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소속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2930363" y="18504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2930363" y="23309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5" name="Search Box Rectangle"/>
          <p:cNvSpPr>
            <a:spLocks/>
          </p:cNvSpPr>
          <p:nvPr/>
        </p:nvSpPr>
        <p:spPr bwMode="auto">
          <a:xfrm>
            <a:off x="3201804" y="2761550"/>
            <a:ext cx="3396203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01012345678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821499" y="2781045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전화번호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2930363" y="28082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399510" y="2779885"/>
            <a:ext cx="947695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1000">
                <a:solidFill>
                  <a:schemeClr val="bg1">
                    <a:lumMod val="75000"/>
                  </a:schemeClr>
                </a:solidFill>
                <a:latin typeface="+mn-ea"/>
              </a:rPr>
              <a:t>숫자로 입력</a:t>
            </a:r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1000" dirty="0" err="1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22" name="Search Box Rectangle"/>
          <p:cNvSpPr>
            <a:spLocks/>
          </p:cNvSpPr>
          <p:nvPr/>
        </p:nvSpPr>
        <p:spPr bwMode="auto">
          <a:xfrm>
            <a:off x="3201804" y="3244552"/>
            <a:ext cx="3396203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000000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821499" y="3264047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생년월일</a:t>
            </a:r>
          </a:p>
        </p:txBody>
      </p:sp>
      <p:sp>
        <p:nvSpPr>
          <p:cNvPr id="24" name="직사각형 23"/>
          <p:cNvSpPr/>
          <p:nvPr/>
        </p:nvSpPr>
        <p:spPr>
          <a:xfrm>
            <a:off x="2930363" y="33077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6598008" y="3279435"/>
            <a:ext cx="1749197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(</a:t>
            </a:r>
            <a:r>
              <a:rPr lang="ko-KR" altLang="en-US" sz="1000">
                <a:solidFill>
                  <a:schemeClr val="bg1">
                    <a:lumMod val="75000"/>
                  </a:schemeClr>
                </a:solidFill>
                <a:latin typeface="+mn-ea"/>
              </a:rPr>
              <a:t>년월일 </a:t>
            </a:r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>
                    <a:lumMod val="75000"/>
                  </a:schemeClr>
                </a:solidFill>
                <a:latin typeface="+mn-ea"/>
              </a:rPr>
              <a:t>자리 숫자로 입력</a:t>
            </a:r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</a:t>
            </a:r>
            <a:endParaRPr lang="ko-KR" altLang="en-US" sz="1000" dirty="0" err="1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821499" y="4433251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출입 승인</a:t>
            </a:r>
          </a:p>
        </p:txBody>
      </p:sp>
      <p:sp>
        <p:nvSpPr>
          <p:cNvPr id="33" name="직사각형 32"/>
          <p:cNvSpPr/>
          <p:nvPr/>
        </p:nvSpPr>
        <p:spPr>
          <a:xfrm>
            <a:off x="4289419" y="4363667"/>
            <a:ext cx="1070233" cy="382939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출입 가능</a:t>
            </a:r>
          </a:p>
        </p:txBody>
      </p:sp>
      <p:sp>
        <p:nvSpPr>
          <p:cNvPr id="34" name="직사각형 33"/>
          <p:cNvSpPr/>
          <p:nvPr/>
        </p:nvSpPr>
        <p:spPr>
          <a:xfrm>
            <a:off x="5359652" y="4363667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출입 불가</a:t>
            </a:r>
          </a:p>
        </p:txBody>
      </p:sp>
      <p:sp>
        <p:nvSpPr>
          <p:cNvPr id="35" name="직사각형 34"/>
          <p:cNvSpPr/>
          <p:nvPr/>
        </p:nvSpPr>
        <p:spPr>
          <a:xfrm>
            <a:off x="3201803" y="4363667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승인 대기</a:t>
            </a:r>
          </a:p>
        </p:txBody>
      </p:sp>
      <p:sp>
        <p:nvSpPr>
          <p:cNvPr id="39" name="Search Box Rectangle"/>
          <p:cNvSpPr>
            <a:spLocks/>
          </p:cNvSpPr>
          <p:nvPr/>
        </p:nvSpPr>
        <p:spPr bwMode="auto">
          <a:xfrm>
            <a:off x="3201804" y="4912864"/>
            <a:ext cx="4022640" cy="369828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일반 구역 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/ 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특수 구역 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/ 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위험 구역</a:t>
            </a:r>
            <a:endParaRPr lang="de-DE" sz="1200" dirty="0">
              <a:solidFill>
                <a:schemeClr val="bg1">
                  <a:lumMod val="50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0" name="Search Box Rectangle"/>
          <p:cNvSpPr>
            <a:spLocks/>
          </p:cNvSpPr>
          <p:nvPr/>
        </p:nvSpPr>
        <p:spPr bwMode="auto">
          <a:xfrm>
            <a:off x="7294750" y="4922652"/>
            <a:ext cx="1108792" cy="360040"/>
          </a:xfrm>
          <a:prstGeom prst="roundRect">
            <a:avLst>
              <a:gd name="adj" fmla="val 7849"/>
            </a:avLst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출입구역 선택</a:t>
            </a:r>
            <a:endParaRPr lang="de-DE" altLang="ko-KR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1821499" y="3723800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작업자 사진</a:t>
            </a:r>
          </a:p>
        </p:txBody>
      </p:sp>
      <p:sp>
        <p:nvSpPr>
          <p:cNvPr id="51" name="Search Box Rectangle"/>
          <p:cNvSpPr>
            <a:spLocks/>
          </p:cNvSpPr>
          <p:nvPr/>
        </p:nvSpPr>
        <p:spPr bwMode="auto">
          <a:xfrm>
            <a:off x="3201803" y="3727551"/>
            <a:ext cx="3396204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+mn-ea"/>
                <a:cs typeface="Segoe UI" pitchFamily="34" charset="0"/>
              </a:rPr>
              <a:t>Image003-00123.jpg</a:t>
            </a:r>
            <a:endParaRPr lang="de-DE" sz="1200" dirty="0">
              <a:solidFill>
                <a:schemeClr val="bg1">
                  <a:lumMod val="50000"/>
                </a:schemeClr>
              </a:solidFill>
              <a:latin typeface="+mn-ea"/>
              <a:cs typeface="Segoe UI" pitchFamily="34" charset="0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6690482" y="3727551"/>
            <a:ext cx="315990" cy="315990"/>
            <a:chOff x="3514444" y="6764375"/>
            <a:chExt cx="700012" cy="700012"/>
          </a:xfrm>
        </p:grpSpPr>
        <p:sp>
          <p:nvSpPr>
            <p:cNvPr id="53" name="타원 52"/>
            <p:cNvSpPr/>
            <p:nvPr/>
          </p:nvSpPr>
          <p:spPr>
            <a:xfrm>
              <a:off x="3514444" y="6764375"/>
              <a:ext cx="700012" cy="700012"/>
            </a:xfrm>
            <a:prstGeom prst="ellipse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algn="ctr" defTabSz="914400" latinLnBrk="0"/>
              <a:endPara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endParaRPr>
            </a:p>
          </p:txBody>
        </p:sp>
        <p:pic>
          <p:nvPicPr>
            <p:cNvPr id="54" name="그림 5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41909" y="6884331"/>
              <a:ext cx="445081" cy="445081"/>
            </a:xfrm>
            <a:prstGeom prst="rect">
              <a:avLst/>
            </a:prstGeom>
          </p:spPr>
        </p:pic>
      </p:grpSp>
      <p:pic>
        <p:nvPicPr>
          <p:cNvPr id="55" name="그림 5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3881" y="3671332"/>
            <a:ext cx="431172" cy="431172"/>
          </a:xfrm>
          <a:prstGeom prst="rect">
            <a:avLst/>
          </a:prstGeom>
        </p:spPr>
      </p:pic>
      <p:cxnSp>
        <p:nvCxnSpPr>
          <p:cNvPr id="56" name="직선 연결선 55"/>
          <p:cNvCxnSpPr/>
          <p:nvPr/>
        </p:nvCxnSpPr>
        <p:spPr>
          <a:xfrm>
            <a:off x="1720280" y="4224536"/>
            <a:ext cx="7632848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Search Box Rectangle"/>
          <p:cNvSpPr>
            <a:spLocks/>
          </p:cNvSpPr>
          <p:nvPr/>
        </p:nvSpPr>
        <p:spPr bwMode="auto">
          <a:xfrm>
            <a:off x="3201804" y="5418763"/>
            <a:ext cx="402264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일일 방문자                                                    ▼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821499" y="5438258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방문 구분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821499" y="5857083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방문 기간</a:t>
            </a:r>
          </a:p>
        </p:txBody>
      </p:sp>
      <p:sp>
        <p:nvSpPr>
          <p:cNvPr id="60" name="Search Box Rectangle"/>
          <p:cNvSpPr>
            <a:spLocks/>
          </p:cNvSpPr>
          <p:nvPr/>
        </p:nvSpPr>
        <p:spPr bwMode="auto">
          <a:xfrm>
            <a:off x="3201805" y="5837588"/>
            <a:ext cx="107284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0000.00.00 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0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5025656" y="5719625"/>
            <a:ext cx="54374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latin typeface="+mn-ea"/>
              </a:rPr>
              <a:t>~</a:t>
            </a:r>
            <a:endParaRPr lang="ko-KR" altLang="en-US">
              <a:latin typeface="+mn-ea"/>
            </a:endParaRPr>
          </a:p>
        </p:txBody>
      </p:sp>
      <p:sp>
        <p:nvSpPr>
          <p:cNvPr id="62" name="Search Box Rectangle"/>
          <p:cNvSpPr>
            <a:spLocks/>
          </p:cNvSpPr>
          <p:nvPr/>
        </p:nvSpPr>
        <p:spPr bwMode="auto">
          <a:xfrm>
            <a:off x="4348987" y="5837588"/>
            <a:ext cx="635905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</a:t>
            </a:r>
            <a:r>
              <a:rPr lang="ko-KR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시▼</a:t>
            </a:r>
            <a:endParaRPr lang="de-DE" sz="10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3" name="Search Box Rectangle"/>
          <p:cNvSpPr>
            <a:spLocks/>
          </p:cNvSpPr>
          <p:nvPr/>
        </p:nvSpPr>
        <p:spPr bwMode="auto">
          <a:xfrm>
            <a:off x="5441357" y="5837588"/>
            <a:ext cx="107284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0000.00.00 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0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4" name="Search Box Rectangle"/>
          <p:cNvSpPr>
            <a:spLocks/>
          </p:cNvSpPr>
          <p:nvPr/>
        </p:nvSpPr>
        <p:spPr bwMode="auto">
          <a:xfrm>
            <a:off x="6588539" y="5837588"/>
            <a:ext cx="635905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</a:t>
            </a:r>
            <a:r>
              <a:rPr lang="ko-KR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시▼</a:t>
            </a:r>
            <a:endParaRPr lang="de-DE" sz="10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cxnSp>
        <p:nvCxnSpPr>
          <p:cNvPr id="65" name="직선 연결선 64"/>
          <p:cNvCxnSpPr/>
          <p:nvPr/>
        </p:nvCxnSpPr>
        <p:spPr>
          <a:xfrm>
            <a:off x="1720280" y="6312768"/>
            <a:ext cx="7632848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Search Box Rectangle"/>
          <p:cNvSpPr>
            <a:spLocks/>
          </p:cNvSpPr>
          <p:nvPr/>
        </p:nvSpPr>
        <p:spPr bwMode="auto">
          <a:xfrm>
            <a:off x="4929996" y="8013002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삭제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7" name="Search Box Rectangle"/>
          <p:cNvSpPr>
            <a:spLocks/>
          </p:cNvSpPr>
          <p:nvPr/>
        </p:nvSpPr>
        <p:spPr bwMode="auto">
          <a:xfrm>
            <a:off x="3806617" y="8013002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821499" y="6529665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스마트태그</a:t>
            </a:r>
          </a:p>
        </p:txBody>
      </p:sp>
      <p:sp>
        <p:nvSpPr>
          <p:cNvPr id="70" name="Search Box Rectangle"/>
          <p:cNvSpPr>
            <a:spLocks/>
          </p:cNvSpPr>
          <p:nvPr/>
        </p:nvSpPr>
        <p:spPr bwMode="auto">
          <a:xfrm>
            <a:off x="3201805" y="6532304"/>
            <a:ext cx="292011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tag-385-6031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71" name="Search Box Rectangle"/>
          <p:cNvSpPr>
            <a:spLocks/>
          </p:cNvSpPr>
          <p:nvPr/>
        </p:nvSpPr>
        <p:spPr bwMode="auto">
          <a:xfrm>
            <a:off x="6213985" y="6532304"/>
            <a:ext cx="1008112" cy="315990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/>
          <p:cNvSpPr/>
          <p:nvPr/>
        </p:nvSpPr>
        <p:spPr>
          <a:xfrm>
            <a:off x="2930363" y="657767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1821498" y="7007307"/>
            <a:ext cx="11208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안전밴드</a:t>
            </a:r>
          </a:p>
        </p:txBody>
      </p:sp>
      <p:sp>
        <p:nvSpPr>
          <p:cNvPr id="74" name="Search Box Rectangle"/>
          <p:cNvSpPr>
            <a:spLocks/>
          </p:cNvSpPr>
          <p:nvPr/>
        </p:nvSpPr>
        <p:spPr bwMode="auto">
          <a:xfrm>
            <a:off x="3201805" y="6987811"/>
            <a:ext cx="292011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band-395-691</a:t>
            </a:r>
          </a:p>
        </p:txBody>
      </p:sp>
      <p:sp>
        <p:nvSpPr>
          <p:cNvPr id="75" name="Search Box Rectangle"/>
          <p:cNvSpPr>
            <a:spLocks/>
          </p:cNvSpPr>
          <p:nvPr/>
        </p:nvSpPr>
        <p:spPr bwMode="auto">
          <a:xfrm>
            <a:off x="6213985" y="6987811"/>
            <a:ext cx="1008112" cy="315990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바코드 인식</a:t>
            </a:r>
            <a:endParaRPr lang="de-DE" altLang="ko-KR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7187273" y="65984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2930363" y="70331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79" name="직선 연결선 78"/>
          <p:cNvCxnSpPr/>
          <p:nvPr/>
        </p:nvCxnSpPr>
        <p:spPr>
          <a:xfrm>
            <a:off x="2728392" y="7795483"/>
            <a:ext cx="5544616" cy="0"/>
          </a:xfrm>
          <a:prstGeom prst="line">
            <a:avLst/>
          </a:prstGeom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Search Box Rectangle"/>
          <p:cNvSpPr>
            <a:spLocks/>
          </p:cNvSpPr>
          <p:nvPr/>
        </p:nvSpPr>
        <p:spPr bwMode="auto">
          <a:xfrm>
            <a:off x="6040760" y="8013002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등록 </a:t>
            </a:r>
            <a:r>
              <a:rPr lang="en-US" altLang="ko-KR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/ </a:t>
            </a:r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수정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3" name="모서리가 둥근 사각형 설명선 82"/>
          <p:cNvSpPr/>
          <p:nvPr/>
        </p:nvSpPr>
        <p:spPr>
          <a:xfrm>
            <a:off x="5832866" y="6228834"/>
            <a:ext cx="800850" cy="215587"/>
          </a:xfrm>
          <a:prstGeom prst="wedgeRoundRectCallout">
            <a:avLst>
              <a:gd name="adj1" fmla="val 65452"/>
              <a:gd name="adj2" fmla="val 108403"/>
              <a:gd name="adj3" fmla="val 16667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Process 001</a:t>
            </a:r>
            <a:endParaRPr lang="ko-KR" altLang="en-US" sz="800" dirty="0">
              <a:latin typeface="+mn-ea"/>
            </a:endParaRPr>
          </a:p>
        </p:txBody>
      </p:sp>
      <p:graphicFrame>
        <p:nvGraphicFramePr>
          <p:cNvPr id="89" name="표 8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7296552"/>
              </p:ext>
            </p:extLst>
          </p:nvPr>
        </p:nvGraphicFramePr>
        <p:xfrm>
          <a:off x="10633534" y="1272208"/>
          <a:ext cx="2088232" cy="77380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성명 입력 텍스트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소속선택 불가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등록자 계정의 소속이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전화번호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숫자만 입력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생년월일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사진 등록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사진찍기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앨범에서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 승인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 기간이 남았으나 출입불가로 설정해야 할 경우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출입권한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출입구역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 구분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일일 방문자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당일로 구분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방문기간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 세팅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우측 캘린더 선택 비활성화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수시방문자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기간지정 필요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임직원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방문기간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방문기간 선택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캘린더 팝업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~ 23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 까지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 단위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입력된 바코드 번호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입력된 바코드 번호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MAC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(Bar code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촬영하여 입력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취소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데이터 삭제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바코드 인식 후 배터리 부족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알럿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0" name="직사각형 89"/>
          <p:cNvSpPr/>
          <p:nvPr/>
        </p:nvSpPr>
        <p:spPr>
          <a:xfrm>
            <a:off x="2930363" y="37945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2930363" y="44608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3" name="직사각형 92"/>
          <p:cNvSpPr/>
          <p:nvPr/>
        </p:nvSpPr>
        <p:spPr>
          <a:xfrm>
            <a:off x="2930363" y="501878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4" name="직사각형 93"/>
          <p:cNvSpPr/>
          <p:nvPr/>
        </p:nvSpPr>
        <p:spPr>
          <a:xfrm>
            <a:off x="2930363" y="547690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7189047" y="5446398"/>
            <a:ext cx="15568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방문 구분을 선택하세요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11081320" y="4272059"/>
            <a:ext cx="1640446" cy="261610"/>
            <a:chOff x="11081320" y="2810798"/>
            <a:chExt cx="1640446" cy="261610"/>
          </a:xfrm>
        </p:grpSpPr>
        <p:grpSp>
          <p:nvGrpSpPr>
            <p:cNvPr id="98" name="그룹 97"/>
            <p:cNvGrpSpPr/>
            <p:nvPr/>
          </p:nvGrpSpPr>
          <p:grpSpPr>
            <a:xfrm>
              <a:off x="11081320" y="2810798"/>
              <a:ext cx="1640446" cy="261610"/>
              <a:chOff x="8656077" y="3291140"/>
              <a:chExt cx="3697350" cy="484011"/>
            </a:xfrm>
          </p:grpSpPr>
          <p:sp>
            <p:nvSpPr>
              <p:cNvPr id="101" name="Search Box Rectangle"/>
              <p:cNvSpPr>
                <a:spLocks/>
              </p:cNvSpPr>
              <p:nvPr/>
            </p:nvSpPr>
            <p:spPr bwMode="auto">
              <a:xfrm>
                <a:off x="8656077" y="3409103"/>
                <a:ext cx="1719893" cy="315990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28" rIns="109728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e-DE" sz="5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endParaRPr>
              </a:p>
            </p:txBody>
          </p:sp>
          <p:sp>
            <p:nvSpPr>
              <p:cNvPr id="102" name="Search Box Rectangle"/>
              <p:cNvSpPr>
                <a:spLocks/>
              </p:cNvSpPr>
              <p:nvPr/>
            </p:nvSpPr>
            <p:spPr bwMode="auto">
              <a:xfrm>
                <a:off x="10633534" y="3409103"/>
                <a:ext cx="1719893" cy="31599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19050" cap="flat" cmpd="sng" algn="ctr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28" rIns="109728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e-DE" altLang="ko-KR" sz="5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endParaRPr>
              </a:p>
            </p:txBody>
          </p:sp>
          <p:sp>
            <p:nvSpPr>
              <p:cNvPr id="103" name="TextBox 102"/>
              <p:cNvSpPr txBox="1"/>
              <p:nvPr/>
            </p:nvSpPr>
            <p:spPr>
              <a:xfrm>
                <a:off x="10216863" y="3291140"/>
                <a:ext cx="371737" cy="4840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050" dirty="0">
                    <a:latin typeface="+mn-ea"/>
                  </a:rPr>
                  <a:t>~</a:t>
                </a:r>
                <a:endParaRPr lang="ko-KR" altLang="en-US" sz="1050">
                  <a:latin typeface="+mn-ea"/>
                </a:endParaRPr>
              </a:p>
            </p:txBody>
          </p:sp>
        </p:grpSp>
        <p:sp>
          <p:nvSpPr>
            <p:cNvPr id="99" name="Chevron"/>
            <p:cNvSpPr>
              <a:spLocks noChangeAspect="1"/>
            </p:cNvSpPr>
            <p:nvPr/>
          </p:nvSpPr>
          <p:spPr bwMode="auto">
            <a:xfrm>
              <a:off x="11709475" y="2937095"/>
              <a:ext cx="64337" cy="45719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00" name="Chevron"/>
            <p:cNvSpPr>
              <a:spLocks noChangeAspect="1"/>
            </p:cNvSpPr>
            <p:nvPr/>
          </p:nvSpPr>
          <p:spPr bwMode="auto">
            <a:xfrm>
              <a:off x="12599068" y="2937095"/>
              <a:ext cx="64337" cy="45719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04" name="직사각형 103"/>
          <p:cNvSpPr/>
          <p:nvPr/>
        </p:nvSpPr>
        <p:spPr>
          <a:xfrm>
            <a:off x="2930363" y="58696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5" name="직사각형 104"/>
          <p:cNvSpPr/>
          <p:nvPr/>
        </p:nvSpPr>
        <p:spPr>
          <a:xfrm>
            <a:off x="4183136" y="79086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6" name="직사각형 105"/>
          <p:cNvSpPr/>
          <p:nvPr/>
        </p:nvSpPr>
        <p:spPr>
          <a:xfrm>
            <a:off x="5352457" y="79086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6451976" y="79086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08" name="그룹 107"/>
          <p:cNvGrpSpPr/>
          <p:nvPr/>
        </p:nvGrpSpPr>
        <p:grpSpPr>
          <a:xfrm>
            <a:off x="9836580" y="4649771"/>
            <a:ext cx="635905" cy="4537617"/>
            <a:chOff x="9836580" y="4649771"/>
            <a:chExt cx="635905" cy="4537617"/>
          </a:xfrm>
        </p:grpSpPr>
        <p:sp>
          <p:nvSpPr>
            <p:cNvPr id="109" name="Search Box Rectangle"/>
            <p:cNvSpPr>
              <a:spLocks/>
            </p:cNvSpPr>
            <p:nvPr/>
          </p:nvSpPr>
          <p:spPr bwMode="auto">
            <a:xfrm>
              <a:off x="9836580" y="4649771"/>
              <a:ext cx="635905" cy="453761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04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05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06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07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08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09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14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15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16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17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18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19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10" name="Chevron"/>
            <p:cNvSpPr>
              <a:spLocks noChangeAspect="1"/>
            </p:cNvSpPr>
            <p:nvPr/>
          </p:nvSpPr>
          <p:spPr bwMode="auto">
            <a:xfrm>
              <a:off x="10306911" y="4759833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48" name="모서리가 둥근 사각형 설명선 47"/>
          <p:cNvSpPr/>
          <p:nvPr/>
        </p:nvSpPr>
        <p:spPr>
          <a:xfrm>
            <a:off x="8631218" y="3968641"/>
            <a:ext cx="1095683" cy="385596"/>
          </a:xfrm>
          <a:prstGeom prst="wedgeRoundRectCallout">
            <a:avLst>
              <a:gd name="adj1" fmla="val -84534"/>
              <a:gd name="adj2" fmla="val 252796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004</a:t>
            </a:r>
          </a:p>
          <a:p>
            <a:pPr algn="ctr"/>
            <a:r>
              <a:rPr lang="ko-KR" altLang="en-US" sz="800" dirty="0">
                <a:latin typeface="+mn-ea"/>
              </a:rPr>
              <a:t>출입구역 선택 팝업</a:t>
            </a:r>
          </a:p>
        </p:txBody>
      </p:sp>
      <p:cxnSp>
        <p:nvCxnSpPr>
          <p:cNvPr id="111" name="꺾인 연결선 110"/>
          <p:cNvCxnSpPr>
            <a:stCxn id="64" idx="3"/>
          </p:cNvCxnSpPr>
          <p:nvPr/>
        </p:nvCxnSpPr>
        <p:spPr>
          <a:xfrm>
            <a:off x="7224444" y="5995583"/>
            <a:ext cx="2612136" cy="401862"/>
          </a:xfrm>
          <a:prstGeom prst="bentConnector3">
            <a:avLst/>
          </a:prstGeom>
          <a:ln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4" name="Calendar"/>
          <p:cNvGrpSpPr>
            <a:grpSpLocks noChangeAspect="1"/>
          </p:cNvGrpSpPr>
          <p:nvPr/>
        </p:nvGrpSpPr>
        <p:grpSpPr>
          <a:xfrm>
            <a:off x="202266" y="7787693"/>
            <a:ext cx="2005495" cy="1630821"/>
            <a:chOff x="508000" y="1414760"/>
            <a:chExt cx="1727350" cy="1404640"/>
          </a:xfrm>
        </p:grpSpPr>
        <p:sp>
          <p:nvSpPr>
            <p:cNvPr id="115" name="Calendar Background"/>
            <p:cNvSpPr>
              <a:spLocks/>
            </p:cNvSpPr>
            <p:nvPr/>
          </p:nvSpPr>
          <p:spPr bwMode="auto">
            <a:xfrm>
              <a:off x="508000" y="1414760"/>
              <a:ext cx="1727350" cy="1404640"/>
            </a:xfrm>
            <a:prstGeom prst="roundRect">
              <a:avLst>
                <a:gd name="adj" fmla="val 1539"/>
              </a:avLst>
            </a:prstGeom>
            <a:solidFill>
              <a:schemeClr val="bg1"/>
            </a:solidFill>
            <a:ln w="6350" cap="flat" cmpd="sng" algn="ctr">
              <a:solidFill>
                <a:srgbClr val="7F7F7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+mn-ea"/>
              </a:endParaRPr>
            </a:p>
          </p:txBody>
        </p:sp>
        <p:grpSp>
          <p:nvGrpSpPr>
            <p:cNvPr id="116" name="Month"/>
            <p:cNvGrpSpPr>
              <a:grpSpLocks noChangeAspect="1"/>
            </p:cNvGrpSpPr>
            <p:nvPr/>
          </p:nvGrpSpPr>
          <p:grpSpPr bwMode="auto">
            <a:xfrm>
              <a:off x="652463" y="1531938"/>
              <a:ext cx="1430338" cy="1165226"/>
              <a:chOff x="652463" y="1531938"/>
              <a:chExt cx="1430338" cy="1165226"/>
            </a:xfrm>
          </p:grpSpPr>
          <p:sp>
            <p:nvSpPr>
              <p:cNvPr id="117" name="Month and Year"/>
              <p:cNvSpPr>
                <a:spLocks noEditPoints="1"/>
              </p:cNvSpPr>
              <p:nvPr/>
            </p:nvSpPr>
            <p:spPr bwMode="auto">
              <a:xfrm>
                <a:off x="1047751" y="1531938"/>
                <a:ext cx="641350" cy="104775"/>
              </a:xfrm>
              <a:custGeom>
                <a:avLst/>
                <a:gdLst>
                  <a:gd name="T0" fmla="*/ 1839 w 2967"/>
                  <a:gd name="T1" fmla="*/ 45 h 485"/>
                  <a:gd name="T2" fmla="*/ 1900 w 2967"/>
                  <a:gd name="T3" fmla="*/ 48 h 485"/>
                  <a:gd name="T4" fmla="*/ 1956 w 2967"/>
                  <a:gd name="T5" fmla="*/ 201 h 485"/>
                  <a:gd name="T6" fmla="*/ 1836 w 2967"/>
                  <a:gd name="T7" fmla="*/ 375 h 485"/>
                  <a:gd name="T8" fmla="*/ 2066 w 2967"/>
                  <a:gd name="T9" fmla="*/ 349 h 485"/>
                  <a:gd name="T10" fmla="*/ 2046 w 2967"/>
                  <a:gd name="T11" fmla="*/ 133 h 485"/>
                  <a:gd name="T12" fmla="*/ 2150 w 2967"/>
                  <a:gd name="T13" fmla="*/ 53 h 485"/>
                  <a:gd name="T14" fmla="*/ 2350 w 2967"/>
                  <a:gd name="T15" fmla="*/ 331 h 485"/>
                  <a:gd name="T16" fmla="*/ 2553 w 2967"/>
                  <a:gd name="T17" fmla="*/ 3 h 485"/>
                  <a:gd name="T18" fmla="*/ 2452 w 2967"/>
                  <a:gd name="T19" fmla="*/ 94 h 485"/>
                  <a:gd name="T20" fmla="*/ 2455 w 2967"/>
                  <a:gd name="T21" fmla="*/ 344 h 485"/>
                  <a:gd name="T22" fmla="*/ 2663 w 2967"/>
                  <a:gd name="T23" fmla="*/ 379 h 485"/>
                  <a:gd name="T24" fmla="*/ 2591 w 2967"/>
                  <a:gd name="T25" fmla="*/ 340 h 485"/>
                  <a:gd name="T26" fmla="*/ 146 w 2967"/>
                  <a:gd name="T27" fmla="*/ 4 h 485"/>
                  <a:gd name="T28" fmla="*/ 23 w 2967"/>
                  <a:gd name="T29" fmla="*/ 381 h 485"/>
                  <a:gd name="T30" fmla="*/ 272 w 2967"/>
                  <a:gd name="T31" fmla="*/ 377 h 485"/>
                  <a:gd name="T32" fmla="*/ 194 w 2967"/>
                  <a:gd name="T33" fmla="*/ 14 h 485"/>
                  <a:gd name="T34" fmla="*/ 2750 w 2967"/>
                  <a:gd name="T35" fmla="*/ 176 h 485"/>
                  <a:gd name="T36" fmla="*/ 2915 w 2967"/>
                  <a:gd name="T37" fmla="*/ 264 h 485"/>
                  <a:gd name="T38" fmla="*/ 2739 w 2967"/>
                  <a:gd name="T39" fmla="*/ 321 h 485"/>
                  <a:gd name="T40" fmla="*/ 2737 w 2967"/>
                  <a:gd name="T41" fmla="*/ 364 h 485"/>
                  <a:gd name="T42" fmla="*/ 2967 w 2967"/>
                  <a:gd name="T43" fmla="*/ 259 h 485"/>
                  <a:gd name="T44" fmla="*/ 2933 w 2967"/>
                  <a:gd name="T45" fmla="*/ 48 h 485"/>
                  <a:gd name="T46" fmla="*/ 1544 w 2967"/>
                  <a:gd name="T47" fmla="*/ 33 h 485"/>
                  <a:gd name="T48" fmla="*/ 1477 w 2967"/>
                  <a:gd name="T49" fmla="*/ 109 h 485"/>
                  <a:gd name="T50" fmla="*/ 1539 w 2967"/>
                  <a:gd name="T51" fmla="*/ 363 h 485"/>
                  <a:gd name="T52" fmla="*/ 1645 w 2967"/>
                  <a:gd name="T53" fmla="*/ 353 h 485"/>
                  <a:gd name="T54" fmla="*/ 1605 w 2967"/>
                  <a:gd name="T55" fmla="*/ 343 h 485"/>
                  <a:gd name="T56" fmla="*/ 1642 w 2967"/>
                  <a:gd name="T57" fmla="*/ 109 h 485"/>
                  <a:gd name="T58" fmla="*/ 1544 w 2967"/>
                  <a:gd name="T59" fmla="*/ 33 h 485"/>
                  <a:gd name="T60" fmla="*/ 2327 w 2967"/>
                  <a:gd name="T61" fmla="*/ 235 h 485"/>
                  <a:gd name="T62" fmla="*/ 2176 w 2967"/>
                  <a:gd name="T63" fmla="*/ 261 h 485"/>
                  <a:gd name="T64" fmla="*/ 224 w 2967"/>
                  <a:gd name="T65" fmla="*/ 241 h 485"/>
                  <a:gd name="T66" fmla="*/ 680 w 2967"/>
                  <a:gd name="T67" fmla="*/ 227 h 485"/>
                  <a:gd name="T68" fmla="*/ 661 w 2967"/>
                  <a:gd name="T69" fmla="*/ 396 h 485"/>
                  <a:gd name="T70" fmla="*/ 895 w 2967"/>
                  <a:gd name="T71" fmla="*/ 430 h 485"/>
                  <a:gd name="T72" fmla="*/ 711 w 2967"/>
                  <a:gd name="T73" fmla="*/ 299 h 485"/>
                  <a:gd name="T74" fmla="*/ 877 w 2967"/>
                  <a:gd name="T75" fmla="*/ 192 h 485"/>
                  <a:gd name="T76" fmla="*/ 817 w 2967"/>
                  <a:gd name="T77" fmla="*/ 104 h 485"/>
                  <a:gd name="T78" fmla="*/ 1269 w 2967"/>
                  <a:gd name="T79" fmla="*/ 206 h 485"/>
                  <a:gd name="T80" fmla="*/ 1391 w 2967"/>
                  <a:gd name="T81" fmla="*/ 323 h 485"/>
                  <a:gd name="T82" fmla="*/ 1262 w 2967"/>
                  <a:gd name="T83" fmla="*/ 323 h 485"/>
                  <a:gd name="T84" fmla="*/ 1313 w 2967"/>
                  <a:gd name="T85" fmla="*/ 383 h 485"/>
                  <a:gd name="T86" fmla="*/ 1400 w 2967"/>
                  <a:gd name="T87" fmla="*/ 237 h 485"/>
                  <a:gd name="T88" fmla="*/ 1337 w 2967"/>
                  <a:gd name="T89" fmla="*/ 139 h 485"/>
                  <a:gd name="T90" fmla="*/ 1428 w 2967"/>
                  <a:gd name="T91" fmla="*/ 146 h 485"/>
                  <a:gd name="T92" fmla="*/ 1379 w 2967"/>
                  <a:gd name="T93" fmla="*/ 101 h 485"/>
                  <a:gd name="T94" fmla="*/ 380 w 2967"/>
                  <a:gd name="T95" fmla="*/ 318 h 485"/>
                  <a:gd name="T96" fmla="*/ 560 w 2967"/>
                  <a:gd name="T97" fmla="*/ 379 h 485"/>
                  <a:gd name="T98" fmla="*/ 598 w 2967"/>
                  <a:gd name="T99" fmla="*/ 108 h 485"/>
                  <a:gd name="T100" fmla="*/ 551 w 2967"/>
                  <a:gd name="T101" fmla="*/ 294 h 485"/>
                  <a:gd name="T102" fmla="*/ 422 w 2967"/>
                  <a:gd name="T103" fmla="*/ 108 h 485"/>
                  <a:gd name="T104" fmla="*/ 966 w 2967"/>
                  <a:gd name="T105" fmla="*/ 112 h 485"/>
                  <a:gd name="T106" fmla="*/ 1147 w 2967"/>
                  <a:gd name="T107" fmla="*/ 373 h 485"/>
                  <a:gd name="T108" fmla="*/ 1190 w 2967"/>
                  <a:gd name="T109" fmla="*/ 373 h 485"/>
                  <a:gd name="T110" fmla="*/ 1143 w 2967"/>
                  <a:gd name="T111" fmla="*/ 108 h 485"/>
                  <a:gd name="T112" fmla="*/ 1013 w 2967"/>
                  <a:gd name="T113" fmla="*/ 263 h 485"/>
                  <a:gd name="T114" fmla="*/ 831 w 2967"/>
                  <a:gd name="T115" fmla="*/ 193 h 485"/>
                  <a:gd name="T116" fmla="*/ 734 w 2967"/>
                  <a:gd name="T117" fmla="*/ 153 h 485"/>
                  <a:gd name="T118" fmla="*/ 838 w 2967"/>
                  <a:gd name="T119" fmla="*/ 433 h 485"/>
                  <a:gd name="T120" fmla="*/ 736 w 2967"/>
                  <a:gd name="T121" fmla="*/ 361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67" h="485">
                    <a:moveTo>
                      <a:pt x="1941" y="0"/>
                    </a:moveTo>
                    <a:cubicBezTo>
                      <a:pt x="1930" y="0"/>
                      <a:pt x="1919" y="1"/>
                      <a:pt x="1909" y="3"/>
                    </a:cubicBezTo>
                    <a:cubicBezTo>
                      <a:pt x="1898" y="5"/>
                      <a:pt x="1889" y="8"/>
                      <a:pt x="1880" y="12"/>
                    </a:cubicBezTo>
                    <a:cubicBezTo>
                      <a:pt x="1872" y="15"/>
                      <a:pt x="1864" y="18"/>
                      <a:pt x="1858" y="22"/>
                    </a:cubicBezTo>
                    <a:cubicBezTo>
                      <a:pt x="1853" y="25"/>
                      <a:pt x="1849" y="28"/>
                      <a:pt x="1847" y="30"/>
                    </a:cubicBezTo>
                    <a:cubicBezTo>
                      <a:pt x="1845" y="32"/>
                      <a:pt x="1842" y="33"/>
                      <a:pt x="1842" y="35"/>
                    </a:cubicBezTo>
                    <a:cubicBezTo>
                      <a:pt x="1841" y="36"/>
                      <a:pt x="1840" y="38"/>
                      <a:pt x="1840" y="39"/>
                    </a:cubicBezTo>
                    <a:cubicBezTo>
                      <a:pt x="1839" y="41"/>
                      <a:pt x="1839" y="43"/>
                      <a:pt x="1839" y="45"/>
                    </a:cubicBezTo>
                    <a:cubicBezTo>
                      <a:pt x="1839" y="48"/>
                      <a:pt x="1839" y="50"/>
                      <a:pt x="1839" y="52"/>
                    </a:cubicBezTo>
                    <a:cubicBezTo>
                      <a:pt x="1839" y="56"/>
                      <a:pt x="1839" y="60"/>
                      <a:pt x="1839" y="63"/>
                    </a:cubicBezTo>
                    <a:cubicBezTo>
                      <a:pt x="1839" y="66"/>
                      <a:pt x="1840" y="68"/>
                      <a:pt x="1841" y="70"/>
                    </a:cubicBezTo>
                    <a:cubicBezTo>
                      <a:pt x="1841" y="72"/>
                      <a:pt x="1842" y="73"/>
                      <a:pt x="1843" y="74"/>
                    </a:cubicBezTo>
                    <a:cubicBezTo>
                      <a:pt x="1844" y="74"/>
                      <a:pt x="1845" y="74"/>
                      <a:pt x="1847" y="74"/>
                    </a:cubicBezTo>
                    <a:cubicBezTo>
                      <a:pt x="1849" y="74"/>
                      <a:pt x="1853" y="73"/>
                      <a:pt x="1857" y="70"/>
                    </a:cubicBezTo>
                    <a:cubicBezTo>
                      <a:pt x="1862" y="67"/>
                      <a:pt x="1868" y="63"/>
                      <a:pt x="1875" y="59"/>
                    </a:cubicBezTo>
                    <a:cubicBezTo>
                      <a:pt x="1882" y="56"/>
                      <a:pt x="1890" y="51"/>
                      <a:pt x="1900" y="48"/>
                    </a:cubicBezTo>
                    <a:cubicBezTo>
                      <a:pt x="1909" y="45"/>
                      <a:pt x="1920" y="44"/>
                      <a:pt x="1931" y="44"/>
                    </a:cubicBezTo>
                    <a:cubicBezTo>
                      <a:pt x="1942" y="44"/>
                      <a:pt x="1950" y="45"/>
                      <a:pt x="1958" y="48"/>
                    </a:cubicBezTo>
                    <a:cubicBezTo>
                      <a:pt x="1966" y="51"/>
                      <a:pt x="1972" y="57"/>
                      <a:pt x="1977" y="62"/>
                    </a:cubicBezTo>
                    <a:cubicBezTo>
                      <a:pt x="1982" y="68"/>
                      <a:pt x="1986" y="74"/>
                      <a:pt x="1989" y="82"/>
                    </a:cubicBezTo>
                    <a:cubicBezTo>
                      <a:pt x="1992" y="89"/>
                      <a:pt x="1993" y="96"/>
                      <a:pt x="1993" y="104"/>
                    </a:cubicBezTo>
                    <a:cubicBezTo>
                      <a:pt x="1993" y="113"/>
                      <a:pt x="1992" y="122"/>
                      <a:pt x="1991" y="132"/>
                    </a:cubicBezTo>
                    <a:cubicBezTo>
                      <a:pt x="1989" y="141"/>
                      <a:pt x="1985" y="151"/>
                      <a:pt x="1980" y="163"/>
                    </a:cubicBezTo>
                    <a:cubicBezTo>
                      <a:pt x="1975" y="174"/>
                      <a:pt x="1966" y="187"/>
                      <a:pt x="1956" y="201"/>
                    </a:cubicBezTo>
                    <a:cubicBezTo>
                      <a:pt x="1946" y="216"/>
                      <a:pt x="1932" y="231"/>
                      <a:pt x="1916" y="249"/>
                    </a:cubicBezTo>
                    <a:lnTo>
                      <a:pt x="1843" y="326"/>
                    </a:lnTo>
                    <a:cubicBezTo>
                      <a:pt x="1841" y="328"/>
                      <a:pt x="1839" y="331"/>
                      <a:pt x="1838" y="333"/>
                    </a:cubicBezTo>
                    <a:cubicBezTo>
                      <a:pt x="1837" y="335"/>
                      <a:pt x="1835" y="338"/>
                      <a:pt x="1834" y="340"/>
                    </a:cubicBezTo>
                    <a:cubicBezTo>
                      <a:pt x="1834" y="342"/>
                      <a:pt x="1832" y="345"/>
                      <a:pt x="1832" y="348"/>
                    </a:cubicBezTo>
                    <a:cubicBezTo>
                      <a:pt x="1832" y="351"/>
                      <a:pt x="1832" y="354"/>
                      <a:pt x="1832" y="358"/>
                    </a:cubicBezTo>
                    <a:cubicBezTo>
                      <a:pt x="1832" y="362"/>
                      <a:pt x="1832" y="365"/>
                      <a:pt x="1833" y="368"/>
                    </a:cubicBezTo>
                    <a:cubicBezTo>
                      <a:pt x="1833" y="371"/>
                      <a:pt x="1835" y="374"/>
                      <a:pt x="1836" y="375"/>
                    </a:cubicBezTo>
                    <a:cubicBezTo>
                      <a:pt x="1838" y="377"/>
                      <a:pt x="1840" y="378"/>
                      <a:pt x="1842" y="379"/>
                    </a:cubicBezTo>
                    <a:cubicBezTo>
                      <a:pt x="1844" y="379"/>
                      <a:pt x="1846" y="380"/>
                      <a:pt x="1849" y="380"/>
                    </a:cubicBezTo>
                    <a:lnTo>
                      <a:pt x="2055" y="380"/>
                    </a:lnTo>
                    <a:cubicBezTo>
                      <a:pt x="2057" y="380"/>
                      <a:pt x="2059" y="379"/>
                      <a:pt x="2060" y="378"/>
                    </a:cubicBezTo>
                    <a:cubicBezTo>
                      <a:pt x="2062" y="377"/>
                      <a:pt x="2063" y="376"/>
                      <a:pt x="2064" y="374"/>
                    </a:cubicBezTo>
                    <a:cubicBezTo>
                      <a:pt x="2065" y="373"/>
                      <a:pt x="2065" y="370"/>
                      <a:pt x="2066" y="367"/>
                    </a:cubicBezTo>
                    <a:cubicBezTo>
                      <a:pt x="2066" y="365"/>
                      <a:pt x="2066" y="362"/>
                      <a:pt x="2066" y="358"/>
                    </a:cubicBezTo>
                    <a:cubicBezTo>
                      <a:pt x="2066" y="355"/>
                      <a:pt x="2066" y="351"/>
                      <a:pt x="2066" y="349"/>
                    </a:cubicBezTo>
                    <a:cubicBezTo>
                      <a:pt x="2065" y="346"/>
                      <a:pt x="2064" y="344"/>
                      <a:pt x="2063" y="343"/>
                    </a:cubicBezTo>
                    <a:cubicBezTo>
                      <a:pt x="2062" y="341"/>
                      <a:pt x="2061" y="339"/>
                      <a:pt x="2059" y="338"/>
                    </a:cubicBezTo>
                    <a:cubicBezTo>
                      <a:pt x="2058" y="337"/>
                      <a:pt x="2057" y="337"/>
                      <a:pt x="2055" y="337"/>
                    </a:cubicBezTo>
                    <a:lnTo>
                      <a:pt x="1892" y="337"/>
                    </a:lnTo>
                    <a:lnTo>
                      <a:pt x="1951" y="276"/>
                    </a:lnTo>
                    <a:cubicBezTo>
                      <a:pt x="1972" y="254"/>
                      <a:pt x="1990" y="234"/>
                      <a:pt x="2003" y="217"/>
                    </a:cubicBezTo>
                    <a:cubicBezTo>
                      <a:pt x="2016" y="200"/>
                      <a:pt x="2025" y="184"/>
                      <a:pt x="2032" y="171"/>
                    </a:cubicBezTo>
                    <a:cubicBezTo>
                      <a:pt x="2039" y="157"/>
                      <a:pt x="2044" y="145"/>
                      <a:pt x="2046" y="133"/>
                    </a:cubicBezTo>
                    <a:cubicBezTo>
                      <a:pt x="2048" y="121"/>
                      <a:pt x="2049" y="109"/>
                      <a:pt x="2049" y="97"/>
                    </a:cubicBezTo>
                    <a:cubicBezTo>
                      <a:pt x="2049" y="83"/>
                      <a:pt x="2047" y="71"/>
                      <a:pt x="2043" y="59"/>
                    </a:cubicBezTo>
                    <a:cubicBezTo>
                      <a:pt x="2038" y="48"/>
                      <a:pt x="2031" y="37"/>
                      <a:pt x="2022" y="28"/>
                    </a:cubicBezTo>
                    <a:cubicBezTo>
                      <a:pt x="2013" y="19"/>
                      <a:pt x="2002" y="13"/>
                      <a:pt x="1989" y="7"/>
                    </a:cubicBezTo>
                    <a:cubicBezTo>
                      <a:pt x="1975" y="2"/>
                      <a:pt x="1959" y="0"/>
                      <a:pt x="1941" y="0"/>
                    </a:cubicBezTo>
                    <a:close/>
                    <a:moveTo>
                      <a:pt x="2253" y="0"/>
                    </a:moveTo>
                    <a:cubicBezTo>
                      <a:pt x="2229" y="0"/>
                      <a:pt x="2208" y="4"/>
                      <a:pt x="2191" y="14"/>
                    </a:cubicBezTo>
                    <a:cubicBezTo>
                      <a:pt x="2174" y="23"/>
                      <a:pt x="2161" y="36"/>
                      <a:pt x="2150" y="53"/>
                    </a:cubicBezTo>
                    <a:cubicBezTo>
                      <a:pt x="2140" y="70"/>
                      <a:pt x="2132" y="90"/>
                      <a:pt x="2127" y="114"/>
                    </a:cubicBezTo>
                    <a:cubicBezTo>
                      <a:pt x="2123" y="138"/>
                      <a:pt x="2120" y="165"/>
                      <a:pt x="2120" y="194"/>
                    </a:cubicBezTo>
                    <a:cubicBezTo>
                      <a:pt x="2120" y="224"/>
                      <a:pt x="2122" y="252"/>
                      <a:pt x="2126" y="276"/>
                    </a:cubicBezTo>
                    <a:cubicBezTo>
                      <a:pt x="2131" y="299"/>
                      <a:pt x="2138" y="319"/>
                      <a:pt x="2148" y="336"/>
                    </a:cubicBezTo>
                    <a:cubicBezTo>
                      <a:pt x="2157" y="352"/>
                      <a:pt x="2170" y="364"/>
                      <a:pt x="2186" y="373"/>
                    </a:cubicBezTo>
                    <a:cubicBezTo>
                      <a:pt x="2202" y="381"/>
                      <a:pt x="2223" y="385"/>
                      <a:pt x="2246" y="385"/>
                    </a:cubicBezTo>
                    <a:cubicBezTo>
                      <a:pt x="2271" y="385"/>
                      <a:pt x="2292" y="380"/>
                      <a:pt x="2309" y="371"/>
                    </a:cubicBezTo>
                    <a:cubicBezTo>
                      <a:pt x="2326" y="361"/>
                      <a:pt x="2340" y="348"/>
                      <a:pt x="2350" y="331"/>
                    </a:cubicBezTo>
                    <a:cubicBezTo>
                      <a:pt x="2361" y="314"/>
                      <a:pt x="2368" y="294"/>
                      <a:pt x="2372" y="270"/>
                    </a:cubicBezTo>
                    <a:cubicBezTo>
                      <a:pt x="2377" y="247"/>
                      <a:pt x="2380" y="221"/>
                      <a:pt x="2380" y="192"/>
                    </a:cubicBezTo>
                    <a:cubicBezTo>
                      <a:pt x="2380" y="161"/>
                      <a:pt x="2377" y="134"/>
                      <a:pt x="2373" y="110"/>
                    </a:cubicBezTo>
                    <a:cubicBezTo>
                      <a:pt x="2369" y="86"/>
                      <a:pt x="2362" y="65"/>
                      <a:pt x="2352" y="49"/>
                    </a:cubicBezTo>
                    <a:cubicBezTo>
                      <a:pt x="2342" y="33"/>
                      <a:pt x="2329" y="20"/>
                      <a:pt x="2313" y="12"/>
                    </a:cubicBezTo>
                    <a:cubicBezTo>
                      <a:pt x="2297" y="3"/>
                      <a:pt x="2277" y="0"/>
                      <a:pt x="2253" y="0"/>
                    </a:cubicBezTo>
                    <a:close/>
                    <a:moveTo>
                      <a:pt x="2559" y="2"/>
                    </a:moveTo>
                    <a:cubicBezTo>
                      <a:pt x="2557" y="2"/>
                      <a:pt x="2555" y="3"/>
                      <a:pt x="2553" y="3"/>
                    </a:cubicBezTo>
                    <a:cubicBezTo>
                      <a:pt x="2552" y="3"/>
                      <a:pt x="2550" y="4"/>
                      <a:pt x="2549" y="5"/>
                    </a:cubicBezTo>
                    <a:cubicBezTo>
                      <a:pt x="2548" y="5"/>
                      <a:pt x="2546" y="5"/>
                      <a:pt x="2545" y="6"/>
                    </a:cubicBezTo>
                    <a:lnTo>
                      <a:pt x="2460" y="61"/>
                    </a:lnTo>
                    <a:cubicBezTo>
                      <a:pt x="2458" y="62"/>
                      <a:pt x="2456" y="64"/>
                      <a:pt x="2455" y="65"/>
                    </a:cubicBezTo>
                    <a:cubicBezTo>
                      <a:pt x="2454" y="66"/>
                      <a:pt x="2453" y="67"/>
                      <a:pt x="2453" y="68"/>
                    </a:cubicBezTo>
                    <a:cubicBezTo>
                      <a:pt x="2452" y="70"/>
                      <a:pt x="2452" y="72"/>
                      <a:pt x="2452" y="74"/>
                    </a:cubicBezTo>
                    <a:cubicBezTo>
                      <a:pt x="2452" y="77"/>
                      <a:pt x="2451" y="80"/>
                      <a:pt x="2451" y="83"/>
                    </a:cubicBezTo>
                    <a:cubicBezTo>
                      <a:pt x="2451" y="88"/>
                      <a:pt x="2451" y="91"/>
                      <a:pt x="2452" y="94"/>
                    </a:cubicBezTo>
                    <a:cubicBezTo>
                      <a:pt x="2452" y="97"/>
                      <a:pt x="2453" y="99"/>
                      <a:pt x="2454" y="100"/>
                    </a:cubicBezTo>
                    <a:cubicBezTo>
                      <a:pt x="2456" y="101"/>
                      <a:pt x="2458" y="102"/>
                      <a:pt x="2460" y="102"/>
                    </a:cubicBezTo>
                    <a:cubicBezTo>
                      <a:pt x="2462" y="101"/>
                      <a:pt x="2465" y="100"/>
                      <a:pt x="2469" y="98"/>
                    </a:cubicBezTo>
                    <a:lnTo>
                      <a:pt x="2541" y="55"/>
                    </a:lnTo>
                    <a:lnTo>
                      <a:pt x="2541" y="340"/>
                    </a:lnTo>
                    <a:lnTo>
                      <a:pt x="2463" y="340"/>
                    </a:lnTo>
                    <a:cubicBezTo>
                      <a:pt x="2462" y="340"/>
                      <a:pt x="2460" y="340"/>
                      <a:pt x="2459" y="341"/>
                    </a:cubicBezTo>
                    <a:cubicBezTo>
                      <a:pt x="2458" y="342"/>
                      <a:pt x="2456" y="343"/>
                      <a:pt x="2455" y="344"/>
                    </a:cubicBezTo>
                    <a:cubicBezTo>
                      <a:pt x="2455" y="346"/>
                      <a:pt x="2454" y="348"/>
                      <a:pt x="2454" y="351"/>
                    </a:cubicBezTo>
                    <a:cubicBezTo>
                      <a:pt x="2453" y="353"/>
                      <a:pt x="2453" y="357"/>
                      <a:pt x="2453" y="360"/>
                    </a:cubicBezTo>
                    <a:cubicBezTo>
                      <a:pt x="2453" y="364"/>
                      <a:pt x="2453" y="367"/>
                      <a:pt x="2454" y="369"/>
                    </a:cubicBezTo>
                    <a:cubicBezTo>
                      <a:pt x="2454" y="372"/>
                      <a:pt x="2455" y="374"/>
                      <a:pt x="2456" y="375"/>
                    </a:cubicBezTo>
                    <a:cubicBezTo>
                      <a:pt x="2457" y="377"/>
                      <a:pt x="2458" y="378"/>
                      <a:pt x="2459" y="379"/>
                    </a:cubicBezTo>
                    <a:cubicBezTo>
                      <a:pt x="2460" y="379"/>
                      <a:pt x="2462" y="380"/>
                      <a:pt x="2463" y="380"/>
                    </a:cubicBezTo>
                    <a:lnTo>
                      <a:pt x="2658" y="380"/>
                    </a:lnTo>
                    <a:cubicBezTo>
                      <a:pt x="2660" y="380"/>
                      <a:pt x="2661" y="379"/>
                      <a:pt x="2663" y="379"/>
                    </a:cubicBezTo>
                    <a:cubicBezTo>
                      <a:pt x="2664" y="378"/>
                      <a:pt x="2665" y="377"/>
                      <a:pt x="2666" y="375"/>
                    </a:cubicBezTo>
                    <a:cubicBezTo>
                      <a:pt x="2667" y="374"/>
                      <a:pt x="2667" y="372"/>
                      <a:pt x="2668" y="369"/>
                    </a:cubicBezTo>
                    <a:cubicBezTo>
                      <a:pt x="2668" y="367"/>
                      <a:pt x="2669" y="364"/>
                      <a:pt x="2669" y="360"/>
                    </a:cubicBezTo>
                    <a:cubicBezTo>
                      <a:pt x="2669" y="357"/>
                      <a:pt x="2668" y="353"/>
                      <a:pt x="2668" y="351"/>
                    </a:cubicBezTo>
                    <a:cubicBezTo>
                      <a:pt x="2667" y="348"/>
                      <a:pt x="2667" y="346"/>
                      <a:pt x="2666" y="344"/>
                    </a:cubicBezTo>
                    <a:cubicBezTo>
                      <a:pt x="2665" y="343"/>
                      <a:pt x="2664" y="342"/>
                      <a:pt x="2663" y="341"/>
                    </a:cubicBezTo>
                    <a:cubicBezTo>
                      <a:pt x="2661" y="340"/>
                      <a:pt x="2660" y="340"/>
                      <a:pt x="2658" y="340"/>
                    </a:cubicBezTo>
                    <a:lnTo>
                      <a:pt x="2591" y="340"/>
                    </a:lnTo>
                    <a:lnTo>
                      <a:pt x="2591" y="10"/>
                    </a:lnTo>
                    <a:cubicBezTo>
                      <a:pt x="2591" y="9"/>
                      <a:pt x="2591" y="9"/>
                      <a:pt x="2590" y="7"/>
                    </a:cubicBezTo>
                    <a:cubicBezTo>
                      <a:pt x="2590" y="6"/>
                      <a:pt x="2589" y="5"/>
                      <a:pt x="2587" y="5"/>
                    </a:cubicBezTo>
                    <a:cubicBezTo>
                      <a:pt x="2585" y="4"/>
                      <a:pt x="2582" y="3"/>
                      <a:pt x="2579" y="3"/>
                    </a:cubicBezTo>
                    <a:cubicBezTo>
                      <a:pt x="2576" y="3"/>
                      <a:pt x="2572" y="2"/>
                      <a:pt x="2567" y="2"/>
                    </a:cubicBezTo>
                    <a:cubicBezTo>
                      <a:pt x="2564" y="2"/>
                      <a:pt x="2562" y="2"/>
                      <a:pt x="2559" y="2"/>
                    </a:cubicBezTo>
                    <a:close/>
                    <a:moveTo>
                      <a:pt x="160" y="3"/>
                    </a:moveTo>
                    <a:cubicBezTo>
                      <a:pt x="154" y="3"/>
                      <a:pt x="149" y="4"/>
                      <a:pt x="146" y="4"/>
                    </a:cubicBezTo>
                    <a:cubicBezTo>
                      <a:pt x="142" y="4"/>
                      <a:pt x="139" y="5"/>
                      <a:pt x="137" y="6"/>
                    </a:cubicBezTo>
                    <a:cubicBezTo>
                      <a:pt x="134" y="6"/>
                      <a:pt x="132" y="7"/>
                      <a:pt x="131" y="8"/>
                    </a:cubicBezTo>
                    <a:cubicBezTo>
                      <a:pt x="129" y="10"/>
                      <a:pt x="129" y="12"/>
                      <a:pt x="128" y="14"/>
                    </a:cubicBezTo>
                    <a:lnTo>
                      <a:pt x="3" y="361"/>
                    </a:lnTo>
                    <a:cubicBezTo>
                      <a:pt x="1" y="365"/>
                      <a:pt x="0" y="369"/>
                      <a:pt x="0" y="372"/>
                    </a:cubicBezTo>
                    <a:cubicBezTo>
                      <a:pt x="0" y="374"/>
                      <a:pt x="0" y="377"/>
                      <a:pt x="2" y="378"/>
                    </a:cubicBezTo>
                    <a:cubicBezTo>
                      <a:pt x="3" y="379"/>
                      <a:pt x="6" y="380"/>
                      <a:pt x="10" y="381"/>
                    </a:cubicBezTo>
                    <a:cubicBezTo>
                      <a:pt x="13" y="381"/>
                      <a:pt x="17" y="381"/>
                      <a:pt x="23" y="381"/>
                    </a:cubicBezTo>
                    <a:cubicBezTo>
                      <a:pt x="28" y="381"/>
                      <a:pt x="33" y="381"/>
                      <a:pt x="36" y="381"/>
                    </a:cubicBezTo>
                    <a:cubicBezTo>
                      <a:pt x="40" y="380"/>
                      <a:pt x="42" y="380"/>
                      <a:pt x="44" y="379"/>
                    </a:cubicBezTo>
                    <a:cubicBezTo>
                      <a:pt x="46" y="378"/>
                      <a:pt x="48" y="376"/>
                      <a:pt x="49" y="375"/>
                    </a:cubicBezTo>
                    <a:cubicBezTo>
                      <a:pt x="50" y="374"/>
                      <a:pt x="50" y="373"/>
                      <a:pt x="50" y="371"/>
                    </a:cubicBezTo>
                    <a:lnTo>
                      <a:pt x="81" y="281"/>
                    </a:lnTo>
                    <a:lnTo>
                      <a:pt x="237" y="281"/>
                    </a:lnTo>
                    <a:lnTo>
                      <a:pt x="269" y="373"/>
                    </a:lnTo>
                    <a:cubicBezTo>
                      <a:pt x="270" y="374"/>
                      <a:pt x="271" y="376"/>
                      <a:pt x="272" y="377"/>
                    </a:cubicBezTo>
                    <a:cubicBezTo>
                      <a:pt x="273" y="378"/>
                      <a:pt x="273" y="379"/>
                      <a:pt x="275" y="380"/>
                    </a:cubicBezTo>
                    <a:cubicBezTo>
                      <a:pt x="277" y="380"/>
                      <a:pt x="280" y="380"/>
                      <a:pt x="284" y="381"/>
                    </a:cubicBezTo>
                    <a:cubicBezTo>
                      <a:pt x="288" y="381"/>
                      <a:pt x="292" y="381"/>
                      <a:pt x="298" y="381"/>
                    </a:cubicBezTo>
                    <a:cubicBezTo>
                      <a:pt x="304" y="381"/>
                      <a:pt x="309" y="381"/>
                      <a:pt x="312" y="381"/>
                    </a:cubicBezTo>
                    <a:cubicBezTo>
                      <a:pt x="316" y="380"/>
                      <a:pt x="319" y="379"/>
                      <a:pt x="320" y="378"/>
                    </a:cubicBezTo>
                    <a:cubicBezTo>
                      <a:pt x="322" y="377"/>
                      <a:pt x="322" y="374"/>
                      <a:pt x="322" y="372"/>
                    </a:cubicBezTo>
                    <a:cubicBezTo>
                      <a:pt x="322" y="369"/>
                      <a:pt x="321" y="366"/>
                      <a:pt x="319" y="362"/>
                    </a:cubicBezTo>
                    <a:lnTo>
                      <a:pt x="194" y="14"/>
                    </a:lnTo>
                    <a:cubicBezTo>
                      <a:pt x="193" y="12"/>
                      <a:pt x="192" y="10"/>
                      <a:pt x="191" y="8"/>
                    </a:cubicBezTo>
                    <a:cubicBezTo>
                      <a:pt x="189" y="7"/>
                      <a:pt x="188" y="6"/>
                      <a:pt x="185" y="6"/>
                    </a:cubicBezTo>
                    <a:cubicBezTo>
                      <a:pt x="183" y="5"/>
                      <a:pt x="180" y="4"/>
                      <a:pt x="176" y="4"/>
                    </a:cubicBezTo>
                    <a:cubicBezTo>
                      <a:pt x="171" y="4"/>
                      <a:pt x="166" y="3"/>
                      <a:pt x="160" y="3"/>
                    </a:cubicBezTo>
                    <a:close/>
                    <a:moveTo>
                      <a:pt x="2768" y="5"/>
                    </a:moveTo>
                    <a:cubicBezTo>
                      <a:pt x="2762" y="5"/>
                      <a:pt x="2757" y="6"/>
                      <a:pt x="2754" y="9"/>
                    </a:cubicBezTo>
                    <a:cubicBezTo>
                      <a:pt x="2751" y="12"/>
                      <a:pt x="2750" y="18"/>
                      <a:pt x="2750" y="24"/>
                    </a:cubicBezTo>
                    <a:lnTo>
                      <a:pt x="2750" y="176"/>
                    </a:lnTo>
                    <a:cubicBezTo>
                      <a:pt x="2750" y="183"/>
                      <a:pt x="2751" y="188"/>
                      <a:pt x="2753" y="191"/>
                    </a:cubicBezTo>
                    <a:cubicBezTo>
                      <a:pt x="2756" y="193"/>
                      <a:pt x="2760" y="194"/>
                      <a:pt x="2765" y="194"/>
                    </a:cubicBezTo>
                    <a:cubicBezTo>
                      <a:pt x="2772" y="194"/>
                      <a:pt x="2780" y="194"/>
                      <a:pt x="2789" y="193"/>
                    </a:cubicBezTo>
                    <a:cubicBezTo>
                      <a:pt x="2797" y="192"/>
                      <a:pt x="2807" y="191"/>
                      <a:pt x="2819" y="191"/>
                    </a:cubicBezTo>
                    <a:cubicBezTo>
                      <a:pt x="2835" y="191"/>
                      <a:pt x="2850" y="192"/>
                      <a:pt x="2862" y="195"/>
                    </a:cubicBezTo>
                    <a:cubicBezTo>
                      <a:pt x="2874" y="198"/>
                      <a:pt x="2884" y="203"/>
                      <a:pt x="2892" y="209"/>
                    </a:cubicBezTo>
                    <a:cubicBezTo>
                      <a:pt x="2900" y="216"/>
                      <a:pt x="2905" y="223"/>
                      <a:pt x="2909" y="232"/>
                    </a:cubicBezTo>
                    <a:cubicBezTo>
                      <a:pt x="2912" y="242"/>
                      <a:pt x="2915" y="252"/>
                      <a:pt x="2915" y="264"/>
                    </a:cubicBezTo>
                    <a:cubicBezTo>
                      <a:pt x="2915" y="278"/>
                      <a:pt x="2912" y="290"/>
                      <a:pt x="2908" y="300"/>
                    </a:cubicBezTo>
                    <a:cubicBezTo>
                      <a:pt x="2903" y="310"/>
                      <a:pt x="2897" y="318"/>
                      <a:pt x="2889" y="325"/>
                    </a:cubicBezTo>
                    <a:cubicBezTo>
                      <a:pt x="2881" y="332"/>
                      <a:pt x="2873" y="336"/>
                      <a:pt x="2862" y="339"/>
                    </a:cubicBezTo>
                    <a:cubicBezTo>
                      <a:pt x="2851" y="342"/>
                      <a:pt x="2839" y="343"/>
                      <a:pt x="2826" y="343"/>
                    </a:cubicBezTo>
                    <a:cubicBezTo>
                      <a:pt x="2812" y="343"/>
                      <a:pt x="2801" y="342"/>
                      <a:pt x="2791" y="340"/>
                    </a:cubicBezTo>
                    <a:cubicBezTo>
                      <a:pt x="2780" y="337"/>
                      <a:pt x="2772" y="335"/>
                      <a:pt x="2765" y="332"/>
                    </a:cubicBezTo>
                    <a:cubicBezTo>
                      <a:pt x="2758" y="329"/>
                      <a:pt x="2752" y="326"/>
                      <a:pt x="2748" y="324"/>
                    </a:cubicBezTo>
                    <a:cubicBezTo>
                      <a:pt x="2744" y="322"/>
                      <a:pt x="2741" y="321"/>
                      <a:pt x="2739" y="321"/>
                    </a:cubicBezTo>
                    <a:cubicBezTo>
                      <a:pt x="2738" y="321"/>
                      <a:pt x="2737" y="322"/>
                      <a:pt x="2736" y="322"/>
                    </a:cubicBezTo>
                    <a:cubicBezTo>
                      <a:pt x="2735" y="323"/>
                      <a:pt x="2734" y="324"/>
                      <a:pt x="2733" y="326"/>
                    </a:cubicBezTo>
                    <a:cubicBezTo>
                      <a:pt x="2732" y="327"/>
                      <a:pt x="2732" y="329"/>
                      <a:pt x="2731" y="332"/>
                    </a:cubicBezTo>
                    <a:cubicBezTo>
                      <a:pt x="2731" y="335"/>
                      <a:pt x="2731" y="338"/>
                      <a:pt x="2731" y="341"/>
                    </a:cubicBezTo>
                    <a:cubicBezTo>
                      <a:pt x="2731" y="344"/>
                      <a:pt x="2731" y="347"/>
                      <a:pt x="2731" y="350"/>
                    </a:cubicBezTo>
                    <a:cubicBezTo>
                      <a:pt x="2732" y="352"/>
                      <a:pt x="2732" y="354"/>
                      <a:pt x="2732" y="356"/>
                    </a:cubicBezTo>
                    <a:cubicBezTo>
                      <a:pt x="2733" y="357"/>
                      <a:pt x="2733" y="359"/>
                      <a:pt x="2734" y="360"/>
                    </a:cubicBezTo>
                    <a:cubicBezTo>
                      <a:pt x="2735" y="361"/>
                      <a:pt x="2735" y="362"/>
                      <a:pt x="2737" y="364"/>
                    </a:cubicBezTo>
                    <a:cubicBezTo>
                      <a:pt x="2738" y="365"/>
                      <a:pt x="2741" y="367"/>
                      <a:pt x="2746" y="369"/>
                    </a:cubicBezTo>
                    <a:cubicBezTo>
                      <a:pt x="2752" y="371"/>
                      <a:pt x="2759" y="374"/>
                      <a:pt x="2767" y="376"/>
                    </a:cubicBezTo>
                    <a:cubicBezTo>
                      <a:pt x="2775" y="379"/>
                      <a:pt x="2784" y="381"/>
                      <a:pt x="2795" y="382"/>
                    </a:cubicBezTo>
                    <a:cubicBezTo>
                      <a:pt x="2805" y="384"/>
                      <a:pt x="2816" y="385"/>
                      <a:pt x="2828" y="385"/>
                    </a:cubicBezTo>
                    <a:cubicBezTo>
                      <a:pt x="2848" y="385"/>
                      <a:pt x="2867" y="383"/>
                      <a:pt x="2884" y="377"/>
                    </a:cubicBezTo>
                    <a:cubicBezTo>
                      <a:pt x="2901" y="371"/>
                      <a:pt x="2917" y="363"/>
                      <a:pt x="2929" y="352"/>
                    </a:cubicBezTo>
                    <a:cubicBezTo>
                      <a:pt x="2941" y="342"/>
                      <a:pt x="2950" y="328"/>
                      <a:pt x="2957" y="313"/>
                    </a:cubicBezTo>
                    <a:cubicBezTo>
                      <a:pt x="2964" y="297"/>
                      <a:pt x="2967" y="279"/>
                      <a:pt x="2967" y="259"/>
                    </a:cubicBezTo>
                    <a:cubicBezTo>
                      <a:pt x="2967" y="243"/>
                      <a:pt x="2964" y="228"/>
                      <a:pt x="2959" y="215"/>
                    </a:cubicBezTo>
                    <a:cubicBezTo>
                      <a:pt x="2953" y="201"/>
                      <a:pt x="2946" y="191"/>
                      <a:pt x="2935" y="181"/>
                    </a:cubicBezTo>
                    <a:cubicBezTo>
                      <a:pt x="2924" y="172"/>
                      <a:pt x="2911" y="164"/>
                      <a:pt x="2895" y="159"/>
                    </a:cubicBezTo>
                    <a:cubicBezTo>
                      <a:pt x="2879" y="154"/>
                      <a:pt x="2860" y="151"/>
                      <a:pt x="2838" y="151"/>
                    </a:cubicBezTo>
                    <a:cubicBezTo>
                      <a:pt x="2829" y="151"/>
                      <a:pt x="2821" y="152"/>
                      <a:pt x="2814" y="152"/>
                    </a:cubicBezTo>
                    <a:cubicBezTo>
                      <a:pt x="2807" y="152"/>
                      <a:pt x="2800" y="153"/>
                      <a:pt x="2793" y="154"/>
                    </a:cubicBezTo>
                    <a:lnTo>
                      <a:pt x="2793" y="48"/>
                    </a:lnTo>
                    <a:lnTo>
                      <a:pt x="2933" y="48"/>
                    </a:lnTo>
                    <a:cubicBezTo>
                      <a:pt x="2937" y="48"/>
                      <a:pt x="2939" y="47"/>
                      <a:pt x="2941" y="43"/>
                    </a:cubicBezTo>
                    <a:cubicBezTo>
                      <a:pt x="2943" y="39"/>
                      <a:pt x="2944" y="34"/>
                      <a:pt x="2944" y="27"/>
                    </a:cubicBezTo>
                    <a:cubicBezTo>
                      <a:pt x="2944" y="23"/>
                      <a:pt x="2944" y="20"/>
                      <a:pt x="2943" y="17"/>
                    </a:cubicBezTo>
                    <a:cubicBezTo>
                      <a:pt x="2943" y="14"/>
                      <a:pt x="2942" y="12"/>
                      <a:pt x="2941" y="10"/>
                    </a:cubicBezTo>
                    <a:cubicBezTo>
                      <a:pt x="2940" y="8"/>
                      <a:pt x="2939" y="7"/>
                      <a:pt x="2938" y="7"/>
                    </a:cubicBezTo>
                    <a:cubicBezTo>
                      <a:pt x="2936" y="6"/>
                      <a:pt x="2935" y="5"/>
                      <a:pt x="2933" y="5"/>
                    </a:cubicBezTo>
                    <a:lnTo>
                      <a:pt x="2768" y="5"/>
                    </a:lnTo>
                    <a:close/>
                    <a:moveTo>
                      <a:pt x="1544" y="33"/>
                    </a:moveTo>
                    <a:cubicBezTo>
                      <a:pt x="1540" y="33"/>
                      <a:pt x="1536" y="34"/>
                      <a:pt x="1533" y="34"/>
                    </a:cubicBezTo>
                    <a:cubicBezTo>
                      <a:pt x="1530" y="34"/>
                      <a:pt x="1528" y="35"/>
                      <a:pt x="1526" y="36"/>
                    </a:cubicBezTo>
                    <a:cubicBezTo>
                      <a:pt x="1524" y="37"/>
                      <a:pt x="1523" y="37"/>
                      <a:pt x="1522" y="38"/>
                    </a:cubicBezTo>
                    <a:cubicBezTo>
                      <a:pt x="1522" y="39"/>
                      <a:pt x="1521" y="41"/>
                      <a:pt x="1521" y="43"/>
                    </a:cubicBezTo>
                    <a:lnTo>
                      <a:pt x="1521" y="104"/>
                    </a:lnTo>
                    <a:lnTo>
                      <a:pt x="1485" y="104"/>
                    </a:lnTo>
                    <a:cubicBezTo>
                      <a:pt x="1484" y="104"/>
                      <a:pt x="1482" y="105"/>
                      <a:pt x="1481" y="105"/>
                    </a:cubicBezTo>
                    <a:cubicBezTo>
                      <a:pt x="1480" y="106"/>
                      <a:pt x="1478" y="107"/>
                      <a:pt x="1477" y="109"/>
                    </a:cubicBezTo>
                    <a:cubicBezTo>
                      <a:pt x="1477" y="111"/>
                      <a:pt x="1476" y="113"/>
                      <a:pt x="1476" y="115"/>
                    </a:cubicBezTo>
                    <a:cubicBezTo>
                      <a:pt x="1475" y="118"/>
                      <a:pt x="1475" y="120"/>
                      <a:pt x="1475" y="124"/>
                    </a:cubicBezTo>
                    <a:cubicBezTo>
                      <a:pt x="1475" y="131"/>
                      <a:pt x="1476" y="136"/>
                      <a:pt x="1477" y="139"/>
                    </a:cubicBezTo>
                    <a:cubicBezTo>
                      <a:pt x="1479" y="142"/>
                      <a:pt x="1481" y="144"/>
                      <a:pt x="1484" y="144"/>
                    </a:cubicBezTo>
                    <a:lnTo>
                      <a:pt x="1521" y="144"/>
                    </a:lnTo>
                    <a:lnTo>
                      <a:pt x="1521" y="296"/>
                    </a:lnTo>
                    <a:cubicBezTo>
                      <a:pt x="1521" y="311"/>
                      <a:pt x="1522" y="324"/>
                      <a:pt x="1525" y="336"/>
                    </a:cubicBezTo>
                    <a:cubicBezTo>
                      <a:pt x="1528" y="347"/>
                      <a:pt x="1533" y="356"/>
                      <a:pt x="1539" y="363"/>
                    </a:cubicBezTo>
                    <a:cubicBezTo>
                      <a:pt x="1545" y="370"/>
                      <a:pt x="1552" y="375"/>
                      <a:pt x="1562" y="379"/>
                    </a:cubicBezTo>
                    <a:cubicBezTo>
                      <a:pt x="1572" y="382"/>
                      <a:pt x="1584" y="384"/>
                      <a:pt x="1597" y="384"/>
                    </a:cubicBezTo>
                    <a:cubicBezTo>
                      <a:pt x="1602" y="384"/>
                      <a:pt x="1606" y="384"/>
                      <a:pt x="1610" y="383"/>
                    </a:cubicBezTo>
                    <a:cubicBezTo>
                      <a:pt x="1615" y="383"/>
                      <a:pt x="1619" y="382"/>
                      <a:pt x="1623" y="381"/>
                    </a:cubicBezTo>
                    <a:cubicBezTo>
                      <a:pt x="1627" y="381"/>
                      <a:pt x="1630" y="379"/>
                      <a:pt x="1633" y="378"/>
                    </a:cubicBezTo>
                    <a:cubicBezTo>
                      <a:pt x="1636" y="377"/>
                      <a:pt x="1639" y="375"/>
                      <a:pt x="1640" y="373"/>
                    </a:cubicBezTo>
                    <a:cubicBezTo>
                      <a:pt x="1642" y="372"/>
                      <a:pt x="1643" y="370"/>
                      <a:pt x="1644" y="366"/>
                    </a:cubicBezTo>
                    <a:cubicBezTo>
                      <a:pt x="1645" y="363"/>
                      <a:pt x="1645" y="359"/>
                      <a:pt x="1645" y="353"/>
                    </a:cubicBezTo>
                    <a:cubicBezTo>
                      <a:pt x="1645" y="350"/>
                      <a:pt x="1645" y="347"/>
                      <a:pt x="1645" y="344"/>
                    </a:cubicBezTo>
                    <a:cubicBezTo>
                      <a:pt x="1644" y="342"/>
                      <a:pt x="1644" y="340"/>
                      <a:pt x="1643" y="339"/>
                    </a:cubicBezTo>
                    <a:cubicBezTo>
                      <a:pt x="1643" y="338"/>
                      <a:pt x="1642" y="337"/>
                      <a:pt x="1641" y="336"/>
                    </a:cubicBezTo>
                    <a:cubicBezTo>
                      <a:pt x="1640" y="336"/>
                      <a:pt x="1640" y="336"/>
                      <a:pt x="1639" y="336"/>
                    </a:cubicBezTo>
                    <a:cubicBezTo>
                      <a:pt x="1637" y="336"/>
                      <a:pt x="1635" y="336"/>
                      <a:pt x="1633" y="336"/>
                    </a:cubicBezTo>
                    <a:cubicBezTo>
                      <a:pt x="1631" y="337"/>
                      <a:pt x="1629" y="339"/>
                      <a:pt x="1626" y="340"/>
                    </a:cubicBezTo>
                    <a:cubicBezTo>
                      <a:pt x="1624" y="341"/>
                      <a:pt x="1620" y="342"/>
                      <a:pt x="1617" y="343"/>
                    </a:cubicBezTo>
                    <a:cubicBezTo>
                      <a:pt x="1613" y="343"/>
                      <a:pt x="1610" y="343"/>
                      <a:pt x="1605" y="343"/>
                    </a:cubicBezTo>
                    <a:cubicBezTo>
                      <a:pt x="1591" y="343"/>
                      <a:pt x="1582" y="339"/>
                      <a:pt x="1577" y="330"/>
                    </a:cubicBezTo>
                    <a:cubicBezTo>
                      <a:pt x="1572" y="321"/>
                      <a:pt x="1569" y="307"/>
                      <a:pt x="1569" y="289"/>
                    </a:cubicBezTo>
                    <a:lnTo>
                      <a:pt x="1569" y="144"/>
                    </a:lnTo>
                    <a:lnTo>
                      <a:pt x="1635" y="144"/>
                    </a:lnTo>
                    <a:cubicBezTo>
                      <a:pt x="1638" y="144"/>
                      <a:pt x="1640" y="142"/>
                      <a:pt x="1642" y="139"/>
                    </a:cubicBezTo>
                    <a:cubicBezTo>
                      <a:pt x="1644" y="136"/>
                      <a:pt x="1645" y="131"/>
                      <a:pt x="1645" y="124"/>
                    </a:cubicBezTo>
                    <a:cubicBezTo>
                      <a:pt x="1645" y="120"/>
                      <a:pt x="1645" y="118"/>
                      <a:pt x="1645" y="115"/>
                    </a:cubicBezTo>
                    <a:cubicBezTo>
                      <a:pt x="1644" y="113"/>
                      <a:pt x="1643" y="111"/>
                      <a:pt x="1642" y="109"/>
                    </a:cubicBezTo>
                    <a:cubicBezTo>
                      <a:pt x="1641" y="107"/>
                      <a:pt x="1641" y="106"/>
                      <a:pt x="1640" y="105"/>
                    </a:cubicBezTo>
                    <a:cubicBezTo>
                      <a:pt x="1638" y="105"/>
                      <a:pt x="1637" y="104"/>
                      <a:pt x="1635" y="104"/>
                    </a:cubicBezTo>
                    <a:lnTo>
                      <a:pt x="1569" y="104"/>
                    </a:lnTo>
                    <a:lnTo>
                      <a:pt x="1569" y="43"/>
                    </a:lnTo>
                    <a:cubicBezTo>
                      <a:pt x="1569" y="41"/>
                      <a:pt x="1568" y="39"/>
                      <a:pt x="1567" y="38"/>
                    </a:cubicBezTo>
                    <a:cubicBezTo>
                      <a:pt x="1566" y="37"/>
                      <a:pt x="1565" y="37"/>
                      <a:pt x="1564" y="36"/>
                    </a:cubicBezTo>
                    <a:cubicBezTo>
                      <a:pt x="1562" y="35"/>
                      <a:pt x="1560" y="34"/>
                      <a:pt x="1557" y="34"/>
                    </a:cubicBezTo>
                    <a:cubicBezTo>
                      <a:pt x="1554" y="34"/>
                      <a:pt x="1549" y="33"/>
                      <a:pt x="1544" y="33"/>
                    </a:cubicBezTo>
                    <a:close/>
                    <a:moveTo>
                      <a:pt x="2251" y="40"/>
                    </a:moveTo>
                    <a:cubicBezTo>
                      <a:pt x="2260" y="40"/>
                      <a:pt x="2268" y="41"/>
                      <a:pt x="2275" y="44"/>
                    </a:cubicBezTo>
                    <a:cubicBezTo>
                      <a:pt x="2283" y="46"/>
                      <a:pt x="2290" y="50"/>
                      <a:pt x="2296" y="55"/>
                    </a:cubicBezTo>
                    <a:cubicBezTo>
                      <a:pt x="2302" y="60"/>
                      <a:pt x="2307" y="67"/>
                      <a:pt x="2311" y="75"/>
                    </a:cubicBezTo>
                    <a:cubicBezTo>
                      <a:pt x="2315" y="84"/>
                      <a:pt x="2318" y="94"/>
                      <a:pt x="2320" y="105"/>
                    </a:cubicBezTo>
                    <a:cubicBezTo>
                      <a:pt x="2323" y="117"/>
                      <a:pt x="2325" y="129"/>
                      <a:pt x="2327" y="144"/>
                    </a:cubicBezTo>
                    <a:cubicBezTo>
                      <a:pt x="2328" y="159"/>
                      <a:pt x="2328" y="176"/>
                      <a:pt x="2328" y="194"/>
                    </a:cubicBezTo>
                    <a:cubicBezTo>
                      <a:pt x="2328" y="208"/>
                      <a:pt x="2328" y="222"/>
                      <a:pt x="2327" y="235"/>
                    </a:cubicBezTo>
                    <a:cubicBezTo>
                      <a:pt x="2327" y="248"/>
                      <a:pt x="2325" y="259"/>
                      <a:pt x="2322" y="270"/>
                    </a:cubicBezTo>
                    <a:cubicBezTo>
                      <a:pt x="2320" y="281"/>
                      <a:pt x="2317" y="292"/>
                      <a:pt x="2313" y="301"/>
                    </a:cubicBezTo>
                    <a:cubicBezTo>
                      <a:pt x="2310" y="310"/>
                      <a:pt x="2304" y="318"/>
                      <a:pt x="2298" y="324"/>
                    </a:cubicBezTo>
                    <a:cubicBezTo>
                      <a:pt x="2292" y="331"/>
                      <a:pt x="2285" y="336"/>
                      <a:pt x="2277" y="339"/>
                    </a:cubicBezTo>
                    <a:cubicBezTo>
                      <a:pt x="2269" y="343"/>
                      <a:pt x="2260" y="344"/>
                      <a:pt x="2249" y="344"/>
                    </a:cubicBezTo>
                    <a:cubicBezTo>
                      <a:pt x="2235" y="344"/>
                      <a:pt x="2223" y="341"/>
                      <a:pt x="2214" y="336"/>
                    </a:cubicBezTo>
                    <a:cubicBezTo>
                      <a:pt x="2204" y="330"/>
                      <a:pt x="2196" y="321"/>
                      <a:pt x="2190" y="309"/>
                    </a:cubicBezTo>
                    <a:cubicBezTo>
                      <a:pt x="2184" y="297"/>
                      <a:pt x="2179" y="280"/>
                      <a:pt x="2176" y="261"/>
                    </a:cubicBezTo>
                    <a:cubicBezTo>
                      <a:pt x="2173" y="241"/>
                      <a:pt x="2171" y="218"/>
                      <a:pt x="2171" y="190"/>
                    </a:cubicBezTo>
                    <a:cubicBezTo>
                      <a:pt x="2171" y="169"/>
                      <a:pt x="2173" y="149"/>
                      <a:pt x="2175" y="131"/>
                    </a:cubicBezTo>
                    <a:cubicBezTo>
                      <a:pt x="2177" y="113"/>
                      <a:pt x="2180" y="97"/>
                      <a:pt x="2186" y="83"/>
                    </a:cubicBezTo>
                    <a:cubicBezTo>
                      <a:pt x="2192" y="70"/>
                      <a:pt x="2201" y="59"/>
                      <a:pt x="2211" y="52"/>
                    </a:cubicBezTo>
                    <a:cubicBezTo>
                      <a:pt x="2221" y="44"/>
                      <a:pt x="2234" y="40"/>
                      <a:pt x="2251" y="40"/>
                    </a:cubicBezTo>
                    <a:close/>
                    <a:moveTo>
                      <a:pt x="158" y="55"/>
                    </a:moveTo>
                    <a:lnTo>
                      <a:pt x="159" y="55"/>
                    </a:lnTo>
                    <a:lnTo>
                      <a:pt x="224" y="241"/>
                    </a:lnTo>
                    <a:lnTo>
                      <a:pt x="94" y="241"/>
                    </a:lnTo>
                    <a:lnTo>
                      <a:pt x="158" y="55"/>
                    </a:lnTo>
                    <a:close/>
                    <a:moveTo>
                      <a:pt x="775" y="99"/>
                    </a:moveTo>
                    <a:cubicBezTo>
                      <a:pt x="761" y="99"/>
                      <a:pt x="747" y="102"/>
                      <a:pt x="735" y="106"/>
                    </a:cubicBezTo>
                    <a:cubicBezTo>
                      <a:pt x="722" y="111"/>
                      <a:pt x="712" y="117"/>
                      <a:pt x="703" y="125"/>
                    </a:cubicBezTo>
                    <a:cubicBezTo>
                      <a:pt x="694" y="133"/>
                      <a:pt x="687" y="143"/>
                      <a:pt x="682" y="155"/>
                    </a:cubicBezTo>
                    <a:cubicBezTo>
                      <a:pt x="677" y="167"/>
                      <a:pt x="675" y="180"/>
                      <a:pt x="675" y="194"/>
                    </a:cubicBezTo>
                    <a:cubicBezTo>
                      <a:pt x="675" y="207"/>
                      <a:pt x="677" y="218"/>
                      <a:pt x="680" y="227"/>
                    </a:cubicBezTo>
                    <a:cubicBezTo>
                      <a:pt x="683" y="236"/>
                      <a:pt x="688" y="244"/>
                      <a:pt x="694" y="251"/>
                    </a:cubicBezTo>
                    <a:cubicBezTo>
                      <a:pt x="687" y="258"/>
                      <a:pt x="680" y="266"/>
                      <a:pt x="676" y="276"/>
                    </a:cubicBezTo>
                    <a:cubicBezTo>
                      <a:pt x="671" y="285"/>
                      <a:pt x="669" y="296"/>
                      <a:pt x="669" y="307"/>
                    </a:cubicBezTo>
                    <a:cubicBezTo>
                      <a:pt x="669" y="316"/>
                      <a:pt x="671" y="324"/>
                      <a:pt x="676" y="331"/>
                    </a:cubicBezTo>
                    <a:cubicBezTo>
                      <a:pt x="680" y="338"/>
                      <a:pt x="687" y="345"/>
                      <a:pt x="697" y="350"/>
                    </a:cubicBezTo>
                    <a:cubicBezTo>
                      <a:pt x="691" y="354"/>
                      <a:pt x="685" y="359"/>
                      <a:pt x="680" y="364"/>
                    </a:cubicBezTo>
                    <a:cubicBezTo>
                      <a:pt x="675" y="369"/>
                      <a:pt x="672" y="374"/>
                      <a:pt x="669" y="380"/>
                    </a:cubicBezTo>
                    <a:cubicBezTo>
                      <a:pt x="665" y="385"/>
                      <a:pt x="663" y="390"/>
                      <a:pt x="661" y="396"/>
                    </a:cubicBezTo>
                    <a:cubicBezTo>
                      <a:pt x="660" y="402"/>
                      <a:pt x="659" y="409"/>
                      <a:pt x="659" y="415"/>
                    </a:cubicBezTo>
                    <a:cubicBezTo>
                      <a:pt x="659" y="425"/>
                      <a:pt x="661" y="435"/>
                      <a:pt x="665" y="443"/>
                    </a:cubicBezTo>
                    <a:cubicBezTo>
                      <a:pt x="669" y="452"/>
                      <a:pt x="677" y="459"/>
                      <a:pt x="686" y="465"/>
                    </a:cubicBezTo>
                    <a:cubicBezTo>
                      <a:pt x="696" y="471"/>
                      <a:pt x="708" y="477"/>
                      <a:pt x="722" y="480"/>
                    </a:cubicBezTo>
                    <a:cubicBezTo>
                      <a:pt x="737" y="484"/>
                      <a:pt x="755" y="485"/>
                      <a:pt x="776" y="485"/>
                    </a:cubicBezTo>
                    <a:cubicBezTo>
                      <a:pt x="798" y="485"/>
                      <a:pt x="817" y="483"/>
                      <a:pt x="833" y="478"/>
                    </a:cubicBezTo>
                    <a:cubicBezTo>
                      <a:pt x="849" y="474"/>
                      <a:pt x="862" y="467"/>
                      <a:pt x="872" y="459"/>
                    </a:cubicBezTo>
                    <a:cubicBezTo>
                      <a:pt x="883" y="451"/>
                      <a:pt x="890" y="441"/>
                      <a:pt x="895" y="430"/>
                    </a:cubicBezTo>
                    <a:cubicBezTo>
                      <a:pt x="900" y="419"/>
                      <a:pt x="902" y="408"/>
                      <a:pt x="902" y="396"/>
                    </a:cubicBezTo>
                    <a:cubicBezTo>
                      <a:pt x="902" y="385"/>
                      <a:pt x="901" y="375"/>
                      <a:pt x="896" y="366"/>
                    </a:cubicBezTo>
                    <a:cubicBezTo>
                      <a:pt x="892" y="358"/>
                      <a:pt x="885" y="350"/>
                      <a:pt x="878" y="344"/>
                    </a:cubicBezTo>
                    <a:cubicBezTo>
                      <a:pt x="870" y="338"/>
                      <a:pt x="860" y="334"/>
                      <a:pt x="849" y="331"/>
                    </a:cubicBezTo>
                    <a:cubicBezTo>
                      <a:pt x="839" y="328"/>
                      <a:pt x="827" y="325"/>
                      <a:pt x="814" y="325"/>
                    </a:cubicBezTo>
                    <a:lnTo>
                      <a:pt x="745" y="322"/>
                    </a:lnTo>
                    <a:cubicBezTo>
                      <a:pt x="735" y="322"/>
                      <a:pt x="727" y="320"/>
                      <a:pt x="721" y="315"/>
                    </a:cubicBezTo>
                    <a:cubicBezTo>
                      <a:pt x="714" y="311"/>
                      <a:pt x="711" y="305"/>
                      <a:pt x="711" y="299"/>
                    </a:cubicBezTo>
                    <a:cubicBezTo>
                      <a:pt x="711" y="293"/>
                      <a:pt x="712" y="288"/>
                      <a:pt x="714" y="284"/>
                    </a:cubicBezTo>
                    <a:cubicBezTo>
                      <a:pt x="717" y="279"/>
                      <a:pt x="720" y="275"/>
                      <a:pt x="723" y="271"/>
                    </a:cubicBezTo>
                    <a:cubicBezTo>
                      <a:pt x="728" y="275"/>
                      <a:pt x="736" y="279"/>
                      <a:pt x="745" y="282"/>
                    </a:cubicBezTo>
                    <a:cubicBezTo>
                      <a:pt x="755" y="285"/>
                      <a:pt x="765" y="286"/>
                      <a:pt x="775" y="286"/>
                    </a:cubicBezTo>
                    <a:cubicBezTo>
                      <a:pt x="790" y="286"/>
                      <a:pt x="804" y="284"/>
                      <a:pt x="817" y="280"/>
                    </a:cubicBezTo>
                    <a:cubicBezTo>
                      <a:pt x="829" y="276"/>
                      <a:pt x="839" y="269"/>
                      <a:pt x="848" y="261"/>
                    </a:cubicBezTo>
                    <a:cubicBezTo>
                      <a:pt x="857" y="253"/>
                      <a:pt x="865" y="243"/>
                      <a:pt x="870" y="231"/>
                    </a:cubicBezTo>
                    <a:cubicBezTo>
                      <a:pt x="874" y="220"/>
                      <a:pt x="877" y="207"/>
                      <a:pt x="877" y="192"/>
                    </a:cubicBezTo>
                    <a:cubicBezTo>
                      <a:pt x="877" y="183"/>
                      <a:pt x="875" y="175"/>
                      <a:pt x="872" y="166"/>
                    </a:cubicBezTo>
                    <a:cubicBezTo>
                      <a:pt x="870" y="158"/>
                      <a:pt x="865" y="149"/>
                      <a:pt x="858" y="142"/>
                    </a:cubicBezTo>
                    <a:lnTo>
                      <a:pt x="895" y="142"/>
                    </a:lnTo>
                    <a:cubicBezTo>
                      <a:pt x="898" y="142"/>
                      <a:pt x="900" y="141"/>
                      <a:pt x="902" y="138"/>
                    </a:cubicBezTo>
                    <a:cubicBezTo>
                      <a:pt x="904" y="135"/>
                      <a:pt x="906" y="131"/>
                      <a:pt x="906" y="124"/>
                    </a:cubicBezTo>
                    <a:cubicBezTo>
                      <a:pt x="906" y="117"/>
                      <a:pt x="905" y="112"/>
                      <a:pt x="903" y="109"/>
                    </a:cubicBezTo>
                    <a:cubicBezTo>
                      <a:pt x="902" y="106"/>
                      <a:pt x="898" y="104"/>
                      <a:pt x="895" y="104"/>
                    </a:cubicBezTo>
                    <a:lnTo>
                      <a:pt x="817" y="104"/>
                    </a:lnTo>
                    <a:cubicBezTo>
                      <a:pt x="811" y="103"/>
                      <a:pt x="804" y="102"/>
                      <a:pt x="797" y="101"/>
                    </a:cubicBezTo>
                    <a:cubicBezTo>
                      <a:pt x="790" y="100"/>
                      <a:pt x="783" y="99"/>
                      <a:pt x="775" y="99"/>
                    </a:cubicBezTo>
                    <a:close/>
                    <a:moveTo>
                      <a:pt x="1358" y="99"/>
                    </a:moveTo>
                    <a:cubicBezTo>
                      <a:pt x="1342" y="99"/>
                      <a:pt x="1329" y="101"/>
                      <a:pt x="1317" y="105"/>
                    </a:cubicBezTo>
                    <a:cubicBezTo>
                      <a:pt x="1305" y="110"/>
                      <a:pt x="1296" y="115"/>
                      <a:pt x="1288" y="122"/>
                    </a:cubicBezTo>
                    <a:cubicBezTo>
                      <a:pt x="1280" y="129"/>
                      <a:pt x="1274" y="137"/>
                      <a:pt x="1270" y="147"/>
                    </a:cubicBezTo>
                    <a:cubicBezTo>
                      <a:pt x="1266" y="156"/>
                      <a:pt x="1264" y="166"/>
                      <a:pt x="1264" y="176"/>
                    </a:cubicBezTo>
                    <a:cubicBezTo>
                      <a:pt x="1264" y="187"/>
                      <a:pt x="1265" y="198"/>
                      <a:pt x="1269" y="206"/>
                    </a:cubicBezTo>
                    <a:cubicBezTo>
                      <a:pt x="1273" y="214"/>
                      <a:pt x="1278" y="221"/>
                      <a:pt x="1284" y="227"/>
                    </a:cubicBezTo>
                    <a:cubicBezTo>
                      <a:pt x="1290" y="233"/>
                      <a:pt x="1297" y="238"/>
                      <a:pt x="1305" y="242"/>
                    </a:cubicBezTo>
                    <a:cubicBezTo>
                      <a:pt x="1313" y="246"/>
                      <a:pt x="1321" y="250"/>
                      <a:pt x="1329" y="254"/>
                    </a:cubicBezTo>
                    <a:cubicBezTo>
                      <a:pt x="1337" y="257"/>
                      <a:pt x="1345" y="260"/>
                      <a:pt x="1353" y="263"/>
                    </a:cubicBezTo>
                    <a:cubicBezTo>
                      <a:pt x="1361" y="266"/>
                      <a:pt x="1368" y="269"/>
                      <a:pt x="1374" y="273"/>
                    </a:cubicBezTo>
                    <a:cubicBezTo>
                      <a:pt x="1380" y="277"/>
                      <a:pt x="1385" y="281"/>
                      <a:pt x="1389" y="286"/>
                    </a:cubicBezTo>
                    <a:cubicBezTo>
                      <a:pt x="1393" y="291"/>
                      <a:pt x="1394" y="297"/>
                      <a:pt x="1394" y="305"/>
                    </a:cubicBezTo>
                    <a:cubicBezTo>
                      <a:pt x="1394" y="312"/>
                      <a:pt x="1393" y="318"/>
                      <a:pt x="1391" y="323"/>
                    </a:cubicBezTo>
                    <a:cubicBezTo>
                      <a:pt x="1388" y="328"/>
                      <a:pt x="1384" y="333"/>
                      <a:pt x="1379" y="336"/>
                    </a:cubicBezTo>
                    <a:cubicBezTo>
                      <a:pt x="1375" y="340"/>
                      <a:pt x="1369" y="343"/>
                      <a:pt x="1363" y="344"/>
                    </a:cubicBezTo>
                    <a:cubicBezTo>
                      <a:pt x="1356" y="346"/>
                      <a:pt x="1349" y="347"/>
                      <a:pt x="1341" y="347"/>
                    </a:cubicBezTo>
                    <a:cubicBezTo>
                      <a:pt x="1330" y="347"/>
                      <a:pt x="1320" y="345"/>
                      <a:pt x="1311" y="343"/>
                    </a:cubicBezTo>
                    <a:cubicBezTo>
                      <a:pt x="1303" y="340"/>
                      <a:pt x="1296" y="338"/>
                      <a:pt x="1290" y="335"/>
                    </a:cubicBezTo>
                    <a:cubicBezTo>
                      <a:pt x="1284" y="332"/>
                      <a:pt x="1279" y="328"/>
                      <a:pt x="1274" y="326"/>
                    </a:cubicBezTo>
                    <a:cubicBezTo>
                      <a:pt x="1270" y="323"/>
                      <a:pt x="1268" y="322"/>
                      <a:pt x="1266" y="322"/>
                    </a:cubicBezTo>
                    <a:cubicBezTo>
                      <a:pt x="1264" y="322"/>
                      <a:pt x="1263" y="323"/>
                      <a:pt x="1262" y="323"/>
                    </a:cubicBezTo>
                    <a:cubicBezTo>
                      <a:pt x="1261" y="324"/>
                      <a:pt x="1260" y="324"/>
                      <a:pt x="1259" y="326"/>
                    </a:cubicBezTo>
                    <a:cubicBezTo>
                      <a:pt x="1259" y="327"/>
                      <a:pt x="1258" y="330"/>
                      <a:pt x="1258" y="332"/>
                    </a:cubicBezTo>
                    <a:cubicBezTo>
                      <a:pt x="1257" y="335"/>
                      <a:pt x="1258" y="338"/>
                      <a:pt x="1258" y="342"/>
                    </a:cubicBezTo>
                    <a:cubicBezTo>
                      <a:pt x="1258" y="348"/>
                      <a:pt x="1258" y="352"/>
                      <a:pt x="1259" y="356"/>
                    </a:cubicBezTo>
                    <a:cubicBezTo>
                      <a:pt x="1260" y="359"/>
                      <a:pt x="1261" y="362"/>
                      <a:pt x="1263" y="364"/>
                    </a:cubicBezTo>
                    <a:cubicBezTo>
                      <a:pt x="1265" y="366"/>
                      <a:pt x="1269" y="368"/>
                      <a:pt x="1274" y="370"/>
                    </a:cubicBezTo>
                    <a:cubicBezTo>
                      <a:pt x="1278" y="372"/>
                      <a:pt x="1284" y="375"/>
                      <a:pt x="1290" y="377"/>
                    </a:cubicBezTo>
                    <a:cubicBezTo>
                      <a:pt x="1297" y="379"/>
                      <a:pt x="1305" y="382"/>
                      <a:pt x="1313" y="383"/>
                    </a:cubicBezTo>
                    <a:cubicBezTo>
                      <a:pt x="1322" y="385"/>
                      <a:pt x="1330" y="385"/>
                      <a:pt x="1340" y="385"/>
                    </a:cubicBezTo>
                    <a:cubicBezTo>
                      <a:pt x="1355" y="385"/>
                      <a:pt x="1369" y="383"/>
                      <a:pt x="1381" y="380"/>
                    </a:cubicBezTo>
                    <a:cubicBezTo>
                      <a:pt x="1394" y="376"/>
                      <a:pt x="1404" y="370"/>
                      <a:pt x="1413" y="363"/>
                    </a:cubicBezTo>
                    <a:cubicBezTo>
                      <a:pt x="1422" y="356"/>
                      <a:pt x="1429" y="348"/>
                      <a:pt x="1434" y="337"/>
                    </a:cubicBezTo>
                    <a:cubicBezTo>
                      <a:pt x="1439" y="327"/>
                      <a:pt x="1442" y="314"/>
                      <a:pt x="1442" y="301"/>
                    </a:cubicBezTo>
                    <a:cubicBezTo>
                      <a:pt x="1442" y="290"/>
                      <a:pt x="1440" y="280"/>
                      <a:pt x="1436" y="272"/>
                    </a:cubicBezTo>
                    <a:cubicBezTo>
                      <a:pt x="1432" y="264"/>
                      <a:pt x="1427" y="258"/>
                      <a:pt x="1421" y="252"/>
                    </a:cubicBezTo>
                    <a:cubicBezTo>
                      <a:pt x="1415" y="246"/>
                      <a:pt x="1408" y="241"/>
                      <a:pt x="1400" y="237"/>
                    </a:cubicBezTo>
                    <a:cubicBezTo>
                      <a:pt x="1392" y="233"/>
                      <a:pt x="1384" y="229"/>
                      <a:pt x="1376" y="226"/>
                    </a:cubicBezTo>
                    <a:cubicBezTo>
                      <a:pt x="1368" y="223"/>
                      <a:pt x="1359" y="220"/>
                      <a:pt x="1351" y="216"/>
                    </a:cubicBezTo>
                    <a:cubicBezTo>
                      <a:pt x="1343" y="213"/>
                      <a:pt x="1336" y="210"/>
                      <a:pt x="1330" y="206"/>
                    </a:cubicBezTo>
                    <a:cubicBezTo>
                      <a:pt x="1324" y="202"/>
                      <a:pt x="1319" y="198"/>
                      <a:pt x="1315" y="193"/>
                    </a:cubicBezTo>
                    <a:cubicBezTo>
                      <a:pt x="1311" y="188"/>
                      <a:pt x="1310" y="181"/>
                      <a:pt x="1310" y="173"/>
                    </a:cubicBezTo>
                    <a:cubicBezTo>
                      <a:pt x="1310" y="168"/>
                      <a:pt x="1310" y="163"/>
                      <a:pt x="1312" y="158"/>
                    </a:cubicBezTo>
                    <a:cubicBezTo>
                      <a:pt x="1314" y="154"/>
                      <a:pt x="1317" y="150"/>
                      <a:pt x="1321" y="147"/>
                    </a:cubicBezTo>
                    <a:cubicBezTo>
                      <a:pt x="1325" y="143"/>
                      <a:pt x="1331" y="141"/>
                      <a:pt x="1337" y="139"/>
                    </a:cubicBezTo>
                    <a:cubicBezTo>
                      <a:pt x="1343" y="137"/>
                      <a:pt x="1350" y="136"/>
                      <a:pt x="1358" y="136"/>
                    </a:cubicBezTo>
                    <a:cubicBezTo>
                      <a:pt x="1367" y="136"/>
                      <a:pt x="1375" y="137"/>
                      <a:pt x="1382" y="139"/>
                    </a:cubicBezTo>
                    <a:cubicBezTo>
                      <a:pt x="1389" y="141"/>
                      <a:pt x="1395" y="144"/>
                      <a:pt x="1401" y="146"/>
                    </a:cubicBezTo>
                    <a:cubicBezTo>
                      <a:pt x="1406" y="148"/>
                      <a:pt x="1410" y="151"/>
                      <a:pt x="1413" y="153"/>
                    </a:cubicBezTo>
                    <a:cubicBezTo>
                      <a:pt x="1416" y="155"/>
                      <a:pt x="1419" y="156"/>
                      <a:pt x="1421" y="156"/>
                    </a:cubicBezTo>
                    <a:cubicBezTo>
                      <a:pt x="1422" y="156"/>
                      <a:pt x="1423" y="155"/>
                      <a:pt x="1424" y="155"/>
                    </a:cubicBezTo>
                    <a:cubicBezTo>
                      <a:pt x="1425" y="154"/>
                      <a:pt x="1425" y="153"/>
                      <a:pt x="1426" y="151"/>
                    </a:cubicBezTo>
                    <a:cubicBezTo>
                      <a:pt x="1427" y="150"/>
                      <a:pt x="1428" y="148"/>
                      <a:pt x="1428" y="146"/>
                    </a:cubicBezTo>
                    <a:cubicBezTo>
                      <a:pt x="1428" y="144"/>
                      <a:pt x="1429" y="140"/>
                      <a:pt x="1429" y="137"/>
                    </a:cubicBezTo>
                    <a:cubicBezTo>
                      <a:pt x="1429" y="134"/>
                      <a:pt x="1428" y="131"/>
                      <a:pt x="1428" y="129"/>
                    </a:cubicBezTo>
                    <a:cubicBezTo>
                      <a:pt x="1428" y="127"/>
                      <a:pt x="1427" y="125"/>
                      <a:pt x="1427" y="124"/>
                    </a:cubicBezTo>
                    <a:cubicBezTo>
                      <a:pt x="1427" y="122"/>
                      <a:pt x="1426" y="121"/>
                      <a:pt x="1425" y="119"/>
                    </a:cubicBezTo>
                    <a:cubicBezTo>
                      <a:pt x="1425" y="118"/>
                      <a:pt x="1424" y="117"/>
                      <a:pt x="1422" y="116"/>
                    </a:cubicBezTo>
                    <a:cubicBezTo>
                      <a:pt x="1420" y="114"/>
                      <a:pt x="1417" y="113"/>
                      <a:pt x="1413" y="111"/>
                    </a:cubicBezTo>
                    <a:cubicBezTo>
                      <a:pt x="1409" y="109"/>
                      <a:pt x="1404" y="106"/>
                      <a:pt x="1398" y="104"/>
                    </a:cubicBezTo>
                    <a:cubicBezTo>
                      <a:pt x="1392" y="103"/>
                      <a:pt x="1386" y="102"/>
                      <a:pt x="1379" y="101"/>
                    </a:cubicBezTo>
                    <a:cubicBezTo>
                      <a:pt x="1372" y="100"/>
                      <a:pt x="1365" y="99"/>
                      <a:pt x="1358" y="99"/>
                    </a:cubicBezTo>
                    <a:close/>
                    <a:moveTo>
                      <a:pt x="399" y="103"/>
                    </a:moveTo>
                    <a:cubicBezTo>
                      <a:pt x="394" y="103"/>
                      <a:pt x="390" y="103"/>
                      <a:pt x="387" y="104"/>
                    </a:cubicBezTo>
                    <a:cubicBezTo>
                      <a:pt x="384" y="104"/>
                      <a:pt x="382" y="104"/>
                      <a:pt x="380" y="105"/>
                    </a:cubicBezTo>
                    <a:cubicBezTo>
                      <a:pt x="378" y="106"/>
                      <a:pt x="376" y="107"/>
                      <a:pt x="376" y="108"/>
                    </a:cubicBezTo>
                    <a:cubicBezTo>
                      <a:pt x="375" y="109"/>
                      <a:pt x="375" y="110"/>
                      <a:pt x="375" y="112"/>
                    </a:cubicBezTo>
                    <a:lnTo>
                      <a:pt x="375" y="269"/>
                    </a:lnTo>
                    <a:cubicBezTo>
                      <a:pt x="375" y="288"/>
                      <a:pt x="377" y="305"/>
                      <a:pt x="380" y="318"/>
                    </a:cubicBezTo>
                    <a:cubicBezTo>
                      <a:pt x="383" y="331"/>
                      <a:pt x="388" y="342"/>
                      <a:pt x="395" y="352"/>
                    </a:cubicBezTo>
                    <a:cubicBezTo>
                      <a:pt x="402" y="362"/>
                      <a:pt x="412" y="370"/>
                      <a:pt x="424" y="376"/>
                    </a:cubicBezTo>
                    <a:cubicBezTo>
                      <a:pt x="436" y="382"/>
                      <a:pt x="451" y="385"/>
                      <a:pt x="468" y="385"/>
                    </a:cubicBezTo>
                    <a:cubicBezTo>
                      <a:pt x="483" y="385"/>
                      <a:pt x="498" y="381"/>
                      <a:pt x="512" y="373"/>
                    </a:cubicBezTo>
                    <a:cubicBezTo>
                      <a:pt x="527" y="366"/>
                      <a:pt x="542" y="355"/>
                      <a:pt x="557" y="338"/>
                    </a:cubicBezTo>
                    <a:lnTo>
                      <a:pt x="557" y="373"/>
                    </a:lnTo>
                    <a:cubicBezTo>
                      <a:pt x="557" y="374"/>
                      <a:pt x="557" y="375"/>
                      <a:pt x="557" y="376"/>
                    </a:cubicBezTo>
                    <a:cubicBezTo>
                      <a:pt x="558" y="377"/>
                      <a:pt x="558" y="378"/>
                      <a:pt x="560" y="379"/>
                    </a:cubicBezTo>
                    <a:cubicBezTo>
                      <a:pt x="562" y="380"/>
                      <a:pt x="564" y="380"/>
                      <a:pt x="567" y="381"/>
                    </a:cubicBezTo>
                    <a:cubicBezTo>
                      <a:pt x="570" y="381"/>
                      <a:pt x="573" y="381"/>
                      <a:pt x="578" y="381"/>
                    </a:cubicBezTo>
                    <a:cubicBezTo>
                      <a:pt x="582" y="381"/>
                      <a:pt x="585" y="381"/>
                      <a:pt x="588" y="381"/>
                    </a:cubicBezTo>
                    <a:cubicBezTo>
                      <a:pt x="591" y="380"/>
                      <a:pt x="594" y="380"/>
                      <a:pt x="595" y="379"/>
                    </a:cubicBezTo>
                    <a:cubicBezTo>
                      <a:pt x="597" y="378"/>
                      <a:pt x="598" y="377"/>
                      <a:pt x="599" y="376"/>
                    </a:cubicBezTo>
                    <a:cubicBezTo>
                      <a:pt x="600" y="375"/>
                      <a:pt x="600" y="374"/>
                      <a:pt x="600" y="373"/>
                    </a:cubicBezTo>
                    <a:lnTo>
                      <a:pt x="600" y="112"/>
                    </a:lnTo>
                    <a:cubicBezTo>
                      <a:pt x="600" y="110"/>
                      <a:pt x="599" y="109"/>
                      <a:pt x="598" y="108"/>
                    </a:cubicBezTo>
                    <a:cubicBezTo>
                      <a:pt x="597" y="107"/>
                      <a:pt x="596" y="106"/>
                      <a:pt x="594" y="105"/>
                    </a:cubicBezTo>
                    <a:cubicBezTo>
                      <a:pt x="593" y="104"/>
                      <a:pt x="590" y="104"/>
                      <a:pt x="587" y="104"/>
                    </a:cubicBezTo>
                    <a:cubicBezTo>
                      <a:pt x="584" y="103"/>
                      <a:pt x="581" y="103"/>
                      <a:pt x="576" y="103"/>
                    </a:cubicBezTo>
                    <a:cubicBezTo>
                      <a:pt x="571" y="103"/>
                      <a:pt x="567" y="103"/>
                      <a:pt x="564" y="104"/>
                    </a:cubicBezTo>
                    <a:cubicBezTo>
                      <a:pt x="561" y="104"/>
                      <a:pt x="558" y="104"/>
                      <a:pt x="557" y="105"/>
                    </a:cubicBezTo>
                    <a:cubicBezTo>
                      <a:pt x="555" y="106"/>
                      <a:pt x="553" y="107"/>
                      <a:pt x="552" y="108"/>
                    </a:cubicBezTo>
                    <a:cubicBezTo>
                      <a:pt x="551" y="109"/>
                      <a:pt x="551" y="110"/>
                      <a:pt x="551" y="112"/>
                    </a:cubicBezTo>
                    <a:lnTo>
                      <a:pt x="551" y="294"/>
                    </a:lnTo>
                    <a:cubicBezTo>
                      <a:pt x="538" y="310"/>
                      <a:pt x="525" y="323"/>
                      <a:pt x="513" y="331"/>
                    </a:cubicBezTo>
                    <a:cubicBezTo>
                      <a:pt x="501" y="340"/>
                      <a:pt x="490" y="343"/>
                      <a:pt x="478" y="343"/>
                    </a:cubicBezTo>
                    <a:cubicBezTo>
                      <a:pt x="469" y="343"/>
                      <a:pt x="460" y="342"/>
                      <a:pt x="453" y="338"/>
                    </a:cubicBezTo>
                    <a:cubicBezTo>
                      <a:pt x="446" y="335"/>
                      <a:pt x="441" y="330"/>
                      <a:pt x="437" y="323"/>
                    </a:cubicBezTo>
                    <a:cubicBezTo>
                      <a:pt x="432" y="317"/>
                      <a:pt x="428" y="309"/>
                      <a:pt x="426" y="300"/>
                    </a:cubicBezTo>
                    <a:cubicBezTo>
                      <a:pt x="424" y="291"/>
                      <a:pt x="423" y="278"/>
                      <a:pt x="423" y="263"/>
                    </a:cubicBezTo>
                    <a:lnTo>
                      <a:pt x="423" y="112"/>
                    </a:lnTo>
                    <a:cubicBezTo>
                      <a:pt x="423" y="110"/>
                      <a:pt x="422" y="109"/>
                      <a:pt x="422" y="108"/>
                    </a:cubicBezTo>
                    <a:cubicBezTo>
                      <a:pt x="421" y="107"/>
                      <a:pt x="420" y="106"/>
                      <a:pt x="418" y="105"/>
                    </a:cubicBezTo>
                    <a:cubicBezTo>
                      <a:pt x="416" y="104"/>
                      <a:pt x="414" y="104"/>
                      <a:pt x="411" y="104"/>
                    </a:cubicBezTo>
                    <a:cubicBezTo>
                      <a:pt x="408" y="103"/>
                      <a:pt x="403" y="103"/>
                      <a:pt x="399" y="103"/>
                    </a:cubicBezTo>
                    <a:close/>
                    <a:moveTo>
                      <a:pt x="990" y="103"/>
                    </a:moveTo>
                    <a:cubicBezTo>
                      <a:pt x="985" y="103"/>
                      <a:pt x="981" y="103"/>
                      <a:pt x="978" y="104"/>
                    </a:cubicBezTo>
                    <a:cubicBezTo>
                      <a:pt x="975" y="104"/>
                      <a:pt x="972" y="104"/>
                      <a:pt x="970" y="105"/>
                    </a:cubicBezTo>
                    <a:cubicBezTo>
                      <a:pt x="968" y="106"/>
                      <a:pt x="967" y="107"/>
                      <a:pt x="967" y="108"/>
                    </a:cubicBezTo>
                    <a:cubicBezTo>
                      <a:pt x="966" y="109"/>
                      <a:pt x="966" y="110"/>
                      <a:pt x="966" y="112"/>
                    </a:cubicBezTo>
                    <a:lnTo>
                      <a:pt x="966" y="269"/>
                    </a:lnTo>
                    <a:cubicBezTo>
                      <a:pt x="966" y="288"/>
                      <a:pt x="967" y="305"/>
                      <a:pt x="970" y="318"/>
                    </a:cubicBezTo>
                    <a:cubicBezTo>
                      <a:pt x="973" y="331"/>
                      <a:pt x="979" y="342"/>
                      <a:pt x="986" y="352"/>
                    </a:cubicBezTo>
                    <a:cubicBezTo>
                      <a:pt x="993" y="362"/>
                      <a:pt x="1002" y="370"/>
                      <a:pt x="1014" y="376"/>
                    </a:cubicBezTo>
                    <a:cubicBezTo>
                      <a:pt x="1026" y="382"/>
                      <a:pt x="1041" y="385"/>
                      <a:pt x="1058" y="385"/>
                    </a:cubicBezTo>
                    <a:cubicBezTo>
                      <a:pt x="1073" y="385"/>
                      <a:pt x="1088" y="381"/>
                      <a:pt x="1102" y="373"/>
                    </a:cubicBezTo>
                    <a:cubicBezTo>
                      <a:pt x="1117" y="366"/>
                      <a:pt x="1132" y="355"/>
                      <a:pt x="1147" y="338"/>
                    </a:cubicBezTo>
                    <a:lnTo>
                      <a:pt x="1147" y="373"/>
                    </a:lnTo>
                    <a:cubicBezTo>
                      <a:pt x="1147" y="374"/>
                      <a:pt x="1147" y="375"/>
                      <a:pt x="1147" y="376"/>
                    </a:cubicBezTo>
                    <a:cubicBezTo>
                      <a:pt x="1148" y="377"/>
                      <a:pt x="1149" y="378"/>
                      <a:pt x="1151" y="379"/>
                    </a:cubicBezTo>
                    <a:cubicBezTo>
                      <a:pt x="1153" y="380"/>
                      <a:pt x="1154" y="380"/>
                      <a:pt x="1157" y="381"/>
                    </a:cubicBezTo>
                    <a:cubicBezTo>
                      <a:pt x="1160" y="381"/>
                      <a:pt x="1164" y="381"/>
                      <a:pt x="1169" y="381"/>
                    </a:cubicBezTo>
                    <a:cubicBezTo>
                      <a:pt x="1173" y="381"/>
                      <a:pt x="1176" y="381"/>
                      <a:pt x="1178" y="381"/>
                    </a:cubicBezTo>
                    <a:cubicBezTo>
                      <a:pt x="1181" y="380"/>
                      <a:pt x="1184" y="380"/>
                      <a:pt x="1185" y="379"/>
                    </a:cubicBezTo>
                    <a:cubicBezTo>
                      <a:pt x="1187" y="378"/>
                      <a:pt x="1188" y="377"/>
                      <a:pt x="1189" y="376"/>
                    </a:cubicBezTo>
                    <a:cubicBezTo>
                      <a:pt x="1190" y="375"/>
                      <a:pt x="1190" y="374"/>
                      <a:pt x="1190" y="373"/>
                    </a:cubicBezTo>
                    <a:lnTo>
                      <a:pt x="1190" y="112"/>
                    </a:lnTo>
                    <a:cubicBezTo>
                      <a:pt x="1190" y="110"/>
                      <a:pt x="1190" y="109"/>
                      <a:pt x="1189" y="108"/>
                    </a:cubicBezTo>
                    <a:cubicBezTo>
                      <a:pt x="1188" y="107"/>
                      <a:pt x="1186" y="106"/>
                      <a:pt x="1184" y="105"/>
                    </a:cubicBezTo>
                    <a:cubicBezTo>
                      <a:pt x="1183" y="104"/>
                      <a:pt x="1181" y="104"/>
                      <a:pt x="1177" y="104"/>
                    </a:cubicBezTo>
                    <a:cubicBezTo>
                      <a:pt x="1174" y="103"/>
                      <a:pt x="1171" y="103"/>
                      <a:pt x="1166" y="103"/>
                    </a:cubicBezTo>
                    <a:cubicBezTo>
                      <a:pt x="1161" y="103"/>
                      <a:pt x="1157" y="103"/>
                      <a:pt x="1155" y="104"/>
                    </a:cubicBezTo>
                    <a:cubicBezTo>
                      <a:pt x="1152" y="104"/>
                      <a:pt x="1148" y="104"/>
                      <a:pt x="1147" y="105"/>
                    </a:cubicBezTo>
                    <a:cubicBezTo>
                      <a:pt x="1145" y="106"/>
                      <a:pt x="1144" y="107"/>
                      <a:pt x="1143" y="108"/>
                    </a:cubicBezTo>
                    <a:cubicBezTo>
                      <a:pt x="1142" y="109"/>
                      <a:pt x="1142" y="110"/>
                      <a:pt x="1142" y="112"/>
                    </a:cubicBezTo>
                    <a:lnTo>
                      <a:pt x="1142" y="294"/>
                    </a:lnTo>
                    <a:cubicBezTo>
                      <a:pt x="1129" y="310"/>
                      <a:pt x="1116" y="323"/>
                      <a:pt x="1104" y="331"/>
                    </a:cubicBezTo>
                    <a:cubicBezTo>
                      <a:pt x="1092" y="340"/>
                      <a:pt x="1080" y="343"/>
                      <a:pt x="1068" y="343"/>
                    </a:cubicBezTo>
                    <a:cubicBezTo>
                      <a:pt x="1059" y="343"/>
                      <a:pt x="1051" y="342"/>
                      <a:pt x="1044" y="338"/>
                    </a:cubicBezTo>
                    <a:cubicBezTo>
                      <a:pt x="1037" y="335"/>
                      <a:pt x="1031" y="330"/>
                      <a:pt x="1027" y="323"/>
                    </a:cubicBezTo>
                    <a:cubicBezTo>
                      <a:pt x="1022" y="317"/>
                      <a:pt x="1019" y="309"/>
                      <a:pt x="1017" y="300"/>
                    </a:cubicBezTo>
                    <a:cubicBezTo>
                      <a:pt x="1015" y="291"/>
                      <a:pt x="1013" y="278"/>
                      <a:pt x="1013" y="263"/>
                    </a:cubicBezTo>
                    <a:lnTo>
                      <a:pt x="1013" y="112"/>
                    </a:lnTo>
                    <a:cubicBezTo>
                      <a:pt x="1013" y="110"/>
                      <a:pt x="1013" y="109"/>
                      <a:pt x="1013" y="108"/>
                    </a:cubicBezTo>
                    <a:cubicBezTo>
                      <a:pt x="1012" y="107"/>
                      <a:pt x="1010" y="106"/>
                      <a:pt x="1008" y="105"/>
                    </a:cubicBezTo>
                    <a:cubicBezTo>
                      <a:pt x="1006" y="104"/>
                      <a:pt x="1004" y="104"/>
                      <a:pt x="1001" y="104"/>
                    </a:cubicBezTo>
                    <a:cubicBezTo>
                      <a:pt x="998" y="103"/>
                      <a:pt x="994" y="103"/>
                      <a:pt x="990" y="103"/>
                    </a:cubicBezTo>
                    <a:close/>
                    <a:moveTo>
                      <a:pt x="774" y="136"/>
                    </a:moveTo>
                    <a:cubicBezTo>
                      <a:pt x="792" y="136"/>
                      <a:pt x="806" y="140"/>
                      <a:pt x="816" y="150"/>
                    </a:cubicBezTo>
                    <a:cubicBezTo>
                      <a:pt x="826" y="160"/>
                      <a:pt x="831" y="175"/>
                      <a:pt x="831" y="193"/>
                    </a:cubicBezTo>
                    <a:cubicBezTo>
                      <a:pt x="831" y="200"/>
                      <a:pt x="830" y="207"/>
                      <a:pt x="827" y="214"/>
                    </a:cubicBezTo>
                    <a:cubicBezTo>
                      <a:pt x="825" y="221"/>
                      <a:pt x="822" y="227"/>
                      <a:pt x="818" y="232"/>
                    </a:cubicBezTo>
                    <a:cubicBezTo>
                      <a:pt x="813" y="238"/>
                      <a:pt x="807" y="242"/>
                      <a:pt x="800" y="245"/>
                    </a:cubicBezTo>
                    <a:cubicBezTo>
                      <a:pt x="793" y="248"/>
                      <a:pt x="785" y="249"/>
                      <a:pt x="775" y="249"/>
                    </a:cubicBezTo>
                    <a:cubicBezTo>
                      <a:pt x="758" y="249"/>
                      <a:pt x="744" y="244"/>
                      <a:pt x="735" y="234"/>
                    </a:cubicBezTo>
                    <a:cubicBezTo>
                      <a:pt x="725" y="224"/>
                      <a:pt x="720" y="211"/>
                      <a:pt x="720" y="194"/>
                    </a:cubicBezTo>
                    <a:cubicBezTo>
                      <a:pt x="720" y="186"/>
                      <a:pt x="721" y="179"/>
                      <a:pt x="723" y="172"/>
                    </a:cubicBezTo>
                    <a:cubicBezTo>
                      <a:pt x="725" y="164"/>
                      <a:pt x="729" y="158"/>
                      <a:pt x="734" y="153"/>
                    </a:cubicBezTo>
                    <a:cubicBezTo>
                      <a:pt x="738" y="148"/>
                      <a:pt x="744" y="144"/>
                      <a:pt x="751" y="141"/>
                    </a:cubicBezTo>
                    <a:cubicBezTo>
                      <a:pt x="757" y="138"/>
                      <a:pt x="765" y="136"/>
                      <a:pt x="774" y="136"/>
                    </a:cubicBezTo>
                    <a:close/>
                    <a:moveTo>
                      <a:pt x="736" y="361"/>
                    </a:moveTo>
                    <a:lnTo>
                      <a:pt x="803" y="363"/>
                    </a:lnTo>
                    <a:cubicBezTo>
                      <a:pt x="819" y="363"/>
                      <a:pt x="832" y="367"/>
                      <a:pt x="841" y="373"/>
                    </a:cubicBezTo>
                    <a:cubicBezTo>
                      <a:pt x="851" y="379"/>
                      <a:pt x="855" y="387"/>
                      <a:pt x="855" y="398"/>
                    </a:cubicBezTo>
                    <a:cubicBezTo>
                      <a:pt x="855" y="405"/>
                      <a:pt x="854" y="412"/>
                      <a:pt x="851" y="418"/>
                    </a:cubicBezTo>
                    <a:cubicBezTo>
                      <a:pt x="849" y="424"/>
                      <a:pt x="844" y="429"/>
                      <a:pt x="838" y="433"/>
                    </a:cubicBezTo>
                    <a:cubicBezTo>
                      <a:pt x="832" y="438"/>
                      <a:pt x="824" y="441"/>
                      <a:pt x="814" y="444"/>
                    </a:cubicBezTo>
                    <a:cubicBezTo>
                      <a:pt x="804" y="447"/>
                      <a:pt x="792" y="448"/>
                      <a:pt x="778" y="448"/>
                    </a:cubicBezTo>
                    <a:cubicBezTo>
                      <a:pt x="755" y="448"/>
                      <a:pt x="738" y="445"/>
                      <a:pt x="725" y="439"/>
                    </a:cubicBezTo>
                    <a:cubicBezTo>
                      <a:pt x="712" y="432"/>
                      <a:pt x="706" y="423"/>
                      <a:pt x="706" y="411"/>
                    </a:cubicBezTo>
                    <a:cubicBezTo>
                      <a:pt x="706" y="406"/>
                      <a:pt x="706" y="402"/>
                      <a:pt x="707" y="398"/>
                    </a:cubicBezTo>
                    <a:cubicBezTo>
                      <a:pt x="708" y="394"/>
                      <a:pt x="709" y="391"/>
                      <a:pt x="712" y="387"/>
                    </a:cubicBezTo>
                    <a:cubicBezTo>
                      <a:pt x="714" y="383"/>
                      <a:pt x="718" y="379"/>
                      <a:pt x="721" y="374"/>
                    </a:cubicBezTo>
                    <a:cubicBezTo>
                      <a:pt x="725" y="370"/>
                      <a:pt x="730" y="366"/>
                      <a:pt x="736" y="361"/>
                    </a:cubicBezTo>
                    <a:close/>
                  </a:path>
                </a:pathLst>
              </a:custGeom>
              <a:solidFill>
                <a:srgbClr val="262626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18" name="Weekdays"/>
              <p:cNvSpPr>
                <a:spLocks noEditPoints="1"/>
              </p:cNvSpPr>
              <p:nvPr/>
            </p:nvSpPr>
            <p:spPr bwMode="auto">
              <a:xfrm>
                <a:off x="652463" y="1785938"/>
                <a:ext cx="1428750" cy="66675"/>
              </a:xfrm>
              <a:custGeom>
                <a:avLst/>
                <a:gdLst>
                  <a:gd name="T0" fmla="*/ 4403 w 6612"/>
                  <a:gd name="T1" fmla="*/ 308 h 309"/>
                  <a:gd name="T2" fmla="*/ 4506 w 6612"/>
                  <a:gd name="T3" fmla="*/ 165 h 309"/>
                  <a:gd name="T4" fmla="*/ 4564 w 6612"/>
                  <a:gd name="T5" fmla="*/ 299 h 309"/>
                  <a:gd name="T6" fmla="*/ 4425 w 6612"/>
                  <a:gd name="T7" fmla="*/ 3 h 309"/>
                  <a:gd name="T8" fmla="*/ 44 w 6612"/>
                  <a:gd name="T9" fmla="*/ 157 h 309"/>
                  <a:gd name="T10" fmla="*/ 53 w 6612"/>
                  <a:gd name="T11" fmla="*/ 252 h 309"/>
                  <a:gd name="T12" fmla="*/ 15 w 6612"/>
                  <a:gd name="T13" fmla="*/ 287 h 309"/>
                  <a:gd name="T14" fmla="*/ 148 w 6612"/>
                  <a:gd name="T15" fmla="*/ 143 h 309"/>
                  <a:gd name="T16" fmla="*/ 124 w 6612"/>
                  <a:gd name="T17" fmla="*/ 55 h 309"/>
                  <a:gd name="T18" fmla="*/ 167 w 6612"/>
                  <a:gd name="T19" fmla="*/ 28 h 309"/>
                  <a:gd name="T20" fmla="*/ 6222 w 6612"/>
                  <a:gd name="T21" fmla="*/ 88 h 309"/>
                  <a:gd name="T22" fmla="*/ 6331 w 6612"/>
                  <a:gd name="T23" fmla="*/ 245 h 309"/>
                  <a:gd name="T24" fmla="*/ 6216 w 6612"/>
                  <a:gd name="T25" fmla="*/ 256 h 309"/>
                  <a:gd name="T26" fmla="*/ 6403 w 6612"/>
                  <a:gd name="T27" fmla="*/ 211 h 309"/>
                  <a:gd name="T28" fmla="*/ 6290 w 6612"/>
                  <a:gd name="T29" fmla="*/ 60 h 309"/>
                  <a:gd name="T30" fmla="*/ 6387 w 6612"/>
                  <a:gd name="T31" fmla="*/ 48 h 309"/>
                  <a:gd name="T32" fmla="*/ 3018 w 6612"/>
                  <a:gd name="T33" fmla="*/ 9 h 309"/>
                  <a:gd name="T34" fmla="*/ 3146 w 6612"/>
                  <a:gd name="T35" fmla="*/ 293 h 309"/>
                  <a:gd name="T36" fmla="*/ 3318 w 6612"/>
                  <a:gd name="T37" fmla="*/ 294 h 309"/>
                  <a:gd name="T38" fmla="*/ 3341 w 6612"/>
                  <a:gd name="T39" fmla="*/ 15 h 309"/>
                  <a:gd name="T40" fmla="*/ 3171 w 6612"/>
                  <a:gd name="T41" fmla="*/ 15 h 309"/>
                  <a:gd name="T42" fmla="*/ 952 w 6612"/>
                  <a:gd name="T43" fmla="*/ 15 h 309"/>
                  <a:gd name="T44" fmla="*/ 1001 w 6612"/>
                  <a:gd name="T45" fmla="*/ 286 h 309"/>
                  <a:gd name="T46" fmla="*/ 1137 w 6612"/>
                  <a:gd name="T47" fmla="*/ 291 h 309"/>
                  <a:gd name="T48" fmla="*/ 1273 w 6612"/>
                  <a:gd name="T49" fmla="*/ 293 h 309"/>
                  <a:gd name="T50" fmla="*/ 1192 w 6612"/>
                  <a:gd name="T51" fmla="*/ 16 h 309"/>
                  <a:gd name="T52" fmla="*/ 968 w 6612"/>
                  <a:gd name="T53" fmla="*/ 9 h 309"/>
                  <a:gd name="T54" fmla="*/ 2138 w 6612"/>
                  <a:gd name="T55" fmla="*/ 57 h 309"/>
                  <a:gd name="T56" fmla="*/ 2197 w 6612"/>
                  <a:gd name="T57" fmla="*/ 57 h 309"/>
                  <a:gd name="T58" fmla="*/ 2067 w 6612"/>
                  <a:gd name="T59" fmla="*/ 9 h 309"/>
                  <a:gd name="T60" fmla="*/ 5267 w 6612"/>
                  <a:gd name="T61" fmla="*/ 295 h 309"/>
                  <a:gd name="T62" fmla="*/ 5366 w 6612"/>
                  <a:gd name="T63" fmla="*/ 140 h 309"/>
                  <a:gd name="T64" fmla="*/ 5374 w 6612"/>
                  <a:gd name="T65" fmla="*/ 23 h 309"/>
                  <a:gd name="T66" fmla="*/ 4127 w 6612"/>
                  <a:gd name="T67" fmla="*/ 57 h 309"/>
                  <a:gd name="T68" fmla="*/ 4250 w 6612"/>
                  <a:gd name="T69" fmla="*/ 308 h 309"/>
                  <a:gd name="T70" fmla="*/ 4344 w 6612"/>
                  <a:gd name="T71" fmla="*/ 35 h 309"/>
                  <a:gd name="T72" fmla="*/ 1332 w 6612"/>
                  <a:gd name="T73" fmla="*/ 237 h 309"/>
                  <a:gd name="T74" fmla="*/ 1480 w 6612"/>
                  <a:gd name="T75" fmla="*/ 85 h 309"/>
                  <a:gd name="T76" fmla="*/ 3527 w 6612"/>
                  <a:gd name="T77" fmla="*/ 300 h 309"/>
                  <a:gd name="T78" fmla="*/ 3604 w 6612"/>
                  <a:gd name="T79" fmla="*/ 248 h 309"/>
                  <a:gd name="T80" fmla="*/ 3478 w 6612"/>
                  <a:gd name="T81" fmla="*/ 203 h 309"/>
                  <a:gd name="T82" fmla="*/ 5506 w 6612"/>
                  <a:gd name="T83" fmla="*/ 81 h 309"/>
                  <a:gd name="T84" fmla="*/ 5424 w 6612"/>
                  <a:gd name="T85" fmla="*/ 86 h 309"/>
                  <a:gd name="T86" fmla="*/ 5473 w 6612"/>
                  <a:gd name="T87" fmla="*/ 292 h 309"/>
                  <a:gd name="T88" fmla="*/ 5537 w 6612"/>
                  <a:gd name="T89" fmla="*/ 136 h 309"/>
                  <a:gd name="T90" fmla="*/ 5531 w 6612"/>
                  <a:gd name="T91" fmla="*/ 81 h 309"/>
                  <a:gd name="T92" fmla="*/ 6443 w 6612"/>
                  <a:gd name="T93" fmla="*/ 129 h 309"/>
                  <a:gd name="T94" fmla="*/ 6555 w 6612"/>
                  <a:gd name="T95" fmla="*/ 143 h 309"/>
                  <a:gd name="T96" fmla="*/ 6475 w 6612"/>
                  <a:gd name="T97" fmla="*/ 297 h 309"/>
                  <a:gd name="T98" fmla="*/ 6612 w 6612"/>
                  <a:gd name="T99" fmla="*/ 290 h 309"/>
                  <a:gd name="T100" fmla="*/ 2306 w 6612"/>
                  <a:gd name="T101" fmla="*/ 90 h 309"/>
                  <a:gd name="T102" fmla="*/ 2451 w 6612"/>
                  <a:gd name="T103" fmla="*/ 293 h 309"/>
                  <a:gd name="T104" fmla="*/ 2480 w 6612"/>
                  <a:gd name="T105" fmla="*/ 82 h 309"/>
                  <a:gd name="T106" fmla="*/ 2369 w 6612"/>
                  <a:gd name="T107" fmla="*/ 239 h 309"/>
                  <a:gd name="T108" fmla="*/ 227 w 6612"/>
                  <a:gd name="T109" fmla="*/ 88 h 309"/>
                  <a:gd name="T110" fmla="*/ 367 w 6612"/>
                  <a:gd name="T111" fmla="*/ 293 h 309"/>
                  <a:gd name="T112" fmla="*/ 408 w 6612"/>
                  <a:gd name="T113" fmla="*/ 86 h 309"/>
                  <a:gd name="T114" fmla="*/ 300 w 6612"/>
                  <a:gd name="T115" fmla="*/ 251 h 309"/>
                  <a:gd name="T116" fmla="*/ 3521 w 6612"/>
                  <a:gd name="T117" fmla="*/ 118 h 309"/>
                  <a:gd name="T118" fmla="*/ 1470 w 6612"/>
                  <a:gd name="T119" fmla="*/ 141 h 309"/>
                  <a:gd name="T120" fmla="*/ 1383 w 6612"/>
                  <a:gd name="T121" fmla="*/ 188 h 309"/>
                  <a:gd name="T122" fmla="*/ 6494 w 6612"/>
                  <a:gd name="T123" fmla="*/ 25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12" h="309">
                    <a:moveTo>
                      <a:pt x="4403" y="0"/>
                    </a:moveTo>
                    <a:cubicBezTo>
                      <a:pt x="4398" y="0"/>
                      <a:pt x="4393" y="1"/>
                      <a:pt x="4390" y="1"/>
                    </a:cubicBezTo>
                    <a:cubicBezTo>
                      <a:pt x="4386" y="2"/>
                      <a:pt x="4383" y="2"/>
                      <a:pt x="4381" y="3"/>
                    </a:cubicBezTo>
                    <a:cubicBezTo>
                      <a:pt x="4379" y="4"/>
                      <a:pt x="4378" y="4"/>
                      <a:pt x="4377" y="6"/>
                    </a:cubicBezTo>
                    <a:cubicBezTo>
                      <a:pt x="4376" y="7"/>
                      <a:pt x="4376" y="9"/>
                      <a:pt x="4376" y="10"/>
                    </a:cubicBezTo>
                    <a:lnTo>
                      <a:pt x="4376" y="299"/>
                    </a:lnTo>
                    <a:cubicBezTo>
                      <a:pt x="4376" y="301"/>
                      <a:pt x="4376" y="303"/>
                      <a:pt x="4377" y="304"/>
                    </a:cubicBezTo>
                    <a:cubicBezTo>
                      <a:pt x="4378" y="305"/>
                      <a:pt x="4379" y="306"/>
                      <a:pt x="4381" y="306"/>
                    </a:cubicBezTo>
                    <a:cubicBezTo>
                      <a:pt x="4383" y="307"/>
                      <a:pt x="4386" y="308"/>
                      <a:pt x="4390" y="308"/>
                    </a:cubicBezTo>
                    <a:cubicBezTo>
                      <a:pt x="4393" y="308"/>
                      <a:pt x="4398" y="308"/>
                      <a:pt x="4403" y="308"/>
                    </a:cubicBezTo>
                    <a:cubicBezTo>
                      <a:pt x="4409" y="308"/>
                      <a:pt x="4414" y="308"/>
                      <a:pt x="4417" y="308"/>
                    </a:cubicBezTo>
                    <a:cubicBezTo>
                      <a:pt x="4421" y="308"/>
                      <a:pt x="4423" y="307"/>
                      <a:pt x="4425" y="306"/>
                    </a:cubicBezTo>
                    <a:cubicBezTo>
                      <a:pt x="4427" y="306"/>
                      <a:pt x="4429" y="305"/>
                      <a:pt x="4430" y="304"/>
                    </a:cubicBezTo>
                    <a:cubicBezTo>
                      <a:pt x="4431" y="303"/>
                      <a:pt x="4431" y="301"/>
                      <a:pt x="4431" y="299"/>
                    </a:cubicBezTo>
                    <a:lnTo>
                      <a:pt x="4431" y="169"/>
                    </a:lnTo>
                    <a:cubicBezTo>
                      <a:pt x="4439" y="159"/>
                      <a:pt x="4446" y="152"/>
                      <a:pt x="4453" y="147"/>
                    </a:cubicBezTo>
                    <a:cubicBezTo>
                      <a:pt x="4461" y="142"/>
                      <a:pt x="4468" y="139"/>
                      <a:pt x="4476" y="139"/>
                    </a:cubicBezTo>
                    <a:cubicBezTo>
                      <a:pt x="4481" y="139"/>
                      <a:pt x="4485" y="139"/>
                      <a:pt x="4490" y="141"/>
                    </a:cubicBezTo>
                    <a:cubicBezTo>
                      <a:pt x="4494" y="144"/>
                      <a:pt x="4498" y="147"/>
                      <a:pt x="4500" y="151"/>
                    </a:cubicBezTo>
                    <a:cubicBezTo>
                      <a:pt x="4503" y="155"/>
                      <a:pt x="4505" y="160"/>
                      <a:pt x="4506" y="165"/>
                    </a:cubicBezTo>
                    <a:cubicBezTo>
                      <a:pt x="4508" y="171"/>
                      <a:pt x="4508" y="178"/>
                      <a:pt x="4508" y="187"/>
                    </a:cubicBezTo>
                    <a:lnTo>
                      <a:pt x="4508" y="299"/>
                    </a:lnTo>
                    <a:cubicBezTo>
                      <a:pt x="4508" y="301"/>
                      <a:pt x="4509" y="303"/>
                      <a:pt x="4510" y="304"/>
                    </a:cubicBezTo>
                    <a:cubicBezTo>
                      <a:pt x="4511" y="305"/>
                      <a:pt x="4512" y="306"/>
                      <a:pt x="4514" y="306"/>
                    </a:cubicBezTo>
                    <a:cubicBezTo>
                      <a:pt x="4516" y="307"/>
                      <a:pt x="4519" y="308"/>
                      <a:pt x="4522" y="308"/>
                    </a:cubicBezTo>
                    <a:cubicBezTo>
                      <a:pt x="4526" y="308"/>
                      <a:pt x="4531" y="308"/>
                      <a:pt x="4536" y="308"/>
                    </a:cubicBezTo>
                    <a:cubicBezTo>
                      <a:pt x="4542" y="308"/>
                      <a:pt x="4546" y="308"/>
                      <a:pt x="4550" y="308"/>
                    </a:cubicBezTo>
                    <a:cubicBezTo>
                      <a:pt x="4553" y="308"/>
                      <a:pt x="4555" y="307"/>
                      <a:pt x="4558" y="306"/>
                    </a:cubicBezTo>
                    <a:cubicBezTo>
                      <a:pt x="4560" y="306"/>
                      <a:pt x="4561" y="305"/>
                      <a:pt x="4562" y="304"/>
                    </a:cubicBezTo>
                    <a:cubicBezTo>
                      <a:pt x="4563" y="303"/>
                      <a:pt x="4564" y="301"/>
                      <a:pt x="4564" y="299"/>
                    </a:cubicBezTo>
                    <a:lnTo>
                      <a:pt x="4564" y="179"/>
                    </a:lnTo>
                    <a:cubicBezTo>
                      <a:pt x="4564" y="165"/>
                      <a:pt x="4563" y="152"/>
                      <a:pt x="4560" y="141"/>
                    </a:cubicBezTo>
                    <a:cubicBezTo>
                      <a:pt x="4558" y="131"/>
                      <a:pt x="4553" y="123"/>
                      <a:pt x="4548" y="115"/>
                    </a:cubicBezTo>
                    <a:cubicBezTo>
                      <a:pt x="4542" y="107"/>
                      <a:pt x="4534" y="102"/>
                      <a:pt x="4525" y="97"/>
                    </a:cubicBezTo>
                    <a:cubicBezTo>
                      <a:pt x="4516" y="93"/>
                      <a:pt x="4505" y="90"/>
                      <a:pt x="4491" y="90"/>
                    </a:cubicBezTo>
                    <a:cubicBezTo>
                      <a:pt x="4481" y="90"/>
                      <a:pt x="4470" y="93"/>
                      <a:pt x="4461" y="97"/>
                    </a:cubicBezTo>
                    <a:cubicBezTo>
                      <a:pt x="4451" y="102"/>
                      <a:pt x="4441" y="109"/>
                      <a:pt x="4431" y="118"/>
                    </a:cubicBezTo>
                    <a:lnTo>
                      <a:pt x="4431" y="10"/>
                    </a:lnTo>
                    <a:cubicBezTo>
                      <a:pt x="4431" y="9"/>
                      <a:pt x="4431" y="7"/>
                      <a:pt x="4430" y="6"/>
                    </a:cubicBezTo>
                    <a:cubicBezTo>
                      <a:pt x="4429" y="4"/>
                      <a:pt x="4427" y="4"/>
                      <a:pt x="4425" y="3"/>
                    </a:cubicBezTo>
                    <a:cubicBezTo>
                      <a:pt x="4423" y="2"/>
                      <a:pt x="4421" y="2"/>
                      <a:pt x="4417" y="1"/>
                    </a:cubicBezTo>
                    <a:cubicBezTo>
                      <a:pt x="4414" y="1"/>
                      <a:pt x="4409" y="0"/>
                      <a:pt x="4403" y="0"/>
                    </a:cubicBezTo>
                    <a:close/>
                    <a:moveTo>
                      <a:pt x="101" y="6"/>
                    </a:moveTo>
                    <a:cubicBezTo>
                      <a:pt x="88" y="6"/>
                      <a:pt x="75" y="8"/>
                      <a:pt x="63" y="12"/>
                    </a:cubicBezTo>
                    <a:cubicBezTo>
                      <a:pt x="51" y="15"/>
                      <a:pt x="42" y="20"/>
                      <a:pt x="33" y="27"/>
                    </a:cubicBezTo>
                    <a:cubicBezTo>
                      <a:pt x="25" y="34"/>
                      <a:pt x="18" y="42"/>
                      <a:pt x="13" y="52"/>
                    </a:cubicBezTo>
                    <a:cubicBezTo>
                      <a:pt x="8" y="63"/>
                      <a:pt x="5" y="75"/>
                      <a:pt x="5" y="88"/>
                    </a:cubicBezTo>
                    <a:cubicBezTo>
                      <a:pt x="5" y="100"/>
                      <a:pt x="7" y="111"/>
                      <a:pt x="10" y="119"/>
                    </a:cubicBezTo>
                    <a:cubicBezTo>
                      <a:pt x="14" y="128"/>
                      <a:pt x="19" y="135"/>
                      <a:pt x="24" y="141"/>
                    </a:cubicBezTo>
                    <a:cubicBezTo>
                      <a:pt x="30" y="148"/>
                      <a:pt x="37" y="153"/>
                      <a:pt x="44" y="157"/>
                    </a:cubicBezTo>
                    <a:cubicBezTo>
                      <a:pt x="51" y="162"/>
                      <a:pt x="58" y="166"/>
                      <a:pt x="66" y="170"/>
                    </a:cubicBezTo>
                    <a:cubicBezTo>
                      <a:pt x="73" y="173"/>
                      <a:pt x="81" y="176"/>
                      <a:pt x="88" y="179"/>
                    </a:cubicBezTo>
                    <a:cubicBezTo>
                      <a:pt x="95" y="182"/>
                      <a:pt x="102" y="186"/>
                      <a:pt x="107" y="190"/>
                    </a:cubicBezTo>
                    <a:cubicBezTo>
                      <a:pt x="113" y="193"/>
                      <a:pt x="118" y="198"/>
                      <a:pt x="121" y="202"/>
                    </a:cubicBezTo>
                    <a:cubicBezTo>
                      <a:pt x="125" y="207"/>
                      <a:pt x="127" y="213"/>
                      <a:pt x="127" y="219"/>
                    </a:cubicBezTo>
                    <a:cubicBezTo>
                      <a:pt x="127" y="225"/>
                      <a:pt x="125" y="229"/>
                      <a:pt x="123" y="234"/>
                    </a:cubicBezTo>
                    <a:cubicBezTo>
                      <a:pt x="121" y="239"/>
                      <a:pt x="118" y="242"/>
                      <a:pt x="114" y="245"/>
                    </a:cubicBezTo>
                    <a:cubicBezTo>
                      <a:pt x="110" y="249"/>
                      <a:pt x="106" y="251"/>
                      <a:pt x="100" y="253"/>
                    </a:cubicBezTo>
                    <a:cubicBezTo>
                      <a:pt x="95" y="254"/>
                      <a:pt x="88" y="255"/>
                      <a:pt x="81" y="255"/>
                    </a:cubicBezTo>
                    <a:cubicBezTo>
                      <a:pt x="70" y="255"/>
                      <a:pt x="61" y="254"/>
                      <a:pt x="53" y="252"/>
                    </a:cubicBezTo>
                    <a:cubicBezTo>
                      <a:pt x="44" y="249"/>
                      <a:pt x="37" y="247"/>
                      <a:pt x="31" y="244"/>
                    </a:cubicBezTo>
                    <a:cubicBezTo>
                      <a:pt x="26" y="241"/>
                      <a:pt x="21" y="238"/>
                      <a:pt x="17" y="236"/>
                    </a:cubicBezTo>
                    <a:cubicBezTo>
                      <a:pt x="14" y="233"/>
                      <a:pt x="11" y="232"/>
                      <a:pt x="8" y="232"/>
                    </a:cubicBezTo>
                    <a:cubicBezTo>
                      <a:pt x="7" y="232"/>
                      <a:pt x="6" y="232"/>
                      <a:pt x="5" y="233"/>
                    </a:cubicBezTo>
                    <a:cubicBezTo>
                      <a:pt x="4" y="234"/>
                      <a:pt x="3" y="236"/>
                      <a:pt x="2" y="238"/>
                    </a:cubicBezTo>
                    <a:cubicBezTo>
                      <a:pt x="2" y="239"/>
                      <a:pt x="1" y="241"/>
                      <a:pt x="1" y="245"/>
                    </a:cubicBezTo>
                    <a:cubicBezTo>
                      <a:pt x="0" y="248"/>
                      <a:pt x="0" y="251"/>
                      <a:pt x="0" y="256"/>
                    </a:cubicBezTo>
                    <a:cubicBezTo>
                      <a:pt x="0" y="263"/>
                      <a:pt x="1" y="268"/>
                      <a:pt x="1" y="272"/>
                    </a:cubicBezTo>
                    <a:cubicBezTo>
                      <a:pt x="2" y="276"/>
                      <a:pt x="3" y="278"/>
                      <a:pt x="5" y="280"/>
                    </a:cubicBezTo>
                    <a:cubicBezTo>
                      <a:pt x="7" y="282"/>
                      <a:pt x="10" y="284"/>
                      <a:pt x="15" y="287"/>
                    </a:cubicBezTo>
                    <a:cubicBezTo>
                      <a:pt x="19" y="289"/>
                      <a:pt x="24" y="292"/>
                      <a:pt x="31" y="294"/>
                    </a:cubicBezTo>
                    <a:cubicBezTo>
                      <a:pt x="37" y="296"/>
                      <a:pt x="45" y="298"/>
                      <a:pt x="53" y="299"/>
                    </a:cubicBezTo>
                    <a:cubicBezTo>
                      <a:pt x="62" y="301"/>
                      <a:pt x="71" y="302"/>
                      <a:pt x="81" y="302"/>
                    </a:cubicBezTo>
                    <a:cubicBezTo>
                      <a:pt x="95" y="302"/>
                      <a:pt x="109" y="300"/>
                      <a:pt x="121" y="297"/>
                    </a:cubicBezTo>
                    <a:cubicBezTo>
                      <a:pt x="134" y="293"/>
                      <a:pt x="145" y="287"/>
                      <a:pt x="155" y="279"/>
                    </a:cubicBezTo>
                    <a:cubicBezTo>
                      <a:pt x="164" y="271"/>
                      <a:pt x="172" y="262"/>
                      <a:pt x="178" y="251"/>
                    </a:cubicBezTo>
                    <a:cubicBezTo>
                      <a:pt x="183" y="239"/>
                      <a:pt x="187" y="226"/>
                      <a:pt x="187" y="211"/>
                    </a:cubicBezTo>
                    <a:cubicBezTo>
                      <a:pt x="187" y="200"/>
                      <a:pt x="185" y="190"/>
                      <a:pt x="181" y="181"/>
                    </a:cubicBezTo>
                    <a:cubicBezTo>
                      <a:pt x="178" y="173"/>
                      <a:pt x="173" y="165"/>
                      <a:pt x="167" y="159"/>
                    </a:cubicBezTo>
                    <a:cubicBezTo>
                      <a:pt x="161" y="153"/>
                      <a:pt x="155" y="148"/>
                      <a:pt x="148" y="143"/>
                    </a:cubicBezTo>
                    <a:cubicBezTo>
                      <a:pt x="140" y="139"/>
                      <a:pt x="133" y="135"/>
                      <a:pt x="125" y="132"/>
                    </a:cubicBezTo>
                    <a:cubicBezTo>
                      <a:pt x="117" y="128"/>
                      <a:pt x="110" y="124"/>
                      <a:pt x="103" y="121"/>
                    </a:cubicBezTo>
                    <a:cubicBezTo>
                      <a:pt x="95" y="118"/>
                      <a:pt x="88" y="115"/>
                      <a:pt x="83" y="111"/>
                    </a:cubicBezTo>
                    <a:cubicBezTo>
                      <a:pt x="77" y="108"/>
                      <a:pt x="73" y="104"/>
                      <a:pt x="69" y="99"/>
                    </a:cubicBezTo>
                    <a:cubicBezTo>
                      <a:pt x="66" y="94"/>
                      <a:pt x="64" y="89"/>
                      <a:pt x="64" y="82"/>
                    </a:cubicBezTo>
                    <a:cubicBezTo>
                      <a:pt x="64" y="78"/>
                      <a:pt x="64" y="74"/>
                      <a:pt x="66" y="70"/>
                    </a:cubicBezTo>
                    <a:cubicBezTo>
                      <a:pt x="67" y="66"/>
                      <a:pt x="70" y="63"/>
                      <a:pt x="73" y="60"/>
                    </a:cubicBezTo>
                    <a:cubicBezTo>
                      <a:pt x="76" y="58"/>
                      <a:pt x="80" y="56"/>
                      <a:pt x="85" y="54"/>
                    </a:cubicBezTo>
                    <a:cubicBezTo>
                      <a:pt x="90" y="53"/>
                      <a:pt x="95" y="51"/>
                      <a:pt x="101" y="51"/>
                    </a:cubicBezTo>
                    <a:cubicBezTo>
                      <a:pt x="109" y="51"/>
                      <a:pt x="117" y="53"/>
                      <a:pt x="124" y="55"/>
                    </a:cubicBezTo>
                    <a:cubicBezTo>
                      <a:pt x="131" y="57"/>
                      <a:pt x="136" y="59"/>
                      <a:pt x="142" y="61"/>
                    </a:cubicBezTo>
                    <a:cubicBezTo>
                      <a:pt x="147" y="64"/>
                      <a:pt x="151" y="66"/>
                      <a:pt x="155" y="68"/>
                    </a:cubicBezTo>
                    <a:cubicBezTo>
                      <a:pt x="158" y="70"/>
                      <a:pt x="160" y="71"/>
                      <a:pt x="162" y="71"/>
                    </a:cubicBezTo>
                    <a:cubicBezTo>
                      <a:pt x="164" y="71"/>
                      <a:pt x="165" y="71"/>
                      <a:pt x="166" y="70"/>
                    </a:cubicBezTo>
                    <a:cubicBezTo>
                      <a:pt x="167" y="69"/>
                      <a:pt x="168" y="67"/>
                      <a:pt x="168" y="66"/>
                    </a:cubicBezTo>
                    <a:cubicBezTo>
                      <a:pt x="169" y="64"/>
                      <a:pt x="170" y="61"/>
                      <a:pt x="170" y="58"/>
                    </a:cubicBezTo>
                    <a:cubicBezTo>
                      <a:pt x="170" y="56"/>
                      <a:pt x="170" y="52"/>
                      <a:pt x="170" y="48"/>
                    </a:cubicBezTo>
                    <a:cubicBezTo>
                      <a:pt x="170" y="44"/>
                      <a:pt x="170" y="41"/>
                      <a:pt x="170" y="38"/>
                    </a:cubicBezTo>
                    <a:cubicBezTo>
                      <a:pt x="170" y="36"/>
                      <a:pt x="169" y="33"/>
                      <a:pt x="169" y="31"/>
                    </a:cubicBezTo>
                    <a:cubicBezTo>
                      <a:pt x="169" y="29"/>
                      <a:pt x="168" y="29"/>
                      <a:pt x="167" y="28"/>
                    </a:cubicBezTo>
                    <a:cubicBezTo>
                      <a:pt x="167" y="27"/>
                      <a:pt x="166" y="26"/>
                      <a:pt x="165" y="24"/>
                    </a:cubicBezTo>
                    <a:cubicBezTo>
                      <a:pt x="163" y="23"/>
                      <a:pt x="160" y="20"/>
                      <a:pt x="156" y="18"/>
                    </a:cubicBezTo>
                    <a:cubicBezTo>
                      <a:pt x="151" y="16"/>
                      <a:pt x="146" y="14"/>
                      <a:pt x="140" y="13"/>
                    </a:cubicBezTo>
                    <a:cubicBezTo>
                      <a:pt x="134" y="11"/>
                      <a:pt x="128" y="9"/>
                      <a:pt x="121" y="8"/>
                    </a:cubicBezTo>
                    <a:cubicBezTo>
                      <a:pt x="115" y="7"/>
                      <a:pt x="108" y="6"/>
                      <a:pt x="101" y="6"/>
                    </a:cubicBezTo>
                    <a:close/>
                    <a:moveTo>
                      <a:pt x="6317" y="6"/>
                    </a:moveTo>
                    <a:cubicBezTo>
                      <a:pt x="6304" y="6"/>
                      <a:pt x="6292" y="8"/>
                      <a:pt x="6280" y="12"/>
                    </a:cubicBezTo>
                    <a:cubicBezTo>
                      <a:pt x="6268" y="15"/>
                      <a:pt x="6259" y="20"/>
                      <a:pt x="6250" y="27"/>
                    </a:cubicBezTo>
                    <a:cubicBezTo>
                      <a:pt x="6241" y="34"/>
                      <a:pt x="6234" y="42"/>
                      <a:pt x="6229" y="52"/>
                    </a:cubicBezTo>
                    <a:cubicBezTo>
                      <a:pt x="6224" y="63"/>
                      <a:pt x="6222" y="75"/>
                      <a:pt x="6222" y="88"/>
                    </a:cubicBezTo>
                    <a:cubicBezTo>
                      <a:pt x="6222" y="100"/>
                      <a:pt x="6224" y="111"/>
                      <a:pt x="6227" y="119"/>
                    </a:cubicBezTo>
                    <a:cubicBezTo>
                      <a:pt x="6231" y="128"/>
                      <a:pt x="6235" y="135"/>
                      <a:pt x="6240" y="141"/>
                    </a:cubicBezTo>
                    <a:cubicBezTo>
                      <a:pt x="6246" y="148"/>
                      <a:pt x="6252" y="153"/>
                      <a:pt x="6260" y="157"/>
                    </a:cubicBezTo>
                    <a:cubicBezTo>
                      <a:pt x="6267" y="162"/>
                      <a:pt x="6274" y="166"/>
                      <a:pt x="6282" y="170"/>
                    </a:cubicBezTo>
                    <a:cubicBezTo>
                      <a:pt x="6289" y="173"/>
                      <a:pt x="6297" y="176"/>
                      <a:pt x="6305" y="179"/>
                    </a:cubicBezTo>
                    <a:cubicBezTo>
                      <a:pt x="6312" y="182"/>
                      <a:pt x="6318" y="186"/>
                      <a:pt x="6324" y="190"/>
                    </a:cubicBezTo>
                    <a:cubicBezTo>
                      <a:pt x="6330" y="193"/>
                      <a:pt x="6334" y="198"/>
                      <a:pt x="6337" y="202"/>
                    </a:cubicBezTo>
                    <a:cubicBezTo>
                      <a:pt x="6341" y="207"/>
                      <a:pt x="6343" y="213"/>
                      <a:pt x="6343" y="219"/>
                    </a:cubicBezTo>
                    <a:cubicBezTo>
                      <a:pt x="6343" y="225"/>
                      <a:pt x="6342" y="229"/>
                      <a:pt x="6340" y="234"/>
                    </a:cubicBezTo>
                    <a:cubicBezTo>
                      <a:pt x="6338" y="239"/>
                      <a:pt x="6335" y="242"/>
                      <a:pt x="6331" y="245"/>
                    </a:cubicBezTo>
                    <a:cubicBezTo>
                      <a:pt x="6327" y="249"/>
                      <a:pt x="6322" y="251"/>
                      <a:pt x="6316" y="253"/>
                    </a:cubicBezTo>
                    <a:cubicBezTo>
                      <a:pt x="6311" y="254"/>
                      <a:pt x="6305" y="255"/>
                      <a:pt x="6298" y="255"/>
                    </a:cubicBezTo>
                    <a:cubicBezTo>
                      <a:pt x="6287" y="255"/>
                      <a:pt x="6278" y="254"/>
                      <a:pt x="6269" y="252"/>
                    </a:cubicBezTo>
                    <a:cubicBezTo>
                      <a:pt x="6261" y="249"/>
                      <a:pt x="6254" y="247"/>
                      <a:pt x="6248" y="244"/>
                    </a:cubicBezTo>
                    <a:cubicBezTo>
                      <a:pt x="6242" y="241"/>
                      <a:pt x="6238" y="238"/>
                      <a:pt x="6234" y="236"/>
                    </a:cubicBezTo>
                    <a:cubicBezTo>
                      <a:pt x="6230" y="233"/>
                      <a:pt x="6227" y="232"/>
                      <a:pt x="6225" y="232"/>
                    </a:cubicBezTo>
                    <a:cubicBezTo>
                      <a:pt x="6224" y="232"/>
                      <a:pt x="6222" y="232"/>
                      <a:pt x="6221" y="233"/>
                    </a:cubicBezTo>
                    <a:cubicBezTo>
                      <a:pt x="6220" y="234"/>
                      <a:pt x="6219" y="236"/>
                      <a:pt x="6218" y="238"/>
                    </a:cubicBezTo>
                    <a:cubicBezTo>
                      <a:pt x="6218" y="239"/>
                      <a:pt x="6218" y="241"/>
                      <a:pt x="6217" y="245"/>
                    </a:cubicBezTo>
                    <a:cubicBezTo>
                      <a:pt x="6217" y="248"/>
                      <a:pt x="6216" y="251"/>
                      <a:pt x="6216" y="256"/>
                    </a:cubicBezTo>
                    <a:cubicBezTo>
                      <a:pt x="6216" y="263"/>
                      <a:pt x="6217" y="268"/>
                      <a:pt x="6218" y="272"/>
                    </a:cubicBezTo>
                    <a:cubicBezTo>
                      <a:pt x="6219" y="276"/>
                      <a:pt x="6220" y="278"/>
                      <a:pt x="6222" y="280"/>
                    </a:cubicBezTo>
                    <a:cubicBezTo>
                      <a:pt x="6224" y="282"/>
                      <a:pt x="6227" y="284"/>
                      <a:pt x="6231" y="287"/>
                    </a:cubicBezTo>
                    <a:cubicBezTo>
                      <a:pt x="6236" y="289"/>
                      <a:pt x="6241" y="292"/>
                      <a:pt x="6247" y="294"/>
                    </a:cubicBezTo>
                    <a:cubicBezTo>
                      <a:pt x="6254" y="296"/>
                      <a:pt x="6262" y="298"/>
                      <a:pt x="6270" y="299"/>
                    </a:cubicBezTo>
                    <a:cubicBezTo>
                      <a:pt x="6279" y="301"/>
                      <a:pt x="6288" y="302"/>
                      <a:pt x="6298" y="302"/>
                    </a:cubicBezTo>
                    <a:cubicBezTo>
                      <a:pt x="6312" y="302"/>
                      <a:pt x="6325" y="300"/>
                      <a:pt x="6338" y="297"/>
                    </a:cubicBezTo>
                    <a:cubicBezTo>
                      <a:pt x="6351" y="293"/>
                      <a:pt x="6362" y="287"/>
                      <a:pt x="6372" y="279"/>
                    </a:cubicBezTo>
                    <a:cubicBezTo>
                      <a:pt x="6381" y="271"/>
                      <a:pt x="6389" y="262"/>
                      <a:pt x="6395" y="251"/>
                    </a:cubicBezTo>
                    <a:cubicBezTo>
                      <a:pt x="6400" y="239"/>
                      <a:pt x="6403" y="226"/>
                      <a:pt x="6403" y="211"/>
                    </a:cubicBezTo>
                    <a:cubicBezTo>
                      <a:pt x="6403" y="200"/>
                      <a:pt x="6401" y="190"/>
                      <a:pt x="6397" y="181"/>
                    </a:cubicBezTo>
                    <a:cubicBezTo>
                      <a:pt x="6394" y="173"/>
                      <a:pt x="6390" y="165"/>
                      <a:pt x="6384" y="159"/>
                    </a:cubicBezTo>
                    <a:cubicBezTo>
                      <a:pt x="6378" y="153"/>
                      <a:pt x="6371" y="148"/>
                      <a:pt x="6364" y="143"/>
                    </a:cubicBezTo>
                    <a:cubicBezTo>
                      <a:pt x="6356" y="139"/>
                      <a:pt x="6349" y="135"/>
                      <a:pt x="6342" y="132"/>
                    </a:cubicBezTo>
                    <a:cubicBezTo>
                      <a:pt x="6334" y="128"/>
                      <a:pt x="6326" y="124"/>
                      <a:pt x="6319" y="121"/>
                    </a:cubicBezTo>
                    <a:cubicBezTo>
                      <a:pt x="6311" y="118"/>
                      <a:pt x="6305" y="115"/>
                      <a:pt x="6299" y="111"/>
                    </a:cubicBezTo>
                    <a:cubicBezTo>
                      <a:pt x="6294" y="108"/>
                      <a:pt x="6289" y="104"/>
                      <a:pt x="6285" y="99"/>
                    </a:cubicBezTo>
                    <a:cubicBezTo>
                      <a:pt x="6282" y="94"/>
                      <a:pt x="6280" y="89"/>
                      <a:pt x="6280" y="82"/>
                    </a:cubicBezTo>
                    <a:cubicBezTo>
                      <a:pt x="6280" y="78"/>
                      <a:pt x="6281" y="74"/>
                      <a:pt x="6283" y="70"/>
                    </a:cubicBezTo>
                    <a:cubicBezTo>
                      <a:pt x="6284" y="66"/>
                      <a:pt x="6287" y="63"/>
                      <a:pt x="6290" y="60"/>
                    </a:cubicBezTo>
                    <a:cubicBezTo>
                      <a:pt x="6293" y="58"/>
                      <a:pt x="6296" y="56"/>
                      <a:pt x="6301" y="54"/>
                    </a:cubicBezTo>
                    <a:cubicBezTo>
                      <a:pt x="6306" y="53"/>
                      <a:pt x="6312" y="51"/>
                      <a:pt x="6318" y="51"/>
                    </a:cubicBezTo>
                    <a:cubicBezTo>
                      <a:pt x="6326" y="51"/>
                      <a:pt x="6333" y="53"/>
                      <a:pt x="6340" y="55"/>
                    </a:cubicBezTo>
                    <a:cubicBezTo>
                      <a:pt x="6347" y="57"/>
                      <a:pt x="6353" y="59"/>
                      <a:pt x="6358" y="61"/>
                    </a:cubicBezTo>
                    <a:cubicBezTo>
                      <a:pt x="6364" y="64"/>
                      <a:pt x="6367" y="66"/>
                      <a:pt x="6371" y="68"/>
                    </a:cubicBezTo>
                    <a:cubicBezTo>
                      <a:pt x="6374" y="70"/>
                      <a:pt x="6377" y="71"/>
                      <a:pt x="6379" y="71"/>
                    </a:cubicBezTo>
                    <a:cubicBezTo>
                      <a:pt x="6380" y="71"/>
                      <a:pt x="6382" y="71"/>
                      <a:pt x="6383" y="70"/>
                    </a:cubicBezTo>
                    <a:cubicBezTo>
                      <a:pt x="6384" y="69"/>
                      <a:pt x="6384" y="67"/>
                      <a:pt x="6385" y="66"/>
                    </a:cubicBezTo>
                    <a:cubicBezTo>
                      <a:pt x="6385" y="64"/>
                      <a:pt x="6386" y="61"/>
                      <a:pt x="6386" y="58"/>
                    </a:cubicBezTo>
                    <a:cubicBezTo>
                      <a:pt x="6386" y="56"/>
                      <a:pt x="6387" y="52"/>
                      <a:pt x="6387" y="48"/>
                    </a:cubicBezTo>
                    <a:cubicBezTo>
                      <a:pt x="6387" y="44"/>
                      <a:pt x="6386" y="41"/>
                      <a:pt x="6386" y="38"/>
                    </a:cubicBezTo>
                    <a:cubicBezTo>
                      <a:pt x="6386" y="36"/>
                      <a:pt x="6386" y="33"/>
                      <a:pt x="6386" y="31"/>
                    </a:cubicBezTo>
                    <a:cubicBezTo>
                      <a:pt x="6385" y="29"/>
                      <a:pt x="6385" y="29"/>
                      <a:pt x="6384" y="28"/>
                    </a:cubicBezTo>
                    <a:cubicBezTo>
                      <a:pt x="6384" y="27"/>
                      <a:pt x="6383" y="26"/>
                      <a:pt x="6381" y="24"/>
                    </a:cubicBezTo>
                    <a:cubicBezTo>
                      <a:pt x="6380" y="23"/>
                      <a:pt x="6376" y="20"/>
                      <a:pt x="6372" y="18"/>
                    </a:cubicBezTo>
                    <a:cubicBezTo>
                      <a:pt x="6367" y="16"/>
                      <a:pt x="6363" y="14"/>
                      <a:pt x="6357" y="13"/>
                    </a:cubicBezTo>
                    <a:cubicBezTo>
                      <a:pt x="6351" y="11"/>
                      <a:pt x="6344" y="9"/>
                      <a:pt x="6337" y="8"/>
                    </a:cubicBezTo>
                    <a:cubicBezTo>
                      <a:pt x="6331" y="7"/>
                      <a:pt x="6324" y="6"/>
                      <a:pt x="6317" y="6"/>
                    </a:cubicBezTo>
                    <a:close/>
                    <a:moveTo>
                      <a:pt x="3035" y="8"/>
                    </a:moveTo>
                    <a:cubicBezTo>
                      <a:pt x="3028" y="8"/>
                      <a:pt x="3022" y="9"/>
                      <a:pt x="3018" y="9"/>
                    </a:cubicBezTo>
                    <a:cubicBezTo>
                      <a:pt x="3013" y="9"/>
                      <a:pt x="3011" y="10"/>
                      <a:pt x="3009" y="12"/>
                    </a:cubicBezTo>
                    <a:cubicBezTo>
                      <a:pt x="3007" y="13"/>
                      <a:pt x="3006" y="16"/>
                      <a:pt x="3006" y="19"/>
                    </a:cubicBezTo>
                    <a:cubicBezTo>
                      <a:pt x="3006" y="22"/>
                      <a:pt x="3007" y="26"/>
                      <a:pt x="3008" y="31"/>
                    </a:cubicBezTo>
                    <a:lnTo>
                      <a:pt x="3073" y="280"/>
                    </a:lnTo>
                    <a:cubicBezTo>
                      <a:pt x="3074" y="283"/>
                      <a:pt x="3075" y="287"/>
                      <a:pt x="3077" y="289"/>
                    </a:cubicBezTo>
                    <a:cubicBezTo>
                      <a:pt x="3078" y="291"/>
                      <a:pt x="3080" y="293"/>
                      <a:pt x="3083" y="294"/>
                    </a:cubicBezTo>
                    <a:cubicBezTo>
                      <a:pt x="3086" y="295"/>
                      <a:pt x="3090" y="295"/>
                      <a:pt x="3095" y="296"/>
                    </a:cubicBezTo>
                    <a:cubicBezTo>
                      <a:pt x="3100" y="296"/>
                      <a:pt x="3107" y="297"/>
                      <a:pt x="3116" y="297"/>
                    </a:cubicBezTo>
                    <a:cubicBezTo>
                      <a:pt x="3124" y="297"/>
                      <a:pt x="3130" y="296"/>
                      <a:pt x="3135" y="296"/>
                    </a:cubicBezTo>
                    <a:cubicBezTo>
                      <a:pt x="3140" y="295"/>
                      <a:pt x="3144" y="294"/>
                      <a:pt x="3146" y="293"/>
                    </a:cubicBezTo>
                    <a:cubicBezTo>
                      <a:pt x="3149" y="292"/>
                      <a:pt x="3151" y="291"/>
                      <a:pt x="3153" y="289"/>
                    </a:cubicBezTo>
                    <a:cubicBezTo>
                      <a:pt x="3154" y="287"/>
                      <a:pt x="3155" y="283"/>
                      <a:pt x="3156" y="280"/>
                    </a:cubicBezTo>
                    <a:lnTo>
                      <a:pt x="3199" y="99"/>
                    </a:lnTo>
                    <a:lnTo>
                      <a:pt x="3245" y="280"/>
                    </a:lnTo>
                    <a:cubicBezTo>
                      <a:pt x="3246" y="283"/>
                      <a:pt x="3247" y="287"/>
                      <a:pt x="3248" y="289"/>
                    </a:cubicBezTo>
                    <a:cubicBezTo>
                      <a:pt x="3249" y="291"/>
                      <a:pt x="3252" y="293"/>
                      <a:pt x="3255" y="294"/>
                    </a:cubicBezTo>
                    <a:cubicBezTo>
                      <a:pt x="3258" y="295"/>
                      <a:pt x="3261" y="295"/>
                      <a:pt x="3266" y="296"/>
                    </a:cubicBezTo>
                    <a:cubicBezTo>
                      <a:pt x="3271" y="296"/>
                      <a:pt x="3278" y="297"/>
                      <a:pt x="3287" y="297"/>
                    </a:cubicBezTo>
                    <a:cubicBezTo>
                      <a:pt x="3294" y="297"/>
                      <a:pt x="3300" y="296"/>
                      <a:pt x="3305" y="296"/>
                    </a:cubicBezTo>
                    <a:cubicBezTo>
                      <a:pt x="3310" y="295"/>
                      <a:pt x="3314" y="295"/>
                      <a:pt x="3318" y="294"/>
                    </a:cubicBezTo>
                    <a:cubicBezTo>
                      <a:pt x="3321" y="293"/>
                      <a:pt x="3323" y="291"/>
                      <a:pt x="3325" y="289"/>
                    </a:cubicBezTo>
                    <a:cubicBezTo>
                      <a:pt x="3326" y="287"/>
                      <a:pt x="3327" y="283"/>
                      <a:pt x="3328" y="280"/>
                    </a:cubicBezTo>
                    <a:lnTo>
                      <a:pt x="3393" y="32"/>
                    </a:lnTo>
                    <a:cubicBezTo>
                      <a:pt x="3395" y="27"/>
                      <a:pt x="3396" y="22"/>
                      <a:pt x="3396" y="19"/>
                    </a:cubicBezTo>
                    <a:cubicBezTo>
                      <a:pt x="3396" y="16"/>
                      <a:pt x="3395" y="13"/>
                      <a:pt x="3393" y="12"/>
                    </a:cubicBezTo>
                    <a:cubicBezTo>
                      <a:pt x="3392" y="10"/>
                      <a:pt x="3389" y="9"/>
                      <a:pt x="3385" y="9"/>
                    </a:cubicBezTo>
                    <a:cubicBezTo>
                      <a:pt x="3382" y="9"/>
                      <a:pt x="3377" y="8"/>
                      <a:pt x="3370" y="8"/>
                    </a:cubicBezTo>
                    <a:cubicBezTo>
                      <a:pt x="3364" y="8"/>
                      <a:pt x="3358" y="9"/>
                      <a:pt x="3355" y="9"/>
                    </a:cubicBezTo>
                    <a:cubicBezTo>
                      <a:pt x="3351" y="9"/>
                      <a:pt x="3348" y="10"/>
                      <a:pt x="3346" y="11"/>
                    </a:cubicBezTo>
                    <a:cubicBezTo>
                      <a:pt x="3344" y="12"/>
                      <a:pt x="3342" y="14"/>
                      <a:pt x="3341" y="15"/>
                    </a:cubicBezTo>
                    <a:cubicBezTo>
                      <a:pt x="3341" y="17"/>
                      <a:pt x="3340" y="18"/>
                      <a:pt x="3340" y="21"/>
                    </a:cubicBezTo>
                    <a:lnTo>
                      <a:pt x="3289" y="238"/>
                    </a:lnTo>
                    <a:lnTo>
                      <a:pt x="3236" y="21"/>
                    </a:lnTo>
                    <a:cubicBezTo>
                      <a:pt x="3235" y="19"/>
                      <a:pt x="3234" y="16"/>
                      <a:pt x="3233" y="14"/>
                    </a:cubicBezTo>
                    <a:cubicBezTo>
                      <a:pt x="3232" y="13"/>
                      <a:pt x="3231" y="12"/>
                      <a:pt x="3228" y="11"/>
                    </a:cubicBezTo>
                    <a:cubicBezTo>
                      <a:pt x="3226" y="10"/>
                      <a:pt x="3223" y="9"/>
                      <a:pt x="3219" y="9"/>
                    </a:cubicBezTo>
                    <a:cubicBezTo>
                      <a:pt x="3215" y="9"/>
                      <a:pt x="3208" y="8"/>
                      <a:pt x="3201" y="8"/>
                    </a:cubicBezTo>
                    <a:cubicBezTo>
                      <a:pt x="3194" y="8"/>
                      <a:pt x="3189" y="9"/>
                      <a:pt x="3185" y="9"/>
                    </a:cubicBezTo>
                    <a:cubicBezTo>
                      <a:pt x="3181" y="9"/>
                      <a:pt x="3179" y="10"/>
                      <a:pt x="3176" y="11"/>
                    </a:cubicBezTo>
                    <a:cubicBezTo>
                      <a:pt x="3174" y="12"/>
                      <a:pt x="3172" y="14"/>
                      <a:pt x="3171" y="15"/>
                    </a:cubicBezTo>
                    <a:cubicBezTo>
                      <a:pt x="3170" y="17"/>
                      <a:pt x="3170" y="19"/>
                      <a:pt x="3169" y="21"/>
                    </a:cubicBezTo>
                    <a:lnTo>
                      <a:pt x="3117" y="238"/>
                    </a:lnTo>
                    <a:lnTo>
                      <a:pt x="3116" y="238"/>
                    </a:lnTo>
                    <a:lnTo>
                      <a:pt x="3067" y="21"/>
                    </a:lnTo>
                    <a:cubicBezTo>
                      <a:pt x="3067" y="18"/>
                      <a:pt x="3066" y="15"/>
                      <a:pt x="3065" y="14"/>
                    </a:cubicBezTo>
                    <a:cubicBezTo>
                      <a:pt x="3065" y="12"/>
                      <a:pt x="3063" y="11"/>
                      <a:pt x="3061" y="10"/>
                    </a:cubicBezTo>
                    <a:cubicBezTo>
                      <a:pt x="3059" y="9"/>
                      <a:pt x="3056" y="9"/>
                      <a:pt x="3052" y="9"/>
                    </a:cubicBezTo>
                    <a:cubicBezTo>
                      <a:pt x="3048" y="9"/>
                      <a:pt x="3042" y="8"/>
                      <a:pt x="3035" y="8"/>
                    </a:cubicBezTo>
                    <a:close/>
                    <a:moveTo>
                      <a:pt x="968" y="9"/>
                    </a:moveTo>
                    <a:cubicBezTo>
                      <a:pt x="961" y="9"/>
                      <a:pt x="956" y="11"/>
                      <a:pt x="952" y="15"/>
                    </a:cubicBezTo>
                    <a:cubicBezTo>
                      <a:pt x="948" y="19"/>
                      <a:pt x="946" y="25"/>
                      <a:pt x="946" y="32"/>
                    </a:cubicBezTo>
                    <a:lnTo>
                      <a:pt x="946" y="286"/>
                    </a:lnTo>
                    <a:cubicBezTo>
                      <a:pt x="946" y="287"/>
                      <a:pt x="947" y="289"/>
                      <a:pt x="948" y="290"/>
                    </a:cubicBezTo>
                    <a:cubicBezTo>
                      <a:pt x="949" y="292"/>
                      <a:pt x="950" y="292"/>
                      <a:pt x="952" y="293"/>
                    </a:cubicBezTo>
                    <a:cubicBezTo>
                      <a:pt x="954" y="294"/>
                      <a:pt x="957" y="294"/>
                      <a:pt x="960" y="295"/>
                    </a:cubicBezTo>
                    <a:cubicBezTo>
                      <a:pt x="964" y="295"/>
                      <a:pt x="968" y="296"/>
                      <a:pt x="973" y="296"/>
                    </a:cubicBezTo>
                    <a:cubicBezTo>
                      <a:pt x="979" y="296"/>
                      <a:pt x="983" y="295"/>
                      <a:pt x="987" y="295"/>
                    </a:cubicBezTo>
                    <a:cubicBezTo>
                      <a:pt x="990" y="294"/>
                      <a:pt x="993" y="294"/>
                      <a:pt x="995" y="293"/>
                    </a:cubicBezTo>
                    <a:cubicBezTo>
                      <a:pt x="998" y="292"/>
                      <a:pt x="999" y="292"/>
                      <a:pt x="1000" y="290"/>
                    </a:cubicBezTo>
                    <a:cubicBezTo>
                      <a:pt x="1001" y="289"/>
                      <a:pt x="1001" y="287"/>
                      <a:pt x="1001" y="286"/>
                    </a:cubicBezTo>
                    <a:lnTo>
                      <a:pt x="1001" y="54"/>
                    </a:lnTo>
                    <a:lnTo>
                      <a:pt x="1002" y="54"/>
                    </a:lnTo>
                    <a:lnTo>
                      <a:pt x="1081" y="286"/>
                    </a:lnTo>
                    <a:cubicBezTo>
                      <a:pt x="1081" y="288"/>
                      <a:pt x="1082" y="289"/>
                      <a:pt x="1084" y="290"/>
                    </a:cubicBezTo>
                    <a:cubicBezTo>
                      <a:pt x="1085" y="292"/>
                      <a:pt x="1087" y="292"/>
                      <a:pt x="1090" y="293"/>
                    </a:cubicBezTo>
                    <a:cubicBezTo>
                      <a:pt x="1092" y="294"/>
                      <a:pt x="1094" y="294"/>
                      <a:pt x="1098" y="295"/>
                    </a:cubicBezTo>
                    <a:cubicBezTo>
                      <a:pt x="1101" y="295"/>
                      <a:pt x="1106" y="296"/>
                      <a:pt x="1111" y="296"/>
                    </a:cubicBezTo>
                    <a:cubicBezTo>
                      <a:pt x="1116" y="296"/>
                      <a:pt x="1120" y="296"/>
                      <a:pt x="1123" y="296"/>
                    </a:cubicBezTo>
                    <a:cubicBezTo>
                      <a:pt x="1127" y="296"/>
                      <a:pt x="1130" y="295"/>
                      <a:pt x="1132" y="294"/>
                    </a:cubicBezTo>
                    <a:cubicBezTo>
                      <a:pt x="1134" y="293"/>
                      <a:pt x="1136" y="293"/>
                      <a:pt x="1137" y="291"/>
                    </a:cubicBezTo>
                    <a:cubicBezTo>
                      <a:pt x="1139" y="290"/>
                      <a:pt x="1140" y="288"/>
                      <a:pt x="1141" y="286"/>
                    </a:cubicBezTo>
                    <a:lnTo>
                      <a:pt x="1223" y="54"/>
                    </a:lnTo>
                    <a:lnTo>
                      <a:pt x="1224" y="54"/>
                    </a:lnTo>
                    <a:lnTo>
                      <a:pt x="1224" y="286"/>
                    </a:lnTo>
                    <a:cubicBezTo>
                      <a:pt x="1224" y="287"/>
                      <a:pt x="1224" y="289"/>
                      <a:pt x="1225" y="290"/>
                    </a:cubicBezTo>
                    <a:cubicBezTo>
                      <a:pt x="1226" y="292"/>
                      <a:pt x="1227" y="292"/>
                      <a:pt x="1229" y="293"/>
                    </a:cubicBezTo>
                    <a:cubicBezTo>
                      <a:pt x="1231" y="294"/>
                      <a:pt x="1234" y="294"/>
                      <a:pt x="1238" y="295"/>
                    </a:cubicBezTo>
                    <a:cubicBezTo>
                      <a:pt x="1241" y="295"/>
                      <a:pt x="1246" y="296"/>
                      <a:pt x="1251" y="296"/>
                    </a:cubicBezTo>
                    <a:cubicBezTo>
                      <a:pt x="1257" y="296"/>
                      <a:pt x="1261" y="295"/>
                      <a:pt x="1264" y="295"/>
                    </a:cubicBezTo>
                    <a:cubicBezTo>
                      <a:pt x="1268" y="294"/>
                      <a:pt x="1271" y="294"/>
                      <a:pt x="1273" y="293"/>
                    </a:cubicBezTo>
                    <a:cubicBezTo>
                      <a:pt x="1275" y="292"/>
                      <a:pt x="1277" y="292"/>
                      <a:pt x="1278" y="290"/>
                    </a:cubicBezTo>
                    <a:cubicBezTo>
                      <a:pt x="1278" y="289"/>
                      <a:pt x="1278" y="287"/>
                      <a:pt x="1278" y="286"/>
                    </a:cubicBezTo>
                    <a:lnTo>
                      <a:pt x="1278" y="32"/>
                    </a:lnTo>
                    <a:cubicBezTo>
                      <a:pt x="1278" y="28"/>
                      <a:pt x="1279" y="25"/>
                      <a:pt x="1278" y="22"/>
                    </a:cubicBezTo>
                    <a:cubicBezTo>
                      <a:pt x="1277" y="19"/>
                      <a:pt x="1275" y="17"/>
                      <a:pt x="1273" y="15"/>
                    </a:cubicBezTo>
                    <a:cubicBezTo>
                      <a:pt x="1271" y="13"/>
                      <a:pt x="1269" y="12"/>
                      <a:pt x="1266" y="11"/>
                    </a:cubicBezTo>
                    <a:cubicBezTo>
                      <a:pt x="1263" y="10"/>
                      <a:pt x="1260" y="9"/>
                      <a:pt x="1256" y="9"/>
                    </a:cubicBezTo>
                    <a:lnTo>
                      <a:pt x="1217" y="9"/>
                    </a:lnTo>
                    <a:cubicBezTo>
                      <a:pt x="1211" y="9"/>
                      <a:pt x="1207" y="10"/>
                      <a:pt x="1203" y="11"/>
                    </a:cubicBezTo>
                    <a:cubicBezTo>
                      <a:pt x="1199" y="12"/>
                      <a:pt x="1195" y="14"/>
                      <a:pt x="1192" y="16"/>
                    </a:cubicBezTo>
                    <a:cubicBezTo>
                      <a:pt x="1189" y="19"/>
                      <a:pt x="1186" y="22"/>
                      <a:pt x="1184" y="27"/>
                    </a:cubicBezTo>
                    <a:cubicBezTo>
                      <a:pt x="1182" y="31"/>
                      <a:pt x="1179" y="36"/>
                      <a:pt x="1177" y="43"/>
                    </a:cubicBezTo>
                    <a:lnTo>
                      <a:pt x="1114" y="212"/>
                    </a:lnTo>
                    <a:lnTo>
                      <a:pt x="1113" y="212"/>
                    </a:lnTo>
                    <a:lnTo>
                      <a:pt x="1051" y="42"/>
                    </a:lnTo>
                    <a:cubicBezTo>
                      <a:pt x="1049" y="36"/>
                      <a:pt x="1047" y="31"/>
                      <a:pt x="1045" y="27"/>
                    </a:cubicBezTo>
                    <a:cubicBezTo>
                      <a:pt x="1042" y="23"/>
                      <a:pt x="1039" y="19"/>
                      <a:pt x="1036" y="16"/>
                    </a:cubicBezTo>
                    <a:cubicBezTo>
                      <a:pt x="1032" y="14"/>
                      <a:pt x="1028" y="12"/>
                      <a:pt x="1024" y="11"/>
                    </a:cubicBezTo>
                    <a:cubicBezTo>
                      <a:pt x="1019" y="10"/>
                      <a:pt x="1013" y="9"/>
                      <a:pt x="1006" y="9"/>
                    </a:cubicBezTo>
                    <a:lnTo>
                      <a:pt x="968" y="9"/>
                    </a:lnTo>
                    <a:close/>
                    <a:moveTo>
                      <a:pt x="2067" y="9"/>
                    </a:moveTo>
                    <a:cubicBezTo>
                      <a:pt x="2065" y="9"/>
                      <a:pt x="2064" y="9"/>
                      <a:pt x="2063" y="10"/>
                    </a:cubicBezTo>
                    <a:cubicBezTo>
                      <a:pt x="2062" y="11"/>
                      <a:pt x="2061" y="13"/>
                      <a:pt x="2061" y="14"/>
                    </a:cubicBezTo>
                    <a:cubicBezTo>
                      <a:pt x="2060" y="16"/>
                      <a:pt x="2059" y="18"/>
                      <a:pt x="2059" y="21"/>
                    </a:cubicBezTo>
                    <a:cubicBezTo>
                      <a:pt x="2059" y="25"/>
                      <a:pt x="2058" y="28"/>
                      <a:pt x="2058" y="33"/>
                    </a:cubicBezTo>
                    <a:cubicBezTo>
                      <a:pt x="2058" y="37"/>
                      <a:pt x="2059" y="40"/>
                      <a:pt x="2059" y="43"/>
                    </a:cubicBezTo>
                    <a:cubicBezTo>
                      <a:pt x="2059" y="47"/>
                      <a:pt x="2060" y="50"/>
                      <a:pt x="2061" y="51"/>
                    </a:cubicBezTo>
                    <a:cubicBezTo>
                      <a:pt x="2061" y="53"/>
                      <a:pt x="2062" y="54"/>
                      <a:pt x="2063" y="55"/>
                    </a:cubicBezTo>
                    <a:cubicBezTo>
                      <a:pt x="2064" y="56"/>
                      <a:pt x="2065" y="57"/>
                      <a:pt x="2067" y="57"/>
                    </a:cubicBezTo>
                    <a:lnTo>
                      <a:pt x="2138" y="57"/>
                    </a:lnTo>
                    <a:lnTo>
                      <a:pt x="2138" y="286"/>
                    </a:lnTo>
                    <a:cubicBezTo>
                      <a:pt x="2138" y="287"/>
                      <a:pt x="2138" y="289"/>
                      <a:pt x="2139" y="290"/>
                    </a:cubicBezTo>
                    <a:cubicBezTo>
                      <a:pt x="2140" y="292"/>
                      <a:pt x="2142" y="292"/>
                      <a:pt x="2145" y="293"/>
                    </a:cubicBezTo>
                    <a:cubicBezTo>
                      <a:pt x="2147" y="294"/>
                      <a:pt x="2150" y="294"/>
                      <a:pt x="2153" y="295"/>
                    </a:cubicBezTo>
                    <a:cubicBezTo>
                      <a:pt x="2157" y="295"/>
                      <a:pt x="2162" y="296"/>
                      <a:pt x="2167" y="296"/>
                    </a:cubicBezTo>
                    <a:cubicBezTo>
                      <a:pt x="2173" y="296"/>
                      <a:pt x="2178" y="295"/>
                      <a:pt x="2182" y="295"/>
                    </a:cubicBezTo>
                    <a:cubicBezTo>
                      <a:pt x="2185" y="294"/>
                      <a:pt x="2188" y="294"/>
                      <a:pt x="2190" y="293"/>
                    </a:cubicBezTo>
                    <a:cubicBezTo>
                      <a:pt x="2193" y="292"/>
                      <a:pt x="2194" y="292"/>
                      <a:pt x="2195" y="290"/>
                    </a:cubicBezTo>
                    <a:cubicBezTo>
                      <a:pt x="2196" y="289"/>
                      <a:pt x="2197" y="287"/>
                      <a:pt x="2197" y="286"/>
                    </a:cubicBezTo>
                    <a:lnTo>
                      <a:pt x="2197" y="57"/>
                    </a:lnTo>
                    <a:lnTo>
                      <a:pt x="2268" y="57"/>
                    </a:lnTo>
                    <a:cubicBezTo>
                      <a:pt x="2269" y="57"/>
                      <a:pt x="2270" y="56"/>
                      <a:pt x="2272" y="55"/>
                    </a:cubicBezTo>
                    <a:cubicBezTo>
                      <a:pt x="2273" y="54"/>
                      <a:pt x="2273" y="53"/>
                      <a:pt x="2274" y="51"/>
                    </a:cubicBezTo>
                    <a:cubicBezTo>
                      <a:pt x="2275" y="50"/>
                      <a:pt x="2276" y="47"/>
                      <a:pt x="2276" y="43"/>
                    </a:cubicBezTo>
                    <a:cubicBezTo>
                      <a:pt x="2276" y="40"/>
                      <a:pt x="2277" y="37"/>
                      <a:pt x="2277" y="33"/>
                    </a:cubicBezTo>
                    <a:cubicBezTo>
                      <a:pt x="2277" y="28"/>
                      <a:pt x="2276" y="25"/>
                      <a:pt x="2276" y="21"/>
                    </a:cubicBezTo>
                    <a:cubicBezTo>
                      <a:pt x="2276" y="18"/>
                      <a:pt x="2275" y="16"/>
                      <a:pt x="2274" y="14"/>
                    </a:cubicBezTo>
                    <a:cubicBezTo>
                      <a:pt x="2273" y="13"/>
                      <a:pt x="2273" y="11"/>
                      <a:pt x="2272" y="10"/>
                    </a:cubicBezTo>
                    <a:cubicBezTo>
                      <a:pt x="2270" y="9"/>
                      <a:pt x="2269" y="9"/>
                      <a:pt x="2268" y="9"/>
                    </a:cubicBezTo>
                    <a:lnTo>
                      <a:pt x="2067" y="9"/>
                    </a:lnTo>
                    <a:close/>
                    <a:moveTo>
                      <a:pt x="5231" y="11"/>
                    </a:moveTo>
                    <a:cubicBezTo>
                      <a:pt x="5226" y="11"/>
                      <a:pt x="5222" y="12"/>
                      <a:pt x="5219" y="15"/>
                    </a:cubicBezTo>
                    <a:cubicBezTo>
                      <a:pt x="5216" y="18"/>
                      <a:pt x="5215" y="23"/>
                      <a:pt x="5215" y="29"/>
                    </a:cubicBezTo>
                    <a:lnTo>
                      <a:pt x="5215" y="288"/>
                    </a:lnTo>
                    <a:cubicBezTo>
                      <a:pt x="5215" y="289"/>
                      <a:pt x="5215" y="291"/>
                      <a:pt x="5215" y="292"/>
                    </a:cubicBezTo>
                    <a:cubicBezTo>
                      <a:pt x="5216" y="293"/>
                      <a:pt x="5219" y="294"/>
                      <a:pt x="5221" y="295"/>
                    </a:cubicBezTo>
                    <a:cubicBezTo>
                      <a:pt x="5223" y="296"/>
                      <a:pt x="5226" y="296"/>
                      <a:pt x="5230" y="297"/>
                    </a:cubicBezTo>
                    <a:cubicBezTo>
                      <a:pt x="5233" y="297"/>
                      <a:pt x="5238" y="297"/>
                      <a:pt x="5244" y="297"/>
                    </a:cubicBezTo>
                    <a:cubicBezTo>
                      <a:pt x="5249" y="297"/>
                      <a:pt x="5254" y="297"/>
                      <a:pt x="5258" y="297"/>
                    </a:cubicBezTo>
                    <a:cubicBezTo>
                      <a:pt x="5261" y="296"/>
                      <a:pt x="5264" y="296"/>
                      <a:pt x="5267" y="295"/>
                    </a:cubicBezTo>
                    <a:cubicBezTo>
                      <a:pt x="5269" y="294"/>
                      <a:pt x="5270" y="293"/>
                      <a:pt x="5271" y="292"/>
                    </a:cubicBezTo>
                    <a:cubicBezTo>
                      <a:pt x="5272" y="291"/>
                      <a:pt x="5273" y="289"/>
                      <a:pt x="5273" y="288"/>
                    </a:cubicBezTo>
                    <a:lnTo>
                      <a:pt x="5273" y="182"/>
                    </a:lnTo>
                    <a:lnTo>
                      <a:pt x="5360" y="182"/>
                    </a:lnTo>
                    <a:cubicBezTo>
                      <a:pt x="5361" y="182"/>
                      <a:pt x="5363" y="181"/>
                      <a:pt x="5364" y="180"/>
                    </a:cubicBezTo>
                    <a:cubicBezTo>
                      <a:pt x="5365" y="179"/>
                      <a:pt x="5365" y="179"/>
                      <a:pt x="5366" y="177"/>
                    </a:cubicBezTo>
                    <a:cubicBezTo>
                      <a:pt x="5367" y="175"/>
                      <a:pt x="5368" y="172"/>
                      <a:pt x="5368" y="169"/>
                    </a:cubicBezTo>
                    <a:cubicBezTo>
                      <a:pt x="5368" y="166"/>
                      <a:pt x="5369" y="163"/>
                      <a:pt x="5369" y="158"/>
                    </a:cubicBezTo>
                    <a:cubicBezTo>
                      <a:pt x="5369" y="154"/>
                      <a:pt x="5368" y="150"/>
                      <a:pt x="5368" y="147"/>
                    </a:cubicBezTo>
                    <a:cubicBezTo>
                      <a:pt x="5368" y="144"/>
                      <a:pt x="5367" y="141"/>
                      <a:pt x="5366" y="140"/>
                    </a:cubicBezTo>
                    <a:cubicBezTo>
                      <a:pt x="5365" y="138"/>
                      <a:pt x="5365" y="137"/>
                      <a:pt x="5364" y="136"/>
                    </a:cubicBezTo>
                    <a:cubicBezTo>
                      <a:pt x="5363" y="135"/>
                      <a:pt x="5361" y="135"/>
                      <a:pt x="5360" y="135"/>
                    </a:cubicBezTo>
                    <a:lnTo>
                      <a:pt x="5273" y="135"/>
                    </a:lnTo>
                    <a:lnTo>
                      <a:pt x="5273" y="58"/>
                    </a:lnTo>
                    <a:lnTo>
                      <a:pt x="5366" y="58"/>
                    </a:lnTo>
                    <a:cubicBezTo>
                      <a:pt x="5368" y="58"/>
                      <a:pt x="5369" y="58"/>
                      <a:pt x="5370" y="57"/>
                    </a:cubicBezTo>
                    <a:cubicBezTo>
                      <a:pt x="5371" y="56"/>
                      <a:pt x="5372" y="55"/>
                      <a:pt x="5372" y="53"/>
                    </a:cubicBezTo>
                    <a:cubicBezTo>
                      <a:pt x="5373" y="51"/>
                      <a:pt x="5374" y="49"/>
                      <a:pt x="5374" y="46"/>
                    </a:cubicBezTo>
                    <a:cubicBezTo>
                      <a:pt x="5375" y="43"/>
                      <a:pt x="5374" y="39"/>
                      <a:pt x="5374" y="35"/>
                    </a:cubicBezTo>
                    <a:cubicBezTo>
                      <a:pt x="5374" y="30"/>
                      <a:pt x="5375" y="26"/>
                      <a:pt x="5374" y="23"/>
                    </a:cubicBezTo>
                    <a:cubicBezTo>
                      <a:pt x="5374" y="20"/>
                      <a:pt x="5373" y="18"/>
                      <a:pt x="5372" y="16"/>
                    </a:cubicBezTo>
                    <a:cubicBezTo>
                      <a:pt x="5372" y="14"/>
                      <a:pt x="5371" y="13"/>
                      <a:pt x="5370" y="12"/>
                    </a:cubicBezTo>
                    <a:cubicBezTo>
                      <a:pt x="5369" y="11"/>
                      <a:pt x="5368" y="11"/>
                      <a:pt x="5366" y="11"/>
                    </a:cubicBezTo>
                    <a:lnTo>
                      <a:pt x="5231" y="11"/>
                    </a:lnTo>
                    <a:close/>
                    <a:moveTo>
                      <a:pt x="4135" y="21"/>
                    </a:moveTo>
                    <a:cubicBezTo>
                      <a:pt x="4134" y="21"/>
                      <a:pt x="4133" y="22"/>
                      <a:pt x="4132" y="23"/>
                    </a:cubicBezTo>
                    <a:cubicBezTo>
                      <a:pt x="4131" y="24"/>
                      <a:pt x="4130" y="25"/>
                      <a:pt x="4129" y="27"/>
                    </a:cubicBezTo>
                    <a:cubicBezTo>
                      <a:pt x="4128" y="29"/>
                      <a:pt x="4128" y="32"/>
                      <a:pt x="4127" y="35"/>
                    </a:cubicBezTo>
                    <a:cubicBezTo>
                      <a:pt x="4127" y="38"/>
                      <a:pt x="4126" y="41"/>
                      <a:pt x="4126" y="45"/>
                    </a:cubicBezTo>
                    <a:cubicBezTo>
                      <a:pt x="4126" y="50"/>
                      <a:pt x="4127" y="54"/>
                      <a:pt x="4127" y="57"/>
                    </a:cubicBezTo>
                    <a:cubicBezTo>
                      <a:pt x="4128" y="60"/>
                      <a:pt x="4128" y="62"/>
                      <a:pt x="4129" y="64"/>
                    </a:cubicBezTo>
                    <a:cubicBezTo>
                      <a:pt x="4130" y="66"/>
                      <a:pt x="4131" y="67"/>
                      <a:pt x="4132" y="68"/>
                    </a:cubicBezTo>
                    <a:cubicBezTo>
                      <a:pt x="4133" y="69"/>
                      <a:pt x="4134" y="69"/>
                      <a:pt x="4135" y="69"/>
                    </a:cubicBezTo>
                    <a:lnTo>
                      <a:pt x="4207" y="69"/>
                    </a:lnTo>
                    <a:lnTo>
                      <a:pt x="4207" y="299"/>
                    </a:lnTo>
                    <a:cubicBezTo>
                      <a:pt x="4207" y="301"/>
                      <a:pt x="4207" y="302"/>
                      <a:pt x="4208" y="303"/>
                    </a:cubicBezTo>
                    <a:cubicBezTo>
                      <a:pt x="4209" y="304"/>
                      <a:pt x="4210" y="306"/>
                      <a:pt x="4213" y="306"/>
                    </a:cubicBezTo>
                    <a:cubicBezTo>
                      <a:pt x="4215" y="307"/>
                      <a:pt x="4218" y="308"/>
                      <a:pt x="4222" y="308"/>
                    </a:cubicBezTo>
                    <a:cubicBezTo>
                      <a:pt x="4225" y="309"/>
                      <a:pt x="4230" y="308"/>
                      <a:pt x="4236" y="308"/>
                    </a:cubicBezTo>
                    <a:cubicBezTo>
                      <a:pt x="4241" y="308"/>
                      <a:pt x="4246" y="309"/>
                      <a:pt x="4250" y="308"/>
                    </a:cubicBezTo>
                    <a:cubicBezTo>
                      <a:pt x="4253" y="308"/>
                      <a:pt x="4256" y="307"/>
                      <a:pt x="4259" y="306"/>
                    </a:cubicBezTo>
                    <a:cubicBezTo>
                      <a:pt x="4261" y="306"/>
                      <a:pt x="4262" y="304"/>
                      <a:pt x="4263" y="303"/>
                    </a:cubicBezTo>
                    <a:cubicBezTo>
                      <a:pt x="4264" y="302"/>
                      <a:pt x="4265" y="301"/>
                      <a:pt x="4265" y="299"/>
                    </a:cubicBezTo>
                    <a:lnTo>
                      <a:pt x="4265" y="69"/>
                    </a:lnTo>
                    <a:lnTo>
                      <a:pt x="4336" y="69"/>
                    </a:lnTo>
                    <a:cubicBezTo>
                      <a:pt x="4337" y="69"/>
                      <a:pt x="4339" y="69"/>
                      <a:pt x="4340" y="68"/>
                    </a:cubicBezTo>
                    <a:cubicBezTo>
                      <a:pt x="4341" y="67"/>
                      <a:pt x="4342" y="66"/>
                      <a:pt x="4342" y="64"/>
                    </a:cubicBezTo>
                    <a:cubicBezTo>
                      <a:pt x="4343" y="62"/>
                      <a:pt x="4344" y="60"/>
                      <a:pt x="4344" y="57"/>
                    </a:cubicBezTo>
                    <a:cubicBezTo>
                      <a:pt x="4344" y="54"/>
                      <a:pt x="4345" y="50"/>
                      <a:pt x="4345" y="45"/>
                    </a:cubicBezTo>
                    <a:cubicBezTo>
                      <a:pt x="4345" y="41"/>
                      <a:pt x="4344" y="38"/>
                      <a:pt x="4344" y="35"/>
                    </a:cubicBezTo>
                    <a:cubicBezTo>
                      <a:pt x="4344" y="32"/>
                      <a:pt x="4343" y="29"/>
                      <a:pt x="4342" y="27"/>
                    </a:cubicBezTo>
                    <a:cubicBezTo>
                      <a:pt x="4342" y="25"/>
                      <a:pt x="4341" y="24"/>
                      <a:pt x="4340" y="23"/>
                    </a:cubicBezTo>
                    <a:cubicBezTo>
                      <a:pt x="4339" y="22"/>
                      <a:pt x="4337" y="21"/>
                      <a:pt x="4336" y="21"/>
                    </a:cubicBezTo>
                    <a:lnTo>
                      <a:pt x="4135" y="21"/>
                    </a:lnTo>
                    <a:close/>
                    <a:moveTo>
                      <a:pt x="1434" y="78"/>
                    </a:moveTo>
                    <a:cubicBezTo>
                      <a:pt x="1416" y="78"/>
                      <a:pt x="1400" y="80"/>
                      <a:pt x="1387" y="86"/>
                    </a:cubicBezTo>
                    <a:cubicBezTo>
                      <a:pt x="1373" y="91"/>
                      <a:pt x="1362" y="99"/>
                      <a:pt x="1353" y="109"/>
                    </a:cubicBezTo>
                    <a:cubicBezTo>
                      <a:pt x="1344" y="119"/>
                      <a:pt x="1338" y="131"/>
                      <a:pt x="1333" y="145"/>
                    </a:cubicBezTo>
                    <a:cubicBezTo>
                      <a:pt x="1329" y="159"/>
                      <a:pt x="1326" y="174"/>
                      <a:pt x="1326" y="191"/>
                    </a:cubicBezTo>
                    <a:cubicBezTo>
                      <a:pt x="1326" y="208"/>
                      <a:pt x="1328" y="223"/>
                      <a:pt x="1332" y="237"/>
                    </a:cubicBezTo>
                    <a:cubicBezTo>
                      <a:pt x="1336" y="250"/>
                      <a:pt x="1342" y="262"/>
                      <a:pt x="1351" y="271"/>
                    </a:cubicBezTo>
                    <a:cubicBezTo>
                      <a:pt x="1359" y="280"/>
                      <a:pt x="1370" y="287"/>
                      <a:pt x="1383" y="292"/>
                    </a:cubicBezTo>
                    <a:cubicBezTo>
                      <a:pt x="1396" y="297"/>
                      <a:pt x="1412" y="299"/>
                      <a:pt x="1429" y="299"/>
                    </a:cubicBezTo>
                    <a:cubicBezTo>
                      <a:pt x="1447" y="299"/>
                      <a:pt x="1462" y="297"/>
                      <a:pt x="1476" y="291"/>
                    </a:cubicBezTo>
                    <a:cubicBezTo>
                      <a:pt x="1490" y="286"/>
                      <a:pt x="1501" y="278"/>
                      <a:pt x="1510" y="268"/>
                    </a:cubicBezTo>
                    <a:cubicBezTo>
                      <a:pt x="1519" y="258"/>
                      <a:pt x="1525" y="246"/>
                      <a:pt x="1530" y="232"/>
                    </a:cubicBezTo>
                    <a:cubicBezTo>
                      <a:pt x="1534" y="218"/>
                      <a:pt x="1537" y="203"/>
                      <a:pt x="1537" y="186"/>
                    </a:cubicBezTo>
                    <a:cubicBezTo>
                      <a:pt x="1537" y="169"/>
                      <a:pt x="1535" y="153"/>
                      <a:pt x="1531" y="140"/>
                    </a:cubicBezTo>
                    <a:cubicBezTo>
                      <a:pt x="1527" y="126"/>
                      <a:pt x="1521" y="115"/>
                      <a:pt x="1512" y="106"/>
                    </a:cubicBezTo>
                    <a:cubicBezTo>
                      <a:pt x="1504" y="97"/>
                      <a:pt x="1492" y="90"/>
                      <a:pt x="1480" y="85"/>
                    </a:cubicBezTo>
                    <a:cubicBezTo>
                      <a:pt x="1467" y="80"/>
                      <a:pt x="1451" y="78"/>
                      <a:pt x="1434" y="78"/>
                    </a:cubicBezTo>
                    <a:close/>
                    <a:moveTo>
                      <a:pt x="3522" y="78"/>
                    </a:moveTo>
                    <a:cubicBezTo>
                      <a:pt x="3507" y="78"/>
                      <a:pt x="3493" y="81"/>
                      <a:pt x="3481" y="86"/>
                    </a:cubicBezTo>
                    <a:cubicBezTo>
                      <a:pt x="3468" y="91"/>
                      <a:pt x="3458" y="99"/>
                      <a:pt x="3449" y="109"/>
                    </a:cubicBezTo>
                    <a:cubicBezTo>
                      <a:pt x="3440" y="119"/>
                      <a:pt x="3433" y="130"/>
                      <a:pt x="3429" y="144"/>
                    </a:cubicBezTo>
                    <a:cubicBezTo>
                      <a:pt x="3424" y="158"/>
                      <a:pt x="3422" y="174"/>
                      <a:pt x="3422" y="192"/>
                    </a:cubicBezTo>
                    <a:cubicBezTo>
                      <a:pt x="3422" y="210"/>
                      <a:pt x="3424" y="226"/>
                      <a:pt x="3429" y="239"/>
                    </a:cubicBezTo>
                    <a:cubicBezTo>
                      <a:pt x="3433" y="253"/>
                      <a:pt x="3439" y="265"/>
                      <a:pt x="3448" y="274"/>
                    </a:cubicBezTo>
                    <a:cubicBezTo>
                      <a:pt x="3457" y="283"/>
                      <a:pt x="3468" y="289"/>
                      <a:pt x="3482" y="293"/>
                    </a:cubicBezTo>
                    <a:cubicBezTo>
                      <a:pt x="3495" y="297"/>
                      <a:pt x="3510" y="300"/>
                      <a:pt x="3527" y="300"/>
                    </a:cubicBezTo>
                    <a:cubicBezTo>
                      <a:pt x="3537" y="300"/>
                      <a:pt x="3546" y="300"/>
                      <a:pt x="3555" y="298"/>
                    </a:cubicBezTo>
                    <a:cubicBezTo>
                      <a:pt x="3563" y="297"/>
                      <a:pt x="3570" y="296"/>
                      <a:pt x="3577" y="294"/>
                    </a:cubicBezTo>
                    <a:cubicBezTo>
                      <a:pt x="3583" y="292"/>
                      <a:pt x="3589" y="290"/>
                      <a:pt x="3594" y="289"/>
                    </a:cubicBezTo>
                    <a:cubicBezTo>
                      <a:pt x="3598" y="287"/>
                      <a:pt x="3601" y="285"/>
                      <a:pt x="3602" y="284"/>
                    </a:cubicBezTo>
                    <a:cubicBezTo>
                      <a:pt x="3602" y="283"/>
                      <a:pt x="3603" y="283"/>
                      <a:pt x="3603" y="282"/>
                    </a:cubicBezTo>
                    <a:cubicBezTo>
                      <a:pt x="3604" y="281"/>
                      <a:pt x="3605" y="279"/>
                      <a:pt x="3605" y="277"/>
                    </a:cubicBezTo>
                    <a:cubicBezTo>
                      <a:pt x="3605" y="276"/>
                      <a:pt x="3606" y="273"/>
                      <a:pt x="3606" y="271"/>
                    </a:cubicBezTo>
                    <a:cubicBezTo>
                      <a:pt x="3606" y="269"/>
                      <a:pt x="3606" y="266"/>
                      <a:pt x="3606" y="263"/>
                    </a:cubicBezTo>
                    <a:cubicBezTo>
                      <a:pt x="3606" y="259"/>
                      <a:pt x="3606" y="257"/>
                      <a:pt x="3606" y="254"/>
                    </a:cubicBezTo>
                    <a:cubicBezTo>
                      <a:pt x="3606" y="252"/>
                      <a:pt x="3605" y="249"/>
                      <a:pt x="3604" y="248"/>
                    </a:cubicBezTo>
                    <a:cubicBezTo>
                      <a:pt x="3604" y="247"/>
                      <a:pt x="3603" y="246"/>
                      <a:pt x="3602" y="245"/>
                    </a:cubicBezTo>
                    <a:cubicBezTo>
                      <a:pt x="3602" y="245"/>
                      <a:pt x="3600" y="245"/>
                      <a:pt x="3599" y="245"/>
                    </a:cubicBezTo>
                    <a:cubicBezTo>
                      <a:pt x="3597" y="245"/>
                      <a:pt x="3594" y="246"/>
                      <a:pt x="3590" y="247"/>
                    </a:cubicBezTo>
                    <a:cubicBezTo>
                      <a:pt x="3587" y="249"/>
                      <a:pt x="3582" y="250"/>
                      <a:pt x="3577" y="252"/>
                    </a:cubicBezTo>
                    <a:cubicBezTo>
                      <a:pt x="3571" y="253"/>
                      <a:pt x="3565" y="255"/>
                      <a:pt x="3557" y="256"/>
                    </a:cubicBezTo>
                    <a:cubicBezTo>
                      <a:pt x="3550" y="257"/>
                      <a:pt x="3542" y="258"/>
                      <a:pt x="3532" y="258"/>
                    </a:cubicBezTo>
                    <a:cubicBezTo>
                      <a:pt x="3522" y="258"/>
                      <a:pt x="3515" y="257"/>
                      <a:pt x="3508" y="254"/>
                    </a:cubicBezTo>
                    <a:cubicBezTo>
                      <a:pt x="3501" y="252"/>
                      <a:pt x="3496" y="248"/>
                      <a:pt x="3491" y="244"/>
                    </a:cubicBezTo>
                    <a:cubicBezTo>
                      <a:pt x="3487" y="239"/>
                      <a:pt x="3484" y="233"/>
                      <a:pt x="3482" y="226"/>
                    </a:cubicBezTo>
                    <a:cubicBezTo>
                      <a:pt x="3480" y="219"/>
                      <a:pt x="3478" y="212"/>
                      <a:pt x="3478" y="203"/>
                    </a:cubicBezTo>
                    <a:lnTo>
                      <a:pt x="3598" y="203"/>
                    </a:lnTo>
                    <a:cubicBezTo>
                      <a:pt x="3603" y="203"/>
                      <a:pt x="3607" y="202"/>
                      <a:pt x="3610" y="199"/>
                    </a:cubicBezTo>
                    <a:cubicBezTo>
                      <a:pt x="3613" y="195"/>
                      <a:pt x="3615" y="190"/>
                      <a:pt x="3615" y="184"/>
                    </a:cubicBezTo>
                    <a:lnTo>
                      <a:pt x="3615" y="175"/>
                    </a:lnTo>
                    <a:cubicBezTo>
                      <a:pt x="3615" y="161"/>
                      <a:pt x="3613" y="148"/>
                      <a:pt x="3609" y="136"/>
                    </a:cubicBezTo>
                    <a:cubicBezTo>
                      <a:pt x="3606" y="124"/>
                      <a:pt x="3601" y="115"/>
                      <a:pt x="3594" y="106"/>
                    </a:cubicBezTo>
                    <a:cubicBezTo>
                      <a:pt x="3586" y="98"/>
                      <a:pt x="3576" y="91"/>
                      <a:pt x="3564" y="86"/>
                    </a:cubicBezTo>
                    <a:cubicBezTo>
                      <a:pt x="3553" y="81"/>
                      <a:pt x="3539" y="78"/>
                      <a:pt x="3522" y="78"/>
                    </a:cubicBezTo>
                    <a:close/>
                    <a:moveTo>
                      <a:pt x="5518" y="80"/>
                    </a:moveTo>
                    <a:cubicBezTo>
                      <a:pt x="5514" y="80"/>
                      <a:pt x="5510" y="80"/>
                      <a:pt x="5506" y="81"/>
                    </a:cubicBezTo>
                    <a:cubicBezTo>
                      <a:pt x="5502" y="83"/>
                      <a:pt x="5497" y="84"/>
                      <a:pt x="5493" y="87"/>
                    </a:cubicBezTo>
                    <a:cubicBezTo>
                      <a:pt x="5489" y="89"/>
                      <a:pt x="5485" y="93"/>
                      <a:pt x="5480" y="98"/>
                    </a:cubicBezTo>
                    <a:cubicBezTo>
                      <a:pt x="5475" y="103"/>
                      <a:pt x="5471" y="109"/>
                      <a:pt x="5466" y="117"/>
                    </a:cubicBezTo>
                    <a:lnTo>
                      <a:pt x="5466" y="92"/>
                    </a:lnTo>
                    <a:cubicBezTo>
                      <a:pt x="5466" y="91"/>
                      <a:pt x="5466" y="90"/>
                      <a:pt x="5465" y="88"/>
                    </a:cubicBezTo>
                    <a:cubicBezTo>
                      <a:pt x="5464" y="87"/>
                      <a:pt x="5462" y="87"/>
                      <a:pt x="5461" y="86"/>
                    </a:cubicBezTo>
                    <a:cubicBezTo>
                      <a:pt x="5459" y="85"/>
                      <a:pt x="5457" y="84"/>
                      <a:pt x="5454" y="84"/>
                    </a:cubicBezTo>
                    <a:cubicBezTo>
                      <a:pt x="5451" y="84"/>
                      <a:pt x="5447" y="83"/>
                      <a:pt x="5442" y="83"/>
                    </a:cubicBezTo>
                    <a:cubicBezTo>
                      <a:pt x="5438" y="83"/>
                      <a:pt x="5434" y="84"/>
                      <a:pt x="5431" y="84"/>
                    </a:cubicBezTo>
                    <a:cubicBezTo>
                      <a:pt x="5428" y="84"/>
                      <a:pt x="5426" y="85"/>
                      <a:pt x="5424" y="86"/>
                    </a:cubicBezTo>
                    <a:cubicBezTo>
                      <a:pt x="5422" y="87"/>
                      <a:pt x="5420" y="87"/>
                      <a:pt x="5419" y="88"/>
                    </a:cubicBezTo>
                    <a:cubicBezTo>
                      <a:pt x="5418" y="90"/>
                      <a:pt x="5418" y="91"/>
                      <a:pt x="5418" y="92"/>
                    </a:cubicBezTo>
                    <a:lnTo>
                      <a:pt x="5418" y="289"/>
                    </a:lnTo>
                    <a:cubicBezTo>
                      <a:pt x="5418" y="290"/>
                      <a:pt x="5419" y="291"/>
                      <a:pt x="5420" y="292"/>
                    </a:cubicBezTo>
                    <a:cubicBezTo>
                      <a:pt x="5421" y="293"/>
                      <a:pt x="5422" y="295"/>
                      <a:pt x="5424" y="296"/>
                    </a:cubicBezTo>
                    <a:cubicBezTo>
                      <a:pt x="5427" y="296"/>
                      <a:pt x="5429" y="296"/>
                      <a:pt x="5432" y="297"/>
                    </a:cubicBezTo>
                    <a:cubicBezTo>
                      <a:pt x="5436" y="297"/>
                      <a:pt x="5441" y="297"/>
                      <a:pt x="5447" y="297"/>
                    </a:cubicBezTo>
                    <a:cubicBezTo>
                      <a:pt x="5452" y="297"/>
                      <a:pt x="5456" y="297"/>
                      <a:pt x="5460" y="297"/>
                    </a:cubicBezTo>
                    <a:cubicBezTo>
                      <a:pt x="5463" y="296"/>
                      <a:pt x="5466" y="296"/>
                      <a:pt x="5468" y="296"/>
                    </a:cubicBezTo>
                    <a:cubicBezTo>
                      <a:pt x="5470" y="295"/>
                      <a:pt x="5472" y="293"/>
                      <a:pt x="5473" y="292"/>
                    </a:cubicBezTo>
                    <a:cubicBezTo>
                      <a:pt x="5474" y="291"/>
                      <a:pt x="5474" y="290"/>
                      <a:pt x="5474" y="289"/>
                    </a:cubicBezTo>
                    <a:lnTo>
                      <a:pt x="5474" y="166"/>
                    </a:lnTo>
                    <a:cubicBezTo>
                      <a:pt x="5478" y="160"/>
                      <a:pt x="5482" y="155"/>
                      <a:pt x="5485" y="150"/>
                    </a:cubicBezTo>
                    <a:cubicBezTo>
                      <a:pt x="5489" y="146"/>
                      <a:pt x="5493" y="142"/>
                      <a:pt x="5496" y="140"/>
                    </a:cubicBezTo>
                    <a:cubicBezTo>
                      <a:pt x="5499" y="137"/>
                      <a:pt x="5503" y="135"/>
                      <a:pt x="5506" y="133"/>
                    </a:cubicBezTo>
                    <a:cubicBezTo>
                      <a:pt x="5509" y="132"/>
                      <a:pt x="5511" y="132"/>
                      <a:pt x="5514" y="132"/>
                    </a:cubicBezTo>
                    <a:cubicBezTo>
                      <a:pt x="5517" y="132"/>
                      <a:pt x="5520" y="132"/>
                      <a:pt x="5522" y="133"/>
                    </a:cubicBezTo>
                    <a:cubicBezTo>
                      <a:pt x="5525" y="133"/>
                      <a:pt x="5526" y="134"/>
                      <a:pt x="5528" y="134"/>
                    </a:cubicBezTo>
                    <a:cubicBezTo>
                      <a:pt x="5530" y="135"/>
                      <a:pt x="5531" y="135"/>
                      <a:pt x="5533" y="135"/>
                    </a:cubicBezTo>
                    <a:cubicBezTo>
                      <a:pt x="5534" y="136"/>
                      <a:pt x="5536" y="136"/>
                      <a:pt x="5537" y="136"/>
                    </a:cubicBezTo>
                    <a:cubicBezTo>
                      <a:pt x="5539" y="136"/>
                      <a:pt x="5540" y="136"/>
                      <a:pt x="5541" y="135"/>
                    </a:cubicBezTo>
                    <a:cubicBezTo>
                      <a:pt x="5542" y="134"/>
                      <a:pt x="5542" y="134"/>
                      <a:pt x="5543" y="132"/>
                    </a:cubicBezTo>
                    <a:cubicBezTo>
                      <a:pt x="5543" y="130"/>
                      <a:pt x="5544" y="127"/>
                      <a:pt x="5544" y="124"/>
                    </a:cubicBezTo>
                    <a:cubicBezTo>
                      <a:pt x="5545" y="120"/>
                      <a:pt x="5544" y="116"/>
                      <a:pt x="5544" y="111"/>
                    </a:cubicBezTo>
                    <a:cubicBezTo>
                      <a:pt x="5544" y="105"/>
                      <a:pt x="5545" y="101"/>
                      <a:pt x="5544" y="98"/>
                    </a:cubicBezTo>
                    <a:cubicBezTo>
                      <a:pt x="5544" y="95"/>
                      <a:pt x="5544" y="93"/>
                      <a:pt x="5544" y="91"/>
                    </a:cubicBezTo>
                    <a:cubicBezTo>
                      <a:pt x="5543" y="90"/>
                      <a:pt x="5543" y="88"/>
                      <a:pt x="5543" y="88"/>
                    </a:cubicBezTo>
                    <a:cubicBezTo>
                      <a:pt x="5542" y="87"/>
                      <a:pt x="5542" y="86"/>
                      <a:pt x="5541" y="85"/>
                    </a:cubicBezTo>
                    <a:cubicBezTo>
                      <a:pt x="5540" y="84"/>
                      <a:pt x="5539" y="83"/>
                      <a:pt x="5537" y="82"/>
                    </a:cubicBezTo>
                    <a:cubicBezTo>
                      <a:pt x="5536" y="82"/>
                      <a:pt x="5534" y="81"/>
                      <a:pt x="5531" y="81"/>
                    </a:cubicBezTo>
                    <a:cubicBezTo>
                      <a:pt x="5529" y="80"/>
                      <a:pt x="5526" y="80"/>
                      <a:pt x="5524" y="80"/>
                    </a:cubicBezTo>
                    <a:cubicBezTo>
                      <a:pt x="5522" y="79"/>
                      <a:pt x="5520" y="80"/>
                      <a:pt x="5518" y="80"/>
                    </a:cubicBezTo>
                    <a:close/>
                    <a:moveTo>
                      <a:pt x="6524" y="81"/>
                    </a:moveTo>
                    <a:cubicBezTo>
                      <a:pt x="6516" y="81"/>
                      <a:pt x="6508" y="81"/>
                      <a:pt x="6500" y="82"/>
                    </a:cubicBezTo>
                    <a:cubicBezTo>
                      <a:pt x="6491" y="84"/>
                      <a:pt x="6484" y="85"/>
                      <a:pt x="6477" y="88"/>
                    </a:cubicBezTo>
                    <a:cubicBezTo>
                      <a:pt x="6470" y="90"/>
                      <a:pt x="6464" y="92"/>
                      <a:pt x="6459" y="95"/>
                    </a:cubicBezTo>
                    <a:cubicBezTo>
                      <a:pt x="6454" y="97"/>
                      <a:pt x="6450" y="100"/>
                      <a:pt x="6448" y="102"/>
                    </a:cubicBezTo>
                    <a:cubicBezTo>
                      <a:pt x="6445" y="104"/>
                      <a:pt x="6445" y="106"/>
                      <a:pt x="6444" y="109"/>
                    </a:cubicBezTo>
                    <a:cubicBezTo>
                      <a:pt x="6443" y="111"/>
                      <a:pt x="6442" y="116"/>
                      <a:pt x="6442" y="120"/>
                    </a:cubicBezTo>
                    <a:cubicBezTo>
                      <a:pt x="6442" y="124"/>
                      <a:pt x="6443" y="126"/>
                      <a:pt x="6443" y="129"/>
                    </a:cubicBezTo>
                    <a:cubicBezTo>
                      <a:pt x="6444" y="132"/>
                      <a:pt x="6444" y="134"/>
                      <a:pt x="6445" y="136"/>
                    </a:cubicBezTo>
                    <a:cubicBezTo>
                      <a:pt x="6446" y="138"/>
                      <a:pt x="6447" y="139"/>
                      <a:pt x="6448" y="141"/>
                    </a:cubicBezTo>
                    <a:cubicBezTo>
                      <a:pt x="6450" y="142"/>
                      <a:pt x="6451" y="142"/>
                      <a:pt x="6453" y="142"/>
                    </a:cubicBezTo>
                    <a:cubicBezTo>
                      <a:pt x="6455" y="142"/>
                      <a:pt x="6458" y="141"/>
                      <a:pt x="6462" y="139"/>
                    </a:cubicBezTo>
                    <a:cubicBezTo>
                      <a:pt x="6465" y="137"/>
                      <a:pt x="6470" y="135"/>
                      <a:pt x="6476" y="133"/>
                    </a:cubicBezTo>
                    <a:cubicBezTo>
                      <a:pt x="6481" y="130"/>
                      <a:pt x="6488" y="128"/>
                      <a:pt x="6495" y="126"/>
                    </a:cubicBezTo>
                    <a:cubicBezTo>
                      <a:pt x="6502" y="123"/>
                      <a:pt x="6511" y="122"/>
                      <a:pt x="6520" y="122"/>
                    </a:cubicBezTo>
                    <a:cubicBezTo>
                      <a:pt x="6527" y="122"/>
                      <a:pt x="6533" y="123"/>
                      <a:pt x="6538" y="125"/>
                    </a:cubicBezTo>
                    <a:cubicBezTo>
                      <a:pt x="6542" y="126"/>
                      <a:pt x="6546" y="129"/>
                      <a:pt x="6549" y="132"/>
                    </a:cubicBezTo>
                    <a:cubicBezTo>
                      <a:pt x="6552" y="135"/>
                      <a:pt x="6554" y="139"/>
                      <a:pt x="6555" y="143"/>
                    </a:cubicBezTo>
                    <a:cubicBezTo>
                      <a:pt x="6556" y="148"/>
                      <a:pt x="6557" y="153"/>
                      <a:pt x="6557" y="159"/>
                    </a:cubicBezTo>
                    <a:lnTo>
                      <a:pt x="6557" y="171"/>
                    </a:lnTo>
                    <a:lnTo>
                      <a:pt x="6538" y="171"/>
                    </a:lnTo>
                    <a:cubicBezTo>
                      <a:pt x="6520" y="171"/>
                      <a:pt x="6505" y="172"/>
                      <a:pt x="6492" y="175"/>
                    </a:cubicBezTo>
                    <a:cubicBezTo>
                      <a:pt x="6478" y="178"/>
                      <a:pt x="6468" y="182"/>
                      <a:pt x="6459" y="187"/>
                    </a:cubicBezTo>
                    <a:cubicBezTo>
                      <a:pt x="6450" y="193"/>
                      <a:pt x="6443" y="200"/>
                      <a:pt x="6439" y="208"/>
                    </a:cubicBezTo>
                    <a:cubicBezTo>
                      <a:pt x="6434" y="217"/>
                      <a:pt x="6432" y="227"/>
                      <a:pt x="6432" y="238"/>
                    </a:cubicBezTo>
                    <a:cubicBezTo>
                      <a:pt x="6432" y="249"/>
                      <a:pt x="6433" y="258"/>
                      <a:pt x="6437" y="266"/>
                    </a:cubicBezTo>
                    <a:cubicBezTo>
                      <a:pt x="6440" y="274"/>
                      <a:pt x="6446" y="281"/>
                      <a:pt x="6452" y="286"/>
                    </a:cubicBezTo>
                    <a:cubicBezTo>
                      <a:pt x="6458" y="291"/>
                      <a:pt x="6466" y="295"/>
                      <a:pt x="6475" y="297"/>
                    </a:cubicBezTo>
                    <a:cubicBezTo>
                      <a:pt x="6484" y="300"/>
                      <a:pt x="6493" y="302"/>
                      <a:pt x="6503" y="302"/>
                    </a:cubicBezTo>
                    <a:cubicBezTo>
                      <a:pt x="6516" y="302"/>
                      <a:pt x="6528" y="300"/>
                      <a:pt x="6538" y="295"/>
                    </a:cubicBezTo>
                    <a:cubicBezTo>
                      <a:pt x="6549" y="290"/>
                      <a:pt x="6558" y="283"/>
                      <a:pt x="6566" y="275"/>
                    </a:cubicBezTo>
                    <a:lnTo>
                      <a:pt x="6566" y="290"/>
                    </a:lnTo>
                    <a:cubicBezTo>
                      <a:pt x="6566" y="292"/>
                      <a:pt x="6566" y="294"/>
                      <a:pt x="6567" y="295"/>
                    </a:cubicBezTo>
                    <a:cubicBezTo>
                      <a:pt x="6569" y="296"/>
                      <a:pt x="6571" y="297"/>
                      <a:pt x="6574" y="297"/>
                    </a:cubicBezTo>
                    <a:cubicBezTo>
                      <a:pt x="6577" y="298"/>
                      <a:pt x="6582" y="298"/>
                      <a:pt x="6589" y="298"/>
                    </a:cubicBezTo>
                    <a:cubicBezTo>
                      <a:pt x="6595" y="298"/>
                      <a:pt x="6600" y="298"/>
                      <a:pt x="6603" y="297"/>
                    </a:cubicBezTo>
                    <a:cubicBezTo>
                      <a:pt x="6606" y="297"/>
                      <a:pt x="6607" y="296"/>
                      <a:pt x="6609" y="295"/>
                    </a:cubicBezTo>
                    <a:cubicBezTo>
                      <a:pt x="6610" y="294"/>
                      <a:pt x="6612" y="292"/>
                      <a:pt x="6612" y="290"/>
                    </a:cubicBezTo>
                    <a:lnTo>
                      <a:pt x="6612" y="158"/>
                    </a:lnTo>
                    <a:cubicBezTo>
                      <a:pt x="6612" y="145"/>
                      <a:pt x="6610" y="133"/>
                      <a:pt x="6606" y="123"/>
                    </a:cubicBezTo>
                    <a:cubicBezTo>
                      <a:pt x="6603" y="113"/>
                      <a:pt x="6598" y="104"/>
                      <a:pt x="6591" y="98"/>
                    </a:cubicBezTo>
                    <a:cubicBezTo>
                      <a:pt x="6584" y="92"/>
                      <a:pt x="6575" y="88"/>
                      <a:pt x="6564" y="85"/>
                    </a:cubicBezTo>
                    <a:cubicBezTo>
                      <a:pt x="6553" y="82"/>
                      <a:pt x="6540" y="81"/>
                      <a:pt x="6524" y="81"/>
                    </a:cubicBezTo>
                    <a:close/>
                    <a:moveTo>
                      <a:pt x="2334" y="81"/>
                    </a:moveTo>
                    <a:cubicBezTo>
                      <a:pt x="2329" y="81"/>
                      <a:pt x="2324" y="82"/>
                      <a:pt x="2320" y="82"/>
                    </a:cubicBezTo>
                    <a:cubicBezTo>
                      <a:pt x="2316" y="83"/>
                      <a:pt x="2314" y="82"/>
                      <a:pt x="2312" y="83"/>
                    </a:cubicBezTo>
                    <a:cubicBezTo>
                      <a:pt x="2310" y="84"/>
                      <a:pt x="2309" y="86"/>
                      <a:pt x="2308" y="87"/>
                    </a:cubicBezTo>
                    <a:cubicBezTo>
                      <a:pt x="2307" y="88"/>
                      <a:pt x="2306" y="89"/>
                      <a:pt x="2306" y="90"/>
                    </a:cubicBezTo>
                    <a:lnTo>
                      <a:pt x="2306" y="210"/>
                    </a:lnTo>
                    <a:cubicBezTo>
                      <a:pt x="2306" y="225"/>
                      <a:pt x="2307" y="238"/>
                      <a:pt x="2309" y="248"/>
                    </a:cubicBezTo>
                    <a:cubicBezTo>
                      <a:pt x="2312" y="258"/>
                      <a:pt x="2316" y="267"/>
                      <a:pt x="2322" y="275"/>
                    </a:cubicBezTo>
                    <a:cubicBezTo>
                      <a:pt x="2327" y="282"/>
                      <a:pt x="2335" y="289"/>
                      <a:pt x="2344" y="293"/>
                    </a:cubicBezTo>
                    <a:cubicBezTo>
                      <a:pt x="2353" y="297"/>
                      <a:pt x="2365" y="299"/>
                      <a:pt x="2378" y="299"/>
                    </a:cubicBezTo>
                    <a:cubicBezTo>
                      <a:pt x="2390" y="299"/>
                      <a:pt x="2402" y="296"/>
                      <a:pt x="2414" y="290"/>
                    </a:cubicBezTo>
                    <a:cubicBezTo>
                      <a:pt x="2425" y="285"/>
                      <a:pt x="2435" y="276"/>
                      <a:pt x="2446" y="264"/>
                    </a:cubicBezTo>
                    <a:lnTo>
                      <a:pt x="2446" y="287"/>
                    </a:lnTo>
                    <a:cubicBezTo>
                      <a:pt x="2446" y="288"/>
                      <a:pt x="2447" y="289"/>
                      <a:pt x="2448" y="290"/>
                    </a:cubicBezTo>
                    <a:cubicBezTo>
                      <a:pt x="2449" y="292"/>
                      <a:pt x="2450" y="292"/>
                      <a:pt x="2451" y="293"/>
                    </a:cubicBezTo>
                    <a:cubicBezTo>
                      <a:pt x="2453" y="294"/>
                      <a:pt x="2455" y="294"/>
                      <a:pt x="2459" y="295"/>
                    </a:cubicBezTo>
                    <a:cubicBezTo>
                      <a:pt x="2462" y="295"/>
                      <a:pt x="2465" y="296"/>
                      <a:pt x="2470" y="296"/>
                    </a:cubicBezTo>
                    <a:cubicBezTo>
                      <a:pt x="2475" y="296"/>
                      <a:pt x="2478" y="295"/>
                      <a:pt x="2481" y="295"/>
                    </a:cubicBezTo>
                    <a:cubicBezTo>
                      <a:pt x="2484" y="294"/>
                      <a:pt x="2487" y="294"/>
                      <a:pt x="2488" y="293"/>
                    </a:cubicBezTo>
                    <a:cubicBezTo>
                      <a:pt x="2490" y="292"/>
                      <a:pt x="2492" y="292"/>
                      <a:pt x="2493" y="290"/>
                    </a:cubicBezTo>
                    <a:cubicBezTo>
                      <a:pt x="2494" y="289"/>
                      <a:pt x="2494" y="288"/>
                      <a:pt x="2494" y="287"/>
                    </a:cubicBezTo>
                    <a:lnTo>
                      <a:pt x="2494" y="90"/>
                    </a:lnTo>
                    <a:cubicBezTo>
                      <a:pt x="2494" y="89"/>
                      <a:pt x="2494" y="88"/>
                      <a:pt x="2493" y="87"/>
                    </a:cubicBezTo>
                    <a:cubicBezTo>
                      <a:pt x="2492" y="86"/>
                      <a:pt x="2491" y="84"/>
                      <a:pt x="2488" y="83"/>
                    </a:cubicBezTo>
                    <a:cubicBezTo>
                      <a:pt x="2486" y="82"/>
                      <a:pt x="2483" y="83"/>
                      <a:pt x="2480" y="82"/>
                    </a:cubicBezTo>
                    <a:cubicBezTo>
                      <a:pt x="2476" y="82"/>
                      <a:pt x="2472" y="81"/>
                      <a:pt x="2466" y="81"/>
                    </a:cubicBezTo>
                    <a:cubicBezTo>
                      <a:pt x="2461" y="81"/>
                      <a:pt x="2457" y="82"/>
                      <a:pt x="2453" y="82"/>
                    </a:cubicBezTo>
                    <a:cubicBezTo>
                      <a:pt x="2450" y="83"/>
                      <a:pt x="2447" y="82"/>
                      <a:pt x="2444" y="83"/>
                    </a:cubicBezTo>
                    <a:cubicBezTo>
                      <a:pt x="2442" y="84"/>
                      <a:pt x="2441" y="86"/>
                      <a:pt x="2440" y="87"/>
                    </a:cubicBezTo>
                    <a:cubicBezTo>
                      <a:pt x="2439" y="88"/>
                      <a:pt x="2439" y="89"/>
                      <a:pt x="2439" y="90"/>
                    </a:cubicBezTo>
                    <a:lnTo>
                      <a:pt x="2439" y="221"/>
                    </a:lnTo>
                    <a:cubicBezTo>
                      <a:pt x="2431" y="231"/>
                      <a:pt x="2423" y="239"/>
                      <a:pt x="2416" y="244"/>
                    </a:cubicBezTo>
                    <a:cubicBezTo>
                      <a:pt x="2409" y="249"/>
                      <a:pt x="2402" y="251"/>
                      <a:pt x="2395" y="251"/>
                    </a:cubicBezTo>
                    <a:cubicBezTo>
                      <a:pt x="2389" y="251"/>
                      <a:pt x="2384" y="250"/>
                      <a:pt x="2380" y="248"/>
                    </a:cubicBezTo>
                    <a:cubicBezTo>
                      <a:pt x="2376" y="246"/>
                      <a:pt x="2372" y="243"/>
                      <a:pt x="2369" y="239"/>
                    </a:cubicBezTo>
                    <a:cubicBezTo>
                      <a:pt x="2367" y="235"/>
                      <a:pt x="2365" y="231"/>
                      <a:pt x="2363" y="225"/>
                    </a:cubicBezTo>
                    <a:cubicBezTo>
                      <a:pt x="2362" y="220"/>
                      <a:pt x="2361" y="212"/>
                      <a:pt x="2361" y="201"/>
                    </a:cubicBezTo>
                    <a:lnTo>
                      <a:pt x="2361" y="90"/>
                    </a:lnTo>
                    <a:cubicBezTo>
                      <a:pt x="2361" y="89"/>
                      <a:pt x="2361" y="88"/>
                      <a:pt x="2361" y="87"/>
                    </a:cubicBezTo>
                    <a:cubicBezTo>
                      <a:pt x="2360" y="86"/>
                      <a:pt x="2357" y="84"/>
                      <a:pt x="2355" y="83"/>
                    </a:cubicBezTo>
                    <a:cubicBezTo>
                      <a:pt x="2353" y="82"/>
                      <a:pt x="2351" y="83"/>
                      <a:pt x="2347" y="82"/>
                    </a:cubicBezTo>
                    <a:cubicBezTo>
                      <a:pt x="2344" y="82"/>
                      <a:pt x="2340" y="81"/>
                      <a:pt x="2334" y="81"/>
                    </a:cubicBezTo>
                    <a:close/>
                    <a:moveTo>
                      <a:pt x="240" y="84"/>
                    </a:moveTo>
                    <a:cubicBezTo>
                      <a:pt x="237" y="84"/>
                      <a:pt x="234" y="85"/>
                      <a:pt x="232" y="86"/>
                    </a:cubicBezTo>
                    <a:cubicBezTo>
                      <a:pt x="229" y="87"/>
                      <a:pt x="228" y="87"/>
                      <a:pt x="227" y="88"/>
                    </a:cubicBezTo>
                    <a:cubicBezTo>
                      <a:pt x="226" y="90"/>
                      <a:pt x="226" y="91"/>
                      <a:pt x="226" y="93"/>
                    </a:cubicBezTo>
                    <a:lnTo>
                      <a:pt x="226" y="213"/>
                    </a:lnTo>
                    <a:cubicBezTo>
                      <a:pt x="226" y="228"/>
                      <a:pt x="227" y="241"/>
                      <a:pt x="230" y="251"/>
                    </a:cubicBezTo>
                    <a:cubicBezTo>
                      <a:pt x="232" y="261"/>
                      <a:pt x="237" y="270"/>
                      <a:pt x="242" y="277"/>
                    </a:cubicBezTo>
                    <a:cubicBezTo>
                      <a:pt x="248" y="285"/>
                      <a:pt x="255" y="291"/>
                      <a:pt x="264" y="296"/>
                    </a:cubicBezTo>
                    <a:cubicBezTo>
                      <a:pt x="273" y="300"/>
                      <a:pt x="285" y="302"/>
                      <a:pt x="299" y="302"/>
                    </a:cubicBezTo>
                    <a:cubicBezTo>
                      <a:pt x="311" y="302"/>
                      <a:pt x="322" y="299"/>
                      <a:pt x="333" y="293"/>
                    </a:cubicBezTo>
                    <a:cubicBezTo>
                      <a:pt x="344" y="287"/>
                      <a:pt x="356" y="278"/>
                      <a:pt x="367" y="267"/>
                    </a:cubicBezTo>
                    <a:lnTo>
                      <a:pt x="367" y="290"/>
                    </a:lnTo>
                    <a:cubicBezTo>
                      <a:pt x="367" y="291"/>
                      <a:pt x="367" y="292"/>
                      <a:pt x="367" y="293"/>
                    </a:cubicBezTo>
                    <a:cubicBezTo>
                      <a:pt x="368" y="294"/>
                      <a:pt x="370" y="295"/>
                      <a:pt x="372" y="296"/>
                    </a:cubicBezTo>
                    <a:cubicBezTo>
                      <a:pt x="374" y="296"/>
                      <a:pt x="376" y="297"/>
                      <a:pt x="379" y="297"/>
                    </a:cubicBezTo>
                    <a:cubicBezTo>
                      <a:pt x="382" y="298"/>
                      <a:pt x="385" y="298"/>
                      <a:pt x="390" y="298"/>
                    </a:cubicBezTo>
                    <a:cubicBezTo>
                      <a:pt x="395" y="298"/>
                      <a:pt x="399" y="298"/>
                      <a:pt x="402" y="297"/>
                    </a:cubicBezTo>
                    <a:cubicBezTo>
                      <a:pt x="405" y="297"/>
                      <a:pt x="407" y="296"/>
                      <a:pt x="409" y="296"/>
                    </a:cubicBezTo>
                    <a:cubicBezTo>
                      <a:pt x="411" y="295"/>
                      <a:pt x="413" y="294"/>
                      <a:pt x="413" y="293"/>
                    </a:cubicBezTo>
                    <a:cubicBezTo>
                      <a:pt x="414" y="292"/>
                      <a:pt x="414" y="291"/>
                      <a:pt x="414" y="290"/>
                    </a:cubicBezTo>
                    <a:lnTo>
                      <a:pt x="414" y="93"/>
                    </a:lnTo>
                    <a:cubicBezTo>
                      <a:pt x="414" y="91"/>
                      <a:pt x="413" y="90"/>
                      <a:pt x="412" y="88"/>
                    </a:cubicBezTo>
                    <a:cubicBezTo>
                      <a:pt x="412" y="87"/>
                      <a:pt x="410" y="87"/>
                      <a:pt x="408" y="86"/>
                    </a:cubicBezTo>
                    <a:cubicBezTo>
                      <a:pt x="406" y="85"/>
                      <a:pt x="404" y="84"/>
                      <a:pt x="400" y="84"/>
                    </a:cubicBezTo>
                    <a:cubicBezTo>
                      <a:pt x="397" y="84"/>
                      <a:pt x="392" y="84"/>
                      <a:pt x="387" y="84"/>
                    </a:cubicBezTo>
                    <a:cubicBezTo>
                      <a:pt x="381" y="84"/>
                      <a:pt x="376" y="84"/>
                      <a:pt x="373" y="84"/>
                    </a:cubicBezTo>
                    <a:cubicBezTo>
                      <a:pt x="369" y="84"/>
                      <a:pt x="367" y="85"/>
                      <a:pt x="365" y="86"/>
                    </a:cubicBezTo>
                    <a:cubicBezTo>
                      <a:pt x="363" y="87"/>
                      <a:pt x="361" y="87"/>
                      <a:pt x="360" y="88"/>
                    </a:cubicBezTo>
                    <a:cubicBezTo>
                      <a:pt x="360" y="90"/>
                      <a:pt x="359" y="91"/>
                      <a:pt x="359" y="93"/>
                    </a:cubicBezTo>
                    <a:lnTo>
                      <a:pt x="359" y="223"/>
                    </a:lnTo>
                    <a:cubicBezTo>
                      <a:pt x="351" y="233"/>
                      <a:pt x="343" y="241"/>
                      <a:pt x="336" y="246"/>
                    </a:cubicBezTo>
                    <a:cubicBezTo>
                      <a:pt x="329" y="251"/>
                      <a:pt x="322" y="253"/>
                      <a:pt x="315" y="253"/>
                    </a:cubicBezTo>
                    <a:cubicBezTo>
                      <a:pt x="309" y="253"/>
                      <a:pt x="305" y="253"/>
                      <a:pt x="300" y="251"/>
                    </a:cubicBezTo>
                    <a:cubicBezTo>
                      <a:pt x="296" y="249"/>
                      <a:pt x="293" y="245"/>
                      <a:pt x="290" y="241"/>
                    </a:cubicBezTo>
                    <a:cubicBezTo>
                      <a:pt x="287" y="237"/>
                      <a:pt x="285" y="233"/>
                      <a:pt x="284" y="228"/>
                    </a:cubicBezTo>
                    <a:cubicBezTo>
                      <a:pt x="282" y="222"/>
                      <a:pt x="282" y="214"/>
                      <a:pt x="282" y="204"/>
                    </a:cubicBezTo>
                    <a:lnTo>
                      <a:pt x="282" y="93"/>
                    </a:lnTo>
                    <a:cubicBezTo>
                      <a:pt x="282" y="91"/>
                      <a:pt x="281" y="90"/>
                      <a:pt x="280" y="88"/>
                    </a:cubicBezTo>
                    <a:cubicBezTo>
                      <a:pt x="279" y="87"/>
                      <a:pt x="278" y="87"/>
                      <a:pt x="276" y="86"/>
                    </a:cubicBezTo>
                    <a:cubicBezTo>
                      <a:pt x="274" y="85"/>
                      <a:pt x="271" y="84"/>
                      <a:pt x="268" y="84"/>
                    </a:cubicBezTo>
                    <a:cubicBezTo>
                      <a:pt x="264" y="84"/>
                      <a:pt x="259" y="84"/>
                      <a:pt x="254" y="84"/>
                    </a:cubicBezTo>
                    <a:cubicBezTo>
                      <a:pt x="248" y="84"/>
                      <a:pt x="244" y="84"/>
                      <a:pt x="240" y="84"/>
                    </a:cubicBezTo>
                    <a:close/>
                    <a:moveTo>
                      <a:pt x="3521" y="118"/>
                    </a:moveTo>
                    <a:cubicBezTo>
                      <a:pt x="3535" y="118"/>
                      <a:pt x="3545" y="122"/>
                      <a:pt x="3552" y="131"/>
                    </a:cubicBezTo>
                    <a:cubicBezTo>
                      <a:pt x="3559" y="140"/>
                      <a:pt x="3561" y="152"/>
                      <a:pt x="3561" y="168"/>
                    </a:cubicBezTo>
                    <a:lnTo>
                      <a:pt x="3478" y="168"/>
                    </a:lnTo>
                    <a:cubicBezTo>
                      <a:pt x="3478" y="161"/>
                      <a:pt x="3480" y="155"/>
                      <a:pt x="3482" y="148"/>
                    </a:cubicBezTo>
                    <a:cubicBezTo>
                      <a:pt x="3483" y="142"/>
                      <a:pt x="3486" y="137"/>
                      <a:pt x="3490" y="133"/>
                    </a:cubicBezTo>
                    <a:cubicBezTo>
                      <a:pt x="3493" y="128"/>
                      <a:pt x="3498" y="124"/>
                      <a:pt x="3503" y="121"/>
                    </a:cubicBezTo>
                    <a:cubicBezTo>
                      <a:pt x="3508" y="118"/>
                      <a:pt x="3514" y="118"/>
                      <a:pt x="3521" y="118"/>
                    </a:cubicBezTo>
                    <a:close/>
                    <a:moveTo>
                      <a:pt x="1432" y="121"/>
                    </a:moveTo>
                    <a:cubicBezTo>
                      <a:pt x="1441" y="121"/>
                      <a:pt x="1449" y="123"/>
                      <a:pt x="1455" y="126"/>
                    </a:cubicBezTo>
                    <a:cubicBezTo>
                      <a:pt x="1461" y="130"/>
                      <a:pt x="1466" y="134"/>
                      <a:pt x="1470" y="141"/>
                    </a:cubicBezTo>
                    <a:cubicBezTo>
                      <a:pt x="1474" y="147"/>
                      <a:pt x="1476" y="154"/>
                      <a:pt x="1478" y="162"/>
                    </a:cubicBezTo>
                    <a:cubicBezTo>
                      <a:pt x="1479" y="170"/>
                      <a:pt x="1480" y="179"/>
                      <a:pt x="1480" y="189"/>
                    </a:cubicBezTo>
                    <a:cubicBezTo>
                      <a:pt x="1480" y="199"/>
                      <a:pt x="1479" y="208"/>
                      <a:pt x="1477" y="216"/>
                    </a:cubicBezTo>
                    <a:cubicBezTo>
                      <a:pt x="1475" y="225"/>
                      <a:pt x="1472" y="232"/>
                      <a:pt x="1468" y="238"/>
                    </a:cubicBezTo>
                    <a:cubicBezTo>
                      <a:pt x="1464" y="243"/>
                      <a:pt x="1459" y="248"/>
                      <a:pt x="1453" y="251"/>
                    </a:cubicBezTo>
                    <a:cubicBezTo>
                      <a:pt x="1447" y="254"/>
                      <a:pt x="1439" y="255"/>
                      <a:pt x="1431" y="255"/>
                    </a:cubicBezTo>
                    <a:cubicBezTo>
                      <a:pt x="1422" y="255"/>
                      <a:pt x="1414" y="253"/>
                      <a:pt x="1408" y="250"/>
                    </a:cubicBezTo>
                    <a:cubicBezTo>
                      <a:pt x="1402" y="247"/>
                      <a:pt x="1397" y="242"/>
                      <a:pt x="1393" y="236"/>
                    </a:cubicBezTo>
                    <a:cubicBezTo>
                      <a:pt x="1390" y="230"/>
                      <a:pt x="1387" y="223"/>
                      <a:pt x="1385" y="215"/>
                    </a:cubicBezTo>
                    <a:cubicBezTo>
                      <a:pt x="1384" y="206"/>
                      <a:pt x="1383" y="198"/>
                      <a:pt x="1383" y="188"/>
                    </a:cubicBezTo>
                    <a:cubicBezTo>
                      <a:pt x="1383" y="178"/>
                      <a:pt x="1384" y="168"/>
                      <a:pt x="1386" y="160"/>
                    </a:cubicBezTo>
                    <a:cubicBezTo>
                      <a:pt x="1388" y="152"/>
                      <a:pt x="1391" y="145"/>
                      <a:pt x="1395" y="140"/>
                    </a:cubicBezTo>
                    <a:cubicBezTo>
                      <a:pt x="1399" y="134"/>
                      <a:pt x="1404" y="129"/>
                      <a:pt x="1410" y="126"/>
                    </a:cubicBezTo>
                    <a:cubicBezTo>
                      <a:pt x="1416" y="123"/>
                      <a:pt x="1424" y="121"/>
                      <a:pt x="1432" y="121"/>
                    </a:cubicBezTo>
                    <a:close/>
                    <a:moveTo>
                      <a:pt x="6536" y="206"/>
                    </a:moveTo>
                    <a:lnTo>
                      <a:pt x="6557" y="206"/>
                    </a:lnTo>
                    <a:lnTo>
                      <a:pt x="6557" y="239"/>
                    </a:lnTo>
                    <a:cubicBezTo>
                      <a:pt x="6550" y="247"/>
                      <a:pt x="6544" y="253"/>
                      <a:pt x="6538" y="257"/>
                    </a:cubicBezTo>
                    <a:cubicBezTo>
                      <a:pt x="6531" y="261"/>
                      <a:pt x="6523" y="263"/>
                      <a:pt x="6515" y="263"/>
                    </a:cubicBezTo>
                    <a:cubicBezTo>
                      <a:pt x="6506" y="263"/>
                      <a:pt x="6500" y="261"/>
                      <a:pt x="6494" y="256"/>
                    </a:cubicBezTo>
                    <a:cubicBezTo>
                      <a:pt x="6489" y="251"/>
                      <a:pt x="6486" y="245"/>
                      <a:pt x="6486" y="237"/>
                    </a:cubicBezTo>
                    <a:cubicBezTo>
                      <a:pt x="6486" y="232"/>
                      <a:pt x="6487" y="227"/>
                      <a:pt x="6489" y="223"/>
                    </a:cubicBezTo>
                    <a:cubicBezTo>
                      <a:pt x="6491" y="220"/>
                      <a:pt x="6494" y="216"/>
                      <a:pt x="6498" y="214"/>
                    </a:cubicBezTo>
                    <a:cubicBezTo>
                      <a:pt x="6502" y="211"/>
                      <a:pt x="6506" y="209"/>
                      <a:pt x="6513" y="208"/>
                    </a:cubicBezTo>
                    <a:cubicBezTo>
                      <a:pt x="6519" y="206"/>
                      <a:pt x="6527" y="206"/>
                      <a:pt x="6536" y="2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19" name="Previous Month"/>
              <p:cNvSpPr>
                <a:spLocks noEditPoints="1"/>
              </p:cNvSpPr>
              <p:nvPr/>
            </p:nvSpPr>
            <p:spPr bwMode="auto">
              <a:xfrm>
                <a:off x="654051" y="1931988"/>
                <a:ext cx="981075" cy="63500"/>
              </a:xfrm>
              <a:custGeom>
                <a:avLst/>
                <a:gdLst>
                  <a:gd name="T0" fmla="*/ 1038 w 4549"/>
                  <a:gd name="T1" fmla="*/ 40 h 294"/>
                  <a:gd name="T2" fmla="*/ 1129 w 4549"/>
                  <a:gd name="T3" fmla="*/ 37 h 294"/>
                  <a:gd name="T4" fmla="*/ 1038 w 4549"/>
                  <a:gd name="T5" fmla="*/ 254 h 294"/>
                  <a:gd name="T6" fmla="*/ 1207 w 4549"/>
                  <a:gd name="T7" fmla="*/ 288 h 294"/>
                  <a:gd name="T8" fmla="*/ 1124 w 4549"/>
                  <a:gd name="T9" fmla="*/ 210 h 294"/>
                  <a:gd name="T10" fmla="*/ 1354 w 4549"/>
                  <a:gd name="T11" fmla="*/ 0 h 294"/>
                  <a:gd name="T12" fmla="*/ 1293 w 4549"/>
                  <a:gd name="T13" fmla="*/ 159 h 294"/>
                  <a:gd name="T14" fmla="*/ 1422 w 4549"/>
                  <a:gd name="T15" fmla="*/ 273 h 294"/>
                  <a:gd name="T16" fmla="*/ 1434 w 4549"/>
                  <a:gd name="T17" fmla="*/ 88 h 294"/>
                  <a:gd name="T18" fmla="*/ 2091 w 4549"/>
                  <a:gd name="T19" fmla="*/ 17 h 294"/>
                  <a:gd name="T20" fmla="*/ 2082 w 4549"/>
                  <a:gd name="T21" fmla="*/ 57 h 294"/>
                  <a:gd name="T22" fmla="*/ 2191 w 4549"/>
                  <a:gd name="T23" fmla="*/ 100 h 294"/>
                  <a:gd name="T24" fmla="*/ 2070 w 4549"/>
                  <a:gd name="T25" fmla="*/ 281 h 294"/>
                  <a:gd name="T26" fmla="*/ 2248 w 4549"/>
                  <a:gd name="T27" fmla="*/ 266 h 294"/>
                  <a:gd name="T28" fmla="*/ 2235 w 4549"/>
                  <a:gd name="T29" fmla="*/ 74 h 294"/>
                  <a:gd name="T30" fmla="*/ 2293 w 4549"/>
                  <a:gd name="T31" fmla="*/ 94 h 294"/>
                  <a:gd name="T32" fmla="*/ 2398 w 4549"/>
                  <a:gd name="T33" fmla="*/ 255 h 294"/>
                  <a:gd name="T34" fmla="*/ 2301 w 4549"/>
                  <a:gd name="T35" fmla="*/ 267 h 294"/>
                  <a:gd name="T36" fmla="*/ 2456 w 4549"/>
                  <a:gd name="T37" fmla="*/ 242 h 294"/>
                  <a:gd name="T38" fmla="*/ 2388 w 4549"/>
                  <a:gd name="T39" fmla="*/ 0 h 294"/>
                  <a:gd name="T40" fmla="*/ 3108 w 4549"/>
                  <a:gd name="T41" fmla="*/ 40 h 294"/>
                  <a:gd name="T42" fmla="*/ 3198 w 4549"/>
                  <a:gd name="T43" fmla="*/ 34 h 294"/>
                  <a:gd name="T44" fmla="*/ 3134 w 4549"/>
                  <a:gd name="T45" fmla="*/ 129 h 294"/>
                  <a:gd name="T46" fmla="*/ 3195 w 4549"/>
                  <a:gd name="T47" fmla="*/ 162 h 294"/>
                  <a:gd name="T48" fmla="*/ 3129 w 4549"/>
                  <a:gd name="T49" fmla="*/ 251 h 294"/>
                  <a:gd name="T50" fmla="*/ 3113 w 4549"/>
                  <a:gd name="T51" fmla="*/ 279 h 294"/>
                  <a:gd name="T52" fmla="*/ 3260 w 4549"/>
                  <a:gd name="T53" fmla="*/ 162 h 294"/>
                  <a:gd name="T54" fmla="*/ 3245 w 4549"/>
                  <a:gd name="T55" fmla="*/ 19 h 294"/>
                  <a:gd name="T56" fmla="*/ 3343 w 4549"/>
                  <a:gd name="T57" fmla="*/ 256 h 294"/>
                  <a:gd name="T58" fmla="*/ 3469 w 4549"/>
                  <a:gd name="T59" fmla="*/ 10 h 294"/>
                  <a:gd name="T60" fmla="*/ 4146 w 4549"/>
                  <a:gd name="T61" fmla="*/ 34 h 294"/>
                  <a:gd name="T62" fmla="*/ 4217 w 4549"/>
                  <a:gd name="T63" fmla="*/ 31 h 294"/>
                  <a:gd name="T64" fmla="*/ 4176 w 4549"/>
                  <a:gd name="T65" fmla="*/ 128 h 294"/>
                  <a:gd name="T66" fmla="*/ 4204 w 4549"/>
                  <a:gd name="T67" fmla="*/ 158 h 294"/>
                  <a:gd name="T68" fmla="*/ 4189 w 4549"/>
                  <a:gd name="T69" fmla="*/ 258 h 294"/>
                  <a:gd name="T70" fmla="*/ 4144 w 4549"/>
                  <a:gd name="T71" fmla="*/ 274 h 294"/>
                  <a:gd name="T72" fmla="*/ 4312 w 4549"/>
                  <a:gd name="T73" fmla="*/ 182 h 294"/>
                  <a:gd name="T74" fmla="*/ 4299 w 4549"/>
                  <a:gd name="T75" fmla="*/ 41 h 294"/>
                  <a:gd name="T76" fmla="*/ 7 w 4549"/>
                  <a:gd name="T77" fmla="*/ 28 h 294"/>
                  <a:gd name="T78" fmla="*/ 33 w 4549"/>
                  <a:gd name="T79" fmla="*/ 47 h 294"/>
                  <a:gd name="T80" fmla="*/ 95 w 4549"/>
                  <a:gd name="T81" fmla="*/ 155 h 294"/>
                  <a:gd name="T82" fmla="*/ 7 w 4549"/>
                  <a:gd name="T83" fmla="*/ 290 h 294"/>
                  <a:gd name="T84" fmla="*/ 173 w 4549"/>
                  <a:gd name="T85" fmla="*/ 259 h 294"/>
                  <a:gd name="T86" fmla="*/ 145 w 4549"/>
                  <a:gd name="T87" fmla="*/ 23 h 294"/>
                  <a:gd name="T88" fmla="*/ 4385 w 4549"/>
                  <a:gd name="T89" fmla="*/ 53 h 294"/>
                  <a:gd name="T90" fmla="*/ 4392 w 4549"/>
                  <a:gd name="T91" fmla="*/ 259 h 294"/>
                  <a:gd name="T92" fmla="*/ 4542 w 4549"/>
                  <a:gd name="T93" fmla="*/ 289 h 294"/>
                  <a:gd name="T94" fmla="*/ 4490 w 4549"/>
                  <a:gd name="T95" fmla="*/ 259 h 294"/>
                  <a:gd name="T96" fmla="*/ 228 w 4549"/>
                  <a:gd name="T97" fmla="*/ 10 h 294"/>
                  <a:gd name="T98" fmla="*/ 269 w 4549"/>
                  <a:gd name="T99" fmla="*/ 291 h 294"/>
                  <a:gd name="T100" fmla="*/ 411 w 4549"/>
                  <a:gd name="T101" fmla="*/ 29 h 294"/>
                  <a:gd name="T102" fmla="*/ 1388 w 4549"/>
                  <a:gd name="T103" fmla="*/ 40 h 294"/>
                  <a:gd name="T104" fmla="*/ 1315 w 4549"/>
                  <a:gd name="T105" fmla="*/ 40 h 294"/>
                  <a:gd name="T106" fmla="*/ 2359 w 4549"/>
                  <a:gd name="T107" fmla="*/ 145 h 294"/>
                  <a:gd name="T108" fmla="*/ 3440 w 4549"/>
                  <a:gd name="T109" fmla="*/ 33 h 294"/>
                  <a:gd name="T110" fmla="*/ 3458 w 4549"/>
                  <a:gd name="T111" fmla="*/ 247 h 294"/>
                  <a:gd name="T112" fmla="*/ 3391 w 4549"/>
                  <a:gd name="T113" fmla="*/ 40 h 294"/>
                  <a:gd name="T114" fmla="*/ 1308 w 4549"/>
                  <a:gd name="T115" fmla="*/ 252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49" h="294">
                    <a:moveTo>
                      <a:pt x="1116" y="0"/>
                    </a:moveTo>
                    <a:cubicBezTo>
                      <a:pt x="1107" y="0"/>
                      <a:pt x="1099" y="1"/>
                      <a:pt x="1091" y="2"/>
                    </a:cubicBezTo>
                    <a:cubicBezTo>
                      <a:pt x="1084" y="4"/>
                      <a:pt x="1077" y="6"/>
                      <a:pt x="1070" y="9"/>
                    </a:cubicBezTo>
                    <a:cubicBezTo>
                      <a:pt x="1064" y="11"/>
                      <a:pt x="1058" y="14"/>
                      <a:pt x="1053" y="17"/>
                    </a:cubicBezTo>
                    <a:cubicBezTo>
                      <a:pt x="1049" y="19"/>
                      <a:pt x="1046" y="21"/>
                      <a:pt x="1045" y="23"/>
                    </a:cubicBezTo>
                    <a:cubicBezTo>
                      <a:pt x="1043" y="24"/>
                      <a:pt x="1042" y="26"/>
                      <a:pt x="1041" y="27"/>
                    </a:cubicBezTo>
                    <a:cubicBezTo>
                      <a:pt x="1041" y="28"/>
                      <a:pt x="1040" y="29"/>
                      <a:pt x="1039" y="30"/>
                    </a:cubicBezTo>
                    <a:cubicBezTo>
                      <a:pt x="1039" y="31"/>
                      <a:pt x="1039" y="33"/>
                      <a:pt x="1038" y="34"/>
                    </a:cubicBezTo>
                    <a:cubicBezTo>
                      <a:pt x="1038" y="36"/>
                      <a:pt x="1038" y="38"/>
                      <a:pt x="1038" y="40"/>
                    </a:cubicBezTo>
                    <a:cubicBezTo>
                      <a:pt x="1038" y="44"/>
                      <a:pt x="1039" y="46"/>
                      <a:pt x="1039" y="48"/>
                    </a:cubicBezTo>
                    <a:cubicBezTo>
                      <a:pt x="1040" y="51"/>
                      <a:pt x="1040" y="52"/>
                      <a:pt x="1040" y="54"/>
                    </a:cubicBezTo>
                    <a:cubicBezTo>
                      <a:pt x="1041" y="55"/>
                      <a:pt x="1041" y="56"/>
                      <a:pt x="1042" y="56"/>
                    </a:cubicBezTo>
                    <a:cubicBezTo>
                      <a:pt x="1043" y="57"/>
                      <a:pt x="1044" y="57"/>
                      <a:pt x="1045" y="57"/>
                    </a:cubicBezTo>
                    <a:cubicBezTo>
                      <a:pt x="1046" y="57"/>
                      <a:pt x="1049" y="56"/>
                      <a:pt x="1053" y="54"/>
                    </a:cubicBezTo>
                    <a:cubicBezTo>
                      <a:pt x="1056" y="51"/>
                      <a:pt x="1061" y="48"/>
                      <a:pt x="1067" y="45"/>
                    </a:cubicBezTo>
                    <a:cubicBezTo>
                      <a:pt x="1072" y="42"/>
                      <a:pt x="1078" y="39"/>
                      <a:pt x="1085" y="37"/>
                    </a:cubicBezTo>
                    <a:cubicBezTo>
                      <a:pt x="1092" y="34"/>
                      <a:pt x="1100" y="33"/>
                      <a:pt x="1109" y="33"/>
                    </a:cubicBezTo>
                    <a:cubicBezTo>
                      <a:pt x="1117" y="33"/>
                      <a:pt x="1123" y="34"/>
                      <a:pt x="1129" y="37"/>
                    </a:cubicBezTo>
                    <a:cubicBezTo>
                      <a:pt x="1135" y="39"/>
                      <a:pt x="1140" y="43"/>
                      <a:pt x="1144" y="47"/>
                    </a:cubicBezTo>
                    <a:cubicBezTo>
                      <a:pt x="1148" y="52"/>
                      <a:pt x="1151" y="56"/>
                      <a:pt x="1153" y="62"/>
                    </a:cubicBezTo>
                    <a:cubicBezTo>
                      <a:pt x="1155" y="67"/>
                      <a:pt x="1157" y="74"/>
                      <a:pt x="1157" y="80"/>
                    </a:cubicBezTo>
                    <a:cubicBezTo>
                      <a:pt x="1157" y="86"/>
                      <a:pt x="1155" y="93"/>
                      <a:pt x="1154" y="100"/>
                    </a:cubicBezTo>
                    <a:cubicBezTo>
                      <a:pt x="1153" y="108"/>
                      <a:pt x="1150" y="115"/>
                      <a:pt x="1146" y="124"/>
                    </a:cubicBezTo>
                    <a:cubicBezTo>
                      <a:pt x="1142" y="133"/>
                      <a:pt x="1136" y="143"/>
                      <a:pt x="1128" y="153"/>
                    </a:cubicBezTo>
                    <a:cubicBezTo>
                      <a:pt x="1121" y="164"/>
                      <a:pt x="1110" y="177"/>
                      <a:pt x="1098" y="190"/>
                    </a:cubicBezTo>
                    <a:lnTo>
                      <a:pt x="1042" y="249"/>
                    </a:lnTo>
                    <a:cubicBezTo>
                      <a:pt x="1040" y="250"/>
                      <a:pt x="1039" y="252"/>
                      <a:pt x="1038" y="254"/>
                    </a:cubicBezTo>
                    <a:cubicBezTo>
                      <a:pt x="1036" y="256"/>
                      <a:pt x="1036" y="257"/>
                      <a:pt x="1035" y="259"/>
                    </a:cubicBezTo>
                    <a:cubicBezTo>
                      <a:pt x="1034" y="261"/>
                      <a:pt x="1033" y="263"/>
                      <a:pt x="1033" y="265"/>
                    </a:cubicBezTo>
                    <a:cubicBezTo>
                      <a:pt x="1033" y="268"/>
                      <a:pt x="1033" y="269"/>
                      <a:pt x="1033" y="272"/>
                    </a:cubicBezTo>
                    <a:cubicBezTo>
                      <a:pt x="1033" y="276"/>
                      <a:pt x="1034" y="279"/>
                      <a:pt x="1034" y="281"/>
                    </a:cubicBezTo>
                    <a:cubicBezTo>
                      <a:pt x="1035" y="283"/>
                      <a:pt x="1036" y="284"/>
                      <a:pt x="1037" y="286"/>
                    </a:cubicBezTo>
                    <a:cubicBezTo>
                      <a:pt x="1038" y="287"/>
                      <a:pt x="1039" y="288"/>
                      <a:pt x="1040" y="288"/>
                    </a:cubicBezTo>
                    <a:cubicBezTo>
                      <a:pt x="1042" y="289"/>
                      <a:pt x="1043" y="289"/>
                      <a:pt x="1046" y="289"/>
                    </a:cubicBezTo>
                    <a:lnTo>
                      <a:pt x="1203" y="289"/>
                    </a:lnTo>
                    <a:cubicBezTo>
                      <a:pt x="1205" y="289"/>
                      <a:pt x="1206" y="289"/>
                      <a:pt x="1207" y="288"/>
                    </a:cubicBezTo>
                    <a:cubicBezTo>
                      <a:pt x="1208" y="288"/>
                      <a:pt x="1209" y="286"/>
                      <a:pt x="1210" y="285"/>
                    </a:cubicBezTo>
                    <a:cubicBezTo>
                      <a:pt x="1210" y="283"/>
                      <a:pt x="1211" y="282"/>
                      <a:pt x="1211" y="280"/>
                    </a:cubicBezTo>
                    <a:cubicBezTo>
                      <a:pt x="1212" y="278"/>
                      <a:pt x="1212" y="276"/>
                      <a:pt x="1212" y="273"/>
                    </a:cubicBezTo>
                    <a:cubicBezTo>
                      <a:pt x="1212" y="271"/>
                      <a:pt x="1212" y="268"/>
                      <a:pt x="1211" y="266"/>
                    </a:cubicBezTo>
                    <a:cubicBezTo>
                      <a:pt x="1211" y="264"/>
                      <a:pt x="1210" y="262"/>
                      <a:pt x="1210" y="261"/>
                    </a:cubicBezTo>
                    <a:cubicBezTo>
                      <a:pt x="1209" y="260"/>
                      <a:pt x="1208" y="259"/>
                      <a:pt x="1207" y="258"/>
                    </a:cubicBezTo>
                    <a:cubicBezTo>
                      <a:pt x="1206" y="258"/>
                      <a:pt x="1205" y="257"/>
                      <a:pt x="1203" y="257"/>
                    </a:cubicBezTo>
                    <a:lnTo>
                      <a:pt x="1079" y="257"/>
                    </a:lnTo>
                    <a:lnTo>
                      <a:pt x="1124" y="210"/>
                    </a:lnTo>
                    <a:cubicBezTo>
                      <a:pt x="1140" y="193"/>
                      <a:pt x="1154" y="179"/>
                      <a:pt x="1164" y="166"/>
                    </a:cubicBezTo>
                    <a:cubicBezTo>
                      <a:pt x="1174" y="153"/>
                      <a:pt x="1181" y="141"/>
                      <a:pt x="1186" y="130"/>
                    </a:cubicBezTo>
                    <a:cubicBezTo>
                      <a:pt x="1191" y="120"/>
                      <a:pt x="1195" y="110"/>
                      <a:pt x="1196" y="101"/>
                    </a:cubicBezTo>
                    <a:cubicBezTo>
                      <a:pt x="1198" y="92"/>
                      <a:pt x="1199" y="83"/>
                      <a:pt x="1199" y="74"/>
                    </a:cubicBezTo>
                    <a:cubicBezTo>
                      <a:pt x="1199" y="64"/>
                      <a:pt x="1197" y="54"/>
                      <a:pt x="1194" y="45"/>
                    </a:cubicBezTo>
                    <a:cubicBezTo>
                      <a:pt x="1190" y="36"/>
                      <a:pt x="1186" y="29"/>
                      <a:pt x="1179" y="22"/>
                    </a:cubicBezTo>
                    <a:cubicBezTo>
                      <a:pt x="1172" y="15"/>
                      <a:pt x="1163" y="9"/>
                      <a:pt x="1152" y="5"/>
                    </a:cubicBezTo>
                    <a:cubicBezTo>
                      <a:pt x="1142" y="1"/>
                      <a:pt x="1130" y="0"/>
                      <a:pt x="1116" y="0"/>
                    </a:cubicBezTo>
                    <a:close/>
                    <a:moveTo>
                      <a:pt x="1354" y="0"/>
                    </a:moveTo>
                    <a:cubicBezTo>
                      <a:pt x="1339" y="0"/>
                      <a:pt x="1326" y="1"/>
                      <a:pt x="1315" y="5"/>
                    </a:cubicBezTo>
                    <a:cubicBezTo>
                      <a:pt x="1303" y="9"/>
                      <a:pt x="1294" y="15"/>
                      <a:pt x="1287" y="21"/>
                    </a:cubicBezTo>
                    <a:cubicBezTo>
                      <a:pt x="1280" y="27"/>
                      <a:pt x="1274" y="34"/>
                      <a:pt x="1270" y="43"/>
                    </a:cubicBezTo>
                    <a:cubicBezTo>
                      <a:pt x="1267" y="52"/>
                      <a:pt x="1265" y="61"/>
                      <a:pt x="1265" y="71"/>
                    </a:cubicBezTo>
                    <a:cubicBezTo>
                      <a:pt x="1265" y="79"/>
                      <a:pt x="1266" y="87"/>
                      <a:pt x="1269" y="93"/>
                    </a:cubicBezTo>
                    <a:cubicBezTo>
                      <a:pt x="1271" y="100"/>
                      <a:pt x="1275" y="107"/>
                      <a:pt x="1280" y="113"/>
                    </a:cubicBezTo>
                    <a:cubicBezTo>
                      <a:pt x="1285" y="119"/>
                      <a:pt x="1290" y="124"/>
                      <a:pt x="1297" y="129"/>
                    </a:cubicBezTo>
                    <a:cubicBezTo>
                      <a:pt x="1304" y="135"/>
                      <a:pt x="1312" y="139"/>
                      <a:pt x="1321" y="144"/>
                    </a:cubicBezTo>
                    <a:cubicBezTo>
                      <a:pt x="1311" y="149"/>
                      <a:pt x="1301" y="154"/>
                      <a:pt x="1293" y="159"/>
                    </a:cubicBezTo>
                    <a:cubicBezTo>
                      <a:pt x="1285" y="165"/>
                      <a:pt x="1278" y="171"/>
                      <a:pt x="1272" y="177"/>
                    </a:cubicBezTo>
                    <a:cubicBezTo>
                      <a:pt x="1267" y="183"/>
                      <a:pt x="1263" y="191"/>
                      <a:pt x="1260" y="198"/>
                    </a:cubicBezTo>
                    <a:cubicBezTo>
                      <a:pt x="1257" y="206"/>
                      <a:pt x="1255" y="214"/>
                      <a:pt x="1255" y="223"/>
                    </a:cubicBezTo>
                    <a:cubicBezTo>
                      <a:pt x="1255" y="234"/>
                      <a:pt x="1257" y="244"/>
                      <a:pt x="1262" y="253"/>
                    </a:cubicBezTo>
                    <a:cubicBezTo>
                      <a:pt x="1266" y="262"/>
                      <a:pt x="1272" y="269"/>
                      <a:pt x="1280" y="275"/>
                    </a:cubicBezTo>
                    <a:cubicBezTo>
                      <a:pt x="1288" y="281"/>
                      <a:pt x="1298" y="286"/>
                      <a:pt x="1310" y="289"/>
                    </a:cubicBezTo>
                    <a:cubicBezTo>
                      <a:pt x="1322" y="292"/>
                      <a:pt x="1335" y="294"/>
                      <a:pt x="1350" y="294"/>
                    </a:cubicBezTo>
                    <a:cubicBezTo>
                      <a:pt x="1366" y="294"/>
                      <a:pt x="1379" y="292"/>
                      <a:pt x="1391" y="288"/>
                    </a:cubicBezTo>
                    <a:cubicBezTo>
                      <a:pt x="1403" y="285"/>
                      <a:pt x="1414" y="280"/>
                      <a:pt x="1422" y="273"/>
                    </a:cubicBezTo>
                    <a:cubicBezTo>
                      <a:pt x="1430" y="267"/>
                      <a:pt x="1437" y="258"/>
                      <a:pt x="1442" y="249"/>
                    </a:cubicBezTo>
                    <a:cubicBezTo>
                      <a:pt x="1446" y="239"/>
                      <a:pt x="1448" y="228"/>
                      <a:pt x="1448" y="216"/>
                    </a:cubicBezTo>
                    <a:cubicBezTo>
                      <a:pt x="1448" y="208"/>
                      <a:pt x="1446" y="200"/>
                      <a:pt x="1443" y="193"/>
                    </a:cubicBezTo>
                    <a:cubicBezTo>
                      <a:pt x="1440" y="186"/>
                      <a:pt x="1436" y="179"/>
                      <a:pt x="1431" y="173"/>
                    </a:cubicBezTo>
                    <a:cubicBezTo>
                      <a:pt x="1425" y="166"/>
                      <a:pt x="1419" y="161"/>
                      <a:pt x="1411" y="156"/>
                    </a:cubicBezTo>
                    <a:cubicBezTo>
                      <a:pt x="1402" y="151"/>
                      <a:pt x="1393" y="145"/>
                      <a:pt x="1382" y="140"/>
                    </a:cubicBezTo>
                    <a:cubicBezTo>
                      <a:pt x="1391" y="135"/>
                      <a:pt x="1399" y="130"/>
                      <a:pt x="1406" y="124"/>
                    </a:cubicBezTo>
                    <a:cubicBezTo>
                      <a:pt x="1413" y="119"/>
                      <a:pt x="1418" y="114"/>
                      <a:pt x="1423" y="107"/>
                    </a:cubicBezTo>
                    <a:cubicBezTo>
                      <a:pt x="1428" y="101"/>
                      <a:pt x="1431" y="95"/>
                      <a:pt x="1434" y="88"/>
                    </a:cubicBezTo>
                    <a:cubicBezTo>
                      <a:pt x="1436" y="81"/>
                      <a:pt x="1438" y="73"/>
                      <a:pt x="1438" y="66"/>
                    </a:cubicBezTo>
                    <a:cubicBezTo>
                      <a:pt x="1438" y="57"/>
                      <a:pt x="1436" y="48"/>
                      <a:pt x="1433" y="40"/>
                    </a:cubicBezTo>
                    <a:cubicBezTo>
                      <a:pt x="1429" y="32"/>
                      <a:pt x="1425" y="25"/>
                      <a:pt x="1418" y="19"/>
                    </a:cubicBezTo>
                    <a:cubicBezTo>
                      <a:pt x="1411" y="13"/>
                      <a:pt x="1402" y="9"/>
                      <a:pt x="1391" y="5"/>
                    </a:cubicBezTo>
                    <a:cubicBezTo>
                      <a:pt x="1381" y="2"/>
                      <a:pt x="1369" y="0"/>
                      <a:pt x="1354" y="0"/>
                    </a:cubicBezTo>
                    <a:close/>
                    <a:moveTo>
                      <a:pt x="2153" y="0"/>
                    </a:moveTo>
                    <a:cubicBezTo>
                      <a:pt x="2145" y="0"/>
                      <a:pt x="2136" y="1"/>
                      <a:pt x="2129" y="2"/>
                    </a:cubicBezTo>
                    <a:cubicBezTo>
                      <a:pt x="2121" y="4"/>
                      <a:pt x="2113" y="6"/>
                      <a:pt x="2106" y="9"/>
                    </a:cubicBezTo>
                    <a:cubicBezTo>
                      <a:pt x="2100" y="11"/>
                      <a:pt x="2095" y="14"/>
                      <a:pt x="2091" y="17"/>
                    </a:cubicBezTo>
                    <a:cubicBezTo>
                      <a:pt x="2086" y="19"/>
                      <a:pt x="2083" y="21"/>
                      <a:pt x="2081" y="23"/>
                    </a:cubicBezTo>
                    <a:cubicBezTo>
                      <a:pt x="2079" y="24"/>
                      <a:pt x="2078" y="26"/>
                      <a:pt x="2077" y="27"/>
                    </a:cubicBezTo>
                    <a:cubicBezTo>
                      <a:pt x="2077" y="28"/>
                      <a:pt x="2077" y="29"/>
                      <a:pt x="2077" y="30"/>
                    </a:cubicBezTo>
                    <a:cubicBezTo>
                      <a:pt x="2076" y="31"/>
                      <a:pt x="2076" y="33"/>
                      <a:pt x="2076" y="34"/>
                    </a:cubicBezTo>
                    <a:cubicBezTo>
                      <a:pt x="2075" y="36"/>
                      <a:pt x="2076" y="38"/>
                      <a:pt x="2076" y="40"/>
                    </a:cubicBezTo>
                    <a:cubicBezTo>
                      <a:pt x="2076" y="44"/>
                      <a:pt x="2075" y="46"/>
                      <a:pt x="2076" y="48"/>
                    </a:cubicBezTo>
                    <a:cubicBezTo>
                      <a:pt x="2076" y="51"/>
                      <a:pt x="2076" y="52"/>
                      <a:pt x="2077" y="54"/>
                    </a:cubicBezTo>
                    <a:cubicBezTo>
                      <a:pt x="2077" y="55"/>
                      <a:pt x="2078" y="56"/>
                      <a:pt x="2079" y="56"/>
                    </a:cubicBezTo>
                    <a:cubicBezTo>
                      <a:pt x="2080" y="57"/>
                      <a:pt x="2081" y="57"/>
                      <a:pt x="2082" y="57"/>
                    </a:cubicBezTo>
                    <a:cubicBezTo>
                      <a:pt x="2084" y="57"/>
                      <a:pt x="2086" y="56"/>
                      <a:pt x="2090" y="54"/>
                    </a:cubicBezTo>
                    <a:cubicBezTo>
                      <a:pt x="2093" y="51"/>
                      <a:pt x="2098" y="48"/>
                      <a:pt x="2103" y="45"/>
                    </a:cubicBezTo>
                    <a:cubicBezTo>
                      <a:pt x="2108" y="42"/>
                      <a:pt x="2114" y="39"/>
                      <a:pt x="2121" y="37"/>
                    </a:cubicBezTo>
                    <a:cubicBezTo>
                      <a:pt x="2129" y="34"/>
                      <a:pt x="2137" y="33"/>
                      <a:pt x="2146" y="33"/>
                    </a:cubicBezTo>
                    <a:cubicBezTo>
                      <a:pt x="2154" y="33"/>
                      <a:pt x="2161" y="34"/>
                      <a:pt x="2166" y="37"/>
                    </a:cubicBezTo>
                    <a:cubicBezTo>
                      <a:pt x="2172" y="39"/>
                      <a:pt x="2177" y="43"/>
                      <a:pt x="2181" y="47"/>
                    </a:cubicBezTo>
                    <a:cubicBezTo>
                      <a:pt x="2184" y="52"/>
                      <a:pt x="2188" y="56"/>
                      <a:pt x="2190" y="62"/>
                    </a:cubicBezTo>
                    <a:cubicBezTo>
                      <a:pt x="2192" y="67"/>
                      <a:pt x="2193" y="74"/>
                      <a:pt x="2193" y="80"/>
                    </a:cubicBezTo>
                    <a:cubicBezTo>
                      <a:pt x="2193" y="86"/>
                      <a:pt x="2192" y="93"/>
                      <a:pt x="2191" y="100"/>
                    </a:cubicBezTo>
                    <a:cubicBezTo>
                      <a:pt x="2190" y="108"/>
                      <a:pt x="2187" y="115"/>
                      <a:pt x="2182" y="124"/>
                    </a:cubicBezTo>
                    <a:cubicBezTo>
                      <a:pt x="2178" y="133"/>
                      <a:pt x="2172" y="143"/>
                      <a:pt x="2165" y="153"/>
                    </a:cubicBezTo>
                    <a:cubicBezTo>
                      <a:pt x="2157" y="164"/>
                      <a:pt x="2147" y="177"/>
                      <a:pt x="2134" y="190"/>
                    </a:cubicBezTo>
                    <a:lnTo>
                      <a:pt x="2079" y="249"/>
                    </a:lnTo>
                    <a:cubicBezTo>
                      <a:pt x="2077" y="250"/>
                      <a:pt x="2076" y="252"/>
                      <a:pt x="2075" y="254"/>
                    </a:cubicBezTo>
                    <a:cubicBezTo>
                      <a:pt x="2074" y="256"/>
                      <a:pt x="2073" y="257"/>
                      <a:pt x="2072" y="259"/>
                    </a:cubicBezTo>
                    <a:cubicBezTo>
                      <a:pt x="2071" y="261"/>
                      <a:pt x="2071" y="263"/>
                      <a:pt x="2070" y="265"/>
                    </a:cubicBezTo>
                    <a:cubicBezTo>
                      <a:pt x="2070" y="268"/>
                      <a:pt x="2070" y="269"/>
                      <a:pt x="2070" y="272"/>
                    </a:cubicBezTo>
                    <a:cubicBezTo>
                      <a:pt x="2070" y="276"/>
                      <a:pt x="2070" y="279"/>
                      <a:pt x="2070" y="281"/>
                    </a:cubicBezTo>
                    <a:cubicBezTo>
                      <a:pt x="2071" y="283"/>
                      <a:pt x="2072" y="284"/>
                      <a:pt x="2073" y="286"/>
                    </a:cubicBezTo>
                    <a:cubicBezTo>
                      <a:pt x="2074" y="287"/>
                      <a:pt x="2076" y="288"/>
                      <a:pt x="2077" y="288"/>
                    </a:cubicBezTo>
                    <a:cubicBezTo>
                      <a:pt x="2079" y="289"/>
                      <a:pt x="2081" y="289"/>
                      <a:pt x="2083" y="289"/>
                    </a:cubicBezTo>
                    <a:lnTo>
                      <a:pt x="2241" y="289"/>
                    </a:lnTo>
                    <a:cubicBezTo>
                      <a:pt x="2242" y="289"/>
                      <a:pt x="2243" y="289"/>
                      <a:pt x="2244" y="288"/>
                    </a:cubicBezTo>
                    <a:cubicBezTo>
                      <a:pt x="2245" y="288"/>
                      <a:pt x="2246" y="286"/>
                      <a:pt x="2247" y="285"/>
                    </a:cubicBezTo>
                    <a:cubicBezTo>
                      <a:pt x="2247" y="283"/>
                      <a:pt x="2247" y="282"/>
                      <a:pt x="2248" y="280"/>
                    </a:cubicBezTo>
                    <a:cubicBezTo>
                      <a:pt x="2248" y="278"/>
                      <a:pt x="2248" y="276"/>
                      <a:pt x="2248" y="273"/>
                    </a:cubicBezTo>
                    <a:cubicBezTo>
                      <a:pt x="2248" y="271"/>
                      <a:pt x="2248" y="268"/>
                      <a:pt x="2248" y="266"/>
                    </a:cubicBezTo>
                    <a:cubicBezTo>
                      <a:pt x="2247" y="264"/>
                      <a:pt x="2247" y="262"/>
                      <a:pt x="2246" y="261"/>
                    </a:cubicBezTo>
                    <a:cubicBezTo>
                      <a:pt x="2245" y="260"/>
                      <a:pt x="2244" y="259"/>
                      <a:pt x="2243" y="258"/>
                    </a:cubicBezTo>
                    <a:cubicBezTo>
                      <a:pt x="2242" y="258"/>
                      <a:pt x="2241" y="257"/>
                      <a:pt x="2240" y="257"/>
                    </a:cubicBezTo>
                    <a:lnTo>
                      <a:pt x="2116" y="257"/>
                    </a:lnTo>
                    <a:lnTo>
                      <a:pt x="2161" y="210"/>
                    </a:lnTo>
                    <a:cubicBezTo>
                      <a:pt x="2177" y="193"/>
                      <a:pt x="2190" y="179"/>
                      <a:pt x="2200" y="166"/>
                    </a:cubicBezTo>
                    <a:cubicBezTo>
                      <a:pt x="2210" y="153"/>
                      <a:pt x="2218" y="141"/>
                      <a:pt x="2223" y="130"/>
                    </a:cubicBezTo>
                    <a:cubicBezTo>
                      <a:pt x="2228" y="120"/>
                      <a:pt x="2232" y="110"/>
                      <a:pt x="2233" y="101"/>
                    </a:cubicBezTo>
                    <a:cubicBezTo>
                      <a:pt x="2235" y="92"/>
                      <a:pt x="2235" y="83"/>
                      <a:pt x="2235" y="74"/>
                    </a:cubicBezTo>
                    <a:cubicBezTo>
                      <a:pt x="2235" y="64"/>
                      <a:pt x="2234" y="54"/>
                      <a:pt x="2231" y="45"/>
                    </a:cubicBezTo>
                    <a:cubicBezTo>
                      <a:pt x="2227" y="36"/>
                      <a:pt x="2222" y="29"/>
                      <a:pt x="2215" y="22"/>
                    </a:cubicBezTo>
                    <a:cubicBezTo>
                      <a:pt x="2208" y="15"/>
                      <a:pt x="2200" y="9"/>
                      <a:pt x="2189" y="5"/>
                    </a:cubicBezTo>
                    <a:cubicBezTo>
                      <a:pt x="2179" y="1"/>
                      <a:pt x="2167" y="0"/>
                      <a:pt x="2153" y="0"/>
                    </a:cubicBezTo>
                    <a:close/>
                    <a:moveTo>
                      <a:pt x="2388" y="0"/>
                    </a:moveTo>
                    <a:cubicBezTo>
                      <a:pt x="2371" y="0"/>
                      <a:pt x="2357" y="3"/>
                      <a:pt x="2345" y="8"/>
                    </a:cubicBezTo>
                    <a:cubicBezTo>
                      <a:pt x="2333" y="13"/>
                      <a:pt x="2322" y="19"/>
                      <a:pt x="2315" y="28"/>
                    </a:cubicBezTo>
                    <a:cubicBezTo>
                      <a:pt x="2307" y="37"/>
                      <a:pt x="2302" y="47"/>
                      <a:pt x="2298" y="58"/>
                    </a:cubicBezTo>
                    <a:cubicBezTo>
                      <a:pt x="2294" y="69"/>
                      <a:pt x="2293" y="82"/>
                      <a:pt x="2293" y="94"/>
                    </a:cubicBezTo>
                    <a:cubicBezTo>
                      <a:pt x="2293" y="106"/>
                      <a:pt x="2293" y="117"/>
                      <a:pt x="2296" y="128"/>
                    </a:cubicBezTo>
                    <a:cubicBezTo>
                      <a:pt x="2299" y="138"/>
                      <a:pt x="2304" y="148"/>
                      <a:pt x="2310" y="155"/>
                    </a:cubicBezTo>
                    <a:cubicBezTo>
                      <a:pt x="2317" y="163"/>
                      <a:pt x="2326" y="168"/>
                      <a:pt x="2337" y="173"/>
                    </a:cubicBezTo>
                    <a:cubicBezTo>
                      <a:pt x="2347" y="177"/>
                      <a:pt x="2360" y="179"/>
                      <a:pt x="2376" y="179"/>
                    </a:cubicBezTo>
                    <a:cubicBezTo>
                      <a:pt x="2390" y="179"/>
                      <a:pt x="2403" y="177"/>
                      <a:pt x="2414" y="174"/>
                    </a:cubicBezTo>
                    <a:cubicBezTo>
                      <a:pt x="2425" y="170"/>
                      <a:pt x="2435" y="166"/>
                      <a:pt x="2443" y="161"/>
                    </a:cubicBezTo>
                    <a:cubicBezTo>
                      <a:pt x="2442" y="175"/>
                      <a:pt x="2440" y="188"/>
                      <a:pt x="2437" y="200"/>
                    </a:cubicBezTo>
                    <a:cubicBezTo>
                      <a:pt x="2434" y="212"/>
                      <a:pt x="2429" y="223"/>
                      <a:pt x="2422" y="233"/>
                    </a:cubicBezTo>
                    <a:cubicBezTo>
                      <a:pt x="2416" y="242"/>
                      <a:pt x="2408" y="249"/>
                      <a:pt x="2398" y="255"/>
                    </a:cubicBezTo>
                    <a:cubicBezTo>
                      <a:pt x="2387" y="260"/>
                      <a:pt x="2375" y="263"/>
                      <a:pt x="2360" y="263"/>
                    </a:cubicBezTo>
                    <a:cubicBezTo>
                      <a:pt x="2353" y="263"/>
                      <a:pt x="2346" y="262"/>
                      <a:pt x="2340" y="261"/>
                    </a:cubicBezTo>
                    <a:cubicBezTo>
                      <a:pt x="2334" y="260"/>
                      <a:pt x="2329" y="259"/>
                      <a:pt x="2324" y="257"/>
                    </a:cubicBezTo>
                    <a:cubicBezTo>
                      <a:pt x="2320" y="256"/>
                      <a:pt x="2317" y="255"/>
                      <a:pt x="2314" y="254"/>
                    </a:cubicBezTo>
                    <a:cubicBezTo>
                      <a:pt x="2311" y="253"/>
                      <a:pt x="2308" y="252"/>
                      <a:pt x="2307" y="252"/>
                    </a:cubicBezTo>
                    <a:cubicBezTo>
                      <a:pt x="2306" y="252"/>
                      <a:pt x="2304" y="253"/>
                      <a:pt x="2303" y="253"/>
                    </a:cubicBezTo>
                    <a:cubicBezTo>
                      <a:pt x="2302" y="253"/>
                      <a:pt x="2302" y="254"/>
                      <a:pt x="2301" y="255"/>
                    </a:cubicBezTo>
                    <a:cubicBezTo>
                      <a:pt x="2301" y="256"/>
                      <a:pt x="2301" y="257"/>
                      <a:pt x="2301" y="259"/>
                    </a:cubicBezTo>
                    <a:cubicBezTo>
                      <a:pt x="2300" y="261"/>
                      <a:pt x="2301" y="264"/>
                      <a:pt x="2301" y="267"/>
                    </a:cubicBezTo>
                    <a:cubicBezTo>
                      <a:pt x="2301" y="271"/>
                      <a:pt x="2301" y="274"/>
                      <a:pt x="2301" y="276"/>
                    </a:cubicBezTo>
                    <a:cubicBezTo>
                      <a:pt x="2302" y="278"/>
                      <a:pt x="2303" y="280"/>
                      <a:pt x="2305" y="281"/>
                    </a:cubicBezTo>
                    <a:cubicBezTo>
                      <a:pt x="2306" y="283"/>
                      <a:pt x="2309" y="284"/>
                      <a:pt x="2312" y="286"/>
                    </a:cubicBezTo>
                    <a:cubicBezTo>
                      <a:pt x="2315" y="287"/>
                      <a:pt x="2319" y="288"/>
                      <a:pt x="2323" y="289"/>
                    </a:cubicBezTo>
                    <a:cubicBezTo>
                      <a:pt x="2328" y="290"/>
                      <a:pt x="2333" y="291"/>
                      <a:pt x="2339" y="292"/>
                    </a:cubicBezTo>
                    <a:cubicBezTo>
                      <a:pt x="2345" y="293"/>
                      <a:pt x="2352" y="294"/>
                      <a:pt x="2358" y="294"/>
                    </a:cubicBezTo>
                    <a:cubicBezTo>
                      <a:pt x="2374" y="294"/>
                      <a:pt x="2389" y="291"/>
                      <a:pt x="2401" y="286"/>
                    </a:cubicBezTo>
                    <a:cubicBezTo>
                      <a:pt x="2413" y="282"/>
                      <a:pt x="2425" y="276"/>
                      <a:pt x="2434" y="269"/>
                    </a:cubicBezTo>
                    <a:cubicBezTo>
                      <a:pt x="2443" y="261"/>
                      <a:pt x="2450" y="253"/>
                      <a:pt x="2456" y="242"/>
                    </a:cubicBezTo>
                    <a:cubicBezTo>
                      <a:pt x="2462" y="232"/>
                      <a:pt x="2467" y="221"/>
                      <a:pt x="2471" y="209"/>
                    </a:cubicBezTo>
                    <a:cubicBezTo>
                      <a:pt x="2474" y="197"/>
                      <a:pt x="2476" y="185"/>
                      <a:pt x="2478" y="173"/>
                    </a:cubicBezTo>
                    <a:cubicBezTo>
                      <a:pt x="2479" y="160"/>
                      <a:pt x="2480" y="148"/>
                      <a:pt x="2480" y="136"/>
                    </a:cubicBezTo>
                    <a:cubicBezTo>
                      <a:pt x="2480" y="123"/>
                      <a:pt x="2479" y="110"/>
                      <a:pt x="2478" y="98"/>
                    </a:cubicBezTo>
                    <a:cubicBezTo>
                      <a:pt x="2477" y="86"/>
                      <a:pt x="2474" y="75"/>
                      <a:pt x="2472" y="65"/>
                    </a:cubicBezTo>
                    <a:cubicBezTo>
                      <a:pt x="2469" y="55"/>
                      <a:pt x="2466" y="46"/>
                      <a:pt x="2461" y="38"/>
                    </a:cubicBezTo>
                    <a:cubicBezTo>
                      <a:pt x="2456" y="30"/>
                      <a:pt x="2450" y="23"/>
                      <a:pt x="2443" y="17"/>
                    </a:cubicBezTo>
                    <a:cubicBezTo>
                      <a:pt x="2437" y="12"/>
                      <a:pt x="2429" y="7"/>
                      <a:pt x="2420" y="4"/>
                    </a:cubicBezTo>
                    <a:cubicBezTo>
                      <a:pt x="2410" y="1"/>
                      <a:pt x="2400" y="0"/>
                      <a:pt x="2388" y="0"/>
                    </a:cubicBezTo>
                    <a:close/>
                    <a:moveTo>
                      <a:pt x="3185" y="0"/>
                    </a:moveTo>
                    <a:cubicBezTo>
                      <a:pt x="3176" y="0"/>
                      <a:pt x="3167" y="1"/>
                      <a:pt x="3159" y="2"/>
                    </a:cubicBezTo>
                    <a:cubicBezTo>
                      <a:pt x="3150" y="4"/>
                      <a:pt x="3144" y="6"/>
                      <a:pt x="3137" y="9"/>
                    </a:cubicBezTo>
                    <a:cubicBezTo>
                      <a:pt x="3131" y="11"/>
                      <a:pt x="3126" y="14"/>
                      <a:pt x="3122" y="17"/>
                    </a:cubicBezTo>
                    <a:cubicBezTo>
                      <a:pt x="3117" y="19"/>
                      <a:pt x="3114" y="21"/>
                      <a:pt x="3113" y="23"/>
                    </a:cubicBezTo>
                    <a:cubicBezTo>
                      <a:pt x="3111" y="24"/>
                      <a:pt x="3111" y="25"/>
                      <a:pt x="3110" y="26"/>
                    </a:cubicBezTo>
                    <a:cubicBezTo>
                      <a:pt x="3110" y="27"/>
                      <a:pt x="3109" y="29"/>
                      <a:pt x="3108" y="30"/>
                    </a:cubicBezTo>
                    <a:cubicBezTo>
                      <a:pt x="3108" y="31"/>
                      <a:pt x="3108" y="33"/>
                      <a:pt x="3108" y="34"/>
                    </a:cubicBezTo>
                    <a:cubicBezTo>
                      <a:pt x="3107" y="36"/>
                      <a:pt x="3108" y="38"/>
                      <a:pt x="3108" y="40"/>
                    </a:cubicBezTo>
                    <a:cubicBezTo>
                      <a:pt x="3108" y="44"/>
                      <a:pt x="3107" y="45"/>
                      <a:pt x="3108" y="47"/>
                    </a:cubicBezTo>
                    <a:cubicBezTo>
                      <a:pt x="3108" y="49"/>
                      <a:pt x="3109" y="52"/>
                      <a:pt x="3109" y="53"/>
                    </a:cubicBezTo>
                    <a:cubicBezTo>
                      <a:pt x="3110" y="54"/>
                      <a:pt x="3110" y="54"/>
                      <a:pt x="3111" y="55"/>
                    </a:cubicBezTo>
                    <a:cubicBezTo>
                      <a:pt x="3112" y="55"/>
                      <a:pt x="3113" y="55"/>
                      <a:pt x="3114" y="55"/>
                    </a:cubicBezTo>
                    <a:cubicBezTo>
                      <a:pt x="3115" y="55"/>
                      <a:pt x="3118" y="54"/>
                      <a:pt x="3122" y="51"/>
                    </a:cubicBezTo>
                    <a:cubicBezTo>
                      <a:pt x="3125" y="48"/>
                      <a:pt x="3130" y="46"/>
                      <a:pt x="3136" y="43"/>
                    </a:cubicBezTo>
                    <a:cubicBezTo>
                      <a:pt x="3141" y="40"/>
                      <a:pt x="3147" y="38"/>
                      <a:pt x="3154" y="35"/>
                    </a:cubicBezTo>
                    <a:cubicBezTo>
                      <a:pt x="3161" y="33"/>
                      <a:pt x="3170" y="31"/>
                      <a:pt x="3178" y="31"/>
                    </a:cubicBezTo>
                    <a:cubicBezTo>
                      <a:pt x="3186" y="31"/>
                      <a:pt x="3192" y="32"/>
                      <a:pt x="3198" y="34"/>
                    </a:cubicBezTo>
                    <a:cubicBezTo>
                      <a:pt x="3204" y="37"/>
                      <a:pt x="3210" y="40"/>
                      <a:pt x="3213" y="44"/>
                    </a:cubicBezTo>
                    <a:cubicBezTo>
                      <a:pt x="3217" y="48"/>
                      <a:pt x="3220" y="53"/>
                      <a:pt x="3222" y="58"/>
                    </a:cubicBezTo>
                    <a:cubicBezTo>
                      <a:pt x="3224" y="63"/>
                      <a:pt x="3225" y="69"/>
                      <a:pt x="3225" y="75"/>
                    </a:cubicBezTo>
                    <a:cubicBezTo>
                      <a:pt x="3225" y="83"/>
                      <a:pt x="3223" y="90"/>
                      <a:pt x="3220" y="97"/>
                    </a:cubicBezTo>
                    <a:cubicBezTo>
                      <a:pt x="3218" y="103"/>
                      <a:pt x="3213" y="109"/>
                      <a:pt x="3208" y="114"/>
                    </a:cubicBezTo>
                    <a:cubicBezTo>
                      <a:pt x="3203" y="118"/>
                      <a:pt x="3196" y="122"/>
                      <a:pt x="3189" y="124"/>
                    </a:cubicBezTo>
                    <a:cubicBezTo>
                      <a:pt x="3181" y="127"/>
                      <a:pt x="3172" y="128"/>
                      <a:pt x="3162" y="128"/>
                    </a:cubicBezTo>
                    <a:lnTo>
                      <a:pt x="3137" y="128"/>
                    </a:lnTo>
                    <a:cubicBezTo>
                      <a:pt x="3136" y="128"/>
                      <a:pt x="3135" y="128"/>
                      <a:pt x="3134" y="129"/>
                    </a:cubicBezTo>
                    <a:cubicBezTo>
                      <a:pt x="3133" y="129"/>
                      <a:pt x="3132" y="130"/>
                      <a:pt x="3131" y="131"/>
                    </a:cubicBezTo>
                    <a:cubicBezTo>
                      <a:pt x="3131" y="132"/>
                      <a:pt x="3130" y="134"/>
                      <a:pt x="3130" y="136"/>
                    </a:cubicBezTo>
                    <a:cubicBezTo>
                      <a:pt x="3129" y="138"/>
                      <a:pt x="3129" y="140"/>
                      <a:pt x="3129" y="143"/>
                    </a:cubicBezTo>
                    <a:cubicBezTo>
                      <a:pt x="3129" y="146"/>
                      <a:pt x="3129" y="148"/>
                      <a:pt x="3130" y="150"/>
                    </a:cubicBezTo>
                    <a:cubicBezTo>
                      <a:pt x="3130" y="152"/>
                      <a:pt x="3131" y="154"/>
                      <a:pt x="3131" y="155"/>
                    </a:cubicBezTo>
                    <a:cubicBezTo>
                      <a:pt x="3132" y="156"/>
                      <a:pt x="3133" y="156"/>
                      <a:pt x="3134" y="157"/>
                    </a:cubicBezTo>
                    <a:cubicBezTo>
                      <a:pt x="3135" y="157"/>
                      <a:pt x="3136" y="158"/>
                      <a:pt x="3137" y="158"/>
                    </a:cubicBezTo>
                    <a:lnTo>
                      <a:pt x="3165" y="158"/>
                    </a:lnTo>
                    <a:cubicBezTo>
                      <a:pt x="3176" y="158"/>
                      <a:pt x="3186" y="160"/>
                      <a:pt x="3195" y="162"/>
                    </a:cubicBezTo>
                    <a:cubicBezTo>
                      <a:pt x="3204" y="165"/>
                      <a:pt x="3212" y="168"/>
                      <a:pt x="3218" y="173"/>
                    </a:cubicBezTo>
                    <a:cubicBezTo>
                      <a:pt x="3224" y="177"/>
                      <a:pt x="3228" y="183"/>
                      <a:pt x="3231" y="189"/>
                    </a:cubicBezTo>
                    <a:cubicBezTo>
                      <a:pt x="3234" y="196"/>
                      <a:pt x="3236" y="203"/>
                      <a:pt x="3236" y="212"/>
                    </a:cubicBezTo>
                    <a:cubicBezTo>
                      <a:pt x="3236" y="219"/>
                      <a:pt x="3235" y="226"/>
                      <a:pt x="3233" y="232"/>
                    </a:cubicBezTo>
                    <a:cubicBezTo>
                      <a:pt x="3230" y="238"/>
                      <a:pt x="3226" y="243"/>
                      <a:pt x="3221" y="248"/>
                    </a:cubicBezTo>
                    <a:cubicBezTo>
                      <a:pt x="3216" y="252"/>
                      <a:pt x="3210" y="256"/>
                      <a:pt x="3203" y="258"/>
                    </a:cubicBezTo>
                    <a:cubicBezTo>
                      <a:pt x="3195" y="261"/>
                      <a:pt x="3187" y="262"/>
                      <a:pt x="3177" y="262"/>
                    </a:cubicBezTo>
                    <a:cubicBezTo>
                      <a:pt x="3167" y="262"/>
                      <a:pt x="3158" y="261"/>
                      <a:pt x="3150" y="258"/>
                    </a:cubicBezTo>
                    <a:cubicBezTo>
                      <a:pt x="3142" y="256"/>
                      <a:pt x="3135" y="254"/>
                      <a:pt x="3129" y="251"/>
                    </a:cubicBezTo>
                    <a:cubicBezTo>
                      <a:pt x="3123" y="248"/>
                      <a:pt x="3118" y="246"/>
                      <a:pt x="3114" y="243"/>
                    </a:cubicBezTo>
                    <a:cubicBezTo>
                      <a:pt x="3110" y="241"/>
                      <a:pt x="3107" y="240"/>
                      <a:pt x="3106" y="240"/>
                    </a:cubicBezTo>
                    <a:cubicBezTo>
                      <a:pt x="3104" y="240"/>
                      <a:pt x="3102" y="241"/>
                      <a:pt x="3101" y="243"/>
                    </a:cubicBezTo>
                    <a:cubicBezTo>
                      <a:pt x="3100" y="245"/>
                      <a:pt x="3100" y="249"/>
                      <a:pt x="3100" y="254"/>
                    </a:cubicBezTo>
                    <a:cubicBezTo>
                      <a:pt x="3100" y="257"/>
                      <a:pt x="3099" y="260"/>
                      <a:pt x="3100" y="262"/>
                    </a:cubicBezTo>
                    <a:cubicBezTo>
                      <a:pt x="3100" y="264"/>
                      <a:pt x="3101" y="266"/>
                      <a:pt x="3101" y="267"/>
                    </a:cubicBezTo>
                    <a:cubicBezTo>
                      <a:pt x="3102" y="269"/>
                      <a:pt x="3102" y="270"/>
                      <a:pt x="3102" y="271"/>
                    </a:cubicBezTo>
                    <a:cubicBezTo>
                      <a:pt x="3103" y="272"/>
                      <a:pt x="3104" y="273"/>
                      <a:pt x="3105" y="274"/>
                    </a:cubicBezTo>
                    <a:cubicBezTo>
                      <a:pt x="3106" y="275"/>
                      <a:pt x="3109" y="276"/>
                      <a:pt x="3113" y="279"/>
                    </a:cubicBezTo>
                    <a:cubicBezTo>
                      <a:pt x="3117" y="281"/>
                      <a:pt x="3123" y="283"/>
                      <a:pt x="3130" y="286"/>
                    </a:cubicBezTo>
                    <a:cubicBezTo>
                      <a:pt x="3136" y="288"/>
                      <a:pt x="3143" y="289"/>
                      <a:pt x="3152" y="291"/>
                    </a:cubicBezTo>
                    <a:cubicBezTo>
                      <a:pt x="3160" y="292"/>
                      <a:pt x="3169" y="294"/>
                      <a:pt x="3178" y="294"/>
                    </a:cubicBezTo>
                    <a:cubicBezTo>
                      <a:pt x="3194" y="294"/>
                      <a:pt x="3208" y="291"/>
                      <a:pt x="3220" y="287"/>
                    </a:cubicBezTo>
                    <a:cubicBezTo>
                      <a:pt x="3233" y="283"/>
                      <a:pt x="3244" y="277"/>
                      <a:pt x="3252" y="270"/>
                    </a:cubicBezTo>
                    <a:cubicBezTo>
                      <a:pt x="3261" y="262"/>
                      <a:pt x="3267" y="254"/>
                      <a:pt x="3272" y="243"/>
                    </a:cubicBezTo>
                    <a:cubicBezTo>
                      <a:pt x="3276" y="233"/>
                      <a:pt x="3279" y="221"/>
                      <a:pt x="3279" y="208"/>
                    </a:cubicBezTo>
                    <a:cubicBezTo>
                      <a:pt x="3279" y="199"/>
                      <a:pt x="3277" y="190"/>
                      <a:pt x="3273" y="182"/>
                    </a:cubicBezTo>
                    <a:cubicBezTo>
                      <a:pt x="3270" y="175"/>
                      <a:pt x="3266" y="168"/>
                      <a:pt x="3260" y="162"/>
                    </a:cubicBezTo>
                    <a:cubicBezTo>
                      <a:pt x="3254" y="156"/>
                      <a:pt x="3247" y="151"/>
                      <a:pt x="3239" y="147"/>
                    </a:cubicBezTo>
                    <a:cubicBezTo>
                      <a:pt x="3231" y="143"/>
                      <a:pt x="3221" y="141"/>
                      <a:pt x="3212" y="140"/>
                    </a:cubicBezTo>
                    <a:lnTo>
                      <a:pt x="3212" y="139"/>
                    </a:lnTo>
                    <a:cubicBezTo>
                      <a:pt x="3220" y="138"/>
                      <a:pt x="3228" y="135"/>
                      <a:pt x="3235" y="130"/>
                    </a:cubicBezTo>
                    <a:cubicBezTo>
                      <a:pt x="3241" y="126"/>
                      <a:pt x="3247" y="121"/>
                      <a:pt x="3251" y="115"/>
                    </a:cubicBezTo>
                    <a:cubicBezTo>
                      <a:pt x="3256" y="109"/>
                      <a:pt x="3259" y="103"/>
                      <a:pt x="3262" y="95"/>
                    </a:cubicBezTo>
                    <a:cubicBezTo>
                      <a:pt x="3264" y="87"/>
                      <a:pt x="3265" y="78"/>
                      <a:pt x="3265" y="70"/>
                    </a:cubicBezTo>
                    <a:cubicBezTo>
                      <a:pt x="3265" y="59"/>
                      <a:pt x="3263" y="50"/>
                      <a:pt x="3260" y="41"/>
                    </a:cubicBezTo>
                    <a:cubicBezTo>
                      <a:pt x="3257" y="33"/>
                      <a:pt x="3252" y="25"/>
                      <a:pt x="3245" y="19"/>
                    </a:cubicBezTo>
                    <a:cubicBezTo>
                      <a:pt x="3238" y="13"/>
                      <a:pt x="3230" y="9"/>
                      <a:pt x="3220" y="5"/>
                    </a:cubicBezTo>
                    <a:cubicBezTo>
                      <a:pt x="3210" y="2"/>
                      <a:pt x="3198" y="0"/>
                      <a:pt x="3185" y="0"/>
                    </a:cubicBezTo>
                    <a:close/>
                    <a:moveTo>
                      <a:pt x="3423" y="0"/>
                    </a:moveTo>
                    <a:cubicBezTo>
                      <a:pt x="3404" y="0"/>
                      <a:pt x="3389" y="3"/>
                      <a:pt x="3376" y="10"/>
                    </a:cubicBezTo>
                    <a:cubicBezTo>
                      <a:pt x="3363" y="18"/>
                      <a:pt x="3353" y="27"/>
                      <a:pt x="3345" y="40"/>
                    </a:cubicBezTo>
                    <a:cubicBezTo>
                      <a:pt x="3337" y="53"/>
                      <a:pt x="3331" y="69"/>
                      <a:pt x="3327" y="87"/>
                    </a:cubicBezTo>
                    <a:cubicBezTo>
                      <a:pt x="3324" y="105"/>
                      <a:pt x="3322" y="125"/>
                      <a:pt x="3322" y="147"/>
                    </a:cubicBezTo>
                    <a:cubicBezTo>
                      <a:pt x="3322" y="171"/>
                      <a:pt x="3324" y="192"/>
                      <a:pt x="3327" y="210"/>
                    </a:cubicBezTo>
                    <a:cubicBezTo>
                      <a:pt x="3330" y="228"/>
                      <a:pt x="3335" y="243"/>
                      <a:pt x="3343" y="256"/>
                    </a:cubicBezTo>
                    <a:cubicBezTo>
                      <a:pt x="3350" y="268"/>
                      <a:pt x="3360" y="277"/>
                      <a:pt x="3372" y="284"/>
                    </a:cubicBezTo>
                    <a:cubicBezTo>
                      <a:pt x="3384" y="290"/>
                      <a:pt x="3400" y="294"/>
                      <a:pt x="3418" y="294"/>
                    </a:cubicBezTo>
                    <a:cubicBezTo>
                      <a:pt x="3437" y="294"/>
                      <a:pt x="3453" y="290"/>
                      <a:pt x="3466" y="283"/>
                    </a:cubicBezTo>
                    <a:cubicBezTo>
                      <a:pt x="3479" y="276"/>
                      <a:pt x="3489" y="265"/>
                      <a:pt x="3497" y="252"/>
                    </a:cubicBezTo>
                    <a:cubicBezTo>
                      <a:pt x="3505" y="239"/>
                      <a:pt x="3511" y="224"/>
                      <a:pt x="3514" y="206"/>
                    </a:cubicBezTo>
                    <a:cubicBezTo>
                      <a:pt x="3518" y="188"/>
                      <a:pt x="3519" y="168"/>
                      <a:pt x="3519" y="146"/>
                    </a:cubicBezTo>
                    <a:cubicBezTo>
                      <a:pt x="3519" y="123"/>
                      <a:pt x="3518" y="102"/>
                      <a:pt x="3515" y="84"/>
                    </a:cubicBezTo>
                    <a:cubicBezTo>
                      <a:pt x="3512" y="65"/>
                      <a:pt x="3507" y="50"/>
                      <a:pt x="3499" y="38"/>
                    </a:cubicBezTo>
                    <a:cubicBezTo>
                      <a:pt x="3492" y="25"/>
                      <a:pt x="3481" y="16"/>
                      <a:pt x="3469" y="10"/>
                    </a:cubicBezTo>
                    <a:cubicBezTo>
                      <a:pt x="3457" y="3"/>
                      <a:pt x="3441" y="0"/>
                      <a:pt x="3423" y="0"/>
                    </a:cubicBezTo>
                    <a:close/>
                    <a:moveTo>
                      <a:pt x="4224" y="0"/>
                    </a:moveTo>
                    <a:cubicBezTo>
                      <a:pt x="4215" y="0"/>
                      <a:pt x="4206" y="1"/>
                      <a:pt x="4198" y="2"/>
                    </a:cubicBezTo>
                    <a:cubicBezTo>
                      <a:pt x="4189" y="4"/>
                      <a:pt x="4183" y="6"/>
                      <a:pt x="4176" y="9"/>
                    </a:cubicBezTo>
                    <a:cubicBezTo>
                      <a:pt x="4170" y="11"/>
                      <a:pt x="4165" y="14"/>
                      <a:pt x="4161" y="17"/>
                    </a:cubicBezTo>
                    <a:cubicBezTo>
                      <a:pt x="4156" y="19"/>
                      <a:pt x="4153" y="21"/>
                      <a:pt x="4152" y="23"/>
                    </a:cubicBezTo>
                    <a:cubicBezTo>
                      <a:pt x="4150" y="24"/>
                      <a:pt x="4150" y="25"/>
                      <a:pt x="4149" y="26"/>
                    </a:cubicBezTo>
                    <a:cubicBezTo>
                      <a:pt x="4148" y="27"/>
                      <a:pt x="4148" y="29"/>
                      <a:pt x="4147" y="30"/>
                    </a:cubicBezTo>
                    <a:cubicBezTo>
                      <a:pt x="4147" y="31"/>
                      <a:pt x="4147" y="33"/>
                      <a:pt x="4146" y="34"/>
                    </a:cubicBezTo>
                    <a:cubicBezTo>
                      <a:pt x="4146" y="36"/>
                      <a:pt x="4146" y="38"/>
                      <a:pt x="4146" y="40"/>
                    </a:cubicBezTo>
                    <a:cubicBezTo>
                      <a:pt x="4146" y="44"/>
                      <a:pt x="4146" y="45"/>
                      <a:pt x="4146" y="47"/>
                    </a:cubicBezTo>
                    <a:cubicBezTo>
                      <a:pt x="4147" y="49"/>
                      <a:pt x="4148" y="52"/>
                      <a:pt x="4148" y="53"/>
                    </a:cubicBezTo>
                    <a:cubicBezTo>
                      <a:pt x="4149" y="54"/>
                      <a:pt x="4149" y="54"/>
                      <a:pt x="4150" y="55"/>
                    </a:cubicBezTo>
                    <a:cubicBezTo>
                      <a:pt x="4151" y="55"/>
                      <a:pt x="4152" y="55"/>
                      <a:pt x="4153" y="55"/>
                    </a:cubicBezTo>
                    <a:cubicBezTo>
                      <a:pt x="4154" y="55"/>
                      <a:pt x="4157" y="54"/>
                      <a:pt x="4161" y="51"/>
                    </a:cubicBezTo>
                    <a:cubicBezTo>
                      <a:pt x="4164" y="48"/>
                      <a:pt x="4169" y="46"/>
                      <a:pt x="4175" y="43"/>
                    </a:cubicBezTo>
                    <a:cubicBezTo>
                      <a:pt x="4180" y="40"/>
                      <a:pt x="4186" y="38"/>
                      <a:pt x="4193" y="35"/>
                    </a:cubicBezTo>
                    <a:cubicBezTo>
                      <a:pt x="4200" y="33"/>
                      <a:pt x="4208" y="31"/>
                      <a:pt x="4217" y="31"/>
                    </a:cubicBezTo>
                    <a:cubicBezTo>
                      <a:pt x="4225" y="31"/>
                      <a:pt x="4231" y="32"/>
                      <a:pt x="4237" y="34"/>
                    </a:cubicBezTo>
                    <a:cubicBezTo>
                      <a:pt x="4243" y="37"/>
                      <a:pt x="4248" y="40"/>
                      <a:pt x="4252" y="44"/>
                    </a:cubicBezTo>
                    <a:cubicBezTo>
                      <a:pt x="4256" y="48"/>
                      <a:pt x="4259" y="53"/>
                      <a:pt x="4261" y="58"/>
                    </a:cubicBezTo>
                    <a:cubicBezTo>
                      <a:pt x="4263" y="63"/>
                      <a:pt x="4264" y="69"/>
                      <a:pt x="4264" y="75"/>
                    </a:cubicBezTo>
                    <a:cubicBezTo>
                      <a:pt x="4264" y="83"/>
                      <a:pt x="4262" y="90"/>
                      <a:pt x="4259" y="97"/>
                    </a:cubicBezTo>
                    <a:cubicBezTo>
                      <a:pt x="4256" y="103"/>
                      <a:pt x="4252" y="109"/>
                      <a:pt x="4247" y="114"/>
                    </a:cubicBezTo>
                    <a:cubicBezTo>
                      <a:pt x="4242" y="118"/>
                      <a:pt x="4235" y="122"/>
                      <a:pt x="4228" y="124"/>
                    </a:cubicBezTo>
                    <a:cubicBezTo>
                      <a:pt x="4220" y="127"/>
                      <a:pt x="4211" y="128"/>
                      <a:pt x="4201" y="128"/>
                    </a:cubicBezTo>
                    <a:lnTo>
                      <a:pt x="4176" y="128"/>
                    </a:lnTo>
                    <a:cubicBezTo>
                      <a:pt x="4175" y="128"/>
                      <a:pt x="4174" y="128"/>
                      <a:pt x="4173" y="129"/>
                    </a:cubicBezTo>
                    <a:cubicBezTo>
                      <a:pt x="4172" y="129"/>
                      <a:pt x="4171" y="130"/>
                      <a:pt x="4170" y="131"/>
                    </a:cubicBezTo>
                    <a:cubicBezTo>
                      <a:pt x="4169" y="132"/>
                      <a:pt x="4169" y="134"/>
                      <a:pt x="4168" y="136"/>
                    </a:cubicBezTo>
                    <a:cubicBezTo>
                      <a:pt x="4168" y="138"/>
                      <a:pt x="4168" y="140"/>
                      <a:pt x="4168" y="143"/>
                    </a:cubicBezTo>
                    <a:cubicBezTo>
                      <a:pt x="4168" y="146"/>
                      <a:pt x="4168" y="148"/>
                      <a:pt x="4168" y="150"/>
                    </a:cubicBezTo>
                    <a:cubicBezTo>
                      <a:pt x="4169" y="152"/>
                      <a:pt x="4169" y="154"/>
                      <a:pt x="4170" y="155"/>
                    </a:cubicBezTo>
                    <a:cubicBezTo>
                      <a:pt x="4171" y="156"/>
                      <a:pt x="4172" y="156"/>
                      <a:pt x="4173" y="157"/>
                    </a:cubicBezTo>
                    <a:cubicBezTo>
                      <a:pt x="4174" y="157"/>
                      <a:pt x="4175" y="158"/>
                      <a:pt x="4176" y="158"/>
                    </a:cubicBezTo>
                    <a:lnTo>
                      <a:pt x="4204" y="158"/>
                    </a:lnTo>
                    <a:cubicBezTo>
                      <a:pt x="4215" y="158"/>
                      <a:pt x="4225" y="160"/>
                      <a:pt x="4234" y="162"/>
                    </a:cubicBezTo>
                    <a:cubicBezTo>
                      <a:pt x="4243" y="165"/>
                      <a:pt x="4251" y="168"/>
                      <a:pt x="4257" y="173"/>
                    </a:cubicBezTo>
                    <a:cubicBezTo>
                      <a:pt x="4263" y="177"/>
                      <a:pt x="4267" y="183"/>
                      <a:pt x="4270" y="189"/>
                    </a:cubicBezTo>
                    <a:cubicBezTo>
                      <a:pt x="4273" y="196"/>
                      <a:pt x="4275" y="203"/>
                      <a:pt x="4275" y="212"/>
                    </a:cubicBezTo>
                    <a:cubicBezTo>
                      <a:pt x="4275" y="219"/>
                      <a:pt x="4274" y="226"/>
                      <a:pt x="4272" y="232"/>
                    </a:cubicBezTo>
                    <a:cubicBezTo>
                      <a:pt x="4269" y="238"/>
                      <a:pt x="4265" y="243"/>
                      <a:pt x="4260" y="248"/>
                    </a:cubicBezTo>
                    <a:cubicBezTo>
                      <a:pt x="4255" y="252"/>
                      <a:pt x="4249" y="256"/>
                      <a:pt x="4242" y="258"/>
                    </a:cubicBezTo>
                    <a:cubicBezTo>
                      <a:pt x="4234" y="261"/>
                      <a:pt x="4226" y="262"/>
                      <a:pt x="4216" y="262"/>
                    </a:cubicBezTo>
                    <a:cubicBezTo>
                      <a:pt x="4206" y="262"/>
                      <a:pt x="4197" y="261"/>
                      <a:pt x="4189" y="258"/>
                    </a:cubicBezTo>
                    <a:cubicBezTo>
                      <a:pt x="4181" y="256"/>
                      <a:pt x="4174" y="254"/>
                      <a:pt x="4168" y="251"/>
                    </a:cubicBezTo>
                    <a:cubicBezTo>
                      <a:pt x="4161" y="248"/>
                      <a:pt x="4156" y="246"/>
                      <a:pt x="4153" y="243"/>
                    </a:cubicBezTo>
                    <a:cubicBezTo>
                      <a:pt x="4149" y="241"/>
                      <a:pt x="4146" y="240"/>
                      <a:pt x="4145" y="240"/>
                    </a:cubicBezTo>
                    <a:cubicBezTo>
                      <a:pt x="4143" y="240"/>
                      <a:pt x="4141" y="241"/>
                      <a:pt x="4140" y="243"/>
                    </a:cubicBezTo>
                    <a:cubicBezTo>
                      <a:pt x="4139" y="245"/>
                      <a:pt x="4138" y="249"/>
                      <a:pt x="4138" y="254"/>
                    </a:cubicBezTo>
                    <a:cubicBezTo>
                      <a:pt x="4138" y="257"/>
                      <a:pt x="4138" y="260"/>
                      <a:pt x="4138" y="262"/>
                    </a:cubicBezTo>
                    <a:cubicBezTo>
                      <a:pt x="4139" y="264"/>
                      <a:pt x="4140" y="266"/>
                      <a:pt x="4140" y="267"/>
                    </a:cubicBezTo>
                    <a:cubicBezTo>
                      <a:pt x="4141" y="269"/>
                      <a:pt x="4141" y="270"/>
                      <a:pt x="4141" y="271"/>
                    </a:cubicBezTo>
                    <a:cubicBezTo>
                      <a:pt x="4142" y="272"/>
                      <a:pt x="4143" y="273"/>
                      <a:pt x="4144" y="274"/>
                    </a:cubicBezTo>
                    <a:cubicBezTo>
                      <a:pt x="4145" y="275"/>
                      <a:pt x="4147" y="276"/>
                      <a:pt x="4152" y="279"/>
                    </a:cubicBezTo>
                    <a:cubicBezTo>
                      <a:pt x="4156" y="281"/>
                      <a:pt x="4162" y="283"/>
                      <a:pt x="4168" y="286"/>
                    </a:cubicBezTo>
                    <a:cubicBezTo>
                      <a:pt x="4175" y="288"/>
                      <a:pt x="4182" y="289"/>
                      <a:pt x="4191" y="291"/>
                    </a:cubicBezTo>
                    <a:cubicBezTo>
                      <a:pt x="4199" y="292"/>
                      <a:pt x="4207" y="294"/>
                      <a:pt x="4217" y="294"/>
                    </a:cubicBezTo>
                    <a:cubicBezTo>
                      <a:pt x="4233" y="294"/>
                      <a:pt x="4247" y="291"/>
                      <a:pt x="4259" y="287"/>
                    </a:cubicBezTo>
                    <a:cubicBezTo>
                      <a:pt x="4272" y="283"/>
                      <a:pt x="4283" y="277"/>
                      <a:pt x="4291" y="270"/>
                    </a:cubicBezTo>
                    <a:cubicBezTo>
                      <a:pt x="4300" y="262"/>
                      <a:pt x="4306" y="254"/>
                      <a:pt x="4310" y="243"/>
                    </a:cubicBezTo>
                    <a:cubicBezTo>
                      <a:pt x="4315" y="233"/>
                      <a:pt x="4318" y="221"/>
                      <a:pt x="4318" y="208"/>
                    </a:cubicBezTo>
                    <a:cubicBezTo>
                      <a:pt x="4318" y="199"/>
                      <a:pt x="4316" y="190"/>
                      <a:pt x="4312" y="182"/>
                    </a:cubicBezTo>
                    <a:cubicBezTo>
                      <a:pt x="4309" y="175"/>
                      <a:pt x="4305" y="168"/>
                      <a:pt x="4299" y="162"/>
                    </a:cubicBezTo>
                    <a:cubicBezTo>
                      <a:pt x="4293" y="156"/>
                      <a:pt x="4286" y="151"/>
                      <a:pt x="4278" y="147"/>
                    </a:cubicBezTo>
                    <a:cubicBezTo>
                      <a:pt x="4270" y="143"/>
                      <a:pt x="4260" y="141"/>
                      <a:pt x="4251" y="140"/>
                    </a:cubicBezTo>
                    <a:lnTo>
                      <a:pt x="4251" y="139"/>
                    </a:lnTo>
                    <a:cubicBezTo>
                      <a:pt x="4259" y="138"/>
                      <a:pt x="4267" y="135"/>
                      <a:pt x="4273" y="130"/>
                    </a:cubicBezTo>
                    <a:cubicBezTo>
                      <a:pt x="4280" y="126"/>
                      <a:pt x="4286" y="121"/>
                      <a:pt x="4290" y="115"/>
                    </a:cubicBezTo>
                    <a:cubicBezTo>
                      <a:pt x="4295" y="109"/>
                      <a:pt x="4298" y="103"/>
                      <a:pt x="4301" y="95"/>
                    </a:cubicBezTo>
                    <a:cubicBezTo>
                      <a:pt x="4303" y="87"/>
                      <a:pt x="4304" y="78"/>
                      <a:pt x="4304" y="70"/>
                    </a:cubicBezTo>
                    <a:cubicBezTo>
                      <a:pt x="4304" y="59"/>
                      <a:pt x="4302" y="50"/>
                      <a:pt x="4299" y="41"/>
                    </a:cubicBezTo>
                    <a:cubicBezTo>
                      <a:pt x="4296" y="33"/>
                      <a:pt x="4291" y="25"/>
                      <a:pt x="4284" y="19"/>
                    </a:cubicBezTo>
                    <a:cubicBezTo>
                      <a:pt x="4277" y="13"/>
                      <a:pt x="4269" y="9"/>
                      <a:pt x="4259" y="5"/>
                    </a:cubicBezTo>
                    <a:cubicBezTo>
                      <a:pt x="4249" y="2"/>
                      <a:pt x="4237" y="0"/>
                      <a:pt x="4224" y="0"/>
                    </a:cubicBezTo>
                    <a:close/>
                    <a:moveTo>
                      <a:pt x="83" y="1"/>
                    </a:moveTo>
                    <a:cubicBezTo>
                      <a:pt x="75" y="1"/>
                      <a:pt x="66" y="2"/>
                      <a:pt x="59" y="3"/>
                    </a:cubicBezTo>
                    <a:cubicBezTo>
                      <a:pt x="51" y="5"/>
                      <a:pt x="43" y="8"/>
                      <a:pt x="37" y="10"/>
                    </a:cubicBezTo>
                    <a:cubicBezTo>
                      <a:pt x="30" y="13"/>
                      <a:pt x="25" y="16"/>
                      <a:pt x="21" y="18"/>
                    </a:cubicBezTo>
                    <a:cubicBezTo>
                      <a:pt x="16" y="21"/>
                      <a:pt x="13" y="23"/>
                      <a:pt x="11" y="25"/>
                    </a:cubicBezTo>
                    <a:cubicBezTo>
                      <a:pt x="9" y="26"/>
                      <a:pt x="8" y="27"/>
                      <a:pt x="7" y="28"/>
                    </a:cubicBezTo>
                    <a:cubicBezTo>
                      <a:pt x="7" y="29"/>
                      <a:pt x="7" y="30"/>
                      <a:pt x="7" y="32"/>
                    </a:cubicBezTo>
                    <a:cubicBezTo>
                      <a:pt x="6" y="33"/>
                      <a:pt x="6" y="34"/>
                      <a:pt x="6" y="36"/>
                    </a:cubicBezTo>
                    <a:cubicBezTo>
                      <a:pt x="6" y="38"/>
                      <a:pt x="5" y="39"/>
                      <a:pt x="5" y="41"/>
                    </a:cubicBezTo>
                    <a:cubicBezTo>
                      <a:pt x="5" y="44"/>
                      <a:pt x="5" y="47"/>
                      <a:pt x="6" y="49"/>
                    </a:cubicBezTo>
                    <a:cubicBezTo>
                      <a:pt x="6" y="51"/>
                      <a:pt x="6" y="53"/>
                      <a:pt x="7" y="55"/>
                    </a:cubicBezTo>
                    <a:cubicBezTo>
                      <a:pt x="7" y="56"/>
                      <a:pt x="8" y="57"/>
                      <a:pt x="9" y="57"/>
                    </a:cubicBezTo>
                    <a:cubicBezTo>
                      <a:pt x="10" y="58"/>
                      <a:pt x="11" y="58"/>
                      <a:pt x="12" y="58"/>
                    </a:cubicBezTo>
                    <a:cubicBezTo>
                      <a:pt x="14" y="58"/>
                      <a:pt x="16" y="57"/>
                      <a:pt x="20" y="55"/>
                    </a:cubicBezTo>
                    <a:cubicBezTo>
                      <a:pt x="23" y="52"/>
                      <a:pt x="28" y="50"/>
                      <a:pt x="33" y="47"/>
                    </a:cubicBezTo>
                    <a:cubicBezTo>
                      <a:pt x="38" y="44"/>
                      <a:pt x="44" y="41"/>
                      <a:pt x="52" y="39"/>
                    </a:cubicBezTo>
                    <a:cubicBezTo>
                      <a:pt x="59" y="36"/>
                      <a:pt x="67" y="34"/>
                      <a:pt x="76" y="34"/>
                    </a:cubicBezTo>
                    <a:cubicBezTo>
                      <a:pt x="84" y="34"/>
                      <a:pt x="91" y="36"/>
                      <a:pt x="97" y="39"/>
                    </a:cubicBezTo>
                    <a:cubicBezTo>
                      <a:pt x="102" y="41"/>
                      <a:pt x="107" y="44"/>
                      <a:pt x="111" y="48"/>
                    </a:cubicBezTo>
                    <a:cubicBezTo>
                      <a:pt x="115" y="53"/>
                      <a:pt x="118" y="58"/>
                      <a:pt x="120" y="63"/>
                    </a:cubicBezTo>
                    <a:cubicBezTo>
                      <a:pt x="122" y="69"/>
                      <a:pt x="123" y="75"/>
                      <a:pt x="123" y="81"/>
                    </a:cubicBezTo>
                    <a:cubicBezTo>
                      <a:pt x="123" y="87"/>
                      <a:pt x="123" y="94"/>
                      <a:pt x="121" y="101"/>
                    </a:cubicBezTo>
                    <a:cubicBezTo>
                      <a:pt x="120" y="108"/>
                      <a:pt x="117" y="117"/>
                      <a:pt x="112" y="126"/>
                    </a:cubicBezTo>
                    <a:cubicBezTo>
                      <a:pt x="108" y="135"/>
                      <a:pt x="102" y="144"/>
                      <a:pt x="95" y="155"/>
                    </a:cubicBezTo>
                    <a:cubicBezTo>
                      <a:pt x="87" y="166"/>
                      <a:pt x="77" y="178"/>
                      <a:pt x="64" y="191"/>
                    </a:cubicBezTo>
                    <a:lnTo>
                      <a:pt x="9" y="250"/>
                    </a:lnTo>
                    <a:cubicBezTo>
                      <a:pt x="7" y="252"/>
                      <a:pt x="6" y="254"/>
                      <a:pt x="5" y="256"/>
                    </a:cubicBezTo>
                    <a:cubicBezTo>
                      <a:pt x="4" y="257"/>
                      <a:pt x="2" y="259"/>
                      <a:pt x="1" y="261"/>
                    </a:cubicBezTo>
                    <a:cubicBezTo>
                      <a:pt x="1" y="263"/>
                      <a:pt x="1" y="264"/>
                      <a:pt x="0" y="266"/>
                    </a:cubicBezTo>
                    <a:cubicBezTo>
                      <a:pt x="0" y="268"/>
                      <a:pt x="0" y="271"/>
                      <a:pt x="0" y="274"/>
                    </a:cubicBezTo>
                    <a:cubicBezTo>
                      <a:pt x="0" y="277"/>
                      <a:pt x="0" y="280"/>
                      <a:pt x="0" y="282"/>
                    </a:cubicBezTo>
                    <a:cubicBezTo>
                      <a:pt x="1" y="284"/>
                      <a:pt x="2" y="286"/>
                      <a:pt x="3" y="287"/>
                    </a:cubicBezTo>
                    <a:cubicBezTo>
                      <a:pt x="4" y="289"/>
                      <a:pt x="6" y="289"/>
                      <a:pt x="7" y="290"/>
                    </a:cubicBezTo>
                    <a:cubicBezTo>
                      <a:pt x="9" y="291"/>
                      <a:pt x="11" y="291"/>
                      <a:pt x="13" y="291"/>
                    </a:cubicBezTo>
                    <a:lnTo>
                      <a:pt x="170" y="291"/>
                    </a:lnTo>
                    <a:cubicBezTo>
                      <a:pt x="171" y="291"/>
                      <a:pt x="173" y="291"/>
                      <a:pt x="174" y="290"/>
                    </a:cubicBezTo>
                    <a:cubicBezTo>
                      <a:pt x="175" y="289"/>
                      <a:pt x="176" y="288"/>
                      <a:pt x="177" y="286"/>
                    </a:cubicBezTo>
                    <a:cubicBezTo>
                      <a:pt x="177" y="285"/>
                      <a:pt x="177" y="283"/>
                      <a:pt x="178" y="281"/>
                    </a:cubicBezTo>
                    <a:cubicBezTo>
                      <a:pt x="178" y="279"/>
                      <a:pt x="179" y="277"/>
                      <a:pt x="179" y="274"/>
                    </a:cubicBezTo>
                    <a:cubicBezTo>
                      <a:pt x="179" y="271"/>
                      <a:pt x="178" y="269"/>
                      <a:pt x="178" y="267"/>
                    </a:cubicBezTo>
                    <a:cubicBezTo>
                      <a:pt x="177" y="265"/>
                      <a:pt x="177" y="264"/>
                      <a:pt x="176" y="263"/>
                    </a:cubicBezTo>
                    <a:cubicBezTo>
                      <a:pt x="175" y="261"/>
                      <a:pt x="174" y="260"/>
                      <a:pt x="173" y="259"/>
                    </a:cubicBezTo>
                    <a:cubicBezTo>
                      <a:pt x="172" y="258"/>
                      <a:pt x="171" y="258"/>
                      <a:pt x="170" y="258"/>
                    </a:cubicBezTo>
                    <a:lnTo>
                      <a:pt x="45" y="258"/>
                    </a:lnTo>
                    <a:lnTo>
                      <a:pt x="91" y="212"/>
                    </a:lnTo>
                    <a:cubicBezTo>
                      <a:pt x="108" y="195"/>
                      <a:pt x="120" y="179"/>
                      <a:pt x="130" y="167"/>
                    </a:cubicBezTo>
                    <a:cubicBezTo>
                      <a:pt x="140" y="154"/>
                      <a:pt x="148" y="143"/>
                      <a:pt x="153" y="132"/>
                    </a:cubicBezTo>
                    <a:cubicBezTo>
                      <a:pt x="158" y="122"/>
                      <a:pt x="161" y="111"/>
                      <a:pt x="163" y="102"/>
                    </a:cubicBezTo>
                    <a:cubicBezTo>
                      <a:pt x="164" y="93"/>
                      <a:pt x="165" y="84"/>
                      <a:pt x="165" y="75"/>
                    </a:cubicBezTo>
                    <a:cubicBezTo>
                      <a:pt x="165" y="65"/>
                      <a:pt x="163" y="56"/>
                      <a:pt x="160" y="47"/>
                    </a:cubicBezTo>
                    <a:cubicBezTo>
                      <a:pt x="157" y="38"/>
                      <a:pt x="152" y="30"/>
                      <a:pt x="145" y="23"/>
                    </a:cubicBezTo>
                    <a:cubicBezTo>
                      <a:pt x="138" y="16"/>
                      <a:pt x="130" y="11"/>
                      <a:pt x="119" y="7"/>
                    </a:cubicBezTo>
                    <a:cubicBezTo>
                      <a:pt x="109" y="3"/>
                      <a:pt x="97" y="1"/>
                      <a:pt x="83" y="1"/>
                    </a:cubicBezTo>
                    <a:close/>
                    <a:moveTo>
                      <a:pt x="4466" y="2"/>
                    </a:moveTo>
                    <a:cubicBezTo>
                      <a:pt x="4464" y="2"/>
                      <a:pt x="4463" y="2"/>
                      <a:pt x="4461" y="2"/>
                    </a:cubicBezTo>
                    <a:cubicBezTo>
                      <a:pt x="4460" y="3"/>
                      <a:pt x="4459" y="3"/>
                      <a:pt x="4458" y="3"/>
                    </a:cubicBezTo>
                    <a:cubicBezTo>
                      <a:pt x="4457" y="4"/>
                      <a:pt x="4457" y="4"/>
                      <a:pt x="4456" y="4"/>
                    </a:cubicBezTo>
                    <a:lnTo>
                      <a:pt x="4390" y="47"/>
                    </a:lnTo>
                    <a:cubicBezTo>
                      <a:pt x="4389" y="47"/>
                      <a:pt x="4387" y="48"/>
                      <a:pt x="4386" y="49"/>
                    </a:cubicBezTo>
                    <a:cubicBezTo>
                      <a:pt x="4386" y="50"/>
                      <a:pt x="4385" y="52"/>
                      <a:pt x="4385" y="53"/>
                    </a:cubicBezTo>
                    <a:cubicBezTo>
                      <a:pt x="4384" y="54"/>
                      <a:pt x="4384" y="55"/>
                      <a:pt x="4384" y="57"/>
                    </a:cubicBezTo>
                    <a:cubicBezTo>
                      <a:pt x="4383" y="59"/>
                      <a:pt x="4384" y="61"/>
                      <a:pt x="4384" y="63"/>
                    </a:cubicBezTo>
                    <a:cubicBezTo>
                      <a:pt x="4384" y="67"/>
                      <a:pt x="4383" y="69"/>
                      <a:pt x="4384" y="71"/>
                    </a:cubicBezTo>
                    <a:cubicBezTo>
                      <a:pt x="4384" y="73"/>
                      <a:pt x="4385" y="76"/>
                      <a:pt x="4386" y="77"/>
                    </a:cubicBezTo>
                    <a:cubicBezTo>
                      <a:pt x="4387" y="78"/>
                      <a:pt x="4388" y="78"/>
                      <a:pt x="4390" y="77"/>
                    </a:cubicBezTo>
                    <a:cubicBezTo>
                      <a:pt x="4392" y="77"/>
                      <a:pt x="4394" y="76"/>
                      <a:pt x="4397" y="75"/>
                    </a:cubicBezTo>
                    <a:lnTo>
                      <a:pt x="4452" y="42"/>
                    </a:lnTo>
                    <a:lnTo>
                      <a:pt x="4452" y="259"/>
                    </a:lnTo>
                    <a:lnTo>
                      <a:pt x="4392" y="259"/>
                    </a:lnTo>
                    <a:cubicBezTo>
                      <a:pt x="4391" y="259"/>
                      <a:pt x="4390" y="259"/>
                      <a:pt x="4389" y="260"/>
                    </a:cubicBezTo>
                    <a:cubicBezTo>
                      <a:pt x="4388" y="261"/>
                      <a:pt x="4388" y="261"/>
                      <a:pt x="4387" y="263"/>
                    </a:cubicBezTo>
                    <a:cubicBezTo>
                      <a:pt x="4387" y="264"/>
                      <a:pt x="4386" y="265"/>
                      <a:pt x="4385" y="267"/>
                    </a:cubicBezTo>
                    <a:cubicBezTo>
                      <a:pt x="4385" y="269"/>
                      <a:pt x="4385" y="271"/>
                      <a:pt x="4385" y="274"/>
                    </a:cubicBezTo>
                    <a:cubicBezTo>
                      <a:pt x="4385" y="277"/>
                      <a:pt x="4385" y="279"/>
                      <a:pt x="4385" y="281"/>
                    </a:cubicBezTo>
                    <a:cubicBezTo>
                      <a:pt x="4386" y="283"/>
                      <a:pt x="4386" y="284"/>
                      <a:pt x="4387" y="286"/>
                    </a:cubicBezTo>
                    <a:cubicBezTo>
                      <a:pt x="4388" y="287"/>
                      <a:pt x="4389" y="288"/>
                      <a:pt x="4390" y="288"/>
                    </a:cubicBezTo>
                    <a:cubicBezTo>
                      <a:pt x="4391" y="289"/>
                      <a:pt x="4391" y="289"/>
                      <a:pt x="4392" y="289"/>
                    </a:cubicBezTo>
                    <a:lnTo>
                      <a:pt x="4542" y="289"/>
                    </a:lnTo>
                    <a:cubicBezTo>
                      <a:pt x="4543" y="289"/>
                      <a:pt x="4543" y="289"/>
                      <a:pt x="4544" y="288"/>
                    </a:cubicBezTo>
                    <a:cubicBezTo>
                      <a:pt x="4545" y="288"/>
                      <a:pt x="4546" y="287"/>
                      <a:pt x="4547" y="286"/>
                    </a:cubicBezTo>
                    <a:cubicBezTo>
                      <a:pt x="4548" y="284"/>
                      <a:pt x="4548" y="283"/>
                      <a:pt x="4549" y="281"/>
                    </a:cubicBezTo>
                    <a:cubicBezTo>
                      <a:pt x="4549" y="279"/>
                      <a:pt x="4549" y="277"/>
                      <a:pt x="4549" y="274"/>
                    </a:cubicBezTo>
                    <a:cubicBezTo>
                      <a:pt x="4549" y="271"/>
                      <a:pt x="4549" y="269"/>
                      <a:pt x="4549" y="267"/>
                    </a:cubicBezTo>
                    <a:cubicBezTo>
                      <a:pt x="4548" y="265"/>
                      <a:pt x="4548" y="264"/>
                      <a:pt x="4548" y="263"/>
                    </a:cubicBezTo>
                    <a:cubicBezTo>
                      <a:pt x="4547" y="261"/>
                      <a:pt x="4546" y="261"/>
                      <a:pt x="4545" y="260"/>
                    </a:cubicBezTo>
                    <a:cubicBezTo>
                      <a:pt x="4544" y="259"/>
                      <a:pt x="4543" y="259"/>
                      <a:pt x="4542" y="259"/>
                    </a:cubicBezTo>
                    <a:lnTo>
                      <a:pt x="4490" y="259"/>
                    </a:lnTo>
                    <a:lnTo>
                      <a:pt x="4490" y="8"/>
                    </a:lnTo>
                    <a:cubicBezTo>
                      <a:pt x="4490" y="7"/>
                      <a:pt x="4490" y="6"/>
                      <a:pt x="4490" y="5"/>
                    </a:cubicBezTo>
                    <a:cubicBezTo>
                      <a:pt x="4489" y="4"/>
                      <a:pt x="4488" y="4"/>
                      <a:pt x="4487" y="3"/>
                    </a:cubicBezTo>
                    <a:cubicBezTo>
                      <a:pt x="4486" y="3"/>
                      <a:pt x="4484" y="3"/>
                      <a:pt x="4482" y="2"/>
                    </a:cubicBezTo>
                    <a:cubicBezTo>
                      <a:pt x="4479" y="2"/>
                      <a:pt x="4476" y="2"/>
                      <a:pt x="4473" y="2"/>
                    </a:cubicBezTo>
                    <a:cubicBezTo>
                      <a:pt x="4470" y="2"/>
                      <a:pt x="4467" y="2"/>
                      <a:pt x="4466" y="2"/>
                    </a:cubicBezTo>
                    <a:close/>
                    <a:moveTo>
                      <a:pt x="234" y="5"/>
                    </a:moveTo>
                    <a:cubicBezTo>
                      <a:pt x="233" y="5"/>
                      <a:pt x="232" y="5"/>
                      <a:pt x="231" y="6"/>
                    </a:cubicBezTo>
                    <a:cubicBezTo>
                      <a:pt x="230" y="7"/>
                      <a:pt x="229" y="8"/>
                      <a:pt x="228" y="10"/>
                    </a:cubicBezTo>
                    <a:cubicBezTo>
                      <a:pt x="227" y="11"/>
                      <a:pt x="227" y="13"/>
                      <a:pt x="226" y="15"/>
                    </a:cubicBezTo>
                    <a:cubicBezTo>
                      <a:pt x="226" y="17"/>
                      <a:pt x="226" y="19"/>
                      <a:pt x="226" y="22"/>
                    </a:cubicBezTo>
                    <a:cubicBezTo>
                      <a:pt x="226" y="27"/>
                      <a:pt x="227" y="31"/>
                      <a:pt x="228" y="34"/>
                    </a:cubicBezTo>
                    <a:cubicBezTo>
                      <a:pt x="229" y="37"/>
                      <a:pt x="231" y="39"/>
                      <a:pt x="234" y="39"/>
                    </a:cubicBezTo>
                    <a:lnTo>
                      <a:pt x="372" y="39"/>
                    </a:lnTo>
                    <a:lnTo>
                      <a:pt x="263" y="280"/>
                    </a:lnTo>
                    <a:cubicBezTo>
                      <a:pt x="262" y="282"/>
                      <a:pt x="262" y="284"/>
                      <a:pt x="261" y="286"/>
                    </a:cubicBezTo>
                    <a:cubicBezTo>
                      <a:pt x="261" y="287"/>
                      <a:pt x="262" y="288"/>
                      <a:pt x="263" y="289"/>
                    </a:cubicBezTo>
                    <a:cubicBezTo>
                      <a:pt x="264" y="290"/>
                      <a:pt x="267" y="290"/>
                      <a:pt x="269" y="291"/>
                    </a:cubicBezTo>
                    <a:cubicBezTo>
                      <a:pt x="272" y="291"/>
                      <a:pt x="276" y="292"/>
                      <a:pt x="281" y="292"/>
                    </a:cubicBezTo>
                    <a:cubicBezTo>
                      <a:pt x="285" y="292"/>
                      <a:pt x="288" y="292"/>
                      <a:pt x="291" y="292"/>
                    </a:cubicBezTo>
                    <a:cubicBezTo>
                      <a:pt x="293" y="292"/>
                      <a:pt x="296" y="291"/>
                      <a:pt x="298" y="290"/>
                    </a:cubicBezTo>
                    <a:cubicBezTo>
                      <a:pt x="299" y="289"/>
                      <a:pt x="300" y="288"/>
                      <a:pt x="301" y="287"/>
                    </a:cubicBezTo>
                    <a:cubicBezTo>
                      <a:pt x="302" y="286"/>
                      <a:pt x="303" y="285"/>
                      <a:pt x="304" y="283"/>
                    </a:cubicBezTo>
                    <a:lnTo>
                      <a:pt x="407" y="47"/>
                    </a:lnTo>
                    <a:cubicBezTo>
                      <a:pt x="408" y="45"/>
                      <a:pt x="409" y="42"/>
                      <a:pt x="410" y="40"/>
                    </a:cubicBezTo>
                    <a:cubicBezTo>
                      <a:pt x="410" y="39"/>
                      <a:pt x="410" y="37"/>
                      <a:pt x="411" y="35"/>
                    </a:cubicBezTo>
                    <a:cubicBezTo>
                      <a:pt x="411" y="33"/>
                      <a:pt x="411" y="31"/>
                      <a:pt x="411" y="29"/>
                    </a:cubicBezTo>
                    <a:cubicBezTo>
                      <a:pt x="412" y="27"/>
                      <a:pt x="412" y="25"/>
                      <a:pt x="412" y="22"/>
                    </a:cubicBezTo>
                    <a:cubicBezTo>
                      <a:pt x="412" y="19"/>
                      <a:pt x="412" y="16"/>
                      <a:pt x="411" y="14"/>
                    </a:cubicBezTo>
                    <a:cubicBezTo>
                      <a:pt x="411" y="12"/>
                      <a:pt x="410" y="10"/>
                      <a:pt x="410" y="9"/>
                    </a:cubicBezTo>
                    <a:cubicBezTo>
                      <a:pt x="409" y="7"/>
                      <a:pt x="408" y="6"/>
                      <a:pt x="406" y="6"/>
                    </a:cubicBezTo>
                    <a:cubicBezTo>
                      <a:pt x="405" y="6"/>
                      <a:pt x="403" y="5"/>
                      <a:pt x="401" y="5"/>
                    </a:cubicBezTo>
                    <a:lnTo>
                      <a:pt x="234" y="5"/>
                    </a:lnTo>
                    <a:close/>
                    <a:moveTo>
                      <a:pt x="1352" y="29"/>
                    </a:moveTo>
                    <a:cubicBezTo>
                      <a:pt x="1359" y="29"/>
                      <a:pt x="1366" y="30"/>
                      <a:pt x="1372" y="32"/>
                    </a:cubicBezTo>
                    <a:cubicBezTo>
                      <a:pt x="1378" y="33"/>
                      <a:pt x="1384" y="37"/>
                      <a:pt x="1388" y="40"/>
                    </a:cubicBezTo>
                    <a:cubicBezTo>
                      <a:pt x="1392" y="44"/>
                      <a:pt x="1394" y="48"/>
                      <a:pt x="1397" y="53"/>
                    </a:cubicBezTo>
                    <a:cubicBezTo>
                      <a:pt x="1399" y="58"/>
                      <a:pt x="1400" y="63"/>
                      <a:pt x="1400" y="70"/>
                    </a:cubicBezTo>
                    <a:cubicBezTo>
                      <a:pt x="1400" y="81"/>
                      <a:pt x="1397" y="91"/>
                      <a:pt x="1389" y="100"/>
                    </a:cubicBezTo>
                    <a:cubicBezTo>
                      <a:pt x="1381" y="110"/>
                      <a:pt x="1369" y="118"/>
                      <a:pt x="1354" y="126"/>
                    </a:cubicBezTo>
                    <a:cubicBezTo>
                      <a:pt x="1345" y="121"/>
                      <a:pt x="1338" y="117"/>
                      <a:pt x="1331" y="113"/>
                    </a:cubicBezTo>
                    <a:cubicBezTo>
                      <a:pt x="1325" y="109"/>
                      <a:pt x="1320" y="104"/>
                      <a:pt x="1315" y="100"/>
                    </a:cubicBezTo>
                    <a:cubicBezTo>
                      <a:pt x="1311" y="95"/>
                      <a:pt x="1308" y="90"/>
                      <a:pt x="1306" y="85"/>
                    </a:cubicBezTo>
                    <a:cubicBezTo>
                      <a:pt x="1304" y="80"/>
                      <a:pt x="1303" y="75"/>
                      <a:pt x="1303" y="70"/>
                    </a:cubicBezTo>
                    <a:cubicBezTo>
                      <a:pt x="1303" y="57"/>
                      <a:pt x="1307" y="48"/>
                      <a:pt x="1315" y="40"/>
                    </a:cubicBezTo>
                    <a:cubicBezTo>
                      <a:pt x="1324" y="33"/>
                      <a:pt x="1336" y="29"/>
                      <a:pt x="1352" y="29"/>
                    </a:cubicBezTo>
                    <a:close/>
                    <a:moveTo>
                      <a:pt x="2384" y="30"/>
                    </a:moveTo>
                    <a:cubicBezTo>
                      <a:pt x="2394" y="30"/>
                      <a:pt x="2402" y="32"/>
                      <a:pt x="2409" y="35"/>
                    </a:cubicBezTo>
                    <a:cubicBezTo>
                      <a:pt x="2416" y="39"/>
                      <a:pt x="2422" y="45"/>
                      <a:pt x="2427" y="53"/>
                    </a:cubicBezTo>
                    <a:cubicBezTo>
                      <a:pt x="2431" y="61"/>
                      <a:pt x="2436" y="71"/>
                      <a:pt x="2438" y="84"/>
                    </a:cubicBezTo>
                    <a:cubicBezTo>
                      <a:pt x="2441" y="96"/>
                      <a:pt x="2442" y="112"/>
                      <a:pt x="2442" y="131"/>
                    </a:cubicBezTo>
                    <a:cubicBezTo>
                      <a:pt x="2434" y="137"/>
                      <a:pt x="2425" y="141"/>
                      <a:pt x="2415" y="144"/>
                    </a:cubicBezTo>
                    <a:cubicBezTo>
                      <a:pt x="2405" y="148"/>
                      <a:pt x="2394" y="149"/>
                      <a:pt x="2383" y="149"/>
                    </a:cubicBezTo>
                    <a:cubicBezTo>
                      <a:pt x="2373" y="149"/>
                      <a:pt x="2365" y="148"/>
                      <a:pt x="2359" y="145"/>
                    </a:cubicBezTo>
                    <a:cubicBezTo>
                      <a:pt x="2352" y="143"/>
                      <a:pt x="2346" y="139"/>
                      <a:pt x="2342" y="134"/>
                    </a:cubicBezTo>
                    <a:cubicBezTo>
                      <a:pt x="2338" y="129"/>
                      <a:pt x="2335" y="123"/>
                      <a:pt x="2333" y="115"/>
                    </a:cubicBezTo>
                    <a:cubicBezTo>
                      <a:pt x="2331" y="108"/>
                      <a:pt x="2331" y="100"/>
                      <a:pt x="2331" y="92"/>
                    </a:cubicBezTo>
                    <a:cubicBezTo>
                      <a:pt x="2331" y="84"/>
                      <a:pt x="2332" y="76"/>
                      <a:pt x="2334" y="69"/>
                    </a:cubicBezTo>
                    <a:cubicBezTo>
                      <a:pt x="2336" y="61"/>
                      <a:pt x="2339" y="55"/>
                      <a:pt x="2343" y="49"/>
                    </a:cubicBezTo>
                    <a:cubicBezTo>
                      <a:pt x="2347" y="43"/>
                      <a:pt x="2353" y="39"/>
                      <a:pt x="2360" y="35"/>
                    </a:cubicBezTo>
                    <a:cubicBezTo>
                      <a:pt x="2366" y="32"/>
                      <a:pt x="2375" y="30"/>
                      <a:pt x="2384" y="30"/>
                    </a:cubicBezTo>
                    <a:close/>
                    <a:moveTo>
                      <a:pt x="3421" y="31"/>
                    </a:moveTo>
                    <a:cubicBezTo>
                      <a:pt x="3429" y="31"/>
                      <a:pt x="3434" y="32"/>
                      <a:pt x="3440" y="33"/>
                    </a:cubicBezTo>
                    <a:cubicBezTo>
                      <a:pt x="3446" y="35"/>
                      <a:pt x="3451" y="38"/>
                      <a:pt x="3456" y="42"/>
                    </a:cubicBezTo>
                    <a:cubicBezTo>
                      <a:pt x="3460" y="46"/>
                      <a:pt x="3463" y="52"/>
                      <a:pt x="3466" y="58"/>
                    </a:cubicBezTo>
                    <a:cubicBezTo>
                      <a:pt x="3470" y="64"/>
                      <a:pt x="3472" y="71"/>
                      <a:pt x="3474" y="80"/>
                    </a:cubicBezTo>
                    <a:cubicBezTo>
                      <a:pt x="3476" y="89"/>
                      <a:pt x="3478" y="99"/>
                      <a:pt x="3479" y="110"/>
                    </a:cubicBezTo>
                    <a:cubicBezTo>
                      <a:pt x="3480" y="121"/>
                      <a:pt x="3481" y="135"/>
                      <a:pt x="3481" y="149"/>
                    </a:cubicBezTo>
                    <a:cubicBezTo>
                      <a:pt x="3481" y="159"/>
                      <a:pt x="3480" y="169"/>
                      <a:pt x="3480" y="179"/>
                    </a:cubicBezTo>
                    <a:cubicBezTo>
                      <a:pt x="3479" y="189"/>
                      <a:pt x="3478" y="198"/>
                      <a:pt x="3476" y="206"/>
                    </a:cubicBezTo>
                    <a:cubicBezTo>
                      <a:pt x="3474" y="215"/>
                      <a:pt x="3472" y="222"/>
                      <a:pt x="3469" y="229"/>
                    </a:cubicBezTo>
                    <a:cubicBezTo>
                      <a:pt x="3466" y="236"/>
                      <a:pt x="3462" y="242"/>
                      <a:pt x="3458" y="247"/>
                    </a:cubicBezTo>
                    <a:cubicBezTo>
                      <a:pt x="3453" y="252"/>
                      <a:pt x="3448" y="256"/>
                      <a:pt x="3442" y="258"/>
                    </a:cubicBezTo>
                    <a:cubicBezTo>
                      <a:pt x="3436" y="261"/>
                      <a:pt x="3428" y="263"/>
                      <a:pt x="3420" y="263"/>
                    </a:cubicBezTo>
                    <a:cubicBezTo>
                      <a:pt x="3409" y="263"/>
                      <a:pt x="3401" y="260"/>
                      <a:pt x="3393" y="256"/>
                    </a:cubicBezTo>
                    <a:cubicBezTo>
                      <a:pt x="3386" y="251"/>
                      <a:pt x="3380" y="245"/>
                      <a:pt x="3375" y="235"/>
                    </a:cubicBezTo>
                    <a:cubicBezTo>
                      <a:pt x="3370" y="226"/>
                      <a:pt x="3366" y="214"/>
                      <a:pt x="3364" y="199"/>
                    </a:cubicBezTo>
                    <a:cubicBezTo>
                      <a:pt x="3362" y="184"/>
                      <a:pt x="3361" y="166"/>
                      <a:pt x="3361" y="144"/>
                    </a:cubicBezTo>
                    <a:cubicBezTo>
                      <a:pt x="3361" y="129"/>
                      <a:pt x="3362" y="114"/>
                      <a:pt x="3363" y="100"/>
                    </a:cubicBezTo>
                    <a:cubicBezTo>
                      <a:pt x="3365" y="87"/>
                      <a:pt x="3368" y="75"/>
                      <a:pt x="3372" y="64"/>
                    </a:cubicBezTo>
                    <a:cubicBezTo>
                      <a:pt x="3377" y="54"/>
                      <a:pt x="3383" y="45"/>
                      <a:pt x="3391" y="40"/>
                    </a:cubicBezTo>
                    <a:cubicBezTo>
                      <a:pt x="3398" y="34"/>
                      <a:pt x="3409" y="31"/>
                      <a:pt x="3421" y="31"/>
                    </a:cubicBezTo>
                    <a:close/>
                    <a:moveTo>
                      <a:pt x="1349" y="159"/>
                    </a:moveTo>
                    <a:cubicBezTo>
                      <a:pt x="1359" y="163"/>
                      <a:pt x="1368" y="167"/>
                      <a:pt x="1375" y="172"/>
                    </a:cubicBezTo>
                    <a:cubicBezTo>
                      <a:pt x="1383" y="176"/>
                      <a:pt x="1389" y="181"/>
                      <a:pt x="1394" y="186"/>
                    </a:cubicBezTo>
                    <a:cubicBezTo>
                      <a:pt x="1399" y="191"/>
                      <a:pt x="1403" y="196"/>
                      <a:pt x="1405" y="202"/>
                    </a:cubicBezTo>
                    <a:cubicBezTo>
                      <a:pt x="1408" y="207"/>
                      <a:pt x="1410" y="214"/>
                      <a:pt x="1410" y="220"/>
                    </a:cubicBezTo>
                    <a:cubicBezTo>
                      <a:pt x="1410" y="234"/>
                      <a:pt x="1404" y="244"/>
                      <a:pt x="1395" y="252"/>
                    </a:cubicBezTo>
                    <a:cubicBezTo>
                      <a:pt x="1385" y="260"/>
                      <a:pt x="1371" y="264"/>
                      <a:pt x="1352" y="264"/>
                    </a:cubicBezTo>
                    <a:cubicBezTo>
                      <a:pt x="1333" y="264"/>
                      <a:pt x="1318" y="260"/>
                      <a:pt x="1308" y="252"/>
                    </a:cubicBezTo>
                    <a:cubicBezTo>
                      <a:pt x="1299" y="244"/>
                      <a:pt x="1294" y="234"/>
                      <a:pt x="1294" y="219"/>
                    </a:cubicBezTo>
                    <a:cubicBezTo>
                      <a:pt x="1294" y="213"/>
                      <a:pt x="1295" y="206"/>
                      <a:pt x="1297" y="201"/>
                    </a:cubicBezTo>
                    <a:cubicBezTo>
                      <a:pt x="1299" y="196"/>
                      <a:pt x="1303" y="191"/>
                      <a:pt x="1307" y="186"/>
                    </a:cubicBezTo>
                    <a:cubicBezTo>
                      <a:pt x="1312" y="181"/>
                      <a:pt x="1317" y="176"/>
                      <a:pt x="1324" y="172"/>
                    </a:cubicBezTo>
                    <a:cubicBezTo>
                      <a:pt x="1331" y="167"/>
                      <a:pt x="1340" y="163"/>
                      <a:pt x="1349" y="159"/>
                    </a:cubicBezTo>
                    <a:close/>
                  </a:path>
                </a:pathLst>
              </a:custGeom>
              <a:solidFill>
                <a:srgbClr val="999999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0" name="Month"/>
              <p:cNvSpPr>
                <a:spLocks noEditPoints="1"/>
              </p:cNvSpPr>
              <p:nvPr/>
            </p:nvSpPr>
            <p:spPr bwMode="auto">
              <a:xfrm>
                <a:off x="652463" y="1933576"/>
                <a:ext cx="1430338" cy="763588"/>
              </a:xfrm>
              <a:custGeom>
                <a:avLst/>
                <a:gdLst>
                  <a:gd name="T0" fmla="*/ 6506 w 6627"/>
                  <a:gd name="T1" fmla="*/ 266 h 3532"/>
                  <a:gd name="T2" fmla="*/ 5461 w 6627"/>
                  <a:gd name="T3" fmla="*/ 287 h 3532"/>
                  <a:gd name="T4" fmla="*/ 155 w 6627"/>
                  <a:gd name="T5" fmla="*/ 775 h 3532"/>
                  <a:gd name="T6" fmla="*/ 256 w 6627"/>
                  <a:gd name="T7" fmla="*/ 777 h 3532"/>
                  <a:gd name="T8" fmla="*/ 3387 w 6627"/>
                  <a:gd name="T9" fmla="*/ 686 h 3532"/>
                  <a:gd name="T10" fmla="*/ 5465 w 6627"/>
                  <a:gd name="T11" fmla="*/ 733 h 3532"/>
                  <a:gd name="T12" fmla="*/ 6511 w 6627"/>
                  <a:gd name="T13" fmla="*/ 781 h 3532"/>
                  <a:gd name="T14" fmla="*/ 2340 w 6627"/>
                  <a:gd name="T15" fmla="*/ 912 h 3532"/>
                  <a:gd name="T16" fmla="*/ 1306 w 6627"/>
                  <a:gd name="T17" fmla="*/ 930 h 3532"/>
                  <a:gd name="T18" fmla="*/ 4263 w 6627"/>
                  <a:gd name="T19" fmla="*/ 650 h 3532"/>
                  <a:gd name="T20" fmla="*/ 3356 w 6627"/>
                  <a:gd name="T21" fmla="*/ 889 h 3532"/>
                  <a:gd name="T22" fmla="*/ 316 w 6627"/>
                  <a:gd name="T23" fmla="*/ 1294 h 3532"/>
                  <a:gd name="T24" fmla="*/ 3468 w 6627"/>
                  <a:gd name="T25" fmla="*/ 1505 h 3532"/>
                  <a:gd name="T26" fmla="*/ 6433 w 6627"/>
                  <a:gd name="T27" fmla="*/ 1414 h 3532"/>
                  <a:gd name="T28" fmla="*/ 5268 w 6627"/>
                  <a:gd name="T29" fmla="*/ 1295 h 3532"/>
                  <a:gd name="T30" fmla="*/ 90 w 6627"/>
                  <a:gd name="T31" fmla="*/ 1296 h 3532"/>
                  <a:gd name="T32" fmla="*/ 3200 w 6627"/>
                  <a:gd name="T33" fmla="*/ 1296 h 3532"/>
                  <a:gd name="T34" fmla="*/ 4233 w 6627"/>
                  <a:gd name="T35" fmla="*/ 1296 h 3532"/>
                  <a:gd name="T36" fmla="*/ 6298 w 6627"/>
                  <a:gd name="T37" fmla="*/ 1296 h 3532"/>
                  <a:gd name="T38" fmla="*/ 1129 w 6627"/>
                  <a:gd name="T39" fmla="*/ 1297 h 3532"/>
                  <a:gd name="T40" fmla="*/ 1358 w 6627"/>
                  <a:gd name="T41" fmla="*/ 1297 h 3532"/>
                  <a:gd name="T42" fmla="*/ 4483 w 6627"/>
                  <a:gd name="T43" fmla="*/ 1297 h 3532"/>
                  <a:gd name="T44" fmla="*/ 5416 w 6627"/>
                  <a:gd name="T45" fmla="*/ 1439 h 3532"/>
                  <a:gd name="T46" fmla="*/ 5560 w 6627"/>
                  <a:gd name="T47" fmla="*/ 1326 h 3532"/>
                  <a:gd name="T48" fmla="*/ 6549 w 6627"/>
                  <a:gd name="T49" fmla="*/ 1552 h 3532"/>
                  <a:gd name="T50" fmla="*/ 1415 w 6627"/>
                  <a:gd name="T51" fmla="*/ 1961 h 3532"/>
                  <a:gd name="T52" fmla="*/ 2458 w 6627"/>
                  <a:gd name="T53" fmla="*/ 1980 h 3532"/>
                  <a:gd name="T54" fmla="*/ 3282 w 6627"/>
                  <a:gd name="T55" fmla="*/ 2227 h 3532"/>
                  <a:gd name="T56" fmla="*/ 6220 w 6627"/>
                  <a:gd name="T57" fmla="*/ 1973 h 3532"/>
                  <a:gd name="T58" fmla="*/ 6367 w 6627"/>
                  <a:gd name="T59" fmla="*/ 2073 h 3532"/>
                  <a:gd name="T60" fmla="*/ 6479 w 6627"/>
                  <a:gd name="T61" fmla="*/ 2100 h 3532"/>
                  <a:gd name="T62" fmla="*/ 93 w 6627"/>
                  <a:gd name="T63" fmla="*/ 1944 h 3532"/>
                  <a:gd name="T64" fmla="*/ 1126 w 6627"/>
                  <a:gd name="T65" fmla="*/ 1944 h 3532"/>
                  <a:gd name="T66" fmla="*/ 2163 w 6627"/>
                  <a:gd name="T67" fmla="*/ 1944 h 3532"/>
                  <a:gd name="T68" fmla="*/ 4227 w 6627"/>
                  <a:gd name="T69" fmla="*/ 1944 h 3532"/>
                  <a:gd name="T70" fmla="*/ 4320 w 6627"/>
                  <a:gd name="T71" fmla="*/ 2205 h 3532"/>
                  <a:gd name="T72" fmla="*/ 5181 w 6627"/>
                  <a:gd name="T73" fmla="*/ 2204 h 3532"/>
                  <a:gd name="T74" fmla="*/ 5441 w 6627"/>
                  <a:gd name="T75" fmla="*/ 1989 h 3532"/>
                  <a:gd name="T76" fmla="*/ 4464 w 6627"/>
                  <a:gd name="T77" fmla="*/ 1947 h 3532"/>
                  <a:gd name="T78" fmla="*/ 228 w 6627"/>
                  <a:gd name="T79" fmla="*/ 1948 h 3532"/>
                  <a:gd name="T80" fmla="*/ 2406 w 6627"/>
                  <a:gd name="T81" fmla="*/ 1978 h 3532"/>
                  <a:gd name="T82" fmla="*/ 1393 w 6627"/>
                  <a:gd name="T83" fmla="*/ 2195 h 3532"/>
                  <a:gd name="T84" fmla="*/ 1049 w 6627"/>
                  <a:gd name="T85" fmla="*/ 2879 h 3532"/>
                  <a:gd name="T86" fmla="*/ 2192 w 6627"/>
                  <a:gd name="T87" fmla="*/ 2652 h 3532"/>
                  <a:gd name="T88" fmla="*/ 4147 w 6627"/>
                  <a:gd name="T89" fmla="*/ 2621 h 3532"/>
                  <a:gd name="T90" fmla="*/ 4293 w 6627"/>
                  <a:gd name="T91" fmla="*/ 2720 h 3532"/>
                  <a:gd name="T92" fmla="*/ 5261 w 6627"/>
                  <a:gd name="T93" fmla="*/ 2590 h 3532"/>
                  <a:gd name="T94" fmla="*/ 5353 w 6627"/>
                  <a:gd name="T95" fmla="*/ 2852 h 3532"/>
                  <a:gd name="T96" fmla="*/ 5447 w 6627"/>
                  <a:gd name="T97" fmla="*/ 2883 h 3532"/>
                  <a:gd name="T98" fmla="*/ 6242 w 6627"/>
                  <a:gd name="T99" fmla="*/ 2720 h 3532"/>
                  <a:gd name="T100" fmla="*/ 6359 w 6627"/>
                  <a:gd name="T101" fmla="*/ 2705 h 3532"/>
                  <a:gd name="T102" fmla="*/ 2486 w 6627"/>
                  <a:gd name="T103" fmla="*/ 2787 h 3532"/>
                  <a:gd name="T104" fmla="*/ 9 w 6627"/>
                  <a:gd name="T105" fmla="*/ 2648 h 3532"/>
                  <a:gd name="T106" fmla="*/ 119 w 6627"/>
                  <a:gd name="T107" fmla="*/ 2598 h 3532"/>
                  <a:gd name="T108" fmla="*/ 3286 w 6627"/>
                  <a:gd name="T109" fmla="*/ 2865 h 3532"/>
                  <a:gd name="T110" fmla="*/ 412 w 6627"/>
                  <a:gd name="T111" fmla="*/ 2816 h 3532"/>
                  <a:gd name="T112" fmla="*/ 1295 w 6627"/>
                  <a:gd name="T113" fmla="*/ 2877 h 3532"/>
                  <a:gd name="T114" fmla="*/ 3517 w 6627"/>
                  <a:gd name="T115" fmla="*/ 2631 h 3532"/>
                  <a:gd name="T116" fmla="*/ 6574 w 6627"/>
                  <a:gd name="T117" fmla="*/ 2648 h 3532"/>
                  <a:gd name="T118" fmla="*/ 4483 w 6627"/>
                  <a:gd name="T119" fmla="*/ 2763 h 3532"/>
                  <a:gd name="T120" fmla="*/ 34 w 6627"/>
                  <a:gd name="T121" fmla="*/ 3374 h 3532"/>
                  <a:gd name="T122" fmla="*/ 167 w 6627"/>
                  <a:gd name="T123" fmla="*/ 3333 h 3532"/>
                  <a:gd name="T124" fmla="*/ 355 w 6627"/>
                  <a:gd name="T125" fmla="*/ 3244 h 3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27" h="3532">
                    <a:moveTo>
                      <a:pt x="6411" y="0"/>
                    </a:moveTo>
                    <a:cubicBezTo>
                      <a:pt x="6402" y="0"/>
                      <a:pt x="6394" y="0"/>
                      <a:pt x="6386" y="2"/>
                    </a:cubicBezTo>
                    <a:cubicBezTo>
                      <a:pt x="6378" y="4"/>
                      <a:pt x="6371" y="7"/>
                      <a:pt x="6364" y="9"/>
                    </a:cubicBezTo>
                    <a:cubicBezTo>
                      <a:pt x="6358" y="12"/>
                      <a:pt x="6353" y="14"/>
                      <a:pt x="6348" y="16"/>
                    </a:cubicBezTo>
                    <a:cubicBezTo>
                      <a:pt x="6344" y="19"/>
                      <a:pt x="6341" y="22"/>
                      <a:pt x="6339" y="23"/>
                    </a:cubicBezTo>
                    <a:cubicBezTo>
                      <a:pt x="6338" y="25"/>
                      <a:pt x="6336" y="26"/>
                      <a:pt x="6336" y="27"/>
                    </a:cubicBezTo>
                    <a:cubicBezTo>
                      <a:pt x="6335" y="28"/>
                      <a:pt x="6334" y="29"/>
                      <a:pt x="6334" y="30"/>
                    </a:cubicBezTo>
                    <a:cubicBezTo>
                      <a:pt x="6334" y="32"/>
                      <a:pt x="6333" y="32"/>
                      <a:pt x="6333" y="34"/>
                    </a:cubicBezTo>
                    <a:cubicBezTo>
                      <a:pt x="6333" y="36"/>
                      <a:pt x="6333" y="38"/>
                      <a:pt x="6333" y="40"/>
                    </a:cubicBezTo>
                    <a:cubicBezTo>
                      <a:pt x="6333" y="43"/>
                      <a:pt x="6333" y="46"/>
                      <a:pt x="6333" y="48"/>
                    </a:cubicBezTo>
                    <a:cubicBezTo>
                      <a:pt x="6334" y="50"/>
                      <a:pt x="6334" y="52"/>
                      <a:pt x="6335" y="53"/>
                    </a:cubicBezTo>
                    <a:cubicBezTo>
                      <a:pt x="6336" y="55"/>
                      <a:pt x="6336" y="55"/>
                      <a:pt x="6337" y="56"/>
                    </a:cubicBezTo>
                    <a:cubicBezTo>
                      <a:pt x="6338" y="57"/>
                      <a:pt x="6338" y="57"/>
                      <a:pt x="6339" y="57"/>
                    </a:cubicBezTo>
                    <a:cubicBezTo>
                      <a:pt x="6341" y="57"/>
                      <a:pt x="6344" y="56"/>
                      <a:pt x="6347" y="53"/>
                    </a:cubicBezTo>
                    <a:cubicBezTo>
                      <a:pt x="6351" y="51"/>
                      <a:pt x="6355" y="48"/>
                      <a:pt x="6361" y="45"/>
                    </a:cubicBezTo>
                    <a:cubicBezTo>
                      <a:pt x="6366" y="43"/>
                      <a:pt x="6373" y="39"/>
                      <a:pt x="6380" y="37"/>
                    </a:cubicBezTo>
                    <a:cubicBezTo>
                      <a:pt x="6387" y="34"/>
                      <a:pt x="6395" y="33"/>
                      <a:pt x="6404" y="33"/>
                    </a:cubicBezTo>
                    <a:cubicBezTo>
                      <a:pt x="6411" y="33"/>
                      <a:pt x="6418" y="34"/>
                      <a:pt x="6424" y="37"/>
                    </a:cubicBezTo>
                    <a:cubicBezTo>
                      <a:pt x="6430" y="39"/>
                      <a:pt x="6435" y="43"/>
                      <a:pt x="6439" y="47"/>
                    </a:cubicBezTo>
                    <a:cubicBezTo>
                      <a:pt x="6443" y="51"/>
                      <a:pt x="6446" y="57"/>
                      <a:pt x="6448" y="62"/>
                    </a:cubicBezTo>
                    <a:cubicBezTo>
                      <a:pt x="6450" y="68"/>
                      <a:pt x="6451" y="74"/>
                      <a:pt x="6451" y="80"/>
                    </a:cubicBezTo>
                    <a:cubicBezTo>
                      <a:pt x="6451" y="86"/>
                      <a:pt x="6450" y="93"/>
                      <a:pt x="6449" y="100"/>
                    </a:cubicBezTo>
                    <a:cubicBezTo>
                      <a:pt x="6447" y="107"/>
                      <a:pt x="6445" y="115"/>
                      <a:pt x="6441" y="124"/>
                    </a:cubicBezTo>
                    <a:cubicBezTo>
                      <a:pt x="6437" y="133"/>
                      <a:pt x="6430" y="143"/>
                      <a:pt x="6422" y="154"/>
                    </a:cubicBezTo>
                    <a:cubicBezTo>
                      <a:pt x="6415" y="165"/>
                      <a:pt x="6405" y="177"/>
                      <a:pt x="6392" y="190"/>
                    </a:cubicBezTo>
                    <a:lnTo>
                      <a:pt x="6337" y="248"/>
                    </a:lnTo>
                    <a:cubicBezTo>
                      <a:pt x="6335" y="250"/>
                      <a:pt x="6333" y="253"/>
                      <a:pt x="6332" y="254"/>
                    </a:cubicBezTo>
                    <a:cubicBezTo>
                      <a:pt x="6331" y="256"/>
                      <a:pt x="6330" y="257"/>
                      <a:pt x="6330" y="259"/>
                    </a:cubicBezTo>
                    <a:cubicBezTo>
                      <a:pt x="6329" y="261"/>
                      <a:pt x="6328" y="263"/>
                      <a:pt x="6328" y="265"/>
                    </a:cubicBezTo>
                    <a:cubicBezTo>
                      <a:pt x="6328" y="267"/>
                      <a:pt x="6328" y="270"/>
                      <a:pt x="6328" y="273"/>
                    </a:cubicBezTo>
                    <a:cubicBezTo>
                      <a:pt x="6328" y="276"/>
                      <a:pt x="6328" y="279"/>
                      <a:pt x="6329" y="281"/>
                    </a:cubicBezTo>
                    <a:cubicBezTo>
                      <a:pt x="6329" y="283"/>
                      <a:pt x="6329" y="285"/>
                      <a:pt x="6331" y="286"/>
                    </a:cubicBezTo>
                    <a:cubicBezTo>
                      <a:pt x="6332" y="287"/>
                      <a:pt x="6333" y="288"/>
                      <a:pt x="6335" y="289"/>
                    </a:cubicBezTo>
                    <a:cubicBezTo>
                      <a:pt x="6337" y="289"/>
                      <a:pt x="6338" y="289"/>
                      <a:pt x="6340" y="289"/>
                    </a:cubicBezTo>
                    <a:lnTo>
                      <a:pt x="6498" y="289"/>
                    </a:lnTo>
                    <a:cubicBezTo>
                      <a:pt x="6499" y="289"/>
                      <a:pt x="6501" y="289"/>
                      <a:pt x="6502" y="288"/>
                    </a:cubicBezTo>
                    <a:cubicBezTo>
                      <a:pt x="6503" y="287"/>
                      <a:pt x="6504" y="287"/>
                      <a:pt x="6504" y="285"/>
                    </a:cubicBezTo>
                    <a:cubicBezTo>
                      <a:pt x="6505" y="284"/>
                      <a:pt x="6506" y="282"/>
                      <a:pt x="6506" y="280"/>
                    </a:cubicBezTo>
                    <a:cubicBezTo>
                      <a:pt x="6506" y="278"/>
                      <a:pt x="6506" y="276"/>
                      <a:pt x="6506" y="273"/>
                    </a:cubicBezTo>
                    <a:cubicBezTo>
                      <a:pt x="6506" y="270"/>
                      <a:pt x="6506" y="268"/>
                      <a:pt x="6506" y="266"/>
                    </a:cubicBezTo>
                    <a:cubicBezTo>
                      <a:pt x="6506" y="264"/>
                      <a:pt x="6505" y="262"/>
                      <a:pt x="6504" y="261"/>
                    </a:cubicBezTo>
                    <a:cubicBezTo>
                      <a:pt x="6504" y="259"/>
                      <a:pt x="6502" y="259"/>
                      <a:pt x="6501" y="258"/>
                    </a:cubicBezTo>
                    <a:cubicBezTo>
                      <a:pt x="6500" y="257"/>
                      <a:pt x="6499" y="257"/>
                      <a:pt x="6498" y="257"/>
                    </a:cubicBezTo>
                    <a:lnTo>
                      <a:pt x="6374" y="257"/>
                    </a:lnTo>
                    <a:lnTo>
                      <a:pt x="6419" y="210"/>
                    </a:lnTo>
                    <a:cubicBezTo>
                      <a:pt x="6435" y="193"/>
                      <a:pt x="6449" y="178"/>
                      <a:pt x="6458" y="165"/>
                    </a:cubicBezTo>
                    <a:cubicBezTo>
                      <a:pt x="6468" y="153"/>
                      <a:pt x="6475" y="141"/>
                      <a:pt x="6481" y="130"/>
                    </a:cubicBezTo>
                    <a:cubicBezTo>
                      <a:pt x="6486" y="120"/>
                      <a:pt x="6489" y="110"/>
                      <a:pt x="6491" y="101"/>
                    </a:cubicBezTo>
                    <a:cubicBezTo>
                      <a:pt x="6493" y="92"/>
                      <a:pt x="6494" y="83"/>
                      <a:pt x="6494" y="74"/>
                    </a:cubicBezTo>
                    <a:cubicBezTo>
                      <a:pt x="6494" y="64"/>
                      <a:pt x="6492" y="54"/>
                      <a:pt x="6488" y="45"/>
                    </a:cubicBezTo>
                    <a:cubicBezTo>
                      <a:pt x="6485" y="37"/>
                      <a:pt x="6479" y="28"/>
                      <a:pt x="6473" y="22"/>
                    </a:cubicBezTo>
                    <a:cubicBezTo>
                      <a:pt x="6466" y="15"/>
                      <a:pt x="6457" y="10"/>
                      <a:pt x="6447" y="6"/>
                    </a:cubicBezTo>
                    <a:cubicBezTo>
                      <a:pt x="6437" y="2"/>
                      <a:pt x="6425" y="0"/>
                      <a:pt x="6411" y="0"/>
                    </a:cubicBezTo>
                    <a:close/>
                    <a:moveTo>
                      <a:pt x="5389" y="0"/>
                    </a:moveTo>
                    <a:cubicBezTo>
                      <a:pt x="5386" y="0"/>
                      <a:pt x="5383" y="1"/>
                      <a:pt x="5382" y="1"/>
                    </a:cubicBezTo>
                    <a:cubicBezTo>
                      <a:pt x="5380" y="1"/>
                      <a:pt x="5379" y="1"/>
                      <a:pt x="5377" y="1"/>
                    </a:cubicBezTo>
                    <a:cubicBezTo>
                      <a:pt x="5376" y="2"/>
                      <a:pt x="5375" y="2"/>
                      <a:pt x="5374" y="2"/>
                    </a:cubicBezTo>
                    <a:cubicBezTo>
                      <a:pt x="5373" y="3"/>
                      <a:pt x="5373" y="3"/>
                      <a:pt x="5372" y="3"/>
                    </a:cubicBezTo>
                    <a:lnTo>
                      <a:pt x="5306" y="45"/>
                    </a:lnTo>
                    <a:cubicBezTo>
                      <a:pt x="5304" y="46"/>
                      <a:pt x="5304" y="47"/>
                      <a:pt x="5303" y="48"/>
                    </a:cubicBezTo>
                    <a:cubicBezTo>
                      <a:pt x="5302" y="49"/>
                      <a:pt x="5301" y="50"/>
                      <a:pt x="5300" y="52"/>
                    </a:cubicBezTo>
                    <a:cubicBezTo>
                      <a:pt x="5300" y="53"/>
                      <a:pt x="5300" y="54"/>
                      <a:pt x="5300" y="56"/>
                    </a:cubicBezTo>
                    <a:cubicBezTo>
                      <a:pt x="5299" y="58"/>
                      <a:pt x="5300" y="60"/>
                      <a:pt x="5300" y="62"/>
                    </a:cubicBezTo>
                    <a:cubicBezTo>
                      <a:pt x="5300" y="66"/>
                      <a:pt x="5300" y="68"/>
                      <a:pt x="5300" y="70"/>
                    </a:cubicBezTo>
                    <a:cubicBezTo>
                      <a:pt x="5301" y="72"/>
                      <a:pt x="5301" y="75"/>
                      <a:pt x="5302" y="75"/>
                    </a:cubicBezTo>
                    <a:cubicBezTo>
                      <a:pt x="5303" y="76"/>
                      <a:pt x="5305" y="77"/>
                      <a:pt x="5307" y="76"/>
                    </a:cubicBezTo>
                    <a:cubicBezTo>
                      <a:pt x="5308" y="76"/>
                      <a:pt x="5310" y="75"/>
                      <a:pt x="5313" y="74"/>
                    </a:cubicBezTo>
                    <a:lnTo>
                      <a:pt x="5368" y="41"/>
                    </a:lnTo>
                    <a:lnTo>
                      <a:pt x="5368" y="258"/>
                    </a:lnTo>
                    <a:lnTo>
                      <a:pt x="5308" y="258"/>
                    </a:lnTo>
                    <a:cubicBezTo>
                      <a:pt x="5307" y="258"/>
                      <a:pt x="5307" y="258"/>
                      <a:pt x="5306" y="259"/>
                    </a:cubicBezTo>
                    <a:cubicBezTo>
                      <a:pt x="5305" y="260"/>
                      <a:pt x="5304" y="260"/>
                      <a:pt x="5303" y="262"/>
                    </a:cubicBezTo>
                    <a:cubicBezTo>
                      <a:pt x="5302" y="263"/>
                      <a:pt x="5302" y="264"/>
                      <a:pt x="5301" y="266"/>
                    </a:cubicBezTo>
                    <a:cubicBezTo>
                      <a:pt x="5301" y="268"/>
                      <a:pt x="5300" y="270"/>
                      <a:pt x="5300" y="273"/>
                    </a:cubicBezTo>
                    <a:cubicBezTo>
                      <a:pt x="5300" y="276"/>
                      <a:pt x="5301" y="278"/>
                      <a:pt x="5301" y="280"/>
                    </a:cubicBezTo>
                    <a:cubicBezTo>
                      <a:pt x="5302" y="282"/>
                      <a:pt x="5302" y="283"/>
                      <a:pt x="5303" y="284"/>
                    </a:cubicBezTo>
                    <a:cubicBezTo>
                      <a:pt x="5304" y="286"/>
                      <a:pt x="5305" y="287"/>
                      <a:pt x="5306" y="287"/>
                    </a:cubicBezTo>
                    <a:cubicBezTo>
                      <a:pt x="5307" y="288"/>
                      <a:pt x="5307" y="288"/>
                      <a:pt x="5308" y="288"/>
                    </a:cubicBezTo>
                    <a:lnTo>
                      <a:pt x="5457" y="288"/>
                    </a:lnTo>
                    <a:cubicBezTo>
                      <a:pt x="5459" y="288"/>
                      <a:pt x="5460" y="288"/>
                      <a:pt x="5461" y="287"/>
                    </a:cubicBezTo>
                    <a:cubicBezTo>
                      <a:pt x="5462" y="287"/>
                      <a:pt x="5462" y="286"/>
                      <a:pt x="5463" y="284"/>
                    </a:cubicBezTo>
                    <a:cubicBezTo>
                      <a:pt x="5463" y="283"/>
                      <a:pt x="5464" y="282"/>
                      <a:pt x="5465" y="280"/>
                    </a:cubicBezTo>
                    <a:cubicBezTo>
                      <a:pt x="5465" y="278"/>
                      <a:pt x="5465" y="276"/>
                      <a:pt x="5465" y="273"/>
                    </a:cubicBezTo>
                    <a:cubicBezTo>
                      <a:pt x="5465" y="270"/>
                      <a:pt x="5466" y="268"/>
                      <a:pt x="5465" y="266"/>
                    </a:cubicBezTo>
                    <a:cubicBezTo>
                      <a:pt x="5465" y="264"/>
                      <a:pt x="5464" y="263"/>
                      <a:pt x="5464" y="262"/>
                    </a:cubicBezTo>
                    <a:cubicBezTo>
                      <a:pt x="5463" y="260"/>
                      <a:pt x="5462" y="260"/>
                      <a:pt x="5461" y="259"/>
                    </a:cubicBezTo>
                    <a:cubicBezTo>
                      <a:pt x="5460" y="258"/>
                      <a:pt x="5459" y="258"/>
                      <a:pt x="5457" y="258"/>
                    </a:cubicBezTo>
                    <a:lnTo>
                      <a:pt x="5406" y="258"/>
                    </a:lnTo>
                    <a:lnTo>
                      <a:pt x="5406" y="7"/>
                    </a:lnTo>
                    <a:cubicBezTo>
                      <a:pt x="5406" y="6"/>
                      <a:pt x="5406" y="6"/>
                      <a:pt x="5405" y="5"/>
                    </a:cubicBezTo>
                    <a:cubicBezTo>
                      <a:pt x="5405" y="4"/>
                      <a:pt x="5404" y="3"/>
                      <a:pt x="5403" y="2"/>
                    </a:cubicBezTo>
                    <a:cubicBezTo>
                      <a:pt x="5401" y="2"/>
                      <a:pt x="5400" y="2"/>
                      <a:pt x="5398" y="1"/>
                    </a:cubicBezTo>
                    <a:cubicBezTo>
                      <a:pt x="5395" y="1"/>
                      <a:pt x="5392" y="0"/>
                      <a:pt x="5389" y="0"/>
                    </a:cubicBezTo>
                    <a:close/>
                    <a:moveTo>
                      <a:pt x="206" y="646"/>
                    </a:moveTo>
                    <a:cubicBezTo>
                      <a:pt x="197" y="646"/>
                      <a:pt x="188" y="647"/>
                      <a:pt x="180" y="649"/>
                    </a:cubicBezTo>
                    <a:cubicBezTo>
                      <a:pt x="172" y="650"/>
                      <a:pt x="165" y="652"/>
                      <a:pt x="159" y="655"/>
                    </a:cubicBezTo>
                    <a:cubicBezTo>
                      <a:pt x="153" y="657"/>
                      <a:pt x="147" y="660"/>
                      <a:pt x="143" y="663"/>
                    </a:cubicBezTo>
                    <a:cubicBezTo>
                      <a:pt x="139" y="665"/>
                      <a:pt x="135" y="668"/>
                      <a:pt x="134" y="669"/>
                    </a:cubicBezTo>
                    <a:cubicBezTo>
                      <a:pt x="133" y="670"/>
                      <a:pt x="132" y="672"/>
                      <a:pt x="131" y="673"/>
                    </a:cubicBezTo>
                    <a:cubicBezTo>
                      <a:pt x="131" y="674"/>
                      <a:pt x="130" y="675"/>
                      <a:pt x="130" y="676"/>
                    </a:cubicBezTo>
                    <a:cubicBezTo>
                      <a:pt x="129" y="677"/>
                      <a:pt x="129" y="679"/>
                      <a:pt x="129" y="680"/>
                    </a:cubicBezTo>
                    <a:cubicBezTo>
                      <a:pt x="129" y="682"/>
                      <a:pt x="129" y="684"/>
                      <a:pt x="129" y="686"/>
                    </a:cubicBezTo>
                    <a:cubicBezTo>
                      <a:pt x="129" y="689"/>
                      <a:pt x="129" y="692"/>
                      <a:pt x="129" y="694"/>
                    </a:cubicBezTo>
                    <a:cubicBezTo>
                      <a:pt x="129" y="696"/>
                      <a:pt x="129" y="698"/>
                      <a:pt x="130" y="699"/>
                    </a:cubicBezTo>
                    <a:cubicBezTo>
                      <a:pt x="130" y="700"/>
                      <a:pt x="131" y="700"/>
                      <a:pt x="132" y="701"/>
                    </a:cubicBezTo>
                    <a:cubicBezTo>
                      <a:pt x="133" y="701"/>
                      <a:pt x="134" y="702"/>
                      <a:pt x="135" y="702"/>
                    </a:cubicBezTo>
                    <a:cubicBezTo>
                      <a:pt x="136" y="702"/>
                      <a:pt x="139" y="700"/>
                      <a:pt x="143" y="697"/>
                    </a:cubicBezTo>
                    <a:cubicBezTo>
                      <a:pt x="147" y="695"/>
                      <a:pt x="151" y="692"/>
                      <a:pt x="156" y="689"/>
                    </a:cubicBezTo>
                    <a:cubicBezTo>
                      <a:pt x="162" y="686"/>
                      <a:pt x="168" y="684"/>
                      <a:pt x="176" y="681"/>
                    </a:cubicBezTo>
                    <a:cubicBezTo>
                      <a:pt x="183" y="679"/>
                      <a:pt x="191" y="677"/>
                      <a:pt x="199" y="677"/>
                    </a:cubicBezTo>
                    <a:cubicBezTo>
                      <a:pt x="207" y="677"/>
                      <a:pt x="214" y="678"/>
                      <a:pt x="220" y="680"/>
                    </a:cubicBezTo>
                    <a:cubicBezTo>
                      <a:pt x="226" y="683"/>
                      <a:pt x="231" y="686"/>
                      <a:pt x="235" y="690"/>
                    </a:cubicBezTo>
                    <a:cubicBezTo>
                      <a:pt x="238" y="694"/>
                      <a:pt x="241" y="699"/>
                      <a:pt x="243" y="704"/>
                    </a:cubicBezTo>
                    <a:cubicBezTo>
                      <a:pt x="244" y="710"/>
                      <a:pt x="246" y="715"/>
                      <a:pt x="246" y="721"/>
                    </a:cubicBezTo>
                    <a:cubicBezTo>
                      <a:pt x="246" y="729"/>
                      <a:pt x="245" y="737"/>
                      <a:pt x="242" y="743"/>
                    </a:cubicBezTo>
                    <a:cubicBezTo>
                      <a:pt x="239" y="750"/>
                      <a:pt x="235" y="755"/>
                      <a:pt x="229" y="760"/>
                    </a:cubicBezTo>
                    <a:cubicBezTo>
                      <a:pt x="224" y="765"/>
                      <a:pt x="217" y="768"/>
                      <a:pt x="209" y="770"/>
                    </a:cubicBezTo>
                    <a:cubicBezTo>
                      <a:pt x="201" y="773"/>
                      <a:pt x="193" y="774"/>
                      <a:pt x="183" y="774"/>
                    </a:cubicBezTo>
                    <a:lnTo>
                      <a:pt x="159" y="774"/>
                    </a:lnTo>
                    <a:cubicBezTo>
                      <a:pt x="157" y="774"/>
                      <a:pt x="156" y="774"/>
                      <a:pt x="155" y="775"/>
                    </a:cubicBezTo>
                    <a:cubicBezTo>
                      <a:pt x="154" y="775"/>
                      <a:pt x="153" y="776"/>
                      <a:pt x="152" y="777"/>
                    </a:cubicBezTo>
                    <a:cubicBezTo>
                      <a:pt x="151" y="779"/>
                      <a:pt x="150" y="780"/>
                      <a:pt x="150" y="782"/>
                    </a:cubicBezTo>
                    <a:cubicBezTo>
                      <a:pt x="149" y="784"/>
                      <a:pt x="150" y="786"/>
                      <a:pt x="150" y="789"/>
                    </a:cubicBezTo>
                    <a:cubicBezTo>
                      <a:pt x="150" y="792"/>
                      <a:pt x="149" y="794"/>
                      <a:pt x="150" y="796"/>
                    </a:cubicBezTo>
                    <a:cubicBezTo>
                      <a:pt x="150" y="798"/>
                      <a:pt x="152" y="799"/>
                      <a:pt x="153" y="800"/>
                    </a:cubicBezTo>
                    <a:cubicBezTo>
                      <a:pt x="153" y="802"/>
                      <a:pt x="154" y="803"/>
                      <a:pt x="155" y="803"/>
                    </a:cubicBezTo>
                    <a:cubicBezTo>
                      <a:pt x="156" y="804"/>
                      <a:pt x="158" y="804"/>
                      <a:pt x="159" y="804"/>
                    </a:cubicBezTo>
                    <a:lnTo>
                      <a:pt x="185" y="804"/>
                    </a:lnTo>
                    <a:cubicBezTo>
                      <a:pt x="197" y="804"/>
                      <a:pt x="207" y="805"/>
                      <a:pt x="216" y="807"/>
                    </a:cubicBezTo>
                    <a:cubicBezTo>
                      <a:pt x="225" y="810"/>
                      <a:pt x="232" y="814"/>
                      <a:pt x="238" y="819"/>
                    </a:cubicBezTo>
                    <a:cubicBezTo>
                      <a:pt x="244" y="824"/>
                      <a:pt x="249" y="829"/>
                      <a:pt x="252" y="836"/>
                    </a:cubicBezTo>
                    <a:cubicBezTo>
                      <a:pt x="255" y="842"/>
                      <a:pt x="257" y="849"/>
                      <a:pt x="257" y="857"/>
                    </a:cubicBezTo>
                    <a:cubicBezTo>
                      <a:pt x="257" y="864"/>
                      <a:pt x="256" y="872"/>
                      <a:pt x="253" y="878"/>
                    </a:cubicBezTo>
                    <a:cubicBezTo>
                      <a:pt x="251" y="884"/>
                      <a:pt x="247" y="889"/>
                      <a:pt x="242" y="894"/>
                    </a:cubicBezTo>
                    <a:cubicBezTo>
                      <a:pt x="237" y="898"/>
                      <a:pt x="230" y="902"/>
                      <a:pt x="223" y="904"/>
                    </a:cubicBezTo>
                    <a:cubicBezTo>
                      <a:pt x="216" y="907"/>
                      <a:pt x="207" y="908"/>
                      <a:pt x="198" y="908"/>
                    </a:cubicBezTo>
                    <a:cubicBezTo>
                      <a:pt x="188" y="908"/>
                      <a:pt x="179" y="907"/>
                      <a:pt x="171" y="904"/>
                    </a:cubicBezTo>
                    <a:cubicBezTo>
                      <a:pt x="163" y="902"/>
                      <a:pt x="155" y="900"/>
                      <a:pt x="149" y="897"/>
                    </a:cubicBezTo>
                    <a:cubicBezTo>
                      <a:pt x="143" y="895"/>
                      <a:pt x="138" y="892"/>
                      <a:pt x="134" y="889"/>
                    </a:cubicBezTo>
                    <a:cubicBezTo>
                      <a:pt x="130" y="887"/>
                      <a:pt x="127" y="886"/>
                      <a:pt x="126" y="886"/>
                    </a:cubicBezTo>
                    <a:cubicBezTo>
                      <a:pt x="124" y="886"/>
                      <a:pt x="123" y="887"/>
                      <a:pt x="122" y="889"/>
                    </a:cubicBezTo>
                    <a:cubicBezTo>
                      <a:pt x="121" y="891"/>
                      <a:pt x="121" y="895"/>
                      <a:pt x="121" y="900"/>
                    </a:cubicBezTo>
                    <a:cubicBezTo>
                      <a:pt x="121" y="903"/>
                      <a:pt x="121" y="906"/>
                      <a:pt x="121" y="908"/>
                    </a:cubicBezTo>
                    <a:cubicBezTo>
                      <a:pt x="121" y="910"/>
                      <a:pt x="121" y="912"/>
                      <a:pt x="122" y="913"/>
                    </a:cubicBezTo>
                    <a:cubicBezTo>
                      <a:pt x="122" y="915"/>
                      <a:pt x="123" y="916"/>
                      <a:pt x="123" y="917"/>
                    </a:cubicBezTo>
                    <a:cubicBezTo>
                      <a:pt x="124" y="918"/>
                      <a:pt x="125" y="919"/>
                      <a:pt x="126" y="920"/>
                    </a:cubicBezTo>
                    <a:cubicBezTo>
                      <a:pt x="127" y="921"/>
                      <a:pt x="130" y="922"/>
                      <a:pt x="134" y="925"/>
                    </a:cubicBezTo>
                    <a:cubicBezTo>
                      <a:pt x="138" y="927"/>
                      <a:pt x="143" y="930"/>
                      <a:pt x="150" y="932"/>
                    </a:cubicBezTo>
                    <a:cubicBezTo>
                      <a:pt x="156" y="934"/>
                      <a:pt x="164" y="936"/>
                      <a:pt x="172" y="937"/>
                    </a:cubicBezTo>
                    <a:cubicBezTo>
                      <a:pt x="180" y="939"/>
                      <a:pt x="190" y="940"/>
                      <a:pt x="199" y="940"/>
                    </a:cubicBezTo>
                    <a:cubicBezTo>
                      <a:pt x="215" y="940"/>
                      <a:pt x="229" y="938"/>
                      <a:pt x="242" y="934"/>
                    </a:cubicBezTo>
                    <a:cubicBezTo>
                      <a:pt x="254" y="930"/>
                      <a:pt x="264" y="923"/>
                      <a:pt x="273" y="916"/>
                    </a:cubicBezTo>
                    <a:cubicBezTo>
                      <a:pt x="281" y="908"/>
                      <a:pt x="288" y="900"/>
                      <a:pt x="293" y="889"/>
                    </a:cubicBezTo>
                    <a:cubicBezTo>
                      <a:pt x="297" y="879"/>
                      <a:pt x="299" y="866"/>
                      <a:pt x="299" y="853"/>
                    </a:cubicBezTo>
                    <a:lnTo>
                      <a:pt x="300" y="853"/>
                    </a:lnTo>
                    <a:cubicBezTo>
                      <a:pt x="300" y="844"/>
                      <a:pt x="298" y="837"/>
                      <a:pt x="295" y="829"/>
                    </a:cubicBezTo>
                    <a:cubicBezTo>
                      <a:pt x="291" y="821"/>
                      <a:pt x="286" y="813"/>
                      <a:pt x="280" y="807"/>
                    </a:cubicBezTo>
                    <a:cubicBezTo>
                      <a:pt x="275" y="802"/>
                      <a:pt x="267" y="797"/>
                      <a:pt x="259" y="793"/>
                    </a:cubicBezTo>
                    <a:cubicBezTo>
                      <a:pt x="251" y="789"/>
                      <a:pt x="243" y="786"/>
                      <a:pt x="233" y="785"/>
                    </a:cubicBezTo>
                    <a:cubicBezTo>
                      <a:pt x="242" y="784"/>
                      <a:pt x="249" y="781"/>
                      <a:pt x="256" y="777"/>
                    </a:cubicBezTo>
                    <a:cubicBezTo>
                      <a:pt x="262" y="772"/>
                      <a:pt x="268" y="768"/>
                      <a:pt x="273" y="762"/>
                    </a:cubicBezTo>
                    <a:cubicBezTo>
                      <a:pt x="277" y="756"/>
                      <a:pt x="281" y="749"/>
                      <a:pt x="283" y="741"/>
                    </a:cubicBezTo>
                    <a:cubicBezTo>
                      <a:pt x="285" y="734"/>
                      <a:pt x="287" y="725"/>
                      <a:pt x="287" y="716"/>
                    </a:cubicBezTo>
                    <a:cubicBezTo>
                      <a:pt x="287" y="705"/>
                      <a:pt x="285" y="696"/>
                      <a:pt x="281" y="688"/>
                    </a:cubicBezTo>
                    <a:cubicBezTo>
                      <a:pt x="278" y="679"/>
                      <a:pt x="273" y="672"/>
                      <a:pt x="266" y="665"/>
                    </a:cubicBezTo>
                    <a:cubicBezTo>
                      <a:pt x="260" y="659"/>
                      <a:pt x="252" y="654"/>
                      <a:pt x="242" y="650"/>
                    </a:cubicBezTo>
                    <a:cubicBezTo>
                      <a:pt x="232" y="647"/>
                      <a:pt x="220" y="646"/>
                      <a:pt x="206" y="646"/>
                    </a:cubicBezTo>
                    <a:close/>
                    <a:moveTo>
                      <a:pt x="3338" y="646"/>
                    </a:moveTo>
                    <a:cubicBezTo>
                      <a:pt x="3322" y="646"/>
                      <a:pt x="3308" y="648"/>
                      <a:pt x="3296" y="652"/>
                    </a:cubicBezTo>
                    <a:cubicBezTo>
                      <a:pt x="3284" y="657"/>
                      <a:pt x="3273" y="663"/>
                      <a:pt x="3264" y="671"/>
                    </a:cubicBezTo>
                    <a:cubicBezTo>
                      <a:pt x="3255" y="678"/>
                      <a:pt x="3249" y="687"/>
                      <a:pt x="3243" y="697"/>
                    </a:cubicBezTo>
                    <a:cubicBezTo>
                      <a:pt x="3237" y="707"/>
                      <a:pt x="3232" y="718"/>
                      <a:pt x="3229" y="730"/>
                    </a:cubicBezTo>
                    <a:cubicBezTo>
                      <a:pt x="3225" y="741"/>
                      <a:pt x="3223" y="754"/>
                      <a:pt x="3222" y="766"/>
                    </a:cubicBezTo>
                    <a:cubicBezTo>
                      <a:pt x="3220" y="779"/>
                      <a:pt x="3220" y="791"/>
                      <a:pt x="3220" y="803"/>
                    </a:cubicBezTo>
                    <a:cubicBezTo>
                      <a:pt x="3220" y="817"/>
                      <a:pt x="3221" y="830"/>
                      <a:pt x="3222" y="842"/>
                    </a:cubicBezTo>
                    <a:cubicBezTo>
                      <a:pt x="3223" y="854"/>
                      <a:pt x="3224" y="865"/>
                      <a:pt x="3227" y="875"/>
                    </a:cubicBezTo>
                    <a:cubicBezTo>
                      <a:pt x="3230" y="886"/>
                      <a:pt x="3234" y="895"/>
                      <a:pt x="3239" y="903"/>
                    </a:cubicBezTo>
                    <a:cubicBezTo>
                      <a:pt x="3243" y="911"/>
                      <a:pt x="3248" y="917"/>
                      <a:pt x="3255" y="922"/>
                    </a:cubicBezTo>
                    <a:cubicBezTo>
                      <a:pt x="3262" y="928"/>
                      <a:pt x="3270" y="932"/>
                      <a:pt x="3279" y="935"/>
                    </a:cubicBezTo>
                    <a:cubicBezTo>
                      <a:pt x="3288" y="938"/>
                      <a:pt x="3299" y="940"/>
                      <a:pt x="3311" y="940"/>
                    </a:cubicBezTo>
                    <a:cubicBezTo>
                      <a:pt x="3327" y="940"/>
                      <a:pt x="3342" y="936"/>
                      <a:pt x="3354" y="931"/>
                    </a:cubicBezTo>
                    <a:cubicBezTo>
                      <a:pt x="3366" y="926"/>
                      <a:pt x="3376" y="919"/>
                      <a:pt x="3384" y="910"/>
                    </a:cubicBezTo>
                    <a:cubicBezTo>
                      <a:pt x="3392" y="901"/>
                      <a:pt x="3398" y="891"/>
                      <a:pt x="3402" y="879"/>
                    </a:cubicBezTo>
                    <a:cubicBezTo>
                      <a:pt x="3405" y="867"/>
                      <a:pt x="3407" y="855"/>
                      <a:pt x="3407" y="843"/>
                    </a:cubicBezTo>
                    <a:cubicBezTo>
                      <a:pt x="3407" y="831"/>
                      <a:pt x="3406" y="820"/>
                      <a:pt x="3403" y="810"/>
                    </a:cubicBezTo>
                    <a:cubicBezTo>
                      <a:pt x="3401" y="800"/>
                      <a:pt x="3396" y="791"/>
                      <a:pt x="3389" y="784"/>
                    </a:cubicBezTo>
                    <a:cubicBezTo>
                      <a:pt x="3383" y="776"/>
                      <a:pt x="3374" y="770"/>
                      <a:pt x="3364" y="766"/>
                    </a:cubicBezTo>
                    <a:cubicBezTo>
                      <a:pt x="3353" y="762"/>
                      <a:pt x="3339" y="760"/>
                      <a:pt x="3324" y="760"/>
                    </a:cubicBezTo>
                    <a:cubicBezTo>
                      <a:pt x="3317" y="760"/>
                      <a:pt x="3310" y="761"/>
                      <a:pt x="3304" y="762"/>
                    </a:cubicBezTo>
                    <a:cubicBezTo>
                      <a:pt x="3297" y="763"/>
                      <a:pt x="3292" y="764"/>
                      <a:pt x="3286" y="766"/>
                    </a:cubicBezTo>
                    <a:cubicBezTo>
                      <a:pt x="3280" y="768"/>
                      <a:pt x="3275" y="770"/>
                      <a:pt x="3270" y="772"/>
                    </a:cubicBezTo>
                    <a:cubicBezTo>
                      <a:pt x="3265" y="774"/>
                      <a:pt x="3262" y="776"/>
                      <a:pt x="3258" y="778"/>
                    </a:cubicBezTo>
                    <a:cubicBezTo>
                      <a:pt x="3258" y="765"/>
                      <a:pt x="3259" y="752"/>
                      <a:pt x="3262" y="740"/>
                    </a:cubicBezTo>
                    <a:cubicBezTo>
                      <a:pt x="3265" y="727"/>
                      <a:pt x="3270" y="716"/>
                      <a:pt x="3276" y="707"/>
                    </a:cubicBezTo>
                    <a:cubicBezTo>
                      <a:pt x="3283" y="698"/>
                      <a:pt x="3291" y="690"/>
                      <a:pt x="3301" y="685"/>
                    </a:cubicBezTo>
                    <a:cubicBezTo>
                      <a:pt x="3311" y="679"/>
                      <a:pt x="3323" y="676"/>
                      <a:pt x="3336" y="676"/>
                    </a:cubicBezTo>
                    <a:cubicBezTo>
                      <a:pt x="3344" y="676"/>
                      <a:pt x="3350" y="677"/>
                      <a:pt x="3356" y="678"/>
                    </a:cubicBezTo>
                    <a:cubicBezTo>
                      <a:pt x="3361" y="679"/>
                      <a:pt x="3366" y="680"/>
                      <a:pt x="3370" y="681"/>
                    </a:cubicBezTo>
                    <a:cubicBezTo>
                      <a:pt x="3374" y="683"/>
                      <a:pt x="3378" y="684"/>
                      <a:pt x="3380" y="685"/>
                    </a:cubicBezTo>
                    <a:cubicBezTo>
                      <a:pt x="3383" y="686"/>
                      <a:pt x="3385" y="686"/>
                      <a:pt x="3387" y="686"/>
                    </a:cubicBezTo>
                    <a:cubicBezTo>
                      <a:pt x="3388" y="686"/>
                      <a:pt x="3389" y="685"/>
                      <a:pt x="3390" y="685"/>
                    </a:cubicBezTo>
                    <a:cubicBezTo>
                      <a:pt x="3391" y="684"/>
                      <a:pt x="3391" y="683"/>
                      <a:pt x="3392" y="682"/>
                    </a:cubicBezTo>
                    <a:cubicBezTo>
                      <a:pt x="3392" y="681"/>
                      <a:pt x="3393" y="680"/>
                      <a:pt x="3393" y="678"/>
                    </a:cubicBezTo>
                    <a:cubicBezTo>
                      <a:pt x="3393" y="676"/>
                      <a:pt x="3393" y="673"/>
                      <a:pt x="3393" y="671"/>
                    </a:cubicBezTo>
                    <a:cubicBezTo>
                      <a:pt x="3393" y="669"/>
                      <a:pt x="3393" y="667"/>
                      <a:pt x="3393" y="665"/>
                    </a:cubicBezTo>
                    <a:cubicBezTo>
                      <a:pt x="3393" y="664"/>
                      <a:pt x="3392" y="663"/>
                      <a:pt x="3392" y="662"/>
                    </a:cubicBezTo>
                    <a:cubicBezTo>
                      <a:pt x="3392" y="661"/>
                      <a:pt x="3392" y="660"/>
                      <a:pt x="3391" y="659"/>
                    </a:cubicBezTo>
                    <a:cubicBezTo>
                      <a:pt x="3391" y="658"/>
                      <a:pt x="3389" y="657"/>
                      <a:pt x="3388" y="657"/>
                    </a:cubicBezTo>
                    <a:cubicBezTo>
                      <a:pt x="3387" y="656"/>
                      <a:pt x="3385" y="654"/>
                      <a:pt x="3382" y="653"/>
                    </a:cubicBezTo>
                    <a:cubicBezTo>
                      <a:pt x="3379" y="652"/>
                      <a:pt x="3375" y="651"/>
                      <a:pt x="3371" y="650"/>
                    </a:cubicBezTo>
                    <a:cubicBezTo>
                      <a:pt x="3366" y="649"/>
                      <a:pt x="3361" y="648"/>
                      <a:pt x="3355" y="647"/>
                    </a:cubicBezTo>
                    <a:cubicBezTo>
                      <a:pt x="3349" y="646"/>
                      <a:pt x="3344" y="646"/>
                      <a:pt x="3338" y="646"/>
                    </a:cubicBezTo>
                    <a:close/>
                    <a:moveTo>
                      <a:pt x="5385" y="646"/>
                    </a:moveTo>
                    <a:cubicBezTo>
                      <a:pt x="5370" y="646"/>
                      <a:pt x="5357" y="648"/>
                      <a:pt x="5345" y="651"/>
                    </a:cubicBezTo>
                    <a:cubicBezTo>
                      <a:pt x="5334" y="655"/>
                      <a:pt x="5325" y="660"/>
                      <a:pt x="5318" y="666"/>
                    </a:cubicBezTo>
                    <a:cubicBezTo>
                      <a:pt x="5311" y="673"/>
                      <a:pt x="5305" y="681"/>
                      <a:pt x="5301" y="689"/>
                    </a:cubicBezTo>
                    <a:cubicBezTo>
                      <a:pt x="5298" y="698"/>
                      <a:pt x="5296" y="708"/>
                      <a:pt x="5296" y="718"/>
                    </a:cubicBezTo>
                    <a:cubicBezTo>
                      <a:pt x="5296" y="725"/>
                      <a:pt x="5297" y="733"/>
                      <a:pt x="5300" y="740"/>
                    </a:cubicBezTo>
                    <a:cubicBezTo>
                      <a:pt x="5302" y="746"/>
                      <a:pt x="5306" y="753"/>
                      <a:pt x="5311" y="759"/>
                    </a:cubicBezTo>
                    <a:cubicBezTo>
                      <a:pt x="5316" y="765"/>
                      <a:pt x="5321" y="771"/>
                      <a:pt x="5328" y="776"/>
                    </a:cubicBezTo>
                    <a:cubicBezTo>
                      <a:pt x="5335" y="781"/>
                      <a:pt x="5343" y="785"/>
                      <a:pt x="5352" y="790"/>
                    </a:cubicBezTo>
                    <a:cubicBezTo>
                      <a:pt x="5341" y="795"/>
                      <a:pt x="5332" y="800"/>
                      <a:pt x="5324" y="806"/>
                    </a:cubicBezTo>
                    <a:cubicBezTo>
                      <a:pt x="5316" y="811"/>
                      <a:pt x="5309" y="817"/>
                      <a:pt x="5303" y="823"/>
                    </a:cubicBezTo>
                    <a:cubicBezTo>
                      <a:pt x="5298" y="830"/>
                      <a:pt x="5294" y="836"/>
                      <a:pt x="5291" y="844"/>
                    </a:cubicBezTo>
                    <a:cubicBezTo>
                      <a:pt x="5288" y="851"/>
                      <a:pt x="5286" y="859"/>
                      <a:pt x="5286" y="868"/>
                    </a:cubicBezTo>
                    <a:cubicBezTo>
                      <a:pt x="5286" y="880"/>
                      <a:pt x="5288" y="890"/>
                      <a:pt x="5293" y="899"/>
                    </a:cubicBezTo>
                    <a:cubicBezTo>
                      <a:pt x="5297" y="908"/>
                      <a:pt x="5303" y="915"/>
                      <a:pt x="5311" y="921"/>
                    </a:cubicBezTo>
                    <a:cubicBezTo>
                      <a:pt x="5319" y="927"/>
                      <a:pt x="5329" y="931"/>
                      <a:pt x="5341" y="934"/>
                    </a:cubicBezTo>
                    <a:cubicBezTo>
                      <a:pt x="5353" y="938"/>
                      <a:pt x="5366" y="940"/>
                      <a:pt x="5381" y="940"/>
                    </a:cubicBezTo>
                    <a:cubicBezTo>
                      <a:pt x="5396" y="940"/>
                      <a:pt x="5410" y="938"/>
                      <a:pt x="5422" y="934"/>
                    </a:cubicBezTo>
                    <a:cubicBezTo>
                      <a:pt x="5434" y="931"/>
                      <a:pt x="5445" y="926"/>
                      <a:pt x="5453" y="919"/>
                    </a:cubicBezTo>
                    <a:cubicBezTo>
                      <a:pt x="5461" y="913"/>
                      <a:pt x="5468" y="904"/>
                      <a:pt x="5472" y="895"/>
                    </a:cubicBezTo>
                    <a:cubicBezTo>
                      <a:pt x="5477" y="885"/>
                      <a:pt x="5479" y="874"/>
                      <a:pt x="5479" y="862"/>
                    </a:cubicBezTo>
                    <a:cubicBezTo>
                      <a:pt x="5479" y="854"/>
                      <a:pt x="5477" y="846"/>
                      <a:pt x="5474" y="839"/>
                    </a:cubicBezTo>
                    <a:cubicBezTo>
                      <a:pt x="5471" y="832"/>
                      <a:pt x="5467" y="825"/>
                      <a:pt x="5462" y="819"/>
                    </a:cubicBezTo>
                    <a:cubicBezTo>
                      <a:pt x="5456" y="813"/>
                      <a:pt x="5450" y="807"/>
                      <a:pt x="5442" y="801"/>
                    </a:cubicBezTo>
                    <a:cubicBezTo>
                      <a:pt x="5433" y="796"/>
                      <a:pt x="5424" y="791"/>
                      <a:pt x="5413" y="785"/>
                    </a:cubicBezTo>
                    <a:cubicBezTo>
                      <a:pt x="5422" y="781"/>
                      <a:pt x="5430" y="776"/>
                      <a:pt x="5437" y="770"/>
                    </a:cubicBezTo>
                    <a:cubicBezTo>
                      <a:pt x="5444" y="765"/>
                      <a:pt x="5449" y="760"/>
                      <a:pt x="5454" y="754"/>
                    </a:cubicBezTo>
                    <a:cubicBezTo>
                      <a:pt x="5459" y="747"/>
                      <a:pt x="5462" y="740"/>
                      <a:pt x="5465" y="733"/>
                    </a:cubicBezTo>
                    <a:cubicBezTo>
                      <a:pt x="5467" y="726"/>
                      <a:pt x="5469" y="720"/>
                      <a:pt x="5469" y="712"/>
                    </a:cubicBezTo>
                    <a:cubicBezTo>
                      <a:pt x="5469" y="703"/>
                      <a:pt x="5467" y="694"/>
                      <a:pt x="5464" y="686"/>
                    </a:cubicBezTo>
                    <a:cubicBezTo>
                      <a:pt x="5460" y="678"/>
                      <a:pt x="5455" y="671"/>
                      <a:pt x="5449" y="665"/>
                    </a:cubicBezTo>
                    <a:cubicBezTo>
                      <a:pt x="5442" y="660"/>
                      <a:pt x="5433" y="655"/>
                      <a:pt x="5422" y="651"/>
                    </a:cubicBezTo>
                    <a:cubicBezTo>
                      <a:pt x="5412" y="648"/>
                      <a:pt x="5400" y="646"/>
                      <a:pt x="5385" y="646"/>
                    </a:cubicBezTo>
                    <a:close/>
                    <a:moveTo>
                      <a:pt x="6419" y="646"/>
                    </a:moveTo>
                    <a:cubicBezTo>
                      <a:pt x="6402" y="646"/>
                      <a:pt x="6388" y="648"/>
                      <a:pt x="6376" y="653"/>
                    </a:cubicBezTo>
                    <a:cubicBezTo>
                      <a:pt x="6364" y="658"/>
                      <a:pt x="6353" y="666"/>
                      <a:pt x="6346" y="674"/>
                    </a:cubicBezTo>
                    <a:cubicBezTo>
                      <a:pt x="6338" y="683"/>
                      <a:pt x="6333" y="693"/>
                      <a:pt x="6329" y="704"/>
                    </a:cubicBezTo>
                    <a:cubicBezTo>
                      <a:pt x="6325" y="716"/>
                      <a:pt x="6324" y="728"/>
                      <a:pt x="6324" y="740"/>
                    </a:cubicBezTo>
                    <a:cubicBezTo>
                      <a:pt x="6324" y="753"/>
                      <a:pt x="6324" y="764"/>
                      <a:pt x="6327" y="774"/>
                    </a:cubicBezTo>
                    <a:cubicBezTo>
                      <a:pt x="6330" y="784"/>
                      <a:pt x="6335" y="793"/>
                      <a:pt x="6341" y="800"/>
                    </a:cubicBezTo>
                    <a:cubicBezTo>
                      <a:pt x="6348" y="808"/>
                      <a:pt x="6357" y="815"/>
                      <a:pt x="6368" y="819"/>
                    </a:cubicBezTo>
                    <a:cubicBezTo>
                      <a:pt x="6378" y="823"/>
                      <a:pt x="6391" y="825"/>
                      <a:pt x="6407" y="825"/>
                    </a:cubicBezTo>
                    <a:cubicBezTo>
                      <a:pt x="6421" y="825"/>
                      <a:pt x="6434" y="823"/>
                      <a:pt x="6445" y="820"/>
                    </a:cubicBezTo>
                    <a:cubicBezTo>
                      <a:pt x="6456" y="816"/>
                      <a:pt x="6466" y="812"/>
                      <a:pt x="6473" y="807"/>
                    </a:cubicBezTo>
                    <a:cubicBezTo>
                      <a:pt x="6473" y="821"/>
                      <a:pt x="6471" y="834"/>
                      <a:pt x="6468" y="846"/>
                    </a:cubicBezTo>
                    <a:cubicBezTo>
                      <a:pt x="6465" y="858"/>
                      <a:pt x="6460" y="869"/>
                      <a:pt x="6453" y="878"/>
                    </a:cubicBezTo>
                    <a:cubicBezTo>
                      <a:pt x="6447" y="887"/>
                      <a:pt x="6439" y="895"/>
                      <a:pt x="6428" y="901"/>
                    </a:cubicBezTo>
                    <a:cubicBezTo>
                      <a:pt x="6418" y="906"/>
                      <a:pt x="6406" y="909"/>
                      <a:pt x="6391" y="909"/>
                    </a:cubicBezTo>
                    <a:cubicBezTo>
                      <a:pt x="6384" y="909"/>
                      <a:pt x="6377" y="908"/>
                      <a:pt x="6371" y="907"/>
                    </a:cubicBezTo>
                    <a:cubicBezTo>
                      <a:pt x="6365" y="906"/>
                      <a:pt x="6360" y="905"/>
                      <a:pt x="6355" y="904"/>
                    </a:cubicBezTo>
                    <a:cubicBezTo>
                      <a:pt x="6351" y="902"/>
                      <a:pt x="6348" y="901"/>
                      <a:pt x="6345" y="900"/>
                    </a:cubicBezTo>
                    <a:cubicBezTo>
                      <a:pt x="6342" y="899"/>
                      <a:pt x="6339" y="898"/>
                      <a:pt x="6338" y="898"/>
                    </a:cubicBezTo>
                    <a:cubicBezTo>
                      <a:pt x="6336" y="898"/>
                      <a:pt x="6335" y="899"/>
                      <a:pt x="6334" y="899"/>
                    </a:cubicBezTo>
                    <a:cubicBezTo>
                      <a:pt x="6333" y="900"/>
                      <a:pt x="6333" y="900"/>
                      <a:pt x="6332" y="901"/>
                    </a:cubicBezTo>
                    <a:cubicBezTo>
                      <a:pt x="6332" y="902"/>
                      <a:pt x="6332" y="903"/>
                      <a:pt x="6331" y="905"/>
                    </a:cubicBezTo>
                    <a:cubicBezTo>
                      <a:pt x="6331" y="907"/>
                      <a:pt x="6331" y="910"/>
                      <a:pt x="6331" y="913"/>
                    </a:cubicBezTo>
                    <a:cubicBezTo>
                      <a:pt x="6331" y="917"/>
                      <a:pt x="6332" y="920"/>
                      <a:pt x="6332" y="922"/>
                    </a:cubicBezTo>
                    <a:cubicBezTo>
                      <a:pt x="6333" y="924"/>
                      <a:pt x="6334" y="926"/>
                      <a:pt x="6336" y="927"/>
                    </a:cubicBezTo>
                    <a:cubicBezTo>
                      <a:pt x="6337" y="929"/>
                      <a:pt x="6340" y="931"/>
                      <a:pt x="6343" y="932"/>
                    </a:cubicBezTo>
                    <a:cubicBezTo>
                      <a:pt x="6346" y="933"/>
                      <a:pt x="6350" y="934"/>
                      <a:pt x="6354" y="935"/>
                    </a:cubicBezTo>
                    <a:cubicBezTo>
                      <a:pt x="6359" y="937"/>
                      <a:pt x="6364" y="937"/>
                      <a:pt x="6370" y="938"/>
                    </a:cubicBezTo>
                    <a:cubicBezTo>
                      <a:pt x="6376" y="939"/>
                      <a:pt x="6382" y="940"/>
                      <a:pt x="6389" y="940"/>
                    </a:cubicBezTo>
                    <a:cubicBezTo>
                      <a:pt x="6405" y="940"/>
                      <a:pt x="6420" y="937"/>
                      <a:pt x="6432" y="933"/>
                    </a:cubicBezTo>
                    <a:cubicBezTo>
                      <a:pt x="6444" y="928"/>
                      <a:pt x="6456" y="923"/>
                      <a:pt x="6465" y="915"/>
                    </a:cubicBezTo>
                    <a:cubicBezTo>
                      <a:pt x="6474" y="907"/>
                      <a:pt x="6481" y="899"/>
                      <a:pt x="6487" y="889"/>
                    </a:cubicBezTo>
                    <a:cubicBezTo>
                      <a:pt x="6493" y="878"/>
                      <a:pt x="6498" y="867"/>
                      <a:pt x="6502" y="855"/>
                    </a:cubicBezTo>
                    <a:cubicBezTo>
                      <a:pt x="6505" y="843"/>
                      <a:pt x="6507" y="832"/>
                      <a:pt x="6509" y="819"/>
                    </a:cubicBezTo>
                    <a:cubicBezTo>
                      <a:pt x="6510" y="806"/>
                      <a:pt x="6511" y="793"/>
                      <a:pt x="6511" y="781"/>
                    </a:cubicBezTo>
                    <a:cubicBezTo>
                      <a:pt x="6511" y="768"/>
                      <a:pt x="6510" y="756"/>
                      <a:pt x="6509" y="744"/>
                    </a:cubicBezTo>
                    <a:cubicBezTo>
                      <a:pt x="6508" y="732"/>
                      <a:pt x="6505" y="721"/>
                      <a:pt x="6503" y="711"/>
                    </a:cubicBezTo>
                    <a:cubicBezTo>
                      <a:pt x="6500" y="701"/>
                      <a:pt x="6497" y="692"/>
                      <a:pt x="6492" y="684"/>
                    </a:cubicBezTo>
                    <a:cubicBezTo>
                      <a:pt x="6487" y="676"/>
                      <a:pt x="6481" y="669"/>
                      <a:pt x="6474" y="664"/>
                    </a:cubicBezTo>
                    <a:cubicBezTo>
                      <a:pt x="6468" y="658"/>
                      <a:pt x="6460" y="653"/>
                      <a:pt x="6451" y="650"/>
                    </a:cubicBezTo>
                    <a:cubicBezTo>
                      <a:pt x="6441" y="647"/>
                      <a:pt x="6431" y="646"/>
                      <a:pt x="6419" y="646"/>
                    </a:cubicBezTo>
                    <a:close/>
                    <a:moveTo>
                      <a:pt x="2216" y="648"/>
                    </a:moveTo>
                    <a:cubicBezTo>
                      <a:pt x="2212" y="648"/>
                      <a:pt x="2209" y="649"/>
                      <a:pt x="2207" y="651"/>
                    </a:cubicBezTo>
                    <a:cubicBezTo>
                      <a:pt x="2204" y="654"/>
                      <a:pt x="2203" y="657"/>
                      <a:pt x="2203" y="662"/>
                    </a:cubicBezTo>
                    <a:lnTo>
                      <a:pt x="2203" y="778"/>
                    </a:lnTo>
                    <a:cubicBezTo>
                      <a:pt x="2203" y="784"/>
                      <a:pt x="2204" y="788"/>
                      <a:pt x="2206" y="790"/>
                    </a:cubicBezTo>
                    <a:cubicBezTo>
                      <a:pt x="2208" y="792"/>
                      <a:pt x="2210" y="792"/>
                      <a:pt x="2215" y="792"/>
                    </a:cubicBezTo>
                    <a:cubicBezTo>
                      <a:pt x="2220" y="792"/>
                      <a:pt x="2227" y="792"/>
                      <a:pt x="2233" y="791"/>
                    </a:cubicBezTo>
                    <a:cubicBezTo>
                      <a:pt x="2240" y="790"/>
                      <a:pt x="2247" y="790"/>
                      <a:pt x="2256" y="790"/>
                    </a:cubicBezTo>
                    <a:cubicBezTo>
                      <a:pt x="2269" y="790"/>
                      <a:pt x="2280" y="791"/>
                      <a:pt x="2289" y="793"/>
                    </a:cubicBezTo>
                    <a:cubicBezTo>
                      <a:pt x="2298" y="796"/>
                      <a:pt x="2306" y="798"/>
                      <a:pt x="2312" y="803"/>
                    </a:cubicBezTo>
                    <a:cubicBezTo>
                      <a:pt x="2318" y="808"/>
                      <a:pt x="2322" y="814"/>
                      <a:pt x="2325" y="821"/>
                    </a:cubicBezTo>
                    <a:cubicBezTo>
                      <a:pt x="2328" y="828"/>
                      <a:pt x="2329" y="836"/>
                      <a:pt x="2329" y="845"/>
                    </a:cubicBezTo>
                    <a:cubicBezTo>
                      <a:pt x="2329" y="856"/>
                      <a:pt x="2327" y="865"/>
                      <a:pt x="2324" y="873"/>
                    </a:cubicBezTo>
                    <a:cubicBezTo>
                      <a:pt x="2321" y="880"/>
                      <a:pt x="2316" y="886"/>
                      <a:pt x="2310" y="891"/>
                    </a:cubicBezTo>
                    <a:cubicBezTo>
                      <a:pt x="2304" y="896"/>
                      <a:pt x="2297" y="900"/>
                      <a:pt x="2289" y="903"/>
                    </a:cubicBezTo>
                    <a:cubicBezTo>
                      <a:pt x="2280" y="905"/>
                      <a:pt x="2271" y="906"/>
                      <a:pt x="2261" y="906"/>
                    </a:cubicBezTo>
                    <a:cubicBezTo>
                      <a:pt x="2251" y="906"/>
                      <a:pt x="2242" y="906"/>
                      <a:pt x="2234" y="904"/>
                    </a:cubicBezTo>
                    <a:cubicBezTo>
                      <a:pt x="2226" y="902"/>
                      <a:pt x="2220" y="900"/>
                      <a:pt x="2215" y="897"/>
                    </a:cubicBezTo>
                    <a:cubicBezTo>
                      <a:pt x="2209" y="895"/>
                      <a:pt x="2205" y="893"/>
                      <a:pt x="2202" y="891"/>
                    </a:cubicBezTo>
                    <a:cubicBezTo>
                      <a:pt x="2199" y="889"/>
                      <a:pt x="2197" y="889"/>
                      <a:pt x="2195" y="889"/>
                    </a:cubicBezTo>
                    <a:cubicBezTo>
                      <a:pt x="2194" y="889"/>
                      <a:pt x="2193" y="889"/>
                      <a:pt x="2193" y="889"/>
                    </a:cubicBezTo>
                    <a:cubicBezTo>
                      <a:pt x="2192" y="890"/>
                      <a:pt x="2191" y="891"/>
                      <a:pt x="2191" y="892"/>
                    </a:cubicBezTo>
                    <a:cubicBezTo>
                      <a:pt x="2190" y="893"/>
                      <a:pt x="2189" y="895"/>
                      <a:pt x="2189" y="897"/>
                    </a:cubicBezTo>
                    <a:cubicBezTo>
                      <a:pt x="2189" y="899"/>
                      <a:pt x="2189" y="901"/>
                      <a:pt x="2189" y="904"/>
                    </a:cubicBezTo>
                    <a:cubicBezTo>
                      <a:pt x="2189" y="906"/>
                      <a:pt x="2189" y="909"/>
                      <a:pt x="2189" y="911"/>
                    </a:cubicBezTo>
                    <a:cubicBezTo>
                      <a:pt x="2189" y="913"/>
                      <a:pt x="2190" y="914"/>
                      <a:pt x="2190" y="915"/>
                    </a:cubicBezTo>
                    <a:cubicBezTo>
                      <a:pt x="2190" y="916"/>
                      <a:pt x="2190" y="918"/>
                      <a:pt x="2191" y="919"/>
                    </a:cubicBezTo>
                    <a:cubicBezTo>
                      <a:pt x="2191" y="919"/>
                      <a:pt x="2192" y="920"/>
                      <a:pt x="2193" y="921"/>
                    </a:cubicBezTo>
                    <a:cubicBezTo>
                      <a:pt x="2194" y="922"/>
                      <a:pt x="2197" y="924"/>
                      <a:pt x="2201" y="926"/>
                    </a:cubicBezTo>
                    <a:cubicBezTo>
                      <a:pt x="2205" y="927"/>
                      <a:pt x="2210" y="929"/>
                      <a:pt x="2216" y="931"/>
                    </a:cubicBezTo>
                    <a:cubicBezTo>
                      <a:pt x="2222" y="933"/>
                      <a:pt x="2230" y="934"/>
                      <a:pt x="2237" y="935"/>
                    </a:cubicBezTo>
                    <a:cubicBezTo>
                      <a:pt x="2245" y="937"/>
                      <a:pt x="2253" y="937"/>
                      <a:pt x="2262" y="937"/>
                    </a:cubicBezTo>
                    <a:cubicBezTo>
                      <a:pt x="2278" y="937"/>
                      <a:pt x="2293" y="935"/>
                      <a:pt x="2306" y="931"/>
                    </a:cubicBezTo>
                    <a:cubicBezTo>
                      <a:pt x="2319" y="927"/>
                      <a:pt x="2330" y="921"/>
                      <a:pt x="2340" y="912"/>
                    </a:cubicBezTo>
                    <a:cubicBezTo>
                      <a:pt x="2349" y="904"/>
                      <a:pt x="2356" y="894"/>
                      <a:pt x="2361" y="882"/>
                    </a:cubicBezTo>
                    <a:cubicBezTo>
                      <a:pt x="2366" y="871"/>
                      <a:pt x="2369" y="857"/>
                      <a:pt x="2369" y="842"/>
                    </a:cubicBezTo>
                    <a:cubicBezTo>
                      <a:pt x="2369" y="830"/>
                      <a:pt x="2367" y="818"/>
                      <a:pt x="2363" y="807"/>
                    </a:cubicBezTo>
                    <a:cubicBezTo>
                      <a:pt x="2359" y="797"/>
                      <a:pt x="2352" y="789"/>
                      <a:pt x="2344" y="782"/>
                    </a:cubicBezTo>
                    <a:cubicBezTo>
                      <a:pt x="2336" y="775"/>
                      <a:pt x="2326" y="769"/>
                      <a:pt x="2313" y="765"/>
                    </a:cubicBezTo>
                    <a:cubicBezTo>
                      <a:pt x="2301" y="761"/>
                      <a:pt x="2287" y="760"/>
                      <a:pt x="2271" y="760"/>
                    </a:cubicBezTo>
                    <a:cubicBezTo>
                      <a:pt x="2264" y="760"/>
                      <a:pt x="2258" y="760"/>
                      <a:pt x="2252" y="760"/>
                    </a:cubicBezTo>
                    <a:cubicBezTo>
                      <a:pt x="2247" y="760"/>
                      <a:pt x="2242" y="760"/>
                      <a:pt x="2237" y="761"/>
                    </a:cubicBezTo>
                    <a:lnTo>
                      <a:pt x="2237" y="681"/>
                    </a:lnTo>
                    <a:lnTo>
                      <a:pt x="2343" y="681"/>
                    </a:lnTo>
                    <a:cubicBezTo>
                      <a:pt x="2346" y="681"/>
                      <a:pt x="2348" y="680"/>
                      <a:pt x="2350" y="677"/>
                    </a:cubicBezTo>
                    <a:cubicBezTo>
                      <a:pt x="2351" y="674"/>
                      <a:pt x="2351" y="670"/>
                      <a:pt x="2351" y="665"/>
                    </a:cubicBezTo>
                    <a:cubicBezTo>
                      <a:pt x="2351" y="662"/>
                      <a:pt x="2352" y="659"/>
                      <a:pt x="2351" y="657"/>
                    </a:cubicBezTo>
                    <a:cubicBezTo>
                      <a:pt x="2351" y="655"/>
                      <a:pt x="2350" y="654"/>
                      <a:pt x="2350" y="652"/>
                    </a:cubicBezTo>
                    <a:cubicBezTo>
                      <a:pt x="2349" y="651"/>
                      <a:pt x="2348" y="649"/>
                      <a:pt x="2347" y="649"/>
                    </a:cubicBezTo>
                    <a:cubicBezTo>
                      <a:pt x="2346" y="648"/>
                      <a:pt x="2345" y="648"/>
                      <a:pt x="2343" y="648"/>
                    </a:cubicBezTo>
                    <a:lnTo>
                      <a:pt x="2216" y="648"/>
                    </a:lnTo>
                    <a:close/>
                    <a:moveTo>
                      <a:pt x="1266" y="649"/>
                    </a:moveTo>
                    <a:cubicBezTo>
                      <a:pt x="1263" y="649"/>
                      <a:pt x="1261" y="650"/>
                      <a:pt x="1259" y="650"/>
                    </a:cubicBezTo>
                    <a:cubicBezTo>
                      <a:pt x="1256" y="651"/>
                      <a:pt x="1255" y="651"/>
                      <a:pt x="1253" y="652"/>
                    </a:cubicBezTo>
                    <a:cubicBezTo>
                      <a:pt x="1252" y="653"/>
                      <a:pt x="1250" y="655"/>
                      <a:pt x="1250" y="656"/>
                    </a:cubicBezTo>
                    <a:lnTo>
                      <a:pt x="1147" y="829"/>
                    </a:lnTo>
                    <a:cubicBezTo>
                      <a:pt x="1146" y="831"/>
                      <a:pt x="1145" y="832"/>
                      <a:pt x="1145" y="834"/>
                    </a:cubicBezTo>
                    <a:cubicBezTo>
                      <a:pt x="1144" y="836"/>
                      <a:pt x="1143" y="837"/>
                      <a:pt x="1143" y="839"/>
                    </a:cubicBezTo>
                    <a:cubicBezTo>
                      <a:pt x="1143" y="841"/>
                      <a:pt x="1142" y="843"/>
                      <a:pt x="1142" y="845"/>
                    </a:cubicBezTo>
                    <a:cubicBezTo>
                      <a:pt x="1142" y="848"/>
                      <a:pt x="1142" y="851"/>
                      <a:pt x="1142" y="853"/>
                    </a:cubicBezTo>
                    <a:cubicBezTo>
                      <a:pt x="1142" y="857"/>
                      <a:pt x="1142" y="859"/>
                      <a:pt x="1142" y="861"/>
                    </a:cubicBezTo>
                    <a:cubicBezTo>
                      <a:pt x="1142" y="863"/>
                      <a:pt x="1144" y="865"/>
                      <a:pt x="1145" y="867"/>
                    </a:cubicBezTo>
                    <a:cubicBezTo>
                      <a:pt x="1146" y="868"/>
                      <a:pt x="1146" y="869"/>
                      <a:pt x="1147" y="869"/>
                    </a:cubicBezTo>
                    <a:cubicBezTo>
                      <a:pt x="1149" y="870"/>
                      <a:pt x="1150" y="870"/>
                      <a:pt x="1152" y="870"/>
                    </a:cubicBezTo>
                    <a:lnTo>
                      <a:pt x="1270" y="870"/>
                    </a:lnTo>
                    <a:lnTo>
                      <a:pt x="1270" y="930"/>
                    </a:lnTo>
                    <a:cubicBezTo>
                      <a:pt x="1270" y="931"/>
                      <a:pt x="1270" y="932"/>
                      <a:pt x="1271" y="933"/>
                    </a:cubicBezTo>
                    <a:cubicBezTo>
                      <a:pt x="1271" y="934"/>
                      <a:pt x="1272" y="934"/>
                      <a:pt x="1274" y="934"/>
                    </a:cubicBezTo>
                    <a:cubicBezTo>
                      <a:pt x="1275" y="935"/>
                      <a:pt x="1276" y="936"/>
                      <a:pt x="1279" y="936"/>
                    </a:cubicBezTo>
                    <a:cubicBezTo>
                      <a:pt x="1281" y="937"/>
                      <a:pt x="1284" y="936"/>
                      <a:pt x="1288" y="936"/>
                    </a:cubicBezTo>
                    <a:cubicBezTo>
                      <a:pt x="1291" y="936"/>
                      <a:pt x="1294" y="937"/>
                      <a:pt x="1296" y="936"/>
                    </a:cubicBezTo>
                    <a:cubicBezTo>
                      <a:pt x="1299" y="936"/>
                      <a:pt x="1301" y="935"/>
                      <a:pt x="1303" y="934"/>
                    </a:cubicBezTo>
                    <a:cubicBezTo>
                      <a:pt x="1304" y="934"/>
                      <a:pt x="1305" y="934"/>
                      <a:pt x="1305" y="933"/>
                    </a:cubicBezTo>
                    <a:cubicBezTo>
                      <a:pt x="1306" y="932"/>
                      <a:pt x="1306" y="931"/>
                      <a:pt x="1306" y="930"/>
                    </a:cubicBezTo>
                    <a:lnTo>
                      <a:pt x="1306" y="870"/>
                    </a:lnTo>
                    <a:lnTo>
                      <a:pt x="1339" y="870"/>
                    </a:lnTo>
                    <a:cubicBezTo>
                      <a:pt x="1341" y="870"/>
                      <a:pt x="1343" y="868"/>
                      <a:pt x="1345" y="866"/>
                    </a:cubicBezTo>
                    <a:cubicBezTo>
                      <a:pt x="1346" y="863"/>
                      <a:pt x="1347" y="859"/>
                      <a:pt x="1347" y="854"/>
                    </a:cubicBezTo>
                    <a:cubicBezTo>
                      <a:pt x="1347" y="849"/>
                      <a:pt x="1347" y="845"/>
                      <a:pt x="1345" y="843"/>
                    </a:cubicBezTo>
                    <a:cubicBezTo>
                      <a:pt x="1343" y="840"/>
                      <a:pt x="1341" y="838"/>
                      <a:pt x="1339" y="838"/>
                    </a:cubicBezTo>
                    <a:lnTo>
                      <a:pt x="1306" y="838"/>
                    </a:lnTo>
                    <a:lnTo>
                      <a:pt x="1306" y="657"/>
                    </a:lnTo>
                    <a:cubicBezTo>
                      <a:pt x="1306" y="655"/>
                      <a:pt x="1306" y="654"/>
                      <a:pt x="1304" y="653"/>
                    </a:cubicBezTo>
                    <a:cubicBezTo>
                      <a:pt x="1303" y="652"/>
                      <a:pt x="1302" y="651"/>
                      <a:pt x="1300" y="650"/>
                    </a:cubicBezTo>
                    <a:cubicBezTo>
                      <a:pt x="1298" y="650"/>
                      <a:pt x="1295" y="650"/>
                      <a:pt x="1291" y="650"/>
                    </a:cubicBezTo>
                    <a:cubicBezTo>
                      <a:pt x="1288" y="649"/>
                      <a:pt x="1283" y="649"/>
                      <a:pt x="1278" y="649"/>
                    </a:cubicBezTo>
                    <a:cubicBezTo>
                      <a:pt x="1274" y="649"/>
                      <a:pt x="1270" y="648"/>
                      <a:pt x="1266" y="649"/>
                    </a:cubicBezTo>
                    <a:close/>
                    <a:moveTo>
                      <a:pt x="4263" y="650"/>
                    </a:moveTo>
                    <a:cubicBezTo>
                      <a:pt x="4262" y="650"/>
                      <a:pt x="4261" y="650"/>
                      <a:pt x="4260" y="650"/>
                    </a:cubicBezTo>
                    <a:cubicBezTo>
                      <a:pt x="4259" y="651"/>
                      <a:pt x="4258" y="652"/>
                      <a:pt x="4257" y="653"/>
                    </a:cubicBezTo>
                    <a:cubicBezTo>
                      <a:pt x="4256" y="655"/>
                      <a:pt x="4256" y="656"/>
                      <a:pt x="4255" y="658"/>
                    </a:cubicBezTo>
                    <a:cubicBezTo>
                      <a:pt x="4255" y="660"/>
                      <a:pt x="4255" y="663"/>
                      <a:pt x="4255" y="665"/>
                    </a:cubicBezTo>
                    <a:cubicBezTo>
                      <a:pt x="4255" y="671"/>
                      <a:pt x="4256" y="675"/>
                      <a:pt x="4257" y="678"/>
                    </a:cubicBezTo>
                    <a:cubicBezTo>
                      <a:pt x="4259" y="681"/>
                      <a:pt x="4261" y="682"/>
                      <a:pt x="4263" y="682"/>
                    </a:cubicBezTo>
                    <a:lnTo>
                      <a:pt x="4400" y="682"/>
                    </a:lnTo>
                    <a:lnTo>
                      <a:pt x="4292" y="925"/>
                    </a:lnTo>
                    <a:cubicBezTo>
                      <a:pt x="4292" y="927"/>
                      <a:pt x="4291" y="929"/>
                      <a:pt x="4291" y="930"/>
                    </a:cubicBezTo>
                    <a:cubicBezTo>
                      <a:pt x="4291" y="931"/>
                      <a:pt x="4291" y="933"/>
                      <a:pt x="4292" y="934"/>
                    </a:cubicBezTo>
                    <a:cubicBezTo>
                      <a:pt x="4294" y="935"/>
                      <a:pt x="4296" y="935"/>
                      <a:pt x="4299" y="935"/>
                    </a:cubicBezTo>
                    <a:cubicBezTo>
                      <a:pt x="4301" y="936"/>
                      <a:pt x="4305" y="936"/>
                      <a:pt x="4310" y="936"/>
                    </a:cubicBezTo>
                    <a:cubicBezTo>
                      <a:pt x="4314" y="936"/>
                      <a:pt x="4317" y="936"/>
                      <a:pt x="4320" y="935"/>
                    </a:cubicBezTo>
                    <a:cubicBezTo>
                      <a:pt x="4322" y="935"/>
                      <a:pt x="4324" y="935"/>
                      <a:pt x="4326" y="934"/>
                    </a:cubicBezTo>
                    <a:cubicBezTo>
                      <a:pt x="4328" y="934"/>
                      <a:pt x="4329" y="933"/>
                      <a:pt x="4330" y="932"/>
                    </a:cubicBezTo>
                    <a:cubicBezTo>
                      <a:pt x="4331" y="931"/>
                      <a:pt x="4332" y="929"/>
                      <a:pt x="4333" y="927"/>
                    </a:cubicBezTo>
                    <a:lnTo>
                      <a:pt x="4436" y="690"/>
                    </a:lnTo>
                    <a:cubicBezTo>
                      <a:pt x="4437" y="688"/>
                      <a:pt x="4437" y="687"/>
                      <a:pt x="4438" y="685"/>
                    </a:cubicBezTo>
                    <a:cubicBezTo>
                      <a:pt x="4439" y="683"/>
                      <a:pt x="4439" y="681"/>
                      <a:pt x="4440" y="679"/>
                    </a:cubicBezTo>
                    <a:cubicBezTo>
                      <a:pt x="4440" y="677"/>
                      <a:pt x="4440" y="675"/>
                      <a:pt x="4441" y="673"/>
                    </a:cubicBezTo>
                    <a:cubicBezTo>
                      <a:pt x="4441" y="670"/>
                      <a:pt x="4441" y="668"/>
                      <a:pt x="4441" y="665"/>
                    </a:cubicBezTo>
                    <a:cubicBezTo>
                      <a:pt x="4441" y="662"/>
                      <a:pt x="4441" y="660"/>
                      <a:pt x="4441" y="658"/>
                    </a:cubicBezTo>
                    <a:cubicBezTo>
                      <a:pt x="4440" y="655"/>
                      <a:pt x="4440" y="654"/>
                      <a:pt x="4439" y="652"/>
                    </a:cubicBezTo>
                    <a:cubicBezTo>
                      <a:pt x="4438" y="651"/>
                      <a:pt x="4437" y="650"/>
                      <a:pt x="4435" y="650"/>
                    </a:cubicBezTo>
                    <a:cubicBezTo>
                      <a:pt x="4434" y="649"/>
                      <a:pt x="4432" y="650"/>
                      <a:pt x="4430" y="650"/>
                    </a:cubicBezTo>
                    <a:lnTo>
                      <a:pt x="4263" y="650"/>
                    </a:lnTo>
                    <a:close/>
                    <a:moveTo>
                      <a:pt x="5383" y="675"/>
                    </a:moveTo>
                    <a:cubicBezTo>
                      <a:pt x="5390" y="675"/>
                      <a:pt x="5397" y="676"/>
                      <a:pt x="5403" y="678"/>
                    </a:cubicBezTo>
                    <a:cubicBezTo>
                      <a:pt x="5409" y="680"/>
                      <a:pt x="5415" y="682"/>
                      <a:pt x="5419" y="686"/>
                    </a:cubicBezTo>
                    <a:cubicBezTo>
                      <a:pt x="5423" y="689"/>
                      <a:pt x="5425" y="694"/>
                      <a:pt x="5427" y="699"/>
                    </a:cubicBezTo>
                    <a:cubicBezTo>
                      <a:pt x="5430" y="704"/>
                      <a:pt x="5431" y="710"/>
                      <a:pt x="5431" y="716"/>
                    </a:cubicBezTo>
                    <a:cubicBezTo>
                      <a:pt x="5431" y="727"/>
                      <a:pt x="5427" y="737"/>
                      <a:pt x="5420" y="747"/>
                    </a:cubicBezTo>
                    <a:cubicBezTo>
                      <a:pt x="5412" y="756"/>
                      <a:pt x="5400" y="764"/>
                      <a:pt x="5385" y="771"/>
                    </a:cubicBezTo>
                    <a:cubicBezTo>
                      <a:pt x="5376" y="767"/>
                      <a:pt x="5369" y="763"/>
                      <a:pt x="5362" y="759"/>
                    </a:cubicBezTo>
                    <a:cubicBezTo>
                      <a:pt x="5356" y="755"/>
                      <a:pt x="5351" y="750"/>
                      <a:pt x="5346" y="746"/>
                    </a:cubicBezTo>
                    <a:cubicBezTo>
                      <a:pt x="5342" y="741"/>
                      <a:pt x="5339" y="737"/>
                      <a:pt x="5337" y="732"/>
                    </a:cubicBezTo>
                    <a:cubicBezTo>
                      <a:pt x="5335" y="727"/>
                      <a:pt x="5334" y="721"/>
                      <a:pt x="5334" y="716"/>
                    </a:cubicBezTo>
                    <a:cubicBezTo>
                      <a:pt x="5334" y="703"/>
                      <a:pt x="5338" y="693"/>
                      <a:pt x="5346" y="686"/>
                    </a:cubicBezTo>
                    <a:cubicBezTo>
                      <a:pt x="5355" y="679"/>
                      <a:pt x="5367" y="675"/>
                      <a:pt x="5383" y="675"/>
                    </a:cubicBezTo>
                    <a:close/>
                    <a:moveTo>
                      <a:pt x="6415" y="676"/>
                    </a:moveTo>
                    <a:cubicBezTo>
                      <a:pt x="6425" y="676"/>
                      <a:pt x="6433" y="678"/>
                      <a:pt x="6440" y="681"/>
                    </a:cubicBezTo>
                    <a:cubicBezTo>
                      <a:pt x="6447" y="685"/>
                      <a:pt x="6453" y="690"/>
                      <a:pt x="6458" y="698"/>
                    </a:cubicBezTo>
                    <a:cubicBezTo>
                      <a:pt x="6462" y="706"/>
                      <a:pt x="6467" y="717"/>
                      <a:pt x="6469" y="730"/>
                    </a:cubicBezTo>
                    <a:cubicBezTo>
                      <a:pt x="6472" y="743"/>
                      <a:pt x="6473" y="759"/>
                      <a:pt x="6473" y="777"/>
                    </a:cubicBezTo>
                    <a:cubicBezTo>
                      <a:pt x="6465" y="783"/>
                      <a:pt x="6456" y="787"/>
                      <a:pt x="6446" y="791"/>
                    </a:cubicBezTo>
                    <a:cubicBezTo>
                      <a:pt x="6436" y="794"/>
                      <a:pt x="6425" y="795"/>
                      <a:pt x="6414" y="795"/>
                    </a:cubicBezTo>
                    <a:cubicBezTo>
                      <a:pt x="6404" y="795"/>
                      <a:pt x="6396" y="794"/>
                      <a:pt x="6390" y="792"/>
                    </a:cubicBezTo>
                    <a:cubicBezTo>
                      <a:pt x="6383" y="789"/>
                      <a:pt x="6377" y="784"/>
                      <a:pt x="6373" y="779"/>
                    </a:cubicBezTo>
                    <a:cubicBezTo>
                      <a:pt x="6369" y="774"/>
                      <a:pt x="6366" y="769"/>
                      <a:pt x="6364" y="762"/>
                    </a:cubicBezTo>
                    <a:cubicBezTo>
                      <a:pt x="6362" y="754"/>
                      <a:pt x="6361" y="746"/>
                      <a:pt x="6361" y="738"/>
                    </a:cubicBezTo>
                    <a:cubicBezTo>
                      <a:pt x="6361" y="730"/>
                      <a:pt x="6363" y="722"/>
                      <a:pt x="6365" y="715"/>
                    </a:cubicBezTo>
                    <a:cubicBezTo>
                      <a:pt x="6367" y="708"/>
                      <a:pt x="6369" y="701"/>
                      <a:pt x="6374" y="695"/>
                    </a:cubicBezTo>
                    <a:cubicBezTo>
                      <a:pt x="6378" y="690"/>
                      <a:pt x="6384" y="685"/>
                      <a:pt x="6391" y="681"/>
                    </a:cubicBezTo>
                    <a:cubicBezTo>
                      <a:pt x="6397" y="678"/>
                      <a:pt x="6406" y="676"/>
                      <a:pt x="6415" y="676"/>
                    </a:cubicBezTo>
                    <a:close/>
                    <a:moveTo>
                      <a:pt x="1269" y="682"/>
                    </a:moveTo>
                    <a:lnTo>
                      <a:pt x="1270" y="682"/>
                    </a:lnTo>
                    <a:lnTo>
                      <a:pt x="1270" y="838"/>
                    </a:lnTo>
                    <a:lnTo>
                      <a:pt x="1177" y="838"/>
                    </a:lnTo>
                    <a:lnTo>
                      <a:pt x="1269" y="682"/>
                    </a:lnTo>
                    <a:close/>
                    <a:moveTo>
                      <a:pt x="3318" y="790"/>
                    </a:moveTo>
                    <a:cubicBezTo>
                      <a:pt x="3328" y="790"/>
                      <a:pt x="3335" y="792"/>
                      <a:pt x="3342" y="794"/>
                    </a:cubicBezTo>
                    <a:cubicBezTo>
                      <a:pt x="3348" y="797"/>
                      <a:pt x="3354" y="801"/>
                      <a:pt x="3358" y="806"/>
                    </a:cubicBezTo>
                    <a:cubicBezTo>
                      <a:pt x="3362" y="811"/>
                      <a:pt x="3365" y="816"/>
                      <a:pt x="3366" y="823"/>
                    </a:cubicBezTo>
                    <a:cubicBezTo>
                      <a:pt x="3368" y="830"/>
                      <a:pt x="3369" y="838"/>
                      <a:pt x="3369" y="846"/>
                    </a:cubicBezTo>
                    <a:cubicBezTo>
                      <a:pt x="3369" y="854"/>
                      <a:pt x="3368" y="862"/>
                      <a:pt x="3366" y="869"/>
                    </a:cubicBezTo>
                    <a:cubicBezTo>
                      <a:pt x="3363" y="877"/>
                      <a:pt x="3360" y="884"/>
                      <a:pt x="3356" y="889"/>
                    </a:cubicBezTo>
                    <a:cubicBezTo>
                      <a:pt x="3351" y="895"/>
                      <a:pt x="3345" y="900"/>
                      <a:pt x="3338" y="904"/>
                    </a:cubicBezTo>
                    <a:cubicBezTo>
                      <a:pt x="3331" y="907"/>
                      <a:pt x="3324" y="909"/>
                      <a:pt x="3314" y="909"/>
                    </a:cubicBezTo>
                    <a:cubicBezTo>
                      <a:pt x="3305" y="909"/>
                      <a:pt x="3297" y="907"/>
                      <a:pt x="3290" y="904"/>
                    </a:cubicBezTo>
                    <a:cubicBezTo>
                      <a:pt x="3283" y="900"/>
                      <a:pt x="3277" y="895"/>
                      <a:pt x="3272" y="887"/>
                    </a:cubicBezTo>
                    <a:cubicBezTo>
                      <a:pt x="3267" y="879"/>
                      <a:pt x="3264" y="870"/>
                      <a:pt x="3261" y="857"/>
                    </a:cubicBezTo>
                    <a:cubicBezTo>
                      <a:pt x="3259" y="844"/>
                      <a:pt x="3258" y="828"/>
                      <a:pt x="3258" y="809"/>
                    </a:cubicBezTo>
                    <a:cubicBezTo>
                      <a:pt x="3262" y="807"/>
                      <a:pt x="3267" y="804"/>
                      <a:pt x="3271" y="801"/>
                    </a:cubicBezTo>
                    <a:cubicBezTo>
                      <a:pt x="3276" y="799"/>
                      <a:pt x="3280" y="797"/>
                      <a:pt x="3285" y="795"/>
                    </a:cubicBezTo>
                    <a:cubicBezTo>
                      <a:pt x="3290" y="793"/>
                      <a:pt x="3296" y="793"/>
                      <a:pt x="3301" y="792"/>
                    </a:cubicBezTo>
                    <a:cubicBezTo>
                      <a:pt x="3307" y="791"/>
                      <a:pt x="3312" y="790"/>
                      <a:pt x="3318" y="790"/>
                    </a:cubicBezTo>
                    <a:close/>
                    <a:moveTo>
                      <a:pt x="5380" y="804"/>
                    </a:moveTo>
                    <a:cubicBezTo>
                      <a:pt x="5390" y="809"/>
                      <a:pt x="5399" y="814"/>
                      <a:pt x="5406" y="818"/>
                    </a:cubicBezTo>
                    <a:cubicBezTo>
                      <a:pt x="5414" y="823"/>
                      <a:pt x="5420" y="827"/>
                      <a:pt x="5425" y="832"/>
                    </a:cubicBezTo>
                    <a:cubicBezTo>
                      <a:pt x="5430" y="837"/>
                      <a:pt x="5434" y="843"/>
                      <a:pt x="5436" y="848"/>
                    </a:cubicBezTo>
                    <a:cubicBezTo>
                      <a:pt x="5439" y="854"/>
                      <a:pt x="5441" y="859"/>
                      <a:pt x="5441" y="866"/>
                    </a:cubicBezTo>
                    <a:cubicBezTo>
                      <a:pt x="5441" y="879"/>
                      <a:pt x="5435" y="890"/>
                      <a:pt x="5426" y="898"/>
                    </a:cubicBezTo>
                    <a:cubicBezTo>
                      <a:pt x="5416" y="906"/>
                      <a:pt x="5402" y="910"/>
                      <a:pt x="5383" y="910"/>
                    </a:cubicBezTo>
                    <a:cubicBezTo>
                      <a:pt x="5364" y="910"/>
                      <a:pt x="5349" y="906"/>
                      <a:pt x="5339" y="898"/>
                    </a:cubicBezTo>
                    <a:cubicBezTo>
                      <a:pt x="5330" y="891"/>
                      <a:pt x="5325" y="879"/>
                      <a:pt x="5325" y="865"/>
                    </a:cubicBezTo>
                    <a:cubicBezTo>
                      <a:pt x="5325" y="858"/>
                      <a:pt x="5326" y="853"/>
                      <a:pt x="5328" y="847"/>
                    </a:cubicBezTo>
                    <a:cubicBezTo>
                      <a:pt x="5330" y="842"/>
                      <a:pt x="5334" y="837"/>
                      <a:pt x="5338" y="832"/>
                    </a:cubicBezTo>
                    <a:cubicBezTo>
                      <a:pt x="5343" y="827"/>
                      <a:pt x="5348" y="823"/>
                      <a:pt x="5355" y="818"/>
                    </a:cubicBezTo>
                    <a:cubicBezTo>
                      <a:pt x="5362" y="813"/>
                      <a:pt x="5371" y="808"/>
                      <a:pt x="5380" y="804"/>
                    </a:cubicBezTo>
                    <a:close/>
                    <a:moveTo>
                      <a:pt x="303" y="1294"/>
                    </a:moveTo>
                    <a:cubicBezTo>
                      <a:pt x="289" y="1296"/>
                      <a:pt x="278" y="1300"/>
                      <a:pt x="268" y="1305"/>
                    </a:cubicBezTo>
                    <a:cubicBezTo>
                      <a:pt x="255" y="1312"/>
                      <a:pt x="245" y="1322"/>
                      <a:pt x="237" y="1335"/>
                    </a:cubicBezTo>
                    <a:cubicBezTo>
                      <a:pt x="229" y="1348"/>
                      <a:pt x="223" y="1363"/>
                      <a:pt x="220" y="1382"/>
                    </a:cubicBezTo>
                    <a:cubicBezTo>
                      <a:pt x="216" y="1400"/>
                      <a:pt x="214" y="1420"/>
                      <a:pt x="214" y="1442"/>
                    </a:cubicBezTo>
                    <a:cubicBezTo>
                      <a:pt x="214" y="1465"/>
                      <a:pt x="216" y="1486"/>
                      <a:pt x="220" y="1504"/>
                    </a:cubicBezTo>
                    <a:cubicBezTo>
                      <a:pt x="223" y="1522"/>
                      <a:pt x="228" y="1538"/>
                      <a:pt x="235" y="1550"/>
                    </a:cubicBezTo>
                    <a:cubicBezTo>
                      <a:pt x="243" y="1562"/>
                      <a:pt x="253" y="1572"/>
                      <a:pt x="265" y="1578"/>
                    </a:cubicBezTo>
                    <a:cubicBezTo>
                      <a:pt x="278" y="1585"/>
                      <a:pt x="293" y="1588"/>
                      <a:pt x="310" y="1588"/>
                    </a:cubicBezTo>
                    <a:cubicBezTo>
                      <a:pt x="329" y="1588"/>
                      <a:pt x="345" y="1584"/>
                      <a:pt x="358" y="1577"/>
                    </a:cubicBezTo>
                    <a:cubicBezTo>
                      <a:pt x="371" y="1569"/>
                      <a:pt x="382" y="1560"/>
                      <a:pt x="390" y="1547"/>
                    </a:cubicBezTo>
                    <a:cubicBezTo>
                      <a:pt x="398" y="1534"/>
                      <a:pt x="403" y="1518"/>
                      <a:pt x="407" y="1500"/>
                    </a:cubicBezTo>
                    <a:cubicBezTo>
                      <a:pt x="410" y="1482"/>
                      <a:pt x="412" y="1462"/>
                      <a:pt x="412" y="1440"/>
                    </a:cubicBezTo>
                    <a:cubicBezTo>
                      <a:pt x="412" y="1416"/>
                      <a:pt x="411" y="1395"/>
                      <a:pt x="407" y="1377"/>
                    </a:cubicBezTo>
                    <a:cubicBezTo>
                      <a:pt x="404" y="1359"/>
                      <a:pt x="399" y="1344"/>
                      <a:pt x="392" y="1331"/>
                    </a:cubicBezTo>
                    <a:cubicBezTo>
                      <a:pt x="384" y="1319"/>
                      <a:pt x="374" y="1310"/>
                      <a:pt x="362" y="1303"/>
                    </a:cubicBezTo>
                    <a:cubicBezTo>
                      <a:pt x="349" y="1297"/>
                      <a:pt x="334" y="1294"/>
                      <a:pt x="316" y="1294"/>
                    </a:cubicBezTo>
                    <a:cubicBezTo>
                      <a:pt x="311" y="1294"/>
                      <a:pt x="307" y="1294"/>
                      <a:pt x="303" y="1294"/>
                    </a:cubicBezTo>
                    <a:close/>
                    <a:moveTo>
                      <a:pt x="3417" y="1294"/>
                    </a:moveTo>
                    <a:cubicBezTo>
                      <a:pt x="3407" y="1294"/>
                      <a:pt x="3398" y="1295"/>
                      <a:pt x="3390" y="1297"/>
                    </a:cubicBezTo>
                    <a:cubicBezTo>
                      <a:pt x="3382" y="1299"/>
                      <a:pt x="3375" y="1301"/>
                      <a:pt x="3369" y="1303"/>
                    </a:cubicBezTo>
                    <a:cubicBezTo>
                      <a:pt x="3363" y="1306"/>
                      <a:pt x="3357" y="1308"/>
                      <a:pt x="3353" y="1311"/>
                    </a:cubicBezTo>
                    <a:cubicBezTo>
                      <a:pt x="3349" y="1314"/>
                      <a:pt x="3346" y="1316"/>
                      <a:pt x="3344" y="1317"/>
                    </a:cubicBezTo>
                    <a:cubicBezTo>
                      <a:pt x="3343" y="1319"/>
                      <a:pt x="3342" y="1320"/>
                      <a:pt x="3342" y="1321"/>
                    </a:cubicBezTo>
                    <a:cubicBezTo>
                      <a:pt x="3341" y="1322"/>
                      <a:pt x="3340" y="1323"/>
                      <a:pt x="3340" y="1324"/>
                    </a:cubicBezTo>
                    <a:cubicBezTo>
                      <a:pt x="3339" y="1326"/>
                      <a:pt x="3339" y="1327"/>
                      <a:pt x="3339" y="1329"/>
                    </a:cubicBezTo>
                    <a:cubicBezTo>
                      <a:pt x="3339" y="1330"/>
                      <a:pt x="3339" y="1332"/>
                      <a:pt x="3339" y="1334"/>
                    </a:cubicBezTo>
                    <a:cubicBezTo>
                      <a:pt x="3339" y="1337"/>
                      <a:pt x="3339" y="1340"/>
                      <a:pt x="3339" y="1342"/>
                    </a:cubicBezTo>
                    <a:cubicBezTo>
                      <a:pt x="3339" y="1344"/>
                      <a:pt x="3339" y="1345"/>
                      <a:pt x="3340" y="1346"/>
                    </a:cubicBezTo>
                    <a:cubicBezTo>
                      <a:pt x="3340" y="1347"/>
                      <a:pt x="3342" y="1349"/>
                      <a:pt x="3343" y="1349"/>
                    </a:cubicBezTo>
                    <a:cubicBezTo>
                      <a:pt x="3343" y="1349"/>
                      <a:pt x="3344" y="1350"/>
                      <a:pt x="3345" y="1350"/>
                    </a:cubicBezTo>
                    <a:cubicBezTo>
                      <a:pt x="3347" y="1350"/>
                      <a:pt x="3349" y="1348"/>
                      <a:pt x="3353" y="1345"/>
                    </a:cubicBezTo>
                    <a:cubicBezTo>
                      <a:pt x="3357" y="1343"/>
                      <a:pt x="3361" y="1340"/>
                      <a:pt x="3366" y="1338"/>
                    </a:cubicBezTo>
                    <a:cubicBezTo>
                      <a:pt x="3372" y="1335"/>
                      <a:pt x="3379" y="1331"/>
                      <a:pt x="3386" y="1329"/>
                    </a:cubicBezTo>
                    <a:cubicBezTo>
                      <a:pt x="3393" y="1326"/>
                      <a:pt x="3401" y="1325"/>
                      <a:pt x="3410" y="1325"/>
                    </a:cubicBezTo>
                    <a:cubicBezTo>
                      <a:pt x="3417" y="1325"/>
                      <a:pt x="3424" y="1326"/>
                      <a:pt x="3430" y="1329"/>
                    </a:cubicBezTo>
                    <a:cubicBezTo>
                      <a:pt x="3436" y="1331"/>
                      <a:pt x="3441" y="1334"/>
                      <a:pt x="3445" y="1338"/>
                    </a:cubicBezTo>
                    <a:cubicBezTo>
                      <a:pt x="3449" y="1342"/>
                      <a:pt x="3451" y="1346"/>
                      <a:pt x="3453" y="1352"/>
                    </a:cubicBezTo>
                    <a:cubicBezTo>
                      <a:pt x="3455" y="1357"/>
                      <a:pt x="3456" y="1363"/>
                      <a:pt x="3456" y="1369"/>
                    </a:cubicBezTo>
                    <a:cubicBezTo>
                      <a:pt x="3456" y="1377"/>
                      <a:pt x="3455" y="1384"/>
                      <a:pt x="3452" y="1390"/>
                    </a:cubicBezTo>
                    <a:cubicBezTo>
                      <a:pt x="3449" y="1397"/>
                      <a:pt x="3445" y="1403"/>
                      <a:pt x="3440" y="1408"/>
                    </a:cubicBezTo>
                    <a:cubicBezTo>
                      <a:pt x="3434" y="1413"/>
                      <a:pt x="3427" y="1416"/>
                      <a:pt x="3419" y="1419"/>
                    </a:cubicBezTo>
                    <a:cubicBezTo>
                      <a:pt x="3412" y="1421"/>
                      <a:pt x="3403" y="1422"/>
                      <a:pt x="3394" y="1422"/>
                    </a:cubicBezTo>
                    <a:lnTo>
                      <a:pt x="3369" y="1422"/>
                    </a:lnTo>
                    <a:cubicBezTo>
                      <a:pt x="3368" y="1422"/>
                      <a:pt x="3367" y="1423"/>
                      <a:pt x="3366" y="1423"/>
                    </a:cubicBezTo>
                    <a:cubicBezTo>
                      <a:pt x="3364" y="1424"/>
                      <a:pt x="3363" y="1425"/>
                      <a:pt x="3362" y="1426"/>
                    </a:cubicBezTo>
                    <a:cubicBezTo>
                      <a:pt x="3361" y="1427"/>
                      <a:pt x="3361" y="1428"/>
                      <a:pt x="3360" y="1430"/>
                    </a:cubicBezTo>
                    <a:cubicBezTo>
                      <a:pt x="3360" y="1432"/>
                      <a:pt x="3360" y="1434"/>
                      <a:pt x="3360" y="1437"/>
                    </a:cubicBezTo>
                    <a:cubicBezTo>
                      <a:pt x="3360" y="1440"/>
                      <a:pt x="3360" y="1442"/>
                      <a:pt x="3360" y="1444"/>
                    </a:cubicBezTo>
                    <a:cubicBezTo>
                      <a:pt x="3361" y="1446"/>
                      <a:pt x="3362" y="1447"/>
                      <a:pt x="3363" y="1449"/>
                    </a:cubicBezTo>
                    <a:cubicBezTo>
                      <a:pt x="3364" y="1450"/>
                      <a:pt x="3364" y="1451"/>
                      <a:pt x="3366" y="1451"/>
                    </a:cubicBezTo>
                    <a:cubicBezTo>
                      <a:pt x="3367" y="1452"/>
                      <a:pt x="3368" y="1452"/>
                      <a:pt x="3369" y="1452"/>
                    </a:cubicBezTo>
                    <a:lnTo>
                      <a:pt x="3396" y="1452"/>
                    </a:lnTo>
                    <a:cubicBezTo>
                      <a:pt x="3408" y="1452"/>
                      <a:pt x="3417" y="1453"/>
                      <a:pt x="3426" y="1456"/>
                    </a:cubicBezTo>
                    <a:cubicBezTo>
                      <a:pt x="3435" y="1458"/>
                      <a:pt x="3442" y="1462"/>
                      <a:pt x="3448" y="1467"/>
                    </a:cubicBezTo>
                    <a:cubicBezTo>
                      <a:pt x="3455" y="1472"/>
                      <a:pt x="3459" y="1477"/>
                      <a:pt x="3463" y="1484"/>
                    </a:cubicBezTo>
                    <a:cubicBezTo>
                      <a:pt x="3466" y="1490"/>
                      <a:pt x="3468" y="1497"/>
                      <a:pt x="3468" y="1505"/>
                    </a:cubicBezTo>
                    <a:cubicBezTo>
                      <a:pt x="3468" y="1512"/>
                      <a:pt x="3466" y="1519"/>
                      <a:pt x="3463" y="1525"/>
                    </a:cubicBezTo>
                    <a:cubicBezTo>
                      <a:pt x="3461" y="1532"/>
                      <a:pt x="3458" y="1538"/>
                      <a:pt x="3453" y="1542"/>
                    </a:cubicBezTo>
                    <a:cubicBezTo>
                      <a:pt x="3448" y="1547"/>
                      <a:pt x="3442" y="1550"/>
                      <a:pt x="3434" y="1553"/>
                    </a:cubicBezTo>
                    <a:cubicBezTo>
                      <a:pt x="3427" y="1555"/>
                      <a:pt x="3418" y="1556"/>
                      <a:pt x="3409" y="1556"/>
                    </a:cubicBezTo>
                    <a:cubicBezTo>
                      <a:pt x="3399" y="1556"/>
                      <a:pt x="3390" y="1555"/>
                      <a:pt x="3381" y="1553"/>
                    </a:cubicBezTo>
                    <a:cubicBezTo>
                      <a:pt x="3373" y="1550"/>
                      <a:pt x="3365" y="1547"/>
                      <a:pt x="3359" y="1545"/>
                    </a:cubicBezTo>
                    <a:cubicBezTo>
                      <a:pt x="3353" y="1542"/>
                      <a:pt x="3348" y="1540"/>
                      <a:pt x="3344" y="1538"/>
                    </a:cubicBezTo>
                    <a:cubicBezTo>
                      <a:pt x="3340" y="1535"/>
                      <a:pt x="3339" y="1534"/>
                      <a:pt x="3337" y="1534"/>
                    </a:cubicBezTo>
                    <a:cubicBezTo>
                      <a:pt x="3335" y="1534"/>
                      <a:pt x="3334" y="1535"/>
                      <a:pt x="3333" y="1537"/>
                    </a:cubicBezTo>
                    <a:cubicBezTo>
                      <a:pt x="3332" y="1539"/>
                      <a:pt x="3331" y="1543"/>
                      <a:pt x="3331" y="1548"/>
                    </a:cubicBezTo>
                    <a:cubicBezTo>
                      <a:pt x="3331" y="1551"/>
                      <a:pt x="3331" y="1554"/>
                      <a:pt x="3331" y="1556"/>
                    </a:cubicBezTo>
                    <a:cubicBezTo>
                      <a:pt x="3331" y="1558"/>
                      <a:pt x="3332" y="1560"/>
                      <a:pt x="3332" y="1562"/>
                    </a:cubicBezTo>
                    <a:cubicBezTo>
                      <a:pt x="3332" y="1563"/>
                      <a:pt x="3333" y="1564"/>
                      <a:pt x="3334" y="1565"/>
                    </a:cubicBezTo>
                    <a:cubicBezTo>
                      <a:pt x="3334" y="1566"/>
                      <a:pt x="3335" y="1568"/>
                      <a:pt x="3336" y="1569"/>
                    </a:cubicBezTo>
                    <a:cubicBezTo>
                      <a:pt x="3337" y="1570"/>
                      <a:pt x="3340" y="1571"/>
                      <a:pt x="3344" y="1573"/>
                    </a:cubicBezTo>
                    <a:cubicBezTo>
                      <a:pt x="3349" y="1575"/>
                      <a:pt x="3354" y="1578"/>
                      <a:pt x="3360" y="1580"/>
                    </a:cubicBezTo>
                    <a:cubicBezTo>
                      <a:pt x="3367" y="1582"/>
                      <a:pt x="3374" y="1584"/>
                      <a:pt x="3382" y="1585"/>
                    </a:cubicBezTo>
                    <a:cubicBezTo>
                      <a:pt x="3391" y="1587"/>
                      <a:pt x="3400" y="1588"/>
                      <a:pt x="3410" y="1588"/>
                    </a:cubicBezTo>
                    <a:cubicBezTo>
                      <a:pt x="3425" y="1588"/>
                      <a:pt x="3439" y="1586"/>
                      <a:pt x="3452" y="1582"/>
                    </a:cubicBezTo>
                    <a:cubicBezTo>
                      <a:pt x="3464" y="1578"/>
                      <a:pt x="3475" y="1572"/>
                      <a:pt x="3484" y="1564"/>
                    </a:cubicBezTo>
                    <a:cubicBezTo>
                      <a:pt x="3492" y="1557"/>
                      <a:pt x="3499" y="1547"/>
                      <a:pt x="3503" y="1537"/>
                    </a:cubicBezTo>
                    <a:cubicBezTo>
                      <a:pt x="3508" y="1526"/>
                      <a:pt x="3510" y="1515"/>
                      <a:pt x="3510" y="1502"/>
                    </a:cubicBezTo>
                    <a:cubicBezTo>
                      <a:pt x="3510" y="1493"/>
                      <a:pt x="3508" y="1485"/>
                      <a:pt x="3505" y="1477"/>
                    </a:cubicBezTo>
                    <a:cubicBezTo>
                      <a:pt x="3502" y="1469"/>
                      <a:pt x="3497" y="1462"/>
                      <a:pt x="3491" y="1456"/>
                    </a:cubicBezTo>
                    <a:cubicBezTo>
                      <a:pt x="3485" y="1450"/>
                      <a:pt x="3478" y="1445"/>
                      <a:pt x="3470" y="1442"/>
                    </a:cubicBezTo>
                    <a:cubicBezTo>
                      <a:pt x="3461" y="1438"/>
                      <a:pt x="3453" y="1435"/>
                      <a:pt x="3443" y="1434"/>
                    </a:cubicBezTo>
                    <a:cubicBezTo>
                      <a:pt x="3452" y="1432"/>
                      <a:pt x="3459" y="1429"/>
                      <a:pt x="3466" y="1425"/>
                    </a:cubicBezTo>
                    <a:cubicBezTo>
                      <a:pt x="3473" y="1421"/>
                      <a:pt x="3478" y="1416"/>
                      <a:pt x="3483" y="1410"/>
                    </a:cubicBezTo>
                    <a:cubicBezTo>
                      <a:pt x="3487" y="1404"/>
                      <a:pt x="3491" y="1396"/>
                      <a:pt x="3493" y="1389"/>
                    </a:cubicBezTo>
                    <a:cubicBezTo>
                      <a:pt x="3496" y="1381"/>
                      <a:pt x="3497" y="1373"/>
                      <a:pt x="3497" y="1364"/>
                    </a:cubicBezTo>
                    <a:cubicBezTo>
                      <a:pt x="3497" y="1354"/>
                      <a:pt x="3495" y="1344"/>
                      <a:pt x="3492" y="1336"/>
                    </a:cubicBezTo>
                    <a:cubicBezTo>
                      <a:pt x="3488" y="1327"/>
                      <a:pt x="3483" y="1320"/>
                      <a:pt x="3477" y="1314"/>
                    </a:cubicBezTo>
                    <a:cubicBezTo>
                      <a:pt x="3470" y="1308"/>
                      <a:pt x="3462" y="1302"/>
                      <a:pt x="3452" y="1299"/>
                    </a:cubicBezTo>
                    <a:cubicBezTo>
                      <a:pt x="3442" y="1295"/>
                      <a:pt x="3430" y="1294"/>
                      <a:pt x="3417" y="1294"/>
                    </a:cubicBezTo>
                    <a:close/>
                    <a:moveTo>
                      <a:pt x="6549" y="1294"/>
                    </a:moveTo>
                    <a:cubicBezTo>
                      <a:pt x="6533" y="1294"/>
                      <a:pt x="6519" y="1296"/>
                      <a:pt x="6507" y="1300"/>
                    </a:cubicBezTo>
                    <a:cubicBezTo>
                      <a:pt x="6495" y="1305"/>
                      <a:pt x="6484" y="1311"/>
                      <a:pt x="6475" y="1319"/>
                    </a:cubicBezTo>
                    <a:cubicBezTo>
                      <a:pt x="6466" y="1327"/>
                      <a:pt x="6459" y="1335"/>
                      <a:pt x="6453" y="1345"/>
                    </a:cubicBezTo>
                    <a:cubicBezTo>
                      <a:pt x="6447" y="1356"/>
                      <a:pt x="6443" y="1366"/>
                      <a:pt x="6440" y="1378"/>
                    </a:cubicBezTo>
                    <a:cubicBezTo>
                      <a:pt x="6437" y="1390"/>
                      <a:pt x="6434" y="1402"/>
                      <a:pt x="6433" y="1414"/>
                    </a:cubicBezTo>
                    <a:cubicBezTo>
                      <a:pt x="6432" y="1427"/>
                      <a:pt x="6430" y="1439"/>
                      <a:pt x="6430" y="1451"/>
                    </a:cubicBezTo>
                    <a:cubicBezTo>
                      <a:pt x="6430" y="1465"/>
                      <a:pt x="6431" y="1478"/>
                      <a:pt x="6432" y="1490"/>
                    </a:cubicBezTo>
                    <a:cubicBezTo>
                      <a:pt x="6433" y="1502"/>
                      <a:pt x="6435" y="1513"/>
                      <a:pt x="6438" y="1524"/>
                    </a:cubicBezTo>
                    <a:cubicBezTo>
                      <a:pt x="6441" y="1534"/>
                      <a:pt x="6444" y="1542"/>
                      <a:pt x="6449" y="1550"/>
                    </a:cubicBezTo>
                    <a:cubicBezTo>
                      <a:pt x="6453" y="1558"/>
                      <a:pt x="6459" y="1565"/>
                      <a:pt x="6466" y="1570"/>
                    </a:cubicBezTo>
                    <a:cubicBezTo>
                      <a:pt x="6472" y="1576"/>
                      <a:pt x="6480" y="1580"/>
                      <a:pt x="6489" y="1583"/>
                    </a:cubicBezTo>
                    <a:cubicBezTo>
                      <a:pt x="6498" y="1586"/>
                      <a:pt x="6509" y="1587"/>
                      <a:pt x="6521" y="1587"/>
                    </a:cubicBezTo>
                    <a:cubicBezTo>
                      <a:pt x="6538" y="1587"/>
                      <a:pt x="6552" y="1585"/>
                      <a:pt x="6564" y="1579"/>
                    </a:cubicBezTo>
                    <a:cubicBezTo>
                      <a:pt x="6577" y="1574"/>
                      <a:pt x="6586" y="1567"/>
                      <a:pt x="6594" y="1558"/>
                    </a:cubicBezTo>
                    <a:cubicBezTo>
                      <a:pt x="6602" y="1549"/>
                      <a:pt x="6608" y="1539"/>
                      <a:pt x="6612" y="1527"/>
                    </a:cubicBezTo>
                    <a:cubicBezTo>
                      <a:pt x="6616" y="1515"/>
                      <a:pt x="6618" y="1503"/>
                      <a:pt x="6618" y="1491"/>
                    </a:cubicBezTo>
                    <a:cubicBezTo>
                      <a:pt x="6618" y="1479"/>
                      <a:pt x="6616" y="1468"/>
                      <a:pt x="6614" y="1458"/>
                    </a:cubicBezTo>
                    <a:cubicBezTo>
                      <a:pt x="6611" y="1448"/>
                      <a:pt x="6606" y="1439"/>
                      <a:pt x="6600" y="1432"/>
                    </a:cubicBezTo>
                    <a:cubicBezTo>
                      <a:pt x="6593" y="1424"/>
                      <a:pt x="6585" y="1418"/>
                      <a:pt x="6574" y="1414"/>
                    </a:cubicBezTo>
                    <a:cubicBezTo>
                      <a:pt x="6563" y="1410"/>
                      <a:pt x="6551" y="1408"/>
                      <a:pt x="6535" y="1408"/>
                    </a:cubicBezTo>
                    <a:cubicBezTo>
                      <a:pt x="6528" y="1408"/>
                      <a:pt x="6521" y="1409"/>
                      <a:pt x="6515" y="1410"/>
                    </a:cubicBezTo>
                    <a:cubicBezTo>
                      <a:pt x="6509" y="1411"/>
                      <a:pt x="6503" y="1412"/>
                      <a:pt x="6497" y="1414"/>
                    </a:cubicBezTo>
                    <a:cubicBezTo>
                      <a:pt x="6492" y="1416"/>
                      <a:pt x="6486" y="1418"/>
                      <a:pt x="6481" y="1420"/>
                    </a:cubicBezTo>
                    <a:cubicBezTo>
                      <a:pt x="6477" y="1423"/>
                      <a:pt x="6472" y="1424"/>
                      <a:pt x="6468" y="1427"/>
                    </a:cubicBezTo>
                    <a:cubicBezTo>
                      <a:pt x="6469" y="1413"/>
                      <a:pt x="6470" y="1400"/>
                      <a:pt x="6473" y="1388"/>
                    </a:cubicBezTo>
                    <a:cubicBezTo>
                      <a:pt x="6476" y="1375"/>
                      <a:pt x="6481" y="1365"/>
                      <a:pt x="6488" y="1355"/>
                    </a:cubicBezTo>
                    <a:cubicBezTo>
                      <a:pt x="6494" y="1346"/>
                      <a:pt x="6502" y="1338"/>
                      <a:pt x="6511" y="1332"/>
                    </a:cubicBezTo>
                    <a:cubicBezTo>
                      <a:pt x="6521" y="1327"/>
                      <a:pt x="6533" y="1324"/>
                      <a:pt x="6547" y="1324"/>
                    </a:cubicBezTo>
                    <a:cubicBezTo>
                      <a:pt x="6554" y="1324"/>
                      <a:pt x="6561" y="1325"/>
                      <a:pt x="6567" y="1326"/>
                    </a:cubicBezTo>
                    <a:cubicBezTo>
                      <a:pt x="6573" y="1327"/>
                      <a:pt x="6577" y="1328"/>
                      <a:pt x="6581" y="1330"/>
                    </a:cubicBezTo>
                    <a:cubicBezTo>
                      <a:pt x="6585" y="1331"/>
                      <a:pt x="6588" y="1331"/>
                      <a:pt x="6591" y="1332"/>
                    </a:cubicBezTo>
                    <a:cubicBezTo>
                      <a:pt x="6594" y="1333"/>
                      <a:pt x="6596" y="1334"/>
                      <a:pt x="6598" y="1334"/>
                    </a:cubicBezTo>
                    <a:cubicBezTo>
                      <a:pt x="6599" y="1334"/>
                      <a:pt x="6601" y="1334"/>
                      <a:pt x="6601" y="1333"/>
                    </a:cubicBezTo>
                    <a:cubicBezTo>
                      <a:pt x="6602" y="1333"/>
                      <a:pt x="6603" y="1332"/>
                      <a:pt x="6603" y="1330"/>
                    </a:cubicBezTo>
                    <a:cubicBezTo>
                      <a:pt x="6604" y="1329"/>
                      <a:pt x="6604" y="1328"/>
                      <a:pt x="6604" y="1326"/>
                    </a:cubicBezTo>
                    <a:cubicBezTo>
                      <a:pt x="6604" y="1324"/>
                      <a:pt x="6604" y="1322"/>
                      <a:pt x="6604" y="1319"/>
                    </a:cubicBezTo>
                    <a:cubicBezTo>
                      <a:pt x="6604" y="1317"/>
                      <a:pt x="6604" y="1315"/>
                      <a:pt x="6604" y="1314"/>
                    </a:cubicBezTo>
                    <a:cubicBezTo>
                      <a:pt x="6604" y="1312"/>
                      <a:pt x="6603" y="1311"/>
                      <a:pt x="6603" y="1310"/>
                    </a:cubicBezTo>
                    <a:cubicBezTo>
                      <a:pt x="6603" y="1309"/>
                      <a:pt x="6603" y="1308"/>
                      <a:pt x="6602" y="1308"/>
                    </a:cubicBezTo>
                    <a:cubicBezTo>
                      <a:pt x="6602" y="1307"/>
                      <a:pt x="6601" y="1306"/>
                      <a:pt x="6600" y="1305"/>
                    </a:cubicBezTo>
                    <a:cubicBezTo>
                      <a:pt x="6599" y="1304"/>
                      <a:pt x="6597" y="1303"/>
                      <a:pt x="6593" y="1301"/>
                    </a:cubicBezTo>
                    <a:cubicBezTo>
                      <a:pt x="6590" y="1300"/>
                      <a:pt x="6586" y="1299"/>
                      <a:pt x="6581" y="1298"/>
                    </a:cubicBezTo>
                    <a:cubicBezTo>
                      <a:pt x="6576" y="1297"/>
                      <a:pt x="6572" y="1296"/>
                      <a:pt x="6566" y="1295"/>
                    </a:cubicBezTo>
                    <a:cubicBezTo>
                      <a:pt x="6560" y="1295"/>
                      <a:pt x="6555" y="1294"/>
                      <a:pt x="6549" y="1294"/>
                    </a:cubicBezTo>
                    <a:close/>
                    <a:moveTo>
                      <a:pt x="5268" y="1295"/>
                    </a:moveTo>
                    <a:cubicBezTo>
                      <a:pt x="5266" y="1295"/>
                      <a:pt x="5265" y="1296"/>
                      <a:pt x="5263" y="1296"/>
                    </a:cubicBezTo>
                    <a:cubicBezTo>
                      <a:pt x="5262" y="1296"/>
                      <a:pt x="5261" y="1297"/>
                      <a:pt x="5260" y="1297"/>
                    </a:cubicBezTo>
                    <a:cubicBezTo>
                      <a:pt x="5259" y="1297"/>
                      <a:pt x="5259" y="1297"/>
                      <a:pt x="5258" y="1298"/>
                    </a:cubicBezTo>
                    <a:lnTo>
                      <a:pt x="5192" y="1340"/>
                    </a:lnTo>
                    <a:cubicBezTo>
                      <a:pt x="5191" y="1341"/>
                      <a:pt x="5190" y="1342"/>
                      <a:pt x="5189" y="1343"/>
                    </a:cubicBezTo>
                    <a:cubicBezTo>
                      <a:pt x="5189" y="1344"/>
                      <a:pt x="5188" y="1344"/>
                      <a:pt x="5188" y="1345"/>
                    </a:cubicBezTo>
                    <a:cubicBezTo>
                      <a:pt x="5187" y="1347"/>
                      <a:pt x="5186" y="1348"/>
                      <a:pt x="5186" y="1350"/>
                    </a:cubicBezTo>
                    <a:cubicBezTo>
                      <a:pt x="5186" y="1352"/>
                      <a:pt x="5186" y="1354"/>
                      <a:pt x="5186" y="1356"/>
                    </a:cubicBezTo>
                    <a:cubicBezTo>
                      <a:pt x="5186" y="1359"/>
                      <a:pt x="5186" y="1363"/>
                      <a:pt x="5187" y="1365"/>
                    </a:cubicBezTo>
                    <a:cubicBezTo>
                      <a:pt x="5187" y="1367"/>
                      <a:pt x="5187" y="1368"/>
                      <a:pt x="5188" y="1369"/>
                    </a:cubicBezTo>
                    <a:cubicBezTo>
                      <a:pt x="5190" y="1370"/>
                      <a:pt x="5191" y="1370"/>
                      <a:pt x="5193" y="1370"/>
                    </a:cubicBezTo>
                    <a:cubicBezTo>
                      <a:pt x="5195" y="1370"/>
                      <a:pt x="5196" y="1369"/>
                      <a:pt x="5199" y="1368"/>
                    </a:cubicBezTo>
                    <a:lnTo>
                      <a:pt x="5255" y="1335"/>
                    </a:lnTo>
                    <a:lnTo>
                      <a:pt x="5255" y="1552"/>
                    </a:lnTo>
                    <a:lnTo>
                      <a:pt x="5195" y="1552"/>
                    </a:lnTo>
                    <a:cubicBezTo>
                      <a:pt x="5193" y="1552"/>
                      <a:pt x="5193" y="1552"/>
                      <a:pt x="5192" y="1553"/>
                    </a:cubicBezTo>
                    <a:cubicBezTo>
                      <a:pt x="5191" y="1553"/>
                      <a:pt x="5190" y="1554"/>
                      <a:pt x="5189" y="1555"/>
                    </a:cubicBezTo>
                    <a:cubicBezTo>
                      <a:pt x="5189" y="1557"/>
                      <a:pt x="5188" y="1559"/>
                      <a:pt x="5188" y="1561"/>
                    </a:cubicBezTo>
                    <a:cubicBezTo>
                      <a:pt x="5187" y="1563"/>
                      <a:pt x="5187" y="1565"/>
                      <a:pt x="5187" y="1568"/>
                    </a:cubicBezTo>
                    <a:cubicBezTo>
                      <a:pt x="5187" y="1570"/>
                      <a:pt x="5187" y="1573"/>
                      <a:pt x="5188" y="1575"/>
                    </a:cubicBezTo>
                    <a:cubicBezTo>
                      <a:pt x="5188" y="1577"/>
                      <a:pt x="5189" y="1578"/>
                      <a:pt x="5189" y="1579"/>
                    </a:cubicBezTo>
                    <a:cubicBezTo>
                      <a:pt x="5190" y="1580"/>
                      <a:pt x="5191" y="1581"/>
                      <a:pt x="5192" y="1582"/>
                    </a:cubicBezTo>
                    <a:cubicBezTo>
                      <a:pt x="5193" y="1582"/>
                      <a:pt x="5194" y="1583"/>
                      <a:pt x="5195" y="1583"/>
                    </a:cubicBezTo>
                    <a:lnTo>
                      <a:pt x="5344" y="1583"/>
                    </a:lnTo>
                    <a:cubicBezTo>
                      <a:pt x="5345" y="1583"/>
                      <a:pt x="5346" y="1582"/>
                      <a:pt x="5347" y="1582"/>
                    </a:cubicBezTo>
                    <a:cubicBezTo>
                      <a:pt x="5348" y="1581"/>
                      <a:pt x="5349" y="1580"/>
                      <a:pt x="5350" y="1579"/>
                    </a:cubicBezTo>
                    <a:cubicBezTo>
                      <a:pt x="5351" y="1578"/>
                      <a:pt x="5351" y="1577"/>
                      <a:pt x="5352" y="1575"/>
                    </a:cubicBezTo>
                    <a:cubicBezTo>
                      <a:pt x="5352" y="1573"/>
                      <a:pt x="5352" y="1571"/>
                      <a:pt x="5352" y="1568"/>
                    </a:cubicBezTo>
                    <a:cubicBezTo>
                      <a:pt x="5352" y="1565"/>
                      <a:pt x="5352" y="1563"/>
                      <a:pt x="5352" y="1561"/>
                    </a:cubicBezTo>
                    <a:cubicBezTo>
                      <a:pt x="5351" y="1559"/>
                      <a:pt x="5351" y="1557"/>
                      <a:pt x="5350" y="1555"/>
                    </a:cubicBezTo>
                    <a:cubicBezTo>
                      <a:pt x="5349" y="1554"/>
                      <a:pt x="5348" y="1553"/>
                      <a:pt x="5347" y="1553"/>
                    </a:cubicBezTo>
                    <a:cubicBezTo>
                      <a:pt x="5346" y="1552"/>
                      <a:pt x="5345" y="1552"/>
                      <a:pt x="5344" y="1552"/>
                    </a:cubicBezTo>
                    <a:lnTo>
                      <a:pt x="5293" y="1552"/>
                    </a:lnTo>
                    <a:lnTo>
                      <a:pt x="5293" y="1301"/>
                    </a:lnTo>
                    <a:cubicBezTo>
                      <a:pt x="5293" y="1300"/>
                      <a:pt x="5292" y="1300"/>
                      <a:pt x="5292" y="1299"/>
                    </a:cubicBezTo>
                    <a:cubicBezTo>
                      <a:pt x="5291" y="1298"/>
                      <a:pt x="5290" y="1297"/>
                      <a:pt x="5289" y="1297"/>
                    </a:cubicBezTo>
                    <a:cubicBezTo>
                      <a:pt x="5288" y="1296"/>
                      <a:pt x="5286" y="1295"/>
                      <a:pt x="5284" y="1295"/>
                    </a:cubicBezTo>
                    <a:cubicBezTo>
                      <a:pt x="5281" y="1295"/>
                      <a:pt x="5278" y="1295"/>
                      <a:pt x="5275" y="1295"/>
                    </a:cubicBezTo>
                    <a:cubicBezTo>
                      <a:pt x="5272" y="1295"/>
                      <a:pt x="5270" y="1295"/>
                      <a:pt x="5268" y="1295"/>
                    </a:cubicBezTo>
                    <a:close/>
                    <a:moveTo>
                      <a:pt x="90" y="1296"/>
                    </a:moveTo>
                    <a:cubicBezTo>
                      <a:pt x="88" y="1296"/>
                      <a:pt x="87" y="1297"/>
                      <a:pt x="86" y="1297"/>
                    </a:cubicBezTo>
                    <a:cubicBezTo>
                      <a:pt x="84" y="1297"/>
                      <a:pt x="83" y="1298"/>
                      <a:pt x="82" y="1298"/>
                    </a:cubicBezTo>
                    <a:cubicBezTo>
                      <a:pt x="81" y="1298"/>
                      <a:pt x="81" y="1298"/>
                      <a:pt x="80" y="1299"/>
                    </a:cubicBezTo>
                    <a:lnTo>
                      <a:pt x="14" y="1341"/>
                    </a:lnTo>
                    <a:cubicBezTo>
                      <a:pt x="13" y="1342"/>
                      <a:pt x="12" y="1343"/>
                      <a:pt x="11" y="1344"/>
                    </a:cubicBezTo>
                    <a:cubicBezTo>
                      <a:pt x="11" y="1345"/>
                      <a:pt x="10" y="1345"/>
                      <a:pt x="10" y="1346"/>
                    </a:cubicBezTo>
                    <a:cubicBezTo>
                      <a:pt x="9" y="1348"/>
                      <a:pt x="8" y="1349"/>
                      <a:pt x="8" y="1351"/>
                    </a:cubicBezTo>
                    <a:cubicBezTo>
                      <a:pt x="8" y="1353"/>
                      <a:pt x="8" y="1355"/>
                      <a:pt x="8" y="1358"/>
                    </a:cubicBezTo>
                    <a:cubicBezTo>
                      <a:pt x="8" y="1361"/>
                      <a:pt x="8" y="1364"/>
                      <a:pt x="9" y="1366"/>
                    </a:cubicBezTo>
                    <a:cubicBezTo>
                      <a:pt x="9" y="1368"/>
                      <a:pt x="10" y="1369"/>
                      <a:pt x="11" y="1370"/>
                    </a:cubicBezTo>
                    <a:cubicBezTo>
                      <a:pt x="12" y="1371"/>
                      <a:pt x="13" y="1372"/>
                      <a:pt x="15" y="1372"/>
                    </a:cubicBezTo>
                    <a:cubicBezTo>
                      <a:pt x="17" y="1372"/>
                      <a:pt x="18" y="1371"/>
                      <a:pt x="21" y="1369"/>
                    </a:cubicBezTo>
                    <a:lnTo>
                      <a:pt x="77" y="1336"/>
                    </a:lnTo>
                    <a:lnTo>
                      <a:pt x="77" y="1553"/>
                    </a:lnTo>
                    <a:lnTo>
                      <a:pt x="17" y="1553"/>
                    </a:lnTo>
                    <a:cubicBezTo>
                      <a:pt x="16" y="1553"/>
                      <a:pt x="15" y="1553"/>
                      <a:pt x="14" y="1554"/>
                    </a:cubicBezTo>
                    <a:cubicBezTo>
                      <a:pt x="13" y="1554"/>
                      <a:pt x="12" y="1556"/>
                      <a:pt x="11" y="1557"/>
                    </a:cubicBezTo>
                    <a:cubicBezTo>
                      <a:pt x="11" y="1558"/>
                      <a:pt x="10" y="1560"/>
                      <a:pt x="10" y="1562"/>
                    </a:cubicBezTo>
                    <a:cubicBezTo>
                      <a:pt x="9" y="1563"/>
                      <a:pt x="9" y="1566"/>
                      <a:pt x="9" y="1569"/>
                    </a:cubicBezTo>
                    <a:cubicBezTo>
                      <a:pt x="9" y="1571"/>
                      <a:pt x="9" y="1574"/>
                      <a:pt x="10" y="1576"/>
                    </a:cubicBezTo>
                    <a:cubicBezTo>
                      <a:pt x="10" y="1578"/>
                      <a:pt x="11" y="1579"/>
                      <a:pt x="11" y="1580"/>
                    </a:cubicBezTo>
                    <a:cubicBezTo>
                      <a:pt x="12" y="1581"/>
                      <a:pt x="13" y="1582"/>
                      <a:pt x="14" y="1583"/>
                    </a:cubicBezTo>
                    <a:cubicBezTo>
                      <a:pt x="15" y="1583"/>
                      <a:pt x="16" y="1584"/>
                      <a:pt x="17" y="1584"/>
                    </a:cubicBezTo>
                    <a:lnTo>
                      <a:pt x="166" y="1584"/>
                    </a:lnTo>
                    <a:cubicBezTo>
                      <a:pt x="167" y="1584"/>
                      <a:pt x="168" y="1583"/>
                      <a:pt x="169" y="1583"/>
                    </a:cubicBezTo>
                    <a:cubicBezTo>
                      <a:pt x="170" y="1582"/>
                      <a:pt x="170" y="1581"/>
                      <a:pt x="171" y="1580"/>
                    </a:cubicBezTo>
                    <a:cubicBezTo>
                      <a:pt x="172" y="1579"/>
                      <a:pt x="172" y="1578"/>
                      <a:pt x="173" y="1576"/>
                    </a:cubicBezTo>
                    <a:cubicBezTo>
                      <a:pt x="173" y="1574"/>
                      <a:pt x="174" y="1571"/>
                      <a:pt x="174" y="1569"/>
                    </a:cubicBezTo>
                    <a:cubicBezTo>
                      <a:pt x="174" y="1566"/>
                      <a:pt x="174" y="1563"/>
                      <a:pt x="174" y="1562"/>
                    </a:cubicBezTo>
                    <a:cubicBezTo>
                      <a:pt x="173" y="1560"/>
                      <a:pt x="173" y="1558"/>
                      <a:pt x="172" y="1557"/>
                    </a:cubicBezTo>
                    <a:cubicBezTo>
                      <a:pt x="171" y="1556"/>
                      <a:pt x="170" y="1554"/>
                      <a:pt x="169" y="1554"/>
                    </a:cubicBezTo>
                    <a:cubicBezTo>
                      <a:pt x="168" y="1553"/>
                      <a:pt x="167" y="1553"/>
                      <a:pt x="166" y="1553"/>
                    </a:cubicBezTo>
                    <a:lnTo>
                      <a:pt x="115" y="1553"/>
                    </a:lnTo>
                    <a:lnTo>
                      <a:pt x="115" y="1302"/>
                    </a:lnTo>
                    <a:cubicBezTo>
                      <a:pt x="115" y="1301"/>
                      <a:pt x="114" y="1300"/>
                      <a:pt x="114" y="1300"/>
                    </a:cubicBezTo>
                    <a:cubicBezTo>
                      <a:pt x="113" y="1299"/>
                      <a:pt x="112" y="1298"/>
                      <a:pt x="111" y="1298"/>
                    </a:cubicBezTo>
                    <a:cubicBezTo>
                      <a:pt x="110" y="1297"/>
                      <a:pt x="108" y="1297"/>
                      <a:pt x="106" y="1297"/>
                    </a:cubicBezTo>
                    <a:cubicBezTo>
                      <a:pt x="103" y="1297"/>
                      <a:pt x="101" y="1296"/>
                      <a:pt x="97" y="1296"/>
                    </a:cubicBezTo>
                    <a:cubicBezTo>
                      <a:pt x="94" y="1296"/>
                      <a:pt x="92" y="1296"/>
                      <a:pt x="90" y="1296"/>
                    </a:cubicBezTo>
                    <a:close/>
                    <a:moveTo>
                      <a:pt x="3200" y="1296"/>
                    </a:moveTo>
                    <a:cubicBezTo>
                      <a:pt x="3198" y="1296"/>
                      <a:pt x="3197" y="1297"/>
                      <a:pt x="3195" y="1297"/>
                    </a:cubicBezTo>
                    <a:cubicBezTo>
                      <a:pt x="3194" y="1297"/>
                      <a:pt x="3193" y="1298"/>
                      <a:pt x="3192" y="1298"/>
                    </a:cubicBezTo>
                    <a:cubicBezTo>
                      <a:pt x="3191" y="1298"/>
                      <a:pt x="3190" y="1298"/>
                      <a:pt x="3189" y="1299"/>
                    </a:cubicBezTo>
                    <a:lnTo>
                      <a:pt x="3124" y="1341"/>
                    </a:lnTo>
                    <a:cubicBezTo>
                      <a:pt x="3123" y="1342"/>
                      <a:pt x="3121" y="1343"/>
                      <a:pt x="3120" y="1344"/>
                    </a:cubicBezTo>
                    <a:cubicBezTo>
                      <a:pt x="3120" y="1345"/>
                      <a:pt x="3119" y="1345"/>
                      <a:pt x="3119" y="1346"/>
                    </a:cubicBezTo>
                    <a:cubicBezTo>
                      <a:pt x="3118" y="1348"/>
                      <a:pt x="3118" y="1349"/>
                      <a:pt x="3118" y="1351"/>
                    </a:cubicBezTo>
                    <a:cubicBezTo>
                      <a:pt x="3117" y="1353"/>
                      <a:pt x="3118" y="1355"/>
                      <a:pt x="3118" y="1358"/>
                    </a:cubicBezTo>
                    <a:cubicBezTo>
                      <a:pt x="3118" y="1361"/>
                      <a:pt x="3117" y="1364"/>
                      <a:pt x="3118" y="1366"/>
                    </a:cubicBezTo>
                    <a:cubicBezTo>
                      <a:pt x="3118" y="1368"/>
                      <a:pt x="3119" y="1369"/>
                      <a:pt x="3120" y="1370"/>
                    </a:cubicBezTo>
                    <a:cubicBezTo>
                      <a:pt x="3121" y="1371"/>
                      <a:pt x="3122" y="1372"/>
                      <a:pt x="3124" y="1372"/>
                    </a:cubicBezTo>
                    <a:cubicBezTo>
                      <a:pt x="3126" y="1372"/>
                      <a:pt x="3128" y="1371"/>
                      <a:pt x="3131" y="1369"/>
                    </a:cubicBezTo>
                    <a:lnTo>
                      <a:pt x="3186" y="1336"/>
                    </a:lnTo>
                    <a:lnTo>
                      <a:pt x="3186" y="1553"/>
                    </a:lnTo>
                    <a:lnTo>
                      <a:pt x="3126" y="1553"/>
                    </a:lnTo>
                    <a:cubicBezTo>
                      <a:pt x="3125" y="1553"/>
                      <a:pt x="3124" y="1553"/>
                      <a:pt x="3123" y="1554"/>
                    </a:cubicBezTo>
                    <a:cubicBezTo>
                      <a:pt x="3122" y="1554"/>
                      <a:pt x="3121" y="1556"/>
                      <a:pt x="3120" y="1557"/>
                    </a:cubicBezTo>
                    <a:cubicBezTo>
                      <a:pt x="3120" y="1558"/>
                      <a:pt x="3120" y="1560"/>
                      <a:pt x="3119" y="1562"/>
                    </a:cubicBezTo>
                    <a:cubicBezTo>
                      <a:pt x="3119" y="1563"/>
                      <a:pt x="3119" y="1566"/>
                      <a:pt x="3119" y="1569"/>
                    </a:cubicBezTo>
                    <a:cubicBezTo>
                      <a:pt x="3119" y="1571"/>
                      <a:pt x="3119" y="1574"/>
                      <a:pt x="3119" y="1576"/>
                    </a:cubicBezTo>
                    <a:cubicBezTo>
                      <a:pt x="3120" y="1578"/>
                      <a:pt x="3120" y="1579"/>
                      <a:pt x="3121" y="1580"/>
                    </a:cubicBezTo>
                    <a:cubicBezTo>
                      <a:pt x="3122" y="1581"/>
                      <a:pt x="3123" y="1582"/>
                      <a:pt x="3124" y="1583"/>
                    </a:cubicBezTo>
                    <a:cubicBezTo>
                      <a:pt x="3125" y="1583"/>
                      <a:pt x="3125" y="1584"/>
                      <a:pt x="3126" y="1584"/>
                    </a:cubicBezTo>
                    <a:lnTo>
                      <a:pt x="3276" y="1584"/>
                    </a:lnTo>
                    <a:cubicBezTo>
                      <a:pt x="3277" y="1584"/>
                      <a:pt x="3277" y="1583"/>
                      <a:pt x="3278" y="1583"/>
                    </a:cubicBezTo>
                    <a:cubicBezTo>
                      <a:pt x="3279" y="1582"/>
                      <a:pt x="3280" y="1581"/>
                      <a:pt x="3281" y="1580"/>
                    </a:cubicBezTo>
                    <a:cubicBezTo>
                      <a:pt x="3282" y="1579"/>
                      <a:pt x="3282" y="1578"/>
                      <a:pt x="3283" y="1576"/>
                    </a:cubicBezTo>
                    <a:cubicBezTo>
                      <a:pt x="3283" y="1574"/>
                      <a:pt x="3283" y="1571"/>
                      <a:pt x="3283" y="1569"/>
                    </a:cubicBezTo>
                    <a:cubicBezTo>
                      <a:pt x="3283" y="1566"/>
                      <a:pt x="3283" y="1563"/>
                      <a:pt x="3283" y="1562"/>
                    </a:cubicBezTo>
                    <a:cubicBezTo>
                      <a:pt x="3282" y="1560"/>
                      <a:pt x="3281" y="1558"/>
                      <a:pt x="3281" y="1557"/>
                    </a:cubicBezTo>
                    <a:cubicBezTo>
                      <a:pt x="3280" y="1556"/>
                      <a:pt x="3280" y="1554"/>
                      <a:pt x="3279" y="1554"/>
                    </a:cubicBezTo>
                    <a:cubicBezTo>
                      <a:pt x="3278" y="1553"/>
                      <a:pt x="3277" y="1553"/>
                      <a:pt x="3276" y="1553"/>
                    </a:cubicBezTo>
                    <a:lnTo>
                      <a:pt x="3224" y="1553"/>
                    </a:lnTo>
                    <a:lnTo>
                      <a:pt x="3224" y="1302"/>
                    </a:lnTo>
                    <a:cubicBezTo>
                      <a:pt x="3224" y="1301"/>
                      <a:pt x="3224" y="1300"/>
                      <a:pt x="3224" y="1300"/>
                    </a:cubicBezTo>
                    <a:cubicBezTo>
                      <a:pt x="3223" y="1299"/>
                      <a:pt x="3222" y="1298"/>
                      <a:pt x="3221" y="1298"/>
                    </a:cubicBezTo>
                    <a:cubicBezTo>
                      <a:pt x="3220" y="1297"/>
                      <a:pt x="3217" y="1297"/>
                      <a:pt x="3215" y="1297"/>
                    </a:cubicBezTo>
                    <a:cubicBezTo>
                      <a:pt x="3212" y="1297"/>
                      <a:pt x="3209" y="1296"/>
                      <a:pt x="3206" y="1296"/>
                    </a:cubicBezTo>
                    <a:cubicBezTo>
                      <a:pt x="3203" y="1296"/>
                      <a:pt x="3201" y="1296"/>
                      <a:pt x="3200" y="1296"/>
                    </a:cubicBezTo>
                    <a:close/>
                    <a:moveTo>
                      <a:pt x="4233" y="1296"/>
                    </a:moveTo>
                    <a:cubicBezTo>
                      <a:pt x="4231" y="1296"/>
                      <a:pt x="4229" y="1297"/>
                      <a:pt x="4227" y="1297"/>
                    </a:cubicBezTo>
                    <a:cubicBezTo>
                      <a:pt x="4225" y="1297"/>
                      <a:pt x="4223" y="1297"/>
                      <a:pt x="4222" y="1297"/>
                    </a:cubicBezTo>
                    <a:cubicBezTo>
                      <a:pt x="4221" y="1297"/>
                      <a:pt x="4220" y="1298"/>
                      <a:pt x="4219" y="1298"/>
                    </a:cubicBezTo>
                    <a:cubicBezTo>
                      <a:pt x="4218" y="1298"/>
                      <a:pt x="4217" y="1298"/>
                      <a:pt x="4217" y="1299"/>
                    </a:cubicBezTo>
                    <a:lnTo>
                      <a:pt x="4151" y="1341"/>
                    </a:lnTo>
                    <a:cubicBezTo>
                      <a:pt x="4150" y="1342"/>
                      <a:pt x="4149" y="1343"/>
                      <a:pt x="4148" y="1344"/>
                    </a:cubicBezTo>
                    <a:cubicBezTo>
                      <a:pt x="4147" y="1345"/>
                      <a:pt x="4146" y="1346"/>
                      <a:pt x="4146" y="1347"/>
                    </a:cubicBezTo>
                    <a:cubicBezTo>
                      <a:pt x="4146" y="1348"/>
                      <a:pt x="4145" y="1350"/>
                      <a:pt x="4145" y="1352"/>
                    </a:cubicBezTo>
                    <a:cubicBezTo>
                      <a:pt x="4145" y="1353"/>
                      <a:pt x="4144" y="1355"/>
                      <a:pt x="4144" y="1358"/>
                    </a:cubicBezTo>
                    <a:cubicBezTo>
                      <a:pt x="4144" y="1361"/>
                      <a:pt x="4145" y="1364"/>
                      <a:pt x="4145" y="1366"/>
                    </a:cubicBezTo>
                    <a:cubicBezTo>
                      <a:pt x="4146" y="1368"/>
                      <a:pt x="4146" y="1370"/>
                      <a:pt x="4147" y="1371"/>
                    </a:cubicBezTo>
                    <a:cubicBezTo>
                      <a:pt x="4148" y="1372"/>
                      <a:pt x="4150" y="1372"/>
                      <a:pt x="4151" y="1372"/>
                    </a:cubicBezTo>
                    <a:cubicBezTo>
                      <a:pt x="4153" y="1372"/>
                      <a:pt x="4156" y="1371"/>
                      <a:pt x="4158" y="1369"/>
                    </a:cubicBezTo>
                    <a:lnTo>
                      <a:pt x="4213" y="1337"/>
                    </a:lnTo>
                    <a:lnTo>
                      <a:pt x="4213" y="1554"/>
                    </a:lnTo>
                    <a:lnTo>
                      <a:pt x="4154" y="1554"/>
                    </a:lnTo>
                    <a:cubicBezTo>
                      <a:pt x="4153" y="1554"/>
                      <a:pt x="4151" y="1554"/>
                      <a:pt x="4150" y="1554"/>
                    </a:cubicBezTo>
                    <a:cubicBezTo>
                      <a:pt x="4149" y="1555"/>
                      <a:pt x="4148" y="1556"/>
                      <a:pt x="4148" y="1557"/>
                    </a:cubicBezTo>
                    <a:cubicBezTo>
                      <a:pt x="4147" y="1558"/>
                      <a:pt x="4146" y="1560"/>
                      <a:pt x="4146" y="1562"/>
                    </a:cubicBezTo>
                    <a:cubicBezTo>
                      <a:pt x="4146" y="1563"/>
                      <a:pt x="4146" y="1566"/>
                      <a:pt x="4146" y="1569"/>
                    </a:cubicBezTo>
                    <a:cubicBezTo>
                      <a:pt x="4146" y="1571"/>
                      <a:pt x="4146" y="1574"/>
                      <a:pt x="4146" y="1576"/>
                    </a:cubicBezTo>
                    <a:cubicBezTo>
                      <a:pt x="4146" y="1578"/>
                      <a:pt x="4148" y="1579"/>
                      <a:pt x="4149" y="1580"/>
                    </a:cubicBezTo>
                    <a:cubicBezTo>
                      <a:pt x="4149" y="1581"/>
                      <a:pt x="4150" y="1582"/>
                      <a:pt x="4150" y="1583"/>
                    </a:cubicBezTo>
                    <a:cubicBezTo>
                      <a:pt x="4151" y="1583"/>
                      <a:pt x="4153" y="1584"/>
                      <a:pt x="4154" y="1584"/>
                    </a:cubicBezTo>
                    <a:lnTo>
                      <a:pt x="4303" y="1584"/>
                    </a:lnTo>
                    <a:cubicBezTo>
                      <a:pt x="4304" y="1584"/>
                      <a:pt x="4305" y="1583"/>
                      <a:pt x="4306" y="1583"/>
                    </a:cubicBezTo>
                    <a:cubicBezTo>
                      <a:pt x="4307" y="1582"/>
                      <a:pt x="4308" y="1581"/>
                      <a:pt x="4308" y="1580"/>
                    </a:cubicBezTo>
                    <a:cubicBezTo>
                      <a:pt x="4309" y="1579"/>
                      <a:pt x="4310" y="1578"/>
                      <a:pt x="4310" y="1576"/>
                    </a:cubicBezTo>
                    <a:cubicBezTo>
                      <a:pt x="4310" y="1574"/>
                      <a:pt x="4311" y="1571"/>
                      <a:pt x="4311" y="1569"/>
                    </a:cubicBezTo>
                    <a:cubicBezTo>
                      <a:pt x="4311" y="1566"/>
                      <a:pt x="4310" y="1563"/>
                      <a:pt x="4310" y="1562"/>
                    </a:cubicBezTo>
                    <a:cubicBezTo>
                      <a:pt x="4310" y="1560"/>
                      <a:pt x="4309" y="1558"/>
                      <a:pt x="4308" y="1557"/>
                    </a:cubicBezTo>
                    <a:cubicBezTo>
                      <a:pt x="4308" y="1556"/>
                      <a:pt x="4307" y="1555"/>
                      <a:pt x="4306" y="1554"/>
                    </a:cubicBezTo>
                    <a:cubicBezTo>
                      <a:pt x="4305" y="1554"/>
                      <a:pt x="4304" y="1554"/>
                      <a:pt x="4303" y="1554"/>
                    </a:cubicBezTo>
                    <a:lnTo>
                      <a:pt x="4251" y="1554"/>
                    </a:lnTo>
                    <a:lnTo>
                      <a:pt x="4251" y="1302"/>
                    </a:lnTo>
                    <a:cubicBezTo>
                      <a:pt x="4251" y="1301"/>
                      <a:pt x="4251" y="1301"/>
                      <a:pt x="4250" y="1300"/>
                    </a:cubicBezTo>
                    <a:cubicBezTo>
                      <a:pt x="4250" y="1300"/>
                      <a:pt x="4249" y="1298"/>
                      <a:pt x="4247" y="1298"/>
                    </a:cubicBezTo>
                    <a:cubicBezTo>
                      <a:pt x="4246" y="1297"/>
                      <a:pt x="4245" y="1297"/>
                      <a:pt x="4242" y="1297"/>
                    </a:cubicBezTo>
                    <a:cubicBezTo>
                      <a:pt x="4240" y="1297"/>
                      <a:pt x="4237" y="1296"/>
                      <a:pt x="4233" y="1296"/>
                    </a:cubicBezTo>
                    <a:close/>
                    <a:moveTo>
                      <a:pt x="6298" y="1296"/>
                    </a:moveTo>
                    <a:cubicBezTo>
                      <a:pt x="6296" y="1296"/>
                      <a:pt x="6295" y="1297"/>
                      <a:pt x="6294" y="1297"/>
                    </a:cubicBezTo>
                    <a:cubicBezTo>
                      <a:pt x="6292" y="1297"/>
                      <a:pt x="6291" y="1298"/>
                      <a:pt x="6290" y="1298"/>
                    </a:cubicBezTo>
                    <a:cubicBezTo>
                      <a:pt x="6289" y="1298"/>
                      <a:pt x="6289" y="1298"/>
                      <a:pt x="6288" y="1299"/>
                    </a:cubicBezTo>
                    <a:lnTo>
                      <a:pt x="6222" y="1341"/>
                    </a:lnTo>
                    <a:cubicBezTo>
                      <a:pt x="6221" y="1342"/>
                      <a:pt x="6220" y="1343"/>
                      <a:pt x="6219" y="1344"/>
                    </a:cubicBezTo>
                    <a:cubicBezTo>
                      <a:pt x="6219" y="1345"/>
                      <a:pt x="6218" y="1345"/>
                      <a:pt x="6218" y="1346"/>
                    </a:cubicBezTo>
                    <a:cubicBezTo>
                      <a:pt x="6217" y="1348"/>
                      <a:pt x="6217" y="1349"/>
                      <a:pt x="6217" y="1351"/>
                    </a:cubicBezTo>
                    <a:cubicBezTo>
                      <a:pt x="6217" y="1353"/>
                      <a:pt x="6216" y="1354"/>
                      <a:pt x="6216" y="1357"/>
                    </a:cubicBezTo>
                    <a:cubicBezTo>
                      <a:pt x="6216" y="1360"/>
                      <a:pt x="6216" y="1364"/>
                      <a:pt x="6217" y="1366"/>
                    </a:cubicBezTo>
                    <a:cubicBezTo>
                      <a:pt x="6217" y="1368"/>
                      <a:pt x="6218" y="1369"/>
                      <a:pt x="6219" y="1370"/>
                    </a:cubicBezTo>
                    <a:cubicBezTo>
                      <a:pt x="6220" y="1371"/>
                      <a:pt x="6221" y="1371"/>
                      <a:pt x="6223" y="1371"/>
                    </a:cubicBezTo>
                    <a:cubicBezTo>
                      <a:pt x="6225" y="1371"/>
                      <a:pt x="6226" y="1370"/>
                      <a:pt x="6229" y="1368"/>
                    </a:cubicBezTo>
                    <a:lnTo>
                      <a:pt x="6285" y="1336"/>
                    </a:lnTo>
                    <a:lnTo>
                      <a:pt x="6285" y="1553"/>
                    </a:lnTo>
                    <a:lnTo>
                      <a:pt x="6225" y="1553"/>
                    </a:lnTo>
                    <a:cubicBezTo>
                      <a:pt x="6224" y="1553"/>
                      <a:pt x="6223" y="1553"/>
                      <a:pt x="6222" y="1554"/>
                    </a:cubicBezTo>
                    <a:cubicBezTo>
                      <a:pt x="6221" y="1554"/>
                      <a:pt x="6220" y="1556"/>
                      <a:pt x="6219" y="1557"/>
                    </a:cubicBezTo>
                    <a:cubicBezTo>
                      <a:pt x="6219" y="1558"/>
                      <a:pt x="6218" y="1560"/>
                      <a:pt x="6218" y="1562"/>
                    </a:cubicBezTo>
                    <a:cubicBezTo>
                      <a:pt x="6217" y="1563"/>
                      <a:pt x="6217" y="1566"/>
                      <a:pt x="6217" y="1569"/>
                    </a:cubicBezTo>
                    <a:cubicBezTo>
                      <a:pt x="6217" y="1571"/>
                      <a:pt x="6217" y="1574"/>
                      <a:pt x="6218" y="1576"/>
                    </a:cubicBezTo>
                    <a:cubicBezTo>
                      <a:pt x="6218" y="1578"/>
                      <a:pt x="6219" y="1579"/>
                      <a:pt x="6219" y="1580"/>
                    </a:cubicBezTo>
                    <a:cubicBezTo>
                      <a:pt x="6220" y="1581"/>
                      <a:pt x="6221" y="1582"/>
                      <a:pt x="6222" y="1583"/>
                    </a:cubicBezTo>
                    <a:cubicBezTo>
                      <a:pt x="6223" y="1583"/>
                      <a:pt x="6224" y="1584"/>
                      <a:pt x="6225" y="1584"/>
                    </a:cubicBezTo>
                    <a:lnTo>
                      <a:pt x="6374" y="1584"/>
                    </a:lnTo>
                    <a:cubicBezTo>
                      <a:pt x="6375" y="1584"/>
                      <a:pt x="6376" y="1583"/>
                      <a:pt x="6377" y="1583"/>
                    </a:cubicBezTo>
                    <a:cubicBezTo>
                      <a:pt x="6378" y="1582"/>
                      <a:pt x="6379" y="1581"/>
                      <a:pt x="6380" y="1580"/>
                    </a:cubicBezTo>
                    <a:cubicBezTo>
                      <a:pt x="6381" y="1579"/>
                      <a:pt x="6381" y="1578"/>
                      <a:pt x="6382" y="1576"/>
                    </a:cubicBezTo>
                    <a:cubicBezTo>
                      <a:pt x="6382" y="1574"/>
                      <a:pt x="6382" y="1571"/>
                      <a:pt x="6382" y="1569"/>
                    </a:cubicBezTo>
                    <a:cubicBezTo>
                      <a:pt x="6382" y="1566"/>
                      <a:pt x="6382" y="1563"/>
                      <a:pt x="6382" y="1562"/>
                    </a:cubicBezTo>
                    <a:cubicBezTo>
                      <a:pt x="6381" y="1560"/>
                      <a:pt x="6381" y="1558"/>
                      <a:pt x="6380" y="1557"/>
                    </a:cubicBezTo>
                    <a:cubicBezTo>
                      <a:pt x="6379" y="1556"/>
                      <a:pt x="6378" y="1554"/>
                      <a:pt x="6377" y="1554"/>
                    </a:cubicBezTo>
                    <a:cubicBezTo>
                      <a:pt x="6376" y="1553"/>
                      <a:pt x="6375" y="1553"/>
                      <a:pt x="6374" y="1553"/>
                    </a:cubicBezTo>
                    <a:lnTo>
                      <a:pt x="6323" y="1553"/>
                    </a:lnTo>
                    <a:lnTo>
                      <a:pt x="6323" y="1302"/>
                    </a:lnTo>
                    <a:cubicBezTo>
                      <a:pt x="6323" y="1301"/>
                      <a:pt x="6322" y="1300"/>
                      <a:pt x="6322" y="1300"/>
                    </a:cubicBezTo>
                    <a:cubicBezTo>
                      <a:pt x="6321" y="1299"/>
                      <a:pt x="6320" y="1298"/>
                      <a:pt x="6319" y="1298"/>
                    </a:cubicBezTo>
                    <a:cubicBezTo>
                      <a:pt x="6318" y="1297"/>
                      <a:pt x="6316" y="1296"/>
                      <a:pt x="6314" y="1296"/>
                    </a:cubicBezTo>
                    <a:cubicBezTo>
                      <a:pt x="6311" y="1296"/>
                      <a:pt x="6309" y="1296"/>
                      <a:pt x="6305" y="1296"/>
                    </a:cubicBezTo>
                    <a:cubicBezTo>
                      <a:pt x="6302" y="1296"/>
                      <a:pt x="6300" y="1296"/>
                      <a:pt x="6298" y="1296"/>
                    </a:cubicBezTo>
                    <a:close/>
                    <a:moveTo>
                      <a:pt x="1129" y="1297"/>
                    </a:moveTo>
                    <a:cubicBezTo>
                      <a:pt x="1127" y="1297"/>
                      <a:pt x="1126" y="1298"/>
                      <a:pt x="1124" y="1298"/>
                    </a:cubicBezTo>
                    <a:cubicBezTo>
                      <a:pt x="1123" y="1298"/>
                      <a:pt x="1122" y="1298"/>
                      <a:pt x="1121" y="1299"/>
                    </a:cubicBezTo>
                    <a:cubicBezTo>
                      <a:pt x="1120" y="1299"/>
                      <a:pt x="1120" y="1299"/>
                      <a:pt x="1119" y="1300"/>
                    </a:cubicBezTo>
                    <a:lnTo>
                      <a:pt x="1053" y="1342"/>
                    </a:lnTo>
                    <a:cubicBezTo>
                      <a:pt x="1052" y="1343"/>
                      <a:pt x="1051" y="1344"/>
                      <a:pt x="1050" y="1345"/>
                    </a:cubicBezTo>
                    <a:cubicBezTo>
                      <a:pt x="1050" y="1345"/>
                      <a:pt x="1048" y="1346"/>
                      <a:pt x="1048" y="1347"/>
                    </a:cubicBezTo>
                    <a:cubicBezTo>
                      <a:pt x="1047" y="1348"/>
                      <a:pt x="1047" y="1350"/>
                      <a:pt x="1047" y="1352"/>
                    </a:cubicBezTo>
                    <a:cubicBezTo>
                      <a:pt x="1047" y="1353"/>
                      <a:pt x="1047" y="1356"/>
                      <a:pt x="1047" y="1359"/>
                    </a:cubicBezTo>
                    <a:cubicBezTo>
                      <a:pt x="1047" y="1362"/>
                      <a:pt x="1047" y="1364"/>
                      <a:pt x="1048" y="1367"/>
                    </a:cubicBezTo>
                    <a:cubicBezTo>
                      <a:pt x="1048" y="1369"/>
                      <a:pt x="1048" y="1371"/>
                      <a:pt x="1050" y="1372"/>
                    </a:cubicBezTo>
                    <a:cubicBezTo>
                      <a:pt x="1051" y="1373"/>
                      <a:pt x="1052" y="1373"/>
                      <a:pt x="1054" y="1373"/>
                    </a:cubicBezTo>
                    <a:cubicBezTo>
                      <a:pt x="1056" y="1373"/>
                      <a:pt x="1057" y="1372"/>
                      <a:pt x="1060" y="1370"/>
                    </a:cubicBezTo>
                    <a:lnTo>
                      <a:pt x="1116" y="1337"/>
                    </a:lnTo>
                    <a:lnTo>
                      <a:pt x="1116" y="1554"/>
                    </a:lnTo>
                    <a:lnTo>
                      <a:pt x="1056" y="1554"/>
                    </a:lnTo>
                    <a:cubicBezTo>
                      <a:pt x="1055" y="1554"/>
                      <a:pt x="1054" y="1555"/>
                      <a:pt x="1053" y="1555"/>
                    </a:cubicBezTo>
                    <a:cubicBezTo>
                      <a:pt x="1052" y="1556"/>
                      <a:pt x="1051" y="1557"/>
                      <a:pt x="1050" y="1558"/>
                    </a:cubicBezTo>
                    <a:cubicBezTo>
                      <a:pt x="1050" y="1559"/>
                      <a:pt x="1049" y="1561"/>
                      <a:pt x="1049" y="1562"/>
                    </a:cubicBezTo>
                    <a:cubicBezTo>
                      <a:pt x="1048" y="1564"/>
                      <a:pt x="1048" y="1567"/>
                      <a:pt x="1048" y="1569"/>
                    </a:cubicBezTo>
                    <a:cubicBezTo>
                      <a:pt x="1048" y="1572"/>
                      <a:pt x="1048" y="1575"/>
                      <a:pt x="1049" y="1577"/>
                    </a:cubicBezTo>
                    <a:cubicBezTo>
                      <a:pt x="1049" y="1578"/>
                      <a:pt x="1050" y="1580"/>
                      <a:pt x="1050" y="1581"/>
                    </a:cubicBezTo>
                    <a:cubicBezTo>
                      <a:pt x="1051" y="1582"/>
                      <a:pt x="1052" y="1583"/>
                      <a:pt x="1053" y="1584"/>
                    </a:cubicBezTo>
                    <a:cubicBezTo>
                      <a:pt x="1054" y="1584"/>
                      <a:pt x="1055" y="1584"/>
                      <a:pt x="1056" y="1584"/>
                    </a:cubicBezTo>
                    <a:lnTo>
                      <a:pt x="1205" y="1584"/>
                    </a:lnTo>
                    <a:cubicBezTo>
                      <a:pt x="1206" y="1584"/>
                      <a:pt x="1207" y="1584"/>
                      <a:pt x="1208" y="1584"/>
                    </a:cubicBezTo>
                    <a:cubicBezTo>
                      <a:pt x="1209" y="1583"/>
                      <a:pt x="1209" y="1582"/>
                      <a:pt x="1210" y="1581"/>
                    </a:cubicBezTo>
                    <a:cubicBezTo>
                      <a:pt x="1211" y="1580"/>
                      <a:pt x="1211" y="1578"/>
                      <a:pt x="1212" y="1577"/>
                    </a:cubicBezTo>
                    <a:cubicBezTo>
                      <a:pt x="1212" y="1575"/>
                      <a:pt x="1213" y="1572"/>
                      <a:pt x="1213" y="1569"/>
                    </a:cubicBezTo>
                    <a:cubicBezTo>
                      <a:pt x="1213" y="1567"/>
                      <a:pt x="1213" y="1564"/>
                      <a:pt x="1213" y="1562"/>
                    </a:cubicBezTo>
                    <a:cubicBezTo>
                      <a:pt x="1212" y="1561"/>
                      <a:pt x="1212" y="1559"/>
                      <a:pt x="1211" y="1558"/>
                    </a:cubicBezTo>
                    <a:cubicBezTo>
                      <a:pt x="1210" y="1557"/>
                      <a:pt x="1209" y="1556"/>
                      <a:pt x="1208" y="1555"/>
                    </a:cubicBezTo>
                    <a:cubicBezTo>
                      <a:pt x="1207" y="1555"/>
                      <a:pt x="1206" y="1554"/>
                      <a:pt x="1205" y="1554"/>
                    </a:cubicBezTo>
                    <a:lnTo>
                      <a:pt x="1154" y="1554"/>
                    </a:lnTo>
                    <a:lnTo>
                      <a:pt x="1154" y="1303"/>
                    </a:lnTo>
                    <a:cubicBezTo>
                      <a:pt x="1154" y="1302"/>
                      <a:pt x="1153" y="1301"/>
                      <a:pt x="1153" y="1300"/>
                    </a:cubicBezTo>
                    <a:cubicBezTo>
                      <a:pt x="1152" y="1300"/>
                      <a:pt x="1151" y="1299"/>
                      <a:pt x="1150" y="1299"/>
                    </a:cubicBezTo>
                    <a:cubicBezTo>
                      <a:pt x="1149" y="1298"/>
                      <a:pt x="1147" y="1298"/>
                      <a:pt x="1145" y="1298"/>
                    </a:cubicBezTo>
                    <a:cubicBezTo>
                      <a:pt x="1142" y="1298"/>
                      <a:pt x="1139" y="1297"/>
                      <a:pt x="1136" y="1297"/>
                    </a:cubicBezTo>
                    <a:cubicBezTo>
                      <a:pt x="1133" y="1297"/>
                      <a:pt x="1131" y="1297"/>
                      <a:pt x="1129" y="1297"/>
                    </a:cubicBezTo>
                    <a:close/>
                    <a:moveTo>
                      <a:pt x="1358" y="1297"/>
                    </a:moveTo>
                    <a:cubicBezTo>
                      <a:pt x="1356" y="1297"/>
                      <a:pt x="1355" y="1298"/>
                      <a:pt x="1354" y="1298"/>
                    </a:cubicBezTo>
                    <a:cubicBezTo>
                      <a:pt x="1352" y="1298"/>
                      <a:pt x="1351" y="1298"/>
                      <a:pt x="1350" y="1299"/>
                    </a:cubicBezTo>
                    <a:cubicBezTo>
                      <a:pt x="1349" y="1299"/>
                      <a:pt x="1349" y="1299"/>
                      <a:pt x="1348" y="1300"/>
                    </a:cubicBezTo>
                    <a:lnTo>
                      <a:pt x="1282" y="1342"/>
                    </a:lnTo>
                    <a:cubicBezTo>
                      <a:pt x="1281" y="1343"/>
                      <a:pt x="1281" y="1344"/>
                      <a:pt x="1280" y="1345"/>
                    </a:cubicBezTo>
                    <a:cubicBezTo>
                      <a:pt x="1279" y="1345"/>
                      <a:pt x="1277" y="1346"/>
                      <a:pt x="1277" y="1347"/>
                    </a:cubicBezTo>
                    <a:cubicBezTo>
                      <a:pt x="1277" y="1348"/>
                      <a:pt x="1276" y="1350"/>
                      <a:pt x="1276" y="1352"/>
                    </a:cubicBezTo>
                    <a:cubicBezTo>
                      <a:pt x="1276" y="1353"/>
                      <a:pt x="1276" y="1356"/>
                      <a:pt x="1276" y="1359"/>
                    </a:cubicBezTo>
                    <a:cubicBezTo>
                      <a:pt x="1276" y="1362"/>
                      <a:pt x="1277" y="1364"/>
                      <a:pt x="1277" y="1367"/>
                    </a:cubicBezTo>
                    <a:cubicBezTo>
                      <a:pt x="1277" y="1369"/>
                      <a:pt x="1278" y="1371"/>
                      <a:pt x="1279" y="1372"/>
                    </a:cubicBezTo>
                    <a:cubicBezTo>
                      <a:pt x="1280" y="1373"/>
                      <a:pt x="1282" y="1373"/>
                      <a:pt x="1283" y="1373"/>
                    </a:cubicBezTo>
                    <a:cubicBezTo>
                      <a:pt x="1285" y="1373"/>
                      <a:pt x="1287" y="1372"/>
                      <a:pt x="1289" y="1370"/>
                    </a:cubicBezTo>
                    <a:lnTo>
                      <a:pt x="1345" y="1337"/>
                    </a:lnTo>
                    <a:lnTo>
                      <a:pt x="1345" y="1554"/>
                    </a:lnTo>
                    <a:lnTo>
                      <a:pt x="1285" y="1554"/>
                    </a:lnTo>
                    <a:cubicBezTo>
                      <a:pt x="1284" y="1554"/>
                      <a:pt x="1283" y="1555"/>
                      <a:pt x="1282" y="1555"/>
                    </a:cubicBezTo>
                    <a:cubicBezTo>
                      <a:pt x="1281" y="1556"/>
                      <a:pt x="1280" y="1557"/>
                      <a:pt x="1280" y="1558"/>
                    </a:cubicBezTo>
                    <a:cubicBezTo>
                      <a:pt x="1279" y="1559"/>
                      <a:pt x="1278" y="1561"/>
                      <a:pt x="1278" y="1562"/>
                    </a:cubicBezTo>
                    <a:cubicBezTo>
                      <a:pt x="1278" y="1564"/>
                      <a:pt x="1277" y="1567"/>
                      <a:pt x="1277" y="1569"/>
                    </a:cubicBezTo>
                    <a:cubicBezTo>
                      <a:pt x="1277" y="1572"/>
                      <a:pt x="1277" y="1575"/>
                      <a:pt x="1278" y="1577"/>
                    </a:cubicBezTo>
                    <a:cubicBezTo>
                      <a:pt x="1278" y="1578"/>
                      <a:pt x="1279" y="1580"/>
                      <a:pt x="1280" y="1581"/>
                    </a:cubicBezTo>
                    <a:cubicBezTo>
                      <a:pt x="1281" y="1582"/>
                      <a:pt x="1281" y="1583"/>
                      <a:pt x="1282" y="1584"/>
                    </a:cubicBezTo>
                    <a:cubicBezTo>
                      <a:pt x="1283" y="1584"/>
                      <a:pt x="1284" y="1584"/>
                      <a:pt x="1285" y="1584"/>
                    </a:cubicBezTo>
                    <a:lnTo>
                      <a:pt x="1434" y="1584"/>
                    </a:lnTo>
                    <a:cubicBezTo>
                      <a:pt x="1435" y="1584"/>
                      <a:pt x="1437" y="1584"/>
                      <a:pt x="1438" y="1584"/>
                    </a:cubicBezTo>
                    <a:cubicBezTo>
                      <a:pt x="1439" y="1583"/>
                      <a:pt x="1439" y="1582"/>
                      <a:pt x="1439" y="1581"/>
                    </a:cubicBezTo>
                    <a:cubicBezTo>
                      <a:pt x="1440" y="1580"/>
                      <a:pt x="1441" y="1578"/>
                      <a:pt x="1441" y="1577"/>
                    </a:cubicBezTo>
                    <a:cubicBezTo>
                      <a:pt x="1442" y="1575"/>
                      <a:pt x="1442" y="1572"/>
                      <a:pt x="1442" y="1569"/>
                    </a:cubicBezTo>
                    <a:cubicBezTo>
                      <a:pt x="1442" y="1567"/>
                      <a:pt x="1442" y="1564"/>
                      <a:pt x="1442" y="1562"/>
                    </a:cubicBezTo>
                    <a:cubicBezTo>
                      <a:pt x="1442" y="1561"/>
                      <a:pt x="1441" y="1559"/>
                      <a:pt x="1440" y="1558"/>
                    </a:cubicBezTo>
                    <a:cubicBezTo>
                      <a:pt x="1440" y="1557"/>
                      <a:pt x="1439" y="1556"/>
                      <a:pt x="1438" y="1555"/>
                    </a:cubicBezTo>
                    <a:cubicBezTo>
                      <a:pt x="1437" y="1555"/>
                      <a:pt x="1435" y="1554"/>
                      <a:pt x="1434" y="1554"/>
                    </a:cubicBezTo>
                    <a:lnTo>
                      <a:pt x="1383" y="1554"/>
                    </a:lnTo>
                    <a:lnTo>
                      <a:pt x="1383" y="1303"/>
                    </a:lnTo>
                    <a:cubicBezTo>
                      <a:pt x="1383" y="1302"/>
                      <a:pt x="1382" y="1301"/>
                      <a:pt x="1382" y="1300"/>
                    </a:cubicBezTo>
                    <a:cubicBezTo>
                      <a:pt x="1382" y="1300"/>
                      <a:pt x="1381" y="1299"/>
                      <a:pt x="1379" y="1299"/>
                    </a:cubicBezTo>
                    <a:cubicBezTo>
                      <a:pt x="1378" y="1298"/>
                      <a:pt x="1376" y="1298"/>
                      <a:pt x="1374" y="1298"/>
                    </a:cubicBezTo>
                    <a:cubicBezTo>
                      <a:pt x="1372" y="1298"/>
                      <a:pt x="1369" y="1297"/>
                      <a:pt x="1365" y="1297"/>
                    </a:cubicBezTo>
                    <a:cubicBezTo>
                      <a:pt x="1363" y="1297"/>
                      <a:pt x="1360" y="1297"/>
                      <a:pt x="1358" y="1297"/>
                    </a:cubicBezTo>
                    <a:close/>
                    <a:moveTo>
                      <a:pt x="4483" y="1297"/>
                    </a:moveTo>
                    <a:cubicBezTo>
                      <a:pt x="4479" y="1297"/>
                      <a:pt x="4475" y="1298"/>
                      <a:pt x="4471" y="1298"/>
                    </a:cubicBezTo>
                    <a:cubicBezTo>
                      <a:pt x="4468" y="1298"/>
                      <a:pt x="4465" y="1298"/>
                      <a:pt x="4463" y="1299"/>
                    </a:cubicBezTo>
                    <a:cubicBezTo>
                      <a:pt x="4460" y="1299"/>
                      <a:pt x="4459" y="1300"/>
                      <a:pt x="4457" y="1300"/>
                    </a:cubicBezTo>
                    <a:cubicBezTo>
                      <a:pt x="4456" y="1301"/>
                      <a:pt x="4455" y="1303"/>
                      <a:pt x="4455" y="1304"/>
                    </a:cubicBezTo>
                    <a:lnTo>
                      <a:pt x="4352" y="1477"/>
                    </a:lnTo>
                    <a:cubicBezTo>
                      <a:pt x="4350" y="1479"/>
                      <a:pt x="4350" y="1481"/>
                      <a:pt x="4349" y="1483"/>
                    </a:cubicBezTo>
                    <a:cubicBezTo>
                      <a:pt x="4348" y="1485"/>
                      <a:pt x="4348" y="1486"/>
                      <a:pt x="4347" y="1488"/>
                    </a:cubicBezTo>
                    <a:cubicBezTo>
                      <a:pt x="4347" y="1490"/>
                      <a:pt x="4346" y="1491"/>
                      <a:pt x="4346" y="1494"/>
                    </a:cubicBezTo>
                    <a:cubicBezTo>
                      <a:pt x="4346" y="1496"/>
                      <a:pt x="4346" y="1499"/>
                      <a:pt x="4346" y="1502"/>
                    </a:cubicBezTo>
                    <a:cubicBezTo>
                      <a:pt x="4346" y="1505"/>
                      <a:pt x="4347" y="1508"/>
                      <a:pt x="4347" y="1510"/>
                    </a:cubicBezTo>
                    <a:cubicBezTo>
                      <a:pt x="4347" y="1513"/>
                      <a:pt x="4348" y="1514"/>
                      <a:pt x="4349" y="1515"/>
                    </a:cubicBezTo>
                    <a:cubicBezTo>
                      <a:pt x="4350" y="1516"/>
                      <a:pt x="4350" y="1517"/>
                      <a:pt x="4352" y="1517"/>
                    </a:cubicBezTo>
                    <a:cubicBezTo>
                      <a:pt x="4353" y="1518"/>
                      <a:pt x="4354" y="1518"/>
                      <a:pt x="4356" y="1518"/>
                    </a:cubicBezTo>
                    <a:lnTo>
                      <a:pt x="4474" y="1518"/>
                    </a:lnTo>
                    <a:lnTo>
                      <a:pt x="4474" y="1578"/>
                    </a:lnTo>
                    <a:cubicBezTo>
                      <a:pt x="4474" y="1579"/>
                      <a:pt x="4474" y="1580"/>
                      <a:pt x="4475" y="1581"/>
                    </a:cubicBezTo>
                    <a:cubicBezTo>
                      <a:pt x="4476" y="1582"/>
                      <a:pt x="4476" y="1583"/>
                      <a:pt x="4478" y="1584"/>
                    </a:cubicBezTo>
                    <a:cubicBezTo>
                      <a:pt x="4479" y="1584"/>
                      <a:pt x="4481" y="1584"/>
                      <a:pt x="4483" y="1584"/>
                    </a:cubicBezTo>
                    <a:cubicBezTo>
                      <a:pt x="4485" y="1585"/>
                      <a:pt x="4488" y="1585"/>
                      <a:pt x="4492" y="1585"/>
                    </a:cubicBezTo>
                    <a:cubicBezTo>
                      <a:pt x="4495" y="1585"/>
                      <a:pt x="4499" y="1585"/>
                      <a:pt x="4501" y="1584"/>
                    </a:cubicBezTo>
                    <a:cubicBezTo>
                      <a:pt x="4504" y="1584"/>
                      <a:pt x="4505" y="1584"/>
                      <a:pt x="4507" y="1584"/>
                    </a:cubicBezTo>
                    <a:cubicBezTo>
                      <a:pt x="4508" y="1583"/>
                      <a:pt x="4510" y="1582"/>
                      <a:pt x="4510" y="1581"/>
                    </a:cubicBezTo>
                    <a:cubicBezTo>
                      <a:pt x="4511" y="1580"/>
                      <a:pt x="4511" y="1579"/>
                      <a:pt x="4511" y="1578"/>
                    </a:cubicBezTo>
                    <a:lnTo>
                      <a:pt x="4511" y="1518"/>
                    </a:lnTo>
                    <a:lnTo>
                      <a:pt x="4543" y="1518"/>
                    </a:lnTo>
                    <a:cubicBezTo>
                      <a:pt x="4546" y="1518"/>
                      <a:pt x="4548" y="1517"/>
                      <a:pt x="4549" y="1514"/>
                    </a:cubicBezTo>
                    <a:cubicBezTo>
                      <a:pt x="4551" y="1511"/>
                      <a:pt x="4552" y="1507"/>
                      <a:pt x="4552" y="1502"/>
                    </a:cubicBezTo>
                    <a:cubicBezTo>
                      <a:pt x="4552" y="1497"/>
                      <a:pt x="4551" y="1494"/>
                      <a:pt x="4549" y="1491"/>
                    </a:cubicBezTo>
                    <a:cubicBezTo>
                      <a:pt x="4548" y="1488"/>
                      <a:pt x="4545" y="1487"/>
                      <a:pt x="4543" y="1487"/>
                    </a:cubicBezTo>
                    <a:lnTo>
                      <a:pt x="4511" y="1487"/>
                    </a:lnTo>
                    <a:lnTo>
                      <a:pt x="4511" y="1305"/>
                    </a:lnTo>
                    <a:cubicBezTo>
                      <a:pt x="4511" y="1304"/>
                      <a:pt x="4511" y="1302"/>
                      <a:pt x="4509" y="1301"/>
                    </a:cubicBezTo>
                    <a:cubicBezTo>
                      <a:pt x="4508" y="1300"/>
                      <a:pt x="4506" y="1299"/>
                      <a:pt x="4504" y="1299"/>
                    </a:cubicBezTo>
                    <a:cubicBezTo>
                      <a:pt x="4502" y="1298"/>
                      <a:pt x="4499" y="1298"/>
                      <a:pt x="4495" y="1298"/>
                    </a:cubicBezTo>
                    <a:cubicBezTo>
                      <a:pt x="4492" y="1297"/>
                      <a:pt x="4488" y="1297"/>
                      <a:pt x="4483" y="1297"/>
                    </a:cubicBezTo>
                    <a:close/>
                    <a:moveTo>
                      <a:pt x="5427" y="1297"/>
                    </a:moveTo>
                    <a:cubicBezTo>
                      <a:pt x="5422" y="1297"/>
                      <a:pt x="5419" y="1298"/>
                      <a:pt x="5417" y="1300"/>
                    </a:cubicBezTo>
                    <a:cubicBezTo>
                      <a:pt x="5415" y="1303"/>
                      <a:pt x="5413" y="1306"/>
                      <a:pt x="5413" y="1311"/>
                    </a:cubicBezTo>
                    <a:lnTo>
                      <a:pt x="5413" y="1427"/>
                    </a:lnTo>
                    <a:cubicBezTo>
                      <a:pt x="5413" y="1433"/>
                      <a:pt x="5414" y="1437"/>
                      <a:pt x="5416" y="1439"/>
                    </a:cubicBezTo>
                    <a:cubicBezTo>
                      <a:pt x="5418" y="1441"/>
                      <a:pt x="5421" y="1442"/>
                      <a:pt x="5425" y="1442"/>
                    </a:cubicBezTo>
                    <a:cubicBezTo>
                      <a:pt x="5430" y="1442"/>
                      <a:pt x="5437" y="1441"/>
                      <a:pt x="5443" y="1440"/>
                    </a:cubicBezTo>
                    <a:cubicBezTo>
                      <a:pt x="5450" y="1439"/>
                      <a:pt x="5457" y="1439"/>
                      <a:pt x="5466" y="1439"/>
                    </a:cubicBezTo>
                    <a:cubicBezTo>
                      <a:pt x="5479" y="1439"/>
                      <a:pt x="5490" y="1440"/>
                      <a:pt x="5499" y="1442"/>
                    </a:cubicBezTo>
                    <a:cubicBezTo>
                      <a:pt x="5508" y="1445"/>
                      <a:pt x="5516" y="1448"/>
                      <a:pt x="5522" y="1452"/>
                    </a:cubicBezTo>
                    <a:cubicBezTo>
                      <a:pt x="5528" y="1457"/>
                      <a:pt x="5532" y="1463"/>
                      <a:pt x="5535" y="1470"/>
                    </a:cubicBezTo>
                    <a:cubicBezTo>
                      <a:pt x="5538" y="1477"/>
                      <a:pt x="5539" y="1485"/>
                      <a:pt x="5539" y="1495"/>
                    </a:cubicBezTo>
                    <a:cubicBezTo>
                      <a:pt x="5539" y="1505"/>
                      <a:pt x="5538" y="1514"/>
                      <a:pt x="5534" y="1522"/>
                    </a:cubicBezTo>
                    <a:cubicBezTo>
                      <a:pt x="5531" y="1529"/>
                      <a:pt x="5526" y="1535"/>
                      <a:pt x="5520" y="1540"/>
                    </a:cubicBezTo>
                    <a:cubicBezTo>
                      <a:pt x="5514" y="1545"/>
                      <a:pt x="5507" y="1549"/>
                      <a:pt x="5499" y="1552"/>
                    </a:cubicBezTo>
                    <a:cubicBezTo>
                      <a:pt x="5491" y="1554"/>
                      <a:pt x="5481" y="1555"/>
                      <a:pt x="5472" y="1555"/>
                    </a:cubicBezTo>
                    <a:cubicBezTo>
                      <a:pt x="5461" y="1555"/>
                      <a:pt x="5452" y="1555"/>
                      <a:pt x="5444" y="1553"/>
                    </a:cubicBezTo>
                    <a:cubicBezTo>
                      <a:pt x="5437" y="1551"/>
                      <a:pt x="5430" y="1549"/>
                      <a:pt x="5425" y="1547"/>
                    </a:cubicBezTo>
                    <a:cubicBezTo>
                      <a:pt x="5420" y="1544"/>
                      <a:pt x="5416" y="1542"/>
                      <a:pt x="5412" y="1540"/>
                    </a:cubicBezTo>
                    <a:cubicBezTo>
                      <a:pt x="5409" y="1539"/>
                      <a:pt x="5407" y="1538"/>
                      <a:pt x="5405" y="1538"/>
                    </a:cubicBezTo>
                    <a:cubicBezTo>
                      <a:pt x="5404" y="1538"/>
                      <a:pt x="5404" y="1538"/>
                      <a:pt x="5403" y="1539"/>
                    </a:cubicBezTo>
                    <a:cubicBezTo>
                      <a:pt x="5402" y="1539"/>
                      <a:pt x="5402" y="1540"/>
                      <a:pt x="5401" y="1541"/>
                    </a:cubicBezTo>
                    <a:cubicBezTo>
                      <a:pt x="5400" y="1542"/>
                      <a:pt x="5399" y="1544"/>
                      <a:pt x="5399" y="1546"/>
                    </a:cubicBezTo>
                    <a:cubicBezTo>
                      <a:pt x="5399" y="1548"/>
                      <a:pt x="5399" y="1550"/>
                      <a:pt x="5399" y="1553"/>
                    </a:cubicBezTo>
                    <a:cubicBezTo>
                      <a:pt x="5399" y="1555"/>
                      <a:pt x="5399" y="1558"/>
                      <a:pt x="5399" y="1560"/>
                    </a:cubicBezTo>
                    <a:cubicBezTo>
                      <a:pt x="5399" y="1562"/>
                      <a:pt x="5400" y="1563"/>
                      <a:pt x="5400" y="1564"/>
                    </a:cubicBezTo>
                    <a:cubicBezTo>
                      <a:pt x="5401" y="1565"/>
                      <a:pt x="5401" y="1567"/>
                      <a:pt x="5401" y="1568"/>
                    </a:cubicBezTo>
                    <a:cubicBezTo>
                      <a:pt x="5401" y="1569"/>
                      <a:pt x="5403" y="1569"/>
                      <a:pt x="5404" y="1570"/>
                    </a:cubicBezTo>
                    <a:cubicBezTo>
                      <a:pt x="5405" y="1571"/>
                      <a:pt x="5408" y="1573"/>
                      <a:pt x="5412" y="1575"/>
                    </a:cubicBezTo>
                    <a:cubicBezTo>
                      <a:pt x="5416" y="1577"/>
                      <a:pt x="5420" y="1578"/>
                      <a:pt x="5427" y="1580"/>
                    </a:cubicBezTo>
                    <a:cubicBezTo>
                      <a:pt x="5433" y="1582"/>
                      <a:pt x="5440" y="1583"/>
                      <a:pt x="5448" y="1584"/>
                    </a:cubicBezTo>
                    <a:cubicBezTo>
                      <a:pt x="5456" y="1586"/>
                      <a:pt x="5464" y="1586"/>
                      <a:pt x="5472" y="1586"/>
                    </a:cubicBezTo>
                    <a:cubicBezTo>
                      <a:pt x="5488" y="1586"/>
                      <a:pt x="5503" y="1584"/>
                      <a:pt x="5516" y="1580"/>
                    </a:cubicBezTo>
                    <a:cubicBezTo>
                      <a:pt x="5529" y="1576"/>
                      <a:pt x="5541" y="1570"/>
                      <a:pt x="5550" y="1562"/>
                    </a:cubicBezTo>
                    <a:cubicBezTo>
                      <a:pt x="5559" y="1553"/>
                      <a:pt x="5566" y="1543"/>
                      <a:pt x="5571" y="1532"/>
                    </a:cubicBezTo>
                    <a:cubicBezTo>
                      <a:pt x="5576" y="1520"/>
                      <a:pt x="5579" y="1506"/>
                      <a:pt x="5579" y="1491"/>
                    </a:cubicBezTo>
                    <a:cubicBezTo>
                      <a:pt x="5579" y="1479"/>
                      <a:pt x="5577" y="1467"/>
                      <a:pt x="5573" y="1457"/>
                    </a:cubicBezTo>
                    <a:cubicBezTo>
                      <a:pt x="5569" y="1446"/>
                      <a:pt x="5563" y="1438"/>
                      <a:pt x="5554" y="1431"/>
                    </a:cubicBezTo>
                    <a:cubicBezTo>
                      <a:pt x="5546" y="1424"/>
                      <a:pt x="5536" y="1418"/>
                      <a:pt x="5524" y="1414"/>
                    </a:cubicBezTo>
                    <a:cubicBezTo>
                      <a:pt x="5511" y="1410"/>
                      <a:pt x="5498" y="1409"/>
                      <a:pt x="5481" y="1409"/>
                    </a:cubicBezTo>
                    <a:cubicBezTo>
                      <a:pt x="5474" y="1409"/>
                      <a:pt x="5468" y="1409"/>
                      <a:pt x="5463" y="1409"/>
                    </a:cubicBezTo>
                    <a:cubicBezTo>
                      <a:pt x="5457" y="1409"/>
                      <a:pt x="5452" y="1409"/>
                      <a:pt x="5447" y="1410"/>
                    </a:cubicBezTo>
                    <a:lnTo>
                      <a:pt x="5447" y="1330"/>
                    </a:lnTo>
                    <a:lnTo>
                      <a:pt x="5554" y="1330"/>
                    </a:lnTo>
                    <a:cubicBezTo>
                      <a:pt x="5556" y="1330"/>
                      <a:pt x="5558" y="1329"/>
                      <a:pt x="5560" y="1326"/>
                    </a:cubicBezTo>
                    <a:cubicBezTo>
                      <a:pt x="5561" y="1323"/>
                      <a:pt x="5562" y="1319"/>
                      <a:pt x="5562" y="1314"/>
                    </a:cubicBezTo>
                    <a:cubicBezTo>
                      <a:pt x="5562" y="1311"/>
                      <a:pt x="5561" y="1308"/>
                      <a:pt x="5561" y="1306"/>
                    </a:cubicBezTo>
                    <a:cubicBezTo>
                      <a:pt x="5560" y="1304"/>
                      <a:pt x="5561" y="1303"/>
                      <a:pt x="5560" y="1301"/>
                    </a:cubicBezTo>
                    <a:cubicBezTo>
                      <a:pt x="5559" y="1300"/>
                      <a:pt x="5557" y="1298"/>
                      <a:pt x="5556" y="1298"/>
                    </a:cubicBezTo>
                    <a:cubicBezTo>
                      <a:pt x="5555" y="1297"/>
                      <a:pt x="5555" y="1297"/>
                      <a:pt x="5554" y="1297"/>
                    </a:cubicBezTo>
                    <a:lnTo>
                      <a:pt x="5427" y="1297"/>
                    </a:lnTo>
                    <a:close/>
                    <a:moveTo>
                      <a:pt x="314" y="1325"/>
                    </a:moveTo>
                    <a:cubicBezTo>
                      <a:pt x="321" y="1325"/>
                      <a:pt x="328" y="1326"/>
                      <a:pt x="333" y="1328"/>
                    </a:cubicBezTo>
                    <a:cubicBezTo>
                      <a:pt x="339" y="1330"/>
                      <a:pt x="344" y="1333"/>
                      <a:pt x="348" y="1337"/>
                    </a:cubicBezTo>
                    <a:cubicBezTo>
                      <a:pt x="353" y="1341"/>
                      <a:pt x="357" y="1345"/>
                      <a:pt x="360" y="1352"/>
                    </a:cubicBezTo>
                    <a:cubicBezTo>
                      <a:pt x="363" y="1358"/>
                      <a:pt x="365" y="1366"/>
                      <a:pt x="367" y="1375"/>
                    </a:cubicBezTo>
                    <a:cubicBezTo>
                      <a:pt x="369" y="1383"/>
                      <a:pt x="370" y="1393"/>
                      <a:pt x="371" y="1405"/>
                    </a:cubicBezTo>
                    <a:cubicBezTo>
                      <a:pt x="372" y="1416"/>
                      <a:pt x="373" y="1428"/>
                      <a:pt x="373" y="1442"/>
                    </a:cubicBezTo>
                    <a:cubicBezTo>
                      <a:pt x="373" y="1453"/>
                      <a:pt x="373" y="1464"/>
                      <a:pt x="372" y="1473"/>
                    </a:cubicBezTo>
                    <a:cubicBezTo>
                      <a:pt x="372" y="1483"/>
                      <a:pt x="370" y="1492"/>
                      <a:pt x="369" y="1501"/>
                    </a:cubicBezTo>
                    <a:cubicBezTo>
                      <a:pt x="367" y="1509"/>
                      <a:pt x="365" y="1517"/>
                      <a:pt x="362" y="1524"/>
                    </a:cubicBezTo>
                    <a:cubicBezTo>
                      <a:pt x="359" y="1531"/>
                      <a:pt x="355" y="1536"/>
                      <a:pt x="350" y="1541"/>
                    </a:cubicBezTo>
                    <a:cubicBezTo>
                      <a:pt x="346" y="1546"/>
                      <a:pt x="341" y="1550"/>
                      <a:pt x="334" y="1553"/>
                    </a:cubicBezTo>
                    <a:cubicBezTo>
                      <a:pt x="328" y="1555"/>
                      <a:pt x="320" y="1556"/>
                      <a:pt x="312" y="1556"/>
                    </a:cubicBezTo>
                    <a:cubicBezTo>
                      <a:pt x="302" y="1556"/>
                      <a:pt x="293" y="1554"/>
                      <a:pt x="286" y="1550"/>
                    </a:cubicBezTo>
                    <a:cubicBezTo>
                      <a:pt x="278" y="1546"/>
                      <a:pt x="272" y="1539"/>
                      <a:pt x="267" y="1530"/>
                    </a:cubicBezTo>
                    <a:cubicBezTo>
                      <a:pt x="262" y="1520"/>
                      <a:pt x="259" y="1508"/>
                      <a:pt x="257" y="1493"/>
                    </a:cubicBezTo>
                    <a:cubicBezTo>
                      <a:pt x="254" y="1478"/>
                      <a:pt x="253" y="1460"/>
                      <a:pt x="253" y="1439"/>
                    </a:cubicBezTo>
                    <a:cubicBezTo>
                      <a:pt x="253" y="1423"/>
                      <a:pt x="254" y="1408"/>
                      <a:pt x="256" y="1394"/>
                    </a:cubicBezTo>
                    <a:cubicBezTo>
                      <a:pt x="257" y="1380"/>
                      <a:pt x="261" y="1368"/>
                      <a:pt x="265" y="1358"/>
                    </a:cubicBezTo>
                    <a:cubicBezTo>
                      <a:pt x="270" y="1348"/>
                      <a:pt x="275" y="1340"/>
                      <a:pt x="283" y="1334"/>
                    </a:cubicBezTo>
                    <a:cubicBezTo>
                      <a:pt x="291" y="1328"/>
                      <a:pt x="301" y="1325"/>
                      <a:pt x="314" y="1325"/>
                    </a:cubicBezTo>
                    <a:close/>
                    <a:moveTo>
                      <a:pt x="4473" y="1330"/>
                    </a:moveTo>
                    <a:lnTo>
                      <a:pt x="4474" y="1330"/>
                    </a:lnTo>
                    <a:lnTo>
                      <a:pt x="4474" y="1487"/>
                    </a:lnTo>
                    <a:lnTo>
                      <a:pt x="4381" y="1487"/>
                    </a:lnTo>
                    <a:lnTo>
                      <a:pt x="4473" y="1330"/>
                    </a:lnTo>
                    <a:close/>
                    <a:moveTo>
                      <a:pt x="6528" y="1438"/>
                    </a:moveTo>
                    <a:cubicBezTo>
                      <a:pt x="6538" y="1438"/>
                      <a:pt x="6546" y="1440"/>
                      <a:pt x="6553" y="1442"/>
                    </a:cubicBezTo>
                    <a:cubicBezTo>
                      <a:pt x="6559" y="1445"/>
                      <a:pt x="6565" y="1448"/>
                      <a:pt x="6569" y="1453"/>
                    </a:cubicBezTo>
                    <a:cubicBezTo>
                      <a:pt x="6573" y="1458"/>
                      <a:pt x="6576" y="1465"/>
                      <a:pt x="6578" y="1472"/>
                    </a:cubicBezTo>
                    <a:cubicBezTo>
                      <a:pt x="6579" y="1479"/>
                      <a:pt x="6579" y="1486"/>
                      <a:pt x="6579" y="1495"/>
                    </a:cubicBezTo>
                    <a:cubicBezTo>
                      <a:pt x="6579" y="1502"/>
                      <a:pt x="6579" y="1510"/>
                      <a:pt x="6577" y="1517"/>
                    </a:cubicBezTo>
                    <a:cubicBezTo>
                      <a:pt x="6575" y="1525"/>
                      <a:pt x="6571" y="1532"/>
                      <a:pt x="6566" y="1538"/>
                    </a:cubicBezTo>
                    <a:cubicBezTo>
                      <a:pt x="6562" y="1544"/>
                      <a:pt x="6556" y="1548"/>
                      <a:pt x="6549" y="1552"/>
                    </a:cubicBezTo>
                    <a:cubicBezTo>
                      <a:pt x="6542" y="1555"/>
                      <a:pt x="6534" y="1557"/>
                      <a:pt x="6525" y="1557"/>
                    </a:cubicBezTo>
                    <a:cubicBezTo>
                      <a:pt x="6515" y="1557"/>
                      <a:pt x="6508" y="1555"/>
                      <a:pt x="6501" y="1552"/>
                    </a:cubicBezTo>
                    <a:cubicBezTo>
                      <a:pt x="6494" y="1549"/>
                      <a:pt x="6488" y="1543"/>
                      <a:pt x="6483" y="1535"/>
                    </a:cubicBezTo>
                    <a:cubicBezTo>
                      <a:pt x="6479" y="1527"/>
                      <a:pt x="6475" y="1517"/>
                      <a:pt x="6473" y="1504"/>
                    </a:cubicBezTo>
                    <a:cubicBezTo>
                      <a:pt x="6470" y="1491"/>
                      <a:pt x="6469" y="1476"/>
                      <a:pt x="6469" y="1457"/>
                    </a:cubicBezTo>
                    <a:cubicBezTo>
                      <a:pt x="6473" y="1454"/>
                      <a:pt x="6477" y="1452"/>
                      <a:pt x="6481" y="1450"/>
                    </a:cubicBezTo>
                    <a:cubicBezTo>
                      <a:pt x="6486" y="1447"/>
                      <a:pt x="6491" y="1445"/>
                      <a:pt x="6496" y="1443"/>
                    </a:cubicBezTo>
                    <a:cubicBezTo>
                      <a:pt x="6501" y="1442"/>
                      <a:pt x="6507" y="1441"/>
                      <a:pt x="6512" y="1440"/>
                    </a:cubicBezTo>
                    <a:cubicBezTo>
                      <a:pt x="6518" y="1439"/>
                      <a:pt x="6523" y="1438"/>
                      <a:pt x="6528" y="1438"/>
                    </a:cubicBezTo>
                    <a:close/>
                    <a:moveTo>
                      <a:pt x="1352" y="1942"/>
                    </a:moveTo>
                    <a:cubicBezTo>
                      <a:pt x="1337" y="1942"/>
                      <a:pt x="1324" y="1944"/>
                      <a:pt x="1312" y="1948"/>
                    </a:cubicBezTo>
                    <a:cubicBezTo>
                      <a:pt x="1301" y="1952"/>
                      <a:pt x="1291" y="1956"/>
                      <a:pt x="1284" y="1963"/>
                    </a:cubicBezTo>
                    <a:cubicBezTo>
                      <a:pt x="1277" y="1969"/>
                      <a:pt x="1272" y="1977"/>
                      <a:pt x="1268" y="1986"/>
                    </a:cubicBezTo>
                    <a:cubicBezTo>
                      <a:pt x="1265" y="1994"/>
                      <a:pt x="1263" y="2004"/>
                      <a:pt x="1263" y="2014"/>
                    </a:cubicBezTo>
                    <a:cubicBezTo>
                      <a:pt x="1263" y="2022"/>
                      <a:pt x="1264" y="2029"/>
                      <a:pt x="1266" y="2036"/>
                    </a:cubicBezTo>
                    <a:cubicBezTo>
                      <a:pt x="1269" y="2043"/>
                      <a:pt x="1272" y="2049"/>
                      <a:pt x="1277" y="2055"/>
                    </a:cubicBezTo>
                    <a:cubicBezTo>
                      <a:pt x="1282" y="2061"/>
                      <a:pt x="1288" y="2066"/>
                      <a:pt x="1295" y="2071"/>
                    </a:cubicBezTo>
                    <a:cubicBezTo>
                      <a:pt x="1301" y="2076"/>
                      <a:pt x="1309" y="2082"/>
                      <a:pt x="1318" y="2086"/>
                    </a:cubicBezTo>
                    <a:cubicBezTo>
                      <a:pt x="1307" y="2091"/>
                      <a:pt x="1298" y="2097"/>
                      <a:pt x="1290" y="2102"/>
                    </a:cubicBezTo>
                    <a:cubicBezTo>
                      <a:pt x="1282" y="2108"/>
                      <a:pt x="1276" y="2113"/>
                      <a:pt x="1270" y="2120"/>
                    </a:cubicBezTo>
                    <a:cubicBezTo>
                      <a:pt x="1264" y="2126"/>
                      <a:pt x="1261" y="2133"/>
                      <a:pt x="1258" y="2140"/>
                    </a:cubicBezTo>
                    <a:cubicBezTo>
                      <a:pt x="1255" y="2148"/>
                      <a:pt x="1253" y="2156"/>
                      <a:pt x="1253" y="2165"/>
                    </a:cubicBezTo>
                    <a:cubicBezTo>
                      <a:pt x="1253" y="2176"/>
                      <a:pt x="1255" y="2186"/>
                      <a:pt x="1259" y="2195"/>
                    </a:cubicBezTo>
                    <a:cubicBezTo>
                      <a:pt x="1264" y="2204"/>
                      <a:pt x="1270" y="2212"/>
                      <a:pt x="1278" y="2218"/>
                    </a:cubicBezTo>
                    <a:cubicBezTo>
                      <a:pt x="1286" y="2224"/>
                      <a:pt x="1295" y="2228"/>
                      <a:pt x="1307" y="2231"/>
                    </a:cubicBezTo>
                    <a:cubicBezTo>
                      <a:pt x="1319" y="2234"/>
                      <a:pt x="1332" y="2235"/>
                      <a:pt x="1347" y="2235"/>
                    </a:cubicBezTo>
                    <a:cubicBezTo>
                      <a:pt x="1362" y="2235"/>
                      <a:pt x="1377" y="2234"/>
                      <a:pt x="1389" y="2231"/>
                    </a:cubicBezTo>
                    <a:cubicBezTo>
                      <a:pt x="1401" y="2228"/>
                      <a:pt x="1411" y="2223"/>
                      <a:pt x="1419" y="2216"/>
                    </a:cubicBezTo>
                    <a:cubicBezTo>
                      <a:pt x="1427" y="2209"/>
                      <a:pt x="1434" y="2201"/>
                      <a:pt x="1438" y="2191"/>
                    </a:cubicBezTo>
                    <a:cubicBezTo>
                      <a:pt x="1443" y="2182"/>
                      <a:pt x="1446" y="2171"/>
                      <a:pt x="1446" y="2159"/>
                    </a:cubicBezTo>
                    <a:cubicBezTo>
                      <a:pt x="1446" y="2150"/>
                      <a:pt x="1444" y="2143"/>
                      <a:pt x="1441" y="2136"/>
                    </a:cubicBezTo>
                    <a:cubicBezTo>
                      <a:pt x="1438" y="2129"/>
                      <a:pt x="1433" y="2122"/>
                      <a:pt x="1428" y="2115"/>
                    </a:cubicBezTo>
                    <a:cubicBezTo>
                      <a:pt x="1422" y="2109"/>
                      <a:pt x="1416" y="2103"/>
                      <a:pt x="1408" y="2098"/>
                    </a:cubicBezTo>
                    <a:cubicBezTo>
                      <a:pt x="1399" y="2092"/>
                      <a:pt x="1391" y="2087"/>
                      <a:pt x="1380" y="2082"/>
                    </a:cubicBezTo>
                    <a:cubicBezTo>
                      <a:pt x="1389" y="2077"/>
                      <a:pt x="1396" y="2072"/>
                      <a:pt x="1403" y="2067"/>
                    </a:cubicBezTo>
                    <a:cubicBezTo>
                      <a:pt x="1410" y="2062"/>
                      <a:pt x="1416" y="2055"/>
                      <a:pt x="1421" y="2049"/>
                    </a:cubicBezTo>
                    <a:cubicBezTo>
                      <a:pt x="1426" y="2043"/>
                      <a:pt x="1429" y="2037"/>
                      <a:pt x="1431" y="2030"/>
                    </a:cubicBezTo>
                    <a:cubicBezTo>
                      <a:pt x="1434" y="2023"/>
                      <a:pt x="1435" y="2016"/>
                      <a:pt x="1435" y="2009"/>
                    </a:cubicBezTo>
                    <a:cubicBezTo>
                      <a:pt x="1435" y="1999"/>
                      <a:pt x="1434" y="1990"/>
                      <a:pt x="1431" y="1982"/>
                    </a:cubicBezTo>
                    <a:cubicBezTo>
                      <a:pt x="1427" y="1974"/>
                      <a:pt x="1421" y="1967"/>
                      <a:pt x="1415" y="1961"/>
                    </a:cubicBezTo>
                    <a:cubicBezTo>
                      <a:pt x="1408" y="1955"/>
                      <a:pt x="1400" y="1950"/>
                      <a:pt x="1389" y="1947"/>
                    </a:cubicBezTo>
                    <a:cubicBezTo>
                      <a:pt x="1379" y="1943"/>
                      <a:pt x="1366" y="1942"/>
                      <a:pt x="1352" y="1942"/>
                    </a:cubicBezTo>
                    <a:close/>
                    <a:moveTo>
                      <a:pt x="2386" y="1942"/>
                    </a:moveTo>
                    <a:cubicBezTo>
                      <a:pt x="2369" y="1942"/>
                      <a:pt x="2354" y="1944"/>
                      <a:pt x="2342" y="1950"/>
                    </a:cubicBezTo>
                    <a:cubicBezTo>
                      <a:pt x="2330" y="1955"/>
                      <a:pt x="2320" y="1962"/>
                      <a:pt x="2312" y="1971"/>
                    </a:cubicBezTo>
                    <a:cubicBezTo>
                      <a:pt x="2305" y="1979"/>
                      <a:pt x="2298" y="1989"/>
                      <a:pt x="2295" y="2001"/>
                    </a:cubicBezTo>
                    <a:cubicBezTo>
                      <a:pt x="2291" y="2012"/>
                      <a:pt x="2290" y="2024"/>
                      <a:pt x="2290" y="2037"/>
                    </a:cubicBezTo>
                    <a:cubicBezTo>
                      <a:pt x="2290" y="2049"/>
                      <a:pt x="2291" y="2060"/>
                      <a:pt x="2294" y="2070"/>
                    </a:cubicBezTo>
                    <a:cubicBezTo>
                      <a:pt x="2297" y="2081"/>
                      <a:pt x="2302" y="2089"/>
                      <a:pt x="2308" y="2097"/>
                    </a:cubicBezTo>
                    <a:cubicBezTo>
                      <a:pt x="2315" y="2104"/>
                      <a:pt x="2323" y="2110"/>
                      <a:pt x="2334" y="2115"/>
                    </a:cubicBezTo>
                    <a:cubicBezTo>
                      <a:pt x="2344" y="2119"/>
                      <a:pt x="2358" y="2122"/>
                      <a:pt x="2374" y="2122"/>
                    </a:cubicBezTo>
                    <a:cubicBezTo>
                      <a:pt x="2388" y="2122"/>
                      <a:pt x="2400" y="2120"/>
                      <a:pt x="2411" y="2116"/>
                    </a:cubicBezTo>
                    <a:cubicBezTo>
                      <a:pt x="2422" y="2113"/>
                      <a:pt x="2432" y="2108"/>
                      <a:pt x="2439" y="2104"/>
                    </a:cubicBezTo>
                    <a:cubicBezTo>
                      <a:pt x="2439" y="2117"/>
                      <a:pt x="2437" y="2131"/>
                      <a:pt x="2434" y="2143"/>
                    </a:cubicBezTo>
                    <a:cubicBezTo>
                      <a:pt x="2431" y="2155"/>
                      <a:pt x="2427" y="2165"/>
                      <a:pt x="2420" y="2174"/>
                    </a:cubicBezTo>
                    <a:cubicBezTo>
                      <a:pt x="2414" y="2184"/>
                      <a:pt x="2405" y="2191"/>
                      <a:pt x="2394" y="2197"/>
                    </a:cubicBezTo>
                    <a:cubicBezTo>
                      <a:pt x="2384" y="2202"/>
                      <a:pt x="2373" y="2205"/>
                      <a:pt x="2358" y="2205"/>
                    </a:cubicBezTo>
                    <a:cubicBezTo>
                      <a:pt x="2351" y="2205"/>
                      <a:pt x="2344" y="2205"/>
                      <a:pt x="2338" y="2204"/>
                    </a:cubicBezTo>
                    <a:cubicBezTo>
                      <a:pt x="2332" y="2202"/>
                      <a:pt x="2327" y="2201"/>
                      <a:pt x="2322" y="2200"/>
                    </a:cubicBezTo>
                    <a:cubicBezTo>
                      <a:pt x="2318" y="2199"/>
                      <a:pt x="2314" y="2198"/>
                      <a:pt x="2311" y="2197"/>
                    </a:cubicBezTo>
                    <a:cubicBezTo>
                      <a:pt x="2308" y="2195"/>
                      <a:pt x="2305" y="2195"/>
                      <a:pt x="2304" y="2195"/>
                    </a:cubicBezTo>
                    <a:cubicBezTo>
                      <a:pt x="2302" y="2195"/>
                      <a:pt x="2302" y="2194"/>
                      <a:pt x="2301" y="2195"/>
                    </a:cubicBezTo>
                    <a:cubicBezTo>
                      <a:pt x="2300" y="2195"/>
                      <a:pt x="2300" y="2196"/>
                      <a:pt x="2299" y="2197"/>
                    </a:cubicBezTo>
                    <a:cubicBezTo>
                      <a:pt x="2299" y="2198"/>
                      <a:pt x="2299" y="2200"/>
                      <a:pt x="2298" y="2202"/>
                    </a:cubicBezTo>
                    <a:cubicBezTo>
                      <a:pt x="2298" y="2204"/>
                      <a:pt x="2297" y="2206"/>
                      <a:pt x="2297" y="2209"/>
                    </a:cubicBezTo>
                    <a:cubicBezTo>
                      <a:pt x="2297" y="2213"/>
                      <a:pt x="2298" y="2216"/>
                      <a:pt x="2298" y="2219"/>
                    </a:cubicBezTo>
                    <a:cubicBezTo>
                      <a:pt x="2299" y="2221"/>
                      <a:pt x="2300" y="2223"/>
                      <a:pt x="2302" y="2224"/>
                    </a:cubicBezTo>
                    <a:cubicBezTo>
                      <a:pt x="2303" y="2225"/>
                      <a:pt x="2306" y="2226"/>
                      <a:pt x="2309" y="2227"/>
                    </a:cubicBezTo>
                    <a:cubicBezTo>
                      <a:pt x="2312" y="2229"/>
                      <a:pt x="2317" y="2231"/>
                      <a:pt x="2321" y="2232"/>
                    </a:cubicBezTo>
                    <a:cubicBezTo>
                      <a:pt x="2326" y="2233"/>
                      <a:pt x="2331" y="2234"/>
                      <a:pt x="2337" y="2234"/>
                    </a:cubicBezTo>
                    <a:cubicBezTo>
                      <a:pt x="2343" y="2235"/>
                      <a:pt x="2349" y="2235"/>
                      <a:pt x="2356" y="2235"/>
                    </a:cubicBezTo>
                    <a:cubicBezTo>
                      <a:pt x="2372" y="2235"/>
                      <a:pt x="2386" y="2234"/>
                      <a:pt x="2399" y="2229"/>
                    </a:cubicBezTo>
                    <a:cubicBezTo>
                      <a:pt x="2411" y="2225"/>
                      <a:pt x="2422" y="2219"/>
                      <a:pt x="2431" y="2212"/>
                    </a:cubicBezTo>
                    <a:cubicBezTo>
                      <a:pt x="2440" y="2204"/>
                      <a:pt x="2448" y="2194"/>
                      <a:pt x="2454" y="2184"/>
                    </a:cubicBezTo>
                    <a:cubicBezTo>
                      <a:pt x="2460" y="2174"/>
                      <a:pt x="2464" y="2163"/>
                      <a:pt x="2468" y="2152"/>
                    </a:cubicBezTo>
                    <a:cubicBezTo>
                      <a:pt x="2471" y="2140"/>
                      <a:pt x="2474" y="2128"/>
                      <a:pt x="2476" y="2115"/>
                    </a:cubicBezTo>
                    <a:cubicBezTo>
                      <a:pt x="2477" y="2103"/>
                      <a:pt x="2477" y="2090"/>
                      <a:pt x="2477" y="2077"/>
                    </a:cubicBezTo>
                    <a:cubicBezTo>
                      <a:pt x="2477" y="2064"/>
                      <a:pt x="2477" y="2052"/>
                      <a:pt x="2476" y="2040"/>
                    </a:cubicBezTo>
                    <a:cubicBezTo>
                      <a:pt x="2474" y="2029"/>
                      <a:pt x="2472" y="2017"/>
                      <a:pt x="2469" y="2007"/>
                    </a:cubicBezTo>
                    <a:cubicBezTo>
                      <a:pt x="2467" y="1997"/>
                      <a:pt x="2463" y="1988"/>
                      <a:pt x="2458" y="1980"/>
                    </a:cubicBezTo>
                    <a:cubicBezTo>
                      <a:pt x="2453" y="1972"/>
                      <a:pt x="2448" y="1965"/>
                      <a:pt x="2441" y="1959"/>
                    </a:cubicBezTo>
                    <a:cubicBezTo>
                      <a:pt x="2434" y="1954"/>
                      <a:pt x="2426" y="1950"/>
                      <a:pt x="2417" y="1947"/>
                    </a:cubicBezTo>
                    <a:cubicBezTo>
                      <a:pt x="2407" y="1944"/>
                      <a:pt x="2398" y="1942"/>
                      <a:pt x="2386" y="1942"/>
                    </a:cubicBezTo>
                    <a:close/>
                    <a:moveTo>
                      <a:pt x="3188" y="1942"/>
                    </a:moveTo>
                    <a:cubicBezTo>
                      <a:pt x="3180" y="1942"/>
                      <a:pt x="3171" y="1943"/>
                      <a:pt x="3164" y="1944"/>
                    </a:cubicBezTo>
                    <a:cubicBezTo>
                      <a:pt x="3156" y="1946"/>
                      <a:pt x="3148" y="1949"/>
                      <a:pt x="3141" y="1951"/>
                    </a:cubicBezTo>
                    <a:cubicBezTo>
                      <a:pt x="3135" y="1954"/>
                      <a:pt x="3130" y="1957"/>
                      <a:pt x="3126" y="1959"/>
                    </a:cubicBezTo>
                    <a:cubicBezTo>
                      <a:pt x="3121" y="1962"/>
                      <a:pt x="3118" y="1964"/>
                      <a:pt x="3116" y="1965"/>
                    </a:cubicBezTo>
                    <a:cubicBezTo>
                      <a:pt x="3114" y="1967"/>
                      <a:pt x="3113" y="1968"/>
                      <a:pt x="3112" y="1969"/>
                    </a:cubicBezTo>
                    <a:cubicBezTo>
                      <a:pt x="3112" y="1970"/>
                      <a:pt x="3112" y="1971"/>
                      <a:pt x="3112" y="1973"/>
                    </a:cubicBezTo>
                    <a:cubicBezTo>
                      <a:pt x="3111" y="1974"/>
                      <a:pt x="3111" y="1975"/>
                      <a:pt x="3111" y="1977"/>
                    </a:cubicBezTo>
                    <a:cubicBezTo>
                      <a:pt x="3110" y="1979"/>
                      <a:pt x="3110" y="1980"/>
                      <a:pt x="3110" y="1982"/>
                    </a:cubicBezTo>
                    <a:cubicBezTo>
                      <a:pt x="3110" y="1985"/>
                      <a:pt x="3110" y="1988"/>
                      <a:pt x="3111" y="1990"/>
                    </a:cubicBezTo>
                    <a:cubicBezTo>
                      <a:pt x="3111" y="1992"/>
                      <a:pt x="3111" y="1994"/>
                      <a:pt x="3112" y="1995"/>
                    </a:cubicBezTo>
                    <a:cubicBezTo>
                      <a:pt x="3112" y="1997"/>
                      <a:pt x="3113" y="1998"/>
                      <a:pt x="3114" y="1998"/>
                    </a:cubicBezTo>
                    <a:cubicBezTo>
                      <a:pt x="3115" y="1999"/>
                      <a:pt x="3116" y="1999"/>
                      <a:pt x="3117" y="1999"/>
                    </a:cubicBezTo>
                    <a:cubicBezTo>
                      <a:pt x="3119" y="1999"/>
                      <a:pt x="3121" y="1998"/>
                      <a:pt x="3125" y="1995"/>
                    </a:cubicBezTo>
                    <a:cubicBezTo>
                      <a:pt x="3128" y="1993"/>
                      <a:pt x="3133" y="1990"/>
                      <a:pt x="3138" y="1988"/>
                    </a:cubicBezTo>
                    <a:cubicBezTo>
                      <a:pt x="3143" y="1985"/>
                      <a:pt x="3149" y="1982"/>
                      <a:pt x="3156" y="1980"/>
                    </a:cubicBezTo>
                    <a:cubicBezTo>
                      <a:pt x="3164" y="1977"/>
                      <a:pt x="3172" y="1975"/>
                      <a:pt x="3181" y="1975"/>
                    </a:cubicBezTo>
                    <a:cubicBezTo>
                      <a:pt x="3189" y="1975"/>
                      <a:pt x="3196" y="1977"/>
                      <a:pt x="3201" y="1980"/>
                    </a:cubicBezTo>
                    <a:cubicBezTo>
                      <a:pt x="3207" y="1982"/>
                      <a:pt x="3212" y="1985"/>
                      <a:pt x="3216" y="1989"/>
                    </a:cubicBezTo>
                    <a:cubicBezTo>
                      <a:pt x="3219" y="1994"/>
                      <a:pt x="3222" y="1999"/>
                      <a:pt x="3224" y="2004"/>
                    </a:cubicBezTo>
                    <a:cubicBezTo>
                      <a:pt x="3226" y="2010"/>
                      <a:pt x="3228" y="2016"/>
                      <a:pt x="3228" y="2022"/>
                    </a:cubicBezTo>
                    <a:cubicBezTo>
                      <a:pt x="3228" y="2028"/>
                      <a:pt x="3227" y="2035"/>
                      <a:pt x="3226" y="2042"/>
                    </a:cubicBezTo>
                    <a:cubicBezTo>
                      <a:pt x="3225" y="2049"/>
                      <a:pt x="3222" y="2058"/>
                      <a:pt x="3217" y="2067"/>
                    </a:cubicBezTo>
                    <a:cubicBezTo>
                      <a:pt x="3213" y="2076"/>
                      <a:pt x="3207" y="2085"/>
                      <a:pt x="3200" y="2096"/>
                    </a:cubicBezTo>
                    <a:cubicBezTo>
                      <a:pt x="3192" y="2107"/>
                      <a:pt x="3182" y="2119"/>
                      <a:pt x="3169" y="2132"/>
                    </a:cubicBezTo>
                    <a:lnTo>
                      <a:pt x="3113" y="2191"/>
                    </a:lnTo>
                    <a:cubicBezTo>
                      <a:pt x="3111" y="2193"/>
                      <a:pt x="3111" y="2195"/>
                      <a:pt x="3110" y="2197"/>
                    </a:cubicBezTo>
                    <a:cubicBezTo>
                      <a:pt x="3109" y="2198"/>
                      <a:pt x="3107" y="2200"/>
                      <a:pt x="3106" y="2202"/>
                    </a:cubicBezTo>
                    <a:cubicBezTo>
                      <a:pt x="3105" y="2204"/>
                      <a:pt x="3106" y="2205"/>
                      <a:pt x="3105" y="2207"/>
                    </a:cubicBezTo>
                    <a:cubicBezTo>
                      <a:pt x="3105" y="2209"/>
                      <a:pt x="3104" y="2212"/>
                      <a:pt x="3104" y="2215"/>
                    </a:cubicBezTo>
                    <a:cubicBezTo>
                      <a:pt x="3104" y="2218"/>
                      <a:pt x="3105" y="2221"/>
                      <a:pt x="3105" y="2223"/>
                    </a:cubicBezTo>
                    <a:cubicBezTo>
                      <a:pt x="3106" y="2225"/>
                      <a:pt x="3107" y="2227"/>
                      <a:pt x="3108" y="2228"/>
                    </a:cubicBezTo>
                    <a:cubicBezTo>
                      <a:pt x="3109" y="2229"/>
                      <a:pt x="3111" y="2230"/>
                      <a:pt x="3112" y="2231"/>
                    </a:cubicBezTo>
                    <a:cubicBezTo>
                      <a:pt x="3114" y="2231"/>
                      <a:pt x="3116" y="2232"/>
                      <a:pt x="3118" y="2232"/>
                    </a:cubicBezTo>
                    <a:lnTo>
                      <a:pt x="3275" y="2232"/>
                    </a:lnTo>
                    <a:cubicBezTo>
                      <a:pt x="3276" y="2232"/>
                      <a:pt x="3278" y="2232"/>
                      <a:pt x="3279" y="2231"/>
                    </a:cubicBezTo>
                    <a:cubicBezTo>
                      <a:pt x="3280" y="2230"/>
                      <a:pt x="3281" y="2229"/>
                      <a:pt x="3282" y="2227"/>
                    </a:cubicBezTo>
                    <a:cubicBezTo>
                      <a:pt x="3282" y="2226"/>
                      <a:pt x="3282" y="2224"/>
                      <a:pt x="3283" y="2222"/>
                    </a:cubicBezTo>
                    <a:cubicBezTo>
                      <a:pt x="3283" y="2220"/>
                      <a:pt x="3283" y="2218"/>
                      <a:pt x="3283" y="2215"/>
                    </a:cubicBezTo>
                    <a:cubicBezTo>
                      <a:pt x="3283" y="2212"/>
                      <a:pt x="3283" y="2210"/>
                      <a:pt x="3283" y="2208"/>
                    </a:cubicBezTo>
                    <a:cubicBezTo>
                      <a:pt x="3282" y="2206"/>
                      <a:pt x="3282" y="2205"/>
                      <a:pt x="3281" y="2204"/>
                    </a:cubicBezTo>
                    <a:cubicBezTo>
                      <a:pt x="3280" y="2202"/>
                      <a:pt x="3279" y="2201"/>
                      <a:pt x="3278" y="2200"/>
                    </a:cubicBezTo>
                    <a:cubicBezTo>
                      <a:pt x="3277" y="2199"/>
                      <a:pt x="3276" y="2199"/>
                      <a:pt x="3275" y="2199"/>
                    </a:cubicBezTo>
                    <a:lnTo>
                      <a:pt x="3150" y="2199"/>
                    </a:lnTo>
                    <a:lnTo>
                      <a:pt x="3196" y="2152"/>
                    </a:lnTo>
                    <a:cubicBezTo>
                      <a:pt x="3212" y="2136"/>
                      <a:pt x="3225" y="2120"/>
                      <a:pt x="3235" y="2107"/>
                    </a:cubicBezTo>
                    <a:cubicBezTo>
                      <a:pt x="3245" y="2095"/>
                      <a:pt x="3253" y="2084"/>
                      <a:pt x="3258" y="2073"/>
                    </a:cubicBezTo>
                    <a:cubicBezTo>
                      <a:pt x="3263" y="2063"/>
                      <a:pt x="3266" y="2052"/>
                      <a:pt x="3268" y="2043"/>
                    </a:cubicBezTo>
                    <a:cubicBezTo>
                      <a:pt x="3269" y="2034"/>
                      <a:pt x="3270" y="2025"/>
                      <a:pt x="3270" y="2016"/>
                    </a:cubicBezTo>
                    <a:cubicBezTo>
                      <a:pt x="3270" y="2006"/>
                      <a:pt x="3268" y="1996"/>
                      <a:pt x="3265" y="1988"/>
                    </a:cubicBezTo>
                    <a:cubicBezTo>
                      <a:pt x="3262" y="1979"/>
                      <a:pt x="3257" y="1970"/>
                      <a:pt x="3250" y="1964"/>
                    </a:cubicBezTo>
                    <a:cubicBezTo>
                      <a:pt x="3243" y="1957"/>
                      <a:pt x="3235" y="1952"/>
                      <a:pt x="3224" y="1948"/>
                    </a:cubicBezTo>
                    <a:cubicBezTo>
                      <a:pt x="3214" y="1944"/>
                      <a:pt x="3202" y="1942"/>
                      <a:pt x="3188" y="1942"/>
                    </a:cubicBezTo>
                    <a:close/>
                    <a:moveTo>
                      <a:pt x="3426" y="1942"/>
                    </a:moveTo>
                    <a:cubicBezTo>
                      <a:pt x="3408" y="1942"/>
                      <a:pt x="3392" y="1946"/>
                      <a:pt x="3379" y="1953"/>
                    </a:cubicBezTo>
                    <a:cubicBezTo>
                      <a:pt x="3366" y="1960"/>
                      <a:pt x="3355" y="1970"/>
                      <a:pt x="3347" y="1983"/>
                    </a:cubicBezTo>
                    <a:cubicBezTo>
                      <a:pt x="3339" y="1996"/>
                      <a:pt x="3334" y="2012"/>
                      <a:pt x="3330" y="2030"/>
                    </a:cubicBezTo>
                    <a:cubicBezTo>
                      <a:pt x="3327" y="2048"/>
                      <a:pt x="3325" y="2068"/>
                      <a:pt x="3325" y="2090"/>
                    </a:cubicBezTo>
                    <a:cubicBezTo>
                      <a:pt x="3325" y="2113"/>
                      <a:pt x="3326" y="2134"/>
                      <a:pt x="3329" y="2152"/>
                    </a:cubicBezTo>
                    <a:cubicBezTo>
                      <a:pt x="3333" y="2171"/>
                      <a:pt x="3338" y="2186"/>
                      <a:pt x="3345" y="2198"/>
                    </a:cubicBezTo>
                    <a:cubicBezTo>
                      <a:pt x="3353" y="2211"/>
                      <a:pt x="3363" y="2220"/>
                      <a:pt x="3375" y="2227"/>
                    </a:cubicBezTo>
                    <a:cubicBezTo>
                      <a:pt x="3387" y="2233"/>
                      <a:pt x="3402" y="2235"/>
                      <a:pt x="3420" y="2235"/>
                    </a:cubicBezTo>
                    <a:cubicBezTo>
                      <a:pt x="3439" y="2235"/>
                      <a:pt x="3456" y="2232"/>
                      <a:pt x="3469" y="2225"/>
                    </a:cubicBezTo>
                    <a:cubicBezTo>
                      <a:pt x="3482" y="2218"/>
                      <a:pt x="3492" y="2208"/>
                      <a:pt x="3500" y="2195"/>
                    </a:cubicBezTo>
                    <a:cubicBezTo>
                      <a:pt x="3508" y="2182"/>
                      <a:pt x="3514" y="2166"/>
                      <a:pt x="3517" y="2148"/>
                    </a:cubicBezTo>
                    <a:cubicBezTo>
                      <a:pt x="3521" y="2130"/>
                      <a:pt x="3522" y="2110"/>
                      <a:pt x="3522" y="2088"/>
                    </a:cubicBezTo>
                    <a:cubicBezTo>
                      <a:pt x="3522" y="2065"/>
                      <a:pt x="3520" y="2044"/>
                      <a:pt x="3517" y="2025"/>
                    </a:cubicBezTo>
                    <a:cubicBezTo>
                      <a:pt x="3514" y="2007"/>
                      <a:pt x="3509" y="1992"/>
                      <a:pt x="3501" y="1980"/>
                    </a:cubicBezTo>
                    <a:cubicBezTo>
                      <a:pt x="3494" y="1967"/>
                      <a:pt x="3484" y="1958"/>
                      <a:pt x="3472" y="1951"/>
                    </a:cubicBezTo>
                    <a:cubicBezTo>
                      <a:pt x="3460" y="1945"/>
                      <a:pt x="3444" y="1942"/>
                      <a:pt x="3426" y="1942"/>
                    </a:cubicBezTo>
                    <a:close/>
                    <a:moveTo>
                      <a:pt x="6297" y="1942"/>
                    </a:moveTo>
                    <a:cubicBezTo>
                      <a:pt x="6288" y="1942"/>
                      <a:pt x="6280" y="1943"/>
                      <a:pt x="6272" y="1944"/>
                    </a:cubicBezTo>
                    <a:cubicBezTo>
                      <a:pt x="6265" y="1946"/>
                      <a:pt x="6258" y="1949"/>
                      <a:pt x="6251" y="1951"/>
                    </a:cubicBezTo>
                    <a:cubicBezTo>
                      <a:pt x="6245" y="1954"/>
                      <a:pt x="6239" y="1957"/>
                      <a:pt x="6234" y="1959"/>
                    </a:cubicBezTo>
                    <a:cubicBezTo>
                      <a:pt x="6230" y="1962"/>
                      <a:pt x="6227" y="1964"/>
                      <a:pt x="6226" y="1965"/>
                    </a:cubicBezTo>
                    <a:cubicBezTo>
                      <a:pt x="6224" y="1967"/>
                      <a:pt x="6223" y="1968"/>
                      <a:pt x="6222" y="1969"/>
                    </a:cubicBezTo>
                    <a:cubicBezTo>
                      <a:pt x="6222" y="1970"/>
                      <a:pt x="6221" y="1971"/>
                      <a:pt x="6220" y="1973"/>
                    </a:cubicBezTo>
                    <a:cubicBezTo>
                      <a:pt x="6220" y="1974"/>
                      <a:pt x="6220" y="1975"/>
                      <a:pt x="6219" y="1977"/>
                    </a:cubicBezTo>
                    <a:cubicBezTo>
                      <a:pt x="6219" y="1979"/>
                      <a:pt x="6219" y="1980"/>
                      <a:pt x="6219" y="1982"/>
                    </a:cubicBezTo>
                    <a:cubicBezTo>
                      <a:pt x="6219" y="1985"/>
                      <a:pt x="6220" y="1988"/>
                      <a:pt x="6220" y="1990"/>
                    </a:cubicBezTo>
                    <a:cubicBezTo>
                      <a:pt x="6221" y="1992"/>
                      <a:pt x="6221" y="1994"/>
                      <a:pt x="6221" y="1995"/>
                    </a:cubicBezTo>
                    <a:cubicBezTo>
                      <a:pt x="6222" y="1997"/>
                      <a:pt x="6222" y="1998"/>
                      <a:pt x="6223" y="1998"/>
                    </a:cubicBezTo>
                    <a:cubicBezTo>
                      <a:pt x="6224" y="1999"/>
                      <a:pt x="6225" y="1999"/>
                      <a:pt x="6226" y="1999"/>
                    </a:cubicBezTo>
                    <a:cubicBezTo>
                      <a:pt x="6227" y="1999"/>
                      <a:pt x="6230" y="1998"/>
                      <a:pt x="6234" y="1995"/>
                    </a:cubicBezTo>
                    <a:cubicBezTo>
                      <a:pt x="6237" y="1993"/>
                      <a:pt x="6242" y="1990"/>
                      <a:pt x="6248" y="1988"/>
                    </a:cubicBezTo>
                    <a:cubicBezTo>
                      <a:pt x="6253" y="1985"/>
                      <a:pt x="6259" y="1982"/>
                      <a:pt x="6266" y="1980"/>
                    </a:cubicBezTo>
                    <a:cubicBezTo>
                      <a:pt x="6273" y="1977"/>
                      <a:pt x="6281" y="1975"/>
                      <a:pt x="6290" y="1975"/>
                    </a:cubicBezTo>
                    <a:cubicBezTo>
                      <a:pt x="6298" y="1975"/>
                      <a:pt x="6304" y="1977"/>
                      <a:pt x="6310" y="1980"/>
                    </a:cubicBezTo>
                    <a:cubicBezTo>
                      <a:pt x="6316" y="1982"/>
                      <a:pt x="6321" y="1985"/>
                      <a:pt x="6325" y="1989"/>
                    </a:cubicBezTo>
                    <a:cubicBezTo>
                      <a:pt x="6329" y="1994"/>
                      <a:pt x="6332" y="1999"/>
                      <a:pt x="6334" y="2004"/>
                    </a:cubicBezTo>
                    <a:cubicBezTo>
                      <a:pt x="6336" y="2010"/>
                      <a:pt x="6338" y="2016"/>
                      <a:pt x="6338" y="2022"/>
                    </a:cubicBezTo>
                    <a:cubicBezTo>
                      <a:pt x="6338" y="2028"/>
                      <a:pt x="6336" y="2035"/>
                      <a:pt x="6335" y="2042"/>
                    </a:cubicBezTo>
                    <a:cubicBezTo>
                      <a:pt x="6334" y="2049"/>
                      <a:pt x="6331" y="2058"/>
                      <a:pt x="6327" y="2067"/>
                    </a:cubicBezTo>
                    <a:cubicBezTo>
                      <a:pt x="6323" y="2076"/>
                      <a:pt x="6317" y="2085"/>
                      <a:pt x="6309" y="2096"/>
                    </a:cubicBezTo>
                    <a:cubicBezTo>
                      <a:pt x="6302" y="2107"/>
                      <a:pt x="6291" y="2119"/>
                      <a:pt x="6279" y="2132"/>
                    </a:cubicBezTo>
                    <a:lnTo>
                      <a:pt x="6223" y="2191"/>
                    </a:lnTo>
                    <a:cubicBezTo>
                      <a:pt x="6221" y="2193"/>
                      <a:pt x="6220" y="2195"/>
                      <a:pt x="6219" y="2197"/>
                    </a:cubicBezTo>
                    <a:cubicBezTo>
                      <a:pt x="6217" y="2198"/>
                      <a:pt x="6217" y="2200"/>
                      <a:pt x="6216" y="2202"/>
                    </a:cubicBezTo>
                    <a:cubicBezTo>
                      <a:pt x="6215" y="2204"/>
                      <a:pt x="6214" y="2205"/>
                      <a:pt x="6214" y="2207"/>
                    </a:cubicBezTo>
                    <a:cubicBezTo>
                      <a:pt x="6214" y="2209"/>
                      <a:pt x="6214" y="2212"/>
                      <a:pt x="6214" y="2215"/>
                    </a:cubicBezTo>
                    <a:cubicBezTo>
                      <a:pt x="6214" y="2218"/>
                      <a:pt x="6215" y="2221"/>
                      <a:pt x="6215" y="2223"/>
                    </a:cubicBezTo>
                    <a:cubicBezTo>
                      <a:pt x="6216" y="2225"/>
                      <a:pt x="6217" y="2227"/>
                      <a:pt x="6218" y="2228"/>
                    </a:cubicBezTo>
                    <a:cubicBezTo>
                      <a:pt x="6219" y="2229"/>
                      <a:pt x="6220" y="2230"/>
                      <a:pt x="6221" y="2231"/>
                    </a:cubicBezTo>
                    <a:cubicBezTo>
                      <a:pt x="6223" y="2231"/>
                      <a:pt x="6224" y="2232"/>
                      <a:pt x="6227" y="2232"/>
                    </a:cubicBezTo>
                    <a:lnTo>
                      <a:pt x="6384" y="2232"/>
                    </a:lnTo>
                    <a:cubicBezTo>
                      <a:pt x="6386" y="2232"/>
                      <a:pt x="6387" y="2232"/>
                      <a:pt x="6388" y="2231"/>
                    </a:cubicBezTo>
                    <a:cubicBezTo>
                      <a:pt x="6389" y="2230"/>
                      <a:pt x="6390" y="2229"/>
                      <a:pt x="6391" y="2227"/>
                    </a:cubicBezTo>
                    <a:cubicBezTo>
                      <a:pt x="6391" y="2226"/>
                      <a:pt x="6392" y="2224"/>
                      <a:pt x="6392" y="2222"/>
                    </a:cubicBezTo>
                    <a:cubicBezTo>
                      <a:pt x="6393" y="2220"/>
                      <a:pt x="6393" y="2218"/>
                      <a:pt x="6393" y="2215"/>
                    </a:cubicBezTo>
                    <a:cubicBezTo>
                      <a:pt x="6393" y="2212"/>
                      <a:pt x="6393" y="2210"/>
                      <a:pt x="6392" y="2208"/>
                    </a:cubicBezTo>
                    <a:cubicBezTo>
                      <a:pt x="6392" y="2206"/>
                      <a:pt x="6391" y="2205"/>
                      <a:pt x="6391" y="2204"/>
                    </a:cubicBezTo>
                    <a:cubicBezTo>
                      <a:pt x="6390" y="2202"/>
                      <a:pt x="6389" y="2201"/>
                      <a:pt x="6388" y="2200"/>
                    </a:cubicBezTo>
                    <a:cubicBezTo>
                      <a:pt x="6387" y="2199"/>
                      <a:pt x="6386" y="2199"/>
                      <a:pt x="6384" y="2199"/>
                    </a:cubicBezTo>
                    <a:lnTo>
                      <a:pt x="6260" y="2199"/>
                    </a:lnTo>
                    <a:lnTo>
                      <a:pt x="6305" y="2152"/>
                    </a:lnTo>
                    <a:cubicBezTo>
                      <a:pt x="6321" y="2136"/>
                      <a:pt x="6335" y="2120"/>
                      <a:pt x="6345" y="2107"/>
                    </a:cubicBezTo>
                    <a:cubicBezTo>
                      <a:pt x="6355" y="2095"/>
                      <a:pt x="6362" y="2084"/>
                      <a:pt x="6367" y="2073"/>
                    </a:cubicBezTo>
                    <a:cubicBezTo>
                      <a:pt x="6372" y="2063"/>
                      <a:pt x="6376" y="2052"/>
                      <a:pt x="6377" y="2043"/>
                    </a:cubicBezTo>
                    <a:cubicBezTo>
                      <a:pt x="6379" y="2034"/>
                      <a:pt x="6380" y="2025"/>
                      <a:pt x="6380" y="2016"/>
                    </a:cubicBezTo>
                    <a:cubicBezTo>
                      <a:pt x="6380" y="2006"/>
                      <a:pt x="6378" y="1996"/>
                      <a:pt x="6375" y="1988"/>
                    </a:cubicBezTo>
                    <a:cubicBezTo>
                      <a:pt x="6371" y="1979"/>
                      <a:pt x="6367" y="1970"/>
                      <a:pt x="6360" y="1964"/>
                    </a:cubicBezTo>
                    <a:cubicBezTo>
                      <a:pt x="6353" y="1957"/>
                      <a:pt x="6344" y="1952"/>
                      <a:pt x="6333" y="1948"/>
                    </a:cubicBezTo>
                    <a:cubicBezTo>
                      <a:pt x="6323" y="1944"/>
                      <a:pt x="6311" y="1942"/>
                      <a:pt x="6297" y="1942"/>
                    </a:cubicBezTo>
                    <a:close/>
                    <a:moveTo>
                      <a:pt x="6527" y="1942"/>
                    </a:moveTo>
                    <a:cubicBezTo>
                      <a:pt x="6518" y="1942"/>
                      <a:pt x="6509" y="1943"/>
                      <a:pt x="6501" y="1944"/>
                    </a:cubicBezTo>
                    <a:cubicBezTo>
                      <a:pt x="6493" y="1946"/>
                      <a:pt x="6485" y="1949"/>
                      <a:pt x="6479" y="1951"/>
                    </a:cubicBezTo>
                    <a:cubicBezTo>
                      <a:pt x="6473" y="1954"/>
                      <a:pt x="6467" y="1957"/>
                      <a:pt x="6463" y="1959"/>
                    </a:cubicBezTo>
                    <a:cubicBezTo>
                      <a:pt x="6459" y="1962"/>
                      <a:pt x="6456" y="1964"/>
                      <a:pt x="6455" y="1965"/>
                    </a:cubicBezTo>
                    <a:cubicBezTo>
                      <a:pt x="6454" y="1967"/>
                      <a:pt x="6452" y="1968"/>
                      <a:pt x="6451" y="1969"/>
                    </a:cubicBezTo>
                    <a:cubicBezTo>
                      <a:pt x="6451" y="1970"/>
                      <a:pt x="6451" y="1971"/>
                      <a:pt x="6451" y="1973"/>
                    </a:cubicBezTo>
                    <a:cubicBezTo>
                      <a:pt x="6450" y="1974"/>
                      <a:pt x="6450" y="1975"/>
                      <a:pt x="6450" y="1977"/>
                    </a:cubicBezTo>
                    <a:cubicBezTo>
                      <a:pt x="6450" y="1979"/>
                      <a:pt x="6449" y="1980"/>
                      <a:pt x="6449" y="1982"/>
                    </a:cubicBezTo>
                    <a:cubicBezTo>
                      <a:pt x="6449" y="1985"/>
                      <a:pt x="6449" y="1988"/>
                      <a:pt x="6450" y="1990"/>
                    </a:cubicBezTo>
                    <a:cubicBezTo>
                      <a:pt x="6450" y="1992"/>
                      <a:pt x="6450" y="1993"/>
                      <a:pt x="6451" y="1995"/>
                    </a:cubicBezTo>
                    <a:cubicBezTo>
                      <a:pt x="6451" y="1996"/>
                      <a:pt x="6451" y="1997"/>
                      <a:pt x="6452" y="1997"/>
                    </a:cubicBezTo>
                    <a:cubicBezTo>
                      <a:pt x="6453" y="1998"/>
                      <a:pt x="6454" y="1997"/>
                      <a:pt x="6455" y="1997"/>
                    </a:cubicBezTo>
                    <a:cubicBezTo>
                      <a:pt x="6456" y="1997"/>
                      <a:pt x="6459" y="1996"/>
                      <a:pt x="6463" y="1994"/>
                    </a:cubicBezTo>
                    <a:cubicBezTo>
                      <a:pt x="6467" y="1991"/>
                      <a:pt x="6471" y="1989"/>
                      <a:pt x="6477" y="1986"/>
                    </a:cubicBezTo>
                    <a:cubicBezTo>
                      <a:pt x="6483" y="1983"/>
                      <a:pt x="6488" y="1980"/>
                      <a:pt x="6496" y="1977"/>
                    </a:cubicBezTo>
                    <a:cubicBezTo>
                      <a:pt x="6503" y="1974"/>
                      <a:pt x="6511" y="1973"/>
                      <a:pt x="6519" y="1973"/>
                    </a:cubicBezTo>
                    <a:cubicBezTo>
                      <a:pt x="6527" y="1973"/>
                      <a:pt x="6534" y="1975"/>
                      <a:pt x="6540" y="1977"/>
                    </a:cubicBezTo>
                    <a:cubicBezTo>
                      <a:pt x="6546" y="1979"/>
                      <a:pt x="6551" y="1982"/>
                      <a:pt x="6555" y="1986"/>
                    </a:cubicBezTo>
                    <a:cubicBezTo>
                      <a:pt x="6558" y="1990"/>
                      <a:pt x="6562" y="1994"/>
                      <a:pt x="6563" y="2000"/>
                    </a:cubicBezTo>
                    <a:cubicBezTo>
                      <a:pt x="6565" y="2005"/>
                      <a:pt x="6566" y="2011"/>
                      <a:pt x="6566" y="2017"/>
                    </a:cubicBezTo>
                    <a:cubicBezTo>
                      <a:pt x="6566" y="2025"/>
                      <a:pt x="6565" y="2032"/>
                      <a:pt x="6562" y="2039"/>
                    </a:cubicBezTo>
                    <a:cubicBezTo>
                      <a:pt x="6559" y="2045"/>
                      <a:pt x="6555" y="2051"/>
                      <a:pt x="6549" y="2055"/>
                    </a:cubicBezTo>
                    <a:cubicBezTo>
                      <a:pt x="6544" y="2060"/>
                      <a:pt x="6538" y="2064"/>
                      <a:pt x="6530" y="2067"/>
                    </a:cubicBezTo>
                    <a:cubicBezTo>
                      <a:pt x="6522" y="2069"/>
                      <a:pt x="6513" y="2070"/>
                      <a:pt x="6503" y="2070"/>
                    </a:cubicBezTo>
                    <a:lnTo>
                      <a:pt x="6479" y="2070"/>
                    </a:lnTo>
                    <a:cubicBezTo>
                      <a:pt x="6477" y="2070"/>
                      <a:pt x="6476" y="2071"/>
                      <a:pt x="6475" y="2071"/>
                    </a:cubicBezTo>
                    <a:cubicBezTo>
                      <a:pt x="6474" y="2072"/>
                      <a:pt x="6473" y="2073"/>
                      <a:pt x="6473" y="2074"/>
                    </a:cubicBezTo>
                    <a:cubicBezTo>
                      <a:pt x="6472" y="2075"/>
                      <a:pt x="6471" y="2077"/>
                      <a:pt x="6471" y="2078"/>
                    </a:cubicBezTo>
                    <a:cubicBezTo>
                      <a:pt x="6470" y="2080"/>
                      <a:pt x="6470" y="2082"/>
                      <a:pt x="6470" y="2085"/>
                    </a:cubicBezTo>
                    <a:cubicBezTo>
                      <a:pt x="6470" y="2088"/>
                      <a:pt x="6470" y="2091"/>
                      <a:pt x="6471" y="2092"/>
                    </a:cubicBezTo>
                    <a:cubicBezTo>
                      <a:pt x="6471" y="2094"/>
                      <a:pt x="6472" y="2096"/>
                      <a:pt x="6473" y="2097"/>
                    </a:cubicBezTo>
                    <a:cubicBezTo>
                      <a:pt x="6473" y="2098"/>
                      <a:pt x="6474" y="2099"/>
                      <a:pt x="6475" y="2100"/>
                    </a:cubicBezTo>
                    <a:cubicBezTo>
                      <a:pt x="6476" y="2100"/>
                      <a:pt x="6478" y="2100"/>
                      <a:pt x="6479" y="2100"/>
                    </a:cubicBezTo>
                    <a:lnTo>
                      <a:pt x="6506" y="2100"/>
                    </a:lnTo>
                    <a:cubicBezTo>
                      <a:pt x="6517" y="2100"/>
                      <a:pt x="6527" y="2101"/>
                      <a:pt x="6536" y="2104"/>
                    </a:cubicBezTo>
                    <a:cubicBezTo>
                      <a:pt x="6545" y="2106"/>
                      <a:pt x="6553" y="2110"/>
                      <a:pt x="6559" y="2115"/>
                    </a:cubicBezTo>
                    <a:cubicBezTo>
                      <a:pt x="6565" y="2119"/>
                      <a:pt x="6570" y="2125"/>
                      <a:pt x="6573" y="2131"/>
                    </a:cubicBezTo>
                    <a:cubicBezTo>
                      <a:pt x="6576" y="2138"/>
                      <a:pt x="6578" y="2145"/>
                      <a:pt x="6578" y="2153"/>
                    </a:cubicBezTo>
                    <a:cubicBezTo>
                      <a:pt x="6578" y="2161"/>
                      <a:pt x="6577" y="2167"/>
                      <a:pt x="6574" y="2174"/>
                    </a:cubicBezTo>
                    <a:cubicBezTo>
                      <a:pt x="6572" y="2180"/>
                      <a:pt x="6568" y="2186"/>
                      <a:pt x="6563" y="2190"/>
                    </a:cubicBezTo>
                    <a:cubicBezTo>
                      <a:pt x="6558" y="2195"/>
                      <a:pt x="6551" y="2198"/>
                      <a:pt x="6544" y="2201"/>
                    </a:cubicBezTo>
                    <a:cubicBezTo>
                      <a:pt x="6537" y="2203"/>
                      <a:pt x="6528" y="2204"/>
                      <a:pt x="6518" y="2204"/>
                    </a:cubicBezTo>
                    <a:cubicBezTo>
                      <a:pt x="6508" y="2204"/>
                      <a:pt x="6499" y="2203"/>
                      <a:pt x="6491" y="2201"/>
                    </a:cubicBezTo>
                    <a:cubicBezTo>
                      <a:pt x="6483" y="2199"/>
                      <a:pt x="6476" y="2196"/>
                      <a:pt x="6470" y="2193"/>
                    </a:cubicBezTo>
                    <a:cubicBezTo>
                      <a:pt x="6464" y="2190"/>
                      <a:pt x="6459" y="2188"/>
                      <a:pt x="6455" y="2186"/>
                    </a:cubicBezTo>
                    <a:cubicBezTo>
                      <a:pt x="6451" y="2184"/>
                      <a:pt x="6448" y="2182"/>
                      <a:pt x="6447" y="2182"/>
                    </a:cubicBezTo>
                    <a:cubicBezTo>
                      <a:pt x="6445" y="2182"/>
                      <a:pt x="6444" y="2183"/>
                      <a:pt x="6443" y="2185"/>
                    </a:cubicBezTo>
                    <a:cubicBezTo>
                      <a:pt x="6442" y="2187"/>
                      <a:pt x="6441" y="2191"/>
                      <a:pt x="6441" y="2197"/>
                    </a:cubicBezTo>
                    <a:cubicBezTo>
                      <a:pt x="6441" y="2200"/>
                      <a:pt x="6441" y="2202"/>
                      <a:pt x="6442" y="2204"/>
                    </a:cubicBezTo>
                    <a:cubicBezTo>
                      <a:pt x="6442" y="2207"/>
                      <a:pt x="6442" y="2208"/>
                      <a:pt x="6443" y="2210"/>
                    </a:cubicBezTo>
                    <a:cubicBezTo>
                      <a:pt x="6443" y="2211"/>
                      <a:pt x="6444" y="2212"/>
                      <a:pt x="6444" y="2213"/>
                    </a:cubicBezTo>
                    <a:cubicBezTo>
                      <a:pt x="6445" y="2214"/>
                      <a:pt x="6445" y="2215"/>
                      <a:pt x="6446" y="2216"/>
                    </a:cubicBezTo>
                    <a:cubicBezTo>
                      <a:pt x="6447" y="2217"/>
                      <a:pt x="6451" y="2219"/>
                      <a:pt x="6455" y="2221"/>
                    </a:cubicBezTo>
                    <a:cubicBezTo>
                      <a:pt x="6459" y="2224"/>
                      <a:pt x="6464" y="2226"/>
                      <a:pt x="6471" y="2228"/>
                    </a:cubicBezTo>
                    <a:cubicBezTo>
                      <a:pt x="6477" y="2230"/>
                      <a:pt x="6485" y="2232"/>
                      <a:pt x="6493" y="2234"/>
                    </a:cubicBezTo>
                    <a:cubicBezTo>
                      <a:pt x="6501" y="2235"/>
                      <a:pt x="6510" y="2235"/>
                      <a:pt x="6519" y="2235"/>
                    </a:cubicBezTo>
                    <a:cubicBezTo>
                      <a:pt x="6535" y="2235"/>
                      <a:pt x="6549" y="2234"/>
                      <a:pt x="6562" y="2230"/>
                    </a:cubicBezTo>
                    <a:cubicBezTo>
                      <a:pt x="6574" y="2226"/>
                      <a:pt x="6585" y="2220"/>
                      <a:pt x="6593" y="2212"/>
                    </a:cubicBezTo>
                    <a:cubicBezTo>
                      <a:pt x="6602" y="2205"/>
                      <a:pt x="6608" y="2196"/>
                      <a:pt x="6613" y="2185"/>
                    </a:cubicBezTo>
                    <a:cubicBezTo>
                      <a:pt x="6617" y="2175"/>
                      <a:pt x="6620" y="2163"/>
                      <a:pt x="6620" y="2150"/>
                    </a:cubicBezTo>
                    <a:cubicBezTo>
                      <a:pt x="6620" y="2141"/>
                      <a:pt x="6618" y="2133"/>
                      <a:pt x="6615" y="2125"/>
                    </a:cubicBezTo>
                    <a:cubicBezTo>
                      <a:pt x="6611" y="2117"/>
                      <a:pt x="6607" y="2110"/>
                      <a:pt x="6601" y="2104"/>
                    </a:cubicBezTo>
                    <a:cubicBezTo>
                      <a:pt x="6595" y="2098"/>
                      <a:pt x="6588" y="2094"/>
                      <a:pt x="6580" y="2090"/>
                    </a:cubicBezTo>
                    <a:cubicBezTo>
                      <a:pt x="6572" y="2086"/>
                      <a:pt x="6563" y="2083"/>
                      <a:pt x="6553" y="2082"/>
                    </a:cubicBezTo>
                    <a:cubicBezTo>
                      <a:pt x="6562" y="2080"/>
                      <a:pt x="6569" y="2077"/>
                      <a:pt x="6576" y="2073"/>
                    </a:cubicBezTo>
                    <a:cubicBezTo>
                      <a:pt x="6582" y="2069"/>
                      <a:pt x="6588" y="2064"/>
                      <a:pt x="6593" y="2058"/>
                    </a:cubicBezTo>
                    <a:cubicBezTo>
                      <a:pt x="6597" y="2052"/>
                      <a:pt x="6601" y="2045"/>
                      <a:pt x="6603" y="2037"/>
                    </a:cubicBezTo>
                    <a:cubicBezTo>
                      <a:pt x="6605" y="2029"/>
                      <a:pt x="6607" y="2021"/>
                      <a:pt x="6607" y="2012"/>
                    </a:cubicBezTo>
                    <a:cubicBezTo>
                      <a:pt x="6607" y="2002"/>
                      <a:pt x="6605" y="1993"/>
                      <a:pt x="6601" y="1984"/>
                    </a:cubicBezTo>
                    <a:cubicBezTo>
                      <a:pt x="6598" y="1975"/>
                      <a:pt x="6593" y="1967"/>
                      <a:pt x="6586" y="1961"/>
                    </a:cubicBezTo>
                    <a:cubicBezTo>
                      <a:pt x="6580" y="1955"/>
                      <a:pt x="6572" y="1950"/>
                      <a:pt x="6562" y="1947"/>
                    </a:cubicBezTo>
                    <a:cubicBezTo>
                      <a:pt x="6552" y="1944"/>
                      <a:pt x="6541" y="1942"/>
                      <a:pt x="6527" y="1942"/>
                    </a:cubicBezTo>
                    <a:close/>
                    <a:moveTo>
                      <a:pt x="93" y="1944"/>
                    </a:moveTo>
                    <a:cubicBezTo>
                      <a:pt x="91" y="1944"/>
                      <a:pt x="90" y="1945"/>
                      <a:pt x="88" y="1945"/>
                    </a:cubicBezTo>
                    <a:cubicBezTo>
                      <a:pt x="87" y="1945"/>
                      <a:pt x="86" y="1946"/>
                      <a:pt x="85" y="1946"/>
                    </a:cubicBezTo>
                    <a:cubicBezTo>
                      <a:pt x="84" y="1946"/>
                      <a:pt x="83" y="1947"/>
                      <a:pt x="83" y="1947"/>
                    </a:cubicBezTo>
                    <a:lnTo>
                      <a:pt x="17" y="1989"/>
                    </a:lnTo>
                    <a:cubicBezTo>
                      <a:pt x="15" y="1990"/>
                      <a:pt x="15" y="1991"/>
                      <a:pt x="14" y="1992"/>
                    </a:cubicBezTo>
                    <a:cubicBezTo>
                      <a:pt x="13" y="1993"/>
                      <a:pt x="13" y="1994"/>
                      <a:pt x="12" y="1995"/>
                    </a:cubicBezTo>
                    <a:cubicBezTo>
                      <a:pt x="12" y="1997"/>
                      <a:pt x="11" y="1998"/>
                      <a:pt x="11" y="2000"/>
                    </a:cubicBezTo>
                    <a:cubicBezTo>
                      <a:pt x="10" y="2002"/>
                      <a:pt x="11" y="2004"/>
                      <a:pt x="11" y="2006"/>
                    </a:cubicBezTo>
                    <a:cubicBezTo>
                      <a:pt x="11" y="2009"/>
                      <a:pt x="11" y="2012"/>
                      <a:pt x="11" y="2014"/>
                    </a:cubicBezTo>
                    <a:cubicBezTo>
                      <a:pt x="12" y="2016"/>
                      <a:pt x="12" y="2018"/>
                      <a:pt x="13" y="2019"/>
                    </a:cubicBezTo>
                    <a:cubicBezTo>
                      <a:pt x="14" y="2020"/>
                      <a:pt x="16" y="2020"/>
                      <a:pt x="18" y="2020"/>
                    </a:cubicBezTo>
                    <a:cubicBezTo>
                      <a:pt x="19" y="2020"/>
                      <a:pt x="21" y="2019"/>
                      <a:pt x="24" y="2017"/>
                    </a:cubicBezTo>
                    <a:lnTo>
                      <a:pt x="79" y="1985"/>
                    </a:lnTo>
                    <a:lnTo>
                      <a:pt x="79" y="2202"/>
                    </a:lnTo>
                    <a:lnTo>
                      <a:pt x="19" y="2202"/>
                    </a:lnTo>
                    <a:cubicBezTo>
                      <a:pt x="18" y="2202"/>
                      <a:pt x="18" y="2202"/>
                      <a:pt x="17" y="2203"/>
                    </a:cubicBezTo>
                    <a:cubicBezTo>
                      <a:pt x="16" y="2203"/>
                      <a:pt x="15" y="2204"/>
                      <a:pt x="14" y="2205"/>
                    </a:cubicBezTo>
                    <a:cubicBezTo>
                      <a:pt x="13" y="2207"/>
                      <a:pt x="13" y="2208"/>
                      <a:pt x="12" y="2210"/>
                    </a:cubicBezTo>
                    <a:cubicBezTo>
                      <a:pt x="12" y="2212"/>
                      <a:pt x="11" y="2214"/>
                      <a:pt x="11" y="2217"/>
                    </a:cubicBezTo>
                    <a:cubicBezTo>
                      <a:pt x="11" y="2220"/>
                      <a:pt x="12" y="2222"/>
                      <a:pt x="12" y="2224"/>
                    </a:cubicBezTo>
                    <a:cubicBezTo>
                      <a:pt x="13" y="2226"/>
                      <a:pt x="13" y="2227"/>
                      <a:pt x="14" y="2228"/>
                    </a:cubicBezTo>
                    <a:cubicBezTo>
                      <a:pt x="15" y="2229"/>
                      <a:pt x="16" y="2230"/>
                      <a:pt x="17" y="2231"/>
                    </a:cubicBezTo>
                    <a:cubicBezTo>
                      <a:pt x="18" y="2231"/>
                      <a:pt x="18" y="2232"/>
                      <a:pt x="19" y="2232"/>
                    </a:cubicBezTo>
                    <a:lnTo>
                      <a:pt x="168" y="2232"/>
                    </a:lnTo>
                    <a:cubicBezTo>
                      <a:pt x="169" y="2232"/>
                      <a:pt x="171" y="2231"/>
                      <a:pt x="172" y="2231"/>
                    </a:cubicBezTo>
                    <a:cubicBezTo>
                      <a:pt x="173" y="2230"/>
                      <a:pt x="173" y="2229"/>
                      <a:pt x="174" y="2228"/>
                    </a:cubicBezTo>
                    <a:cubicBezTo>
                      <a:pt x="174" y="2227"/>
                      <a:pt x="175" y="2226"/>
                      <a:pt x="176" y="2224"/>
                    </a:cubicBezTo>
                    <a:cubicBezTo>
                      <a:pt x="176" y="2222"/>
                      <a:pt x="176" y="2220"/>
                      <a:pt x="176" y="2217"/>
                    </a:cubicBezTo>
                    <a:cubicBezTo>
                      <a:pt x="176" y="2214"/>
                      <a:pt x="177" y="2212"/>
                      <a:pt x="176" y="2210"/>
                    </a:cubicBezTo>
                    <a:cubicBezTo>
                      <a:pt x="176" y="2208"/>
                      <a:pt x="175" y="2207"/>
                      <a:pt x="175" y="2205"/>
                    </a:cubicBezTo>
                    <a:cubicBezTo>
                      <a:pt x="174" y="2204"/>
                      <a:pt x="173" y="2203"/>
                      <a:pt x="172" y="2203"/>
                    </a:cubicBezTo>
                    <a:cubicBezTo>
                      <a:pt x="171" y="2202"/>
                      <a:pt x="170" y="2202"/>
                      <a:pt x="168" y="2202"/>
                    </a:cubicBezTo>
                    <a:lnTo>
                      <a:pt x="117" y="2202"/>
                    </a:lnTo>
                    <a:lnTo>
                      <a:pt x="117" y="1950"/>
                    </a:lnTo>
                    <a:cubicBezTo>
                      <a:pt x="117" y="1950"/>
                      <a:pt x="117" y="1949"/>
                      <a:pt x="116" y="1948"/>
                    </a:cubicBezTo>
                    <a:cubicBezTo>
                      <a:pt x="116" y="1947"/>
                      <a:pt x="115" y="1947"/>
                      <a:pt x="114" y="1946"/>
                    </a:cubicBezTo>
                    <a:cubicBezTo>
                      <a:pt x="112" y="1946"/>
                      <a:pt x="111" y="1945"/>
                      <a:pt x="108" y="1945"/>
                    </a:cubicBezTo>
                    <a:cubicBezTo>
                      <a:pt x="106" y="1945"/>
                      <a:pt x="103" y="1944"/>
                      <a:pt x="100" y="1944"/>
                    </a:cubicBezTo>
                    <a:cubicBezTo>
                      <a:pt x="97" y="1944"/>
                      <a:pt x="94" y="1944"/>
                      <a:pt x="93" y="1944"/>
                    </a:cubicBezTo>
                    <a:close/>
                    <a:moveTo>
                      <a:pt x="1126" y="1944"/>
                    </a:moveTo>
                    <a:cubicBezTo>
                      <a:pt x="1124" y="1944"/>
                      <a:pt x="1123" y="1945"/>
                      <a:pt x="1122" y="1945"/>
                    </a:cubicBezTo>
                    <a:cubicBezTo>
                      <a:pt x="1121" y="1945"/>
                      <a:pt x="1119" y="1946"/>
                      <a:pt x="1118" y="1946"/>
                    </a:cubicBezTo>
                    <a:cubicBezTo>
                      <a:pt x="1117" y="1946"/>
                      <a:pt x="1116" y="1947"/>
                      <a:pt x="1116" y="1947"/>
                    </a:cubicBezTo>
                    <a:lnTo>
                      <a:pt x="1050" y="1989"/>
                    </a:lnTo>
                    <a:cubicBezTo>
                      <a:pt x="1049" y="1990"/>
                      <a:pt x="1048" y="1991"/>
                      <a:pt x="1047" y="1992"/>
                    </a:cubicBezTo>
                    <a:cubicBezTo>
                      <a:pt x="1046" y="1993"/>
                      <a:pt x="1046" y="1993"/>
                      <a:pt x="1045" y="1995"/>
                    </a:cubicBezTo>
                    <a:cubicBezTo>
                      <a:pt x="1045" y="1996"/>
                      <a:pt x="1044" y="1997"/>
                      <a:pt x="1044" y="1999"/>
                    </a:cubicBezTo>
                    <a:cubicBezTo>
                      <a:pt x="1044" y="2001"/>
                      <a:pt x="1044" y="2003"/>
                      <a:pt x="1044" y="2005"/>
                    </a:cubicBezTo>
                    <a:cubicBezTo>
                      <a:pt x="1044" y="2009"/>
                      <a:pt x="1044" y="2012"/>
                      <a:pt x="1044" y="2014"/>
                    </a:cubicBezTo>
                    <a:cubicBezTo>
                      <a:pt x="1045" y="2016"/>
                      <a:pt x="1046" y="2017"/>
                      <a:pt x="1047" y="2018"/>
                    </a:cubicBezTo>
                    <a:cubicBezTo>
                      <a:pt x="1048" y="2019"/>
                      <a:pt x="1049" y="2020"/>
                      <a:pt x="1050" y="2019"/>
                    </a:cubicBezTo>
                    <a:cubicBezTo>
                      <a:pt x="1052" y="2019"/>
                      <a:pt x="1055" y="2018"/>
                      <a:pt x="1057" y="2017"/>
                    </a:cubicBezTo>
                    <a:lnTo>
                      <a:pt x="1112" y="1984"/>
                    </a:lnTo>
                    <a:lnTo>
                      <a:pt x="1112" y="2201"/>
                    </a:lnTo>
                    <a:lnTo>
                      <a:pt x="1053" y="2201"/>
                    </a:lnTo>
                    <a:cubicBezTo>
                      <a:pt x="1052" y="2201"/>
                      <a:pt x="1050" y="2201"/>
                      <a:pt x="1050" y="2202"/>
                    </a:cubicBezTo>
                    <a:cubicBezTo>
                      <a:pt x="1049" y="2202"/>
                      <a:pt x="1048" y="2204"/>
                      <a:pt x="1047" y="2205"/>
                    </a:cubicBezTo>
                    <a:cubicBezTo>
                      <a:pt x="1046" y="2207"/>
                      <a:pt x="1046" y="2208"/>
                      <a:pt x="1046" y="2210"/>
                    </a:cubicBezTo>
                    <a:cubicBezTo>
                      <a:pt x="1046" y="2212"/>
                      <a:pt x="1045" y="2214"/>
                      <a:pt x="1045" y="2217"/>
                    </a:cubicBezTo>
                    <a:cubicBezTo>
                      <a:pt x="1045" y="2220"/>
                      <a:pt x="1046" y="2222"/>
                      <a:pt x="1046" y="2224"/>
                    </a:cubicBezTo>
                    <a:cubicBezTo>
                      <a:pt x="1046" y="2226"/>
                      <a:pt x="1047" y="2227"/>
                      <a:pt x="1048" y="2228"/>
                    </a:cubicBezTo>
                    <a:cubicBezTo>
                      <a:pt x="1049" y="2229"/>
                      <a:pt x="1050" y="2230"/>
                      <a:pt x="1050" y="2231"/>
                    </a:cubicBezTo>
                    <a:cubicBezTo>
                      <a:pt x="1051" y="2231"/>
                      <a:pt x="1052" y="2232"/>
                      <a:pt x="1053" y="2232"/>
                    </a:cubicBezTo>
                    <a:lnTo>
                      <a:pt x="1202" y="2232"/>
                    </a:lnTo>
                    <a:cubicBezTo>
                      <a:pt x="1203" y="2232"/>
                      <a:pt x="1204" y="2231"/>
                      <a:pt x="1205" y="2231"/>
                    </a:cubicBezTo>
                    <a:cubicBezTo>
                      <a:pt x="1206" y="2230"/>
                      <a:pt x="1207" y="2229"/>
                      <a:pt x="1207" y="2228"/>
                    </a:cubicBezTo>
                    <a:cubicBezTo>
                      <a:pt x="1208" y="2227"/>
                      <a:pt x="1209" y="2226"/>
                      <a:pt x="1209" y="2224"/>
                    </a:cubicBezTo>
                    <a:cubicBezTo>
                      <a:pt x="1210" y="2222"/>
                      <a:pt x="1210" y="2220"/>
                      <a:pt x="1210" y="2217"/>
                    </a:cubicBezTo>
                    <a:cubicBezTo>
                      <a:pt x="1210" y="2214"/>
                      <a:pt x="1210" y="2212"/>
                      <a:pt x="1209" y="2210"/>
                    </a:cubicBezTo>
                    <a:cubicBezTo>
                      <a:pt x="1209" y="2208"/>
                      <a:pt x="1208" y="2207"/>
                      <a:pt x="1207" y="2205"/>
                    </a:cubicBezTo>
                    <a:cubicBezTo>
                      <a:pt x="1207" y="2204"/>
                      <a:pt x="1207" y="2202"/>
                      <a:pt x="1206" y="2202"/>
                    </a:cubicBezTo>
                    <a:cubicBezTo>
                      <a:pt x="1205" y="2201"/>
                      <a:pt x="1203" y="2201"/>
                      <a:pt x="1202" y="2201"/>
                    </a:cubicBezTo>
                    <a:lnTo>
                      <a:pt x="1150" y="2201"/>
                    </a:lnTo>
                    <a:lnTo>
                      <a:pt x="1150" y="1950"/>
                    </a:lnTo>
                    <a:cubicBezTo>
                      <a:pt x="1150" y="1950"/>
                      <a:pt x="1150" y="1949"/>
                      <a:pt x="1150" y="1948"/>
                    </a:cubicBezTo>
                    <a:cubicBezTo>
                      <a:pt x="1150" y="1947"/>
                      <a:pt x="1149" y="1947"/>
                      <a:pt x="1147" y="1946"/>
                    </a:cubicBezTo>
                    <a:cubicBezTo>
                      <a:pt x="1146" y="1946"/>
                      <a:pt x="1144" y="1945"/>
                      <a:pt x="1141" y="1944"/>
                    </a:cubicBezTo>
                    <a:cubicBezTo>
                      <a:pt x="1139" y="1944"/>
                      <a:pt x="1136" y="1944"/>
                      <a:pt x="1132" y="1944"/>
                    </a:cubicBezTo>
                    <a:cubicBezTo>
                      <a:pt x="1130" y="1944"/>
                      <a:pt x="1128" y="1944"/>
                      <a:pt x="1126" y="1944"/>
                    </a:cubicBezTo>
                    <a:close/>
                    <a:moveTo>
                      <a:pt x="2163" y="1944"/>
                    </a:moveTo>
                    <a:cubicBezTo>
                      <a:pt x="2161" y="1944"/>
                      <a:pt x="2159" y="1945"/>
                      <a:pt x="2158" y="1945"/>
                    </a:cubicBezTo>
                    <a:cubicBezTo>
                      <a:pt x="2157" y="1945"/>
                      <a:pt x="2155" y="1946"/>
                      <a:pt x="2155" y="1946"/>
                    </a:cubicBezTo>
                    <a:cubicBezTo>
                      <a:pt x="2154" y="1946"/>
                      <a:pt x="2153" y="1947"/>
                      <a:pt x="2153" y="1947"/>
                    </a:cubicBezTo>
                    <a:lnTo>
                      <a:pt x="2087" y="1989"/>
                    </a:lnTo>
                    <a:cubicBezTo>
                      <a:pt x="2085" y="1990"/>
                      <a:pt x="2085" y="1991"/>
                      <a:pt x="2084" y="1992"/>
                    </a:cubicBezTo>
                    <a:cubicBezTo>
                      <a:pt x="2083" y="1993"/>
                      <a:pt x="2083" y="1993"/>
                      <a:pt x="2082" y="1995"/>
                    </a:cubicBezTo>
                    <a:cubicBezTo>
                      <a:pt x="2082" y="1996"/>
                      <a:pt x="2081" y="1997"/>
                      <a:pt x="2081" y="1999"/>
                    </a:cubicBezTo>
                    <a:cubicBezTo>
                      <a:pt x="2080" y="2001"/>
                      <a:pt x="2081" y="2003"/>
                      <a:pt x="2081" y="2005"/>
                    </a:cubicBezTo>
                    <a:cubicBezTo>
                      <a:pt x="2081" y="2009"/>
                      <a:pt x="2081" y="2012"/>
                      <a:pt x="2081" y="2014"/>
                    </a:cubicBezTo>
                    <a:cubicBezTo>
                      <a:pt x="2082" y="2016"/>
                      <a:pt x="2082" y="2017"/>
                      <a:pt x="2083" y="2018"/>
                    </a:cubicBezTo>
                    <a:cubicBezTo>
                      <a:pt x="2084" y="2019"/>
                      <a:pt x="2086" y="2020"/>
                      <a:pt x="2088" y="2019"/>
                    </a:cubicBezTo>
                    <a:cubicBezTo>
                      <a:pt x="2089" y="2019"/>
                      <a:pt x="2091" y="2018"/>
                      <a:pt x="2094" y="2017"/>
                    </a:cubicBezTo>
                    <a:lnTo>
                      <a:pt x="2149" y="1984"/>
                    </a:lnTo>
                    <a:lnTo>
                      <a:pt x="2149" y="2201"/>
                    </a:lnTo>
                    <a:lnTo>
                      <a:pt x="2089" y="2201"/>
                    </a:lnTo>
                    <a:cubicBezTo>
                      <a:pt x="2088" y="2201"/>
                      <a:pt x="2088" y="2201"/>
                      <a:pt x="2087" y="2202"/>
                    </a:cubicBezTo>
                    <a:cubicBezTo>
                      <a:pt x="2086" y="2202"/>
                      <a:pt x="2085" y="2204"/>
                      <a:pt x="2084" y="2205"/>
                    </a:cubicBezTo>
                    <a:cubicBezTo>
                      <a:pt x="2083" y="2207"/>
                      <a:pt x="2083" y="2208"/>
                      <a:pt x="2082" y="2210"/>
                    </a:cubicBezTo>
                    <a:cubicBezTo>
                      <a:pt x="2082" y="2212"/>
                      <a:pt x="2081" y="2214"/>
                      <a:pt x="2081" y="2217"/>
                    </a:cubicBezTo>
                    <a:cubicBezTo>
                      <a:pt x="2081" y="2220"/>
                      <a:pt x="2082" y="2222"/>
                      <a:pt x="2082" y="2224"/>
                    </a:cubicBezTo>
                    <a:cubicBezTo>
                      <a:pt x="2083" y="2226"/>
                      <a:pt x="2083" y="2227"/>
                      <a:pt x="2084" y="2228"/>
                    </a:cubicBezTo>
                    <a:cubicBezTo>
                      <a:pt x="2085" y="2229"/>
                      <a:pt x="2086" y="2230"/>
                      <a:pt x="2087" y="2231"/>
                    </a:cubicBezTo>
                    <a:cubicBezTo>
                      <a:pt x="2088" y="2231"/>
                      <a:pt x="2088" y="2232"/>
                      <a:pt x="2089" y="2232"/>
                    </a:cubicBezTo>
                    <a:lnTo>
                      <a:pt x="2238" y="2232"/>
                    </a:lnTo>
                    <a:cubicBezTo>
                      <a:pt x="2239" y="2232"/>
                      <a:pt x="2241" y="2231"/>
                      <a:pt x="2242" y="2231"/>
                    </a:cubicBezTo>
                    <a:cubicBezTo>
                      <a:pt x="2243" y="2230"/>
                      <a:pt x="2244" y="2229"/>
                      <a:pt x="2245" y="2228"/>
                    </a:cubicBezTo>
                    <a:cubicBezTo>
                      <a:pt x="2245" y="2227"/>
                      <a:pt x="2246" y="2226"/>
                      <a:pt x="2246" y="2224"/>
                    </a:cubicBezTo>
                    <a:cubicBezTo>
                      <a:pt x="2247" y="2222"/>
                      <a:pt x="2246" y="2220"/>
                      <a:pt x="2246" y="2217"/>
                    </a:cubicBezTo>
                    <a:cubicBezTo>
                      <a:pt x="2246" y="2214"/>
                      <a:pt x="2247" y="2212"/>
                      <a:pt x="2246" y="2210"/>
                    </a:cubicBezTo>
                    <a:cubicBezTo>
                      <a:pt x="2246" y="2208"/>
                      <a:pt x="2245" y="2207"/>
                      <a:pt x="2245" y="2205"/>
                    </a:cubicBezTo>
                    <a:cubicBezTo>
                      <a:pt x="2244" y="2204"/>
                      <a:pt x="2243" y="2202"/>
                      <a:pt x="2242" y="2202"/>
                    </a:cubicBezTo>
                    <a:cubicBezTo>
                      <a:pt x="2241" y="2201"/>
                      <a:pt x="2240" y="2201"/>
                      <a:pt x="2238" y="2201"/>
                    </a:cubicBezTo>
                    <a:lnTo>
                      <a:pt x="2187" y="2201"/>
                    </a:lnTo>
                    <a:lnTo>
                      <a:pt x="2187" y="1950"/>
                    </a:lnTo>
                    <a:cubicBezTo>
                      <a:pt x="2187" y="1950"/>
                      <a:pt x="2187" y="1949"/>
                      <a:pt x="2186" y="1948"/>
                    </a:cubicBezTo>
                    <a:cubicBezTo>
                      <a:pt x="2186" y="1947"/>
                      <a:pt x="2185" y="1947"/>
                      <a:pt x="2184" y="1946"/>
                    </a:cubicBezTo>
                    <a:cubicBezTo>
                      <a:pt x="2182" y="1946"/>
                      <a:pt x="2181" y="1945"/>
                      <a:pt x="2178" y="1944"/>
                    </a:cubicBezTo>
                    <a:cubicBezTo>
                      <a:pt x="2176" y="1944"/>
                      <a:pt x="2173" y="1944"/>
                      <a:pt x="2170" y="1944"/>
                    </a:cubicBezTo>
                    <a:cubicBezTo>
                      <a:pt x="2167" y="1944"/>
                      <a:pt x="2164" y="1944"/>
                      <a:pt x="2163" y="1944"/>
                    </a:cubicBezTo>
                    <a:close/>
                    <a:moveTo>
                      <a:pt x="4227" y="1944"/>
                    </a:moveTo>
                    <a:cubicBezTo>
                      <a:pt x="4218" y="1944"/>
                      <a:pt x="4210" y="1945"/>
                      <a:pt x="4202" y="1947"/>
                    </a:cubicBezTo>
                    <a:cubicBezTo>
                      <a:pt x="4195" y="1949"/>
                      <a:pt x="4187" y="1951"/>
                      <a:pt x="4180" y="1953"/>
                    </a:cubicBezTo>
                    <a:cubicBezTo>
                      <a:pt x="4174" y="1956"/>
                      <a:pt x="4169" y="1958"/>
                      <a:pt x="4165" y="1961"/>
                    </a:cubicBezTo>
                    <a:cubicBezTo>
                      <a:pt x="4160" y="1964"/>
                      <a:pt x="4157" y="1966"/>
                      <a:pt x="4155" y="1967"/>
                    </a:cubicBezTo>
                    <a:cubicBezTo>
                      <a:pt x="4153" y="1969"/>
                      <a:pt x="4152" y="1971"/>
                      <a:pt x="4151" y="1972"/>
                    </a:cubicBezTo>
                    <a:cubicBezTo>
                      <a:pt x="4151" y="1973"/>
                      <a:pt x="4151" y="1973"/>
                      <a:pt x="4150" y="1974"/>
                    </a:cubicBezTo>
                    <a:cubicBezTo>
                      <a:pt x="4150" y="1975"/>
                      <a:pt x="4150" y="1977"/>
                      <a:pt x="4150" y="1979"/>
                    </a:cubicBezTo>
                    <a:cubicBezTo>
                      <a:pt x="4149" y="1980"/>
                      <a:pt x="4149" y="1983"/>
                      <a:pt x="4149" y="1985"/>
                    </a:cubicBezTo>
                    <a:cubicBezTo>
                      <a:pt x="4149" y="1988"/>
                      <a:pt x="4149" y="1991"/>
                      <a:pt x="4150" y="1993"/>
                    </a:cubicBezTo>
                    <a:cubicBezTo>
                      <a:pt x="4150" y="1995"/>
                      <a:pt x="4150" y="1997"/>
                      <a:pt x="4150" y="1998"/>
                    </a:cubicBezTo>
                    <a:cubicBezTo>
                      <a:pt x="4151" y="1999"/>
                      <a:pt x="4152" y="2000"/>
                      <a:pt x="4153" y="2001"/>
                    </a:cubicBezTo>
                    <a:cubicBezTo>
                      <a:pt x="4154" y="2001"/>
                      <a:pt x="4155" y="2002"/>
                      <a:pt x="4156" y="2002"/>
                    </a:cubicBezTo>
                    <a:cubicBezTo>
                      <a:pt x="4157" y="2002"/>
                      <a:pt x="4160" y="2001"/>
                      <a:pt x="4164" y="1998"/>
                    </a:cubicBezTo>
                    <a:cubicBezTo>
                      <a:pt x="4167" y="1996"/>
                      <a:pt x="4172" y="1992"/>
                      <a:pt x="4177" y="1989"/>
                    </a:cubicBezTo>
                    <a:cubicBezTo>
                      <a:pt x="4182" y="1986"/>
                      <a:pt x="4188" y="1984"/>
                      <a:pt x="4195" y="1981"/>
                    </a:cubicBezTo>
                    <a:cubicBezTo>
                      <a:pt x="4203" y="1979"/>
                      <a:pt x="4211" y="1978"/>
                      <a:pt x="4220" y="1978"/>
                    </a:cubicBezTo>
                    <a:cubicBezTo>
                      <a:pt x="4228" y="1978"/>
                      <a:pt x="4235" y="1979"/>
                      <a:pt x="4240" y="1981"/>
                    </a:cubicBezTo>
                    <a:cubicBezTo>
                      <a:pt x="4246" y="1984"/>
                      <a:pt x="4251" y="1988"/>
                      <a:pt x="4255" y="1992"/>
                    </a:cubicBezTo>
                    <a:cubicBezTo>
                      <a:pt x="4258" y="1996"/>
                      <a:pt x="4261" y="2000"/>
                      <a:pt x="4263" y="2006"/>
                    </a:cubicBezTo>
                    <a:cubicBezTo>
                      <a:pt x="4265" y="2012"/>
                      <a:pt x="4267" y="2018"/>
                      <a:pt x="4267" y="2025"/>
                    </a:cubicBezTo>
                    <a:cubicBezTo>
                      <a:pt x="4267" y="2031"/>
                      <a:pt x="4266" y="2038"/>
                      <a:pt x="4265" y="2045"/>
                    </a:cubicBezTo>
                    <a:cubicBezTo>
                      <a:pt x="4264" y="2052"/>
                      <a:pt x="4260" y="2060"/>
                      <a:pt x="4256" y="2069"/>
                    </a:cubicBezTo>
                    <a:cubicBezTo>
                      <a:pt x="4252" y="2077"/>
                      <a:pt x="4246" y="2087"/>
                      <a:pt x="4239" y="2098"/>
                    </a:cubicBezTo>
                    <a:cubicBezTo>
                      <a:pt x="4231" y="2108"/>
                      <a:pt x="4221" y="2121"/>
                      <a:pt x="4208" y="2135"/>
                    </a:cubicBezTo>
                    <a:lnTo>
                      <a:pt x="4152" y="2193"/>
                    </a:lnTo>
                    <a:cubicBezTo>
                      <a:pt x="4150" y="2195"/>
                      <a:pt x="4150" y="2197"/>
                      <a:pt x="4149" y="2198"/>
                    </a:cubicBezTo>
                    <a:cubicBezTo>
                      <a:pt x="4148" y="2200"/>
                      <a:pt x="4146" y="2202"/>
                      <a:pt x="4145" y="2204"/>
                    </a:cubicBezTo>
                    <a:cubicBezTo>
                      <a:pt x="4144" y="2205"/>
                      <a:pt x="4144" y="2208"/>
                      <a:pt x="4144" y="2210"/>
                    </a:cubicBezTo>
                    <a:cubicBezTo>
                      <a:pt x="4144" y="2212"/>
                      <a:pt x="4143" y="2214"/>
                      <a:pt x="4143" y="2217"/>
                    </a:cubicBezTo>
                    <a:cubicBezTo>
                      <a:pt x="4143" y="2220"/>
                      <a:pt x="4144" y="2223"/>
                      <a:pt x="4144" y="2226"/>
                    </a:cubicBezTo>
                    <a:cubicBezTo>
                      <a:pt x="4145" y="2228"/>
                      <a:pt x="4146" y="2229"/>
                      <a:pt x="4147" y="2230"/>
                    </a:cubicBezTo>
                    <a:cubicBezTo>
                      <a:pt x="4148" y="2231"/>
                      <a:pt x="4150" y="2232"/>
                      <a:pt x="4151" y="2233"/>
                    </a:cubicBezTo>
                    <a:cubicBezTo>
                      <a:pt x="4153" y="2233"/>
                      <a:pt x="4155" y="2234"/>
                      <a:pt x="4157" y="2234"/>
                    </a:cubicBezTo>
                    <a:lnTo>
                      <a:pt x="4314" y="2234"/>
                    </a:lnTo>
                    <a:cubicBezTo>
                      <a:pt x="4315" y="2234"/>
                      <a:pt x="4317" y="2233"/>
                      <a:pt x="4318" y="2233"/>
                    </a:cubicBezTo>
                    <a:cubicBezTo>
                      <a:pt x="4319" y="2232"/>
                      <a:pt x="4320" y="2231"/>
                      <a:pt x="4321" y="2229"/>
                    </a:cubicBezTo>
                    <a:cubicBezTo>
                      <a:pt x="4321" y="2228"/>
                      <a:pt x="4321" y="2227"/>
                      <a:pt x="4322" y="2225"/>
                    </a:cubicBezTo>
                    <a:cubicBezTo>
                      <a:pt x="4322" y="2223"/>
                      <a:pt x="4322" y="2220"/>
                      <a:pt x="4322" y="2218"/>
                    </a:cubicBezTo>
                    <a:cubicBezTo>
                      <a:pt x="4322" y="2215"/>
                      <a:pt x="4322" y="2213"/>
                      <a:pt x="4322" y="2211"/>
                    </a:cubicBezTo>
                    <a:cubicBezTo>
                      <a:pt x="4321" y="2209"/>
                      <a:pt x="4321" y="2207"/>
                      <a:pt x="4320" y="2205"/>
                    </a:cubicBezTo>
                    <a:cubicBezTo>
                      <a:pt x="4319" y="2204"/>
                      <a:pt x="4318" y="2203"/>
                      <a:pt x="4317" y="2203"/>
                    </a:cubicBezTo>
                    <a:cubicBezTo>
                      <a:pt x="4316" y="2202"/>
                      <a:pt x="4315" y="2202"/>
                      <a:pt x="4314" y="2202"/>
                    </a:cubicBezTo>
                    <a:lnTo>
                      <a:pt x="4189" y="2202"/>
                    </a:lnTo>
                    <a:lnTo>
                      <a:pt x="4235" y="2154"/>
                    </a:lnTo>
                    <a:cubicBezTo>
                      <a:pt x="4251" y="2137"/>
                      <a:pt x="4264" y="2123"/>
                      <a:pt x="4274" y="2110"/>
                    </a:cubicBezTo>
                    <a:cubicBezTo>
                      <a:pt x="4284" y="2097"/>
                      <a:pt x="4292" y="2085"/>
                      <a:pt x="4297" y="2075"/>
                    </a:cubicBezTo>
                    <a:cubicBezTo>
                      <a:pt x="4302" y="2064"/>
                      <a:pt x="4305" y="2055"/>
                      <a:pt x="4307" y="2046"/>
                    </a:cubicBezTo>
                    <a:cubicBezTo>
                      <a:pt x="4308" y="2037"/>
                      <a:pt x="4309" y="2027"/>
                      <a:pt x="4309" y="2018"/>
                    </a:cubicBezTo>
                    <a:cubicBezTo>
                      <a:pt x="4309" y="2008"/>
                      <a:pt x="4307" y="1998"/>
                      <a:pt x="4304" y="1989"/>
                    </a:cubicBezTo>
                    <a:cubicBezTo>
                      <a:pt x="4301" y="1980"/>
                      <a:pt x="4296" y="1973"/>
                      <a:pt x="4289" y="1966"/>
                    </a:cubicBezTo>
                    <a:cubicBezTo>
                      <a:pt x="4282" y="1960"/>
                      <a:pt x="4274" y="1953"/>
                      <a:pt x="4263" y="1950"/>
                    </a:cubicBezTo>
                    <a:cubicBezTo>
                      <a:pt x="4253" y="1946"/>
                      <a:pt x="4241" y="1944"/>
                      <a:pt x="4227" y="1944"/>
                    </a:cubicBezTo>
                    <a:close/>
                    <a:moveTo>
                      <a:pt x="5262" y="1944"/>
                    </a:moveTo>
                    <a:cubicBezTo>
                      <a:pt x="5253" y="1944"/>
                      <a:pt x="5245" y="1945"/>
                      <a:pt x="5237" y="1947"/>
                    </a:cubicBezTo>
                    <a:cubicBezTo>
                      <a:pt x="5229" y="1949"/>
                      <a:pt x="5221" y="1951"/>
                      <a:pt x="5215" y="1953"/>
                    </a:cubicBezTo>
                    <a:cubicBezTo>
                      <a:pt x="5208" y="1956"/>
                      <a:pt x="5203" y="1958"/>
                      <a:pt x="5199" y="1961"/>
                    </a:cubicBezTo>
                    <a:cubicBezTo>
                      <a:pt x="5195" y="1964"/>
                      <a:pt x="5192" y="1966"/>
                      <a:pt x="5190" y="1967"/>
                    </a:cubicBezTo>
                    <a:cubicBezTo>
                      <a:pt x="5188" y="1969"/>
                      <a:pt x="5187" y="1971"/>
                      <a:pt x="5187" y="1972"/>
                    </a:cubicBezTo>
                    <a:cubicBezTo>
                      <a:pt x="5186" y="1973"/>
                      <a:pt x="5185" y="1973"/>
                      <a:pt x="5185" y="1974"/>
                    </a:cubicBezTo>
                    <a:cubicBezTo>
                      <a:pt x="5185" y="1975"/>
                      <a:pt x="5184" y="1977"/>
                      <a:pt x="5184" y="1979"/>
                    </a:cubicBezTo>
                    <a:cubicBezTo>
                      <a:pt x="5184" y="1980"/>
                      <a:pt x="5184" y="1983"/>
                      <a:pt x="5184" y="1985"/>
                    </a:cubicBezTo>
                    <a:cubicBezTo>
                      <a:pt x="5184" y="1988"/>
                      <a:pt x="5184" y="1991"/>
                      <a:pt x="5184" y="1993"/>
                    </a:cubicBezTo>
                    <a:cubicBezTo>
                      <a:pt x="5184" y="1995"/>
                      <a:pt x="5185" y="1997"/>
                      <a:pt x="5186" y="1998"/>
                    </a:cubicBezTo>
                    <a:cubicBezTo>
                      <a:pt x="5186" y="1999"/>
                      <a:pt x="5187" y="2000"/>
                      <a:pt x="5188" y="2001"/>
                    </a:cubicBezTo>
                    <a:cubicBezTo>
                      <a:pt x="5188" y="2001"/>
                      <a:pt x="5189" y="2002"/>
                      <a:pt x="5190" y="2002"/>
                    </a:cubicBezTo>
                    <a:cubicBezTo>
                      <a:pt x="5192" y="2002"/>
                      <a:pt x="5195" y="2001"/>
                      <a:pt x="5198" y="1998"/>
                    </a:cubicBezTo>
                    <a:cubicBezTo>
                      <a:pt x="5202" y="1996"/>
                      <a:pt x="5206" y="1992"/>
                      <a:pt x="5211" y="1989"/>
                    </a:cubicBezTo>
                    <a:cubicBezTo>
                      <a:pt x="5217" y="1986"/>
                      <a:pt x="5224" y="1984"/>
                      <a:pt x="5231" y="1981"/>
                    </a:cubicBezTo>
                    <a:cubicBezTo>
                      <a:pt x="5238" y="1979"/>
                      <a:pt x="5246" y="1978"/>
                      <a:pt x="5255" y="1978"/>
                    </a:cubicBezTo>
                    <a:cubicBezTo>
                      <a:pt x="5262" y="1978"/>
                      <a:pt x="5269" y="1979"/>
                      <a:pt x="5275" y="1981"/>
                    </a:cubicBezTo>
                    <a:cubicBezTo>
                      <a:pt x="5281" y="1984"/>
                      <a:pt x="5286" y="1988"/>
                      <a:pt x="5290" y="1992"/>
                    </a:cubicBezTo>
                    <a:cubicBezTo>
                      <a:pt x="5294" y="1996"/>
                      <a:pt x="5297" y="2000"/>
                      <a:pt x="5299" y="2006"/>
                    </a:cubicBezTo>
                    <a:cubicBezTo>
                      <a:pt x="5301" y="2012"/>
                      <a:pt x="5301" y="2018"/>
                      <a:pt x="5301" y="2025"/>
                    </a:cubicBezTo>
                    <a:cubicBezTo>
                      <a:pt x="5301" y="2031"/>
                      <a:pt x="5301" y="2038"/>
                      <a:pt x="5300" y="2045"/>
                    </a:cubicBezTo>
                    <a:cubicBezTo>
                      <a:pt x="5298" y="2052"/>
                      <a:pt x="5296" y="2060"/>
                      <a:pt x="5292" y="2069"/>
                    </a:cubicBezTo>
                    <a:cubicBezTo>
                      <a:pt x="5287" y="2077"/>
                      <a:pt x="5281" y="2087"/>
                      <a:pt x="5273" y="2098"/>
                    </a:cubicBezTo>
                    <a:cubicBezTo>
                      <a:pt x="5265" y="2108"/>
                      <a:pt x="5256" y="2121"/>
                      <a:pt x="5243" y="2135"/>
                    </a:cubicBezTo>
                    <a:lnTo>
                      <a:pt x="5188" y="2193"/>
                    </a:lnTo>
                    <a:cubicBezTo>
                      <a:pt x="5186" y="2195"/>
                      <a:pt x="5184" y="2197"/>
                      <a:pt x="5183" y="2198"/>
                    </a:cubicBezTo>
                    <a:cubicBezTo>
                      <a:pt x="5182" y="2200"/>
                      <a:pt x="5181" y="2202"/>
                      <a:pt x="5181" y="2204"/>
                    </a:cubicBezTo>
                    <a:cubicBezTo>
                      <a:pt x="5180" y="2205"/>
                      <a:pt x="5179" y="2208"/>
                      <a:pt x="5179" y="2210"/>
                    </a:cubicBezTo>
                    <a:cubicBezTo>
                      <a:pt x="5179" y="2212"/>
                      <a:pt x="5179" y="2214"/>
                      <a:pt x="5179" y="2217"/>
                    </a:cubicBezTo>
                    <a:cubicBezTo>
                      <a:pt x="5179" y="2220"/>
                      <a:pt x="5179" y="2223"/>
                      <a:pt x="5180" y="2226"/>
                    </a:cubicBezTo>
                    <a:cubicBezTo>
                      <a:pt x="5180" y="2228"/>
                      <a:pt x="5180" y="2229"/>
                      <a:pt x="5181" y="2230"/>
                    </a:cubicBezTo>
                    <a:cubicBezTo>
                      <a:pt x="5183" y="2231"/>
                      <a:pt x="5184" y="2232"/>
                      <a:pt x="5186" y="2233"/>
                    </a:cubicBezTo>
                    <a:cubicBezTo>
                      <a:pt x="5187" y="2233"/>
                      <a:pt x="5189" y="2234"/>
                      <a:pt x="5191" y="2234"/>
                    </a:cubicBezTo>
                    <a:lnTo>
                      <a:pt x="5349" y="2234"/>
                    </a:lnTo>
                    <a:cubicBezTo>
                      <a:pt x="5350" y="2234"/>
                      <a:pt x="5351" y="2233"/>
                      <a:pt x="5353" y="2233"/>
                    </a:cubicBezTo>
                    <a:cubicBezTo>
                      <a:pt x="5354" y="2232"/>
                      <a:pt x="5355" y="2231"/>
                      <a:pt x="5355" y="2229"/>
                    </a:cubicBezTo>
                    <a:cubicBezTo>
                      <a:pt x="5356" y="2228"/>
                      <a:pt x="5357" y="2227"/>
                      <a:pt x="5357" y="2225"/>
                    </a:cubicBezTo>
                    <a:cubicBezTo>
                      <a:pt x="5357" y="2223"/>
                      <a:pt x="5357" y="2220"/>
                      <a:pt x="5357" y="2218"/>
                    </a:cubicBezTo>
                    <a:cubicBezTo>
                      <a:pt x="5357" y="2215"/>
                      <a:pt x="5357" y="2213"/>
                      <a:pt x="5357" y="2211"/>
                    </a:cubicBezTo>
                    <a:cubicBezTo>
                      <a:pt x="5357" y="2209"/>
                      <a:pt x="5356" y="2207"/>
                      <a:pt x="5355" y="2205"/>
                    </a:cubicBezTo>
                    <a:cubicBezTo>
                      <a:pt x="5354" y="2204"/>
                      <a:pt x="5353" y="2203"/>
                      <a:pt x="5352" y="2203"/>
                    </a:cubicBezTo>
                    <a:cubicBezTo>
                      <a:pt x="5351" y="2202"/>
                      <a:pt x="5350" y="2202"/>
                      <a:pt x="5349" y="2202"/>
                    </a:cubicBezTo>
                    <a:lnTo>
                      <a:pt x="5225" y="2202"/>
                    </a:lnTo>
                    <a:lnTo>
                      <a:pt x="5270" y="2154"/>
                    </a:lnTo>
                    <a:cubicBezTo>
                      <a:pt x="5286" y="2137"/>
                      <a:pt x="5299" y="2123"/>
                      <a:pt x="5309" y="2110"/>
                    </a:cubicBezTo>
                    <a:cubicBezTo>
                      <a:pt x="5319" y="2097"/>
                      <a:pt x="5326" y="2085"/>
                      <a:pt x="5331" y="2075"/>
                    </a:cubicBezTo>
                    <a:cubicBezTo>
                      <a:pt x="5337" y="2064"/>
                      <a:pt x="5340" y="2055"/>
                      <a:pt x="5342" y="2046"/>
                    </a:cubicBezTo>
                    <a:cubicBezTo>
                      <a:pt x="5344" y="2037"/>
                      <a:pt x="5345" y="2027"/>
                      <a:pt x="5345" y="2018"/>
                    </a:cubicBezTo>
                    <a:cubicBezTo>
                      <a:pt x="5345" y="2008"/>
                      <a:pt x="5343" y="1998"/>
                      <a:pt x="5339" y="1989"/>
                    </a:cubicBezTo>
                    <a:cubicBezTo>
                      <a:pt x="5336" y="1980"/>
                      <a:pt x="5330" y="1973"/>
                      <a:pt x="5323" y="1966"/>
                    </a:cubicBezTo>
                    <a:cubicBezTo>
                      <a:pt x="5317" y="1960"/>
                      <a:pt x="5308" y="1953"/>
                      <a:pt x="5298" y="1950"/>
                    </a:cubicBezTo>
                    <a:cubicBezTo>
                      <a:pt x="5287" y="1946"/>
                      <a:pt x="5275" y="1944"/>
                      <a:pt x="5262" y="1944"/>
                    </a:cubicBezTo>
                    <a:close/>
                    <a:moveTo>
                      <a:pt x="5491" y="1944"/>
                    </a:moveTo>
                    <a:cubicBezTo>
                      <a:pt x="5482" y="1944"/>
                      <a:pt x="5474" y="1945"/>
                      <a:pt x="5466" y="1947"/>
                    </a:cubicBezTo>
                    <a:cubicBezTo>
                      <a:pt x="5458" y="1949"/>
                      <a:pt x="5451" y="1951"/>
                      <a:pt x="5444" y="1953"/>
                    </a:cubicBezTo>
                    <a:cubicBezTo>
                      <a:pt x="5438" y="1956"/>
                      <a:pt x="5433" y="1958"/>
                      <a:pt x="5428" y="1961"/>
                    </a:cubicBezTo>
                    <a:cubicBezTo>
                      <a:pt x="5424" y="1964"/>
                      <a:pt x="5421" y="1966"/>
                      <a:pt x="5420" y="1967"/>
                    </a:cubicBezTo>
                    <a:cubicBezTo>
                      <a:pt x="5418" y="1969"/>
                      <a:pt x="5417" y="1971"/>
                      <a:pt x="5416" y="1972"/>
                    </a:cubicBezTo>
                    <a:cubicBezTo>
                      <a:pt x="5415" y="1973"/>
                      <a:pt x="5415" y="1973"/>
                      <a:pt x="5414" y="1974"/>
                    </a:cubicBezTo>
                    <a:cubicBezTo>
                      <a:pt x="5414" y="1975"/>
                      <a:pt x="5414" y="1977"/>
                      <a:pt x="5413" y="1979"/>
                    </a:cubicBezTo>
                    <a:cubicBezTo>
                      <a:pt x="5413" y="1980"/>
                      <a:pt x="5413" y="1983"/>
                      <a:pt x="5413" y="1985"/>
                    </a:cubicBezTo>
                    <a:cubicBezTo>
                      <a:pt x="5413" y="1988"/>
                      <a:pt x="5413" y="1991"/>
                      <a:pt x="5413" y="1993"/>
                    </a:cubicBezTo>
                    <a:cubicBezTo>
                      <a:pt x="5414" y="1995"/>
                      <a:pt x="5415" y="1997"/>
                      <a:pt x="5415" y="1998"/>
                    </a:cubicBezTo>
                    <a:cubicBezTo>
                      <a:pt x="5416" y="1999"/>
                      <a:pt x="5416" y="2000"/>
                      <a:pt x="5417" y="2001"/>
                    </a:cubicBezTo>
                    <a:cubicBezTo>
                      <a:pt x="5418" y="2001"/>
                      <a:pt x="5419" y="2002"/>
                      <a:pt x="5420" y="2002"/>
                    </a:cubicBezTo>
                    <a:cubicBezTo>
                      <a:pt x="5421" y="2002"/>
                      <a:pt x="5424" y="2001"/>
                      <a:pt x="5427" y="1998"/>
                    </a:cubicBezTo>
                    <a:cubicBezTo>
                      <a:pt x="5431" y="1996"/>
                      <a:pt x="5435" y="1992"/>
                      <a:pt x="5441" y="1989"/>
                    </a:cubicBezTo>
                    <a:cubicBezTo>
                      <a:pt x="5446" y="1986"/>
                      <a:pt x="5453" y="1984"/>
                      <a:pt x="5460" y="1981"/>
                    </a:cubicBezTo>
                    <a:cubicBezTo>
                      <a:pt x="5467" y="1979"/>
                      <a:pt x="5475" y="1978"/>
                      <a:pt x="5484" y="1978"/>
                    </a:cubicBezTo>
                    <a:cubicBezTo>
                      <a:pt x="5492" y="1978"/>
                      <a:pt x="5498" y="1979"/>
                      <a:pt x="5504" y="1981"/>
                    </a:cubicBezTo>
                    <a:cubicBezTo>
                      <a:pt x="5510" y="1984"/>
                      <a:pt x="5515" y="1988"/>
                      <a:pt x="5519" y="1992"/>
                    </a:cubicBezTo>
                    <a:cubicBezTo>
                      <a:pt x="5523" y="1996"/>
                      <a:pt x="5526" y="2000"/>
                      <a:pt x="5528" y="2006"/>
                    </a:cubicBezTo>
                    <a:cubicBezTo>
                      <a:pt x="5530" y="2012"/>
                      <a:pt x="5531" y="2018"/>
                      <a:pt x="5531" y="2025"/>
                    </a:cubicBezTo>
                    <a:cubicBezTo>
                      <a:pt x="5531" y="2031"/>
                      <a:pt x="5530" y="2038"/>
                      <a:pt x="5529" y="2045"/>
                    </a:cubicBezTo>
                    <a:cubicBezTo>
                      <a:pt x="5528" y="2052"/>
                      <a:pt x="5525" y="2060"/>
                      <a:pt x="5521" y="2069"/>
                    </a:cubicBezTo>
                    <a:cubicBezTo>
                      <a:pt x="5517" y="2077"/>
                      <a:pt x="5510" y="2087"/>
                      <a:pt x="5502" y="2098"/>
                    </a:cubicBezTo>
                    <a:cubicBezTo>
                      <a:pt x="5495" y="2108"/>
                      <a:pt x="5485" y="2121"/>
                      <a:pt x="5472" y="2135"/>
                    </a:cubicBezTo>
                    <a:lnTo>
                      <a:pt x="5417" y="2193"/>
                    </a:lnTo>
                    <a:cubicBezTo>
                      <a:pt x="5415" y="2195"/>
                      <a:pt x="5414" y="2197"/>
                      <a:pt x="5412" y="2198"/>
                    </a:cubicBezTo>
                    <a:cubicBezTo>
                      <a:pt x="5411" y="2200"/>
                      <a:pt x="5411" y="2202"/>
                      <a:pt x="5410" y="2204"/>
                    </a:cubicBezTo>
                    <a:cubicBezTo>
                      <a:pt x="5409" y="2205"/>
                      <a:pt x="5408" y="2208"/>
                      <a:pt x="5408" y="2210"/>
                    </a:cubicBezTo>
                    <a:cubicBezTo>
                      <a:pt x="5408" y="2212"/>
                      <a:pt x="5408" y="2214"/>
                      <a:pt x="5408" y="2217"/>
                    </a:cubicBezTo>
                    <a:cubicBezTo>
                      <a:pt x="5408" y="2220"/>
                      <a:pt x="5408" y="2223"/>
                      <a:pt x="5409" y="2226"/>
                    </a:cubicBezTo>
                    <a:cubicBezTo>
                      <a:pt x="5409" y="2228"/>
                      <a:pt x="5410" y="2229"/>
                      <a:pt x="5411" y="2230"/>
                    </a:cubicBezTo>
                    <a:cubicBezTo>
                      <a:pt x="5412" y="2231"/>
                      <a:pt x="5414" y="2232"/>
                      <a:pt x="5415" y="2233"/>
                    </a:cubicBezTo>
                    <a:cubicBezTo>
                      <a:pt x="5417" y="2233"/>
                      <a:pt x="5418" y="2234"/>
                      <a:pt x="5420" y="2234"/>
                    </a:cubicBezTo>
                    <a:lnTo>
                      <a:pt x="5578" y="2234"/>
                    </a:lnTo>
                    <a:cubicBezTo>
                      <a:pt x="5580" y="2234"/>
                      <a:pt x="5581" y="2233"/>
                      <a:pt x="5582" y="2233"/>
                    </a:cubicBezTo>
                    <a:cubicBezTo>
                      <a:pt x="5583" y="2232"/>
                      <a:pt x="5584" y="2231"/>
                      <a:pt x="5584" y="2229"/>
                    </a:cubicBezTo>
                    <a:cubicBezTo>
                      <a:pt x="5585" y="2228"/>
                      <a:pt x="5586" y="2227"/>
                      <a:pt x="5586" y="2225"/>
                    </a:cubicBezTo>
                    <a:cubicBezTo>
                      <a:pt x="5587" y="2223"/>
                      <a:pt x="5586" y="2220"/>
                      <a:pt x="5586" y="2218"/>
                    </a:cubicBezTo>
                    <a:cubicBezTo>
                      <a:pt x="5586" y="2215"/>
                      <a:pt x="5587" y="2213"/>
                      <a:pt x="5586" y="2211"/>
                    </a:cubicBezTo>
                    <a:cubicBezTo>
                      <a:pt x="5586" y="2209"/>
                      <a:pt x="5585" y="2207"/>
                      <a:pt x="5584" y="2205"/>
                    </a:cubicBezTo>
                    <a:cubicBezTo>
                      <a:pt x="5584" y="2204"/>
                      <a:pt x="5582" y="2203"/>
                      <a:pt x="5581" y="2203"/>
                    </a:cubicBezTo>
                    <a:cubicBezTo>
                      <a:pt x="5580" y="2202"/>
                      <a:pt x="5579" y="2202"/>
                      <a:pt x="5578" y="2202"/>
                    </a:cubicBezTo>
                    <a:lnTo>
                      <a:pt x="5454" y="2202"/>
                    </a:lnTo>
                    <a:lnTo>
                      <a:pt x="5499" y="2154"/>
                    </a:lnTo>
                    <a:cubicBezTo>
                      <a:pt x="5515" y="2137"/>
                      <a:pt x="5529" y="2123"/>
                      <a:pt x="5539" y="2110"/>
                    </a:cubicBezTo>
                    <a:cubicBezTo>
                      <a:pt x="5548" y="2097"/>
                      <a:pt x="5555" y="2085"/>
                      <a:pt x="5561" y="2075"/>
                    </a:cubicBezTo>
                    <a:cubicBezTo>
                      <a:pt x="5566" y="2064"/>
                      <a:pt x="5570" y="2055"/>
                      <a:pt x="5571" y="2046"/>
                    </a:cubicBezTo>
                    <a:cubicBezTo>
                      <a:pt x="5573" y="2037"/>
                      <a:pt x="5574" y="2027"/>
                      <a:pt x="5574" y="2018"/>
                    </a:cubicBezTo>
                    <a:cubicBezTo>
                      <a:pt x="5574" y="2008"/>
                      <a:pt x="5572" y="1998"/>
                      <a:pt x="5569" y="1989"/>
                    </a:cubicBezTo>
                    <a:cubicBezTo>
                      <a:pt x="5565" y="1980"/>
                      <a:pt x="5560" y="1973"/>
                      <a:pt x="5553" y="1966"/>
                    </a:cubicBezTo>
                    <a:cubicBezTo>
                      <a:pt x="5546" y="1960"/>
                      <a:pt x="5538" y="1953"/>
                      <a:pt x="5527" y="1950"/>
                    </a:cubicBezTo>
                    <a:cubicBezTo>
                      <a:pt x="5517" y="1946"/>
                      <a:pt x="5505" y="1944"/>
                      <a:pt x="5491" y="1944"/>
                    </a:cubicBezTo>
                    <a:close/>
                    <a:moveTo>
                      <a:pt x="4469" y="1946"/>
                    </a:moveTo>
                    <a:cubicBezTo>
                      <a:pt x="4467" y="1946"/>
                      <a:pt x="4465" y="1947"/>
                      <a:pt x="4464" y="1947"/>
                    </a:cubicBezTo>
                    <a:cubicBezTo>
                      <a:pt x="4462" y="1947"/>
                      <a:pt x="4462" y="1948"/>
                      <a:pt x="4461" y="1948"/>
                    </a:cubicBezTo>
                    <a:cubicBezTo>
                      <a:pt x="4460" y="1948"/>
                      <a:pt x="4459" y="1948"/>
                      <a:pt x="4458" y="1949"/>
                    </a:cubicBezTo>
                    <a:lnTo>
                      <a:pt x="4393" y="1991"/>
                    </a:lnTo>
                    <a:cubicBezTo>
                      <a:pt x="4392" y="1992"/>
                      <a:pt x="4390" y="1993"/>
                      <a:pt x="4389" y="1994"/>
                    </a:cubicBezTo>
                    <a:cubicBezTo>
                      <a:pt x="4389" y="1995"/>
                      <a:pt x="4388" y="1996"/>
                      <a:pt x="4388" y="1997"/>
                    </a:cubicBezTo>
                    <a:cubicBezTo>
                      <a:pt x="4387" y="1998"/>
                      <a:pt x="4387" y="2000"/>
                      <a:pt x="4387" y="2002"/>
                    </a:cubicBezTo>
                    <a:cubicBezTo>
                      <a:pt x="4387" y="2003"/>
                      <a:pt x="4386" y="2005"/>
                      <a:pt x="4386" y="2008"/>
                    </a:cubicBezTo>
                    <a:cubicBezTo>
                      <a:pt x="4386" y="2011"/>
                      <a:pt x="4386" y="2014"/>
                      <a:pt x="4387" y="2016"/>
                    </a:cubicBezTo>
                    <a:cubicBezTo>
                      <a:pt x="4387" y="2018"/>
                      <a:pt x="4388" y="2020"/>
                      <a:pt x="4389" y="2021"/>
                    </a:cubicBezTo>
                    <a:cubicBezTo>
                      <a:pt x="4390" y="2022"/>
                      <a:pt x="4391" y="2022"/>
                      <a:pt x="4393" y="2022"/>
                    </a:cubicBezTo>
                    <a:cubicBezTo>
                      <a:pt x="4395" y="2022"/>
                      <a:pt x="4397" y="2021"/>
                      <a:pt x="4400" y="2019"/>
                    </a:cubicBezTo>
                    <a:lnTo>
                      <a:pt x="4455" y="1987"/>
                    </a:lnTo>
                    <a:lnTo>
                      <a:pt x="4455" y="2204"/>
                    </a:lnTo>
                    <a:lnTo>
                      <a:pt x="4396" y="2204"/>
                    </a:lnTo>
                    <a:cubicBezTo>
                      <a:pt x="4394" y="2204"/>
                      <a:pt x="4393" y="2204"/>
                      <a:pt x="4392" y="2204"/>
                    </a:cubicBezTo>
                    <a:cubicBezTo>
                      <a:pt x="4391" y="2205"/>
                      <a:pt x="4390" y="2206"/>
                      <a:pt x="4389" y="2207"/>
                    </a:cubicBezTo>
                    <a:cubicBezTo>
                      <a:pt x="4389" y="2208"/>
                      <a:pt x="4388" y="2210"/>
                      <a:pt x="4388" y="2212"/>
                    </a:cubicBezTo>
                    <a:cubicBezTo>
                      <a:pt x="4387" y="2213"/>
                      <a:pt x="4388" y="2216"/>
                      <a:pt x="4388" y="2219"/>
                    </a:cubicBezTo>
                    <a:cubicBezTo>
                      <a:pt x="4388" y="2221"/>
                      <a:pt x="4387" y="2224"/>
                      <a:pt x="4388" y="2226"/>
                    </a:cubicBezTo>
                    <a:cubicBezTo>
                      <a:pt x="4388" y="2228"/>
                      <a:pt x="4390" y="2229"/>
                      <a:pt x="4390" y="2230"/>
                    </a:cubicBezTo>
                    <a:cubicBezTo>
                      <a:pt x="4391" y="2231"/>
                      <a:pt x="4391" y="2232"/>
                      <a:pt x="4392" y="2233"/>
                    </a:cubicBezTo>
                    <a:cubicBezTo>
                      <a:pt x="4393" y="2233"/>
                      <a:pt x="4395" y="2234"/>
                      <a:pt x="4396" y="2234"/>
                    </a:cubicBezTo>
                    <a:lnTo>
                      <a:pt x="4545" y="2234"/>
                    </a:lnTo>
                    <a:cubicBezTo>
                      <a:pt x="4546" y="2234"/>
                      <a:pt x="4546" y="2233"/>
                      <a:pt x="4547" y="2233"/>
                    </a:cubicBezTo>
                    <a:cubicBezTo>
                      <a:pt x="4548" y="2232"/>
                      <a:pt x="4549" y="2231"/>
                      <a:pt x="4550" y="2230"/>
                    </a:cubicBezTo>
                    <a:cubicBezTo>
                      <a:pt x="4551" y="2229"/>
                      <a:pt x="4551" y="2228"/>
                      <a:pt x="4552" y="2226"/>
                    </a:cubicBezTo>
                    <a:cubicBezTo>
                      <a:pt x="4552" y="2224"/>
                      <a:pt x="4553" y="2221"/>
                      <a:pt x="4553" y="2219"/>
                    </a:cubicBezTo>
                    <a:cubicBezTo>
                      <a:pt x="4553" y="2216"/>
                      <a:pt x="4552" y="2213"/>
                      <a:pt x="4552" y="2212"/>
                    </a:cubicBezTo>
                    <a:cubicBezTo>
                      <a:pt x="4551" y="2210"/>
                      <a:pt x="4551" y="2208"/>
                      <a:pt x="4550" y="2207"/>
                    </a:cubicBezTo>
                    <a:cubicBezTo>
                      <a:pt x="4549" y="2206"/>
                      <a:pt x="4548" y="2205"/>
                      <a:pt x="4547" y="2204"/>
                    </a:cubicBezTo>
                    <a:cubicBezTo>
                      <a:pt x="4546" y="2204"/>
                      <a:pt x="4546" y="2204"/>
                      <a:pt x="4545" y="2204"/>
                    </a:cubicBezTo>
                    <a:lnTo>
                      <a:pt x="4493" y="2204"/>
                    </a:lnTo>
                    <a:lnTo>
                      <a:pt x="4493" y="1952"/>
                    </a:lnTo>
                    <a:cubicBezTo>
                      <a:pt x="4493" y="1951"/>
                      <a:pt x="4492" y="1950"/>
                      <a:pt x="4492" y="1950"/>
                    </a:cubicBezTo>
                    <a:cubicBezTo>
                      <a:pt x="4491" y="1949"/>
                      <a:pt x="4490" y="1948"/>
                      <a:pt x="4489" y="1948"/>
                    </a:cubicBezTo>
                    <a:cubicBezTo>
                      <a:pt x="4488" y="1947"/>
                      <a:pt x="4486" y="1947"/>
                      <a:pt x="4484" y="1947"/>
                    </a:cubicBezTo>
                    <a:cubicBezTo>
                      <a:pt x="4481" y="1947"/>
                      <a:pt x="4479" y="1946"/>
                      <a:pt x="4475" y="1946"/>
                    </a:cubicBezTo>
                    <a:cubicBezTo>
                      <a:pt x="4472" y="1946"/>
                      <a:pt x="4471" y="1946"/>
                      <a:pt x="4469" y="1946"/>
                    </a:cubicBezTo>
                    <a:close/>
                    <a:moveTo>
                      <a:pt x="232" y="1947"/>
                    </a:moveTo>
                    <a:cubicBezTo>
                      <a:pt x="231" y="1947"/>
                      <a:pt x="229" y="1947"/>
                      <a:pt x="228" y="1948"/>
                    </a:cubicBezTo>
                    <a:cubicBezTo>
                      <a:pt x="227" y="1948"/>
                      <a:pt x="227" y="1949"/>
                      <a:pt x="226" y="1950"/>
                    </a:cubicBezTo>
                    <a:cubicBezTo>
                      <a:pt x="225" y="1952"/>
                      <a:pt x="224" y="1954"/>
                      <a:pt x="224" y="1956"/>
                    </a:cubicBezTo>
                    <a:cubicBezTo>
                      <a:pt x="224" y="1958"/>
                      <a:pt x="223" y="1960"/>
                      <a:pt x="223" y="1963"/>
                    </a:cubicBezTo>
                    <a:cubicBezTo>
                      <a:pt x="223" y="1968"/>
                      <a:pt x="224" y="1972"/>
                      <a:pt x="226" y="1975"/>
                    </a:cubicBezTo>
                    <a:cubicBezTo>
                      <a:pt x="227" y="1978"/>
                      <a:pt x="229" y="1980"/>
                      <a:pt x="232" y="1980"/>
                    </a:cubicBezTo>
                    <a:lnTo>
                      <a:pt x="369" y="1980"/>
                    </a:lnTo>
                    <a:lnTo>
                      <a:pt x="261" y="2222"/>
                    </a:lnTo>
                    <a:cubicBezTo>
                      <a:pt x="260" y="2224"/>
                      <a:pt x="259" y="2225"/>
                      <a:pt x="259" y="2227"/>
                    </a:cubicBezTo>
                    <a:cubicBezTo>
                      <a:pt x="259" y="2228"/>
                      <a:pt x="260" y="2229"/>
                      <a:pt x="261" y="2230"/>
                    </a:cubicBezTo>
                    <a:cubicBezTo>
                      <a:pt x="262" y="2231"/>
                      <a:pt x="264" y="2232"/>
                      <a:pt x="266" y="2233"/>
                    </a:cubicBezTo>
                    <a:cubicBezTo>
                      <a:pt x="269" y="2233"/>
                      <a:pt x="274" y="2234"/>
                      <a:pt x="279" y="2234"/>
                    </a:cubicBezTo>
                    <a:cubicBezTo>
                      <a:pt x="283" y="2234"/>
                      <a:pt x="286" y="2233"/>
                      <a:pt x="288" y="2233"/>
                    </a:cubicBezTo>
                    <a:cubicBezTo>
                      <a:pt x="291" y="2232"/>
                      <a:pt x="293" y="2232"/>
                      <a:pt x="295" y="2232"/>
                    </a:cubicBezTo>
                    <a:cubicBezTo>
                      <a:pt x="296" y="2231"/>
                      <a:pt x="298" y="2230"/>
                      <a:pt x="299" y="2229"/>
                    </a:cubicBezTo>
                    <a:cubicBezTo>
                      <a:pt x="300" y="2228"/>
                      <a:pt x="301" y="2227"/>
                      <a:pt x="302" y="2225"/>
                    </a:cubicBezTo>
                    <a:lnTo>
                      <a:pt x="404" y="1988"/>
                    </a:lnTo>
                    <a:cubicBezTo>
                      <a:pt x="405" y="1985"/>
                      <a:pt x="406" y="1984"/>
                      <a:pt x="407" y="1982"/>
                    </a:cubicBezTo>
                    <a:cubicBezTo>
                      <a:pt x="407" y="1980"/>
                      <a:pt x="408" y="1978"/>
                      <a:pt x="408" y="1976"/>
                    </a:cubicBezTo>
                    <a:cubicBezTo>
                      <a:pt x="409" y="1974"/>
                      <a:pt x="409" y="1972"/>
                      <a:pt x="409" y="1970"/>
                    </a:cubicBezTo>
                    <a:cubicBezTo>
                      <a:pt x="409" y="1968"/>
                      <a:pt x="409" y="1965"/>
                      <a:pt x="409" y="1963"/>
                    </a:cubicBezTo>
                    <a:cubicBezTo>
                      <a:pt x="409" y="1960"/>
                      <a:pt x="409" y="1957"/>
                      <a:pt x="408" y="1955"/>
                    </a:cubicBezTo>
                    <a:cubicBezTo>
                      <a:pt x="408" y="1953"/>
                      <a:pt x="407" y="1951"/>
                      <a:pt x="407" y="1950"/>
                    </a:cubicBezTo>
                    <a:cubicBezTo>
                      <a:pt x="406" y="1948"/>
                      <a:pt x="405" y="1947"/>
                      <a:pt x="403" y="1947"/>
                    </a:cubicBezTo>
                    <a:cubicBezTo>
                      <a:pt x="402" y="1947"/>
                      <a:pt x="400" y="1947"/>
                      <a:pt x="398" y="1947"/>
                    </a:cubicBezTo>
                    <a:lnTo>
                      <a:pt x="232" y="1947"/>
                    </a:lnTo>
                    <a:close/>
                    <a:moveTo>
                      <a:pt x="1348" y="1972"/>
                    </a:moveTo>
                    <a:cubicBezTo>
                      <a:pt x="1356" y="1972"/>
                      <a:pt x="1364" y="1972"/>
                      <a:pt x="1370" y="1974"/>
                    </a:cubicBezTo>
                    <a:cubicBezTo>
                      <a:pt x="1376" y="1976"/>
                      <a:pt x="1381" y="1979"/>
                      <a:pt x="1385" y="1982"/>
                    </a:cubicBezTo>
                    <a:cubicBezTo>
                      <a:pt x="1389" y="1986"/>
                      <a:pt x="1392" y="1990"/>
                      <a:pt x="1394" y="1995"/>
                    </a:cubicBezTo>
                    <a:cubicBezTo>
                      <a:pt x="1396" y="2000"/>
                      <a:pt x="1398" y="2006"/>
                      <a:pt x="1398" y="2012"/>
                    </a:cubicBezTo>
                    <a:cubicBezTo>
                      <a:pt x="1398" y="2023"/>
                      <a:pt x="1393" y="2033"/>
                      <a:pt x="1386" y="2042"/>
                    </a:cubicBezTo>
                    <a:cubicBezTo>
                      <a:pt x="1378" y="2051"/>
                      <a:pt x="1366" y="2060"/>
                      <a:pt x="1351" y="2068"/>
                    </a:cubicBezTo>
                    <a:cubicBezTo>
                      <a:pt x="1342" y="2063"/>
                      <a:pt x="1335" y="2059"/>
                      <a:pt x="1328" y="2055"/>
                    </a:cubicBezTo>
                    <a:cubicBezTo>
                      <a:pt x="1322" y="2050"/>
                      <a:pt x="1317" y="2047"/>
                      <a:pt x="1312" y="2042"/>
                    </a:cubicBezTo>
                    <a:cubicBezTo>
                      <a:pt x="1308" y="2038"/>
                      <a:pt x="1305" y="2033"/>
                      <a:pt x="1304" y="2028"/>
                    </a:cubicBezTo>
                    <a:cubicBezTo>
                      <a:pt x="1302" y="2023"/>
                      <a:pt x="1301" y="2018"/>
                      <a:pt x="1301" y="2012"/>
                    </a:cubicBezTo>
                    <a:cubicBezTo>
                      <a:pt x="1301" y="2000"/>
                      <a:pt x="1304" y="1989"/>
                      <a:pt x="1312" y="1982"/>
                    </a:cubicBezTo>
                    <a:cubicBezTo>
                      <a:pt x="1320" y="1975"/>
                      <a:pt x="1333" y="1972"/>
                      <a:pt x="1348" y="1972"/>
                    </a:cubicBezTo>
                    <a:close/>
                    <a:moveTo>
                      <a:pt x="2382" y="1973"/>
                    </a:moveTo>
                    <a:cubicBezTo>
                      <a:pt x="2391" y="1973"/>
                      <a:pt x="2399" y="1974"/>
                      <a:pt x="2406" y="1978"/>
                    </a:cubicBezTo>
                    <a:cubicBezTo>
                      <a:pt x="2413" y="1981"/>
                      <a:pt x="2420" y="1987"/>
                      <a:pt x="2424" y="1995"/>
                    </a:cubicBezTo>
                    <a:cubicBezTo>
                      <a:pt x="2429" y="2003"/>
                      <a:pt x="2433" y="2013"/>
                      <a:pt x="2435" y="2026"/>
                    </a:cubicBezTo>
                    <a:cubicBezTo>
                      <a:pt x="2438" y="2039"/>
                      <a:pt x="2439" y="2054"/>
                      <a:pt x="2439" y="2073"/>
                    </a:cubicBezTo>
                    <a:cubicBezTo>
                      <a:pt x="2431" y="2078"/>
                      <a:pt x="2422" y="2083"/>
                      <a:pt x="2412" y="2086"/>
                    </a:cubicBezTo>
                    <a:cubicBezTo>
                      <a:pt x="2402" y="2090"/>
                      <a:pt x="2391" y="2092"/>
                      <a:pt x="2380" y="2092"/>
                    </a:cubicBezTo>
                    <a:cubicBezTo>
                      <a:pt x="2371" y="2092"/>
                      <a:pt x="2362" y="2090"/>
                      <a:pt x="2356" y="2087"/>
                    </a:cubicBezTo>
                    <a:cubicBezTo>
                      <a:pt x="2349" y="2084"/>
                      <a:pt x="2344" y="2081"/>
                      <a:pt x="2340" y="2076"/>
                    </a:cubicBezTo>
                    <a:cubicBezTo>
                      <a:pt x="2336" y="2071"/>
                      <a:pt x="2333" y="2064"/>
                      <a:pt x="2331" y="2057"/>
                    </a:cubicBezTo>
                    <a:cubicBezTo>
                      <a:pt x="2329" y="2050"/>
                      <a:pt x="2328" y="2042"/>
                      <a:pt x="2328" y="2033"/>
                    </a:cubicBezTo>
                    <a:cubicBezTo>
                      <a:pt x="2328" y="2026"/>
                      <a:pt x="2329" y="2019"/>
                      <a:pt x="2331" y="2011"/>
                    </a:cubicBezTo>
                    <a:cubicBezTo>
                      <a:pt x="2333" y="2004"/>
                      <a:pt x="2336" y="1997"/>
                      <a:pt x="2341" y="1991"/>
                    </a:cubicBezTo>
                    <a:cubicBezTo>
                      <a:pt x="2345" y="1985"/>
                      <a:pt x="2351" y="1981"/>
                      <a:pt x="2357" y="1978"/>
                    </a:cubicBezTo>
                    <a:cubicBezTo>
                      <a:pt x="2364" y="1974"/>
                      <a:pt x="2373" y="1973"/>
                      <a:pt x="2382" y="1973"/>
                    </a:cubicBezTo>
                    <a:close/>
                    <a:moveTo>
                      <a:pt x="3424" y="1973"/>
                    </a:moveTo>
                    <a:cubicBezTo>
                      <a:pt x="3431" y="1973"/>
                      <a:pt x="3437" y="1974"/>
                      <a:pt x="3443" y="1976"/>
                    </a:cubicBezTo>
                    <a:cubicBezTo>
                      <a:pt x="3449" y="1978"/>
                      <a:pt x="3454" y="1981"/>
                      <a:pt x="3458" y="1985"/>
                    </a:cubicBezTo>
                    <a:cubicBezTo>
                      <a:pt x="3463" y="1989"/>
                      <a:pt x="3466" y="1994"/>
                      <a:pt x="3470" y="2000"/>
                    </a:cubicBezTo>
                    <a:cubicBezTo>
                      <a:pt x="3473" y="2006"/>
                      <a:pt x="3476" y="2014"/>
                      <a:pt x="3478" y="2023"/>
                    </a:cubicBezTo>
                    <a:cubicBezTo>
                      <a:pt x="3479" y="2031"/>
                      <a:pt x="3481" y="2041"/>
                      <a:pt x="3482" y="2053"/>
                    </a:cubicBezTo>
                    <a:cubicBezTo>
                      <a:pt x="3483" y="2064"/>
                      <a:pt x="3484" y="2076"/>
                      <a:pt x="3484" y="2091"/>
                    </a:cubicBezTo>
                    <a:cubicBezTo>
                      <a:pt x="3484" y="2101"/>
                      <a:pt x="3483" y="2112"/>
                      <a:pt x="3483" y="2122"/>
                    </a:cubicBezTo>
                    <a:cubicBezTo>
                      <a:pt x="3482" y="2131"/>
                      <a:pt x="3480" y="2141"/>
                      <a:pt x="3478" y="2149"/>
                    </a:cubicBezTo>
                    <a:cubicBezTo>
                      <a:pt x="3477" y="2157"/>
                      <a:pt x="3474" y="2165"/>
                      <a:pt x="3471" y="2172"/>
                    </a:cubicBezTo>
                    <a:cubicBezTo>
                      <a:pt x="3468" y="2179"/>
                      <a:pt x="3465" y="2185"/>
                      <a:pt x="3461" y="2189"/>
                    </a:cubicBezTo>
                    <a:cubicBezTo>
                      <a:pt x="3456" y="2194"/>
                      <a:pt x="3451" y="2198"/>
                      <a:pt x="3445" y="2201"/>
                    </a:cubicBezTo>
                    <a:cubicBezTo>
                      <a:pt x="3439" y="2204"/>
                      <a:pt x="3431" y="2204"/>
                      <a:pt x="3423" y="2204"/>
                    </a:cubicBezTo>
                    <a:cubicBezTo>
                      <a:pt x="3412" y="2204"/>
                      <a:pt x="3403" y="2203"/>
                      <a:pt x="3395" y="2198"/>
                    </a:cubicBezTo>
                    <a:cubicBezTo>
                      <a:pt x="3388" y="2194"/>
                      <a:pt x="3383" y="2187"/>
                      <a:pt x="3378" y="2178"/>
                    </a:cubicBezTo>
                    <a:cubicBezTo>
                      <a:pt x="3373" y="2169"/>
                      <a:pt x="3369" y="2156"/>
                      <a:pt x="3367" y="2141"/>
                    </a:cubicBezTo>
                    <a:cubicBezTo>
                      <a:pt x="3365" y="2126"/>
                      <a:pt x="3364" y="2108"/>
                      <a:pt x="3364" y="2087"/>
                    </a:cubicBezTo>
                    <a:cubicBezTo>
                      <a:pt x="3364" y="2071"/>
                      <a:pt x="3365" y="2056"/>
                      <a:pt x="3366" y="2042"/>
                    </a:cubicBezTo>
                    <a:cubicBezTo>
                      <a:pt x="3368" y="2028"/>
                      <a:pt x="3371" y="2016"/>
                      <a:pt x="3375" y="2006"/>
                    </a:cubicBezTo>
                    <a:cubicBezTo>
                      <a:pt x="3380" y="1996"/>
                      <a:pt x="3386" y="1988"/>
                      <a:pt x="3394" y="1982"/>
                    </a:cubicBezTo>
                    <a:cubicBezTo>
                      <a:pt x="3402" y="1976"/>
                      <a:pt x="3411" y="1973"/>
                      <a:pt x="3424" y="1973"/>
                    </a:cubicBezTo>
                    <a:close/>
                    <a:moveTo>
                      <a:pt x="1347" y="2100"/>
                    </a:moveTo>
                    <a:cubicBezTo>
                      <a:pt x="1357" y="2105"/>
                      <a:pt x="1365" y="2110"/>
                      <a:pt x="1372" y="2115"/>
                    </a:cubicBezTo>
                    <a:cubicBezTo>
                      <a:pt x="1380" y="2119"/>
                      <a:pt x="1387" y="2124"/>
                      <a:pt x="1392" y="2129"/>
                    </a:cubicBezTo>
                    <a:cubicBezTo>
                      <a:pt x="1397" y="2133"/>
                      <a:pt x="1401" y="2138"/>
                      <a:pt x="1403" y="2144"/>
                    </a:cubicBezTo>
                    <a:cubicBezTo>
                      <a:pt x="1406" y="2149"/>
                      <a:pt x="1407" y="2155"/>
                      <a:pt x="1407" y="2162"/>
                    </a:cubicBezTo>
                    <a:cubicBezTo>
                      <a:pt x="1407" y="2176"/>
                      <a:pt x="1402" y="2187"/>
                      <a:pt x="1393" y="2195"/>
                    </a:cubicBezTo>
                    <a:cubicBezTo>
                      <a:pt x="1383" y="2203"/>
                      <a:pt x="1368" y="2206"/>
                      <a:pt x="1349" y="2206"/>
                    </a:cubicBezTo>
                    <a:cubicBezTo>
                      <a:pt x="1330" y="2206"/>
                      <a:pt x="1316" y="2203"/>
                      <a:pt x="1306" y="2195"/>
                    </a:cubicBezTo>
                    <a:cubicBezTo>
                      <a:pt x="1296" y="2187"/>
                      <a:pt x="1291" y="2176"/>
                      <a:pt x="1291" y="2161"/>
                    </a:cubicBezTo>
                    <a:cubicBezTo>
                      <a:pt x="1291" y="2155"/>
                      <a:pt x="1292" y="2149"/>
                      <a:pt x="1295" y="2144"/>
                    </a:cubicBezTo>
                    <a:cubicBezTo>
                      <a:pt x="1297" y="2138"/>
                      <a:pt x="1300" y="2133"/>
                      <a:pt x="1304" y="2129"/>
                    </a:cubicBezTo>
                    <a:cubicBezTo>
                      <a:pt x="1309" y="2124"/>
                      <a:pt x="1315" y="2119"/>
                      <a:pt x="1322" y="2115"/>
                    </a:cubicBezTo>
                    <a:cubicBezTo>
                      <a:pt x="1329" y="2110"/>
                      <a:pt x="1337" y="2105"/>
                      <a:pt x="1347" y="2100"/>
                    </a:cubicBezTo>
                    <a:close/>
                    <a:moveTo>
                      <a:pt x="1124" y="2590"/>
                    </a:moveTo>
                    <a:cubicBezTo>
                      <a:pt x="1116" y="2590"/>
                      <a:pt x="1108" y="2591"/>
                      <a:pt x="1100" y="2593"/>
                    </a:cubicBezTo>
                    <a:cubicBezTo>
                      <a:pt x="1092" y="2594"/>
                      <a:pt x="1084" y="2597"/>
                      <a:pt x="1078" y="2600"/>
                    </a:cubicBezTo>
                    <a:cubicBezTo>
                      <a:pt x="1071" y="2602"/>
                      <a:pt x="1066" y="2605"/>
                      <a:pt x="1062" y="2608"/>
                    </a:cubicBezTo>
                    <a:cubicBezTo>
                      <a:pt x="1058" y="2610"/>
                      <a:pt x="1054" y="2612"/>
                      <a:pt x="1052" y="2614"/>
                    </a:cubicBezTo>
                    <a:cubicBezTo>
                      <a:pt x="1050" y="2615"/>
                      <a:pt x="1049" y="2616"/>
                      <a:pt x="1049" y="2617"/>
                    </a:cubicBezTo>
                    <a:cubicBezTo>
                      <a:pt x="1048" y="2618"/>
                      <a:pt x="1048" y="2620"/>
                      <a:pt x="1048" y="2621"/>
                    </a:cubicBezTo>
                    <a:cubicBezTo>
                      <a:pt x="1047" y="2622"/>
                      <a:pt x="1047" y="2624"/>
                      <a:pt x="1047" y="2625"/>
                    </a:cubicBezTo>
                    <a:cubicBezTo>
                      <a:pt x="1047" y="2627"/>
                      <a:pt x="1047" y="2628"/>
                      <a:pt x="1047" y="2630"/>
                    </a:cubicBezTo>
                    <a:cubicBezTo>
                      <a:pt x="1047" y="2634"/>
                      <a:pt x="1047" y="2636"/>
                      <a:pt x="1047" y="2638"/>
                    </a:cubicBezTo>
                    <a:cubicBezTo>
                      <a:pt x="1047" y="2641"/>
                      <a:pt x="1047" y="2642"/>
                      <a:pt x="1048" y="2644"/>
                    </a:cubicBezTo>
                    <a:cubicBezTo>
                      <a:pt x="1048" y="2645"/>
                      <a:pt x="1050" y="2646"/>
                      <a:pt x="1050" y="2646"/>
                    </a:cubicBezTo>
                    <a:cubicBezTo>
                      <a:pt x="1051" y="2647"/>
                      <a:pt x="1052" y="2647"/>
                      <a:pt x="1053" y="2647"/>
                    </a:cubicBezTo>
                    <a:cubicBezTo>
                      <a:pt x="1055" y="2647"/>
                      <a:pt x="1057" y="2646"/>
                      <a:pt x="1061" y="2644"/>
                    </a:cubicBezTo>
                    <a:cubicBezTo>
                      <a:pt x="1065" y="2641"/>
                      <a:pt x="1069" y="2639"/>
                      <a:pt x="1074" y="2636"/>
                    </a:cubicBezTo>
                    <a:cubicBezTo>
                      <a:pt x="1080" y="2633"/>
                      <a:pt x="1086" y="2630"/>
                      <a:pt x="1093" y="2628"/>
                    </a:cubicBezTo>
                    <a:cubicBezTo>
                      <a:pt x="1100" y="2625"/>
                      <a:pt x="1108" y="2623"/>
                      <a:pt x="1117" y="2623"/>
                    </a:cubicBezTo>
                    <a:cubicBezTo>
                      <a:pt x="1125" y="2623"/>
                      <a:pt x="1132" y="2625"/>
                      <a:pt x="1138" y="2628"/>
                    </a:cubicBezTo>
                    <a:cubicBezTo>
                      <a:pt x="1144" y="2630"/>
                      <a:pt x="1148" y="2633"/>
                      <a:pt x="1152" y="2638"/>
                    </a:cubicBezTo>
                    <a:cubicBezTo>
                      <a:pt x="1156" y="2642"/>
                      <a:pt x="1159" y="2647"/>
                      <a:pt x="1162" y="2652"/>
                    </a:cubicBezTo>
                    <a:cubicBezTo>
                      <a:pt x="1164" y="2658"/>
                      <a:pt x="1164" y="2664"/>
                      <a:pt x="1164" y="2670"/>
                    </a:cubicBezTo>
                    <a:cubicBezTo>
                      <a:pt x="1164" y="2676"/>
                      <a:pt x="1164" y="2683"/>
                      <a:pt x="1162" y="2690"/>
                    </a:cubicBezTo>
                    <a:cubicBezTo>
                      <a:pt x="1161" y="2698"/>
                      <a:pt x="1158" y="2706"/>
                      <a:pt x="1154" y="2715"/>
                    </a:cubicBezTo>
                    <a:cubicBezTo>
                      <a:pt x="1149" y="2724"/>
                      <a:pt x="1144" y="2733"/>
                      <a:pt x="1136" y="2744"/>
                    </a:cubicBezTo>
                    <a:cubicBezTo>
                      <a:pt x="1128" y="2755"/>
                      <a:pt x="1118" y="2767"/>
                      <a:pt x="1105" y="2780"/>
                    </a:cubicBezTo>
                    <a:lnTo>
                      <a:pt x="1050" y="2839"/>
                    </a:lnTo>
                    <a:cubicBezTo>
                      <a:pt x="1049" y="2841"/>
                      <a:pt x="1047" y="2843"/>
                      <a:pt x="1046" y="2845"/>
                    </a:cubicBezTo>
                    <a:cubicBezTo>
                      <a:pt x="1045" y="2846"/>
                      <a:pt x="1044" y="2847"/>
                      <a:pt x="1043" y="2849"/>
                    </a:cubicBezTo>
                    <a:cubicBezTo>
                      <a:pt x="1043" y="2851"/>
                      <a:pt x="1042" y="2853"/>
                      <a:pt x="1042" y="2855"/>
                    </a:cubicBezTo>
                    <a:cubicBezTo>
                      <a:pt x="1041" y="2858"/>
                      <a:pt x="1042" y="2860"/>
                      <a:pt x="1042" y="2863"/>
                    </a:cubicBezTo>
                    <a:cubicBezTo>
                      <a:pt x="1042" y="2867"/>
                      <a:pt x="1041" y="2869"/>
                      <a:pt x="1042" y="2871"/>
                    </a:cubicBezTo>
                    <a:cubicBezTo>
                      <a:pt x="1042" y="2873"/>
                      <a:pt x="1043" y="2875"/>
                      <a:pt x="1044" y="2877"/>
                    </a:cubicBezTo>
                    <a:cubicBezTo>
                      <a:pt x="1045" y="2878"/>
                      <a:pt x="1047" y="2879"/>
                      <a:pt x="1049" y="2879"/>
                    </a:cubicBezTo>
                    <a:cubicBezTo>
                      <a:pt x="1050" y="2880"/>
                      <a:pt x="1052" y="2880"/>
                      <a:pt x="1054" y="2880"/>
                    </a:cubicBezTo>
                    <a:lnTo>
                      <a:pt x="1212" y="2880"/>
                    </a:lnTo>
                    <a:cubicBezTo>
                      <a:pt x="1213" y="2880"/>
                      <a:pt x="1214" y="2879"/>
                      <a:pt x="1215" y="2878"/>
                    </a:cubicBezTo>
                    <a:cubicBezTo>
                      <a:pt x="1216" y="2878"/>
                      <a:pt x="1217" y="2877"/>
                      <a:pt x="1218" y="2876"/>
                    </a:cubicBezTo>
                    <a:cubicBezTo>
                      <a:pt x="1219" y="2874"/>
                      <a:pt x="1218" y="2872"/>
                      <a:pt x="1219" y="2870"/>
                    </a:cubicBezTo>
                    <a:cubicBezTo>
                      <a:pt x="1219" y="2868"/>
                      <a:pt x="1220" y="2866"/>
                      <a:pt x="1220" y="2863"/>
                    </a:cubicBezTo>
                    <a:cubicBezTo>
                      <a:pt x="1220" y="2861"/>
                      <a:pt x="1219" y="2858"/>
                      <a:pt x="1219" y="2856"/>
                    </a:cubicBezTo>
                    <a:cubicBezTo>
                      <a:pt x="1218" y="2854"/>
                      <a:pt x="1218" y="2853"/>
                      <a:pt x="1217" y="2852"/>
                    </a:cubicBezTo>
                    <a:cubicBezTo>
                      <a:pt x="1216" y="2850"/>
                      <a:pt x="1216" y="2849"/>
                      <a:pt x="1214" y="2848"/>
                    </a:cubicBezTo>
                    <a:cubicBezTo>
                      <a:pt x="1213" y="2848"/>
                      <a:pt x="1212" y="2847"/>
                      <a:pt x="1211" y="2847"/>
                    </a:cubicBezTo>
                    <a:lnTo>
                      <a:pt x="1087" y="2847"/>
                    </a:lnTo>
                    <a:lnTo>
                      <a:pt x="1132" y="2801"/>
                    </a:lnTo>
                    <a:cubicBezTo>
                      <a:pt x="1149" y="2784"/>
                      <a:pt x="1161" y="2769"/>
                      <a:pt x="1171" y="2756"/>
                    </a:cubicBezTo>
                    <a:cubicBezTo>
                      <a:pt x="1181" y="2743"/>
                      <a:pt x="1189" y="2731"/>
                      <a:pt x="1194" y="2720"/>
                    </a:cubicBezTo>
                    <a:cubicBezTo>
                      <a:pt x="1199" y="2710"/>
                      <a:pt x="1203" y="2700"/>
                      <a:pt x="1205" y="2691"/>
                    </a:cubicBezTo>
                    <a:cubicBezTo>
                      <a:pt x="1206" y="2682"/>
                      <a:pt x="1206" y="2673"/>
                      <a:pt x="1207" y="2664"/>
                    </a:cubicBezTo>
                    <a:cubicBezTo>
                      <a:pt x="1206" y="2654"/>
                      <a:pt x="1205" y="2645"/>
                      <a:pt x="1202" y="2636"/>
                    </a:cubicBezTo>
                    <a:cubicBezTo>
                      <a:pt x="1199" y="2627"/>
                      <a:pt x="1193" y="2619"/>
                      <a:pt x="1186" y="2612"/>
                    </a:cubicBezTo>
                    <a:cubicBezTo>
                      <a:pt x="1179" y="2605"/>
                      <a:pt x="1171" y="2600"/>
                      <a:pt x="1161" y="2596"/>
                    </a:cubicBezTo>
                    <a:cubicBezTo>
                      <a:pt x="1150" y="2592"/>
                      <a:pt x="1138" y="2590"/>
                      <a:pt x="1124" y="2590"/>
                    </a:cubicBezTo>
                    <a:close/>
                    <a:moveTo>
                      <a:pt x="2155" y="2590"/>
                    </a:moveTo>
                    <a:cubicBezTo>
                      <a:pt x="2146" y="2590"/>
                      <a:pt x="2138" y="2591"/>
                      <a:pt x="2130" y="2593"/>
                    </a:cubicBezTo>
                    <a:cubicBezTo>
                      <a:pt x="2122" y="2594"/>
                      <a:pt x="2114" y="2597"/>
                      <a:pt x="2108" y="2600"/>
                    </a:cubicBezTo>
                    <a:cubicBezTo>
                      <a:pt x="2101" y="2602"/>
                      <a:pt x="2096" y="2605"/>
                      <a:pt x="2092" y="2608"/>
                    </a:cubicBezTo>
                    <a:cubicBezTo>
                      <a:pt x="2088" y="2610"/>
                      <a:pt x="2084" y="2612"/>
                      <a:pt x="2082" y="2614"/>
                    </a:cubicBezTo>
                    <a:cubicBezTo>
                      <a:pt x="2081" y="2615"/>
                      <a:pt x="2079" y="2616"/>
                      <a:pt x="2079" y="2617"/>
                    </a:cubicBezTo>
                    <a:cubicBezTo>
                      <a:pt x="2078" y="2618"/>
                      <a:pt x="2078" y="2620"/>
                      <a:pt x="2078" y="2621"/>
                    </a:cubicBezTo>
                    <a:cubicBezTo>
                      <a:pt x="2077" y="2622"/>
                      <a:pt x="2077" y="2624"/>
                      <a:pt x="2077" y="2625"/>
                    </a:cubicBezTo>
                    <a:cubicBezTo>
                      <a:pt x="2077" y="2627"/>
                      <a:pt x="2077" y="2628"/>
                      <a:pt x="2077" y="2630"/>
                    </a:cubicBezTo>
                    <a:cubicBezTo>
                      <a:pt x="2077" y="2634"/>
                      <a:pt x="2077" y="2636"/>
                      <a:pt x="2077" y="2638"/>
                    </a:cubicBezTo>
                    <a:cubicBezTo>
                      <a:pt x="2077" y="2641"/>
                      <a:pt x="2078" y="2642"/>
                      <a:pt x="2079" y="2644"/>
                    </a:cubicBezTo>
                    <a:cubicBezTo>
                      <a:pt x="2079" y="2645"/>
                      <a:pt x="2080" y="2646"/>
                      <a:pt x="2081" y="2646"/>
                    </a:cubicBezTo>
                    <a:cubicBezTo>
                      <a:pt x="2081" y="2647"/>
                      <a:pt x="2082" y="2647"/>
                      <a:pt x="2083" y="2647"/>
                    </a:cubicBezTo>
                    <a:cubicBezTo>
                      <a:pt x="2085" y="2647"/>
                      <a:pt x="2087" y="2646"/>
                      <a:pt x="2091" y="2644"/>
                    </a:cubicBezTo>
                    <a:cubicBezTo>
                      <a:pt x="2095" y="2641"/>
                      <a:pt x="2099" y="2639"/>
                      <a:pt x="2104" y="2636"/>
                    </a:cubicBezTo>
                    <a:cubicBezTo>
                      <a:pt x="2110" y="2633"/>
                      <a:pt x="2117" y="2630"/>
                      <a:pt x="2124" y="2628"/>
                    </a:cubicBezTo>
                    <a:cubicBezTo>
                      <a:pt x="2131" y="2625"/>
                      <a:pt x="2139" y="2623"/>
                      <a:pt x="2148" y="2623"/>
                    </a:cubicBezTo>
                    <a:cubicBezTo>
                      <a:pt x="2155" y="2623"/>
                      <a:pt x="2162" y="2625"/>
                      <a:pt x="2168" y="2628"/>
                    </a:cubicBezTo>
                    <a:cubicBezTo>
                      <a:pt x="2174" y="2630"/>
                      <a:pt x="2179" y="2633"/>
                      <a:pt x="2183" y="2638"/>
                    </a:cubicBezTo>
                    <a:cubicBezTo>
                      <a:pt x="2187" y="2642"/>
                      <a:pt x="2190" y="2647"/>
                      <a:pt x="2192" y="2652"/>
                    </a:cubicBezTo>
                    <a:cubicBezTo>
                      <a:pt x="2194" y="2658"/>
                      <a:pt x="2194" y="2664"/>
                      <a:pt x="2194" y="2670"/>
                    </a:cubicBezTo>
                    <a:cubicBezTo>
                      <a:pt x="2194" y="2676"/>
                      <a:pt x="2194" y="2683"/>
                      <a:pt x="2193" y="2690"/>
                    </a:cubicBezTo>
                    <a:cubicBezTo>
                      <a:pt x="2191" y="2698"/>
                      <a:pt x="2189" y="2706"/>
                      <a:pt x="2185" y="2715"/>
                    </a:cubicBezTo>
                    <a:cubicBezTo>
                      <a:pt x="2180" y="2724"/>
                      <a:pt x="2174" y="2733"/>
                      <a:pt x="2166" y="2744"/>
                    </a:cubicBezTo>
                    <a:cubicBezTo>
                      <a:pt x="2158" y="2755"/>
                      <a:pt x="2148" y="2767"/>
                      <a:pt x="2135" y="2780"/>
                    </a:cubicBezTo>
                    <a:lnTo>
                      <a:pt x="2081" y="2839"/>
                    </a:lnTo>
                    <a:cubicBezTo>
                      <a:pt x="2079" y="2841"/>
                      <a:pt x="2077" y="2843"/>
                      <a:pt x="2076" y="2845"/>
                    </a:cubicBezTo>
                    <a:cubicBezTo>
                      <a:pt x="2075" y="2846"/>
                      <a:pt x="2074" y="2847"/>
                      <a:pt x="2073" y="2849"/>
                    </a:cubicBezTo>
                    <a:cubicBezTo>
                      <a:pt x="2073" y="2851"/>
                      <a:pt x="2072" y="2853"/>
                      <a:pt x="2072" y="2855"/>
                    </a:cubicBezTo>
                    <a:cubicBezTo>
                      <a:pt x="2071" y="2858"/>
                      <a:pt x="2072" y="2860"/>
                      <a:pt x="2072" y="2863"/>
                    </a:cubicBezTo>
                    <a:cubicBezTo>
                      <a:pt x="2072" y="2867"/>
                      <a:pt x="2072" y="2869"/>
                      <a:pt x="2073" y="2871"/>
                    </a:cubicBezTo>
                    <a:cubicBezTo>
                      <a:pt x="2073" y="2873"/>
                      <a:pt x="2073" y="2875"/>
                      <a:pt x="2074" y="2877"/>
                    </a:cubicBezTo>
                    <a:cubicBezTo>
                      <a:pt x="2075" y="2878"/>
                      <a:pt x="2077" y="2879"/>
                      <a:pt x="2079" y="2879"/>
                    </a:cubicBezTo>
                    <a:cubicBezTo>
                      <a:pt x="2080" y="2880"/>
                      <a:pt x="2082" y="2880"/>
                      <a:pt x="2084" y="2880"/>
                    </a:cubicBezTo>
                    <a:lnTo>
                      <a:pt x="2242" y="2880"/>
                    </a:lnTo>
                    <a:cubicBezTo>
                      <a:pt x="2243" y="2880"/>
                      <a:pt x="2244" y="2879"/>
                      <a:pt x="2245" y="2878"/>
                    </a:cubicBezTo>
                    <a:cubicBezTo>
                      <a:pt x="2247" y="2878"/>
                      <a:pt x="2247" y="2877"/>
                      <a:pt x="2248" y="2876"/>
                    </a:cubicBezTo>
                    <a:cubicBezTo>
                      <a:pt x="2249" y="2874"/>
                      <a:pt x="2249" y="2872"/>
                      <a:pt x="2250" y="2870"/>
                    </a:cubicBezTo>
                    <a:cubicBezTo>
                      <a:pt x="2250" y="2868"/>
                      <a:pt x="2250" y="2866"/>
                      <a:pt x="2250" y="2863"/>
                    </a:cubicBezTo>
                    <a:cubicBezTo>
                      <a:pt x="2250" y="2861"/>
                      <a:pt x="2250" y="2858"/>
                      <a:pt x="2250" y="2856"/>
                    </a:cubicBezTo>
                    <a:cubicBezTo>
                      <a:pt x="2249" y="2854"/>
                      <a:pt x="2249" y="2853"/>
                      <a:pt x="2248" y="2852"/>
                    </a:cubicBezTo>
                    <a:cubicBezTo>
                      <a:pt x="2247" y="2850"/>
                      <a:pt x="2246" y="2849"/>
                      <a:pt x="2245" y="2848"/>
                    </a:cubicBezTo>
                    <a:cubicBezTo>
                      <a:pt x="2243" y="2848"/>
                      <a:pt x="2242" y="2847"/>
                      <a:pt x="2241" y="2847"/>
                    </a:cubicBezTo>
                    <a:lnTo>
                      <a:pt x="2118" y="2847"/>
                    </a:lnTo>
                    <a:lnTo>
                      <a:pt x="2163" y="2801"/>
                    </a:lnTo>
                    <a:cubicBezTo>
                      <a:pt x="2179" y="2784"/>
                      <a:pt x="2191" y="2769"/>
                      <a:pt x="2201" y="2756"/>
                    </a:cubicBezTo>
                    <a:cubicBezTo>
                      <a:pt x="2211" y="2743"/>
                      <a:pt x="2219" y="2731"/>
                      <a:pt x="2224" y="2720"/>
                    </a:cubicBezTo>
                    <a:cubicBezTo>
                      <a:pt x="2229" y="2710"/>
                      <a:pt x="2233" y="2700"/>
                      <a:pt x="2235" y="2691"/>
                    </a:cubicBezTo>
                    <a:cubicBezTo>
                      <a:pt x="2236" y="2682"/>
                      <a:pt x="2237" y="2673"/>
                      <a:pt x="2237" y="2664"/>
                    </a:cubicBezTo>
                    <a:cubicBezTo>
                      <a:pt x="2237" y="2654"/>
                      <a:pt x="2236" y="2645"/>
                      <a:pt x="2232" y="2636"/>
                    </a:cubicBezTo>
                    <a:cubicBezTo>
                      <a:pt x="2229" y="2627"/>
                      <a:pt x="2223" y="2619"/>
                      <a:pt x="2216" y="2612"/>
                    </a:cubicBezTo>
                    <a:cubicBezTo>
                      <a:pt x="2209" y="2605"/>
                      <a:pt x="2201" y="2600"/>
                      <a:pt x="2191" y="2596"/>
                    </a:cubicBezTo>
                    <a:cubicBezTo>
                      <a:pt x="2180" y="2592"/>
                      <a:pt x="2168" y="2590"/>
                      <a:pt x="2155" y="2590"/>
                    </a:cubicBezTo>
                    <a:close/>
                    <a:moveTo>
                      <a:pt x="4224" y="2590"/>
                    </a:moveTo>
                    <a:cubicBezTo>
                      <a:pt x="4215" y="2590"/>
                      <a:pt x="4207" y="2591"/>
                      <a:pt x="4199" y="2593"/>
                    </a:cubicBezTo>
                    <a:cubicBezTo>
                      <a:pt x="4191" y="2594"/>
                      <a:pt x="4184" y="2597"/>
                      <a:pt x="4178" y="2600"/>
                    </a:cubicBezTo>
                    <a:cubicBezTo>
                      <a:pt x="4171" y="2602"/>
                      <a:pt x="4165" y="2605"/>
                      <a:pt x="4161" y="2608"/>
                    </a:cubicBezTo>
                    <a:cubicBezTo>
                      <a:pt x="4157" y="2610"/>
                      <a:pt x="4154" y="2612"/>
                      <a:pt x="4152" y="2614"/>
                    </a:cubicBezTo>
                    <a:cubicBezTo>
                      <a:pt x="4150" y="2615"/>
                      <a:pt x="4149" y="2616"/>
                      <a:pt x="4149" y="2617"/>
                    </a:cubicBezTo>
                    <a:cubicBezTo>
                      <a:pt x="4148" y="2618"/>
                      <a:pt x="4147" y="2620"/>
                      <a:pt x="4147" y="2621"/>
                    </a:cubicBezTo>
                    <a:cubicBezTo>
                      <a:pt x="4147" y="2622"/>
                      <a:pt x="4146" y="2624"/>
                      <a:pt x="4146" y="2625"/>
                    </a:cubicBezTo>
                    <a:cubicBezTo>
                      <a:pt x="4146" y="2627"/>
                      <a:pt x="4146" y="2628"/>
                      <a:pt x="4146" y="2630"/>
                    </a:cubicBezTo>
                    <a:cubicBezTo>
                      <a:pt x="4146" y="2634"/>
                      <a:pt x="4147" y="2636"/>
                      <a:pt x="4147" y="2638"/>
                    </a:cubicBezTo>
                    <a:cubicBezTo>
                      <a:pt x="4147" y="2641"/>
                      <a:pt x="4147" y="2642"/>
                      <a:pt x="4148" y="2644"/>
                    </a:cubicBezTo>
                    <a:cubicBezTo>
                      <a:pt x="4148" y="2645"/>
                      <a:pt x="4149" y="2646"/>
                      <a:pt x="4150" y="2646"/>
                    </a:cubicBezTo>
                    <a:cubicBezTo>
                      <a:pt x="4150" y="2647"/>
                      <a:pt x="4151" y="2647"/>
                      <a:pt x="4152" y="2647"/>
                    </a:cubicBezTo>
                    <a:cubicBezTo>
                      <a:pt x="4154" y="2647"/>
                      <a:pt x="4157" y="2646"/>
                      <a:pt x="4160" y="2644"/>
                    </a:cubicBezTo>
                    <a:cubicBezTo>
                      <a:pt x="4164" y="2641"/>
                      <a:pt x="4169" y="2639"/>
                      <a:pt x="4174" y="2636"/>
                    </a:cubicBezTo>
                    <a:cubicBezTo>
                      <a:pt x="4180" y="2633"/>
                      <a:pt x="4186" y="2630"/>
                      <a:pt x="4193" y="2628"/>
                    </a:cubicBezTo>
                    <a:cubicBezTo>
                      <a:pt x="4200" y="2625"/>
                      <a:pt x="4208" y="2623"/>
                      <a:pt x="4217" y="2623"/>
                    </a:cubicBezTo>
                    <a:cubicBezTo>
                      <a:pt x="4224" y="2623"/>
                      <a:pt x="4231" y="2625"/>
                      <a:pt x="4237" y="2628"/>
                    </a:cubicBezTo>
                    <a:cubicBezTo>
                      <a:pt x="4243" y="2630"/>
                      <a:pt x="4248" y="2633"/>
                      <a:pt x="4252" y="2638"/>
                    </a:cubicBezTo>
                    <a:cubicBezTo>
                      <a:pt x="4256" y="2642"/>
                      <a:pt x="4259" y="2647"/>
                      <a:pt x="4261" y="2652"/>
                    </a:cubicBezTo>
                    <a:cubicBezTo>
                      <a:pt x="4263" y="2658"/>
                      <a:pt x="4264" y="2664"/>
                      <a:pt x="4264" y="2670"/>
                    </a:cubicBezTo>
                    <a:cubicBezTo>
                      <a:pt x="4264" y="2676"/>
                      <a:pt x="4263" y="2683"/>
                      <a:pt x="4262" y="2690"/>
                    </a:cubicBezTo>
                    <a:cubicBezTo>
                      <a:pt x="4260" y="2698"/>
                      <a:pt x="4258" y="2706"/>
                      <a:pt x="4254" y="2715"/>
                    </a:cubicBezTo>
                    <a:cubicBezTo>
                      <a:pt x="4249" y="2724"/>
                      <a:pt x="4244" y="2733"/>
                      <a:pt x="4236" y="2744"/>
                    </a:cubicBezTo>
                    <a:cubicBezTo>
                      <a:pt x="4228" y="2755"/>
                      <a:pt x="4218" y="2767"/>
                      <a:pt x="4205" y="2780"/>
                    </a:cubicBezTo>
                    <a:lnTo>
                      <a:pt x="4150" y="2839"/>
                    </a:lnTo>
                    <a:cubicBezTo>
                      <a:pt x="4148" y="2841"/>
                      <a:pt x="4146" y="2843"/>
                      <a:pt x="4145" y="2845"/>
                    </a:cubicBezTo>
                    <a:cubicBezTo>
                      <a:pt x="4144" y="2846"/>
                      <a:pt x="4143" y="2847"/>
                      <a:pt x="4142" y="2849"/>
                    </a:cubicBezTo>
                    <a:cubicBezTo>
                      <a:pt x="4142" y="2851"/>
                      <a:pt x="4141" y="2853"/>
                      <a:pt x="4141" y="2855"/>
                    </a:cubicBezTo>
                    <a:cubicBezTo>
                      <a:pt x="4141" y="2858"/>
                      <a:pt x="4141" y="2860"/>
                      <a:pt x="4141" y="2863"/>
                    </a:cubicBezTo>
                    <a:cubicBezTo>
                      <a:pt x="4141" y="2867"/>
                      <a:pt x="4141" y="2869"/>
                      <a:pt x="4142" y="2871"/>
                    </a:cubicBezTo>
                    <a:cubicBezTo>
                      <a:pt x="4142" y="2873"/>
                      <a:pt x="4143" y="2875"/>
                      <a:pt x="4144" y="2877"/>
                    </a:cubicBezTo>
                    <a:cubicBezTo>
                      <a:pt x="4145" y="2878"/>
                      <a:pt x="4146" y="2879"/>
                      <a:pt x="4148" y="2879"/>
                    </a:cubicBezTo>
                    <a:cubicBezTo>
                      <a:pt x="4149" y="2880"/>
                      <a:pt x="4151" y="2880"/>
                      <a:pt x="4153" y="2880"/>
                    </a:cubicBezTo>
                    <a:lnTo>
                      <a:pt x="4311" y="2880"/>
                    </a:lnTo>
                    <a:cubicBezTo>
                      <a:pt x="4312" y="2880"/>
                      <a:pt x="4313" y="2879"/>
                      <a:pt x="4314" y="2878"/>
                    </a:cubicBezTo>
                    <a:cubicBezTo>
                      <a:pt x="4316" y="2878"/>
                      <a:pt x="4316" y="2877"/>
                      <a:pt x="4317" y="2876"/>
                    </a:cubicBezTo>
                    <a:cubicBezTo>
                      <a:pt x="4318" y="2874"/>
                      <a:pt x="4319" y="2872"/>
                      <a:pt x="4319" y="2870"/>
                    </a:cubicBezTo>
                    <a:cubicBezTo>
                      <a:pt x="4319" y="2868"/>
                      <a:pt x="4320" y="2866"/>
                      <a:pt x="4320" y="2863"/>
                    </a:cubicBezTo>
                    <a:cubicBezTo>
                      <a:pt x="4320" y="2861"/>
                      <a:pt x="4319" y="2858"/>
                      <a:pt x="4319" y="2856"/>
                    </a:cubicBezTo>
                    <a:cubicBezTo>
                      <a:pt x="4319" y="2854"/>
                      <a:pt x="4318" y="2853"/>
                      <a:pt x="4317" y="2852"/>
                    </a:cubicBezTo>
                    <a:cubicBezTo>
                      <a:pt x="4316" y="2850"/>
                      <a:pt x="4316" y="2849"/>
                      <a:pt x="4314" y="2848"/>
                    </a:cubicBezTo>
                    <a:cubicBezTo>
                      <a:pt x="4313" y="2848"/>
                      <a:pt x="4312" y="2847"/>
                      <a:pt x="4311" y="2847"/>
                    </a:cubicBezTo>
                    <a:lnTo>
                      <a:pt x="4187" y="2847"/>
                    </a:lnTo>
                    <a:lnTo>
                      <a:pt x="4232" y="2801"/>
                    </a:lnTo>
                    <a:cubicBezTo>
                      <a:pt x="4248" y="2784"/>
                      <a:pt x="4261" y="2769"/>
                      <a:pt x="4271" y="2756"/>
                    </a:cubicBezTo>
                    <a:cubicBezTo>
                      <a:pt x="4281" y="2743"/>
                      <a:pt x="4288" y="2731"/>
                      <a:pt x="4293" y="2720"/>
                    </a:cubicBezTo>
                    <a:cubicBezTo>
                      <a:pt x="4299" y="2710"/>
                      <a:pt x="4302" y="2700"/>
                      <a:pt x="4304" y="2691"/>
                    </a:cubicBezTo>
                    <a:cubicBezTo>
                      <a:pt x="4306" y="2682"/>
                      <a:pt x="4307" y="2673"/>
                      <a:pt x="4307" y="2664"/>
                    </a:cubicBezTo>
                    <a:cubicBezTo>
                      <a:pt x="4307" y="2654"/>
                      <a:pt x="4305" y="2645"/>
                      <a:pt x="4301" y="2636"/>
                    </a:cubicBezTo>
                    <a:cubicBezTo>
                      <a:pt x="4298" y="2627"/>
                      <a:pt x="4293" y="2619"/>
                      <a:pt x="4286" y="2612"/>
                    </a:cubicBezTo>
                    <a:cubicBezTo>
                      <a:pt x="4279" y="2605"/>
                      <a:pt x="4270" y="2600"/>
                      <a:pt x="4260" y="2596"/>
                    </a:cubicBezTo>
                    <a:cubicBezTo>
                      <a:pt x="4249" y="2592"/>
                      <a:pt x="4237" y="2590"/>
                      <a:pt x="4224" y="2590"/>
                    </a:cubicBezTo>
                    <a:close/>
                    <a:moveTo>
                      <a:pt x="4462" y="2590"/>
                    </a:moveTo>
                    <a:cubicBezTo>
                      <a:pt x="4447" y="2590"/>
                      <a:pt x="4433" y="2592"/>
                      <a:pt x="4422" y="2596"/>
                    </a:cubicBezTo>
                    <a:cubicBezTo>
                      <a:pt x="4411" y="2600"/>
                      <a:pt x="4402" y="2605"/>
                      <a:pt x="4395" y="2611"/>
                    </a:cubicBezTo>
                    <a:cubicBezTo>
                      <a:pt x="4387" y="2618"/>
                      <a:pt x="4382" y="2625"/>
                      <a:pt x="4378" y="2634"/>
                    </a:cubicBezTo>
                    <a:cubicBezTo>
                      <a:pt x="4374" y="2643"/>
                      <a:pt x="4373" y="2652"/>
                      <a:pt x="4373" y="2662"/>
                    </a:cubicBezTo>
                    <a:cubicBezTo>
                      <a:pt x="4373" y="2670"/>
                      <a:pt x="4374" y="2677"/>
                      <a:pt x="4376" y="2684"/>
                    </a:cubicBezTo>
                    <a:cubicBezTo>
                      <a:pt x="4379" y="2691"/>
                      <a:pt x="4383" y="2697"/>
                      <a:pt x="4388" y="2703"/>
                    </a:cubicBezTo>
                    <a:cubicBezTo>
                      <a:pt x="4392" y="2709"/>
                      <a:pt x="4398" y="2714"/>
                      <a:pt x="4404" y="2720"/>
                    </a:cubicBezTo>
                    <a:cubicBezTo>
                      <a:pt x="4411" y="2725"/>
                      <a:pt x="4419" y="2730"/>
                      <a:pt x="4428" y="2735"/>
                    </a:cubicBezTo>
                    <a:cubicBezTo>
                      <a:pt x="4418" y="2740"/>
                      <a:pt x="4409" y="2744"/>
                      <a:pt x="4401" y="2750"/>
                    </a:cubicBezTo>
                    <a:cubicBezTo>
                      <a:pt x="4393" y="2755"/>
                      <a:pt x="4385" y="2762"/>
                      <a:pt x="4380" y="2768"/>
                    </a:cubicBezTo>
                    <a:cubicBezTo>
                      <a:pt x="4374" y="2774"/>
                      <a:pt x="4370" y="2781"/>
                      <a:pt x="4367" y="2788"/>
                    </a:cubicBezTo>
                    <a:cubicBezTo>
                      <a:pt x="4364" y="2796"/>
                      <a:pt x="4363" y="2804"/>
                      <a:pt x="4363" y="2813"/>
                    </a:cubicBezTo>
                    <a:cubicBezTo>
                      <a:pt x="4363" y="2824"/>
                      <a:pt x="4365" y="2834"/>
                      <a:pt x="4369" y="2843"/>
                    </a:cubicBezTo>
                    <a:cubicBezTo>
                      <a:pt x="4373" y="2852"/>
                      <a:pt x="4380" y="2860"/>
                      <a:pt x="4388" y="2866"/>
                    </a:cubicBezTo>
                    <a:cubicBezTo>
                      <a:pt x="4396" y="2872"/>
                      <a:pt x="4406" y="2876"/>
                      <a:pt x="4418" y="2879"/>
                    </a:cubicBezTo>
                    <a:cubicBezTo>
                      <a:pt x="4429" y="2882"/>
                      <a:pt x="4443" y="2884"/>
                      <a:pt x="4457" y="2884"/>
                    </a:cubicBezTo>
                    <a:cubicBezTo>
                      <a:pt x="4473" y="2884"/>
                      <a:pt x="4487" y="2883"/>
                      <a:pt x="4499" y="2879"/>
                    </a:cubicBezTo>
                    <a:cubicBezTo>
                      <a:pt x="4511" y="2876"/>
                      <a:pt x="4521" y="2871"/>
                      <a:pt x="4530" y="2864"/>
                    </a:cubicBezTo>
                    <a:cubicBezTo>
                      <a:pt x="4538" y="2858"/>
                      <a:pt x="4545" y="2849"/>
                      <a:pt x="4549" y="2839"/>
                    </a:cubicBezTo>
                    <a:cubicBezTo>
                      <a:pt x="4553" y="2830"/>
                      <a:pt x="4555" y="2819"/>
                      <a:pt x="4555" y="2807"/>
                    </a:cubicBezTo>
                    <a:cubicBezTo>
                      <a:pt x="4555" y="2798"/>
                      <a:pt x="4554" y="2790"/>
                      <a:pt x="4551" y="2783"/>
                    </a:cubicBezTo>
                    <a:cubicBezTo>
                      <a:pt x="4548" y="2776"/>
                      <a:pt x="4544" y="2770"/>
                      <a:pt x="4538" y="2764"/>
                    </a:cubicBezTo>
                    <a:cubicBezTo>
                      <a:pt x="4533" y="2757"/>
                      <a:pt x="4526" y="2751"/>
                      <a:pt x="4518" y="2746"/>
                    </a:cubicBezTo>
                    <a:cubicBezTo>
                      <a:pt x="4510" y="2741"/>
                      <a:pt x="4500" y="2735"/>
                      <a:pt x="4490" y="2730"/>
                    </a:cubicBezTo>
                    <a:cubicBezTo>
                      <a:pt x="4499" y="2725"/>
                      <a:pt x="4507" y="2720"/>
                      <a:pt x="4514" y="2715"/>
                    </a:cubicBezTo>
                    <a:cubicBezTo>
                      <a:pt x="4521" y="2710"/>
                      <a:pt x="4526" y="2704"/>
                      <a:pt x="4531" y="2697"/>
                    </a:cubicBezTo>
                    <a:cubicBezTo>
                      <a:pt x="4535" y="2691"/>
                      <a:pt x="4539" y="2685"/>
                      <a:pt x="4541" y="2678"/>
                    </a:cubicBezTo>
                    <a:cubicBezTo>
                      <a:pt x="4544" y="2671"/>
                      <a:pt x="4546" y="2664"/>
                      <a:pt x="4546" y="2657"/>
                    </a:cubicBezTo>
                    <a:cubicBezTo>
                      <a:pt x="4546" y="2648"/>
                      <a:pt x="4543" y="2639"/>
                      <a:pt x="4540" y="2630"/>
                    </a:cubicBezTo>
                    <a:cubicBezTo>
                      <a:pt x="4537" y="2622"/>
                      <a:pt x="4532" y="2615"/>
                      <a:pt x="4525" y="2609"/>
                    </a:cubicBezTo>
                    <a:cubicBezTo>
                      <a:pt x="4518" y="2603"/>
                      <a:pt x="4509" y="2599"/>
                      <a:pt x="4499" y="2595"/>
                    </a:cubicBezTo>
                    <a:cubicBezTo>
                      <a:pt x="4488" y="2592"/>
                      <a:pt x="4476" y="2590"/>
                      <a:pt x="4462" y="2590"/>
                    </a:cubicBezTo>
                    <a:close/>
                    <a:moveTo>
                      <a:pt x="5261" y="2590"/>
                    </a:moveTo>
                    <a:cubicBezTo>
                      <a:pt x="5252" y="2590"/>
                      <a:pt x="5244" y="2591"/>
                      <a:pt x="5236" y="2593"/>
                    </a:cubicBezTo>
                    <a:cubicBezTo>
                      <a:pt x="5228" y="2594"/>
                      <a:pt x="5221" y="2597"/>
                      <a:pt x="5214" y="2600"/>
                    </a:cubicBezTo>
                    <a:cubicBezTo>
                      <a:pt x="5208" y="2602"/>
                      <a:pt x="5203" y="2605"/>
                      <a:pt x="5198" y="2608"/>
                    </a:cubicBezTo>
                    <a:cubicBezTo>
                      <a:pt x="5194" y="2610"/>
                      <a:pt x="5190" y="2612"/>
                      <a:pt x="5188" y="2614"/>
                    </a:cubicBezTo>
                    <a:cubicBezTo>
                      <a:pt x="5187" y="2615"/>
                      <a:pt x="5186" y="2616"/>
                      <a:pt x="5185" y="2617"/>
                    </a:cubicBezTo>
                    <a:cubicBezTo>
                      <a:pt x="5184" y="2618"/>
                      <a:pt x="5184" y="2620"/>
                      <a:pt x="5184" y="2621"/>
                    </a:cubicBezTo>
                    <a:cubicBezTo>
                      <a:pt x="5184" y="2622"/>
                      <a:pt x="5183" y="2624"/>
                      <a:pt x="5183" y="2625"/>
                    </a:cubicBezTo>
                    <a:cubicBezTo>
                      <a:pt x="5183" y="2627"/>
                      <a:pt x="5183" y="2628"/>
                      <a:pt x="5183" y="2630"/>
                    </a:cubicBezTo>
                    <a:cubicBezTo>
                      <a:pt x="5183" y="2634"/>
                      <a:pt x="5183" y="2636"/>
                      <a:pt x="5183" y="2638"/>
                    </a:cubicBezTo>
                    <a:cubicBezTo>
                      <a:pt x="5183" y="2641"/>
                      <a:pt x="5184" y="2642"/>
                      <a:pt x="5184" y="2644"/>
                    </a:cubicBezTo>
                    <a:cubicBezTo>
                      <a:pt x="5185" y="2645"/>
                      <a:pt x="5186" y="2646"/>
                      <a:pt x="5187" y="2646"/>
                    </a:cubicBezTo>
                    <a:cubicBezTo>
                      <a:pt x="5188" y="2647"/>
                      <a:pt x="5188" y="2647"/>
                      <a:pt x="5189" y="2647"/>
                    </a:cubicBezTo>
                    <a:cubicBezTo>
                      <a:pt x="5191" y="2647"/>
                      <a:pt x="5194" y="2646"/>
                      <a:pt x="5197" y="2644"/>
                    </a:cubicBezTo>
                    <a:cubicBezTo>
                      <a:pt x="5201" y="2641"/>
                      <a:pt x="5205" y="2639"/>
                      <a:pt x="5211" y="2636"/>
                    </a:cubicBezTo>
                    <a:cubicBezTo>
                      <a:pt x="5216" y="2633"/>
                      <a:pt x="5222" y="2630"/>
                      <a:pt x="5229" y="2628"/>
                    </a:cubicBezTo>
                    <a:cubicBezTo>
                      <a:pt x="5236" y="2625"/>
                      <a:pt x="5245" y="2623"/>
                      <a:pt x="5254" y="2623"/>
                    </a:cubicBezTo>
                    <a:cubicBezTo>
                      <a:pt x="5261" y="2623"/>
                      <a:pt x="5268" y="2625"/>
                      <a:pt x="5274" y="2628"/>
                    </a:cubicBezTo>
                    <a:cubicBezTo>
                      <a:pt x="5280" y="2630"/>
                      <a:pt x="5284" y="2633"/>
                      <a:pt x="5288" y="2638"/>
                    </a:cubicBezTo>
                    <a:cubicBezTo>
                      <a:pt x="5292" y="2642"/>
                      <a:pt x="5296" y="2647"/>
                      <a:pt x="5298" y="2652"/>
                    </a:cubicBezTo>
                    <a:cubicBezTo>
                      <a:pt x="5300" y="2658"/>
                      <a:pt x="5300" y="2664"/>
                      <a:pt x="5300" y="2670"/>
                    </a:cubicBezTo>
                    <a:cubicBezTo>
                      <a:pt x="5300" y="2676"/>
                      <a:pt x="5300" y="2683"/>
                      <a:pt x="5299" y="2690"/>
                    </a:cubicBezTo>
                    <a:cubicBezTo>
                      <a:pt x="5297" y="2698"/>
                      <a:pt x="5294" y="2706"/>
                      <a:pt x="5290" y="2715"/>
                    </a:cubicBezTo>
                    <a:cubicBezTo>
                      <a:pt x="5286" y="2724"/>
                      <a:pt x="5280" y="2733"/>
                      <a:pt x="5272" y="2744"/>
                    </a:cubicBezTo>
                    <a:cubicBezTo>
                      <a:pt x="5265" y="2755"/>
                      <a:pt x="5254" y="2767"/>
                      <a:pt x="5241" y="2780"/>
                    </a:cubicBezTo>
                    <a:lnTo>
                      <a:pt x="5187" y="2839"/>
                    </a:lnTo>
                    <a:cubicBezTo>
                      <a:pt x="5185" y="2841"/>
                      <a:pt x="5183" y="2843"/>
                      <a:pt x="5182" y="2845"/>
                    </a:cubicBezTo>
                    <a:cubicBezTo>
                      <a:pt x="5181" y="2846"/>
                      <a:pt x="5180" y="2847"/>
                      <a:pt x="5180" y="2849"/>
                    </a:cubicBezTo>
                    <a:cubicBezTo>
                      <a:pt x="5179" y="2851"/>
                      <a:pt x="5178" y="2853"/>
                      <a:pt x="5178" y="2855"/>
                    </a:cubicBezTo>
                    <a:cubicBezTo>
                      <a:pt x="5178" y="2858"/>
                      <a:pt x="5178" y="2860"/>
                      <a:pt x="5178" y="2863"/>
                    </a:cubicBezTo>
                    <a:cubicBezTo>
                      <a:pt x="5178" y="2867"/>
                      <a:pt x="5177" y="2869"/>
                      <a:pt x="5178" y="2871"/>
                    </a:cubicBezTo>
                    <a:cubicBezTo>
                      <a:pt x="5178" y="2873"/>
                      <a:pt x="5179" y="2875"/>
                      <a:pt x="5181" y="2877"/>
                    </a:cubicBezTo>
                    <a:cubicBezTo>
                      <a:pt x="5182" y="2878"/>
                      <a:pt x="5183" y="2879"/>
                      <a:pt x="5185" y="2879"/>
                    </a:cubicBezTo>
                    <a:cubicBezTo>
                      <a:pt x="5186" y="2880"/>
                      <a:pt x="5188" y="2880"/>
                      <a:pt x="5190" y="2880"/>
                    </a:cubicBezTo>
                    <a:lnTo>
                      <a:pt x="5348" y="2880"/>
                    </a:lnTo>
                    <a:cubicBezTo>
                      <a:pt x="5349" y="2880"/>
                      <a:pt x="5351" y="2879"/>
                      <a:pt x="5352" y="2878"/>
                    </a:cubicBezTo>
                    <a:cubicBezTo>
                      <a:pt x="5353" y="2878"/>
                      <a:pt x="5354" y="2877"/>
                      <a:pt x="5354" y="2876"/>
                    </a:cubicBezTo>
                    <a:cubicBezTo>
                      <a:pt x="5355" y="2874"/>
                      <a:pt x="5355" y="2872"/>
                      <a:pt x="5355" y="2870"/>
                    </a:cubicBezTo>
                    <a:cubicBezTo>
                      <a:pt x="5356" y="2868"/>
                      <a:pt x="5356" y="2866"/>
                      <a:pt x="5356" y="2863"/>
                    </a:cubicBezTo>
                    <a:cubicBezTo>
                      <a:pt x="5356" y="2861"/>
                      <a:pt x="5356" y="2858"/>
                      <a:pt x="5355" y="2856"/>
                    </a:cubicBezTo>
                    <a:cubicBezTo>
                      <a:pt x="5355" y="2854"/>
                      <a:pt x="5354" y="2853"/>
                      <a:pt x="5353" y="2852"/>
                    </a:cubicBezTo>
                    <a:cubicBezTo>
                      <a:pt x="5353" y="2850"/>
                      <a:pt x="5352" y="2849"/>
                      <a:pt x="5351" y="2848"/>
                    </a:cubicBezTo>
                    <a:cubicBezTo>
                      <a:pt x="5350" y="2848"/>
                      <a:pt x="5348" y="2847"/>
                      <a:pt x="5347" y="2847"/>
                    </a:cubicBezTo>
                    <a:lnTo>
                      <a:pt x="5224" y="2847"/>
                    </a:lnTo>
                    <a:lnTo>
                      <a:pt x="5269" y="2801"/>
                    </a:lnTo>
                    <a:cubicBezTo>
                      <a:pt x="5285" y="2784"/>
                      <a:pt x="5298" y="2769"/>
                      <a:pt x="5308" y="2756"/>
                    </a:cubicBezTo>
                    <a:cubicBezTo>
                      <a:pt x="5317" y="2743"/>
                      <a:pt x="5325" y="2731"/>
                      <a:pt x="5330" y="2720"/>
                    </a:cubicBezTo>
                    <a:cubicBezTo>
                      <a:pt x="5336" y="2710"/>
                      <a:pt x="5339" y="2700"/>
                      <a:pt x="5341" y="2691"/>
                    </a:cubicBezTo>
                    <a:cubicBezTo>
                      <a:pt x="5343" y="2682"/>
                      <a:pt x="5343" y="2673"/>
                      <a:pt x="5343" y="2664"/>
                    </a:cubicBezTo>
                    <a:cubicBezTo>
                      <a:pt x="5343" y="2654"/>
                      <a:pt x="5342" y="2645"/>
                      <a:pt x="5338" y="2636"/>
                    </a:cubicBezTo>
                    <a:cubicBezTo>
                      <a:pt x="5335" y="2627"/>
                      <a:pt x="5329" y="2619"/>
                      <a:pt x="5323" y="2612"/>
                    </a:cubicBezTo>
                    <a:cubicBezTo>
                      <a:pt x="5316" y="2605"/>
                      <a:pt x="5307" y="2600"/>
                      <a:pt x="5297" y="2596"/>
                    </a:cubicBezTo>
                    <a:cubicBezTo>
                      <a:pt x="5287" y="2592"/>
                      <a:pt x="5275" y="2590"/>
                      <a:pt x="5261" y="2590"/>
                    </a:cubicBezTo>
                    <a:close/>
                    <a:moveTo>
                      <a:pt x="5495" y="2590"/>
                    </a:moveTo>
                    <a:cubicBezTo>
                      <a:pt x="5479" y="2590"/>
                      <a:pt x="5464" y="2593"/>
                      <a:pt x="5452" y="2598"/>
                    </a:cubicBezTo>
                    <a:cubicBezTo>
                      <a:pt x="5440" y="2603"/>
                      <a:pt x="5430" y="2610"/>
                      <a:pt x="5422" y="2619"/>
                    </a:cubicBezTo>
                    <a:cubicBezTo>
                      <a:pt x="5414" y="2628"/>
                      <a:pt x="5409" y="2638"/>
                      <a:pt x="5405" y="2649"/>
                    </a:cubicBezTo>
                    <a:cubicBezTo>
                      <a:pt x="5402" y="2660"/>
                      <a:pt x="5400" y="2672"/>
                      <a:pt x="5400" y="2685"/>
                    </a:cubicBezTo>
                    <a:cubicBezTo>
                      <a:pt x="5400" y="2697"/>
                      <a:pt x="5401" y="2708"/>
                      <a:pt x="5404" y="2719"/>
                    </a:cubicBezTo>
                    <a:cubicBezTo>
                      <a:pt x="5407" y="2729"/>
                      <a:pt x="5411" y="2738"/>
                      <a:pt x="5418" y="2745"/>
                    </a:cubicBezTo>
                    <a:cubicBezTo>
                      <a:pt x="5424" y="2753"/>
                      <a:pt x="5433" y="2758"/>
                      <a:pt x="5444" y="2763"/>
                    </a:cubicBezTo>
                    <a:cubicBezTo>
                      <a:pt x="5455" y="2767"/>
                      <a:pt x="5468" y="2770"/>
                      <a:pt x="5484" y="2770"/>
                    </a:cubicBezTo>
                    <a:cubicBezTo>
                      <a:pt x="5498" y="2770"/>
                      <a:pt x="5511" y="2768"/>
                      <a:pt x="5522" y="2765"/>
                    </a:cubicBezTo>
                    <a:cubicBezTo>
                      <a:pt x="5533" y="2761"/>
                      <a:pt x="5542" y="2757"/>
                      <a:pt x="5550" y="2752"/>
                    </a:cubicBezTo>
                    <a:cubicBezTo>
                      <a:pt x="5550" y="2766"/>
                      <a:pt x="5548" y="2779"/>
                      <a:pt x="5545" y="2791"/>
                    </a:cubicBezTo>
                    <a:cubicBezTo>
                      <a:pt x="5542" y="2803"/>
                      <a:pt x="5536" y="2813"/>
                      <a:pt x="5530" y="2823"/>
                    </a:cubicBezTo>
                    <a:cubicBezTo>
                      <a:pt x="5523" y="2832"/>
                      <a:pt x="5515" y="2839"/>
                      <a:pt x="5505" y="2845"/>
                    </a:cubicBezTo>
                    <a:cubicBezTo>
                      <a:pt x="5495" y="2850"/>
                      <a:pt x="5482" y="2854"/>
                      <a:pt x="5468" y="2854"/>
                    </a:cubicBezTo>
                    <a:cubicBezTo>
                      <a:pt x="5461" y="2854"/>
                      <a:pt x="5454" y="2853"/>
                      <a:pt x="5448" y="2852"/>
                    </a:cubicBezTo>
                    <a:cubicBezTo>
                      <a:pt x="5442" y="2851"/>
                      <a:pt x="5436" y="2850"/>
                      <a:pt x="5432" y="2848"/>
                    </a:cubicBezTo>
                    <a:cubicBezTo>
                      <a:pt x="5427" y="2847"/>
                      <a:pt x="5424" y="2845"/>
                      <a:pt x="5421" y="2844"/>
                    </a:cubicBezTo>
                    <a:cubicBezTo>
                      <a:pt x="5418" y="2843"/>
                      <a:pt x="5416" y="2843"/>
                      <a:pt x="5414" y="2843"/>
                    </a:cubicBezTo>
                    <a:cubicBezTo>
                      <a:pt x="5413" y="2843"/>
                      <a:pt x="5412" y="2843"/>
                      <a:pt x="5411" y="2843"/>
                    </a:cubicBezTo>
                    <a:cubicBezTo>
                      <a:pt x="5410" y="2843"/>
                      <a:pt x="5409" y="2845"/>
                      <a:pt x="5409" y="2846"/>
                    </a:cubicBezTo>
                    <a:cubicBezTo>
                      <a:pt x="5409" y="2847"/>
                      <a:pt x="5408" y="2848"/>
                      <a:pt x="5408" y="2850"/>
                    </a:cubicBezTo>
                    <a:cubicBezTo>
                      <a:pt x="5408" y="2852"/>
                      <a:pt x="5408" y="2854"/>
                      <a:pt x="5408" y="2857"/>
                    </a:cubicBezTo>
                    <a:cubicBezTo>
                      <a:pt x="5408" y="2861"/>
                      <a:pt x="5408" y="2865"/>
                      <a:pt x="5409" y="2867"/>
                    </a:cubicBezTo>
                    <a:cubicBezTo>
                      <a:pt x="5410" y="2869"/>
                      <a:pt x="5411" y="2871"/>
                      <a:pt x="5412" y="2872"/>
                    </a:cubicBezTo>
                    <a:cubicBezTo>
                      <a:pt x="5414" y="2873"/>
                      <a:pt x="5416" y="2874"/>
                      <a:pt x="5420" y="2876"/>
                    </a:cubicBezTo>
                    <a:cubicBezTo>
                      <a:pt x="5423" y="2877"/>
                      <a:pt x="5426" y="2879"/>
                      <a:pt x="5431" y="2880"/>
                    </a:cubicBezTo>
                    <a:cubicBezTo>
                      <a:pt x="5436" y="2881"/>
                      <a:pt x="5441" y="2882"/>
                      <a:pt x="5447" y="2883"/>
                    </a:cubicBezTo>
                    <a:cubicBezTo>
                      <a:pt x="5453" y="2883"/>
                      <a:pt x="5459" y="2884"/>
                      <a:pt x="5465" y="2884"/>
                    </a:cubicBezTo>
                    <a:cubicBezTo>
                      <a:pt x="5482" y="2884"/>
                      <a:pt x="5496" y="2882"/>
                      <a:pt x="5509" y="2877"/>
                    </a:cubicBezTo>
                    <a:cubicBezTo>
                      <a:pt x="5521" y="2873"/>
                      <a:pt x="5532" y="2867"/>
                      <a:pt x="5541" y="2860"/>
                    </a:cubicBezTo>
                    <a:cubicBezTo>
                      <a:pt x="5550" y="2852"/>
                      <a:pt x="5557" y="2843"/>
                      <a:pt x="5563" y="2832"/>
                    </a:cubicBezTo>
                    <a:cubicBezTo>
                      <a:pt x="5569" y="2822"/>
                      <a:pt x="5575" y="2811"/>
                      <a:pt x="5578" y="2800"/>
                    </a:cubicBezTo>
                    <a:cubicBezTo>
                      <a:pt x="5582" y="2788"/>
                      <a:pt x="5584" y="2776"/>
                      <a:pt x="5585" y="2764"/>
                    </a:cubicBezTo>
                    <a:cubicBezTo>
                      <a:pt x="5587" y="2751"/>
                      <a:pt x="5588" y="2738"/>
                      <a:pt x="5588" y="2726"/>
                    </a:cubicBezTo>
                    <a:cubicBezTo>
                      <a:pt x="5588" y="2713"/>
                      <a:pt x="5587" y="2700"/>
                      <a:pt x="5585" y="2689"/>
                    </a:cubicBezTo>
                    <a:cubicBezTo>
                      <a:pt x="5584" y="2677"/>
                      <a:pt x="5582" y="2665"/>
                      <a:pt x="5579" y="2655"/>
                    </a:cubicBezTo>
                    <a:cubicBezTo>
                      <a:pt x="5576" y="2645"/>
                      <a:pt x="5573" y="2636"/>
                      <a:pt x="5569" y="2628"/>
                    </a:cubicBezTo>
                    <a:cubicBezTo>
                      <a:pt x="5564" y="2620"/>
                      <a:pt x="5558" y="2613"/>
                      <a:pt x="5551" y="2608"/>
                    </a:cubicBezTo>
                    <a:cubicBezTo>
                      <a:pt x="5544" y="2602"/>
                      <a:pt x="5536" y="2597"/>
                      <a:pt x="5527" y="2594"/>
                    </a:cubicBezTo>
                    <a:cubicBezTo>
                      <a:pt x="5518" y="2591"/>
                      <a:pt x="5507" y="2590"/>
                      <a:pt x="5495" y="2590"/>
                    </a:cubicBezTo>
                    <a:close/>
                    <a:moveTo>
                      <a:pt x="6293" y="2590"/>
                    </a:moveTo>
                    <a:cubicBezTo>
                      <a:pt x="6283" y="2590"/>
                      <a:pt x="6274" y="2591"/>
                      <a:pt x="6266" y="2593"/>
                    </a:cubicBezTo>
                    <a:cubicBezTo>
                      <a:pt x="6258" y="2594"/>
                      <a:pt x="6251" y="2597"/>
                      <a:pt x="6245" y="2600"/>
                    </a:cubicBezTo>
                    <a:cubicBezTo>
                      <a:pt x="6239" y="2602"/>
                      <a:pt x="6233" y="2605"/>
                      <a:pt x="6229" y="2608"/>
                    </a:cubicBezTo>
                    <a:cubicBezTo>
                      <a:pt x="6225" y="2610"/>
                      <a:pt x="6222" y="2611"/>
                      <a:pt x="6220" y="2613"/>
                    </a:cubicBezTo>
                    <a:cubicBezTo>
                      <a:pt x="6219" y="2614"/>
                      <a:pt x="6218" y="2616"/>
                      <a:pt x="6218" y="2617"/>
                    </a:cubicBezTo>
                    <a:cubicBezTo>
                      <a:pt x="6217" y="2618"/>
                      <a:pt x="6216" y="2619"/>
                      <a:pt x="6216" y="2620"/>
                    </a:cubicBezTo>
                    <a:cubicBezTo>
                      <a:pt x="6216" y="2621"/>
                      <a:pt x="6215" y="2623"/>
                      <a:pt x="6215" y="2624"/>
                    </a:cubicBezTo>
                    <a:cubicBezTo>
                      <a:pt x="6215" y="2626"/>
                      <a:pt x="6215" y="2628"/>
                      <a:pt x="6215" y="2630"/>
                    </a:cubicBezTo>
                    <a:cubicBezTo>
                      <a:pt x="6215" y="2634"/>
                      <a:pt x="6215" y="2636"/>
                      <a:pt x="6215" y="2638"/>
                    </a:cubicBezTo>
                    <a:cubicBezTo>
                      <a:pt x="6215" y="2640"/>
                      <a:pt x="6216" y="2642"/>
                      <a:pt x="6217" y="2643"/>
                    </a:cubicBezTo>
                    <a:cubicBezTo>
                      <a:pt x="6217" y="2644"/>
                      <a:pt x="6218" y="2645"/>
                      <a:pt x="6219" y="2645"/>
                    </a:cubicBezTo>
                    <a:cubicBezTo>
                      <a:pt x="6219" y="2646"/>
                      <a:pt x="6220" y="2645"/>
                      <a:pt x="6221" y="2645"/>
                    </a:cubicBezTo>
                    <a:cubicBezTo>
                      <a:pt x="6223" y="2645"/>
                      <a:pt x="6225" y="2644"/>
                      <a:pt x="6229" y="2642"/>
                    </a:cubicBezTo>
                    <a:cubicBezTo>
                      <a:pt x="6233" y="2639"/>
                      <a:pt x="6238" y="2637"/>
                      <a:pt x="6243" y="2634"/>
                    </a:cubicBezTo>
                    <a:cubicBezTo>
                      <a:pt x="6249" y="2631"/>
                      <a:pt x="6255" y="2628"/>
                      <a:pt x="6262" y="2625"/>
                    </a:cubicBezTo>
                    <a:cubicBezTo>
                      <a:pt x="6269" y="2623"/>
                      <a:pt x="6277" y="2622"/>
                      <a:pt x="6286" y="2622"/>
                    </a:cubicBezTo>
                    <a:cubicBezTo>
                      <a:pt x="6293" y="2622"/>
                      <a:pt x="6300" y="2623"/>
                      <a:pt x="6306" y="2625"/>
                    </a:cubicBezTo>
                    <a:cubicBezTo>
                      <a:pt x="6312" y="2627"/>
                      <a:pt x="6317" y="2630"/>
                      <a:pt x="6321" y="2634"/>
                    </a:cubicBezTo>
                    <a:cubicBezTo>
                      <a:pt x="6325" y="2638"/>
                      <a:pt x="6328" y="2643"/>
                      <a:pt x="6330" y="2648"/>
                    </a:cubicBezTo>
                    <a:cubicBezTo>
                      <a:pt x="6332" y="2653"/>
                      <a:pt x="6332" y="2659"/>
                      <a:pt x="6332" y="2665"/>
                    </a:cubicBezTo>
                    <a:cubicBezTo>
                      <a:pt x="6332" y="2673"/>
                      <a:pt x="6331" y="2680"/>
                      <a:pt x="6328" y="2687"/>
                    </a:cubicBezTo>
                    <a:cubicBezTo>
                      <a:pt x="6325" y="2693"/>
                      <a:pt x="6321" y="2699"/>
                      <a:pt x="6316" y="2704"/>
                    </a:cubicBezTo>
                    <a:cubicBezTo>
                      <a:pt x="6310" y="2708"/>
                      <a:pt x="6304" y="2713"/>
                      <a:pt x="6296" y="2715"/>
                    </a:cubicBezTo>
                    <a:cubicBezTo>
                      <a:pt x="6288" y="2718"/>
                      <a:pt x="6279" y="2719"/>
                      <a:pt x="6270" y="2719"/>
                    </a:cubicBezTo>
                    <a:lnTo>
                      <a:pt x="6245" y="2719"/>
                    </a:lnTo>
                    <a:cubicBezTo>
                      <a:pt x="6244" y="2719"/>
                      <a:pt x="6243" y="2719"/>
                      <a:pt x="6242" y="2720"/>
                    </a:cubicBezTo>
                    <a:cubicBezTo>
                      <a:pt x="6240" y="2720"/>
                      <a:pt x="6240" y="2720"/>
                      <a:pt x="6239" y="2721"/>
                    </a:cubicBezTo>
                    <a:cubicBezTo>
                      <a:pt x="6238" y="2722"/>
                      <a:pt x="6238" y="2724"/>
                      <a:pt x="6237" y="2726"/>
                    </a:cubicBezTo>
                    <a:cubicBezTo>
                      <a:pt x="6237" y="2728"/>
                      <a:pt x="6236" y="2730"/>
                      <a:pt x="6236" y="2733"/>
                    </a:cubicBezTo>
                    <a:cubicBezTo>
                      <a:pt x="6236" y="2736"/>
                      <a:pt x="6237" y="2739"/>
                      <a:pt x="6237" y="2741"/>
                    </a:cubicBezTo>
                    <a:cubicBezTo>
                      <a:pt x="6238" y="2743"/>
                      <a:pt x="6238" y="2744"/>
                      <a:pt x="6239" y="2745"/>
                    </a:cubicBezTo>
                    <a:cubicBezTo>
                      <a:pt x="6240" y="2746"/>
                      <a:pt x="6240" y="2747"/>
                      <a:pt x="6242" y="2748"/>
                    </a:cubicBezTo>
                    <a:cubicBezTo>
                      <a:pt x="6243" y="2748"/>
                      <a:pt x="6244" y="2749"/>
                      <a:pt x="6245" y="2749"/>
                    </a:cubicBezTo>
                    <a:lnTo>
                      <a:pt x="6272" y="2749"/>
                    </a:lnTo>
                    <a:cubicBezTo>
                      <a:pt x="6284" y="2749"/>
                      <a:pt x="6293" y="2750"/>
                      <a:pt x="6302" y="2752"/>
                    </a:cubicBezTo>
                    <a:cubicBezTo>
                      <a:pt x="6311" y="2755"/>
                      <a:pt x="6319" y="2758"/>
                      <a:pt x="6325" y="2763"/>
                    </a:cubicBezTo>
                    <a:cubicBezTo>
                      <a:pt x="6331" y="2767"/>
                      <a:pt x="6335" y="2773"/>
                      <a:pt x="6339" y="2779"/>
                    </a:cubicBezTo>
                    <a:cubicBezTo>
                      <a:pt x="6342" y="2786"/>
                      <a:pt x="6344" y="2793"/>
                      <a:pt x="6344" y="2802"/>
                    </a:cubicBezTo>
                    <a:cubicBezTo>
                      <a:pt x="6344" y="2809"/>
                      <a:pt x="6343" y="2816"/>
                      <a:pt x="6340" y="2822"/>
                    </a:cubicBezTo>
                    <a:cubicBezTo>
                      <a:pt x="6338" y="2828"/>
                      <a:pt x="6334" y="2834"/>
                      <a:pt x="6329" y="2839"/>
                    </a:cubicBezTo>
                    <a:cubicBezTo>
                      <a:pt x="6324" y="2843"/>
                      <a:pt x="6318" y="2847"/>
                      <a:pt x="6310" y="2849"/>
                    </a:cubicBezTo>
                    <a:cubicBezTo>
                      <a:pt x="6303" y="2852"/>
                      <a:pt x="6294" y="2853"/>
                      <a:pt x="6285" y="2853"/>
                    </a:cubicBezTo>
                    <a:cubicBezTo>
                      <a:pt x="6275" y="2853"/>
                      <a:pt x="6266" y="2852"/>
                      <a:pt x="6257" y="2849"/>
                    </a:cubicBezTo>
                    <a:cubicBezTo>
                      <a:pt x="6249" y="2847"/>
                      <a:pt x="6242" y="2844"/>
                      <a:pt x="6236" y="2841"/>
                    </a:cubicBezTo>
                    <a:cubicBezTo>
                      <a:pt x="6230" y="2839"/>
                      <a:pt x="6225" y="2837"/>
                      <a:pt x="6221" y="2834"/>
                    </a:cubicBezTo>
                    <a:cubicBezTo>
                      <a:pt x="6217" y="2832"/>
                      <a:pt x="6215" y="2831"/>
                      <a:pt x="6213" y="2831"/>
                    </a:cubicBezTo>
                    <a:cubicBezTo>
                      <a:pt x="6211" y="2831"/>
                      <a:pt x="6210" y="2831"/>
                      <a:pt x="6209" y="2833"/>
                    </a:cubicBezTo>
                    <a:cubicBezTo>
                      <a:pt x="6208" y="2835"/>
                      <a:pt x="6207" y="2839"/>
                      <a:pt x="6207" y="2845"/>
                    </a:cubicBezTo>
                    <a:cubicBezTo>
                      <a:pt x="6207" y="2848"/>
                      <a:pt x="6207" y="2850"/>
                      <a:pt x="6207" y="2852"/>
                    </a:cubicBezTo>
                    <a:cubicBezTo>
                      <a:pt x="6207" y="2854"/>
                      <a:pt x="6208" y="2857"/>
                      <a:pt x="6209" y="2858"/>
                    </a:cubicBezTo>
                    <a:cubicBezTo>
                      <a:pt x="6209" y="2859"/>
                      <a:pt x="6209" y="2860"/>
                      <a:pt x="6210" y="2862"/>
                    </a:cubicBezTo>
                    <a:cubicBezTo>
                      <a:pt x="6210" y="2863"/>
                      <a:pt x="6211" y="2863"/>
                      <a:pt x="6212" y="2864"/>
                    </a:cubicBezTo>
                    <a:cubicBezTo>
                      <a:pt x="6214" y="2865"/>
                      <a:pt x="6216" y="2867"/>
                      <a:pt x="6220" y="2869"/>
                    </a:cubicBezTo>
                    <a:cubicBezTo>
                      <a:pt x="6225" y="2872"/>
                      <a:pt x="6231" y="2873"/>
                      <a:pt x="6237" y="2876"/>
                    </a:cubicBezTo>
                    <a:cubicBezTo>
                      <a:pt x="6244" y="2878"/>
                      <a:pt x="6251" y="2880"/>
                      <a:pt x="6259" y="2882"/>
                    </a:cubicBezTo>
                    <a:cubicBezTo>
                      <a:pt x="6267" y="2883"/>
                      <a:pt x="6276" y="2884"/>
                      <a:pt x="6286" y="2884"/>
                    </a:cubicBezTo>
                    <a:cubicBezTo>
                      <a:pt x="6301" y="2884"/>
                      <a:pt x="6315" y="2881"/>
                      <a:pt x="6328" y="2877"/>
                    </a:cubicBezTo>
                    <a:cubicBezTo>
                      <a:pt x="6340" y="2873"/>
                      <a:pt x="6351" y="2868"/>
                      <a:pt x="6360" y="2861"/>
                    </a:cubicBezTo>
                    <a:cubicBezTo>
                      <a:pt x="6368" y="2853"/>
                      <a:pt x="6375" y="2844"/>
                      <a:pt x="6379" y="2833"/>
                    </a:cubicBezTo>
                    <a:cubicBezTo>
                      <a:pt x="6384" y="2823"/>
                      <a:pt x="6386" y="2811"/>
                      <a:pt x="6386" y="2798"/>
                    </a:cubicBezTo>
                    <a:cubicBezTo>
                      <a:pt x="6386" y="2789"/>
                      <a:pt x="6384" y="2780"/>
                      <a:pt x="6381" y="2772"/>
                    </a:cubicBezTo>
                    <a:cubicBezTo>
                      <a:pt x="6378" y="2765"/>
                      <a:pt x="6374" y="2758"/>
                      <a:pt x="6368" y="2752"/>
                    </a:cubicBezTo>
                    <a:cubicBezTo>
                      <a:pt x="6362" y="2746"/>
                      <a:pt x="6355" y="2741"/>
                      <a:pt x="6346" y="2737"/>
                    </a:cubicBezTo>
                    <a:cubicBezTo>
                      <a:pt x="6338" y="2733"/>
                      <a:pt x="6329" y="2731"/>
                      <a:pt x="6319" y="2730"/>
                    </a:cubicBezTo>
                    <a:cubicBezTo>
                      <a:pt x="6328" y="2728"/>
                      <a:pt x="6335" y="2725"/>
                      <a:pt x="6342" y="2721"/>
                    </a:cubicBezTo>
                    <a:cubicBezTo>
                      <a:pt x="6349" y="2717"/>
                      <a:pt x="6354" y="2711"/>
                      <a:pt x="6359" y="2705"/>
                    </a:cubicBezTo>
                    <a:cubicBezTo>
                      <a:pt x="6363" y="2699"/>
                      <a:pt x="6367" y="2693"/>
                      <a:pt x="6369" y="2685"/>
                    </a:cubicBezTo>
                    <a:cubicBezTo>
                      <a:pt x="6372" y="2677"/>
                      <a:pt x="6373" y="2669"/>
                      <a:pt x="6373" y="2660"/>
                    </a:cubicBezTo>
                    <a:cubicBezTo>
                      <a:pt x="6373" y="2650"/>
                      <a:pt x="6371" y="2640"/>
                      <a:pt x="6368" y="2631"/>
                    </a:cubicBezTo>
                    <a:cubicBezTo>
                      <a:pt x="6364" y="2623"/>
                      <a:pt x="6359" y="2615"/>
                      <a:pt x="6353" y="2609"/>
                    </a:cubicBezTo>
                    <a:cubicBezTo>
                      <a:pt x="6346" y="2603"/>
                      <a:pt x="6338" y="2599"/>
                      <a:pt x="6328" y="2595"/>
                    </a:cubicBezTo>
                    <a:cubicBezTo>
                      <a:pt x="6318" y="2592"/>
                      <a:pt x="6306" y="2590"/>
                      <a:pt x="6293" y="2590"/>
                    </a:cubicBezTo>
                    <a:close/>
                    <a:moveTo>
                      <a:pt x="6531" y="2590"/>
                    </a:moveTo>
                    <a:cubicBezTo>
                      <a:pt x="6512" y="2590"/>
                      <a:pt x="6496" y="2593"/>
                      <a:pt x="6483" y="2600"/>
                    </a:cubicBezTo>
                    <a:cubicBezTo>
                      <a:pt x="6470" y="2608"/>
                      <a:pt x="6460" y="2618"/>
                      <a:pt x="6452" y="2631"/>
                    </a:cubicBezTo>
                    <a:cubicBezTo>
                      <a:pt x="6444" y="2644"/>
                      <a:pt x="6438" y="2660"/>
                      <a:pt x="6435" y="2678"/>
                    </a:cubicBezTo>
                    <a:cubicBezTo>
                      <a:pt x="6431" y="2696"/>
                      <a:pt x="6429" y="2716"/>
                      <a:pt x="6429" y="2738"/>
                    </a:cubicBezTo>
                    <a:cubicBezTo>
                      <a:pt x="6429" y="2762"/>
                      <a:pt x="6432" y="2782"/>
                      <a:pt x="6435" y="2800"/>
                    </a:cubicBezTo>
                    <a:cubicBezTo>
                      <a:pt x="6438" y="2818"/>
                      <a:pt x="6443" y="2833"/>
                      <a:pt x="6451" y="2846"/>
                    </a:cubicBezTo>
                    <a:cubicBezTo>
                      <a:pt x="6458" y="2858"/>
                      <a:pt x="6467" y="2867"/>
                      <a:pt x="6480" y="2874"/>
                    </a:cubicBezTo>
                    <a:cubicBezTo>
                      <a:pt x="6492" y="2880"/>
                      <a:pt x="6508" y="2884"/>
                      <a:pt x="6526" y="2884"/>
                    </a:cubicBezTo>
                    <a:cubicBezTo>
                      <a:pt x="6544" y="2884"/>
                      <a:pt x="6560" y="2880"/>
                      <a:pt x="6573" y="2873"/>
                    </a:cubicBezTo>
                    <a:cubicBezTo>
                      <a:pt x="6586" y="2866"/>
                      <a:pt x="6597" y="2856"/>
                      <a:pt x="6605" y="2843"/>
                    </a:cubicBezTo>
                    <a:cubicBezTo>
                      <a:pt x="6613" y="2830"/>
                      <a:pt x="6618" y="2814"/>
                      <a:pt x="6622" y="2796"/>
                    </a:cubicBezTo>
                    <a:cubicBezTo>
                      <a:pt x="6625" y="2778"/>
                      <a:pt x="6627" y="2758"/>
                      <a:pt x="6627" y="2736"/>
                    </a:cubicBezTo>
                    <a:cubicBezTo>
                      <a:pt x="6627" y="2713"/>
                      <a:pt x="6626" y="2692"/>
                      <a:pt x="6623" y="2674"/>
                    </a:cubicBezTo>
                    <a:cubicBezTo>
                      <a:pt x="6619" y="2656"/>
                      <a:pt x="6614" y="2640"/>
                      <a:pt x="6607" y="2628"/>
                    </a:cubicBezTo>
                    <a:cubicBezTo>
                      <a:pt x="6599" y="2615"/>
                      <a:pt x="6589" y="2606"/>
                      <a:pt x="6577" y="2600"/>
                    </a:cubicBezTo>
                    <a:cubicBezTo>
                      <a:pt x="6564" y="2593"/>
                      <a:pt x="6549" y="2590"/>
                      <a:pt x="6531" y="2590"/>
                    </a:cubicBezTo>
                    <a:close/>
                    <a:moveTo>
                      <a:pt x="2417" y="2591"/>
                    </a:moveTo>
                    <a:cubicBezTo>
                      <a:pt x="2401" y="2591"/>
                      <a:pt x="2387" y="2593"/>
                      <a:pt x="2375" y="2597"/>
                    </a:cubicBezTo>
                    <a:cubicBezTo>
                      <a:pt x="2363" y="2601"/>
                      <a:pt x="2353" y="2607"/>
                      <a:pt x="2344" y="2615"/>
                    </a:cubicBezTo>
                    <a:cubicBezTo>
                      <a:pt x="2335" y="2622"/>
                      <a:pt x="2328" y="2632"/>
                      <a:pt x="2322" y="2642"/>
                    </a:cubicBezTo>
                    <a:cubicBezTo>
                      <a:pt x="2316" y="2652"/>
                      <a:pt x="2311" y="2663"/>
                      <a:pt x="2308" y="2675"/>
                    </a:cubicBezTo>
                    <a:cubicBezTo>
                      <a:pt x="2305" y="2686"/>
                      <a:pt x="2302" y="2698"/>
                      <a:pt x="2301" y="2711"/>
                    </a:cubicBezTo>
                    <a:cubicBezTo>
                      <a:pt x="2300" y="2723"/>
                      <a:pt x="2299" y="2736"/>
                      <a:pt x="2299" y="2748"/>
                    </a:cubicBezTo>
                    <a:cubicBezTo>
                      <a:pt x="2299" y="2762"/>
                      <a:pt x="2300" y="2775"/>
                      <a:pt x="2301" y="2787"/>
                    </a:cubicBezTo>
                    <a:cubicBezTo>
                      <a:pt x="2302" y="2799"/>
                      <a:pt x="2304" y="2810"/>
                      <a:pt x="2307" y="2820"/>
                    </a:cubicBezTo>
                    <a:cubicBezTo>
                      <a:pt x="2310" y="2830"/>
                      <a:pt x="2313" y="2839"/>
                      <a:pt x="2318" y="2847"/>
                    </a:cubicBezTo>
                    <a:cubicBezTo>
                      <a:pt x="2322" y="2854"/>
                      <a:pt x="2328" y="2861"/>
                      <a:pt x="2335" y="2867"/>
                    </a:cubicBezTo>
                    <a:cubicBezTo>
                      <a:pt x="2341" y="2872"/>
                      <a:pt x="2349" y="2876"/>
                      <a:pt x="2358" y="2879"/>
                    </a:cubicBezTo>
                    <a:cubicBezTo>
                      <a:pt x="2367" y="2882"/>
                      <a:pt x="2378" y="2884"/>
                      <a:pt x="2390" y="2884"/>
                    </a:cubicBezTo>
                    <a:cubicBezTo>
                      <a:pt x="2407" y="2884"/>
                      <a:pt x="2421" y="2881"/>
                      <a:pt x="2433" y="2876"/>
                    </a:cubicBezTo>
                    <a:cubicBezTo>
                      <a:pt x="2445" y="2870"/>
                      <a:pt x="2455" y="2863"/>
                      <a:pt x="2463" y="2854"/>
                    </a:cubicBezTo>
                    <a:cubicBezTo>
                      <a:pt x="2471" y="2846"/>
                      <a:pt x="2477" y="2835"/>
                      <a:pt x="2481" y="2824"/>
                    </a:cubicBezTo>
                    <a:cubicBezTo>
                      <a:pt x="2485" y="2812"/>
                      <a:pt x="2486" y="2800"/>
                      <a:pt x="2486" y="2787"/>
                    </a:cubicBezTo>
                    <a:cubicBezTo>
                      <a:pt x="2486" y="2776"/>
                      <a:pt x="2485" y="2765"/>
                      <a:pt x="2483" y="2755"/>
                    </a:cubicBezTo>
                    <a:cubicBezTo>
                      <a:pt x="2480" y="2745"/>
                      <a:pt x="2475" y="2736"/>
                      <a:pt x="2469" y="2728"/>
                    </a:cubicBezTo>
                    <a:cubicBezTo>
                      <a:pt x="2462" y="2721"/>
                      <a:pt x="2454" y="2715"/>
                      <a:pt x="2443" y="2711"/>
                    </a:cubicBezTo>
                    <a:cubicBezTo>
                      <a:pt x="2432" y="2707"/>
                      <a:pt x="2419" y="2705"/>
                      <a:pt x="2403" y="2705"/>
                    </a:cubicBezTo>
                    <a:cubicBezTo>
                      <a:pt x="2396" y="2705"/>
                      <a:pt x="2389" y="2705"/>
                      <a:pt x="2383" y="2706"/>
                    </a:cubicBezTo>
                    <a:cubicBezTo>
                      <a:pt x="2377" y="2707"/>
                      <a:pt x="2371" y="2709"/>
                      <a:pt x="2365" y="2711"/>
                    </a:cubicBezTo>
                    <a:cubicBezTo>
                      <a:pt x="2360" y="2712"/>
                      <a:pt x="2354" y="2715"/>
                      <a:pt x="2350" y="2717"/>
                    </a:cubicBezTo>
                    <a:cubicBezTo>
                      <a:pt x="2345" y="2719"/>
                      <a:pt x="2341" y="2721"/>
                      <a:pt x="2337" y="2723"/>
                    </a:cubicBezTo>
                    <a:cubicBezTo>
                      <a:pt x="2338" y="2710"/>
                      <a:pt x="2339" y="2697"/>
                      <a:pt x="2342" y="2684"/>
                    </a:cubicBezTo>
                    <a:cubicBezTo>
                      <a:pt x="2345" y="2672"/>
                      <a:pt x="2349" y="2661"/>
                      <a:pt x="2356" y="2652"/>
                    </a:cubicBezTo>
                    <a:cubicBezTo>
                      <a:pt x="2362" y="2642"/>
                      <a:pt x="2371" y="2634"/>
                      <a:pt x="2380" y="2629"/>
                    </a:cubicBezTo>
                    <a:cubicBezTo>
                      <a:pt x="2390" y="2623"/>
                      <a:pt x="2402" y="2621"/>
                      <a:pt x="2416" y="2621"/>
                    </a:cubicBezTo>
                    <a:cubicBezTo>
                      <a:pt x="2423" y="2621"/>
                      <a:pt x="2429" y="2621"/>
                      <a:pt x="2435" y="2623"/>
                    </a:cubicBezTo>
                    <a:cubicBezTo>
                      <a:pt x="2441" y="2624"/>
                      <a:pt x="2445" y="2624"/>
                      <a:pt x="2449" y="2625"/>
                    </a:cubicBezTo>
                    <a:cubicBezTo>
                      <a:pt x="2453" y="2626"/>
                      <a:pt x="2457" y="2628"/>
                      <a:pt x="2460" y="2629"/>
                    </a:cubicBezTo>
                    <a:cubicBezTo>
                      <a:pt x="2463" y="2630"/>
                      <a:pt x="2464" y="2630"/>
                      <a:pt x="2466" y="2630"/>
                    </a:cubicBezTo>
                    <a:cubicBezTo>
                      <a:pt x="2467" y="2630"/>
                      <a:pt x="2469" y="2630"/>
                      <a:pt x="2469" y="2630"/>
                    </a:cubicBezTo>
                    <a:cubicBezTo>
                      <a:pt x="2470" y="2629"/>
                      <a:pt x="2471" y="2628"/>
                      <a:pt x="2471" y="2627"/>
                    </a:cubicBezTo>
                    <a:cubicBezTo>
                      <a:pt x="2472" y="2626"/>
                      <a:pt x="2472" y="2624"/>
                      <a:pt x="2472" y="2623"/>
                    </a:cubicBezTo>
                    <a:cubicBezTo>
                      <a:pt x="2472" y="2621"/>
                      <a:pt x="2472" y="2618"/>
                      <a:pt x="2472" y="2615"/>
                    </a:cubicBezTo>
                    <a:cubicBezTo>
                      <a:pt x="2472" y="2613"/>
                      <a:pt x="2472" y="2612"/>
                      <a:pt x="2472" y="2610"/>
                    </a:cubicBezTo>
                    <a:cubicBezTo>
                      <a:pt x="2472" y="2609"/>
                      <a:pt x="2472" y="2608"/>
                      <a:pt x="2471" y="2607"/>
                    </a:cubicBezTo>
                    <a:cubicBezTo>
                      <a:pt x="2471" y="2606"/>
                      <a:pt x="2471" y="2604"/>
                      <a:pt x="2470" y="2603"/>
                    </a:cubicBezTo>
                    <a:cubicBezTo>
                      <a:pt x="2470" y="2602"/>
                      <a:pt x="2469" y="2601"/>
                      <a:pt x="2468" y="2600"/>
                    </a:cubicBezTo>
                    <a:cubicBezTo>
                      <a:pt x="2467" y="2600"/>
                      <a:pt x="2465" y="2599"/>
                      <a:pt x="2462" y="2598"/>
                    </a:cubicBezTo>
                    <a:cubicBezTo>
                      <a:pt x="2458" y="2596"/>
                      <a:pt x="2455" y="2595"/>
                      <a:pt x="2450" y="2594"/>
                    </a:cubicBezTo>
                    <a:cubicBezTo>
                      <a:pt x="2445" y="2593"/>
                      <a:pt x="2440" y="2592"/>
                      <a:pt x="2434" y="2592"/>
                    </a:cubicBezTo>
                    <a:cubicBezTo>
                      <a:pt x="2429" y="2591"/>
                      <a:pt x="2423" y="2591"/>
                      <a:pt x="2417" y="2591"/>
                    </a:cubicBezTo>
                    <a:close/>
                    <a:moveTo>
                      <a:pt x="83" y="2592"/>
                    </a:moveTo>
                    <a:cubicBezTo>
                      <a:pt x="74" y="2592"/>
                      <a:pt x="66" y="2593"/>
                      <a:pt x="58" y="2594"/>
                    </a:cubicBezTo>
                    <a:cubicBezTo>
                      <a:pt x="50" y="2596"/>
                      <a:pt x="44" y="2598"/>
                      <a:pt x="37" y="2600"/>
                    </a:cubicBezTo>
                    <a:cubicBezTo>
                      <a:pt x="31" y="2603"/>
                      <a:pt x="25" y="2606"/>
                      <a:pt x="20" y="2608"/>
                    </a:cubicBezTo>
                    <a:cubicBezTo>
                      <a:pt x="16" y="2611"/>
                      <a:pt x="13" y="2613"/>
                      <a:pt x="11" y="2615"/>
                    </a:cubicBezTo>
                    <a:cubicBezTo>
                      <a:pt x="10" y="2616"/>
                      <a:pt x="9" y="2618"/>
                      <a:pt x="8" y="2619"/>
                    </a:cubicBezTo>
                    <a:cubicBezTo>
                      <a:pt x="7" y="2620"/>
                      <a:pt x="7" y="2620"/>
                      <a:pt x="6" y="2622"/>
                    </a:cubicBezTo>
                    <a:cubicBezTo>
                      <a:pt x="6" y="2623"/>
                      <a:pt x="5" y="2624"/>
                      <a:pt x="5" y="2626"/>
                    </a:cubicBezTo>
                    <a:cubicBezTo>
                      <a:pt x="5" y="2628"/>
                      <a:pt x="5" y="2630"/>
                      <a:pt x="5" y="2632"/>
                    </a:cubicBezTo>
                    <a:cubicBezTo>
                      <a:pt x="5" y="2635"/>
                      <a:pt x="5" y="2638"/>
                      <a:pt x="5" y="2640"/>
                    </a:cubicBezTo>
                    <a:cubicBezTo>
                      <a:pt x="6" y="2642"/>
                      <a:pt x="7" y="2644"/>
                      <a:pt x="7" y="2645"/>
                    </a:cubicBezTo>
                    <a:cubicBezTo>
                      <a:pt x="8" y="2647"/>
                      <a:pt x="8" y="2648"/>
                      <a:pt x="9" y="2648"/>
                    </a:cubicBezTo>
                    <a:cubicBezTo>
                      <a:pt x="10" y="2649"/>
                      <a:pt x="10" y="2649"/>
                      <a:pt x="11" y="2649"/>
                    </a:cubicBezTo>
                    <a:cubicBezTo>
                      <a:pt x="13" y="2649"/>
                      <a:pt x="16" y="2648"/>
                      <a:pt x="19" y="2645"/>
                    </a:cubicBezTo>
                    <a:cubicBezTo>
                      <a:pt x="23" y="2643"/>
                      <a:pt x="28" y="2640"/>
                      <a:pt x="34" y="2637"/>
                    </a:cubicBezTo>
                    <a:cubicBezTo>
                      <a:pt x="39" y="2634"/>
                      <a:pt x="45" y="2631"/>
                      <a:pt x="52" y="2629"/>
                    </a:cubicBezTo>
                    <a:cubicBezTo>
                      <a:pt x="59" y="2626"/>
                      <a:pt x="67" y="2625"/>
                      <a:pt x="76" y="2625"/>
                    </a:cubicBezTo>
                    <a:cubicBezTo>
                      <a:pt x="83" y="2625"/>
                      <a:pt x="90" y="2626"/>
                      <a:pt x="96" y="2629"/>
                    </a:cubicBezTo>
                    <a:cubicBezTo>
                      <a:pt x="102" y="2631"/>
                      <a:pt x="107" y="2635"/>
                      <a:pt x="111" y="2639"/>
                    </a:cubicBezTo>
                    <a:cubicBezTo>
                      <a:pt x="115" y="2644"/>
                      <a:pt x="118" y="2649"/>
                      <a:pt x="120" y="2654"/>
                    </a:cubicBezTo>
                    <a:cubicBezTo>
                      <a:pt x="122" y="2660"/>
                      <a:pt x="123" y="2666"/>
                      <a:pt x="123" y="2672"/>
                    </a:cubicBezTo>
                    <a:cubicBezTo>
                      <a:pt x="123" y="2678"/>
                      <a:pt x="122" y="2685"/>
                      <a:pt x="121" y="2692"/>
                    </a:cubicBezTo>
                    <a:cubicBezTo>
                      <a:pt x="120" y="2699"/>
                      <a:pt x="117" y="2707"/>
                      <a:pt x="113" y="2716"/>
                    </a:cubicBezTo>
                    <a:cubicBezTo>
                      <a:pt x="109" y="2725"/>
                      <a:pt x="103" y="2734"/>
                      <a:pt x="95" y="2745"/>
                    </a:cubicBezTo>
                    <a:cubicBezTo>
                      <a:pt x="88" y="2756"/>
                      <a:pt x="77" y="2769"/>
                      <a:pt x="64" y="2782"/>
                    </a:cubicBezTo>
                    <a:lnTo>
                      <a:pt x="9" y="2840"/>
                    </a:lnTo>
                    <a:cubicBezTo>
                      <a:pt x="7" y="2842"/>
                      <a:pt x="6" y="2844"/>
                      <a:pt x="4" y="2846"/>
                    </a:cubicBezTo>
                    <a:cubicBezTo>
                      <a:pt x="3" y="2847"/>
                      <a:pt x="2" y="2849"/>
                      <a:pt x="2" y="2851"/>
                    </a:cubicBezTo>
                    <a:cubicBezTo>
                      <a:pt x="1" y="2853"/>
                      <a:pt x="0" y="2855"/>
                      <a:pt x="0" y="2857"/>
                    </a:cubicBezTo>
                    <a:cubicBezTo>
                      <a:pt x="0" y="2859"/>
                      <a:pt x="0" y="2861"/>
                      <a:pt x="0" y="2864"/>
                    </a:cubicBezTo>
                    <a:cubicBezTo>
                      <a:pt x="0" y="2867"/>
                      <a:pt x="0" y="2871"/>
                      <a:pt x="1" y="2873"/>
                    </a:cubicBezTo>
                    <a:cubicBezTo>
                      <a:pt x="1" y="2875"/>
                      <a:pt x="2" y="2876"/>
                      <a:pt x="4" y="2877"/>
                    </a:cubicBezTo>
                    <a:cubicBezTo>
                      <a:pt x="5" y="2879"/>
                      <a:pt x="6" y="2880"/>
                      <a:pt x="7" y="2880"/>
                    </a:cubicBezTo>
                    <a:cubicBezTo>
                      <a:pt x="9" y="2881"/>
                      <a:pt x="10" y="2881"/>
                      <a:pt x="12" y="2881"/>
                    </a:cubicBezTo>
                    <a:lnTo>
                      <a:pt x="170" y="2881"/>
                    </a:lnTo>
                    <a:cubicBezTo>
                      <a:pt x="172" y="2881"/>
                      <a:pt x="173" y="2881"/>
                      <a:pt x="174" y="2880"/>
                    </a:cubicBezTo>
                    <a:cubicBezTo>
                      <a:pt x="175" y="2879"/>
                      <a:pt x="176" y="2879"/>
                      <a:pt x="176" y="2877"/>
                    </a:cubicBezTo>
                    <a:cubicBezTo>
                      <a:pt x="177" y="2876"/>
                      <a:pt x="178" y="2874"/>
                      <a:pt x="178" y="2872"/>
                    </a:cubicBezTo>
                    <a:cubicBezTo>
                      <a:pt x="179" y="2870"/>
                      <a:pt x="178" y="2868"/>
                      <a:pt x="178" y="2865"/>
                    </a:cubicBezTo>
                    <a:cubicBezTo>
                      <a:pt x="178" y="2862"/>
                      <a:pt x="179" y="2860"/>
                      <a:pt x="178" y="2858"/>
                    </a:cubicBezTo>
                    <a:cubicBezTo>
                      <a:pt x="178" y="2856"/>
                      <a:pt x="177" y="2854"/>
                      <a:pt x="176" y="2853"/>
                    </a:cubicBezTo>
                    <a:cubicBezTo>
                      <a:pt x="176" y="2851"/>
                      <a:pt x="175" y="2851"/>
                      <a:pt x="174" y="2850"/>
                    </a:cubicBezTo>
                    <a:cubicBezTo>
                      <a:pt x="173" y="2849"/>
                      <a:pt x="171" y="2849"/>
                      <a:pt x="170" y="2849"/>
                    </a:cubicBezTo>
                    <a:lnTo>
                      <a:pt x="46" y="2849"/>
                    </a:lnTo>
                    <a:lnTo>
                      <a:pt x="91" y="2802"/>
                    </a:lnTo>
                    <a:cubicBezTo>
                      <a:pt x="107" y="2785"/>
                      <a:pt x="121" y="2770"/>
                      <a:pt x="131" y="2757"/>
                    </a:cubicBezTo>
                    <a:cubicBezTo>
                      <a:pt x="140" y="2745"/>
                      <a:pt x="147" y="2733"/>
                      <a:pt x="153" y="2722"/>
                    </a:cubicBezTo>
                    <a:cubicBezTo>
                      <a:pt x="158" y="2712"/>
                      <a:pt x="162" y="2702"/>
                      <a:pt x="163" y="2693"/>
                    </a:cubicBezTo>
                    <a:cubicBezTo>
                      <a:pt x="165" y="2684"/>
                      <a:pt x="166" y="2675"/>
                      <a:pt x="166" y="2666"/>
                    </a:cubicBezTo>
                    <a:cubicBezTo>
                      <a:pt x="166" y="2656"/>
                      <a:pt x="164" y="2646"/>
                      <a:pt x="161" y="2637"/>
                    </a:cubicBezTo>
                    <a:cubicBezTo>
                      <a:pt x="157" y="2628"/>
                      <a:pt x="152" y="2620"/>
                      <a:pt x="146" y="2614"/>
                    </a:cubicBezTo>
                    <a:cubicBezTo>
                      <a:pt x="139" y="2607"/>
                      <a:pt x="129" y="2602"/>
                      <a:pt x="119" y="2598"/>
                    </a:cubicBezTo>
                    <a:cubicBezTo>
                      <a:pt x="109" y="2594"/>
                      <a:pt x="97" y="2592"/>
                      <a:pt x="83" y="2592"/>
                    </a:cubicBezTo>
                    <a:close/>
                    <a:moveTo>
                      <a:pt x="3191" y="2592"/>
                    </a:moveTo>
                    <a:cubicBezTo>
                      <a:pt x="3182" y="2592"/>
                      <a:pt x="3174" y="2593"/>
                      <a:pt x="3166" y="2594"/>
                    </a:cubicBezTo>
                    <a:cubicBezTo>
                      <a:pt x="3158" y="2596"/>
                      <a:pt x="3151" y="2598"/>
                      <a:pt x="3144" y="2600"/>
                    </a:cubicBezTo>
                    <a:cubicBezTo>
                      <a:pt x="3138" y="2603"/>
                      <a:pt x="3133" y="2606"/>
                      <a:pt x="3128" y="2608"/>
                    </a:cubicBezTo>
                    <a:cubicBezTo>
                      <a:pt x="3124" y="2611"/>
                      <a:pt x="3120" y="2613"/>
                      <a:pt x="3119" y="2615"/>
                    </a:cubicBezTo>
                    <a:cubicBezTo>
                      <a:pt x="3117" y="2616"/>
                      <a:pt x="3116" y="2618"/>
                      <a:pt x="3115" y="2619"/>
                    </a:cubicBezTo>
                    <a:cubicBezTo>
                      <a:pt x="3114" y="2620"/>
                      <a:pt x="3115" y="2620"/>
                      <a:pt x="3114" y="2622"/>
                    </a:cubicBezTo>
                    <a:cubicBezTo>
                      <a:pt x="3114" y="2623"/>
                      <a:pt x="3113" y="2624"/>
                      <a:pt x="3113" y="2626"/>
                    </a:cubicBezTo>
                    <a:cubicBezTo>
                      <a:pt x="3113" y="2628"/>
                      <a:pt x="3112" y="2630"/>
                      <a:pt x="3112" y="2632"/>
                    </a:cubicBezTo>
                    <a:cubicBezTo>
                      <a:pt x="3112" y="2635"/>
                      <a:pt x="3113" y="2638"/>
                      <a:pt x="3113" y="2640"/>
                    </a:cubicBezTo>
                    <a:cubicBezTo>
                      <a:pt x="3114" y="2642"/>
                      <a:pt x="3114" y="2644"/>
                      <a:pt x="3114" y="2645"/>
                    </a:cubicBezTo>
                    <a:cubicBezTo>
                      <a:pt x="3115" y="2647"/>
                      <a:pt x="3116" y="2648"/>
                      <a:pt x="3117" y="2648"/>
                    </a:cubicBezTo>
                    <a:cubicBezTo>
                      <a:pt x="3118" y="2649"/>
                      <a:pt x="3118" y="2649"/>
                      <a:pt x="3119" y="2649"/>
                    </a:cubicBezTo>
                    <a:cubicBezTo>
                      <a:pt x="3121" y="2649"/>
                      <a:pt x="3124" y="2648"/>
                      <a:pt x="3127" y="2645"/>
                    </a:cubicBezTo>
                    <a:cubicBezTo>
                      <a:pt x="3131" y="2643"/>
                      <a:pt x="3135" y="2640"/>
                      <a:pt x="3141" y="2637"/>
                    </a:cubicBezTo>
                    <a:cubicBezTo>
                      <a:pt x="3146" y="2634"/>
                      <a:pt x="3152" y="2631"/>
                      <a:pt x="3159" y="2629"/>
                    </a:cubicBezTo>
                    <a:cubicBezTo>
                      <a:pt x="3166" y="2626"/>
                      <a:pt x="3175" y="2625"/>
                      <a:pt x="3184" y="2625"/>
                    </a:cubicBezTo>
                    <a:cubicBezTo>
                      <a:pt x="3191" y="2625"/>
                      <a:pt x="3198" y="2626"/>
                      <a:pt x="3204" y="2629"/>
                    </a:cubicBezTo>
                    <a:cubicBezTo>
                      <a:pt x="3210" y="2631"/>
                      <a:pt x="3214" y="2635"/>
                      <a:pt x="3218" y="2639"/>
                    </a:cubicBezTo>
                    <a:cubicBezTo>
                      <a:pt x="3222" y="2644"/>
                      <a:pt x="3225" y="2649"/>
                      <a:pt x="3227" y="2654"/>
                    </a:cubicBezTo>
                    <a:cubicBezTo>
                      <a:pt x="3229" y="2660"/>
                      <a:pt x="3231" y="2666"/>
                      <a:pt x="3231" y="2672"/>
                    </a:cubicBezTo>
                    <a:cubicBezTo>
                      <a:pt x="3231" y="2678"/>
                      <a:pt x="3230" y="2685"/>
                      <a:pt x="3229" y="2692"/>
                    </a:cubicBezTo>
                    <a:cubicBezTo>
                      <a:pt x="3227" y="2699"/>
                      <a:pt x="3224" y="2707"/>
                      <a:pt x="3220" y="2716"/>
                    </a:cubicBezTo>
                    <a:cubicBezTo>
                      <a:pt x="3216" y="2725"/>
                      <a:pt x="3210" y="2734"/>
                      <a:pt x="3202" y="2745"/>
                    </a:cubicBezTo>
                    <a:cubicBezTo>
                      <a:pt x="3195" y="2756"/>
                      <a:pt x="3184" y="2769"/>
                      <a:pt x="3171" y="2782"/>
                    </a:cubicBezTo>
                    <a:lnTo>
                      <a:pt x="3116" y="2840"/>
                    </a:lnTo>
                    <a:cubicBezTo>
                      <a:pt x="3114" y="2842"/>
                      <a:pt x="3113" y="2844"/>
                      <a:pt x="3112" y="2846"/>
                    </a:cubicBezTo>
                    <a:cubicBezTo>
                      <a:pt x="3111" y="2847"/>
                      <a:pt x="3110" y="2849"/>
                      <a:pt x="3109" y="2851"/>
                    </a:cubicBezTo>
                    <a:cubicBezTo>
                      <a:pt x="3108" y="2853"/>
                      <a:pt x="3108" y="2855"/>
                      <a:pt x="3108" y="2857"/>
                    </a:cubicBezTo>
                    <a:cubicBezTo>
                      <a:pt x="3108" y="2859"/>
                      <a:pt x="3107" y="2861"/>
                      <a:pt x="3107" y="2864"/>
                    </a:cubicBezTo>
                    <a:cubicBezTo>
                      <a:pt x="3107" y="2867"/>
                      <a:pt x="3107" y="2871"/>
                      <a:pt x="3108" y="2873"/>
                    </a:cubicBezTo>
                    <a:cubicBezTo>
                      <a:pt x="3108" y="2875"/>
                      <a:pt x="3110" y="2876"/>
                      <a:pt x="3111" y="2877"/>
                    </a:cubicBezTo>
                    <a:cubicBezTo>
                      <a:pt x="3112" y="2879"/>
                      <a:pt x="3113" y="2880"/>
                      <a:pt x="3115" y="2880"/>
                    </a:cubicBezTo>
                    <a:cubicBezTo>
                      <a:pt x="3117" y="2881"/>
                      <a:pt x="3118" y="2881"/>
                      <a:pt x="3120" y="2881"/>
                    </a:cubicBezTo>
                    <a:lnTo>
                      <a:pt x="3277" y="2881"/>
                    </a:lnTo>
                    <a:cubicBezTo>
                      <a:pt x="3279" y="2881"/>
                      <a:pt x="3281" y="2881"/>
                      <a:pt x="3282" y="2880"/>
                    </a:cubicBezTo>
                    <a:cubicBezTo>
                      <a:pt x="3283" y="2879"/>
                      <a:pt x="3284" y="2879"/>
                      <a:pt x="3284" y="2877"/>
                    </a:cubicBezTo>
                    <a:cubicBezTo>
                      <a:pt x="3285" y="2876"/>
                      <a:pt x="3285" y="2874"/>
                      <a:pt x="3285" y="2872"/>
                    </a:cubicBezTo>
                    <a:cubicBezTo>
                      <a:pt x="3286" y="2870"/>
                      <a:pt x="3286" y="2868"/>
                      <a:pt x="3286" y="2865"/>
                    </a:cubicBezTo>
                    <a:cubicBezTo>
                      <a:pt x="3286" y="2862"/>
                      <a:pt x="3286" y="2860"/>
                      <a:pt x="3285" y="2858"/>
                    </a:cubicBezTo>
                    <a:cubicBezTo>
                      <a:pt x="3285" y="2856"/>
                      <a:pt x="3284" y="2854"/>
                      <a:pt x="3283" y="2853"/>
                    </a:cubicBezTo>
                    <a:cubicBezTo>
                      <a:pt x="3283" y="2851"/>
                      <a:pt x="3282" y="2851"/>
                      <a:pt x="3281" y="2850"/>
                    </a:cubicBezTo>
                    <a:cubicBezTo>
                      <a:pt x="3280" y="2849"/>
                      <a:pt x="3278" y="2849"/>
                      <a:pt x="3277" y="2849"/>
                    </a:cubicBezTo>
                    <a:lnTo>
                      <a:pt x="3153" y="2849"/>
                    </a:lnTo>
                    <a:lnTo>
                      <a:pt x="3199" y="2802"/>
                    </a:lnTo>
                    <a:cubicBezTo>
                      <a:pt x="3215" y="2785"/>
                      <a:pt x="3228" y="2770"/>
                      <a:pt x="3238" y="2757"/>
                    </a:cubicBezTo>
                    <a:cubicBezTo>
                      <a:pt x="3247" y="2745"/>
                      <a:pt x="3255" y="2733"/>
                      <a:pt x="3261" y="2722"/>
                    </a:cubicBezTo>
                    <a:cubicBezTo>
                      <a:pt x="3266" y="2712"/>
                      <a:pt x="3269" y="2702"/>
                      <a:pt x="3270" y="2693"/>
                    </a:cubicBezTo>
                    <a:cubicBezTo>
                      <a:pt x="3272" y="2684"/>
                      <a:pt x="3273" y="2675"/>
                      <a:pt x="3273" y="2666"/>
                    </a:cubicBezTo>
                    <a:cubicBezTo>
                      <a:pt x="3273" y="2656"/>
                      <a:pt x="3271" y="2646"/>
                      <a:pt x="3268" y="2637"/>
                    </a:cubicBezTo>
                    <a:cubicBezTo>
                      <a:pt x="3264" y="2628"/>
                      <a:pt x="3259" y="2620"/>
                      <a:pt x="3253" y="2614"/>
                    </a:cubicBezTo>
                    <a:cubicBezTo>
                      <a:pt x="3246" y="2607"/>
                      <a:pt x="3237" y="2602"/>
                      <a:pt x="3227" y="2598"/>
                    </a:cubicBezTo>
                    <a:cubicBezTo>
                      <a:pt x="3217" y="2594"/>
                      <a:pt x="3205" y="2592"/>
                      <a:pt x="3191" y="2592"/>
                    </a:cubicBezTo>
                    <a:close/>
                    <a:moveTo>
                      <a:pt x="351" y="2594"/>
                    </a:moveTo>
                    <a:cubicBezTo>
                      <a:pt x="347" y="2594"/>
                      <a:pt x="343" y="2595"/>
                      <a:pt x="340" y="2595"/>
                    </a:cubicBezTo>
                    <a:cubicBezTo>
                      <a:pt x="336" y="2595"/>
                      <a:pt x="334" y="2595"/>
                      <a:pt x="332" y="2596"/>
                    </a:cubicBezTo>
                    <a:cubicBezTo>
                      <a:pt x="329" y="2597"/>
                      <a:pt x="328" y="2597"/>
                      <a:pt x="326" y="2598"/>
                    </a:cubicBezTo>
                    <a:cubicBezTo>
                      <a:pt x="325" y="2599"/>
                      <a:pt x="324" y="2600"/>
                      <a:pt x="323" y="2601"/>
                    </a:cubicBezTo>
                    <a:lnTo>
                      <a:pt x="220" y="2774"/>
                    </a:lnTo>
                    <a:cubicBezTo>
                      <a:pt x="219" y="2776"/>
                      <a:pt x="219" y="2779"/>
                      <a:pt x="218" y="2780"/>
                    </a:cubicBezTo>
                    <a:cubicBezTo>
                      <a:pt x="217" y="2782"/>
                      <a:pt x="217" y="2784"/>
                      <a:pt x="216" y="2786"/>
                    </a:cubicBezTo>
                    <a:cubicBezTo>
                      <a:pt x="216" y="2788"/>
                      <a:pt x="215" y="2789"/>
                      <a:pt x="215" y="2791"/>
                    </a:cubicBezTo>
                    <a:cubicBezTo>
                      <a:pt x="215" y="2793"/>
                      <a:pt x="215" y="2796"/>
                      <a:pt x="215" y="2799"/>
                    </a:cubicBezTo>
                    <a:cubicBezTo>
                      <a:pt x="215" y="2802"/>
                      <a:pt x="215" y="2806"/>
                      <a:pt x="215" y="2808"/>
                    </a:cubicBezTo>
                    <a:cubicBezTo>
                      <a:pt x="216" y="2810"/>
                      <a:pt x="216" y="2811"/>
                      <a:pt x="217" y="2812"/>
                    </a:cubicBezTo>
                    <a:cubicBezTo>
                      <a:pt x="218" y="2813"/>
                      <a:pt x="219" y="2814"/>
                      <a:pt x="220" y="2815"/>
                    </a:cubicBezTo>
                    <a:cubicBezTo>
                      <a:pt x="222" y="2815"/>
                      <a:pt x="223" y="2816"/>
                      <a:pt x="225" y="2816"/>
                    </a:cubicBezTo>
                    <a:lnTo>
                      <a:pt x="342" y="2816"/>
                    </a:lnTo>
                    <a:lnTo>
                      <a:pt x="342" y="2876"/>
                    </a:lnTo>
                    <a:cubicBezTo>
                      <a:pt x="342" y="2877"/>
                      <a:pt x="343" y="2877"/>
                      <a:pt x="343" y="2878"/>
                    </a:cubicBezTo>
                    <a:cubicBezTo>
                      <a:pt x="344" y="2879"/>
                      <a:pt x="345" y="2880"/>
                      <a:pt x="347" y="2881"/>
                    </a:cubicBezTo>
                    <a:cubicBezTo>
                      <a:pt x="348" y="2882"/>
                      <a:pt x="350" y="2882"/>
                      <a:pt x="352" y="2882"/>
                    </a:cubicBezTo>
                    <a:cubicBezTo>
                      <a:pt x="354" y="2882"/>
                      <a:pt x="357" y="2883"/>
                      <a:pt x="361" y="2883"/>
                    </a:cubicBezTo>
                    <a:cubicBezTo>
                      <a:pt x="364" y="2883"/>
                      <a:pt x="367" y="2882"/>
                      <a:pt x="370" y="2882"/>
                    </a:cubicBezTo>
                    <a:cubicBezTo>
                      <a:pt x="372" y="2882"/>
                      <a:pt x="374" y="2882"/>
                      <a:pt x="376" y="2881"/>
                    </a:cubicBezTo>
                    <a:cubicBezTo>
                      <a:pt x="377" y="2880"/>
                      <a:pt x="378" y="2879"/>
                      <a:pt x="378" y="2878"/>
                    </a:cubicBezTo>
                    <a:cubicBezTo>
                      <a:pt x="379" y="2877"/>
                      <a:pt x="379" y="2877"/>
                      <a:pt x="379" y="2876"/>
                    </a:cubicBezTo>
                    <a:lnTo>
                      <a:pt x="379" y="2816"/>
                    </a:lnTo>
                    <a:lnTo>
                      <a:pt x="412" y="2816"/>
                    </a:lnTo>
                    <a:cubicBezTo>
                      <a:pt x="415" y="2816"/>
                      <a:pt x="417" y="2814"/>
                      <a:pt x="418" y="2811"/>
                    </a:cubicBezTo>
                    <a:cubicBezTo>
                      <a:pt x="420" y="2808"/>
                      <a:pt x="420" y="2805"/>
                      <a:pt x="420" y="2800"/>
                    </a:cubicBezTo>
                    <a:cubicBezTo>
                      <a:pt x="420" y="2794"/>
                      <a:pt x="420" y="2791"/>
                      <a:pt x="418" y="2788"/>
                    </a:cubicBezTo>
                    <a:cubicBezTo>
                      <a:pt x="416" y="2786"/>
                      <a:pt x="414" y="2784"/>
                      <a:pt x="412" y="2784"/>
                    </a:cubicBezTo>
                    <a:lnTo>
                      <a:pt x="379" y="2784"/>
                    </a:lnTo>
                    <a:lnTo>
                      <a:pt x="379" y="2602"/>
                    </a:lnTo>
                    <a:cubicBezTo>
                      <a:pt x="379" y="2601"/>
                      <a:pt x="379" y="2600"/>
                      <a:pt x="377" y="2599"/>
                    </a:cubicBezTo>
                    <a:cubicBezTo>
                      <a:pt x="376" y="2598"/>
                      <a:pt x="374" y="2597"/>
                      <a:pt x="372" y="2596"/>
                    </a:cubicBezTo>
                    <a:cubicBezTo>
                      <a:pt x="370" y="2595"/>
                      <a:pt x="368" y="2596"/>
                      <a:pt x="364" y="2595"/>
                    </a:cubicBezTo>
                    <a:cubicBezTo>
                      <a:pt x="361" y="2595"/>
                      <a:pt x="356" y="2594"/>
                      <a:pt x="351" y="2594"/>
                    </a:cubicBezTo>
                    <a:close/>
                    <a:moveTo>
                      <a:pt x="1296" y="2594"/>
                    </a:moveTo>
                    <a:cubicBezTo>
                      <a:pt x="1291" y="2594"/>
                      <a:pt x="1288" y="2595"/>
                      <a:pt x="1286" y="2598"/>
                    </a:cubicBezTo>
                    <a:cubicBezTo>
                      <a:pt x="1284" y="2600"/>
                      <a:pt x="1282" y="2604"/>
                      <a:pt x="1282" y="2608"/>
                    </a:cubicBezTo>
                    <a:lnTo>
                      <a:pt x="1282" y="2725"/>
                    </a:lnTo>
                    <a:cubicBezTo>
                      <a:pt x="1282" y="2730"/>
                      <a:pt x="1283" y="2734"/>
                      <a:pt x="1285" y="2736"/>
                    </a:cubicBezTo>
                    <a:cubicBezTo>
                      <a:pt x="1287" y="2738"/>
                      <a:pt x="1290" y="2739"/>
                      <a:pt x="1294" y="2739"/>
                    </a:cubicBezTo>
                    <a:cubicBezTo>
                      <a:pt x="1299" y="2739"/>
                      <a:pt x="1305" y="2738"/>
                      <a:pt x="1311" y="2737"/>
                    </a:cubicBezTo>
                    <a:cubicBezTo>
                      <a:pt x="1318" y="2736"/>
                      <a:pt x="1326" y="2736"/>
                      <a:pt x="1335" y="2736"/>
                    </a:cubicBezTo>
                    <a:cubicBezTo>
                      <a:pt x="1348" y="2736"/>
                      <a:pt x="1359" y="2738"/>
                      <a:pt x="1368" y="2740"/>
                    </a:cubicBezTo>
                    <a:cubicBezTo>
                      <a:pt x="1377" y="2742"/>
                      <a:pt x="1384" y="2745"/>
                      <a:pt x="1390" y="2750"/>
                    </a:cubicBezTo>
                    <a:cubicBezTo>
                      <a:pt x="1396" y="2754"/>
                      <a:pt x="1400" y="2760"/>
                      <a:pt x="1403" y="2767"/>
                    </a:cubicBezTo>
                    <a:cubicBezTo>
                      <a:pt x="1406" y="2774"/>
                      <a:pt x="1408" y="2783"/>
                      <a:pt x="1408" y="2792"/>
                    </a:cubicBezTo>
                    <a:cubicBezTo>
                      <a:pt x="1408" y="2803"/>
                      <a:pt x="1406" y="2812"/>
                      <a:pt x="1402" y="2819"/>
                    </a:cubicBezTo>
                    <a:cubicBezTo>
                      <a:pt x="1399" y="2827"/>
                      <a:pt x="1394" y="2833"/>
                      <a:pt x="1388" y="2838"/>
                    </a:cubicBezTo>
                    <a:cubicBezTo>
                      <a:pt x="1382" y="2843"/>
                      <a:pt x="1375" y="2847"/>
                      <a:pt x="1367" y="2849"/>
                    </a:cubicBezTo>
                    <a:cubicBezTo>
                      <a:pt x="1359" y="2852"/>
                      <a:pt x="1350" y="2853"/>
                      <a:pt x="1341" y="2853"/>
                    </a:cubicBezTo>
                    <a:cubicBezTo>
                      <a:pt x="1330" y="2853"/>
                      <a:pt x="1320" y="2852"/>
                      <a:pt x="1312" y="2850"/>
                    </a:cubicBezTo>
                    <a:cubicBezTo>
                      <a:pt x="1305" y="2848"/>
                      <a:pt x="1298" y="2846"/>
                      <a:pt x="1293" y="2844"/>
                    </a:cubicBezTo>
                    <a:cubicBezTo>
                      <a:pt x="1288" y="2842"/>
                      <a:pt x="1284" y="2840"/>
                      <a:pt x="1281" y="2838"/>
                    </a:cubicBezTo>
                    <a:cubicBezTo>
                      <a:pt x="1277" y="2836"/>
                      <a:pt x="1276" y="2835"/>
                      <a:pt x="1274" y="2835"/>
                    </a:cubicBezTo>
                    <a:cubicBezTo>
                      <a:pt x="1273" y="2835"/>
                      <a:pt x="1272" y="2835"/>
                      <a:pt x="1271" y="2836"/>
                    </a:cubicBezTo>
                    <a:cubicBezTo>
                      <a:pt x="1270" y="2837"/>
                      <a:pt x="1270" y="2837"/>
                      <a:pt x="1269" y="2839"/>
                    </a:cubicBezTo>
                    <a:cubicBezTo>
                      <a:pt x="1269" y="2840"/>
                      <a:pt x="1268" y="2841"/>
                      <a:pt x="1268" y="2843"/>
                    </a:cubicBezTo>
                    <a:cubicBezTo>
                      <a:pt x="1268" y="2845"/>
                      <a:pt x="1267" y="2848"/>
                      <a:pt x="1267" y="2850"/>
                    </a:cubicBezTo>
                    <a:cubicBezTo>
                      <a:pt x="1267" y="2853"/>
                      <a:pt x="1268" y="2855"/>
                      <a:pt x="1268" y="2857"/>
                    </a:cubicBezTo>
                    <a:cubicBezTo>
                      <a:pt x="1268" y="2859"/>
                      <a:pt x="1268" y="2860"/>
                      <a:pt x="1268" y="2862"/>
                    </a:cubicBezTo>
                    <a:cubicBezTo>
                      <a:pt x="1269" y="2863"/>
                      <a:pt x="1270" y="2864"/>
                      <a:pt x="1270" y="2865"/>
                    </a:cubicBezTo>
                    <a:cubicBezTo>
                      <a:pt x="1270" y="2866"/>
                      <a:pt x="1271" y="2867"/>
                      <a:pt x="1272" y="2868"/>
                    </a:cubicBezTo>
                    <a:cubicBezTo>
                      <a:pt x="1273" y="2869"/>
                      <a:pt x="1276" y="2870"/>
                      <a:pt x="1280" y="2872"/>
                    </a:cubicBezTo>
                    <a:cubicBezTo>
                      <a:pt x="1284" y="2874"/>
                      <a:pt x="1289" y="2876"/>
                      <a:pt x="1295" y="2877"/>
                    </a:cubicBezTo>
                    <a:cubicBezTo>
                      <a:pt x="1301" y="2879"/>
                      <a:pt x="1308" y="2881"/>
                      <a:pt x="1316" y="2882"/>
                    </a:cubicBezTo>
                    <a:cubicBezTo>
                      <a:pt x="1324" y="2883"/>
                      <a:pt x="1333" y="2884"/>
                      <a:pt x="1341" y="2884"/>
                    </a:cubicBezTo>
                    <a:cubicBezTo>
                      <a:pt x="1357" y="2884"/>
                      <a:pt x="1372" y="2882"/>
                      <a:pt x="1385" y="2877"/>
                    </a:cubicBezTo>
                    <a:cubicBezTo>
                      <a:pt x="1398" y="2873"/>
                      <a:pt x="1409" y="2867"/>
                      <a:pt x="1418" y="2859"/>
                    </a:cubicBezTo>
                    <a:cubicBezTo>
                      <a:pt x="1428" y="2851"/>
                      <a:pt x="1435" y="2841"/>
                      <a:pt x="1440" y="2829"/>
                    </a:cubicBezTo>
                    <a:cubicBezTo>
                      <a:pt x="1445" y="2817"/>
                      <a:pt x="1448" y="2804"/>
                      <a:pt x="1448" y="2788"/>
                    </a:cubicBezTo>
                    <a:cubicBezTo>
                      <a:pt x="1448" y="2776"/>
                      <a:pt x="1445" y="2764"/>
                      <a:pt x="1441" y="2754"/>
                    </a:cubicBezTo>
                    <a:cubicBezTo>
                      <a:pt x="1437" y="2744"/>
                      <a:pt x="1431" y="2735"/>
                      <a:pt x="1423" y="2728"/>
                    </a:cubicBezTo>
                    <a:cubicBezTo>
                      <a:pt x="1414" y="2721"/>
                      <a:pt x="1405" y="2715"/>
                      <a:pt x="1393" y="2712"/>
                    </a:cubicBezTo>
                    <a:cubicBezTo>
                      <a:pt x="1380" y="2708"/>
                      <a:pt x="1366" y="2706"/>
                      <a:pt x="1349" y="2706"/>
                    </a:cubicBezTo>
                    <a:cubicBezTo>
                      <a:pt x="1342" y="2706"/>
                      <a:pt x="1336" y="2706"/>
                      <a:pt x="1331" y="2706"/>
                    </a:cubicBezTo>
                    <a:cubicBezTo>
                      <a:pt x="1325" y="2706"/>
                      <a:pt x="1320" y="2706"/>
                      <a:pt x="1315" y="2707"/>
                    </a:cubicBezTo>
                    <a:lnTo>
                      <a:pt x="1315" y="2628"/>
                    </a:lnTo>
                    <a:lnTo>
                      <a:pt x="1422" y="2628"/>
                    </a:lnTo>
                    <a:cubicBezTo>
                      <a:pt x="1424" y="2628"/>
                      <a:pt x="1426" y="2626"/>
                      <a:pt x="1428" y="2623"/>
                    </a:cubicBezTo>
                    <a:cubicBezTo>
                      <a:pt x="1429" y="2620"/>
                      <a:pt x="1431" y="2616"/>
                      <a:pt x="1431" y="2611"/>
                    </a:cubicBezTo>
                    <a:cubicBezTo>
                      <a:pt x="1431" y="2608"/>
                      <a:pt x="1430" y="2605"/>
                      <a:pt x="1430" y="2603"/>
                    </a:cubicBezTo>
                    <a:cubicBezTo>
                      <a:pt x="1429" y="2601"/>
                      <a:pt x="1429" y="2600"/>
                      <a:pt x="1428" y="2599"/>
                    </a:cubicBezTo>
                    <a:cubicBezTo>
                      <a:pt x="1427" y="2597"/>
                      <a:pt x="1426" y="2596"/>
                      <a:pt x="1425" y="2595"/>
                    </a:cubicBezTo>
                    <a:cubicBezTo>
                      <a:pt x="1424" y="2595"/>
                      <a:pt x="1423" y="2594"/>
                      <a:pt x="1422" y="2594"/>
                    </a:cubicBezTo>
                    <a:lnTo>
                      <a:pt x="1296" y="2594"/>
                    </a:lnTo>
                    <a:close/>
                    <a:moveTo>
                      <a:pt x="3342" y="2596"/>
                    </a:moveTo>
                    <a:cubicBezTo>
                      <a:pt x="3340" y="2596"/>
                      <a:pt x="3339" y="2596"/>
                      <a:pt x="3338" y="2597"/>
                    </a:cubicBezTo>
                    <a:cubicBezTo>
                      <a:pt x="3337" y="2598"/>
                      <a:pt x="3336" y="2598"/>
                      <a:pt x="3336" y="2600"/>
                    </a:cubicBezTo>
                    <a:cubicBezTo>
                      <a:pt x="3335" y="2601"/>
                      <a:pt x="3334" y="2603"/>
                      <a:pt x="3334" y="2605"/>
                    </a:cubicBezTo>
                    <a:cubicBezTo>
                      <a:pt x="3333" y="2607"/>
                      <a:pt x="3334" y="2609"/>
                      <a:pt x="3334" y="2612"/>
                    </a:cubicBezTo>
                    <a:cubicBezTo>
                      <a:pt x="3334" y="2617"/>
                      <a:pt x="3334" y="2621"/>
                      <a:pt x="3336" y="2624"/>
                    </a:cubicBezTo>
                    <a:cubicBezTo>
                      <a:pt x="3337" y="2627"/>
                      <a:pt x="3339" y="2629"/>
                      <a:pt x="3342" y="2629"/>
                    </a:cubicBezTo>
                    <a:lnTo>
                      <a:pt x="3478" y="2629"/>
                    </a:lnTo>
                    <a:lnTo>
                      <a:pt x="3371" y="2871"/>
                    </a:lnTo>
                    <a:cubicBezTo>
                      <a:pt x="3370" y="2873"/>
                      <a:pt x="3369" y="2875"/>
                      <a:pt x="3369" y="2877"/>
                    </a:cubicBezTo>
                    <a:cubicBezTo>
                      <a:pt x="3369" y="2878"/>
                      <a:pt x="3370" y="2879"/>
                      <a:pt x="3371" y="2880"/>
                    </a:cubicBezTo>
                    <a:cubicBezTo>
                      <a:pt x="3372" y="2881"/>
                      <a:pt x="3374" y="2881"/>
                      <a:pt x="3377" y="2882"/>
                    </a:cubicBezTo>
                    <a:cubicBezTo>
                      <a:pt x="3380" y="2882"/>
                      <a:pt x="3383" y="2883"/>
                      <a:pt x="3388" y="2883"/>
                    </a:cubicBezTo>
                    <a:cubicBezTo>
                      <a:pt x="3392" y="2883"/>
                      <a:pt x="3395" y="2882"/>
                      <a:pt x="3398" y="2882"/>
                    </a:cubicBezTo>
                    <a:cubicBezTo>
                      <a:pt x="3401" y="2882"/>
                      <a:pt x="3403" y="2882"/>
                      <a:pt x="3405" y="2881"/>
                    </a:cubicBezTo>
                    <a:cubicBezTo>
                      <a:pt x="3407" y="2880"/>
                      <a:pt x="3408" y="2879"/>
                      <a:pt x="3409" y="2878"/>
                    </a:cubicBezTo>
                    <a:cubicBezTo>
                      <a:pt x="3410" y="2877"/>
                      <a:pt x="3411" y="2876"/>
                      <a:pt x="3411" y="2874"/>
                    </a:cubicBezTo>
                    <a:lnTo>
                      <a:pt x="3515" y="2637"/>
                    </a:lnTo>
                    <a:cubicBezTo>
                      <a:pt x="3515" y="2635"/>
                      <a:pt x="3517" y="2633"/>
                      <a:pt x="3517" y="2631"/>
                    </a:cubicBezTo>
                    <a:cubicBezTo>
                      <a:pt x="3518" y="2629"/>
                      <a:pt x="3518" y="2627"/>
                      <a:pt x="3518" y="2625"/>
                    </a:cubicBezTo>
                    <a:cubicBezTo>
                      <a:pt x="3518" y="2623"/>
                      <a:pt x="3519" y="2621"/>
                      <a:pt x="3519" y="2619"/>
                    </a:cubicBezTo>
                    <a:cubicBezTo>
                      <a:pt x="3519" y="2617"/>
                      <a:pt x="3520" y="2615"/>
                      <a:pt x="3520" y="2612"/>
                    </a:cubicBezTo>
                    <a:cubicBezTo>
                      <a:pt x="3520" y="2609"/>
                      <a:pt x="3519" y="2606"/>
                      <a:pt x="3519" y="2604"/>
                    </a:cubicBezTo>
                    <a:cubicBezTo>
                      <a:pt x="3519" y="2602"/>
                      <a:pt x="3518" y="2600"/>
                      <a:pt x="3517" y="2599"/>
                    </a:cubicBezTo>
                    <a:cubicBezTo>
                      <a:pt x="3516" y="2597"/>
                      <a:pt x="3515" y="2596"/>
                      <a:pt x="3514" y="2596"/>
                    </a:cubicBezTo>
                    <a:cubicBezTo>
                      <a:pt x="3512" y="2596"/>
                      <a:pt x="3510" y="2596"/>
                      <a:pt x="3508" y="2596"/>
                    </a:cubicBezTo>
                    <a:lnTo>
                      <a:pt x="3342" y="2596"/>
                    </a:lnTo>
                    <a:close/>
                    <a:moveTo>
                      <a:pt x="4459" y="2620"/>
                    </a:moveTo>
                    <a:cubicBezTo>
                      <a:pt x="4467" y="2620"/>
                      <a:pt x="4473" y="2621"/>
                      <a:pt x="4479" y="2623"/>
                    </a:cubicBezTo>
                    <a:cubicBezTo>
                      <a:pt x="4485" y="2624"/>
                      <a:pt x="4491" y="2627"/>
                      <a:pt x="4495" y="2630"/>
                    </a:cubicBezTo>
                    <a:cubicBezTo>
                      <a:pt x="4499" y="2634"/>
                      <a:pt x="4502" y="2639"/>
                      <a:pt x="4504" y="2644"/>
                    </a:cubicBezTo>
                    <a:cubicBezTo>
                      <a:pt x="4506" y="2649"/>
                      <a:pt x="4508" y="2654"/>
                      <a:pt x="4508" y="2660"/>
                    </a:cubicBezTo>
                    <a:cubicBezTo>
                      <a:pt x="4508" y="2672"/>
                      <a:pt x="4504" y="2681"/>
                      <a:pt x="4496" y="2690"/>
                    </a:cubicBezTo>
                    <a:cubicBezTo>
                      <a:pt x="4488" y="2700"/>
                      <a:pt x="4477" y="2708"/>
                      <a:pt x="4462" y="2716"/>
                    </a:cubicBezTo>
                    <a:cubicBezTo>
                      <a:pt x="4453" y="2711"/>
                      <a:pt x="4445" y="2707"/>
                      <a:pt x="4439" y="2703"/>
                    </a:cubicBezTo>
                    <a:cubicBezTo>
                      <a:pt x="4432" y="2699"/>
                      <a:pt x="4427" y="2695"/>
                      <a:pt x="4423" y="2690"/>
                    </a:cubicBezTo>
                    <a:cubicBezTo>
                      <a:pt x="4419" y="2686"/>
                      <a:pt x="4415" y="2681"/>
                      <a:pt x="4413" y="2676"/>
                    </a:cubicBezTo>
                    <a:cubicBezTo>
                      <a:pt x="4411" y="2671"/>
                      <a:pt x="4411" y="2666"/>
                      <a:pt x="4411" y="2660"/>
                    </a:cubicBezTo>
                    <a:cubicBezTo>
                      <a:pt x="4411" y="2648"/>
                      <a:pt x="4415" y="2638"/>
                      <a:pt x="4423" y="2630"/>
                    </a:cubicBezTo>
                    <a:cubicBezTo>
                      <a:pt x="4431" y="2623"/>
                      <a:pt x="4443" y="2620"/>
                      <a:pt x="4459" y="2620"/>
                    </a:cubicBezTo>
                    <a:close/>
                    <a:moveTo>
                      <a:pt x="5492" y="2621"/>
                    </a:moveTo>
                    <a:cubicBezTo>
                      <a:pt x="5501" y="2621"/>
                      <a:pt x="5510" y="2623"/>
                      <a:pt x="5517" y="2626"/>
                    </a:cubicBezTo>
                    <a:cubicBezTo>
                      <a:pt x="5524" y="2630"/>
                      <a:pt x="5529" y="2635"/>
                      <a:pt x="5534" y="2643"/>
                    </a:cubicBezTo>
                    <a:cubicBezTo>
                      <a:pt x="5539" y="2651"/>
                      <a:pt x="5543" y="2661"/>
                      <a:pt x="5546" y="2674"/>
                    </a:cubicBezTo>
                    <a:cubicBezTo>
                      <a:pt x="5548" y="2687"/>
                      <a:pt x="5549" y="2702"/>
                      <a:pt x="5549" y="2721"/>
                    </a:cubicBezTo>
                    <a:cubicBezTo>
                      <a:pt x="5542" y="2727"/>
                      <a:pt x="5533" y="2731"/>
                      <a:pt x="5523" y="2735"/>
                    </a:cubicBezTo>
                    <a:cubicBezTo>
                      <a:pt x="5512" y="2738"/>
                      <a:pt x="5501" y="2740"/>
                      <a:pt x="5490" y="2740"/>
                    </a:cubicBezTo>
                    <a:cubicBezTo>
                      <a:pt x="5480" y="2740"/>
                      <a:pt x="5473" y="2738"/>
                      <a:pt x="5466" y="2735"/>
                    </a:cubicBezTo>
                    <a:cubicBezTo>
                      <a:pt x="5460" y="2733"/>
                      <a:pt x="5454" y="2729"/>
                      <a:pt x="5450" y="2724"/>
                    </a:cubicBezTo>
                    <a:cubicBezTo>
                      <a:pt x="5445" y="2719"/>
                      <a:pt x="5443" y="2713"/>
                      <a:pt x="5441" y="2705"/>
                    </a:cubicBezTo>
                    <a:cubicBezTo>
                      <a:pt x="5439" y="2698"/>
                      <a:pt x="5438" y="2690"/>
                      <a:pt x="5438" y="2682"/>
                    </a:cubicBezTo>
                    <a:cubicBezTo>
                      <a:pt x="5438" y="2674"/>
                      <a:pt x="5440" y="2667"/>
                      <a:pt x="5442" y="2660"/>
                    </a:cubicBezTo>
                    <a:cubicBezTo>
                      <a:pt x="5444" y="2652"/>
                      <a:pt x="5446" y="2645"/>
                      <a:pt x="5450" y="2639"/>
                    </a:cubicBezTo>
                    <a:cubicBezTo>
                      <a:pt x="5455" y="2633"/>
                      <a:pt x="5460" y="2629"/>
                      <a:pt x="5467" y="2625"/>
                    </a:cubicBezTo>
                    <a:cubicBezTo>
                      <a:pt x="5474" y="2622"/>
                      <a:pt x="5482" y="2621"/>
                      <a:pt x="5492" y="2621"/>
                    </a:cubicBezTo>
                    <a:close/>
                    <a:moveTo>
                      <a:pt x="6529" y="2622"/>
                    </a:moveTo>
                    <a:cubicBezTo>
                      <a:pt x="6536" y="2622"/>
                      <a:pt x="6542" y="2622"/>
                      <a:pt x="6548" y="2624"/>
                    </a:cubicBezTo>
                    <a:cubicBezTo>
                      <a:pt x="6553" y="2626"/>
                      <a:pt x="6559" y="2629"/>
                      <a:pt x="6563" y="2633"/>
                    </a:cubicBezTo>
                    <a:cubicBezTo>
                      <a:pt x="6568" y="2637"/>
                      <a:pt x="6571" y="2642"/>
                      <a:pt x="6574" y="2648"/>
                    </a:cubicBezTo>
                    <a:cubicBezTo>
                      <a:pt x="6577" y="2654"/>
                      <a:pt x="6580" y="2662"/>
                      <a:pt x="6582" y="2671"/>
                    </a:cubicBezTo>
                    <a:cubicBezTo>
                      <a:pt x="6584" y="2680"/>
                      <a:pt x="6585" y="2690"/>
                      <a:pt x="6586" y="2701"/>
                    </a:cubicBezTo>
                    <a:cubicBezTo>
                      <a:pt x="6587" y="2712"/>
                      <a:pt x="6588" y="2725"/>
                      <a:pt x="6588" y="2739"/>
                    </a:cubicBezTo>
                    <a:cubicBezTo>
                      <a:pt x="6588" y="2750"/>
                      <a:pt x="6588" y="2760"/>
                      <a:pt x="6587" y="2770"/>
                    </a:cubicBezTo>
                    <a:cubicBezTo>
                      <a:pt x="6587" y="2780"/>
                      <a:pt x="6585" y="2789"/>
                      <a:pt x="6584" y="2797"/>
                    </a:cubicBezTo>
                    <a:cubicBezTo>
                      <a:pt x="6582" y="2806"/>
                      <a:pt x="6580" y="2813"/>
                      <a:pt x="6577" y="2820"/>
                    </a:cubicBezTo>
                    <a:cubicBezTo>
                      <a:pt x="6574" y="2827"/>
                      <a:pt x="6570" y="2833"/>
                      <a:pt x="6565" y="2838"/>
                    </a:cubicBezTo>
                    <a:cubicBezTo>
                      <a:pt x="6561" y="2843"/>
                      <a:pt x="6556" y="2847"/>
                      <a:pt x="6549" y="2849"/>
                    </a:cubicBezTo>
                    <a:cubicBezTo>
                      <a:pt x="6543" y="2852"/>
                      <a:pt x="6536" y="2853"/>
                      <a:pt x="6527" y="2853"/>
                    </a:cubicBezTo>
                    <a:cubicBezTo>
                      <a:pt x="6517" y="2853"/>
                      <a:pt x="6508" y="2851"/>
                      <a:pt x="6501" y="2847"/>
                    </a:cubicBezTo>
                    <a:cubicBezTo>
                      <a:pt x="6493" y="2842"/>
                      <a:pt x="6487" y="2836"/>
                      <a:pt x="6482" y="2826"/>
                    </a:cubicBezTo>
                    <a:cubicBezTo>
                      <a:pt x="6478" y="2817"/>
                      <a:pt x="6474" y="2804"/>
                      <a:pt x="6472" y="2789"/>
                    </a:cubicBezTo>
                    <a:cubicBezTo>
                      <a:pt x="6470" y="2774"/>
                      <a:pt x="6468" y="2757"/>
                      <a:pt x="6468" y="2735"/>
                    </a:cubicBezTo>
                    <a:cubicBezTo>
                      <a:pt x="6468" y="2720"/>
                      <a:pt x="6469" y="2704"/>
                      <a:pt x="6471" y="2690"/>
                    </a:cubicBezTo>
                    <a:cubicBezTo>
                      <a:pt x="6472" y="2677"/>
                      <a:pt x="6475" y="2665"/>
                      <a:pt x="6480" y="2654"/>
                    </a:cubicBezTo>
                    <a:cubicBezTo>
                      <a:pt x="6484" y="2644"/>
                      <a:pt x="6490" y="2636"/>
                      <a:pt x="6498" y="2630"/>
                    </a:cubicBezTo>
                    <a:cubicBezTo>
                      <a:pt x="6506" y="2625"/>
                      <a:pt x="6517" y="2622"/>
                      <a:pt x="6529" y="2622"/>
                    </a:cubicBezTo>
                    <a:close/>
                    <a:moveTo>
                      <a:pt x="342" y="2628"/>
                    </a:moveTo>
                    <a:lnTo>
                      <a:pt x="342" y="2784"/>
                    </a:lnTo>
                    <a:lnTo>
                      <a:pt x="250" y="2784"/>
                    </a:lnTo>
                    <a:lnTo>
                      <a:pt x="342" y="2628"/>
                    </a:lnTo>
                    <a:close/>
                    <a:moveTo>
                      <a:pt x="2397" y="2735"/>
                    </a:moveTo>
                    <a:cubicBezTo>
                      <a:pt x="2407" y="2735"/>
                      <a:pt x="2414" y="2736"/>
                      <a:pt x="2421" y="2739"/>
                    </a:cubicBezTo>
                    <a:cubicBezTo>
                      <a:pt x="2428" y="2742"/>
                      <a:pt x="2433" y="2745"/>
                      <a:pt x="2437" y="2750"/>
                    </a:cubicBezTo>
                    <a:cubicBezTo>
                      <a:pt x="2441" y="2754"/>
                      <a:pt x="2444" y="2760"/>
                      <a:pt x="2446" y="2767"/>
                    </a:cubicBezTo>
                    <a:cubicBezTo>
                      <a:pt x="2447" y="2774"/>
                      <a:pt x="2448" y="2782"/>
                      <a:pt x="2448" y="2791"/>
                    </a:cubicBezTo>
                    <a:cubicBezTo>
                      <a:pt x="2448" y="2799"/>
                      <a:pt x="2447" y="2806"/>
                      <a:pt x="2445" y="2814"/>
                    </a:cubicBezTo>
                    <a:cubicBezTo>
                      <a:pt x="2443" y="2821"/>
                      <a:pt x="2440" y="2827"/>
                      <a:pt x="2435" y="2833"/>
                    </a:cubicBezTo>
                    <a:cubicBezTo>
                      <a:pt x="2430" y="2839"/>
                      <a:pt x="2424" y="2845"/>
                      <a:pt x="2417" y="2848"/>
                    </a:cubicBezTo>
                    <a:cubicBezTo>
                      <a:pt x="2411" y="2852"/>
                      <a:pt x="2403" y="2854"/>
                      <a:pt x="2394" y="2854"/>
                    </a:cubicBezTo>
                    <a:cubicBezTo>
                      <a:pt x="2384" y="2854"/>
                      <a:pt x="2376" y="2852"/>
                      <a:pt x="2369" y="2848"/>
                    </a:cubicBezTo>
                    <a:cubicBezTo>
                      <a:pt x="2362" y="2845"/>
                      <a:pt x="2357" y="2839"/>
                      <a:pt x="2352" y="2832"/>
                    </a:cubicBezTo>
                    <a:cubicBezTo>
                      <a:pt x="2348" y="2824"/>
                      <a:pt x="2344" y="2813"/>
                      <a:pt x="2342" y="2801"/>
                    </a:cubicBezTo>
                    <a:cubicBezTo>
                      <a:pt x="2339" y="2788"/>
                      <a:pt x="2337" y="2772"/>
                      <a:pt x="2337" y="2753"/>
                    </a:cubicBezTo>
                    <a:cubicBezTo>
                      <a:pt x="2341" y="2750"/>
                      <a:pt x="2346" y="2748"/>
                      <a:pt x="2350" y="2746"/>
                    </a:cubicBezTo>
                    <a:cubicBezTo>
                      <a:pt x="2355" y="2744"/>
                      <a:pt x="2359" y="2742"/>
                      <a:pt x="2364" y="2740"/>
                    </a:cubicBezTo>
                    <a:cubicBezTo>
                      <a:pt x="2370" y="2738"/>
                      <a:pt x="2375" y="2737"/>
                      <a:pt x="2380" y="2736"/>
                    </a:cubicBezTo>
                    <a:cubicBezTo>
                      <a:pt x="2386" y="2735"/>
                      <a:pt x="2392" y="2735"/>
                      <a:pt x="2397" y="2735"/>
                    </a:cubicBezTo>
                    <a:close/>
                    <a:moveTo>
                      <a:pt x="4456" y="2749"/>
                    </a:moveTo>
                    <a:cubicBezTo>
                      <a:pt x="4466" y="2753"/>
                      <a:pt x="4475" y="2758"/>
                      <a:pt x="4483" y="2763"/>
                    </a:cubicBezTo>
                    <a:cubicBezTo>
                      <a:pt x="4490" y="2767"/>
                      <a:pt x="4496" y="2772"/>
                      <a:pt x="4501" y="2777"/>
                    </a:cubicBezTo>
                    <a:cubicBezTo>
                      <a:pt x="4507" y="2782"/>
                      <a:pt x="4510" y="2786"/>
                      <a:pt x="4513" y="2792"/>
                    </a:cubicBezTo>
                    <a:cubicBezTo>
                      <a:pt x="4515" y="2797"/>
                      <a:pt x="4517" y="2804"/>
                      <a:pt x="4517" y="2810"/>
                    </a:cubicBezTo>
                    <a:cubicBezTo>
                      <a:pt x="4517" y="2824"/>
                      <a:pt x="4512" y="2834"/>
                      <a:pt x="4502" y="2842"/>
                    </a:cubicBezTo>
                    <a:cubicBezTo>
                      <a:pt x="4493" y="2850"/>
                      <a:pt x="4479" y="2854"/>
                      <a:pt x="4460" y="2854"/>
                    </a:cubicBezTo>
                    <a:cubicBezTo>
                      <a:pt x="4441" y="2854"/>
                      <a:pt x="4426" y="2851"/>
                      <a:pt x="4416" y="2843"/>
                    </a:cubicBezTo>
                    <a:cubicBezTo>
                      <a:pt x="4406" y="2835"/>
                      <a:pt x="4402" y="2824"/>
                      <a:pt x="4402" y="2809"/>
                    </a:cubicBezTo>
                    <a:cubicBezTo>
                      <a:pt x="4402" y="2803"/>
                      <a:pt x="4402" y="2797"/>
                      <a:pt x="4404" y="2792"/>
                    </a:cubicBezTo>
                    <a:cubicBezTo>
                      <a:pt x="4407" y="2786"/>
                      <a:pt x="4411" y="2782"/>
                      <a:pt x="4415" y="2777"/>
                    </a:cubicBezTo>
                    <a:cubicBezTo>
                      <a:pt x="4419" y="2772"/>
                      <a:pt x="4425" y="2767"/>
                      <a:pt x="4432" y="2763"/>
                    </a:cubicBezTo>
                    <a:cubicBezTo>
                      <a:pt x="4439" y="2758"/>
                      <a:pt x="4447" y="2753"/>
                      <a:pt x="4456" y="2749"/>
                    </a:cubicBezTo>
                    <a:close/>
                    <a:moveTo>
                      <a:pt x="90" y="3238"/>
                    </a:moveTo>
                    <a:cubicBezTo>
                      <a:pt x="81" y="3238"/>
                      <a:pt x="73" y="3239"/>
                      <a:pt x="64" y="3241"/>
                    </a:cubicBezTo>
                    <a:cubicBezTo>
                      <a:pt x="56" y="3243"/>
                      <a:pt x="49" y="3245"/>
                      <a:pt x="42" y="3248"/>
                    </a:cubicBezTo>
                    <a:cubicBezTo>
                      <a:pt x="36" y="3250"/>
                      <a:pt x="31" y="3252"/>
                      <a:pt x="26" y="3255"/>
                    </a:cubicBezTo>
                    <a:cubicBezTo>
                      <a:pt x="22" y="3258"/>
                      <a:pt x="20" y="3260"/>
                      <a:pt x="19" y="3261"/>
                    </a:cubicBezTo>
                    <a:cubicBezTo>
                      <a:pt x="17" y="3262"/>
                      <a:pt x="16" y="3264"/>
                      <a:pt x="15" y="3265"/>
                    </a:cubicBezTo>
                    <a:cubicBezTo>
                      <a:pt x="14" y="3266"/>
                      <a:pt x="14" y="3267"/>
                      <a:pt x="13" y="3268"/>
                    </a:cubicBezTo>
                    <a:cubicBezTo>
                      <a:pt x="13" y="3269"/>
                      <a:pt x="12" y="3271"/>
                      <a:pt x="12" y="3273"/>
                    </a:cubicBezTo>
                    <a:cubicBezTo>
                      <a:pt x="12" y="3274"/>
                      <a:pt x="12" y="3276"/>
                      <a:pt x="12" y="3279"/>
                    </a:cubicBezTo>
                    <a:cubicBezTo>
                      <a:pt x="12" y="3282"/>
                      <a:pt x="13" y="3285"/>
                      <a:pt x="13" y="3287"/>
                    </a:cubicBezTo>
                    <a:cubicBezTo>
                      <a:pt x="13" y="3289"/>
                      <a:pt x="14" y="3290"/>
                      <a:pt x="14" y="3291"/>
                    </a:cubicBezTo>
                    <a:cubicBezTo>
                      <a:pt x="15" y="3292"/>
                      <a:pt x="15" y="3293"/>
                      <a:pt x="16" y="3294"/>
                    </a:cubicBezTo>
                    <a:cubicBezTo>
                      <a:pt x="17" y="3294"/>
                      <a:pt x="17" y="3294"/>
                      <a:pt x="19" y="3294"/>
                    </a:cubicBezTo>
                    <a:cubicBezTo>
                      <a:pt x="20" y="3294"/>
                      <a:pt x="23" y="3293"/>
                      <a:pt x="26" y="3290"/>
                    </a:cubicBezTo>
                    <a:cubicBezTo>
                      <a:pt x="30" y="3288"/>
                      <a:pt x="35" y="3284"/>
                      <a:pt x="41" y="3281"/>
                    </a:cubicBezTo>
                    <a:cubicBezTo>
                      <a:pt x="46" y="3278"/>
                      <a:pt x="52" y="3276"/>
                      <a:pt x="59" y="3273"/>
                    </a:cubicBezTo>
                    <a:cubicBezTo>
                      <a:pt x="66" y="3271"/>
                      <a:pt x="74" y="3270"/>
                      <a:pt x="83" y="3270"/>
                    </a:cubicBezTo>
                    <a:cubicBezTo>
                      <a:pt x="91" y="3270"/>
                      <a:pt x="97" y="3271"/>
                      <a:pt x="103" y="3273"/>
                    </a:cubicBezTo>
                    <a:cubicBezTo>
                      <a:pt x="109" y="3276"/>
                      <a:pt x="114" y="3278"/>
                      <a:pt x="118" y="3282"/>
                    </a:cubicBezTo>
                    <a:cubicBezTo>
                      <a:pt x="122" y="3286"/>
                      <a:pt x="125" y="3291"/>
                      <a:pt x="127" y="3296"/>
                    </a:cubicBezTo>
                    <a:cubicBezTo>
                      <a:pt x="129" y="3302"/>
                      <a:pt x="130" y="3307"/>
                      <a:pt x="130" y="3313"/>
                    </a:cubicBezTo>
                    <a:cubicBezTo>
                      <a:pt x="130" y="3321"/>
                      <a:pt x="128" y="3329"/>
                      <a:pt x="125" y="3335"/>
                    </a:cubicBezTo>
                    <a:cubicBezTo>
                      <a:pt x="122" y="3342"/>
                      <a:pt x="118" y="3347"/>
                      <a:pt x="113" y="3352"/>
                    </a:cubicBezTo>
                    <a:cubicBezTo>
                      <a:pt x="108" y="3357"/>
                      <a:pt x="101" y="3360"/>
                      <a:pt x="93" y="3362"/>
                    </a:cubicBezTo>
                    <a:cubicBezTo>
                      <a:pt x="86" y="3365"/>
                      <a:pt x="77" y="3367"/>
                      <a:pt x="67" y="3367"/>
                    </a:cubicBezTo>
                    <a:lnTo>
                      <a:pt x="42" y="3367"/>
                    </a:lnTo>
                    <a:cubicBezTo>
                      <a:pt x="41" y="3367"/>
                      <a:pt x="40" y="3367"/>
                      <a:pt x="39" y="3368"/>
                    </a:cubicBezTo>
                    <a:cubicBezTo>
                      <a:pt x="38" y="3368"/>
                      <a:pt x="37" y="3368"/>
                      <a:pt x="36" y="3370"/>
                    </a:cubicBezTo>
                    <a:cubicBezTo>
                      <a:pt x="35" y="3371"/>
                      <a:pt x="35" y="3372"/>
                      <a:pt x="34" y="3374"/>
                    </a:cubicBezTo>
                    <a:cubicBezTo>
                      <a:pt x="34" y="3376"/>
                      <a:pt x="34" y="3378"/>
                      <a:pt x="34" y="3381"/>
                    </a:cubicBezTo>
                    <a:cubicBezTo>
                      <a:pt x="34" y="3384"/>
                      <a:pt x="34" y="3387"/>
                      <a:pt x="34" y="3389"/>
                    </a:cubicBezTo>
                    <a:cubicBezTo>
                      <a:pt x="35" y="3391"/>
                      <a:pt x="35" y="3392"/>
                      <a:pt x="36" y="3393"/>
                    </a:cubicBezTo>
                    <a:cubicBezTo>
                      <a:pt x="37" y="3395"/>
                      <a:pt x="38" y="3395"/>
                      <a:pt x="39" y="3396"/>
                    </a:cubicBezTo>
                    <a:cubicBezTo>
                      <a:pt x="40" y="3396"/>
                      <a:pt x="41" y="3397"/>
                      <a:pt x="42" y="3397"/>
                    </a:cubicBezTo>
                    <a:lnTo>
                      <a:pt x="70" y="3397"/>
                    </a:lnTo>
                    <a:cubicBezTo>
                      <a:pt x="81" y="3397"/>
                      <a:pt x="91" y="3398"/>
                      <a:pt x="100" y="3400"/>
                    </a:cubicBezTo>
                    <a:cubicBezTo>
                      <a:pt x="109" y="3403"/>
                      <a:pt x="116" y="3406"/>
                      <a:pt x="123" y="3411"/>
                    </a:cubicBezTo>
                    <a:cubicBezTo>
                      <a:pt x="129" y="3416"/>
                      <a:pt x="133" y="3421"/>
                      <a:pt x="136" y="3428"/>
                    </a:cubicBezTo>
                    <a:cubicBezTo>
                      <a:pt x="139" y="3434"/>
                      <a:pt x="141" y="3442"/>
                      <a:pt x="141" y="3450"/>
                    </a:cubicBezTo>
                    <a:cubicBezTo>
                      <a:pt x="141" y="3457"/>
                      <a:pt x="140" y="3464"/>
                      <a:pt x="138" y="3470"/>
                    </a:cubicBezTo>
                    <a:cubicBezTo>
                      <a:pt x="135" y="3476"/>
                      <a:pt x="131" y="3481"/>
                      <a:pt x="126" y="3486"/>
                    </a:cubicBezTo>
                    <a:cubicBezTo>
                      <a:pt x="121" y="3490"/>
                      <a:pt x="115" y="3494"/>
                      <a:pt x="108" y="3497"/>
                    </a:cubicBezTo>
                    <a:cubicBezTo>
                      <a:pt x="100" y="3499"/>
                      <a:pt x="92" y="3501"/>
                      <a:pt x="82" y="3501"/>
                    </a:cubicBezTo>
                    <a:cubicBezTo>
                      <a:pt x="72" y="3501"/>
                      <a:pt x="63" y="3500"/>
                      <a:pt x="55" y="3497"/>
                    </a:cubicBezTo>
                    <a:cubicBezTo>
                      <a:pt x="47" y="3495"/>
                      <a:pt x="40" y="3492"/>
                      <a:pt x="34" y="3489"/>
                    </a:cubicBezTo>
                    <a:cubicBezTo>
                      <a:pt x="27" y="3487"/>
                      <a:pt x="22" y="3484"/>
                      <a:pt x="19" y="3482"/>
                    </a:cubicBezTo>
                    <a:cubicBezTo>
                      <a:pt x="15" y="3479"/>
                      <a:pt x="12" y="3478"/>
                      <a:pt x="11" y="3478"/>
                    </a:cubicBezTo>
                    <a:cubicBezTo>
                      <a:pt x="9" y="3478"/>
                      <a:pt x="7" y="3479"/>
                      <a:pt x="6" y="3482"/>
                    </a:cubicBezTo>
                    <a:cubicBezTo>
                      <a:pt x="5" y="3484"/>
                      <a:pt x="4" y="3487"/>
                      <a:pt x="4" y="3492"/>
                    </a:cubicBezTo>
                    <a:cubicBezTo>
                      <a:pt x="4" y="3495"/>
                      <a:pt x="4" y="3498"/>
                      <a:pt x="4" y="3500"/>
                    </a:cubicBezTo>
                    <a:cubicBezTo>
                      <a:pt x="5" y="3502"/>
                      <a:pt x="6" y="3504"/>
                      <a:pt x="6" y="3505"/>
                    </a:cubicBezTo>
                    <a:cubicBezTo>
                      <a:pt x="7" y="3507"/>
                      <a:pt x="6" y="3509"/>
                      <a:pt x="7" y="3510"/>
                    </a:cubicBezTo>
                    <a:cubicBezTo>
                      <a:pt x="8" y="3511"/>
                      <a:pt x="9" y="3511"/>
                      <a:pt x="10" y="3512"/>
                    </a:cubicBezTo>
                    <a:cubicBezTo>
                      <a:pt x="11" y="3513"/>
                      <a:pt x="13" y="3515"/>
                      <a:pt x="18" y="3518"/>
                    </a:cubicBezTo>
                    <a:cubicBezTo>
                      <a:pt x="22" y="3520"/>
                      <a:pt x="28" y="3522"/>
                      <a:pt x="34" y="3524"/>
                    </a:cubicBezTo>
                    <a:cubicBezTo>
                      <a:pt x="41" y="3526"/>
                      <a:pt x="48" y="3528"/>
                      <a:pt x="56" y="3530"/>
                    </a:cubicBezTo>
                    <a:cubicBezTo>
                      <a:pt x="65" y="3532"/>
                      <a:pt x="73" y="3532"/>
                      <a:pt x="83" y="3532"/>
                    </a:cubicBezTo>
                    <a:cubicBezTo>
                      <a:pt x="99" y="3532"/>
                      <a:pt x="113" y="3530"/>
                      <a:pt x="125" y="3526"/>
                    </a:cubicBezTo>
                    <a:cubicBezTo>
                      <a:pt x="138" y="3522"/>
                      <a:pt x="148" y="3516"/>
                      <a:pt x="157" y="3509"/>
                    </a:cubicBezTo>
                    <a:cubicBezTo>
                      <a:pt x="166" y="3501"/>
                      <a:pt x="172" y="3492"/>
                      <a:pt x="176" y="3482"/>
                    </a:cubicBezTo>
                    <a:cubicBezTo>
                      <a:pt x="181" y="3471"/>
                      <a:pt x="183" y="3459"/>
                      <a:pt x="183" y="3446"/>
                    </a:cubicBezTo>
                    <a:cubicBezTo>
                      <a:pt x="183" y="3437"/>
                      <a:pt x="181" y="3429"/>
                      <a:pt x="178" y="3421"/>
                    </a:cubicBezTo>
                    <a:cubicBezTo>
                      <a:pt x="175" y="3413"/>
                      <a:pt x="171" y="3406"/>
                      <a:pt x="165" y="3400"/>
                    </a:cubicBezTo>
                    <a:cubicBezTo>
                      <a:pt x="159" y="3395"/>
                      <a:pt x="152" y="3389"/>
                      <a:pt x="144" y="3385"/>
                    </a:cubicBezTo>
                    <a:cubicBezTo>
                      <a:pt x="136" y="3381"/>
                      <a:pt x="126" y="3379"/>
                      <a:pt x="116" y="3378"/>
                    </a:cubicBezTo>
                    <a:lnTo>
                      <a:pt x="116" y="3377"/>
                    </a:lnTo>
                    <a:cubicBezTo>
                      <a:pt x="125" y="3376"/>
                      <a:pt x="133" y="3374"/>
                      <a:pt x="139" y="3370"/>
                    </a:cubicBezTo>
                    <a:cubicBezTo>
                      <a:pt x="146" y="3365"/>
                      <a:pt x="152" y="3360"/>
                      <a:pt x="156" y="3354"/>
                    </a:cubicBezTo>
                    <a:cubicBezTo>
                      <a:pt x="161" y="3348"/>
                      <a:pt x="164" y="3341"/>
                      <a:pt x="167" y="3333"/>
                    </a:cubicBezTo>
                    <a:cubicBezTo>
                      <a:pt x="169" y="3326"/>
                      <a:pt x="170" y="3318"/>
                      <a:pt x="170" y="3309"/>
                    </a:cubicBezTo>
                    <a:cubicBezTo>
                      <a:pt x="170" y="3298"/>
                      <a:pt x="168" y="3288"/>
                      <a:pt x="165" y="3280"/>
                    </a:cubicBezTo>
                    <a:cubicBezTo>
                      <a:pt x="162" y="3271"/>
                      <a:pt x="157" y="3264"/>
                      <a:pt x="150" y="3258"/>
                    </a:cubicBezTo>
                    <a:cubicBezTo>
                      <a:pt x="143" y="3251"/>
                      <a:pt x="135" y="3247"/>
                      <a:pt x="125" y="3243"/>
                    </a:cubicBezTo>
                    <a:cubicBezTo>
                      <a:pt x="115" y="3240"/>
                      <a:pt x="103" y="3238"/>
                      <a:pt x="90" y="3238"/>
                    </a:cubicBezTo>
                    <a:close/>
                    <a:moveTo>
                      <a:pt x="327" y="3241"/>
                    </a:moveTo>
                    <a:cubicBezTo>
                      <a:pt x="326" y="3241"/>
                      <a:pt x="325" y="3241"/>
                      <a:pt x="324" y="3242"/>
                    </a:cubicBezTo>
                    <a:cubicBezTo>
                      <a:pt x="323" y="3242"/>
                      <a:pt x="322" y="3243"/>
                      <a:pt x="322" y="3243"/>
                    </a:cubicBezTo>
                    <a:lnTo>
                      <a:pt x="256" y="3285"/>
                    </a:lnTo>
                    <a:cubicBezTo>
                      <a:pt x="254" y="3286"/>
                      <a:pt x="254" y="3287"/>
                      <a:pt x="253" y="3287"/>
                    </a:cubicBezTo>
                    <a:cubicBezTo>
                      <a:pt x="252" y="3288"/>
                      <a:pt x="251" y="3290"/>
                      <a:pt x="250" y="3291"/>
                    </a:cubicBezTo>
                    <a:cubicBezTo>
                      <a:pt x="250" y="3292"/>
                      <a:pt x="250" y="3294"/>
                      <a:pt x="250" y="3295"/>
                    </a:cubicBezTo>
                    <a:cubicBezTo>
                      <a:pt x="249" y="3297"/>
                      <a:pt x="250" y="3299"/>
                      <a:pt x="250" y="3302"/>
                    </a:cubicBezTo>
                    <a:cubicBezTo>
                      <a:pt x="250" y="3305"/>
                      <a:pt x="250" y="3308"/>
                      <a:pt x="250" y="3310"/>
                    </a:cubicBezTo>
                    <a:cubicBezTo>
                      <a:pt x="251" y="3313"/>
                      <a:pt x="251" y="3314"/>
                      <a:pt x="252" y="3315"/>
                    </a:cubicBezTo>
                    <a:cubicBezTo>
                      <a:pt x="253" y="3316"/>
                      <a:pt x="255" y="3316"/>
                      <a:pt x="257" y="3316"/>
                    </a:cubicBezTo>
                    <a:cubicBezTo>
                      <a:pt x="258" y="3315"/>
                      <a:pt x="260" y="3315"/>
                      <a:pt x="263" y="3313"/>
                    </a:cubicBezTo>
                    <a:lnTo>
                      <a:pt x="318" y="3280"/>
                    </a:lnTo>
                    <a:lnTo>
                      <a:pt x="318" y="3497"/>
                    </a:lnTo>
                    <a:lnTo>
                      <a:pt x="258" y="3497"/>
                    </a:lnTo>
                    <a:cubicBezTo>
                      <a:pt x="257" y="3497"/>
                      <a:pt x="257" y="3498"/>
                      <a:pt x="256" y="3498"/>
                    </a:cubicBezTo>
                    <a:cubicBezTo>
                      <a:pt x="255" y="3499"/>
                      <a:pt x="254" y="3500"/>
                      <a:pt x="253" y="3501"/>
                    </a:cubicBezTo>
                    <a:cubicBezTo>
                      <a:pt x="252" y="3502"/>
                      <a:pt x="252" y="3504"/>
                      <a:pt x="251" y="3506"/>
                    </a:cubicBezTo>
                    <a:cubicBezTo>
                      <a:pt x="251" y="3508"/>
                      <a:pt x="250" y="3510"/>
                      <a:pt x="250" y="3512"/>
                    </a:cubicBezTo>
                    <a:cubicBezTo>
                      <a:pt x="250" y="3515"/>
                      <a:pt x="251" y="3518"/>
                      <a:pt x="251" y="3519"/>
                    </a:cubicBezTo>
                    <a:cubicBezTo>
                      <a:pt x="252" y="3521"/>
                      <a:pt x="252" y="3524"/>
                      <a:pt x="253" y="3525"/>
                    </a:cubicBezTo>
                    <a:cubicBezTo>
                      <a:pt x="254" y="3526"/>
                      <a:pt x="255" y="3527"/>
                      <a:pt x="256" y="3527"/>
                    </a:cubicBezTo>
                    <a:cubicBezTo>
                      <a:pt x="257" y="3528"/>
                      <a:pt x="257" y="3527"/>
                      <a:pt x="258" y="3527"/>
                    </a:cubicBezTo>
                    <a:lnTo>
                      <a:pt x="407" y="3527"/>
                    </a:lnTo>
                    <a:cubicBezTo>
                      <a:pt x="408" y="3527"/>
                      <a:pt x="410" y="3528"/>
                      <a:pt x="411" y="3527"/>
                    </a:cubicBezTo>
                    <a:cubicBezTo>
                      <a:pt x="412" y="3527"/>
                      <a:pt x="412" y="3526"/>
                      <a:pt x="413" y="3525"/>
                    </a:cubicBezTo>
                    <a:cubicBezTo>
                      <a:pt x="413" y="3524"/>
                      <a:pt x="414" y="3521"/>
                      <a:pt x="415" y="3519"/>
                    </a:cubicBezTo>
                    <a:cubicBezTo>
                      <a:pt x="415" y="3518"/>
                      <a:pt x="415" y="3515"/>
                      <a:pt x="415" y="3512"/>
                    </a:cubicBezTo>
                    <a:cubicBezTo>
                      <a:pt x="415" y="3510"/>
                      <a:pt x="416" y="3508"/>
                      <a:pt x="415" y="3506"/>
                    </a:cubicBezTo>
                    <a:cubicBezTo>
                      <a:pt x="415" y="3504"/>
                      <a:pt x="414" y="3502"/>
                      <a:pt x="414" y="3501"/>
                    </a:cubicBezTo>
                    <a:cubicBezTo>
                      <a:pt x="413" y="3500"/>
                      <a:pt x="412" y="3499"/>
                      <a:pt x="411" y="3498"/>
                    </a:cubicBezTo>
                    <a:cubicBezTo>
                      <a:pt x="410" y="3498"/>
                      <a:pt x="409" y="3497"/>
                      <a:pt x="407" y="3497"/>
                    </a:cubicBezTo>
                    <a:lnTo>
                      <a:pt x="356" y="3497"/>
                    </a:lnTo>
                    <a:lnTo>
                      <a:pt x="356" y="3247"/>
                    </a:lnTo>
                    <a:cubicBezTo>
                      <a:pt x="356" y="3246"/>
                      <a:pt x="356" y="3245"/>
                      <a:pt x="355" y="3244"/>
                    </a:cubicBezTo>
                    <a:cubicBezTo>
                      <a:pt x="355" y="3243"/>
                      <a:pt x="354" y="3243"/>
                      <a:pt x="353" y="3243"/>
                    </a:cubicBezTo>
                    <a:cubicBezTo>
                      <a:pt x="351" y="3242"/>
                      <a:pt x="350" y="3241"/>
                      <a:pt x="347" y="3241"/>
                    </a:cubicBezTo>
                    <a:cubicBezTo>
                      <a:pt x="345" y="3240"/>
                      <a:pt x="342" y="3241"/>
                      <a:pt x="339" y="3241"/>
                    </a:cubicBezTo>
                    <a:cubicBezTo>
                      <a:pt x="336" y="3241"/>
                      <a:pt x="333" y="3241"/>
                      <a:pt x="332" y="3241"/>
                    </a:cubicBezTo>
                    <a:cubicBezTo>
                      <a:pt x="330" y="3241"/>
                      <a:pt x="329" y="3240"/>
                      <a:pt x="327" y="3241"/>
                    </a:cubicBezTo>
                    <a:close/>
                  </a:path>
                </a:pathLst>
              </a:custGeom>
              <a:solidFill>
                <a:srgbClr val="262626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1" name="Today Background"/>
              <p:cNvSpPr>
                <a:spLocks noChangeArrowheads="1"/>
              </p:cNvSpPr>
              <p:nvPr/>
            </p:nvSpPr>
            <p:spPr bwMode="auto">
              <a:xfrm>
                <a:off x="1035051" y="2174876"/>
                <a:ext cx="222250" cy="138113"/>
              </a:xfrm>
              <a:prstGeom prst="rect">
                <a:avLst/>
              </a:prstGeom>
              <a:solidFill>
                <a:srgbClr val="B3B3B3"/>
              </a:solidFill>
              <a:ln w="0">
                <a:noFill/>
                <a:prstDash val="solid"/>
                <a:miter lim="800000"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2" name="Today"/>
              <p:cNvSpPr>
                <a:spLocks noEditPoints="1"/>
              </p:cNvSpPr>
              <p:nvPr/>
            </p:nvSpPr>
            <p:spPr bwMode="auto">
              <a:xfrm>
                <a:off x="1101726" y="2212976"/>
                <a:ext cx="85725" cy="63500"/>
              </a:xfrm>
              <a:custGeom>
                <a:avLst/>
                <a:gdLst>
                  <a:gd name="T0" fmla="*/ 275 w 396"/>
                  <a:gd name="T1" fmla="*/ 3 h 289"/>
                  <a:gd name="T2" fmla="*/ 237 w 396"/>
                  <a:gd name="T3" fmla="*/ 17 h 289"/>
                  <a:gd name="T4" fmla="*/ 224 w 396"/>
                  <a:gd name="T5" fmla="*/ 27 h 289"/>
                  <a:gd name="T6" fmla="*/ 223 w 396"/>
                  <a:gd name="T7" fmla="*/ 34 h 289"/>
                  <a:gd name="T8" fmla="*/ 223 w 396"/>
                  <a:gd name="T9" fmla="*/ 49 h 289"/>
                  <a:gd name="T10" fmla="*/ 225 w 396"/>
                  <a:gd name="T11" fmla="*/ 57 h 289"/>
                  <a:gd name="T12" fmla="*/ 237 w 396"/>
                  <a:gd name="T13" fmla="*/ 54 h 289"/>
                  <a:gd name="T14" fmla="*/ 269 w 396"/>
                  <a:gd name="T15" fmla="*/ 37 h 289"/>
                  <a:gd name="T16" fmla="*/ 313 w 396"/>
                  <a:gd name="T17" fmla="*/ 37 h 289"/>
                  <a:gd name="T18" fmla="*/ 336 w 396"/>
                  <a:gd name="T19" fmla="*/ 63 h 289"/>
                  <a:gd name="T20" fmla="*/ 338 w 396"/>
                  <a:gd name="T21" fmla="*/ 101 h 289"/>
                  <a:gd name="T22" fmla="*/ 312 w 396"/>
                  <a:gd name="T23" fmla="*/ 154 h 289"/>
                  <a:gd name="T24" fmla="*/ 225 w 396"/>
                  <a:gd name="T25" fmla="*/ 249 h 289"/>
                  <a:gd name="T26" fmla="*/ 218 w 396"/>
                  <a:gd name="T27" fmla="*/ 259 h 289"/>
                  <a:gd name="T28" fmla="*/ 216 w 396"/>
                  <a:gd name="T29" fmla="*/ 273 h 289"/>
                  <a:gd name="T30" fmla="*/ 220 w 396"/>
                  <a:gd name="T31" fmla="*/ 286 h 289"/>
                  <a:gd name="T32" fmla="*/ 230 w 396"/>
                  <a:gd name="T33" fmla="*/ 289 h 289"/>
                  <a:gd name="T34" fmla="*/ 390 w 396"/>
                  <a:gd name="T35" fmla="*/ 288 h 289"/>
                  <a:gd name="T36" fmla="*/ 395 w 396"/>
                  <a:gd name="T37" fmla="*/ 281 h 289"/>
                  <a:gd name="T38" fmla="*/ 395 w 396"/>
                  <a:gd name="T39" fmla="*/ 266 h 289"/>
                  <a:gd name="T40" fmla="*/ 390 w 396"/>
                  <a:gd name="T41" fmla="*/ 258 h 289"/>
                  <a:gd name="T42" fmla="*/ 262 w 396"/>
                  <a:gd name="T43" fmla="*/ 258 h 289"/>
                  <a:gd name="T44" fmla="*/ 347 w 396"/>
                  <a:gd name="T45" fmla="*/ 166 h 289"/>
                  <a:gd name="T46" fmla="*/ 380 w 396"/>
                  <a:gd name="T47" fmla="*/ 101 h 289"/>
                  <a:gd name="T48" fmla="*/ 377 w 396"/>
                  <a:gd name="T49" fmla="*/ 45 h 289"/>
                  <a:gd name="T50" fmla="*/ 336 w 396"/>
                  <a:gd name="T51" fmla="*/ 6 h 289"/>
                  <a:gd name="T52" fmla="*/ 89 w 396"/>
                  <a:gd name="T53" fmla="*/ 2 h 289"/>
                  <a:gd name="T54" fmla="*/ 78 w 396"/>
                  <a:gd name="T55" fmla="*/ 3 h 289"/>
                  <a:gd name="T56" fmla="*/ 73 w 396"/>
                  <a:gd name="T57" fmla="*/ 4 h 289"/>
                  <a:gd name="T58" fmla="*/ 4 w 396"/>
                  <a:gd name="T59" fmla="*/ 49 h 289"/>
                  <a:gd name="T60" fmla="*/ 1 w 396"/>
                  <a:gd name="T61" fmla="*/ 57 h 289"/>
                  <a:gd name="T62" fmla="*/ 1 w 396"/>
                  <a:gd name="T63" fmla="*/ 72 h 289"/>
                  <a:gd name="T64" fmla="*/ 7 w 396"/>
                  <a:gd name="T65" fmla="*/ 78 h 289"/>
                  <a:gd name="T66" fmla="*/ 69 w 396"/>
                  <a:gd name="T67" fmla="*/ 42 h 289"/>
                  <a:gd name="T68" fmla="*/ 10 w 396"/>
                  <a:gd name="T69" fmla="*/ 259 h 289"/>
                  <a:gd name="T70" fmla="*/ 4 w 396"/>
                  <a:gd name="T71" fmla="*/ 263 h 289"/>
                  <a:gd name="T72" fmla="*/ 2 w 396"/>
                  <a:gd name="T73" fmla="*/ 274 h 289"/>
                  <a:gd name="T74" fmla="*/ 4 w 396"/>
                  <a:gd name="T75" fmla="*/ 286 h 289"/>
                  <a:gd name="T76" fmla="*/ 10 w 396"/>
                  <a:gd name="T77" fmla="*/ 289 h 289"/>
                  <a:gd name="T78" fmla="*/ 162 w 396"/>
                  <a:gd name="T79" fmla="*/ 288 h 289"/>
                  <a:gd name="T80" fmla="*/ 166 w 396"/>
                  <a:gd name="T81" fmla="*/ 281 h 289"/>
                  <a:gd name="T82" fmla="*/ 166 w 396"/>
                  <a:gd name="T83" fmla="*/ 267 h 289"/>
                  <a:gd name="T84" fmla="*/ 162 w 396"/>
                  <a:gd name="T85" fmla="*/ 260 h 289"/>
                  <a:gd name="T86" fmla="*/ 107 w 396"/>
                  <a:gd name="T87" fmla="*/ 259 h 289"/>
                  <a:gd name="T88" fmla="*/ 106 w 396"/>
                  <a:gd name="T89" fmla="*/ 6 h 289"/>
                  <a:gd name="T90" fmla="*/ 98 w 396"/>
                  <a:gd name="T91" fmla="*/ 3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6" h="289">
                    <a:moveTo>
                      <a:pt x="300" y="0"/>
                    </a:moveTo>
                    <a:cubicBezTo>
                      <a:pt x="292" y="0"/>
                      <a:pt x="283" y="1"/>
                      <a:pt x="275" y="3"/>
                    </a:cubicBezTo>
                    <a:cubicBezTo>
                      <a:pt x="267" y="4"/>
                      <a:pt x="260" y="6"/>
                      <a:pt x="254" y="9"/>
                    </a:cubicBezTo>
                    <a:cubicBezTo>
                      <a:pt x="247" y="11"/>
                      <a:pt x="241" y="14"/>
                      <a:pt x="237" y="17"/>
                    </a:cubicBezTo>
                    <a:cubicBezTo>
                      <a:pt x="232" y="19"/>
                      <a:pt x="230" y="21"/>
                      <a:pt x="228" y="23"/>
                    </a:cubicBezTo>
                    <a:cubicBezTo>
                      <a:pt x="226" y="25"/>
                      <a:pt x="225" y="26"/>
                      <a:pt x="224" y="27"/>
                    </a:cubicBezTo>
                    <a:cubicBezTo>
                      <a:pt x="224" y="28"/>
                      <a:pt x="223" y="29"/>
                      <a:pt x="223" y="30"/>
                    </a:cubicBezTo>
                    <a:cubicBezTo>
                      <a:pt x="222" y="31"/>
                      <a:pt x="223" y="33"/>
                      <a:pt x="223" y="34"/>
                    </a:cubicBezTo>
                    <a:cubicBezTo>
                      <a:pt x="222" y="36"/>
                      <a:pt x="222" y="38"/>
                      <a:pt x="222" y="41"/>
                    </a:cubicBezTo>
                    <a:cubicBezTo>
                      <a:pt x="222" y="44"/>
                      <a:pt x="222" y="46"/>
                      <a:pt x="223" y="49"/>
                    </a:cubicBezTo>
                    <a:cubicBezTo>
                      <a:pt x="223" y="51"/>
                      <a:pt x="223" y="53"/>
                      <a:pt x="224" y="54"/>
                    </a:cubicBezTo>
                    <a:cubicBezTo>
                      <a:pt x="224" y="55"/>
                      <a:pt x="224" y="56"/>
                      <a:pt x="225" y="57"/>
                    </a:cubicBezTo>
                    <a:cubicBezTo>
                      <a:pt x="226" y="57"/>
                      <a:pt x="228" y="57"/>
                      <a:pt x="229" y="57"/>
                    </a:cubicBezTo>
                    <a:cubicBezTo>
                      <a:pt x="231" y="57"/>
                      <a:pt x="233" y="56"/>
                      <a:pt x="237" y="54"/>
                    </a:cubicBezTo>
                    <a:cubicBezTo>
                      <a:pt x="240" y="51"/>
                      <a:pt x="245" y="48"/>
                      <a:pt x="250" y="45"/>
                    </a:cubicBezTo>
                    <a:cubicBezTo>
                      <a:pt x="255" y="42"/>
                      <a:pt x="261" y="40"/>
                      <a:pt x="269" y="37"/>
                    </a:cubicBezTo>
                    <a:cubicBezTo>
                      <a:pt x="276" y="35"/>
                      <a:pt x="284" y="34"/>
                      <a:pt x="293" y="34"/>
                    </a:cubicBezTo>
                    <a:cubicBezTo>
                      <a:pt x="301" y="34"/>
                      <a:pt x="308" y="35"/>
                      <a:pt x="313" y="37"/>
                    </a:cubicBezTo>
                    <a:cubicBezTo>
                      <a:pt x="319" y="40"/>
                      <a:pt x="324" y="43"/>
                      <a:pt x="328" y="48"/>
                    </a:cubicBezTo>
                    <a:cubicBezTo>
                      <a:pt x="331" y="52"/>
                      <a:pt x="334" y="57"/>
                      <a:pt x="336" y="63"/>
                    </a:cubicBezTo>
                    <a:cubicBezTo>
                      <a:pt x="338" y="68"/>
                      <a:pt x="340" y="74"/>
                      <a:pt x="340" y="80"/>
                    </a:cubicBezTo>
                    <a:cubicBezTo>
                      <a:pt x="340" y="87"/>
                      <a:pt x="339" y="93"/>
                      <a:pt x="338" y="101"/>
                    </a:cubicBezTo>
                    <a:cubicBezTo>
                      <a:pt x="337" y="108"/>
                      <a:pt x="334" y="116"/>
                      <a:pt x="329" y="124"/>
                    </a:cubicBezTo>
                    <a:cubicBezTo>
                      <a:pt x="325" y="133"/>
                      <a:pt x="319" y="143"/>
                      <a:pt x="312" y="154"/>
                    </a:cubicBezTo>
                    <a:cubicBezTo>
                      <a:pt x="304" y="164"/>
                      <a:pt x="294" y="177"/>
                      <a:pt x="281" y="191"/>
                    </a:cubicBezTo>
                    <a:lnTo>
                      <a:pt x="225" y="249"/>
                    </a:lnTo>
                    <a:cubicBezTo>
                      <a:pt x="224" y="251"/>
                      <a:pt x="222" y="252"/>
                      <a:pt x="221" y="254"/>
                    </a:cubicBezTo>
                    <a:cubicBezTo>
                      <a:pt x="220" y="256"/>
                      <a:pt x="219" y="258"/>
                      <a:pt x="218" y="259"/>
                    </a:cubicBezTo>
                    <a:cubicBezTo>
                      <a:pt x="217" y="261"/>
                      <a:pt x="218" y="263"/>
                      <a:pt x="217" y="266"/>
                    </a:cubicBezTo>
                    <a:cubicBezTo>
                      <a:pt x="217" y="268"/>
                      <a:pt x="216" y="270"/>
                      <a:pt x="216" y="273"/>
                    </a:cubicBezTo>
                    <a:cubicBezTo>
                      <a:pt x="216" y="276"/>
                      <a:pt x="217" y="279"/>
                      <a:pt x="217" y="281"/>
                    </a:cubicBezTo>
                    <a:cubicBezTo>
                      <a:pt x="218" y="284"/>
                      <a:pt x="219" y="285"/>
                      <a:pt x="220" y="286"/>
                    </a:cubicBezTo>
                    <a:cubicBezTo>
                      <a:pt x="221" y="287"/>
                      <a:pt x="222" y="288"/>
                      <a:pt x="224" y="288"/>
                    </a:cubicBezTo>
                    <a:cubicBezTo>
                      <a:pt x="225" y="289"/>
                      <a:pt x="228" y="289"/>
                      <a:pt x="230" y="289"/>
                    </a:cubicBezTo>
                    <a:lnTo>
                      <a:pt x="387" y="289"/>
                    </a:lnTo>
                    <a:cubicBezTo>
                      <a:pt x="388" y="289"/>
                      <a:pt x="389" y="289"/>
                      <a:pt x="390" y="288"/>
                    </a:cubicBezTo>
                    <a:cubicBezTo>
                      <a:pt x="391" y="288"/>
                      <a:pt x="392" y="287"/>
                      <a:pt x="393" y="286"/>
                    </a:cubicBezTo>
                    <a:cubicBezTo>
                      <a:pt x="394" y="284"/>
                      <a:pt x="394" y="283"/>
                      <a:pt x="395" y="281"/>
                    </a:cubicBezTo>
                    <a:cubicBezTo>
                      <a:pt x="395" y="278"/>
                      <a:pt x="395" y="276"/>
                      <a:pt x="396" y="273"/>
                    </a:cubicBezTo>
                    <a:cubicBezTo>
                      <a:pt x="396" y="271"/>
                      <a:pt x="395" y="268"/>
                      <a:pt x="395" y="266"/>
                    </a:cubicBezTo>
                    <a:cubicBezTo>
                      <a:pt x="394" y="264"/>
                      <a:pt x="394" y="262"/>
                      <a:pt x="393" y="261"/>
                    </a:cubicBezTo>
                    <a:cubicBezTo>
                      <a:pt x="392" y="260"/>
                      <a:pt x="391" y="259"/>
                      <a:pt x="390" y="258"/>
                    </a:cubicBezTo>
                    <a:cubicBezTo>
                      <a:pt x="389" y="258"/>
                      <a:pt x="388" y="258"/>
                      <a:pt x="387" y="258"/>
                    </a:cubicBezTo>
                    <a:lnTo>
                      <a:pt x="262" y="258"/>
                    </a:lnTo>
                    <a:lnTo>
                      <a:pt x="308" y="210"/>
                    </a:lnTo>
                    <a:cubicBezTo>
                      <a:pt x="325" y="193"/>
                      <a:pt x="337" y="179"/>
                      <a:pt x="347" y="166"/>
                    </a:cubicBezTo>
                    <a:cubicBezTo>
                      <a:pt x="357" y="153"/>
                      <a:pt x="365" y="141"/>
                      <a:pt x="370" y="131"/>
                    </a:cubicBezTo>
                    <a:cubicBezTo>
                      <a:pt x="375" y="120"/>
                      <a:pt x="378" y="111"/>
                      <a:pt x="380" y="101"/>
                    </a:cubicBezTo>
                    <a:cubicBezTo>
                      <a:pt x="381" y="92"/>
                      <a:pt x="382" y="83"/>
                      <a:pt x="382" y="74"/>
                    </a:cubicBezTo>
                    <a:cubicBezTo>
                      <a:pt x="382" y="64"/>
                      <a:pt x="380" y="54"/>
                      <a:pt x="377" y="45"/>
                    </a:cubicBezTo>
                    <a:cubicBezTo>
                      <a:pt x="374" y="36"/>
                      <a:pt x="369" y="29"/>
                      <a:pt x="362" y="22"/>
                    </a:cubicBezTo>
                    <a:cubicBezTo>
                      <a:pt x="355" y="15"/>
                      <a:pt x="347" y="10"/>
                      <a:pt x="336" y="6"/>
                    </a:cubicBezTo>
                    <a:cubicBezTo>
                      <a:pt x="326" y="2"/>
                      <a:pt x="314" y="0"/>
                      <a:pt x="300" y="0"/>
                    </a:cubicBezTo>
                    <a:close/>
                    <a:moveTo>
                      <a:pt x="89" y="2"/>
                    </a:moveTo>
                    <a:cubicBezTo>
                      <a:pt x="87" y="2"/>
                      <a:pt x="85" y="3"/>
                      <a:pt x="83" y="3"/>
                    </a:cubicBezTo>
                    <a:cubicBezTo>
                      <a:pt x="82" y="3"/>
                      <a:pt x="79" y="2"/>
                      <a:pt x="78" y="3"/>
                    </a:cubicBezTo>
                    <a:cubicBezTo>
                      <a:pt x="77" y="3"/>
                      <a:pt x="76" y="3"/>
                      <a:pt x="75" y="4"/>
                    </a:cubicBezTo>
                    <a:cubicBezTo>
                      <a:pt x="74" y="4"/>
                      <a:pt x="73" y="4"/>
                      <a:pt x="73" y="4"/>
                    </a:cubicBezTo>
                    <a:lnTo>
                      <a:pt x="7" y="47"/>
                    </a:lnTo>
                    <a:cubicBezTo>
                      <a:pt x="6" y="48"/>
                      <a:pt x="5" y="49"/>
                      <a:pt x="4" y="49"/>
                    </a:cubicBezTo>
                    <a:cubicBezTo>
                      <a:pt x="3" y="50"/>
                      <a:pt x="3" y="52"/>
                      <a:pt x="2" y="53"/>
                    </a:cubicBezTo>
                    <a:cubicBezTo>
                      <a:pt x="2" y="54"/>
                      <a:pt x="1" y="56"/>
                      <a:pt x="1" y="57"/>
                    </a:cubicBezTo>
                    <a:cubicBezTo>
                      <a:pt x="1" y="59"/>
                      <a:pt x="0" y="61"/>
                      <a:pt x="0" y="64"/>
                    </a:cubicBezTo>
                    <a:cubicBezTo>
                      <a:pt x="0" y="67"/>
                      <a:pt x="1" y="69"/>
                      <a:pt x="1" y="72"/>
                    </a:cubicBezTo>
                    <a:cubicBezTo>
                      <a:pt x="2" y="74"/>
                      <a:pt x="2" y="76"/>
                      <a:pt x="3" y="77"/>
                    </a:cubicBezTo>
                    <a:cubicBezTo>
                      <a:pt x="4" y="78"/>
                      <a:pt x="6" y="78"/>
                      <a:pt x="7" y="78"/>
                    </a:cubicBezTo>
                    <a:cubicBezTo>
                      <a:pt x="9" y="77"/>
                      <a:pt x="12" y="77"/>
                      <a:pt x="15" y="75"/>
                    </a:cubicBezTo>
                    <a:lnTo>
                      <a:pt x="69" y="42"/>
                    </a:lnTo>
                    <a:lnTo>
                      <a:pt x="69" y="259"/>
                    </a:lnTo>
                    <a:lnTo>
                      <a:pt x="10" y="259"/>
                    </a:lnTo>
                    <a:cubicBezTo>
                      <a:pt x="9" y="259"/>
                      <a:pt x="8" y="260"/>
                      <a:pt x="7" y="260"/>
                    </a:cubicBezTo>
                    <a:cubicBezTo>
                      <a:pt x="6" y="261"/>
                      <a:pt x="5" y="262"/>
                      <a:pt x="4" y="263"/>
                    </a:cubicBezTo>
                    <a:cubicBezTo>
                      <a:pt x="3" y="264"/>
                      <a:pt x="3" y="265"/>
                      <a:pt x="2" y="267"/>
                    </a:cubicBezTo>
                    <a:cubicBezTo>
                      <a:pt x="2" y="269"/>
                      <a:pt x="2" y="272"/>
                      <a:pt x="2" y="274"/>
                    </a:cubicBezTo>
                    <a:cubicBezTo>
                      <a:pt x="2" y="277"/>
                      <a:pt x="2" y="279"/>
                      <a:pt x="2" y="281"/>
                    </a:cubicBezTo>
                    <a:cubicBezTo>
                      <a:pt x="3" y="283"/>
                      <a:pt x="3" y="285"/>
                      <a:pt x="4" y="286"/>
                    </a:cubicBezTo>
                    <a:cubicBezTo>
                      <a:pt x="5" y="287"/>
                      <a:pt x="6" y="288"/>
                      <a:pt x="7" y="288"/>
                    </a:cubicBezTo>
                    <a:cubicBezTo>
                      <a:pt x="7" y="289"/>
                      <a:pt x="9" y="289"/>
                      <a:pt x="10" y="289"/>
                    </a:cubicBezTo>
                    <a:lnTo>
                      <a:pt x="159" y="289"/>
                    </a:lnTo>
                    <a:cubicBezTo>
                      <a:pt x="160" y="289"/>
                      <a:pt x="161" y="289"/>
                      <a:pt x="162" y="288"/>
                    </a:cubicBezTo>
                    <a:cubicBezTo>
                      <a:pt x="163" y="288"/>
                      <a:pt x="164" y="287"/>
                      <a:pt x="164" y="286"/>
                    </a:cubicBezTo>
                    <a:cubicBezTo>
                      <a:pt x="165" y="285"/>
                      <a:pt x="166" y="283"/>
                      <a:pt x="166" y="281"/>
                    </a:cubicBezTo>
                    <a:cubicBezTo>
                      <a:pt x="167" y="279"/>
                      <a:pt x="167" y="277"/>
                      <a:pt x="167" y="274"/>
                    </a:cubicBezTo>
                    <a:cubicBezTo>
                      <a:pt x="167" y="272"/>
                      <a:pt x="167" y="269"/>
                      <a:pt x="166" y="267"/>
                    </a:cubicBezTo>
                    <a:cubicBezTo>
                      <a:pt x="166" y="265"/>
                      <a:pt x="165" y="264"/>
                      <a:pt x="164" y="263"/>
                    </a:cubicBezTo>
                    <a:cubicBezTo>
                      <a:pt x="164" y="262"/>
                      <a:pt x="163" y="261"/>
                      <a:pt x="162" y="260"/>
                    </a:cubicBezTo>
                    <a:cubicBezTo>
                      <a:pt x="161" y="260"/>
                      <a:pt x="160" y="259"/>
                      <a:pt x="159" y="259"/>
                    </a:cubicBezTo>
                    <a:lnTo>
                      <a:pt x="107" y="259"/>
                    </a:lnTo>
                    <a:lnTo>
                      <a:pt x="107" y="8"/>
                    </a:lnTo>
                    <a:cubicBezTo>
                      <a:pt x="107" y="7"/>
                      <a:pt x="107" y="7"/>
                      <a:pt x="106" y="6"/>
                    </a:cubicBezTo>
                    <a:cubicBezTo>
                      <a:pt x="106" y="5"/>
                      <a:pt x="105" y="4"/>
                      <a:pt x="104" y="4"/>
                    </a:cubicBezTo>
                    <a:cubicBezTo>
                      <a:pt x="102" y="3"/>
                      <a:pt x="101" y="3"/>
                      <a:pt x="98" y="3"/>
                    </a:cubicBezTo>
                    <a:cubicBezTo>
                      <a:pt x="96" y="2"/>
                      <a:pt x="93" y="2"/>
                      <a:pt x="8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3" name="Next Month"/>
              <p:cNvSpPr>
                <a:spLocks noEditPoints="1"/>
              </p:cNvSpPr>
              <p:nvPr/>
            </p:nvSpPr>
            <p:spPr bwMode="auto">
              <a:xfrm>
                <a:off x="903288" y="2633663"/>
                <a:ext cx="1155700" cy="63500"/>
              </a:xfrm>
              <a:custGeom>
                <a:avLst/>
                <a:gdLst>
                  <a:gd name="T0" fmla="*/ 2074 w 5350"/>
                  <a:gd name="T1" fmla="*/ 27 h 294"/>
                  <a:gd name="T2" fmla="*/ 2075 w 5350"/>
                  <a:gd name="T3" fmla="*/ 56 h 294"/>
                  <a:gd name="T4" fmla="*/ 2162 w 5350"/>
                  <a:gd name="T5" fmla="*/ 35 h 294"/>
                  <a:gd name="T6" fmla="*/ 2152 w 5350"/>
                  <a:gd name="T7" fmla="*/ 124 h 294"/>
                  <a:gd name="T8" fmla="*/ 2092 w 5350"/>
                  <a:gd name="T9" fmla="*/ 143 h 294"/>
                  <a:gd name="T10" fmla="*/ 2159 w 5350"/>
                  <a:gd name="T11" fmla="*/ 162 h 294"/>
                  <a:gd name="T12" fmla="*/ 2166 w 5350"/>
                  <a:gd name="T13" fmla="*/ 259 h 294"/>
                  <a:gd name="T14" fmla="*/ 2064 w 5350"/>
                  <a:gd name="T15" fmla="*/ 244 h 294"/>
                  <a:gd name="T16" fmla="*/ 2077 w 5350"/>
                  <a:gd name="T17" fmla="*/ 280 h 294"/>
                  <a:gd name="T18" fmla="*/ 2235 w 5350"/>
                  <a:gd name="T19" fmla="*/ 244 h 294"/>
                  <a:gd name="T20" fmla="*/ 2175 w 5350"/>
                  <a:gd name="T21" fmla="*/ 139 h 294"/>
                  <a:gd name="T22" fmla="*/ 2209 w 5350"/>
                  <a:gd name="T23" fmla="*/ 20 h 294"/>
                  <a:gd name="T24" fmla="*/ 5185 w 5350"/>
                  <a:gd name="T25" fmla="*/ 51 h 294"/>
                  <a:gd name="T26" fmla="*/ 5181 w 5350"/>
                  <a:gd name="T27" fmla="*/ 257 h 294"/>
                  <a:gd name="T28" fmla="*/ 5344 w 5350"/>
                  <a:gd name="T29" fmla="*/ 234 h 294"/>
                  <a:gd name="T30" fmla="*/ 5246 w 5350"/>
                  <a:gd name="T31" fmla="*/ 117 h 294"/>
                  <a:gd name="T32" fmla="*/ 5244 w 5350"/>
                  <a:gd name="T33" fmla="*/ 39 h 294"/>
                  <a:gd name="T34" fmla="*/ 5333 w 5350"/>
                  <a:gd name="T35" fmla="*/ 40 h 294"/>
                  <a:gd name="T36" fmla="*/ 5334 w 5350"/>
                  <a:gd name="T37" fmla="*/ 13 h 294"/>
                  <a:gd name="T38" fmla="*/ 1112 w 5350"/>
                  <a:gd name="T39" fmla="*/ 3 h 294"/>
                  <a:gd name="T40" fmla="*/ 1035 w 5350"/>
                  <a:gd name="T41" fmla="*/ 33 h 294"/>
                  <a:gd name="T42" fmla="*/ 1040 w 5350"/>
                  <a:gd name="T43" fmla="*/ 60 h 294"/>
                  <a:gd name="T44" fmla="*/ 1140 w 5350"/>
                  <a:gd name="T45" fmla="*/ 49 h 294"/>
                  <a:gd name="T46" fmla="*/ 1093 w 5350"/>
                  <a:gd name="T47" fmla="*/ 192 h 294"/>
                  <a:gd name="T48" fmla="*/ 1030 w 5350"/>
                  <a:gd name="T49" fmla="*/ 283 h 294"/>
                  <a:gd name="T50" fmla="*/ 1205 w 5350"/>
                  <a:gd name="T51" fmla="*/ 288 h 294"/>
                  <a:gd name="T52" fmla="*/ 1199 w 5350"/>
                  <a:gd name="T53" fmla="*/ 259 h 294"/>
                  <a:gd name="T54" fmla="*/ 1195 w 5350"/>
                  <a:gd name="T55" fmla="*/ 77 h 294"/>
                  <a:gd name="T56" fmla="*/ 3209 w 5350"/>
                  <a:gd name="T57" fmla="*/ 4 h 294"/>
                  <a:gd name="T58" fmla="*/ 3086 w 5350"/>
                  <a:gd name="T59" fmla="*/ 194 h 294"/>
                  <a:gd name="T60" fmla="*/ 3094 w 5350"/>
                  <a:gd name="T61" fmla="*/ 224 h 294"/>
                  <a:gd name="T62" fmla="*/ 3230 w 5350"/>
                  <a:gd name="T63" fmla="*/ 291 h 294"/>
                  <a:gd name="T64" fmla="*/ 3281 w 5350"/>
                  <a:gd name="T65" fmla="*/ 224 h 294"/>
                  <a:gd name="T66" fmla="*/ 3249 w 5350"/>
                  <a:gd name="T67" fmla="*/ 11 h 294"/>
                  <a:gd name="T68" fmla="*/ 4149 w 5350"/>
                  <a:gd name="T69" fmla="*/ 6 h 294"/>
                  <a:gd name="T70" fmla="*/ 4199 w 5350"/>
                  <a:gd name="T71" fmla="*/ 144 h 294"/>
                  <a:gd name="T72" fmla="*/ 4252 w 5350"/>
                  <a:gd name="T73" fmla="*/ 246 h 294"/>
                  <a:gd name="T74" fmla="*/ 4138 w 5350"/>
                  <a:gd name="T75" fmla="*/ 243 h 294"/>
                  <a:gd name="T76" fmla="*/ 4132 w 5350"/>
                  <a:gd name="T77" fmla="*/ 270 h 294"/>
                  <a:gd name="T78" fmla="*/ 4205 w 5350"/>
                  <a:gd name="T79" fmla="*/ 292 h 294"/>
                  <a:gd name="T80" fmla="*/ 4287 w 5350"/>
                  <a:gd name="T81" fmla="*/ 136 h 294"/>
                  <a:gd name="T82" fmla="*/ 4286 w 5350"/>
                  <a:gd name="T83" fmla="*/ 35 h 294"/>
                  <a:gd name="T84" fmla="*/ 4286 w 5350"/>
                  <a:gd name="T85" fmla="*/ 3 h 294"/>
                  <a:gd name="T86" fmla="*/ 7 w 5350"/>
                  <a:gd name="T87" fmla="*/ 49 h 294"/>
                  <a:gd name="T88" fmla="*/ 3 w 5350"/>
                  <a:gd name="T89" fmla="*/ 78 h 294"/>
                  <a:gd name="T90" fmla="*/ 7 w 5350"/>
                  <a:gd name="T91" fmla="*/ 261 h 294"/>
                  <a:gd name="T92" fmla="*/ 7 w 5350"/>
                  <a:gd name="T93" fmla="*/ 290 h 294"/>
                  <a:gd name="T94" fmla="*/ 166 w 5350"/>
                  <a:gd name="T95" fmla="*/ 276 h 294"/>
                  <a:gd name="T96" fmla="*/ 107 w 5350"/>
                  <a:gd name="T97" fmla="*/ 10 h 294"/>
                  <a:gd name="T98" fmla="*/ 3212 w 5350"/>
                  <a:gd name="T99" fmla="*/ 36 h 294"/>
                  <a:gd name="T100" fmla="*/ 5284 w 5350"/>
                  <a:gd name="T101" fmla="*/ 148 h 294"/>
                  <a:gd name="T102" fmla="*/ 5281 w 5350"/>
                  <a:gd name="T103" fmla="*/ 258 h 294"/>
                  <a:gd name="T104" fmla="*/ 5214 w 5350"/>
                  <a:gd name="T105" fmla="*/ 156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50" h="294">
                    <a:moveTo>
                      <a:pt x="2149" y="0"/>
                    </a:moveTo>
                    <a:cubicBezTo>
                      <a:pt x="2140" y="0"/>
                      <a:pt x="2131" y="1"/>
                      <a:pt x="2122" y="3"/>
                    </a:cubicBezTo>
                    <a:cubicBezTo>
                      <a:pt x="2114" y="5"/>
                      <a:pt x="2108" y="7"/>
                      <a:pt x="2101" y="10"/>
                    </a:cubicBezTo>
                    <a:cubicBezTo>
                      <a:pt x="2095" y="12"/>
                      <a:pt x="2090" y="14"/>
                      <a:pt x="2085" y="17"/>
                    </a:cubicBezTo>
                    <a:cubicBezTo>
                      <a:pt x="2081" y="20"/>
                      <a:pt x="2078" y="22"/>
                      <a:pt x="2077" y="23"/>
                    </a:cubicBezTo>
                    <a:cubicBezTo>
                      <a:pt x="2075" y="24"/>
                      <a:pt x="2075" y="26"/>
                      <a:pt x="2074" y="27"/>
                    </a:cubicBezTo>
                    <a:cubicBezTo>
                      <a:pt x="2073" y="28"/>
                      <a:pt x="2073" y="29"/>
                      <a:pt x="2072" y="30"/>
                    </a:cubicBezTo>
                    <a:cubicBezTo>
                      <a:pt x="2072" y="31"/>
                      <a:pt x="2071" y="33"/>
                      <a:pt x="2071" y="35"/>
                    </a:cubicBezTo>
                    <a:cubicBezTo>
                      <a:pt x="2071" y="36"/>
                      <a:pt x="2071" y="38"/>
                      <a:pt x="2071" y="41"/>
                    </a:cubicBezTo>
                    <a:cubicBezTo>
                      <a:pt x="2071" y="44"/>
                      <a:pt x="2071" y="47"/>
                      <a:pt x="2071" y="49"/>
                    </a:cubicBezTo>
                    <a:cubicBezTo>
                      <a:pt x="2072" y="51"/>
                      <a:pt x="2072" y="52"/>
                      <a:pt x="2072" y="53"/>
                    </a:cubicBezTo>
                    <a:cubicBezTo>
                      <a:pt x="2073" y="54"/>
                      <a:pt x="2074" y="55"/>
                      <a:pt x="2075" y="56"/>
                    </a:cubicBezTo>
                    <a:cubicBezTo>
                      <a:pt x="2076" y="56"/>
                      <a:pt x="2076" y="56"/>
                      <a:pt x="2078" y="56"/>
                    </a:cubicBezTo>
                    <a:cubicBezTo>
                      <a:pt x="2079" y="56"/>
                      <a:pt x="2081" y="55"/>
                      <a:pt x="2085" y="52"/>
                    </a:cubicBezTo>
                    <a:cubicBezTo>
                      <a:pt x="2088" y="50"/>
                      <a:pt x="2093" y="46"/>
                      <a:pt x="2099" y="43"/>
                    </a:cubicBezTo>
                    <a:cubicBezTo>
                      <a:pt x="2104" y="40"/>
                      <a:pt x="2111" y="38"/>
                      <a:pt x="2118" y="35"/>
                    </a:cubicBezTo>
                    <a:cubicBezTo>
                      <a:pt x="2125" y="33"/>
                      <a:pt x="2132" y="32"/>
                      <a:pt x="2141" y="32"/>
                    </a:cubicBezTo>
                    <a:cubicBezTo>
                      <a:pt x="2149" y="32"/>
                      <a:pt x="2156" y="33"/>
                      <a:pt x="2162" y="35"/>
                    </a:cubicBezTo>
                    <a:cubicBezTo>
                      <a:pt x="2168" y="38"/>
                      <a:pt x="2172" y="40"/>
                      <a:pt x="2176" y="44"/>
                    </a:cubicBezTo>
                    <a:cubicBezTo>
                      <a:pt x="2180" y="48"/>
                      <a:pt x="2183" y="53"/>
                      <a:pt x="2185" y="58"/>
                    </a:cubicBezTo>
                    <a:cubicBezTo>
                      <a:pt x="2187" y="64"/>
                      <a:pt x="2188" y="69"/>
                      <a:pt x="2188" y="75"/>
                    </a:cubicBezTo>
                    <a:cubicBezTo>
                      <a:pt x="2188" y="83"/>
                      <a:pt x="2187" y="91"/>
                      <a:pt x="2184" y="97"/>
                    </a:cubicBezTo>
                    <a:cubicBezTo>
                      <a:pt x="2181" y="104"/>
                      <a:pt x="2177" y="109"/>
                      <a:pt x="2172" y="114"/>
                    </a:cubicBezTo>
                    <a:cubicBezTo>
                      <a:pt x="2167" y="119"/>
                      <a:pt x="2159" y="122"/>
                      <a:pt x="2152" y="124"/>
                    </a:cubicBezTo>
                    <a:cubicBezTo>
                      <a:pt x="2144" y="127"/>
                      <a:pt x="2136" y="129"/>
                      <a:pt x="2126" y="129"/>
                    </a:cubicBezTo>
                    <a:lnTo>
                      <a:pt x="2100" y="129"/>
                    </a:lnTo>
                    <a:cubicBezTo>
                      <a:pt x="2099" y="129"/>
                      <a:pt x="2098" y="129"/>
                      <a:pt x="2097" y="130"/>
                    </a:cubicBezTo>
                    <a:cubicBezTo>
                      <a:pt x="2096" y="130"/>
                      <a:pt x="2095" y="130"/>
                      <a:pt x="2094" y="132"/>
                    </a:cubicBezTo>
                    <a:cubicBezTo>
                      <a:pt x="2093" y="133"/>
                      <a:pt x="2093" y="134"/>
                      <a:pt x="2092" y="136"/>
                    </a:cubicBezTo>
                    <a:cubicBezTo>
                      <a:pt x="2092" y="138"/>
                      <a:pt x="2092" y="140"/>
                      <a:pt x="2092" y="143"/>
                    </a:cubicBezTo>
                    <a:cubicBezTo>
                      <a:pt x="2092" y="146"/>
                      <a:pt x="2092" y="149"/>
                      <a:pt x="2092" y="151"/>
                    </a:cubicBezTo>
                    <a:cubicBezTo>
                      <a:pt x="2093" y="153"/>
                      <a:pt x="2094" y="154"/>
                      <a:pt x="2095" y="155"/>
                    </a:cubicBezTo>
                    <a:cubicBezTo>
                      <a:pt x="2096" y="157"/>
                      <a:pt x="2097" y="157"/>
                      <a:pt x="2098" y="158"/>
                    </a:cubicBezTo>
                    <a:cubicBezTo>
                      <a:pt x="2099" y="158"/>
                      <a:pt x="2100" y="159"/>
                      <a:pt x="2101" y="159"/>
                    </a:cubicBezTo>
                    <a:lnTo>
                      <a:pt x="2128" y="159"/>
                    </a:lnTo>
                    <a:cubicBezTo>
                      <a:pt x="2139" y="159"/>
                      <a:pt x="2150" y="160"/>
                      <a:pt x="2159" y="162"/>
                    </a:cubicBezTo>
                    <a:cubicBezTo>
                      <a:pt x="2168" y="165"/>
                      <a:pt x="2175" y="168"/>
                      <a:pt x="2181" y="173"/>
                    </a:cubicBezTo>
                    <a:cubicBezTo>
                      <a:pt x="2187" y="178"/>
                      <a:pt x="2192" y="183"/>
                      <a:pt x="2195" y="190"/>
                    </a:cubicBezTo>
                    <a:cubicBezTo>
                      <a:pt x="2198" y="196"/>
                      <a:pt x="2199" y="204"/>
                      <a:pt x="2199" y="212"/>
                    </a:cubicBezTo>
                    <a:cubicBezTo>
                      <a:pt x="2199" y="219"/>
                      <a:pt x="2198" y="226"/>
                      <a:pt x="2196" y="232"/>
                    </a:cubicBezTo>
                    <a:cubicBezTo>
                      <a:pt x="2193" y="238"/>
                      <a:pt x="2189" y="243"/>
                      <a:pt x="2184" y="248"/>
                    </a:cubicBezTo>
                    <a:cubicBezTo>
                      <a:pt x="2179" y="252"/>
                      <a:pt x="2173" y="256"/>
                      <a:pt x="2166" y="259"/>
                    </a:cubicBezTo>
                    <a:cubicBezTo>
                      <a:pt x="2158" y="261"/>
                      <a:pt x="2150" y="263"/>
                      <a:pt x="2140" y="263"/>
                    </a:cubicBezTo>
                    <a:cubicBezTo>
                      <a:pt x="2130" y="263"/>
                      <a:pt x="2122" y="262"/>
                      <a:pt x="2114" y="259"/>
                    </a:cubicBezTo>
                    <a:cubicBezTo>
                      <a:pt x="2106" y="257"/>
                      <a:pt x="2098" y="254"/>
                      <a:pt x="2092" y="251"/>
                    </a:cubicBezTo>
                    <a:cubicBezTo>
                      <a:pt x="2086" y="249"/>
                      <a:pt x="2081" y="246"/>
                      <a:pt x="2077" y="244"/>
                    </a:cubicBezTo>
                    <a:cubicBezTo>
                      <a:pt x="2073" y="241"/>
                      <a:pt x="2070" y="240"/>
                      <a:pt x="2069" y="240"/>
                    </a:cubicBezTo>
                    <a:cubicBezTo>
                      <a:pt x="2067" y="240"/>
                      <a:pt x="2065" y="241"/>
                      <a:pt x="2064" y="244"/>
                    </a:cubicBezTo>
                    <a:cubicBezTo>
                      <a:pt x="2063" y="246"/>
                      <a:pt x="2063" y="249"/>
                      <a:pt x="2063" y="254"/>
                    </a:cubicBezTo>
                    <a:cubicBezTo>
                      <a:pt x="2063" y="257"/>
                      <a:pt x="2063" y="260"/>
                      <a:pt x="2063" y="262"/>
                    </a:cubicBezTo>
                    <a:cubicBezTo>
                      <a:pt x="2064" y="264"/>
                      <a:pt x="2064" y="266"/>
                      <a:pt x="2064" y="267"/>
                    </a:cubicBezTo>
                    <a:cubicBezTo>
                      <a:pt x="2065" y="269"/>
                      <a:pt x="2065" y="271"/>
                      <a:pt x="2066" y="272"/>
                    </a:cubicBezTo>
                    <a:cubicBezTo>
                      <a:pt x="2067" y="273"/>
                      <a:pt x="2068" y="273"/>
                      <a:pt x="2069" y="274"/>
                    </a:cubicBezTo>
                    <a:cubicBezTo>
                      <a:pt x="2070" y="275"/>
                      <a:pt x="2072" y="277"/>
                      <a:pt x="2077" y="280"/>
                    </a:cubicBezTo>
                    <a:cubicBezTo>
                      <a:pt x="2081" y="282"/>
                      <a:pt x="2086" y="284"/>
                      <a:pt x="2092" y="286"/>
                    </a:cubicBezTo>
                    <a:cubicBezTo>
                      <a:pt x="2099" y="288"/>
                      <a:pt x="2106" y="290"/>
                      <a:pt x="2115" y="292"/>
                    </a:cubicBezTo>
                    <a:cubicBezTo>
                      <a:pt x="2123" y="294"/>
                      <a:pt x="2132" y="294"/>
                      <a:pt x="2142" y="294"/>
                    </a:cubicBezTo>
                    <a:cubicBezTo>
                      <a:pt x="2158" y="294"/>
                      <a:pt x="2172" y="292"/>
                      <a:pt x="2184" y="288"/>
                    </a:cubicBezTo>
                    <a:cubicBezTo>
                      <a:pt x="2197" y="284"/>
                      <a:pt x="2207" y="278"/>
                      <a:pt x="2215" y="271"/>
                    </a:cubicBezTo>
                    <a:cubicBezTo>
                      <a:pt x="2224" y="263"/>
                      <a:pt x="2231" y="254"/>
                      <a:pt x="2235" y="244"/>
                    </a:cubicBezTo>
                    <a:cubicBezTo>
                      <a:pt x="2240" y="233"/>
                      <a:pt x="2242" y="221"/>
                      <a:pt x="2242" y="208"/>
                    </a:cubicBezTo>
                    <a:cubicBezTo>
                      <a:pt x="2242" y="199"/>
                      <a:pt x="2240" y="191"/>
                      <a:pt x="2237" y="183"/>
                    </a:cubicBezTo>
                    <a:cubicBezTo>
                      <a:pt x="2234" y="175"/>
                      <a:pt x="2229" y="168"/>
                      <a:pt x="2223" y="162"/>
                    </a:cubicBezTo>
                    <a:cubicBezTo>
                      <a:pt x="2217" y="157"/>
                      <a:pt x="2210" y="151"/>
                      <a:pt x="2202" y="147"/>
                    </a:cubicBezTo>
                    <a:cubicBezTo>
                      <a:pt x="2194" y="143"/>
                      <a:pt x="2185" y="141"/>
                      <a:pt x="2175" y="140"/>
                    </a:cubicBezTo>
                    <a:lnTo>
                      <a:pt x="2175" y="139"/>
                    </a:lnTo>
                    <a:cubicBezTo>
                      <a:pt x="2184" y="138"/>
                      <a:pt x="2192" y="136"/>
                      <a:pt x="2198" y="132"/>
                    </a:cubicBezTo>
                    <a:cubicBezTo>
                      <a:pt x="2205" y="127"/>
                      <a:pt x="2211" y="122"/>
                      <a:pt x="2215" y="116"/>
                    </a:cubicBezTo>
                    <a:cubicBezTo>
                      <a:pt x="2220" y="110"/>
                      <a:pt x="2222" y="103"/>
                      <a:pt x="2225" y="95"/>
                    </a:cubicBezTo>
                    <a:cubicBezTo>
                      <a:pt x="2227" y="88"/>
                      <a:pt x="2228" y="80"/>
                      <a:pt x="2228" y="71"/>
                    </a:cubicBezTo>
                    <a:cubicBezTo>
                      <a:pt x="2228" y="60"/>
                      <a:pt x="2227" y="50"/>
                      <a:pt x="2224" y="42"/>
                    </a:cubicBezTo>
                    <a:cubicBezTo>
                      <a:pt x="2221" y="33"/>
                      <a:pt x="2216" y="26"/>
                      <a:pt x="2209" y="20"/>
                    </a:cubicBezTo>
                    <a:cubicBezTo>
                      <a:pt x="2202" y="13"/>
                      <a:pt x="2193" y="9"/>
                      <a:pt x="2183" y="5"/>
                    </a:cubicBezTo>
                    <a:cubicBezTo>
                      <a:pt x="2173" y="2"/>
                      <a:pt x="2162" y="0"/>
                      <a:pt x="2149" y="0"/>
                    </a:cubicBezTo>
                    <a:close/>
                    <a:moveTo>
                      <a:pt x="5281" y="0"/>
                    </a:moveTo>
                    <a:cubicBezTo>
                      <a:pt x="5265" y="0"/>
                      <a:pt x="5251" y="3"/>
                      <a:pt x="5238" y="7"/>
                    </a:cubicBezTo>
                    <a:cubicBezTo>
                      <a:pt x="5226" y="12"/>
                      <a:pt x="5215" y="17"/>
                      <a:pt x="5207" y="25"/>
                    </a:cubicBezTo>
                    <a:cubicBezTo>
                      <a:pt x="5198" y="32"/>
                      <a:pt x="5191" y="41"/>
                      <a:pt x="5185" y="51"/>
                    </a:cubicBezTo>
                    <a:cubicBezTo>
                      <a:pt x="5180" y="61"/>
                      <a:pt x="5175" y="73"/>
                      <a:pt x="5171" y="85"/>
                    </a:cubicBezTo>
                    <a:cubicBezTo>
                      <a:pt x="5168" y="96"/>
                      <a:pt x="5166" y="108"/>
                      <a:pt x="5164" y="121"/>
                    </a:cubicBezTo>
                    <a:cubicBezTo>
                      <a:pt x="5163" y="133"/>
                      <a:pt x="5163" y="146"/>
                      <a:pt x="5163" y="158"/>
                    </a:cubicBezTo>
                    <a:cubicBezTo>
                      <a:pt x="5163" y="172"/>
                      <a:pt x="5163" y="185"/>
                      <a:pt x="5164" y="197"/>
                    </a:cubicBezTo>
                    <a:cubicBezTo>
                      <a:pt x="5165" y="209"/>
                      <a:pt x="5167" y="219"/>
                      <a:pt x="5170" y="229"/>
                    </a:cubicBezTo>
                    <a:cubicBezTo>
                      <a:pt x="5172" y="240"/>
                      <a:pt x="5177" y="249"/>
                      <a:pt x="5181" y="257"/>
                    </a:cubicBezTo>
                    <a:cubicBezTo>
                      <a:pt x="5186" y="265"/>
                      <a:pt x="5191" y="272"/>
                      <a:pt x="5198" y="277"/>
                    </a:cubicBezTo>
                    <a:cubicBezTo>
                      <a:pt x="5205" y="282"/>
                      <a:pt x="5213" y="286"/>
                      <a:pt x="5222" y="289"/>
                    </a:cubicBezTo>
                    <a:cubicBezTo>
                      <a:pt x="5231" y="292"/>
                      <a:pt x="5241" y="294"/>
                      <a:pt x="5253" y="294"/>
                    </a:cubicBezTo>
                    <a:cubicBezTo>
                      <a:pt x="5270" y="294"/>
                      <a:pt x="5284" y="291"/>
                      <a:pt x="5297" y="286"/>
                    </a:cubicBezTo>
                    <a:cubicBezTo>
                      <a:pt x="5309" y="280"/>
                      <a:pt x="5319" y="274"/>
                      <a:pt x="5327" y="265"/>
                    </a:cubicBezTo>
                    <a:cubicBezTo>
                      <a:pt x="5335" y="256"/>
                      <a:pt x="5340" y="246"/>
                      <a:pt x="5344" y="234"/>
                    </a:cubicBezTo>
                    <a:cubicBezTo>
                      <a:pt x="5348" y="222"/>
                      <a:pt x="5350" y="210"/>
                      <a:pt x="5350" y="198"/>
                    </a:cubicBezTo>
                    <a:cubicBezTo>
                      <a:pt x="5350" y="186"/>
                      <a:pt x="5349" y="174"/>
                      <a:pt x="5346" y="164"/>
                    </a:cubicBezTo>
                    <a:cubicBezTo>
                      <a:pt x="5343" y="154"/>
                      <a:pt x="5338" y="146"/>
                      <a:pt x="5332" y="139"/>
                    </a:cubicBezTo>
                    <a:cubicBezTo>
                      <a:pt x="5325" y="131"/>
                      <a:pt x="5317" y="125"/>
                      <a:pt x="5306" y="121"/>
                    </a:cubicBezTo>
                    <a:cubicBezTo>
                      <a:pt x="5296" y="117"/>
                      <a:pt x="5282" y="115"/>
                      <a:pt x="5267" y="115"/>
                    </a:cubicBezTo>
                    <a:cubicBezTo>
                      <a:pt x="5259" y="115"/>
                      <a:pt x="5253" y="115"/>
                      <a:pt x="5246" y="117"/>
                    </a:cubicBezTo>
                    <a:cubicBezTo>
                      <a:pt x="5240" y="118"/>
                      <a:pt x="5234" y="119"/>
                      <a:pt x="5229" y="121"/>
                    </a:cubicBezTo>
                    <a:cubicBezTo>
                      <a:pt x="5223" y="123"/>
                      <a:pt x="5218" y="124"/>
                      <a:pt x="5213" y="126"/>
                    </a:cubicBezTo>
                    <a:cubicBezTo>
                      <a:pt x="5208" y="128"/>
                      <a:pt x="5204" y="131"/>
                      <a:pt x="5200" y="133"/>
                    </a:cubicBezTo>
                    <a:cubicBezTo>
                      <a:pt x="5201" y="120"/>
                      <a:pt x="5202" y="107"/>
                      <a:pt x="5205" y="94"/>
                    </a:cubicBezTo>
                    <a:cubicBezTo>
                      <a:pt x="5208" y="82"/>
                      <a:pt x="5213" y="71"/>
                      <a:pt x="5219" y="62"/>
                    </a:cubicBezTo>
                    <a:cubicBezTo>
                      <a:pt x="5225" y="52"/>
                      <a:pt x="5234" y="45"/>
                      <a:pt x="5244" y="39"/>
                    </a:cubicBezTo>
                    <a:cubicBezTo>
                      <a:pt x="5254" y="33"/>
                      <a:pt x="5265" y="31"/>
                      <a:pt x="5279" y="31"/>
                    </a:cubicBezTo>
                    <a:cubicBezTo>
                      <a:pt x="5286" y="31"/>
                      <a:pt x="5293" y="31"/>
                      <a:pt x="5298" y="32"/>
                    </a:cubicBezTo>
                    <a:cubicBezTo>
                      <a:pt x="5304" y="33"/>
                      <a:pt x="5309" y="34"/>
                      <a:pt x="5312" y="35"/>
                    </a:cubicBezTo>
                    <a:cubicBezTo>
                      <a:pt x="5316" y="37"/>
                      <a:pt x="5320" y="38"/>
                      <a:pt x="5323" y="39"/>
                    </a:cubicBezTo>
                    <a:cubicBezTo>
                      <a:pt x="5326" y="40"/>
                      <a:pt x="5328" y="41"/>
                      <a:pt x="5329" y="41"/>
                    </a:cubicBezTo>
                    <a:cubicBezTo>
                      <a:pt x="5331" y="41"/>
                      <a:pt x="5332" y="40"/>
                      <a:pt x="5333" y="40"/>
                    </a:cubicBezTo>
                    <a:cubicBezTo>
                      <a:pt x="5334" y="39"/>
                      <a:pt x="5334" y="38"/>
                      <a:pt x="5335" y="37"/>
                    </a:cubicBezTo>
                    <a:cubicBezTo>
                      <a:pt x="5335" y="36"/>
                      <a:pt x="5335" y="35"/>
                      <a:pt x="5335" y="33"/>
                    </a:cubicBezTo>
                    <a:cubicBezTo>
                      <a:pt x="5335" y="31"/>
                      <a:pt x="5335" y="28"/>
                      <a:pt x="5335" y="26"/>
                    </a:cubicBezTo>
                    <a:cubicBezTo>
                      <a:pt x="5335" y="24"/>
                      <a:pt x="5336" y="22"/>
                      <a:pt x="5335" y="20"/>
                    </a:cubicBezTo>
                    <a:cubicBezTo>
                      <a:pt x="5335" y="19"/>
                      <a:pt x="5335" y="18"/>
                      <a:pt x="5335" y="17"/>
                    </a:cubicBezTo>
                    <a:cubicBezTo>
                      <a:pt x="5334" y="16"/>
                      <a:pt x="5334" y="14"/>
                      <a:pt x="5334" y="13"/>
                    </a:cubicBezTo>
                    <a:cubicBezTo>
                      <a:pt x="5333" y="12"/>
                      <a:pt x="5332" y="11"/>
                      <a:pt x="5331" y="11"/>
                    </a:cubicBezTo>
                    <a:cubicBezTo>
                      <a:pt x="5330" y="10"/>
                      <a:pt x="5328" y="9"/>
                      <a:pt x="5325" y="8"/>
                    </a:cubicBezTo>
                    <a:cubicBezTo>
                      <a:pt x="5322" y="7"/>
                      <a:pt x="5318" y="5"/>
                      <a:pt x="5313" y="4"/>
                    </a:cubicBezTo>
                    <a:cubicBezTo>
                      <a:pt x="5309" y="3"/>
                      <a:pt x="5303" y="2"/>
                      <a:pt x="5297" y="1"/>
                    </a:cubicBezTo>
                    <a:cubicBezTo>
                      <a:pt x="5292" y="0"/>
                      <a:pt x="5286" y="0"/>
                      <a:pt x="5281" y="0"/>
                    </a:cubicBezTo>
                    <a:close/>
                    <a:moveTo>
                      <a:pt x="1112" y="3"/>
                    </a:moveTo>
                    <a:cubicBezTo>
                      <a:pt x="1103" y="3"/>
                      <a:pt x="1095" y="4"/>
                      <a:pt x="1087" y="5"/>
                    </a:cubicBezTo>
                    <a:cubicBezTo>
                      <a:pt x="1079" y="7"/>
                      <a:pt x="1072" y="9"/>
                      <a:pt x="1065" y="12"/>
                    </a:cubicBezTo>
                    <a:cubicBezTo>
                      <a:pt x="1058" y="14"/>
                      <a:pt x="1053" y="17"/>
                      <a:pt x="1049" y="20"/>
                    </a:cubicBezTo>
                    <a:cubicBezTo>
                      <a:pt x="1045" y="22"/>
                      <a:pt x="1042" y="24"/>
                      <a:pt x="1040" y="26"/>
                    </a:cubicBezTo>
                    <a:cubicBezTo>
                      <a:pt x="1039" y="27"/>
                      <a:pt x="1037" y="28"/>
                      <a:pt x="1037" y="29"/>
                    </a:cubicBezTo>
                    <a:cubicBezTo>
                      <a:pt x="1036" y="30"/>
                      <a:pt x="1035" y="32"/>
                      <a:pt x="1035" y="33"/>
                    </a:cubicBezTo>
                    <a:cubicBezTo>
                      <a:pt x="1035" y="34"/>
                      <a:pt x="1034" y="36"/>
                      <a:pt x="1034" y="37"/>
                    </a:cubicBezTo>
                    <a:cubicBezTo>
                      <a:pt x="1034" y="39"/>
                      <a:pt x="1034" y="40"/>
                      <a:pt x="1034" y="42"/>
                    </a:cubicBezTo>
                    <a:cubicBezTo>
                      <a:pt x="1034" y="46"/>
                      <a:pt x="1034" y="48"/>
                      <a:pt x="1034" y="50"/>
                    </a:cubicBezTo>
                    <a:cubicBezTo>
                      <a:pt x="1034" y="53"/>
                      <a:pt x="1035" y="54"/>
                      <a:pt x="1036" y="56"/>
                    </a:cubicBezTo>
                    <a:cubicBezTo>
                      <a:pt x="1036" y="57"/>
                      <a:pt x="1037" y="59"/>
                      <a:pt x="1038" y="59"/>
                    </a:cubicBezTo>
                    <a:cubicBezTo>
                      <a:pt x="1038" y="60"/>
                      <a:pt x="1039" y="60"/>
                      <a:pt x="1040" y="60"/>
                    </a:cubicBezTo>
                    <a:cubicBezTo>
                      <a:pt x="1042" y="60"/>
                      <a:pt x="1045" y="58"/>
                      <a:pt x="1048" y="56"/>
                    </a:cubicBezTo>
                    <a:cubicBezTo>
                      <a:pt x="1052" y="53"/>
                      <a:pt x="1056" y="51"/>
                      <a:pt x="1062" y="48"/>
                    </a:cubicBezTo>
                    <a:cubicBezTo>
                      <a:pt x="1067" y="45"/>
                      <a:pt x="1074" y="42"/>
                      <a:pt x="1081" y="40"/>
                    </a:cubicBezTo>
                    <a:cubicBezTo>
                      <a:pt x="1088" y="37"/>
                      <a:pt x="1096" y="36"/>
                      <a:pt x="1105" y="36"/>
                    </a:cubicBezTo>
                    <a:cubicBezTo>
                      <a:pt x="1112" y="36"/>
                      <a:pt x="1119" y="37"/>
                      <a:pt x="1125" y="40"/>
                    </a:cubicBezTo>
                    <a:cubicBezTo>
                      <a:pt x="1131" y="42"/>
                      <a:pt x="1136" y="45"/>
                      <a:pt x="1140" y="49"/>
                    </a:cubicBezTo>
                    <a:cubicBezTo>
                      <a:pt x="1144" y="54"/>
                      <a:pt x="1147" y="59"/>
                      <a:pt x="1149" y="64"/>
                    </a:cubicBezTo>
                    <a:cubicBezTo>
                      <a:pt x="1151" y="70"/>
                      <a:pt x="1151" y="77"/>
                      <a:pt x="1151" y="83"/>
                    </a:cubicBezTo>
                    <a:cubicBezTo>
                      <a:pt x="1151" y="89"/>
                      <a:pt x="1151" y="96"/>
                      <a:pt x="1150" y="103"/>
                    </a:cubicBezTo>
                    <a:cubicBezTo>
                      <a:pt x="1148" y="110"/>
                      <a:pt x="1146" y="118"/>
                      <a:pt x="1142" y="127"/>
                    </a:cubicBezTo>
                    <a:cubicBezTo>
                      <a:pt x="1138" y="136"/>
                      <a:pt x="1131" y="145"/>
                      <a:pt x="1123" y="156"/>
                    </a:cubicBezTo>
                    <a:cubicBezTo>
                      <a:pt x="1116" y="167"/>
                      <a:pt x="1106" y="179"/>
                      <a:pt x="1093" y="192"/>
                    </a:cubicBezTo>
                    <a:lnTo>
                      <a:pt x="1038" y="251"/>
                    </a:lnTo>
                    <a:cubicBezTo>
                      <a:pt x="1036" y="253"/>
                      <a:pt x="1034" y="255"/>
                      <a:pt x="1033" y="257"/>
                    </a:cubicBezTo>
                    <a:cubicBezTo>
                      <a:pt x="1032" y="258"/>
                      <a:pt x="1031" y="260"/>
                      <a:pt x="1031" y="262"/>
                    </a:cubicBezTo>
                    <a:cubicBezTo>
                      <a:pt x="1030" y="264"/>
                      <a:pt x="1029" y="265"/>
                      <a:pt x="1029" y="267"/>
                    </a:cubicBezTo>
                    <a:cubicBezTo>
                      <a:pt x="1029" y="270"/>
                      <a:pt x="1029" y="272"/>
                      <a:pt x="1029" y="275"/>
                    </a:cubicBezTo>
                    <a:cubicBezTo>
                      <a:pt x="1029" y="279"/>
                      <a:pt x="1029" y="281"/>
                      <a:pt x="1030" y="283"/>
                    </a:cubicBezTo>
                    <a:cubicBezTo>
                      <a:pt x="1030" y="285"/>
                      <a:pt x="1030" y="287"/>
                      <a:pt x="1032" y="289"/>
                    </a:cubicBezTo>
                    <a:cubicBezTo>
                      <a:pt x="1033" y="290"/>
                      <a:pt x="1034" y="291"/>
                      <a:pt x="1036" y="291"/>
                    </a:cubicBezTo>
                    <a:cubicBezTo>
                      <a:pt x="1037" y="292"/>
                      <a:pt x="1039" y="292"/>
                      <a:pt x="1041" y="292"/>
                    </a:cubicBezTo>
                    <a:lnTo>
                      <a:pt x="1199" y="292"/>
                    </a:lnTo>
                    <a:cubicBezTo>
                      <a:pt x="1200" y="292"/>
                      <a:pt x="1202" y="292"/>
                      <a:pt x="1203" y="291"/>
                    </a:cubicBezTo>
                    <a:cubicBezTo>
                      <a:pt x="1204" y="290"/>
                      <a:pt x="1205" y="289"/>
                      <a:pt x="1205" y="288"/>
                    </a:cubicBezTo>
                    <a:cubicBezTo>
                      <a:pt x="1206" y="286"/>
                      <a:pt x="1207" y="284"/>
                      <a:pt x="1207" y="282"/>
                    </a:cubicBezTo>
                    <a:cubicBezTo>
                      <a:pt x="1207" y="280"/>
                      <a:pt x="1207" y="278"/>
                      <a:pt x="1207" y="275"/>
                    </a:cubicBezTo>
                    <a:cubicBezTo>
                      <a:pt x="1207" y="273"/>
                      <a:pt x="1207" y="270"/>
                      <a:pt x="1207" y="268"/>
                    </a:cubicBezTo>
                    <a:cubicBezTo>
                      <a:pt x="1207" y="266"/>
                      <a:pt x="1206" y="265"/>
                      <a:pt x="1205" y="264"/>
                    </a:cubicBezTo>
                    <a:cubicBezTo>
                      <a:pt x="1204" y="262"/>
                      <a:pt x="1203" y="261"/>
                      <a:pt x="1202" y="260"/>
                    </a:cubicBezTo>
                    <a:cubicBezTo>
                      <a:pt x="1201" y="260"/>
                      <a:pt x="1200" y="259"/>
                      <a:pt x="1199" y="259"/>
                    </a:cubicBezTo>
                    <a:lnTo>
                      <a:pt x="1075" y="259"/>
                    </a:lnTo>
                    <a:lnTo>
                      <a:pt x="1120" y="213"/>
                    </a:lnTo>
                    <a:cubicBezTo>
                      <a:pt x="1136" y="196"/>
                      <a:pt x="1150" y="181"/>
                      <a:pt x="1159" y="168"/>
                    </a:cubicBezTo>
                    <a:cubicBezTo>
                      <a:pt x="1169" y="155"/>
                      <a:pt x="1176" y="144"/>
                      <a:pt x="1181" y="133"/>
                    </a:cubicBezTo>
                    <a:cubicBezTo>
                      <a:pt x="1187" y="123"/>
                      <a:pt x="1190" y="112"/>
                      <a:pt x="1192" y="103"/>
                    </a:cubicBezTo>
                    <a:cubicBezTo>
                      <a:pt x="1194" y="94"/>
                      <a:pt x="1195" y="86"/>
                      <a:pt x="1195" y="77"/>
                    </a:cubicBezTo>
                    <a:cubicBezTo>
                      <a:pt x="1195" y="67"/>
                      <a:pt x="1193" y="57"/>
                      <a:pt x="1189" y="48"/>
                    </a:cubicBezTo>
                    <a:cubicBezTo>
                      <a:pt x="1186" y="39"/>
                      <a:pt x="1180" y="31"/>
                      <a:pt x="1174" y="24"/>
                    </a:cubicBezTo>
                    <a:cubicBezTo>
                      <a:pt x="1167" y="17"/>
                      <a:pt x="1158" y="12"/>
                      <a:pt x="1148" y="8"/>
                    </a:cubicBezTo>
                    <a:cubicBezTo>
                      <a:pt x="1138" y="4"/>
                      <a:pt x="1126" y="3"/>
                      <a:pt x="1112" y="3"/>
                    </a:cubicBezTo>
                    <a:close/>
                    <a:moveTo>
                      <a:pt x="3221" y="3"/>
                    </a:moveTo>
                    <a:cubicBezTo>
                      <a:pt x="3216" y="3"/>
                      <a:pt x="3212" y="3"/>
                      <a:pt x="3209" y="4"/>
                    </a:cubicBezTo>
                    <a:cubicBezTo>
                      <a:pt x="3206" y="4"/>
                      <a:pt x="3203" y="4"/>
                      <a:pt x="3201" y="5"/>
                    </a:cubicBezTo>
                    <a:cubicBezTo>
                      <a:pt x="3199" y="5"/>
                      <a:pt x="3197" y="6"/>
                      <a:pt x="3196" y="7"/>
                    </a:cubicBezTo>
                    <a:cubicBezTo>
                      <a:pt x="3194" y="8"/>
                      <a:pt x="3193" y="9"/>
                      <a:pt x="3192" y="10"/>
                    </a:cubicBezTo>
                    <a:lnTo>
                      <a:pt x="3090" y="184"/>
                    </a:lnTo>
                    <a:cubicBezTo>
                      <a:pt x="3089" y="185"/>
                      <a:pt x="3088" y="187"/>
                      <a:pt x="3087" y="189"/>
                    </a:cubicBezTo>
                    <a:cubicBezTo>
                      <a:pt x="3087" y="191"/>
                      <a:pt x="3086" y="192"/>
                      <a:pt x="3086" y="194"/>
                    </a:cubicBezTo>
                    <a:cubicBezTo>
                      <a:pt x="3085" y="196"/>
                      <a:pt x="3085" y="198"/>
                      <a:pt x="3085" y="200"/>
                    </a:cubicBezTo>
                    <a:cubicBezTo>
                      <a:pt x="3085" y="203"/>
                      <a:pt x="3085" y="205"/>
                      <a:pt x="3085" y="207"/>
                    </a:cubicBezTo>
                    <a:cubicBezTo>
                      <a:pt x="3085" y="211"/>
                      <a:pt x="3084" y="214"/>
                      <a:pt x="3085" y="216"/>
                    </a:cubicBezTo>
                    <a:cubicBezTo>
                      <a:pt x="3085" y="218"/>
                      <a:pt x="3086" y="220"/>
                      <a:pt x="3087" y="221"/>
                    </a:cubicBezTo>
                    <a:cubicBezTo>
                      <a:pt x="3088" y="223"/>
                      <a:pt x="3089" y="223"/>
                      <a:pt x="3090" y="223"/>
                    </a:cubicBezTo>
                    <a:cubicBezTo>
                      <a:pt x="3091" y="224"/>
                      <a:pt x="3093" y="224"/>
                      <a:pt x="3094" y="224"/>
                    </a:cubicBezTo>
                    <a:lnTo>
                      <a:pt x="3213" y="224"/>
                    </a:lnTo>
                    <a:lnTo>
                      <a:pt x="3213" y="284"/>
                    </a:lnTo>
                    <a:cubicBezTo>
                      <a:pt x="3213" y="285"/>
                      <a:pt x="3213" y="287"/>
                      <a:pt x="3213" y="288"/>
                    </a:cubicBezTo>
                    <a:cubicBezTo>
                      <a:pt x="3214" y="288"/>
                      <a:pt x="3215" y="289"/>
                      <a:pt x="3216" y="289"/>
                    </a:cubicBezTo>
                    <a:cubicBezTo>
                      <a:pt x="3217" y="290"/>
                      <a:pt x="3219" y="290"/>
                      <a:pt x="3221" y="290"/>
                    </a:cubicBezTo>
                    <a:cubicBezTo>
                      <a:pt x="3224" y="291"/>
                      <a:pt x="3227" y="291"/>
                      <a:pt x="3230" y="291"/>
                    </a:cubicBezTo>
                    <a:cubicBezTo>
                      <a:pt x="3234" y="291"/>
                      <a:pt x="3237" y="291"/>
                      <a:pt x="3239" y="290"/>
                    </a:cubicBezTo>
                    <a:cubicBezTo>
                      <a:pt x="3241" y="290"/>
                      <a:pt x="3244" y="290"/>
                      <a:pt x="3245" y="289"/>
                    </a:cubicBezTo>
                    <a:cubicBezTo>
                      <a:pt x="3247" y="289"/>
                      <a:pt x="3247" y="288"/>
                      <a:pt x="3248" y="288"/>
                    </a:cubicBezTo>
                    <a:cubicBezTo>
                      <a:pt x="3248" y="287"/>
                      <a:pt x="3249" y="285"/>
                      <a:pt x="3249" y="284"/>
                    </a:cubicBezTo>
                    <a:lnTo>
                      <a:pt x="3249" y="224"/>
                    </a:lnTo>
                    <a:lnTo>
                      <a:pt x="3281" y="224"/>
                    </a:lnTo>
                    <a:cubicBezTo>
                      <a:pt x="3284" y="224"/>
                      <a:pt x="3286" y="223"/>
                      <a:pt x="3288" y="220"/>
                    </a:cubicBezTo>
                    <a:cubicBezTo>
                      <a:pt x="3289" y="217"/>
                      <a:pt x="3289" y="213"/>
                      <a:pt x="3289" y="208"/>
                    </a:cubicBezTo>
                    <a:cubicBezTo>
                      <a:pt x="3289" y="203"/>
                      <a:pt x="3289" y="199"/>
                      <a:pt x="3288" y="197"/>
                    </a:cubicBezTo>
                    <a:cubicBezTo>
                      <a:pt x="3286" y="194"/>
                      <a:pt x="3284" y="193"/>
                      <a:pt x="3281" y="193"/>
                    </a:cubicBezTo>
                    <a:lnTo>
                      <a:pt x="3249" y="193"/>
                    </a:lnTo>
                    <a:lnTo>
                      <a:pt x="3249" y="11"/>
                    </a:lnTo>
                    <a:cubicBezTo>
                      <a:pt x="3249" y="9"/>
                      <a:pt x="3248" y="8"/>
                      <a:pt x="3247" y="7"/>
                    </a:cubicBezTo>
                    <a:cubicBezTo>
                      <a:pt x="3246" y="6"/>
                      <a:pt x="3245" y="6"/>
                      <a:pt x="3243" y="5"/>
                    </a:cubicBezTo>
                    <a:cubicBezTo>
                      <a:pt x="3240" y="5"/>
                      <a:pt x="3237" y="4"/>
                      <a:pt x="3234" y="4"/>
                    </a:cubicBezTo>
                    <a:cubicBezTo>
                      <a:pt x="3230" y="3"/>
                      <a:pt x="3225" y="3"/>
                      <a:pt x="3221" y="3"/>
                    </a:cubicBezTo>
                    <a:close/>
                    <a:moveTo>
                      <a:pt x="4159" y="3"/>
                    </a:moveTo>
                    <a:cubicBezTo>
                      <a:pt x="4155" y="3"/>
                      <a:pt x="4151" y="4"/>
                      <a:pt x="4149" y="6"/>
                    </a:cubicBezTo>
                    <a:cubicBezTo>
                      <a:pt x="4147" y="9"/>
                      <a:pt x="4146" y="12"/>
                      <a:pt x="4146" y="17"/>
                    </a:cubicBezTo>
                    <a:lnTo>
                      <a:pt x="4146" y="133"/>
                    </a:lnTo>
                    <a:cubicBezTo>
                      <a:pt x="4146" y="139"/>
                      <a:pt x="4147" y="142"/>
                      <a:pt x="4148" y="144"/>
                    </a:cubicBezTo>
                    <a:cubicBezTo>
                      <a:pt x="4150" y="146"/>
                      <a:pt x="4153" y="147"/>
                      <a:pt x="4157" y="147"/>
                    </a:cubicBezTo>
                    <a:cubicBezTo>
                      <a:pt x="4163" y="147"/>
                      <a:pt x="4169" y="147"/>
                      <a:pt x="4176" y="146"/>
                    </a:cubicBezTo>
                    <a:cubicBezTo>
                      <a:pt x="4182" y="145"/>
                      <a:pt x="4190" y="144"/>
                      <a:pt x="4199" y="144"/>
                    </a:cubicBezTo>
                    <a:cubicBezTo>
                      <a:pt x="4211" y="144"/>
                      <a:pt x="4222" y="145"/>
                      <a:pt x="4231" y="147"/>
                    </a:cubicBezTo>
                    <a:cubicBezTo>
                      <a:pt x="4240" y="150"/>
                      <a:pt x="4248" y="153"/>
                      <a:pt x="4254" y="158"/>
                    </a:cubicBezTo>
                    <a:cubicBezTo>
                      <a:pt x="4260" y="163"/>
                      <a:pt x="4265" y="169"/>
                      <a:pt x="4267" y="176"/>
                    </a:cubicBezTo>
                    <a:cubicBezTo>
                      <a:pt x="4270" y="183"/>
                      <a:pt x="4272" y="190"/>
                      <a:pt x="4272" y="199"/>
                    </a:cubicBezTo>
                    <a:cubicBezTo>
                      <a:pt x="4272" y="210"/>
                      <a:pt x="4270" y="219"/>
                      <a:pt x="4266" y="227"/>
                    </a:cubicBezTo>
                    <a:cubicBezTo>
                      <a:pt x="4263" y="234"/>
                      <a:pt x="4258" y="241"/>
                      <a:pt x="4252" y="246"/>
                    </a:cubicBezTo>
                    <a:cubicBezTo>
                      <a:pt x="4246" y="251"/>
                      <a:pt x="4239" y="254"/>
                      <a:pt x="4231" y="257"/>
                    </a:cubicBezTo>
                    <a:cubicBezTo>
                      <a:pt x="4223" y="259"/>
                      <a:pt x="4214" y="260"/>
                      <a:pt x="4204" y="260"/>
                    </a:cubicBezTo>
                    <a:cubicBezTo>
                      <a:pt x="4193" y="260"/>
                      <a:pt x="4184" y="260"/>
                      <a:pt x="4177" y="258"/>
                    </a:cubicBezTo>
                    <a:cubicBezTo>
                      <a:pt x="4169" y="256"/>
                      <a:pt x="4162" y="254"/>
                      <a:pt x="4157" y="251"/>
                    </a:cubicBezTo>
                    <a:cubicBezTo>
                      <a:pt x="4152" y="249"/>
                      <a:pt x="4148" y="247"/>
                      <a:pt x="4145" y="245"/>
                    </a:cubicBezTo>
                    <a:cubicBezTo>
                      <a:pt x="4142" y="243"/>
                      <a:pt x="4139" y="243"/>
                      <a:pt x="4138" y="243"/>
                    </a:cubicBezTo>
                    <a:cubicBezTo>
                      <a:pt x="4137" y="243"/>
                      <a:pt x="4136" y="243"/>
                      <a:pt x="4135" y="244"/>
                    </a:cubicBezTo>
                    <a:cubicBezTo>
                      <a:pt x="4134" y="244"/>
                      <a:pt x="4134" y="245"/>
                      <a:pt x="4133" y="246"/>
                    </a:cubicBezTo>
                    <a:cubicBezTo>
                      <a:pt x="4133" y="247"/>
                      <a:pt x="4132" y="249"/>
                      <a:pt x="4132" y="251"/>
                    </a:cubicBezTo>
                    <a:cubicBezTo>
                      <a:pt x="4131" y="253"/>
                      <a:pt x="4132" y="256"/>
                      <a:pt x="4132" y="259"/>
                    </a:cubicBezTo>
                    <a:cubicBezTo>
                      <a:pt x="4132" y="261"/>
                      <a:pt x="4131" y="263"/>
                      <a:pt x="4132" y="265"/>
                    </a:cubicBezTo>
                    <a:cubicBezTo>
                      <a:pt x="4132" y="267"/>
                      <a:pt x="4132" y="269"/>
                      <a:pt x="4132" y="270"/>
                    </a:cubicBezTo>
                    <a:cubicBezTo>
                      <a:pt x="4133" y="271"/>
                      <a:pt x="4133" y="272"/>
                      <a:pt x="4133" y="273"/>
                    </a:cubicBezTo>
                    <a:cubicBezTo>
                      <a:pt x="4134" y="274"/>
                      <a:pt x="4135" y="275"/>
                      <a:pt x="4136" y="276"/>
                    </a:cubicBezTo>
                    <a:cubicBezTo>
                      <a:pt x="4137" y="277"/>
                      <a:pt x="4140" y="278"/>
                      <a:pt x="4144" y="280"/>
                    </a:cubicBezTo>
                    <a:cubicBezTo>
                      <a:pt x="4148" y="281"/>
                      <a:pt x="4153" y="283"/>
                      <a:pt x="4159" y="285"/>
                    </a:cubicBezTo>
                    <a:cubicBezTo>
                      <a:pt x="4165" y="287"/>
                      <a:pt x="4172" y="289"/>
                      <a:pt x="4180" y="290"/>
                    </a:cubicBezTo>
                    <a:cubicBezTo>
                      <a:pt x="4188" y="292"/>
                      <a:pt x="4196" y="292"/>
                      <a:pt x="4205" y="292"/>
                    </a:cubicBezTo>
                    <a:cubicBezTo>
                      <a:pt x="4221" y="292"/>
                      <a:pt x="4236" y="290"/>
                      <a:pt x="4249" y="286"/>
                    </a:cubicBezTo>
                    <a:cubicBezTo>
                      <a:pt x="4262" y="282"/>
                      <a:pt x="4273" y="275"/>
                      <a:pt x="4282" y="266"/>
                    </a:cubicBezTo>
                    <a:cubicBezTo>
                      <a:pt x="4292" y="258"/>
                      <a:pt x="4298" y="248"/>
                      <a:pt x="4304" y="236"/>
                    </a:cubicBezTo>
                    <a:cubicBezTo>
                      <a:pt x="4309" y="225"/>
                      <a:pt x="4311" y="211"/>
                      <a:pt x="4311" y="196"/>
                    </a:cubicBezTo>
                    <a:cubicBezTo>
                      <a:pt x="4311" y="184"/>
                      <a:pt x="4309" y="173"/>
                      <a:pt x="4305" y="162"/>
                    </a:cubicBezTo>
                    <a:cubicBezTo>
                      <a:pt x="4301" y="152"/>
                      <a:pt x="4295" y="143"/>
                      <a:pt x="4287" y="136"/>
                    </a:cubicBezTo>
                    <a:cubicBezTo>
                      <a:pt x="4279" y="129"/>
                      <a:pt x="4268" y="124"/>
                      <a:pt x="4256" y="120"/>
                    </a:cubicBezTo>
                    <a:cubicBezTo>
                      <a:pt x="4244" y="116"/>
                      <a:pt x="4230" y="114"/>
                      <a:pt x="4214" y="114"/>
                    </a:cubicBezTo>
                    <a:cubicBezTo>
                      <a:pt x="4207" y="114"/>
                      <a:pt x="4200" y="114"/>
                      <a:pt x="4195" y="114"/>
                    </a:cubicBezTo>
                    <a:cubicBezTo>
                      <a:pt x="4190" y="114"/>
                      <a:pt x="4184" y="115"/>
                      <a:pt x="4179" y="116"/>
                    </a:cubicBezTo>
                    <a:lnTo>
                      <a:pt x="4179" y="35"/>
                    </a:lnTo>
                    <a:lnTo>
                      <a:pt x="4286" y="35"/>
                    </a:lnTo>
                    <a:cubicBezTo>
                      <a:pt x="4289" y="35"/>
                      <a:pt x="4291" y="34"/>
                      <a:pt x="4292" y="31"/>
                    </a:cubicBezTo>
                    <a:cubicBezTo>
                      <a:pt x="4294" y="28"/>
                      <a:pt x="4294" y="24"/>
                      <a:pt x="4294" y="19"/>
                    </a:cubicBezTo>
                    <a:cubicBezTo>
                      <a:pt x="4294" y="16"/>
                      <a:pt x="4294" y="14"/>
                      <a:pt x="4294" y="12"/>
                    </a:cubicBezTo>
                    <a:cubicBezTo>
                      <a:pt x="4293" y="10"/>
                      <a:pt x="4293" y="8"/>
                      <a:pt x="4292" y="6"/>
                    </a:cubicBezTo>
                    <a:cubicBezTo>
                      <a:pt x="4291" y="5"/>
                      <a:pt x="4291" y="4"/>
                      <a:pt x="4289" y="4"/>
                    </a:cubicBezTo>
                    <a:cubicBezTo>
                      <a:pt x="4288" y="3"/>
                      <a:pt x="4287" y="3"/>
                      <a:pt x="4286" y="3"/>
                    </a:cubicBezTo>
                    <a:lnTo>
                      <a:pt x="4159" y="3"/>
                    </a:lnTo>
                    <a:close/>
                    <a:moveTo>
                      <a:pt x="83" y="4"/>
                    </a:moveTo>
                    <a:cubicBezTo>
                      <a:pt x="81" y="4"/>
                      <a:pt x="79" y="4"/>
                      <a:pt x="78" y="5"/>
                    </a:cubicBezTo>
                    <a:cubicBezTo>
                      <a:pt x="77" y="5"/>
                      <a:pt x="75" y="5"/>
                      <a:pt x="75" y="5"/>
                    </a:cubicBezTo>
                    <a:cubicBezTo>
                      <a:pt x="74" y="6"/>
                      <a:pt x="73" y="6"/>
                      <a:pt x="73" y="6"/>
                    </a:cubicBezTo>
                    <a:lnTo>
                      <a:pt x="7" y="49"/>
                    </a:lnTo>
                    <a:cubicBezTo>
                      <a:pt x="5" y="49"/>
                      <a:pt x="5" y="50"/>
                      <a:pt x="4" y="51"/>
                    </a:cubicBezTo>
                    <a:cubicBezTo>
                      <a:pt x="3" y="52"/>
                      <a:pt x="2" y="53"/>
                      <a:pt x="1" y="54"/>
                    </a:cubicBezTo>
                    <a:cubicBezTo>
                      <a:pt x="1" y="55"/>
                      <a:pt x="1" y="57"/>
                      <a:pt x="1" y="58"/>
                    </a:cubicBezTo>
                    <a:cubicBezTo>
                      <a:pt x="0" y="60"/>
                      <a:pt x="1" y="62"/>
                      <a:pt x="1" y="64"/>
                    </a:cubicBezTo>
                    <a:cubicBezTo>
                      <a:pt x="1" y="68"/>
                      <a:pt x="1" y="71"/>
                      <a:pt x="1" y="73"/>
                    </a:cubicBezTo>
                    <a:cubicBezTo>
                      <a:pt x="2" y="76"/>
                      <a:pt x="2" y="77"/>
                      <a:pt x="3" y="78"/>
                    </a:cubicBezTo>
                    <a:cubicBezTo>
                      <a:pt x="4" y="79"/>
                      <a:pt x="6" y="79"/>
                      <a:pt x="8" y="79"/>
                    </a:cubicBezTo>
                    <a:cubicBezTo>
                      <a:pt x="9" y="78"/>
                      <a:pt x="11" y="77"/>
                      <a:pt x="14" y="76"/>
                    </a:cubicBezTo>
                    <a:lnTo>
                      <a:pt x="69" y="43"/>
                    </a:lnTo>
                    <a:lnTo>
                      <a:pt x="69" y="260"/>
                    </a:lnTo>
                    <a:lnTo>
                      <a:pt x="9" y="260"/>
                    </a:lnTo>
                    <a:cubicBezTo>
                      <a:pt x="8" y="260"/>
                      <a:pt x="8" y="261"/>
                      <a:pt x="7" y="261"/>
                    </a:cubicBezTo>
                    <a:cubicBezTo>
                      <a:pt x="6" y="262"/>
                      <a:pt x="5" y="263"/>
                      <a:pt x="4" y="264"/>
                    </a:cubicBezTo>
                    <a:cubicBezTo>
                      <a:pt x="3" y="265"/>
                      <a:pt x="3" y="267"/>
                      <a:pt x="2" y="269"/>
                    </a:cubicBezTo>
                    <a:cubicBezTo>
                      <a:pt x="2" y="271"/>
                      <a:pt x="1" y="274"/>
                      <a:pt x="1" y="276"/>
                    </a:cubicBezTo>
                    <a:cubicBezTo>
                      <a:pt x="1" y="279"/>
                      <a:pt x="2" y="281"/>
                      <a:pt x="2" y="283"/>
                    </a:cubicBezTo>
                    <a:cubicBezTo>
                      <a:pt x="3" y="285"/>
                      <a:pt x="3" y="286"/>
                      <a:pt x="4" y="288"/>
                    </a:cubicBezTo>
                    <a:cubicBezTo>
                      <a:pt x="5" y="289"/>
                      <a:pt x="6" y="290"/>
                      <a:pt x="7" y="290"/>
                    </a:cubicBezTo>
                    <a:cubicBezTo>
                      <a:pt x="8" y="291"/>
                      <a:pt x="8" y="291"/>
                      <a:pt x="9" y="291"/>
                    </a:cubicBezTo>
                    <a:lnTo>
                      <a:pt x="158" y="291"/>
                    </a:lnTo>
                    <a:cubicBezTo>
                      <a:pt x="159" y="291"/>
                      <a:pt x="161" y="291"/>
                      <a:pt x="162" y="290"/>
                    </a:cubicBezTo>
                    <a:cubicBezTo>
                      <a:pt x="163" y="290"/>
                      <a:pt x="163" y="289"/>
                      <a:pt x="164" y="288"/>
                    </a:cubicBezTo>
                    <a:cubicBezTo>
                      <a:pt x="164" y="286"/>
                      <a:pt x="165" y="285"/>
                      <a:pt x="165" y="283"/>
                    </a:cubicBezTo>
                    <a:cubicBezTo>
                      <a:pt x="166" y="281"/>
                      <a:pt x="166" y="279"/>
                      <a:pt x="166" y="276"/>
                    </a:cubicBezTo>
                    <a:cubicBezTo>
                      <a:pt x="166" y="274"/>
                      <a:pt x="167" y="271"/>
                      <a:pt x="166" y="269"/>
                    </a:cubicBezTo>
                    <a:cubicBezTo>
                      <a:pt x="166" y="267"/>
                      <a:pt x="165" y="265"/>
                      <a:pt x="165" y="264"/>
                    </a:cubicBezTo>
                    <a:cubicBezTo>
                      <a:pt x="164" y="263"/>
                      <a:pt x="163" y="262"/>
                      <a:pt x="162" y="261"/>
                    </a:cubicBezTo>
                    <a:cubicBezTo>
                      <a:pt x="161" y="261"/>
                      <a:pt x="160" y="260"/>
                      <a:pt x="158" y="260"/>
                    </a:cubicBezTo>
                    <a:lnTo>
                      <a:pt x="107" y="260"/>
                    </a:lnTo>
                    <a:lnTo>
                      <a:pt x="107" y="10"/>
                    </a:lnTo>
                    <a:cubicBezTo>
                      <a:pt x="107" y="9"/>
                      <a:pt x="107" y="8"/>
                      <a:pt x="106" y="7"/>
                    </a:cubicBezTo>
                    <a:cubicBezTo>
                      <a:pt x="106" y="6"/>
                      <a:pt x="105" y="6"/>
                      <a:pt x="104" y="5"/>
                    </a:cubicBezTo>
                    <a:cubicBezTo>
                      <a:pt x="102" y="5"/>
                      <a:pt x="101" y="4"/>
                      <a:pt x="98" y="4"/>
                    </a:cubicBezTo>
                    <a:cubicBezTo>
                      <a:pt x="96" y="3"/>
                      <a:pt x="93" y="4"/>
                      <a:pt x="90" y="4"/>
                    </a:cubicBezTo>
                    <a:cubicBezTo>
                      <a:pt x="87" y="4"/>
                      <a:pt x="84" y="4"/>
                      <a:pt x="83" y="4"/>
                    </a:cubicBezTo>
                    <a:close/>
                    <a:moveTo>
                      <a:pt x="3212" y="36"/>
                    </a:moveTo>
                    <a:lnTo>
                      <a:pt x="3213" y="36"/>
                    </a:lnTo>
                    <a:lnTo>
                      <a:pt x="3213" y="193"/>
                    </a:lnTo>
                    <a:lnTo>
                      <a:pt x="3119" y="193"/>
                    </a:lnTo>
                    <a:lnTo>
                      <a:pt x="3212" y="36"/>
                    </a:lnTo>
                    <a:close/>
                    <a:moveTo>
                      <a:pt x="5260" y="145"/>
                    </a:moveTo>
                    <a:cubicBezTo>
                      <a:pt x="5270" y="145"/>
                      <a:pt x="5278" y="146"/>
                      <a:pt x="5284" y="148"/>
                    </a:cubicBezTo>
                    <a:cubicBezTo>
                      <a:pt x="5291" y="151"/>
                      <a:pt x="5296" y="155"/>
                      <a:pt x="5300" y="160"/>
                    </a:cubicBezTo>
                    <a:cubicBezTo>
                      <a:pt x="5304" y="165"/>
                      <a:pt x="5307" y="170"/>
                      <a:pt x="5309" y="177"/>
                    </a:cubicBezTo>
                    <a:cubicBezTo>
                      <a:pt x="5311" y="184"/>
                      <a:pt x="5312" y="193"/>
                      <a:pt x="5312" y="201"/>
                    </a:cubicBezTo>
                    <a:cubicBezTo>
                      <a:pt x="5312" y="209"/>
                      <a:pt x="5310" y="216"/>
                      <a:pt x="5308" y="223"/>
                    </a:cubicBezTo>
                    <a:cubicBezTo>
                      <a:pt x="5306" y="231"/>
                      <a:pt x="5303" y="238"/>
                      <a:pt x="5298" y="244"/>
                    </a:cubicBezTo>
                    <a:cubicBezTo>
                      <a:pt x="5294" y="249"/>
                      <a:pt x="5288" y="254"/>
                      <a:pt x="5281" y="258"/>
                    </a:cubicBezTo>
                    <a:cubicBezTo>
                      <a:pt x="5274" y="261"/>
                      <a:pt x="5266" y="263"/>
                      <a:pt x="5257" y="263"/>
                    </a:cubicBezTo>
                    <a:cubicBezTo>
                      <a:pt x="5248" y="263"/>
                      <a:pt x="5239" y="262"/>
                      <a:pt x="5232" y="259"/>
                    </a:cubicBezTo>
                    <a:cubicBezTo>
                      <a:pt x="5225" y="255"/>
                      <a:pt x="5219" y="249"/>
                      <a:pt x="5215" y="242"/>
                    </a:cubicBezTo>
                    <a:cubicBezTo>
                      <a:pt x="5210" y="234"/>
                      <a:pt x="5206" y="224"/>
                      <a:pt x="5204" y="211"/>
                    </a:cubicBezTo>
                    <a:cubicBezTo>
                      <a:pt x="5202" y="198"/>
                      <a:pt x="5200" y="182"/>
                      <a:pt x="5200" y="163"/>
                    </a:cubicBezTo>
                    <a:cubicBezTo>
                      <a:pt x="5204" y="161"/>
                      <a:pt x="5209" y="158"/>
                      <a:pt x="5214" y="156"/>
                    </a:cubicBezTo>
                    <a:cubicBezTo>
                      <a:pt x="5218" y="154"/>
                      <a:pt x="5223" y="152"/>
                      <a:pt x="5228" y="150"/>
                    </a:cubicBezTo>
                    <a:cubicBezTo>
                      <a:pt x="5233" y="148"/>
                      <a:pt x="5238" y="147"/>
                      <a:pt x="5244" y="146"/>
                    </a:cubicBezTo>
                    <a:cubicBezTo>
                      <a:pt x="5249" y="145"/>
                      <a:pt x="5255" y="145"/>
                      <a:pt x="5260" y="145"/>
                    </a:cubicBezTo>
                    <a:close/>
                  </a:path>
                </a:pathLst>
              </a:custGeom>
              <a:solidFill>
                <a:srgbClr val="999999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4" name="Previous Button"/>
              <p:cNvSpPr>
                <a:spLocks/>
              </p:cNvSpPr>
              <p:nvPr/>
            </p:nvSpPr>
            <p:spPr bwMode="auto">
              <a:xfrm>
                <a:off x="652463" y="1552576"/>
                <a:ext cx="57150" cy="63500"/>
              </a:xfrm>
              <a:custGeom>
                <a:avLst/>
                <a:gdLst>
                  <a:gd name="T0" fmla="*/ 0 w 258"/>
                  <a:gd name="T1" fmla="*/ 148 h 297"/>
                  <a:gd name="T2" fmla="*/ 258 w 258"/>
                  <a:gd name="T3" fmla="*/ 0 h 297"/>
                  <a:gd name="T4" fmla="*/ 258 w 258"/>
                  <a:gd name="T5" fmla="*/ 297 h 297"/>
                  <a:gd name="T6" fmla="*/ 0 w 258"/>
                  <a:gd name="T7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8" h="297">
                    <a:moveTo>
                      <a:pt x="0" y="148"/>
                    </a:moveTo>
                    <a:lnTo>
                      <a:pt x="258" y="0"/>
                    </a:lnTo>
                    <a:lnTo>
                      <a:pt x="258" y="297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  <p:sp>
            <p:nvSpPr>
              <p:cNvPr id="125" name="Next Button"/>
              <p:cNvSpPr>
                <a:spLocks/>
              </p:cNvSpPr>
              <p:nvPr/>
            </p:nvSpPr>
            <p:spPr bwMode="auto">
              <a:xfrm>
                <a:off x="2025651" y="1552576"/>
                <a:ext cx="55563" cy="63500"/>
              </a:xfrm>
              <a:custGeom>
                <a:avLst/>
                <a:gdLst>
                  <a:gd name="T0" fmla="*/ 258 w 258"/>
                  <a:gd name="T1" fmla="*/ 148 h 297"/>
                  <a:gd name="T2" fmla="*/ 0 w 258"/>
                  <a:gd name="T3" fmla="*/ 297 h 297"/>
                  <a:gd name="T4" fmla="*/ 0 w 258"/>
                  <a:gd name="T5" fmla="*/ 0 h 297"/>
                  <a:gd name="T6" fmla="*/ 258 w 258"/>
                  <a:gd name="T7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8" h="297">
                    <a:moveTo>
                      <a:pt x="258" y="148"/>
                    </a:moveTo>
                    <a:lnTo>
                      <a:pt x="0" y="297"/>
                    </a:lnTo>
                    <a:lnTo>
                      <a:pt x="0" y="0"/>
                    </a:lnTo>
                    <a:lnTo>
                      <a:pt x="258" y="148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prstClr val="black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+mn-ea"/>
                </a:endParaRPr>
              </a:p>
            </p:txBody>
          </p:sp>
        </p:grpSp>
      </p:grpSp>
      <p:sp>
        <p:nvSpPr>
          <p:cNvPr id="126" name="직사각형 125"/>
          <p:cNvSpPr/>
          <p:nvPr/>
        </p:nvSpPr>
        <p:spPr>
          <a:xfrm>
            <a:off x="1141448" y="769133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11111249" y="6675458"/>
            <a:ext cx="1482239" cy="807104"/>
            <a:chOff x="11111249" y="4601720"/>
            <a:chExt cx="1482239" cy="807104"/>
          </a:xfrm>
        </p:grpSpPr>
        <p:sp>
          <p:nvSpPr>
            <p:cNvPr id="127" name="직사각형 126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출입기록이 있는 사용자입니다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삭제하실 수 없습니다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130" name="모서리가 둥근 사각형 설명선 129"/>
          <p:cNvSpPr/>
          <p:nvPr/>
        </p:nvSpPr>
        <p:spPr>
          <a:xfrm>
            <a:off x="11743208" y="6459871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11081320" y="8097952"/>
            <a:ext cx="1482239" cy="807104"/>
            <a:chOff x="11111249" y="4601720"/>
            <a:chExt cx="1482239" cy="807104"/>
          </a:xfrm>
        </p:grpSpPr>
        <p:sp>
          <p:nvSpPr>
            <p:cNvPr id="113" name="직사각형 112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배터리가 부족합니다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충전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(</a:t>
              </a:r>
              <a:r>
                <a:rPr lang="ko-KR" altLang="en-US" sz="7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교체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)</a:t>
              </a:r>
              <a:r>
                <a:rPr lang="ko-KR" altLang="en-US" sz="7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후 사용하시기 바랍니다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7423324" y="65984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1758242" y="7418319"/>
            <a:ext cx="12220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>
                <a:latin typeface="+mn-ea"/>
              </a:rPr>
              <a:t>안전관리 업무</a:t>
            </a:r>
            <a:endParaRPr lang="ko-KR" altLang="en-US" sz="1200" dirty="0">
              <a:latin typeface="+mn-ea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3433906" y="7418319"/>
            <a:ext cx="40606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안전관리 업무 </a:t>
            </a:r>
            <a:r>
              <a:rPr lang="en-US" altLang="ko-KR" sz="1200" dirty="0">
                <a:latin typeface="+mn-ea"/>
              </a:rPr>
              <a:t>(</a:t>
            </a:r>
            <a:r>
              <a:rPr lang="ko-KR" altLang="en-US" sz="1200">
                <a:latin typeface="+mn-ea"/>
              </a:rPr>
              <a:t>안전관리 담당자일 경우 체크</a:t>
            </a:r>
            <a:r>
              <a:rPr lang="en-US" altLang="ko-KR" sz="1200" dirty="0">
                <a:latin typeface="+mn-ea"/>
              </a:rPr>
              <a:t>)</a:t>
            </a:r>
            <a:endParaRPr lang="ko-KR" altLang="en-US" sz="1200" dirty="0">
              <a:latin typeface="+mn-ea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3148804" y="7396096"/>
            <a:ext cx="33855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dirty="0"/>
              <a:t>□</a:t>
            </a: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429728"/>
              </p:ext>
            </p:extLst>
          </p:nvPr>
        </p:nvGraphicFramePr>
        <p:xfrm>
          <a:off x="10633534" y="9095419"/>
          <a:ext cx="2088232" cy="3374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안전관리업무 부분 추가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(work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안전관리자로 지정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7" name="직사각형 136"/>
          <p:cNvSpPr/>
          <p:nvPr/>
        </p:nvSpPr>
        <p:spPr>
          <a:xfrm>
            <a:off x="2930363" y="745432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144621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1504256" y="2424336"/>
            <a:ext cx="7632848" cy="530887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4363178" y="7138837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5" name="Search Box Rectangle"/>
          <p:cNvSpPr>
            <a:spLocks/>
          </p:cNvSpPr>
          <p:nvPr/>
        </p:nvSpPr>
        <p:spPr bwMode="auto">
          <a:xfrm>
            <a:off x="5464696" y="7138837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등록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504256" y="2528282"/>
            <a:ext cx="763284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dirty="0">
                <a:latin typeface="+mn-ea"/>
              </a:rPr>
              <a:t>출입자 일괄 등록</a:t>
            </a:r>
          </a:p>
        </p:txBody>
      </p:sp>
      <p:cxnSp>
        <p:nvCxnSpPr>
          <p:cNvPr id="7" name="직선 연결선 6"/>
          <p:cNvCxnSpPr/>
          <p:nvPr/>
        </p:nvCxnSpPr>
        <p:spPr>
          <a:xfrm>
            <a:off x="2512368" y="6921318"/>
            <a:ext cx="5544616" cy="0"/>
          </a:xfrm>
          <a:prstGeom prst="line">
            <a:avLst/>
          </a:prstGeom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2124950" y="3634602"/>
            <a:ext cx="1470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일괄등록 파일선택</a:t>
            </a:r>
          </a:p>
        </p:txBody>
      </p:sp>
      <p:sp>
        <p:nvSpPr>
          <p:cNvPr id="9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3690284" y="3588272"/>
            <a:ext cx="3358588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0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7120880" y="3588273"/>
            <a:ext cx="963437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 err="1">
                <a:solidFill>
                  <a:srgbClr val="262626"/>
                </a:solidFill>
                <a:latin typeface="+mn-ea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685620" y="4018450"/>
            <a:ext cx="27109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일괄 등록할 엑셀 파일을 선택하세요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3685620" y="334316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3685620" y="334316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" name="Browse Button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512368" y="6387810"/>
            <a:ext cx="1539500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262626"/>
                </a:solidFill>
                <a:latin typeface="+mn-ea"/>
                <a:cs typeface="Segoe UI" pitchFamily="34" charset="0"/>
              </a:rPr>
              <a:t>양식 다운로드</a:t>
            </a:r>
            <a:endParaRPr lang="en-US" sz="12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3225660" y="62849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6" name="모서리가 둥근 직사각형 15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1561736" y="632805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일괄 등록</a:t>
            </a: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8220336"/>
              </p:ext>
            </p:extLst>
          </p:nvPr>
        </p:nvGraphicFramePr>
        <p:xfrm>
          <a:off x="10633534" y="1272208"/>
          <a:ext cx="2088232" cy="15100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미리 지정되는 엑셀파일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출입자 일괄등록 순서에 대한 설명화면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디자인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양식 다운로드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양식에서 출입권한 제외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일괄등록 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승인대기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" name="직사각형 18"/>
          <p:cNvSpPr/>
          <p:nvPr/>
        </p:nvSpPr>
        <p:spPr>
          <a:xfrm>
            <a:off x="1835918" y="4678244"/>
            <a:ext cx="7095124" cy="132677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3" name="오각형 22"/>
          <p:cNvSpPr/>
          <p:nvPr/>
        </p:nvSpPr>
        <p:spPr>
          <a:xfrm>
            <a:off x="6820660" y="5284935"/>
            <a:ext cx="1966366" cy="504056"/>
          </a:xfrm>
          <a:prstGeom prst="homePlate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승인</a:t>
            </a:r>
            <a:r>
              <a:rPr lang="en-US" altLang="ko-KR" sz="1050" dirty="0">
                <a:latin typeface="+mn-ea"/>
              </a:rPr>
              <a:t>/</a:t>
            </a:r>
            <a:r>
              <a:rPr lang="ko-KR" altLang="en-US" sz="1050">
                <a:latin typeface="+mn-ea"/>
              </a:rPr>
              <a:t>설정</a:t>
            </a:r>
            <a:endParaRPr lang="ko-KR" altLang="en-US" sz="1050" dirty="0">
              <a:latin typeface="+mn-ea"/>
            </a:endParaRPr>
          </a:p>
        </p:txBody>
      </p:sp>
      <p:sp>
        <p:nvSpPr>
          <p:cNvPr id="22" name="오각형 21"/>
          <p:cNvSpPr/>
          <p:nvPr/>
        </p:nvSpPr>
        <p:spPr>
          <a:xfrm>
            <a:off x="5196264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일괄등록</a:t>
            </a:r>
            <a:endParaRPr lang="ko-KR" altLang="en-US" sz="1050" dirty="0">
              <a:latin typeface="+mn-ea"/>
            </a:endParaRPr>
          </a:p>
        </p:txBody>
      </p:sp>
      <p:sp>
        <p:nvSpPr>
          <p:cNvPr id="21" name="오각형 20"/>
          <p:cNvSpPr/>
          <p:nvPr/>
        </p:nvSpPr>
        <p:spPr>
          <a:xfrm>
            <a:off x="3571265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양식에 내용 입력</a:t>
            </a:r>
            <a:endParaRPr lang="ko-KR" altLang="en-US" sz="1050" dirty="0">
              <a:latin typeface="+mn-ea"/>
            </a:endParaRPr>
          </a:p>
        </p:txBody>
      </p:sp>
      <p:sp>
        <p:nvSpPr>
          <p:cNvPr id="20" name="오각형 19"/>
          <p:cNvSpPr/>
          <p:nvPr/>
        </p:nvSpPr>
        <p:spPr>
          <a:xfrm>
            <a:off x="1946266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latin typeface="+mn-ea"/>
              </a:rPr>
              <a:t>양식 다운로드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952130" y="4863920"/>
            <a:ext cx="68348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출입자 일괄등록 순서</a:t>
            </a:r>
          </a:p>
        </p:txBody>
      </p:sp>
      <p:sp>
        <p:nvSpPr>
          <p:cNvPr id="27" name="직사각형 26"/>
          <p:cNvSpPr/>
          <p:nvPr/>
        </p:nvSpPr>
        <p:spPr>
          <a:xfrm>
            <a:off x="5294580" y="45804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269038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004</a:t>
            </a:r>
            <a:endParaRPr lang="ko-KR" altLang="en-US" sz="800" dirty="0"/>
          </a:p>
        </p:txBody>
      </p:sp>
      <p:sp>
        <p:nvSpPr>
          <p:cNvPr id="4" name="TextBox 3"/>
          <p:cNvSpPr txBox="1"/>
          <p:nvPr/>
        </p:nvSpPr>
        <p:spPr>
          <a:xfrm>
            <a:off x="11561736" y="632805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구역 선택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449272" y="2470560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bIns="0" rtlCol="0" anchor="ctr"/>
          <a:lstStyle/>
          <a:p>
            <a:pPr algn="ctr"/>
            <a:r>
              <a:rPr lang="ko-KR" altLang="en-US" sz="18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구역 선택</a:t>
            </a:r>
            <a:endParaRPr lang="en-US" altLang="ko-KR" sz="1800" b="1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449272" y="3202839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6000" tIns="72000" bIns="0" rtlCol="0" anchor="ctr"/>
          <a:lstStyle/>
          <a:p>
            <a:r>
              <a:rPr lang="ko-KR" altLang="en-US" sz="1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전체 구역</a:t>
            </a:r>
            <a:endParaRPr lang="en-US" altLang="ko-KR" sz="105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449272" y="3937735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6000" tIns="72000" bIns="0" rtlCol="0" anchor="ctr"/>
          <a:lstStyle/>
          <a:p>
            <a:r>
              <a:rPr lang="ko-KR" altLang="en-US" sz="1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일반 구역</a:t>
            </a:r>
            <a:endParaRPr lang="en-US" altLang="ko-KR" sz="1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449272" y="4670014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6000" tIns="72000" bIns="0" rtlCol="0" anchor="ctr"/>
          <a:lstStyle/>
          <a:p>
            <a:r>
              <a:rPr lang="ko-KR" altLang="en-US" sz="1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통제 구역</a:t>
            </a:r>
            <a:endParaRPr lang="en-US" altLang="ko-KR" sz="105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3449272" y="5404910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6000" tIns="72000" bIns="0" rtlCol="0" anchor="ctr"/>
          <a:lstStyle/>
          <a:p>
            <a:r>
              <a:rPr lang="ko-KR" altLang="en-US" sz="1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위험 구역</a:t>
            </a:r>
            <a:endParaRPr lang="en-US" altLang="ko-KR" sz="1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3449272" y="6137189"/>
            <a:ext cx="4319680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6000" tIns="72000" bIns="0" rtlCol="0" anchor="ctr"/>
          <a:lstStyle/>
          <a:p>
            <a:r>
              <a:rPr lang="ko-KR" altLang="en-US" sz="18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밀폐 공간</a:t>
            </a:r>
            <a:endParaRPr lang="en-US" altLang="ko-KR" sz="18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pic>
        <p:nvPicPr>
          <p:cNvPr id="11" name="그림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504" y="3450554"/>
            <a:ext cx="233497" cy="233498"/>
          </a:xfrm>
          <a:prstGeom prst="rect">
            <a:avLst/>
          </a:prstGeom>
        </p:spPr>
      </p:pic>
      <p:pic>
        <p:nvPicPr>
          <p:cNvPr id="12" name="그림 1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503" y="4192927"/>
            <a:ext cx="233497" cy="233497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503" y="4916221"/>
            <a:ext cx="233497" cy="233497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504" y="5659346"/>
            <a:ext cx="233497" cy="233498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504" y="6397977"/>
            <a:ext cx="233497" cy="233498"/>
          </a:xfrm>
          <a:prstGeom prst="rect">
            <a:avLst/>
          </a:prstGeom>
        </p:spPr>
      </p:pic>
      <p:cxnSp>
        <p:nvCxnSpPr>
          <p:cNvPr id="16" name="직선 연결선 15"/>
          <p:cNvCxnSpPr/>
          <p:nvPr/>
        </p:nvCxnSpPr>
        <p:spPr>
          <a:xfrm>
            <a:off x="7690912" y="3202839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17" name="직사각형 16"/>
          <p:cNvSpPr/>
          <p:nvPr/>
        </p:nvSpPr>
        <p:spPr>
          <a:xfrm>
            <a:off x="3449272" y="6872084"/>
            <a:ext cx="2159840" cy="66481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5609112" y="6872084"/>
            <a:ext cx="2159840" cy="66481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선택 완료</a:t>
            </a:r>
          </a:p>
        </p:txBody>
      </p:sp>
      <p:sp>
        <p:nvSpPr>
          <p:cNvPr id="19" name="직사각형 18"/>
          <p:cNvSpPr/>
          <p:nvPr/>
        </p:nvSpPr>
        <p:spPr>
          <a:xfrm>
            <a:off x="5520212" y="238450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6025620"/>
              </p:ext>
            </p:extLst>
          </p:nvPr>
        </p:nvGraphicFramePr>
        <p:xfrm>
          <a:off x="10633534" y="1272208"/>
          <a:ext cx="2088232" cy="138815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구역의 접근 설정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다수의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구역명이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존재할 경우 스크롤 발생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관리자에서 추가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수정 할 수 있음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다중선택 가능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직사각형 20"/>
          <p:cNvSpPr/>
          <p:nvPr/>
        </p:nvSpPr>
        <p:spPr>
          <a:xfrm>
            <a:off x="7602012" y="303472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3449272" y="421338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23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1285" b="-13235"/>
          <a:stretch/>
        </p:blipFill>
        <p:spPr bwMode="auto">
          <a:xfrm>
            <a:off x="3457942" y="6746336"/>
            <a:ext cx="4311010" cy="1433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직사각형 24"/>
          <p:cNvSpPr/>
          <p:nvPr/>
        </p:nvSpPr>
        <p:spPr>
          <a:xfrm>
            <a:off x="6802274" y="3421464"/>
            <a:ext cx="648072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직사각형 30"/>
          <p:cNvSpPr/>
          <p:nvPr/>
        </p:nvSpPr>
        <p:spPr>
          <a:xfrm>
            <a:off x="6802274" y="4156777"/>
            <a:ext cx="648072" cy="288032"/>
          </a:xfrm>
          <a:prstGeom prst="rect">
            <a:avLst/>
          </a:prstGeom>
          <a:solidFill>
            <a:srgbClr val="70AD47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직사각형 31"/>
          <p:cNvSpPr/>
          <p:nvPr/>
        </p:nvSpPr>
        <p:spPr>
          <a:xfrm>
            <a:off x="6802274" y="4892718"/>
            <a:ext cx="648072" cy="288032"/>
          </a:xfrm>
          <a:prstGeom prst="rect">
            <a:avLst/>
          </a:prstGeom>
          <a:solidFill>
            <a:srgbClr val="FFC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/>
          <p:cNvSpPr/>
          <p:nvPr/>
        </p:nvSpPr>
        <p:spPr>
          <a:xfrm>
            <a:off x="6802274" y="5628342"/>
            <a:ext cx="648072" cy="288032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/>
          <p:cNvSpPr/>
          <p:nvPr/>
        </p:nvSpPr>
        <p:spPr>
          <a:xfrm>
            <a:off x="6802274" y="6370710"/>
            <a:ext cx="648072" cy="288032"/>
          </a:xfrm>
          <a:prstGeom prst="rect">
            <a:avLst/>
          </a:prstGeom>
          <a:solidFill>
            <a:srgbClr val="7030A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4798090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직사각형 90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705766" y="3132218"/>
            <a:ext cx="5229028" cy="3612598"/>
            <a:chOff x="2008312" y="3132218"/>
            <a:chExt cx="6623936" cy="3612598"/>
          </a:xfrm>
        </p:grpSpPr>
        <p:sp>
          <p:nvSpPr>
            <p:cNvPr id="6" name="직사각형 5"/>
            <p:cNvSpPr/>
            <p:nvPr/>
          </p:nvSpPr>
          <p:spPr>
            <a:xfrm>
              <a:off x="2008312" y="3864496"/>
              <a:ext cx="6623936" cy="246185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altLang="ko-KR" sz="105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5" name="직사각형 4"/>
            <p:cNvSpPr/>
            <p:nvPr/>
          </p:nvSpPr>
          <p:spPr>
            <a:xfrm>
              <a:off x="2008312" y="3132218"/>
              <a:ext cx="6623936" cy="73489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0" bIns="0" rtlCol="0" anchor="ctr"/>
            <a:lstStyle/>
            <a:p>
              <a:pPr algn="ctr"/>
              <a:r>
                <a:rPr lang="ko-KR" altLang="en-US" sz="1800" b="1" dirty="0">
                  <a:solidFill>
                    <a:schemeClr val="tx1"/>
                  </a:solidFill>
                  <a:latin typeface="맑은 고딕" panose="020B0503020000020004" pitchFamily="50" charset="-127"/>
                  <a:cs typeface="Arial" panose="020B0604020202020204" pitchFamily="34" charset="0"/>
                </a:rPr>
                <a:t>디바이스 반납</a:t>
              </a:r>
              <a:endParaRPr lang="en-US" altLang="ko-KR" sz="18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7" name="직사각형 6"/>
            <p:cNvSpPr/>
            <p:nvPr/>
          </p:nvSpPr>
          <p:spPr>
            <a:xfrm>
              <a:off x="2008312" y="6079997"/>
              <a:ext cx="3311968" cy="6648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맑은 고딕" panose="020B0503020000020004" pitchFamily="50" charset="-127"/>
                  <a:cs typeface="Arial" panose="020B0604020202020204" pitchFamily="34" charset="0"/>
                </a:rPr>
                <a:t>닫기</a:t>
              </a:r>
            </a:p>
          </p:txBody>
        </p:sp>
        <p:sp>
          <p:nvSpPr>
            <p:cNvPr id="8" name="직사각형 7"/>
            <p:cNvSpPr/>
            <p:nvPr/>
          </p:nvSpPr>
          <p:spPr>
            <a:xfrm>
              <a:off x="5320280" y="6079997"/>
              <a:ext cx="3311968" cy="6648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300" dirty="0">
                  <a:solidFill>
                    <a:schemeClr val="tx1"/>
                  </a:solidFill>
                  <a:latin typeface="맑은 고딕" panose="020B0503020000020004" pitchFamily="50" charset="-127"/>
                  <a:cs typeface="Arial" panose="020B0604020202020204" pitchFamily="34" charset="0"/>
                </a:rPr>
                <a:t>반납완료</a:t>
              </a:r>
            </a:p>
          </p:txBody>
        </p:sp>
      </p:grpSp>
      <p:sp>
        <p:nvSpPr>
          <p:cNvPr id="83" name="직사각형 82"/>
          <p:cNvSpPr/>
          <p:nvPr/>
        </p:nvSpPr>
        <p:spPr>
          <a:xfrm>
            <a:off x="2885485" y="4533632"/>
            <a:ext cx="4883468" cy="141909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043</a:t>
            </a:r>
            <a:endParaRPr lang="ko-KR" altLang="en-US" sz="800" dirty="0"/>
          </a:p>
        </p:txBody>
      </p:sp>
      <p:sp>
        <p:nvSpPr>
          <p:cNvPr id="4" name="TextBox 3"/>
          <p:cNvSpPr txBox="1"/>
          <p:nvPr/>
        </p:nvSpPr>
        <p:spPr>
          <a:xfrm>
            <a:off x="11561736" y="632805"/>
            <a:ext cx="9172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디바이스 반납</a:t>
            </a:r>
          </a:p>
        </p:txBody>
      </p:sp>
      <p:sp>
        <p:nvSpPr>
          <p:cNvPr id="10" name="Search Box Rectangle"/>
          <p:cNvSpPr>
            <a:spLocks/>
          </p:cNvSpPr>
          <p:nvPr/>
        </p:nvSpPr>
        <p:spPr bwMode="auto">
          <a:xfrm>
            <a:off x="2885486" y="4052562"/>
            <a:ext cx="4883468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sz="10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tag-385-6031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2974828" y="4681772"/>
            <a:ext cx="3308394" cy="114371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3095096" y="4799449"/>
            <a:ext cx="973420" cy="944839"/>
            <a:chOff x="7962299" y="2617527"/>
            <a:chExt cx="622093" cy="646131"/>
          </a:xfrm>
        </p:grpSpPr>
        <p:sp>
          <p:nvSpPr>
            <p:cNvPr id="53" name="직사각형 52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54" name="그림 53"/>
            <p:cNvPicPr>
              <a:picLocks noChangeAspect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55" name="TextBox 54"/>
          <p:cNvSpPr txBox="1"/>
          <p:nvPr/>
        </p:nvSpPr>
        <p:spPr>
          <a:xfrm>
            <a:off x="4138940" y="5344178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127497" y="4817399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4208995" y="5082568"/>
            <a:ext cx="1985980" cy="171926"/>
            <a:chOff x="8045651" y="5852156"/>
            <a:chExt cx="1985980" cy="17192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804565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일반</a:t>
              </a: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854984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통제</a:t>
              </a: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904948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위험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955367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밀폐공간</a:t>
              </a:r>
            </a:p>
          </p:txBody>
        </p:sp>
      </p:grpSp>
      <p:sp>
        <p:nvSpPr>
          <p:cNvPr id="66" name="직사각형 65"/>
          <p:cNvSpPr/>
          <p:nvPr/>
        </p:nvSpPr>
        <p:spPr>
          <a:xfrm>
            <a:off x="6536714" y="4674642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50" dirty="0">
                <a:solidFill>
                  <a:schemeClr val="tx1"/>
                </a:solidFill>
                <a:latin typeface="+mn-ea"/>
              </a:rPr>
              <a:t>tag-385-6031</a:t>
            </a:r>
            <a:endParaRPr lang="ko-KR" altLang="en-US" sz="1050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림 6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0019" y="4911352"/>
            <a:ext cx="477525" cy="477525"/>
          </a:xfrm>
          <a:prstGeom prst="rect">
            <a:avLst/>
          </a:prstGeom>
        </p:spPr>
      </p:pic>
      <p:sp>
        <p:nvSpPr>
          <p:cNvPr id="74" name="직사각형 73"/>
          <p:cNvSpPr/>
          <p:nvPr/>
        </p:nvSpPr>
        <p:spPr>
          <a:xfrm>
            <a:off x="6536714" y="4681772"/>
            <a:ext cx="1149856" cy="177365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</a:t>
            </a:r>
          </a:p>
        </p:txBody>
      </p:sp>
      <p:graphicFrame>
        <p:nvGraphicFramePr>
          <p:cNvPr id="84" name="표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886436"/>
              </p:ext>
            </p:extLst>
          </p:nvPr>
        </p:nvGraphicFramePr>
        <p:xfrm>
          <a:off x="10633534" y="1272208"/>
          <a:ext cx="2088232" cy="18484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바코드를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찍게되면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코드번호 입력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바코드를 읽게 되면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읽힌 정보가 보여지게 됨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바코드 인식 전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읽힌 디바이스가 무엇인지 보여줌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태그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밴드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밴드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밴드가 없을 시 비활성화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9" name="직사각형 88"/>
          <p:cNvSpPr/>
          <p:nvPr/>
        </p:nvSpPr>
        <p:spPr>
          <a:xfrm>
            <a:off x="7007878" y="45125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10289232" y="3338327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50" dirty="0">
                <a:solidFill>
                  <a:schemeClr val="tx1"/>
                </a:solidFill>
                <a:latin typeface="+mn-ea"/>
              </a:rPr>
              <a:t>tag-385-6031</a:t>
            </a:r>
            <a:endParaRPr lang="ko-KR" altLang="en-US" sz="105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11515640" y="3338327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50" dirty="0">
                <a:solidFill>
                  <a:schemeClr val="tx1"/>
                </a:solidFill>
                <a:latin typeface="+mn-ea"/>
              </a:rPr>
              <a:t>Band-03-09-1</a:t>
            </a:r>
            <a:endParaRPr lang="ko-KR" altLang="en-US" sz="1050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6" name="그림 4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2537" y="3575037"/>
            <a:ext cx="477525" cy="477525"/>
          </a:xfrm>
          <a:prstGeom prst="rect">
            <a:avLst/>
          </a:prstGeom>
        </p:spPr>
      </p:pic>
      <p:pic>
        <p:nvPicPr>
          <p:cNvPr id="47" name="그림 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51952" y="3589911"/>
            <a:ext cx="474960" cy="474960"/>
          </a:xfrm>
          <a:prstGeom prst="rect">
            <a:avLst/>
          </a:prstGeom>
        </p:spPr>
      </p:pic>
      <p:sp>
        <p:nvSpPr>
          <p:cNvPr id="48" name="직사각형 47"/>
          <p:cNvSpPr/>
          <p:nvPr/>
        </p:nvSpPr>
        <p:spPr>
          <a:xfrm>
            <a:off x="10289232" y="3345457"/>
            <a:ext cx="1149856" cy="177365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</a:t>
            </a:r>
          </a:p>
        </p:txBody>
      </p:sp>
      <p:sp>
        <p:nvSpPr>
          <p:cNvPr id="49" name="직사각형 48"/>
          <p:cNvSpPr/>
          <p:nvPr/>
        </p:nvSpPr>
        <p:spPr>
          <a:xfrm>
            <a:off x="11515640" y="3345457"/>
            <a:ext cx="1149856" cy="177365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안전밴드</a:t>
            </a:r>
          </a:p>
        </p:txBody>
      </p:sp>
      <p:sp>
        <p:nvSpPr>
          <p:cNvPr id="50" name="직사각형 49"/>
          <p:cNvSpPr/>
          <p:nvPr/>
        </p:nvSpPr>
        <p:spPr>
          <a:xfrm>
            <a:off x="10760396" y="31762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11953577" y="31762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3" name="직사각형 62"/>
          <p:cNvSpPr/>
          <p:nvPr/>
        </p:nvSpPr>
        <p:spPr>
          <a:xfrm>
            <a:off x="9425136" y="4947902"/>
            <a:ext cx="3090815" cy="98358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바코드를 인식하시기 바랍니다</a:t>
            </a:r>
          </a:p>
        </p:txBody>
      </p:sp>
      <p:sp>
        <p:nvSpPr>
          <p:cNvPr id="77" name="직사각형 76"/>
          <p:cNvSpPr/>
          <p:nvPr/>
        </p:nvSpPr>
        <p:spPr>
          <a:xfrm>
            <a:off x="2704918" y="45217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2704918" y="412006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2" name="직사각형 91"/>
          <p:cNvSpPr/>
          <p:nvPr/>
        </p:nvSpPr>
        <p:spPr>
          <a:xfrm>
            <a:off x="10905135" y="487850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12" name="꺾인 연결선 11"/>
          <p:cNvCxnSpPr>
            <a:stCxn id="83" idx="3"/>
            <a:endCxn id="63" idx="1"/>
          </p:cNvCxnSpPr>
          <p:nvPr/>
        </p:nvCxnSpPr>
        <p:spPr>
          <a:xfrm>
            <a:off x="7768953" y="5243180"/>
            <a:ext cx="1656183" cy="196516"/>
          </a:xfrm>
          <a:prstGeom prst="bentConnector3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8854146" y="5079450"/>
            <a:ext cx="570990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</a:rPr>
              <a:t>바코드</a:t>
            </a:r>
            <a:endParaRPr lang="en-US" altLang="ko-KR" sz="900" dirty="0">
              <a:solidFill>
                <a:schemeClr val="bg1"/>
              </a:solidFill>
            </a:endParaRPr>
          </a:p>
          <a:p>
            <a:r>
              <a:rPr lang="ko-KR" altLang="en-US" sz="900" dirty="0">
                <a:solidFill>
                  <a:schemeClr val="bg1"/>
                </a:solidFill>
              </a:rPr>
              <a:t>인식 전</a:t>
            </a:r>
          </a:p>
        </p:txBody>
      </p:sp>
      <p:grpSp>
        <p:nvGrpSpPr>
          <p:cNvPr id="64" name="그룹 63"/>
          <p:cNvGrpSpPr/>
          <p:nvPr/>
        </p:nvGrpSpPr>
        <p:grpSpPr>
          <a:xfrm>
            <a:off x="10844673" y="7392451"/>
            <a:ext cx="1482239" cy="807104"/>
            <a:chOff x="11111249" y="4601720"/>
            <a:chExt cx="1482239" cy="807104"/>
          </a:xfrm>
        </p:grpSpPr>
        <p:sp>
          <p:nvSpPr>
            <p:cNvPr id="65" name="직사각형 64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반납 완료되었습니다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  <p:sp>
          <p:nvSpPr>
            <p:cNvPr id="67" name="직사각형 66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69" name="모서리가 둥근 사각형 설명선 68"/>
          <p:cNvSpPr/>
          <p:nvPr/>
        </p:nvSpPr>
        <p:spPr>
          <a:xfrm>
            <a:off x="11476632" y="7176864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꺾인 연결선 14"/>
          <p:cNvCxnSpPr>
            <a:stCxn id="8" idx="3"/>
            <a:endCxn id="65" idx="1"/>
          </p:cNvCxnSpPr>
          <p:nvPr/>
        </p:nvCxnSpPr>
        <p:spPr>
          <a:xfrm>
            <a:off x="7934794" y="6412407"/>
            <a:ext cx="2909879" cy="1286596"/>
          </a:xfrm>
          <a:prstGeom prst="bentConnector3">
            <a:avLst>
              <a:gd name="adj1" fmla="val 10054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10662537" y="8545016"/>
            <a:ext cx="1941557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200" dirty="0"/>
              <a:t>‘</a:t>
            </a:r>
            <a:r>
              <a:rPr lang="ko-KR" altLang="en-US" sz="1200"/>
              <a:t>닫기</a:t>
            </a:r>
            <a:r>
              <a:rPr lang="en-US" altLang="ko-KR" sz="1200" dirty="0"/>
              <a:t>‘ </a:t>
            </a:r>
            <a:r>
              <a:rPr lang="ko-KR" altLang="en-US" sz="1200"/>
              <a:t>버튼 누를때까지</a:t>
            </a:r>
          </a:p>
          <a:p>
            <a:r>
              <a:rPr lang="ko-KR" altLang="en-US" sz="1200" dirty="0"/>
              <a:t>본 </a:t>
            </a:r>
            <a:r>
              <a:rPr lang="ko-KR" altLang="en-US" sz="1200" dirty="0" err="1"/>
              <a:t>팝업창</a:t>
            </a:r>
            <a:r>
              <a:rPr lang="ko-KR" altLang="en-US" sz="1200" dirty="0"/>
              <a:t> 닫히지 않음</a:t>
            </a:r>
            <a:r>
              <a:rPr lang="en-US" altLang="ko-KR" sz="1200" dirty="0"/>
              <a:t>.</a:t>
            </a:r>
          </a:p>
          <a:p>
            <a:endParaRPr lang="en-US" altLang="ko-KR" sz="1200" dirty="0"/>
          </a:p>
          <a:p>
            <a:r>
              <a:rPr lang="ko-KR" altLang="en-US" sz="1200" dirty="0"/>
              <a:t>계속 반납할 수 있기 때문</a:t>
            </a:r>
            <a:endParaRPr lang="en-US" altLang="ko-KR" sz="1200" dirty="0"/>
          </a:p>
        </p:txBody>
      </p:sp>
      <p:cxnSp>
        <p:nvCxnSpPr>
          <p:cNvPr id="18" name="꺾인 연결선 17"/>
          <p:cNvCxnSpPr>
            <a:stCxn id="67" idx="2"/>
            <a:endCxn id="16" idx="0"/>
          </p:cNvCxnSpPr>
          <p:nvPr/>
        </p:nvCxnSpPr>
        <p:spPr>
          <a:xfrm rot="16200000" flipH="1">
            <a:off x="11436824" y="8348523"/>
            <a:ext cx="345461" cy="47523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직사각형 69"/>
          <p:cNvSpPr/>
          <p:nvPr/>
        </p:nvSpPr>
        <p:spPr>
          <a:xfrm>
            <a:off x="9425136" y="6047769"/>
            <a:ext cx="3090815" cy="98358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등록된 정보가 없습니다</a:t>
            </a:r>
          </a:p>
        </p:txBody>
      </p:sp>
      <p:sp>
        <p:nvSpPr>
          <p:cNvPr id="71" name="직사각형 70"/>
          <p:cNvSpPr/>
          <p:nvPr/>
        </p:nvSpPr>
        <p:spPr>
          <a:xfrm>
            <a:off x="10905135" y="59783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72" name="꺾인 연결선 71"/>
          <p:cNvCxnSpPr>
            <a:endCxn id="70" idx="1"/>
          </p:cNvCxnSpPr>
          <p:nvPr/>
        </p:nvCxnSpPr>
        <p:spPr>
          <a:xfrm>
            <a:off x="7768192" y="5264116"/>
            <a:ext cx="1656944" cy="1275447"/>
          </a:xfrm>
          <a:prstGeom prst="bentConnector3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8854146" y="6158330"/>
            <a:ext cx="570990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>
                <a:solidFill>
                  <a:schemeClr val="bg1"/>
                </a:solidFill>
              </a:rPr>
              <a:t>바코드</a:t>
            </a:r>
            <a:endParaRPr lang="en-US" altLang="ko-KR" sz="900" dirty="0">
              <a:solidFill>
                <a:schemeClr val="bg1"/>
              </a:solidFill>
            </a:endParaRPr>
          </a:p>
          <a:p>
            <a:r>
              <a:rPr lang="ko-KR" altLang="en-US" sz="900" dirty="0">
                <a:solidFill>
                  <a:schemeClr val="bg1"/>
                </a:solidFill>
              </a:rPr>
              <a:t>인식 후</a:t>
            </a:r>
          </a:p>
        </p:txBody>
      </p:sp>
    </p:spTree>
    <p:extLst>
      <p:ext uri="{BB962C8B-B14F-4D97-AF65-F5344CB8AC3E}">
        <p14:creationId xmlns:p14="http://schemas.microsoft.com/office/powerpoint/2010/main" val="3726446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359939"/>
              </p:ext>
            </p:extLst>
          </p:nvPr>
        </p:nvGraphicFramePr>
        <p:xfrm>
          <a:off x="599950" y="3107002"/>
          <a:ext cx="9329242" cy="4995590"/>
        </p:xfrm>
        <a:graphic>
          <a:graphicData uri="http://schemas.openxmlformats.org/drawingml/2006/table">
            <a:tbl>
              <a:tblPr/>
              <a:tblGrid>
                <a:gridCol w="8971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3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8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61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438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438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5616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출입자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출입자 소속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출입권한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방문구분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진출 구분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일시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현재위치 ▲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수시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김용접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밀폐공간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임직원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진출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일일 방문자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진입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16.06.01 14:41:12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층 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grpSp>
        <p:nvGrpSpPr>
          <p:cNvPr id="7" name="그룹 6"/>
          <p:cNvGrpSpPr/>
          <p:nvPr/>
        </p:nvGrpSpPr>
        <p:grpSpPr>
          <a:xfrm>
            <a:off x="7388287" y="2640360"/>
            <a:ext cx="2540905" cy="360040"/>
            <a:chOff x="6216165" y="3409447"/>
            <a:chExt cx="2540905" cy="460588"/>
          </a:xfrm>
        </p:grpSpPr>
        <p:sp>
          <p:nvSpPr>
            <p:cNvPr id="8" name="Search Box Rectangle"/>
            <p:cNvSpPr>
              <a:spLocks/>
            </p:cNvSpPr>
            <p:nvPr/>
          </p:nvSpPr>
          <p:spPr bwMode="auto">
            <a:xfrm>
              <a:off x="6216165" y="3409447"/>
              <a:ext cx="2540905" cy="4605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출입자 검색</a:t>
              </a:r>
              <a:endParaRPr lang="de-DE" altLang="ko-KR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" name="Search Button"/>
            <p:cNvGrpSpPr>
              <a:grpSpLocks noChangeAspect="1"/>
            </p:cNvGrpSpPr>
            <p:nvPr/>
          </p:nvGrpSpPr>
          <p:grpSpPr>
            <a:xfrm>
              <a:off x="8438167" y="3466473"/>
              <a:ext cx="268008" cy="346536"/>
              <a:chOff x="7353453" y="2672191"/>
              <a:chExt cx="183869" cy="237744"/>
            </a:xfrm>
          </p:grpSpPr>
          <p:sp>
            <p:nvSpPr>
              <p:cNvPr id="11" name="Search Button Rectangle"/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7353453" y="2672191"/>
                <a:ext cx="183869" cy="237744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cs typeface="Calibri" pitchFamily="34" charset="0"/>
                </a:endParaRPr>
              </a:p>
            </p:txBody>
          </p:sp>
          <p:sp>
            <p:nvSpPr>
              <p:cNvPr id="12" name="Search Icon"/>
              <p:cNvSpPr>
                <a:spLocks noChangeAspect="1"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80303" y="2708767"/>
                <a:ext cx="128572" cy="164592"/>
              </a:xfrm>
              <a:custGeom>
                <a:avLst/>
                <a:gdLst>
                  <a:gd name="T0" fmla="*/ 22 w 592"/>
                  <a:gd name="T1" fmla="*/ 483 h 592"/>
                  <a:gd name="T2" fmla="*/ 170 w 592"/>
                  <a:gd name="T3" fmla="*/ 338 h 592"/>
                  <a:gd name="T4" fmla="*/ 147 w 592"/>
                  <a:gd name="T5" fmla="*/ 225 h 592"/>
                  <a:gd name="T6" fmla="*/ 366 w 592"/>
                  <a:gd name="T7" fmla="*/ 0 h 592"/>
                  <a:gd name="T8" fmla="*/ 592 w 592"/>
                  <a:gd name="T9" fmla="*/ 225 h 592"/>
                  <a:gd name="T10" fmla="*/ 366 w 592"/>
                  <a:gd name="T11" fmla="*/ 444 h 592"/>
                  <a:gd name="T12" fmla="*/ 258 w 592"/>
                  <a:gd name="T13" fmla="*/ 424 h 592"/>
                  <a:gd name="T14" fmla="*/ 109 w 592"/>
                  <a:gd name="T15" fmla="*/ 570 h 592"/>
                  <a:gd name="T16" fmla="*/ 22 w 592"/>
                  <a:gd name="T17" fmla="*/ 570 h 592"/>
                  <a:gd name="T18" fmla="*/ 22 w 592"/>
                  <a:gd name="T19" fmla="*/ 483 h 592"/>
                  <a:gd name="T20" fmla="*/ 366 w 592"/>
                  <a:gd name="T21" fmla="*/ 84 h 592"/>
                  <a:gd name="T22" fmla="*/ 225 w 592"/>
                  <a:gd name="T23" fmla="*/ 225 h 592"/>
                  <a:gd name="T24" fmla="*/ 366 w 592"/>
                  <a:gd name="T25" fmla="*/ 367 h 592"/>
                  <a:gd name="T26" fmla="*/ 507 w 592"/>
                  <a:gd name="T27" fmla="*/ 225 h 592"/>
                  <a:gd name="T28" fmla="*/ 366 w 592"/>
                  <a:gd name="T29" fmla="*/ 84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2" h="592">
                    <a:moveTo>
                      <a:pt x="22" y="483"/>
                    </a:moveTo>
                    <a:lnTo>
                      <a:pt x="170" y="338"/>
                    </a:lnTo>
                    <a:cubicBezTo>
                      <a:pt x="151" y="305"/>
                      <a:pt x="147" y="267"/>
                      <a:pt x="147" y="225"/>
                    </a:cubicBezTo>
                    <a:cubicBezTo>
                      <a:pt x="147" y="101"/>
                      <a:pt x="241" y="0"/>
                      <a:pt x="366" y="0"/>
                    </a:cubicBezTo>
                    <a:cubicBezTo>
                      <a:pt x="491" y="0"/>
                      <a:pt x="592" y="101"/>
                      <a:pt x="592" y="225"/>
                    </a:cubicBezTo>
                    <a:cubicBezTo>
                      <a:pt x="592" y="350"/>
                      <a:pt x="491" y="444"/>
                      <a:pt x="366" y="444"/>
                    </a:cubicBezTo>
                    <a:cubicBezTo>
                      <a:pt x="327" y="444"/>
                      <a:pt x="290" y="441"/>
                      <a:pt x="258" y="424"/>
                    </a:cubicBezTo>
                    <a:lnTo>
                      <a:pt x="109" y="570"/>
                    </a:lnTo>
                    <a:cubicBezTo>
                      <a:pt x="87" y="592"/>
                      <a:pt x="44" y="592"/>
                      <a:pt x="22" y="570"/>
                    </a:cubicBezTo>
                    <a:cubicBezTo>
                      <a:pt x="0" y="548"/>
                      <a:pt x="0" y="505"/>
                      <a:pt x="22" y="483"/>
                    </a:cubicBezTo>
                    <a:close/>
                    <a:moveTo>
                      <a:pt x="366" y="84"/>
                    </a:moveTo>
                    <a:cubicBezTo>
                      <a:pt x="288" y="84"/>
                      <a:pt x="225" y="148"/>
                      <a:pt x="225" y="225"/>
                    </a:cubicBezTo>
                    <a:cubicBezTo>
                      <a:pt x="225" y="303"/>
                      <a:pt x="288" y="367"/>
                      <a:pt x="366" y="367"/>
                    </a:cubicBezTo>
                    <a:cubicBezTo>
                      <a:pt x="444" y="367"/>
                      <a:pt x="507" y="303"/>
                      <a:pt x="507" y="225"/>
                    </a:cubicBezTo>
                    <a:cubicBezTo>
                      <a:pt x="507" y="148"/>
                      <a:pt x="444" y="84"/>
                      <a:pt x="36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900" dirty="0">
                  <a:latin typeface="맑은 고딕" panose="020B0503020000020004" pitchFamily="50" charset="-127"/>
                  <a:cs typeface="Calibri" pitchFamily="34" charset="0"/>
                </a:endParaRPr>
              </a:p>
            </p:txBody>
          </p:sp>
        </p:grpSp>
        <p:sp>
          <p:nvSpPr>
            <p:cNvPr id="10" name="Clear Button"/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8216311" y="3512376"/>
              <a:ext cx="160950" cy="233047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itchFamily="34" charset="0"/>
              </a:endParaRPr>
            </a:p>
          </p:txBody>
        </p:sp>
      </p:grpSp>
      <p:sp>
        <p:nvSpPr>
          <p:cNvPr id="15" name="직사각형 14"/>
          <p:cNvSpPr/>
          <p:nvPr/>
        </p:nvSpPr>
        <p:spPr>
          <a:xfrm>
            <a:off x="9741743" y="1763907"/>
            <a:ext cx="392407" cy="50624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모서리가 둥근 직사각형 15"/>
          <p:cNvSpPr/>
          <p:nvPr/>
        </p:nvSpPr>
        <p:spPr>
          <a:xfrm>
            <a:off x="9827979" y="1924576"/>
            <a:ext cx="217305" cy="184901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6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717115"/>
              </p:ext>
            </p:extLst>
          </p:nvPr>
        </p:nvGraphicFramePr>
        <p:xfrm>
          <a:off x="10633534" y="1272208"/>
          <a:ext cx="2088232" cy="28165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40" name="Search Box Rectangle"/>
          <p:cNvSpPr>
            <a:spLocks/>
          </p:cNvSpPr>
          <p:nvPr/>
        </p:nvSpPr>
        <p:spPr bwMode="auto">
          <a:xfrm>
            <a:off x="7336904" y="1855626"/>
            <a:ext cx="230567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</a:p>
        </p:txBody>
      </p:sp>
      <p:sp>
        <p:nvSpPr>
          <p:cNvPr id="41" name="Chevron"/>
          <p:cNvSpPr>
            <a:spLocks noChangeAspect="1"/>
          </p:cNvSpPr>
          <p:nvPr/>
        </p:nvSpPr>
        <p:spPr bwMode="auto">
          <a:xfrm>
            <a:off x="9425136" y="1965687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599950" y="2637554"/>
            <a:ext cx="2305670" cy="362846"/>
            <a:chOff x="734375" y="2324370"/>
            <a:chExt cx="2305670" cy="362846"/>
          </a:xfrm>
        </p:grpSpPr>
        <p:sp>
          <p:nvSpPr>
            <p:cNvPr id="92" name="Search Box Rectangle"/>
            <p:cNvSpPr>
              <a:spLocks/>
            </p:cNvSpPr>
            <p:nvPr/>
          </p:nvSpPr>
          <p:spPr bwMode="auto">
            <a:xfrm>
              <a:off x="734375" y="2324370"/>
              <a:ext cx="2305670" cy="36284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A </a:t>
              </a:r>
              <a:r>
                <a:rPr lang="ko-KR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게이트</a:t>
              </a:r>
              <a:endPara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93" name="Chevron"/>
            <p:cNvSpPr>
              <a:spLocks noChangeAspect="1"/>
            </p:cNvSpPr>
            <p:nvPr/>
          </p:nvSpPr>
          <p:spPr bwMode="auto">
            <a:xfrm>
              <a:off x="2822607" y="2471192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pic>
        <p:nvPicPr>
          <p:cNvPr id="13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599950" y="8040959"/>
            <a:ext cx="9329242" cy="1422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4" name="Search Box Rectangle"/>
          <p:cNvSpPr>
            <a:spLocks/>
          </p:cNvSpPr>
          <p:nvPr/>
        </p:nvSpPr>
        <p:spPr bwMode="auto">
          <a:xfrm>
            <a:off x="3125735" y="2637427"/>
            <a:ext cx="1258841" cy="362974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2016.06.01 </a:t>
            </a:r>
            <a:r>
              <a:rPr lang="ko-KR" altLang="en-US" sz="12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5" name="Search Box Rectangle"/>
          <p:cNvSpPr>
            <a:spLocks/>
          </p:cNvSpPr>
          <p:nvPr/>
        </p:nvSpPr>
        <p:spPr bwMode="auto">
          <a:xfrm>
            <a:off x="4437727" y="2637427"/>
            <a:ext cx="651191" cy="362974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 </a:t>
            </a:r>
            <a:r>
              <a:rPr lang="ko-KR" altLang="en-US" sz="12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6" name="Search Box Rectangle"/>
          <p:cNvSpPr>
            <a:spLocks/>
          </p:cNvSpPr>
          <p:nvPr/>
        </p:nvSpPr>
        <p:spPr bwMode="auto">
          <a:xfrm>
            <a:off x="5282363" y="2637427"/>
            <a:ext cx="1258841" cy="362974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2016.06.01 </a:t>
            </a:r>
            <a:r>
              <a:rPr lang="ko-KR" altLang="en-US" sz="12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7" name="Search Box Rectangle"/>
          <p:cNvSpPr>
            <a:spLocks/>
          </p:cNvSpPr>
          <p:nvPr/>
        </p:nvSpPr>
        <p:spPr bwMode="auto">
          <a:xfrm>
            <a:off x="6594355" y="2637427"/>
            <a:ext cx="651191" cy="362974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00 </a:t>
            </a:r>
            <a:r>
              <a:rPr lang="ko-KR" altLang="en-US" sz="12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▼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5050054" y="2673405"/>
            <a:ext cx="29206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/>
              <a:t>~</a:t>
            </a:r>
            <a:endParaRPr lang="ko-KR" altLang="en-US" sz="1200" dirty="0" err="1"/>
          </a:p>
        </p:txBody>
      </p:sp>
      <p:sp>
        <p:nvSpPr>
          <p:cNvPr id="99" name="직사각형 98"/>
          <p:cNvSpPr/>
          <p:nvPr/>
        </p:nvSpPr>
        <p:spPr>
          <a:xfrm>
            <a:off x="1663885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0" name="직사각형 99"/>
          <p:cNvSpPr/>
          <p:nvPr/>
        </p:nvSpPr>
        <p:spPr>
          <a:xfrm>
            <a:off x="3674658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1" name="직사각형 100"/>
          <p:cNvSpPr/>
          <p:nvPr/>
        </p:nvSpPr>
        <p:spPr>
          <a:xfrm>
            <a:off x="4636970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2" name="직사각형 101"/>
          <p:cNvSpPr/>
          <p:nvPr/>
        </p:nvSpPr>
        <p:spPr>
          <a:xfrm>
            <a:off x="8361336" y="24995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784176" y="4152528"/>
            <a:ext cx="7920880" cy="315040"/>
          </a:xfrm>
          <a:prstGeom prst="rect">
            <a:avLst/>
          </a:prstGeom>
          <a:solidFill>
            <a:schemeClr val="accent1">
              <a:lumMod val="60000"/>
              <a:lumOff val="40000"/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/>
              <a:t>선택 영역</a:t>
            </a:r>
          </a:p>
        </p:txBody>
      </p:sp>
      <p:sp>
        <p:nvSpPr>
          <p:cNvPr id="104" name="직사각형 103"/>
          <p:cNvSpPr/>
          <p:nvPr/>
        </p:nvSpPr>
        <p:spPr>
          <a:xfrm>
            <a:off x="8921079" y="4532166"/>
            <a:ext cx="886235" cy="315040"/>
          </a:xfrm>
          <a:prstGeom prst="rect">
            <a:avLst/>
          </a:prstGeom>
          <a:solidFill>
            <a:schemeClr val="accent1">
              <a:lumMod val="60000"/>
              <a:lumOff val="40000"/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/>
              <a:t>선택 영역</a:t>
            </a:r>
          </a:p>
        </p:txBody>
      </p:sp>
      <p:sp>
        <p:nvSpPr>
          <p:cNvPr id="105" name="직사각형 104"/>
          <p:cNvSpPr/>
          <p:nvPr/>
        </p:nvSpPr>
        <p:spPr>
          <a:xfrm>
            <a:off x="606376" y="421956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6" name="직사각형 105"/>
          <p:cNvSpPr/>
          <p:nvPr/>
        </p:nvSpPr>
        <p:spPr>
          <a:xfrm>
            <a:off x="9275296" y="444167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/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7" name="모서리가 둥근 사각형 설명선 106"/>
          <p:cNvSpPr/>
          <p:nvPr/>
        </p:nvSpPr>
        <p:spPr>
          <a:xfrm>
            <a:off x="7048872" y="3439630"/>
            <a:ext cx="1095683" cy="385596"/>
          </a:xfrm>
          <a:prstGeom prst="wedgeRoundRectCallout">
            <a:avLst>
              <a:gd name="adj1" fmla="val -136856"/>
              <a:gd name="adj2" fmla="val 194431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005</a:t>
            </a:r>
          </a:p>
          <a:p>
            <a:pPr algn="ctr"/>
            <a:r>
              <a:rPr lang="ko-KR" altLang="en-US" sz="800" dirty="0"/>
              <a:t>작업자 진입</a:t>
            </a:r>
            <a:r>
              <a:rPr lang="en-US" altLang="ko-KR" sz="800" dirty="0"/>
              <a:t>/</a:t>
            </a:r>
            <a:r>
              <a:rPr lang="ko-KR" altLang="en-US" sz="800"/>
              <a:t>진출 정보</a:t>
            </a:r>
            <a:endParaRPr lang="ko-KR" altLang="en-US" sz="800" dirty="0"/>
          </a:p>
        </p:txBody>
      </p:sp>
      <p:sp>
        <p:nvSpPr>
          <p:cNvPr id="108" name="모서리가 둥근 사각형 설명선 107"/>
          <p:cNvSpPr/>
          <p:nvPr/>
        </p:nvSpPr>
        <p:spPr>
          <a:xfrm>
            <a:off x="9001541" y="3439630"/>
            <a:ext cx="1095683" cy="385596"/>
          </a:xfrm>
          <a:prstGeom prst="wedgeRoundRectCallout">
            <a:avLst>
              <a:gd name="adj1" fmla="val 5713"/>
              <a:gd name="adj2" fmla="val 258656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</a:p>
        </p:txBody>
      </p:sp>
    </p:spTree>
    <p:extLst>
      <p:ext uri="{BB962C8B-B14F-4D97-AF65-F5344CB8AC3E}">
        <p14:creationId xmlns:p14="http://schemas.microsoft.com/office/powerpoint/2010/main" val="11401580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005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12398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작업자 진입</a:t>
            </a:r>
            <a:r>
              <a:rPr lang="en-US" altLang="ko-KR" sz="900" dirty="0"/>
              <a:t>/</a:t>
            </a:r>
            <a:r>
              <a:rPr lang="ko-KR" altLang="en-US" sz="900"/>
              <a:t>진출 정보</a:t>
            </a:r>
            <a:endParaRPr lang="ko-KR" altLang="en-US" sz="900" dirty="0"/>
          </a:p>
        </p:txBody>
      </p:sp>
      <p:sp>
        <p:nvSpPr>
          <p:cNvPr id="4" name="직사각형 3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7045597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082076" y="2497892"/>
            <a:ext cx="174599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작업자 진입</a:t>
            </a:r>
            <a:r>
              <a:rPr lang="en-US" altLang="ko-KR" sz="1200" b="1" dirty="0">
                <a:latin typeface="+mn-ea"/>
              </a:rPr>
              <a:t>/</a:t>
            </a:r>
            <a:r>
              <a:rPr lang="ko-KR" altLang="en-US" sz="1200" b="1">
                <a:latin typeface="+mn-ea"/>
              </a:rPr>
              <a:t>진출 정보</a:t>
            </a:r>
            <a:endParaRPr lang="ko-KR" altLang="en-US" sz="1200" b="1" dirty="0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048913" y="3486058"/>
            <a:ext cx="164576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b="1" dirty="0">
                <a:latin typeface="+mn-ea"/>
                <a:sym typeface="Wingdings" panose="05000000000000000000" pitchFamily="2" charset="2"/>
              </a:rPr>
              <a:t>최종 진입 일시 </a:t>
            </a:r>
            <a:r>
              <a:rPr lang="en-US" altLang="ko-KR" sz="1000" b="1" dirty="0">
                <a:latin typeface="+mn-ea"/>
                <a:sym typeface="Wingdings" panose="05000000000000000000" pitchFamily="2" charset="2"/>
              </a:rPr>
              <a:t>:</a:t>
            </a:r>
            <a:br>
              <a:rPr lang="en-US" altLang="ko-KR" sz="1000" dirty="0">
                <a:latin typeface="+mn-ea"/>
                <a:sym typeface="Wingdings" panose="05000000000000000000" pitchFamily="2" charset="2"/>
              </a:rPr>
            </a:b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 A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게이트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 0000.00.00  15:20:27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098584" y="3628900"/>
            <a:ext cx="99738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</a:rPr>
              <a:t>Tag-012-3120</a:t>
            </a:r>
            <a:endParaRPr lang="ko-KR" altLang="en-US" sz="700">
              <a:latin typeface="+mn-ea"/>
            </a:endParaRPr>
          </a:p>
        </p:txBody>
      </p:sp>
      <p:grpSp>
        <p:nvGrpSpPr>
          <p:cNvPr id="11" name="그룹 10"/>
          <p:cNvGrpSpPr/>
          <p:nvPr/>
        </p:nvGrpSpPr>
        <p:grpSpPr>
          <a:xfrm>
            <a:off x="7279958" y="2984809"/>
            <a:ext cx="623358" cy="605056"/>
            <a:chOff x="7962299" y="2617527"/>
            <a:chExt cx="622093" cy="646131"/>
          </a:xfrm>
        </p:grpSpPr>
        <p:sp>
          <p:nvSpPr>
            <p:cNvPr id="12" name="직사각형 11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" name="그림 12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4" name="TextBox 13"/>
          <p:cNvSpPr txBox="1"/>
          <p:nvPr/>
        </p:nvSpPr>
        <p:spPr>
          <a:xfrm>
            <a:off x="7977648" y="2945075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7992082" y="3280948"/>
            <a:ext cx="1985980" cy="171926"/>
            <a:chOff x="8045651" y="5852156"/>
            <a:chExt cx="1985980" cy="171926"/>
          </a:xfrm>
        </p:grpSpPr>
        <p:sp>
          <p:nvSpPr>
            <p:cNvPr id="16" name="모서리가 둥근 직사각형 15"/>
            <p:cNvSpPr/>
            <p:nvPr/>
          </p:nvSpPr>
          <p:spPr>
            <a:xfrm>
              <a:off x="804565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일반</a:t>
              </a: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854984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통제</a:t>
              </a: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904948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위험</a:t>
              </a: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955367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밀폐공간</a:t>
              </a:r>
            </a:p>
          </p:txBody>
        </p:sp>
      </p:grpSp>
      <p:sp>
        <p:nvSpPr>
          <p:cNvPr id="20" name="직사각형 19"/>
          <p:cNvSpPr/>
          <p:nvPr/>
        </p:nvSpPr>
        <p:spPr>
          <a:xfrm>
            <a:off x="7128186" y="4264535"/>
            <a:ext cx="2929009" cy="413646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solidFill>
                <a:schemeClr val="bg1">
                  <a:lumMod val="50000"/>
                </a:schemeClr>
              </a:solidFill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7431260" y="4410636"/>
            <a:ext cx="1639033" cy="507560"/>
            <a:chOff x="7431260" y="4410636"/>
            <a:chExt cx="1639033" cy="507560"/>
          </a:xfrm>
        </p:grpSpPr>
        <p:sp>
          <p:nvSpPr>
            <p:cNvPr id="22" name="타원 21"/>
            <p:cNvSpPr/>
            <p:nvPr/>
          </p:nvSpPr>
          <p:spPr>
            <a:xfrm>
              <a:off x="7431260" y="4491900"/>
              <a:ext cx="326361" cy="326361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in</a:t>
              </a:r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7973518" y="4702752"/>
              <a:ext cx="10967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0000.00.00 15:22:38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7973518" y="4410636"/>
              <a:ext cx="9124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A </a:t>
              </a:r>
              <a:r>
                <a:rPr lang="ko-KR" altLang="en-US" sz="1400" b="1">
                  <a:latin typeface="+mn-ea"/>
                  <a:sym typeface="Wingdings" panose="05000000000000000000" pitchFamily="2" charset="2"/>
                </a:rPr>
                <a:t>게이트</a:t>
              </a:r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sp>
        <p:nvSpPr>
          <p:cNvPr id="25" name="직사각형 24"/>
          <p:cNvSpPr/>
          <p:nvPr/>
        </p:nvSpPr>
        <p:spPr>
          <a:xfrm>
            <a:off x="7234058" y="457016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26" name="직선 연결선 25"/>
          <p:cNvCxnSpPr/>
          <p:nvPr/>
        </p:nvCxnSpPr>
        <p:spPr>
          <a:xfrm>
            <a:off x="7228940" y="5925157"/>
            <a:ext cx="2700252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7974572" y="5808712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7163509" y="58807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9" name="그룹 28"/>
          <p:cNvGrpSpPr/>
          <p:nvPr/>
        </p:nvGrpSpPr>
        <p:grpSpPr>
          <a:xfrm>
            <a:off x="7431260" y="5114361"/>
            <a:ext cx="1639033" cy="507560"/>
            <a:chOff x="7431260" y="4410636"/>
            <a:chExt cx="1639033" cy="507560"/>
          </a:xfrm>
        </p:grpSpPr>
        <p:sp>
          <p:nvSpPr>
            <p:cNvPr id="30" name="타원 29"/>
            <p:cNvSpPr/>
            <p:nvPr/>
          </p:nvSpPr>
          <p:spPr>
            <a:xfrm>
              <a:off x="7431260" y="4491900"/>
              <a:ext cx="326361" cy="326361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out</a:t>
              </a:r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7973518" y="4702752"/>
              <a:ext cx="10967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0000.00.00 15:22:38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7973518" y="4410636"/>
              <a:ext cx="9124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A </a:t>
              </a:r>
              <a:r>
                <a:rPr lang="ko-KR" altLang="en-US" sz="1400" b="1">
                  <a:latin typeface="+mn-ea"/>
                  <a:sym typeface="Wingdings" panose="05000000000000000000" pitchFamily="2" charset="2"/>
                </a:rPr>
                <a:t>게이트</a:t>
              </a:r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7431260" y="6154159"/>
            <a:ext cx="1639033" cy="507560"/>
            <a:chOff x="7431260" y="4410636"/>
            <a:chExt cx="1639033" cy="507560"/>
          </a:xfrm>
        </p:grpSpPr>
        <p:sp>
          <p:nvSpPr>
            <p:cNvPr id="34" name="타원 33"/>
            <p:cNvSpPr/>
            <p:nvPr/>
          </p:nvSpPr>
          <p:spPr>
            <a:xfrm>
              <a:off x="7431260" y="4491900"/>
              <a:ext cx="326361" cy="326361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in</a:t>
              </a:r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7973518" y="4702752"/>
              <a:ext cx="10967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0000.00.00 15:22:38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7973518" y="4410636"/>
              <a:ext cx="9124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A </a:t>
              </a:r>
              <a:r>
                <a:rPr lang="ko-KR" altLang="en-US" sz="1400" b="1">
                  <a:latin typeface="+mn-ea"/>
                  <a:sym typeface="Wingdings" panose="05000000000000000000" pitchFamily="2" charset="2"/>
                </a:rPr>
                <a:t>게이트</a:t>
              </a:r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7431260" y="6857884"/>
            <a:ext cx="1639033" cy="507560"/>
            <a:chOff x="7431260" y="4410636"/>
            <a:chExt cx="1639033" cy="507560"/>
          </a:xfrm>
        </p:grpSpPr>
        <p:sp>
          <p:nvSpPr>
            <p:cNvPr id="38" name="타원 37"/>
            <p:cNvSpPr/>
            <p:nvPr/>
          </p:nvSpPr>
          <p:spPr>
            <a:xfrm>
              <a:off x="7431260" y="4491900"/>
              <a:ext cx="326361" cy="326361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out</a:t>
              </a:r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7973518" y="4702752"/>
              <a:ext cx="10967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0000.00.00 15:22:38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7973518" y="4410636"/>
              <a:ext cx="9124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A </a:t>
              </a:r>
              <a:r>
                <a:rPr lang="ko-KR" altLang="en-US" sz="1400" b="1">
                  <a:latin typeface="+mn-ea"/>
                  <a:sym typeface="Wingdings" panose="05000000000000000000" pitchFamily="2" charset="2"/>
                </a:rPr>
                <a:t>게이트</a:t>
              </a:r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431260" y="7647457"/>
            <a:ext cx="1639033" cy="507560"/>
            <a:chOff x="7431260" y="4410636"/>
            <a:chExt cx="1639033" cy="507560"/>
          </a:xfrm>
        </p:grpSpPr>
        <p:sp>
          <p:nvSpPr>
            <p:cNvPr id="42" name="타원 41"/>
            <p:cNvSpPr/>
            <p:nvPr/>
          </p:nvSpPr>
          <p:spPr>
            <a:xfrm>
              <a:off x="7431260" y="4491900"/>
              <a:ext cx="326361" cy="326361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out</a:t>
              </a:r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7973518" y="4702752"/>
              <a:ext cx="10967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0000.00.00 15:22:38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7973518" y="4410636"/>
              <a:ext cx="9124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A </a:t>
              </a:r>
              <a:r>
                <a:rPr lang="ko-KR" altLang="en-US" sz="1400" b="1">
                  <a:latin typeface="+mn-ea"/>
                  <a:sym typeface="Wingdings" panose="05000000000000000000" pitchFamily="2" charset="2"/>
                </a:rPr>
                <a:t>게이트</a:t>
              </a:r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sp>
        <p:nvSpPr>
          <p:cNvPr id="45" name="왼쪽 대괄호 44"/>
          <p:cNvSpPr/>
          <p:nvPr/>
        </p:nvSpPr>
        <p:spPr>
          <a:xfrm flipH="1">
            <a:off x="10090549" y="4294100"/>
            <a:ext cx="150986" cy="3962884"/>
          </a:xfrm>
          <a:prstGeom prst="leftBracket">
            <a:avLst/>
          </a:prstGeom>
          <a:ln w="1905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직사각형 45"/>
          <p:cNvSpPr/>
          <p:nvPr/>
        </p:nvSpPr>
        <p:spPr>
          <a:xfrm>
            <a:off x="10183440" y="61463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7234058" y="526824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48" name="표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1881771"/>
              </p:ext>
            </p:extLst>
          </p:nvPr>
        </p:nvGraphicFramePr>
        <p:xfrm>
          <a:off x="10633534" y="1272208"/>
          <a:ext cx="2088232" cy="258186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 진입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진출 정보 사이드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최종 진입 일시 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게이트명 노출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진입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진입 게이트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년월일시분초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진출 게이트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년월일시분초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일단위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구분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49" name="직사각형 48"/>
          <p:cNvSpPr/>
          <p:nvPr/>
        </p:nvSpPr>
        <p:spPr>
          <a:xfrm>
            <a:off x="7969788" y="380687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0" name="직사각형 49"/>
          <p:cNvSpPr/>
          <p:nvPr/>
        </p:nvSpPr>
        <p:spPr>
          <a:xfrm>
            <a:off x="8470034" y="225461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3110993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006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12398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구역 입실 정보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7045597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082076" y="2497892"/>
            <a:ext cx="121700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구역 입실 정보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75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명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7264896" y="3765489"/>
            <a:ext cx="2135848" cy="315031"/>
            <a:chOff x="7101980" y="2445684"/>
            <a:chExt cx="2135848" cy="315031"/>
          </a:xfrm>
        </p:grpSpPr>
        <p:sp>
          <p:nvSpPr>
            <p:cNvPr id="10" name="Search Box Rectangle"/>
            <p:cNvSpPr>
              <a:spLocks/>
            </p:cNvSpPr>
            <p:nvPr/>
          </p:nvSpPr>
          <p:spPr bwMode="auto">
            <a:xfrm>
              <a:off x="7101980" y="2445684"/>
              <a:ext cx="2135848" cy="31503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defTabSz="914400" latinLnBrk="0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itchFamily="34" charset="0"/>
                </a:rPr>
                <a:t>작업자 검색</a:t>
              </a:r>
              <a:endParaRPr lang="de-DE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1" name="Clear Button"/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>
              <a:off x="8978080" y="2503879"/>
              <a:ext cx="189743" cy="189743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itchFamily="34" charset="0"/>
              </a:endParaRPr>
            </a:p>
          </p:txBody>
        </p:sp>
      </p:grpSp>
      <p:grpSp>
        <p:nvGrpSpPr>
          <p:cNvPr id="12" name="그룹 11"/>
          <p:cNvGrpSpPr/>
          <p:nvPr/>
        </p:nvGrpSpPr>
        <p:grpSpPr>
          <a:xfrm>
            <a:off x="9499485" y="3765489"/>
            <a:ext cx="376599" cy="315031"/>
            <a:chOff x="9336569" y="2445684"/>
            <a:chExt cx="376599" cy="315031"/>
          </a:xfrm>
        </p:grpSpPr>
        <p:sp>
          <p:nvSpPr>
            <p:cNvPr id="13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4" name="그림 1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sp>
        <p:nvSpPr>
          <p:cNvPr id="15" name="TextBox 14"/>
          <p:cNvSpPr txBox="1"/>
          <p:nvPr/>
        </p:nvSpPr>
        <p:spPr>
          <a:xfrm>
            <a:off x="7136751" y="2877870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7128186" y="4302589"/>
            <a:ext cx="2929009" cy="10773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252409" y="4454194"/>
            <a:ext cx="684064" cy="663979"/>
            <a:chOff x="7962299" y="2617527"/>
            <a:chExt cx="622093" cy="646131"/>
          </a:xfrm>
        </p:grpSpPr>
        <p:sp>
          <p:nvSpPr>
            <p:cNvPr id="18" name="직사각형 17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20" name="TextBox 19"/>
          <p:cNvSpPr txBox="1"/>
          <p:nvPr/>
        </p:nvSpPr>
        <p:spPr>
          <a:xfrm>
            <a:off x="7964153" y="4830194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964153" y="4438216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7128186" y="6600800"/>
            <a:ext cx="2929009" cy="107732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27" name="그룹 26"/>
          <p:cNvGrpSpPr/>
          <p:nvPr/>
        </p:nvGrpSpPr>
        <p:grpSpPr>
          <a:xfrm>
            <a:off x="7252409" y="6752405"/>
            <a:ext cx="684064" cy="663979"/>
            <a:chOff x="7962299" y="2617527"/>
            <a:chExt cx="622093" cy="646131"/>
          </a:xfrm>
        </p:grpSpPr>
        <p:sp>
          <p:nvSpPr>
            <p:cNvPr id="28" name="직사각형 27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" name="그림 28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30" name="TextBox 29"/>
          <p:cNvSpPr txBox="1"/>
          <p:nvPr/>
        </p:nvSpPr>
        <p:spPr>
          <a:xfrm>
            <a:off x="7964153" y="7128405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964153" y="6688396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045651" y="6952645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33" name="직사각형 32"/>
          <p:cNvSpPr/>
          <p:nvPr/>
        </p:nvSpPr>
        <p:spPr>
          <a:xfrm>
            <a:off x="7844428" y="470614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7128186" y="7721532"/>
            <a:ext cx="2929009" cy="107732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35" name="그룹 34"/>
          <p:cNvGrpSpPr/>
          <p:nvPr/>
        </p:nvGrpSpPr>
        <p:grpSpPr>
          <a:xfrm>
            <a:off x="7252409" y="7918856"/>
            <a:ext cx="684064" cy="663979"/>
            <a:chOff x="7962299" y="2617527"/>
            <a:chExt cx="622093" cy="646131"/>
          </a:xfrm>
        </p:grpSpPr>
        <p:sp>
          <p:nvSpPr>
            <p:cNvPr id="36" name="직사각형 35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37" name="그림 36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38" name="TextBox 37"/>
          <p:cNvSpPr txBox="1"/>
          <p:nvPr/>
        </p:nvSpPr>
        <p:spPr>
          <a:xfrm>
            <a:off x="7964153" y="7854847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6943783" y="8410525"/>
            <a:ext cx="3189450" cy="64807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직사각형 40"/>
          <p:cNvSpPr/>
          <p:nvPr/>
        </p:nvSpPr>
        <p:spPr>
          <a:xfrm>
            <a:off x="8594707" y="22373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4638821"/>
              </p:ext>
            </p:extLst>
          </p:nvPr>
        </p:nvGraphicFramePr>
        <p:xfrm>
          <a:off x="10633534" y="1272208"/>
          <a:ext cx="2088232" cy="37353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입실자 정보 슬라이드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공간에 있는 인원수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위치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구역정보 및 구역정보 변경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구역정보변경 권한을 가진 관리자만 볼 수 있는 버튼</a:t>
                      </a:r>
                      <a:endParaRPr lang="en-US" altLang="ko-KR" sz="800" baseline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 검색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 미니 정보 내용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작업자의 권한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구역 내 전체 인원 리스트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검색결과가 나오는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43" name="직사각형 42"/>
          <p:cNvSpPr/>
          <p:nvPr/>
        </p:nvSpPr>
        <p:spPr>
          <a:xfrm>
            <a:off x="8528242" y="42419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9723952" y="239713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6911650" y="30274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6" name="직사각형 45"/>
          <p:cNvSpPr/>
          <p:nvPr/>
        </p:nvSpPr>
        <p:spPr>
          <a:xfrm>
            <a:off x="6911650" y="38507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47" name="그룹 46"/>
          <p:cNvGrpSpPr/>
          <p:nvPr/>
        </p:nvGrpSpPr>
        <p:grpSpPr>
          <a:xfrm>
            <a:off x="8045651" y="4703385"/>
            <a:ext cx="1985980" cy="171926"/>
            <a:chOff x="8045651" y="5852156"/>
            <a:chExt cx="1985980" cy="171926"/>
          </a:xfrm>
        </p:grpSpPr>
        <p:sp>
          <p:nvSpPr>
            <p:cNvPr id="48" name="모서리가 둥근 직사각형 47"/>
            <p:cNvSpPr/>
            <p:nvPr/>
          </p:nvSpPr>
          <p:spPr>
            <a:xfrm>
              <a:off x="804565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일반</a:t>
              </a: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854984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통제</a:t>
              </a: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904948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위험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955367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밀폐공간</a:t>
              </a:r>
            </a:p>
          </p:txBody>
        </p:sp>
      </p:grpSp>
      <p:sp>
        <p:nvSpPr>
          <p:cNvPr id="58" name="모서리가 둥근 사각형 설명선 57"/>
          <p:cNvSpPr/>
          <p:nvPr/>
        </p:nvSpPr>
        <p:spPr>
          <a:xfrm>
            <a:off x="5608712" y="4647988"/>
            <a:ext cx="1144313" cy="444014"/>
          </a:xfrm>
          <a:prstGeom prst="wedgeRoundRectCallout">
            <a:avLst>
              <a:gd name="adj1" fmla="val 125096"/>
              <a:gd name="adj2" fmla="val 11204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007</a:t>
            </a:r>
          </a:p>
          <a:p>
            <a:pPr algn="ctr"/>
            <a:r>
              <a:rPr lang="ko-KR" altLang="en-US" sz="800" dirty="0"/>
              <a:t>작업자 상세정보 팝업</a:t>
            </a:r>
          </a:p>
        </p:txBody>
      </p:sp>
      <p:sp>
        <p:nvSpPr>
          <p:cNvPr id="60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61" name="왼쪽 대괄호 60"/>
          <p:cNvSpPr/>
          <p:nvPr/>
        </p:nvSpPr>
        <p:spPr>
          <a:xfrm flipH="1">
            <a:off x="10090549" y="4294100"/>
            <a:ext cx="150986" cy="3962884"/>
          </a:xfrm>
          <a:prstGeom prst="leftBracket">
            <a:avLst/>
          </a:prstGeom>
          <a:ln w="1905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/>
          <p:cNvSpPr/>
          <p:nvPr/>
        </p:nvSpPr>
        <p:spPr>
          <a:xfrm>
            <a:off x="10183440" y="61463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63" name="직선 연결선 62"/>
          <p:cNvCxnSpPr/>
          <p:nvPr/>
        </p:nvCxnSpPr>
        <p:spPr>
          <a:xfrm flipH="1">
            <a:off x="6852240" y="8401000"/>
            <a:ext cx="320495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/>
          <p:cNvSpPr/>
          <p:nvPr/>
        </p:nvSpPr>
        <p:spPr>
          <a:xfrm>
            <a:off x="7128186" y="5467612"/>
            <a:ext cx="2929009" cy="107732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7252409" y="5619217"/>
            <a:ext cx="684064" cy="663979"/>
            <a:chOff x="7962299" y="2617527"/>
            <a:chExt cx="622093" cy="646131"/>
          </a:xfrm>
        </p:grpSpPr>
        <p:sp>
          <p:nvSpPr>
            <p:cNvPr id="66" name="직사각형 65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68" name="TextBox 67"/>
          <p:cNvSpPr txBox="1"/>
          <p:nvPr/>
        </p:nvSpPr>
        <p:spPr>
          <a:xfrm>
            <a:off x="7964153" y="5995217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964153" y="5555208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8045651" y="5819457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76" name="모서리가 둥근 직사각형 75"/>
          <p:cNvSpPr/>
          <p:nvPr/>
        </p:nvSpPr>
        <p:spPr>
          <a:xfrm>
            <a:off x="7261298" y="3272884"/>
            <a:ext cx="2614785" cy="346189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일반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/ </a:t>
            </a:r>
            <a:r>
              <a:rPr lang="ko-KR" altLang="en-US" sz="11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특수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/ </a:t>
            </a:r>
            <a:r>
              <a:rPr lang="ko-KR" altLang="en-US" sz="11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위험 </a:t>
            </a:r>
          </a:p>
        </p:txBody>
      </p:sp>
      <p:sp>
        <p:nvSpPr>
          <p:cNvPr id="72" name="모서리가 둥근 사각형 설명선 71"/>
          <p:cNvSpPr/>
          <p:nvPr/>
        </p:nvSpPr>
        <p:spPr>
          <a:xfrm>
            <a:off x="5477938" y="3343694"/>
            <a:ext cx="1095683" cy="385596"/>
          </a:xfrm>
          <a:prstGeom prst="wedgeRoundRectCallout">
            <a:avLst>
              <a:gd name="adj1" fmla="val 148971"/>
              <a:gd name="adj2" fmla="val -20274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004</a:t>
            </a:r>
          </a:p>
          <a:p>
            <a:pPr algn="ctr"/>
            <a:r>
              <a:rPr lang="ko-KR" altLang="en-US" sz="800" dirty="0">
                <a:latin typeface="+mn-ea"/>
              </a:rPr>
              <a:t>출입구역 선택 팝업</a:t>
            </a:r>
          </a:p>
        </p:txBody>
      </p:sp>
      <p:sp>
        <p:nvSpPr>
          <p:cNvPr id="71" name="직사각형 70"/>
          <p:cNvSpPr/>
          <p:nvPr/>
        </p:nvSpPr>
        <p:spPr>
          <a:xfrm>
            <a:off x="6897920" y="33945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4621803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직사각형 131"/>
          <p:cNvSpPr/>
          <p:nvPr/>
        </p:nvSpPr>
        <p:spPr>
          <a:xfrm>
            <a:off x="7045597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7082076" y="2497892"/>
            <a:ext cx="121700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구역 입실 정보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75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명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42" name="직사각형 141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43" name="그룹 142"/>
          <p:cNvGrpSpPr/>
          <p:nvPr/>
        </p:nvGrpSpPr>
        <p:grpSpPr>
          <a:xfrm>
            <a:off x="7264896" y="3765489"/>
            <a:ext cx="2135848" cy="315031"/>
            <a:chOff x="7101980" y="2445684"/>
            <a:chExt cx="2135848" cy="315031"/>
          </a:xfrm>
        </p:grpSpPr>
        <p:sp>
          <p:nvSpPr>
            <p:cNvPr id="144" name="Search Box Rectangle"/>
            <p:cNvSpPr>
              <a:spLocks/>
            </p:cNvSpPr>
            <p:nvPr/>
          </p:nvSpPr>
          <p:spPr bwMode="auto">
            <a:xfrm>
              <a:off x="7101980" y="2445684"/>
              <a:ext cx="2135848" cy="31503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defTabSz="914400" latinLnBrk="0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itchFamily="34" charset="0"/>
                </a:rPr>
                <a:t>작업자 검색</a:t>
              </a:r>
              <a:endParaRPr lang="de-DE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45" name="Clear Button"/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>
              <a:off x="8978080" y="2503879"/>
              <a:ext cx="189743" cy="189743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itchFamily="34" charset="0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9499485" y="3765489"/>
            <a:ext cx="376599" cy="315031"/>
            <a:chOff x="9336569" y="2445684"/>
            <a:chExt cx="376599" cy="315031"/>
          </a:xfrm>
        </p:grpSpPr>
        <p:sp>
          <p:nvSpPr>
            <p:cNvPr id="147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48" name="그림 147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sp>
        <p:nvSpPr>
          <p:cNvPr id="149" name="TextBox 148"/>
          <p:cNvSpPr txBox="1"/>
          <p:nvPr/>
        </p:nvSpPr>
        <p:spPr>
          <a:xfrm>
            <a:off x="7136751" y="2877870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50" name="직사각형 149"/>
          <p:cNvSpPr/>
          <p:nvPr/>
        </p:nvSpPr>
        <p:spPr>
          <a:xfrm>
            <a:off x="7128186" y="4302589"/>
            <a:ext cx="2929009" cy="10773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7252409" y="4454194"/>
            <a:ext cx="684064" cy="663979"/>
            <a:chOff x="7962299" y="2617527"/>
            <a:chExt cx="622093" cy="646131"/>
          </a:xfrm>
        </p:grpSpPr>
        <p:sp>
          <p:nvSpPr>
            <p:cNvPr id="152" name="직사각형 151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3" name="그림 152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54" name="TextBox 153"/>
          <p:cNvSpPr txBox="1"/>
          <p:nvPr/>
        </p:nvSpPr>
        <p:spPr>
          <a:xfrm>
            <a:off x="7964153" y="4830194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7964153" y="4438216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56" name="직사각형 155"/>
          <p:cNvSpPr/>
          <p:nvPr/>
        </p:nvSpPr>
        <p:spPr>
          <a:xfrm>
            <a:off x="7128186" y="6600800"/>
            <a:ext cx="2929009" cy="107732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57" name="그룹 156"/>
          <p:cNvGrpSpPr/>
          <p:nvPr/>
        </p:nvGrpSpPr>
        <p:grpSpPr>
          <a:xfrm>
            <a:off x="7252409" y="6752405"/>
            <a:ext cx="684064" cy="663979"/>
            <a:chOff x="7962299" y="2617527"/>
            <a:chExt cx="622093" cy="646131"/>
          </a:xfrm>
        </p:grpSpPr>
        <p:sp>
          <p:nvSpPr>
            <p:cNvPr id="158" name="직사각형 157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60" name="TextBox 159"/>
          <p:cNvSpPr txBox="1"/>
          <p:nvPr/>
        </p:nvSpPr>
        <p:spPr>
          <a:xfrm>
            <a:off x="7964153" y="7128405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964153" y="6688396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045651" y="6952645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grpSp>
        <p:nvGrpSpPr>
          <p:cNvPr id="163" name="그룹 162"/>
          <p:cNvGrpSpPr/>
          <p:nvPr/>
        </p:nvGrpSpPr>
        <p:grpSpPr>
          <a:xfrm>
            <a:off x="7252409" y="7918856"/>
            <a:ext cx="684064" cy="663979"/>
            <a:chOff x="7962299" y="2617527"/>
            <a:chExt cx="622093" cy="646131"/>
          </a:xfrm>
        </p:grpSpPr>
        <p:sp>
          <p:nvSpPr>
            <p:cNvPr id="164" name="직사각형 163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5" name="그림 164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66" name="TextBox 165"/>
          <p:cNvSpPr txBox="1"/>
          <p:nvPr/>
        </p:nvSpPr>
        <p:spPr>
          <a:xfrm>
            <a:off x="7964153" y="7854847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67" name="직사각형 166"/>
          <p:cNvSpPr/>
          <p:nvPr/>
        </p:nvSpPr>
        <p:spPr>
          <a:xfrm>
            <a:off x="6943783" y="8410525"/>
            <a:ext cx="3189450" cy="64807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8" name="그룹 167"/>
          <p:cNvGrpSpPr/>
          <p:nvPr/>
        </p:nvGrpSpPr>
        <p:grpSpPr>
          <a:xfrm>
            <a:off x="8045651" y="4703385"/>
            <a:ext cx="1985980" cy="171926"/>
            <a:chOff x="8045651" y="5852156"/>
            <a:chExt cx="1985980" cy="171926"/>
          </a:xfrm>
        </p:grpSpPr>
        <p:sp>
          <p:nvSpPr>
            <p:cNvPr id="169" name="모서리가 둥근 직사각형 168"/>
            <p:cNvSpPr/>
            <p:nvPr/>
          </p:nvSpPr>
          <p:spPr>
            <a:xfrm>
              <a:off x="804565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일반</a:t>
              </a:r>
            </a:p>
          </p:txBody>
        </p:sp>
        <p:sp>
          <p:nvSpPr>
            <p:cNvPr id="170" name="모서리가 둥근 직사각형 169"/>
            <p:cNvSpPr/>
            <p:nvPr/>
          </p:nvSpPr>
          <p:spPr>
            <a:xfrm>
              <a:off x="854984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통제</a:t>
              </a:r>
            </a:p>
          </p:txBody>
        </p:sp>
        <p:sp>
          <p:nvSpPr>
            <p:cNvPr id="171" name="모서리가 둥근 직사각형 170"/>
            <p:cNvSpPr/>
            <p:nvPr/>
          </p:nvSpPr>
          <p:spPr>
            <a:xfrm>
              <a:off x="9049481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위험</a:t>
              </a:r>
            </a:p>
          </p:txBody>
        </p:sp>
        <p:sp>
          <p:nvSpPr>
            <p:cNvPr id="172" name="모서리가 둥근 직사각형 171"/>
            <p:cNvSpPr/>
            <p:nvPr/>
          </p:nvSpPr>
          <p:spPr>
            <a:xfrm>
              <a:off x="9553679" y="58521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밀폐공간</a:t>
              </a:r>
            </a:p>
          </p:txBody>
        </p:sp>
      </p:grpSp>
      <p:sp>
        <p:nvSpPr>
          <p:cNvPr id="173" name="직사각형 172"/>
          <p:cNvSpPr/>
          <p:nvPr/>
        </p:nvSpPr>
        <p:spPr>
          <a:xfrm>
            <a:off x="7128186" y="5467612"/>
            <a:ext cx="2929009" cy="107732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74" name="그룹 173"/>
          <p:cNvGrpSpPr/>
          <p:nvPr/>
        </p:nvGrpSpPr>
        <p:grpSpPr>
          <a:xfrm>
            <a:off x="7252409" y="5619217"/>
            <a:ext cx="684064" cy="663979"/>
            <a:chOff x="7962299" y="2617527"/>
            <a:chExt cx="622093" cy="646131"/>
          </a:xfrm>
        </p:grpSpPr>
        <p:sp>
          <p:nvSpPr>
            <p:cNvPr id="175" name="직사각형 174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6" name="그림 175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77" name="TextBox 176"/>
          <p:cNvSpPr txBox="1"/>
          <p:nvPr/>
        </p:nvSpPr>
        <p:spPr>
          <a:xfrm>
            <a:off x="7964153" y="5995217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7964153" y="5555208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일일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8045651" y="5819457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180" name="모서리가 둥근 직사각형 179"/>
          <p:cNvSpPr/>
          <p:nvPr/>
        </p:nvSpPr>
        <p:spPr>
          <a:xfrm>
            <a:off x="7261298" y="3272884"/>
            <a:ext cx="2614785" cy="346189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일반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/ </a:t>
            </a:r>
            <a:r>
              <a:rPr lang="ko-KR" altLang="en-US" sz="11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특수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/ </a:t>
            </a:r>
            <a:r>
              <a:rPr lang="ko-KR" altLang="en-US" sz="11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위험 </a:t>
            </a:r>
          </a:p>
        </p:txBody>
      </p:sp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007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12398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작업자 상세 정보 및 기능 팝업</a:t>
            </a:r>
          </a:p>
        </p:txBody>
      </p:sp>
      <p:sp>
        <p:nvSpPr>
          <p:cNvPr id="50" name="직사각형 49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graphicFrame>
        <p:nvGraphicFramePr>
          <p:cNvPr id="51" name="표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2672475"/>
              </p:ext>
            </p:extLst>
          </p:nvPr>
        </p:nvGraphicFramePr>
        <p:xfrm>
          <a:off x="10633534" y="1272208"/>
          <a:ext cx="2088232" cy="22151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작업자에 대한 세부정보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No image 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등록된 이미지가 없을 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태그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태그가 없을 시 비활성화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밴드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밴드가 없을 시 비활성화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위치 맵으로 표기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위치까지 경로안내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2" name="직사각형 51"/>
          <p:cNvSpPr/>
          <p:nvPr/>
        </p:nvSpPr>
        <p:spPr>
          <a:xfrm>
            <a:off x="784175" y="2964117"/>
            <a:ext cx="5797599" cy="436390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53" name="그룹 52"/>
          <p:cNvGrpSpPr/>
          <p:nvPr/>
        </p:nvGrpSpPr>
        <p:grpSpPr>
          <a:xfrm>
            <a:off x="1000200" y="3576464"/>
            <a:ext cx="2376264" cy="2306494"/>
            <a:chOff x="7404809" y="4606594"/>
            <a:chExt cx="684064" cy="663979"/>
          </a:xfrm>
        </p:grpSpPr>
        <p:sp>
          <p:nvSpPr>
            <p:cNvPr id="54" name="직사각형 53"/>
            <p:cNvSpPr/>
            <p:nvPr/>
          </p:nvSpPr>
          <p:spPr>
            <a:xfrm>
              <a:off x="7404809" y="4606594"/>
              <a:ext cx="684064" cy="66397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6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53358" y="4719322"/>
              <a:ext cx="589218" cy="550640"/>
            </a:xfrm>
            <a:prstGeom prst="rect">
              <a:avLst/>
            </a:prstGeom>
          </p:spPr>
        </p:pic>
      </p:grpSp>
      <p:sp>
        <p:nvSpPr>
          <p:cNvPr id="56" name="TextBox 55"/>
          <p:cNvSpPr txBox="1"/>
          <p:nvPr/>
        </p:nvSpPr>
        <p:spPr>
          <a:xfrm>
            <a:off x="3454219" y="3578317"/>
            <a:ext cx="1800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홍길동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729494" y="3639872"/>
            <a:ext cx="18002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임직원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3550724" y="4060259"/>
            <a:ext cx="1985980" cy="171926"/>
            <a:chOff x="8198051" y="6004556"/>
            <a:chExt cx="1985980" cy="17192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8198051" y="60045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일반</a:t>
              </a: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8702249" y="60045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통제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9201881" y="60045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위험</a:t>
              </a: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9706079" y="6004556"/>
              <a:ext cx="477952" cy="171926"/>
            </a:xfrm>
            <a:prstGeom prst="roundRect">
              <a:avLst>
                <a:gd name="adj" fmla="val 50000"/>
              </a:avLst>
            </a:prstGeom>
            <a:solidFill>
              <a:srgbClr val="1E517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+mn-ea"/>
                </a:rPr>
                <a:t>밀폐공간</a:t>
              </a:r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1000200" y="3056367"/>
            <a:ext cx="1800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작업자 정보</a:t>
            </a:r>
          </a:p>
        </p:txBody>
      </p:sp>
      <p:sp>
        <p:nvSpPr>
          <p:cNvPr id="64" name="직사각형 63"/>
          <p:cNvSpPr/>
          <p:nvPr/>
        </p:nvSpPr>
        <p:spPr>
          <a:xfrm>
            <a:off x="1000200" y="6090280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50" dirty="0">
                <a:solidFill>
                  <a:schemeClr val="tx1"/>
                </a:solidFill>
                <a:latin typeface="+mn-ea"/>
              </a:rPr>
              <a:t>Tag-12-3-452</a:t>
            </a:r>
            <a:endParaRPr lang="ko-KR" altLang="en-US" sz="105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/>
          <p:cNvSpPr/>
          <p:nvPr/>
        </p:nvSpPr>
        <p:spPr>
          <a:xfrm>
            <a:off x="2226608" y="6090280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50" dirty="0">
                <a:solidFill>
                  <a:schemeClr val="tx1"/>
                </a:solidFill>
                <a:latin typeface="+mn-ea"/>
              </a:rPr>
              <a:t>Band-03-09-1</a:t>
            </a:r>
            <a:endParaRPr lang="ko-KR" altLang="en-US" sz="1050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6" name="그림 6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3505" y="6326990"/>
            <a:ext cx="477525" cy="477525"/>
          </a:xfrm>
          <a:prstGeom prst="rect">
            <a:avLst/>
          </a:prstGeom>
        </p:spPr>
      </p:pic>
      <p:pic>
        <p:nvPicPr>
          <p:cNvPr id="67" name="그림 66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62920" y="6341864"/>
            <a:ext cx="474960" cy="474960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503985" y="4393517"/>
            <a:ext cx="2698175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b="1" dirty="0">
                <a:latin typeface="+mn-ea"/>
                <a:sym typeface="Wingdings" panose="05000000000000000000" pitchFamily="2" charset="2"/>
              </a:rPr>
              <a:t>소     속</a:t>
            </a:r>
            <a:endParaRPr lang="en-US" altLang="ko-KR" sz="1100" b="1" dirty="0">
              <a:latin typeface="+mn-ea"/>
              <a:sym typeface="Wingdings" panose="05000000000000000000" pitchFamily="2" charset="2"/>
            </a:endParaRPr>
          </a:p>
          <a:p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000 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소속</a:t>
            </a:r>
            <a:endParaRPr lang="en-US" altLang="ko-KR" sz="1100" dirty="0">
              <a:latin typeface="+mn-ea"/>
              <a:sym typeface="Wingdings" panose="05000000000000000000" pitchFamily="2" charset="2"/>
            </a:endParaRPr>
          </a:p>
          <a:p>
            <a:endParaRPr lang="en-US" altLang="ko-KR" sz="1100" dirty="0">
              <a:latin typeface="+mn-ea"/>
              <a:sym typeface="Wingdings" panose="05000000000000000000" pitchFamily="2" charset="2"/>
            </a:endParaRPr>
          </a:p>
          <a:p>
            <a:r>
              <a:rPr lang="ko-KR" altLang="en-US" sz="1100" b="1" dirty="0">
                <a:latin typeface="+mn-ea"/>
                <a:sym typeface="Wingdings" panose="05000000000000000000" pitchFamily="2" charset="2"/>
              </a:rPr>
              <a:t>출입지역</a:t>
            </a:r>
            <a:endParaRPr lang="en-US" altLang="ko-KR" sz="1100" b="1" dirty="0">
              <a:latin typeface="+mn-ea"/>
              <a:sym typeface="Wingdings" panose="05000000000000000000" pitchFamily="2" charset="2"/>
            </a:endParaRPr>
          </a:p>
          <a:p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제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1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공장 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( 1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층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/4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층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/5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층 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) ,  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제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2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공장 전체</a:t>
            </a:r>
            <a:endParaRPr lang="en-US" altLang="ko-KR" sz="1100" dirty="0">
              <a:latin typeface="+mn-ea"/>
              <a:sym typeface="Wingdings" panose="05000000000000000000" pitchFamily="2" charset="2"/>
            </a:endParaRPr>
          </a:p>
          <a:p>
            <a:endParaRPr lang="en-US" altLang="ko-KR" sz="1100" dirty="0">
              <a:latin typeface="+mn-ea"/>
              <a:sym typeface="Wingdings" panose="05000000000000000000" pitchFamily="2" charset="2"/>
            </a:endParaRPr>
          </a:p>
          <a:p>
            <a:r>
              <a:rPr lang="ko-KR" altLang="en-US" sz="1100" b="1" dirty="0">
                <a:latin typeface="+mn-ea"/>
                <a:sym typeface="Wingdings" panose="05000000000000000000" pitchFamily="2" charset="2"/>
              </a:rPr>
              <a:t>방문기간</a:t>
            </a:r>
            <a:endParaRPr lang="en-US" altLang="ko-KR" sz="1100" b="1" dirty="0">
              <a:latin typeface="+mn-ea"/>
              <a:sym typeface="Wingdings" panose="05000000000000000000" pitchFamily="2" charset="2"/>
            </a:endParaRPr>
          </a:p>
          <a:p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0000.00.00 10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시 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~ 2000.05.15 23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시</a:t>
            </a:r>
          </a:p>
        </p:txBody>
      </p:sp>
      <p:sp>
        <p:nvSpPr>
          <p:cNvPr id="69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104654" y="3068527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70" name="직사각형 69"/>
          <p:cNvSpPr/>
          <p:nvPr/>
        </p:nvSpPr>
        <p:spPr>
          <a:xfrm>
            <a:off x="1000200" y="8142200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r>
              <a:rPr lang="ko-KR" altLang="en-US" sz="1050">
                <a:solidFill>
                  <a:schemeClr val="bg1">
                    <a:lumMod val="75000"/>
                  </a:schemeClr>
                </a:solidFill>
                <a:latin typeface="+mn-ea"/>
              </a:rPr>
              <a:t>정보 </a:t>
            </a:r>
            <a:r>
              <a:rPr lang="ko-KR" altLang="en-US" sz="105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없음</a:t>
            </a:r>
          </a:p>
        </p:txBody>
      </p:sp>
      <p:sp>
        <p:nvSpPr>
          <p:cNvPr id="71" name="직사각형 70"/>
          <p:cNvSpPr/>
          <p:nvPr/>
        </p:nvSpPr>
        <p:spPr>
          <a:xfrm>
            <a:off x="2226608" y="8142200"/>
            <a:ext cx="1149856" cy="111609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endParaRPr lang="en-US" altLang="ko-KR" sz="105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  <a:p>
            <a:pPr algn="ctr"/>
            <a:r>
              <a:rPr lang="ko-KR" altLang="en-US" sz="1050">
                <a:solidFill>
                  <a:schemeClr val="bg1">
                    <a:lumMod val="75000"/>
                  </a:schemeClr>
                </a:solidFill>
                <a:latin typeface="+mn-ea"/>
              </a:rPr>
              <a:t>정보 </a:t>
            </a:r>
            <a:r>
              <a:rPr lang="ko-KR" altLang="en-US" sz="105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없음</a:t>
            </a:r>
          </a:p>
        </p:txBody>
      </p:sp>
      <p:pic>
        <p:nvPicPr>
          <p:cNvPr id="72" name="그림 71"/>
          <p:cNvPicPr>
            <a:picLocks noChangeAspect="1"/>
          </p:cNvPicPr>
          <p:nvPr/>
        </p:nvPicPr>
        <p:blipFill>
          <a:blip r:embed="rId7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3505" y="8415222"/>
            <a:ext cx="477525" cy="477525"/>
          </a:xfrm>
          <a:prstGeom prst="rect">
            <a:avLst/>
          </a:prstGeom>
        </p:spPr>
      </p:pic>
      <p:pic>
        <p:nvPicPr>
          <p:cNvPr id="73" name="그림 72"/>
          <p:cNvPicPr>
            <a:picLocks noChangeAspect="1"/>
          </p:cNvPicPr>
          <p:nvPr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62920" y="8430096"/>
            <a:ext cx="474960" cy="474960"/>
          </a:xfrm>
          <a:prstGeom prst="rect">
            <a:avLst/>
          </a:prstGeom>
        </p:spPr>
      </p:pic>
      <p:cxnSp>
        <p:nvCxnSpPr>
          <p:cNvPr id="74" name="꺾인 연결선 73"/>
          <p:cNvCxnSpPr>
            <a:endCxn id="52" idx="3"/>
          </p:cNvCxnSpPr>
          <p:nvPr/>
        </p:nvCxnSpPr>
        <p:spPr>
          <a:xfrm rot="10800000" flipV="1">
            <a:off x="6581774" y="4841252"/>
            <a:ext cx="546412" cy="304815"/>
          </a:xfrm>
          <a:prstGeom prst="bentConnector3">
            <a:avLst/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직사각형 74"/>
          <p:cNvSpPr/>
          <p:nvPr/>
        </p:nvSpPr>
        <p:spPr>
          <a:xfrm>
            <a:off x="3650159" y="286477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4471361" y="59920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5712158" y="59920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8" name="직사각형 77"/>
          <p:cNvSpPr/>
          <p:nvPr/>
        </p:nvSpPr>
        <p:spPr>
          <a:xfrm>
            <a:off x="1079947" y="36217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1000200" y="6097410"/>
            <a:ext cx="1149856" cy="177365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</a:t>
            </a:r>
          </a:p>
        </p:txBody>
      </p:sp>
      <p:sp>
        <p:nvSpPr>
          <p:cNvPr id="80" name="직사각형 79"/>
          <p:cNvSpPr/>
          <p:nvPr/>
        </p:nvSpPr>
        <p:spPr>
          <a:xfrm>
            <a:off x="2226608" y="6097410"/>
            <a:ext cx="1149856" cy="177365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안전밴드</a:t>
            </a:r>
          </a:p>
        </p:txBody>
      </p:sp>
      <p:sp>
        <p:nvSpPr>
          <p:cNvPr id="81" name="직사각형 80"/>
          <p:cNvSpPr/>
          <p:nvPr/>
        </p:nvSpPr>
        <p:spPr>
          <a:xfrm>
            <a:off x="1523367" y="591576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2716548" y="591576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3" name="직사각형 82"/>
          <p:cNvSpPr/>
          <p:nvPr/>
        </p:nvSpPr>
        <p:spPr>
          <a:xfrm>
            <a:off x="1000200" y="8145817"/>
            <a:ext cx="1149856" cy="177365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스마트태그</a:t>
            </a:r>
          </a:p>
        </p:txBody>
      </p:sp>
      <p:sp>
        <p:nvSpPr>
          <p:cNvPr id="84" name="직사각형 83"/>
          <p:cNvSpPr/>
          <p:nvPr/>
        </p:nvSpPr>
        <p:spPr>
          <a:xfrm>
            <a:off x="2226608" y="8145817"/>
            <a:ext cx="1149856" cy="177365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안전밴드</a:t>
            </a:r>
          </a:p>
        </p:txBody>
      </p:sp>
      <p:sp>
        <p:nvSpPr>
          <p:cNvPr id="85" name="직사각형 84"/>
          <p:cNvSpPr/>
          <p:nvPr/>
        </p:nvSpPr>
        <p:spPr>
          <a:xfrm>
            <a:off x="1523367" y="796895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2716548" y="796895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7" name="직사각형 86"/>
          <p:cNvSpPr/>
          <p:nvPr/>
        </p:nvSpPr>
        <p:spPr>
          <a:xfrm>
            <a:off x="3827959" y="8594286"/>
            <a:ext cx="1482238" cy="39167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현재 위치정보가 없습니다</a:t>
            </a:r>
          </a:p>
        </p:txBody>
      </p:sp>
      <p:sp>
        <p:nvSpPr>
          <p:cNvPr id="88" name="직사각형 87"/>
          <p:cNvSpPr/>
          <p:nvPr/>
        </p:nvSpPr>
        <p:spPr>
          <a:xfrm>
            <a:off x="3827960" y="8983307"/>
            <a:ext cx="1482238" cy="20872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795055" y="9236518"/>
            <a:ext cx="108876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/>
              <a:t>위치 정보가 없을 경우</a:t>
            </a:r>
          </a:p>
        </p:txBody>
      </p:sp>
      <p:cxnSp>
        <p:nvCxnSpPr>
          <p:cNvPr id="90" name="꺾인 연결선 89"/>
          <p:cNvCxnSpPr>
            <a:endCxn id="87" idx="0"/>
          </p:cNvCxnSpPr>
          <p:nvPr/>
        </p:nvCxnSpPr>
        <p:spPr>
          <a:xfrm rot="5400000">
            <a:off x="3884965" y="7890489"/>
            <a:ext cx="1387911" cy="19683"/>
          </a:xfrm>
          <a:prstGeom prst="bentConnector3">
            <a:avLst>
              <a:gd name="adj1" fmla="val 50000"/>
            </a:avLst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꺾인 연결선 90"/>
          <p:cNvCxnSpPr>
            <a:endCxn id="87" idx="0"/>
          </p:cNvCxnSpPr>
          <p:nvPr/>
        </p:nvCxnSpPr>
        <p:spPr>
          <a:xfrm rot="5400000">
            <a:off x="4498954" y="7276499"/>
            <a:ext cx="1387911" cy="1247662"/>
          </a:xfrm>
          <a:prstGeom prst="bentConnector3">
            <a:avLst>
              <a:gd name="adj1" fmla="val 50000"/>
            </a:avLst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모서리가 둥근 사각형 설명선 91"/>
          <p:cNvSpPr/>
          <p:nvPr/>
        </p:nvSpPr>
        <p:spPr>
          <a:xfrm>
            <a:off x="4999826" y="8328907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sp>
        <p:nvSpPr>
          <p:cNvPr id="93" name="직사각형 92"/>
          <p:cNvSpPr/>
          <p:nvPr/>
        </p:nvSpPr>
        <p:spPr>
          <a:xfrm>
            <a:off x="4013833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위치 지도로 보기</a:t>
            </a:r>
          </a:p>
        </p:txBody>
      </p:sp>
      <p:sp>
        <p:nvSpPr>
          <p:cNvPr id="94" name="직사각형 93"/>
          <p:cNvSpPr/>
          <p:nvPr/>
        </p:nvSpPr>
        <p:spPr>
          <a:xfrm>
            <a:off x="5241812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경로안내</a:t>
            </a:r>
          </a:p>
        </p:txBody>
      </p:sp>
      <p:pic>
        <p:nvPicPr>
          <p:cNvPr id="95" name="그림 9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0799" y="6388491"/>
            <a:ext cx="497576" cy="497576"/>
          </a:xfrm>
          <a:prstGeom prst="rect">
            <a:avLst/>
          </a:prstGeom>
        </p:spPr>
      </p:pic>
      <p:pic>
        <p:nvPicPr>
          <p:cNvPr id="96" name="그림 9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21532" y="6388491"/>
            <a:ext cx="495092" cy="495090"/>
          </a:xfrm>
          <a:prstGeom prst="rect">
            <a:avLst/>
          </a:prstGeom>
        </p:spPr>
      </p:pic>
      <p:sp>
        <p:nvSpPr>
          <p:cNvPr id="97" name="모서리가 둥근 사각형 설명선 96"/>
          <p:cNvSpPr/>
          <p:nvPr/>
        </p:nvSpPr>
        <p:spPr>
          <a:xfrm>
            <a:off x="6258377" y="5721686"/>
            <a:ext cx="1095683" cy="385596"/>
          </a:xfrm>
          <a:prstGeom prst="wedgeRoundRectCallout">
            <a:avLst>
              <a:gd name="adj1" fmla="val -54007"/>
              <a:gd name="adj2" fmla="val 143350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044</a:t>
            </a:r>
          </a:p>
          <a:p>
            <a:pPr algn="ctr"/>
            <a:r>
              <a:rPr lang="ko-KR" altLang="en-US" sz="800"/>
              <a:t>길찾기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80049868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모서리가 둥근 직사각형 56"/>
          <p:cNvSpPr/>
          <p:nvPr/>
        </p:nvSpPr>
        <p:spPr>
          <a:xfrm>
            <a:off x="208112" y="984176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002</a:t>
            </a:r>
            <a:endParaRPr lang="ko-KR" altLang="en-US" sz="800" dirty="0"/>
          </a:p>
        </p:txBody>
      </p:sp>
      <p:sp>
        <p:nvSpPr>
          <p:cNvPr id="58" name="TextBox 57"/>
          <p:cNvSpPr txBox="1"/>
          <p:nvPr/>
        </p:nvSpPr>
        <p:spPr>
          <a:xfrm>
            <a:off x="1199228" y="984932"/>
            <a:ext cx="113845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반납 </a:t>
            </a:r>
            <a:r>
              <a:rPr lang="en-US" altLang="ko-KR" sz="900" dirty="0"/>
              <a:t>: </a:t>
            </a:r>
            <a:r>
              <a:rPr lang="ko-KR" altLang="en-US" sz="900"/>
              <a:t>바코드 인식</a:t>
            </a:r>
            <a:endParaRPr lang="ko-KR" altLang="en-US" sz="900" dirty="0"/>
          </a:p>
        </p:txBody>
      </p:sp>
      <p:pic>
        <p:nvPicPr>
          <p:cNvPr id="49" name="그림 4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983350" y="2202795"/>
            <a:ext cx="500854" cy="50085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51" name="Search Box Rectangle"/>
          <p:cNvSpPr>
            <a:spLocks/>
          </p:cNvSpPr>
          <p:nvPr/>
        </p:nvSpPr>
        <p:spPr bwMode="auto">
          <a:xfrm>
            <a:off x="3041879" y="3055671"/>
            <a:ext cx="1008112" cy="315990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반납 팝업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3" name="직선 화살표 연결선 52"/>
          <p:cNvCxnSpPr>
            <a:stCxn id="51" idx="3"/>
            <a:endCxn id="54" idx="1"/>
          </p:cNvCxnSpPr>
          <p:nvPr/>
        </p:nvCxnSpPr>
        <p:spPr>
          <a:xfrm>
            <a:off x="4049991" y="3213666"/>
            <a:ext cx="68453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다이아몬드 53"/>
          <p:cNvSpPr/>
          <p:nvPr/>
        </p:nvSpPr>
        <p:spPr>
          <a:xfrm>
            <a:off x="4734524" y="2856384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인식기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활성화</a:t>
            </a:r>
          </a:p>
        </p:txBody>
      </p:sp>
      <p:sp>
        <p:nvSpPr>
          <p:cNvPr id="62" name="폭발 2 61"/>
          <p:cNvSpPr/>
          <p:nvPr/>
        </p:nvSpPr>
        <p:spPr>
          <a:xfrm>
            <a:off x="5346592" y="2202795"/>
            <a:ext cx="295821" cy="250427"/>
          </a:xfrm>
          <a:prstGeom prst="irregularSeal2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pic>
        <p:nvPicPr>
          <p:cNvPr id="63" name="그림 6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4887" y="2962574"/>
            <a:ext cx="477525" cy="477525"/>
          </a:xfrm>
          <a:prstGeom prst="rect">
            <a:avLst/>
          </a:prstGeom>
        </p:spPr>
      </p:pic>
      <p:cxnSp>
        <p:nvCxnSpPr>
          <p:cNvPr id="64" name="직선 화살표 연결선 63"/>
          <p:cNvCxnSpPr>
            <a:stCxn id="54" idx="3"/>
            <a:endCxn id="63" idx="1"/>
          </p:cNvCxnSpPr>
          <p:nvPr/>
        </p:nvCxnSpPr>
        <p:spPr>
          <a:xfrm flipV="1">
            <a:off x="5958660" y="3201337"/>
            <a:ext cx="1486227" cy="123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그림 6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700000" flipH="1">
            <a:off x="7317827" y="1900796"/>
            <a:ext cx="500854" cy="500854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66" name="그림 6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6421" y="2378165"/>
            <a:ext cx="478219" cy="478219"/>
          </a:xfrm>
          <a:prstGeom prst="rect">
            <a:avLst/>
          </a:prstGeom>
        </p:spPr>
      </p:pic>
      <p:cxnSp>
        <p:nvCxnSpPr>
          <p:cNvPr id="67" name="직선 연결선 66"/>
          <p:cNvCxnSpPr/>
          <p:nvPr/>
        </p:nvCxnSpPr>
        <p:spPr>
          <a:xfrm>
            <a:off x="7922412" y="2161967"/>
            <a:ext cx="373306" cy="16604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/>
          <p:cNvCxnSpPr/>
          <p:nvPr/>
        </p:nvCxnSpPr>
        <p:spPr>
          <a:xfrm>
            <a:off x="7791662" y="2164006"/>
            <a:ext cx="72008" cy="48695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089394" y="2994713"/>
            <a:ext cx="73449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바코드</a:t>
            </a:r>
            <a:r>
              <a:rPr lang="en-US" altLang="ko-KR" sz="800" dirty="0"/>
              <a:t> </a:t>
            </a:r>
            <a:r>
              <a:rPr lang="ko-KR" altLang="en-US" sz="800"/>
              <a:t>촬영</a:t>
            </a:r>
            <a:endParaRPr lang="ko-KR" altLang="en-US" sz="800" dirty="0" err="1"/>
          </a:p>
        </p:txBody>
      </p:sp>
      <p:cxnSp>
        <p:nvCxnSpPr>
          <p:cNvPr id="70" name="직선 화살표 연결선 69"/>
          <p:cNvCxnSpPr>
            <a:stCxn id="63" idx="3"/>
          </p:cNvCxnSpPr>
          <p:nvPr/>
        </p:nvCxnSpPr>
        <p:spPr>
          <a:xfrm>
            <a:off x="7922412" y="3201337"/>
            <a:ext cx="1321203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/>
          <p:cNvSpPr txBox="1"/>
          <p:nvPr/>
        </p:nvSpPr>
        <p:spPr>
          <a:xfrm>
            <a:off x="7936421" y="2994713"/>
            <a:ext cx="5950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인식성공</a:t>
            </a:r>
          </a:p>
        </p:txBody>
      </p:sp>
      <p:sp>
        <p:nvSpPr>
          <p:cNvPr id="75" name="Search Box Rectangle"/>
          <p:cNvSpPr>
            <a:spLocks/>
          </p:cNvSpPr>
          <p:nvPr/>
        </p:nvSpPr>
        <p:spPr bwMode="auto">
          <a:xfrm>
            <a:off x="9250401" y="3055671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반납완료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Search Box Rectangle"/>
          <p:cNvSpPr>
            <a:spLocks/>
          </p:cNvSpPr>
          <p:nvPr/>
        </p:nvSpPr>
        <p:spPr bwMode="auto">
          <a:xfrm>
            <a:off x="1305562" y="3055671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반납 버튼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0" name="직선 화살표 연결선 9"/>
          <p:cNvCxnSpPr>
            <a:stCxn id="52" idx="3"/>
            <a:endCxn id="51" idx="1"/>
          </p:cNvCxnSpPr>
          <p:nvPr/>
        </p:nvCxnSpPr>
        <p:spPr>
          <a:xfrm>
            <a:off x="2313674" y="3213666"/>
            <a:ext cx="72820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687077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안전현황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411859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0813908"/>
              </p:ext>
            </p:extLst>
          </p:nvPr>
        </p:nvGraphicFramePr>
        <p:xfrm>
          <a:off x="2008312" y="3432448"/>
          <a:ext cx="5380413" cy="3062806"/>
        </p:xfrm>
        <a:graphic>
          <a:graphicData uri="http://schemas.openxmlformats.org/drawingml/2006/table">
            <a:tbl>
              <a:tblPr/>
              <a:tblGrid>
                <a:gridCol w="5510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66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85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85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85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851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863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구역명</a:t>
                      </a:r>
                      <a:endParaRPr lang="en-US" altLang="ko-KR" sz="8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tabLst>
                          <a:tab pos="720725" algn="l"/>
                        </a:tabLst>
                      </a:pPr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구역정보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산소</a:t>
                      </a:r>
                      <a:endParaRPr lang="en-US" altLang="ko-KR" sz="8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일산화탄소</a:t>
                      </a:r>
                      <a:endParaRPr lang="en-US" altLang="ko-KR" sz="8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메탄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황화수소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작업인원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현장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현장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A-3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현장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B-1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현장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E-2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 현장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통제구역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7774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1974386" y="3037303"/>
            <a:ext cx="1569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/>
              <a:t>[1</a:t>
            </a:r>
            <a:r>
              <a:rPr lang="ko-KR" altLang="en-US" sz="1200" b="1"/>
              <a:t>층</a:t>
            </a:r>
            <a:r>
              <a:rPr lang="en-US" altLang="ko-KR" sz="1200" b="1" dirty="0"/>
              <a:t>] </a:t>
            </a:r>
            <a:r>
              <a:rPr lang="ko-KR" altLang="en-US" sz="1200" b="1"/>
              <a:t>현장 </a:t>
            </a:r>
            <a:r>
              <a:rPr lang="ko-KR" altLang="en-US" sz="1200" b="1" dirty="0"/>
              <a:t>모니터링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7570892" y="3037303"/>
            <a:ext cx="10086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/>
              <a:t>이벤트 현황</a:t>
            </a:r>
          </a:p>
        </p:txBody>
      </p:sp>
      <p:cxnSp>
        <p:nvCxnSpPr>
          <p:cNvPr id="5" name="직선 연결선 4"/>
          <p:cNvCxnSpPr/>
          <p:nvPr/>
        </p:nvCxnSpPr>
        <p:spPr>
          <a:xfrm>
            <a:off x="7486816" y="3349359"/>
            <a:ext cx="0" cy="450696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/>
          <p:cNvSpPr txBox="1"/>
          <p:nvPr/>
        </p:nvSpPr>
        <p:spPr>
          <a:xfrm>
            <a:off x="3248835" y="6717769"/>
            <a:ext cx="870739" cy="207584"/>
          </a:xfrm>
          <a:prstGeom prst="rect">
            <a:avLst/>
          </a:prstGeom>
          <a:noFill/>
        </p:spPr>
        <p:txBody>
          <a:bodyPr wrap="none" lIns="68415" tIns="34208" rIns="68415" bIns="34208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경고지역 현황</a:t>
            </a:r>
          </a:p>
        </p:txBody>
      </p:sp>
      <p:sp>
        <p:nvSpPr>
          <p:cNvPr id="7" name="갈매기형 수장 6"/>
          <p:cNvSpPr/>
          <p:nvPr/>
        </p:nvSpPr>
        <p:spPr>
          <a:xfrm rot="10800000">
            <a:off x="3036714" y="7173643"/>
            <a:ext cx="112955" cy="385757"/>
          </a:xfrm>
          <a:prstGeom prst="chevron">
            <a:avLst/>
          </a:pr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갈매기형 수장 7"/>
          <p:cNvSpPr/>
          <p:nvPr/>
        </p:nvSpPr>
        <p:spPr>
          <a:xfrm>
            <a:off x="7256522" y="7173643"/>
            <a:ext cx="112955" cy="385757"/>
          </a:xfrm>
          <a:prstGeom prst="chevron">
            <a:avLst/>
          </a:pr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980148" y="6716560"/>
            <a:ext cx="986155" cy="207584"/>
          </a:xfrm>
          <a:prstGeom prst="rect">
            <a:avLst/>
          </a:prstGeom>
          <a:noFill/>
        </p:spPr>
        <p:txBody>
          <a:bodyPr wrap="none" lIns="68415" tIns="34208" rIns="68415" bIns="34208" rtlCol="0">
            <a:spAutoFit/>
          </a:bodyPr>
          <a:lstStyle/>
          <a:p>
            <a:pPr algn="ct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작업자 위험상황</a:t>
            </a:r>
          </a:p>
        </p:txBody>
      </p:sp>
      <p:pic>
        <p:nvPicPr>
          <p:cNvPr id="10" name="Picture 9" descr="C:\Users\Park\Desktop\대우건설 패드\psd\img_1019\home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5" t="68644" r="43805" b="17525"/>
          <a:stretch/>
        </p:blipFill>
        <p:spPr bwMode="auto">
          <a:xfrm>
            <a:off x="2037909" y="7003418"/>
            <a:ext cx="870632" cy="726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직사각형 10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98354" y="2634287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15016" y="2634287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4290106" y="7104706"/>
            <a:ext cx="870688" cy="761470"/>
            <a:chOff x="4869210" y="7536904"/>
            <a:chExt cx="867098" cy="758331"/>
          </a:xfrm>
        </p:grpSpPr>
        <p:pic>
          <p:nvPicPr>
            <p:cNvPr id="16" name="그림 1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69210" y="7536904"/>
              <a:ext cx="867098" cy="572829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17" name="TextBox 16"/>
            <p:cNvSpPr txBox="1"/>
            <p:nvPr/>
          </p:nvSpPr>
          <p:spPr>
            <a:xfrm>
              <a:off x="4869210" y="8118429"/>
              <a:ext cx="867098" cy="176806"/>
            </a:xfrm>
            <a:prstGeom prst="rect">
              <a:avLst/>
            </a:prstGeom>
            <a:noFill/>
          </p:spPr>
          <p:txBody>
            <a:bodyPr wrap="square" lIns="68415" tIns="34208" rIns="68415" bIns="34208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A1-A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5292291" y="7104706"/>
            <a:ext cx="870688" cy="760533"/>
            <a:chOff x="5832546" y="7536904"/>
            <a:chExt cx="867098" cy="757397"/>
          </a:xfrm>
        </p:grpSpPr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32546" y="7536904"/>
              <a:ext cx="867098" cy="572829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20" name="TextBox 19"/>
            <p:cNvSpPr txBox="1"/>
            <p:nvPr/>
          </p:nvSpPr>
          <p:spPr>
            <a:xfrm>
              <a:off x="5832546" y="8118429"/>
              <a:ext cx="867098" cy="175872"/>
            </a:xfrm>
            <a:prstGeom prst="rect">
              <a:avLst/>
            </a:prstGeom>
            <a:noFill/>
          </p:spPr>
          <p:txBody>
            <a:bodyPr wrap="square" lIns="68415" tIns="34208" rIns="68415" bIns="34208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A1-B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287921" y="7104706"/>
            <a:ext cx="870688" cy="761470"/>
            <a:chOff x="3935287" y="7536904"/>
            <a:chExt cx="867098" cy="758331"/>
          </a:xfrm>
        </p:grpSpPr>
        <p:pic>
          <p:nvPicPr>
            <p:cNvPr id="22" name="그림 2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35287" y="7536904"/>
              <a:ext cx="867098" cy="572829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23" name="TextBox 22"/>
            <p:cNvSpPr txBox="1"/>
            <p:nvPr/>
          </p:nvSpPr>
          <p:spPr>
            <a:xfrm>
              <a:off x="3935287" y="8118429"/>
              <a:ext cx="867098" cy="176806"/>
            </a:xfrm>
            <a:prstGeom prst="rect">
              <a:avLst/>
            </a:prstGeom>
            <a:noFill/>
          </p:spPr>
          <p:txBody>
            <a:bodyPr wrap="square" lIns="68415" tIns="34208" rIns="68415" bIns="34208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A1-A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sp>
        <p:nvSpPr>
          <p:cNvPr id="24" name="모서리가 둥근 직사각형 23"/>
          <p:cNvSpPr/>
          <p:nvPr/>
        </p:nvSpPr>
        <p:spPr>
          <a:xfrm>
            <a:off x="7576175" y="3438414"/>
            <a:ext cx="2461005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167168" y="3465723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j-lt"/>
                <a:ea typeface="맑은 고딕" panose="020B0503020000020004" pitchFamily="50" charset="-127"/>
              </a:rPr>
              <a:t>침범발생 발생</a:t>
            </a:r>
            <a:endParaRPr lang="en-US" altLang="ko-KR" sz="900" b="1" dirty="0">
              <a:latin typeface="+mj-lt"/>
              <a:ea typeface="맑은 고딕" panose="020B0503020000020004" pitchFamily="50" charset="-127"/>
            </a:endParaRPr>
          </a:p>
          <a:p>
            <a:r>
              <a:rPr lang="ko-KR" altLang="en-US" sz="900" b="1" dirty="0">
                <a:latin typeface="+mj-lt"/>
                <a:ea typeface="맑은 고딕" panose="020B0503020000020004" pitchFamily="50" charset="-127"/>
              </a:rPr>
              <a:t>홍길동 일반출입자</a:t>
            </a:r>
            <a:endParaRPr lang="ko-KR" altLang="en-US" sz="5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9339179" y="3517809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9505894" y="385176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8167168" y="3851766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[</a:t>
            </a:r>
            <a:r>
              <a:rPr lang="ko-KR" altLang="en-US" sz="700">
                <a:latin typeface="+mj-lt"/>
                <a:ea typeface="맑은 고딕" panose="020B0503020000020004" pitchFamily="50" charset="-127"/>
              </a:rPr>
              <a:t>제 </a:t>
            </a:r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1</a:t>
            </a:r>
            <a:r>
              <a:rPr lang="ko-KR" altLang="en-US" sz="700">
                <a:latin typeface="+mj-lt"/>
                <a:ea typeface="맑은 고딕" panose="020B0503020000020004" pitchFamily="50" charset="-127"/>
              </a:rPr>
              <a:t>공장</a:t>
            </a:r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] 1</a:t>
            </a:r>
            <a:r>
              <a:rPr lang="ko-KR" altLang="en-US" sz="700">
                <a:latin typeface="+mj-lt"/>
                <a:ea typeface="맑은 고딕" panose="020B0503020000020004" pitchFamily="50" charset="-127"/>
              </a:rPr>
              <a:t>층 </a:t>
            </a:r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A-1 </a:t>
            </a:r>
            <a:r>
              <a:rPr lang="ko-KR" altLang="en-US" sz="700">
                <a:latin typeface="+mj-lt"/>
                <a:ea typeface="맑은 고딕" panose="020B0503020000020004" pitchFamily="50" charset="-127"/>
              </a:rPr>
              <a:t>구역</a:t>
            </a:r>
          </a:p>
        </p:txBody>
      </p:sp>
      <p:sp>
        <p:nvSpPr>
          <p:cNvPr id="29" name="자유형 28"/>
          <p:cNvSpPr/>
          <p:nvPr/>
        </p:nvSpPr>
        <p:spPr>
          <a:xfrm>
            <a:off x="7576175" y="343841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j-lt"/>
            </a:endParaRPr>
          </a:p>
        </p:txBody>
      </p:sp>
      <p:pic>
        <p:nvPicPr>
          <p:cNvPr id="30" name="그림 2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27287" y="3622246"/>
            <a:ext cx="315882" cy="260227"/>
          </a:xfrm>
          <a:prstGeom prst="rect">
            <a:avLst/>
          </a:prstGeom>
        </p:spPr>
      </p:pic>
      <p:sp>
        <p:nvSpPr>
          <p:cNvPr id="31" name="모서리가 둥근 직사각형 30"/>
          <p:cNvSpPr/>
          <p:nvPr/>
        </p:nvSpPr>
        <p:spPr>
          <a:xfrm>
            <a:off x="7576175" y="4173134"/>
            <a:ext cx="2461005" cy="646022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167168" y="4200443"/>
            <a:ext cx="10198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>
                <a:latin typeface="+mj-lt"/>
              </a:rPr>
              <a:t>산소농도 </a:t>
            </a:r>
            <a:r>
              <a:rPr lang="en-US" altLang="ko-KR" sz="900" b="1" dirty="0">
                <a:latin typeface="+mj-lt"/>
              </a:rPr>
              <a:t>11.7%</a:t>
            </a:r>
          </a:p>
          <a:p>
            <a:r>
              <a:rPr lang="ko-KR" altLang="en-US" sz="900" b="1" dirty="0">
                <a:latin typeface="+mj-lt"/>
              </a:rPr>
              <a:t>위험</a:t>
            </a:r>
            <a:r>
              <a:rPr lang="en-US" altLang="ko-KR" sz="900" b="1" dirty="0">
                <a:latin typeface="+mj-lt"/>
              </a:rPr>
              <a:t>. </a:t>
            </a:r>
            <a:r>
              <a:rPr lang="ko-KR" altLang="en-US" sz="900" b="1">
                <a:latin typeface="+mj-lt"/>
              </a:rPr>
              <a:t>작업중단</a:t>
            </a:r>
            <a:r>
              <a:rPr lang="en-US" altLang="ko-KR" sz="900" b="1" dirty="0">
                <a:latin typeface="+mj-lt"/>
              </a:rPr>
              <a:t>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339179" y="4252530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9505894" y="4586487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167168" y="4586487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[</a:t>
            </a:r>
            <a:r>
              <a:rPr lang="ko-KR" altLang="en-US" sz="700"/>
              <a:t>제 </a:t>
            </a:r>
            <a:r>
              <a:rPr lang="en-US" altLang="ko-KR" sz="700" dirty="0"/>
              <a:t>1</a:t>
            </a:r>
            <a:r>
              <a:rPr lang="ko-KR" altLang="en-US" sz="700"/>
              <a:t>공장</a:t>
            </a:r>
            <a:r>
              <a:rPr lang="en-US" altLang="ko-KR" sz="700" dirty="0"/>
              <a:t>] 1</a:t>
            </a:r>
            <a:r>
              <a:rPr lang="ko-KR" altLang="en-US" sz="700"/>
              <a:t>층 </a:t>
            </a:r>
            <a:r>
              <a:rPr lang="en-US" altLang="ko-KR" sz="700" dirty="0"/>
              <a:t>A-1 </a:t>
            </a:r>
            <a:r>
              <a:rPr lang="ko-KR" altLang="en-US" sz="700"/>
              <a:t>구역</a:t>
            </a:r>
          </a:p>
        </p:txBody>
      </p:sp>
      <p:sp>
        <p:nvSpPr>
          <p:cNvPr id="36" name="자유형 35"/>
          <p:cNvSpPr/>
          <p:nvPr/>
        </p:nvSpPr>
        <p:spPr>
          <a:xfrm>
            <a:off x="7576175" y="417313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7576175" y="4897474"/>
            <a:ext cx="2461005" cy="646022"/>
          </a:xfrm>
          <a:prstGeom prst="roundRect">
            <a:avLst>
              <a:gd name="adj" fmla="val 9429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8167168" y="4924783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solidFill>
                  <a:schemeClr val="bg1"/>
                </a:solidFill>
                <a:latin typeface="+mj-lt"/>
              </a:rPr>
              <a:t>심박수 낮음</a:t>
            </a:r>
          </a:p>
          <a:p>
            <a:r>
              <a:rPr lang="ko-KR" altLang="en-US" sz="900" b="1" dirty="0">
                <a:solidFill>
                  <a:schemeClr val="bg1"/>
                </a:solidFill>
                <a:latin typeface="+mj-lt"/>
              </a:rPr>
              <a:t>홍길동 특수작업자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39179" y="4976870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9505894" y="5310827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조치전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167168" y="5310827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/>
                </a:solidFill>
                <a:latin typeface="+mj-lt"/>
              </a:rPr>
              <a:t>[</a:t>
            </a:r>
            <a:r>
              <a:rPr lang="ko-KR" altLang="en-US" sz="700">
                <a:solidFill>
                  <a:schemeClr val="bg1"/>
                </a:solidFill>
                <a:latin typeface="+mj-lt"/>
              </a:rPr>
              <a:t>제 </a:t>
            </a:r>
            <a:r>
              <a:rPr lang="en-US" altLang="ko-KR" sz="700" dirty="0">
                <a:solidFill>
                  <a:schemeClr val="bg1"/>
                </a:solidFill>
                <a:latin typeface="+mj-lt"/>
              </a:rPr>
              <a:t>1</a:t>
            </a:r>
            <a:r>
              <a:rPr lang="ko-KR" altLang="en-US" sz="700">
                <a:solidFill>
                  <a:schemeClr val="bg1"/>
                </a:solidFill>
                <a:latin typeface="+mj-lt"/>
              </a:rPr>
              <a:t>공장</a:t>
            </a:r>
            <a:r>
              <a:rPr lang="en-US" altLang="ko-KR" sz="700" dirty="0">
                <a:solidFill>
                  <a:schemeClr val="bg1"/>
                </a:solidFill>
                <a:latin typeface="+mj-lt"/>
              </a:rPr>
              <a:t>] 1</a:t>
            </a:r>
            <a:r>
              <a:rPr lang="ko-KR" altLang="en-US" sz="700">
                <a:solidFill>
                  <a:schemeClr val="bg1"/>
                </a:solidFill>
                <a:latin typeface="+mj-lt"/>
              </a:rPr>
              <a:t>층 </a:t>
            </a:r>
            <a:r>
              <a:rPr lang="en-US" altLang="ko-KR" sz="700" dirty="0">
                <a:solidFill>
                  <a:schemeClr val="bg1"/>
                </a:solidFill>
                <a:latin typeface="+mj-lt"/>
              </a:rPr>
              <a:t>A-1 </a:t>
            </a:r>
            <a:r>
              <a:rPr lang="ko-KR" altLang="en-US" sz="700">
                <a:solidFill>
                  <a:schemeClr val="bg1"/>
                </a:solidFill>
                <a:latin typeface="+mj-lt"/>
              </a:rPr>
              <a:t>구역</a:t>
            </a:r>
          </a:p>
        </p:txBody>
      </p:sp>
      <p:sp>
        <p:nvSpPr>
          <p:cNvPr id="42" name="자유형 41"/>
          <p:cNvSpPr/>
          <p:nvPr/>
        </p:nvSpPr>
        <p:spPr>
          <a:xfrm>
            <a:off x="7576175" y="4897474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43" name="그룹 42"/>
          <p:cNvGrpSpPr/>
          <p:nvPr/>
        </p:nvGrpSpPr>
        <p:grpSpPr>
          <a:xfrm>
            <a:off x="7576175" y="5813845"/>
            <a:ext cx="2461005" cy="646022"/>
            <a:chOff x="7136751" y="5604970"/>
            <a:chExt cx="2932457" cy="769780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136751" y="56049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7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840960" y="5637511"/>
              <a:ext cx="1368006" cy="4400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900" b="1" dirty="0"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900" b="1" dirty="0"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500" b="1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317716" y="5699575"/>
              <a:ext cx="659363" cy="3300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2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9357829" y="6097508"/>
              <a:ext cx="619251" cy="22004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600" dirty="0">
                  <a:latin typeface="+mj-lt"/>
                  <a:ea typeface="맑은 고딕" panose="020B0503020000020004" pitchFamily="50" charset="-127"/>
                </a:rPr>
                <a:t>조치 완료</a:t>
              </a:r>
              <a:endParaRPr lang="ko-KR" altLang="en-US" sz="2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7840960" y="6097508"/>
              <a:ext cx="1371826" cy="2383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/>
                <a:t>[</a:t>
              </a:r>
              <a:r>
                <a:rPr lang="ko-KR" altLang="en-US" sz="700"/>
                <a:t>제 </a:t>
              </a:r>
              <a:r>
                <a:rPr lang="en-US" altLang="ko-KR" sz="700" dirty="0"/>
                <a:t>1</a:t>
              </a:r>
              <a:r>
                <a:rPr lang="ko-KR" altLang="en-US" sz="700"/>
                <a:t>공장</a:t>
              </a:r>
              <a:r>
                <a:rPr lang="en-US" altLang="ko-KR" sz="700" dirty="0"/>
                <a:t>] 1</a:t>
              </a:r>
              <a:r>
                <a:rPr lang="ko-KR" altLang="en-US" sz="700"/>
                <a:t>층 </a:t>
              </a:r>
              <a:r>
                <a:rPr lang="en-US" altLang="ko-KR" sz="700" dirty="0"/>
                <a:t>A-1 </a:t>
              </a:r>
              <a:r>
                <a:rPr lang="ko-KR" altLang="en-US" sz="700"/>
                <a:t>구역</a:t>
              </a:r>
            </a:p>
          </p:txBody>
        </p:sp>
        <p:sp>
          <p:nvSpPr>
            <p:cNvPr id="49" name="자유형 48"/>
            <p:cNvSpPr/>
            <p:nvPr/>
          </p:nvSpPr>
          <p:spPr>
            <a:xfrm>
              <a:off x="7136751" y="56049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700" b="1" dirty="0" err="1">
                <a:solidFill>
                  <a:schemeClr val="tx1"/>
                </a:solidFill>
                <a:latin typeface="+mj-lt"/>
              </a:endParaRPr>
            </a:p>
          </p:txBody>
        </p:sp>
        <p:pic>
          <p:nvPicPr>
            <p:cNvPr id="50" name="그림 4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5824018"/>
              <a:ext cx="376395" cy="310078"/>
            </a:xfrm>
            <a:prstGeom prst="rect">
              <a:avLst/>
            </a:prstGeom>
          </p:spPr>
        </p:pic>
      </p:grpSp>
      <p:grpSp>
        <p:nvGrpSpPr>
          <p:cNvPr id="51" name="그룹 50"/>
          <p:cNvGrpSpPr/>
          <p:nvPr/>
        </p:nvGrpSpPr>
        <p:grpSpPr>
          <a:xfrm>
            <a:off x="7576175" y="5574179"/>
            <a:ext cx="2460187" cy="215444"/>
            <a:chOff x="7136751" y="5319391"/>
            <a:chExt cx="2931482" cy="256716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/>
            <p:cNvSpPr txBox="1"/>
            <p:nvPr/>
          </p:nvSpPr>
          <p:spPr>
            <a:xfrm>
              <a:off x="8078158" y="5319391"/>
              <a:ext cx="1219019" cy="25671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800" dirty="0"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800" dirty="0"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54" name="그림 5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0773" y="4341586"/>
            <a:ext cx="368909" cy="303911"/>
          </a:xfrm>
          <a:prstGeom prst="rect">
            <a:avLst/>
          </a:prstGeom>
        </p:spPr>
      </p:pic>
      <p:pic>
        <p:nvPicPr>
          <p:cNvPr id="55" name="그림 5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57740" y="5050668"/>
            <a:ext cx="447429" cy="368596"/>
          </a:xfrm>
          <a:prstGeom prst="rect">
            <a:avLst/>
          </a:prstGeom>
        </p:spPr>
      </p:pic>
      <p:sp>
        <p:nvSpPr>
          <p:cNvPr id="56" name="모서리가 둥근 직사각형 55"/>
          <p:cNvSpPr/>
          <p:nvPr/>
        </p:nvSpPr>
        <p:spPr>
          <a:xfrm>
            <a:off x="7576175" y="6528713"/>
            <a:ext cx="2461005" cy="646022"/>
          </a:xfrm>
          <a:prstGeom prst="roundRect">
            <a:avLst>
              <a:gd name="adj" fmla="val 9429"/>
            </a:avLst>
          </a:prstGeom>
          <a:solidFill>
            <a:schemeClr val="bg1">
              <a:lumMod val="8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8167168" y="6556021"/>
            <a:ext cx="1148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b="1" dirty="0">
                <a:latin typeface="+mj-lt"/>
                <a:ea typeface="맑은 고딕" panose="020B0503020000020004" pitchFamily="50" charset="-127"/>
              </a:rPr>
              <a:t>경고구역 등록</a:t>
            </a:r>
            <a:endParaRPr lang="en-US" altLang="ko-KR" sz="900" b="1" dirty="0">
              <a:latin typeface="+mj-lt"/>
              <a:ea typeface="맑은 고딕" panose="020B0503020000020004" pitchFamily="50" charset="-127"/>
            </a:endParaRPr>
          </a:p>
          <a:p>
            <a:r>
              <a:rPr lang="ko-KR" altLang="en-US" sz="900" b="1" dirty="0">
                <a:latin typeface="+mj-lt"/>
                <a:ea typeface="맑은 고딕" panose="020B0503020000020004" pitchFamily="50" charset="-127"/>
              </a:rPr>
              <a:t>홍길동 일반출입자</a:t>
            </a:r>
            <a:endParaRPr lang="ko-KR" altLang="en-US" sz="5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9339179" y="6608108"/>
            <a:ext cx="6206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7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9384065" y="6942065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167168" y="6942065"/>
            <a:ext cx="115127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[</a:t>
            </a:r>
            <a:r>
              <a:rPr lang="ko-KR" altLang="en-US" sz="700"/>
              <a:t>제 </a:t>
            </a:r>
            <a:r>
              <a:rPr lang="en-US" altLang="ko-KR" sz="700" dirty="0"/>
              <a:t>1</a:t>
            </a:r>
            <a:r>
              <a:rPr lang="ko-KR" altLang="en-US" sz="700"/>
              <a:t>공장</a:t>
            </a:r>
            <a:r>
              <a:rPr lang="en-US" altLang="ko-KR" sz="700" dirty="0"/>
              <a:t>] 1</a:t>
            </a:r>
            <a:r>
              <a:rPr lang="ko-KR" altLang="en-US" sz="700"/>
              <a:t>층 </a:t>
            </a:r>
            <a:r>
              <a:rPr lang="en-US" altLang="ko-KR" sz="700" dirty="0"/>
              <a:t>A-1 </a:t>
            </a:r>
            <a:r>
              <a:rPr lang="ko-KR" altLang="en-US" sz="700"/>
              <a:t>구역</a:t>
            </a:r>
          </a:p>
        </p:txBody>
      </p:sp>
      <p:sp>
        <p:nvSpPr>
          <p:cNvPr id="61" name="자유형 60"/>
          <p:cNvSpPr/>
          <p:nvPr/>
        </p:nvSpPr>
        <p:spPr>
          <a:xfrm>
            <a:off x="7576175" y="6528713"/>
            <a:ext cx="540530" cy="646022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 dirty="0" err="1">
              <a:solidFill>
                <a:schemeClr val="tx1"/>
              </a:solidFill>
              <a:latin typeface="+mj-lt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7576175" y="7258303"/>
            <a:ext cx="2461005" cy="646022"/>
            <a:chOff x="7136751" y="5604970"/>
            <a:chExt cx="2932457" cy="769780"/>
          </a:xfrm>
        </p:grpSpPr>
        <p:sp>
          <p:nvSpPr>
            <p:cNvPr id="63" name="모서리가 둥근 직사각형 62"/>
            <p:cNvSpPr/>
            <p:nvPr/>
          </p:nvSpPr>
          <p:spPr>
            <a:xfrm>
              <a:off x="7136751" y="56049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7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7840960" y="5637511"/>
              <a:ext cx="1368006" cy="4400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b="1" dirty="0"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900" b="1" dirty="0"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900" b="1" dirty="0"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500" b="1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9317716" y="5699575"/>
              <a:ext cx="659363" cy="3300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2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9357829" y="6097508"/>
              <a:ext cx="619251" cy="22004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600" dirty="0">
                  <a:latin typeface="+mj-lt"/>
                  <a:ea typeface="맑은 고딕" panose="020B0503020000020004" pitchFamily="50" charset="-127"/>
                </a:rPr>
                <a:t>조치 완료</a:t>
              </a:r>
              <a:endParaRPr lang="ko-KR" altLang="en-US" sz="2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7840960" y="6097508"/>
              <a:ext cx="1371826" cy="2383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/>
                <a:t>[</a:t>
              </a:r>
              <a:r>
                <a:rPr lang="ko-KR" altLang="en-US" sz="700"/>
                <a:t>제 </a:t>
              </a:r>
              <a:r>
                <a:rPr lang="en-US" altLang="ko-KR" sz="700" dirty="0"/>
                <a:t>1</a:t>
              </a:r>
              <a:r>
                <a:rPr lang="ko-KR" altLang="en-US" sz="700"/>
                <a:t>공장</a:t>
              </a:r>
              <a:r>
                <a:rPr lang="en-US" altLang="ko-KR" sz="700" dirty="0"/>
                <a:t>] 1</a:t>
              </a:r>
              <a:r>
                <a:rPr lang="ko-KR" altLang="en-US" sz="700"/>
                <a:t>층 </a:t>
              </a:r>
              <a:r>
                <a:rPr lang="en-US" altLang="ko-KR" sz="700" dirty="0"/>
                <a:t>A-1 </a:t>
              </a:r>
              <a:r>
                <a:rPr lang="ko-KR" altLang="en-US" sz="700"/>
                <a:t>구역</a:t>
              </a:r>
            </a:p>
          </p:txBody>
        </p:sp>
        <p:sp>
          <p:nvSpPr>
            <p:cNvPr id="68" name="자유형 67"/>
            <p:cNvSpPr/>
            <p:nvPr/>
          </p:nvSpPr>
          <p:spPr>
            <a:xfrm>
              <a:off x="7136751" y="56049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700" b="1" dirty="0" err="1">
                <a:solidFill>
                  <a:schemeClr val="tx1"/>
                </a:solidFill>
                <a:latin typeface="+mj-lt"/>
              </a:endParaRPr>
            </a:p>
          </p:txBody>
        </p:sp>
        <p:pic>
          <p:nvPicPr>
            <p:cNvPr id="69" name="그림 6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5824018"/>
              <a:ext cx="376395" cy="310078"/>
            </a:xfrm>
            <a:prstGeom prst="rect">
              <a:avLst/>
            </a:prstGeom>
          </p:spPr>
        </p:pic>
      </p:grpSp>
      <p:pic>
        <p:nvPicPr>
          <p:cNvPr id="70" name="그림 6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57740" y="6646003"/>
            <a:ext cx="411440" cy="411440"/>
          </a:xfrm>
          <a:prstGeom prst="rect">
            <a:avLst/>
          </a:prstGeom>
        </p:spPr>
      </p:pic>
      <p:cxnSp>
        <p:nvCxnSpPr>
          <p:cNvPr id="71" name="직선 연결선 70"/>
          <p:cNvCxnSpPr/>
          <p:nvPr/>
        </p:nvCxnSpPr>
        <p:spPr>
          <a:xfrm>
            <a:off x="7349368" y="3432448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pic>
        <p:nvPicPr>
          <p:cNvPr id="72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2003873" y="6417537"/>
            <a:ext cx="5391675" cy="1411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0" name="그룹 79"/>
          <p:cNvGrpSpPr/>
          <p:nvPr/>
        </p:nvGrpSpPr>
        <p:grpSpPr>
          <a:xfrm>
            <a:off x="6294477" y="7104706"/>
            <a:ext cx="870688" cy="760533"/>
            <a:chOff x="5832546" y="7536904"/>
            <a:chExt cx="867098" cy="757397"/>
          </a:xfrm>
        </p:grpSpPr>
        <p:pic>
          <p:nvPicPr>
            <p:cNvPr id="81" name="그림 80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32546" y="7536904"/>
              <a:ext cx="867098" cy="572829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82" name="TextBox 81"/>
            <p:cNvSpPr txBox="1"/>
            <p:nvPr/>
          </p:nvSpPr>
          <p:spPr>
            <a:xfrm>
              <a:off x="5832546" y="8118429"/>
              <a:ext cx="867098" cy="175872"/>
            </a:xfrm>
            <a:prstGeom prst="rect">
              <a:avLst/>
            </a:prstGeom>
            <a:noFill/>
          </p:spPr>
          <p:txBody>
            <a:bodyPr wrap="square" lIns="68415" tIns="34208" rIns="68415" bIns="34208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A1-B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sp>
        <p:nvSpPr>
          <p:cNvPr id="83" name="직사각형 82"/>
          <p:cNvSpPr/>
          <p:nvPr/>
        </p:nvSpPr>
        <p:spPr>
          <a:xfrm>
            <a:off x="2040040" y="4632734"/>
            <a:ext cx="1134501" cy="261249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/>
              <a:t>터치영역</a:t>
            </a:r>
          </a:p>
        </p:txBody>
      </p:sp>
      <p:sp>
        <p:nvSpPr>
          <p:cNvPr id="84" name="모서리가 둥근 사각형 설명선 83"/>
          <p:cNvSpPr/>
          <p:nvPr/>
        </p:nvSpPr>
        <p:spPr>
          <a:xfrm>
            <a:off x="2284191" y="5130758"/>
            <a:ext cx="1248699" cy="407341"/>
          </a:xfrm>
          <a:prstGeom prst="wedgeRoundRectCallout">
            <a:avLst>
              <a:gd name="adj1" fmla="val -3399"/>
              <a:gd name="adj2" fmla="val -125995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</a:p>
        </p:txBody>
      </p:sp>
      <p:sp>
        <p:nvSpPr>
          <p:cNvPr id="85" name="직사각형 84"/>
          <p:cNvSpPr/>
          <p:nvPr/>
        </p:nvSpPr>
        <p:spPr>
          <a:xfrm>
            <a:off x="3439085" y="5797306"/>
            <a:ext cx="2989893" cy="261249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/>
              <a:t>터치영역</a:t>
            </a:r>
          </a:p>
        </p:txBody>
      </p:sp>
      <p:sp>
        <p:nvSpPr>
          <p:cNvPr id="86" name="모서리가 둥근 사각형 설명선 85"/>
          <p:cNvSpPr/>
          <p:nvPr/>
        </p:nvSpPr>
        <p:spPr>
          <a:xfrm>
            <a:off x="4499913" y="5085840"/>
            <a:ext cx="1248699" cy="407341"/>
          </a:xfrm>
          <a:prstGeom prst="wedgeRoundRectCallout">
            <a:avLst>
              <a:gd name="adj1" fmla="val -70421"/>
              <a:gd name="adj2" fmla="val 144142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</a:t>
            </a:r>
          </a:p>
        </p:txBody>
      </p:sp>
      <p:sp>
        <p:nvSpPr>
          <p:cNvPr id="91" name="Search Box Rectangle"/>
          <p:cNvSpPr>
            <a:spLocks/>
          </p:cNvSpPr>
          <p:nvPr/>
        </p:nvSpPr>
        <p:spPr bwMode="auto">
          <a:xfrm>
            <a:off x="6284738" y="6716560"/>
            <a:ext cx="1071671" cy="234374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전체보기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cxnSp>
        <p:nvCxnSpPr>
          <p:cNvPr id="92" name="직선 연결선 91"/>
          <p:cNvCxnSpPr/>
          <p:nvPr/>
        </p:nvCxnSpPr>
        <p:spPr>
          <a:xfrm>
            <a:off x="10036362" y="3432448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93" name="모서리가 둥근 사각형 설명선 92"/>
          <p:cNvSpPr/>
          <p:nvPr/>
        </p:nvSpPr>
        <p:spPr>
          <a:xfrm>
            <a:off x="4482003" y="7435873"/>
            <a:ext cx="1248699" cy="407341"/>
          </a:xfrm>
          <a:prstGeom prst="wedgeRoundRectCallout">
            <a:avLst>
              <a:gd name="adj1" fmla="val -92737"/>
              <a:gd name="adj2" fmla="val -38448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011</a:t>
            </a:r>
          </a:p>
          <a:p>
            <a:pPr algn="ctr"/>
            <a:r>
              <a:rPr lang="ko-KR" altLang="en-US" sz="800" dirty="0"/>
              <a:t>경고지역</a:t>
            </a:r>
            <a:endParaRPr lang="en-US" altLang="ko-KR" sz="800" dirty="0"/>
          </a:p>
          <a:p>
            <a:pPr algn="ctr"/>
            <a:r>
              <a:rPr lang="ko-KR" altLang="en-US" sz="800" dirty="0"/>
              <a:t>상세내용 보기</a:t>
            </a:r>
          </a:p>
        </p:txBody>
      </p:sp>
      <p:sp>
        <p:nvSpPr>
          <p:cNvPr id="94" name="모서리가 둥근 사각형 설명선 93"/>
          <p:cNvSpPr/>
          <p:nvPr/>
        </p:nvSpPr>
        <p:spPr>
          <a:xfrm>
            <a:off x="4667941" y="6534057"/>
            <a:ext cx="1248699" cy="407341"/>
          </a:xfrm>
          <a:prstGeom prst="wedgeRoundRectCallout">
            <a:avLst>
              <a:gd name="adj1" fmla="val 91549"/>
              <a:gd name="adj2" fmla="val 20488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010</a:t>
            </a:r>
          </a:p>
          <a:p>
            <a:pPr algn="ctr"/>
            <a:r>
              <a:rPr lang="ko-KR" altLang="en-US" sz="800" dirty="0"/>
              <a:t>경고지역 등록현황</a:t>
            </a:r>
            <a:endParaRPr lang="en-US" altLang="ko-KR" sz="800" dirty="0"/>
          </a:p>
          <a:p>
            <a:pPr algn="ctr"/>
            <a:r>
              <a:rPr lang="ko-KR" altLang="en-US" sz="800" dirty="0"/>
              <a:t>전체보기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487468" y="3047864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75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518636" y="3685834"/>
            <a:ext cx="1224136" cy="315990"/>
            <a:chOff x="2296344" y="2444725"/>
            <a:chExt cx="1224136" cy="315990"/>
          </a:xfrm>
        </p:grpSpPr>
        <p:sp>
          <p:nvSpPr>
            <p:cNvPr id="97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98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99" name="직사각형 98"/>
          <p:cNvSpPr/>
          <p:nvPr/>
        </p:nvSpPr>
        <p:spPr>
          <a:xfrm>
            <a:off x="410705" y="4156791"/>
            <a:ext cx="1439999" cy="1835219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498354" y="4473769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101" name="직사각형 100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1315016" y="4473769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03" name="그룹 102"/>
          <p:cNvGrpSpPr/>
          <p:nvPr/>
        </p:nvGrpSpPr>
        <p:grpSpPr>
          <a:xfrm>
            <a:off x="518636" y="5525316"/>
            <a:ext cx="1224136" cy="315990"/>
            <a:chOff x="2296344" y="2444725"/>
            <a:chExt cx="1224136" cy="315990"/>
          </a:xfrm>
        </p:grpSpPr>
        <p:sp>
          <p:nvSpPr>
            <p:cNvPr id="104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05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06" name="직사각형 105"/>
          <p:cNvSpPr/>
          <p:nvPr/>
        </p:nvSpPr>
        <p:spPr>
          <a:xfrm>
            <a:off x="410705" y="5992347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498354" y="6309325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108" name="직사각형 107"/>
          <p:cNvSpPr/>
          <p:nvPr/>
        </p:nvSpPr>
        <p:spPr>
          <a:xfrm>
            <a:off x="498354" y="6071343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1315016" y="6309325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518636" y="7360872"/>
            <a:ext cx="1224136" cy="315990"/>
            <a:chOff x="2296344" y="2444725"/>
            <a:chExt cx="1224136" cy="315990"/>
          </a:xfrm>
        </p:grpSpPr>
        <p:sp>
          <p:nvSpPr>
            <p:cNvPr id="111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12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13" name="모서리가 둥근 직사각형 112"/>
          <p:cNvSpPr/>
          <p:nvPr/>
        </p:nvSpPr>
        <p:spPr>
          <a:xfrm>
            <a:off x="6080450" y="2394767"/>
            <a:ext cx="2231848" cy="441299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j-lt"/>
              </a:rPr>
              <a:t>안전점검일지 보기</a:t>
            </a: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8404240" y="2394767"/>
            <a:ext cx="1555623" cy="441299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j-lt"/>
              </a:rPr>
              <a:t>지난 안전점검일지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74386" y="2493655"/>
            <a:ext cx="3021981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800" b="1" dirty="0"/>
              <a:t>[</a:t>
            </a:r>
            <a:r>
              <a:rPr lang="ko-KR" altLang="en-US" sz="1800" b="1"/>
              <a:t>제 </a:t>
            </a:r>
            <a:r>
              <a:rPr lang="en-US" altLang="ko-KR" sz="1800" b="1" dirty="0"/>
              <a:t>00 </a:t>
            </a:r>
            <a:r>
              <a:rPr lang="ko-KR" altLang="en-US" sz="1800" b="1"/>
              <a:t>공장</a:t>
            </a:r>
            <a:r>
              <a:rPr lang="en-US" altLang="ko-KR" sz="1800" b="1" dirty="0"/>
              <a:t>] </a:t>
            </a:r>
            <a:r>
              <a:rPr lang="ko-KR" altLang="en-US" sz="1800" b="1"/>
              <a:t>일일 </a:t>
            </a:r>
            <a:r>
              <a:rPr lang="ko-KR" altLang="en-US" sz="1800" b="1" dirty="0"/>
              <a:t>안전현황</a:t>
            </a:r>
          </a:p>
        </p:txBody>
      </p:sp>
      <p:sp>
        <p:nvSpPr>
          <p:cNvPr id="118" name="모서리가 둥근 사각형 설명선 117"/>
          <p:cNvSpPr/>
          <p:nvPr/>
        </p:nvSpPr>
        <p:spPr>
          <a:xfrm>
            <a:off x="5916640" y="1604265"/>
            <a:ext cx="1248699" cy="407341"/>
          </a:xfrm>
          <a:prstGeom prst="wedgeRoundRectCallout">
            <a:avLst>
              <a:gd name="adj1" fmla="val 54265"/>
              <a:gd name="adj2" fmla="val 156276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016</a:t>
            </a:r>
          </a:p>
          <a:p>
            <a:pPr algn="ctr"/>
            <a:r>
              <a:rPr lang="ko-KR" altLang="en-US" sz="800" dirty="0"/>
              <a:t>안전점검일지</a:t>
            </a:r>
          </a:p>
        </p:txBody>
      </p:sp>
      <p:sp>
        <p:nvSpPr>
          <p:cNvPr id="120" name="모서리가 둥근 사각형 설명선 119"/>
          <p:cNvSpPr/>
          <p:nvPr/>
        </p:nvSpPr>
        <p:spPr>
          <a:xfrm>
            <a:off x="7541475" y="1604265"/>
            <a:ext cx="1248699" cy="407341"/>
          </a:xfrm>
          <a:prstGeom prst="wedgeRoundRectCallout">
            <a:avLst>
              <a:gd name="adj1" fmla="val 54265"/>
              <a:gd name="adj2" fmla="val 156276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037</a:t>
            </a:r>
          </a:p>
          <a:p>
            <a:pPr algn="ctr"/>
            <a:r>
              <a:rPr lang="ko-KR" altLang="en-US" sz="800" dirty="0"/>
              <a:t>지난 안전점검 일지</a:t>
            </a:r>
          </a:p>
        </p:txBody>
      </p:sp>
      <p:sp>
        <p:nvSpPr>
          <p:cNvPr id="116" name="직사각형 115"/>
          <p:cNvSpPr/>
          <p:nvPr/>
        </p:nvSpPr>
        <p:spPr>
          <a:xfrm>
            <a:off x="2403580" y="696973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17" name="표 1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0380765"/>
              </p:ext>
            </p:extLst>
          </p:nvPr>
        </p:nvGraphicFramePr>
        <p:xfrm>
          <a:off x="10633534" y="1272208"/>
          <a:ext cx="2088232" cy="289916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표기범위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층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메시지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양호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위험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(GUI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필요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표기범위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B/D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전체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표기수량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1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개월치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표기순서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최근순서가 첫번째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표기범위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해당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B/D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전체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표기수량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: 1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개월치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표기순서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최근순서가 첫번째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9" name="직사각형 118"/>
          <p:cNvSpPr/>
          <p:nvPr/>
        </p:nvSpPr>
        <p:spPr>
          <a:xfrm>
            <a:off x="3110890" y="67406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1" name="직사각형 120"/>
          <p:cNvSpPr/>
          <p:nvPr/>
        </p:nvSpPr>
        <p:spPr>
          <a:xfrm>
            <a:off x="7465688" y="304376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022019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/>
        </p:nvSpPr>
        <p:spPr>
          <a:xfrm>
            <a:off x="485807" y="2085665"/>
            <a:ext cx="11819649" cy="725143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208112" y="632049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003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99228" y="632805"/>
            <a:ext cx="164981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가스센서</a:t>
            </a:r>
            <a:r>
              <a:rPr lang="en-US" altLang="ko-KR" sz="900" dirty="0"/>
              <a:t> </a:t>
            </a:r>
            <a:r>
              <a:rPr lang="ko-KR" altLang="en-US" sz="900"/>
              <a:t>위치변경 프로세스</a:t>
            </a:r>
            <a:endParaRPr lang="ko-KR" altLang="en-US" sz="900" dirty="0"/>
          </a:p>
        </p:txBody>
      </p:sp>
      <p:sp>
        <p:nvSpPr>
          <p:cNvPr id="174" name="직사각형 173"/>
          <p:cNvSpPr/>
          <p:nvPr/>
        </p:nvSpPr>
        <p:spPr>
          <a:xfrm>
            <a:off x="293286" y="1201807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관제에서 위치 변경</a:t>
            </a:r>
          </a:p>
        </p:txBody>
      </p:sp>
      <p:sp>
        <p:nvSpPr>
          <p:cNvPr id="175" name="직사각형 174"/>
          <p:cNvSpPr/>
          <p:nvPr/>
        </p:nvSpPr>
        <p:spPr>
          <a:xfrm>
            <a:off x="2141491" y="1201807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반영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직사각형 175"/>
          <p:cNvSpPr/>
          <p:nvPr/>
        </p:nvSpPr>
        <p:spPr>
          <a:xfrm>
            <a:off x="3989696" y="1201807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필드매니저에서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변경위치 확인</a:t>
            </a:r>
          </a:p>
        </p:txBody>
      </p:sp>
      <p:sp>
        <p:nvSpPr>
          <p:cNvPr id="177" name="직사각형 176"/>
          <p:cNvSpPr/>
          <p:nvPr/>
        </p:nvSpPr>
        <p:spPr>
          <a:xfrm>
            <a:off x="5837902" y="1201807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가스센서 설치</a:t>
            </a:r>
          </a:p>
        </p:txBody>
      </p:sp>
      <p:cxnSp>
        <p:nvCxnSpPr>
          <p:cNvPr id="178" name="직선 화살표 연결선 177"/>
          <p:cNvCxnSpPr>
            <a:stCxn id="174" idx="3"/>
            <a:endCxn id="175" idx="1"/>
          </p:cNvCxnSpPr>
          <p:nvPr/>
        </p:nvCxnSpPr>
        <p:spPr>
          <a:xfrm>
            <a:off x="1733446" y="1465872"/>
            <a:ext cx="40804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화살표 연결선 178"/>
          <p:cNvCxnSpPr>
            <a:stCxn id="175" idx="3"/>
            <a:endCxn id="176" idx="1"/>
          </p:cNvCxnSpPr>
          <p:nvPr/>
        </p:nvCxnSpPr>
        <p:spPr>
          <a:xfrm>
            <a:off x="3581651" y="1465872"/>
            <a:ext cx="40804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화살표 연결선 179"/>
          <p:cNvCxnSpPr>
            <a:stCxn id="176" idx="3"/>
            <a:endCxn id="177" idx="1"/>
          </p:cNvCxnSpPr>
          <p:nvPr/>
        </p:nvCxnSpPr>
        <p:spPr>
          <a:xfrm>
            <a:off x="5429856" y="1465872"/>
            <a:ext cx="40804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그룹 5"/>
          <p:cNvGrpSpPr/>
          <p:nvPr/>
        </p:nvGrpSpPr>
        <p:grpSpPr>
          <a:xfrm>
            <a:off x="921533" y="2721133"/>
            <a:ext cx="4165812" cy="6352295"/>
            <a:chOff x="820205" y="2095018"/>
            <a:chExt cx="4165812" cy="6352295"/>
          </a:xfrm>
        </p:grpSpPr>
        <p:sp>
          <p:nvSpPr>
            <p:cNvPr id="182" name="직사각형 181"/>
            <p:cNvSpPr/>
            <p:nvPr/>
          </p:nvSpPr>
          <p:spPr>
            <a:xfrm>
              <a:off x="820205" y="2095018"/>
              <a:ext cx="3599394" cy="6352295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400" b="1" dirty="0" err="1">
                <a:solidFill>
                  <a:schemeClr val="tx1"/>
                </a:solidFill>
              </a:endParaRPr>
            </a:p>
          </p:txBody>
        </p:sp>
        <p:grpSp>
          <p:nvGrpSpPr>
            <p:cNvPr id="183" name="그룹 182"/>
            <p:cNvGrpSpPr/>
            <p:nvPr/>
          </p:nvGrpSpPr>
          <p:grpSpPr>
            <a:xfrm>
              <a:off x="1546115" y="3911480"/>
              <a:ext cx="2147571" cy="457666"/>
              <a:chOff x="1546115" y="4436431"/>
              <a:chExt cx="2147571" cy="457666"/>
            </a:xfrm>
          </p:grpSpPr>
          <p:grpSp>
            <p:nvGrpSpPr>
              <p:cNvPr id="184" name="그룹 183"/>
              <p:cNvGrpSpPr/>
              <p:nvPr/>
            </p:nvGrpSpPr>
            <p:grpSpPr>
              <a:xfrm>
                <a:off x="1546115" y="4436431"/>
                <a:ext cx="457666" cy="457666"/>
                <a:chOff x="7822129" y="3958960"/>
                <a:chExt cx="457666" cy="457666"/>
              </a:xfrm>
            </p:grpSpPr>
            <p:sp>
              <p:nvSpPr>
                <p:cNvPr id="188" name="타원 187"/>
                <p:cNvSpPr/>
                <p:nvPr/>
              </p:nvSpPr>
              <p:spPr>
                <a:xfrm>
                  <a:off x="7822129" y="3958960"/>
                  <a:ext cx="457666" cy="457666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100" b="1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pic>
              <p:nvPicPr>
                <p:cNvPr id="189" name="Picture 16" descr="http://icons.iconarchive.com/icons/icons8/windows-8/512/Industry-Gas-Mask-icon.png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09506" y="4046337"/>
                  <a:ext cx="282913" cy="28291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grpSp>
            <p:nvGrpSpPr>
              <p:cNvPr id="185" name="그룹 184"/>
              <p:cNvGrpSpPr/>
              <p:nvPr/>
            </p:nvGrpSpPr>
            <p:grpSpPr>
              <a:xfrm>
                <a:off x="3236020" y="4436431"/>
                <a:ext cx="457666" cy="457666"/>
                <a:chOff x="7822129" y="3958960"/>
                <a:chExt cx="457666" cy="457666"/>
              </a:xfrm>
            </p:grpSpPr>
            <p:sp>
              <p:nvSpPr>
                <p:cNvPr id="186" name="타원 185"/>
                <p:cNvSpPr/>
                <p:nvPr/>
              </p:nvSpPr>
              <p:spPr>
                <a:xfrm>
                  <a:off x="7822129" y="3958960"/>
                  <a:ext cx="457666" cy="457666"/>
                </a:xfrm>
                <a:prstGeom prst="ellipse">
                  <a:avLst/>
                </a:prstGeom>
                <a:solidFill>
                  <a:schemeClr val="bg1"/>
                </a:solidFill>
                <a:ln w="38100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/>
                  <a:endParaRPr lang="ko-KR" altLang="en-US" sz="1100" b="1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pic>
              <p:nvPicPr>
                <p:cNvPr id="187" name="Picture 16" descr="http://icons.iconarchive.com/icons/icons8/windows-8/512/Industry-Gas-Mask-icon.png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09506" y="4046337"/>
                  <a:ext cx="282913" cy="28291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90" name="그룹 189"/>
            <p:cNvGrpSpPr/>
            <p:nvPr/>
          </p:nvGrpSpPr>
          <p:grpSpPr>
            <a:xfrm>
              <a:off x="1546115" y="5092403"/>
              <a:ext cx="457666" cy="457666"/>
              <a:chOff x="7822129" y="3958960"/>
              <a:chExt cx="457666" cy="457666"/>
            </a:xfrm>
          </p:grpSpPr>
          <p:sp>
            <p:nvSpPr>
              <p:cNvPr id="191" name="타원 190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192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3" name="그룹 192"/>
            <p:cNvGrpSpPr/>
            <p:nvPr/>
          </p:nvGrpSpPr>
          <p:grpSpPr>
            <a:xfrm>
              <a:off x="3236020" y="6273326"/>
              <a:ext cx="457666" cy="457666"/>
              <a:chOff x="7822129" y="3958960"/>
              <a:chExt cx="457666" cy="457666"/>
            </a:xfrm>
          </p:grpSpPr>
          <p:sp>
            <p:nvSpPr>
              <p:cNvPr id="194" name="타원 193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195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6" name="그룹 195"/>
            <p:cNvGrpSpPr/>
            <p:nvPr/>
          </p:nvGrpSpPr>
          <p:grpSpPr>
            <a:xfrm>
              <a:off x="2391069" y="2730557"/>
              <a:ext cx="457666" cy="457666"/>
              <a:chOff x="6621955" y="3922225"/>
              <a:chExt cx="457666" cy="457666"/>
            </a:xfrm>
          </p:grpSpPr>
          <p:sp>
            <p:nvSpPr>
              <p:cNvPr id="197" name="타원 196"/>
              <p:cNvSpPr/>
              <p:nvPr/>
            </p:nvSpPr>
            <p:spPr>
              <a:xfrm>
                <a:off x="6621955" y="3922225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198" name="Picture 14" descr="http://www.clker.com/cliparts/f/f/e/4/12065572121317625675no_hope_Wireless_access_point.svg.hi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-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31031" y="4030609"/>
                <a:ext cx="239513" cy="2581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99" name="그룹 198"/>
            <p:cNvGrpSpPr/>
            <p:nvPr/>
          </p:nvGrpSpPr>
          <p:grpSpPr>
            <a:xfrm>
              <a:off x="1546115" y="7454248"/>
              <a:ext cx="457666" cy="457666"/>
              <a:chOff x="7822129" y="3958960"/>
              <a:chExt cx="457666" cy="457666"/>
            </a:xfrm>
          </p:grpSpPr>
          <p:sp>
            <p:nvSpPr>
              <p:cNvPr id="200" name="타원 199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01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02" name="그룹 201"/>
            <p:cNvGrpSpPr/>
            <p:nvPr/>
          </p:nvGrpSpPr>
          <p:grpSpPr>
            <a:xfrm>
              <a:off x="3236020" y="7454248"/>
              <a:ext cx="457666" cy="457666"/>
              <a:chOff x="7822129" y="3958960"/>
              <a:chExt cx="457666" cy="457666"/>
            </a:xfrm>
          </p:grpSpPr>
          <p:sp>
            <p:nvSpPr>
              <p:cNvPr id="203" name="타원 202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04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05" name="TextBox 204"/>
            <p:cNvSpPr txBox="1"/>
            <p:nvPr/>
          </p:nvSpPr>
          <p:spPr>
            <a:xfrm>
              <a:off x="1404482" y="4369146"/>
              <a:ext cx="73770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LGA-01-001</a:t>
              </a:r>
              <a:endPara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1404482" y="5579366"/>
              <a:ext cx="73770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LGA-01-001</a:t>
              </a:r>
              <a:endPara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096002" y="6783247"/>
              <a:ext cx="73770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LGA-01-001</a:t>
              </a:r>
              <a:endPara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1404482" y="7964169"/>
              <a:ext cx="73770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LGA-01-001</a:t>
              </a:r>
              <a:endPara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>
              <a:off x="3236020" y="3850855"/>
              <a:ext cx="1749997" cy="2040307"/>
              <a:chOff x="3445721" y="1594143"/>
              <a:chExt cx="1749997" cy="2040307"/>
            </a:xfrm>
          </p:grpSpPr>
          <p:sp>
            <p:nvSpPr>
              <p:cNvPr id="210" name="타원 209"/>
              <p:cNvSpPr/>
              <p:nvPr/>
            </p:nvSpPr>
            <p:spPr>
              <a:xfrm>
                <a:off x="3445721" y="1594143"/>
                <a:ext cx="570694" cy="570694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11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54677" y="1703099"/>
                <a:ext cx="352783" cy="35278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12" name="Picture 4" descr="http://static-cdn.pixelmator.com/ios/user-guide/gestures/tap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39837"/>
              <a:stretch/>
            </p:blipFill>
            <p:spPr bwMode="auto">
              <a:xfrm>
                <a:off x="3742254" y="1814491"/>
                <a:ext cx="1453464" cy="181995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13" name="그룹 212"/>
            <p:cNvGrpSpPr/>
            <p:nvPr/>
          </p:nvGrpSpPr>
          <p:grpSpPr>
            <a:xfrm>
              <a:off x="2563766" y="4944060"/>
              <a:ext cx="1749997" cy="2040307"/>
              <a:chOff x="3445721" y="1594143"/>
              <a:chExt cx="1749997" cy="2040307"/>
            </a:xfrm>
          </p:grpSpPr>
          <p:sp>
            <p:nvSpPr>
              <p:cNvPr id="214" name="타원 213"/>
              <p:cNvSpPr/>
              <p:nvPr/>
            </p:nvSpPr>
            <p:spPr>
              <a:xfrm>
                <a:off x="3445721" y="1594143"/>
                <a:ext cx="570694" cy="570694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15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54677" y="1703099"/>
                <a:ext cx="352783" cy="35278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16" name="Picture 4" descr="http://static-cdn.pixelmator.com/ios/user-guide/gestures/tap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39837"/>
              <a:stretch/>
            </p:blipFill>
            <p:spPr bwMode="auto">
              <a:xfrm>
                <a:off x="3742254" y="1814491"/>
                <a:ext cx="1453464" cy="181995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217" name="직선 화살표 연결선 216"/>
            <p:cNvCxnSpPr>
              <a:stCxn id="210" idx="3"/>
              <a:endCxn id="214" idx="0"/>
            </p:cNvCxnSpPr>
            <p:nvPr/>
          </p:nvCxnSpPr>
          <p:spPr>
            <a:xfrm flipH="1">
              <a:off x="2849113" y="4337973"/>
              <a:ext cx="470483" cy="606087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8" name="그룹 217"/>
            <p:cNvGrpSpPr/>
            <p:nvPr/>
          </p:nvGrpSpPr>
          <p:grpSpPr>
            <a:xfrm>
              <a:off x="1544500" y="6273326"/>
              <a:ext cx="457666" cy="457666"/>
              <a:chOff x="7822129" y="3958960"/>
              <a:chExt cx="457666" cy="457666"/>
            </a:xfrm>
          </p:grpSpPr>
          <p:sp>
            <p:nvSpPr>
              <p:cNvPr id="219" name="타원 218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20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221" name="그룹 220"/>
          <p:cNvGrpSpPr/>
          <p:nvPr/>
        </p:nvGrpSpPr>
        <p:grpSpPr>
          <a:xfrm>
            <a:off x="5059960" y="2701566"/>
            <a:ext cx="2732570" cy="1995752"/>
            <a:chOff x="495385" y="1350513"/>
            <a:chExt cx="2732570" cy="1995752"/>
          </a:xfrm>
        </p:grpSpPr>
        <p:sp>
          <p:nvSpPr>
            <p:cNvPr id="222" name="직사각형 221"/>
            <p:cNvSpPr/>
            <p:nvPr/>
          </p:nvSpPr>
          <p:spPr>
            <a:xfrm>
              <a:off x="495385" y="1350513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디바이스</a:t>
              </a:r>
              <a:r>
                <a:rPr lang="en-US" altLang="ko-KR" sz="13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ko-KR" altLang="en-US" sz="13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설치 위치를 변경하시겠습니까</a:t>
              </a:r>
              <a:r>
                <a:rPr lang="en-US" altLang="ko-KR" sz="13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grpSp>
          <p:nvGrpSpPr>
            <p:cNvPr id="223" name="그룹 222"/>
            <p:cNvGrpSpPr/>
            <p:nvPr/>
          </p:nvGrpSpPr>
          <p:grpSpPr>
            <a:xfrm>
              <a:off x="495385" y="2847327"/>
              <a:ext cx="2732569" cy="498938"/>
              <a:chOff x="811071" y="2847327"/>
              <a:chExt cx="2601516" cy="498938"/>
            </a:xfrm>
          </p:grpSpPr>
          <p:sp>
            <p:nvSpPr>
              <p:cNvPr id="224" name="직사각형 223"/>
              <p:cNvSpPr/>
              <p:nvPr/>
            </p:nvSpPr>
            <p:spPr>
              <a:xfrm>
                <a:off x="811071" y="2847327"/>
                <a:ext cx="1300758" cy="49893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144000" bIns="0" rtlCol="0" anchor="ctr"/>
              <a:lstStyle/>
              <a:p>
                <a:pPr algn="ctr"/>
                <a:r>
                  <a:rPr lang="ko-KR" altLang="en-US" sz="1300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아니오</a:t>
                </a:r>
              </a:p>
            </p:txBody>
          </p:sp>
          <p:sp>
            <p:nvSpPr>
              <p:cNvPr id="225" name="직사각형 224"/>
              <p:cNvSpPr/>
              <p:nvPr/>
            </p:nvSpPr>
            <p:spPr>
              <a:xfrm>
                <a:off x="2111829" y="2847327"/>
                <a:ext cx="1300758" cy="49893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144000" bIns="0" rtlCol="0" anchor="ctr"/>
              <a:lstStyle/>
              <a:p>
                <a:pPr algn="ctr"/>
                <a:r>
                  <a:rPr lang="ko-KR" altLang="en-US" sz="1300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예</a:t>
                </a:r>
              </a:p>
            </p:txBody>
          </p:sp>
        </p:grpSp>
      </p:grpSp>
      <p:sp>
        <p:nvSpPr>
          <p:cNvPr id="227" name="직사각형 226"/>
          <p:cNvSpPr/>
          <p:nvPr/>
        </p:nvSpPr>
        <p:spPr>
          <a:xfrm>
            <a:off x="8417024" y="2721133"/>
            <a:ext cx="3599394" cy="6352295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grpSp>
        <p:nvGrpSpPr>
          <p:cNvPr id="260" name="그룹 259"/>
          <p:cNvGrpSpPr/>
          <p:nvPr/>
        </p:nvGrpSpPr>
        <p:grpSpPr>
          <a:xfrm>
            <a:off x="9142934" y="4537595"/>
            <a:ext cx="457666" cy="457666"/>
            <a:chOff x="7822129" y="3958960"/>
            <a:chExt cx="457666" cy="457666"/>
          </a:xfrm>
        </p:grpSpPr>
        <p:sp>
          <p:nvSpPr>
            <p:cNvPr id="264" name="타원 263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5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29" name="그룹 228"/>
          <p:cNvGrpSpPr/>
          <p:nvPr/>
        </p:nvGrpSpPr>
        <p:grpSpPr>
          <a:xfrm>
            <a:off x="9142934" y="5718518"/>
            <a:ext cx="457666" cy="457666"/>
            <a:chOff x="7822129" y="3958960"/>
            <a:chExt cx="457666" cy="457666"/>
          </a:xfrm>
        </p:grpSpPr>
        <p:sp>
          <p:nvSpPr>
            <p:cNvPr id="258" name="타원 257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9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0" name="그룹 229"/>
          <p:cNvGrpSpPr/>
          <p:nvPr/>
        </p:nvGrpSpPr>
        <p:grpSpPr>
          <a:xfrm>
            <a:off x="10832839" y="6899441"/>
            <a:ext cx="457666" cy="457666"/>
            <a:chOff x="7822129" y="3958960"/>
            <a:chExt cx="457666" cy="457666"/>
          </a:xfrm>
        </p:grpSpPr>
        <p:sp>
          <p:nvSpPr>
            <p:cNvPr id="256" name="타원 255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7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1" name="그룹 230"/>
          <p:cNvGrpSpPr/>
          <p:nvPr/>
        </p:nvGrpSpPr>
        <p:grpSpPr>
          <a:xfrm>
            <a:off x="9987888" y="3356672"/>
            <a:ext cx="457666" cy="457666"/>
            <a:chOff x="6621955" y="3922225"/>
            <a:chExt cx="457666" cy="457666"/>
          </a:xfrm>
        </p:grpSpPr>
        <p:sp>
          <p:nvSpPr>
            <p:cNvPr id="254" name="타원 253"/>
            <p:cNvSpPr/>
            <p:nvPr/>
          </p:nvSpPr>
          <p:spPr>
            <a:xfrm>
              <a:off x="6621955" y="3922225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5" name="Picture 14" descr="http://www.clker.com/cliparts/f/f/e/4/12065572121317625675no_hope_Wireless_access_point.svg.hi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1031" y="4030609"/>
              <a:ext cx="239513" cy="258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2" name="그룹 231"/>
          <p:cNvGrpSpPr/>
          <p:nvPr/>
        </p:nvGrpSpPr>
        <p:grpSpPr>
          <a:xfrm>
            <a:off x="9142934" y="8080363"/>
            <a:ext cx="457666" cy="457666"/>
            <a:chOff x="7822129" y="3958960"/>
            <a:chExt cx="457666" cy="457666"/>
          </a:xfrm>
        </p:grpSpPr>
        <p:sp>
          <p:nvSpPr>
            <p:cNvPr id="252" name="타원 251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3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3" name="그룹 232"/>
          <p:cNvGrpSpPr/>
          <p:nvPr/>
        </p:nvGrpSpPr>
        <p:grpSpPr>
          <a:xfrm>
            <a:off x="10832839" y="8080363"/>
            <a:ext cx="457666" cy="457666"/>
            <a:chOff x="7822129" y="3958960"/>
            <a:chExt cx="457666" cy="457666"/>
          </a:xfrm>
        </p:grpSpPr>
        <p:sp>
          <p:nvSpPr>
            <p:cNvPr id="250" name="타원 249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1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34" name="TextBox 233"/>
          <p:cNvSpPr txBox="1"/>
          <p:nvPr/>
        </p:nvSpPr>
        <p:spPr>
          <a:xfrm>
            <a:off x="9001301" y="4995261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9001301" y="6205481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10692821" y="7409362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9001301" y="8590284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4" name="타원 243"/>
          <p:cNvSpPr/>
          <p:nvPr/>
        </p:nvSpPr>
        <p:spPr>
          <a:xfrm>
            <a:off x="10160585" y="5570175"/>
            <a:ext cx="570694" cy="57069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45" name="Picture 16" descr="http://icons.iconarchive.com/icons/icons8/windows-8/512/Industry-Gas-Mask-icon.png"/>
          <p:cNvPicPr>
            <a:picLocks noChangeAspect="1" noChangeArrowheads="1"/>
          </p:cNvPicPr>
          <p:nvPr/>
        </p:nvPicPr>
        <p:blipFill>
          <a:blip r:embed="rId2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9541" y="5679131"/>
            <a:ext cx="352783" cy="3527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1" name="그룹 240"/>
          <p:cNvGrpSpPr/>
          <p:nvPr/>
        </p:nvGrpSpPr>
        <p:grpSpPr>
          <a:xfrm>
            <a:off x="9141319" y="6899441"/>
            <a:ext cx="457666" cy="457666"/>
            <a:chOff x="7822129" y="3958960"/>
            <a:chExt cx="457666" cy="457666"/>
          </a:xfrm>
        </p:grpSpPr>
        <p:sp>
          <p:nvSpPr>
            <p:cNvPr id="242" name="타원 241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43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" name="TextBox 6"/>
          <p:cNvSpPr txBox="1"/>
          <p:nvPr/>
        </p:nvSpPr>
        <p:spPr>
          <a:xfrm>
            <a:off x="2186467" y="2344971"/>
            <a:ext cx="106952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200" b="1" dirty="0"/>
              <a:t>&lt;</a:t>
            </a:r>
            <a:r>
              <a:rPr lang="ko-KR" altLang="en-US" sz="1200" b="1"/>
              <a:t>관제 화면</a:t>
            </a:r>
            <a:r>
              <a:rPr lang="en-US" altLang="ko-KR" sz="1200" b="1" dirty="0"/>
              <a:t>&gt;</a:t>
            </a:r>
            <a:endParaRPr lang="ko-KR" altLang="en-US" sz="1200" b="1" dirty="0"/>
          </a:p>
        </p:txBody>
      </p:sp>
      <p:sp>
        <p:nvSpPr>
          <p:cNvPr id="266" name="TextBox 265"/>
          <p:cNvSpPr txBox="1"/>
          <p:nvPr/>
        </p:nvSpPr>
        <p:spPr>
          <a:xfrm>
            <a:off x="9539698" y="2344971"/>
            <a:ext cx="181171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200" b="1" dirty="0"/>
              <a:t>&lt;Field manager </a:t>
            </a:r>
            <a:r>
              <a:rPr lang="ko-KR" altLang="en-US" sz="1200" b="1"/>
              <a:t>화면</a:t>
            </a:r>
            <a:r>
              <a:rPr lang="en-US" altLang="ko-KR" sz="1200" b="1" dirty="0"/>
              <a:t>&gt;</a:t>
            </a:r>
            <a:endParaRPr lang="ko-KR" altLang="en-US" sz="1200" b="1" dirty="0"/>
          </a:p>
        </p:txBody>
      </p:sp>
      <p:sp>
        <p:nvSpPr>
          <p:cNvPr id="267" name="TextBox 266"/>
          <p:cNvSpPr txBox="1"/>
          <p:nvPr/>
        </p:nvSpPr>
        <p:spPr>
          <a:xfrm>
            <a:off x="511149" y="2103631"/>
            <a:ext cx="385042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200" dirty="0"/>
              <a:t>ex)</a:t>
            </a:r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127929749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직사각형 90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4240560" y="2352328"/>
            <a:ext cx="5904655" cy="576714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/>
          <p:cNvSpPr/>
          <p:nvPr/>
        </p:nvSpPr>
        <p:spPr>
          <a:xfrm>
            <a:off x="7145855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/>
          <p:cNvSpPr/>
          <p:nvPr/>
        </p:nvSpPr>
        <p:spPr>
          <a:xfrm>
            <a:off x="7384349" y="7824936"/>
            <a:ext cx="169170" cy="16917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4961793" y="2882590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가스센서 설치 위치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4446503" y="3216423"/>
            <a:ext cx="2529713" cy="4447671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5008881" y="4368552"/>
            <a:ext cx="304873" cy="304873"/>
            <a:chOff x="7822129" y="3958960"/>
            <a:chExt cx="457666" cy="457666"/>
          </a:xfrm>
        </p:grpSpPr>
        <p:sp>
          <p:nvSpPr>
            <p:cNvPr id="13" name="타원 12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14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" name="그룹 9"/>
          <p:cNvGrpSpPr/>
          <p:nvPr/>
        </p:nvGrpSpPr>
        <p:grpSpPr>
          <a:xfrm>
            <a:off x="6134607" y="4368552"/>
            <a:ext cx="304873" cy="304873"/>
            <a:chOff x="7822129" y="3958960"/>
            <a:chExt cx="457666" cy="457666"/>
          </a:xfrm>
        </p:grpSpPr>
        <p:sp>
          <p:nvSpPr>
            <p:cNvPr id="11" name="타원 10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12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6" name="그룹 15"/>
          <p:cNvGrpSpPr/>
          <p:nvPr/>
        </p:nvGrpSpPr>
        <p:grpSpPr>
          <a:xfrm>
            <a:off x="5008881" y="5155220"/>
            <a:ext cx="304873" cy="304873"/>
            <a:chOff x="7822129" y="3958960"/>
            <a:chExt cx="457666" cy="457666"/>
          </a:xfrm>
        </p:grpSpPr>
        <p:sp>
          <p:nvSpPr>
            <p:cNvPr id="20" name="타원 19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21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" name="그룹 16"/>
          <p:cNvGrpSpPr/>
          <p:nvPr/>
        </p:nvGrpSpPr>
        <p:grpSpPr>
          <a:xfrm>
            <a:off x="6134607" y="5155220"/>
            <a:ext cx="304873" cy="304873"/>
            <a:chOff x="7822129" y="3958960"/>
            <a:chExt cx="457666" cy="457666"/>
          </a:xfrm>
        </p:grpSpPr>
        <p:sp>
          <p:nvSpPr>
            <p:cNvPr id="18" name="타원 17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19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" name="그룹 22"/>
          <p:cNvGrpSpPr/>
          <p:nvPr/>
        </p:nvGrpSpPr>
        <p:grpSpPr>
          <a:xfrm>
            <a:off x="5008881" y="5941889"/>
            <a:ext cx="304873" cy="304873"/>
            <a:chOff x="7822129" y="3958960"/>
            <a:chExt cx="457666" cy="457666"/>
          </a:xfrm>
        </p:grpSpPr>
        <p:sp>
          <p:nvSpPr>
            <p:cNvPr id="27" name="타원 26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28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4" name="그룹 23"/>
          <p:cNvGrpSpPr/>
          <p:nvPr/>
        </p:nvGrpSpPr>
        <p:grpSpPr>
          <a:xfrm>
            <a:off x="6134607" y="5941889"/>
            <a:ext cx="304873" cy="304873"/>
            <a:chOff x="7822129" y="3958960"/>
            <a:chExt cx="457666" cy="457666"/>
          </a:xfrm>
        </p:grpSpPr>
        <p:sp>
          <p:nvSpPr>
            <p:cNvPr id="25" name="타원 24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26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0" name="타원 29"/>
          <p:cNvSpPr/>
          <p:nvPr/>
        </p:nvSpPr>
        <p:spPr>
          <a:xfrm>
            <a:off x="5571745" y="3473946"/>
            <a:ext cx="304873" cy="304873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5008881" y="6728557"/>
            <a:ext cx="304873" cy="304873"/>
            <a:chOff x="7822129" y="3958960"/>
            <a:chExt cx="457666" cy="457666"/>
          </a:xfrm>
        </p:grpSpPr>
        <p:sp>
          <p:nvSpPr>
            <p:cNvPr id="37" name="타원 36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38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4" name="그룹 33"/>
          <p:cNvGrpSpPr/>
          <p:nvPr/>
        </p:nvGrpSpPr>
        <p:grpSpPr>
          <a:xfrm>
            <a:off x="6134607" y="6728557"/>
            <a:ext cx="304873" cy="304873"/>
            <a:chOff x="7822129" y="3958960"/>
            <a:chExt cx="457666" cy="457666"/>
          </a:xfrm>
        </p:grpSpPr>
        <p:sp>
          <p:nvSpPr>
            <p:cNvPr id="35" name="타원 34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pic>
          <p:nvPicPr>
            <p:cNvPr id="36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0" name="직사각형 39"/>
          <p:cNvSpPr/>
          <p:nvPr/>
        </p:nvSpPr>
        <p:spPr>
          <a:xfrm>
            <a:off x="7128186" y="3195482"/>
            <a:ext cx="2929009" cy="119897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직사각형 40"/>
          <p:cNvSpPr/>
          <p:nvPr/>
        </p:nvSpPr>
        <p:spPr>
          <a:xfrm>
            <a:off x="7128186" y="4450890"/>
            <a:ext cx="2929009" cy="321320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직사각형 41"/>
          <p:cNvSpPr/>
          <p:nvPr/>
        </p:nvSpPr>
        <p:spPr>
          <a:xfrm>
            <a:off x="7234109" y="4872608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7647361" y="5070504"/>
            <a:ext cx="488915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7286541" y="4940983"/>
            <a:ext cx="575479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일산화탄소 </a:t>
            </a:r>
            <a:r>
              <a:rPr lang="en-US" altLang="ko-KR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(CO)</a:t>
            </a:r>
          </a:p>
        </p:txBody>
      </p:sp>
      <p:sp>
        <p:nvSpPr>
          <p:cNvPr id="45" name="직사각형 44"/>
          <p:cNvSpPr/>
          <p:nvPr/>
        </p:nvSpPr>
        <p:spPr>
          <a:xfrm>
            <a:off x="8584582" y="4872608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8851963" y="5070505"/>
            <a:ext cx="780663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20.7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%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637014" y="4940984"/>
            <a:ext cx="323807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산소 </a:t>
            </a:r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</a:t>
            </a:r>
            <a:r>
              <a:rPr lang="en-US" altLang="ko-KR" sz="600" baseline="-25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7234109" y="5793721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632934" y="5991616"/>
            <a:ext cx="517770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LEL%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286541" y="5862097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메탄</a:t>
            </a:r>
            <a:endParaRPr lang="en-US" altLang="ko-KR" sz="6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8584582" y="5793721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8981807" y="5991618"/>
            <a:ext cx="520975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637014" y="5862098"/>
            <a:ext cx="307777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황화수소</a:t>
            </a:r>
            <a:endParaRPr lang="en-US" altLang="ko-KR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234109" y="6714834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8584582" y="6714834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286541" y="6829488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온도</a:t>
            </a:r>
            <a:endParaRPr lang="en-US" altLang="ko-KR" sz="6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8637014" y="6829490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습도</a:t>
            </a:r>
            <a:endParaRPr lang="en-US" altLang="ko-KR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30528" y="6895411"/>
            <a:ext cx="522579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℃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981005" y="6895413"/>
            <a:ext cx="522579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55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%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234109" y="4550301"/>
            <a:ext cx="998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가스센서 정보</a:t>
            </a:r>
          </a:p>
        </p:txBody>
      </p:sp>
      <p:sp>
        <p:nvSpPr>
          <p:cNvPr id="63" name="직사각형 62"/>
          <p:cNvSpPr/>
          <p:nvPr/>
        </p:nvSpPr>
        <p:spPr>
          <a:xfrm>
            <a:off x="6992504" y="222938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5615176" y="2435210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286686" y="4080520"/>
            <a:ext cx="8931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가스센서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8084250" y="3632756"/>
            <a:ext cx="98296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연결상태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정상</a:t>
            </a:r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8071246" y="3209610"/>
            <a:ext cx="171476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MAC : LGA-01-001</a:t>
            </a:r>
            <a:endParaRPr lang="ko-KR" altLang="en-US" sz="14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직사각형 69"/>
          <p:cNvSpPr/>
          <p:nvPr/>
        </p:nvSpPr>
        <p:spPr>
          <a:xfrm>
            <a:off x="7281663" y="3349385"/>
            <a:ext cx="714613" cy="71287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73" name="표 72"/>
          <p:cNvGraphicFramePr>
            <a:graphicFrameLocks noGrp="1"/>
          </p:cNvGraphicFramePr>
          <p:nvPr/>
        </p:nvGraphicFramePr>
        <p:xfrm>
          <a:off x="10633534" y="1272208"/>
          <a:ext cx="2088232" cy="40991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가스센서 정보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상전 상태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직접 전원이 연결 되어있는 경우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경보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Ver. 1.01</a:t>
                      </a: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터치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-&gt;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경보 내용 팝업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공장 가스센서 전체 중 해당 가스센서는 어떤 버전을 사용하고 있다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버전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가스센서 설치 위치 보기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AP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6-2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설치된 가스센서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짧게 터치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우측의 가스센서 상세정보 변경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길게 터치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가스센서 위치 이동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우로 스와이프 하여 다른 가스센서 정보를 보게 됨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좌측의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가스센서 설치위치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의 아이콘 활성화도 동시에 변경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81" name="직사각형 80"/>
          <p:cNvSpPr/>
          <p:nvPr/>
        </p:nvSpPr>
        <p:spPr>
          <a:xfrm>
            <a:off x="9660000" y="340413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7954317" y="401461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3" name="직사각형 82"/>
          <p:cNvSpPr/>
          <p:nvPr/>
        </p:nvSpPr>
        <p:spPr>
          <a:xfrm>
            <a:off x="8161642" y="4008512"/>
            <a:ext cx="841485" cy="20996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경보 </a:t>
            </a:r>
            <a:r>
              <a:rPr lang="en-US" altLang="ko-KR" sz="700" dirty="0">
                <a:solidFill>
                  <a:schemeClr val="tx1"/>
                </a:solidFill>
              </a:rPr>
              <a:t>Ver. 1.01</a:t>
            </a:r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4" name="직사각형 83"/>
          <p:cNvSpPr/>
          <p:nvPr/>
        </p:nvSpPr>
        <p:spPr>
          <a:xfrm>
            <a:off x="9067102" y="4008512"/>
            <a:ext cx="841485" cy="209968"/>
          </a:xfrm>
          <a:prstGeom prst="rect">
            <a:avLst/>
          </a:prstGeom>
          <a:solidFill>
            <a:srgbClr val="F2F2F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펌웨어 </a:t>
            </a:r>
            <a:r>
              <a:rPr lang="en-US" altLang="ko-KR" sz="700" dirty="0">
                <a:solidFill>
                  <a:schemeClr val="tx1"/>
                </a:solidFill>
              </a:rPr>
              <a:t>Ver. 1.0012</a:t>
            </a:r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9941297" y="401461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008</a:t>
            </a:r>
            <a:endParaRPr lang="ko-KR" altLang="en-US" sz="800" dirty="0">
              <a:latin typeface="+mn-ea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1561736" y="632805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가스센서 정보</a:t>
            </a:r>
            <a:endParaRPr lang="en-US" altLang="ko-KR" sz="900" dirty="0">
              <a:latin typeface="+mn-ea"/>
            </a:endParaRPr>
          </a:p>
          <a:p>
            <a:r>
              <a:rPr lang="ko-KR" altLang="en-US" sz="900">
                <a:latin typeface="+mn-ea"/>
              </a:rPr>
              <a:t>상세보기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8034744" y="2882590"/>
            <a:ext cx="1470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가스센서 상세정보</a:t>
            </a:r>
          </a:p>
        </p:txBody>
      </p:sp>
      <p:sp>
        <p:nvSpPr>
          <p:cNvPr id="92" name="타원 91"/>
          <p:cNvSpPr/>
          <p:nvPr/>
        </p:nvSpPr>
        <p:spPr>
          <a:xfrm>
            <a:off x="6890931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타원 92"/>
          <p:cNvSpPr/>
          <p:nvPr/>
        </p:nvSpPr>
        <p:spPr>
          <a:xfrm>
            <a:off x="6622520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직사각형 95"/>
          <p:cNvSpPr/>
          <p:nvPr/>
        </p:nvSpPr>
        <p:spPr>
          <a:xfrm>
            <a:off x="4825536" y="29165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4788029" y="4719092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6168211" y="4719092"/>
            <a:ext cx="2263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4788029" y="5518299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6168211" y="5518299"/>
            <a:ext cx="2263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5043708" y="6302258"/>
            <a:ext cx="2263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5912532" y="6302258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4788029" y="7100427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6168211" y="7100427"/>
            <a:ext cx="2263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5273579" y="3826604"/>
            <a:ext cx="9012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AP-123-123</a:t>
            </a:r>
            <a:endParaRPr lang="ko-KR" altLang="en-US" sz="105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6" name="그림 10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9496" y="3541899"/>
            <a:ext cx="185715" cy="185715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952078" y="3625818"/>
            <a:ext cx="64633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dirty="0">
                <a:latin typeface="+mj-lt"/>
                <a:ea typeface="맑은 고딕" panose="020B0503020000020004" pitchFamily="50" charset="-127"/>
              </a:rPr>
              <a:t>상전상태</a:t>
            </a:r>
          </a:p>
        </p:txBody>
      </p:sp>
      <p:pic>
        <p:nvPicPr>
          <p:cNvPr id="112" name="그림 11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9563459" y="3550830"/>
            <a:ext cx="370881" cy="370881"/>
          </a:xfrm>
          <a:prstGeom prst="rect">
            <a:avLst/>
          </a:prstGeom>
        </p:spPr>
      </p:pic>
      <p:sp>
        <p:nvSpPr>
          <p:cNvPr id="113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3695999" y="2333625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5342847" y="35088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8" name="직사각형 107"/>
          <p:cNvSpPr/>
          <p:nvPr/>
        </p:nvSpPr>
        <p:spPr>
          <a:xfrm>
            <a:off x="4724402" y="44238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6-2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9" name="직사각형 108"/>
          <p:cNvSpPr/>
          <p:nvPr/>
        </p:nvSpPr>
        <p:spPr>
          <a:xfrm>
            <a:off x="6295849" y="78249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4" name="모서리가 둥근 사각형 설명선 93"/>
          <p:cNvSpPr/>
          <p:nvPr/>
        </p:nvSpPr>
        <p:spPr>
          <a:xfrm>
            <a:off x="10066228" y="5810721"/>
            <a:ext cx="1248699" cy="407341"/>
          </a:xfrm>
          <a:prstGeom prst="wedgeRoundRectCallout">
            <a:avLst>
              <a:gd name="adj1" fmla="val -178520"/>
              <a:gd name="adj2" fmla="val -459817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041</a:t>
            </a:r>
          </a:p>
          <a:p>
            <a:pPr algn="ctr"/>
            <a:r>
              <a:rPr lang="ko-KR" altLang="en-US" sz="800" dirty="0"/>
              <a:t>가스 경보 팝업</a:t>
            </a:r>
          </a:p>
        </p:txBody>
      </p:sp>
    </p:spTree>
    <p:extLst>
      <p:ext uri="{BB962C8B-B14F-4D97-AF65-F5344CB8AC3E}">
        <p14:creationId xmlns:p14="http://schemas.microsoft.com/office/powerpoint/2010/main" val="257016328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직사각형 90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4240560" y="2352328"/>
            <a:ext cx="5904655" cy="576714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4961793" y="2882590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가스센서 설치 위치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5615176" y="2435210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008</a:t>
            </a:r>
            <a:endParaRPr lang="ko-KR" altLang="en-US" sz="800" dirty="0">
              <a:latin typeface="+mn-ea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1561736" y="632805"/>
            <a:ext cx="9172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가스센서 정보</a:t>
            </a:r>
            <a:endParaRPr lang="en-US" altLang="ko-KR" sz="900" dirty="0">
              <a:latin typeface="+mn-ea"/>
            </a:endParaRPr>
          </a:p>
          <a:p>
            <a:r>
              <a:rPr lang="ko-KR" altLang="en-US" sz="900">
                <a:latin typeface="+mn-ea"/>
              </a:rPr>
              <a:t>상세보기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8034744" y="2882590"/>
            <a:ext cx="1470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가스센서 상세정보</a:t>
            </a:r>
          </a:p>
        </p:txBody>
      </p:sp>
      <p:graphicFrame>
        <p:nvGraphicFramePr>
          <p:cNvPr id="105" name="표 1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635064"/>
              </p:ext>
            </p:extLst>
          </p:nvPr>
        </p:nvGraphicFramePr>
        <p:xfrm>
          <a:off x="10633534" y="1272208"/>
          <a:ext cx="2088232" cy="264479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배터리 잔량 정보 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높음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보통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낮음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의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단계로 표기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6" name="그룹 105"/>
          <p:cNvGrpSpPr/>
          <p:nvPr/>
        </p:nvGrpSpPr>
        <p:grpSpPr>
          <a:xfrm>
            <a:off x="11136307" y="1987731"/>
            <a:ext cx="1457181" cy="1660741"/>
            <a:chOff x="11136307" y="2131747"/>
            <a:chExt cx="1457181" cy="1660741"/>
          </a:xfrm>
        </p:grpSpPr>
        <p:pic>
          <p:nvPicPr>
            <p:cNvPr id="107" name="그림 10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11983884" y="2131747"/>
              <a:ext cx="609604" cy="609604"/>
            </a:xfrm>
            <a:prstGeom prst="rect">
              <a:avLst/>
            </a:prstGeom>
          </p:spPr>
        </p:pic>
        <p:sp>
          <p:nvSpPr>
            <p:cNvPr id="108" name="TextBox 107"/>
            <p:cNvSpPr txBox="1"/>
            <p:nvPr/>
          </p:nvSpPr>
          <p:spPr>
            <a:xfrm>
              <a:off x="11444084" y="2298049"/>
              <a:ext cx="492443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1200"/>
                <a:t>높음</a:t>
              </a:r>
              <a:endParaRPr lang="ko-KR" altLang="en-US" sz="1200" dirty="0"/>
            </a:p>
          </p:txBody>
        </p:sp>
        <p:pic>
          <p:nvPicPr>
            <p:cNvPr id="109" name="그림 108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11983884" y="2666870"/>
              <a:ext cx="609604" cy="609604"/>
            </a:xfrm>
            <a:prstGeom prst="rect">
              <a:avLst/>
            </a:prstGeom>
          </p:spPr>
        </p:pic>
        <p:sp>
          <p:nvSpPr>
            <p:cNvPr id="110" name="TextBox 109"/>
            <p:cNvSpPr txBox="1"/>
            <p:nvPr/>
          </p:nvSpPr>
          <p:spPr>
            <a:xfrm>
              <a:off x="11444084" y="2844330"/>
              <a:ext cx="492443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1200" dirty="0"/>
                <a:t>보통</a:t>
              </a:r>
            </a:p>
          </p:txBody>
        </p:sp>
        <p:pic>
          <p:nvPicPr>
            <p:cNvPr id="111" name="그림 110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11983884" y="3182884"/>
              <a:ext cx="609604" cy="609604"/>
            </a:xfrm>
            <a:prstGeom prst="rect">
              <a:avLst/>
            </a:prstGeom>
          </p:spPr>
        </p:pic>
        <p:sp>
          <p:nvSpPr>
            <p:cNvPr id="112" name="TextBox 111"/>
            <p:cNvSpPr txBox="1"/>
            <p:nvPr/>
          </p:nvSpPr>
          <p:spPr>
            <a:xfrm>
              <a:off x="11136307" y="3349186"/>
              <a:ext cx="800220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1200" dirty="0"/>
                <a:t>교체필요</a:t>
              </a:r>
            </a:p>
          </p:txBody>
        </p:sp>
      </p:grpSp>
      <p:sp>
        <p:nvSpPr>
          <p:cNvPr id="11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3695999" y="2333625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7128186" y="3195482"/>
            <a:ext cx="2929009" cy="119897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TextBox 62"/>
          <p:cNvSpPr txBox="1"/>
          <p:nvPr/>
        </p:nvSpPr>
        <p:spPr>
          <a:xfrm>
            <a:off x="7286686" y="4080520"/>
            <a:ext cx="89319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가스센서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8084250" y="3632756"/>
            <a:ext cx="98296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연결상태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정상</a:t>
            </a:r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8071246" y="3209610"/>
            <a:ext cx="171476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MAC : LGA-01-001</a:t>
            </a:r>
            <a:endParaRPr lang="ko-KR" altLang="en-US" sz="14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7281663" y="3349385"/>
            <a:ext cx="714613" cy="71287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직사각형 78"/>
          <p:cNvSpPr/>
          <p:nvPr/>
        </p:nvSpPr>
        <p:spPr>
          <a:xfrm>
            <a:off x="8161642" y="4008512"/>
            <a:ext cx="841485" cy="20996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경보 </a:t>
            </a:r>
            <a:r>
              <a:rPr lang="en-US" altLang="ko-KR" sz="700" dirty="0">
                <a:solidFill>
                  <a:schemeClr val="tx1"/>
                </a:solidFill>
              </a:rPr>
              <a:t>Ver. 1.01</a:t>
            </a:r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80" name="직사각형 79"/>
          <p:cNvSpPr/>
          <p:nvPr/>
        </p:nvSpPr>
        <p:spPr>
          <a:xfrm>
            <a:off x="9067102" y="4008512"/>
            <a:ext cx="841485" cy="209968"/>
          </a:xfrm>
          <a:prstGeom prst="rect">
            <a:avLst/>
          </a:prstGeom>
          <a:solidFill>
            <a:srgbClr val="F2F2F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펌웨어 </a:t>
            </a:r>
            <a:r>
              <a:rPr lang="en-US" altLang="ko-KR" sz="700" dirty="0">
                <a:solidFill>
                  <a:schemeClr val="tx1"/>
                </a:solidFill>
              </a:rPr>
              <a:t>Ver. 1.0012</a:t>
            </a:r>
            <a:endParaRPr lang="ko-KR" altLang="en-US" sz="700">
              <a:solidFill>
                <a:schemeClr val="tx1"/>
              </a:solidFill>
            </a:endParaRPr>
          </a:p>
        </p:txBody>
      </p:sp>
      <p:pic>
        <p:nvPicPr>
          <p:cNvPr id="67" name="그림 66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67" b="23367"/>
          <a:stretch/>
        </p:blipFill>
        <p:spPr>
          <a:xfrm>
            <a:off x="9610051" y="3626888"/>
            <a:ext cx="370881" cy="197551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998670" y="3617448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900" dirty="0">
                <a:latin typeface="+mj-lt"/>
                <a:ea typeface="맑은 고딕" panose="020B0503020000020004" pitchFamily="50" charset="-127"/>
              </a:rPr>
              <a:t>교체필요</a:t>
            </a:r>
          </a:p>
        </p:txBody>
      </p:sp>
      <p:sp>
        <p:nvSpPr>
          <p:cNvPr id="113" name="직사각형 112"/>
          <p:cNvSpPr/>
          <p:nvPr/>
        </p:nvSpPr>
        <p:spPr>
          <a:xfrm>
            <a:off x="9703088" y="340595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7197078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타원 65"/>
          <p:cNvSpPr/>
          <p:nvPr/>
        </p:nvSpPr>
        <p:spPr>
          <a:xfrm>
            <a:off x="7435572" y="7824936"/>
            <a:ext cx="169170" cy="16917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직사각형 68"/>
          <p:cNvSpPr/>
          <p:nvPr/>
        </p:nvSpPr>
        <p:spPr>
          <a:xfrm>
            <a:off x="4446503" y="3216423"/>
            <a:ext cx="2529713" cy="4447671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18" name="타원 117"/>
          <p:cNvSpPr/>
          <p:nvPr/>
        </p:nvSpPr>
        <p:spPr>
          <a:xfrm>
            <a:off x="6942154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타원 118"/>
          <p:cNvSpPr/>
          <p:nvPr/>
        </p:nvSpPr>
        <p:spPr>
          <a:xfrm>
            <a:off x="6673743" y="7824936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TextBox 132"/>
          <p:cNvSpPr txBox="1"/>
          <p:nvPr/>
        </p:nvSpPr>
        <p:spPr>
          <a:xfrm>
            <a:off x="4733930" y="5088632"/>
            <a:ext cx="1980502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900" dirty="0">
                <a:solidFill>
                  <a:schemeClr val="bg1">
                    <a:lumMod val="65000"/>
                  </a:schemeClr>
                </a:solidFill>
              </a:rPr>
              <a:t>이동형 가스센서는</a:t>
            </a:r>
            <a:endParaRPr lang="en-US" altLang="ko-KR" sz="900" dirty="0">
              <a:solidFill>
                <a:schemeClr val="bg1">
                  <a:lumMod val="65000"/>
                </a:schemeClr>
              </a:solidFill>
            </a:endParaRPr>
          </a:p>
          <a:p>
            <a:pPr algn="ctr"/>
            <a:r>
              <a:rPr lang="ko-KR" altLang="en-US" sz="900" dirty="0">
                <a:solidFill>
                  <a:schemeClr val="bg1">
                    <a:lumMod val="65000"/>
                  </a:schemeClr>
                </a:solidFill>
              </a:rPr>
              <a:t>설치위치 정보가 없습니다</a:t>
            </a:r>
          </a:p>
        </p:txBody>
      </p:sp>
      <p:sp>
        <p:nvSpPr>
          <p:cNvPr id="61" name="직사각형 60"/>
          <p:cNvSpPr/>
          <p:nvPr/>
        </p:nvSpPr>
        <p:spPr>
          <a:xfrm>
            <a:off x="7128186" y="4450890"/>
            <a:ext cx="2929009" cy="321320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/>
          <p:cNvSpPr/>
          <p:nvPr/>
        </p:nvSpPr>
        <p:spPr>
          <a:xfrm>
            <a:off x="7234109" y="4872608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7647361" y="5070504"/>
            <a:ext cx="488915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7286541" y="4940983"/>
            <a:ext cx="575479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일산화탄소 </a:t>
            </a:r>
            <a:r>
              <a:rPr lang="en-US" altLang="ko-KR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(CO)</a:t>
            </a:r>
          </a:p>
        </p:txBody>
      </p:sp>
      <p:sp>
        <p:nvSpPr>
          <p:cNvPr id="78" name="직사각형 77"/>
          <p:cNvSpPr/>
          <p:nvPr/>
        </p:nvSpPr>
        <p:spPr>
          <a:xfrm>
            <a:off x="8584582" y="4872608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8851963" y="5070505"/>
            <a:ext cx="780663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20.7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%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637014" y="4940984"/>
            <a:ext cx="323807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산소 </a:t>
            </a:r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en-US" altLang="ko-KR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</a:t>
            </a:r>
            <a:r>
              <a:rPr lang="en-US" altLang="ko-KR" sz="600" baseline="-25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7234109" y="5793721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7632934" y="5991616"/>
            <a:ext cx="517770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LEL%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7286541" y="5862097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메탄</a:t>
            </a:r>
            <a:endParaRPr lang="en-US" altLang="ko-KR" sz="6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8584582" y="5793721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8981807" y="5991618"/>
            <a:ext cx="520975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637014" y="5862098"/>
            <a:ext cx="307777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황화수소</a:t>
            </a:r>
            <a:endParaRPr lang="en-US" altLang="ko-KR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직사각형 92"/>
          <p:cNvSpPr/>
          <p:nvPr/>
        </p:nvSpPr>
        <p:spPr>
          <a:xfrm>
            <a:off x="7234109" y="6714834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/>
          <p:cNvSpPr/>
          <p:nvPr/>
        </p:nvSpPr>
        <p:spPr>
          <a:xfrm>
            <a:off x="8584582" y="6714834"/>
            <a:ext cx="1307906" cy="828572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7286541" y="6829488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온도</a:t>
            </a:r>
            <a:endParaRPr lang="en-US" altLang="ko-KR" sz="6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8637014" y="6829490"/>
            <a:ext cx="153888" cy="14547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습도</a:t>
            </a:r>
            <a:endParaRPr lang="en-US" altLang="ko-KR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7630528" y="6895411"/>
            <a:ext cx="522579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rgbClr val="40404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</a:t>
            </a:r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℃</a:t>
            </a:r>
            <a:endParaRPr lang="en-US" altLang="ko-KR" sz="2400" dirty="0">
              <a:solidFill>
                <a:schemeClr val="tx1">
                  <a:lumMod val="75000"/>
                  <a:lumOff val="2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8981005" y="6895413"/>
            <a:ext cx="522579" cy="58183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55</a:t>
            </a:r>
            <a:r>
              <a:rPr lang="en-US" altLang="ko-KR" sz="105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%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7234109" y="4550301"/>
            <a:ext cx="998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가스센서 정보</a:t>
            </a:r>
          </a:p>
        </p:txBody>
      </p:sp>
    </p:spTree>
    <p:extLst>
      <p:ext uri="{BB962C8B-B14F-4D97-AF65-F5344CB8AC3E}">
        <p14:creationId xmlns:p14="http://schemas.microsoft.com/office/powerpoint/2010/main" val="244192081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직사각형 68"/>
          <p:cNvSpPr/>
          <p:nvPr/>
        </p:nvSpPr>
        <p:spPr>
          <a:xfrm>
            <a:off x="820205" y="2095018"/>
            <a:ext cx="3599394" cy="6352295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1546115" y="3911480"/>
            <a:ext cx="2147571" cy="457666"/>
            <a:chOff x="1546115" y="4436431"/>
            <a:chExt cx="2147571" cy="457666"/>
          </a:xfrm>
        </p:grpSpPr>
        <p:grpSp>
          <p:nvGrpSpPr>
            <p:cNvPr id="71" name="그룹 70"/>
            <p:cNvGrpSpPr/>
            <p:nvPr/>
          </p:nvGrpSpPr>
          <p:grpSpPr>
            <a:xfrm>
              <a:off x="1546115" y="4436431"/>
              <a:ext cx="457666" cy="457666"/>
              <a:chOff x="7822129" y="3958960"/>
              <a:chExt cx="457666" cy="457666"/>
            </a:xfrm>
          </p:grpSpPr>
          <p:sp>
            <p:nvSpPr>
              <p:cNvPr id="75" name="타원 74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76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2" name="그룹 71"/>
            <p:cNvGrpSpPr/>
            <p:nvPr/>
          </p:nvGrpSpPr>
          <p:grpSpPr>
            <a:xfrm>
              <a:off x="3236020" y="4436431"/>
              <a:ext cx="457666" cy="457666"/>
              <a:chOff x="7822129" y="3958960"/>
              <a:chExt cx="457666" cy="457666"/>
            </a:xfrm>
          </p:grpSpPr>
          <p:sp>
            <p:nvSpPr>
              <p:cNvPr id="73" name="타원 72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74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78" name="그룹 77"/>
          <p:cNvGrpSpPr/>
          <p:nvPr/>
        </p:nvGrpSpPr>
        <p:grpSpPr>
          <a:xfrm>
            <a:off x="1546115" y="5092403"/>
            <a:ext cx="457666" cy="457666"/>
            <a:chOff x="7822129" y="3958960"/>
            <a:chExt cx="457666" cy="457666"/>
          </a:xfrm>
        </p:grpSpPr>
        <p:sp>
          <p:nvSpPr>
            <p:cNvPr id="82" name="타원 81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83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6" name="그룹 85"/>
          <p:cNvGrpSpPr/>
          <p:nvPr/>
        </p:nvGrpSpPr>
        <p:grpSpPr>
          <a:xfrm>
            <a:off x="3236020" y="6273326"/>
            <a:ext cx="457666" cy="457666"/>
            <a:chOff x="7822129" y="3958960"/>
            <a:chExt cx="457666" cy="457666"/>
          </a:xfrm>
        </p:grpSpPr>
        <p:sp>
          <p:nvSpPr>
            <p:cNvPr id="87" name="타원 86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88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2" name="그룹 91"/>
          <p:cNvGrpSpPr/>
          <p:nvPr/>
        </p:nvGrpSpPr>
        <p:grpSpPr>
          <a:xfrm>
            <a:off x="2391069" y="2730557"/>
            <a:ext cx="457666" cy="457666"/>
            <a:chOff x="6621955" y="3922225"/>
            <a:chExt cx="457666" cy="457666"/>
          </a:xfrm>
        </p:grpSpPr>
        <p:sp>
          <p:nvSpPr>
            <p:cNvPr id="94" name="타원 93"/>
            <p:cNvSpPr/>
            <p:nvPr/>
          </p:nvSpPr>
          <p:spPr>
            <a:xfrm>
              <a:off x="6621955" y="3922225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95" name="Picture 14" descr="http://www.clker.com/cliparts/f/f/e/4/12065572121317625675no_hope_Wireless_access_point.svg.hi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1031" y="4030609"/>
              <a:ext cx="239513" cy="2581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7" name="그룹 96"/>
          <p:cNvGrpSpPr/>
          <p:nvPr/>
        </p:nvGrpSpPr>
        <p:grpSpPr>
          <a:xfrm>
            <a:off x="1546115" y="7454248"/>
            <a:ext cx="457666" cy="457666"/>
            <a:chOff x="7822129" y="3958960"/>
            <a:chExt cx="457666" cy="457666"/>
          </a:xfrm>
        </p:grpSpPr>
        <p:sp>
          <p:nvSpPr>
            <p:cNvPr id="101" name="타원 100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2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8" name="그룹 97"/>
          <p:cNvGrpSpPr/>
          <p:nvPr/>
        </p:nvGrpSpPr>
        <p:grpSpPr>
          <a:xfrm>
            <a:off x="3236020" y="7454248"/>
            <a:ext cx="457666" cy="457666"/>
            <a:chOff x="7822129" y="3958960"/>
            <a:chExt cx="457666" cy="457666"/>
          </a:xfrm>
        </p:grpSpPr>
        <p:sp>
          <p:nvSpPr>
            <p:cNvPr id="99" name="타원 98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0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3" name="TextBox 102"/>
          <p:cNvSpPr txBox="1"/>
          <p:nvPr/>
        </p:nvSpPr>
        <p:spPr>
          <a:xfrm>
            <a:off x="1404482" y="4369146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1404482" y="5579366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3096002" y="6783247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404482" y="7964169"/>
            <a:ext cx="737702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LGA-01-001</a:t>
            </a:r>
            <a:endParaRPr lang="ko-KR" altLang="en-US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019023"/>
              </p:ext>
            </p:extLst>
          </p:nvPr>
        </p:nvGraphicFramePr>
        <p:xfrm>
          <a:off x="9411807" y="1128105"/>
          <a:ext cx="2897424" cy="2001831"/>
        </p:xfrm>
        <a:graphic>
          <a:graphicData uri="http://schemas.openxmlformats.org/drawingml/2006/table">
            <a:tbl>
              <a:tblPr/>
              <a:tblGrid>
                <a:gridCol w="439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58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3895"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9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디바이스 리스트 화면에서</a:t>
                      </a:r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디바이스 설치 위치 버튼 선택 시 설치 위치 화면으로 전환</a:t>
                      </a:r>
                      <a:endParaRPr lang="en-US" altLang="ko-KR" sz="9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18169" marR="118169" marT="59084" marB="5908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8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38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9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18169" marR="118169" marT="59084" marB="5908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디바이스 아이콘</a:t>
                      </a:r>
                    </a:p>
                    <a:p>
                      <a:pPr marL="92075" indent="-92075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설치 예정인 디바이스 아이콘은 흐리게 표시</a:t>
                      </a:r>
                      <a:endParaRPr lang="en-US" altLang="ko-KR" sz="900" baseline="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92075" indent="-92075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흐리게 표시된 설치예정 아이콘 위치 변경 팝업 표시 </a:t>
                      </a:r>
                      <a: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(A </a:t>
                      </a:r>
                      <a:r>
                        <a:rPr lang="ko-KR" altLang="en-US" sz="900" baseline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팝업</a:t>
                      </a:r>
                      <a: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92075" marR="0" indent="-92075" algn="l" defTabSz="128016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흐리게 표시된 설치 예정인 아이콘은 길게 눌러서 위치 이동 가능</a:t>
                      </a:r>
                      <a:endParaRPr lang="en-US" altLang="ko-KR" sz="900" baseline="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18169" marR="118169" marT="59084" marB="5908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38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9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18169" marR="118169" marT="59084" marB="5908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-92075" algn="l" defTabSz="128016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설치 위치변경에서 </a:t>
                      </a:r>
                      <a: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“</a:t>
                      </a:r>
                      <a:r>
                        <a:rPr lang="ko-KR" altLang="en-US" sz="900" baseline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예</a:t>
                      </a:r>
                      <a: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＂</a:t>
                      </a:r>
                      <a:r>
                        <a:rPr lang="ko-KR" altLang="en-US" sz="900" baseline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를 누르면 변경사항 반영</a:t>
                      </a:r>
                      <a:b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</a:br>
                      <a:r>
                        <a:rPr lang="en-US" altLang="ko-KR" sz="9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900" baseline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필드 매니저에 반영</a:t>
                      </a:r>
                      <a:endParaRPr lang="en-US" altLang="ko-KR" sz="900" baseline="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118169" marR="118169" marT="59084" marB="59084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6" name="그룹 45"/>
          <p:cNvGrpSpPr/>
          <p:nvPr/>
        </p:nvGrpSpPr>
        <p:grpSpPr>
          <a:xfrm>
            <a:off x="5019426" y="2099235"/>
            <a:ext cx="2732570" cy="1995752"/>
            <a:chOff x="495385" y="1350513"/>
            <a:chExt cx="2732570" cy="1995752"/>
          </a:xfrm>
        </p:grpSpPr>
        <p:sp>
          <p:nvSpPr>
            <p:cNvPr id="47" name="직사각형 46"/>
            <p:cNvSpPr/>
            <p:nvPr/>
          </p:nvSpPr>
          <p:spPr>
            <a:xfrm>
              <a:off x="495385" y="1350513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3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디바이스</a:t>
              </a:r>
              <a:r>
                <a:rPr lang="en-US" altLang="ko-KR" sz="13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ko-KR" altLang="en-US" sz="13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설치 위치를 변경하시겠습니까</a:t>
              </a:r>
              <a:r>
                <a:rPr lang="en-US" altLang="ko-KR" sz="13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grpSp>
          <p:nvGrpSpPr>
            <p:cNvPr id="48" name="그룹 47"/>
            <p:cNvGrpSpPr/>
            <p:nvPr/>
          </p:nvGrpSpPr>
          <p:grpSpPr>
            <a:xfrm>
              <a:off x="495385" y="2847327"/>
              <a:ext cx="2732569" cy="498938"/>
              <a:chOff x="811071" y="2847327"/>
              <a:chExt cx="2601516" cy="498938"/>
            </a:xfrm>
          </p:grpSpPr>
          <p:sp>
            <p:nvSpPr>
              <p:cNvPr id="49" name="직사각형 48"/>
              <p:cNvSpPr/>
              <p:nvPr/>
            </p:nvSpPr>
            <p:spPr>
              <a:xfrm>
                <a:off x="811071" y="2847327"/>
                <a:ext cx="1300758" cy="49893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144000" bIns="0" rtlCol="0" anchor="ctr"/>
              <a:lstStyle/>
              <a:p>
                <a:pPr algn="ctr"/>
                <a:r>
                  <a:rPr lang="ko-KR" altLang="en-US" sz="1300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아니오</a:t>
                </a:r>
              </a:p>
            </p:txBody>
          </p:sp>
          <p:sp>
            <p:nvSpPr>
              <p:cNvPr id="50" name="직사각형 49"/>
              <p:cNvSpPr/>
              <p:nvPr/>
            </p:nvSpPr>
            <p:spPr>
              <a:xfrm>
                <a:off x="2111829" y="2847327"/>
                <a:ext cx="1300758" cy="49893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144000" bIns="0" rtlCol="0" anchor="ctr"/>
              <a:lstStyle/>
              <a:p>
                <a:pPr algn="ctr"/>
                <a:r>
                  <a:rPr lang="ko-KR" altLang="en-US" sz="1300" dirty="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예</a:t>
                </a:r>
              </a:p>
            </p:txBody>
          </p:sp>
        </p:grpSp>
      </p:grpSp>
      <p:sp>
        <p:nvSpPr>
          <p:cNvPr id="53" name="타원 52"/>
          <p:cNvSpPr/>
          <p:nvPr/>
        </p:nvSpPr>
        <p:spPr>
          <a:xfrm>
            <a:off x="6249112" y="1934770"/>
            <a:ext cx="273198" cy="273198"/>
          </a:xfrm>
          <a:prstGeom prst="ellipse">
            <a:avLst/>
          </a:prstGeom>
          <a:solidFill>
            <a:srgbClr val="FF0000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endParaRPr lang="ko-KR" altLang="en-US" sz="1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492370" y="258649"/>
            <a:ext cx="4304063" cy="47737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2068" b="1" dirty="0">
                <a:latin typeface="+mj-ea"/>
                <a:ea typeface="+mj-ea"/>
                <a:cs typeface="Arial" panose="020B0604020202020204" pitchFamily="34" charset="0"/>
              </a:rPr>
              <a:t>디바이스 설치 </a:t>
            </a:r>
            <a:r>
              <a:rPr lang="en-US" altLang="ko-KR" sz="2068" b="1" dirty="0">
                <a:latin typeface="+mj-ea"/>
                <a:ea typeface="+mj-ea"/>
                <a:cs typeface="Arial" panose="020B0604020202020204" pitchFamily="34" charset="0"/>
              </a:rPr>
              <a:t>–</a:t>
            </a:r>
            <a:r>
              <a:rPr lang="ko-KR" altLang="en-US" sz="2068" b="1" dirty="0">
                <a:latin typeface="+mj-ea"/>
                <a:ea typeface="+mj-ea"/>
                <a:cs typeface="Arial" panose="020B0604020202020204" pitchFamily="34" charset="0"/>
              </a:rPr>
              <a:t> 디바이스 설치 위치</a:t>
            </a:r>
            <a:endParaRPr lang="en-US" altLang="ko-KR" sz="2068" b="1" dirty="0">
              <a:latin typeface="+mj-ea"/>
              <a:ea typeface="+mj-ea"/>
              <a:cs typeface="Arial" panose="020B0604020202020204" pitchFamily="34" charset="0"/>
            </a:endParaRPr>
          </a:p>
        </p:txBody>
      </p:sp>
      <p:sp>
        <p:nvSpPr>
          <p:cNvPr id="58" name="직사각형 57"/>
          <p:cNvSpPr/>
          <p:nvPr/>
        </p:nvSpPr>
        <p:spPr>
          <a:xfrm>
            <a:off x="492369" y="786535"/>
            <a:ext cx="11816862" cy="930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585" dirty="0"/>
          </a:p>
        </p:txBody>
      </p:sp>
      <p:grpSp>
        <p:nvGrpSpPr>
          <p:cNvPr id="59" name="그룹 58"/>
          <p:cNvGrpSpPr/>
          <p:nvPr/>
        </p:nvGrpSpPr>
        <p:grpSpPr>
          <a:xfrm>
            <a:off x="3236020" y="3850855"/>
            <a:ext cx="1749997" cy="2040307"/>
            <a:chOff x="3445721" y="1594143"/>
            <a:chExt cx="1749997" cy="2040307"/>
          </a:xfrm>
        </p:grpSpPr>
        <p:sp>
          <p:nvSpPr>
            <p:cNvPr id="60" name="타원 59"/>
            <p:cNvSpPr/>
            <p:nvPr/>
          </p:nvSpPr>
          <p:spPr>
            <a:xfrm>
              <a:off x="3445721" y="1594143"/>
              <a:ext cx="570694" cy="57069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61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4677" y="1703099"/>
              <a:ext cx="352783" cy="35278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" name="Picture 4" descr="http://static-cdn.pixelmator.com/ios/user-guide/gestures/tap.png"/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837"/>
            <a:stretch/>
          </p:blipFill>
          <p:spPr bwMode="auto">
            <a:xfrm>
              <a:off x="3742254" y="1814491"/>
              <a:ext cx="1453464" cy="1819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3" name="그룹 62"/>
          <p:cNvGrpSpPr/>
          <p:nvPr/>
        </p:nvGrpSpPr>
        <p:grpSpPr>
          <a:xfrm>
            <a:off x="2563766" y="4944060"/>
            <a:ext cx="1749997" cy="2040307"/>
            <a:chOff x="3445721" y="1594143"/>
            <a:chExt cx="1749997" cy="2040307"/>
          </a:xfrm>
        </p:grpSpPr>
        <p:sp>
          <p:nvSpPr>
            <p:cNvPr id="64" name="타원 63"/>
            <p:cNvSpPr/>
            <p:nvPr/>
          </p:nvSpPr>
          <p:spPr>
            <a:xfrm>
              <a:off x="3445721" y="1594143"/>
              <a:ext cx="570694" cy="57069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65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4677" y="1703099"/>
              <a:ext cx="352783" cy="35278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6" name="Picture 4" descr="http://static-cdn.pixelmator.com/ios/user-guide/gestures/tap.png"/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837"/>
            <a:stretch/>
          </p:blipFill>
          <p:spPr bwMode="auto">
            <a:xfrm>
              <a:off x="3742254" y="1814491"/>
              <a:ext cx="1453464" cy="1819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31" name="직선 화살표 연결선 30"/>
          <p:cNvCxnSpPr>
            <a:stCxn id="60" idx="3"/>
            <a:endCxn id="64" idx="0"/>
          </p:cNvCxnSpPr>
          <p:nvPr/>
        </p:nvCxnSpPr>
        <p:spPr>
          <a:xfrm flipH="1">
            <a:off x="2849113" y="4337973"/>
            <a:ext cx="470483" cy="60608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타원 92"/>
          <p:cNvSpPr/>
          <p:nvPr/>
        </p:nvSpPr>
        <p:spPr>
          <a:xfrm>
            <a:off x="3379943" y="3541484"/>
            <a:ext cx="273198" cy="273198"/>
          </a:xfrm>
          <a:prstGeom prst="ellipse">
            <a:avLst/>
          </a:prstGeom>
          <a:solidFill>
            <a:srgbClr val="FF0000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ko-KR" altLang="en-US" sz="1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6932254" y="3413229"/>
            <a:ext cx="273198" cy="273198"/>
          </a:xfrm>
          <a:prstGeom prst="ellipse">
            <a:avLst/>
          </a:prstGeom>
          <a:solidFill>
            <a:srgbClr val="FF0000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ko-KR" altLang="en-US" sz="1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1" name="그룹 80"/>
          <p:cNvGrpSpPr/>
          <p:nvPr/>
        </p:nvGrpSpPr>
        <p:grpSpPr>
          <a:xfrm>
            <a:off x="1544500" y="6273326"/>
            <a:ext cx="457666" cy="457666"/>
            <a:chOff x="7822129" y="3958960"/>
            <a:chExt cx="457666" cy="457666"/>
          </a:xfrm>
        </p:grpSpPr>
        <p:sp>
          <p:nvSpPr>
            <p:cNvPr id="84" name="타원 83"/>
            <p:cNvSpPr/>
            <p:nvPr/>
          </p:nvSpPr>
          <p:spPr>
            <a:xfrm>
              <a:off x="7822129" y="3958960"/>
              <a:ext cx="457666" cy="457666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85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06" y="4046337"/>
              <a:ext cx="282913" cy="2829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9" name="모서리가 둥근 직사각형 78"/>
          <p:cNvSpPr/>
          <p:nvPr/>
        </p:nvSpPr>
        <p:spPr>
          <a:xfrm>
            <a:off x="5151183" y="7349426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003</a:t>
            </a:r>
            <a:endParaRPr lang="ko-KR" altLang="en-US" sz="800" dirty="0"/>
          </a:p>
        </p:txBody>
      </p:sp>
      <p:sp>
        <p:nvSpPr>
          <p:cNvPr id="80" name="TextBox 79"/>
          <p:cNvSpPr txBox="1"/>
          <p:nvPr/>
        </p:nvSpPr>
        <p:spPr>
          <a:xfrm>
            <a:off x="6142299" y="7350182"/>
            <a:ext cx="164981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가스센서</a:t>
            </a:r>
            <a:r>
              <a:rPr lang="en-US" altLang="ko-KR" sz="900" dirty="0"/>
              <a:t> </a:t>
            </a:r>
            <a:r>
              <a:rPr lang="ko-KR" altLang="en-US" sz="900"/>
              <a:t>위치변경 프로세스</a:t>
            </a:r>
            <a:endParaRPr lang="ko-KR" altLang="en-US" sz="900" dirty="0"/>
          </a:p>
        </p:txBody>
      </p:sp>
      <p:sp>
        <p:nvSpPr>
          <p:cNvPr id="89" name="직사각형 88"/>
          <p:cNvSpPr/>
          <p:nvPr/>
        </p:nvSpPr>
        <p:spPr>
          <a:xfrm>
            <a:off x="5236357" y="7919184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관제에서 위치 변경</a:t>
            </a:r>
          </a:p>
        </p:txBody>
      </p:sp>
      <p:sp>
        <p:nvSpPr>
          <p:cNvPr id="90" name="직사각형 89"/>
          <p:cNvSpPr/>
          <p:nvPr/>
        </p:nvSpPr>
        <p:spPr>
          <a:xfrm>
            <a:off x="7084562" y="7919184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반영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8932767" y="7919184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필드매니저에서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변경위치 확인</a:t>
            </a:r>
          </a:p>
        </p:txBody>
      </p:sp>
      <p:sp>
        <p:nvSpPr>
          <p:cNvPr id="96" name="직사각형 95"/>
          <p:cNvSpPr/>
          <p:nvPr/>
        </p:nvSpPr>
        <p:spPr>
          <a:xfrm>
            <a:off x="10780973" y="7919184"/>
            <a:ext cx="1440160" cy="52812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가스센서 설치</a:t>
            </a:r>
          </a:p>
        </p:txBody>
      </p:sp>
      <p:cxnSp>
        <p:nvCxnSpPr>
          <p:cNvPr id="109" name="직선 화살표 연결선 108"/>
          <p:cNvCxnSpPr>
            <a:stCxn id="89" idx="3"/>
            <a:endCxn id="90" idx="1"/>
          </p:cNvCxnSpPr>
          <p:nvPr/>
        </p:nvCxnSpPr>
        <p:spPr>
          <a:xfrm>
            <a:off x="6676517" y="8183249"/>
            <a:ext cx="40804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화살표 연결선 109"/>
          <p:cNvCxnSpPr>
            <a:stCxn id="90" idx="3"/>
            <a:endCxn id="91" idx="1"/>
          </p:cNvCxnSpPr>
          <p:nvPr/>
        </p:nvCxnSpPr>
        <p:spPr>
          <a:xfrm>
            <a:off x="8524722" y="8183249"/>
            <a:ext cx="40804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화살표 연결선 110"/>
          <p:cNvCxnSpPr>
            <a:stCxn id="91" idx="3"/>
            <a:endCxn id="96" idx="1"/>
          </p:cNvCxnSpPr>
          <p:nvPr/>
        </p:nvCxnSpPr>
        <p:spPr>
          <a:xfrm>
            <a:off x="10372927" y="8183249"/>
            <a:ext cx="40804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2159794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92370" y="258649"/>
            <a:ext cx="2923877" cy="47737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2068" b="1" dirty="0">
                <a:latin typeface="+mj-ea"/>
                <a:ea typeface="+mj-ea"/>
                <a:cs typeface="Arial" panose="020B0604020202020204" pitchFamily="34" charset="0"/>
              </a:rPr>
              <a:t>디바이스 위치 이동하기</a:t>
            </a:r>
            <a:endParaRPr lang="en-US" altLang="ko-KR" sz="2068" b="1" dirty="0">
              <a:latin typeface="+mj-ea"/>
              <a:ea typeface="+mj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492369" y="786535"/>
            <a:ext cx="11816862" cy="930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585" dirty="0"/>
          </a:p>
        </p:txBody>
      </p:sp>
      <p:grpSp>
        <p:nvGrpSpPr>
          <p:cNvPr id="4" name="그룹 3"/>
          <p:cNvGrpSpPr/>
          <p:nvPr/>
        </p:nvGrpSpPr>
        <p:grpSpPr>
          <a:xfrm>
            <a:off x="944231" y="2032760"/>
            <a:ext cx="1693483" cy="1983793"/>
            <a:chOff x="573840" y="1650657"/>
            <a:chExt cx="1693483" cy="1983793"/>
          </a:xfrm>
        </p:grpSpPr>
        <p:grpSp>
          <p:nvGrpSpPr>
            <p:cNvPr id="5" name="그룹 4"/>
            <p:cNvGrpSpPr/>
            <p:nvPr/>
          </p:nvGrpSpPr>
          <p:grpSpPr>
            <a:xfrm>
              <a:off x="573840" y="1650657"/>
              <a:ext cx="457666" cy="457666"/>
              <a:chOff x="7822129" y="3958960"/>
              <a:chExt cx="457666" cy="457666"/>
            </a:xfrm>
          </p:grpSpPr>
          <p:sp>
            <p:nvSpPr>
              <p:cNvPr id="7" name="타원 6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8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6" name="Picture 4" descr="http://static-cdn.pixelmator.com/ios/user-guide/gestures/tap.png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837"/>
            <a:stretch/>
          </p:blipFill>
          <p:spPr bwMode="auto">
            <a:xfrm>
              <a:off x="813859" y="1814491"/>
              <a:ext cx="1453464" cy="1819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" name="그룹 8"/>
          <p:cNvGrpSpPr/>
          <p:nvPr/>
        </p:nvGrpSpPr>
        <p:grpSpPr>
          <a:xfrm>
            <a:off x="6687616" y="1976246"/>
            <a:ext cx="1749997" cy="2040307"/>
            <a:chOff x="3445721" y="1594143"/>
            <a:chExt cx="1749997" cy="2040307"/>
          </a:xfrm>
        </p:grpSpPr>
        <p:sp>
          <p:nvSpPr>
            <p:cNvPr id="10" name="타원 9"/>
            <p:cNvSpPr/>
            <p:nvPr/>
          </p:nvSpPr>
          <p:spPr>
            <a:xfrm>
              <a:off x="3445721" y="1594143"/>
              <a:ext cx="570694" cy="57069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1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4677" y="1703099"/>
              <a:ext cx="352783" cy="35278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4" descr="http://static-cdn.pixelmator.com/ios/user-guide/gestures/tap.png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837"/>
            <a:stretch/>
          </p:blipFill>
          <p:spPr bwMode="auto">
            <a:xfrm>
              <a:off x="3742254" y="1814491"/>
              <a:ext cx="1453464" cy="1819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3" name="직선 연결선 12"/>
          <p:cNvCxnSpPr/>
          <p:nvPr/>
        </p:nvCxnSpPr>
        <p:spPr>
          <a:xfrm>
            <a:off x="1212517" y="5792303"/>
            <a:ext cx="0" cy="630666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그룹 13"/>
          <p:cNvGrpSpPr/>
          <p:nvPr/>
        </p:nvGrpSpPr>
        <p:grpSpPr>
          <a:xfrm>
            <a:off x="929488" y="6311793"/>
            <a:ext cx="570694" cy="570694"/>
            <a:chOff x="6350967" y="1594143"/>
            <a:chExt cx="570694" cy="570694"/>
          </a:xfrm>
        </p:grpSpPr>
        <p:sp>
          <p:nvSpPr>
            <p:cNvPr id="15" name="타원 14"/>
            <p:cNvSpPr/>
            <p:nvPr/>
          </p:nvSpPr>
          <p:spPr>
            <a:xfrm>
              <a:off x="6350967" y="1594143"/>
              <a:ext cx="570694" cy="57069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6" name="Picture 16" descr="http://icons.iconarchive.com/icons/icons8/windows-8/512/Industry-Gas-Mask-icon.png"/>
            <p:cNvPicPr>
              <a:picLocks noChangeAspect="1" noChangeArrowheads="1"/>
            </p:cNvPicPr>
            <p:nvPr/>
          </p:nvPicPr>
          <p:blipFill>
            <a:blip r:embed="rId2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9923" y="1703099"/>
              <a:ext cx="352783" cy="35278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7" name="Picture 4" descr="http://static-cdn.pixelmator.com/ios/user-guide/gestures/tap.pn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837"/>
          <a:stretch/>
        </p:blipFill>
        <p:spPr bwMode="auto">
          <a:xfrm>
            <a:off x="1262536" y="6532141"/>
            <a:ext cx="1453464" cy="1819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8" name="그룹 17"/>
          <p:cNvGrpSpPr/>
          <p:nvPr/>
        </p:nvGrpSpPr>
        <p:grpSpPr>
          <a:xfrm>
            <a:off x="6796572" y="6408817"/>
            <a:ext cx="1889426" cy="2190622"/>
            <a:chOff x="573840" y="1650657"/>
            <a:chExt cx="1889426" cy="2190622"/>
          </a:xfrm>
        </p:grpSpPr>
        <p:grpSp>
          <p:nvGrpSpPr>
            <p:cNvPr id="19" name="그룹 18"/>
            <p:cNvGrpSpPr/>
            <p:nvPr/>
          </p:nvGrpSpPr>
          <p:grpSpPr>
            <a:xfrm>
              <a:off x="573840" y="1650657"/>
              <a:ext cx="457666" cy="457666"/>
              <a:chOff x="7822129" y="3958960"/>
              <a:chExt cx="457666" cy="457666"/>
            </a:xfrm>
          </p:grpSpPr>
          <p:sp>
            <p:nvSpPr>
              <p:cNvPr id="21" name="타원 20"/>
              <p:cNvSpPr/>
              <p:nvPr/>
            </p:nvSpPr>
            <p:spPr>
              <a:xfrm>
                <a:off x="7822129" y="3958960"/>
                <a:ext cx="457666" cy="457666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2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09506" y="4046337"/>
                <a:ext cx="282913" cy="2829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20" name="Picture 4" descr="http://static-cdn.pixelmator.com/ios/user-guide/gestures/tap.png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837"/>
            <a:stretch/>
          </p:blipFill>
          <p:spPr bwMode="auto">
            <a:xfrm>
              <a:off x="1009802" y="2021320"/>
              <a:ext cx="1453464" cy="1819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" name="그룹 22"/>
          <p:cNvGrpSpPr/>
          <p:nvPr/>
        </p:nvGrpSpPr>
        <p:grpSpPr>
          <a:xfrm>
            <a:off x="3155205" y="2296334"/>
            <a:ext cx="2671823" cy="1398470"/>
            <a:chOff x="3426107" y="3833287"/>
            <a:chExt cx="2671823" cy="1398470"/>
          </a:xfrm>
        </p:grpSpPr>
        <p:sp>
          <p:nvSpPr>
            <p:cNvPr id="24" name="모서리가 둥근 사각형 설명선 23"/>
            <p:cNvSpPr/>
            <p:nvPr/>
          </p:nvSpPr>
          <p:spPr>
            <a:xfrm>
              <a:off x="3426107" y="4062714"/>
              <a:ext cx="2442258" cy="1169043"/>
            </a:xfrm>
            <a:prstGeom prst="wedgeRoundRectCallout">
              <a:avLst>
                <a:gd name="adj1" fmla="val -65676"/>
                <a:gd name="adj2" fmla="val -33540"/>
                <a:gd name="adj3" fmla="val 16667"/>
              </a:avLst>
            </a:prstGeom>
            <a:solidFill>
              <a:schemeClr val="bg1"/>
            </a:solidFill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아이콘을 길게 누른다</a:t>
              </a: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5623368" y="3833287"/>
              <a:ext cx="474562" cy="47456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762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  <a:endParaRPr lang="ko-KR" altLang="en-US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" name="그룹 25"/>
          <p:cNvGrpSpPr/>
          <p:nvPr/>
        </p:nvGrpSpPr>
        <p:grpSpPr>
          <a:xfrm>
            <a:off x="9109690" y="2296334"/>
            <a:ext cx="2671823" cy="1398470"/>
            <a:chOff x="3426107" y="3833287"/>
            <a:chExt cx="2671823" cy="1398470"/>
          </a:xfrm>
        </p:grpSpPr>
        <p:sp>
          <p:nvSpPr>
            <p:cNvPr id="27" name="모서리가 둥근 사각형 설명선 26"/>
            <p:cNvSpPr/>
            <p:nvPr/>
          </p:nvSpPr>
          <p:spPr>
            <a:xfrm>
              <a:off x="3426107" y="4062714"/>
              <a:ext cx="2442258" cy="1169043"/>
            </a:xfrm>
            <a:prstGeom prst="wedgeRoundRectCallout">
              <a:avLst>
                <a:gd name="adj1" fmla="val -65676"/>
                <a:gd name="adj2" fmla="val -33540"/>
                <a:gd name="adj3" fmla="val 16667"/>
              </a:avLst>
            </a:prstGeom>
            <a:solidFill>
              <a:schemeClr val="bg1"/>
            </a:solidFill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아이콘이 커진다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5623368" y="3833287"/>
              <a:ext cx="474562" cy="47456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762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  <a:endParaRPr lang="ko-KR" altLang="en-US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9" name="그룹 28"/>
          <p:cNvGrpSpPr/>
          <p:nvPr/>
        </p:nvGrpSpPr>
        <p:grpSpPr>
          <a:xfrm>
            <a:off x="3155205" y="6596192"/>
            <a:ext cx="2671823" cy="1398470"/>
            <a:chOff x="3426107" y="3833287"/>
            <a:chExt cx="2671823" cy="1398470"/>
          </a:xfrm>
        </p:grpSpPr>
        <p:sp>
          <p:nvSpPr>
            <p:cNvPr id="30" name="모서리가 둥근 사각형 설명선 29"/>
            <p:cNvSpPr/>
            <p:nvPr/>
          </p:nvSpPr>
          <p:spPr>
            <a:xfrm>
              <a:off x="3426107" y="4062714"/>
              <a:ext cx="2442258" cy="1169043"/>
            </a:xfrm>
            <a:prstGeom prst="wedgeRoundRectCallout">
              <a:avLst>
                <a:gd name="adj1" fmla="val -65676"/>
                <a:gd name="adj2" fmla="val -33540"/>
                <a:gd name="adj3" fmla="val 16667"/>
              </a:avLst>
            </a:prstGeom>
            <a:solidFill>
              <a:schemeClr val="bg1"/>
            </a:solidFill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아이콘을 드래그한다</a:t>
              </a: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5623368" y="3833287"/>
              <a:ext cx="474562" cy="47456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762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lang="ko-KR" altLang="en-US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9109690" y="6596192"/>
            <a:ext cx="2671823" cy="1398470"/>
            <a:chOff x="3426107" y="3833287"/>
            <a:chExt cx="2671823" cy="1398470"/>
          </a:xfrm>
        </p:grpSpPr>
        <p:sp>
          <p:nvSpPr>
            <p:cNvPr id="33" name="모서리가 둥근 사각형 설명선 32"/>
            <p:cNvSpPr/>
            <p:nvPr/>
          </p:nvSpPr>
          <p:spPr>
            <a:xfrm>
              <a:off x="3426107" y="4062714"/>
              <a:ext cx="2442258" cy="1169043"/>
            </a:xfrm>
            <a:prstGeom prst="wedgeRoundRectCallout">
              <a:avLst>
                <a:gd name="adj1" fmla="val -65676"/>
                <a:gd name="adj2" fmla="val -33540"/>
                <a:gd name="adj3" fmla="val 16667"/>
              </a:avLst>
            </a:prstGeom>
            <a:solidFill>
              <a:schemeClr val="bg1"/>
            </a:solidFill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드래그 후 놓으면</a:t>
              </a:r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,</a:t>
              </a:r>
            </a:p>
            <a:p>
              <a:pPr algn="ctr"/>
              <a:r>
                <a:rPr lang="ko-KR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아이콘이 다시 작아진다</a:t>
              </a: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5623368" y="3833287"/>
              <a:ext cx="474562" cy="47456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762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  <a:endParaRPr lang="ko-KR" altLang="en-US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929488" y="5217758"/>
            <a:ext cx="570694" cy="570694"/>
            <a:chOff x="929488" y="5032563"/>
            <a:chExt cx="570694" cy="570694"/>
          </a:xfrm>
        </p:grpSpPr>
        <p:grpSp>
          <p:nvGrpSpPr>
            <p:cNvPr id="36" name="그룹 35"/>
            <p:cNvGrpSpPr/>
            <p:nvPr/>
          </p:nvGrpSpPr>
          <p:grpSpPr>
            <a:xfrm>
              <a:off x="929488" y="5032563"/>
              <a:ext cx="570694" cy="570694"/>
              <a:chOff x="6350967" y="1594143"/>
              <a:chExt cx="570694" cy="570694"/>
            </a:xfrm>
          </p:grpSpPr>
          <p:sp>
            <p:nvSpPr>
              <p:cNvPr id="38" name="타원 37"/>
              <p:cNvSpPr/>
              <p:nvPr/>
            </p:nvSpPr>
            <p:spPr>
              <a:xfrm>
                <a:off x="6350967" y="1594143"/>
                <a:ext cx="570694" cy="570694"/>
              </a:xfrm>
              <a:prstGeom prst="ellipse">
                <a:avLst/>
              </a:prstGeom>
              <a:solidFill>
                <a:schemeClr val="bg1"/>
              </a:solidFill>
              <a:ln w="381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100" b="1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39" name="Picture 16" descr="http://icons.iconarchive.com/icons/icons8/windows-8/512/Industry-Gas-Mask-icon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59923" y="1703099"/>
                <a:ext cx="352783" cy="35278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37" name="타원 36"/>
            <p:cNvSpPr/>
            <p:nvPr/>
          </p:nvSpPr>
          <p:spPr>
            <a:xfrm>
              <a:off x="990645" y="5096038"/>
              <a:ext cx="443744" cy="443744"/>
            </a:xfrm>
            <a:prstGeom prst="ellipse">
              <a:avLst/>
            </a:prstGeom>
            <a:solidFill>
              <a:srgbClr val="FFFFFF">
                <a:alpha val="50196"/>
              </a:srgbClr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11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492369" y="1020277"/>
            <a:ext cx="3107358" cy="20005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3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* </a:t>
            </a:r>
            <a:r>
              <a:rPr lang="ko-KR" altLang="en-US" dirty="0">
                <a:solidFill>
                  <a:schemeClr val="tx1"/>
                </a:solidFill>
              </a:rPr>
              <a:t>설치 예정인 디바이스만 위치 이동 가능</a:t>
            </a:r>
            <a:endParaRPr lang="en-US" altLang="ko-KR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82818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"/>
          <p:cNvSpPr/>
          <p:nvPr/>
        </p:nvSpPr>
        <p:spPr>
          <a:xfrm>
            <a:off x="352128" y="1056184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007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343244" y="1056940"/>
            <a:ext cx="164981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가스센서 규칙적용 프로세스</a:t>
            </a:r>
          </a:p>
        </p:txBody>
      </p:sp>
      <p:sp>
        <p:nvSpPr>
          <p:cNvPr id="9" name="직사각형 8"/>
          <p:cNvSpPr/>
          <p:nvPr/>
        </p:nvSpPr>
        <p:spPr>
          <a:xfrm>
            <a:off x="1337605" y="2161911"/>
            <a:ext cx="1944216" cy="129614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관제 패드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2201701" y="3606841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필드 매니저</a:t>
            </a:r>
          </a:p>
        </p:txBody>
      </p:sp>
      <p:sp>
        <p:nvSpPr>
          <p:cNvPr id="12" name="다이아몬드 11"/>
          <p:cNvSpPr/>
          <p:nvPr/>
        </p:nvSpPr>
        <p:spPr>
          <a:xfrm>
            <a:off x="3812503" y="3170023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규칙 생성</a:t>
            </a:r>
          </a:p>
        </p:txBody>
      </p:sp>
      <p:cxnSp>
        <p:nvCxnSpPr>
          <p:cNvPr id="14" name="꺾인 연결선 13"/>
          <p:cNvCxnSpPr>
            <a:stCxn id="9" idx="3"/>
            <a:endCxn id="12" idx="1"/>
          </p:cNvCxnSpPr>
          <p:nvPr/>
        </p:nvCxnSpPr>
        <p:spPr>
          <a:xfrm>
            <a:off x="3281821" y="2809983"/>
            <a:ext cx="530682" cy="717322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꺾인 연결선 15"/>
          <p:cNvCxnSpPr>
            <a:stCxn id="10" idx="3"/>
            <a:endCxn id="12" idx="1"/>
          </p:cNvCxnSpPr>
          <p:nvPr/>
        </p:nvCxnSpPr>
        <p:spPr>
          <a:xfrm flipV="1">
            <a:off x="3281821" y="3527305"/>
            <a:ext cx="530682" cy="725223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원통 16"/>
          <p:cNvSpPr/>
          <p:nvPr/>
        </p:nvSpPr>
        <p:spPr>
          <a:xfrm>
            <a:off x="5658085" y="3164506"/>
            <a:ext cx="1296144" cy="720080"/>
          </a:xfrm>
          <a:prstGeom prst="can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서버 누적</a:t>
            </a:r>
          </a:p>
        </p:txBody>
      </p:sp>
      <p:cxnSp>
        <p:nvCxnSpPr>
          <p:cNvPr id="19" name="직선 화살표 연결선 18"/>
          <p:cNvCxnSpPr>
            <a:stCxn id="12" idx="3"/>
            <a:endCxn id="17" idx="2"/>
          </p:cNvCxnSpPr>
          <p:nvPr/>
        </p:nvCxnSpPr>
        <p:spPr>
          <a:xfrm flipV="1">
            <a:off x="5036639" y="3524546"/>
            <a:ext cx="621446" cy="275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5742541" y="3949353"/>
            <a:ext cx="1127232" cy="147732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000" dirty="0"/>
              <a:t>Ver. 1.01</a:t>
            </a:r>
          </a:p>
          <a:p>
            <a:pPr algn="ctr"/>
            <a:r>
              <a:rPr lang="en-US" altLang="ko-KR" sz="1000" dirty="0"/>
              <a:t>Ver. 1.02</a:t>
            </a:r>
          </a:p>
          <a:p>
            <a:pPr algn="ctr"/>
            <a:r>
              <a:rPr lang="en-US" altLang="ko-KR" sz="1000" dirty="0"/>
              <a:t>Ver. 1.03</a:t>
            </a:r>
          </a:p>
          <a:p>
            <a:pPr algn="ctr"/>
            <a:r>
              <a:rPr lang="en-US" altLang="ko-KR" sz="1000" dirty="0"/>
              <a:t>Ver. 1.04</a:t>
            </a:r>
          </a:p>
          <a:p>
            <a:pPr algn="ctr"/>
            <a:r>
              <a:rPr lang="en-US" altLang="ko-KR" sz="1000" dirty="0"/>
              <a:t>Ver. 1.05</a:t>
            </a:r>
          </a:p>
          <a:p>
            <a:pPr algn="ctr"/>
            <a:r>
              <a:rPr lang="en-US" altLang="ko-KR" sz="1000" dirty="0"/>
              <a:t>Ver. 1.06</a:t>
            </a:r>
          </a:p>
          <a:p>
            <a:pPr algn="ctr"/>
            <a:r>
              <a:rPr lang="en-US" altLang="ko-KR" sz="1000" dirty="0"/>
              <a:t>Ver. 1.07</a:t>
            </a:r>
          </a:p>
          <a:p>
            <a:pPr algn="ctr"/>
            <a:endParaRPr lang="en-US" altLang="ko-KR" sz="1000" dirty="0"/>
          </a:p>
          <a:p>
            <a:pPr algn="ctr"/>
            <a:r>
              <a:rPr lang="ko-KR" altLang="en-US" sz="1000" dirty="0"/>
              <a:t>형태로 </a:t>
            </a:r>
            <a:r>
              <a:rPr lang="ko-KR" altLang="en-US" sz="1000" dirty="0" err="1"/>
              <a:t>리스트업</a:t>
            </a:r>
            <a:endParaRPr lang="en-US" altLang="ko-KR" sz="1000" dirty="0"/>
          </a:p>
        </p:txBody>
      </p:sp>
      <p:grpSp>
        <p:nvGrpSpPr>
          <p:cNvPr id="24" name="그룹 23"/>
          <p:cNvGrpSpPr/>
          <p:nvPr/>
        </p:nvGrpSpPr>
        <p:grpSpPr>
          <a:xfrm>
            <a:off x="10050573" y="2552438"/>
            <a:ext cx="1080120" cy="1944216"/>
            <a:chOff x="8020980" y="1848272"/>
            <a:chExt cx="1080120" cy="194421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8020980" y="1848272"/>
              <a:ext cx="1080120" cy="1944216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사다리꼴 20"/>
            <p:cNvSpPr/>
            <p:nvPr/>
          </p:nvSpPr>
          <p:spPr>
            <a:xfrm rot="10800000">
              <a:off x="8201000" y="1848272"/>
              <a:ext cx="720080" cy="432048"/>
            </a:xfrm>
            <a:prstGeom prst="trapezoid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8298181" y="2354713"/>
              <a:ext cx="530682" cy="122413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6" name="직사각형 25"/>
          <p:cNvSpPr/>
          <p:nvPr/>
        </p:nvSpPr>
        <p:spPr>
          <a:xfrm>
            <a:off x="7858738" y="2878859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필드 매니저</a:t>
            </a:r>
          </a:p>
        </p:txBody>
      </p:sp>
      <p:cxnSp>
        <p:nvCxnSpPr>
          <p:cNvPr id="31" name="꺾인 연결선 30"/>
          <p:cNvCxnSpPr>
            <a:stCxn id="20" idx="3"/>
            <a:endCxn id="26" idx="1"/>
          </p:cNvCxnSpPr>
          <p:nvPr/>
        </p:nvCxnSpPr>
        <p:spPr>
          <a:xfrm flipV="1">
            <a:off x="6869773" y="3524546"/>
            <a:ext cx="988965" cy="1163471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32"/>
          <p:cNvCxnSpPr>
            <a:stCxn id="26" idx="3"/>
            <a:endCxn id="22" idx="1"/>
          </p:cNvCxnSpPr>
          <p:nvPr/>
        </p:nvCxnSpPr>
        <p:spPr>
          <a:xfrm>
            <a:off x="8938858" y="3524546"/>
            <a:ext cx="111171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4" name="그림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7766" y="2664594"/>
            <a:ext cx="373898" cy="3738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159815" y="2387595"/>
            <a:ext cx="66979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200" dirty="0"/>
              <a:t>pairing</a:t>
            </a:r>
            <a:endParaRPr lang="ko-KR" altLang="en-US" sz="1200" dirty="0"/>
          </a:p>
        </p:txBody>
      </p:sp>
      <p:sp>
        <p:nvSpPr>
          <p:cNvPr id="36" name="TextBox 35"/>
          <p:cNvSpPr txBox="1"/>
          <p:nvPr/>
        </p:nvSpPr>
        <p:spPr>
          <a:xfrm>
            <a:off x="8938858" y="3164506"/>
            <a:ext cx="702436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규칙 적용</a:t>
            </a:r>
            <a:endParaRPr lang="en-US" altLang="ko-KR" sz="900" dirty="0"/>
          </a:p>
          <a:p>
            <a:r>
              <a:rPr lang="en-US" altLang="ko-KR" sz="900" dirty="0"/>
              <a:t>(</a:t>
            </a:r>
            <a:r>
              <a:rPr lang="en-US" altLang="ko-KR" sz="900" dirty="0" err="1"/>
              <a:t>Ver</a:t>
            </a:r>
            <a:r>
              <a:rPr lang="en-US" altLang="ko-KR" sz="900" dirty="0"/>
              <a:t> </a:t>
            </a:r>
            <a:r>
              <a:rPr lang="ko-KR" altLang="en-US" sz="900"/>
              <a:t>선택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77096041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직사각형 17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568152" y="2928392"/>
            <a:ext cx="9361040" cy="374441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041</a:t>
            </a:r>
            <a:endParaRPr lang="ko-KR" altLang="en-US" sz="800" dirty="0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90281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+mn-ea"/>
              </a:rPr>
              <a:t>경보 </a:t>
            </a:r>
            <a:r>
              <a:rPr lang="en-US" altLang="ko-KR" sz="900" dirty="0" err="1">
                <a:latin typeface="+mn-ea"/>
              </a:rPr>
              <a:t>Ver</a:t>
            </a:r>
            <a:r>
              <a:rPr lang="en-US" altLang="ko-KR" sz="900" dirty="0">
                <a:latin typeface="+mn-ea"/>
              </a:rPr>
              <a:t> </a:t>
            </a:r>
            <a:r>
              <a:rPr lang="ko-KR" altLang="en-US" sz="900">
                <a:latin typeface="+mn-ea"/>
              </a:rPr>
              <a:t>팝업</a:t>
            </a:r>
            <a:endParaRPr lang="ko-KR" altLang="en-US" sz="900" dirty="0">
              <a:latin typeface="+mn-ea"/>
            </a:endParaRPr>
          </a:p>
        </p:txBody>
      </p:sp>
      <p:sp>
        <p:nvSpPr>
          <p:cNvPr id="4" name="모서리가 둥근 직사각형 3"/>
          <p:cNvSpPr/>
          <p:nvPr/>
        </p:nvSpPr>
        <p:spPr>
          <a:xfrm>
            <a:off x="712168" y="3720480"/>
            <a:ext cx="9083198" cy="2677828"/>
          </a:xfrm>
          <a:prstGeom prst="roundRect">
            <a:avLst>
              <a:gd name="adj" fmla="val 4496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856184" y="3883314"/>
            <a:ext cx="70083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규칙 명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672913" y="3883314"/>
            <a:ext cx="233429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dirty="0"/>
              <a:t>지하 </a:t>
            </a:r>
            <a:r>
              <a:rPr lang="en-US" altLang="ko-KR" sz="1200" dirty="0"/>
              <a:t>1</a:t>
            </a:r>
            <a:r>
              <a:rPr lang="ko-KR" altLang="en-US" sz="1200"/>
              <a:t>층 밀폐공간 앞 일반지역</a:t>
            </a:r>
            <a:endParaRPr lang="ko-KR" altLang="en-US" sz="1200" dirty="0"/>
          </a:p>
        </p:txBody>
      </p:sp>
      <p:sp>
        <p:nvSpPr>
          <p:cNvPr id="7" name="TextBox 6"/>
          <p:cNvSpPr txBox="1"/>
          <p:nvPr/>
        </p:nvSpPr>
        <p:spPr>
          <a:xfrm>
            <a:off x="8495788" y="3906396"/>
            <a:ext cx="11368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900" dirty="0"/>
              <a:t>16.07.01  14:32:23</a:t>
            </a:r>
            <a:endParaRPr lang="ko-KR" altLang="en-US" sz="900" dirty="0"/>
          </a:p>
        </p:txBody>
      </p:sp>
      <p:cxnSp>
        <p:nvCxnSpPr>
          <p:cNvPr id="8" name="직선 연결선 7"/>
          <p:cNvCxnSpPr/>
          <p:nvPr/>
        </p:nvCxnSpPr>
        <p:spPr>
          <a:xfrm>
            <a:off x="980953" y="4294480"/>
            <a:ext cx="86182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/>
          <p:cNvGrpSpPr/>
          <p:nvPr/>
        </p:nvGrpSpPr>
        <p:grpSpPr>
          <a:xfrm>
            <a:off x="6913975" y="3878588"/>
            <a:ext cx="1084564" cy="276999"/>
            <a:chOff x="693988" y="3424733"/>
            <a:chExt cx="1084564" cy="276999"/>
          </a:xfrm>
        </p:grpSpPr>
        <p:sp>
          <p:nvSpPr>
            <p:cNvPr id="11" name="TextBox 10"/>
            <p:cNvSpPr txBox="1"/>
            <p:nvPr/>
          </p:nvSpPr>
          <p:spPr>
            <a:xfrm>
              <a:off x="693988" y="3424733"/>
              <a:ext cx="449162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en-US" altLang="ko-KR" sz="1200" b="1" dirty="0"/>
                <a:t>Ver.</a:t>
              </a:r>
              <a:endParaRPr lang="ko-KR" altLang="en-US" sz="1200" b="1" dirty="0"/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05346" y="3424733"/>
              <a:ext cx="473206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en-US" altLang="ko-KR" sz="1200" dirty="0"/>
                <a:t>1.14</a:t>
              </a:r>
              <a:endParaRPr lang="ko-KR" altLang="en-US" sz="1200" dirty="0"/>
            </a:p>
          </p:txBody>
        </p:sp>
      </p:grpSp>
      <p:sp>
        <p:nvSpPr>
          <p:cNvPr id="16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159121" y="308543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712168" y="3112378"/>
            <a:ext cx="13003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가스 경보</a:t>
            </a:r>
            <a:endParaRPr lang="ko-KR" altLang="en-US" sz="2000" dirty="0"/>
          </a:p>
        </p:txBody>
      </p:sp>
      <p:sp>
        <p:nvSpPr>
          <p:cNvPr id="20" name="직사각형 19"/>
          <p:cNvSpPr/>
          <p:nvPr/>
        </p:nvSpPr>
        <p:spPr>
          <a:xfrm>
            <a:off x="5116475" y="284550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21" name="표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712521"/>
              </p:ext>
            </p:extLst>
          </p:nvPr>
        </p:nvGraphicFramePr>
        <p:xfrm>
          <a:off x="10633534" y="1272208"/>
          <a:ext cx="2088232" cy="234715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가스 경보 화면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버전 정보만 노출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7507153" y="371746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9876419"/>
              </p:ext>
            </p:extLst>
          </p:nvPr>
        </p:nvGraphicFramePr>
        <p:xfrm>
          <a:off x="980953" y="4412130"/>
          <a:ext cx="8618240" cy="18886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4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3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347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34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8347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8347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기준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산소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(O2)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일산화탄소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(CO)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황화수소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(H2S)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메탄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(CH4)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습도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화재위험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23.5%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90 ℃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화재위험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18%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17%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STEL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TWA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549040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"/>
          <p:cNvSpPr/>
          <p:nvPr/>
        </p:nvSpPr>
        <p:spPr>
          <a:xfrm>
            <a:off x="352128" y="1056184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008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343244" y="1056940"/>
            <a:ext cx="16962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경고구역 등록</a:t>
            </a:r>
            <a:r>
              <a:rPr lang="en-US" altLang="ko-KR" sz="900" dirty="0"/>
              <a:t>/</a:t>
            </a:r>
            <a:r>
              <a:rPr lang="ko-KR" altLang="en-US" sz="900"/>
              <a:t>해제 프로세스</a:t>
            </a:r>
            <a:endParaRPr lang="ko-KR" altLang="en-US" sz="900" dirty="0"/>
          </a:p>
        </p:txBody>
      </p:sp>
      <p:sp>
        <p:nvSpPr>
          <p:cNvPr id="10" name="직사각형 9"/>
          <p:cNvSpPr/>
          <p:nvPr/>
        </p:nvSpPr>
        <p:spPr>
          <a:xfrm>
            <a:off x="1648272" y="2153183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필드 매니저</a:t>
            </a:r>
          </a:p>
        </p:txBody>
      </p:sp>
      <p:sp>
        <p:nvSpPr>
          <p:cNvPr id="32" name="직사각형 31"/>
          <p:cNvSpPr/>
          <p:nvPr/>
        </p:nvSpPr>
        <p:spPr>
          <a:xfrm>
            <a:off x="3905214" y="2153183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등록된 내역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리스트 페이지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6" name="직선 화살표 연결선 5"/>
          <p:cNvCxnSpPr>
            <a:stCxn id="10" idx="3"/>
            <a:endCxn id="32" idx="1"/>
          </p:cNvCxnSpPr>
          <p:nvPr/>
        </p:nvCxnSpPr>
        <p:spPr>
          <a:xfrm>
            <a:off x="2728392" y="2798870"/>
            <a:ext cx="117682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/>
          <p:cNvSpPr txBox="1"/>
          <p:nvPr/>
        </p:nvSpPr>
        <p:spPr>
          <a:xfrm>
            <a:off x="2718209" y="2533976"/>
            <a:ext cx="742511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/>
              <a:t>구역 선택</a:t>
            </a:r>
          </a:p>
        </p:txBody>
      </p:sp>
      <p:sp>
        <p:nvSpPr>
          <p:cNvPr id="38" name="직사각형 37"/>
          <p:cNvSpPr/>
          <p:nvPr/>
        </p:nvSpPr>
        <p:spPr>
          <a:xfrm>
            <a:off x="5887558" y="2153183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사진 촬영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6967678" y="2153183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메모추가</a:t>
            </a:r>
          </a:p>
        </p:txBody>
      </p:sp>
      <p:cxnSp>
        <p:nvCxnSpPr>
          <p:cNvPr id="18" name="직선 화살표 연결선 17"/>
          <p:cNvCxnSpPr>
            <a:stCxn id="32" idx="3"/>
            <a:endCxn id="38" idx="1"/>
          </p:cNvCxnSpPr>
          <p:nvPr/>
        </p:nvCxnSpPr>
        <p:spPr>
          <a:xfrm>
            <a:off x="4985334" y="2798870"/>
            <a:ext cx="90222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5004523" y="2533976"/>
            <a:ext cx="697627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/>
              <a:t>추가버튼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8610478" y="2557218"/>
            <a:ext cx="1512168" cy="483303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등록 알림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이벤트 등록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/push)</a:t>
            </a:r>
            <a:endParaRPr lang="ko-KR" altLang="en-US" sz="80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3" name="직선 화살표 연결선 42"/>
          <p:cNvCxnSpPr>
            <a:stCxn id="39" idx="3"/>
            <a:endCxn id="41" idx="1"/>
          </p:cNvCxnSpPr>
          <p:nvPr/>
        </p:nvCxnSpPr>
        <p:spPr>
          <a:xfrm>
            <a:off x="8047798" y="2798870"/>
            <a:ext cx="56268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꺾인 연결선 44"/>
          <p:cNvCxnSpPr>
            <a:stCxn id="41" idx="0"/>
            <a:endCxn id="32" idx="0"/>
          </p:cNvCxnSpPr>
          <p:nvPr/>
        </p:nvCxnSpPr>
        <p:spPr>
          <a:xfrm rot="16200000" flipV="1">
            <a:off x="6703901" y="-105443"/>
            <a:ext cx="404035" cy="4921288"/>
          </a:xfrm>
          <a:prstGeom prst="bentConnector3">
            <a:avLst>
              <a:gd name="adj1" fmla="val 156579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6988370" y="1632248"/>
            <a:ext cx="1858201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/>
              <a:t>등록내역 리스트 페이지 확인</a:t>
            </a:r>
          </a:p>
        </p:txBody>
      </p:sp>
      <p:sp>
        <p:nvSpPr>
          <p:cNvPr id="50" name="직사각형 49"/>
          <p:cNvSpPr/>
          <p:nvPr/>
        </p:nvSpPr>
        <p:spPr>
          <a:xfrm>
            <a:off x="5887558" y="4082249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경고내역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확인 페이지</a:t>
            </a:r>
          </a:p>
        </p:txBody>
      </p:sp>
      <p:cxnSp>
        <p:nvCxnSpPr>
          <p:cNvPr id="52" name="꺾인 연결선 51"/>
          <p:cNvCxnSpPr>
            <a:stCxn id="32" idx="2"/>
            <a:endCxn id="50" idx="1"/>
          </p:cNvCxnSpPr>
          <p:nvPr/>
        </p:nvCxnSpPr>
        <p:spPr>
          <a:xfrm rot="16200000" flipH="1">
            <a:off x="4524727" y="3365104"/>
            <a:ext cx="1283379" cy="1442284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Search Box Rectangle"/>
          <p:cNvSpPr>
            <a:spLocks/>
          </p:cNvSpPr>
          <p:nvPr/>
        </p:nvSpPr>
        <p:spPr bwMode="auto">
          <a:xfrm>
            <a:off x="7602366" y="4569941"/>
            <a:ext cx="1008112" cy="31599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경고해제 버튼</a:t>
            </a:r>
            <a:endParaRPr lang="de-DE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다이아몬드 54"/>
          <p:cNvSpPr/>
          <p:nvPr/>
        </p:nvSpPr>
        <p:spPr>
          <a:xfrm>
            <a:off x="9114534" y="4370654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해제 판단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(Alert)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7" name="직선 화살표 연결선 56"/>
          <p:cNvCxnSpPr>
            <a:stCxn id="50" idx="3"/>
            <a:endCxn id="53" idx="1"/>
          </p:cNvCxnSpPr>
          <p:nvPr/>
        </p:nvCxnSpPr>
        <p:spPr>
          <a:xfrm>
            <a:off x="6967678" y="4727936"/>
            <a:ext cx="63468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화살표 연결선 58"/>
          <p:cNvCxnSpPr>
            <a:stCxn id="53" idx="3"/>
            <a:endCxn id="55" idx="1"/>
          </p:cNvCxnSpPr>
          <p:nvPr/>
        </p:nvCxnSpPr>
        <p:spPr>
          <a:xfrm>
            <a:off x="8610478" y="4727936"/>
            <a:ext cx="50405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꺾인 연결선 60"/>
          <p:cNvCxnSpPr>
            <a:stCxn id="55" idx="0"/>
            <a:endCxn id="50" idx="0"/>
          </p:cNvCxnSpPr>
          <p:nvPr/>
        </p:nvCxnSpPr>
        <p:spPr>
          <a:xfrm rot="16200000" flipV="1">
            <a:off x="7932908" y="2576960"/>
            <a:ext cx="288405" cy="3298984"/>
          </a:xfrm>
          <a:prstGeom prst="bentConnector3">
            <a:avLst>
              <a:gd name="adj1" fmla="val 179264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9366562" y="4017309"/>
            <a:ext cx="35939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000" dirty="0"/>
              <a:t>No</a:t>
            </a:r>
            <a:endParaRPr lang="ko-KR" altLang="en-US" sz="1000" dirty="0"/>
          </a:p>
        </p:txBody>
      </p:sp>
      <p:sp>
        <p:nvSpPr>
          <p:cNvPr id="72" name="직사각형 71"/>
          <p:cNvSpPr/>
          <p:nvPr/>
        </p:nvSpPr>
        <p:spPr>
          <a:xfrm>
            <a:off x="9185896" y="6766465"/>
            <a:ext cx="1080120" cy="1291374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해제사유 입력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메모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다이아몬드 74"/>
          <p:cNvSpPr/>
          <p:nvPr/>
        </p:nvSpPr>
        <p:spPr>
          <a:xfrm>
            <a:off x="9114534" y="5642937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해제사유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>
                <a:solidFill>
                  <a:schemeClr val="tx1"/>
                </a:solidFill>
                <a:latin typeface="+mn-ea"/>
              </a:rPr>
              <a:t>입력 판단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화살표 연결선 76"/>
          <p:cNvCxnSpPr>
            <a:stCxn id="55" idx="2"/>
            <a:endCxn id="75" idx="0"/>
          </p:cNvCxnSpPr>
          <p:nvPr/>
        </p:nvCxnSpPr>
        <p:spPr>
          <a:xfrm>
            <a:off x="9726602" y="5085217"/>
            <a:ext cx="0" cy="5577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9366562" y="5106309"/>
            <a:ext cx="3818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000" dirty="0"/>
              <a:t>Yes</a:t>
            </a:r>
            <a:endParaRPr lang="ko-KR" altLang="en-US" sz="1000" dirty="0"/>
          </a:p>
        </p:txBody>
      </p:sp>
      <p:cxnSp>
        <p:nvCxnSpPr>
          <p:cNvPr id="81" name="직선 화살표 연결선 80"/>
          <p:cNvCxnSpPr>
            <a:stCxn id="75" idx="2"/>
            <a:endCxn id="72" idx="0"/>
          </p:cNvCxnSpPr>
          <p:nvPr/>
        </p:nvCxnSpPr>
        <p:spPr>
          <a:xfrm flipH="1">
            <a:off x="9725956" y="6357500"/>
            <a:ext cx="646" cy="40896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꺾인 연결선 82"/>
          <p:cNvCxnSpPr>
            <a:stCxn id="75" idx="1"/>
            <a:endCxn id="88" idx="1"/>
          </p:cNvCxnSpPr>
          <p:nvPr/>
        </p:nvCxnSpPr>
        <p:spPr>
          <a:xfrm rot="10800000" flipV="1">
            <a:off x="8980596" y="6000219"/>
            <a:ext cx="133939" cy="2659312"/>
          </a:xfrm>
          <a:prstGeom prst="bentConnector3">
            <a:avLst>
              <a:gd name="adj1" fmla="val 270675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8755140" y="5773090"/>
            <a:ext cx="35939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000" dirty="0"/>
              <a:t>No</a:t>
            </a:r>
            <a:endParaRPr lang="ko-KR" altLang="en-US" sz="1000" dirty="0"/>
          </a:p>
        </p:txBody>
      </p:sp>
      <p:sp>
        <p:nvSpPr>
          <p:cNvPr id="85" name="TextBox 84"/>
          <p:cNvSpPr txBox="1"/>
          <p:nvPr/>
        </p:nvSpPr>
        <p:spPr>
          <a:xfrm>
            <a:off x="9366562" y="6387442"/>
            <a:ext cx="3818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000" dirty="0"/>
              <a:t>Yes</a:t>
            </a:r>
            <a:endParaRPr lang="ko-KR" altLang="en-US" sz="1000" dirty="0"/>
          </a:p>
        </p:txBody>
      </p:sp>
      <p:sp>
        <p:nvSpPr>
          <p:cNvPr id="88" name="모서리가 둥근 직사각형 87"/>
          <p:cNvSpPr/>
          <p:nvPr/>
        </p:nvSpPr>
        <p:spPr>
          <a:xfrm>
            <a:off x="8980595" y="8417879"/>
            <a:ext cx="1512168" cy="483303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경고 해제 완료</a:t>
            </a:r>
          </a:p>
        </p:txBody>
      </p:sp>
      <p:cxnSp>
        <p:nvCxnSpPr>
          <p:cNvPr id="91" name="직선 화살표 연결선 90"/>
          <p:cNvCxnSpPr>
            <a:stCxn id="72" idx="2"/>
            <a:endCxn id="88" idx="0"/>
          </p:cNvCxnSpPr>
          <p:nvPr/>
        </p:nvCxnSpPr>
        <p:spPr>
          <a:xfrm>
            <a:off x="9725956" y="8057839"/>
            <a:ext cx="10723" cy="3600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9421813" y="8067530"/>
            <a:ext cx="381836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000" dirty="0"/>
              <a:t>Yes</a:t>
            </a:r>
            <a:endParaRPr lang="ko-KR" altLang="en-US" sz="1000" dirty="0"/>
          </a:p>
        </p:txBody>
      </p:sp>
      <p:sp>
        <p:nvSpPr>
          <p:cNvPr id="97" name="TextBox 96"/>
          <p:cNvSpPr txBox="1"/>
          <p:nvPr/>
        </p:nvSpPr>
        <p:spPr>
          <a:xfrm>
            <a:off x="10328555" y="7252952"/>
            <a:ext cx="1112805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800" b="1" dirty="0"/>
              <a:t>해제사유 메시지</a:t>
            </a:r>
            <a:endParaRPr lang="en-US" altLang="ko-KR" sz="800" b="1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800" dirty="0"/>
              <a:t>누가 해제했는지</a:t>
            </a:r>
            <a:endParaRPr lang="en-US" altLang="ko-KR" sz="8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800" dirty="0"/>
              <a:t>어떤 내용인지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8305910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직사각형 45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1561736" y="632805"/>
            <a:ext cx="12398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경고지역 등록현황 전체보기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7045597" y="2352328"/>
            <a:ext cx="3087636" cy="579241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082076" y="2497892"/>
            <a:ext cx="214033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경고지역 등록현황 전체보기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75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136751" y="2964117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8594707" y="22373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9723952" y="239713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6911650" y="30274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6911650" y="37025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7140199" y="4288191"/>
            <a:ext cx="2929009" cy="1334652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4625334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7" name="TextBox 16"/>
          <p:cNvSpPr txBox="1"/>
          <p:nvPr/>
        </p:nvSpPr>
        <p:spPr>
          <a:xfrm>
            <a:off x="7164727" y="4359751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latin typeface="+mj-lt"/>
              </a:rPr>
              <a:t>[</a:t>
            </a:r>
            <a:r>
              <a:rPr lang="ko-KR" altLang="en-US" sz="900" b="1">
                <a:latin typeface="+mj-lt"/>
              </a:rPr>
              <a:t>제 </a:t>
            </a:r>
            <a:r>
              <a:rPr lang="en-US" altLang="ko-KR" sz="900" b="1" dirty="0">
                <a:latin typeface="+mj-lt"/>
              </a:rPr>
              <a:t>1</a:t>
            </a:r>
            <a:r>
              <a:rPr lang="ko-KR" altLang="en-US" sz="900" b="1">
                <a:latin typeface="+mj-lt"/>
              </a:rPr>
              <a:t>공장</a:t>
            </a:r>
            <a:r>
              <a:rPr lang="en-US" altLang="ko-KR" sz="900" b="1" dirty="0">
                <a:latin typeface="+mj-lt"/>
              </a:rPr>
              <a:t>] 1</a:t>
            </a:r>
            <a:r>
              <a:rPr lang="ko-KR" altLang="en-US" sz="900" b="1">
                <a:latin typeface="+mj-lt"/>
              </a:rPr>
              <a:t>층 </a:t>
            </a:r>
            <a:r>
              <a:rPr lang="en-US" altLang="ko-KR" sz="900" b="1" dirty="0">
                <a:latin typeface="+mj-lt"/>
              </a:rPr>
              <a:t>A-1 </a:t>
            </a:r>
            <a:r>
              <a:rPr lang="ko-KR" altLang="en-US" sz="900" b="1">
                <a:latin typeface="+mj-lt"/>
              </a:rPr>
              <a:t>구역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521685" y="4383972"/>
            <a:ext cx="48603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경고 중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029755" y="5343414"/>
            <a:ext cx="98937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/>
              <a:t>0000.00.00 14:32:30</a:t>
            </a:r>
            <a:endParaRPr lang="ko-KR" altLang="en-US" sz="300" dirty="0"/>
          </a:p>
        </p:txBody>
      </p:sp>
      <p:sp>
        <p:nvSpPr>
          <p:cNvPr id="20" name="TextBox 19"/>
          <p:cNvSpPr txBox="1"/>
          <p:nvPr/>
        </p:nvSpPr>
        <p:spPr>
          <a:xfrm>
            <a:off x="7136751" y="5366166"/>
            <a:ext cx="9348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/>
              <a:t>홍길동 일반출입자</a:t>
            </a:r>
          </a:p>
        </p:txBody>
      </p:sp>
      <p:sp>
        <p:nvSpPr>
          <p:cNvPr id="21" name="직사각형 20"/>
          <p:cNvSpPr/>
          <p:nvPr/>
        </p:nvSpPr>
        <p:spPr>
          <a:xfrm>
            <a:off x="7140199" y="5688856"/>
            <a:ext cx="2929009" cy="133465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22" name="그림 2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6025999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27" name="직사각형 26"/>
          <p:cNvSpPr/>
          <p:nvPr/>
        </p:nvSpPr>
        <p:spPr>
          <a:xfrm>
            <a:off x="7140199" y="7089521"/>
            <a:ext cx="2929009" cy="1055223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28" name="그림 2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7426664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cxnSp>
        <p:nvCxnSpPr>
          <p:cNvPr id="33" name="직선 연결선 32"/>
          <p:cNvCxnSpPr/>
          <p:nvPr/>
        </p:nvCxnSpPr>
        <p:spPr>
          <a:xfrm>
            <a:off x="10036362" y="4288191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34" name="TextBox 33"/>
          <p:cNvSpPr txBox="1"/>
          <p:nvPr/>
        </p:nvSpPr>
        <p:spPr>
          <a:xfrm>
            <a:off x="8265259" y="3630734"/>
            <a:ext cx="200261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600" dirty="0">
                <a:latin typeface="+mn-ea"/>
              </a:rPr>
              <a:t>~</a:t>
            </a:r>
            <a:endParaRPr lang="ko-KR" altLang="en-US" sz="1600">
              <a:latin typeface="+mn-ea"/>
            </a:endParaRPr>
          </a:p>
        </p:txBody>
      </p:sp>
      <p:grpSp>
        <p:nvGrpSpPr>
          <p:cNvPr id="35" name="그룹 34"/>
          <p:cNvGrpSpPr/>
          <p:nvPr/>
        </p:nvGrpSpPr>
        <p:grpSpPr>
          <a:xfrm>
            <a:off x="8434395" y="3621628"/>
            <a:ext cx="966349" cy="314875"/>
            <a:chOff x="7378667" y="3534342"/>
            <a:chExt cx="966349" cy="314875"/>
          </a:xfrm>
        </p:grpSpPr>
        <p:sp>
          <p:nvSpPr>
            <p:cNvPr id="36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7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7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499485" y="3621473"/>
            <a:ext cx="376599" cy="315031"/>
            <a:chOff x="9336569" y="2445684"/>
            <a:chExt cx="376599" cy="315031"/>
          </a:xfrm>
        </p:grpSpPr>
        <p:sp>
          <p:nvSpPr>
            <p:cNvPr id="39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40" name="그림 3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grpSp>
        <p:nvGrpSpPr>
          <p:cNvPr id="41" name="그룹 40"/>
          <p:cNvGrpSpPr/>
          <p:nvPr/>
        </p:nvGrpSpPr>
        <p:grpSpPr>
          <a:xfrm>
            <a:off x="7258350" y="3621628"/>
            <a:ext cx="966349" cy="314875"/>
            <a:chOff x="7378667" y="3534342"/>
            <a:chExt cx="966349" cy="314875"/>
          </a:xfrm>
        </p:grpSpPr>
        <p:sp>
          <p:nvSpPr>
            <p:cNvPr id="42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43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7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44" name="직사각형 43"/>
          <p:cNvSpPr/>
          <p:nvPr/>
        </p:nvSpPr>
        <p:spPr>
          <a:xfrm>
            <a:off x="6911650" y="480869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5" name="표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454130"/>
              </p:ext>
            </p:extLst>
          </p:nvPr>
        </p:nvGraphicFramePr>
        <p:xfrm>
          <a:off x="10633534" y="1272208"/>
          <a:ext cx="2088232" cy="14082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위험지역 등록현황 전체보기 팝업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등록되어있는 건수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위치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등록기간 검색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개별 정보 팝업 출력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5" name="TextBox 54"/>
          <p:cNvSpPr txBox="1"/>
          <p:nvPr/>
        </p:nvSpPr>
        <p:spPr>
          <a:xfrm>
            <a:off x="7164727" y="5762816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[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제 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1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공장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] 1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층 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A-1 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구역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431916" y="5787037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경고 해제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9029755" y="6746479"/>
            <a:ext cx="98937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700" dirty="0">
                <a:solidFill>
                  <a:schemeClr val="bg1"/>
                </a:solidFill>
              </a:rPr>
              <a:t>0000.00.00 14:32:30</a:t>
            </a:r>
            <a:endParaRPr lang="ko-KR" altLang="en-US" sz="300" dirty="0">
              <a:solidFill>
                <a:schemeClr val="bg1"/>
              </a:solidFill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136751" y="6769231"/>
            <a:ext cx="9348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bg1"/>
                </a:solidFill>
              </a:rPr>
              <a:t>홍길동 일반출입자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164727" y="7156941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9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altLang="ko-KR" dirty="0"/>
              <a:t>[</a:t>
            </a:r>
            <a:r>
              <a:rPr lang="ko-KR" altLang="en-US"/>
              <a:t>제 </a:t>
            </a:r>
            <a:r>
              <a:rPr lang="en-US" altLang="ko-KR" dirty="0"/>
              <a:t>1</a:t>
            </a:r>
            <a:r>
              <a:rPr lang="ko-KR" altLang="en-US"/>
              <a:t>공장</a:t>
            </a:r>
            <a:r>
              <a:rPr lang="en-US" altLang="ko-KR" dirty="0"/>
              <a:t>] 1</a:t>
            </a:r>
            <a:r>
              <a:rPr lang="ko-KR" altLang="en-US"/>
              <a:t>층 </a:t>
            </a:r>
            <a:r>
              <a:rPr lang="en-US" altLang="ko-KR" dirty="0"/>
              <a:t>A-1 </a:t>
            </a:r>
            <a:r>
              <a:rPr lang="ko-KR" altLang="en-US"/>
              <a:t>구역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9431916" y="7181162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>
              <a:defRPr sz="70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경고 해제</a:t>
            </a:r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2650372"/>
              </p:ext>
            </p:extLst>
          </p:nvPr>
        </p:nvGraphicFramePr>
        <p:xfrm>
          <a:off x="10633534" y="2759109"/>
          <a:ext cx="2088232" cy="13067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경고 중</a:t>
                      </a:r>
                      <a:r>
                        <a:rPr lang="en-US" altLang="ko-KR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6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경고 해제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6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두가지</a:t>
                      </a:r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메시지로 구분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0" name="직사각형 49"/>
          <p:cNvSpPr/>
          <p:nvPr/>
        </p:nvSpPr>
        <p:spPr>
          <a:xfrm>
            <a:off x="9384916" y="43649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3035718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직사각형 93"/>
          <p:cNvSpPr/>
          <p:nvPr/>
        </p:nvSpPr>
        <p:spPr>
          <a:xfrm>
            <a:off x="7045597" y="2352328"/>
            <a:ext cx="3087636" cy="5792416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7082076" y="2497892"/>
            <a:ext cx="214033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경고지역 등록현황 전체보기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75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97" name="직사각형 96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7136751" y="2964117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99" name="직사각형 98"/>
          <p:cNvSpPr/>
          <p:nvPr/>
        </p:nvSpPr>
        <p:spPr>
          <a:xfrm>
            <a:off x="7140199" y="4288191"/>
            <a:ext cx="2929009" cy="1334652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pic>
        <p:nvPicPr>
          <p:cNvPr id="100" name="그림 9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4625334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01" name="TextBox 100"/>
          <p:cNvSpPr txBox="1"/>
          <p:nvPr/>
        </p:nvSpPr>
        <p:spPr>
          <a:xfrm>
            <a:off x="7164727" y="4359751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latin typeface="+mj-lt"/>
              </a:rPr>
              <a:t>[</a:t>
            </a:r>
            <a:r>
              <a:rPr lang="ko-KR" altLang="en-US" sz="900" b="1">
                <a:latin typeface="+mj-lt"/>
              </a:rPr>
              <a:t>제 </a:t>
            </a:r>
            <a:r>
              <a:rPr lang="en-US" altLang="ko-KR" sz="900" b="1" dirty="0">
                <a:latin typeface="+mj-lt"/>
              </a:rPr>
              <a:t>1</a:t>
            </a:r>
            <a:r>
              <a:rPr lang="ko-KR" altLang="en-US" sz="900" b="1">
                <a:latin typeface="+mj-lt"/>
              </a:rPr>
              <a:t>공장</a:t>
            </a:r>
            <a:r>
              <a:rPr lang="en-US" altLang="ko-KR" sz="900" b="1" dirty="0">
                <a:latin typeface="+mj-lt"/>
              </a:rPr>
              <a:t>] 1</a:t>
            </a:r>
            <a:r>
              <a:rPr lang="ko-KR" altLang="en-US" sz="900" b="1">
                <a:latin typeface="+mj-lt"/>
              </a:rPr>
              <a:t>층 </a:t>
            </a:r>
            <a:r>
              <a:rPr lang="en-US" altLang="ko-KR" sz="900" b="1" dirty="0">
                <a:latin typeface="+mj-lt"/>
              </a:rPr>
              <a:t>A-1 </a:t>
            </a:r>
            <a:r>
              <a:rPr lang="ko-KR" altLang="en-US" sz="900" b="1">
                <a:latin typeface="+mj-lt"/>
              </a:rPr>
              <a:t>구역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36751" y="5366166"/>
            <a:ext cx="9348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/>
              <a:t>홍길동 일반출입자</a:t>
            </a:r>
          </a:p>
        </p:txBody>
      </p:sp>
      <p:sp>
        <p:nvSpPr>
          <p:cNvPr id="105" name="직사각형 104"/>
          <p:cNvSpPr/>
          <p:nvPr/>
        </p:nvSpPr>
        <p:spPr>
          <a:xfrm>
            <a:off x="7140199" y="5688856"/>
            <a:ext cx="2929009" cy="133465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106" name="그림 10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6025999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07" name="직사각형 106"/>
          <p:cNvSpPr/>
          <p:nvPr/>
        </p:nvSpPr>
        <p:spPr>
          <a:xfrm>
            <a:off x="7140199" y="7089521"/>
            <a:ext cx="2929009" cy="1055223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700" b="1">
              <a:solidFill>
                <a:schemeClr val="tx1"/>
              </a:solidFill>
              <a:latin typeface="+mj-lt"/>
            </a:endParaRPr>
          </a:p>
        </p:txBody>
      </p:sp>
      <p:pic>
        <p:nvPicPr>
          <p:cNvPr id="108" name="그림 10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5007" y="7426664"/>
            <a:ext cx="2786193" cy="68421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10" name="TextBox 109"/>
          <p:cNvSpPr txBox="1"/>
          <p:nvPr/>
        </p:nvSpPr>
        <p:spPr>
          <a:xfrm>
            <a:off x="8265259" y="3630734"/>
            <a:ext cx="200261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600" dirty="0">
                <a:latin typeface="+mn-ea"/>
              </a:rPr>
              <a:t>~</a:t>
            </a:r>
            <a:endParaRPr lang="ko-KR" altLang="en-US" sz="1600">
              <a:latin typeface="+mn-ea"/>
            </a:endParaRPr>
          </a:p>
        </p:txBody>
      </p:sp>
      <p:grpSp>
        <p:nvGrpSpPr>
          <p:cNvPr id="111" name="그룹 110"/>
          <p:cNvGrpSpPr/>
          <p:nvPr/>
        </p:nvGrpSpPr>
        <p:grpSpPr>
          <a:xfrm>
            <a:off x="8434395" y="3621628"/>
            <a:ext cx="966349" cy="314875"/>
            <a:chOff x="7378667" y="3534342"/>
            <a:chExt cx="966349" cy="314875"/>
          </a:xfrm>
        </p:grpSpPr>
        <p:sp>
          <p:nvSpPr>
            <p:cNvPr id="112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13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7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114" name="그룹 113"/>
          <p:cNvGrpSpPr/>
          <p:nvPr/>
        </p:nvGrpSpPr>
        <p:grpSpPr>
          <a:xfrm>
            <a:off x="9499485" y="3621473"/>
            <a:ext cx="376599" cy="315031"/>
            <a:chOff x="9336569" y="2445684"/>
            <a:chExt cx="376599" cy="315031"/>
          </a:xfrm>
        </p:grpSpPr>
        <p:sp>
          <p:nvSpPr>
            <p:cNvPr id="115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16" name="그림 11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grpSp>
        <p:nvGrpSpPr>
          <p:cNvPr id="117" name="그룹 116"/>
          <p:cNvGrpSpPr/>
          <p:nvPr/>
        </p:nvGrpSpPr>
        <p:grpSpPr>
          <a:xfrm>
            <a:off x="7258350" y="3621628"/>
            <a:ext cx="966349" cy="314875"/>
            <a:chOff x="7378667" y="3534342"/>
            <a:chExt cx="966349" cy="314875"/>
          </a:xfrm>
        </p:grpSpPr>
        <p:sp>
          <p:nvSpPr>
            <p:cNvPr id="118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19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7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20" name="TextBox 119"/>
          <p:cNvSpPr txBox="1"/>
          <p:nvPr/>
        </p:nvSpPr>
        <p:spPr>
          <a:xfrm>
            <a:off x="7164727" y="5762816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[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제 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1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공장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] 1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층 </a:t>
            </a:r>
            <a:r>
              <a:rPr lang="en-US" altLang="ko-KR" sz="900" b="1" dirty="0">
                <a:solidFill>
                  <a:schemeClr val="bg1"/>
                </a:solidFill>
                <a:latin typeface="+mj-lt"/>
              </a:rPr>
              <a:t>A-1 </a:t>
            </a:r>
            <a:r>
              <a:rPr lang="ko-KR" altLang="en-US" sz="900" b="1">
                <a:solidFill>
                  <a:schemeClr val="bg1"/>
                </a:solidFill>
                <a:latin typeface="+mj-lt"/>
              </a:rPr>
              <a:t>구역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6751" y="6769231"/>
            <a:ext cx="9348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bg1"/>
                </a:solidFill>
              </a:rPr>
              <a:t>홍길동 일반출입자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164727" y="7156941"/>
            <a:ext cx="145264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latin typeface="+mj-lt"/>
              </a:rPr>
              <a:t>[</a:t>
            </a:r>
            <a:r>
              <a:rPr lang="ko-KR" altLang="en-US" sz="900" b="1">
                <a:latin typeface="+mj-lt"/>
              </a:rPr>
              <a:t>제 </a:t>
            </a:r>
            <a:r>
              <a:rPr lang="en-US" altLang="ko-KR" sz="900" b="1" dirty="0">
                <a:latin typeface="+mj-lt"/>
              </a:rPr>
              <a:t>1</a:t>
            </a:r>
            <a:r>
              <a:rPr lang="ko-KR" altLang="en-US" sz="900" b="1">
                <a:latin typeface="+mj-lt"/>
              </a:rPr>
              <a:t>공장</a:t>
            </a:r>
            <a:r>
              <a:rPr lang="en-US" altLang="ko-KR" sz="900" b="1" dirty="0">
                <a:latin typeface="+mj-lt"/>
              </a:rPr>
              <a:t>] 1</a:t>
            </a:r>
            <a:r>
              <a:rPr lang="ko-KR" altLang="en-US" sz="900" b="1">
                <a:latin typeface="+mj-lt"/>
              </a:rPr>
              <a:t>층 </a:t>
            </a:r>
            <a:r>
              <a:rPr lang="en-US" altLang="ko-KR" sz="900" b="1" dirty="0">
                <a:latin typeface="+mj-lt"/>
              </a:rPr>
              <a:t>A-1 </a:t>
            </a:r>
            <a:r>
              <a:rPr lang="ko-KR" altLang="en-US" sz="900" b="1">
                <a:latin typeface="+mj-lt"/>
              </a:rPr>
              <a:t>구역</a:t>
            </a:r>
          </a:p>
        </p:txBody>
      </p:sp>
      <p:sp>
        <p:nvSpPr>
          <p:cNvPr id="74" name="직사각형 73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경고지역</a:t>
            </a:r>
          </a:p>
          <a:p>
            <a:r>
              <a:rPr lang="ko-KR" altLang="en-US" sz="900" dirty="0">
                <a:latin typeface="+mn-ea"/>
              </a:rPr>
              <a:t>상세내용 보기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784175" y="2964117"/>
            <a:ext cx="5797599" cy="436390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000199" y="3056367"/>
            <a:ext cx="250378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경고지역 개별 정보</a:t>
            </a:r>
          </a:p>
        </p:txBody>
      </p:sp>
      <p:sp>
        <p:nvSpPr>
          <p:cNvPr id="41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104654" y="3068527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3827959" y="8594286"/>
            <a:ext cx="1482238" cy="39167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현재 위치정보가 없습니다</a:t>
            </a:r>
          </a:p>
        </p:txBody>
      </p:sp>
      <p:sp>
        <p:nvSpPr>
          <p:cNvPr id="43" name="직사각형 42"/>
          <p:cNvSpPr/>
          <p:nvPr/>
        </p:nvSpPr>
        <p:spPr>
          <a:xfrm>
            <a:off x="3827960" y="8983307"/>
            <a:ext cx="1482238" cy="20872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95055" y="9236518"/>
            <a:ext cx="108876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/>
              <a:t>위치 정보가 없을 경우</a:t>
            </a:r>
          </a:p>
        </p:txBody>
      </p:sp>
      <p:cxnSp>
        <p:nvCxnSpPr>
          <p:cNvPr id="45" name="꺾인 연결선 44"/>
          <p:cNvCxnSpPr>
            <a:endCxn id="42" idx="0"/>
          </p:cNvCxnSpPr>
          <p:nvPr/>
        </p:nvCxnSpPr>
        <p:spPr>
          <a:xfrm rot="5400000">
            <a:off x="3893749" y="7881705"/>
            <a:ext cx="1387910" cy="37252"/>
          </a:xfrm>
          <a:prstGeom prst="bentConnector3">
            <a:avLst>
              <a:gd name="adj1" fmla="val 50000"/>
            </a:avLst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꺾인 연결선 45"/>
          <p:cNvCxnSpPr>
            <a:endCxn id="42" idx="0"/>
          </p:cNvCxnSpPr>
          <p:nvPr/>
        </p:nvCxnSpPr>
        <p:spPr>
          <a:xfrm rot="5400000">
            <a:off x="4526501" y="7248953"/>
            <a:ext cx="1387910" cy="1302756"/>
          </a:xfrm>
          <a:prstGeom prst="bentConnector3">
            <a:avLst>
              <a:gd name="adj1" fmla="val 50000"/>
            </a:avLst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모서리가 둥근 사각형 설명선 46"/>
          <p:cNvSpPr/>
          <p:nvPr/>
        </p:nvSpPr>
        <p:spPr>
          <a:xfrm>
            <a:off x="4999826" y="8328907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930278" y="3616614"/>
            <a:ext cx="2929009" cy="1077327"/>
            <a:chOff x="3535321" y="3616614"/>
            <a:chExt cx="2929009" cy="1077327"/>
          </a:xfrm>
        </p:grpSpPr>
        <p:sp>
          <p:nvSpPr>
            <p:cNvPr id="49" name="직사각형 48"/>
            <p:cNvSpPr/>
            <p:nvPr/>
          </p:nvSpPr>
          <p:spPr>
            <a:xfrm>
              <a:off x="3535321" y="3616614"/>
              <a:ext cx="2929009" cy="10773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50" name="그룹 49"/>
            <p:cNvGrpSpPr/>
            <p:nvPr/>
          </p:nvGrpSpPr>
          <p:grpSpPr>
            <a:xfrm>
              <a:off x="3659544" y="3768219"/>
              <a:ext cx="684064" cy="663979"/>
              <a:chOff x="7962299" y="2617527"/>
              <a:chExt cx="622093" cy="646131"/>
            </a:xfrm>
          </p:grpSpPr>
          <p:sp>
            <p:nvSpPr>
              <p:cNvPr id="58" name="직사각형 57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59" name="그림 58"/>
              <p:cNvPicPr>
                <a:picLocks noChangeAspect="1"/>
              </p:cNvPicPr>
              <p:nvPr/>
            </p:nvPicPr>
            <p:blipFill>
              <a:blip r:embed="rId6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51" name="TextBox 50"/>
            <p:cNvSpPr txBox="1"/>
            <p:nvPr/>
          </p:nvSpPr>
          <p:spPr>
            <a:xfrm>
              <a:off x="4371288" y="4144219"/>
              <a:ext cx="2077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소속</a:t>
              </a:r>
            </a:p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: 0000.00.00  15:20:27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4371288" y="3752241"/>
              <a:ext cx="145424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홍길동</a:t>
              </a:r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 수시 방문자</a:t>
              </a:r>
              <a:endParaRPr lang="en-US" altLang="ko-KR" sz="1000" dirty="0">
                <a:latin typeface="+mn-ea"/>
                <a:sym typeface="Wingdings" panose="05000000000000000000" pitchFamily="2" charset="2"/>
              </a:endParaRPr>
            </a:p>
            <a:p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  <p:grpSp>
          <p:nvGrpSpPr>
            <p:cNvPr id="53" name="그룹 52"/>
            <p:cNvGrpSpPr/>
            <p:nvPr/>
          </p:nvGrpSpPr>
          <p:grpSpPr>
            <a:xfrm>
              <a:off x="4452786" y="4017410"/>
              <a:ext cx="1985980" cy="171926"/>
              <a:chOff x="8045651" y="5852156"/>
              <a:chExt cx="1985980" cy="171926"/>
            </a:xfrm>
          </p:grpSpPr>
          <p:sp>
            <p:nvSpPr>
              <p:cNvPr id="54" name="모서리가 둥근 직사각형 53"/>
              <p:cNvSpPr/>
              <p:nvPr/>
            </p:nvSpPr>
            <p:spPr>
              <a:xfrm>
                <a:off x="8045651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일반</a:t>
                </a:r>
              </a:p>
            </p:txBody>
          </p:sp>
          <p:sp>
            <p:nvSpPr>
              <p:cNvPr id="55" name="모서리가 둥근 직사각형 54"/>
              <p:cNvSpPr/>
              <p:nvPr/>
            </p:nvSpPr>
            <p:spPr>
              <a:xfrm>
                <a:off x="8549849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통제</a:t>
                </a:r>
              </a:p>
            </p:txBody>
          </p:sp>
          <p:sp>
            <p:nvSpPr>
              <p:cNvPr id="56" name="모서리가 둥근 직사각형 55"/>
              <p:cNvSpPr/>
              <p:nvPr/>
            </p:nvSpPr>
            <p:spPr>
              <a:xfrm>
                <a:off x="9049481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위험</a:t>
                </a:r>
              </a:p>
            </p:txBody>
          </p:sp>
          <p:sp>
            <p:nvSpPr>
              <p:cNvPr id="57" name="모서리가 둥근 직사각형 56"/>
              <p:cNvSpPr/>
              <p:nvPr/>
            </p:nvSpPr>
            <p:spPr>
              <a:xfrm>
                <a:off x="9553679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밀폐공간</a:t>
                </a:r>
              </a:p>
            </p:txBody>
          </p:sp>
        </p:grpSp>
      </p:grpSp>
      <p:pic>
        <p:nvPicPr>
          <p:cNvPr id="60" name="그림 5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278" y="4794888"/>
            <a:ext cx="2929009" cy="2187066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61" name="직사각형 60"/>
          <p:cNvSpPr/>
          <p:nvPr/>
        </p:nvSpPr>
        <p:spPr>
          <a:xfrm>
            <a:off x="4013833" y="4794888"/>
            <a:ext cx="2450497" cy="13253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현장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A-1 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에 낙석위험 발생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 </a:t>
            </a:r>
          </a:p>
          <a:p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일에 다 허물테니 그때까지 조심하세요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/>
          <p:cNvSpPr/>
          <p:nvPr/>
        </p:nvSpPr>
        <p:spPr>
          <a:xfrm>
            <a:off x="4013833" y="4017410"/>
            <a:ext cx="2450497" cy="67653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경고 해제</a:t>
            </a:r>
          </a:p>
        </p:txBody>
      </p:sp>
      <p:sp>
        <p:nvSpPr>
          <p:cNvPr id="66" name="직사각형 65"/>
          <p:cNvSpPr/>
          <p:nvPr/>
        </p:nvSpPr>
        <p:spPr>
          <a:xfrm>
            <a:off x="4013833" y="3622208"/>
            <a:ext cx="2450497" cy="31302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bg1"/>
                </a:solidFill>
                <a:latin typeface="+mn-ea"/>
              </a:rPr>
              <a:t>0000.00.00 14:12:31 </a:t>
            </a:r>
            <a:r>
              <a:rPr lang="ko-KR" altLang="en-US" sz="1050" dirty="0">
                <a:solidFill>
                  <a:schemeClr val="bg1"/>
                </a:solidFill>
                <a:latin typeface="+mn-ea"/>
              </a:rPr>
              <a:t>등록</a:t>
            </a:r>
          </a:p>
        </p:txBody>
      </p:sp>
      <p:cxnSp>
        <p:nvCxnSpPr>
          <p:cNvPr id="67" name="꺾인 연결선 66"/>
          <p:cNvCxnSpPr>
            <a:endCxn id="39" idx="3"/>
          </p:cNvCxnSpPr>
          <p:nvPr/>
        </p:nvCxnSpPr>
        <p:spPr>
          <a:xfrm rot="10800000" flipV="1">
            <a:off x="6581775" y="4955516"/>
            <a:ext cx="558425" cy="190551"/>
          </a:xfrm>
          <a:prstGeom prst="bentConnector3">
            <a:avLst>
              <a:gd name="adj1" fmla="val 50000"/>
            </a:avLst>
          </a:prstGeom>
          <a:ln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/>
          <p:cNvSpPr/>
          <p:nvPr/>
        </p:nvSpPr>
        <p:spPr>
          <a:xfrm>
            <a:off x="4013833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위치 지도로 보기</a:t>
            </a:r>
          </a:p>
        </p:txBody>
      </p:sp>
      <p:sp>
        <p:nvSpPr>
          <p:cNvPr id="69" name="직사각형 68"/>
          <p:cNvSpPr/>
          <p:nvPr/>
        </p:nvSpPr>
        <p:spPr>
          <a:xfrm>
            <a:off x="5241812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경로안내</a:t>
            </a:r>
          </a:p>
        </p:txBody>
      </p:sp>
      <p:pic>
        <p:nvPicPr>
          <p:cNvPr id="70" name="그림 6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0799" y="6388491"/>
            <a:ext cx="497576" cy="497576"/>
          </a:xfrm>
          <a:prstGeom prst="rect">
            <a:avLst/>
          </a:prstGeom>
        </p:spPr>
      </p:pic>
      <p:pic>
        <p:nvPicPr>
          <p:cNvPr id="71" name="그림 7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21532" y="6388491"/>
            <a:ext cx="495092" cy="495090"/>
          </a:xfrm>
          <a:prstGeom prst="rect">
            <a:avLst/>
          </a:prstGeom>
        </p:spPr>
      </p:pic>
      <p:sp>
        <p:nvSpPr>
          <p:cNvPr id="75" name="직사각형 74"/>
          <p:cNvSpPr/>
          <p:nvPr/>
        </p:nvSpPr>
        <p:spPr>
          <a:xfrm>
            <a:off x="10633534" y="4553141"/>
            <a:ext cx="2088232" cy="105072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경고를 해제하시겠습니까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?</a:t>
            </a:r>
          </a:p>
          <a:p>
            <a:pPr algn="ctr">
              <a:lnSpc>
                <a:spcPct val="150000"/>
              </a:lnSpc>
            </a:pPr>
            <a:endParaRPr lang="en-US" altLang="ko-KR" sz="7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  <a:p>
            <a:pPr algn="ctr">
              <a:lnSpc>
                <a:spcPct val="150000"/>
              </a:lnSpc>
            </a:pPr>
            <a:endParaRPr lang="en-US" altLang="ko-KR" sz="7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  <a:p>
            <a:pPr algn="ctr">
              <a:lnSpc>
                <a:spcPct val="150000"/>
              </a:lnSpc>
            </a:pP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10633534" y="5504423"/>
            <a:ext cx="104819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77" name="직사각형 76"/>
          <p:cNvSpPr/>
          <p:nvPr/>
        </p:nvSpPr>
        <p:spPr>
          <a:xfrm>
            <a:off x="11673574" y="5504423"/>
            <a:ext cx="104819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79" name="직사각형 78"/>
          <p:cNvSpPr/>
          <p:nvPr/>
        </p:nvSpPr>
        <p:spPr>
          <a:xfrm>
            <a:off x="10633534" y="6273415"/>
            <a:ext cx="208823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경고가 해제되었습니다</a:t>
            </a:r>
          </a:p>
        </p:txBody>
      </p:sp>
      <p:sp>
        <p:nvSpPr>
          <p:cNvPr id="80" name="직사각형 79"/>
          <p:cNvSpPr/>
          <p:nvPr/>
        </p:nvSpPr>
        <p:spPr>
          <a:xfrm>
            <a:off x="10633534" y="6861396"/>
            <a:ext cx="208823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82" name="직사각형 81"/>
          <p:cNvSpPr/>
          <p:nvPr/>
        </p:nvSpPr>
        <p:spPr>
          <a:xfrm>
            <a:off x="3505847" y="28487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83" name="표 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1631340"/>
              </p:ext>
            </p:extLst>
          </p:nvPr>
        </p:nvGraphicFramePr>
        <p:xfrm>
          <a:off x="10633534" y="1272208"/>
          <a:ext cx="2088232" cy="258186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경고지역 개별 정보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등록자에 대한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등록된 이미지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년월일시분초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 해제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 해제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알럿창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 해제사유 입력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알럿창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경고내용 텍스트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위치 맵으로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위치까지 경로안내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84" name="직사각형 83"/>
          <p:cNvSpPr/>
          <p:nvPr/>
        </p:nvSpPr>
        <p:spPr>
          <a:xfrm>
            <a:off x="2340036" y="351566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2340036" y="472522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7" name="직사각형 86"/>
          <p:cNvSpPr/>
          <p:nvPr/>
        </p:nvSpPr>
        <p:spPr>
          <a:xfrm>
            <a:off x="5163689" y="348124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8" name="직사각형 87"/>
          <p:cNvSpPr/>
          <p:nvPr/>
        </p:nvSpPr>
        <p:spPr>
          <a:xfrm>
            <a:off x="5163689" y="398307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9" name="직사각형 88"/>
          <p:cNvSpPr/>
          <p:nvPr/>
        </p:nvSpPr>
        <p:spPr>
          <a:xfrm>
            <a:off x="5163689" y="46939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0" name="직사각형 89"/>
          <p:cNvSpPr/>
          <p:nvPr/>
        </p:nvSpPr>
        <p:spPr>
          <a:xfrm>
            <a:off x="4498804" y="61752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5710687" y="61752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2" name="직사각형 91"/>
          <p:cNvSpPr/>
          <p:nvPr/>
        </p:nvSpPr>
        <p:spPr>
          <a:xfrm>
            <a:off x="11601111" y="442734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3" name="직사각형 92"/>
          <p:cNvSpPr/>
          <p:nvPr/>
        </p:nvSpPr>
        <p:spPr>
          <a:xfrm>
            <a:off x="11601111" y="616064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6" name="모서리가 둥근 사각형 설명선 125"/>
          <p:cNvSpPr/>
          <p:nvPr/>
        </p:nvSpPr>
        <p:spPr>
          <a:xfrm>
            <a:off x="6258377" y="5721686"/>
            <a:ext cx="1095683" cy="385596"/>
          </a:xfrm>
          <a:prstGeom prst="wedgeRoundRectCallout">
            <a:avLst>
              <a:gd name="adj1" fmla="val -54007"/>
              <a:gd name="adj2" fmla="val 143350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044</a:t>
            </a:r>
          </a:p>
          <a:p>
            <a:pPr algn="ctr"/>
            <a:r>
              <a:rPr lang="ko-KR" altLang="en-US" sz="800"/>
              <a:t>길찾기</a:t>
            </a:r>
            <a:endParaRPr lang="ko-KR" altLang="en-US" sz="800" dirty="0"/>
          </a:p>
        </p:txBody>
      </p:sp>
      <p:sp>
        <p:nvSpPr>
          <p:cNvPr id="128" name="직사각형 127"/>
          <p:cNvSpPr/>
          <p:nvPr/>
        </p:nvSpPr>
        <p:spPr>
          <a:xfrm>
            <a:off x="10734795" y="5045859"/>
            <a:ext cx="1858693" cy="30087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해제사유를 입력하세요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9" name="직사각형 128"/>
          <p:cNvSpPr/>
          <p:nvPr/>
        </p:nvSpPr>
        <p:spPr>
          <a:xfrm>
            <a:off x="10645895" y="511994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459342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직사각형 62"/>
          <p:cNvSpPr/>
          <p:nvPr/>
        </p:nvSpPr>
        <p:spPr>
          <a:xfrm>
            <a:off x="-8483" y="-76"/>
            <a:ext cx="10546277" cy="9601276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298078" y="239316"/>
            <a:ext cx="9991154" cy="90977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38190" y="6074566"/>
            <a:ext cx="32329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1,000</a:t>
            </a:r>
            <a:endParaRPr lang="ko-KR" altLang="en-US" sz="1000" dirty="0">
              <a:latin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38190" y="5670436"/>
            <a:ext cx="32329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2,000</a:t>
            </a:r>
            <a:endParaRPr lang="ko-KR" altLang="en-US" sz="1000" dirty="0">
              <a:latin typeface="+mn-ea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38190" y="5266305"/>
            <a:ext cx="32329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3,000</a:t>
            </a:r>
            <a:endParaRPr lang="ko-KR" altLang="en-US" sz="1000" dirty="0">
              <a:latin typeface="+mn-ea"/>
            </a:endParaRPr>
          </a:p>
        </p:txBody>
      </p:sp>
      <p:cxnSp>
        <p:nvCxnSpPr>
          <p:cNvPr id="67" name="직선 연결선 66"/>
          <p:cNvCxnSpPr/>
          <p:nvPr/>
        </p:nvCxnSpPr>
        <p:spPr>
          <a:xfrm>
            <a:off x="1032236" y="6152443"/>
            <a:ext cx="74943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직선 연결선 71"/>
          <p:cNvCxnSpPr/>
          <p:nvPr/>
        </p:nvCxnSpPr>
        <p:spPr>
          <a:xfrm>
            <a:off x="1032236" y="5748313"/>
            <a:ext cx="74943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연결선 75"/>
          <p:cNvCxnSpPr/>
          <p:nvPr/>
        </p:nvCxnSpPr>
        <p:spPr>
          <a:xfrm>
            <a:off x="1032236" y="5344182"/>
            <a:ext cx="74943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/>
          <p:cNvCxnSpPr/>
          <p:nvPr/>
        </p:nvCxnSpPr>
        <p:spPr>
          <a:xfrm>
            <a:off x="1032236" y="4940051"/>
            <a:ext cx="749437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/>
          <p:cNvSpPr txBox="1"/>
          <p:nvPr/>
        </p:nvSpPr>
        <p:spPr>
          <a:xfrm>
            <a:off x="638190" y="4862174"/>
            <a:ext cx="323299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4,000</a:t>
            </a:r>
            <a:endParaRPr lang="ko-KR" altLang="en-US" sz="1000" dirty="0">
              <a:latin typeface="+mn-ea"/>
            </a:endParaRPr>
          </a:p>
        </p:txBody>
      </p:sp>
      <p:graphicFrame>
        <p:nvGraphicFramePr>
          <p:cNvPr id="119" name="차트 118"/>
          <p:cNvGraphicFramePr/>
          <p:nvPr>
            <p:extLst>
              <p:ext uri="{D42A27DB-BD31-4B8C-83A1-F6EECF244321}">
                <p14:modId xmlns:p14="http://schemas.microsoft.com/office/powerpoint/2010/main" val="2241323294"/>
              </p:ext>
            </p:extLst>
          </p:nvPr>
        </p:nvGraphicFramePr>
        <p:xfrm>
          <a:off x="1072208" y="1846900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2054178" y="2754429"/>
            <a:ext cx="718466" cy="61555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000" dirty="0"/>
              <a:t>전체</a:t>
            </a:r>
            <a:endParaRPr lang="en-US" altLang="ko-KR" sz="1000" dirty="0"/>
          </a:p>
          <a:p>
            <a:pPr algn="ctr"/>
            <a:r>
              <a:rPr lang="en-US" altLang="ko-KR" sz="2400" b="1" dirty="0"/>
              <a:t>223</a:t>
            </a:r>
            <a:endParaRPr lang="ko-KR" altLang="en-US" sz="2400" b="1" dirty="0"/>
          </a:p>
        </p:txBody>
      </p:sp>
      <p:sp>
        <p:nvSpPr>
          <p:cNvPr id="2" name="TextBox 1"/>
          <p:cNvSpPr txBox="1"/>
          <p:nvPr/>
        </p:nvSpPr>
        <p:spPr>
          <a:xfrm>
            <a:off x="4351150" y="408112"/>
            <a:ext cx="190308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ko-KR" altLang="en-US" sz="2000" b="1" dirty="0">
                <a:latin typeface="+mn-ea"/>
              </a:rPr>
              <a:t>일일 안전 현황</a:t>
            </a:r>
            <a:endParaRPr lang="ko-KR" altLang="en-US" sz="2000" dirty="0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7286861"/>
              </p:ext>
            </p:extLst>
          </p:nvPr>
        </p:nvGraphicFramePr>
        <p:xfrm>
          <a:off x="1035488" y="1133333"/>
          <a:ext cx="8534400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48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4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89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현장명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0000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0000</a:t>
                      </a: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 건설현장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일시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0000.00.00 14:32:22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1035488" y="840160"/>
            <a:ext cx="615553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일반사항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2099955" y="1795266"/>
            <a:ext cx="615553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출입현황</a:t>
            </a:r>
          </a:p>
        </p:txBody>
      </p:sp>
      <p:graphicFrame>
        <p:nvGraphicFramePr>
          <p:cNvPr id="90" name="차트 89"/>
          <p:cNvGraphicFramePr/>
          <p:nvPr>
            <p:extLst>
              <p:ext uri="{D42A27DB-BD31-4B8C-83A1-F6EECF244321}">
                <p14:modId xmlns:p14="http://schemas.microsoft.com/office/powerpoint/2010/main" val="2568281247"/>
              </p:ext>
            </p:extLst>
          </p:nvPr>
        </p:nvGraphicFramePr>
        <p:xfrm>
          <a:off x="3690727" y="1846900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91" name="TextBox 90"/>
          <p:cNvSpPr txBox="1"/>
          <p:nvPr/>
        </p:nvSpPr>
        <p:spPr>
          <a:xfrm>
            <a:off x="4433143" y="1795266"/>
            <a:ext cx="1186222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전체 작업자 현황</a:t>
            </a:r>
          </a:p>
        </p:txBody>
      </p:sp>
      <p:graphicFrame>
        <p:nvGraphicFramePr>
          <p:cNvPr id="93" name="표 9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344813"/>
              </p:ext>
            </p:extLst>
          </p:nvPr>
        </p:nvGraphicFramePr>
        <p:xfrm>
          <a:off x="6632599" y="2132011"/>
          <a:ext cx="2937288" cy="1992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90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9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9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일반 작업자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특수 작업자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1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30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2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40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3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35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12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4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24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10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소계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129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31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4" name="TextBox 93"/>
          <p:cNvSpPr txBox="1"/>
          <p:nvPr/>
        </p:nvSpPr>
        <p:spPr>
          <a:xfrm>
            <a:off x="7484663" y="1795266"/>
            <a:ext cx="1340110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구간별 작업자 현황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661340" y="2754429"/>
            <a:ext cx="718466" cy="61555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000" dirty="0"/>
              <a:t>전체</a:t>
            </a:r>
            <a:endParaRPr lang="en-US" altLang="ko-KR" sz="1000" dirty="0"/>
          </a:p>
          <a:p>
            <a:pPr algn="ctr"/>
            <a:r>
              <a:rPr lang="en-US" altLang="ko-KR" sz="2400" b="1" dirty="0"/>
              <a:t>160</a:t>
            </a:r>
            <a:endParaRPr lang="ko-KR" altLang="en-US" sz="2400" b="1" dirty="0"/>
          </a:p>
        </p:txBody>
      </p:sp>
      <p:sp>
        <p:nvSpPr>
          <p:cNvPr id="96" name="TextBox 95"/>
          <p:cNvSpPr txBox="1"/>
          <p:nvPr/>
        </p:nvSpPr>
        <p:spPr>
          <a:xfrm>
            <a:off x="1035488" y="4368552"/>
            <a:ext cx="2010166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시간대별 공사 현장 출입현황</a:t>
            </a:r>
          </a:p>
        </p:txBody>
      </p:sp>
      <p:cxnSp>
        <p:nvCxnSpPr>
          <p:cNvPr id="97" name="Y Axis"/>
          <p:cNvCxnSpPr>
            <a:cxnSpLocks/>
          </p:cNvCxnSpPr>
          <p:nvPr/>
        </p:nvCxnSpPr>
        <p:spPr bwMode="auto">
          <a:xfrm>
            <a:off x="1035488" y="4876659"/>
            <a:ext cx="0" cy="1538009"/>
          </a:xfrm>
          <a:prstGeom prst="line">
            <a:avLst/>
          </a:prstGeom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X Axis"/>
          <p:cNvCxnSpPr>
            <a:cxnSpLocks/>
          </p:cNvCxnSpPr>
          <p:nvPr/>
        </p:nvCxnSpPr>
        <p:spPr bwMode="auto">
          <a:xfrm>
            <a:off x="1035488" y="6414668"/>
            <a:ext cx="7480868" cy="2239"/>
          </a:xfrm>
          <a:prstGeom prst="line">
            <a:avLst/>
          </a:prstGeom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/>
          <p:cNvSpPr txBox="1"/>
          <p:nvPr/>
        </p:nvSpPr>
        <p:spPr>
          <a:xfrm>
            <a:off x="8623370" y="4656584"/>
            <a:ext cx="723275" cy="1938992"/>
          </a:xfrm>
          <a:prstGeom prst="rect">
            <a:avLst/>
          </a:prstGeom>
          <a:noFill/>
        </p:spPr>
        <p:txBody>
          <a:bodyPr wrap="none" lIns="0" rIns="0" rtlCol="0" anchor="t">
            <a:spAutoFit/>
          </a:bodyPr>
          <a:lstStyle/>
          <a:p>
            <a:pPr algn="r">
              <a:lnSpc>
                <a:spcPct val="250000"/>
              </a:lnSpc>
            </a:pPr>
            <a:r>
              <a:rPr lang="en-US" altLang="ko-KR" sz="1200" dirty="0">
                <a:solidFill>
                  <a:schemeClr val="accent6">
                    <a:lumMod val="75000"/>
                  </a:schemeClr>
                </a:solidFill>
                <a:latin typeface="+mn-ea"/>
              </a:rPr>
              <a:t> </a:t>
            </a:r>
            <a:r>
              <a:rPr lang="ko-KR" altLang="en-US" sz="1200">
                <a:solidFill>
                  <a:schemeClr val="accent6">
                    <a:lumMod val="75000"/>
                  </a:schemeClr>
                </a:solidFill>
                <a:latin typeface="+mn-ea"/>
              </a:rPr>
              <a:t>■</a:t>
            </a:r>
            <a:r>
              <a:rPr lang="ko-KR" altLang="en-US" sz="1200">
                <a:latin typeface="+mn-ea"/>
              </a:rPr>
              <a:t> </a:t>
            </a:r>
            <a:r>
              <a:rPr lang="en-US" altLang="ko-KR" sz="1200" dirty="0">
                <a:latin typeface="+mn-ea"/>
              </a:rPr>
              <a:t>Gate 1</a:t>
            </a:r>
          </a:p>
          <a:p>
            <a:pPr algn="r">
              <a:lnSpc>
                <a:spcPct val="250000"/>
              </a:lnSpc>
            </a:pPr>
            <a:r>
              <a:rPr lang="ko-KR" altLang="en-US" sz="1200" dirty="0">
                <a:solidFill>
                  <a:srgbClr val="FF0000"/>
                </a:solidFill>
                <a:latin typeface="+mn-ea"/>
              </a:rPr>
              <a:t>■</a:t>
            </a:r>
            <a:r>
              <a:rPr lang="ko-KR" altLang="en-US" sz="1200" dirty="0">
                <a:latin typeface="+mn-ea"/>
              </a:rPr>
              <a:t> </a:t>
            </a:r>
            <a:r>
              <a:rPr lang="en-US" altLang="ko-KR" sz="1200" dirty="0">
                <a:latin typeface="+mn-ea"/>
              </a:rPr>
              <a:t>Gate 2</a:t>
            </a:r>
          </a:p>
          <a:p>
            <a:pPr algn="r">
              <a:lnSpc>
                <a:spcPct val="250000"/>
              </a:lnSpc>
            </a:pPr>
            <a:r>
              <a:rPr lang="ko-KR" altLang="en-US" sz="12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■</a:t>
            </a:r>
            <a:r>
              <a:rPr lang="ko-KR" altLang="en-US" sz="1200" dirty="0">
                <a:latin typeface="+mn-ea"/>
              </a:rPr>
              <a:t> </a:t>
            </a:r>
            <a:r>
              <a:rPr lang="en-US" altLang="ko-KR" sz="1200" dirty="0">
                <a:latin typeface="+mn-ea"/>
              </a:rPr>
              <a:t>Gate 3</a:t>
            </a:r>
          </a:p>
          <a:p>
            <a:pPr algn="r">
              <a:lnSpc>
                <a:spcPct val="250000"/>
              </a:lnSpc>
            </a:pPr>
            <a:r>
              <a:rPr lang="ko-KR" altLang="en-US" sz="1200" dirty="0">
                <a:solidFill>
                  <a:schemeClr val="accent4">
                    <a:lumMod val="60000"/>
                    <a:lumOff val="40000"/>
                  </a:schemeClr>
                </a:solidFill>
                <a:latin typeface="+mn-ea"/>
              </a:rPr>
              <a:t>■</a:t>
            </a:r>
            <a:r>
              <a:rPr lang="ko-KR" altLang="en-US" sz="1200" dirty="0">
                <a:latin typeface="+mn-ea"/>
              </a:rPr>
              <a:t> </a:t>
            </a:r>
            <a:r>
              <a:rPr lang="en-US" altLang="ko-KR" sz="1200" dirty="0">
                <a:latin typeface="+mn-ea"/>
              </a:rPr>
              <a:t>Gate 4</a:t>
            </a:r>
            <a:endParaRPr lang="ko-KR" altLang="en-US" sz="1200" dirty="0">
              <a:latin typeface="+mn-ea"/>
            </a:endParaRPr>
          </a:p>
        </p:txBody>
      </p:sp>
      <p:sp>
        <p:nvSpPr>
          <p:cNvPr id="102" name="자유형 101"/>
          <p:cNvSpPr/>
          <p:nvPr/>
        </p:nvSpPr>
        <p:spPr>
          <a:xfrm>
            <a:off x="1041814" y="5052110"/>
            <a:ext cx="7474542" cy="1218490"/>
          </a:xfrm>
          <a:custGeom>
            <a:avLst/>
            <a:gdLst>
              <a:gd name="connsiteX0" fmla="*/ 0 w 5972962"/>
              <a:gd name="connsiteY0" fmla="*/ 1568742 h 1577131"/>
              <a:gd name="connsiteX1" fmla="*/ 251670 w 5972962"/>
              <a:gd name="connsiteY1" fmla="*/ 1560353 h 1577131"/>
              <a:gd name="connsiteX2" fmla="*/ 528507 w 5972962"/>
              <a:gd name="connsiteY2" fmla="*/ 1459685 h 1577131"/>
              <a:gd name="connsiteX3" fmla="*/ 746620 w 5972962"/>
              <a:gd name="connsiteY3" fmla="*/ 1208015 h 1577131"/>
              <a:gd name="connsiteX4" fmla="*/ 1023457 w 5972962"/>
              <a:gd name="connsiteY4" fmla="*/ 1535186 h 1577131"/>
              <a:gd name="connsiteX5" fmla="*/ 1249960 w 5972962"/>
              <a:gd name="connsiteY5" fmla="*/ 1577131 h 1577131"/>
              <a:gd name="connsiteX6" fmla="*/ 1510018 w 5972962"/>
              <a:gd name="connsiteY6" fmla="*/ 1577131 h 1577131"/>
              <a:gd name="connsiteX7" fmla="*/ 1744910 w 5972962"/>
              <a:gd name="connsiteY7" fmla="*/ 1375795 h 1577131"/>
              <a:gd name="connsiteX8" fmla="*/ 2055303 w 5972962"/>
              <a:gd name="connsiteY8" fmla="*/ 570452 h 1577131"/>
              <a:gd name="connsiteX9" fmla="*/ 2248250 w 5972962"/>
              <a:gd name="connsiteY9" fmla="*/ 0 h 1577131"/>
              <a:gd name="connsiteX10" fmla="*/ 2508308 w 5972962"/>
              <a:gd name="connsiteY10" fmla="*/ 704675 h 1577131"/>
              <a:gd name="connsiteX11" fmla="*/ 2751589 w 5972962"/>
              <a:gd name="connsiteY11" fmla="*/ 260059 h 1577131"/>
              <a:gd name="connsiteX12" fmla="*/ 3028426 w 5972962"/>
              <a:gd name="connsiteY12" fmla="*/ 1291905 h 1577131"/>
              <a:gd name="connsiteX13" fmla="*/ 3246540 w 5972962"/>
              <a:gd name="connsiteY13" fmla="*/ 142613 h 1577131"/>
              <a:gd name="connsiteX14" fmla="*/ 3464653 w 5972962"/>
              <a:gd name="connsiteY14" fmla="*/ 780176 h 1577131"/>
              <a:gd name="connsiteX15" fmla="*/ 3741490 w 5972962"/>
              <a:gd name="connsiteY15" fmla="*/ 1333850 h 1577131"/>
              <a:gd name="connsiteX16" fmla="*/ 4026716 w 5972962"/>
              <a:gd name="connsiteY16" fmla="*/ 1442907 h 1577131"/>
              <a:gd name="connsiteX17" fmla="*/ 4253218 w 5972962"/>
              <a:gd name="connsiteY17" fmla="*/ 1518408 h 1577131"/>
              <a:gd name="connsiteX18" fmla="*/ 4504888 w 5972962"/>
              <a:gd name="connsiteY18" fmla="*/ 822121 h 1577131"/>
              <a:gd name="connsiteX19" fmla="*/ 4756558 w 5972962"/>
              <a:gd name="connsiteY19" fmla="*/ 1048624 h 1577131"/>
              <a:gd name="connsiteX20" fmla="*/ 5016617 w 5972962"/>
              <a:gd name="connsiteY20" fmla="*/ 1266738 h 1577131"/>
              <a:gd name="connsiteX21" fmla="*/ 5243119 w 5972962"/>
              <a:gd name="connsiteY21" fmla="*/ 1400962 h 1577131"/>
              <a:gd name="connsiteX22" fmla="*/ 5486400 w 5972962"/>
              <a:gd name="connsiteY22" fmla="*/ 1551964 h 1577131"/>
              <a:gd name="connsiteX23" fmla="*/ 5729681 w 5972962"/>
              <a:gd name="connsiteY23" fmla="*/ 1568742 h 1577131"/>
              <a:gd name="connsiteX24" fmla="*/ 5972962 w 5972962"/>
              <a:gd name="connsiteY24" fmla="*/ 1568742 h 157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72962" h="1577131">
                <a:moveTo>
                  <a:pt x="0" y="1568742"/>
                </a:moveTo>
                <a:lnTo>
                  <a:pt x="251670" y="1560353"/>
                </a:lnTo>
                <a:lnTo>
                  <a:pt x="528507" y="1459685"/>
                </a:lnTo>
                <a:lnTo>
                  <a:pt x="746620" y="1208015"/>
                </a:lnTo>
                <a:lnTo>
                  <a:pt x="1023457" y="1535186"/>
                </a:lnTo>
                <a:lnTo>
                  <a:pt x="1249960" y="1577131"/>
                </a:lnTo>
                <a:lnTo>
                  <a:pt x="1510018" y="1577131"/>
                </a:lnTo>
                <a:lnTo>
                  <a:pt x="1744910" y="1375795"/>
                </a:lnTo>
                <a:lnTo>
                  <a:pt x="2055303" y="570452"/>
                </a:lnTo>
                <a:lnTo>
                  <a:pt x="2248250" y="0"/>
                </a:lnTo>
                <a:lnTo>
                  <a:pt x="2508308" y="704675"/>
                </a:lnTo>
                <a:lnTo>
                  <a:pt x="2751589" y="260059"/>
                </a:lnTo>
                <a:lnTo>
                  <a:pt x="3028426" y="1291905"/>
                </a:lnTo>
                <a:lnTo>
                  <a:pt x="3246540" y="142613"/>
                </a:lnTo>
                <a:lnTo>
                  <a:pt x="3464653" y="780176"/>
                </a:lnTo>
                <a:lnTo>
                  <a:pt x="3741490" y="1333850"/>
                </a:lnTo>
                <a:lnTo>
                  <a:pt x="4026716" y="1442907"/>
                </a:lnTo>
                <a:lnTo>
                  <a:pt x="4253218" y="1518408"/>
                </a:lnTo>
                <a:lnTo>
                  <a:pt x="4504888" y="822121"/>
                </a:lnTo>
                <a:lnTo>
                  <a:pt x="4756558" y="1048624"/>
                </a:lnTo>
                <a:lnTo>
                  <a:pt x="5016617" y="1266738"/>
                </a:lnTo>
                <a:lnTo>
                  <a:pt x="5243119" y="1400962"/>
                </a:lnTo>
                <a:lnTo>
                  <a:pt x="5486400" y="1551964"/>
                </a:lnTo>
                <a:lnTo>
                  <a:pt x="5729681" y="1568742"/>
                </a:lnTo>
                <a:lnTo>
                  <a:pt x="5972962" y="1568742"/>
                </a:lnTo>
              </a:path>
            </a:pathLst>
          </a:cu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자유형 102"/>
          <p:cNvSpPr/>
          <p:nvPr/>
        </p:nvSpPr>
        <p:spPr>
          <a:xfrm>
            <a:off x="1035487" y="4980815"/>
            <a:ext cx="7480869" cy="1296266"/>
          </a:xfrm>
          <a:custGeom>
            <a:avLst/>
            <a:gdLst>
              <a:gd name="connsiteX0" fmla="*/ 0 w 5947795"/>
              <a:gd name="connsiteY0" fmla="*/ 1619076 h 1677799"/>
              <a:gd name="connsiteX1" fmla="*/ 268448 w 5947795"/>
              <a:gd name="connsiteY1" fmla="*/ 1602298 h 1677799"/>
              <a:gd name="connsiteX2" fmla="*/ 478173 w 5947795"/>
              <a:gd name="connsiteY2" fmla="*/ 1652632 h 1677799"/>
              <a:gd name="connsiteX3" fmla="*/ 687897 w 5947795"/>
              <a:gd name="connsiteY3" fmla="*/ 1451296 h 1677799"/>
              <a:gd name="connsiteX4" fmla="*/ 931178 w 5947795"/>
              <a:gd name="connsiteY4" fmla="*/ 1451296 h 1677799"/>
              <a:gd name="connsiteX5" fmla="*/ 1140903 w 5947795"/>
              <a:gd name="connsiteY5" fmla="*/ 1459685 h 1677799"/>
              <a:gd name="connsiteX6" fmla="*/ 1451295 w 5947795"/>
              <a:gd name="connsiteY6" fmla="*/ 1300294 h 1677799"/>
              <a:gd name="connsiteX7" fmla="*/ 1686187 w 5947795"/>
              <a:gd name="connsiteY7" fmla="*/ 1526797 h 1677799"/>
              <a:gd name="connsiteX8" fmla="*/ 1946246 w 5947795"/>
              <a:gd name="connsiteY8" fmla="*/ 1291905 h 1677799"/>
              <a:gd name="connsiteX9" fmla="*/ 2223083 w 5947795"/>
              <a:gd name="connsiteY9" fmla="*/ 830510 h 1677799"/>
              <a:gd name="connsiteX10" fmla="*/ 2474752 w 5947795"/>
              <a:gd name="connsiteY10" fmla="*/ 964734 h 1677799"/>
              <a:gd name="connsiteX11" fmla="*/ 2684477 w 5947795"/>
              <a:gd name="connsiteY11" fmla="*/ 704676 h 1677799"/>
              <a:gd name="connsiteX12" fmla="*/ 2969703 w 5947795"/>
              <a:gd name="connsiteY12" fmla="*/ 1132514 h 1677799"/>
              <a:gd name="connsiteX13" fmla="*/ 3212984 w 5947795"/>
              <a:gd name="connsiteY13" fmla="*/ 0 h 1677799"/>
              <a:gd name="connsiteX14" fmla="*/ 3565321 w 5947795"/>
              <a:gd name="connsiteY14" fmla="*/ 1249960 h 1677799"/>
              <a:gd name="connsiteX15" fmla="*/ 3791824 w 5947795"/>
              <a:gd name="connsiteY15" fmla="*/ 1661021 h 1677799"/>
              <a:gd name="connsiteX16" fmla="*/ 3993160 w 5947795"/>
              <a:gd name="connsiteY16" fmla="*/ 1409351 h 1677799"/>
              <a:gd name="connsiteX17" fmla="*/ 4194495 w 5947795"/>
              <a:gd name="connsiteY17" fmla="*/ 1619076 h 1677799"/>
              <a:gd name="connsiteX18" fmla="*/ 4488110 w 5947795"/>
              <a:gd name="connsiteY18" fmla="*/ 1157681 h 1677799"/>
              <a:gd name="connsiteX19" fmla="*/ 4764947 w 5947795"/>
              <a:gd name="connsiteY19" fmla="*/ 1501630 h 1677799"/>
              <a:gd name="connsiteX20" fmla="*/ 5008228 w 5947795"/>
              <a:gd name="connsiteY20" fmla="*/ 1602298 h 1677799"/>
              <a:gd name="connsiteX21" fmla="*/ 5276675 w 5947795"/>
              <a:gd name="connsiteY21" fmla="*/ 1627465 h 1677799"/>
              <a:gd name="connsiteX22" fmla="*/ 5494789 w 5947795"/>
              <a:gd name="connsiteY22" fmla="*/ 1669410 h 1677799"/>
              <a:gd name="connsiteX23" fmla="*/ 5788404 w 5947795"/>
              <a:gd name="connsiteY23" fmla="*/ 1677799 h 1677799"/>
              <a:gd name="connsiteX24" fmla="*/ 5947795 w 5947795"/>
              <a:gd name="connsiteY24" fmla="*/ 1677799 h 167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47795" h="1677799">
                <a:moveTo>
                  <a:pt x="0" y="1619076"/>
                </a:moveTo>
                <a:lnTo>
                  <a:pt x="268448" y="1602298"/>
                </a:lnTo>
                <a:lnTo>
                  <a:pt x="478173" y="1652632"/>
                </a:lnTo>
                <a:lnTo>
                  <a:pt x="687897" y="1451296"/>
                </a:lnTo>
                <a:lnTo>
                  <a:pt x="931178" y="1451296"/>
                </a:lnTo>
                <a:lnTo>
                  <a:pt x="1140903" y="1459685"/>
                </a:lnTo>
                <a:lnTo>
                  <a:pt x="1451295" y="1300294"/>
                </a:lnTo>
                <a:lnTo>
                  <a:pt x="1686187" y="1526797"/>
                </a:lnTo>
                <a:lnTo>
                  <a:pt x="1946246" y="1291905"/>
                </a:lnTo>
                <a:lnTo>
                  <a:pt x="2223083" y="830510"/>
                </a:lnTo>
                <a:lnTo>
                  <a:pt x="2474752" y="964734"/>
                </a:lnTo>
                <a:lnTo>
                  <a:pt x="2684477" y="704676"/>
                </a:lnTo>
                <a:lnTo>
                  <a:pt x="2969703" y="1132514"/>
                </a:lnTo>
                <a:lnTo>
                  <a:pt x="3212984" y="0"/>
                </a:lnTo>
                <a:lnTo>
                  <a:pt x="3565321" y="1249960"/>
                </a:lnTo>
                <a:lnTo>
                  <a:pt x="3791824" y="1661021"/>
                </a:lnTo>
                <a:lnTo>
                  <a:pt x="3993160" y="1409351"/>
                </a:lnTo>
                <a:lnTo>
                  <a:pt x="4194495" y="1619076"/>
                </a:lnTo>
                <a:lnTo>
                  <a:pt x="4488110" y="1157681"/>
                </a:lnTo>
                <a:lnTo>
                  <a:pt x="4764947" y="1501630"/>
                </a:lnTo>
                <a:lnTo>
                  <a:pt x="5008228" y="1602298"/>
                </a:lnTo>
                <a:lnTo>
                  <a:pt x="5276675" y="1627465"/>
                </a:lnTo>
                <a:lnTo>
                  <a:pt x="5494789" y="1669410"/>
                </a:lnTo>
                <a:lnTo>
                  <a:pt x="5788404" y="1677799"/>
                </a:lnTo>
                <a:lnTo>
                  <a:pt x="5947795" y="1677799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/>
          <p:cNvSpPr txBox="1"/>
          <p:nvPr/>
        </p:nvSpPr>
        <p:spPr>
          <a:xfrm>
            <a:off x="1246477" y="6546159"/>
            <a:ext cx="726987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dirty="0">
                <a:latin typeface="+mn-ea"/>
              </a:rPr>
              <a:t>00  01  02  03  04  05  06  07  08  09  10  11  12  13  14  15  16  17  18  19  20  21  22  23 </a:t>
            </a:r>
            <a:endParaRPr lang="ko-KR" altLang="en-US" sz="1100" dirty="0">
              <a:latin typeface="+mn-ea"/>
            </a:endParaRPr>
          </a:p>
        </p:txBody>
      </p:sp>
      <p:sp>
        <p:nvSpPr>
          <p:cNvPr id="106" name="자유형 105"/>
          <p:cNvSpPr/>
          <p:nvPr/>
        </p:nvSpPr>
        <p:spPr>
          <a:xfrm flipV="1">
            <a:off x="1035488" y="5573180"/>
            <a:ext cx="7491123" cy="680826"/>
          </a:xfrm>
          <a:custGeom>
            <a:avLst/>
            <a:gdLst>
              <a:gd name="connsiteX0" fmla="*/ 0 w 5947795"/>
              <a:gd name="connsiteY0" fmla="*/ 1619076 h 1677799"/>
              <a:gd name="connsiteX1" fmla="*/ 268448 w 5947795"/>
              <a:gd name="connsiteY1" fmla="*/ 1602298 h 1677799"/>
              <a:gd name="connsiteX2" fmla="*/ 478173 w 5947795"/>
              <a:gd name="connsiteY2" fmla="*/ 1652632 h 1677799"/>
              <a:gd name="connsiteX3" fmla="*/ 687897 w 5947795"/>
              <a:gd name="connsiteY3" fmla="*/ 1451296 h 1677799"/>
              <a:gd name="connsiteX4" fmla="*/ 931178 w 5947795"/>
              <a:gd name="connsiteY4" fmla="*/ 1451296 h 1677799"/>
              <a:gd name="connsiteX5" fmla="*/ 1140903 w 5947795"/>
              <a:gd name="connsiteY5" fmla="*/ 1459685 h 1677799"/>
              <a:gd name="connsiteX6" fmla="*/ 1451295 w 5947795"/>
              <a:gd name="connsiteY6" fmla="*/ 1300294 h 1677799"/>
              <a:gd name="connsiteX7" fmla="*/ 1686187 w 5947795"/>
              <a:gd name="connsiteY7" fmla="*/ 1526797 h 1677799"/>
              <a:gd name="connsiteX8" fmla="*/ 1946246 w 5947795"/>
              <a:gd name="connsiteY8" fmla="*/ 1291905 h 1677799"/>
              <a:gd name="connsiteX9" fmla="*/ 2223083 w 5947795"/>
              <a:gd name="connsiteY9" fmla="*/ 830510 h 1677799"/>
              <a:gd name="connsiteX10" fmla="*/ 2474752 w 5947795"/>
              <a:gd name="connsiteY10" fmla="*/ 964734 h 1677799"/>
              <a:gd name="connsiteX11" fmla="*/ 2684477 w 5947795"/>
              <a:gd name="connsiteY11" fmla="*/ 704676 h 1677799"/>
              <a:gd name="connsiteX12" fmla="*/ 2969703 w 5947795"/>
              <a:gd name="connsiteY12" fmla="*/ 1132514 h 1677799"/>
              <a:gd name="connsiteX13" fmla="*/ 3212984 w 5947795"/>
              <a:gd name="connsiteY13" fmla="*/ 0 h 1677799"/>
              <a:gd name="connsiteX14" fmla="*/ 3565321 w 5947795"/>
              <a:gd name="connsiteY14" fmla="*/ 1249960 h 1677799"/>
              <a:gd name="connsiteX15" fmla="*/ 3791824 w 5947795"/>
              <a:gd name="connsiteY15" fmla="*/ 1661021 h 1677799"/>
              <a:gd name="connsiteX16" fmla="*/ 3993160 w 5947795"/>
              <a:gd name="connsiteY16" fmla="*/ 1409351 h 1677799"/>
              <a:gd name="connsiteX17" fmla="*/ 4194495 w 5947795"/>
              <a:gd name="connsiteY17" fmla="*/ 1619076 h 1677799"/>
              <a:gd name="connsiteX18" fmla="*/ 4488110 w 5947795"/>
              <a:gd name="connsiteY18" fmla="*/ 1157681 h 1677799"/>
              <a:gd name="connsiteX19" fmla="*/ 4764947 w 5947795"/>
              <a:gd name="connsiteY19" fmla="*/ 1501630 h 1677799"/>
              <a:gd name="connsiteX20" fmla="*/ 5008228 w 5947795"/>
              <a:gd name="connsiteY20" fmla="*/ 1602298 h 1677799"/>
              <a:gd name="connsiteX21" fmla="*/ 5276675 w 5947795"/>
              <a:gd name="connsiteY21" fmla="*/ 1627465 h 1677799"/>
              <a:gd name="connsiteX22" fmla="*/ 5494789 w 5947795"/>
              <a:gd name="connsiteY22" fmla="*/ 1669410 h 1677799"/>
              <a:gd name="connsiteX23" fmla="*/ 5788404 w 5947795"/>
              <a:gd name="connsiteY23" fmla="*/ 1677799 h 1677799"/>
              <a:gd name="connsiteX24" fmla="*/ 5947795 w 5947795"/>
              <a:gd name="connsiteY24" fmla="*/ 1677799 h 167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47795" h="1677799">
                <a:moveTo>
                  <a:pt x="0" y="1619076"/>
                </a:moveTo>
                <a:lnTo>
                  <a:pt x="268448" y="1602298"/>
                </a:lnTo>
                <a:lnTo>
                  <a:pt x="478173" y="1652632"/>
                </a:lnTo>
                <a:lnTo>
                  <a:pt x="687897" y="1451296"/>
                </a:lnTo>
                <a:lnTo>
                  <a:pt x="931178" y="1451296"/>
                </a:lnTo>
                <a:lnTo>
                  <a:pt x="1140903" y="1459685"/>
                </a:lnTo>
                <a:lnTo>
                  <a:pt x="1451295" y="1300294"/>
                </a:lnTo>
                <a:lnTo>
                  <a:pt x="1686187" y="1526797"/>
                </a:lnTo>
                <a:lnTo>
                  <a:pt x="1946246" y="1291905"/>
                </a:lnTo>
                <a:lnTo>
                  <a:pt x="2223083" y="830510"/>
                </a:lnTo>
                <a:lnTo>
                  <a:pt x="2474752" y="964734"/>
                </a:lnTo>
                <a:lnTo>
                  <a:pt x="2684477" y="704676"/>
                </a:lnTo>
                <a:lnTo>
                  <a:pt x="2969703" y="1132514"/>
                </a:lnTo>
                <a:lnTo>
                  <a:pt x="3212984" y="0"/>
                </a:lnTo>
                <a:lnTo>
                  <a:pt x="3565321" y="1249960"/>
                </a:lnTo>
                <a:lnTo>
                  <a:pt x="3791824" y="1661021"/>
                </a:lnTo>
                <a:lnTo>
                  <a:pt x="3993160" y="1409351"/>
                </a:lnTo>
                <a:lnTo>
                  <a:pt x="4194495" y="1619076"/>
                </a:lnTo>
                <a:lnTo>
                  <a:pt x="4488110" y="1157681"/>
                </a:lnTo>
                <a:lnTo>
                  <a:pt x="4764947" y="1501630"/>
                </a:lnTo>
                <a:lnTo>
                  <a:pt x="5008228" y="1602298"/>
                </a:lnTo>
                <a:lnTo>
                  <a:pt x="5276675" y="1627465"/>
                </a:lnTo>
                <a:lnTo>
                  <a:pt x="5494789" y="1669410"/>
                </a:lnTo>
                <a:lnTo>
                  <a:pt x="5788404" y="1677799"/>
                </a:lnTo>
                <a:lnTo>
                  <a:pt x="5947795" y="1677799"/>
                </a:lnTo>
              </a:path>
            </a:pathLst>
          </a:custGeom>
          <a:noFill/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7" name="그룹 106"/>
          <p:cNvGrpSpPr/>
          <p:nvPr/>
        </p:nvGrpSpPr>
        <p:grpSpPr>
          <a:xfrm>
            <a:off x="1035488" y="7481854"/>
            <a:ext cx="8534400" cy="1546960"/>
            <a:chOff x="2368352" y="3578291"/>
            <a:chExt cx="6912768" cy="1546960"/>
          </a:xfrm>
        </p:grpSpPr>
        <p:grpSp>
          <p:nvGrpSpPr>
            <p:cNvPr id="108" name="그룹 107"/>
            <p:cNvGrpSpPr/>
            <p:nvPr/>
          </p:nvGrpSpPr>
          <p:grpSpPr>
            <a:xfrm>
              <a:off x="2368352" y="3578291"/>
              <a:ext cx="6912768" cy="1244120"/>
              <a:chOff x="11225336" y="2496344"/>
              <a:chExt cx="1391943" cy="882383"/>
            </a:xfrm>
          </p:grpSpPr>
          <p:cxnSp>
            <p:nvCxnSpPr>
              <p:cNvPr id="146" name="Y Axis"/>
              <p:cNvCxnSpPr>
                <a:cxnSpLocks/>
              </p:cNvCxnSpPr>
              <p:nvPr/>
            </p:nvCxnSpPr>
            <p:spPr bwMode="auto">
              <a:xfrm>
                <a:off x="11225336" y="2496344"/>
                <a:ext cx="0" cy="880795"/>
              </a:xfrm>
              <a:prstGeom prst="line">
                <a:avLst/>
              </a:prstGeom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X Axis"/>
              <p:cNvCxnSpPr>
                <a:cxnSpLocks/>
              </p:cNvCxnSpPr>
              <p:nvPr/>
            </p:nvCxnSpPr>
            <p:spPr bwMode="auto">
              <a:xfrm>
                <a:off x="11225336" y="3377139"/>
                <a:ext cx="1391943" cy="1588"/>
              </a:xfrm>
              <a:prstGeom prst="line">
                <a:avLst/>
              </a:prstGeom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9" name="Bar 1"/>
            <p:cNvSpPr>
              <a:spLocks/>
            </p:cNvSpPr>
            <p:nvPr/>
          </p:nvSpPr>
          <p:spPr bwMode="auto">
            <a:xfrm>
              <a:off x="3203304" y="4062040"/>
              <a:ext cx="193383" cy="75813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 defTabSz="914400" latinLnBrk="0"/>
              <a:endParaRPr lang="en-US" sz="900">
                <a:solidFill>
                  <a:srgbClr val="333333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2956791" y="4894419"/>
              <a:ext cx="686405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일반 구역</a:t>
              </a:r>
            </a:p>
          </p:txBody>
        </p:sp>
        <p:sp>
          <p:nvSpPr>
            <p:cNvPr id="111" name="Bar 3"/>
            <p:cNvSpPr>
              <a:spLocks/>
            </p:cNvSpPr>
            <p:nvPr/>
          </p:nvSpPr>
          <p:spPr bwMode="auto">
            <a:xfrm>
              <a:off x="4492524" y="3814299"/>
              <a:ext cx="193383" cy="1005873"/>
            </a:xfrm>
            <a:prstGeom prst="rect">
              <a:avLst/>
            </a:prstGeom>
            <a:solidFill>
              <a:srgbClr val="FFC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4246013" y="4894419"/>
              <a:ext cx="686406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위험 구역</a:t>
              </a:r>
            </a:p>
          </p:txBody>
        </p:sp>
        <p:sp>
          <p:nvSpPr>
            <p:cNvPr id="113" name="Bar 2"/>
            <p:cNvSpPr>
              <a:spLocks/>
            </p:cNvSpPr>
            <p:nvPr/>
          </p:nvSpPr>
          <p:spPr bwMode="auto">
            <a:xfrm>
              <a:off x="5810189" y="4396844"/>
              <a:ext cx="191420" cy="42332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5535236" y="4894419"/>
              <a:ext cx="686406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/>
                <a:t>통제 구역</a:t>
              </a:r>
              <a:endParaRPr lang="ko-KR" altLang="en-US" sz="900" dirty="0"/>
            </a:p>
          </p:txBody>
        </p:sp>
        <p:sp>
          <p:nvSpPr>
            <p:cNvPr id="115" name="Bar 5"/>
            <p:cNvSpPr>
              <a:spLocks/>
            </p:cNvSpPr>
            <p:nvPr/>
          </p:nvSpPr>
          <p:spPr bwMode="auto">
            <a:xfrm>
              <a:off x="7071461" y="4045017"/>
              <a:ext cx="192402" cy="775155"/>
            </a:xfrm>
            <a:prstGeom prst="rect">
              <a:avLst/>
            </a:prstGeom>
            <a:solidFill>
              <a:srgbClr val="7030A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6824459" y="4894419"/>
              <a:ext cx="686406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/>
                <a:t>밀폐 공간</a:t>
              </a:r>
              <a:endParaRPr lang="ko-KR" altLang="en-US" sz="900" dirty="0"/>
            </a:p>
          </p:txBody>
        </p:sp>
        <p:sp>
          <p:nvSpPr>
            <p:cNvPr id="117" name="Bar 1"/>
            <p:cNvSpPr>
              <a:spLocks/>
            </p:cNvSpPr>
            <p:nvPr/>
          </p:nvSpPr>
          <p:spPr bwMode="auto">
            <a:xfrm>
              <a:off x="8360194" y="4062040"/>
              <a:ext cx="193383" cy="758132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333333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8113683" y="4894419"/>
              <a:ext cx="686406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경고 구역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3110871" y="4545322"/>
              <a:ext cx="378245" cy="17485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46800" tIns="18000" rIns="46800" bIns="18000" rtlCol="0" anchor="ctr">
              <a:spAutoFit/>
            </a:bodyPr>
            <a:lstStyle/>
            <a:p>
              <a:pPr algn="ctr"/>
              <a:r>
                <a:rPr lang="en-US" altLang="ko-KR" sz="900" dirty="0"/>
                <a:t>24 </a:t>
              </a:r>
              <a:r>
                <a:rPr lang="ko-KR" altLang="en-US" sz="900"/>
                <a:t>곳</a:t>
              </a:r>
              <a:endParaRPr lang="ko-KR" altLang="en-US" sz="900" dirty="0"/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4400092" y="4545322"/>
              <a:ext cx="378246" cy="17485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46800" tIns="18000" rIns="46800" bIns="18000" rtlCol="0" anchor="ctr">
              <a:spAutoFit/>
            </a:bodyPr>
            <a:lstStyle/>
            <a:p>
              <a:pPr algn="ctr"/>
              <a:r>
                <a:rPr lang="en-US" altLang="ko-KR" sz="900" dirty="0"/>
                <a:t>17 </a:t>
              </a:r>
              <a:r>
                <a:rPr lang="ko-KR" altLang="en-US" sz="900"/>
                <a:t>곳</a:t>
              </a:r>
              <a:endParaRPr lang="ko-KR" altLang="en-US" sz="900" dirty="0"/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5721375" y="4545322"/>
              <a:ext cx="314126" cy="17485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46800" tIns="18000" rIns="46800" bIns="18000" rtlCol="0" anchor="ctr">
              <a:spAutoFit/>
            </a:bodyPr>
            <a:lstStyle/>
            <a:p>
              <a:pPr algn="ctr"/>
              <a:r>
                <a:rPr lang="en-US" altLang="ko-KR" sz="900" dirty="0"/>
                <a:t>5 </a:t>
              </a:r>
              <a:r>
                <a:rPr lang="ko-KR" altLang="en-US" sz="900"/>
                <a:t>곳</a:t>
              </a:r>
              <a:endParaRPr lang="ko-KR" altLang="en-US" sz="900" dirty="0"/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6978538" y="4545322"/>
              <a:ext cx="378246" cy="17485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46800" tIns="18000" rIns="46800" bIns="18000" rtlCol="0" anchor="ctr">
              <a:spAutoFit/>
            </a:bodyPr>
            <a:lstStyle/>
            <a:p>
              <a:pPr algn="ctr"/>
              <a:r>
                <a:rPr lang="en-US" altLang="ko-KR" sz="900" dirty="0"/>
                <a:t>12 </a:t>
              </a:r>
              <a:r>
                <a:rPr lang="ko-KR" altLang="en-US" sz="900"/>
                <a:t>곳</a:t>
              </a:r>
              <a:endParaRPr lang="ko-KR" altLang="en-US" sz="900" dirty="0"/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8267762" y="4545322"/>
              <a:ext cx="378246" cy="17485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46800" tIns="18000" rIns="46800" bIns="18000" rtlCol="0" anchor="ctr">
              <a:spAutoFit/>
            </a:bodyPr>
            <a:lstStyle/>
            <a:p>
              <a:pPr algn="ctr"/>
              <a:r>
                <a:rPr lang="en-US" altLang="ko-KR" sz="900" dirty="0"/>
                <a:t>12 </a:t>
              </a:r>
              <a:r>
                <a:rPr lang="ko-KR" altLang="en-US" sz="900"/>
                <a:t>곳</a:t>
              </a:r>
              <a:endParaRPr lang="ko-KR" altLang="en-US" sz="900" dirty="0"/>
            </a:p>
          </p:txBody>
        </p:sp>
      </p:grpSp>
      <p:sp>
        <p:nvSpPr>
          <p:cNvPr id="206" name="TextBox 205"/>
          <p:cNvSpPr txBox="1"/>
          <p:nvPr/>
        </p:nvSpPr>
        <p:spPr>
          <a:xfrm>
            <a:off x="1035488" y="7104856"/>
            <a:ext cx="1032334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구역 등록 내역</a:t>
            </a:r>
          </a:p>
        </p:txBody>
      </p:sp>
      <p:pic>
        <p:nvPicPr>
          <p:cNvPr id="20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588166" y="9103284"/>
            <a:ext cx="9284996" cy="14155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208" name="직사각형 207"/>
          <p:cNvSpPr/>
          <p:nvPr/>
        </p:nvSpPr>
        <p:spPr>
          <a:xfrm>
            <a:off x="8318811" y="9918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210" name="표 2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7684304"/>
              </p:ext>
            </p:extLst>
          </p:nvPr>
        </p:nvGraphicFramePr>
        <p:xfrm>
          <a:off x="10633534" y="1654779"/>
          <a:ext cx="2088232" cy="39287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 시간을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년월일시분초로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글이 길 경우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두줄로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출입현황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임직원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수시 방문자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일일 방문자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작업자 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일반 작업자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일반 작업자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특수 작업자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일반 작업자를 제외한 모든 인원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구간별 작업자 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B/D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별 작업자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특수 작업자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일반 작업자를 제외한 모든 인원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게이트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출입현황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게이트가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늘어나면 늘어나는 대로 그래프가 추가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체크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on/off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통해 그래프를 볼 수 있음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Default 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모두 체크됨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구역 등록 내역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 시간 등록된 내역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순서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관리자에 등록되있는 순서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11" name="직사각형 210"/>
          <p:cNvSpPr/>
          <p:nvPr/>
        </p:nvSpPr>
        <p:spPr>
          <a:xfrm>
            <a:off x="2956754" y="9918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2" name="직사각형 211"/>
          <p:cNvSpPr/>
          <p:nvPr/>
        </p:nvSpPr>
        <p:spPr>
          <a:xfrm>
            <a:off x="2318831" y="165477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3" name="직사각형 212"/>
          <p:cNvSpPr/>
          <p:nvPr/>
        </p:nvSpPr>
        <p:spPr>
          <a:xfrm>
            <a:off x="4931673" y="165477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4" name="직사각형 213"/>
          <p:cNvSpPr/>
          <p:nvPr/>
        </p:nvSpPr>
        <p:spPr>
          <a:xfrm>
            <a:off x="7982546" y="165477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5" name="직사각형 214"/>
          <p:cNvSpPr/>
          <p:nvPr/>
        </p:nvSpPr>
        <p:spPr>
          <a:xfrm>
            <a:off x="712168" y="441656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217" name="그림 21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3404" y="5331840"/>
            <a:ext cx="233497" cy="233497"/>
          </a:xfrm>
          <a:prstGeom prst="rect">
            <a:avLst/>
          </a:prstGeom>
        </p:spPr>
      </p:pic>
      <p:pic>
        <p:nvPicPr>
          <p:cNvPr id="219" name="그림 2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3404" y="5797795"/>
            <a:ext cx="233497" cy="233497"/>
          </a:xfrm>
          <a:prstGeom prst="rect">
            <a:avLst/>
          </a:prstGeom>
        </p:spPr>
      </p:pic>
      <p:pic>
        <p:nvPicPr>
          <p:cNvPr id="220" name="그림 21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1177" y="6256015"/>
            <a:ext cx="233497" cy="233498"/>
          </a:xfrm>
          <a:prstGeom prst="rect">
            <a:avLst/>
          </a:prstGeom>
        </p:spPr>
      </p:pic>
      <p:pic>
        <p:nvPicPr>
          <p:cNvPr id="221" name="그림 22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3404" y="4865885"/>
            <a:ext cx="233497" cy="233497"/>
          </a:xfrm>
          <a:prstGeom prst="rect">
            <a:avLst/>
          </a:prstGeom>
        </p:spPr>
      </p:pic>
      <p:sp>
        <p:nvSpPr>
          <p:cNvPr id="222" name="직사각형 221"/>
          <p:cNvSpPr/>
          <p:nvPr/>
        </p:nvSpPr>
        <p:spPr>
          <a:xfrm>
            <a:off x="9132315" y="45845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3" name="직사각형 222"/>
          <p:cNvSpPr/>
          <p:nvPr/>
        </p:nvSpPr>
        <p:spPr>
          <a:xfrm>
            <a:off x="712168" y="715286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10577264" y="1221686"/>
            <a:ext cx="222433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모든 내용은 이 페이지를 </a:t>
            </a:r>
            <a:r>
              <a:rPr lang="ko-KR" altLang="en-US" sz="800" dirty="0" err="1"/>
              <a:t>보게된</a:t>
            </a:r>
            <a:r>
              <a:rPr lang="ko-KR" altLang="en-US" sz="800" dirty="0"/>
              <a:t> 현재 시간을 기준으로 함</a:t>
            </a:r>
          </a:p>
        </p:txBody>
      </p:sp>
      <p:sp>
        <p:nvSpPr>
          <p:cNvPr id="62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835615" y="343726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016</a:t>
            </a:r>
            <a:endParaRPr lang="ko-KR" altLang="en-US" sz="800" dirty="0">
              <a:latin typeface="+mn-ea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1561736" y="632805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+mn-ea"/>
              </a:rPr>
              <a:t>안전점검일지</a:t>
            </a:r>
            <a:endParaRPr lang="en-US" altLang="ko-KR" sz="900" dirty="0">
              <a:latin typeface="+mn-ea"/>
            </a:endParaRPr>
          </a:p>
        </p:txBody>
      </p:sp>
      <p:cxnSp>
        <p:nvCxnSpPr>
          <p:cNvPr id="75" name="직선 연결선 74"/>
          <p:cNvCxnSpPr/>
          <p:nvPr/>
        </p:nvCxnSpPr>
        <p:spPr>
          <a:xfrm>
            <a:off x="9879699" y="1117159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83" name="직사각형 82"/>
          <p:cNvSpPr/>
          <p:nvPr/>
        </p:nvSpPr>
        <p:spPr>
          <a:xfrm>
            <a:off x="10570620" y="6008261"/>
            <a:ext cx="2230980" cy="36450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bg1"/>
                </a:solidFill>
              </a:rPr>
              <a:t>16.07.11 (history-009)</a:t>
            </a:r>
            <a:br>
              <a:rPr lang="en-US" altLang="ko-KR" sz="800" dirty="0">
                <a:solidFill>
                  <a:schemeClr val="bg1"/>
                </a:solidFill>
              </a:rPr>
            </a:br>
            <a:r>
              <a:rPr lang="ko-KR" altLang="en-US" sz="800">
                <a:solidFill>
                  <a:schemeClr val="bg1"/>
                </a:solidFill>
              </a:rPr>
              <a:t>일일 안전현황 </a:t>
            </a:r>
            <a:r>
              <a:rPr lang="en-US" altLang="ko-KR" sz="800" dirty="0">
                <a:solidFill>
                  <a:schemeClr val="bg1"/>
                </a:solidFill>
              </a:rPr>
              <a:t>MMI </a:t>
            </a:r>
            <a:r>
              <a:rPr lang="ko-KR" altLang="en-US" sz="800">
                <a:solidFill>
                  <a:schemeClr val="bg1"/>
                </a:solidFill>
              </a:rPr>
              <a:t>배포</a:t>
            </a:r>
          </a:p>
        </p:txBody>
      </p:sp>
    </p:spTree>
    <p:extLst>
      <p:ext uri="{BB962C8B-B14F-4D97-AF65-F5344CB8AC3E}">
        <p14:creationId xmlns:p14="http://schemas.microsoft.com/office/powerpoint/2010/main" val="363121105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직사각형 114"/>
          <p:cNvSpPr/>
          <p:nvPr/>
        </p:nvSpPr>
        <p:spPr>
          <a:xfrm>
            <a:off x="-8483" y="-76"/>
            <a:ext cx="10546277" cy="9601276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298078" y="239316"/>
            <a:ext cx="9991154" cy="90977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6976864" y="3860016"/>
            <a:ext cx="2593024" cy="46805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1035488" y="1339736"/>
            <a:ext cx="1285608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가스위험 변동사항</a:t>
            </a:r>
          </a:p>
        </p:txBody>
      </p:sp>
      <p:sp>
        <p:nvSpPr>
          <p:cNvPr id="24" name="직사각형 23"/>
          <p:cNvSpPr/>
          <p:nvPr/>
        </p:nvSpPr>
        <p:spPr>
          <a:xfrm>
            <a:off x="1035488" y="1678357"/>
            <a:ext cx="2093182" cy="14768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산소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(O2)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3188411" y="1678357"/>
            <a:ext cx="2093182" cy="14768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일산화탄소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(CO)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5329810" y="1678357"/>
            <a:ext cx="2093182" cy="14768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메탄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(CH4)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7476706" y="1678357"/>
            <a:ext cx="2093182" cy="14768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황화수소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(H2S)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Bar 6"/>
          <p:cNvSpPr>
            <a:spLocks/>
          </p:cNvSpPr>
          <p:nvPr/>
        </p:nvSpPr>
        <p:spPr bwMode="auto">
          <a:xfrm rot="5400000">
            <a:off x="1707430" y="1824610"/>
            <a:ext cx="322648" cy="122743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29" name="Bar 6"/>
          <p:cNvSpPr>
            <a:spLocks/>
          </p:cNvSpPr>
          <p:nvPr/>
        </p:nvSpPr>
        <p:spPr bwMode="auto">
          <a:xfrm rot="5400000">
            <a:off x="2553447" y="2217387"/>
            <a:ext cx="322648" cy="441886"/>
          </a:xfrm>
          <a:prstGeom prst="rect">
            <a:avLst/>
          </a:prstGeom>
          <a:solidFill>
            <a:srgbClr val="BFBFBF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666615" y="2599653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3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31" name="TextBox 30"/>
          <p:cNvSpPr txBox="1"/>
          <p:nvPr/>
        </p:nvSpPr>
        <p:spPr>
          <a:xfrm>
            <a:off x="2512632" y="2599653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1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32" name="TextBox 31"/>
          <p:cNvSpPr txBox="1"/>
          <p:nvPr/>
        </p:nvSpPr>
        <p:spPr>
          <a:xfrm>
            <a:off x="1189684" y="2034059"/>
            <a:ext cx="415499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해결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413501" y="2034059"/>
            <a:ext cx="530915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900" dirty="0"/>
              <a:t>미해결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819828" y="1720350"/>
            <a:ext cx="524503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050" b="1" dirty="0"/>
              <a:t>00 </a:t>
            </a:r>
            <a:r>
              <a:rPr lang="ko-KR" altLang="en-US" sz="1050" b="1"/>
              <a:t>건</a:t>
            </a:r>
            <a:endParaRPr lang="ko-KR" altLang="en-US" sz="1050" b="1" dirty="0"/>
          </a:p>
        </p:txBody>
      </p:sp>
      <p:sp>
        <p:nvSpPr>
          <p:cNvPr id="35" name="Bar 6"/>
          <p:cNvSpPr>
            <a:spLocks/>
          </p:cNvSpPr>
          <p:nvPr/>
        </p:nvSpPr>
        <p:spPr bwMode="auto">
          <a:xfrm rot="5400000">
            <a:off x="3829848" y="1824611"/>
            <a:ext cx="322648" cy="122743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6" name="Bar 6"/>
          <p:cNvSpPr>
            <a:spLocks/>
          </p:cNvSpPr>
          <p:nvPr/>
        </p:nvSpPr>
        <p:spPr bwMode="auto">
          <a:xfrm rot="5400000">
            <a:off x="4675865" y="2217388"/>
            <a:ext cx="322648" cy="441886"/>
          </a:xfrm>
          <a:prstGeom prst="rect">
            <a:avLst/>
          </a:prstGeom>
          <a:solidFill>
            <a:srgbClr val="BFBFBF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789033" y="2599654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3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38" name="TextBox 37"/>
          <p:cNvSpPr txBox="1"/>
          <p:nvPr/>
        </p:nvSpPr>
        <p:spPr>
          <a:xfrm>
            <a:off x="4635050" y="2599654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1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39" name="TextBox 38"/>
          <p:cNvSpPr txBox="1"/>
          <p:nvPr/>
        </p:nvSpPr>
        <p:spPr>
          <a:xfrm>
            <a:off x="3312102" y="2034060"/>
            <a:ext cx="415499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해결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535919" y="2034060"/>
            <a:ext cx="530915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900" dirty="0"/>
              <a:t>미해결</a:t>
            </a:r>
          </a:p>
        </p:txBody>
      </p:sp>
      <p:sp>
        <p:nvSpPr>
          <p:cNvPr id="41" name="Bar 6"/>
          <p:cNvSpPr>
            <a:spLocks/>
          </p:cNvSpPr>
          <p:nvPr/>
        </p:nvSpPr>
        <p:spPr bwMode="auto">
          <a:xfrm rot="5400000">
            <a:off x="6033469" y="1824612"/>
            <a:ext cx="322648" cy="122743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2" name="Bar 6"/>
          <p:cNvSpPr>
            <a:spLocks/>
          </p:cNvSpPr>
          <p:nvPr/>
        </p:nvSpPr>
        <p:spPr bwMode="auto">
          <a:xfrm rot="5400000">
            <a:off x="6879486" y="2217389"/>
            <a:ext cx="322648" cy="441886"/>
          </a:xfrm>
          <a:prstGeom prst="rect">
            <a:avLst/>
          </a:prstGeom>
          <a:solidFill>
            <a:srgbClr val="BFBFBF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992654" y="2599655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3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44" name="TextBox 43"/>
          <p:cNvSpPr txBox="1"/>
          <p:nvPr/>
        </p:nvSpPr>
        <p:spPr>
          <a:xfrm>
            <a:off x="6838671" y="2599655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1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45" name="TextBox 44"/>
          <p:cNvSpPr txBox="1"/>
          <p:nvPr/>
        </p:nvSpPr>
        <p:spPr>
          <a:xfrm>
            <a:off x="5515723" y="2034061"/>
            <a:ext cx="415499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해결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739540" y="2034061"/>
            <a:ext cx="530915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900" dirty="0"/>
              <a:t>미해결</a:t>
            </a:r>
          </a:p>
        </p:txBody>
      </p:sp>
      <p:sp>
        <p:nvSpPr>
          <p:cNvPr id="47" name="Bar 6"/>
          <p:cNvSpPr>
            <a:spLocks/>
          </p:cNvSpPr>
          <p:nvPr/>
        </p:nvSpPr>
        <p:spPr bwMode="auto">
          <a:xfrm rot="5400000">
            <a:off x="8155886" y="1824613"/>
            <a:ext cx="322648" cy="122743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8" name="Bar 6"/>
          <p:cNvSpPr>
            <a:spLocks/>
          </p:cNvSpPr>
          <p:nvPr/>
        </p:nvSpPr>
        <p:spPr bwMode="auto">
          <a:xfrm rot="5400000">
            <a:off x="9001903" y="2217390"/>
            <a:ext cx="322648" cy="441886"/>
          </a:xfrm>
          <a:prstGeom prst="rect">
            <a:avLst/>
          </a:prstGeom>
          <a:solidFill>
            <a:srgbClr val="BFBFBF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8115071" y="2599656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3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50" name="TextBox 49"/>
          <p:cNvSpPr txBox="1"/>
          <p:nvPr/>
        </p:nvSpPr>
        <p:spPr>
          <a:xfrm>
            <a:off x="8961088" y="2599656"/>
            <a:ext cx="404278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00" dirty="0"/>
              <a:t>1 </a:t>
            </a:r>
            <a:r>
              <a:rPr lang="ko-KR" altLang="en-US" sz="900"/>
              <a:t>건</a:t>
            </a:r>
            <a:endParaRPr lang="ko-KR" altLang="en-US" sz="900" dirty="0"/>
          </a:p>
        </p:txBody>
      </p:sp>
      <p:sp>
        <p:nvSpPr>
          <p:cNvPr id="51" name="TextBox 50"/>
          <p:cNvSpPr txBox="1"/>
          <p:nvPr/>
        </p:nvSpPr>
        <p:spPr>
          <a:xfrm>
            <a:off x="7638140" y="2034062"/>
            <a:ext cx="415499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해결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861957" y="2034062"/>
            <a:ext cx="530915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900" dirty="0"/>
              <a:t>미해결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972750" y="1720350"/>
            <a:ext cx="524503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050" b="1" dirty="0"/>
              <a:t>00 </a:t>
            </a:r>
            <a:r>
              <a:rPr lang="ko-KR" altLang="en-US" sz="1050" b="1"/>
              <a:t>건</a:t>
            </a:r>
            <a:endParaRPr lang="ko-KR" altLang="en-US" sz="1050" b="1" dirty="0"/>
          </a:p>
        </p:txBody>
      </p:sp>
      <p:sp>
        <p:nvSpPr>
          <p:cNvPr id="54" name="TextBox 53"/>
          <p:cNvSpPr txBox="1"/>
          <p:nvPr/>
        </p:nvSpPr>
        <p:spPr>
          <a:xfrm>
            <a:off x="6108097" y="1720350"/>
            <a:ext cx="524503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050" b="1" dirty="0"/>
              <a:t>00 </a:t>
            </a:r>
            <a:r>
              <a:rPr lang="ko-KR" altLang="en-US" sz="1050" b="1"/>
              <a:t>건</a:t>
            </a:r>
            <a:endParaRPr lang="ko-KR" altLang="en-US" sz="1050" b="1" dirty="0"/>
          </a:p>
        </p:txBody>
      </p:sp>
      <p:sp>
        <p:nvSpPr>
          <p:cNvPr id="55" name="TextBox 54"/>
          <p:cNvSpPr txBox="1"/>
          <p:nvPr/>
        </p:nvSpPr>
        <p:spPr>
          <a:xfrm>
            <a:off x="8284455" y="1720350"/>
            <a:ext cx="524503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050" b="1" dirty="0"/>
              <a:t>00 </a:t>
            </a:r>
            <a:r>
              <a:rPr lang="ko-KR" altLang="en-US" sz="1050" b="1"/>
              <a:t>건</a:t>
            </a:r>
            <a:endParaRPr lang="ko-KR" altLang="en-US" sz="1050" b="1" dirty="0"/>
          </a:p>
        </p:txBody>
      </p:sp>
      <p:pic>
        <p:nvPicPr>
          <p:cNvPr id="5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588166" y="748826"/>
            <a:ext cx="9284996" cy="141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12" name="표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1227535"/>
              </p:ext>
            </p:extLst>
          </p:nvPr>
        </p:nvGraphicFramePr>
        <p:xfrm>
          <a:off x="10633534" y="1654779"/>
          <a:ext cx="2088232" cy="378910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가스위험에 대한 내용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가스노출 안전사항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STEL/ 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내역 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이벤트 알림을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카운팅하여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가스노출 기준치 초과 알림내역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STEL/TWA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노출 만 알림내역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이벤트 리스트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알림내역이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없는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노출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해당하는 하루의 내용을 다 보여줌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내용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작업구역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STEL &amp; 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두번째 줄 성명이 나오지 않음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3" name="직사각형 112"/>
          <p:cNvSpPr/>
          <p:nvPr/>
        </p:nvSpPr>
        <p:spPr>
          <a:xfrm>
            <a:off x="712168" y="138774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10577264" y="1221686"/>
            <a:ext cx="222433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모든 내용은 이 페이지를 </a:t>
            </a:r>
            <a:r>
              <a:rPr lang="ko-KR" altLang="en-US" sz="800" dirty="0" err="1"/>
              <a:t>보게된</a:t>
            </a:r>
            <a:r>
              <a:rPr lang="ko-KR" altLang="en-US" sz="800" dirty="0"/>
              <a:t> 현재 시간을 기준으로 함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35488" y="3364661"/>
            <a:ext cx="1340110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가스노출 안전 사항</a:t>
            </a:r>
          </a:p>
        </p:txBody>
      </p:sp>
      <p:graphicFrame>
        <p:nvGraphicFramePr>
          <p:cNvPr id="126" name="차트 125"/>
          <p:cNvGraphicFramePr/>
          <p:nvPr>
            <p:extLst>
              <p:ext uri="{D42A27DB-BD31-4B8C-83A1-F6EECF244321}">
                <p14:modId xmlns:p14="http://schemas.microsoft.com/office/powerpoint/2010/main" val="950252403"/>
              </p:ext>
            </p:extLst>
          </p:nvPr>
        </p:nvGraphicFramePr>
        <p:xfrm>
          <a:off x="1177108" y="3788357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7" name="TextBox 126"/>
          <p:cNvSpPr txBox="1"/>
          <p:nvPr/>
        </p:nvSpPr>
        <p:spPr>
          <a:xfrm>
            <a:off x="2343515" y="3736723"/>
            <a:ext cx="338234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en-US" altLang="ko-KR" sz="1200" b="1" dirty="0">
                <a:latin typeface="+mn-ea"/>
              </a:rPr>
              <a:t>STEL</a:t>
            </a:r>
            <a:endParaRPr lang="ko-KR" altLang="en-US" sz="1200" b="1" dirty="0">
              <a:latin typeface="+mn-ea"/>
            </a:endParaRPr>
          </a:p>
        </p:txBody>
      </p:sp>
      <p:graphicFrame>
        <p:nvGraphicFramePr>
          <p:cNvPr id="82" name="표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9716033"/>
              </p:ext>
            </p:extLst>
          </p:nvPr>
        </p:nvGraphicFramePr>
        <p:xfrm>
          <a:off x="1177108" y="6547804"/>
          <a:ext cx="2671047" cy="1992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0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03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03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작업 구역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작업자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1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2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3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4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소계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3" name="TextBox 82"/>
          <p:cNvSpPr txBox="1"/>
          <p:nvPr/>
        </p:nvSpPr>
        <p:spPr>
          <a:xfrm>
            <a:off x="2008488" y="6211059"/>
            <a:ext cx="1008289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en-US" altLang="ko-KR" sz="1200" b="1" dirty="0">
                <a:latin typeface="+mn-ea"/>
              </a:rPr>
              <a:t>STEL </a:t>
            </a:r>
            <a:r>
              <a:rPr lang="ko-KR" altLang="en-US" sz="1200" b="1">
                <a:latin typeface="+mn-ea"/>
              </a:rPr>
              <a:t>안전현황</a:t>
            </a:r>
            <a:endParaRPr lang="ko-KR" altLang="en-US" sz="1200" b="1" dirty="0">
              <a:latin typeface="+mn-ea"/>
            </a:endParaRPr>
          </a:p>
        </p:txBody>
      </p:sp>
      <p:graphicFrame>
        <p:nvGraphicFramePr>
          <p:cNvPr id="84" name="차트 83"/>
          <p:cNvGraphicFramePr/>
          <p:nvPr>
            <p:extLst>
              <p:ext uri="{D42A27DB-BD31-4B8C-83A1-F6EECF244321}">
                <p14:modId xmlns:p14="http://schemas.microsoft.com/office/powerpoint/2010/main" val="2896545506"/>
              </p:ext>
            </p:extLst>
          </p:nvPr>
        </p:nvGraphicFramePr>
        <p:xfrm>
          <a:off x="4096544" y="3788357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5" name="TextBox 84"/>
          <p:cNvSpPr txBox="1"/>
          <p:nvPr/>
        </p:nvSpPr>
        <p:spPr>
          <a:xfrm>
            <a:off x="5256251" y="3736723"/>
            <a:ext cx="351635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en-US" altLang="ko-KR" sz="1200" b="1" dirty="0">
                <a:latin typeface="+mn-ea"/>
              </a:rPr>
              <a:t>TWA</a:t>
            </a:r>
            <a:endParaRPr lang="ko-KR" altLang="en-US" sz="1200" b="1" dirty="0">
              <a:latin typeface="+mn-ea"/>
            </a:endParaRPr>
          </a:p>
        </p:txBody>
      </p:sp>
      <p:graphicFrame>
        <p:nvGraphicFramePr>
          <p:cNvPr id="86" name="표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5974583"/>
              </p:ext>
            </p:extLst>
          </p:nvPr>
        </p:nvGraphicFramePr>
        <p:xfrm>
          <a:off x="4096544" y="6547804"/>
          <a:ext cx="2671047" cy="1992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0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03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03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작업 구역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작업자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1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2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3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3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4 </a:t>
                      </a:r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공장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1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21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>
                          <a:solidFill>
                            <a:schemeClr val="tx1"/>
                          </a:solidFill>
                        </a:rPr>
                        <a:t>소계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4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solidFill>
                            <a:schemeClr val="tx1"/>
                          </a:solidFill>
                        </a:rPr>
                        <a:t>2</a:t>
                      </a:r>
                      <a:endParaRPr lang="ko-KR" altLang="en-US" sz="10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7" name="TextBox 86"/>
          <p:cNvSpPr txBox="1"/>
          <p:nvPr/>
        </p:nvSpPr>
        <p:spPr>
          <a:xfrm>
            <a:off x="4921224" y="6211059"/>
            <a:ext cx="1021690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en-US" altLang="ko-KR" sz="1200" b="1" dirty="0">
                <a:latin typeface="+mn-ea"/>
              </a:rPr>
              <a:t>TWA </a:t>
            </a:r>
            <a:r>
              <a:rPr lang="ko-KR" altLang="en-US" sz="1200" b="1">
                <a:latin typeface="+mn-ea"/>
              </a:rPr>
              <a:t>안전현황</a:t>
            </a:r>
            <a:endParaRPr lang="ko-KR" altLang="en-US" sz="1200" b="1" dirty="0">
              <a:latin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7076865" y="4056819"/>
            <a:ext cx="2396719" cy="551475"/>
            <a:chOff x="7173169" y="3413227"/>
            <a:chExt cx="2396719" cy="551475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7670572" y="3436211"/>
              <a:ext cx="109837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92" name="자유형 9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93" name="그림 9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94" name="TextBox 9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7191349" y="3460888"/>
            <a:ext cx="2164054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가스노출 기준치 초과 알림내역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7076865" y="4684092"/>
            <a:ext cx="2396719" cy="551475"/>
            <a:chOff x="7173169" y="3413227"/>
            <a:chExt cx="2396719" cy="551475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0" name="자유형 12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1" name="그림 130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2" name="TextBox 13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3" name="그룹 132"/>
          <p:cNvGrpSpPr/>
          <p:nvPr/>
        </p:nvGrpSpPr>
        <p:grpSpPr>
          <a:xfrm>
            <a:off x="7076865" y="5311365"/>
            <a:ext cx="2396719" cy="551475"/>
            <a:chOff x="7173169" y="3413227"/>
            <a:chExt cx="2396719" cy="551475"/>
          </a:xfrm>
        </p:grpSpPr>
        <p:sp>
          <p:nvSpPr>
            <p:cNvPr id="134" name="모서리가 둥근 직사각형 133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8" name="자유형 13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9" name="그림 138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0" name="TextBox 13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076865" y="5938638"/>
            <a:ext cx="2396719" cy="551475"/>
            <a:chOff x="7173169" y="3413227"/>
            <a:chExt cx="2396719" cy="551475"/>
          </a:xfrm>
        </p:grpSpPr>
        <p:sp>
          <p:nvSpPr>
            <p:cNvPr id="142" name="모서리가 둥근 직사각형 14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6" name="자유형 14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7" name="그림 14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8" name="TextBox 14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9" name="그룹 148"/>
          <p:cNvGrpSpPr/>
          <p:nvPr/>
        </p:nvGrpSpPr>
        <p:grpSpPr>
          <a:xfrm>
            <a:off x="7076865" y="6565911"/>
            <a:ext cx="2396719" cy="551475"/>
            <a:chOff x="7173169" y="3413227"/>
            <a:chExt cx="2396719" cy="551475"/>
          </a:xfrm>
        </p:grpSpPr>
        <p:sp>
          <p:nvSpPr>
            <p:cNvPr id="150" name="모서리가 둥근 직사각형 149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4" name="자유형 15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5" name="그림 15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6" name="TextBox 15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7" name="그룹 156"/>
          <p:cNvGrpSpPr/>
          <p:nvPr/>
        </p:nvGrpSpPr>
        <p:grpSpPr>
          <a:xfrm>
            <a:off x="7076865" y="7193184"/>
            <a:ext cx="2396719" cy="551475"/>
            <a:chOff x="7173169" y="3413227"/>
            <a:chExt cx="2396719" cy="551475"/>
          </a:xfrm>
        </p:grpSpPr>
        <p:sp>
          <p:nvSpPr>
            <p:cNvPr id="158" name="모서리가 둥근 직사각형 15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2" name="자유형 16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3" name="그림 16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4" name="TextBox 16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5" name="그룹 164"/>
          <p:cNvGrpSpPr/>
          <p:nvPr/>
        </p:nvGrpSpPr>
        <p:grpSpPr>
          <a:xfrm>
            <a:off x="7076865" y="7820456"/>
            <a:ext cx="2396719" cy="551475"/>
            <a:chOff x="7173169" y="3413227"/>
            <a:chExt cx="2396719" cy="551475"/>
          </a:xfrm>
        </p:grpSpPr>
        <p:sp>
          <p:nvSpPr>
            <p:cNvPr id="166" name="모서리가 둥근 직사각형 16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0" name="자유형 16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1" name="그림 170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2" name="TextBox 17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cxnSp>
        <p:nvCxnSpPr>
          <p:cNvPr id="173" name="직선 연결선 172"/>
          <p:cNvCxnSpPr/>
          <p:nvPr/>
        </p:nvCxnSpPr>
        <p:spPr>
          <a:xfrm>
            <a:off x="9504574" y="3867162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174" name="직사각형 173"/>
          <p:cNvSpPr/>
          <p:nvPr/>
        </p:nvSpPr>
        <p:spPr>
          <a:xfrm>
            <a:off x="712168" y="34126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2285393" y="4741841"/>
            <a:ext cx="441146" cy="61555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000" dirty="0"/>
              <a:t>전체</a:t>
            </a:r>
            <a:endParaRPr lang="en-US" altLang="ko-KR" sz="1000" dirty="0"/>
          </a:p>
          <a:p>
            <a:pPr algn="ctr"/>
            <a:r>
              <a:rPr lang="en-US" altLang="ko-KR" sz="2400" b="1" dirty="0"/>
              <a:t>6</a:t>
            </a:r>
            <a:endParaRPr lang="ko-KR" altLang="en-US" sz="2400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5212283" y="4741841"/>
            <a:ext cx="441146" cy="61555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000" dirty="0"/>
              <a:t>전체</a:t>
            </a:r>
            <a:endParaRPr lang="en-US" altLang="ko-KR" sz="1000" dirty="0"/>
          </a:p>
          <a:p>
            <a:pPr algn="ctr"/>
            <a:r>
              <a:rPr lang="en-US" altLang="ko-KR" sz="2400" b="1" dirty="0"/>
              <a:t>6</a:t>
            </a:r>
            <a:endParaRPr lang="ko-KR" altLang="en-US" sz="2400" b="1" dirty="0"/>
          </a:p>
        </p:txBody>
      </p:sp>
      <p:sp>
        <p:nvSpPr>
          <p:cNvPr id="177" name="직사각형 176"/>
          <p:cNvSpPr/>
          <p:nvPr/>
        </p:nvSpPr>
        <p:spPr>
          <a:xfrm>
            <a:off x="8195555" y="333987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78" name="직사각형 177"/>
          <p:cNvSpPr/>
          <p:nvPr/>
        </p:nvSpPr>
        <p:spPr>
          <a:xfrm>
            <a:off x="3858187" y="445437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179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588166" y="8763502"/>
            <a:ext cx="9284996" cy="141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직사각형 180"/>
          <p:cNvSpPr/>
          <p:nvPr/>
        </p:nvSpPr>
        <p:spPr>
          <a:xfrm>
            <a:off x="11153350" y="3422782"/>
            <a:ext cx="1417059" cy="108978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알림내역이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없습니다</a:t>
            </a:r>
          </a:p>
        </p:txBody>
      </p:sp>
      <p:sp>
        <p:nvSpPr>
          <p:cNvPr id="182" name="직사각형 181"/>
          <p:cNvSpPr/>
          <p:nvPr/>
        </p:nvSpPr>
        <p:spPr>
          <a:xfrm>
            <a:off x="6872604" y="375819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016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11561736" y="632805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+mn-ea"/>
              </a:rPr>
              <a:t>안전점검일지</a:t>
            </a:r>
            <a:endParaRPr lang="en-US" altLang="ko-KR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455678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직사각형 75"/>
          <p:cNvSpPr/>
          <p:nvPr/>
        </p:nvSpPr>
        <p:spPr>
          <a:xfrm>
            <a:off x="-8483" y="-76"/>
            <a:ext cx="10546277" cy="9601276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298078" y="239316"/>
            <a:ext cx="9991154" cy="90977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pic>
        <p:nvPicPr>
          <p:cNvPr id="5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588166" y="1080132"/>
            <a:ext cx="9284996" cy="141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9" name="TextBox 58"/>
          <p:cNvSpPr txBox="1"/>
          <p:nvPr/>
        </p:nvSpPr>
        <p:spPr>
          <a:xfrm>
            <a:off x="1035488" y="1513003"/>
            <a:ext cx="1285608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경고지역 발생사항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1035488" y="1868010"/>
            <a:ext cx="8479769" cy="90220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ctr"/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0" name="그룹 119"/>
          <p:cNvGrpSpPr/>
          <p:nvPr/>
        </p:nvGrpSpPr>
        <p:grpSpPr>
          <a:xfrm>
            <a:off x="2082079" y="1934018"/>
            <a:ext cx="1754732" cy="796426"/>
            <a:chOff x="1176173" y="3500118"/>
            <a:chExt cx="1754732" cy="796426"/>
          </a:xfrm>
        </p:grpSpPr>
        <p:sp>
          <p:nvSpPr>
            <p:cNvPr id="66" name="Bar 6"/>
            <p:cNvSpPr>
              <a:spLocks/>
            </p:cNvSpPr>
            <p:nvPr/>
          </p:nvSpPr>
          <p:spPr bwMode="auto">
            <a:xfrm rot="5400000">
              <a:off x="1693919" y="3290669"/>
              <a:ext cx="322648" cy="12274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7" name="Bar 6"/>
            <p:cNvSpPr>
              <a:spLocks/>
            </p:cNvSpPr>
            <p:nvPr/>
          </p:nvSpPr>
          <p:spPr bwMode="auto">
            <a:xfrm rot="5400000">
              <a:off x="2539936" y="3683446"/>
              <a:ext cx="322648" cy="441886"/>
            </a:xfrm>
            <a:prstGeom prst="rect">
              <a:avLst/>
            </a:prstGeom>
            <a:solidFill>
              <a:srgbClr val="BFBFBF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53104" y="4065712"/>
              <a:ext cx="404278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900" dirty="0"/>
                <a:t>3 </a:t>
              </a:r>
              <a:r>
                <a:rPr lang="ko-KR" altLang="en-US" sz="900"/>
                <a:t>건</a:t>
              </a:r>
              <a:endParaRPr lang="ko-KR" altLang="en-US" sz="900" dirty="0"/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2499121" y="4065712"/>
              <a:ext cx="404278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900" dirty="0"/>
                <a:t>1 </a:t>
              </a:r>
              <a:r>
                <a:rPr lang="ko-KR" altLang="en-US" sz="900"/>
                <a:t>건</a:t>
              </a:r>
              <a:endParaRPr lang="ko-KR" altLang="en-US" sz="900" dirty="0"/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176173" y="3500118"/>
              <a:ext cx="415498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ko-KR" altLang="en-US" sz="900" dirty="0"/>
                <a:t>등록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2515406" y="3500118"/>
              <a:ext cx="415499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ko-KR" altLang="en-US" sz="900" dirty="0"/>
                <a:t>해제</a:t>
              </a: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195606" y="2139795"/>
            <a:ext cx="763351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800" b="1" dirty="0"/>
              <a:t>00 </a:t>
            </a:r>
            <a:r>
              <a:rPr lang="ko-KR" altLang="en-US" sz="1800" b="1"/>
              <a:t>건</a:t>
            </a:r>
            <a:endParaRPr lang="ko-KR" altLang="en-US" sz="1800" b="1" dirty="0"/>
          </a:p>
        </p:txBody>
      </p:sp>
      <p:grpSp>
        <p:nvGrpSpPr>
          <p:cNvPr id="131" name="그룹 130"/>
          <p:cNvGrpSpPr/>
          <p:nvPr/>
        </p:nvGrpSpPr>
        <p:grpSpPr>
          <a:xfrm>
            <a:off x="1035489" y="2910909"/>
            <a:ext cx="2071140" cy="2516452"/>
            <a:chOff x="1035489" y="2089917"/>
            <a:chExt cx="2071140" cy="2516452"/>
          </a:xfrm>
        </p:grpSpPr>
        <p:sp>
          <p:nvSpPr>
            <p:cNvPr id="73" name="직사각형 72"/>
            <p:cNvSpPr/>
            <p:nvPr/>
          </p:nvSpPr>
          <p:spPr>
            <a:xfrm>
              <a:off x="1035489" y="2089917"/>
              <a:ext cx="2071140" cy="146845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[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제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공장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] 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층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A-2 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구역</a:t>
              </a:r>
              <a:endParaRPr lang="en-US" altLang="ko-KR" sz="900" b="1" dirty="0">
                <a:solidFill>
                  <a:schemeClr val="tx1"/>
                </a:solidFill>
                <a:latin typeface="+mn-ea"/>
              </a:endParaRPr>
            </a:p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0000.00.00  14:22:12</a:t>
              </a:r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99618" y="2166186"/>
              <a:ext cx="1942885" cy="1004012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75" name="직사각형 74"/>
            <p:cNvSpPr/>
            <p:nvPr/>
          </p:nvSpPr>
          <p:spPr>
            <a:xfrm>
              <a:off x="1035489" y="3558371"/>
              <a:ext cx="2071140" cy="10479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</a:t>
              </a:r>
            </a:p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</a:t>
              </a:r>
            </a:p>
            <a:p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96" name="그룹 95"/>
          <p:cNvGrpSpPr/>
          <p:nvPr/>
        </p:nvGrpSpPr>
        <p:grpSpPr>
          <a:xfrm>
            <a:off x="3173474" y="2910909"/>
            <a:ext cx="2071140" cy="1965547"/>
            <a:chOff x="1048767" y="4743422"/>
            <a:chExt cx="2093182" cy="1976825"/>
          </a:xfrm>
        </p:grpSpPr>
        <p:sp>
          <p:nvSpPr>
            <p:cNvPr id="97" name="직사각형 96"/>
            <p:cNvSpPr/>
            <p:nvPr/>
          </p:nvSpPr>
          <p:spPr>
            <a:xfrm>
              <a:off x="1048767" y="4743422"/>
              <a:ext cx="2093182" cy="147688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[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제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공장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] 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층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A-2 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구역</a:t>
              </a:r>
              <a:endParaRPr lang="en-US" altLang="ko-KR" sz="900" b="1" dirty="0">
                <a:solidFill>
                  <a:schemeClr val="tx1"/>
                </a:solidFill>
                <a:latin typeface="+mn-ea"/>
              </a:endParaRPr>
            </a:p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0000.00.00  14:22:12</a:t>
              </a:r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98" name="그림 9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13578" y="4820129"/>
              <a:ext cx="1963562" cy="1009773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99" name="직사각형 98"/>
            <p:cNvSpPr/>
            <p:nvPr/>
          </p:nvSpPr>
          <p:spPr>
            <a:xfrm>
              <a:off x="1048767" y="6220302"/>
              <a:ext cx="2093182" cy="49994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</a:t>
              </a:r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5306132" y="2910908"/>
            <a:ext cx="2071140" cy="2782691"/>
            <a:chOff x="1048767" y="4743422"/>
            <a:chExt cx="2093182" cy="2798658"/>
          </a:xfrm>
        </p:grpSpPr>
        <p:sp>
          <p:nvSpPr>
            <p:cNvPr id="101" name="직사각형 100"/>
            <p:cNvSpPr/>
            <p:nvPr/>
          </p:nvSpPr>
          <p:spPr>
            <a:xfrm>
              <a:off x="1048767" y="4743422"/>
              <a:ext cx="2093182" cy="147688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[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제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공장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] 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층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A-2 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구역</a:t>
              </a:r>
              <a:endParaRPr lang="en-US" altLang="ko-KR" sz="900" b="1" dirty="0">
                <a:solidFill>
                  <a:schemeClr val="tx1"/>
                </a:solidFill>
                <a:latin typeface="+mn-ea"/>
              </a:endParaRPr>
            </a:p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0000.00.00  14:22:12</a:t>
              </a:r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02" name="그림 10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13578" y="4820129"/>
              <a:ext cx="1963562" cy="1009773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103" name="직사각형 102"/>
            <p:cNvSpPr/>
            <p:nvPr/>
          </p:nvSpPr>
          <p:spPr>
            <a:xfrm>
              <a:off x="1048767" y="6220302"/>
              <a:ext cx="2093182" cy="13217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</a:t>
              </a:r>
            </a:p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</a:t>
              </a:r>
            </a:p>
            <a:p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112" name="표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504515"/>
              </p:ext>
            </p:extLst>
          </p:nvPr>
        </p:nvGraphicFramePr>
        <p:xfrm>
          <a:off x="10633534" y="1654779"/>
          <a:ext cx="2088232" cy="37708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경고지역 등록된 내용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안내 문구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디자인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등록된 사진은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첫번째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장만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경고지역이 늘어나면 줄 수도 늘어나게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일일 등록과 관계 없이 해제되기 전의 내용은 모두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순서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최근내용이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번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작성된 글 내용이 모두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경고해제할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때 입력한 해제정보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해제자 정보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해제 년월일시분초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4" name="TextBox 113"/>
          <p:cNvSpPr txBox="1"/>
          <p:nvPr/>
        </p:nvSpPr>
        <p:spPr>
          <a:xfrm>
            <a:off x="10577264" y="1221686"/>
            <a:ext cx="222433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모든 내용은 이 페이지를 </a:t>
            </a:r>
            <a:r>
              <a:rPr lang="ko-KR" altLang="en-US" sz="800" dirty="0" err="1"/>
              <a:t>보게된</a:t>
            </a:r>
            <a:r>
              <a:rPr lang="ko-KR" altLang="en-US" sz="800" dirty="0"/>
              <a:t> 현재 시간을 기준으로 함</a:t>
            </a:r>
          </a:p>
        </p:txBody>
      </p:sp>
      <p:sp>
        <p:nvSpPr>
          <p:cNvPr id="115" name="직사각형 114"/>
          <p:cNvSpPr/>
          <p:nvPr/>
        </p:nvSpPr>
        <p:spPr>
          <a:xfrm>
            <a:off x="712168" y="15610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8" name="오른쪽 대괄호 117"/>
          <p:cNvSpPr/>
          <p:nvPr/>
        </p:nvSpPr>
        <p:spPr>
          <a:xfrm>
            <a:off x="9628429" y="2987177"/>
            <a:ext cx="156747" cy="5537889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/>
          <p:cNvSpPr/>
          <p:nvPr/>
        </p:nvSpPr>
        <p:spPr>
          <a:xfrm>
            <a:off x="9724169" y="503648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1" name="직사각형 120"/>
          <p:cNvSpPr/>
          <p:nvPr/>
        </p:nvSpPr>
        <p:spPr>
          <a:xfrm>
            <a:off x="4105682" y="1961369"/>
            <a:ext cx="5358139" cy="70249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000">
                <a:solidFill>
                  <a:schemeClr val="tx1"/>
                </a:solidFill>
                <a:latin typeface="+mn-ea"/>
              </a:rPr>
              <a:t>등록되는 경고지역은 안전일지의 날짜와는 관계 없이 해제되지 않은 경고지역을 모두 보여줍니다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/>
          <p:cNvSpPr/>
          <p:nvPr/>
        </p:nvSpPr>
        <p:spPr>
          <a:xfrm>
            <a:off x="4200571" y="185501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8" name="오른쪽 대괄호 127"/>
          <p:cNvSpPr/>
          <p:nvPr/>
        </p:nvSpPr>
        <p:spPr>
          <a:xfrm rot="10800000">
            <a:off x="851398" y="4379361"/>
            <a:ext cx="248219" cy="1080121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/>
          <p:cNvSpPr/>
          <p:nvPr/>
        </p:nvSpPr>
        <p:spPr>
          <a:xfrm>
            <a:off x="740896" y="475886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30" name="직사각형 129"/>
          <p:cNvSpPr/>
          <p:nvPr/>
        </p:nvSpPr>
        <p:spPr>
          <a:xfrm>
            <a:off x="1937147" y="289517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32" name="그룹 131"/>
          <p:cNvGrpSpPr/>
          <p:nvPr/>
        </p:nvGrpSpPr>
        <p:grpSpPr>
          <a:xfrm>
            <a:off x="1035489" y="5522414"/>
            <a:ext cx="2071140" cy="2516452"/>
            <a:chOff x="1035489" y="2089917"/>
            <a:chExt cx="2071140" cy="2516452"/>
          </a:xfrm>
        </p:grpSpPr>
        <p:sp>
          <p:nvSpPr>
            <p:cNvPr id="133" name="직사각형 132"/>
            <p:cNvSpPr/>
            <p:nvPr/>
          </p:nvSpPr>
          <p:spPr>
            <a:xfrm>
              <a:off x="1035489" y="2089917"/>
              <a:ext cx="2071140" cy="146845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[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제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공장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] 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층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A-2 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구역</a:t>
              </a:r>
              <a:endParaRPr lang="en-US" altLang="ko-KR" sz="900" b="1" dirty="0">
                <a:solidFill>
                  <a:schemeClr val="tx1"/>
                </a:solidFill>
                <a:latin typeface="+mn-ea"/>
              </a:endParaRPr>
            </a:p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0000.00.00  14:22:12</a:t>
              </a:r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4" name="그림 133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99618" y="2166186"/>
              <a:ext cx="1942885" cy="1004012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135" name="직사각형 134"/>
            <p:cNvSpPr/>
            <p:nvPr/>
          </p:nvSpPr>
          <p:spPr>
            <a:xfrm>
              <a:off x="1035489" y="3558371"/>
              <a:ext cx="2071140" cy="10479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</a:t>
              </a:r>
            </a:p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</a:t>
              </a:r>
            </a:p>
            <a:p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6" name="그룹 135"/>
          <p:cNvGrpSpPr/>
          <p:nvPr/>
        </p:nvGrpSpPr>
        <p:grpSpPr>
          <a:xfrm>
            <a:off x="3173474" y="4954238"/>
            <a:ext cx="2071140" cy="2516452"/>
            <a:chOff x="1035489" y="2089917"/>
            <a:chExt cx="2071140" cy="2516452"/>
          </a:xfrm>
        </p:grpSpPr>
        <p:sp>
          <p:nvSpPr>
            <p:cNvPr id="137" name="직사각형 136"/>
            <p:cNvSpPr/>
            <p:nvPr/>
          </p:nvSpPr>
          <p:spPr>
            <a:xfrm>
              <a:off x="1035489" y="2089917"/>
              <a:ext cx="2071140" cy="146845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[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제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공장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] 1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층 </a:t>
              </a:r>
              <a:r>
                <a:rPr lang="en-US" altLang="ko-KR" sz="900" b="1" dirty="0">
                  <a:solidFill>
                    <a:schemeClr val="tx1"/>
                  </a:solidFill>
                  <a:latin typeface="+mn-ea"/>
                </a:rPr>
                <a:t>A-2 </a:t>
              </a:r>
              <a:r>
                <a:rPr lang="ko-KR" altLang="en-US" sz="900" b="1" dirty="0">
                  <a:solidFill>
                    <a:schemeClr val="tx1"/>
                  </a:solidFill>
                  <a:latin typeface="+mn-ea"/>
                </a:rPr>
                <a:t>구역</a:t>
              </a:r>
              <a:endParaRPr lang="en-US" altLang="ko-KR" sz="900" b="1" dirty="0">
                <a:solidFill>
                  <a:schemeClr val="tx1"/>
                </a:solidFill>
                <a:latin typeface="+mn-ea"/>
              </a:endParaRPr>
            </a:p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0000.00.00  14:22:12</a:t>
              </a:r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8" name="그림 13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99618" y="2166186"/>
              <a:ext cx="1942885" cy="1004012"/>
            </a:xfrm>
            <a:prstGeom prst="rect">
              <a:avLst/>
            </a:prstGeom>
            <a:ln>
              <a:solidFill>
                <a:schemeClr val="bg1"/>
              </a:solidFill>
            </a:ln>
          </p:spPr>
        </p:pic>
        <p:sp>
          <p:nvSpPr>
            <p:cNvPr id="139" name="직사각형 138"/>
            <p:cNvSpPr/>
            <p:nvPr/>
          </p:nvSpPr>
          <p:spPr>
            <a:xfrm>
              <a:off x="1035489" y="3558371"/>
              <a:ext cx="2071140" cy="10479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 그때까지 조심하세요</a:t>
              </a:r>
            </a:p>
            <a:p>
              <a:r>
                <a:rPr lang="ko-KR" altLang="en-US" sz="900" dirty="0">
                  <a:solidFill>
                    <a:schemeClr val="tx1"/>
                  </a:solidFill>
                  <a:latin typeface="+mn-ea"/>
                </a:rPr>
                <a:t>현장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A-1 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에 낙석위험 발생</a:t>
              </a:r>
            </a:p>
            <a:p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6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900" dirty="0">
                  <a:solidFill>
                    <a:schemeClr val="tx1"/>
                  </a:solidFill>
                  <a:latin typeface="+mn-ea"/>
                </a:rPr>
                <a:t>13</a:t>
              </a:r>
              <a:r>
                <a:rPr lang="ko-KR" altLang="en-US" sz="900">
                  <a:solidFill>
                    <a:schemeClr val="tx1"/>
                  </a:solidFill>
                  <a:latin typeface="+mn-ea"/>
                </a:rPr>
                <a:t>일에 다 허물테니</a:t>
              </a:r>
            </a:p>
            <a:p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58" name="모서리가 둥근 직사각형 57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016</a:t>
            </a:r>
            <a:endParaRPr lang="ko-KR" altLang="en-US" sz="800" dirty="0">
              <a:latin typeface="+mn-ea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11561736" y="632805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+mn-ea"/>
              </a:rPr>
              <a:t>안전점검일지</a:t>
            </a:r>
            <a:endParaRPr lang="en-US" altLang="ko-KR" sz="900" dirty="0">
              <a:latin typeface="+mn-ea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1099617" y="4054122"/>
            <a:ext cx="404639" cy="230186"/>
          </a:xfrm>
          <a:prstGeom prst="roundRect">
            <a:avLst/>
          </a:prstGeom>
          <a:solidFill>
            <a:srgbClr val="DA150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중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3238616" y="4054122"/>
            <a:ext cx="404639" cy="230186"/>
          </a:xfrm>
          <a:prstGeom prst="roundRect">
            <a:avLst/>
          </a:prstGeom>
          <a:solidFill>
            <a:srgbClr val="DA150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중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5370261" y="4054122"/>
            <a:ext cx="517810" cy="230186"/>
          </a:xfrm>
          <a:prstGeom prst="roundRect">
            <a:avLst/>
          </a:prstGeom>
          <a:solidFill>
            <a:srgbClr val="00B0F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해제</a:t>
            </a:r>
          </a:p>
        </p:txBody>
      </p:sp>
      <p:sp>
        <p:nvSpPr>
          <p:cNvPr id="105" name="직사각형 104"/>
          <p:cNvSpPr/>
          <p:nvPr/>
        </p:nvSpPr>
        <p:spPr>
          <a:xfrm>
            <a:off x="7444117" y="2910910"/>
            <a:ext cx="2071140" cy="146845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r"/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공장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 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A-2 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구역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0000.00.00  14:22:12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06" name="그림 10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8246" y="2987179"/>
            <a:ext cx="1942885" cy="1004012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07" name="직사각형 106"/>
          <p:cNvSpPr/>
          <p:nvPr/>
        </p:nvSpPr>
        <p:spPr>
          <a:xfrm>
            <a:off x="7444117" y="4379364"/>
            <a:ext cx="2071140" cy="73817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A-1 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에 낙석위험 발생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일에 다 허물테니 그때까지 조심하세요</a:t>
            </a:r>
          </a:p>
        </p:txBody>
      </p:sp>
      <p:sp>
        <p:nvSpPr>
          <p:cNvPr id="64" name="모서리가 둥근 직사각형 63"/>
          <p:cNvSpPr/>
          <p:nvPr/>
        </p:nvSpPr>
        <p:spPr>
          <a:xfrm>
            <a:off x="7508246" y="4054122"/>
            <a:ext cx="517810" cy="230186"/>
          </a:xfrm>
          <a:prstGeom prst="roundRect">
            <a:avLst/>
          </a:prstGeom>
          <a:solidFill>
            <a:srgbClr val="00B0F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해제</a:t>
            </a:r>
          </a:p>
        </p:txBody>
      </p:sp>
      <p:sp>
        <p:nvSpPr>
          <p:cNvPr id="78" name="직사각형 77"/>
          <p:cNvSpPr/>
          <p:nvPr/>
        </p:nvSpPr>
        <p:spPr>
          <a:xfrm>
            <a:off x="7444117" y="5119016"/>
            <a:ext cx="2071140" cy="566632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임직원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0000.00.00 17:23:32</a:t>
            </a:r>
          </a:p>
          <a:p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해제사유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다 허물고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나라시</a:t>
            </a:r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 작업까지 끝남</a:t>
            </a:r>
          </a:p>
        </p:txBody>
      </p:sp>
      <p:sp>
        <p:nvSpPr>
          <p:cNvPr id="80" name="직사각형 79"/>
          <p:cNvSpPr/>
          <p:nvPr/>
        </p:nvSpPr>
        <p:spPr>
          <a:xfrm>
            <a:off x="7444117" y="5750329"/>
            <a:ext cx="2071140" cy="146845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r"/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공장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 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A-2 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구역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0000.00.00  14:22:12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림 8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8246" y="5826598"/>
            <a:ext cx="1942885" cy="1004012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82" name="직사각형 81"/>
          <p:cNvSpPr/>
          <p:nvPr/>
        </p:nvSpPr>
        <p:spPr>
          <a:xfrm>
            <a:off x="7444117" y="7218783"/>
            <a:ext cx="2071140" cy="73817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A-1 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에 낙석위험 발생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일에 다 허물테니 그때까지 조심하세요</a:t>
            </a:r>
          </a:p>
        </p:txBody>
      </p:sp>
      <p:sp>
        <p:nvSpPr>
          <p:cNvPr id="83" name="모서리가 둥근 직사각형 82"/>
          <p:cNvSpPr/>
          <p:nvPr/>
        </p:nvSpPr>
        <p:spPr>
          <a:xfrm>
            <a:off x="7508246" y="6893541"/>
            <a:ext cx="517810" cy="230186"/>
          </a:xfrm>
          <a:prstGeom prst="roundRect">
            <a:avLst/>
          </a:prstGeom>
          <a:solidFill>
            <a:srgbClr val="00B0F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해제</a:t>
            </a:r>
          </a:p>
        </p:txBody>
      </p:sp>
      <p:sp>
        <p:nvSpPr>
          <p:cNvPr id="84" name="직사각형 83"/>
          <p:cNvSpPr/>
          <p:nvPr/>
        </p:nvSpPr>
        <p:spPr>
          <a:xfrm>
            <a:off x="7444117" y="7958435"/>
            <a:ext cx="2071140" cy="566632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임직원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0000.00.00 17:23:32</a:t>
            </a:r>
          </a:p>
          <a:p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해제사유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다 허물고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나라시</a:t>
            </a:r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 작업까지 끝남</a:t>
            </a:r>
          </a:p>
        </p:txBody>
      </p:sp>
      <p:sp>
        <p:nvSpPr>
          <p:cNvPr id="86" name="직사각형 85"/>
          <p:cNvSpPr/>
          <p:nvPr/>
        </p:nvSpPr>
        <p:spPr>
          <a:xfrm>
            <a:off x="5306132" y="6117064"/>
            <a:ext cx="2071140" cy="146845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r"/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공장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 1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A-2 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구역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0000.00.00  14:22:12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7" name="그림 8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0261" y="6193333"/>
            <a:ext cx="1942885" cy="1004012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</p:pic>
      <p:sp>
        <p:nvSpPr>
          <p:cNvPr id="88" name="직사각형 87"/>
          <p:cNvSpPr/>
          <p:nvPr/>
        </p:nvSpPr>
        <p:spPr>
          <a:xfrm>
            <a:off x="5306132" y="7585518"/>
            <a:ext cx="2071140" cy="73817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A-1 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에 낙석위험 발생</a:t>
            </a:r>
          </a:p>
          <a:p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일에 다 허물테니 그때까지 조심하세요</a:t>
            </a:r>
          </a:p>
        </p:txBody>
      </p:sp>
      <p:sp>
        <p:nvSpPr>
          <p:cNvPr id="89" name="모서리가 둥근 직사각형 88"/>
          <p:cNvSpPr/>
          <p:nvPr/>
        </p:nvSpPr>
        <p:spPr>
          <a:xfrm>
            <a:off x="5370261" y="7260276"/>
            <a:ext cx="517810" cy="230186"/>
          </a:xfrm>
          <a:prstGeom prst="roundRect">
            <a:avLst/>
          </a:prstGeom>
          <a:solidFill>
            <a:srgbClr val="00B0F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해제</a:t>
            </a:r>
          </a:p>
        </p:txBody>
      </p:sp>
      <p:sp>
        <p:nvSpPr>
          <p:cNvPr id="90" name="직사각형 89"/>
          <p:cNvSpPr/>
          <p:nvPr/>
        </p:nvSpPr>
        <p:spPr>
          <a:xfrm>
            <a:off x="5306132" y="8325170"/>
            <a:ext cx="2071140" cy="566632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임직원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0000.00.00 17:23:32</a:t>
            </a:r>
          </a:p>
          <a:p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해제사유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다 허물고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나라시</a:t>
            </a:r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 작업까지 끝남</a:t>
            </a:r>
          </a:p>
        </p:txBody>
      </p:sp>
      <p:sp>
        <p:nvSpPr>
          <p:cNvPr id="91" name="모서리가 둥근 직사각형 90"/>
          <p:cNvSpPr/>
          <p:nvPr/>
        </p:nvSpPr>
        <p:spPr>
          <a:xfrm>
            <a:off x="3238616" y="6096334"/>
            <a:ext cx="404639" cy="230186"/>
          </a:xfrm>
          <a:prstGeom prst="roundRect">
            <a:avLst/>
          </a:prstGeom>
          <a:solidFill>
            <a:srgbClr val="DA150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중</a:t>
            </a:r>
          </a:p>
        </p:txBody>
      </p:sp>
      <p:sp>
        <p:nvSpPr>
          <p:cNvPr id="92" name="모서리가 둥근 직사각형 91"/>
          <p:cNvSpPr/>
          <p:nvPr/>
        </p:nvSpPr>
        <p:spPr>
          <a:xfrm>
            <a:off x="1099617" y="6673744"/>
            <a:ext cx="404639" cy="230186"/>
          </a:xfrm>
          <a:prstGeom prst="roundRect">
            <a:avLst/>
          </a:prstGeom>
          <a:solidFill>
            <a:srgbClr val="DA1500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경고 중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11225336" y="3288432"/>
            <a:ext cx="284210" cy="504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/>
          <p:cNvSpPr/>
          <p:nvPr/>
        </p:nvSpPr>
        <p:spPr>
          <a:xfrm>
            <a:off x="11539445" y="3288432"/>
            <a:ext cx="284210" cy="3600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/>
          <p:cNvSpPr/>
          <p:nvPr/>
        </p:nvSpPr>
        <p:spPr>
          <a:xfrm>
            <a:off x="11853554" y="3288432"/>
            <a:ext cx="284210" cy="504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/>
          <p:cNvSpPr/>
          <p:nvPr/>
        </p:nvSpPr>
        <p:spPr>
          <a:xfrm>
            <a:off x="12167663" y="3288432"/>
            <a:ext cx="284210" cy="3600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/>
          <p:cNvSpPr/>
          <p:nvPr/>
        </p:nvSpPr>
        <p:spPr>
          <a:xfrm>
            <a:off x="11225336" y="3828273"/>
            <a:ext cx="284210" cy="504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직사각형 115"/>
          <p:cNvSpPr/>
          <p:nvPr/>
        </p:nvSpPr>
        <p:spPr>
          <a:xfrm>
            <a:off x="11853554" y="3828273"/>
            <a:ext cx="284210" cy="50405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/>
          <p:cNvSpPr/>
          <p:nvPr/>
        </p:nvSpPr>
        <p:spPr>
          <a:xfrm>
            <a:off x="11539445" y="3684257"/>
            <a:ext cx="284210" cy="3600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6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3" name="직사각형 122"/>
          <p:cNvSpPr/>
          <p:nvPr/>
        </p:nvSpPr>
        <p:spPr>
          <a:xfrm>
            <a:off x="12167663" y="3684257"/>
            <a:ext cx="284210" cy="36004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8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5299993" y="5495207"/>
            <a:ext cx="2071140" cy="566632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임직원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0000.00.00 17:23:32</a:t>
            </a:r>
          </a:p>
          <a:p>
            <a:endParaRPr lang="en-US" altLang="ko-KR" sz="900" b="1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해제사유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]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다 허물고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나라시</a:t>
            </a:r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 작업까지 끝남</a:t>
            </a:r>
          </a:p>
        </p:txBody>
      </p:sp>
      <p:sp>
        <p:nvSpPr>
          <p:cNvPr id="85" name="직사각형 84"/>
          <p:cNvSpPr/>
          <p:nvPr/>
        </p:nvSpPr>
        <p:spPr>
          <a:xfrm>
            <a:off x="6943084" y="53888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524119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/>
          <p:cNvSpPr/>
          <p:nvPr/>
        </p:nvSpPr>
        <p:spPr>
          <a:xfrm>
            <a:off x="-8483" y="-76"/>
            <a:ext cx="10546277" cy="9601276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11" name="직사각형 210"/>
          <p:cNvSpPr/>
          <p:nvPr/>
        </p:nvSpPr>
        <p:spPr>
          <a:xfrm>
            <a:off x="298078" y="239316"/>
            <a:ext cx="9991154" cy="909778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035488" y="768152"/>
            <a:ext cx="1285608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r>
              <a:rPr lang="ko-KR" altLang="en-US" sz="1200" b="1" dirty="0">
                <a:latin typeface="+mn-ea"/>
              </a:rPr>
              <a:t>위험알림 발생사항</a:t>
            </a:r>
          </a:p>
        </p:txBody>
      </p:sp>
      <p:sp>
        <p:nvSpPr>
          <p:cNvPr id="150" name="직사각형 149"/>
          <p:cNvSpPr/>
          <p:nvPr/>
        </p:nvSpPr>
        <p:spPr>
          <a:xfrm>
            <a:off x="1035488" y="2326430"/>
            <a:ext cx="4213183" cy="333826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/>
          <p:cNvSpPr/>
          <p:nvPr/>
        </p:nvSpPr>
        <p:spPr>
          <a:xfrm>
            <a:off x="5315516" y="2326430"/>
            <a:ext cx="4213183" cy="333826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2395084" y="1372685"/>
            <a:ext cx="1493999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작업자 위험알림 내역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98164" y="1372685"/>
            <a:ext cx="1647888" cy="276999"/>
          </a:xfrm>
          <a:prstGeom prst="rect">
            <a:avLst/>
          </a:prstGeom>
          <a:noFill/>
        </p:spPr>
        <p:txBody>
          <a:bodyPr wrap="none" lIns="0" rIns="0" rtlCol="0" anchor="ctr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작업구역 위험알림 내역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205319" y="2456200"/>
            <a:ext cx="1851789" cy="3046988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침범발생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가스위험 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 err="1"/>
              <a:t>심박수</a:t>
            </a:r>
            <a:r>
              <a:rPr lang="ko-KR" altLang="en-US" sz="1200" dirty="0"/>
              <a:t> 위험 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작업자 긴급호출 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밴드 착용자 긴급호출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작업자 정지 발생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작업자 </a:t>
            </a:r>
            <a:r>
              <a:rPr lang="en-US" altLang="ko-KR" sz="1200" dirty="0"/>
              <a:t>STEL </a:t>
            </a:r>
            <a:r>
              <a:rPr lang="ko-KR" altLang="en-US" sz="1200"/>
              <a:t>위험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작업자 </a:t>
            </a:r>
            <a:r>
              <a:rPr lang="en-US" altLang="ko-KR" sz="1200" dirty="0"/>
              <a:t>TWA </a:t>
            </a:r>
            <a:r>
              <a:rPr lang="ko-KR" altLang="en-US" sz="1200"/>
              <a:t>위험</a:t>
            </a:r>
            <a:endParaRPr lang="ko-KR" altLang="en-US" sz="1200" dirty="0"/>
          </a:p>
        </p:txBody>
      </p:sp>
      <p:sp>
        <p:nvSpPr>
          <p:cNvPr id="156" name="TextBox 155"/>
          <p:cNvSpPr txBox="1"/>
          <p:nvPr/>
        </p:nvSpPr>
        <p:spPr>
          <a:xfrm>
            <a:off x="5497539" y="2456200"/>
            <a:ext cx="1717458" cy="230832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화재위험 발생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실외</a:t>
            </a:r>
            <a:r>
              <a:rPr lang="en-US" altLang="ko-KR" sz="1200" dirty="0"/>
              <a:t> </a:t>
            </a:r>
            <a:r>
              <a:rPr lang="ko-KR" altLang="en-US" sz="1200"/>
              <a:t>온도 위험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강풍주의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경고구역 등록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작업구역 </a:t>
            </a:r>
            <a:r>
              <a:rPr lang="en-US" altLang="ko-KR" sz="1200" dirty="0"/>
              <a:t>STEL </a:t>
            </a:r>
            <a:r>
              <a:rPr lang="ko-KR" altLang="en-US" sz="1200"/>
              <a:t>위험</a:t>
            </a:r>
            <a:endParaRPr lang="en-US" altLang="ko-KR" sz="1200" dirty="0"/>
          </a:p>
          <a:p>
            <a:pPr marL="171450" indent="-1714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ko-KR" altLang="en-US" sz="1200" dirty="0"/>
              <a:t>작업구역 </a:t>
            </a:r>
            <a:r>
              <a:rPr lang="en-US" altLang="ko-KR" sz="1200" dirty="0"/>
              <a:t>TWA </a:t>
            </a:r>
            <a:r>
              <a:rPr lang="ko-KR" altLang="en-US" sz="1200"/>
              <a:t>위험</a:t>
            </a:r>
            <a:endParaRPr lang="ko-KR" altLang="en-US" sz="1200" dirty="0"/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7670082" y="6419026"/>
            <a:ext cx="2005858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이메일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보내기</a:t>
            </a:r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650665" y="6419026"/>
            <a:ext cx="2005858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안전일지 내역 보기</a:t>
            </a:r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3123952" y="2659412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3123952" y="3022539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3123952" y="3385666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4" name="모서리가 둥근 직사각형 163"/>
          <p:cNvSpPr/>
          <p:nvPr/>
        </p:nvSpPr>
        <p:spPr>
          <a:xfrm>
            <a:off x="3123952" y="3748793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3123952" y="4111920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3123952" y="4475047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3123952" y="4838174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3123952" y="5201301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3123953" y="2659412"/>
            <a:ext cx="1116608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3123953" y="3022539"/>
            <a:ext cx="612551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3123953" y="3385666"/>
            <a:ext cx="82857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3123953" y="3747652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3123953" y="4109638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3123953" y="4468836"/>
            <a:ext cx="900583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3123953" y="4838174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모서리가 둥근 직사각형 175"/>
          <p:cNvSpPr/>
          <p:nvPr/>
        </p:nvSpPr>
        <p:spPr>
          <a:xfrm>
            <a:off x="3123953" y="5201301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784899" y="2456200"/>
            <a:ext cx="354649" cy="3046988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1200" dirty="0"/>
              <a:t>10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4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5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5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  <a:endParaRPr lang="ko-KR" altLang="en-US" sz="1200" dirty="0"/>
          </a:p>
        </p:txBody>
      </p:sp>
      <p:graphicFrame>
        <p:nvGraphicFramePr>
          <p:cNvPr id="178" name="표 1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848026"/>
              </p:ext>
            </p:extLst>
          </p:nvPr>
        </p:nvGraphicFramePr>
        <p:xfrm>
          <a:off x="10633534" y="1654779"/>
          <a:ext cx="2088232" cy="20630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기준으로 봤을 때의 위험 알림내역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그래프 표현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(%)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중 몇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%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차지하는지 그래프로 표현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작업구역 기준으로 봤을 때의 위험 알림 내역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히스토리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보기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엑셀 다운로드 형태</a:t>
                      </a:r>
                      <a:endParaRPr lang="en-US" altLang="ko-KR" sz="800" baseline="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형식은 추후 작업하여 재배포</a:t>
                      </a:r>
                      <a:r>
                        <a:rPr lang="en-US" altLang="ko-KR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9" name="TextBox 178"/>
          <p:cNvSpPr txBox="1"/>
          <p:nvPr/>
        </p:nvSpPr>
        <p:spPr>
          <a:xfrm>
            <a:off x="10577264" y="1221686"/>
            <a:ext cx="222433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모든 내용은 이 페이지를 </a:t>
            </a:r>
            <a:r>
              <a:rPr lang="ko-KR" altLang="en-US" sz="800" dirty="0" err="1"/>
              <a:t>보게된</a:t>
            </a:r>
            <a:r>
              <a:rPr lang="ko-KR" altLang="en-US" sz="800" dirty="0"/>
              <a:t> 현재 시간을 기준으로 함</a:t>
            </a:r>
          </a:p>
        </p:txBody>
      </p:sp>
      <p:sp>
        <p:nvSpPr>
          <p:cNvPr id="180" name="직사각형 179"/>
          <p:cNvSpPr/>
          <p:nvPr/>
        </p:nvSpPr>
        <p:spPr>
          <a:xfrm>
            <a:off x="2942100" y="11621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1" name="직사각형 180"/>
          <p:cNvSpPr/>
          <p:nvPr/>
        </p:nvSpPr>
        <p:spPr>
          <a:xfrm>
            <a:off x="7333207" y="11621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2" name="모서리가 둥근 직사각형 181"/>
          <p:cNvSpPr/>
          <p:nvPr/>
        </p:nvSpPr>
        <p:spPr>
          <a:xfrm>
            <a:off x="7333206" y="2659412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7333206" y="3022539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7333206" y="3385666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5" name="모서리가 둥근 직사각형 184"/>
          <p:cNvSpPr/>
          <p:nvPr/>
        </p:nvSpPr>
        <p:spPr>
          <a:xfrm>
            <a:off x="7333206" y="3748793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6" name="모서리가 둥근 직사각형 185"/>
          <p:cNvSpPr/>
          <p:nvPr/>
        </p:nvSpPr>
        <p:spPr>
          <a:xfrm>
            <a:off x="7333206" y="4111920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7333206" y="4475047"/>
            <a:ext cx="1548655" cy="144016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0" name="모서리가 둥근 직사각형 189"/>
          <p:cNvSpPr/>
          <p:nvPr/>
        </p:nvSpPr>
        <p:spPr>
          <a:xfrm>
            <a:off x="7333207" y="2659412"/>
            <a:ext cx="1116608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7333207" y="3022539"/>
            <a:ext cx="612551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7333207" y="3385666"/>
            <a:ext cx="82857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3" name="모서리가 둥근 직사각형 192"/>
          <p:cNvSpPr/>
          <p:nvPr/>
        </p:nvSpPr>
        <p:spPr>
          <a:xfrm>
            <a:off x="7333207" y="3747652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4" name="모서리가 둥근 직사각형 193"/>
          <p:cNvSpPr/>
          <p:nvPr/>
        </p:nvSpPr>
        <p:spPr>
          <a:xfrm>
            <a:off x="7333207" y="4109638"/>
            <a:ext cx="468535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5" name="모서리가 둥근 직사각형 194"/>
          <p:cNvSpPr/>
          <p:nvPr/>
        </p:nvSpPr>
        <p:spPr>
          <a:xfrm>
            <a:off x="7333207" y="4468836"/>
            <a:ext cx="900583" cy="144016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8994218" y="2456200"/>
            <a:ext cx="354584" cy="230832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1200" dirty="0"/>
              <a:t>10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4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5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3</a:t>
            </a:r>
          </a:p>
          <a:p>
            <a:pPr algn="r">
              <a:lnSpc>
                <a:spcPct val="200000"/>
              </a:lnSpc>
            </a:pPr>
            <a:r>
              <a:rPr lang="en-US" altLang="ko-KR" sz="1200" dirty="0"/>
              <a:t>5</a:t>
            </a:r>
          </a:p>
        </p:txBody>
      </p:sp>
      <p:sp>
        <p:nvSpPr>
          <p:cNvPr id="199" name="직사각형 198"/>
          <p:cNvSpPr/>
          <p:nvPr/>
        </p:nvSpPr>
        <p:spPr>
          <a:xfrm>
            <a:off x="3809379" y="248438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0" name="직사각형 199"/>
          <p:cNvSpPr/>
          <p:nvPr/>
        </p:nvSpPr>
        <p:spPr>
          <a:xfrm>
            <a:off x="1035488" y="1739517"/>
            <a:ext cx="4213183" cy="58691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1258217" y="1916913"/>
            <a:ext cx="1745991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b="1" dirty="0"/>
              <a:t>전체 위험알림 내역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4504438" y="1916913"/>
            <a:ext cx="635110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400" dirty="0"/>
              <a:t>36 </a:t>
            </a:r>
            <a:r>
              <a:rPr lang="ko-KR" altLang="en-US" sz="1400"/>
              <a:t>건</a:t>
            </a:r>
            <a:endParaRPr lang="ko-KR" altLang="en-US" sz="1400" dirty="0"/>
          </a:p>
        </p:txBody>
      </p:sp>
      <p:sp>
        <p:nvSpPr>
          <p:cNvPr id="203" name="직사각형 202"/>
          <p:cNvSpPr/>
          <p:nvPr/>
        </p:nvSpPr>
        <p:spPr>
          <a:xfrm>
            <a:off x="5315516" y="1739517"/>
            <a:ext cx="4213183" cy="58691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5538245" y="1916913"/>
            <a:ext cx="1745991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b="1" dirty="0"/>
              <a:t>전체 위험알림 내역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8727636" y="1916913"/>
            <a:ext cx="625492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1400" dirty="0"/>
              <a:t>30 </a:t>
            </a:r>
            <a:r>
              <a:rPr lang="ko-KR" altLang="en-US" sz="1400"/>
              <a:t>건</a:t>
            </a:r>
            <a:endParaRPr lang="ko-KR" altLang="en-US" sz="1400" dirty="0"/>
          </a:p>
        </p:txBody>
      </p:sp>
      <p:cxnSp>
        <p:nvCxnSpPr>
          <p:cNvPr id="207" name="직선 연결선 206"/>
          <p:cNvCxnSpPr/>
          <p:nvPr/>
        </p:nvCxnSpPr>
        <p:spPr>
          <a:xfrm>
            <a:off x="650665" y="6123012"/>
            <a:ext cx="902527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직사각형 207"/>
          <p:cNvSpPr/>
          <p:nvPr/>
        </p:nvSpPr>
        <p:spPr>
          <a:xfrm>
            <a:off x="8638736" y="62921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9" name="직사각형 208"/>
          <p:cNvSpPr/>
          <p:nvPr/>
        </p:nvSpPr>
        <p:spPr>
          <a:xfrm>
            <a:off x="1564694" y="62921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8" name="모서리가 둥근 직사각형 57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016</a:t>
            </a:r>
            <a:endParaRPr lang="ko-KR" altLang="en-US" sz="800" dirty="0">
              <a:latin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11561736" y="632805"/>
            <a:ext cx="87716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latin typeface="+mn-ea"/>
              </a:rPr>
              <a:t>안전점검일지</a:t>
            </a:r>
            <a:endParaRPr lang="en-US" altLang="ko-KR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370699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7045597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082076" y="2497892"/>
            <a:ext cx="1470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지난 안전점검일지</a:t>
            </a: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4375140"/>
              </p:ext>
            </p:extLst>
          </p:nvPr>
        </p:nvGraphicFramePr>
        <p:xfrm>
          <a:off x="10633534" y="1272208"/>
          <a:ext cx="2088232" cy="10415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년월일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안전점검일지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타이틀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내역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summary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개월치 내용을 한번에 보여줌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당겨서 더보기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3" name="모서리가 둥근 직사각형 4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037</a:t>
            </a:r>
            <a:endParaRPr lang="ko-KR" altLang="en-US" sz="800" dirty="0">
              <a:latin typeface="+mn-ea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1561736" y="632805"/>
            <a:ext cx="118814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지난 안전점검 일지</a:t>
            </a:r>
            <a:endParaRPr lang="en-US" altLang="ko-KR" sz="900" dirty="0">
              <a:latin typeface="+mn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7136751" y="2865247"/>
            <a:ext cx="2932457" cy="999250"/>
            <a:chOff x="7136751" y="2865247"/>
            <a:chExt cx="2932457" cy="999250"/>
          </a:xfrm>
        </p:grpSpPr>
        <p:sp>
          <p:nvSpPr>
            <p:cNvPr id="48" name="모서리가 둥근 직사각형 47"/>
            <p:cNvSpPr/>
            <p:nvPr/>
          </p:nvSpPr>
          <p:spPr>
            <a:xfrm>
              <a:off x="7136751" y="2865247"/>
              <a:ext cx="2932457" cy="99925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0000.00.00 </a:t>
              </a:r>
              <a:r>
                <a:rPr lang="ko-KR" altLang="en-US" sz="1050" b="1" dirty="0">
                  <a:latin typeface="+mj-lt"/>
                </a:rPr>
                <a:t>안전점검 일지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264896" y="3145879"/>
              <a:ext cx="25922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+mj-lt"/>
                </a:rPr>
                <a:t>출입자 </a:t>
              </a:r>
              <a:r>
                <a:rPr lang="en-US" altLang="ko-KR" sz="900" dirty="0">
                  <a:latin typeface="+mj-lt"/>
                </a:rPr>
                <a:t>: 223 / </a:t>
              </a:r>
              <a:r>
                <a:rPr lang="ko-KR" altLang="en-US" sz="900">
                  <a:latin typeface="+mj-lt"/>
                </a:rPr>
                <a:t>작업자 </a:t>
              </a:r>
              <a:r>
                <a:rPr lang="en-US" altLang="ko-KR" sz="900" dirty="0">
                  <a:latin typeface="+mj-lt"/>
                </a:rPr>
                <a:t>: 160</a:t>
              </a:r>
            </a:p>
            <a:p>
              <a:r>
                <a:rPr lang="ko-KR" altLang="en-US" sz="900" dirty="0">
                  <a:latin typeface="+mj-lt"/>
                </a:rPr>
                <a:t>작업구역 </a:t>
              </a:r>
              <a:r>
                <a:rPr lang="en-US" altLang="ko-KR" sz="900" dirty="0">
                  <a:latin typeface="+mj-lt"/>
                </a:rPr>
                <a:t>: 70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가스위험 </a:t>
              </a:r>
              <a:r>
                <a:rPr lang="en-US" altLang="ko-KR" sz="900" dirty="0">
                  <a:latin typeface="+mj-lt"/>
                </a:rPr>
                <a:t>: 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16 </a:t>
              </a:r>
              <a:r>
                <a:rPr lang="ko-KR" altLang="en-US" sz="900">
                  <a:latin typeface="+mj-lt"/>
                </a:rPr>
                <a:t>건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경고지역 </a:t>
              </a:r>
              <a:r>
                <a:rPr lang="en-US" altLang="ko-KR" sz="900" dirty="0">
                  <a:latin typeface="+mj-lt"/>
                </a:rPr>
                <a:t>(4)</a:t>
              </a:r>
              <a:r>
                <a:rPr lang="ko-KR" altLang="en-US" sz="90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/ </a:t>
              </a:r>
              <a:r>
                <a:rPr lang="ko-KR" altLang="en-US" sz="900">
                  <a:latin typeface="+mj-lt"/>
                </a:rPr>
                <a:t>위험알림 </a:t>
              </a:r>
              <a:r>
                <a:rPr lang="en-US" altLang="ko-KR" sz="900" dirty="0">
                  <a:latin typeface="+mj-lt"/>
                </a:rPr>
                <a:t>(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24)</a:t>
              </a:r>
            </a:p>
          </p:txBody>
        </p:sp>
      </p:grpSp>
      <p:sp>
        <p:nvSpPr>
          <p:cNvPr id="52" name="직사각형 51"/>
          <p:cNvSpPr/>
          <p:nvPr/>
        </p:nvSpPr>
        <p:spPr>
          <a:xfrm>
            <a:off x="6985511" y="289897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6985511" y="341189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67" name="직선 연결선 66"/>
          <p:cNvCxnSpPr/>
          <p:nvPr/>
        </p:nvCxnSpPr>
        <p:spPr>
          <a:xfrm>
            <a:off x="10036362" y="2881642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grpSp>
        <p:nvGrpSpPr>
          <p:cNvPr id="29" name="그룹 28"/>
          <p:cNvGrpSpPr/>
          <p:nvPr/>
        </p:nvGrpSpPr>
        <p:grpSpPr>
          <a:xfrm>
            <a:off x="7136751" y="3958954"/>
            <a:ext cx="2932457" cy="999250"/>
            <a:chOff x="7136751" y="2865247"/>
            <a:chExt cx="2932457" cy="999250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7136751" y="2865247"/>
              <a:ext cx="2932457" cy="99925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0000.00.00 </a:t>
              </a:r>
              <a:r>
                <a:rPr lang="ko-KR" altLang="en-US" sz="1050" b="1" dirty="0">
                  <a:latin typeface="+mj-lt"/>
                </a:rPr>
                <a:t>안전점검 일지</a:t>
              </a: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264896" y="3145879"/>
              <a:ext cx="25922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+mj-lt"/>
                </a:rPr>
                <a:t>출입자 </a:t>
              </a:r>
              <a:r>
                <a:rPr lang="en-US" altLang="ko-KR" sz="900" dirty="0">
                  <a:latin typeface="+mj-lt"/>
                </a:rPr>
                <a:t>: 223 / </a:t>
              </a:r>
              <a:r>
                <a:rPr lang="ko-KR" altLang="en-US" sz="900">
                  <a:latin typeface="+mj-lt"/>
                </a:rPr>
                <a:t>작업자 </a:t>
              </a:r>
              <a:r>
                <a:rPr lang="en-US" altLang="ko-KR" sz="900" dirty="0">
                  <a:latin typeface="+mj-lt"/>
                </a:rPr>
                <a:t>: 160</a:t>
              </a:r>
            </a:p>
            <a:p>
              <a:r>
                <a:rPr lang="ko-KR" altLang="en-US" sz="900" dirty="0">
                  <a:latin typeface="+mj-lt"/>
                </a:rPr>
                <a:t>작업구역 </a:t>
              </a:r>
              <a:r>
                <a:rPr lang="en-US" altLang="ko-KR" sz="900" dirty="0">
                  <a:latin typeface="+mj-lt"/>
                </a:rPr>
                <a:t>: 70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가스위험 </a:t>
              </a:r>
              <a:r>
                <a:rPr lang="en-US" altLang="ko-KR" sz="900" dirty="0">
                  <a:latin typeface="+mj-lt"/>
                </a:rPr>
                <a:t>: 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16 </a:t>
              </a:r>
              <a:r>
                <a:rPr lang="ko-KR" altLang="en-US" sz="900">
                  <a:latin typeface="+mj-lt"/>
                </a:rPr>
                <a:t>건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경고지역 </a:t>
              </a:r>
              <a:r>
                <a:rPr lang="en-US" altLang="ko-KR" sz="900" dirty="0">
                  <a:latin typeface="+mj-lt"/>
                </a:rPr>
                <a:t>(4)</a:t>
              </a:r>
              <a:r>
                <a:rPr lang="ko-KR" altLang="en-US" sz="90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/ </a:t>
              </a:r>
              <a:r>
                <a:rPr lang="ko-KR" altLang="en-US" sz="900">
                  <a:latin typeface="+mj-lt"/>
                </a:rPr>
                <a:t>위험알림 </a:t>
              </a:r>
              <a:r>
                <a:rPr lang="en-US" altLang="ko-KR" sz="900" dirty="0">
                  <a:latin typeface="+mj-lt"/>
                </a:rPr>
                <a:t>(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24)</a:t>
              </a:r>
            </a:p>
          </p:txBody>
        </p:sp>
      </p:grpSp>
      <p:grpSp>
        <p:nvGrpSpPr>
          <p:cNvPr id="54" name="그룹 53"/>
          <p:cNvGrpSpPr/>
          <p:nvPr/>
        </p:nvGrpSpPr>
        <p:grpSpPr>
          <a:xfrm>
            <a:off x="7136751" y="5051096"/>
            <a:ext cx="2932457" cy="999250"/>
            <a:chOff x="7136751" y="2865247"/>
            <a:chExt cx="2932457" cy="999250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136751" y="2865247"/>
              <a:ext cx="2932457" cy="99925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0000.00.00 </a:t>
              </a:r>
              <a:r>
                <a:rPr lang="ko-KR" altLang="en-US" sz="1050" b="1" dirty="0">
                  <a:latin typeface="+mj-lt"/>
                </a:rPr>
                <a:t>안전점검 일지</a:t>
              </a: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7264896" y="3145879"/>
              <a:ext cx="25922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+mj-lt"/>
                </a:rPr>
                <a:t>출입자 </a:t>
              </a:r>
              <a:r>
                <a:rPr lang="en-US" altLang="ko-KR" sz="900" dirty="0">
                  <a:latin typeface="+mj-lt"/>
                </a:rPr>
                <a:t>: 223 / </a:t>
              </a:r>
              <a:r>
                <a:rPr lang="ko-KR" altLang="en-US" sz="900">
                  <a:latin typeface="+mj-lt"/>
                </a:rPr>
                <a:t>작업자 </a:t>
              </a:r>
              <a:r>
                <a:rPr lang="en-US" altLang="ko-KR" sz="900" dirty="0">
                  <a:latin typeface="+mj-lt"/>
                </a:rPr>
                <a:t>: 160</a:t>
              </a:r>
            </a:p>
            <a:p>
              <a:r>
                <a:rPr lang="ko-KR" altLang="en-US" sz="900" dirty="0">
                  <a:latin typeface="+mj-lt"/>
                </a:rPr>
                <a:t>작업구역 </a:t>
              </a:r>
              <a:r>
                <a:rPr lang="en-US" altLang="ko-KR" sz="900" dirty="0">
                  <a:latin typeface="+mj-lt"/>
                </a:rPr>
                <a:t>: 70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가스위험 </a:t>
              </a:r>
              <a:r>
                <a:rPr lang="en-US" altLang="ko-KR" sz="900" dirty="0">
                  <a:latin typeface="+mj-lt"/>
                </a:rPr>
                <a:t>: 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16 </a:t>
              </a:r>
              <a:r>
                <a:rPr lang="ko-KR" altLang="en-US" sz="900">
                  <a:latin typeface="+mj-lt"/>
                </a:rPr>
                <a:t>건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경고지역 </a:t>
              </a:r>
              <a:r>
                <a:rPr lang="en-US" altLang="ko-KR" sz="900" dirty="0">
                  <a:latin typeface="+mj-lt"/>
                </a:rPr>
                <a:t>(4)</a:t>
              </a:r>
              <a:r>
                <a:rPr lang="ko-KR" altLang="en-US" sz="90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/ </a:t>
              </a:r>
              <a:r>
                <a:rPr lang="ko-KR" altLang="en-US" sz="900">
                  <a:latin typeface="+mj-lt"/>
                </a:rPr>
                <a:t>위험알림 </a:t>
              </a:r>
              <a:r>
                <a:rPr lang="en-US" altLang="ko-KR" sz="900" dirty="0">
                  <a:latin typeface="+mj-lt"/>
                </a:rPr>
                <a:t>(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24)</a:t>
              </a:r>
            </a:p>
          </p:txBody>
        </p:sp>
      </p:grpSp>
      <p:grpSp>
        <p:nvGrpSpPr>
          <p:cNvPr id="58" name="그룹 57"/>
          <p:cNvGrpSpPr/>
          <p:nvPr/>
        </p:nvGrpSpPr>
        <p:grpSpPr>
          <a:xfrm>
            <a:off x="7136751" y="6144803"/>
            <a:ext cx="2932457" cy="999250"/>
            <a:chOff x="7136751" y="2865247"/>
            <a:chExt cx="2932457" cy="999250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7136751" y="2865247"/>
              <a:ext cx="2932457" cy="99925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0000.00.00 </a:t>
              </a:r>
              <a:r>
                <a:rPr lang="ko-KR" altLang="en-US" sz="1050" b="1" dirty="0">
                  <a:latin typeface="+mj-lt"/>
                </a:rPr>
                <a:t>안전점검 일지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7264896" y="3145879"/>
              <a:ext cx="25922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+mj-lt"/>
                </a:rPr>
                <a:t>출입자 </a:t>
              </a:r>
              <a:r>
                <a:rPr lang="en-US" altLang="ko-KR" sz="900" dirty="0">
                  <a:latin typeface="+mj-lt"/>
                </a:rPr>
                <a:t>: 223 / </a:t>
              </a:r>
              <a:r>
                <a:rPr lang="ko-KR" altLang="en-US" sz="900">
                  <a:latin typeface="+mj-lt"/>
                </a:rPr>
                <a:t>작업자 </a:t>
              </a:r>
              <a:r>
                <a:rPr lang="en-US" altLang="ko-KR" sz="900" dirty="0">
                  <a:latin typeface="+mj-lt"/>
                </a:rPr>
                <a:t>: 160</a:t>
              </a:r>
            </a:p>
            <a:p>
              <a:r>
                <a:rPr lang="ko-KR" altLang="en-US" sz="900" dirty="0">
                  <a:latin typeface="+mj-lt"/>
                </a:rPr>
                <a:t>작업구역 </a:t>
              </a:r>
              <a:r>
                <a:rPr lang="en-US" altLang="ko-KR" sz="900" dirty="0">
                  <a:latin typeface="+mj-lt"/>
                </a:rPr>
                <a:t>: 70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가스위험 </a:t>
              </a:r>
              <a:r>
                <a:rPr lang="en-US" altLang="ko-KR" sz="900" dirty="0">
                  <a:latin typeface="+mj-lt"/>
                </a:rPr>
                <a:t>: 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16 </a:t>
              </a:r>
              <a:r>
                <a:rPr lang="ko-KR" altLang="en-US" sz="900">
                  <a:latin typeface="+mj-lt"/>
                </a:rPr>
                <a:t>건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경고지역 </a:t>
              </a:r>
              <a:r>
                <a:rPr lang="en-US" altLang="ko-KR" sz="900" dirty="0">
                  <a:latin typeface="+mj-lt"/>
                </a:rPr>
                <a:t>(4)</a:t>
              </a:r>
              <a:r>
                <a:rPr lang="ko-KR" altLang="en-US" sz="90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/ </a:t>
              </a:r>
              <a:r>
                <a:rPr lang="ko-KR" altLang="en-US" sz="900">
                  <a:latin typeface="+mj-lt"/>
                </a:rPr>
                <a:t>위험알림 </a:t>
              </a:r>
              <a:r>
                <a:rPr lang="en-US" altLang="ko-KR" sz="900" dirty="0">
                  <a:latin typeface="+mj-lt"/>
                </a:rPr>
                <a:t>(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24)</a:t>
              </a: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7136751" y="7220492"/>
            <a:ext cx="2932457" cy="999250"/>
            <a:chOff x="7136751" y="2865247"/>
            <a:chExt cx="2932457" cy="999250"/>
          </a:xfrm>
        </p:grpSpPr>
        <p:sp>
          <p:nvSpPr>
            <p:cNvPr id="63" name="모서리가 둥근 직사각형 62"/>
            <p:cNvSpPr/>
            <p:nvPr/>
          </p:nvSpPr>
          <p:spPr>
            <a:xfrm>
              <a:off x="7136751" y="2865247"/>
              <a:ext cx="2932457" cy="99925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0000.00.00 </a:t>
              </a:r>
              <a:r>
                <a:rPr lang="ko-KR" altLang="en-US" sz="1050" b="1" dirty="0">
                  <a:latin typeface="+mj-lt"/>
                </a:rPr>
                <a:t>안전점검 일지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7264896" y="3145879"/>
              <a:ext cx="25922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latin typeface="+mj-lt"/>
                </a:rPr>
                <a:t>출입자 </a:t>
              </a:r>
              <a:r>
                <a:rPr lang="en-US" altLang="ko-KR" sz="900" dirty="0">
                  <a:latin typeface="+mj-lt"/>
                </a:rPr>
                <a:t>: 223 / </a:t>
              </a:r>
              <a:r>
                <a:rPr lang="ko-KR" altLang="en-US" sz="900">
                  <a:latin typeface="+mj-lt"/>
                </a:rPr>
                <a:t>작업자 </a:t>
              </a:r>
              <a:r>
                <a:rPr lang="en-US" altLang="ko-KR" sz="900" dirty="0">
                  <a:latin typeface="+mj-lt"/>
                </a:rPr>
                <a:t>: 160</a:t>
              </a:r>
            </a:p>
            <a:p>
              <a:r>
                <a:rPr lang="ko-KR" altLang="en-US" sz="900" dirty="0">
                  <a:latin typeface="+mj-lt"/>
                </a:rPr>
                <a:t>작업구역 </a:t>
              </a:r>
              <a:r>
                <a:rPr lang="en-US" altLang="ko-KR" sz="900" dirty="0">
                  <a:latin typeface="+mj-lt"/>
                </a:rPr>
                <a:t>: 70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가스위험 </a:t>
              </a:r>
              <a:r>
                <a:rPr lang="en-US" altLang="ko-KR" sz="900" dirty="0">
                  <a:latin typeface="+mj-lt"/>
                </a:rPr>
                <a:t>: 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16 </a:t>
              </a:r>
              <a:r>
                <a:rPr lang="ko-KR" altLang="en-US" sz="900">
                  <a:latin typeface="+mj-lt"/>
                </a:rPr>
                <a:t>건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경고지역 </a:t>
              </a:r>
              <a:r>
                <a:rPr lang="en-US" altLang="ko-KR" sz="900" dirty="0">
                  <a:latin typeface="+mj-lt"/>
                </a:rPr>
                <a:t>(4)</a:t>
              </a:r>
              <a:r>
                <a:rPr lang="ko-KR" altLang="en-US" sz="90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/ </a:t>
              </a:r>
              <a:r>
                <a:rPr lang="ko-KR" altLang="en-US" sz="900">
                  <a:latin typeface="+mj-lt"/>
                </a:rPr>
                <a:t>위험알림 </a:t>
              </a:r>
              <a:r>
                <a:rPr lang="en-US" altLang="ko-KR" sz="900" dirty="0">
                  <a:latin typeface="+mj-lt"/>
                </a:rPr>
                <a:t>(</a:t>
              </a:r>
              <a:r>
                <a:rPr lang="ko-KR" altLang="en-US" sz="900">
                  <a:latin typeface="+mj-lt"/>
                </a:rPr>
                <a:t>총 </a:t>
              </a:r>
              <a:r>
                <a:rPr lang="en-US" altLang="ko-KR" sz="900" dirty="0">
                  <a:latin typeface="+mj-lt"/>
                </a:rPr>
                <a:t>24)</a:t>
              </a:r>
            </a:p>
          </p:txBody>
        </p:sp>
      </p:grpSp>
      <p:sp>
        <p:nvSpPr>
          <p:cNvPr id="41" name="모서리가 둥근 사각형 설명선 40"/>
          <p:cNvSpPr/>
          <p:nvPr/>
        </p:nvSpPr>
        <p:spPr>
          <a:xfrm>
            <a:off x="5491919" y="6128418"/>
            <a:ext cx="1248699" cy="407341"/>
          </a:xfrm>
          <a:prstGeom prst="wedgeRoundRectCallout">
            <a:avLst>
              <a:gd name="adj1" fmla="val 100444"/>
              <a:gd name="adj2" fmla="val 55285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016</a:t>
            </a:r>
          </a:p>
          <a:p>
            <a:pPr algn="ctr"/>
            <a:r>
              <a:rPr lang="ko-KR" altLang="en-US" sz="800" dirty="0"/>
              <a:t>안전점검일지 보기</a:t>
            </a:r>
          </a:p>
        </p:txBody>
      </p:sp>
      <p:sp>
        <p:nvSpPr>
          <p:cNvPr id="6" name="오른쪽 대괄호 5"/>
          <p:cNvSpPr/>
          <p:nvPr/>
        </p:nvSpPr>
        <p:spPr>
          <a:xfrm>
            <a:off x="10133233" y="2898978"/>
            <a:ext cx="155999" cy="5320764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직사각형 67"/>
          <p:cNvSpPr/>
          <p:nvPr/>
        </p:nvSpPr>
        <p:spPr>
          <a:xfrm>
            <a:off x="10229176" y="52861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6019723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안전점검 현황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4540511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3" name="grid" descr="E:\Users\pwujcik.REDMOND\Desktop\!WIN8\WEBCAM DESKTOP\latest\WORKING\Partner\Guidence\exports\grid-trans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130" t="16460" r="24868" b="4339"/>
          <a:stretch/>
        </p:blipFill>
        <p:spPr bwMode="auto">
          <a:xfrm>
            <a:off x="1864295" y="2317309"/>
            <a:ext cx="8279641" cy="57956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6" name="그림 325"/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063627" y="2755917"/>
            <a:ext cx="8153400" cy="4972050"/>
          </a:xfrm>
          <a:prstGeom prst="rect">
            <a:avLst/>
          </a:prstGeom>
        </p:spPr>
      </p:pic>
      <p:grpSp>
        <p:nvGrpSpPr>
          <p:cNvPr id="735" name="그룹 73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739" name="타원 738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740" name="그림 73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2" name="직사각형 1"/>
          <p:cNvSpPr/>
          <p:nvPr/>
        </p:nvSpPr>
        <p:spPr>
          <a:xfrm>
            <a:off x="410705" y="2317309"/>
            <a:ext cx="1439999" cy="194143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53" name="직사각형 452"/>
          <p:cNvSpPr/>
          <p:nvPr/>
        </p:nvSpPr>
        <p:spPr>
          <a:xfrm>
            <a:off x="410705" y="4258740"/>
            <a:ext cx="1439999" cy="194143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9" name="직사각형 598"/>
          <p:cNvSpPr/>
          <p:nvPr/>
        </p:nvSpPr>
        <p:spPr>
          <a:xfrm>
            <a:off x="410705" y="6195890"/>
            <a:ext cx="1439999" cy="194143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98354" y="268583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5016" y="268583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sp>
        <p:nvSpPr>
          <p:cNvPr id="454" name="TextBox 453"/>
          <p:cNvSpPr txBox="1"/>
          <p:nvPr/>
        </p:nvSpPr>
        <p:spPr>
          <a:xfrm>
            <a:off x="498354" y="4667086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455" name="직사각형 454"/>
          <p:cNvSpPr/>
          <p:nvPr/>
        </p:nvSpPr>
        <p:spPr>
          <a:xfrm>
            <a:off x="498354" y="4377556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56" name="TextBox 455"/>
          <p:cNvSpPr txBox="1"/>
          <p:nvPr/>
        </p:nvSpPr>
        <p:spPr>
          <a:xfrm>
            <a:off x="1315016" y="4667086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sp>
        <p:nvSpPr>
          <p:cNvPr id="600" name="TextBox 599"/>
          <p:cNvSpPr txBox="1"/>
          <p:nvPr/>
        </p:nvSpPr>
        <p:spPr>
          <a:xfrm>
            <a:off x="498354" y="6641356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601" name="직사각형 600"/>
          <p:cNvSpPr/>
          <p:nvPr/>
        </p:nvSpPr>
        <p:spPr>
          <a:xfrm>
            <a:off x="498354" y="6351826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02" name="TextBox 601"/>
          <p:cNvSpPr txBox="1"/>
          <p:nvPr/>
        </p:nvSpPr>
        <p:spPr>
          <a:xfrm>
            <a:off x="1315016" y="6641356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518636" y="3685834"/>
            <a:ext cx="1224136" cy="315990"/>
            <a:chOff x="2296344" y="2444725"/>
            <a:chExt cx="1224136" cy="315990"/>
          </a:xfrm>
        </p:grpSpPr>
        <p:sp>
          <p:nvSpPr>
            <p:cNvPr id="220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1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22" name="그룹 221"/>
          <p:cNvGrpSpPr/>
          <p:nvPr/>
        </p:nvGrpSpPr>
        <p:grpSpPr>
          <a:xfrm>
            <a:off x="518636" y="5736999"/>
            <a:ext cx="1224136" cy="315990"/>
            <a:chOff x="2296344" y="2444725"/>
            <a:chExt cx="1224136" cy="315990"/>
          </a:xfrm>
        </p:grpSpPr>
        <p:sp>
          <p:nvSpPr>
            <p:cNvPr id="223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4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25" name="그룹 224"/>
          <p:cNvGrpSpPr/>
          <p:nvPr/>
        </p:nvGrpSpPr>
        <p:grpSpPr>
          <a:xfrm>
            <a:off x="518636" y="7722171"/>
            <a:ext cx="1224136" cy="315990"/>
            <a:chOff x="2296344" y="2444725"/>
            <a:chExt cx="1224136" cy="315990"/>
          </a:xfrm>
        </p:grpSpPr>
        <p:sp>
          <p:nvSpPr>
            <p:cNvPr id="226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7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466" name="모서리가 둥근 직사각형 465"/>
          <p:cNvSpPr/>
          <p:nvPr/>
        </p:nvSpPr>
        <p:spPr>
          <a:xfrm>
            <a:off x="8165550" y="2467885"/>
            <a:ext cx="1206677" cy="344178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지난 내역 보기</a:t>
            </a:r>
          </a:p>
        </p:txBody>
      </p:sp>
      <p:sp>
        <p:nvSpPr>
          <p:cNvPr id="300" name="Search Box Rectangle"/>
          <p:cNvSpPr>
            <a:spLocks/>
          </p:cNvSpPr>
          <p:nvPr/>
        </p:nvSpPr>
        <p:spPr bwMode="auto">
          <a:xfrm>
            <a:off x="3468392" y="2466543"/>
            <a:ext cx="114910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전체보기  ▼</a:t>
            </a:r>
          </a:p>
        </p:txBody>
      </p:sp>
      <p:sp>
        <p:nvSpPr>
          <p:cNvPr id="422" name="타원 421"/>
          <p:cNvSpPr/>
          <p:nvPr/>
        </p:nvSpPr>
        <p:spPr>
          <a:xfrm>
            <a:off x="6394561" y="5254765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2" name="타원 431"/>
          <p:cNvSpPr/>
          <p:nvPr/>
        </p:nvSpPr>
        <p:spPr>
          <a:xfrm>
            <a:off x="7078736" y="5725380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6" name="타원 305"/>
          <p:cNvSpPr/>
          <p:nvPr/>
        </p:nvSpPr>
        <p:spPr>
          <a:xfrm>
            <a:off x="5707272" y="4802984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1" name="타원 310"/>
          <p:cNvSpPr/>
          <p:nvPr/>
        </p:nvSpPr>
        <p:spPr>
          <a:xfrm>
            <a:off x="4151136" y="4853240"/>
            <a:ext cx="1739410" cy="413697"/>
          </a:xfrm>
          <a:prstGeom prst="ellipse">
            <a:avLst/>
          </a:prstGeom>
          <a:solidFill>
            <a:srgbClr val="BE5108">
              <a:alpha val="4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6" name="타원 315"/>
          <p:cNvSpPr/>
          <p:nvPr/>
        </p:nvSpPr>
        <p:spPr>
          <a:xfrm>
            <a:off x="4905848" y="5314182"/>
            <a:ext cx="1739410" cy="413697"/>
          </a:xfrm>
          <a:prstGeom prst="ellipse">
            <a:avLst/>
          </a:prstGeom>
          <a:solidFill>
            <a:srgbClr val="BE5108">
              <a:alpha val="4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1" name="타원 320"/>
          <p:cNvSpPr/>
          <p:nvPr/>
        </p:nvSpPr>
        <p:spPr>
          <a:xfrm>
            <a:off x="5659466" y="5758570"/>
            <a:ext cx="1739410" cy="413697"/>
          </a:xfrm>
          <a:prstGeom prst="ellipse">
            <a:avLst/>
          </a:prstGeom>
          <a:solidFill>
            <a:srgbClr val="BE5108">
              <a:alpha val="4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7" name="타원 426"/>
          <p:cNvSpPr/>
          <p:nvPr/>
        </p:nvSpPr>
        <p:spPr>
          <a:xfrm>
            <a:off x="3492618" y="4387077"/>
            <a:ext cx="1739410" cy="413697"/>
          </a:xfrm>
          <a:prstGeom prst="ellipse">
            <a:avLst/>
          </a:prstGeom>
          <a:solidFill>
            <a:srgbClr val="BE5108">
              <a:alpha val="4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7" name="타원 96"/>
          <p:cNvSpPr/>
          <p:nvPr/>
        </p:nvSpPr>
        <p:spPr>
          <a:xfrm>
            <a:off x="4864520" y="4431980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8" name="타원 97"/>
          <p:cNvSpPr/>
          <p:nvPr/>
        </p:nvSpPr>
        <p:spPr>
          <a:xfrm>
            <a:off x="4151136" y="3942689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5142709" y="3770023"/>
            <a:ext cx="1739410" cy="413697"/>
          </a:xfrm>
          <a:prstGeom prst="ellipse">
            <a:avLst/>
          </a:prstGeom>
          <a:solidFill>
            <a:srgbClr val="BE5108">
              <a:alpha val="2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0" name="타원 99"/>
          <p:cNvSpPr/>
          <p:nvPr/>
        </p:nvSpPr>
        <p:spPr>
          <a:xfrm>
            <a:off x="2857086" y="4936560"/>
            <a:ext cx="1739410" cy="413697"/>
          </a:xfrm>
          <a:prstGeom prst="ellipse">
            <a:avLst/>
          </a:prstGeom>
          <a:solidFill>
            <a:srgbClr val="BE5108">
              <a:alpha val="6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1" name="타원 100"/>
          <p:cNvSpPr/>
          <p:nvPr/>
        </p:nvSpPr>
        <p:spPr>
          <a:xfrm>
            <a:off x="3301048" y="5408886"/>
            <a:ext cx="1739410" cy="413697"/>
          </a:xfrm>
          <a:prstGeom prst="ellipse">
            <a:avLst/>
          </a:prstGeom>
          <a:solidFill>
            <a:srgbClr val="BE5108">
              <a:alpha val="6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2" name="타원 101"/>
          <p:cNvSpPr/>
          <p:nvPr/>
        </p:nvSpPr>
        <p:spPr>
          <a:xfrm>
            <a:off x="3958590" y="5858270"/>
            <a:ext cx="1739410" cy="413697"/>
          </a:xfrm>
          <a:prstGeom prst="ellipse">
            <a:avLst/>
          </a:prstGeom>
          <a:solidFill>
            <a:srgbClr val="BE5108">
              <a:alpha val="6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/>
          <p:cNvSpPr/>
          <p:nvPr/>
        </p:nvSpPr>
        <p:spPr>
          <a:xfrm>
            <a:off x="4673952" y="6257620"/>
            <a:ext cx="1739410" cy="413697"/>
          </a:xfrm>
          <a:prstGeom prst="ellipse">
            <a:avLst/>
          </a:prstGeom>
          <a:solidFill>
            <a:srgbClr val="BE5108">
              <a:alpha val="6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5426935" y="6710078"/>
            <a:ext cx="1739410" cy="413697"/>
          </a:xfrm>
          <a:prstGeom prst="ellipse">
            <a:avLst/>
          </a:prstGeom>
          <a:solidFill>
            <a:srgbClr val="BE5108">
              <a:alpha val="6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/>
          <p:cNvSpPr/>
          <p:nvPr/>
        </p:nvSpPr>
        <p:spPr>
          <a:xfrm>
            <a:off x="6296640" y="6077077"/>
            <a:ext cx="1739410" cy="413697"/>
          </a:xfrm>
          <a:prstGeom prst="ellipse">
            <a:avLst/>
          </a:prstGeom>
          <a:solidFill>
            <a:srgbClr val="BE5108">
              <a:alpha val="40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60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06" name="표 10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76750"/>
              </p:ext>
            </p:extLst>
          </p:nvPr>
        </p:nvGraphicFramePr>
        <p:xfrm>
          <a:off x="10633534" y="1272208"/>
          <a:ext cx="2088232" cy="24379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빌딩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층 선택과는 관계 없이 등록된 전체 안전관리자 리스트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지속적으로 보여지는 화면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디폴트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첫번째 안전관리자의 전체보기 화면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안전관리자를 선택하면 해당 관리자의 이동 내역이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디폴트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전체보기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시간대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~ 23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시까지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시간단위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00:00~00:59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전체보기 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커버리지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영역만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에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09" name="모서리가 둥근 직사각형 108"/>
          <p:cNvSpPr/>
          <p:nvPr/>
        </p:nvSpPr>
        <p:spPr>
          <a:xfrm>
            <a:off x="1936304" y="2396305"/>
            <a:ext cx="1306924" cy="5572647"/>
          </a:xfrm>
          <a:prstGeom prst="roundRect">
            <a:avLst>
              <a:gd name="adj" fmla="val 3252"/>
            </a:avLst>
          </a:prstGeom>
          <a:solidFill>
            <a:schemeClr val="bg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/>
          <p:cNvSpPr/>
          <p:nvPr/>
        </p:nvSpPr>
        <p:spPr>
          <a:xfrm>
            <a:off x="1941889" y="2507392"/>
            <a:ext cx="1301338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안전 관리자    </a:t>
            </a:r>
            <a:r>
              <a:rPr lang="en-US" altLang="ko-KR" sz="800" b="1" dirty="0"/>
              <a:t>[ 00 </a:t>
            </a:r>
            <a:r>
              <a:rPr lang="ko-KR" altLang="en-US" sz="800" b="1"/>
              <a:t>명 </a:t>
            </a:r>
            <a:r>
              <a:rPr lang="en-US" altLang="ko-KR" sz="800" b="1" dirty="0"/>
              <a:t>]</a:t>
            </a:r>
            <a:endParaRPr lang="ko-KR" altLang="en-US" sz="800" b="1" dirty="0"/>
          </a:p>
        </p:txBody>
      </p:sp>
      <p:sp>
        <p:nvSpPr>
          <p:cNvPr id="111" name="직사각형 110"/>
          <p:cNvSpPr/>
          <p:nvPr/>
        </p:nvSpPr>
        <p:spPr>
          <a:xfrm>
            <a:off x="1936303" y="2733235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2" name="직사각형 111"/>
          <p:cNvSpPr/>
          <p:nvPr/>
        </p:nvSpPr>
        <p:spPr>
          <a:xfrm>
            <a:off x="1936303" y="3144417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3" name="직사각형 112"/>
          <p:cNvSpPr/>
          <p:nvPr/>
        </p:nvSpPr>
        <p:spPr>
          <a:xfrm>
            <a:off x="1936303" y="3555106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4" name="직사각형 113"/>
          <p:cNvSpPr/>
          <p:nvPr/>
        </p:nvSpPr>
        <p:spPr>
          <a:xfrm>
            <a:off x="1936303" y="3966288"/>
            <a:ext cx="1306924" cy="411182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장나라</a:t>
            </a:r>
          </a:p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5" name="직사각형 114"/>
          <p:cNvSpPr/>
          <p:nvPr/>
        </p:nvSpPr>
        <p:spPr>
          <a:xfrm>
            <a:off x="1936303" y="4376066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6" name="직사각형 115"/>
          <p:cNvSpPr/>
          <p:nvPr/>
        </p:nvSpPr>
        <p:spPr>
          <a:xfrm>
            <a:off x="1936303" y="4787248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원빈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7" name="직사각형 116"/>
          <p:cNvSpPr/>
          <p:nvPr/>
        </p:nvSpPr>
        <p:spPr>
          <a:xfrm>
            <a:off x="1936303" y="5197937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8" name="직사각형 117"/>
          <p:cNvSpPr/>
          <p:nvPr/>
        </p:nvSpPr>
        <p:spPr>
          <a:xfrm>
            <a:off x="1936303" y="5609119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19" name="직사각형 118"/>
          <p:cNvSpPr/>
          <p:nvPr/>
        </p:nvSpPr>
        <p:spPr>
          <a:xfrm>
            <a:off x="1936303" y="6019808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20" name="직사각형 119"/>
          <p:cNvSpPr/>
          <p:nvPr/>
        </p:nvSpPr>
        <p:spPr>
          <a:xfrm>
            <a:off x="1936303" y="6430990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21" name="직사각형 120"/>
          <p:cNvSpPr/>
          <p:nvPr/>
        </p:nvSpPr>
        <p:spPr>
          <a:xfrm>
            <a:off x="1936303" y="6841679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122" name="직사각형 121"/>
          <p:cNvSpPr/>
          <p:nvPr/>
        </p:nvSpPr>
        <p:spPr>
          <a:xfrm>
            <a:off x="1936303" y="7252861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cxnSp>
        <p:nvCxnSpPr>
          <p:cNvPr id="123" name="직선 연결선 122"/>
          <p:cNvCxnSpPr/>
          <p:nvPr/>
        </p:nvCxnSpPr>
        <p:spPr>
          <a:xfrm>
            <a:off x="3232448" y="2755917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pic>
        <p:nvPicPr>
          <p:cNvPr id="124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86164" b="1071"/>
          <a:stretch/>
        </p:blipFill>
        <p:spPr bwMode="auto">
          <a:xfrm>
            <a:off x="1943787" y="7757111"/>
            <a:ext cx="1288661" cy="1398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7" name="직사각형 106"/>
          <p:cNvSpPr/>
          <p:nvPr/>
        </p:nvSpPr>
        <p:spPr>
          <a:xfrm>
            <a:off x="2499217" y="225424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5" name="직사각형 124"/>
          <p:cNvSpPr/>
          <p:nvPr/>
        </p:nvSpPr>
        <p:spPr>
          <a:xfrm>
            <a:off x="1804987" y="408275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6" name="직사각형 125"/>
          <p:cNvSpPr/>
          <p:nvPr/>
        </p:nvSpPr>
        <p:spPr>
          <a:xfrm>
            <a:off x="3922775" y="23445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27" name="그룹 126"/>
          <p:cNvGrpSpPr/>
          <p:nvPr/>
        </p:nvGrpSpPr>
        <p:grpSpPr>
          <a:xfrm>
            <a:off x="10684354" y="4584576"/>
            <a:ext cx="1015718" cy="4771873"/>
            <a:chOff x="9456768" y="4649771"/>
            <a:chExt cx="1015718" cy="4771873"/>
          </a:xfrm>
        </p:grpSpPr>
        <p:sp>
          <p:nvSpPr>
            <p:cNvPr id="128" name="Search Box Rectangle"/>
            <p:cNvSpPr>
              <a:spLocks/>
            </p:cNvSpPr>
            <p:nvPr/>
          </p:nvSpPr>
          <p:spPr bwMode="auto">
            <a:xfrm>
              <a:off x="9456768" y="4649771"/>
              <a:ext cx="1015718" cy="477187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전체보기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04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05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06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07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08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09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14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15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16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17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18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19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22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23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시</a:t>
              </a:r>
              <a:endPara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29" name="Chevron"/>
            <p:cNvSpPr>
              <a:spLocks noChangeAspect="1"/>
            </p:cNvSpPr>
            <p:nvPr/>
          </p:nvSpPr>
          <p:spPr bwMode="auto">
            <a:xfrm>
              <a:off x="10306911" y="4759833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30" name="직사각형 129"/>
          <p:cNvSpPr/>
          <p:nvPr/>
        </p:nvSpPr>
        <p:spPr>
          <a:xfrm>
            <a:off x="11109258" y="443198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31" name="직사각형 130"/>
          <p:cNvSpPr/>
          <p:nvPr/>
        </p:nvSpPr>
        <p:spPr>
          <a:xfrm>
            <a:off x="4887330" y="403638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935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3" name="grid" descr="E:\Users\pwujcik.REDMOND\Desktop\!WIN8\WEBCAM DESKTOP\latest\WORKING\Partner\Guidence\exports\grid-trans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130" t="16460" r="24868" b="4339"/>
          <a:stretch/>
        </p:blipFill>
        <p:spPr bwMode="auto">
          <a:xfrm>
            <a:off x="1864295" y="2317309"/>
            <a:ext cx="8279641" cy="57956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6" name="그림 325"/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063627" y="2755917"/>
            <a:ext cx="8153400" cy="4972050"/>
          </a:xfrm>
          <a:prstGeom prst="rect">
            <a:avLst/>
          </a:prstGeom>
        </p:spPr>
      </p:pic>
      <p:grpSp>
        <p:nvGrpSpPr>
          <p:cNvPr id="735" name="그룹 73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739" name="타원 738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740" name="그림 73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2" name="직사각형 1"/>
          <p:cNvSpPr/>
          <p:nvPr/>
        </p:nvSpPr>
        <p:spPr>
          <a:xfrm>
            <a:off x="410705" y="2317309"/>
            <a:ext cx="1439999" cy="194143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53" name="직사각형 452"/>
          <p:cNvSpPr/>
          <p:nvPr/>
        </p:nvSpPr>
        <p:spPr>
          <a:xfrm>
            <a:off x="410705" y="4258740"/>
            <a:ext cx="1439999" cy="194143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9" name="직사각형 598"/>
          <p:cNvSpPr/>
          <p:nvPr/>
        </p:nvSpPr>
        <p:spPr>
          <a:xfrm>
            <a:off x="410705" y="6195890"/>
            <a:ext cx="1439999" cy="194143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98354" y="268583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5016" y="268583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sp>
        <p:nvSpPr>
          <p:cNvPr id="454" name="TextBox 453"/>
          <p:cNvSpPr txBox="1"/>
          <p:nvPr/>
        </p:nvSpPr>
        <p:spPr>
          <a:xfrm>
            <a:off x="498354" y="4667086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455" name="직사각형 454"/>
          <p:cNvSpPr/>
          <p:nvPr/>
        </p:nvSpPr>
        <p:spPr>
          <a:xfrm>
            <a:off x="498354" y="4377556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56" name="TextBox 455"/>
          <p:cNvSpPr txBox="1"/>
          <p:nvPr/>
        </p:nvSpPr>
        <p:spPr>
          <a:xfrm>
            <a:off x="1315016" y="4667086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sp>
        <p:nvSpPr>
          <p:cNvPr id="600" name="TextBox 599"/>
          <p:cNvSpPr txBox="1"/>
          <p:nvPr/>
        </p:nvSpPr>
        <p:spPr>
          <a:xfrm>
            <a:off x="498354" y="6641356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안전담당자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점검완료 구역 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미점검 구역</a:t>
            </a:r>
            <a:endParaRPr lang="en-US" altLang="ko-KR" sz="1000" dirty="0">
              <a:latin typeface="+mn-ea"/>
            </a:endParaRPr>
          </a:p>
        </p:txBody>
      </p:sp>
      <p:sp>
        <p:nvSpPr>
          <p:cNvPr id="601" name="직사각형 600"/>
          <p:cNvSpPr/>
          <p:nvPr/>
        </p:nvSpPr>
        <p:spPr>
          <a:xfrm>
            <a:off x="498354" y="6351826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02" name="TextBox 601"/>
          <p:cNvSpPr txBox="1"/>
          <p:nvPr/>
        </p:nvSpPr>
        <p:spPr>
          <a:xfrm>
            <a:off x="1315016" y="6641356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7 </a:t>
            </a:r>
            <a:r>
              <a:rPr lang="ko-KR" altLang="en-US" sz="1000">
                <a:latin typeface="+mn-ea"/>
              </a:rPr>
              <a:t>명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37 </a:t>
            </a:r>
            <a:r>
              <a:rPr lang="ko-KR" altLang="en-US" sz="1000">
                <a:latin typeface="+mn-ea"/>
              </a:rPr>
              <a:t>곳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3 </a:t>
            </a:r>
            <a:r>
              <a:rPr lang="ko-KR" altLang="en-US" sz="1000">
                <a:latin typeface="+mn-ea"/>
              </a:rPr>
              <a:t>곳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518636" y="3685834"/>
            <a:ext cx="1224136" cy="315990"/>
            <a:chOff x="2296344" y="2444725"/>
            <a:chExt cx="1224136" cy="315990"/>
          </a:xfrm>
        </p:grpSpPr>
        <p:sp>
          <p:nvSpPr>
            <p:cNvPr id="220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1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22" name="그룹 221"/>
          <p:cNvGrpSpPr/>
          <p:nvPr/>
        </p:nvGrpSpPr>
        <p:grpSpPr>
          <a:xfrm>
            <a:off x="518636" y="5736999"/>
            <a:ext cx="1224136" cy="315990"/>
            <a:chOff x="2296344" y="2444725"/>
            <a:chExt cx="1224136" cy="315990"/>
          </a:xfrm>
        </p:grpSpPr>
        <p:sp>
          <p:nvSpPr>
            <p:cNvPr id="223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4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25" name="그룹 224"/>
          <p:cNvGrpSpPr/>
          <p:nvPr/>
        </p:nvGrpSpPr>
        <p:grpSpPr>
          <a:xfrm>
            <a:off x="518636" y="7722171"/>
            <a:ext cx="1224136" cy="315990"/>
            <a:chOff x="2296344" y="2444725"/>
            <a:chExt cx="1224136" cy="315990"/>
          </a:xfrm>
        </p:grpSpPr>
        <p:sp>
          <p:nvSpPr>
            <p:cNvPr id="226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7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635" name="모서리가 둥근 직사각형 634"/>
          <p:cNvSpPr/>
          <p:nvPr/>
        </p:nvSpPr>
        <p:spPr>
          <a:xfrm>
            <a:off x="1936304" y="2396305"/>
            <a:ext cx="1306924" cy="5572647"/>
          </a:xfrm>
          <a:prstGeom prst="roundRect">
            <a:avLst>
              <a:gd name="adj" fmla="val 3252"/>
            </a:avLst>
          </a:prstGeom>
          <a:solidFill>
            <a:schemeClr val="bg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0" name="직사각형 649"/>
          <p:cNvSpPr/>
          <p:nvPr/>
        </p:nvSpPr>
        <p:spPr>
          <a:xfrm>
            <a:off x="1941889" y="2507392"/>
            <a:ext cx="1301338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안전 관리자    </a:t>
            </a:r>
            <a:r>
              <a:rPr lang="en-US" altLang="ko-KR" sz="800" b="1" dirty="0"/>
              <a:t>[ 00 </a:t>
            </a:r>
            <a:r>
              <a:rPr lang="ko-KR" altLang="en-US" sz="800" b="1"/>
              <a:t>명 </a:t>
            </a:r>
            <a:r>
              <a:rPr lang="en-US" altLang="ko-KR" sz="800" b="1" dirty="0"/>
              <a:t>]</a:t>
            </a:r>
            <a:endParaRPr lang="ko-KR" altLang="en-US" sz="800" b="1" dirty="0"/>
          </a:p>
        </p:txBody>
      </p:sp>
      <p:sp>
        <p:nvSpPr>
          <p:cNvPr id="243" name="직사각형 242"/>
          <p:cNvSpPr/>
          <p:nvPr/>
        </p:nvSpPr>
        <p:spPr>
          <a:xfrm>
            <a:off x="1936303" y="2733235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4" name="직사각형 243"/>
          <p:cNvSpPr/>
          <p:nvPr/>
        </p:nvSpPr>
        <p:spPr>
          <a:xfrm>
            <a:off x="1936303" y="3144417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5" name="직사각형 244"/>
          <p:cNvSpPr/>
          <p:nvPr/>
        </p:nvSpPr>
        <p:spPr>
          <a:xfrm>
            <a:off x="1936303" y="3555106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6" name="직사각형 245"/>
          <p:cNvSpPr/>
          <p:nvPr/>
        </p:nvSpPr>
        <p:spPr>
          <a:xfrm>
            <a:off x="1936303" y="3966288"/>
            <a:ext cx="1306924" cy="411182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장나라</a:t>
            </a:r>
          </a:p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7" name="직사각형 246"/>
          <p:cNvSpPr/>
          <p:nvPr/>
        </p:nvSpPr>
        <p:spPr>
          <a:xfrm>
            <a:off x="1936303" y="4376066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8" name="직사각형 247"/>
          <p:cNvSpPr/>
          <p:nvPr/>
        </p:nvSpPr>
        <p:spPr>
          <a:xfrm>
            <a:off x="1936303" y="4787248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원빈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49" name="직사각형 248"/>
          <p:cNvSpPr/>
          <p:nvPr/>
        </p:nvSpPr>
        <p:spPr>
          <a:xfrm>
            <a:off x="1936303" y="5197937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50" name="직사각형 249"/>
          <p:cNvSpPr/>
          <p:nvPr/>
        </p:nvSpPr>
        <p:spPr>
          <a:xfrm>
            <a:off x="1936303" y="5609119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51" name="직사각형 250"/>
          <p:cNvSpPr/>
          <p:nvPr/>
        </p:nvSpPr>
        <p:spPr>
          <a:xfrm>
            <a:off x="1936303" y="6019808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52" name="직사각형 251"/>
          <p:cNvSpPr/>
          <p:nvPr/>
        </p:nvSpPr>
        <p:spPr>
          <a:xfrm>
            <a:off x="1936303" y="6430990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53" name="직사각형 252"/>
          <p:cNvSpPr/>
          <p:nvPr/>
        </p:nvSpPr>
        <p:spPr>
          <a:xfrm>
            <a:off x="1936303" y="6841679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sp>
        <p:nvSpPr>
          <p:cNvPr id="254" name="직사각형 253"/>
          <p:cNvSpPr/>
          <p:nvPr/>
        </p:nvSpPr>
        <p:spPr>
          <a:xfrm>
            <a:off x="1936303" y="7252861"/>
            <a:ext cx="1306924" cy="41118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홍길동</a:t>
            </a:r>
          </a:p>
          <a:p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안전관리자</a:t>
            </a:r>
          </a:p>
        </p:txBody>
      </p:sp>
      <p:cxnSp>
        <p:nvCxnSpPr>
          <p:cNvPr id="268" name="직선 연결선 267"/>
          <p:cNvCxnSpPr/>
          <p:nvPr/>
        </p:nvCxnSpPr>
        <p:spPr>
          <a:xfrm>
            <a:off x="3232448" y="2755917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pic>
        <p:nvPicPr>
          <p:cNvPr id="362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86164" b="1071"/>
          <a:stretch/>
        </p:blipFill>
        <p:spPr bwMode="auto">
          <a:xfrm>
            <a:off x="1943787" y="7757111"/>
            <a:ext cx="1288661" cy="1398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6" name="모서리가 둥근 직사각형 465"/>
          <p:cNvSpPr/>
          <p:nvPr/>
        </p:nvSpPr>
        <p:spPr>
          <a:xfrm>
            <a:off x="8165550" y="2467885"/>
            <a:ext cx="1206677" cy="344178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지난 내역 보기</a:t>
            </a:r>
          </a:p>
        </p:txBody>
      </p:sp>
      <p:sp>
        <p:nvSpPr>
          <p:cNvPr id="300" name="Search Box Rectangle"/>
          <p:cNvSpPr>
            <a:spLocks/>
          </p:cNvSpPr>
          <p:nvPr/>
        </p:nvSpPr>
        <p:spPr bwMode="auto">
          <a:xfrm>
            <a:off x="3468392" y="2466543"/>
            <a:ext cx="114910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14 </a:t>
            </a:r>
            <a:r>
              <a:rPr lang="ko-KR" altLang="en-US" sz="9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시  ▼</a:t>
            </a:r>
            <a:endParaRPr lang="ko-KR" altLang="en-US" sz="9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grpSp>
        <p:nvGrpSpPr>
          <p:cNvPr id="421" name="그룹 420"/>
          <p:cNvGrpSpPr/>
          <p:nvPr/>
        </p:nvGrpSpPr>
        <p:grpSpPr>
          <a:xfrm>
            <a:off x="6394561" y="5203621"/>
            <a:ext cx="1739410" cy="464841"/>
            <a:chOff x="10401931" y="5306246"/>
            <a:chExt cx="1739410" cy="464841"/>
          </a:xfrm>
        </p:grpSpPr>
        <p:sp>
          <p:nvSpPr>
            <p:cNvPr id="422" name="타원 421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2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423" name="그룹 422"/>
            <p:cNvGrpSpPr/>
            <p:nvPr/>
          </p:nvGrpSpPr>
          <p:grpSpPr>
            <a:xfrm>
              <a:off x="11200003" y="5306246"/>
              <a:ext cx="808918" cy="257992"/>
              <a:chOff x="7663329" y="4443070"/>
              <a:chExt cx="808918" cy="257992"/>
            </a:xfrm>
          </p:grpSpPr>
          <p:sp>
            <p:nvSpPr>
              <p:cNvPr id="424" name="모서리가 둥근 직사각형 423"/>
              <p:cNvSpPr/>
              <p:nvPr/>
            </p:nvSpPr>
            <p:spPr>
              <a:xfrm>
                <a:off x="7663329" y="4443070"/>
                <a:ext cx="808918" cy="195789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[6] 14:21:02</a:t>
                </a:r>
              </a:p>
            </p:txBody>
          </p:sp>
          <p:sp>
            <p:nvSpPr>
              <p:cNvPr id="425" name="이등변 삼각형 424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431" name="그룹 430"/>
          <p:cNvGrpSpPr/>
          <p:nvPr/>
        </p:nvGrpSpPr>
        <p:grpSpPr>
          <a:xfrm>
            <a:off x="7078736" y="5657323"/>
            <a:ext cx="1739410" cy="481754"/>
            <a:chOff x="10401931" y="5289333"/>
            <a:chExt cx="1739410" cy="481754"/>
          </a:xfrm>
        </p:grpSpPr>
        <p:sp>
          <p:nvSpPr>
            <p:cNvPr id="432" name="타원 431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2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433" name="그룹 432"/>
            <p:cNvGrpSpPr/>
            <p:nvPr/>
          </p:nvGrpSpPr>
          <p:grpSpPr>
            <a:xfrm>
              <a:off x="11200003" y="5289333"/>
              <a:ext cx="808918" cy="274905"/>
              <a:chOff x="7663329" y="4426157"/>
              <a:chExt cx="808918" cy="274905"/>
            </a:xfrm>
          </p:grpSpPr>
          <p:sp>
            <p:nvSpPr>
              <p:cNvPr id="434" name="모서리가 둥근 직사각형 433"/>
              <p:cNvSpPr/>
              <p:nvPr/>
            </p:nvSpPr>
            <p:spPr>
              <a:xfrm>
                <a:off x="7663329" y="4426157"/>
                <a:ext cx="808918" cy="212702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[5] 14:21:02</a:t>
                </a:r>
              </a:p>
            </p:txBody>
          </p:sp>
          <p:sp>
            <p:nvSpPr>
              <p:cNvPr id="435" name="이등변 삼각형 434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305" name="그룹 304"/>
          <p:cNvGrpSpPr/>
          <p:nvPr/>
        </p:nvGrpSpPr>
        <p:grpSpPr>
          <a:xfrm>
            <a:off x="5707272" y="4734927"/>
            <a:ext cx="1739410" cy="481754"/>
            <a:chOff x="10401931" y="5289333"/>
            <a:chExt cx="1739410" cy="481754"/>
          </a:xfrm>
        </p:grpSpPr>
        <p:sp>
          <p:nvSpPr>
            <p:cNvPr id="306" name="타원 305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2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07" name="그룹 306"/>
            <p:cNvGrpSpPr/>
            <p:nvPr/>
          </p:nvGrpSpPr>
          <p:grpSpPr>
            <a:xfrm>
              <a:off x="11200003" y="5289333"/>
              <a:ext cx="808918" cy="274905"/>
              <a:chOff x="7663329" y="4426157"/>
              <a:chExt cx="808918" cy="274905"/>
            </a:xfrm>
          </p:grpSpPr>
          <p:sp>
            <p:nvSpPr>
              <p:cNvPr id="308" name="모서리가 둥근 직사각형 307"/>
              <p:cNvSpPr/>
              <p:nvPr/>
            </p:nvSpPr>
            <p:spPr>
              <a:xfrm>
                <a:off x="7663329" y="4426157"/>
                <a:ext cx="808918" cy="212702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[7] 14:21:02</a:t>
                </a:r>
              </a:p>
            </p:txBody>
          </p:sp>
          <p:sp>
            <p:nvSpPr>
              <p:cNvPr id="309" name="이등변 삼각형 308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310" name="그룹 309"/>
          <p:cNvGrpSpPr/>
          <p:nvPr/>
        </p:nvGrpSpPr>
        <p:grpSpPr>
          <a:xfrm>
            <a:off x="4151136" y="4599146"/>
            <a:ext cx="1739410" cy="667791"/>
            <a:chOff x="10401931" y="5103296"/>
            <a:chExt cx="1739410" cy="667791"/>
          </a:xfrm>
        </p:grpSpPr>
        <p:sp>
          <p:nvSpPr>
            <p:cNvPr id="311" name="타원 310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6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12" name="그룹 311"/>
            <p:cNvGrpSpPr/>
            <p:nvPr/>
          </p:nvGrpSpPr>
          <p:grpSpPr>
            <a:xfrm>
              <a:off x="11200003" y="5103296"/>
              <a:ext cx="808918" cy="460942"/>
              <a:chOff x="7663329" y="4240120"/>
              <a:chExt cx="808918" cy="460942"/>
            </a:xfrm>
          </p:grpSpPr>
          <p:sp>
            <p:nvSpPr>
              <p:cNvPr id="313" name="모서리가 둥근 직사각형 312"/>
              <p:cNvSpPr/>
              <p:nvPr/>
            </p:nvSpPr>
            <p:spPr>
              <a:xfrm>
                <a:off x="7663329" y="4240120"/>
                <a:ext cx="808918" cy="398739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[13] 14:21:02</a:t>
                </a:r>
              </a:p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[9] 14:21:02</a:t>
                </a:r>
              </a:p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[2] 14:21:02</a:t>
                </a:r>
              </a:p>
            </p:txBody>
          </p:sp>
          <p:sp>
            <p:nvSpPr>
              <p:cNvPr id="314" name="이등변 삼각형 313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315" name="그룹 314"/>
          <p:cNvGrpSpPr/>
          <p:nvPr/>
        </p:nvGrpSpPr>
        <p:grpSpPr>
          <a:xfrm>
            <a:off x="4905848" y="5060088"/>
            <a:ext cx="1739410" cy="667791"/>
            <a:chOff x="10401931" y="5103296"/>
            <a:chExt cx="1739410" cy="667791"/>
          </a:xfrm>
        </p:grpSpPr>
        <p:sp>
          <p:nvSpPr>
            <p:cNvPr id="316" name="타원 315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6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17" name="그룹 316"/>
            <p:cNvGrpSpPr/>
            <p:nvPr/>
          </p:nvGrpSpPr>
          <p:grpSpPr>
            <a:xfrm>
              <a:off x="11200003" y="5103296"/>
              <a:ext cx="808918" cy="460942"/>
              <a:chOff x="7663329" y="4240120"/>
              <a:chExt cx="808918" cy="460942"/>
            </a:xfrm>
          </p:grpSpPr>
          <p:sp>
            <p:nvSpPr>
              <p:cNvPr id="318" name="모서리가 둥근 직사각형 317"/>
              <p:cNvSpPr/>
              <p:nvPr/>
            </p:nvSpPr>
            <p:spPr>
              <a:xfrm>
                <a:off x="7663329" y="4240120"/>
                <a:ext cx="808918" cy="398739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[12] 14:21:02</a:t>
                </a:r>
              </a:p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[10] 14:21:02</a:t>
                </a:r>
              </a:p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[3] 14:21:02</a:t>
                </a:r>
              </a:p>
            </p:txBody>
          </p:sp>
          <p:sp>
            <p:nvSpPr>
              <p:cNvPr id="319" name="이등변 삼각형 318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320" name="그룹 319"/>
          <p:cNvGrpSpPr/>
          <p:nvPr/>
        </p:nvGrpSpPr>
        <p:grpSpPr>
          <a:xfrm>
            <a:off x="5659466" y="5599544"/>
            <a:ext cx="1739410" cy="572723"/>
            <a:chOff x="10401931" y="5198364"/>
            <a:chExt cx="1739410" cy="572723"/>
          </a:xfrm>
        </p:grpSpPr>
        <p:sp>
          <p:nvSpPr>
            <p:cNvPr id="321" name="타원 320"/>
            <p:cNvSpPr/>
            <p:nvPr/>
          </p:nvSpPr>
          <p:spPr>
            <a:xfrm>
              <a:off x="10401931" y="5357390"/>
              <a:ext cx="1739410" cy="413697"/>
            </a:xfrm>
            <a:prstGeom prst="ellipse">
              <a:avLst/>
            </a:prstGeom>
            <a:solidFill>
              <a:srgbClr val="BE5108">
                <a:alpha val="40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endParaRPr lang="ko-KR" altLang="en-US" sz="6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22" name="그룹 321"/>
            <p:cNvGrpSpPr/>
            <p:nvPr/>
          </p:nvGrpSpPr>
          <p:grpSpPr>
            <a:xfrm>
              <a:off x="11200003" y="5198364"/>
              <a:ext cx="808918" cy="365874"/>
              <a:chOff x="7663329" y="4335188"/>
              <a:chExt cx="808918" cy="365874"/>
            </a:xfrm>
          </p:grpSpPr>
          <p:sp>
            <p:nvSpPr>
              <p:cNvPr id="323" name="모서리가 둥근 직사각형 322"/>
              <p:cNvSpPr/>
              <p:nvPr/>
            </p:nvSpPr>
            <p:spPr>
              <a:xfrm>
                <a:off x="7663329" y="4335188"/>
                <a:ext cx="808918" cy="303671"/>
              </a:xfrm>
              <a:prstGeom prst="roundRect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[11] 14:21:02</a:t>
                </a:r>
              </a:p>
              <a:p>
                <a:r>
                  <a:rPr lang="en-US" altLang="ko-KR" sz="600" dirty="0">
                    <a:solidFill>
                      <a:schemeClr val="bg1"/>
                    </a:solidFill>
                    <a:latin typeface="+mn-ea"/>
                  </a:rPr>
                  <a:t>[4] 14:21:02</a:t>
                </a:r>
              </a:p>
            </p:txBody>
          </p:sp>
          <p:sp>
            <p:nvSpPr>
              <p:cNvPr id="324" name="이등변 삼각형 323"/>
              <p:cNvSpPr/>
              <p:nvPr/>
            </p:nvSpPr>
            <p:spPr>
              <a:xfrm rot="10800000">
                <a:off x="7718722" y="4652935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3492618" y="4084687"/>
            <a:ext cx="1739410" cy="716087"/>
            <a:chOff x="4080855" y="4412528"/>
            <a:chExt cx="1739410" cy="716087"/>
          </a:xfrm>
        </p:grpSpPr>
        <p:grpSp>
          <p:nvGrpSpPr>
            <p:cNvPr id="426" name="그룹 425"/>
            <p:cNvGrpSpPr/>
            <p:nvPr/>
          </p:nvGrpSpPr>
          <p:grpSpPr>
            <a:xfrm>
              <a:off x="4080855" y="4714918"/>
              <a:ext cx="1739410" cy="413697"/>
              <a:chOff x="10401931" y="5357390"/>
              <a:chExt cx="1739410" cy="413697"/>
            </a:xfrm>
          </p:grpSpPr>
          <p:sp>
            <p:nvSpPr>
              <p:cNvPr id="427" name="타원 426"/>
              <p:cNvSpPr/>
              <p:nvPr/>
            </p:nvSpPr>
            <p:spPr>
              <a:xfrm>
                <a:off x="10401931" y="5357390"/>
                <a:ext cx="1739410" cy="413697"/>
              </a:xfrm>
              <a:prstGeom prst="ellipse">
                <a:avLst/>
              </a:prstGeom>
              <a:solidFill>
                <a:srgbClr val="BE5108">
                  <a:alpha val="60000"/>
                </a:srgb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430" name="이등변 삼각형 429"/>
              <p:cNvSpPr/>
              <p:nvPr/>
            </p:nvSpPr>
            <p:spPr>
              <a:xfrm rot="10800000">
                <a:off x="11255396" y="5516111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25" name="모서리가 둥근 직사각형 324"/>
            <p:cNvSpPr/>
            <p:nvPr/>
          </p:nvSpPr>
          <p:spPr>
            <a:xfrm>
              <a:off x="4855965" y="4412528"/>
              <a:ext cx="808918" cy="448856"/>
            </a:xfrm>
            <a:prstGeom prst="roundRect">
              <a:avLst/>
            </a:prstGeom>
            <a:solidFill>
              <a:srgbClr val="BE5108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[14]14:21:02</a:t>
              </a:r>
            </a:p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[8]14:21:02</a:t>
              </a:r>
            </a:p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[1] 14:21:02</a:t>
              </a:r>
            </a:p>
          </p:txBody>
        </p:sp>
      </p:grpSp>
      <p:graphicFrame>
        <p:nvGraphicFramePr>
          <p:cNvPr id="327" name="표 3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905047"/>
              </p:ext>
            </p:extLst>
          </p:nvPr>
        </p:nvGraphicFramePr>
        <p:xfrm>
          <a:off x="10633534" y="1272208"/>
          <a:ext cx="2088232" cy="27292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특정 시간대 표시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선택한 시간대에 이동한 내역이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에 표시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3" name="직사각형 332"/>
          <p:cNvSpPr/>
          <p:nvPr/>
        </p:nvSpPr>
        <p:spPr>
          <a:xfrm>
            <a:off x="3976379" y="23574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34" name="직사각형 333"/>
          <p:cNvSpPr/>
          <p:nvPr/>
        </p:nvSpPr>
        <p:spPr>
          <a:xfrm>
            <a:off x="3929437" y="39769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35" name="직사각형 334"/>
          <p:cNvSpPr/>
          <p:nvPr/>
        </p:nvSpPr>
        <p:spPr>
          <a:xfrm>
            <a:off x="4528592" y="39709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336" name="그룹 335"/>
          <p:cNvGrpSpPr/>
          <p:nvPr/>
        </p:nvGrpSpPr>
        <p:grpSpPr>
          <a:xfrm>
            <a:off x="11081320" y="2644791"/>
            <a:ext cx="1412704" cy="627784"/>
            <a:chOff x="4252179" y="4412528"/>
            <a:chExt cx="1412704" cy="627784"/>
          </a:xfrm>
        </p:grpSpPr>
        <p:grpSp>
          <p:nvGrpSpPr>
            <p:cNvPr id="337" name="그룹 336"/>
            <p:cNvGrpSpPr/>
            <p:nvPr/>
          </p:nvGrpSpPr>
          <p:grpSpPr>
            <a:xfrm>
              <a:off x="4252179" y="4803222"/>
              <a:ext cx="1396762" cy="237090"/>
              <a:chOff x="10573255" y="5445694"/>
              <a:chExt cx="1396762" cy="237090"/>
            </a:xfrm>
          </p:grpSpPr>
          <p:sp>
            <p:nvSpPr>
              <p:cNvPr id="339" name="타원 338"/>
              <p:cNvSpPr/>
              <p:nvPr/>
            </p:nvSpPr>
            <p:spPr>
              <a:xfrm>
                <a:off x="10573255" y="5445694"/>
                <a:ext cx="1396762" cy="237090"/>
              </a:xfrm>
              <a:prstGeom prst="ellipse">
                <a:avLst/>
              </a:prstGeom>
              <a:solidFill>
                <a:srgbClr val="BE5108">
                  <a:alpha val="60000"/>
                </a:srgb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40" name="이등변 삼각형 339"/>
              <p:cNvSpPr/>
              <p:nvPr/>
            </p:nvSpPr>
            <p:spPr>
              <a:xfrm rot="10800000">
                <a:off x="11255396" y="5516111"/>
                <a:ext cx="60480" cy="48127"/>
              </a:xfrm>
              <a:prstGeom prst="triangle">
                <a:avLst/>
              </a:prstGeom>
              <a:solidFill>
                <a:srgbClr val="BE5108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endParaRPr lang="ko-KR" altLang="en-US" sz="6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8" name="모서리가 둥근 직사각형 337"/>
            <p:cNvSpPr/>
            <p:nvPr/>
          </p:nvSpPr>
          <p:spPr>
            <a:xfrm>
              <a:off x="4855965" y="4412528"/>
              <a:ext cx="808918" cy="448856"/>
            </a:xfrm>
            <a:prstGeom prst="roundRect">
              <a:avLst/>
            </a:prstGeom>
            <a:solidFill>
              <a:srgbClr val="BE5108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[14]14:21:02</a:t>
              </a:r>
            </a:p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[8]14:21:02</a:t>
              </a:r>
            </a:p>
            <a:p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[1] 14:21:02</a:t>
              </a:r>
            </a:p>
          </p:txBody>
        </p:sp>
      </p:grpSp>
      <p:sp>
        <p:nvSpPr>
          <p:cNvPr id="17" name="모서리가 둥근 사각형 설명선 16"/>
          <p:cNvSpPr/>
          <p:nvPr/>
        </p:nvSpPr>
        <p:spPr>
          <a:xfrm>
            <a:off x="11284705" y="2280320"/>
            <a:ext cx="444688" cy="227072"/>
          </a:xfrm>
          <a:prstGeom prst="wedgeRoundRectCallout">
            <a:avLst>
              <a:gd name="adj1" fmla="val 75433"/>
              <a:gd name="adj2" fmla="val 144457"/>
              <a:gd name="adj3" fmla="val 16667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[14] 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순서</a:t>
            </a:r>
          </a:p>
        </p:txBody>
      </p:sp>
      <p:sp>
        <p:nvSpPr>
          <p:cNvPr id="341" name="모서리가 둥근 사각형 설명선 340"/>
          <p:cNvSpPr/>
          <p:nvPr/>
        </p:nvSpPr>
        <p:spPr>
          <a:xfrm>
            <a:off x="12003234" y="2280320"/>
            <a:ext cx="662261" cy="227072"/>
          </a:xfrm>
          <a:prstGeom prst="wedgeRoundRectCallout">
            <a:avLst>
              <a:gd name="adj1" fmla="val -49336"/>
              <a:gd name="adj2" fmla="val 144457"/>
              <a:gd name="adj3" fmla="val 16667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14:21:02 </a:t>
            </a:r>
          </a:p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초</a:t>
            </a:r>
          </a:p>
        </p:txBody>
      </p:sp>
      <p:sp>
        <p:nvSpPr>
          <p:cNvPr id="342" name="모서리가 둥근 사각형 설명선 341"/>
          <p:cNvSpPr/>
          <p:nvPr/>
        </p:nvSpPr>
        <p:spPr>
          <a:xfrm>
            <a:off x="11585377" y="3507789"/>
            <a:ext cx="900826" cy="372185"/>
          </a:xfrm>
          <a:prstGeom prst="wedgeRoundRectCallout">
            <a:avLst>
              <a:gd name="adj1" fmla="val -45308"/>
              <a:gd name="adj2" fmla="val -141811"/>
              <a:gd name="adj3" fmla="val 16667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횟수별로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커버리지</a:t>
            </a:r>
            <a:br>
              <a:rPr lang="en-US" altLang="ko-KR" sz="700" dirty="0">
                <a:solidFill>
                  <a:schemeClr val="tx1"/>
                </a:solidFill>
                <a:latin typeface="+mn-ea"/>
              </a:rPr>
            </a:br>
            <a:r>
              <a:rPr lang="ko-KR" altLang="en-US" sz="700">
                <a:solidFill>
                  <a:schemeClr val="tx1"/>
                </a:solidFill>
                <a:latin typeface="+mn-ea"/>
              </a:rPr>
              <a:t>색상이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진해짐</a:t>
            </a:r>
          </a:p>
        </p:txBody>
      </p:sp>
    </p:spTree>
    <p:extLst>
      <p:ext uri="{BB962C8B-B14F-4D97-AF65-F5344CB8AC3E}">
        <p14:creationId xmlns:p14="http://schemas.microsoft.com/office/powerpoint/2010/main" val="21644989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직사각형 41"/>
          <p:cNvSpPr/>
          <p:nvPr/>
        </p:nvSpPr>
        <p:spPr>
          <a:xfrm>
            <a:off x="423442" y="1776264"/>
            <a:ext cx="9710708" cy="662473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045597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7082076" y="2497892"/>
            <a:ext cx="15247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지난 안전점검 현황</a:t>
            </a:r>
          </a:p>
        </p:txBody>
      </p:sp>
      <p:sp>
        <p:nvSpPr>
          <p:cNvPr id="5" name="모서리가 둥근 직사각형 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048</a:t>
            </a:r>
            <a:endParaRPr lang="ko-KR" altLang="en-US" sz="800" dirty="0"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1561736" y="632805"/>
            <a:ext cx="118814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지난 안전점검 현황</a:t>
            </a:r>
            <a:endParaRPr lang="en-US" altLang="ko-KR" sz="900" dirty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7136751" y="2865247"/>
            <a:ext cx="2932457" cy="711217"/>
            <a:chOff x="7136751" y="2865247"/>
            <a:chExt cx="2932457" cy="711217"/>
          </a:xfrm>
        </p:grpSpPr>
        <p:sp>
          <p:nvSpPr>
            <p:cNvPr id="8" name="모서리가 둥근 직사각형 7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2016.07.11 (</a:t>
              </a:r>
              <a:r>
                <a:rPr lang="ko-KR" altLang="en-US" sz="1050" b="1">
                  <a:latin typeface="+mj-lt"/>
                </a:rPr>
                <a:t>화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14:23:23</a:t>
              </a:r>
            </a:p>
          </p:txBody>
        </p:sp>
      </p:grpSp>
      <p:grpSp>
        <p:nvGrpSpPr>
          <p:cNvPr id="12" name="그룹 11"/>
          <p:cNvGrpSpPr/>
          <p:nvPr/>
        </p:nvGrpSpPr>
        <p:grpSpPr>
          <a:xfrm>
            <a:off x="7136751" y="3648472"/>
            <a:ext cx="2932457" cy="711217"/>
            <a:chOff x="7136751" y="2865247"/>
            <a:chExt cx="2932457" cy="711217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2016.07.10 (</a:t>
              </a:r>
              <a:r>
                <a:rPr lang="ko-KR" altLang="en-US" sz="1050" b="1">
                  <a:latin typeface="+mj-lt"/>
                </a:rPr>
                <a:t>월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7136751" y="4417313"/>
            <a:ext cx="2932457" cy="711217"/>
            <a:chOff x="7136751" y="2865247"/>
            <a:chExt cx="2932457" cy="711217"/>
          </a:xfrm>
        </p:grpSpPr>
        <p:sp>
          <p:nvSpPr>
            <p:cNvPr id="18" name="모서리가 둥근 직사각형 17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2016.07.09 (</a:t>
              </a:r>
              <a:r>
                <a:rPr lang="ko-KR" altLang="en-US" sz="1050" b="1">
                  <a:latin typeface="+mj-lt"/>
                </a:rPr>
                <a:t>일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7136751" y="5200538"/>
            <a:ext cx="2932457" cy="711217"/>
            <a:chOff x="7136751" y="2865247"/>
            <a:chExt cx="2932457" cy="711217"/>
          </a:xfrm>
        </p:grpSpPr>
        <p:sp>
          <p:nvSpPr>
            <p:cNvPr id="23" name="모서리가 둥근 직사각형 22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2016.07.08 (</a:t>
              </a:r>
              <a:r>
                <a:rPr lang="ko-KR" altLang="en-US" sz="1050" b="1">
                  <a:latin typeface="+mj-lt"/>
                </a:rPr>
                <a:t>토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7136751" y="5975975"/>
            <a:ext cx="2932457" cy="711217"/>
            <a:chOff x="7136751" y="2865247"/>
            <a:chExt cx="2932457" cy="711217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2016.07.07 (</a:t>
              </a:r>
              <a:r>
                <a:rPr lang="ko-KR" altLang="en-US" sz="1050" b="1">
                  <a:latin typeface="+mj-lt"/>
                </a:rPr>
                <a:t>금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136751" y="6759200"/>
            <a:ext cx="2932457" cy="711217"/>
            <a:chOff x="7136751" y="2865247"/>
            <a:chExt cx="2932457" cy="711217"/>
          </a:xfrm>
        </p:grpSpPr>
        <p:sp>
          <p:nvSpPr>
            <p:cNvPr id="33" name="모서리가 둥근 직사각형 32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2016.07.06 (</a:t>
              </a:r>
              <a:r>
                <a:rPr lang="ko-KR" altLang="en-US" sz="1050" b="1">
                  <a:latin typeface="+mj-lt"/>
                </a:rPr>
                <a:t>목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7136751" y="7529343"/>
            <a:ext cx="2932457" cy="711217"/>
            <a:chOff x="7136751" y="2865247"/>
            <a:chExt cx="2932457" cy="711217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7136751" y="2865247"/>
              <a:ext cx="2932457" cy="711217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7155776" y="2869889"/>
              <a:ext cx="2913432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+mj-lt"/>
                </a:rPr>
                <a:t>2016.07.05 (</a:t>
              </a:r>
              <a:r>
                <a:rPr lang="ko-KR" altLang="en-US" sz="1050" b="1">
                  <a:latin typeface="+mj-lt"/>
                </a:rPr>
                <a:t>수</a:t>
              </a:r>
              <a:r>
                <a:rPr lang="en-US" altLang="ko-KR" sz="1050" b="1" dirty="0">
                  <a:latin typeface="+mj-lt"/>
                </a:rPr>
                <a:t>)</a:t>
              </a:r>
              <a:endParaRPr lang="ko-KR" altLang="en-US" sz="1050" b="1" dirty="0">
                <a:latin typeface="+mj-lt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7147076" y="3145879"/>
              <a:ext cx="134195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 err="1">
                  <a:latin typeface="+mj-lt"/>
                </a:rPr>
                <a:t>안전점검자</a:t>
              </a:r>
              <a:r>
                <a:rPr lang="ko-KR" altLang="en-US" sz="900" dirty="0">
                  <a:latin typeface="+mj-lt"/>
                </a:rPr>
                <a:t> </a:t>
              </a:r>
              <a:r>
                <a:rPr lang="en-US" altLang="ko-KR" sz="900" dirty="0">
                  <a:latin typeface="+mj-lt"/>
                </a:rPr>
                <a:t>: 7 </a:t>
              </a:r>
              <a:r>
                <a:rPr lang="ko-KR" altLang="en-US" sz="900">
                  <a:latin typeface="+mj-lt"/>
                </a:rPr>
                <a:t>명</a:t>
              </a:r>
              <a:endParaRPr lang="en-US" altLang="ko-KR" sz="900" dirty="0">
                <a:latin typeface="+mj-lt"/>
              </a:endParaRPr>
            </a:p>
            <a:p>
              <a:r>
                <a:rPr lang="ko-KR" altLang="en-US" sz="900" dirty="0">
                  <a:latin typeface="+mj-lt"/>
                </a:rPr>
                <a:t>점검지역 </a:t>
              </a:r>
              <a:r>
                <a:rPr lang="en-US" altLang="ko-KR" sz="900" dirty="0">
                  <a:latin typeface="+mj-lt"/>
                </a:rPr>
                <a:t>: 34 </a:t>
              </a:r>
              <a:r>
                <a:rPr lang="ko-KR" altLang="en-US" sz="900">
                  <a:latin typeface="+mj-lt"/>
                </a:rPr>
                <a:t>구역</a:t>
              </a:r>
              <a:endParaRPr lang="en-US" altLang="ko-KR" sz="900" dirty="0">
                <a:latin typeface="+mj-lt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8509788" y="3145879"/>
              <a:ext cx="152910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ko-KR" altLang="en-US" sz="900" dirty="0">
                  <a:latin typeface="+mj-lt"/>
                </a:rPr>
                <a:t>최초 점검시간 </a:t>
              </a:r>
              <a:r>
                <a:rPr lang="en-US" altLang="ko-KR" sz="900" dirty="0">
                  <a:latin typeface="+mj-lt"/>
                </a:rPr>
                <a:t>: 01:23:20</a:t>
              </a:r>
            </a:p>
            <a:p>
              <a:pPr algn="r"/>
              <a:r>
                <a:rPr lang="ko-KR" altLang="en-US" sz="900" dirty="0">
                  <a:latin typeface="+mj-lt"/>
                </a:rPr>
                <a:t>최종 점검시간 </a:t>
              </a:r>
              <a:r>
                <a:rPr lang="en-US" altLang="ko-KR" sz="900" dirty="0">
                  <a:latin typeface="+mj-lt"/>
                </a:rPr>
                <a:t>: 23:22:08</a:t>
              </a:r>
            </a:p>
          </p:txBody>
        </p:sp>
      </p:grpSp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433248"/>
              </p:ext>
            </p:extLst>
          </p:nvPr>
        </p:nvGraphicFramePr>
        <p:xfrm>
          <a:off x="10633534" y="1272208"/>
          <a:ext cx="2088232" cy="10415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아래로 과거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개월 리스트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당겨서 더보기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4" name="직사각형 43"/>
          <p:cNvSpPr/>
          <p:nvPr/>
        </p:nvSpPr>
        <p:spPr>
          <a:xfrm>
            <a:off x="6711659" y="31495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5" name="왼쪽 대괄호 44"/>
          <p:cNvSpPr/>
          <p:nvPr/>
        </p:nvSpPr>
        <p:spPr>
          <a:xfrm>
            <a:off x="6911120" y="2881642"/>
            <a:ext cx="170956" cy="633569"/>
          </a:xfrm>
          <a:prstGeom prst="leftBracket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왼쪽 대괄호 47"/>
          <p:cNvSpPr/>
          <p:nvPr/>
        </p:nvSpPr>
        <p:spPr>
          <a:xfrm>
            <a:off x="6911120" y="3930001"/>
            <a:ext cx="170956" cy="3879974"/>
          </a:xfrm>
          <a:prstGeom prst="leftBracket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직사각형 48"/>
          <p:cNvSpPr/>
          <p:nvPr/>
        </p:nvSpPr>
        <p:spPr>
          <a:xfrm>
            <a:off x="6711659" y="55753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50" name="직선 연결선 49"/>
          <p:cNvCxnSpPr/>
          <p:nvPr/>
        </p:nvCxnSpPr>
        <p:spPr>
          <a:xfrm>
            <a:off x="10069208" y="2913600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51" name="직사각형 50"/>
          <p:cNvSpPr/>
          <p:nvPr/>
        </p:nvSpPr>
        <p:spPr>
          <a:xfrm>
            <a:off x="10294942" y="56890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2" name="오른쪽 대괄호 51"/>
          <p:cNvSpPr/>
          <p:nvPr/>
        </p:nvSpPr>
        <p:spPr>
          <a:xfrm>
            <a:off x="10133233" y="3198426"/>
            <a:ext cx="134477" cy="4914542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5792643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위치기반 안전관리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7342923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8612385"/>
              </p:ext>
            </p:extLst>
          </p:nvPr>
        </p:nvGraphicFramePr>
        <p:xfrm>
          <a:off x="2296344" y="2912692"/>
          <a:ext cx="7583877" cy="5045554"/>
        </p:xfrm>
        <a:graphic>
          <a:graphicData uri="http://schemas.openxmlformats.org/drawingml/2006/table">
            <a:tbl>
              <a:tblPr/>
              <a:tblGrid>
                <a:gridCol w="588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460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5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229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229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57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8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상황조치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명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작업인원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침범발생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발생건수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미조치 건수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긴급호출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발생건수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미조치 건수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 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E-4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E-6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F-6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</a:t>
                      </a:r>
                      <a:r>
                        <a:rPr lang="en-US" altLang="ko-KR" sz="11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/ 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2296344" y="2445684"/>
            <a:ext cx="2135848" cy="315031"/>
            <a:chOff x="7101980" y="2445684"/>
            <a:chExt cx="2135848" cy="315031"/>
          </a:xfrm>
        </p:grpSpPr>
        <p:sp>
          <p:nvSpPr>
            <p:cNvPr id="5" name="Search Box Rectangle"/>
            <p:cNvSpPr>
              <a:spLocks/>
            </p:cNvSpPr>
            <p:nvPr/>
          </p:nvSpPr>
          <p:spPr bwMode="auto">
            <a:xfrm>
              <a:off x="7101980" y="2445684"/>
              <a:ext cx="2135848" cy="31503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defTabSz="914400" latinLnBrk="0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itchFamily="34" charset="0"/>
                </a:rPr>
                <a:t>작업자 검색</a:t>
              </a:r>
              <a:endParaRPr lang="de-DE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6" name="Clear Button"/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8978080" y="2503879"/>
              <a:ext cx="189743" cy="189743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itchFamily="34" charset="0"/>
              </a:endParaRPr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4530933" y="2445684"/>
            <a:ext cx="376599" cy="315031"/>
            <a:chOff x="9336569" y="2445684"/>
            <a:chExt cx="376599" cy="315031"/>
          </a:xfrm>
        </p:grpSpPr>
        <p:sp>
          <p:nvSpPr>
            <p:cNvPr id="8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9" name="그림 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pic>
        <p:nvPicPr>
          <p:cNvPr id="10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2296344" y="7947877"/>
            <a:ext cx="7801180" cy="118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3948255"/>
              </p:ext>
            </p:extLst>
          </p:nvPr>
        </p:nvGraphicFramePr>
        <p:xfrm>
          <a:off x="10633534" y="1272208"/>
          <a:ext cx="2088232" cy="22242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전체에 대한 현황 집계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각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빌딩별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빌딩의 층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상황조치 팝업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작업자 검색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검색버튼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Popup 006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의 구역 입실정보 사이드 팝업에서 검색결과로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3D map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으로 보기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왼쪽 대괄호 12"/>
          <p:cNvSpPr/>
          <p:nvPr/>
        </p:nvSpPr>
        <p:spPr>
          <a:xfrm>
            <a:off x="280253" y="2327969"/>
            <a:ext cx="122484" cy="1726256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직사각형 17"/>
          <p:cNvSpPr/>
          <p:nvPr/>
        </p:nvSpPr>
        <p:spPr>
          <a:xfrm>
            <a:off x="184636" y="31006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9" name="왼쪽 대괄호 18"/>
          <p:cNvSpPr/>
          <p:nvPr/>
        </p:nvSpPr>
        <p:spPr>
          <a:xfrm>
            <a:off x="280253" y="4138414"/>
            <a:ext cx="122484" cy="4262585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/>
          <p:cNvSpPr/>
          <p:nvPr/>
        </p:nvSpPr>
        <p:spPr>
          <a:xfrm>
            <a:off x="184636" y="61675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3209125" y="23374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582723" y="23374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2900498" y="5459166"/>
            <a:ext cx="3186275" cy="322274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/>
              <a:t>터치영역</a:t>
            </a:r>
          </a:p>
        </p:txBody>
      </p:sp>
      <p:sp>
        <p:nvSpPr>
          <p:cNvPr id="27" name="직사각형 26"/>
          <p:cNvSpPr/>
          <p:nvPr/>
        </p:nvSpPr>
        <p:spPr>
          <a:xfrm>
            <a:off x="7157450" y="5459166"/>
            <a:ext cx="843745" cy="322274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/>
              <a:t>터치영역</a:t>
            </a:r>
          </a:p>
        </p:txBody>
      </p:sp>
      <p:sp>
        <p:nvSpPr>
          <p:cNvPr id="28" name="직사각형 27"/>
          <p:cNvSpPr/>
          <p:nvPr/>
        </p:nvSpPr>
        <p:spPr>
          <a:xfrm>
            <a:off x="8733200" y="5459166"/>
            <a:ext cx="843745" cy="322274"/>
          </a:xfrm>
          <a:prstGeom prst="rect">
            <a:avLst/>
          </a:prstGeom>
          <a:solidFill>
            <a:srgbClr val="0070C0">
              <a:alpha val="4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/>
              <a:t>터치영역</a:t>
            </a:r>
          </a:p>
        </p:txBody>
      </p:sp>
      <p:sp>
        <p:nvSpPr>
          <p:cNvPr id="29" name="모서리가 둥근 사각형 설명선 28"/>
          <p:cNvSpPr/>
          <p:nvPr/>
        </p:nvSpPr>
        <p:spPr>
          <a:xfrm>
            <a:off x="2397056" y="6051254"/>
            <a:ext cx="800850" cy="356808"/>
          </a:xfrm>
          <a:prstGeom prst="wedgeRoundRectCallout">
            <a:avLst>
              <a:gd name="adj1" fmla="val 122717"/>
              <a:gd name="adj2" fmla="val -16110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33" name="모서리가 둥근 사각형 설명선 32"/>
          <p:cNvSpPr/>
          <p:nvPr/>
        </p:nvSpPr>
        <p:spPr>
          <a:xfrm>
            <a:off x="6670342" y="6243992"/>
            <a:ext cx="1447967" cy="356808"/>
          </a:xfrm>
          <a:prstGeom prst="wedgeRoundRectCallout">
            <a:avLst>
              <a:gd name="adj1" fmla="val 39380"/>
              <a:gd name="adj2" fmla="val -211056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013</a:t>
            </a:r>
          </a:p>
          <a:p>
            <a:pPr algn="ctr"/>
            <a:r>
              <a:rPr lang="ko-KR" altLang="en-US" sz="800" dirty="0"/>
              <a:t>침범발생 이벤트 리스트</a:t>
            </a:r>
            <a:r>
              <a:rPr lang="en-US" altLang="ko-KR" sz="800" dirty="0"/>
              <a:t>/</a:t>
            </a:r>
            <a:r>
              <a:rPr lang="ko-KR" altLang="en-US" sz="800"/>
              <a:t>조치</a:t>
            </a:r>
            <a:endParaRPr lang="en-US" altLang="ko-KR" sz="800" dirty="0"/>
          </a:p>
        </p:txBody>
      </p:sp>
      <p:sp>
        <p:nvSpPr>
          <p:cNvPr id="34" name="모서리가 둥근 사각형 설명선 33"/>
          <p:cNvSpPr/>
          <p:nvPr/>
        </p:nvSpPr>
        <p:spPr>
          <a:xfrm>
            <a:off x="8363126" y="6243992"/>
            <a:ext cx="1447967" cy="356808"/>
          </a:xfrm>
          <a:prstGeom prst="wedgeRoundRectCallout">
            <a:avLst>
              <a:gd name="adj1" fmla="val 26536"/>
              <a:gd name="adj2" fmla="val -204541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014</a:t>
            </a:r>
          </a:p>
          <a:p>
            <a:pPr algn="ctr"/>
            <a:r>
              <a:rPr lang="ko-KR" altLang="en-US" sz="800" dirty="0"/>
              <a:t>긴급호출 이벤트 리스트</a:t>
            </a:r>
            <a:r>
              <a:rPr lang="en-US" altLang="ko-KR" sz="800" dirty="0"/>
              <a:t>/</a:t>
            </a:r>
            <a:r>
              <a:rPr lang="ko-KR" altLang="en-US" sz="800"/>
              <a:t>조치</a:t>
            </a:r>
            <a:endParaRPr lang="en-US" altLang="ko-KR" sz="800" dirty="0"/>
          </a:p>
        </p:txBody>
      </p:sp>
      <p:sp>
        <p:nvSpPr>
          <p:cNvPr id="36" name="모서리가 둥근 사각형 설명선 35"/>
          <p:cNvSpPr/>
          <p:nvPr/>
        </p:nvSpPr>
        <p:spPr>
          <a:xfrm>
            <a:off x="3995248" y="3477311"/>
            <a:ext cx="1447967" cy="356808"/>
          </a:xfrm>
          <a:prstGeom prst="wedgeRoundRectCallout">
            <a:avLst>
              <a:gd name="adj1" fmla="val 8508"/>
              <a:gd name="adj2" fmla="val -273224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</a:t>
            </a:r>
            <a:r>
              <a:rPr lang="ko-KR" altLang="en-US" sz="800"/>
              <a:t>입실 정보 </a:t>
            </a:r>
            <a:r>
              <a:rPr lang="en-US" altLang="ko-KR" sz="800" dirty="0"/>
              <a:t>(</a:t>
            </a:r>
            <a:r>
              <a:rPr lang="ko-KR" altLang="en-US" sz="800"/>
              <a:t>검색결과로</a:t>
            </a:r>
            <a:r>
              <a:rPr lang="en-US" altLang="ko-KR" sz="800" dirty="0"/>
              <a:t>)</a:t>
            </a:r>
          </a:p>
        </p:txBody>
      </p:sp>
      <p:sp>
        <p:nvSpPr>
          <p:cNvPr id="37" name="직사각형 36"/>
          <p:cNvSpPr/>
          <p:nvPr/>
        </p:nvSpPr>
        <p:spPr>
          <a:xfrm>
            <a:off x="410705" y="4124684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98354" y="4441662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498354" y="4203680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315016" y="4441662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518636" y="5493209"/>
            <a:ext cx="1224136" cy="315990"/>
            <a:chOff x="2296344" y="2444725"/>
            <a:chExt cx="1224136" cy="315990"/>
          </a:xfrm>
        </p:grpSpPr>
        <p:sp>
          <p:nvSpPr>
            <p:cNvPr id="4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4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44" name="직사각형 43"/>
          <p:cNvSpPr/>
          <p:nvPr/>
        </p:nvSpPr>
        <p:spPr>
          <a:xfrm>
            <a:off x="410705" y="5959903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498354" y="6276881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46" name="직사각형 45"/>
          <p:cNvSpPr/>
          <p:nvPr/>
        </p:nvSpPr>
        <p:spPr>
          <a:xfrm>
            <a:off x="498354" y="6038899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315016" y="6276881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48" name="그룹 47"/>
          <p:cNvGrpSpPr/>
          <p:nvPr/>
        </p:nvGrpSpPr>
        <p:grpSpPr>
          <a:xfrm>
            <a:off x="518636" y="7328428"/>
            <a:ext cx="1224136" cy="315990"/>
            <a:chOff x="2296344" y="2444725"/>
            <a:chExt cx="1224136" cy="315990"/>
          </a:xfrm>
        </p:grpSpPr>
        <p:sp>
          <p:nvSpPr>
            <p:cNvPr id="49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50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51" name="직사각형 50"/>
          <p:cNvSpPr/>
          <p:nvPr/>
        </p:nvSpPr>
        <p:spPr>
          <a:xfrm>
            <a:off x="410705" y="7795122"/>
            <a:ext cx="1439999" cy="34875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498354" y="787411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1047868" y="538750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68" name="타원 67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69" name="그림 68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70" name="그룹 69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71" name="타원 70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72" name="그림 71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73" name="직사각형 72"/>
          <p:cNvSpPr/>
          <p:nvPr/>
        </p:nvSpPr>
        <p:spPr>
          <a:xfrm>
            <a:off x="7430645" y="2474394"/>
            <a:ext cx="1490435" cy="32973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현장 상황조치</a:t>
            </a:r>
          </a:p>
        </p:txBody>
      </p:sp>
      <p:sp>
        <p:nvSpPr>
          <p:cNvPr id="74" name="모서리가 둥근 사각형 설명선 73"/>
          <p:cNvSpPr/>
          <p:nvPr/>
        </p:nvSpPr>
        <p:spPr>
          <a:xfrm>
            <a:off x="8644927" y="1980605"/>
            <a:ext cx="800850" cy="356808"/>
          </a:xfrm>
          <a:prstGeom prst="wedgeRoundRectCallout">
            <a:avLst>
              <a:gd name="adj1" fmla="val -48551"/>
              <a:gd name="adj2" fmla="val 10584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012</a:t>
            </a:r>
          </a:p>
          <a:p>
            <a:pPr algn="ctr"/>
            <a:r>
              <a:rPr lang="ko-KR" altLang="en-US" sz="800" dirty="0"/>
              <a:t>현장 상황 조치</a:t>
            </a:r>
            <a:endParaRPr lang="en-US" altLang="ko-KR" sz="800" dirty="0"/>
          </a:p>
        </p:txBody>
      </p:sp>
      <p:sp>
        <p:nvSpPr>
          <p:cNvPr id="75" name="직사각형 74"/>
          <p:cNvSpPr/>
          <p:nvPr/>
        </p:nvSpPr>
        <p:spPr>
          <a:xfrm>
            <a:off x="8086962" y="23374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7" name="직사각형 56"/>
          <p:cNvSpPr/>
          <p:nvPr/>
        </p:nvSpPr>
        <p:spPr>
          <a:xfrm>
            <a:off x="9163317" y="23374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8" name="직사각형 57"/>
          <p:cNvSpPr/>
          <p:nvPr/>
        </p:nvSpPr>
        <p:spPr>
          <a:xfrm>
            <a:off x="409454" y="2327968"/>
            <a:ext cx="1439999" cy="207314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전체 현황</a:t>
            </a:r>
            <a:endParaRPr lang="ko-KR" altLang="en-US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직사각형 58"/>
          <p:cNvSpPr/>
          <p:nvPr/>
        </p:nvSpPr>
        <p:spPr>
          <a:xfrm>
            <a:off x="409454" y="2535282"/>
            <a:ext cx="1439999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작업인원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800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명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409454" y="3329983"/>
            <a:ext cx="712685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침범발생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7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건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1136768" y="3329983"/>
            <a:ext cx="712685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긴급호출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24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건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62" name="직선 연결선 61"/>
          <p:cNvCxnSpPr/>
          <p:nvPr/>
        </p:nvCxnSpPr>
        <p:spPr>
          <a:xfrm>
            <a:off x="408800" y="3329983"/>
            <a:ext cx="144671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/>
          <p:cNvCxnSpPr/>
          <p:nvPr/>
        </p:nvCxnSpPr>
        <p:spPr>
          <a:xfrm>
            <a:off x="1135730" y="3368414"/>
            <a:ext cx="2887" cy="74761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5" name="표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2632773"/>
              </p:ext>
            </p:extLst>
          </p:nvPr>
        </p:nvGraphicFramePr>
        <p:xfrm>
          <a:off x="10633534" y="3557155"/>
          <a:ext cx="2088232" cy="7032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상황조치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중복선택 가능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-&gt; [4]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상황조치 팝업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6" name="직사각형 65"/>
          <p:cNvSpPr/>
          <p:nvPr/>
        </p:nvSpPr>
        <p:spPr>
          <a:xfrm>
            <a:off x="2167143" y="30738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7233200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모서리가 둥근 직사각형 3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현장 상황 조치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40" name="표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417814"/>
              </p:ext>
            </p:extLst>
          </p:nvPr>
        </p:nvGraphicFramePr>
        <p:xfrm>
          <a:off x="10633534" y="1272208"/>
          <a:ext cx="2088232" cy="35380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현장상황조치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울림 시나리오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1.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구역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 </a:t>
                      </a:r>
                      <a:r>
                        <a:rPr lang="ko-KR" altLang="en-US" sz="80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층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3. </a:t>
                      </a:r>
                      <a:r>
                        <a:rPr lang="ko-KR" altLang="en-US" sz="80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전체 공사 현장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세가지 선택 중 한가지를 선택하여 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AP </a:t>
                      </a:r>
                      <a:r>
                        <a:rPr lang="ko-KR" altLang="en-US" sz="80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를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울림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(AP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경광등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+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사이렌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algn="l"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스마트폰 울림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algn="l"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연결된 안전밴드 울림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구역 울림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2-2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층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2-3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전체 현장 울림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1776874" y="2838200"/>
            <a:ext cx="7072198" cy="513075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8271801" y="2938246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862592" y="2954938"/>
            <a:ext cx="1800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현장 상황조치</a:t>
            </a:r>
          </a:p>
        </p:txBody>
      </p:sp>
      <p:sp>
        <p:nvSpPr>
          <p:cNvPr id="56" name="직사각형 55"/>
          <p:cNvSpPr/>
          <p:nvPr/>
        </p:nvSpPr>
        <p:spPr>
          <a:xfrm>
            <a:off x="5224073" y="278251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8" name="직사각형 57"/>
          <p:cNvSpPr/>
          <p:nvPr/>
        </p:nvSpPr>
        <p:spPr>
          <a:xfrm>
            <a:off x="1982684" y="4611764"/>
            <a:ext cx="2100343" cy="25922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A-1] / 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A-2] / 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A-3] / 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A-4] / 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A-7]</a:t>
            </a:r>
          </a:p>
          <a:p>
            <a:pPr algn="ctr"/>
            <a:endParaRPr lang="en-US" altLang="ko-KR" sz="12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2400" b="1" dirty="0">
                <a:solidFill>
                  <a:schemeClr val="tx1"/>
                </a:solidFill>
                <a:latin typeface="+mn-ea"/>
              </a:rPr>
              <a:t>울림</a:t>
            </a:r>
          </a:p>
        </p:txBody>
      </p:sp>
      <p:sp>
        <p:nvSpPr>
          <p:cNvPr id="59" name="직사각형 58"/>
          <p:cNvSpPr/>
          <p:nvPr/>
        </p:nvSpPr>
        <p:spPr>
          <a:xfrm>
            <a:off x="4244685" y="4611764"/>
            <a:ext cx="2100343" cy="25922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[4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층 전체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]</a:t>
            </a:r>
          </a:p>
          <a:p>
            <a:pPr algn="ctr"/>
            <a:endParaRPr lang="en-US" altLang="ko-KR" sz="12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2400" b="1" dirty="0">
                <a:solidFill>
                  <a:schemeClr val="tx1"/>
                </a:solidFill>
                <a:latin typeface="+mn-ea"/>
              </a:rPr>
              <a:t>울림</a:t>
            </a:r>
          </a:p>
        </p:txBody>
      </p:sp>
      <p:sp>
        <p:nvSpPr>
          <p:cNvPr id="60" name="직사각형 59"/>
          <p:cNvSpPr/>
          <p:nvPr/>
        </p:nvSpPr>
        <p:spPr>
          <a:xfrm>
            <a:off x="6500470" y="4611764"/>
            <a:ext cx="2100343" cy="25922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전체 현장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]</a:t>
            </a:r>
          </a:p>
          <a:p>
            <a:pPr algn="ctr"/>
            <a:endParaRPr lang="en-US" altLang="ko-KR" sz="12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2400" b="1" dirty="0">
                <a:solidFill>
                  <a:schemeClr val="tx1"/>
                </a:solidFill>
                <a:latin typeface="+mn-ea"/>
              </a:rPr>
              <a:t>울림</a:t>
            </a:r>
          </a:p>
        </p:txBody>
      </p:sp>
      <p:sp>
        <p:nvSpPr>
          <p:cNvPr id="61" name="직사각형 60"/>
          <p:cNvSpPr/>
          <p:nvPr/>
        </p:nvSpPr>
        <p:spPr>
          <a:xfrm>
            <a:off x="1858939" y="3534154"/>
            <a:ext cx="3433049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비상벨 울림</a:t>
            </a:r>
          </a:p>
        </p:txBody>
      </p:sp>
      <p:sp>
        <p:nvSpPr>
          <p:cNvPr id="64" name="직사각형 63"/>
          <p:cNvSpPr/>
          <p:nvPr/>
        </p:nvSpPr>
        <p:spPr>
          <a:xfrm>
            <a:off x="5291988" y="3534154"/>
            <a:ext cx="3433430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관계자 투입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2916892" y="45149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57" name="직선 연결선 56"/>
          <p:cNvCxnSpPr/>
          <p:nvPr/>
        </p:nvCxnSpPr>
        <p:spPr>
          <a:xfrm>
            <a:off x="1862592" y="3917639"/>
            <a:ext cx="6862826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/>
          <p:cNvSpPr/>
          <p:nvPr/>
        </p:nvSpPr>
        <p:spPr>
          <a:xfrm>
            <a:off x="1859780" y="3898152"/>
            <a:ext cx="3425960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072383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모서리가 둥근 직사각형 3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현장 상황 조치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44" name="표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4185445"/>
              </p:ext>
            </p:extLst>
          </p:nvPr>
        </p:nvGraphicFramePr>
        <p:xfrm>
          <a:off x="10633534" y="1277963"/>
          <a:ext cx="2088232" cy="219502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구역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안전관리 담당자 리스트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관리자에서 안전관리 담당자로 선택된 인원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전체 인원 표기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안전관리자 인원수 표기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미선택 상태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(GUI)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5-1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관리자에게 문자 알림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태블릿 기본 문자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App 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5-2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관리자에게 전화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태블릿 기본 전화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App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2" name="직사각형 61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4" name="직사각형 63"/>
          <p:cNvSpPr/>
          <p:nvPr/>
        </p:nvSpPr>
        <p:spPr>
          <a:xfrm>
            <a:off x="1776874" y="2838200"/>
            <a:ext cx="7072198" cy="5130752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8271801" y="2938246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1862592" y="2954938"/>
            <a:ext cx="1800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현장 상황조치</a:t>
            </a:r>
          </a:p>
        </p:txBody>
      </p:sp>
      <p:sp>
        <p:nvSpPr>
          <p:cNvPr id="72" name="직사각형 71"/>
          <p:cNvSpPr/>
          <p:nvPr/>
        </p:nvSpPr>
        <p:spPr>
          <a:xfrm>
            <a:off x="1969751" y="4296544"/>
            <a:ext cx="2391910" cy="280831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>
                <a:solidFill>
                  <a:schemeClr val="tx1"/>
                </a:solidFill>
                <a:latin typeface="+mn-ea"/>
              </a:rPr>
              <a:t>[4</a:t>
            </a:r>
            <a:r>
              <a:rPr lang="ko-KR" altLang="en-US" sz="160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1600" dirty="0">
                <a:solidFill>
                  <a:schemeClr val="tx1"/>
                </a:solidFill>
                <a:latin typeface="+mn-ea"/>
              </a:rPr>
              <a:t>A-1]</a:t>
            </a:r>
          </a:p>
          <a:p>
            <a:pPr algn="ctr"/>
            <a:r>
              <a:rPr lang="ko-KR" altLang="en-US" sz="1600">
                <a:solidFill>
                  <a:schemeClr val="tx1"/>
                </a:solidFill>
                <a:latin typeface="+mn-ea"/>
              </a:rPr>
              <a:t>침범상황 </a:t>
            </a:r>
            <a:r>
              <a:rPr lang="ko-KR" altLang="en-US" sz="1600" dirty="0">
                <a:solidFill>
                  <a:schemeClr val="tx1"/>
                </a:solidFill>
                <a:latin typeface="+mn-ea"/>
              </a:rPr>
              <a:t>발생</a:t>
            </a:r>
            <a:br>
              <a:rPr lang="ko-KR" altLang="en-US" sz="1600" dirty="0">
                <a:solidFill>
                  <a:schemeClr val="tx1"/>
                </a:solidFill>
                <a:latin typeface="+mn-ea"/>
              </a:rPr>
            </a:br>
            <a:endParaRPr lang="ko-KR" altLang="en-US" sz="16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600" dirty="0">
                <a:solidFill>
                  <a:schemeClr val="tx1"/>
                </a:solidFill>
                <a:latin typeface="+mn-ea"/>
              </a:rPr>
              <a:t>퇴실조치 요망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4577686" y="6758667"/>
            <a:ext cx="1970180" cy="346189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 관리자에게 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문자알림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6639954" y="6758667"/>
            <a:ext cx="1970180" cy="346189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 관리자에게 전화</a:t>
            </a:r>
          </a:p>
        </p:txBody>
      </p:sp>
      <p:sp>
        <p:nvSpPr>
          <p:cNvPr id="87" name="직사각형 86"/>
          <p:cNvSpPr/>
          <p:nvPr/>
        </p:nvSpPr>
        <p:spPr>
          <a:xfrm>
            <a:off x="3106042" y="497228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1858939" y="3534154"/>
            <a:ext cx="3433049" cy="3834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  <a:latin typeface="+mn-ea"/>
              </a:rPr>
              <a:t>비상벨 울림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5291988" y="3534154"/>
            <a:ext cx="3433430" cy="38348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관계자 투입</a:t>
            </a:r>
          </a:p>
        </p:txBody>
      </p:sp>
      <p:sp>
        <p:nvSpPr>
          <p:cNvPr id="32" name="직사각형 31"/>
          <p:cNvSpPr/>
          <p:nvPr/>
        </p:nvSpPr>
        <p:spPr>
          <a:xfrm>
            <a:off x="5283750" y="3898152"/>
            <a:ext cx="3425960" cy="10166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6532578" y="392062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" name="왼쪽 대괄호 1"/>
          <p:cNvSpPr/>
          <p:nvPr/>
        </p:nvSpPr>
        <p:spPr>
          <a:xfrm rot="5400000">
            <a:off x="6532274" y="2177627"/>
            <a:ext cx="124207" cy="4031509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4577686" y="4728592"/>
            <a:ext cx="1319058" cy="18722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5981286" y="4728592"/>
            <a:ext cx="1319058" cy="187220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7339113" y="4728592"/>
            <a:ext cx="1319058" cy="18722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4728060" y="4867826"/>
            <a:ext cx="1018310" cy="988412"/>
            <a:chOff x="5710120" y="3868161"/>
            <a:chExt cx="1440160" cy="1397875"/>
          </a:xfrm>
        </p:grpSpPr>
        <p:sp>
          <p:nvSpPr>
            <p:cNvPr id="47" name="직사각형 46"/>
            <p:cNvSpPr/>
            <p:nvPr/>
          </p:nvSpPr>
          <p:spPr>
            <a:xfrm>
              <a:off x="5710120" y="3868161"/>
              <a:ext cx="1440160" cy="139787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8" name="그림 47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12331" y="4105488"/>
              <a:ext cx="1240480" cy="1159263"/>
            </a:xfrm>
            <a:prstGeom prst="rect">
              <a:avLst/>
            </a:prstGeom>
          </p:spPr>
        </p:pic>
      </p:grpSp>
      <p:sp>
        <p:nvSpPr>
          <p:cNvPr id="49" name="TextBox 48"/>
          <p:cNvSpPr txBox="1"/>
          <p:nvPr/>
        </p:nvSpPr>
        <p:spPr>
          <a:xfrm>
            <a:off x="4875367" y="6064132"/>
            <a:ext cx="721351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50" dirty="0">
                <a:latin typeface="+mn-ea"/>
              </a:rPr>
              <a:t>홍길동</a:t>
            </a:r>
            <a:endParaRPr lang="en-US" altLang="ko-KR" sz="1050" dirty="0">
              <a:latin typeface="+mn-ea"/>
            </a:endParaRPr>
          </a:p>
          <a:p>
            <a:pPr algn="ctr"/>
            <a:r>
              <a:rPr lang="ko-KR" altLang="en-US" sz="1050" dirty="0">
                <a:latin typeface="+mn-ea"/>
              </a:rPr>
              <a:t>현장 관리자</a:t>
            </a:r>
            <a:endParaRPr lang="en-US" altLang="ko-KR" sz="1050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536890" y="4322063"/>
            <a:ext cx="2268570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투입 가능한 안전관리자 </a:t>
            </a:r>
            <a:r>
              <a:rPr lang="en-US" altLang="ko-KR" sz="1200" b="1" dirty="0"/>
              <a:t>: 7 </a:t>
            </a:r>
            <a:r>
              <a:rPr lang="ko-KR" altLang="en-US" sz="1200" b="1"/>
              <a:t>명</a:t>
            </a:r>
            <a:endParaRPr lang="ko-KR" altLang="en-US" sz="1200" b="1" dirty="0"/>
          </a:p>
        </p:txBody>
      </p:sp>
      <p:grpSp>
        <p:nvGrpSpPr>
          <p:cNvPr id="50" name="그룹 49"/>
          <p:cNvGrpSpPr/>
          <p:nvPr/>
        </p:nvGrpSpPr>
        <p:grpSpPr>
          <a:xfrm>
            <a:off x="6143268" y="4867826"/>
            <a:ext cx="1018310" cy="988412"/>
            <a:chOff x="5710120" y="3868161"/>
            <a:chExt cx="1440160" cy="1397875"/>
          </a:xfrm>
        </p:grpSpPr>
        <p:sp>
          <p:nvSpPr>
            <p:cNvPr id="51" name="직사각형 50"/>
            <p:cNvSpPr/>
            <p:nvPr/>
          </p:nvSpPr>
          <p:spPr>
            <a:xfrm>
              <a:off x="5710120" y="3868161"/>
              <a:ext cx="1440160" cy="139787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52" name="그림 51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12331" y="4105488"/>
              <a:ext cx="1240480" cy="1159263"/>
            </a:xfrm>
            <a:prstGeom prst="rect">
              <a:avLst/>
            </a:prstGeom>
          </p:spPr>
        </p:pic>
      </p:grpSp>
      <p:sp>
        <p:nvSpPr>
          <p:cNvPr id="53" name="TextBox 52"/>
          <p:cNvSpPr txBox="1"/>
          <p:nvPr/>
        </p:nvSpPr>
        <p:spPr>
          <a:xfrm>
            <a:off x="6290575" y="6064132"/>
            <a:ext cx="721351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50" dirty="0">
                <a:latin typeface="+mn-ea"/>
              </a:rPr>
              <a:t>홍길동</a:t>
            </a:r>
            <a:endParaRPr lang="en-US" altLang="ko-KR" sz="1050" dirty="0">
              <a:latin typeface="+mn-ea"/>
            </a:endParaRPr>
          </a:p>
          <a:p>
            <a:pPr algn="ctr"/>
            <a:r>
              <a:rPr lang="ko-KR" altLang="en-US" sz="1050" dirty="0">
                <a:latin typeface="+mn-ea"/>
              </a:rPr>
              <a:t>현장 관리자</a:t>
            </a:r>
            <a:endParaRPr lang="en-US" altLang="ko-KR" sz="1050" dirty="0">
              <a:latin typeface="+mn-ea"/>
            </a:endParaRPr>
          </a:p>
        </p:txBody>
      </p:sp>
      <p:grpSp>
        <p:nvGrpSpPr>
          <p:cNvPr id="54" name="그룹 53"/>
          <p:cNvGrpSpPr/>
          <p:nvPr/>
        </p:nvGrpSpPr>
        <p:grpSpPr>
          <a:xfrm>
            <a:off x="7494204" y="4867826"/>
            <a:ext cx="1018310" cy="988412"/>
            <a:chOff x="5710120" y="3868161"/>
            <a:chExt cx="1440160" cy="1397875"/>
          </a:xfrm>
        </p:grpSpPr>
        <p:sp>
          <p:nvSpPr>
            <p:cNvPr id="55" name="직사각형 54"/>
            <p:cNvSpPr/>
            <p:nvPr/>
          </p:nvSpPr>
          <p:spPr>
            <a:xfrm>
              <a:off x="5710120" y="3868161"/>
              <a:ext cx="1440160" cy="139787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56" name="그림 55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12331" y="4105488"/>
              <a:ext cx="1240480" cy="1159263"/>
            </a:xfrm>
            <a:prstGeom prst="rect">
              <a:avLst/>
            </a:prstGeom>
          </p:spPr>
        </p:pic>
      </p:grpSp>
      <p:sp>
        <p:nvSpPr>
          <p:cNvPr id="57" name="TextBox 56"/>
          <p:cNvSpPr txBox="1"/>
          <p:nvPr/>
        </p:nvSpPr>
        <p:spPr>
          <a:xfrm>
            <a:off x="7641511" y="6064132"/>
            <a:ext cx="721351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50" dirty="0">
                <a:latin typeface="+mn-ea"/>
              </a:rPr>
              <a:t>홍길동</a:t>
            </a:r>
            <a:endParaRPr lang="en-US" altLang="ko-KR" sz="1050" dirty="0">
              <a:latin typeface="+mn-ea"/>
            </a:endParaRPr>
          </a:p>
          <a:p>
            <a:pPr algn="ctr"/>
            <a:r>
              <a:rPr lang="ko-KR" altLang="en-US" sz="1050" dirty="0">
                <a:latin typeface="+mn-ea"/>
              </a:rPr>
              <a:t>현장 관리자</a:t>
            </a:r>
            <a:endParaRPr lang="en-US" altLang="ko-KR" sz="1050" dirty="0">
              <a:latin typeface="+mn-ea"/>
            </a:endParaRPr>
          </a:p>
        </p:txBody>
      </p:sp>
      <p:sp>
        <p:nvSpPr>
          <p:cNvPr id="58" name="직사각형 57"/>
          <p:cNvSpPr/>
          <p:nvPr/>
        </p:nvSpPr>
        <p:spPr>
          <a:xfrm>
            <a:off x="6366324" y="419153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5147142" y="466022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6558701" y="466022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8" name="직사각형 87"/>
          <p:cNvSpPr/>
          <p:nvPr/>
        </p:nvSpPr>
        <p:spPr>
          <a:xfrm>
            <a:off x="5473876" y="66491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9" name="직사각형 88"/>
          <p:cNvSpPr/>
          <p:nvPr/>
        </p:nvSpPr>
        <p:spPr>
          <a:xfrm>
            <a:off x="7571181" y="66491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90" name="직선 연결선 89"/>
          <p:cNvCxnSpPr/>
          <p:nvPr/>
        </p:nvCxnSpPr>
        <p:spPr>
          <a:xfrm rot="16200000">
            <a:off x="4909118" y="6269368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416376351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013</a:t>
            </a:r>
            <a:endParaRPr lang="ko-KR" altLang="en-US" sz="800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침범발생 이벤트 리스트</a:t>
            </a:r>
            <a:r>
              <a:rPr lang="en-US" altLang="ko-KR" sz="900" dirty="0"/>
              <a:t>/</a:t>
            </a:r>
            <a:r>
              <a:rPr lang="ko-KR" altLang="en-US" sz="900"/>
              <a:t>조치</a:t>
            </a:r>
            <a:endParaRPr lang="ko-KR" altLang="en-US" sz="9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7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7045597" y="2352328"/>
            <a:ext cx="3087636" cy="57858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082076" y="2497892"/>
            <a:ext cx="1678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침범발생 이벤트 내역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35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7136751" y="2964117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8236703" y="3551783"/>
            <a:ext cx="200261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dirty="0">
                <a:latin typeface="+mn-ea"/>
              </a:rPr>
              <a:t>~</a:t>
            </a:r>
            <a:endParaRPr lang="ko-KR" altLang="en-US">
              <a:latin typeface="+mn-ea"/>
            </a:endParaRPr>
          </a:p>
        </p:txBody>
      </p:sp>
      <p:grpSp>
        <p:nvGrpSpPr>
          <p:cNvPr id="14" name="그룹 13"/>
          <p:cNvGrpSpPr/>
          <p:nvPr/>
        </p:nvGrpSpPr>
        <p:grpSpPr>
          <a:xfrm>
            <a:off x="8469111" y="3617448"/>
            <a:ext cx="966349" cy="314875"/>
            <a:chOff x="7378667" y="3534342"/>
            <a:chExt cx="966349" cy="314875"/>
          </a:xfrm>
        </p:grpSpPr>
        <p:sp>
          <p:nvSpPr>
            <p:cNvPr id="15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6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499485" y="3617293"/>
            <a:ext cx="376599" cy="315031"/>
            <a:chOff x="9336569" y="2445684"/>
            <a:chExt cx="376599" cy="315031"/>
          </a:xfrm>
        </p:grpSpPr>
        <p:sp>
          <p:nvSpPr>
            <p:cNvPr id="18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grpSp>
        <p:nvGrpSpPr>
          <p:cNvPr id="20" name="그룹 19"/>
          <p:cNvGrpSpPr/>
          <p:nvPr/>
        </p:nvGrpSpPr>
        <p:grpSpPr>
          <a:xfrm>
            <a:off x="7258350" y="3617448"/>
            <a:ext cx="966349" cy="314875"/>
            <a:chOff x="7378667" y="3534342"/>
            <a:chExt cx="966349" cy="314875"/>
          </a:xfrm>
        </p:grpSpPr>
        <p:sp>
          <p:nvSpPr>
            <p:cNvPr id="21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36751" y="4392770"/>
            <a:ext cx="2932457" cy="769780"/>
            <a:chOff x="7136751" y="4392770"/>
            <a:chExt cx="2932457" cy="769780"/>
          </a:xfrm>
        </p:grpSpPr>
        <p:sp>
          <p:nvSpPr>
            <p:cNvPr id="24" name="모서리가 둥근 직사각형 23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1050" b="1" dirty="0"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700" b="1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미확인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[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제 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1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공장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] 1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층 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A-1 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구역</a:t>
              </a:r>
            </a:p>
          </p:txBody>
        </p:sp>
        <p:sp>
          <p:nvSpPr>
            <p:cNvPr id="29" name="자유형 28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  <p:pic>
          <p:nvPicPr>
            <p:cNvPr id="30" name="그림 2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4611818"/>
              <a:ext cx="376395" cy="310078"/>
            </a:xfrm>
            <a:prstGeom prst="rect">
              <a:avLst/>
            </a:prstGeom>
          </p:spPr>
        </p:pic>
      </p:grpSp>
      <p:grpSp>
        <p:nvGrpSpPr>
          <p:cNvPr id="31" name="그룹 30"/>
          <p:cNvGrpSpPr/>
          <p:nvPr/>
        </p:nvGrpSpPr>
        <p:grpSpPr>
          <a:xfrm>
            <a:off x="7136751" y="5268240"/>
            <a:ext cx="2932457" cy="769780"/>
            <a:chOff x="7136751" y="4392770"/>
            <a:chExt cx="2932457" cy="769780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1050" b="1" dirty="0"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700" b="1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미확인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[</a:t>
              </a:r>
              <a:r>
                <a:rPr lang="ko-KR" altLang="en-US" sz="900"/>
                <a:t>제 </a:t>
              </a:r>
              <a:r>
                <a:rPr lang="en-US" altLang="ko-KR" sz="900" dirty="0"/>
                <a:t>1</a:t>
              </a:r>
              <a:r>
                <a:rPr lang="ko-KR" altLang="en-US" sz="900"/>
                <a:t>공장</a:t>
              </a:r>
              <a:r>
                <a:rPr lang="en-US" altLang="ko-KR" sz="900" dirty="0"/>
                <a:t>] 1</a:t>
              </a:r>
              <a:r>
                <a:rPr lang="ko-KR" altLang="en-US" sz="900"/>
                <a:t>층 </a:t>
              </a:r>
              <a:r>
                <a:rPr lang="en-US" altLang="ko-KR" sz="900" dirty="0"/>
                <a:t>A-1 </a:t>
              </a:r>
              <a:r>
                <a:rPr lang="ko-KR" altLang="en-US" sz="900"/>
                <a:t>구역</a:t>
              </a:r>
            </a:p>
          </p:txBody>
        </p:sp>
        <p:sp>
          <p:nvSpPr>
            <p:cNvPr id="37" name="자유형 36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  <p:pic>
          <p:nvPicPr>
            <p:cNvPr id="38" name="그림 37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4611818"/>
              <a:ext cx="376395" cy="310078"/>
            </a:xfrm>
            <a:prstGeom prst="rect">
              <a:avLst/>
            </a:prstGeom>
          </p:spPr>
        </p:pic>
      </p:grpSp>
      <p:grpSp>
        <p:nvGrpSpPr>
          <p:cNvPr id="39" name="그룹 38"/>
          <p:cNvGrpSpPr/>
          <p:nvPr/>
        </p:nvGrpSpPr>
        <p:grpSpPr>
          <a:xfrm>
            <a:off x="7136751" y="6131341"/>
            <a:ext cx="2932457" cy="769780"/>
            <a:chOff x="7136751" y="4392770"/>
            <a:chExt cx="2932457" cy="769780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1050" b="1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1050" b="1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700" b="1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조치전</a:t>
              </a:r>
              <a:endParaRPr lang="ko-KR" altLang="en-US" sz="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[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제 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1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공장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] 1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층 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A-1 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구역</a:t>
              </a:r>
            </a:p>
          </p:txBody>
        </p:sp>
        <p:sp>
          <p:nvSpPr>
            <p:cNvPr id="45" name="자유형 44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bg1"/>
                </a:solidFill>
                <a:latin typeface="+mj-lt"/>
              </a:endParaRPr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4611818"/>
              <a:ext cx="376395" cy="310078"/>
            </a:xfrm>
            <a:prstGeom prst="rect">
              <a:avLst/>
            </a:prstGeom>
          </p:spPr>
        </p:pic>
      </p:grpSp>
      <p:grpSp>
        <p:nvGrpSpPr>
          <p:cNvPr id="47" name="그룹 46"/>
          <p:cNvGrpSpPr/>
          <p:nvPr/>
        </p:nvGrpSpPr>
        <p:grpSpPr>
          <a:xfrm>
            <a:off x="7136751" y="7223260"/>
            <a:ext cx="2932457" cy="769780"/>
            <a:chOff x="7136751" y="4392770"/>
            <a:chExt cx="2932457" cy="769780"/>
          </a:xfrm>
        </p:grpSpPr>
        <p:sp>
          <p:nvSpPr>
            <p:cNvPr id="48" name="모서리가 둥근 직사각형 47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침범발생 발생</a:t>
              </a:r>
              <a:endParaRPr lang="en-US" altLang="ko-KR" sz="1050" b="1" dirty="0">
                <a:latin typeface="+mj-lt"/>
                <a:ea typeface="맑은 고딕" panose="020B0503020000020004" pitchFamily="50" charset="-127"/>
              </a:endParaRPr>
            </a:p>
            <a:p>
              <a:r>
                <a:rPr lang="ko-KR" altLang="en-US" sz="1050" b="1" dirty="0">
                  <a:latin typeface="+mj-lt"/>
                  <a:ea typeface="맑은 고딕" panose="020B0503020000020004" pitchFamily="50" charset="-127"/>
                </a:rPr>
                <a:t>홍길동 일반출입자</a:t>
              </a:r>
              <a:endParaRPr lang="ko-KR" altLang="en-US" sz="700" b="1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9345176" y="4885308"/>
              <a:ext cx="6319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조치 완료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[</a:t>
              </a:r>
              <a:r>
                <a:rPr lang="ko-KR" altLang="en-US" sz="900"/>
                <a:t>제 </a:t>
              </a:r>
              <a:r>
                <a:rPr lang="en-US" altLang="ko-KR" sz="900" dirty="0"/>
                <a:t>1</a:t>
              </a:r>
              <a:r>
                <a:rPr lang="ko-KR" altLang="en-US" sz="900"/>
                <a:t>공장</a:t>
              </a:r>
              <a:r>
                <a:rPr lang="en-US" altLang="ko-KR" sz="900" dirty="0"/>
                <a:t>] 1</a:t>
              </a:r>
              <a:r>
                <a:rPr lang="ko-KR" altLang="en-US" sz="900"/>
                <a:t>층 </a:t>
              </a:r>
              <a:r>
                <a:rPr lang="en-US" altLang="ko-KR" sz="900" dirty="0"/>
                <a:t>A-1 </a:t>
              </a:r>
              <a:r>
                <a:rPr lang="ko-KR" altLang="en-US" sz="900"/>
                <a:t>구역</a:t>
              </a:r>
            </a:p>
          </p:txBody>
        </p:sp>
        <p:sp>
          <p:nvSpPr>
            <p:cNvPr id="53" name="자유형 52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  <p:pic>
          <p:nvPicPr>
            <p:cNvPr id="54" name="그림 5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811" y="4611818"/>
              <a:ext cx="376395" cy="310078"/>
            </a:xfrm>
            <a:prstGeom prst="rect">
              <a:avLst/>
            </a:prstGeom>
          </p:spPr>
        </p:pic>
      </p:grpSp>
      <p:cxnSp>
        <p:nvCxnSpPr>
          <p:cNvPr id="61" name="직선 연결선 60"/>
          <p:cNvCxnSpPr/>
          <p:nvPr/>
        </p:nvCxnSpPr>
        <p:spPr>
          <a:xfrm>
            <a:off x="7136751" y="7054126"/>
            <a:ext cx="2931482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8069549" y="6937681"/>
            <a:ext cx="1236236" cy="24622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63" name="직사각형 62"/>
          <p:cNvSpPr/>
          <p:nvPr/>
        </p:nvSpPr>
        <p:spPr>
          <a:xfrm>
            <a:off x="8460949" y="22869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64" name="표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8991382"/>
              </p:ext>
            </p:extLst>
          </p:nvPr>
        </p:nvGraphicFramePr>
        <p:xfrm>
          <a:off x="10633534" y="1272208"/>
          <a:ext cx="2088232" cy="21124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구역에서 발생된 이벤트 내역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97007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014</a:t>
            </a:r>
            <a:endParaRPr lang="ko-KR" altLang="en-US" sz="800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긴급호출 이벤트 리스트</a:t>
            </a:r>
            <a:r>
              <a:rPr lang="en-US" altLang="ko-KR" sz="900" dirty="0"/>
              <a:t>/</a:t>
            </a:r>
            <a:r>
              <a:rPr lang="ko-KR" altLang="en-US" sz="900"/>
              <a:t>조치</a:t>
            </a:r>
            <a:endParaRPr lang="ko-KR" altLang="en-US" sz="9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7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7045597" y="2352328"/>
            <a:ext cx="3087636" cy="57858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082076" y="2497892"/>
            <a:ext cx="16786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긴급호출 이벤트 내역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35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7140199" y="2864774"/>
            <a:ext cx="2929009" cy="133465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7136751" y="2964117"/>
            <a:ext cx="293245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+mn-ea"/>
              </a:rPr>
              <a:t>[</a:t>
            </a:r>
            <a:r>
              <a:rPr lang="ko-KR" altLang="en-US" sz="1600" b="1">
                <a:latin typeface="+mn-ea"/>
              </a:rPr>
              <a:t>제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공장</a:t>
            </a:r>
            <a:r>
              <a:rPr lang="en-US" altLang="ko-KR" sz="1600" b="1" dirty="0">
                <a:latin typeface="+mn-ea"/>
              </a:rPr>
              <a:t>]</a:t>
            </a:r>
            <a:r>
              <a:rPr lang="ko-KR" altLang="en-US" sz="1600" b="1">
                <a:latin typeface="+mn-ea"/>
              </a:rPr>
              <a:t>  </a:t>
            </a:r>
            <a:r>
              <a:rPr lang="en-US" altLang="ko-KR" sz="1600" b="1" dirty="0">
                <a:latin typeface="+mn-ea"/>
              </a:rPr>
              <a:t>1</a:t>
            </a:r>
            <a:r>
              <a:rPr lang="ko-KR" altLang="en-US" sz="1600" b="1">
                <a:latin typeface="+mn-ea"/>
              </a:rPr>
              <a:t>층 </a:t>
            </a:r>
            <a:r>
              <a:rPr lang="en-US" altLang="ko-KR" sz="1600" b="1" dirty="0">
                <a:latin typeface="+mn-ea"/>
              </a:rPr>
              <a:t>A-1 </a:t>
            </a:r>
            <a:r>
              <a:rPr lang="ko-KR" altLang="en-US" sz="1600" b="1">
                <a:latin typeface="+mn-ea"/>
              </a:rPr>
              <a:t>구역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8236703" y="3551783"/>
            <a:ext cx="200261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dirty="0">
                <a:latin typeface="+mn-ea"/>
              </a:rPr>
              <a:t>~</a:t>
            </a:r>
            <a:endParaRPr lang="ko-KR" altLang="en-US">
              <a:latin typeface="+mn-ea"/>
            </a:endParaRPr>
          </a:p>
        </p:txBody>
      </p:sp>
      <p:grpSp>
        <p:nvGrpSpPr>
          <p:cNvPr id="14" name="그룹 13"/>
          <p:cNvGrpSpPr/>
          <p:nvPr/>
        </p:nvGrpSpPr>
        <p:grpSpPr>
          <a:xfrm>
            <a:off x="8469111" y="3617448"/>
            <a:ext cx="966349" cy="314875"/>
            <a:chOff x="7378667" y="3534342"/>
            <a:chExt cx="966349" cy="314875"/>
          </a:xfrm>
        </p:grpSpPr>
        <p:sp>
          <p:nvSpPr>
            <p:cNvPr id="15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6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499485" y="3617293"/>
            <a:ext cx="376599" cy="315031"/>
            <a:chOff x="9336569" y="2445684"/>
            <a:chExt cx="376599" cy="315031"/>
          </a:xfrm>
        </p:grpSpPr>
        <p:sp>
          <p:nvSpPr>
            <p:cNvPr id="18" name="Search Box Rectangle"/>
            <p:cNvSpPr>
              <a:spLocks/>
            </p:cNvSpPr>
            <p:nvPr/>
          </p:nvSpPr>
          <p:spPr bwMode="auto">
            <a:xfrm>
              <a:off x="9336569" y="2445684"/>
              <a:ext cx="376599" cy="31503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905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de-DE" sz="1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99800" y="2475235"/>
              <a:ext cx="250136" cy="250136"/>
            </a:xfrm>
            <a:prstGeom prst="rect">
              <a:avLst/>
            </a:prstGeom>
          </p:spPr>
        </p:pic>
      </p:grpSp>
      <p:grpSp>
        <p:nvGrpSpPr>
          <p:cNvPr id="20" name="그룹 19"/>
          <p:cNvGrpSpPr/>
          <p:nvPr/>
        </p:nvGrpSpPr>
        <p:grpSpPr>
          <a:xfrm>
            <a:off x="7258350" y="3617448"/>
            <a:ext cx="966349" cy="314875"/>
            <a:chOff x="7378667" y="3534342"/>
            <a:chExt cx="966349" cy="314875"/>
          </a:xfrm>
        </p:grpSpPr>
        <p:sp>
          <p:nvSpPr>
            <p:cNvPr id="21" name="Search Box Rectangle"/>
            <p:cNvSpPr>
              <a:spLocks/>
            </p:cNvSpPr>
            <p:nvPr/>
          </p:nvSpPr>
          <p:spPr bwMode="auto">
            <a:xfrm>
              <a:off x="7378667" y="3534342"/>
              <a:ext cx="966349" cy="31487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rIns="54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2016.06.01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2" name="Chevron"/>
            <p:cNvSpPr>
              <a:spLocks noChangeAspect="1"/>
            </p:cNvSpPr>
            <p:nvPr/>
          </p:nvSpPr>
          <p:spPr bwMode="auto">
            <a:xfrm>
              <a:off x="8190676" y="365643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3" name="그룹 22"/>
          <p:cNvGrpSpPr/>
          <p:nvPr/>
        </p:nvGrpSpPr>
        <p:grpSpPr>
          <a:xfrm>
            <a:off x="7136751" y="4392770"/>
            <a:ext cx="2932457" cy="769780"/>
            <a:chOff x="7136751" y="4392770"/>
            <a:chExt cx="2932457" cy="769780"/>
          </a:xfrm>
        </p:grpSpPr>
        <p:sp>
          <p:nvSpPr>
            <p:cNvPr id="24" name="모서리가 둥근 직사각형 23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latin typeface="+mj-lt"/>
                </a:rPr>
                <a:t>긴급호출 발생</a:t>
              </a:r>
            </a:p>
            <a:p>
              <a:r>
                <a:rPr lang="ko-KR" altLang="en-US" sz="1050" b="1" dirty="0">
                  <a:latin typeface="+mj-lt"/>
                </a:rPr>
                <a:t>홍길동 일반출입자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미확인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[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제 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1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공장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] 1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층 </a:t>
              </a:r>
              <a:r>
                <a:rPr lang="en-US" altLang="ko-KR" sz="900" dirty="0">
                  <a:latin typeface="+mj-lt"/>
                  <a:ea typeface="맑은 고딕" panose="020B0503020000020004" pitchFamily="50" charset="-127"/>
                </a:rPr>
                <a:t>A-1 </a:t>
              </a:r>
              <a:r>
                <a:rPr lang="ko-KR" altLang="en-US" sz="900">
                  <a:latin typeface="+mj-lt"/>
                  <a:ea typeface="맑은 고딕" panose="020B0503020000020004" pitchFamily="50" charset="-127"/>
                </a:rPr>
                <a:t>구역</a:t>
              </a:r>
            </a:p>
          </p:txBody>
        </p:sp>
        <p:sp>
          <p:nvSpPr>
            <p:cNvPr id="29" name="자유형 28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30" name="그룹 29"/>
          <p:cNvGrpSpPr/>
          <p:nvPr/>
        </p:nvGrpSpPr>
        <p:grpSpPr>
          <a:xfrm>
            <a:off x="7136751" y="5268240"/>
            <a:ext cx="2932457" cy="769780"/>
            <a:chOff x="7136751" y="4392770"/>
            <a:chExt cx="2932457" cy="769780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/>
                <a:t>긴급호출 발생</a:t>
              </a:r>
            </a:p>
            <a:p>
              <a:r>
                <a:rPr lang="ko-KR" altLang="en-US" sz="1050" b="1" dirty="0"/>
                <a:t>홍길동 일반출입자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미확인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[</a:t>
              </a:r>
              <a:r>
                <a:rPr lang="ko-KR" altLang="en-US" sz="900"/>
                <a:t>제 </a:t>
              </a:r>
              <a:r>
                <a:rPr lang="en-US" altLang="ko-KR" sz="900" dirty="0"/>
                <a:t>1</a:t>
              </a:r>
              <a:r>
                <a:rPr lang="ko-KR" altLang="en-US" sz="900"/>
                <a:t>공장</a:t>
              </a:r>
              <a:r>
                <a:rPr lang="en-US" altLang="ko-KR" sz="900" dirty="0"/>
                <a:t>] 1</a:t>
              </a:r>
              <a:r>
                <a:rPr lang="ko-KR" altLang="en-US" sz="900"/>
                <a:t>층 </a:t>
              </a:r>
              <a:r>
                <a:rPr lang="en-US" altLang="ko-KR" sz="900" dirty="0"/>
                <a:t>A-1 </a:t>
              </a:r>
              <a:r>
                <a:rPr lang="ko-KR" altLang="en-US" sz="900"/>
                <a:t>구역</a:t>
              </a:r>
            </a:p>
          </p:txBody>
        </p:sp>
        <p:sp>
          <p:nvSpPr>
            <p:cNvPr id="36" name="자유형 35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7136751" y="6131341"/>
            <a:ext cx="2932457" cy="769780"/>
            <a:chOff x="7136751" y="4392770"/>
            <a:chExt cx="2932457" cy="769780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>
                  <a:solidFill>
                    <a:schemeClr val="bg1"/>
                  </a:solidFill>
                  <a:latin typeface="+mj-lt"/>
                </a:rPr>
                <a:t>긴급호출 발생</a:t>
              </a:r>
            </a:p>
            <a:p>
              <a:r>
                <a:rPr lang="ko-KR" altLang="en-US" sz="1050" b="1" dirty="0">
                  <a:solidFill>
                    <a:schemeClr val="bg1"/>
                  </a:solidFill>
                  <a:latin typeface="+mj-lt"/>
                </a:rPr>
                <a:t>홍길동 일반출입자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9484637" y="4885308"/>
              <a:ext cx="49244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solidFill>
                    <a:schemeClr val="bg1"/>
                  </a:solidFill>
                  <a:latin typeface="+mj-lt"/>
                  <a:ea typeface="맑은 고딕" panose="020B0503020000020004" pitchFamily="50" charset="-127"/>
                </a:rPr>
                <a:t>조치전</a:t>
              </a:r>
              <a:endParaRPr lang="ko-KR" altLang="en-US" sz="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[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제 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1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공장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] 1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층 </a:t>
              </a:r>
              <a:r>
                <a:rPr lang="en-US" altLang="ko-KR" sz="900" dirty="0">
                  <a:solidFill>
                    <a:schemeClr val="bg1"/>
                  </a:solidFill>
                  <a:latin typeface="+mj-lt"/>
                </a:rPr>
                <a:t>A-1 </a:t>
              </a:r>
              <a:r>
                <a:rPr lang="ko-KR" altLang="en-US" sz="900">
                  <a:solidFill>
                    <a:schemeClr val="bg1"/>
                  </a:solidFill>
                  <a:latin typeface="+mj-lt"/>
                </a:rPr>
                <a:t>구역</a:t>
              </a:r>
            </a:p>
          </p:txBody>
        </p:sp>
        <p:sp>
          <p:nvSpPr>
            <p:cNvPr id="43" name="자유형 42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grpSp>
        <p:nvGrpSpPr>
          <p:cNvPr id="44" name="그룹 43"/>
          <p:cNvGrpSpPr/>
          <p:nvPr/>
        </p:nvGrpSpPr>
        <p:grpSpPr>
          <a:xfrm>
            <a:off x="7136751" y="7223260"/>
            <a:ext cx="2932457" cy="769780"/>
            <a:chOff x="7136751" y="4392770"/>
            <a:chExt cx="2932457" cy="769780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7136751" y="4392770"/>
              <a:ext cx="2932457" cy="769780"/>
            </a:xfrm>
            <a:prstGeom prst="roundRect">
              <a:avLst>
                <a:gd name="adj" fmla="val 9429"/>
              </a:avLst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7840960" y="4425310"/>
              <a:ext cx="13099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50" b="1" dirty="0"/>
                <a:t>긴급호출 발생</a:t>
              </a:r>
            </a:p>
            <a:p>
              <a:r>
                <a:rPr lang="ko-KR" altLang="en-US" sz="1050" b="1" dirty="0"/>
                <a:t>홍길동 일반출입자</a:t>
              </a: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9298688" y="4487375"/>
              <a:ext cx="6783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0000.00.00</a:t>
              </a:r>
            </a:p>
            <a:p>
              <a:pPr algn="r"/>
              <a:r>
                <a:rPr lang="en-US" altLang="ko-KR" sz="800" dirty="0">
                  <a:latin typeface="+mj-lt"/>
                  <a:ea typeface="맑은 고딕" panose="020B0503020000020004" pitchFamily="50" charset="-127"/>
                </a:rPr>
                <a:t>14:32:30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345176" y="4885308"/>
              <a:ext cx="63190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800" dirty="0">
                  <a:latin typeface="+mj-lt"/>
                  <a:ea typeface="맑은 고딕" panose="020B0503020000020004" pitchFamily="50" charset="-127"/>
                </a:rPr>
                <a:t>조치 완료</a:t>
              </a:r>
              <a:endParaRPr lang="ko-KR" altLang="en-US" sz="400" dirty="0">
                <a:latin typeface="+mj-lt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840960" y="4885308"/>
              <a:ext cx="142378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/>
                <a:t>[</a:t>
              </a:r>
              <a:r>
                <a:rPr lang="ko-KR" altLang="en-US" sz="900"/>
                <a:t>제 </a:t>
              </a:r>
              <a:r>
                <a:rPr lang="en-US" altLang="ko-KR" sz="900" dirty="0"/>
                <a:t>1</a:t>
              </a:r>
              <a:r>
                <a:rPr lang="ko-KR" altLang="en-US" sz="900"/>
                <a:t>공장</a:t>
              </a:r>
              <a:r>
                <a:rPr lang="en-US" altLang="ko-KR" sz="900" dirty="0"/>
                <a:t>] 1</a:t>
              </a:r>
              <a:r>
                <a:rPr lang="ko-KR" altLang="en-US" sz="900"/>
                <a:t>층 </a:t>
              </a:r>
              <a:r>
                <a:rPr lang="en-US" altLang="ko-KR" sz="900" dirty="0"/>
                <a:t>A-1 </a:t>
              </a:r>
              <a:r>
                <a:rPr lang="ko-KR" altLang="en-US" sz="900"/>
                <a:t>구역</a:t>
              </a:r>
            </a:p>
          </p:txBody>
        </p:sp>
        <p:sp>
          <p:nvSpPr>
            <p:cNvPr id="50" name="자유형 49"/>
            <p:cNvSpPr/>
            <p:nvPr/>
          </p:nvSpPr>
          <p:spPr>
            <a:xfrm>
              <a:off x="7136751" y="4392770"/>
              <a:ext cx="644079" cy="769780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900" b="1" dirty="0" err="1">
                <a:solidFill>
                  <a:schemeClr val="tx1"/>
                </a:solidFill>
                <a:latin typeface="+mj-lt"/>
              </a:endParaRPr>
            </a:p>
          </p:txBody>
        </p:sp>
      </p:grpSp>
      <p:cxnSp>
        <p:nvCxnSpPr>
          <p:cNvPr id="56" name="직선 연결선 55"/>
          <p:cNvCxnSpPr/>
          <p:nvPr/>
        </p:nvCxnSpPr>
        <p:spPr>
          <a:xfrm>
            <a:off x="7136751" y="7054126"/>
            <a:ext cx="2931482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8069549" y="6937681"/>
            <a:ext cx="1236236" cy="24622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58" name="직사각형 57"/>
          <p:cNvSpPr/>
          <p:nvPr/>
        </p:nvSpPr>
        <p:spPr>
          <a:xfrm>
            <a:off x="8460949" y="22869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59" name="표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213635"/>
              </p:ext>
            </p:extLst>
          </p:nvPr>
        </p:nvGraphicFramePr>
        <p:xfrm>
          <a:off x="10633534" y="1272208"/>
          <a:ext cx="2088232" cy="21124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구역에서 발생된 이벤트 내역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60" name="그림 5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8969" y="4592914"/>
            <a:ext cx="428722" cy="353187"/>
          </a:xfrm>
          <a:prstGeom prst="rect">
            <a:avLst/>
          </a:prstGeom>
        </p:spPr>
      </p:pic>
      <p:pic>
        <p:nvPicPr>
          <p:cNvPr id="61" name="그림 6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8969" y="5440491"/>
            <a:ext cx="428722" cy="353187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8969" y="6339637"/>
            <a:ext cx="428722" cy="353187"/>
          </a:xfrm>
          <a:prstGeom prst="rect">
            <a:avLst/>
          </a:prstGeom>
        </p:spPr>
      </p:pic>
      <p:pic>
        <p:nvPicPr>
          <p:cNvPr id="63" name="그림 6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8969" y="7454627"/>
            <a:ext cx="428722" cy="3531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156228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" name="그룹 126"/>
          <p:cNvGrpSpPr/>
          <p:nvPr/>
        </p:nvGrpSpPr>
        <p:grpSpPr>
          <a:xfrm>
            <a:off x="1864295" y="2856385"/>
            <a:ext cx="8279641" cy="5256584"/>
            <a:chOff x="1864295" y="2856385"/>
            <a:chExt cx="8279641" cy="5256584"/>
          </a:xfrm>
        </p:grpSpPr>
        <p:pic>
          <p:nvPicPr>
            <p:cNvPr id="128" name="grid" descr="E:\Users\pwujcik.REDMOND\Desktop\!WIN8\WEBCAM DESKTOP\latest\WORKING\Partner\Guidence\exports\grid-trans.png"/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130" t="16460" r="24868" b="4339"/>
            <a:stretch/>
          </p:blipFill>
          <p:spPr bwMode="auto">
            <a:xfrm>
              <a:off x="1864295" y="2856385"/>
              <a:ext cx="8279641" cy="52565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29" name="그룹 128"/>
            <p:cNvGrpSpPr/>
            <p:nvPr/>
          </p:nvGrpSpPr>
          <p:grpSpPr>
            <a:xfrm>
              <a:off x="3350698" y="3368414"/>
              <a:ext cx="4675084" cy="3687591"/>
              <a:chOff x="3131115" y="3227176"/>
              <a:chExt cx="5372531" cy="4237720"/>
            </a:xfrm>
          </p:grpSpPr>
          <p:sp>
            <p:nvSpPr>
              <p:cNvPr id="130" name="정육면체 129"/>
              <p:cNvSpPr/>
              <p:nvPr/>
            </p:nvSpPr>
            <p:spPr>
              <a:xfrm>
                <a:off x="3278324" y="7032848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1" name="TextBox 130"/>
              <p:cNvSpPr txBox="1"/>
              <p:nvPr/>
            </p:nvSpPr>
            <p:spPr>
              <a:xfrm>
                <a:off x="3489502" y="7038670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" name="정육면체 131"/>
              <p:cNvSpPr/>
              <p:nvPr/>
            </p:nvSpPr>
            <p:spPr>
              <a:xfrm>
                <a:off x="3866771" y="7031555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TextBox 132"/>
              <p:cNvSpPr txBox="1"/>
              <p:nvPr/>
            </p:nvSpPr>
            <p:spPr>
              <a:xfrm>
                <a:off x="4077946" y="7037377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" name="정육면체 133"/>
              <p:cNvSpPr/>
              <p:nvPr/>
            </p:nvSpPr>
            <p:spPr>
              <a:xfrm>
                <a:off x="3131115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" name="정육면체 134"/>
              <p:cNvSpPr/>
              <p:nvPr/>
            </p:nvSpPr>
            <p:spPr>
              <a:xfrm>
                <a:off x="3719562" y="602344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6" name="정육면체 135"/>
              <p:cNvSpPr/>
              <p:nvPr/>
            </p:nvSpPr>
            <p:spPr>
              <a:xfrm>
                <a:off x="4286436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7" name="정육면체 136"/>
              <p:cNvSpPr/>
              <p:nvPr/>
            </p:nvSpPr>
            <p:spPr>
              <a:xfrm>
                <a:off x="4855833" y="5880720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8" name="정육면체 137"/>
              <p:cNvSpPr/>
              <p:nvPr/>
            </p:nvSpPr>
            <p:spPr>
              <a:xfrm>
                <a:off x="6623398" y="32271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9" name="정육면체 138"/>
              <p:cNvSpPr/>
              <p:nvPr/>
            </p:nvSpPr>
            <p:spPr>
              <a:xfrm>
                <a:off x="5260077" y="3436665"/>
                <a:ext cx="1320340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0" name="TextBox 139"/>
              <p:cNvSpPr txBox="1"/>
              <p:nvPr/>
            </p:nvSpPr>
            <p:spPr>
              <a:xfrm>
                <a:off x="5753036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1" name="정육면체 140"/>
              <p:cNvSpPr/>
              <p:nvPr/>
            </p:nvSpPr>
            <p:spPr>
              <a:xfrm>
                <a:off x="6415398" y="3436665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2" name="TextBox 141"/>
              <p:cNvSpPr txBox="1"/>
              <p:nvPr/>
            </p:nvSpPr>
            <p:spPr>
              <a:xfrm>
                <a:off x="6624168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D-3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3" name="정육면체 142"/>
              <p:cNvSpPr/>
              <p:nvPr/>
            </p:nvSpPr>
            <p:spPr>
              <a:xfrm>
                <a:off x="7184024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TextBox 143"/>
              <p:cNvSpPr txBox="1"/>
              <p:nvPr/>
            </p:nvSpPr>
            <p:spPr>
              <a:xfrm>
                <a:off x="7207292" y="4790285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E-5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5" name="정육면체 144"/>
              <p:cNvSpPr/>
              <p:nvPr/>
            </p:nvSpPr>
            <p:spPr>
              <a:xfrm>
                <a:off x="6848894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718286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7" name="정육면체 146"/>
              <p:cNvSpPr/>
              <p:nvPr/>
            </p:nvSpPr>
            <p:spPr>
              <a:xfrm>
                <a:off x="6462806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8" name="TextBox 147"/>
              <p:cNvSpPr txBox="1"/>
              <p:nvPr/>
            </p:nvSpPr>
            <p:spPr>
              <a:xfrm>
                <a:off x="6796782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E-1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9" name="정육면체 148"/>
              <p:cNvSpPr/>
              <p:nvPr/>
            </p:nvSpPr>
            <p:spPr>
              <a:xfrm>
                <a:off x="3872224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0" name="TextBox 149"/>
              <p:cNvSpPr txBox="1"/>
              <p:nvPr/>
            </p:nvSpPr>
            <p:spPr>
              <a:xfrm>
                <a:off x="4068962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1" name="정육면체 150"/>
              <p:cNvSpPr/>
              <p:nvPr/>
            </p:nvSpPr>
            <p:spPr>
              <a:xfrm>
                <a:off x="4460671" y="4928787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2" name="TextBox 151"/>
              <p:cNvSpPr txBox="1"/>
              <p:nvPr/>
            </p:nvSpPr>
            <p:spPr>
              <a:xfrm>
                <a:off x="4657409" y="495223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3" name="정육면체 152"/>
              <p:cNvSpPr/>
              <p:nvPr/>
            </p:nvSpPr>
            <p:spPr>
              <a:xfrm>
                <a:off x="5027545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4" name="TextBox 153"/>
              <p:cNvSpPr txBox="1"/>
              <p:nvPr/>
            </p:nvSpPr>
            <p:spPr>
              <a:xfrm>
                <a:off x="5224281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5" name="정육면체 154"/>
              <p:cNvSpPr/>
              <p:nvPr/>
            </p:nvSpPr>
            <p:spPr>
              <a:xfrm>
                <a:off x="5596942" y="4786064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6" name="TextBox 155"/>
              <p:cNvSpPr txBox="1"/>
              <p:nvPr/>
            </p:nvSpPr>
            <p:spPr>
              <a:xfrm>
                <a:off x="5802177" y="491201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7" name="정육면체 156"/>
              <p:cNvSpPr/>
              <p:nvPr/>
            </p:nvSpPr>
            <p:spPr>
              <a:xfrm>
                <a:off x="7750755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8" name="정육면체 157"/>
              <p:cNvSpPr/>
              <p:nvPr/>
            </p:nvSpPr>
            <p:spPr>
              <a:xfrm>
                <a:off x="7415625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774959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0" name="정육면체 159"/>
              <p:cNvSpPr/>
              <p:nvPr/>
            </p:nvSpPr>
            <p:spPr>
              <a:xfrm>
                <a:off x="7029537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1" name="TextBox 160"/>
              <p:cNvSpPr txBox="1"/>
              <p:nvPr/>
            </p:nvSpPr>
            <p:spPr>
              <a:xfrm>
                <a:off x="7363511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2" name="정육면체 161"/>
              <p:cNvSpPr/>
              <p:nvPr/>
            </p:nvSpPr>
            <p:spPr>
              <a:xfrm>
                <a:off x="5078008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3" name="TextBox 162"/>
              <p:cNvSpPr txBox="1"/>
              <p:nvPr/>
            </p:nvSpPr>
            <p:spPr>
              <a:xfrm>
                <a:off x="528918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4" name="정육면체 163"/>
              <p:cNvSpPr/>
              <p:nvPr/>
            </p:nvSpPr>
            <p:spPr>
              <a:xfrm>
                <a:off x="5644739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5" name="TextBox 164"/>
              <p:cNvSpPr txBox="1"/>
              <p:nvPr/>
            </p:nvSpPr>
            <p:spPr>
              <a:xfrm>
                <a:off x="585591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6" name="직사각형 165"/>
              <p:cNvSpPr/>
              <p:nvPr/>
            </p:nvSpPr>
            <p:spPr>
              <a:xfrm>
                <a:off x="6468780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7" name="직사각형 166"/>
              <p:cNvSpPr/>
              <p:nvPr/>
            </p:nvSpPr>
            <p:spPr>
              <a:xfrm>
                <a:off x="7035511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8" name="직사각형 167"/>
              <p:cNvSpPr/>
              <p:nvPr/>
            </p:nvSpPr>
            <p:spPr>
              <a:xfrm>
                <a:off x="6854452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9" name="직사각형 168"/>
              <p:cNvSpPr/>
              <p:nvPr/>
            </p:nvSpPr>
            <p:spPr>
              <a:xfrm>
                <a:off x="7421183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0" name="직사각형 169"/>
              <p:cNvSpPr/>
              <p:nvPr/>
            </p:nvSpPr>
            <p:spPr>
              <a:xfrm>
                <a:off x="7188177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1" name="직사각형 170"/>
              <p:cNvSpPr/>
              <p:nvPr/>
            </p:nvSpPr>
            <p:spPr>
              <a:xfrm>
                <a:off x="7754908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2" name="TextBox 171"/>
              <p:cNvSpPr txBox="1"/>
              <p:nvPr/>
            </p:nvSpPr>
            <p:spPr>
              <a:xfrm>
                <a:off x="7766730" y="4777272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E-6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3" name="TextBox 172"/>
              <p:cNvSpPr txBox="1"/>
              <p:nvPr/>
            </p:nvSpPr>
            <p:spPr>
              <a:xfrm>
                <a:off x="3342428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4" name="TextBox 173"/>
              <p:cNvSpPr txBox="1"/>
              <p:nvPr/>
            </p:nvSpPr>
            <p:spPr>
              <a:xfrm>
                <a:off x="3930874" y="605212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5" name="TextBox 174"/>
              <p:cNvSpPr txBox="1"/>
              <p:nvPr/>
            </p:nvSpPr>
            <p:spPr>
              <a:xfrm>
                <a:off x="4497746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6" name="TextBox 175"/>
              <p:cNvSpPr txBox="1"/>
              <p:nvPr/>
            </p:nvSpPr>
            <p:spPr>
              <a:xfrm>
                <a:off x="5075642" y="601190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5255107" y="3788495"/>
                <a:ext cx="1117997" cy="100353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9" name="직사각형 8"/>
          <p:cNvSpPr/>
          <p:nvPr/>
        </p:nvSpPr>
        <p:spPr>
          <a:xfrm>
            <a:off x="409454" y="2327968"/>
            <a:ext cx="1439999" cy="207314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전체 현황</a:t>
            </a:r>
            <a:endParaRPr lang="ko-KR" altLang="en-US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09454" y="2535282"/>
            <a:ext cx="1439999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작업인원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800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명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409454" y="3329983"/>
            <a:ext cx="712685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침범발생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7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건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136768" y="3329983"/>
            <a:ext cx="712685" cy="786046"/>
          </a:xfrm>
          <a:prstGeom prst="rect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긴급호출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+mn-ea"/>
              </a:rPr>
              <a:t>24 </a:t>
            </a:r>
            <a:r>
              <a:rPr lang="ko-KR" altLang="en-US" sz="1400" b="1">
                <a:solidFill>
                  <a:schemeClr val="bg1"/>
                </a:solidFill>
                <a:latin typeface="+mn-ea"/>
              </a:rPr>
              <a:t>건</a:t>
            </a:r>
            <a:endParaRPr lang="en-US" altLang="ko-KR" sz="14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4" name="직선 연결선 13"/>
          <p:cNvCxnSpPr/>
          <p:nvPr/>
        </p:nvCxnSpPr>
        <p:spPr>
          <a:xfrm>
            <a:off x="408800" y="3329983"/>
            <a:ext cx="144671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/>
          <p:cNvSpPr/>
          <p:nvPr/>
        </p:nvSpPr>
        <p:spPr>
          <a:xfrm>
            <a:off x="410705" y="4124684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98354" y="4441662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498354" y="4203680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315016" y="4441662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9" name="그룹 18"/>
          <p:cNvGrpSpPr/>
          <p:nvPr/>
        </p:nvGrpSpPr>
        <p:grpSpPr>
          <a:xfrm>
            <a:off x="518636" y="5493209"/>
            <a:ext cx="1224136" cy="315990"/>
            <a:chOff x="2296344" y="2444725"/>
            <a:chExt cx="1224136" cy="315990"/>
          </a:xfrm>
        </p:grpSpPr>
        <p:sp>
          <p:nvSpPr>
            <p:cNvPr id="20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1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2" name="직사각형 21"/>
          <p:cNvSpPr/>
          <p:nvPr/>
        </p:nvSpPr>
        <p:spPr>
          <a:xfrm>
            <a:off x="410705" y="5959903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98354" y="6276881"/>
            <a:ext cx="816662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이벤트 현황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위험지역 현황</a:t>
            </a:r>
          </a:p>
        </p:txBody>
      </p:sp>
      <p:sp>
        <p:nvSpPr>
          <p:cNvPr id="24" name="직사각형 23"/>
          <p:cNvSpPr/>
          <p:nvPr/>
        </p:nvSpPr>
        <p:spPr>
          <a:xfrm>
            <a:off x="498354" y="6038899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315016" y="6276881"/>
            <a:ext cx="461858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5 </a:t>
            </a:r>
            <a:r>
              <a:rPr lang="ko-KR" altLang="en-US" sz="1000">
                <a:latin typeface="+mn-ea"/>
              </a:rPr>
              <a:t>건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4 </a:t>
            </a:r>
            <a:r>
              <a:rPr lang="ko-KR" altLang="en-US" sz="1000">
                <a:latin typeface="+mn-ea"/>
              </a:rPr>
              <a:t>건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26" name="그룹 25"/>
          <p:cNvGrpSpPr/>
          <p:nvPr/>
        </p:nvGrpSpPr>
        <p:grpSpPr>
          <a:xfrm>
            <a:off x="518636" y="7328428"/>
            <a:ext cx="1224136" cy="315990"/>
            <a:chOff x="2296344" y="2444725"/>
            <a:chExt cx="1224136" cy="315990"/>
          </a:xfrm>
        </p:grpSpPr>
        <p:sp>
          <p:nvSpPr>
            <p:cNvPr id="27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8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9" name="직사각형 28"/>
          <p:cNvSpPr/>
          <p:nvPr/>
        </p:nvSpPr>
        <p:spPr>
          <a:xfrm>
            <a:off x="410705" y="7795122"/>
            <a:ext cx="1439999" cy="34875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498354" y="787411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32" name="직선 연결선 31"/>
          <p:cNvCxnSpPr/>
          <p:nvPr/>
        </p:nvCxnSpPr>
        <p:spPr>
          <a:xfrm>
            <a:off x="1135730" y="3368414"/>
            <a:ext cx="2887" cy="747615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8" name="그룹 177"/>
          <p:cNvGrpSpPr/>
          <p:nvPr/>
        </p:nvGrpSpPr>
        <p:grpSpPr>
          <a:xfrm>
            <a:off x="9094931" y="2476891"/>
            <a:ext cx="762252" cy="327237"/>
            <a:chOff x="9094931" y="2476891"/>
            <a:chExt cx="762252" cy="327237"/>
          </a:xfrm>
        </p:grpSpPr>
        <p:grpSp>
          <p:nvGrpSpPr>
            <p:cNvPr id="2" name="그룹 1"/>
            <p:cNvGrpSpPr/>
            <p:nvPr/>
          </p:nvGrpSpPr>
          <p:grpSpPr>
            <a:xfrm>
              <a:off x="9529946" y="2476891"/>
              <a:ext cx="327237" cy="327237"/>
              <a:chOff x="9425136" y="2476891"/>
              <a:chExt cx="432048" cy="432048"/>
            </a:xfrm>
          </p:grpSpPr>
          <p:sp>
            <p:nvSpPr>
              <p:cNvPr id="3" name="타원 2"/>
              <p:cNvSpPr/>
              <p:nvPr/>
            </p:nvSpPr>
            <p:spPr>
              <a:xfrm>
                <a:off x="9425136" y="2476891"/>
                <a:ext cx="432048" cy="432048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4" name="그림 3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08759" y="2560514"/>
                <a:ext cx="264802" cy="264802"/>
              </a:xfrm>
              <a:prstGeom prst="rect">
                <a:avLst/>
              </a:prstGeom>
            </p:spPr>
          </p:pic>
        </p:grpSp>
        <p:grpSp>
          <p:nvGrpSpPr>
            <p:cNvPr id="5" name="그룹 4"/>
            <p:cNvGrpSpPr/>
            <p:nvPr/>
          </p:nvGrpSpPr>
          <p:grpSpPr>
            <a:xfrm>
              <a:off x="9094931" y="2476891"/>
              <a:ext cx="327237" cy="327237"/>
              <a:chOff x="9094931" y="2476891"/>
              <a:chExt cx="327237" cy="327237"/>
            </a:xfrm>
          </p:grpSpPr>
          <p:sp>
            <p:nvSpPr>
              <p:cNvPr id="6" name="타원 5"/>
              <p:cNvSpPr/>
              <p:nvPr/>
            </p:nvSpPr>
            <p:spPr>
              <a:xfrm>
                <a:off x="9094931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7" name="그림 6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161582" y="2540228"/>
                <a:ext cx="193933" cy="193933"/>
              </a:xfrm>
              <a:prstGeom prst="rect">
                <a:avLst/>
              </a:prstGeom>
            </p:spPr>
          </p:pic>
        </p:grpSp>
      </p:grpSp>
      <p:grpSp>
        <p:nvGrpSpPr>
          <p:cNvPr id="86" name="그룹 85"/>
          <p:cNvGrpSpPr/>
          <p:nvPr/>
        </p:nvGrpSpPr>
        <p:grpSpPr>
          <a:xfrm>
            <a:off x="6997474" y="5333735"/>
            <a:ext cx="413865" cy="441031"/>
            <a:chOff x="686354" y="1592796"/>
            <a:chExt cx="417907" cy="445337"/>
          </a:xfrm>
        </p:grpSpPr>
        <p:grpSp>
          <p:nvGrpSpPr>
            <p:cNvPr id="87" name="그룹 86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89" name="타원 88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11780938" y="5279876"/>
                <a:ext cx="305819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  <a:sym typeface="Wingdings" panose="05000000000000000000" pitchFamily="2" charset="2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91" name="이등변 삼각형 90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8" name="그림 87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grpSp>
        <p:nvGrpSpPr>
          <p:cNvPr id="92" name="그룹 91"/>
          <p:cNvGrpSpPr/>
          <p:nvPr/>
        </p:nvGrpSpPr>
        <p:grpSpPr>
          <a:xfrm>
            <a:off x="5752185" y="4427216"/>
            <a:ext cx="412817" cy="439918"/>
            <a:chOff x="11556504" y="5152407"/>
            <a:chExt cx="540060" cy="623472"/>
          </a:xfrm>
        </p:grpSpPr>
        <p:sp>
          <p:nvSpPr>
            <p:cNvPr id="93" name="타원 92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94" name="그림 93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23891" y="5284173"/>
              <a:ext cx="220421" cy="220421"/>
            </a:xfrm>
            <a:prstGeom prst="rect">
              <a:avLst/>
            </a:prstGeom>
          </p:spPr>
        </p:pic>
        <p:sp>
          <p:nvSpPr>
            <p:cNvPr id="95" name="TextBox 94"/>
            <p:cNvSpPr txBox="1"/>
            <p:nvPr/>
          </p:nvSpPr>
          <p:spPr>
            <a:xfrm>
              <a:off x="11720730" y="5262507"/>
              <a:ext cx="371607" cy="2835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10</a:t>
              </a:r>
              <a:endParaRPr lang="ko-KR" altLang="en-US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96" name="이등변 삼각형 95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4764012" y="4516655"/>
            <a:ext cx="412817" cy="439918"/>
            <a:chOff x="11556504" y="5152407"/>
            <a:chExt cx="540060" cy="623472"/>
          </a:xfrm>
        </p:grpSpPr>
        <p:sp>
          <p:nvSpPr>
            <p:cNvPr id="98" name="타원 97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99" name="그림 9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23891" y="5284173"/>
              <a:ext cx="220421" cy="220421"/>
            </a:xfrm>
            <a:prstGeom prst="rect">
              <a:avLst/>
            </a:prstGeom>
          </p:spPr>
        </p:pic>
        <p:sp>
          <p:nvSpPr>
            <p:cNvPr id="100" name="TextBox 99"/>
            <p:cNvSpPr txBox="1"/>
            <p:nvPr/>
          </p:nvSpPr>
          <p:spPr>
            <a:xfrm>
              <a:off x="11720730" y="5262507"/>
              <a:ext cx="371607" cy="2835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10</a:t>
              </a:r>
              <a:endParaRPr lang="ko-KR" altLang="en-US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01" name="이등변 삼각형 100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6944845" y="4317176"/>
            <a:ext cx="413865" cy="441031"/>
            <a:chOff x="686354" y="1592796"/>
            <a:chExt cx="417907" cy="445337"/>
          </a:xfrm>
        </p:grpSpPr>
        <p:grpSp>
          <p:nvGrpSpPr>
            <p:cNvPr id="103" name="그룹 102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105" name="타원 10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TextBox 105"/>
              <p:cNvSpPr txBox="1"/>
              <p:nvPr/>
            </p:nvSpPr>
            <p:spPr>
              <a:xfrm>
                <a:off x="11780938" y="5279876"/>
                <a:ext cx="305819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  <a:sym typeface="Wingdings" panose="05000000000000000000" pitchFamily="2" charset="2"/>
                  </a:rPr>
                  <a:t>6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107" name="이등변 삼각형 106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04" name="그림 10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grpSp>
        <p:nvGrpSpPr>
          <p:cNvPr id="108" name="그룹 107"/>
          <p:cNvGrpSpPr/>
          <p:nvPr/>
        </p:nvGrpSpPr>
        <p:grpSpPr>
          <a:xfrm>
            <a:off x="5280061" y="3219022"/>
            <a:ext cx="413865" cy="441031"/>
            <a:chOff x="686354" y="1592796"/>
            <a:chExt cx="417907" cy="445337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111" name="타원 110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TextBox 111"/>
              <p:cNvSpPr txBox="1"/>
              <p:nvPr/>
            </p:nvSpPr>
            <p:spPr>
              <a:xfrm>
                <a:off x="11780938" y="5279876"/>
                <a:ext cx="305819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  <a:sym typeface="Wingdings" panose="05000000000000000000" pitchFamily="2" charset="2"/>
                  </a:rPr>
                  <a:t>6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113" name="이등변 삼각형 112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0" name="그림 10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sp>
        <p:nvSpPr>
          <p:cNvPr id="114" name="모서리가 둥근 사각형 설명선 113"/>
          <p:cNvSpPr/>
          <p:nvPr/>
        </p:nvSpPr>
        <p:spPr>
          <a:xfrm>
            <a:off x="2021190" y="6059077"/>
            <a:ext cx="1066228" cy="543601"/>
          </a:xfrm>
          <a:prstGeom prst="wedgeRoundRectCallout">
            <a:avLst>
              <a:gd name="adj1" fmla="val 110030"/>
              <a:gd name="adj2" fmla="val -54972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[BOX </a:t>
            </a:r>
            <a:r>
              <a:rPr lang="ko-KR" altLang="en-US" sz="800"/>
              <a:t>터치</a:t>
            </a:r>
            <a:r>
              <a:rPr lang="en-US" altLang="ko-KR" sz="800" dirty="0"/>
              <a:t>]</a:t>
            </a:r>
          </a:p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grpSp>
        <p:nvGrpSpPr>
          <p:cNvPr id="34" name="그룹 33"/>
          <p:cNvGrpSpPr/>
          <p:nvPr/>
        </p:nvGrpSpPr>
        <p:grpSpPr>
          <a:xfrm>
            <a:off x="7590462" y="4306166"/>
            <a:ext cx="817046" cy="440405"/>
            <a:chOff x="7636638" y="4260657"/>
            <a:chExt cx="817046" cy="440405"/>
          </a:xfrm>
        </p:grpSpPr>
        <p:sp>
          <p:nvSpPr>
            <p:cNvPr id="33" name="모서리가 둥근 직사각형 32"/>
            <p:cNvSpPr/>
            <p:nvPr/>
          </p:nvSpPr>
          <p:spPr>
            <a:xfrm>
              <a:off x="7636638" y="4260657"/>
              <a:ext cx="817046" cy="378201"/>
            </a:xfrm>
            <a:prstGeom prst="roundRect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600" dirty="0">
                  <a:solidFill>
                    <a:schemeClr val="bg1"/>
                  </a:solidFill>
                  <a:latin typeface="+mn-ea"/>
                </a:rPr>
                <a:t>침범발생</a:t>
              </a:r>
              <a:endParaRPr lang="en-US" altLang="ko-KR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5 / 4</a:t>
              </a:r>
              <a:endParaRPr lang="ko-KR" altLang="en-US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5" name="이등변 삼각형 114"/>
            <p:cNvSpPr/>
            <p:nvPr/>
          </p:nvSpPr>
          <p:spPr>
            <a:xfrm rot="10800000">
              <a:off x="7718722" y="4652935"/>
              <a:ext cx="60480" cy="48127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7477073" y="4812092"/>
            <a:ext cx="817046" cy="440405"/>
            <a:chOff x="7636638" y="4260657"/>
            <a:chExt cx="817046" cy="440405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7636638" y="4260657"/>
              <a:ext cx="817046" cy="378201"/>
            </a:xfrm>
            <a:prstGeom prst="roundRect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600" dirty="0">
                  <a:solidFill>
                    <a:schemeClr val="bg1"/>
                  </a:solidFill>
                  <a:latin typeface="+mn-ea"/>
                </a:rPr>
                <a:t>긴급호출</a:t>
              </a:r>
              <a:endParaRPr lang="en-US" altLang="ko-KR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ko-KR" sz="600" dirty="0">
                  <a:solidFill>
                    <a:schemeClr val="bg1"/>
                  </a:solidFill>
                  <a:latin typeface="+mn-ea"/>
                </a:rPr>
                <a:t>5 / 4</a:t>
              </a:r>
              <a:endParaRPr lang="ko-KR" altLang="en-US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이등변 삼각형 117"/>
            <p:cNvSpPr/>
            <p:nvPr/>
          </p:nvSpPr>
          <p:spPr>
            <a:xfrm rot="10800000">
              <a:off x="7718722" y="4652935"/>
              <a:ext cx="60480" cy="48127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9" name="모서리가 둥근 직사각형 118"/>
          <p:cNvSpPr/>
          <p:nvPr/>
        </p:nvSpPr>
        <p:spPr>
          <a:xfrm>
            <a:off x="2224337" y="2474394"/>
            <a:ext cx="838815" cy="329734"/>
          </a:xfrm>
          <a:prstGeom prst="roundRect">
            <a:avLst>
              <a:gd name="adj" fmla="val 50000"/>
            </a:avLst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b="1" dirty="0">
                <a:latin typeface="+mn-ea"/>
              </a:rPr>
              <a:t>침범발생</a:t>
            </a: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3110305" y="2474394"/>
            <a:ext cx="838815" cy="329734"/>
          </a:xfrm>
          <a:prstGeom prst="roundRect">
            <a:avLst>
              <a:gd name="adj" fmla="val 50000"/>
            </a:avLst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b="1" dirty="0">
                <a:latin typeface="+mn-ea"/>
              </a:rPr>
              <a:t>긴급호출</a:t>
            </a:r>
          </a:p>
        </p:txBody>
      </p:sp>
      <p:graphicFrame>
        <p:nvGraphicFramePr>
          <p:cNvPr id="121" name="표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064251"/>
              </p:ext>
            </p:extLst>
          </p:nvPr>
        </p:nvGraphicFramePr>
        <p:xfrm>
          <a:off x="10633534" y="1272208"/>
          <a:ext cx="2088232" cy="17457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침범발생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긴급호출 보기 버튼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활성화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비활성화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리스트로 보기 버튼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2" name="직사각형 121"/>
          <p:cNvSpPr/>
          <p:nvPr/>
        </p:nvSpPr>
        <p:spPr>
          <a:xfrm>
            <a:off x="2554304" y="23438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3" name="직사각형 122"/>
          <p:cNvSpPr/>
          <p:nvPr/>
        </p:nvSpPr>
        <p:spPr>
          <a:xfrm>
            <a:off x="9163317" y="233741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25" name="모서리가 둥근 사각형 설명선 124"/>
          <p:cNvSpPr/>
          <p:nvPr/>
        </p:nvSpPr>
        <p:spPr>
          <a:xfrm>
            <a:off x="8528233" y="3899609"/>
            <a:ext cx="1447967" cy="356808"/>
          </a:xfrm>
          <a:prstGeom prst="wedgeRoundRectCallout">
            <a:avLst>
              <a:gd name="adj1" fmla="val -71134"/>
              <a:gd name="adj2" fmla="val 10661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013</a:t>
            </a:r>
          </a:p>
          <a:p>
            <a:pPr algn="ctr"/>
            <a:r>
              <a:rPr lang="ko-KR" altLang="en-US" sz="800" dirty="0"/>
              <a:t>침범발생 이벤트 리스트</a:t>
            </a:r>
            <a:r>
              <a:rPr lang="en-US" altLang="ko-KR" sz="800" dirty="0"/>
              <a:t>/</a:t>
            </a:r>
            <a:r>
              <a:rPr lang="ko-KR" altLang="en-US" sz="800"/>
              <a:t>조치</a:t>
            </a:r>
            <a:endParaRPr lang="en-US" altLang="ko-KR" sz="800" dirty="0"/>
          </a:p>
        </p:txBody>
      </p:sp>
      <p:sp>
        <p:nvSpPr>
          <p:cNvPr id="126" name="모서리가 둥근 사각형 설명선 125"/>
          <p:cNvSpPr/>
          <p:nvPr/>
        </p:nvSpPr>
        <p:spPr>
          <a:xfrm>
            <a:off x="8534564" y="4730163"/>
            <a:ext cx="1447967" cy="356808"/>
          </a:xfrm>
          <a:prstGeom prst="wedgeRoundRectCallout">
            <a:avLst>
              <a:gd name="adj1" fmla="val -74110"/>
              <a:gd name="adj2" fmla="val 57070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014</a:t>
            </a:r>
          </a:p>
          <a:p>
            <a:pPr algn="ctr"/>
            <a:r>
              <a:rPr lang="ko-KR" altLang="en-US" sz="800" dirty="0"/>
              <a:t>긴급호출 이벤트 리스트</a:t>
            </a:r>
            <a:r>
              <a:rPr lang="en-US" altLang="ko-KR" sz="800" dirty="0"/>
              <a:t>/</a:t>
            </a:r>
            <a:r>
              <a:rPr lang="ko-KR" altLang="en-US" sz="800"/>
              <a:t>조치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59359041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모니터링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303879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4" name="표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263662"/>
              </p:ext>
            </p:extLst>
          </p:nvPr>
        </p:nvGraphicFramePr>
        <p:xfrm>
          <a:off x="2117362" y="3072408"/>
          <a:ext cx="7739824" cy="4510799"/>
        </p:xfrm>
        <a:graphic>
          <a:graphicData uri="http://schemas.openxmlformats.org/drawingml/2006/table">
            <a:tbl>
              <a:tblPr/>
              <a:tblGrid>
                <a:gridCol w="3972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72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9454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9159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79189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5704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r>
                        <a:rPr lang="en-US" altLang="ko-KR" sz="8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baseline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상황조치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가스센서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산소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일산화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탄소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메탄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황화수소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온도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습도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배터리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안전밴드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29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32 ℃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29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C-1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31 ℃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29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C-3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30 ℃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629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C-4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예열중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290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E-1</a:t>
                      </a:r>
                    </a:p>
                  </a:txBody>
                  <a:tcPr marL="46800" marR="46800" marT="46800" marB="468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주의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75 ℃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62904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F604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 ℃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6290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LEL%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 ppm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36 ℃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49 %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낮음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19" name="직사각형 18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23" name="그룹 22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4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5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42" name="타원 41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3" name="그림 4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44" name="그룹 43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45" name="타원 44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48" name="직사각형 47"/>
          <p:cNvSpPr/>
          <p:nvPr/>
        </p:nvSpPr>
        <p:spPr>
          <a:xfrm>
            <a:off x="7696944" y="2474394"/>
            <a:ext cx="1224136" cy="32973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현장 상황조치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410705" y="6168752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436459" y="6475981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436459" y="6237999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1253121" y="6475981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53" name="그룹 52"/>
          <p:cNvGrpSpPr/>
          <p:nvPr/>
        </p:nvGrpSpPr>
        <p:grpSpPr>
          <a:xfrm>
            <a:off x="456741" y="7710958"/>
            <a:ext cx="1224136" cy="315990"/>
            <a:chOff x="2296344" y="2444725"/>
            <a:chExt cx="1224136" cy="315990"/>
          </a:xfrm>
        </p:grpSpPr>
        <p:sp>
          <p:nvSpPr>
            <p:cNvPr id="54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55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aphicFrame>
        <p:nvGraphicFramePr>
          <p:cNvPr id="56" name="표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0093815"/>
              </p:ext>
            </p:extLst>
          </p:nvPr>
        </p:nvGraphicFramePr>
        <p:xfrm>
          <a:off x="10633534" y="1272208"/>
          <a:ext cx="2088232" cy="25507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정보가 위험상태일 때 붉은색으로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온도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습도 위험상태일 때 붉은색으로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총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두가지의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단계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높음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보통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낮음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낮음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 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만 붉은색으로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초기 구동 후 약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분간 예열중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예열중임을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예열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남은시간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9" name="직사각형 58"/>
          <p:cNvSpPr/>
          <p:nvPr/>
        </p:nvSpPr>
        <p:spPr>
          <a:xfrm>
            <a:off x="3592488" y="581389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3110305" y="4261607"/>
            <a:ext cx="5306719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8707598" y="295793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7608044" y="581389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3" name="직사각형 62"/>
          <p:cNvSpPr/>
          <p:nvPr/>
        </p:nvSpPr>
        <p:spPr>
          <a:xfrm>
            <a:off x="2523167" y="4261607"/>
            <a:ext cx="421250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4" name="모서리가 둥근 사각형 설명선 63"/>
          <p:cNvSpPr/>
          <p:nvPr/>
        </p:nvSpPr>
        <p:spPr>
          <a:xfrm>
            <a:off x="2724160" y="3752870"/>
            <a:ext cx="800850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65" name="모서리가 둥근 사각형 설명선 64"/>
          <p:cNvSpPr/>
          <p:nvPr/>
        </p:nvSpPr>
        <p:spPr>
          <a:xfrm>
            <a:off x="5487297" y="3778301"/>
            <a:ext cx="1248699" cy="407341"/>
          </a:xfrm>
          <a:prstGeom prst="wedgeRoundRectCallout">
            <a:avLst>
              <a:gd name="adj1" fmla="val -70421"/>
              <a:gd name="adj2" fmla="val 144142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</a:t>
            </a:r>
          </a:p>
        </p:txBody>
      </p:sp>
      <p:sp>
        <p:nvSpPr>
          <p:cNvPr id="66" name="직사각형 65"/>
          <p:cNvSpPr/>
          <p:nvPr/>
        </p:nvSpPr>
        <p:spPr>
          <a:xfrm>
            <a:off x="9163317" y="4261607"/>
            <a:ext cx="559081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7" name="모서리가 둥근 사각형 설명선 66"/>
          <p:cNvSpPr/>
          <p:nvPr/>
        </p:nvSpPr>
        <p:spPr>
          <a:xfrm>
            <a:off x="8372310" y="3778301"/>
            <a:ext cx="1248699" cy="407341"/>
          </a:xfrm>
          <a:prstGeom prst="wedgeRoundRectCallout">
            <a:avLst>
              <a:gd name="adj1" fmla="val 49971"/>
              <a:gd name="adj2" fmla="val 121313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015</a:t>
            </a:r>
          </a:p>
          <a:p>
            <a:pPr algn="ctr"/>
            <a:r>
              <a:rPr lang="ko-KR" altLang="en-US" sz="800" dirty="0"/>
              <a:t>밴드 착용자 정보</a:t>
            </a:r>
          </a:p>
        </p:txBody>
      </p:sp>
      <p:sp>
        <p:nvSpPr>
          <p:cNvPr id="75" name="모서리가 둥근 사각형 설명선 74"/>
          <p:cNvSpPr/>
          <p:nvPr/>
        </p:nvSpPr>
        <p:spPr>
          <a:xfrm>
            <a:off x="8644927" y="1980605"/>
            <a:ext cx="800850" cy="356808"/>
          </a:xfrm>
          <a:prstGeom prst="wedgeRoundRectCallout">
            <a:avLst>
              <a:gd name="adj1" fmla="val -48551"/>
              <a:gd name="adj2" fmla="val 10584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012</a:t>
            </a:r>
          </a:p>
          <a:p>
            <a:pPr algn="ctr"/>
            <a:r>
              <a:rPr lang="ko-KR" altLang="en-US" sz="800" dirty="0"/>
              <a:t>현장 상황 조치</a:t>
            </a:r>
            <a:endParaRPr lang="en-US" altLang="ko-KR" sz="800" dirty="0"/>
          </a:p>
        </p:txBody>
      </p:sp>
      <p:sp>
        <p:nvSpPr>
          <p:cNvPr id="76" name="직사각형 75"/>
          <p:cNvSpPr/>
          <p:nvPr/>
        </p:nvSpPr>
        <p:spPr>
          <a:xfrm>
            <a:off x="3232448" y="53278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9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70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sp>
        <p:nvSpPr>
          <p:cNvPr id="71" name="Tab 3"/>
          <p:cNvSpPr/>
          <p:nvPr/>
        </p:nvSpPr>
        <p:spPr>
          <a:xfrm>
            <a:off x="6222758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cxnSp>
        <p:nvCxnSpPr>
          <p:cNvPr id="72" name="Active Tab Marker"/>
          <p:cNvCxnSpPr>
            <a:cxnSpLocks/>
          </p:cNvCxnSpPr>
          <p:nvPr/>
        </p:nvCxnSpPr>
        <p:spPr bwMode="auto">
          <a:xfrm>
            <a:off x="2127798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ab 3"/>
          <p:cNvSpPr/>
          <p:nvPr/>
        </p:nvSpPr>
        <p:spPr>
          <a:xfrm>
            <a:off x="4850083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  <p:sp>
        <p:nvSpPr>
          <p:cNvPr id="2" name="모서리가 둥근 직사각형 1"/>
          <p:cNvSpPr/>
          <p:nvPr/>
        </p:nvSpPr>
        <p:spPr>
          <a:xfrm>
            <a:off x="4564785" y="5410224"/>
            <a:ext cx="2924013" cy="395599"/>
          </a:xfrm>
          <a:prstGeom prst="roundRect">
            <a:avLst>
              <a:gd name="adj" fmla="val 50000"/>
            </a:avLst>
          </a:prstGeom>
          <a:solidFill>
            <a:schemeClr val="tx1">
              <a:lumMod val="65000"/>
              <a:lumOff val="3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3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시간 </a:t>
            </a:r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32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분 후 완료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5898374" y="529246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68" name="표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6018692"/>
              </p:ext>
            </p:extLst>
          </p:nvPr>
        </p:nvGraphicFramePr>
        <p:xfrm>
          <a:off x="10633534" y="3981971"/>
          <a:ext cx="2088232" cy="7032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상황조치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중복선택 가능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-&gt; [4]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상황조치 팝업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3" name="직사각형 72"/>
          <p:cNvSpPr/>
          <p:nvPr/>
        </p:nvSpPr>
        <p:spPr>
          <a:xfrm>
            <a:off x="2170269" y="29528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2407801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그룹 168"/>
          <p:cNvGrpSpPr/>
          <p:nvPr/>
        </p:nvGrpSpPr>
        <p:grpSpPr>
          <a:xfrm>
            <a:off x="1864295" y="2856385"/>
            <a:ext cx="8279641" cy="5256584"/>
            <a:chOff x="1864295" y="2856385"/>
            <a:chExt cx="8279641" cy="5256584"/>
          </a:xfrm>
        </p:grpSpPr>
        <p:pic>
          <p:nvPicPr>
            <p:cNvPr id="168" name="grid" descr="E:\Users\pwujcik.REDMOND\Desktop\!WIN8\WEBCAM DESKTOP\latest\WORKING\Partner\Guidence\exports\grid-trans.png"/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130" t="16460" r="24868" b="4339"/>
            <a:stretch/>
          </p:blipFill>
          <p:spPr bwMode="auto">
            <a:xfrm>
              <a:off x="1864295" y="2856385"/>
              <a:ext cx="8279641" cy="52565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" name="그룹 19"/>
            <p:cNvGrpSpPr/>
            <p:nvPr/>
          </p:nvGrpSpPr>
          <p:grpSpPr>
            <a:xfrm>
              <a:off x="3350698" y="3368414"/>
              <a:ext cx="4675084" cy="3687591"/>
              <a:chOff x="3131115" y="3227176"/>
              <a:chExt cx="5372531" cy="4237720"/>
            </a:xfrm>
          </p:grpSpPr>
          <p:sp>
            <p:nvSpPr>
              <p:cNvPr id="23" name="정육면체 22"/>
              <p:cNvSpPr/>
              <p:nvPr/>
            </p:nvSpPr>
            <p:spPr>
              <a:xfrm>
                <a:off x="3278324" y="7032848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" name="TextBox 23"/>
              <p:cNvSpPr txBox="1"/>
              <p:nvPr/>
            </p:nvSpPr>
            <p:spPr>
              <a:xfrm>
                <a:off x="3489502" y="7038670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" name="정육면체 24"/>
              <p:cNvSpPr/>
              <p:nvPr/>
            </p:nvSpPr>
            <p:spPr>
              <a:xfrm>
                <a:off x="3866771" y="7031555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6" name="TextBox 25"/>
              <p:cNvSpPr txBox="1"/>
              <p:nvPr/>
            </p:nvSpPr>
            <p:spPr>
              <a:xfrm>
                <a:off x="4077946" y="7037377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7" name="정육면체 26"/>
              <p:cNvSpPr/>
              <p:nvPr/>
            </p:nvSpPr>
            <p:spPr>
              <a:xfrm>
                <a:off x="3131115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" name="정육면체 27"/>
              <p:cNvSpPr/>
              <p:nvPr/>
            </p:nvSpPr>
            <p:spPr>
              <a:xfrm>
                <a:off x="3719562" y="602344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9" name="정육면체 28"/>
              <p:cNvSpPr/>
              <p:nvPr/>
            </p:nvSpPr>
            <p:spPr>
              <a:xfrm>
                <a:off x="4286436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" name="정육면체 29"/>
              <p:cNvSpPr/>
              <p:nvPr/>
            </p:nvSpPr>
            <p:spPr>
              <a:xfrm>
                <a:off x="4855833" y="5880720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" name="정육면체 30"/>
              <p:cNvSpPr/>
              <p:nvPr/>
            </p:nvSpPr>
            <p:spPr>
              <a:xfrm>
                <a:off x="6623398" y="32271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" name="정육면체 31"/>
              <p:cNvSpPr/>
              <p:nvPr/>
            </p:nvSpPr>
            <p:spPr>
              <a:xfrm>
                <a:off x="5260077" y="3436665"/>
                <a:ext cx="1320340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" name="TextBox 32"/>
              <p:cNvSpPr txBox="1"/>
              <p:nvPr/>
            </p:nvSpPr>
            <p:spPr>
              <a:xfrm>
                <a:off x="5753036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" name="정육면체 33"/>
              <p:cNvSpPr/>
              <p:nvPr/>
            </p:nvSpPr>
            <p:spPr>
              <a:xfrm>
                <a:off x="6415398" y="3436665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" name="TextBox 34"/>
              <p:cNvSpPr txBox="1"/>
              <p:nvPr/>
            </p:nvSpPr>
            <p:spPr>
              <a:xfrm>
                <a:off x="6624168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D-3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" name="정육면체 35"/>
              <p:cNvSpPr/>
              <p:nvPr/>
            </p:nvSpPr>
            <p:spPr>
              <a:xfrm>
                <a:off x="7184024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" name="TextBox 36"/>
              <p:cNvSpPr txBox="1"/>
              <p:nvPr/>
            </p:nvSpPr>
            <p:spPr>
              <a:xfrm>
                <a:off x="7207292" y="4790285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E-5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" name="정육면체 37"/>
              <p:cNvSpPr/>
              <p:nvPr/>
            </p:nvSpPr>
            <p:spPr>
              <a:xfrm>
                <a:off x="6848894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" name="TextBox 38"/>
              <p:cNvSpPr txBox="1"/>
              <p:nvPr/>
            </p:nvSpPr>
            <p:spPr>
              <a:xfrm>
                <a:off x="718286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" name="정육면체 39"/>
              <p:cNvSpPr/>
              <p:nvPr/>
            </p:nvSpPr>
            <p:spPr>
              <a:xfrm>
                <a:off x="6462806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6796782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E-1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" name="정육면체 41"/>
              <p:cNvSpPr/>
              <p:nvPr/>
            </p:nvSpPr>
            <p:spPr>
              <a:xfrm>
                <a:off x="3872224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3" name="TextBox 42"/>
              <p:cNvSpPr txBox="1"/>
              <p:nvPr/>
            </p:nvSpPr>
            <p:spPr>
              <a:xfrm>
                <a:off x="4068962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정육면체 43"/>
              <p:cNvSpPr/>
              <p:nvPr/>
            </p:nvSpPr>
            <p:spPr>
              <a:xfrm>
                <a:off x="4460671" y="4928787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TextBox 44"/>
              <p:cNvSpPr txBox="1"/>
              <p:nvPr/>
            </p:nvSpPr>
            <p:spPr>
              <a:xfrm>
                <a:off x="4657409" y="495223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" name="정육면체 45"/>
              <p:cNvSpPr/>
              <p:nvPr/>
            </p:nvSpPr>
            <p:spPr>
              <a:xfrm>
                <a:off x="5027545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5224281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" name="정육면체 47"/>
              <p:cNvSpPr/>
              <p:nvPr/>
            </p:nvSpPr>
            <p:spPr>
              <a:xfrm>
                <a:off x="5596942" y="4786064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5802177" y="491201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" name="정육면체 49"/>
              <p:cNvSpPr/>
              <p:nvPr/>
            </p:nvSpPr>
            <p:spPr>
              <a:xfrm>
                <a:off x="7750755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정육면체 50"/>
              <p:cNvSpPr/>
              <p:nvPr/>
            </p:nvSpPr>
            <p:spPr>
              <a:xfrm>
                <a:off x="7415625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774959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3" name="정육면체 52"/>
              <p:cNvSpPr/>
              <p:nvPr/>
            </p:nvSpPr>
            <p:spPr>
              <a:xfrm>
                <a:off x="7029537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7363511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" name="정육면체 54"/>
              <p:cNvSpPr/>
              <p:nvPr/>
            </p:nvSpPr>
            <p:spPr>
              <a:xfrm>
                <a:off x="5078008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528918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" name="정육면체 56"/>
              <p:cNvSpPr/>
              <p:nvPr/>
            </p:nvSpPr>
            <p:spPr>
              <a:xfrm>
                <a:off x="5644739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585591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" name="직사각형 58"/>
              <p:cNvSpPr/>
              <p:nvPr/>
            </p:nvSpPr>
            <p:spPr>
              <a:xfrm>
                <a:off x="6468780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" name="직사각형 59"/>
              <p:cNvSpPr/>
              <p:nvPr/>
            </p:nvSpPr>
            <p:spPr>
              <a:xfrm>
                <a:off x="7035511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" name="직사각형 60"/>
              <p:cNvSpPr/>
              <p:nvPr/>
            </p:nvSpPr>
            <p:spPr>
              <a:xfrm>
                <a:off x="6854452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" name="직사각형 61"/>
              <p:cNvSpPr/>
              <p:nvPr/>
            </p:nvSpPr>
            <p:spPr>
              <a:xfrm>
                <a:off x="7421183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직사각형 62"/>
              <p:cNvSpPr/>
              <p:nvPr/>
            </p:nvSpPr>
            <p:spPr>
              <a:xfrm>
                <a:off x="7188177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" name="직사각형 63"/>
              <p:cNvSpPr/>
              <p:nvPr/>
            </p:nvSpPr>
            <p:spPr>
              <a:xfrm>
                <a:off x="7754908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7766730" y="4777272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E-6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3342428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3930874" y="605212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4497746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5075642" y="601190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5255107" y="3788495"/>
                <a:ext cx="1117997" cy="100353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" name="직사각형 1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10" name="그룹 9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11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2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3" name="직사각형 12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98354" y="6485730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15016" y="6485730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17" name="그룹 16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18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9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6550513" y="5514853"/>
            <a:ext cx="413865" cy="441031"/>
            <a:chOff x="11556504" y="5152407"/>
            <a:chExt cx="540060" cy="623472"/>
          </a:xfrm>
        </p:grpSpPr>
        <p:sp>
          <p:nvSpPr>
            <p:cNvPr id="72" name="타원 71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1780938" y="5279876"/>
              <a:ext cx="305821" cy="28281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  <p:sp>
          <p:nvSpPr>
            <p:cNvPr id="74" name="이등변 삼각형 73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7469798" y="4368622"/>
            <a:ext cx="421136" cy="439919"/>
            <a:chOff x="7469798" y="4368622"/>
            <a:chExt cx="421136" cy="439919"/>
          </a:xfrm>
        </p:grpSpPr>
        <p:grpSp>
          <p:nvGrpSpPr>
            <p:cNvPr id="76" name="그룹 75"/>
            <p:cNvGrpSpPr/>
            <p:nvPr/>
          </p:nvGrpSpPr>
          <p:grpSpPr>
            <a:xfrm>
              <a:off x="7469798" y="4368622"/>
              <a:ext cx="412820" cy="439919"/>
              <a:chOff x="11556504" y="5152407"/>
              <a:chExt cx="540060" cy="623472"/>
            </a:xfrm>
          </p:grpSpPr>
          <p:sp>
            <p:nvSpPr>
              <p:cNvPr id="83" name="타원 82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84" name="이등변 삼각형 83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77" name="그룹 76"/>
            <p:cNvGrpSpPr/>
            <p:nvPr/>
          </p:nvGrpSpPr>
          <p:grpSpPr>
            <a:xfrm>
              <a:off x="7523055" y="4460736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79" name="모서리가 둥근 직사각형 78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80" name="타원 79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81" name="직선 연결선 80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8" name="TextBox 77"/>
            <p:cNvSpPr txBox="1"/>
            <p:nvPr/>
          </p:nvSpPr>
          <p:spPr>
            <a:xfrm>
              <a:off x="7656574" y="4484277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sp>
        <p:nvSpPr>
          <p:cNvPr id="86" name="직사각형 85"/>
          <p:cNvSpPr/>
          <p:nvPr/>
        </p:nvSpPr>
        <p:spPr>
          <a:xfrm>
            <a:off x="6644378" y="54040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7090082" y="4966529"/>
            <a:ext cx="422804" cy="439919"/>
            <a:chOff x="7090082" y="4966529"/>
            <a:chExt cx="422804" cy="439919"/>
          </a:xfrm>
        </p:grpSpPr>
        <p:grpSp>
          <p:nvGrpSpPr>
            <p:cNvPr id="88" name="그룹 87"/>
            <p:cNvGrpSpPr/>
            <p:nvPr/>
          </p:nvGrpSpPr>
          <p:grpSpPr>
            <a:xfrm>
              <a:off x="7090082" y="4966529"/>
              <a:ext cx="412820" cy="439919"/>
              <a:chOff x="11556504" y="5152407"/>
              <a:chExt cx="540060" cy="623472"/>
            </a:xfrm>
          </p:grpSpPr>
          <p:sp>
            <p:nvSpPr>
              <p:cNvPr id="95" name="타원 9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6" name="이등변 삼각형 95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89" name="그룹 88"/>
            <p:cNvGrpSpPr/>
            <p:nvPr/>
          </p:nvGrpSpPr>
          <p:grpSpPr>
            <a:xfrm>
              <a:off x="7123111" y="5058643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91" name="모서리가 둥근 직사각형 90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2" name="타원 91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93" name="직선 연결선 92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7278526" y="5069338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17" name="그룹 116"/>
          <p:cNvGrpSpPr/>
          <p:nvPr/>
        </p:nvGrpSpPr>
        <p:grpSpPr>
          <a:xfrm>
            <a:off x="6879443" y="5511084"/>
            <a:ext cx="412820" cy="439919"/>
            <a:chOff x="6879443" y="5511084"/>
            <a:chExt cx="412820" cy="439919"/>
          </a:xfrm>
        </p:grpSpPr>
        <p:grpSp>
          <p:nvGrpSpPr>
            <p:cNvPr id="118" name="그룹 117"/>
            <p:cNvGrpSpPr/>
            <p:nvPr/>
          </p:nvGrpSpPr>
          <p:grpSpPr>
            <a:xfrm>
              <a:off x="6879443" y="5511084"/>
              <a:ext cx="412820" cy="439919"/>
              <a:chOff x="11556504" y="5152407"/>
              <a:chExt cx="540060" cy="623472"/>
            </a:xfrm>
          </p:grpSpPr>
          <p:sp>
            <p:nvSpPr>
              <p:cNvPr id="125" name="타원 12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26" name="이등변 삼각형 125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19" name="그룹 118"/>
            <p:cNvGrpSpPr/>
            <p:nvPr/>
          </p:nvGrpSpPr>
          <p:grpSpPr>
            <a:xfrm>
              <a:off x="6923995" y="5603198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121" name="모서리가 둥근 직사각형 120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22" name="타원 121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23" name="직선 연결선 122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직선 연결선 123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0" name="TextBox 119"/>
            <p:cNvSpPr txBox="1"/>
            <p:nvPr/>
          </p:nvSpPr>
          <p:spPr>
            <a:xfrm>
              <a:off x="7042974" y="5617371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27" name="그룹 126"/>
          <p:cNvGrpSpPr/>
          <p:nvPr/>
        </p:nvGrpSpPr>
        <p:grpSpPr>
          <a:xfrm>
            <a:off x="5388749" y="3143379"/>
            <a:ext cx="421136" cy="439919"/>
            <a:chOff x="7469798" y="4368622"/>
            <a:chExt cx="421136" cy="439919"/>
          </a:xfrm>
        </p:grpSpPr>
        <p:grpSp>
          <p:nvGrpSpPr>
            <p:cNvPr id="128" name="그룹 127"/>
            <p:cNvGrpSpPr/>
            <p:nvPr/>
          </p:nvGrpSpPr>
          <p:grpSpPr>
            <a:xfrm>
              <a:off x="7469798" y="4368622"/>
              <a:ext cx="412820" cy="439919"/>
              <a:chOff x="11556504" y="5152407"/>
              <a:chExt cx="540060" cy="623472"/>
            </a:xfrm>
          </p:grpSpPr>
          <p:sp>
            <p:nvSpPr>
              <p:cNvPr id="135" name="타원 13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36" name="이등변 삼각형 135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29" name="그룹 128"/>
            <p:cNvGrpSpPr/>
            <p:nvPr/>
          </p:nvGrpSpPr>
          <p:grpSpPr>
            <a:xfrm>
              <a:off x="7523055" y="4460736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131" name="모서리가 둥근 직사각형 130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32" name="타원 131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33" name="직선 연결선 132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0" name="TextBox 129"/>
            <p:cNvSpPr txBox="1"/>
            <p:nvPr/>
          </p:nvSpPr>
          <p:spPr>
            <a:xfrm>
              <a:off x="7656574" y="4484277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pic>
        <p:nvPicPr>
          <p:cNvPr id="137" name="그림 136"/>
          <p:cNvPicPr>
            <a:picLocks noChangeAspect="1"/>
          </p:cNvPicPr>
          <p:nvPr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0417" y="5625062"/>
            <a:ext cx="211110" cy="211110"/>
          </a:xfrm>
          <a:prstGeom prst="rect">
            <a:avLst/>
          </a:prstGeom>
        </p:spPr>
      </p:pic>
      <p:graphicFrame>
        <p:nvGraphicFramePr>
          <p:cNvPr id="138" name="표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326937"/>
              </p:ext>
            </p:extLst>
          </p:nvPr>
        </p:nvGraphicFramePr>
        <p:xfrm>
          <a:off x="10633534" y="1272208"/>
          <a:ext cx="2088232" cy="35735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공간에 가스센서가 있을 경우 아이콘이 출력되며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설치된 수량이 옆에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스마트밴드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공간에 스마트밴드가 있을 경우 아이콘이 출력되며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수량이 옆에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9" name="그룹 138"/>
          <p:cNvGrpSpPr/>
          <p:nvPr/>
        </p:nvGrpSpPr>
        <p:grpSpPr>
          <a:xfrm>
            <a:off x="11152234" y="1920280"/>
            <a:ext cx="412820" cy="439919"/>
            <a:chOff x="11556504" y="5152407"/>
            <a:chExt cx="540060" cy="623472"/>
          </a:xfrm>
        </p:grpSpPr>
        <p:sp>
          <p:nvSpPr>
            <p:cNvPr id="140" name="타원 139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41" name="이등변 삼각형 140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grpSp>
        <p:nvGrpSpPr>
          <p:cNvPr id="142" name="그룹 141"/>
          <p:cNvGrpSpPr/>
          <p:nvPr/>
        </p:nvGrpSpPr>
        <p:grpSpPr>
          <a:xfrm>
            <a:off x="11205491" y="2012394"/>
            <a:ext cx="241340" cy="206244"/>
            <a:chOff x="7381994" y="979208"/>
            <a:chExt cx="172252" cy="147203"/>
          </a:xfrm>
          <a:solidFill>
            <a:schemeClr val="tx1"/>
          </a:solidFill>
        </p:grpSpPr>
        <p:sp>
          <p:nvSpPr>
            <p:cNvPr id="143" name="모서리가 둥근 직사각형 142"/>
            <p:cNvSpPr/>
            <p:nvPr/>
          </p:nvSpPr>
          <p:spPr>
            <a:xfrm>
              <a:off x="7381994" y="979208"/>
              <a:ext cx="118619" cy="147203"/>
            </a:xfrm>
            <a:prstGeom prst="roundRect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7420055" y="1049431"/>
              <a:ext cx="45719" cy="45719"/>
            </a:xfrm>
            <a:prstGeom prst="ellips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cxnSp>
          <p:nvCxnSpPr>
            <p:cNvPr id="145" name="직선 연결선 144"/>
            <p:cNvCxnSpPr/>
            <p:nvPr/>
          </p:nvCxnSpPr>
          <p:spPr>
            <a:xfrm>
              <a:off x="7471919" y="1023701"/>
              <a:ext cx="54955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/>
            <p:cNvCxnSpPr/>
            <p:nvPr/>
          </p:nvCxnSpPr>
          <p:spPr>
            <a:xfrm>
              <a:off x="7469736" y="1005042"/>
              <a:ext cx="84510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7" name="TextBox 146"/>
          <p:cNvSpPr txBox="1"/>
          <p:nvPr/>
        </p:nvSpPr>
        <p:spPr>
          <a:xfrm>
            <a:off x="11339010" y="2004185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grpSp>
        <p:nvGrpSpPr>
          <p:cNvPr id="148" name="그룹 147"/>
          <p:cNvGrpSpPr/>
          <p:nvPr/>
        </p:nvGrpSpPr>
        <p:grpSpPr>
          <a:xfrm>
            <a:off x="11152234" y="3288432"/>
            <a:ext cx="412820" cy="439919"/>
            <a:chOff x="11556504" y="5152407"/>
            <a:chExt cx="540060" cy="623472"/>
          </a:xfrm>
        </p:grpSpPr>
        <p:sp>
          <p:nvSpPr>
            <p:cNvPr id="149" name="타원 148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50" name="이등변 삼각형 149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sp>
        <p:nvSpPr>
          <p:cNvPr id="151" name="TextBox 150"/>
          <p:cNvSpPr txBox="1"/>
          <p:nvPr/>
        </p:nvSpPr>
        <p:spPr>
          <a:xfrm>
            <a:off x="11339010" y="3372337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pic>
        <p:nvPicPr>
          <p:cNvPr id="152" name="그림 151"/>
          <p:cNvPicPr>
            <a:picLocks noChangeAspect="1"/>
          </p:cNvPicPr>
          <p:nvPr/>
        </p:nvPicPr>
        <p:blipFill>
          <a:blip r:embed="rId3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0544" y="3381104"/>
            <a:ext cx="211110" cy="211110"/>
          </a:xfrm>
          <a:prstGeom prst="rect">
            <a:avLst/>
          </a:prstGeom>
        </p:spPr>
      </p:pic>
      <p:sp>
        <p:nvSpPr>
          <p:cNvPr id="85" name="직사각형 84"/>
          <p:cNvSpPr/>
          <p:nvPr/>
        </p:nvSpPr>
        <p:spPr>
          <a:xfrm>
            <a:off x="7215905" y="48556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53" name="모서리가 둥근 사각형 설명선 152"/>
          <p:cNvSpPr/>
          <p:nvPr/>
        </p:nvSpPr>
        <p:spPr>
          <a:xfrm>
            <a:off x="2021190" y="6059077"/>
            <a:ext cx="1066228" cy="543601"/>
          </a:xfrm>
          <a:prstGeom prst="wedgeRoundRectCallout">
            <a:avLst>
              <a:gd name="adj1" fmla="val 110030"/>
              <a:gd name="adj2" fmla="val -54972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[BOX </a:t>
            </a:r>
            <a:r>
              <a:rPr lang="ko-KR" altLang="en-US" sz="800"/>
              <a:t>터치</a:t>
            </a:r>
            <a:r>
              <a:rPr lang="en-US" altLang="ko-KR" sz="800" dirty="0"/>
              <a:t>]</a:t>
            </a:r>
          </a:p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154" name="모서리가 둥근 사각형 설명선 153"/>
          <p:cNvSpPr/>
          <p:nvPr/>
        </p:nvSpPr>
        <p:spPr>
          <a:xfrm>
            <a:off x="3740103" y="3622394"/>
            <a:ext cx="1248699" cy="407341"/>
          </a:xfrm>
          <a:prstGeom prst="wedgeRoundRectCallout">
            <a:avLst>
              <a:gd name="adj1" fmla="val 97756"/>
              <a:gd name="adj2" fmla="val -124093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</a:t>
            </a:r>
          </a:p>
        </p:txBody>
      </p:sp>
      <p:sp>
        <p:nvSpPr>
          <p:cNvPr id="155" name="모서리가 둥근 사각형 설명선 154"/>
          <p:cNvSpPr/>
          <p:nvPr/>
        </p:nvSpPr>
        <p:spPr>
          <a:xfrm>
            <a:off x="5752500" y="6288496"/>
            <a:ext cx="1248699" cy="407341"/>
          </a:xfrm>
          <a:prstGeom prst="wedgeRoundRectCallout">
            <a:avLst>
              <a:gd name="adj1" fmla="val 26389"/>
              <a:gd name="adj2" fmla="val -194481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015</a:t>
            </a:r>
          </a:p>
          <a:p>
            <a:pPr algn="ctr"/>
            <a:r>
              <a:rPr lang="ko-KR" altLang="en-US" sz="800" dirty="0"/>
              <a:t>밴드 착용자 정보</a:t>
            </a:r>
          </a:p>
        </p:txBody>
      </p:sp>
      <p:grpSp>
        <p:nvGrpSpPr>
          <p:cNvPr id="177" name="그룹 176"/>
          <p:cNvGrpSpPr/>
          <p:nvPr/>
        </p:nvGrpSpPr>
        <p:grpSpPr>
          <a:xfrm>
            <a:off x="9094931" y="2476891"/>
            <a:ext cx="762252" cy="327237"/>
            <a:chOff x="9094931" y="2476891"/>
            <a:chExt cx="762252" cy="327237"/>
          </a:xfrm>
        </p:grpSpPr>
        <p:grpSp>
          <p:nvGrpSpPr>
            <p:cNvPr id="178" name="그룹 177"/>
            <p:cNvGrpSpPr/>
            <p:nvPr/>
          </p:nvGrpSpPr>
          <p:grpSpPr>
            <a:xfrm>
              <a:off x="9529946" y="2476891"/>
              <a:ext cx="327237" cy="327237"/>
              <a:chOff x="9425136" y="2476891"/>
              <a:chExt cx="432048" cy="432048"/>
            </a:xfrm>
          </p:grpSpPr>
          <p:sp>
            <p:nvSpPr>
              <p:cNvPr id="182" name="타원 181"/>
              <p:cNvSpPr/>
              <p:nvPr/>
            </p:nvSpPr>
            <p:spPr>
              <a:xfrm>
                <a:off x="9425136" y="2476891"/>
                <a:ext cx="432048" cy="432048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183" name="그림 182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08759" y="2560514"/>
                <a:ext cx="264802" cy="264802"/>
              </a:xfrm>
              <a:prstGeom prst="rect">
                <a:avLst/>
              </a:prstGeom>
            </p:spPr>
          </p:pic>
        </p:grpSp>
        <p:grpSp>
          <p:nvGrpSpPr>
            <p:cNvPr id="179" name="그룹 178"/>
            <p:cNvGrpSpPr/>
            <p:nvPr/>
          </p:nvGrpSpPr>
          <p:grpSpPr>
            <a:xfrm>
              <a:off x="9094931" y="2476891"/>
              <a:ext cx="327237" cy="327237"/>
              <a:chOff x="9094931" y="2476891"/>
              <a:chExt cx="327237" cy="327237"/>
            </a:xfrm>
          </p:grpSpPr>
          <p:sp>
            <p:nvSpPr>
              <p:cNvPr id="180" name="타원 179"/>
              <p:cNvSpPr/>
              <p:nvPr/>
            </p:nvSpPr>
            <p:spPr>
              <a:xfrm>
                <a:off x="9094931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181" name="그림 180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161582" y="2540228"/>
                <a:ext cx="193933" cy="193933"/>
              </a:xfrm>
              <a:prstGeom prst="rect">
                <a:avLst/>
              </a:prstGeom>
            </p:spPr>
          </p:pic>
        </p:grpSp>
      </p:grpSp>
      <p:sp>
        <p:nvSpPr>
          <p:cNvPr id="184" name="직사각형 18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85" name="직사각형 184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86" name="직사각형 185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10616848" y="5030072"/>
            <a:ext cx="1845377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50" dirty="0"/>
              <a:t>안전밴드의 </a:t>
            </a:r>
            <a:r>
              <a:rPr lang="en-US" altLang="ko-KR" sz="1050" dirty="0"/>
              <a:t>3D </a:t>
            </a:r>
            <a:r>
              <a:rPr lang="ko-KR" altLang="en-US" sz="1050"/>
              <a:t>화면과 동일</a:t>
            </a:r>
            <a:endParaRPr lang="ko-KR" altLang="en-US" sz="1050" dirty="0"/>
          </a:p>
        </p:txBody>
      </p:sp>
      <p:sp>
        <p:nvSpPr>
          <p:cNvPr id="157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158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cxnSp>
        <p:nvCxnSpPr>
          <p:cNvPr id="160" name="Active Tab Marker"/>
          <p:cNvCxnSpPr>
            <a:cxnSpLocks/>
          </p:cNvCxnSpPr>
          <p:nvPr/>
        </p:nvCxnSpPr>
        <p:spPr bwMode="auto">
          <a:xfrm>
            <a:off x="2127798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 3"/>
          <p:cNvSpPr/>
          <p:nvPr/>
        </p:nvSpPr>
        <p:spPr>
          <a:xfrm>
            <a:off x="6222758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sp>
        <p:nvSpPr>
          <p:cNvPr id="161" name="Tab 3"/>
          <p:cNvSpPr/>
          <p:nvPr/>
        </p:nvSpPr>
        <p:spPr>
          <a:xfrm>
            <a:off x="4850083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</p:spTree>
    <p:extLst>
      <p:ext uri="{BB962C8B-B14F-4D97-AF65-F5344CB8AC3E}">
        <p14:creationId xmlns:p14="http://schemas.microsoft.com/office/powerpoint/2010/main" val="204638174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직사각형 61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7048873" y="2352328"/>
            <a:ext cx="3087636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타원 2"/>
          <p:cNvSpPr/>
          <p:nvPr/>
        </p:nvSpPr>
        <p:spPr>
          <a:xfrm>
            <a:off x="8517471" y="8087814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타원 3"/>
          <p:cNvSpPr/>
          <p:nvPr/>
        </p:nvSpPr>
        <p:spPr>
          <a:xfrm>
            <a:off x="8278977" y="8087814"/>
            <a:ext cx="169170" cy="169170"/>
          </a:xfrm>
          <a:prstGeom prst="ellipse">
            <a:avLst/>
          </a:prstGeom>
          <a:solidFill>
            <a:schemeClr val="bg1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" name="타원 4"/>
          <p:cNvSpPr/>
          <p:nvPr/>
        </p:nvSpPr>
        <p:spPr>
          <a:xfrm>
            <a:off x="8755965" y="8087814"/>
            <a:ext cx="169170" cy="16917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7128186" y="4052190"/>
            <a:ext cx="2929009" cy="394191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7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446353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7234109" y="5598422"/>
            <a:ext cx="2658379" cy="2309405"/>
            <a:chOff x="7234109" y="5538948"/>
            <a:chExt cx="2658379" cy="2071405"/>
          </a:xfrm>
        </p:grpSpPr>
        <p:sp>
          <p:nvSpPr>
            <p:cNvPr id="10" name="직사각형 9"/>
            <p:cNvSpPr/>
            <p:nvPr/>
          </p:nvSpPr>
          <p:spPr>
            <a:xfrm>
              <a:off x="7234109" y="5538948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7624116" y="5654559"/>
              <a:ext cx="535403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rgbClr val="404040"/>
                  </a:solidFill>
                  <a:latin typeface="+mn-ea"/>
                </a:rPr>
                <a:t>0</a:t>
              </a:r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ppm</a:t>
              </a:r>
              <a:endPara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7286541" y="5583539"/>
              <a:ext cx="671659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일산화탄소 </a:t>
              </a:r>
              <a:r>
                <a:rPr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(CO)</a:t>
              </a: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8584582" y="5538948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8795859" y="5654559"/>
              <a:ext cx="892872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20.7</a:t>
              </a:r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%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8637014" y="5583539"/>
              <a:ext cx="378309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+mn-ea"/>
                </a:rPr>
                <a:t>산소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en-US" altLang="ko-KR" sz="700" dirty="0">
                  <a:latin typeface="+mn-ea"/>
                </a:rPr>
                <a:t>O</a:t>
              </a:r>
              <a:r>
                <a:rPr lang="en-US" altLang="ko-KR" sz="700" baseline="-25000" dirty="0">
                  <a:latin typeface="+mn-ea"/>
                </a:rPr>
                <a:t>2</a:t>
              </a:r>
              <a:r>
                <a:rPr lang="en-US" altLang="ko-KR" sz="700" b="1" dirty="0">
                  <a:latin typeface="+mn-ea"/>
                </a:rPr>
                <a:t>)</a:t>
              </a: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7234109" y="6231001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7608888" y="6346613"/>
              <a:ext cx="565861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rgbClr val="404040"/>
                  </a:solidFill>
                  <a:latin typeface="+mn-ea"/>
                </a:rPr>
                <a:t>0</a:t>
              </a:r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LEL%</a:t>
              </a:r>
              <a:endPara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7286541" y="6275592"/>
              <a:ext cx="179536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메탄</a:t>
              </a:r>
              <a:endParaRPr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8584582" y="6231001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960166" y="6346613"/>
              <a:ext cx="564257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0</a:t>
              </a:r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ppm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8637014" y="6275592"/>
              <a:ext cx="359073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+mn-ea"/>
                </a:rPr>
                <a:t>황화수소</a:t>
              </a:r>
              <a:endParaRPr lang="en-US" altLang="ko-KR" sz="700" b="1" dirty="0">
                <a:latin typeface="+mn-ea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7234109" y="6923054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8584582" y="6923054"/>
              <a:ext cx="1307906" cy="68729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7286541" y="7006032"/>
              <a:ext cx="179536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온도</a:t>
              </a:r>
              <a:endParaRPr lang="en-US" altLang="ko-KR" sz="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637014" y="7006033"/>
              <a:ext cx="179536" cy="14493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+mn-ea"/>
                </a:rPr>
                <a:t>습도</a:t>
              </a:r>
              <a:endParaRPr lang="en-US" altLang="ko-KR" sz="700" b="1" dirty="0">
                <a:latin typeface="+mn-ea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7595262" y="7024299"/>
              <a:ext cx="593112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rgbClr val="404040"/>
                  </a:solidFill>
                  <a:latin typeface="+mn-ea"/>
                </a:rPr>
                <a:t>27</a:t>
              </a:r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℃</a:t>
              </a:r>
              <a:endPara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8947343" y="7024299"/>
              <a:ext cx="589905" cy="579722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2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55</a:t>
              </a:r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 %</a:t>
              </a:r>
            </a:p>
          </p:txBody>
        </p:sp>
      </p:grpSp>
      <p:sp>
        <p:nvSpPr>
          <p:cNvPr id="28" name="TextBox 27"/>
          <p:cNvSpPr txBox="1"/>
          <p:nvPr/>
        </p:nvSpPr>
        <p:spPr>
          <a:xfrm>
            <a:off x="7234109" y="5318465"/>
            <a:ext cx="998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가스센서 정보</a:t>
            </a:r>
          </a:p>
        </p:txBody>
      </p:sp>
      <p:sp>
        <p:nvSpPr>
          <p:cNvPr id="38" name="직사각형 37"/>
          <p:cNvSpPr/>
          <p:nvPr/>
        </p:nvSpPr>
        <p:spPr>
          <a:xfrm>
            <a:off x="8018087" y="806931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9" name="왼쪽/오른쪽 화살표 38"/>
          <p:cNvSpPr/>
          <p:nvPr/>
        </p:nvSpPr>
        <p:spPr>
          <a:xfrm>
            <a:off x="7048873" y="8174647"/>
            <a:ext cx="3036002" cy="720080"/>
          </a:xfrm>
          <a:prstGeom prst="leftRightArrow">
            <a:avLst/>
          </a:prstGeom>
          <a:solidFill>
            <a:srgbClr val="FFFF00">
              <a:alpha val="4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7128186" y="2869527"/>
            <a:ext cx="2929009" cy="10773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42" name="그룹 41"/>
          <p:cNvGrpSpPr/>
          <p:nvPr/>
        </p:nvGrpSpPr>
        <p:grpSpPr>
          <a:xfrm>
            <a:off x="7252409" y="3021132"/>
            <a:ext cx="684064" cy="663979"/>
            <a:chOff x="7962299" y="2617527"/>
            <a:chExt cx="622093" cy="646131"/>
          </a:xfrm>
        </p:grpSpPr>
        <p:sp>
          <p:nvSpPr>
            <p:cNvPr id="43" name="직사각형 42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" name="그림 43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45" name="TextBox 44"/>
          <p:cNvSpPr txBox="1"/>
          <p:nvPr/>
        </p:nvSpPr>
        <p:spPr>
          <a:xfrm>
            <a:off x="7964153" y="3397132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64153" y="3005154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47" name="모서리가 둥근 직사각형 46"/>
          <p:cNvSpPr/>
          <p:nvPr/>
        </p:nvSpPr>
        <p:spPr>
          <a:xfrm>
            <a:off x="8045651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48" name="모서리가 둥근 직사각형 47"/>
          <p:cNvSpPr/>
          <p:nvPr/>
        </p:nvSpPr>
        <p:spPr>
          <a:xfrm>
            <a:off x="8549849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통제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912732" y="5318465"/>
            <a:ext cx="97975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Gas-103-12-3</a:t>
            </a:r>
            <a:endParaRPr lang="ko-KR" altLang="en-US" sz="1000" dirty="0">
              <a:latin typeface="+mn-ea"/>
              <a:sym typeface="Wingdings" panose="05000000000000000000" pitchFamily="2" charset="2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7681976"/>
              </p:ext>
            </p:extLst>
          </p:nvPr>
        </p:nvGraphicFramePr>
        <p:xfrm>
          <a:off x="10633534" y="1272208"/>
          <a:ext cx="2088232" cy="24105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밴드  아이콘을 눌렀을 때 해당 밴드 착용자의 정보 및 가스센서 정보 슬라이드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팝업창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MAC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정보 노출 및 센싱되는 가스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센싱정보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안전밴드의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센싱정보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일산화탄소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잔량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%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여러대의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밴드를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스와이프로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보기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MAC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번호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>
          <a:xfrm>
            <a:off x="8730055" y="53132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7043234" y="215650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34109" y="4119730"/>
            <a:ext cx="99899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안전밴드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정보</a:t>
            </a:r>
            <a:endParaRPr lang="ko-KR" altLang="en-US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63" name="모서리가 둥근 직사각형 6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015</a:t>
            </a:r>
            <a:endParaRPr lang="ko-KR" altLang="en-US" sz="800" dirty="0">
              <a:latin typeface="+mn-ea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밴드 착용자 정보</a:t>
            </a:r>
            <a:endParaRPr lang="ko-KR" altLang="en-US" sz="900" dirty="0">
              <a:latin typeface="+mn-ea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082076" y="2497892"/>
            <a:ext cx="151355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>
                <a:latin typeface="+mn-ea"/>
              </a:rPr>
              <a:t>3</a:t>
            </a:r>
            <a:r>
              <a:rPr lang="ko-KR" altLang="en-US" sz="1200" b="1">
                <a:latin typeface="+mn-ea"/>
              </a:rPr>
              <a:t>층 </a:t>
            </a:r>
            <a:r>
              <a:rPr lang="en-US" altLang="ko-KR" sz="1200" b="1" dirty="0">
                <a:latin typeface="+mn-ea"/>
              </a:rPr>
              <a:t>C-1 (</a:t>
            </a:r>
            <a:r>
              <a:rPr lang="ko-KR" altLang="en-US" sz="1200" b="1">
                <a:latin typeface="+mn-ea"/>
              </a:rPr>
              <a:t>통제구역</a:t>
            </a:r>
            <a:r>
              <a:rPr lang="en-US" altLang="ko-KR" sz="1200" b="1" dirty="0">
                <a:latin typeface="+mn-ea"/>
              </a:rPr>
              <a:t>)</a:t>
            </a:r>
            <a:endParaRPr lang="ko-KR" altLang="en-US" sz="1200" b="1" dirty="0">
              <a:latin typeface="+mn-ea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3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명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8885481" y="4104772"/>
            <a:ext cx="100700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Band-12-3092</a:t>
            </a:r>
            <a:endParaRPr lang="ko-KR" altLang="en-US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9323998" y="39423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7533470" y="430602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7234109" y="4515963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7947800" y="4515963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9375181" y="4515963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7281604" y="4557320"/>
            <a:ext cx="531092" cy="596186"/>
            <a:chOff x="3120656" y="7372224"/>
            <a:chExt cx="675186" cy="757942"/>
          </a:xfrm>
        </p:grpSpPr>
        <p:pic>
          <p:nvPicPr>
            <p:cNvPr id="57" name="그림 5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9252" y="7372224"/>
              <a:ext cx="474817" cy="474817"/>
            </a:xfrm>
            <a:prstGeom prst="rect">
              <a:avLst/>
            </a:prstGeom>
          </p:spPr>
        </p:pic>
        <p:sp>
          <p:nvSpPr>
            <p:cNvPr id="58" name="TextBox 57"/>
            <p:cNvSpPr txBox="1"/>
            <p:nvPr/>
          </p:nvSpPr>
          <p:spPr>
            <a:xfrm>
              <a:off x="3120656" y="7853167"/>
              <a:ext cx="67518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rgbClr val="E74424"/>
                  </a:solidFill>
                  <a:latin typeface="+mn-ea"/>
                </a:rPr>
                <a:t>49</a:t>
              </a:r>
              <a:r>
                <a:rPr lang="en-US" altLang="ko-KR" sz="1000" dirty="0">
                  <a:latin typeface="+mn-ea"/>
                </a:rPr>
                <a:t> bpm</a:t>
              </a:r>
              <a:endParaRPr lang="ko-KR" altLang="en-US" sz="700" dirty="0">
                <a:latin typeface="+mn-ea"/>
              </a:endParaRPr>
            </a:p>
          </p:txBody>
        </p:sp>
      </p:grpSp>
      <p:pic>
        <p:nvPicPr>
          <p:cNvPr id="59" name="그림 5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5844" y="4515963"/>
            <a:ext cx="463509" cy="463509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8075438" y="4921010"/>
            <a:ext cx="387350" cy="2178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안전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121504" y="4671074"/>
            <a:ext cx="315125" cy="2178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CO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그림 81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67" b="23367"/>
          <a:stretch/>
        </p:blipFill>
        <p:spPr>
          <a:xfrm>
            <a:off x="9561548" y="4689281"/>
            <a:ext cx="291730" cy="155391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9511216" y="4921010"/>
            <a:ext cx="392393" cy="2178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</a:rPr>
              <a:t>75%</a:t>
            </a:r>
            <a:endParaRPr lang="ko-KR" altLang="en-US" sz="700" dirty="0">
              <a:latin typeface="+mn-ea"/>
            </a:endParaRPr>
          </a:p>
        </p:txBody>
      </p:sp>
      <p:sp>
        <p:nvSpPr>
          <p:cNvPr id="66" name="직사각형 65"/>
          <p:cNvSpPr/>
          <p:nvPr/>
        </p:nvSpPr>
        <p:spPr>
          <a:xfrm>
            <a:off x="8661490" y="4515963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7" name="그림 66"/>
          <p:cNvPicPr>
            <a:picLocks noChangeAspect="1"/>
          </p:cNvPicPr>
          <p:nvPr/>
        </p:nvPicPr>
        <p:blipFill>
          <a:blip r:embed="rId8"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15193" y="4624148"/>
            <a:ext cx="361758" cy="36175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8775465" y="4921010"/>
            <a:ext cx="387350" cy="2178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정상</a:t>
            </a:r>
            <a:endParaRPr lang="ko-KR" altLang="en-US" sz="700" dirty="0">
              <a:latin typeface="+mn-ea"/>
            </a:endParaRPr>
          </a:p>
        </p:txBody>
      </p:sp>
      <p:graphicFrame>
        <p:nvGraphicFramePr>
          <p:cNvPr id="71" name="표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360120"/>
              </p:ext>
            </p:extLst>
          </p:nvPr>
        </p:nvGraphicFramePr>
        <p:xfrm>
          <a:off x="10633534" y="3774202"/>
          <a:ext cx="2088232" cy="21662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이동 정보 추가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정상적으로 움직일 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정지한치 몇분인지 표현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2" name="직사각형 71"/>
          <p:cNvSpPr/>
          <p:nvPr/>
        </p:nvSpPr>
        <p:spPr>
          <a:xfrm>
            <a:off x="11068654" y="4343320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3" name="그림 72"/>
          <p:cNvPicPr>
            <a:picLocks noChangeAspect="1"/>
          </p:cNvPicPr>
          <p:nvPr/>
        </p:nvPicPr>
        <p:blipFill>
          <a:blip r:embed="rId8"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22357" y="4451505"/>
            <a:ext cx="361758" cy="36175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1182629" y="4748367"/>
            <a:ext cx="387350" cy="2178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b="1" dirty="0">
                <a:latin typeface="+mn-ea"/>
              </a:rPr>
              <a:t>정상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11068654" y="5050975"/>
            <a:ext cx="666785" cy="651111"/>
          </a:xfrm>
          <a:prstGeom prst="rect">
            <a:avLst/>
          </a:prstGeom>
          <a:solidFill>
            <a:schemeClr val="bg1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1078081" y="5476340"/>
            <a:ext cx="64793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10</a:t>
            </a:r>
            <a:r>
              <a:rPr lang="ko-KR" altLang="en-US" sz="800" b="1">
                <a:latin typeface="+mn-ea"/>
              </a:rPr>
              <a:t>분 경과</a:t>
            </a:r>
            <a:endParaRPr lang="ko-KR" altLang="en-US" sz="200" dirty="0">
              <a:latin typeface="+mn-ea"/>
            </a:endParaRPr>
          </a:p>
        </p:txBody>
      </p:sp>
      <p:pic>
        <p:nvPicPr>
          <p:cNvPr id="81" name="그림 80"/>
          <p:cNvPicPr>
            <a:picLocks noChangeAspect="1"/>
          </p:cNvPicPr>
          <p:nvPr/>
        </p:nvPicPr>
        <p:blipFill>
          <a:blip r:embed="rId9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22241" y="5097001"/>
            <a:ext cx="391153" cy="391153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11733420" y="5099158"/>
            <a:ext cx="934871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700" dirty="0" err="1"/>
              <a:t>몇분동안</a:t>
            </a:r>
            <a:endParaRPr lang="en-US" altLang="ko-KR" sz="700" dirty="0"/>
          </a:p>
          <a:p>
            <a:r>
              <a:rPr lang="ko-KR" altLang="en-US" sz="700" dirty="0"/>
              <a:t>정지상태인지 표기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8896221" y="442547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9434955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3" name="타원 2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" name="그림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5" name="그룹 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6" name="타원 5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8" name="직사각형 7"/>
          <p:cNvSpPr/>
          <p:nvPr/>
        </p:nvSpPr>
        <p:spPr>
          <a:xfrm>
            <a:off x="7696944" y="2474394"/>
            <a:ext cx="1224136" cy="32973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현장 상황조치</a:t>
            </a:r>
          </a:p>
        </p:txBody>
      </p:sp>
      <p:sp>
        <p:nvSpPr>
          <p:cNvPr id="16" name="직사각형 15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24" name="그룹 23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7" name="직사각형 26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98354" y="6485730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315016" y="6485730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3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497043"/>
              </p:ext>
            </p:extLst>
          </p:nvPr>
        </p:nvGraphicFramePr>
        <p:xfrm>
          <a:off x="2117361" y="3072408"/>
          <a:ext cx="7739824" cy="4964289"/>
        </p:xfrm>
        <a:graphic>
          <a:graphicData uri="http://schemas.openxmlformats.org/drawingml/2006/table">
            <a:tbl>
              <a:tblPr/>
              <a:tblGrid>
                <a:gridCol w="293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4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51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855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01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16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541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3275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1587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7236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5581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 상황조치</a:t>
                      </a:r>
                      <a:endParaRPr lang="en-US" altLang="ko-KR" sz="10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착용자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착용자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심박수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배터리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STEL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TWA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동작감지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위험상황</a:t>
                      </a:r>
                    </a:p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발생건수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/ 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미조치 건수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연결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가스센서</a:t>
                      </a:r>
                      <a:endParaRPr lang="en-US" altLang="ko-KR" sz="105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C-1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위험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 / 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C-3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C-4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위험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움직임 없음</a:t>
                      </a:r>
                      <a:endParaRPr lang="en-US" altLang="ko-KR" sz="9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확인요망</a:t>
                      </a:r>
                      <a:endParaRPr lang="en-US" altLang="ko-KR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 / 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C-1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C-3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 bpm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C-4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507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C-4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 bpm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75%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44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2131445" y="7977230"/>
            <a:ext cx="7801180" cy="118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5" name="표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693427"/>
              </p:ext>
            </p:extLst>
          </p:nvPr>
        </p:nvGraphicFramePr>
        <p:xfrm>
          <a:off x="10633534" y="1272208"/>
          <a:ext cx="2088232" cy="227855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밴드 착용자의 위치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STEL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위험값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양호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위험값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양호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위험상황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(emergency)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발생건수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미조치 건수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20%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이하일 때 붉은 표기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동작감지 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="1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모션센서</a:t>
                      </a:r>
                      <a:r>
                        <a:rPr lang="en-US" altLang="ko-KR" sz="800" b="1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움직임이 장시간 없을 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Tx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설정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6" name="직사각형 45"/>
          <p:cNvSpPr/>
          <p:nvPr/>
        </p:nvSpPr>
        <p:spPr>
          <a:xfrm>
            <a:off x="2526382" y="295888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8" name="직사각형 47"/>
          <p:cNvSpPr/>
          <p:nvPr/>
        </p:nvSpPr>
        <p:spPr>
          <a:xfrm>
            <a:off x="2410085" y="4225602"/>
            <a:ext cx="355175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9" name="모서리가 둥근 사각형 설명선 48"/>
          <p:cNvSpPr/>
          <p:nvPr/>
        </p:nvSpPr>
        <p:spPr>
          <a:xfrm>
            <a:off x="2465002" y="3716865"/>
            <a:ext cx="800850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50" name="직사각형 49"/>
          <p:cNvSpPr/>
          <p:nvPr/>
        </p:nvSpPr>
        <p:spPr>
          <a:xfrm>
            <a:off x="2765260" y="4766793"/>
            <a:ext cx="3059476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1" name="모서리가 둥근 사각형 설명선 50"/>
          <p:cNvSpPr/>
          <p:nvPr/>
        </p:nvSpPr>
        <p:spPr>
          <a:xfrm>
            <a:off x="2943035" y="4258056"/>
            <a:ext cx="1095053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015</a:t>
            </a:r>
          </a:p>
          <a:p>
            <a:pPr algn="ctr"/>
            <a:r>
              <a:rPr lang="ko-KR" altLang="en-US" sz="800" dirty="0"/>
              <a:t>밴드 착용자 정보</a:t>
            </a:r>
            <a:endParaRPr lang="en-US" altLang="ko-KR" sz="800" dirty="0"/>
          </a:p>
        </p:txBody>
      </p:sp>
      <p:sp>
        <p:nvSpPr>
          <p:cNvPr id="52" name="직사각형 51"/>
          <p:cNvSpPr/>
          <p:nvPr/>
        </p:nvSpPr>
        <p:spPr>
          <a:xfrm>
            <a:off x="6018757" y="29819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6629709" y="29819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9353783" y="29819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9094582" y="4793615"/>
            <a:ext cx="535687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7" name="모서리가 둥근 사각형 설명선 56"/>
          <p:cNvSpPr/>
          <p:nvPr/>
        </p:nvSpPr>
        <p:spPr>
          <a:xfrm>
            <a:off x="9272358" y="4284878"/>
            <a:ext cx="800850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</a:t>
            </a:r>
            <a:endParaRPr lang="en-US" altLang="ko-KR" sz="800" dirty="0"/>
          </a:p>
        </p:txBody>
      </p:sp>
      <p:sp>
        <p:nvSpPr>
          <p:cNvPr id="58" name="직사각형 57"/>
          <p:cNvSpPr/>
          <p:nvPr/>
        </p:nvSpPr>
        <p:spPr>
          <a:xfrm>
            <a:off x="5276949" y="630475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9" name="직사각형 58"/>
          <p:cNvSpPr/>
          <p:nvPr/>
        </p:nvSpPr>
        <p:spPr>
          <a:xfrm>
            <a:off x="8036802" y="5327260"/>
            <a:ext cx="535687" cy="476836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0" name="모서리가 둥근 사각형 설명선 59"/>
          <p:cNvSpPr/>
          <p:nvPr/>
        </p:nvSpPr>
        <p:spPr>
          <a:xfrm>
            <a:off x="8118693" y="4641686"/>
            <a:ext cx="978626" cy="472893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017</a:t>
            </a:r>
          </a:p>
          <a:p>
            <a:pPr algn="ctr"/>
            <a:r>
              <a:rPr lang="ko-KR" altLang="en-US" sz="800" dirty="0"/>
              <a:t>밴드 착용자</a:t>
            </a:r>
            <a:endParaRPr lang="en-US" altLang="ko-KR" sz="800" dirty="0"/>
          </a:p>
          <a:p>
            <a:pPr algn="ctr"/>
            <a:r>
              <a:rPr lang="ko-KR" altLang="en-US" sz="800" dirty="0"/>
              <a:t>위험사항 내역</a:t>
            </a:r>
            <a:endParaRPr lang="en-US" altLang="ko-KR" sz="800" dirty="0"/>
          </a:p>
        </p:txBody>
      </p:sp>
      <p:sp>
        <p:nvSpPr>
          <p:cNvPr id="62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63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cxnSp>
        <p:nvCxnSpPr>
          <p:cNvPr id="65" name="Active Tab Marker"/>
          <p:cNvCxnSpPr>
            <a:cxnSpLocks/>
          </p:cNvCxnSpPr>
          <p:nvPr/>
        </p:nvCxnSpPr>
        <p:spPr bwMode="auto">
          <a:xfrm>
            <a:off x="3497591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ab 3"/>
          <p:cNvSpPr/>
          <p:nvPr/>
        </p:nvSpPr>
        <p:spPr>
          <a:xfrm>
            <a:off x="6222758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sp>
        <p:nvSpPr>
          <p:cNvPr id="61" name="Tab 3"/>
          <p:cNvSpPr/>
          <p:nvPr/>
        </p:nvSpPr>
        <p:spPr>
          <a:xfrm>
            <a:off x="4850083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  <p:sp>
        <p:nvSpPr>
          <p:cNvPr id="67" name="모서리가 둥근 사각형 설명선 66"/>
          <p:cNvSpPr/>
          <p:nvPr/>
        </p:nvSpPr>
        <p:spPr>
          <a:xfrm>
            <a:off x="6644103" y="4641686"/>
            <a:ext cx="978626" cy="472893"/>
          </a:xfrm>
          <a:prstGeom prst="wedgeRoundRectCallout">
            <a:avLst>
              <a:gd name="adj1" fmla="val 43439"/>
              <a:gd name="adj2" fmla="val 115454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026</a:t>
            </a:r>
          </a:p>
          <a:p>
            <a:pPr algn="ctr"/>
            <a:r>
              <a:rPr lang="ko-KR" altLang="en-US" sz="800" dirty="0" err="1"/>
              <a:t>이동없음</a:t>
            </a:r>
            <a:r>
              <a:rPr lang="ko-KR" altLang="en-US" sz="800" dirty="0"/>
              <a:t> 위험 팝업</a:t>
            </a:r>
            <a:endParaRPr lang="en-US" altLang="ko-KR" sz="800" dirty="0"/>
          </a:p>
        </p:txBody>
      </p:sp>
      <p:graphicFrame>
        <p:nvGraphicFramePr>
          <p:cNvPr id="66" name="표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7882954"/>
              </p:ext>
            </p:extLst>
          </p:nvPr>
        </p:nvGraphicFramePr>
        <p:xfrm>
          <a:off x="10633534" y="3706655"/>
          <a:ext cx="2088232" cy="7032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상황조치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중복선택 가능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 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-&gt; [4]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현장 상황조치 팝업 출력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직사각형 67"/>
          <p:cNvSpPr/>
          <p:nvPr/>
        </p:nvSpPr>
        <p:spPr>
          <a:xfrm>
            <a:off x="2170825" y="295888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82658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8" name="타원 7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9" name="그림 8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grpSp>
        <p:nvGrpSpPr>
          <p:cNvPr id="5" name="그룹 4"/>
          <p:cNvGrpSpPr/>
          <p:nvPr/>
        </p:nvGrpSpPr>
        <p:grpSpPr>
          <a:xfrm>
            <a:off x="9094931" y="2476891"/>
            <a:ext cx="327237" cy="327237"/>
            <a:chOff x="9094931" y="2476891"/>
            <a:chExt cx="327237" cy="327237"/>
          </a:xfrm>
        </p:grpSpPr>
        <p:sp>
          <p:nvSpPr>
            <p:cNvPr id="6" name="타원 5"/>
            <p:cNvSpPr/>
            <p:nvPr/>
          </p:nvSpPr>
          <p:spPr>
            <a:xfrm>
              <a:off x="9094931" y="2476891"/>
              <a:ext cx="327237" cy="327237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61582" y="2540228"/>
              <a:ext cx="193933" cy="193933"/>
            </a:xfrm>
            <a:prstGeom prst="rect">
              <a:avLst/>
            </a:prstGeom>
          </p:spPr>
        </p:pic>
      </p:grpSp>
      <p:sp>
        <p:nvSpPr>
          <p:cNvPr id="17" name="직사각형 16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21" name="직사각형 20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6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7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8" name="직사각형 27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498354" y="6485730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15016" y="6485730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32" name="그룹 31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33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4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1864295" y="2856385"/>
            <a:ext cx="8279641" cy="5256584"/>
            <a:chOff x="1864295" y="2856385"/>
            <a:chExt cx="8279641" cy="5256584"/>
          </a:xfrm>
        </p:grpSpPr>
        <p:pic>
          <p:nvPicPr>
            <p:cNvPr id="36" name="grid" descr="E:\Users\pwujcik.REDMOND\Desktop\!WIN8\WEBCAM DESKTOP\latest\WORKING\Partner\Guidence\exports\grid-trans.png"/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130" t="16460" r="24868" b="4339"/>
            <a:stretch/>
          </p:blipFill>
          <p:spPr bwMode="auto">
            <a:xfrm>
              <a:off x="1864295" y="2856385"/>
              <a:ext cx="8279641" cy="52565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7" name="그룹 36"/>
            <p:cNvGrpSpPr/>
            <p:nvPr/>
          </p:nvGrpSpPr>
          <p:grpSpPr>
            <a:xfrm>
              <a:off x="3350698" y="3368414"/>
              <a:ext cx="4675084" cy="3687591"/>
              <a:chOff x="3131115" y="3227176"/>
              <a:chExt cx="5372531" cy="4237720"/>
            </a:xfrm>
          </p:grpSpPr>
          <p:sp>
            <p:nvSpPr>
              <p:cNvPr id="38" name="정육면체 37"/>
              <p:cNvSpPr/>
              <p:nvPr/>
            </p:nvSpPr>
            <p:spPr>
              <a:xfrm>
                <a:off x="3278324" y="7032848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" name="TextBox 38"/>
              <p:cNvSpPr txBox="1"/>
              <p:nvPr/>
            </p:nvSpPr>
            <p:spPr>
              <a:xfrm>
                <a:off x="3489502" y="7038670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" name="정육면체 39"/>
              <p:cNvSpPr/>
              <p:nvPr/>
            </p:nvSpPr>
            <p:spPr>
              <a:xfrm>
                <a:off x="3866771" y="7031555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4077946" y="7037377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" name="정육면체 41"/>
              <p:cNvSpPr/>
              <p:nvPr/>
            </p:nvSpPr>
            <p:spPr>
              <a:xfrm>
                <a:off x="3131115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3" name="정육면체 42"/>
              <p:cNvSpPr/>
              <p:nvPr/>
            </p:nvSpPr>
            <p:spPr>
              <a:xfrm>
                <a:off x="3719562" y="602344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정육면체 43"/>
              <p:cNvSpPr/>
              <p:nvPr/>
            </p:nvSpPr>
            <p:spPr>
              <a:xfrm>
                <a:off x="4286436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정육면체 44"/>
              <p:cNvSpPr/>
              <p:nvPr/>
            </p:nvSpPr>
            <p:spPr>
              <a:xfrm>
                <a:off x="4855833" y="5880720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" name="정육면체 45"/>
              <p:cNvSpPr/>
              <p:nvPr/>
            </p:nvSpPr>
            <p:spPr>
              <a:xfrm>
                <a:off x="6623398" y="32271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7" name="정육면체 46"/>
              <p:cNvSpPr/>
              <p:nvPr/>
            </p:nvSpPr>
            <p:spPr>
              <a:xfrm>
                <a:off x="5260077" y="3436665"/>
                <a:ext cx="1320340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5753036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정육면체 48"/>
              <p:cNvSpPr/>
              <p:nvPr/>
            </p:nvSpPr>
            <p:spPr>
              <a:xfrm>
                <a:off x="6415398" y="3436665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6624168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D-3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정육면체 50"/>
              <p:cNvSpPr/>
              <p:nvPr/>
            </p:nvSpPr>
            <p:spPr>
              <a:xfrm>
                <a:off x="7184024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7207292" y="4790285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E-5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3" name="정육면체 52"/>
              <p:cNvSpPr/>
              <p:nvPr/>
            </p:nvSpPr>
            <p:spPr>
              <a:xfrm>
                <a:off x="6848894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718286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" name="정육면체 54"/>
              <p:cNvSpPr/>
              <p:nvPr/>
            </p:nvSpPr>
            <p:spPr>
              <a:xfrm>
                <a:off x="6462806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6796782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E-1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" name="정육면체 56"/>
              <p:cNvSpPr/>
              <p:nvPr/>
            </p:nvSpPr>
            <p:spPr>
              <a:xfrm>
                <a:off x="3872224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4068962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" name="정육면체 58"/>
              <p:cNvSpPr/>
              <p:nvPr/>
            </p:nvSpPr>
            <p:spPr>
              <a:xfrm>
                <a:off x="4460671" y="4928787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4657409" y="495223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" name="정육면체 60"/>
              <p:cNvSpPr/>
              <p:nvPr/>
            </p:nvSpPr>
            <p:spPr>
              <a:xfrm>
                <a:off x="5027545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" name="TextBox 61"/>
              <p:cNvSpPr txBox="1"/>
              <p:nvPr/>
            </p:nvSpPr>
            <p:spPr>
              <a:xfrm>
                <a:off x="5224281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정육면체 62"/>
              <p:cNvSpPr/>
              <p:nvPr/>
            </p:nvSpPr>
            <p:spPr>
              <a:xfrm>
                <a:off x="5596942" y="4786064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5802177" y="491201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" name="정육면체 64"/>
              <p:cNvSpPr/>
              <p:nvPr/>
            </p:nvSpPr>
            <p:spPr>
              <a:xfrm>
                <a:off x="7750755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정육면체 65"/>
              <p:cNvSpPr/>
              <p:nvPr/>
            </p:nvSpPr>
            <p:spPr>
              <a:xfrm>
                <a:off x="7415625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774959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8" name="정육면체 67"/>
              <p:cNvSpPr/>
              <p:nvPr/>
            </p:nvSpPr>
            <p:spPr>
              <a:xfrm>
                <a:off x="7029537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7363511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" name="정육면체 69"/>
              <p:cNvSpPr/>
              <p:nvPr/>
            </p:nvSpPr>
            <p:spPr>
              <a:xfrm>
                <a:off x="5078008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" name="TextBox 70"/>
              <p:cNvSpPr txBox="1"/>
              <p:nvPr/>
            </p:nvSpPr>
            <p:spPr>
              <a:xfrm>
                <a:off x="528918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2" name="정육면체 71"/>
              <p:cNvSpPr/>
              <p:nvPr/>
            </p:nvSpPr>
            <p:spPr>
              <a:xfrm>
                <a:off x="5644739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585591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" name="직사각형 73"/>
              <p:cNvSpPr/>
              <p:nvPr/>
            </p:nvSpPr>
            <p:spPr>
              <a:xfrm>
                <a:off x="6468780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5" name="직사각형 74"/>
              <p:cNvSpPr/>
              <p:nvPr/>
            </p:nvSpPr>
            <p:spPr>
              <a:xfrm>
                <a:off x="7035511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6" name="직사각형 75"/>
              <p:cNvSpPr/>
              <p:nvPr/>
            </p:nvSpPr>
            <p:spPr>
              <a:xfrm>
                <a:off x="6854452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7421183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7188177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7754908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0" name="TextBox 79"/>
              <p:cNvSpPr txBox="1"/>
              <p:nvPr/>
            </p:nvSpPr>
            <p:spPr>
              <a:xfrm>
                <a:off x="7766730" y="4777272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E-6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1" name="TextBox 80"/>
              <p:cNvSpPr txBox="1"/>
              <p:nvPr/>
            </p:nvSpPr>
            <p:spPr>
              <a:xfrm>
                <a:off x="3342428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2" name="TextBox 81"/>
              <p:cNvSpPr txBox="1"/>
              <p:nvPr/>
            </p:nvSpPr>
            <p:spPr>
              <a:xfrm>
                <a:off x="3930874" y="605212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3" name="TextBox 82"/>
              <p:cNvSpPr txBox="1"/>
              <p:nvPr/>
            </p:nvSpPr>
            <p:spPr>
              <a:xfrm>
                <a:off x="4497746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4" name="TextBox 83"/>
              <p:cNvSpPr txBox="1"/>
              <p:nvPr/>
            </p:nvSpPr>
            <p:spPr>
              <a:xfrm>
                <a:off x="5075642" y="601190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5" name="직사각형 84"/>
              <p:cNvSpPr/>
              <p:nvPr/>
            </p:nvSpPr>
            <p:spPr>
              <a:xfrm>
                <a:off x="5255107" y="3788495"/>
                <a:ext cx="1117997" cy="100353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86" name="그룹 85"/>
          <p:cNvGrpSpPr/>
          <p:nvPr/>
        </p:nvGrpSpPr>
        <p:grpSpPr>
          <a:xfrm>
            <a:off x="6550513" y="5514853"/>
            <a:ext cx="413865" cy="441031"/>
            <a:chOff x="11556504" y="5152407"/>
            <a:chExt cx="540060" cy="623472"/>
          </a:xfrm>
        </p:grpSpPr>
        <p:sp>
          <p:nvSpPr>
            <p:cNvPr id="87" name="타원 86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11780938" y="5279876"/>
              <a:ext cx="305821" cy="28281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  <p:sp>
          <p:nvSpPr>
            <p:cNvPr id="89" name="이등변 삼각형 88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7469798" y="4368622"/>
            <a:ext cx="421136" cy="439919"/>
            <a:chOff x="7469798" y="4368622"/>
            <a:chExt cx="421136" cy="439919"/>
          </a:xfrm>
        </p:grpSpPr>
        <p:grpSp>
          <p:nvGrpSpPr>
            <p:cNvPr id="91" name="그룹 90"/>
            <p:cNvGrpSpPr/>
            <p:nvPr/>
          </p:nvGrpSpPr>
          <p:grpSpPr>
            <a:xfrm>
              <a:off x="7469798" y="4368622"/>
              <a:ext cx="412820" cy="439919"/>
              <a:chOff x="11556504" y="5152407"/>
              <a:chExt cx="540060" cy="623472"/>
            </a:xfrm>
          </p:grpSpPr>
          <p:sp>
            <p:nvSpPr>
              <p:cNvPr id="98" name="타원 97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9" name="이등변 삼각형 98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92" name="그룹 91"/>
            <p:cNvGrpSpPr/>
            <p:nvPr/>
          </p:nvGrpSpPr>
          <p:grpSpPr>
            <a:xfrm>
              <a:off x="7523055" y="4460736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5" name="타원 94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96" name="직선 연결선 95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직선 연결선 96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3" name="TextBox 92"/>
            <p:cNvSpPr txBox="1"/>
            <p:nvPr/>
          </p:nvSpPr>
          <p:spPr>
            <a:xfrm>
              <a:off x="7656574" y="4484277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sp>
        <p:nvSpPr>
          <p:cNvPr id="100" name="직사각형 99"/>
          <p:cNvSpPr/>
          <p:nvPr/>
        </p:nvSpPr>
        <p:spPr>
          <a:xfrm>
            <a:off x="6644378" y="54040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7090082" y="4966529"/>
            <a:ext cx="422804" cy="439919"/>
            <a:chOff x="7090082" y="4966529"/>
            <a:chExt cx="422804" cy="439919"/>
          </a:xfrm>
        </p:grpSpPr>
        <p:grpSp>
          <p:nvGrpSpPr>
            <p:cNvPr id="102" name="그룹 101"/>
            <p:cNvGrpSpPr/>
            <p:nvPr/>
          </p:nvGrpSpPr>
          <p:grpSpPr>
            <a:xfrm>
              <a:off x="7090082" y="4966529"/>
              <a:ext cx="412820" cy="439919"/>
              <a:chOff x="11556504" y="5152407"/>
              <a:chExt cx="540060" cy="623472"/>
            </a:xfrm>
          </p:grpSpPr>
          <p:sp>
            <p:nvSpPr>
              <p:cNvPr id="109" name="타원 108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10" name="이등변 삼각형 109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03" name="그룹 102"/>
            <p:cNvGrpSpPr/>
            <p:nvPr/>
          </p:nvGrpSpPr>
          <p:grpSpPr>
            <a:xfrm>
              <a:off x="7123111" y="5058643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105" name="모서리가 둥근 직사각형 104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06" name="타원 105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07" name="직선 연결선 106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TextBox 103"/>
            <p:cNvSpPr txBox="1"/>
            <p:nvPr/>
          </p:nvSpPr>
          <p:spPr>
            <a:xfrm>
              <a:off x="7278526" y="5069338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11" name="그룹 110"/>
          <p:cNvGrpSpPr/>
          <p:nvPr/>
        </p:nvGrpSpPr>
        <p:grpSpPr>
          <a:xfrm>
            <a:off x="6879443" y="5511084"/>
            <a:ext cx="412820" cy="439919"/>
            <a:chOff x="6879443" y="5511084"/>
            <a:chExt cx="412820" cy="439919"/>
          </a:xfrm>
        </p:grpSpPr>
        <p:grpSp>
          <p:nvGrpSpPr>
            <p:cNvPr id="112" name="그룹 111"/>
            <p:cNvGrpSpPr/>
            <p:nvPr/>
          </p:nvGrpSpPr>
          <p:grpSpPr>
            <a:xfrm>
              <a:off x="6879443" y="5511084"/>
              <a:ext cx="412820" cy="439919"/>
              <a:chOff x="11556504" y="5152407"/>
              <a:chExt cx="540060" cy="623472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20" name="이등변 삼각형 119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>
              <a:off x="6923995" y="5603198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115" name="모서리가 둥근 직사각형 114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16" name="타원 115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17" name="직선 연결선 116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/>
            <p:cNvSpPr txBox="1"/>
            <p:nvPr/>
          </p:nvSpPr>
          <p:spPr>
            <a:xfrm>
              <a:off x="7042974" y="5617371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5388749" y="3143379"/>
            <a:ext cx="421136" cy="439919"/>
            <a:chOff x="7469798" y="4368622"/>
            <a:chExt cx="421136" cy="439919"/>
          </a:xfrm>
        </p:grpSpPr>
        <p:grpSp>
          <p:nvGrpSpPr>
            <p:cNvPr id="122" name="그룹 121"/>
            <p:cNvGrpSpPr/>
            <p:nvPr/>
          </p:nvGrpSpPr>
          <p:grpSpPr>
            <a:xfrm>
              <a:off x="7469798" y="4368622"/>
              <a:ext cx="412820" cy="439919"/>
              <a:chOff x="11556504" y="5152407"/>
              <a:chExt cx="540060" cy="623472"/>
            </a:xfrm>
          </p:grpSpPr>
          <p:sp>
            <p:nvSpPr>
              <p:cNvPr id="129" name="타원 128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30" name="이등변 삼각형 129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23" name="그룹 122"/>
            <p:cNvGrpSpPr/>
            <p:nvPr/>
          </p:nvGrpSpPr>
          <p:grpSpPr>
            <a:xfrm>
              <a:off x="7523055" y="4460736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125" name="모서리가 둥근 직사각형 124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26" name="타원 125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27" name="직선 연결선 126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직선 연결선 127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4" name="TextBox 123"/>
            <p:cNvSpPr txBox="1"/>
            <p:nvPr/>
          </p:nvSpPr>
          <p:spPr>
            <a:xfrm>
              <a:off x="7656574" y="4484277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pic>
        <p:nvPicPr>
          <p:cNvPr id="131" name="그림 130"/>
          <p:cNvPicPr>
            <a:picLocks noChangeAspect="1"/>
          </p:cNvPicPr>
          <p:nvPr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0417" y="5625062"/>
            <a:ext cx="211110" cy="211110"/>
          </a:xfrm>
          <a:prstGeom prst="rect">
            <a:avLst/>
          </a:prstGeom>
        </p:spPr>
      </p:pic>
      <p:sp>
        <p:nvSpPr>
          <p:cNvPr id="132" name="직사각형 131"/>
          <p:cNvSpPr/>
          <p:nvPr/>
        </p:nvSpPr>
        <p:spPr>
          <a:xfrm>
            <a:off x="7215905" y="48556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3" name="모서리가 둥근 사각형 설명선 132"/>
          <p:cNvSpPr/>
          <p:nvPr/>
        </p:nvSpPr>
        <p:spPr>
          <a:xfrm>
            <a:off x="2021190" y="6059077"/>
            <a:ext cx="1066228" cy="543601"/>
          </a:xfrm>
          <a:prstGeom prst="wedgeRoundRectCallout">
            <a:avLst>
              <a:gd name="adj1" fmla="val 110030"/>
              <a:gd name="adj2" fmla="val -54972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[BOX </a:t>
            </a:r>
            <a:r>
              <a:rPr lang="ko-KR" altLang="en-US" sz="800"/>
              <a:t>터치</a:t>
            </a:r>
            <a:r>
              <a:rPr lang="en-US" altLang="ko-KR" sz="800" dirty="0"/>
              <a:t>]</a:t>
            </a:r>
          </a:p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134" name="모서리가 둥근 사각형 설명선 133"/>
          <p:cNvSpPr/>
          <p:nvPr/>
        </p:nvSpPr>
        <p:spPr>
          <a:xfrm>
            <a:off x="3740103" y="3622394"/>
            <a:ext cx="1248699" cy="407341"/>
          </a:xfrm>
          <a:prstGeom prst="wedgeRoundRectCallout">
            <a:avLst>
              <a:gd name="adj1" fmla="val 97756"/>
              <a:gd name="adj2" fmla="val -124093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</a:t>
            </a:r>
          </a:p>
        </p:txBody>
      </p:sp>
      <p:sp>
        <p:nvSpPr>
          <p:cNvPr id="135" name="모서리가 둥근 사각형 설명선 134"/>
          <p:cNvSpPr/>
          <p:nvPr/>
        </p:nvSpPr>
        <p:spPr>
          <a:xfrm>
            <a:off x="5752500" y="6288496"/>
            <a:ext cx="1248699" cy="407341"/>
          </a:xfrm>
          <a:prstGeom prst="wedgeRoundRectCallout">
            <a:avLst>
              <a:gd name="adj1" fmla="val 26389"/>
              <a:gd name="adj2" fmla="val -194481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015</a:t>
            </a:r>
          </a:p>
          <a:p>
            <a:pPr algn="ctr"/>
            <a:r>
              <a:rPr lang="ko-KR" altLang="en-US" sz="800" dirty="0"/>
              <a:t>밴드 착용자 정보</a:t>
            </a:r>
          </a:p>
        </p:txBody>
      </p:sp>
      <p:graphicFrame>
        <p:nvGraphicFramePr>
          <p:cNvPr id="136" name="표 1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007432"/>
              </p:ext>
            </p:extLst>
          </p:nvPr>
        </p:nvGraphicFramePr>
        <p:xfrm>
          <a:off x="10633534" y="1272208"/>
          <a:ext cx="2088232" cy="35735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공간에 가스센서가 있을 경우 아이콘이 출력되며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설치된 수량이 옆에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스마트밴드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공간에 스마트밴드가 있을 경우 아이콘이 출력되며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수량이 옆에 표기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Tx/>
                        <a:buNone/>
                      </a:pP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7" name="그룹 136"/>
          <p:cNvGrpSpPr/>
          <p:nvPr/>
        </p:nvGrpSpPr>
        <p:grpSpPr>
          <a:xfrm>
            <a:off x="11152234" y="1920280"/>
            <a:ext cx="412820" cy="439919"/>
            <a:chOff x="11556504" y="5152407"/>
            <a:chExt cx="540060" cy="623472"/>
          </a:xfrm>
        </p:grpSpPr>
        <p:sp>
          <p:nvSpPr>
            <p:cNvPr id="138" name="타원 137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39" name="이등변 삼각형 138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grpSp>
        <p:nvGrpSpPr>
          <p:cNvPr id="140" name="그룹 139"/>
          <p:cNvGrpSpPr/>
          <p:nvPr/>
        </p:nvGrpSpPr>
        <p:grpSpPr>
          <a:xfrm>
            <a:off x="11205491" y="2012394"/>
            <a:ext cx="241340" cy="206244"/>
            <a:chOff x="7381994" y="979208"/>
            <a:chExt cx="172252" cy="147203"/>
          </a:xfrm>
          <a:solidFill>
            <a:schemeClr val="tx1"/>
          </a:solidFill>
        </p:grpSpPr>
        <p:sp>
          <p:nvSpPr>
            <p:cNvPr id="141" name="모서리가 둥근 직사각형 140"/>
            <p:cNvSpPr/>
            <p:nvPr/>
          </p:nvSpPr>
          <p:spPr>
            <a:xfrm>
              <a:off x="7381994" y="979208"/>
              <a:ext cx="118619" cy="147203"/>
            </a:xfrm>
            <a:prstGeom prst="roundRect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42" name="타원 141"/>
            <p:cNvSpPr/>
            <p:nvPr/>
          </p:nvSpPr>
          <p:spPr>
            <a:xfrm>
              <a:off x="7420055" y="1049431"/>
              <a:ext cx="45719" cy="45719"/>
            </a:xfrm>
            <a:prstGeom prst="ellips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cxnSp>
          <p:nvCxnSpPr>
            <p:cNvPr id="143" name="직선 연결선 142"/>
            <p:cNvCxnSpPr/>
            <p:nvPr/>
          </p:nvCxnSpPr>
          <p:spPr>
            <a:xfrm>
              <a:off x="7471919" y="1023701"/>
              <a:ext cx="54955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>
              <a:off x="7469736" y="1005042"/>
              <a:ext cx="84510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TextBox 144"/>
          <p:cNvSpPr txBox="1"/>
          <p:nvPr/>
        </p:nvSpPr>
        <p:spPr>
          <a:xfrm>
            <a:off x="11339010" y="2004185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11152234" y="3288432"/>
            <a:ext cx="412820" cy="439919"/>
            <a:chOff x="11556504" y="5152407"/>
            <a:chExt cx="540060" cy="623472"/>
          </a:xfrm>
        </p:grpSpPr>
        <p:sp>
          <p:nvSpPr>
            <p:cNvPr id="147" name="타원 146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48" name="이등변 삼각형 147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sp>
        <p:nvSpPr>
          <p:cNvPr id="149" name="TextBox 148"/>
          <p:cNvSpPr txBox="1"/>
          <p:nvPr/>
        </p:nvSpPr>
        <p:spPr>
          <a:xfrm>
            <a:off x="11339010" y="3372337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pic>
        <p:nvPicPr>
          <p:cNvPr id="150" name="그림 149"/>
          <p:cNvPicPr>
            <a:picLocks noChangeAspect="1"/>
          </p:cNvPicPr>
          <p:nvPr/>
        </p:nvPicPr>
        <p:blipFill>
          <a:blip r:embed="rId5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0544" y="3381104"/>
            <a:ext cx="211110" cy="211110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10616848" y="5030072"/>
            <a:ext cx="1845377" cy="25391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50" dirty="0"/>
              <a:t>가스센서의 </a:t>
            </a:r>
            <a:r>
              <a:rPr lang="en-US" altLang="ko-KR" sz="1050" dirty="0"/>
              <a:t>3D </a:t>
            </a:r>
            <a:r>
              <a:rPr lang="ko-KR" altLang="en-US" sz="1050"/>
              <a:t>화면과 동일</a:t>
            </a:r>
            <a:endParaRPr lang="ko-KR" altLang="en-US" sz="1050" dirty="0"/>
          </a:p>
        </p:txBody>
      </p:sp>
      <p:sp>
        <p:nvSpPr>
          <p:cNvPr id="153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154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cxnSp>
        <p:nvCxnSpPr>
          <p:cNvPr id="156" name="Active Tab Marker"/>
          <p:cNvCxnSpPr>
            <a:cxnSpLocks/>
          </p:cNvCxnSpPr>
          <p:nvPr/>
        </p:nvCxnSpPr>
        <p:spPr bwMode="auto">
          <a:xfrm>
            <a:off x="3497591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ab 3"/>
          <p:cNvSpPr/>
          <p:nvPr/>
        </p:nvSpPr>
        <p:spPr>
          <a:xfrm>
            <a:off x="6222758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sp>
        <p:nvSpPr>
          <p:cNvPr id="158" name="Tab 3"/>
          <p:cNvSpPr/>
          <p:nvPr/>
        </p:nvSpPr>
        <p:spPr>
          <a:xfrm>
            <a:off x="4850083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</p:spTree>
    <p:extLst>
      <p:ext uri="{BB962C8B-B14F-4D97-AF65-F5344CB8AC3E}">
        <p14:creationId xmlns:p14="http://schemas.microsoft.com/office/powerpoint/2010/main" val="158732321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045597" y="2352328"/>
            <a:ext cx="3087636" cy="57858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7082076" y="2497892"/>
            <a:ext cx="19864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</a:rPr>
              <a:t>밴드착용자 위험상황 내역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35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건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9" name="모서리가 둥근 직사각형 18"/>
          <p:cNvSpPr/>
          <p:nvPr/>
        </p:nvSpPr>
        <p:spPr>
          <a:xfrm>
            <a:off x="7136751" y="4392770"/>
            <a:ext cx="2932457" cy="769780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7840960" y="4425310"/>
            <a:ext cx="130997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j-lt"/>
                <a:ea typeface="맑은 고딕" panose="020B0503020000020004" pitchFamily="50" charset="-127"/>
              </a:rPr>
              <a:t>심박수 낮음</a:t>
            </a:r>
            <a:endParaRPr lang="en-US" altLang="ko-KR" sz="1050" b="1" dirty="0">
              <a:latin typeface="+mj-lt"/>
              <a:ea typeface="맑은 고딕" panose="020B0503020000020004" pitchFamily="50" charset="-127"/>
            </a:endParaRPr>
          </a:p>
          <a:p>
            <a:r>
              <a:rPr lang="ko-KR" altLang="en-US" sz="1050" b="1" dirty="0">
                <a:latin typeface="+mj-lt"/>
                <a:ea typeface="맑은 고딕" panose="020B0503020000020004" pitchFamily="50" charset="-127"/>
              </a:rPr>
              <a:t>홍길동 수시방문자</a:t>
            </a:r>
            <a:endParaRPr lang="ko-KR" altLang="en-US" sz="7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298688" y="4487375"/>
            <a:ext cx="6783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9484637" y="4885308"/>
            <a:ext cx="4924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8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7840960" y="4885308"/>
            <a:ext cx="1423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+mj-lt"/>
                <a:ea typeface="맑은 고딕" panose="020B0503020000020004" pitchFamily="50" charset="-127"/>
              </a:rPr>
              <a:t>[</a:t>
            </a:r>
            <a:r>
              <a:rPr lang="ko-KR" altLang="en-US" sz="900">
                <a:latin typeface="+mj-lt"/>
                <a:ea typeface="맑은 고딕" panose="020B0503020000020004" pitchFamily="50" charset="-127"/>
              </a:rPr>
              <a:t>제 </a:t>
            </a:r>
            <a:r>
              <a:rPr lang="en-US" altLang="ko-KR" sz="900" dirty="0">
                <a:latin typeface="+mj-lt"/>
                <a:ea typeface="맑은 고딕" panose="020B0503020000020004" pitchFamily="50" charset="-127"/>
              </a:rPr>
              <a:t>1</a:t>
            </a:r>
            <a:r>
              <a:rPr lang="ko-KR" altLang="en-US" sz="900">
                <a:latin typeface="+mj-lt"/>
                <a:ea typeface="맑은 고딕" panose="020B0503020000020004" pitchFamily="50" charset="-127"/>
              </a:rPr>
              <a:t>공장</a:t>
            </a:r>
            <a:r>
              <a:rPr lang="en-US" altLang="ko-KR" sz="900" dirty="0">
                <a:latin typeface="+mj-lt"/>
                <a:ea typeface="맑은 고딕" panose="020B0503020000020004" pitchFamily="50" charset="-127"/>
              </a:rPr>
              <a:t>] 1</a:t>
            </a:r>
            <a:r>
              <a:rPr lang="ko-KR" altLang="en-US" sz="900">
                <a:latin typeface="+mj-lt"/>
                <a:ea typeface="맑은 고딕" panose="020B0503020000020004" pitchFamily="50" charset="-127"/>
              </a:rPr>
              <a:t>층 </a:t>
            </a:r>
            <a:r>
              <a:rPr lang="en-US" altLang="ko-KR" sz="900" dirty="0">
                <a:latin typeface="+mj-lt"/>
                <a:ea typeface="맑은 고딕" panose="020B0503020000020004" pitchFamily="50" charset="-127"/>
              </a:rPr>
              <a:t>A-1 </a:t>
            </a:r>
            <a:r>
              <a:rPr lang="ko-KR" altLang="en-US" sz="900">
                <a:latin typeface="+mj-lt"/>
                <a:ea typeface="맑은 고딕" panose="020B0503020000020004" pitchFamily="50" charset="-127"/>
              </a:rPr>
              <a:t>구역</a:t>
            </a:r>
          </a:p>
        </p:txBody>
      </p:sp>
      <p:sp>
        <p:nvSpPr>
          <p:cNvPr id="24" name="자유형 23"/>
          <p:cNvSpPr/>
          <p:nvPr/>
        </p:nvSpPr>
        <p:spPr>
          <a:xfrm>
            <a:off x="7136751" y="4392770"/>
            <a:ext cx="644079" cy="769780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 err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27" name="모서리가 둥근 직사각형 26"/>
          <p:cNvSpPr/>
          <p:nvPr/>
        </p:nvSpPr>
        <p:spPr>
          <a:xfrm>
            <a:off x="7136751" y="5268240"/>
            <a:ext cx="2932457" cy="769780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840960" y="5300780"/>
            <a:ext cx="130997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j-lt"/>
                <a:ea typeface="맑은 고딕" panose="020B0503020000020004" pitchFamily="50" charset="-127"/>
              </a:rPr>
              <a:t>긴급호출 발생</a:t>
            </a:r>
            <a:endParaRPr lang="en-US" altLang="ko-KR" sz="1050" b="1" dirty="0">
              <a:latin typeface="+mj-lt"/>
              <a:ea typeface="맑은 고딕" panose="020B0503020000020004" pitchFamily="50" charset="-127"/>
            </a:endParaRPr>
          </a:p>
          <a:p>
            <a:r>
              <a:rPr lang="ko-KR" altLang="en-US" sz="1050" b="1" dirty="0">
                <a:latin typeface="+mj-lt"/>
                <a:ea typeface="맑은 고딕" panose="020B0503020000020004" pitchFamily="50" charset="-127"/>
              </a:rPr>
              <a:t>홍길동 수시방문자</a:t>
            </a:r>
            <a:endParaRPr lang="ko-KR" altLang="en-US" sz="7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9298688" y="5362845"/>
            <a:ext cx="6783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9484637" y="5760778"/>
            <a:ext cx="4924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8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7840960" y="5760778"/>
            <a:ext cx="1423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[</a:t>
            </a:r>
            <a:r>
              <a:rPr lang="ko-KR" altLang="en-US" sz="900"/>
              <a:t>제 </a:t>
            </a:r>
            <a:r>
              <a:rPr lang="en-US" altLang="ko-KR" sz="900" dirty="0"/>
              <a:t>1</a:t>
            </a:r>
            <a:r>
              <a:rPr lang="ko-KR" altLang="en-US" sz="900"/>
              <a:t>공장</a:t>
            </a:r>
            <a:r>
              <a:rPr lang="en-US" altLang="ko-KR" sz="900" dirty="0"/>
              <a:t>] 1</a:t>
            </a:r>
            <a:r>
              <a:rPr lang="ko-KR" altLang="en-US" sz="900"/>
              <a:t>층 </a:t>
            </a:r>
            <a:r>
              <a:rPr lang="en-US" altLang="ko-KR" sz="900" dirty="0"/>
              <a:t>A-1 </a:t>
            </a:r>
            <a:r>
              <a:rPr lang="ko-KR" altLang="en-US" sz="900"/>
              <a:t>구역</a:t>
            </a:r>
          </a:p>
        </p:txBody>
      </p:sp>
      <p:sp>
        <p:nvSpPr>
          <p:cNvPr id="32" name="자유형 31"/>
          <p:cNvSpPr/>
          <p:nvPr/>
        </p:nvSpPr>
        <p:spPr>
          <a:xfrm>
            <a:off x="7136751" y="5268240"/>
            <a:ext cx="644079" cy="769780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 err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35" name="모서리가 둥근 직사각형 34"/>
          <p:cNvSpPr/>
          <p:nvPr/>
        </p:nvSpPr>
        <p:spPr>
          <a:xfrm>
            <a:off x="7136751" y="6131341"/>
            <a:ext cx="2932457" cy="769780"/>
          </a:xfrm>
          <a:prstGeom prst="roundRect">
            <a:avLst>
              <a:gd name="adj" fmla="val 9429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840960" y="6163881"/>
            <a:ext cx="130997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solidFill>
                  <a:schemeClr val="bg1"/>
                </a:solidFill>
                <a:latin typeface="+mj-lt"/>
              </a:rPr>
              <a:t>심박수 낮음</a:t>
            </a:r>
          </a:p>
          <a:p>
            <a:r>
              <a:rPr lang="ko-KR" altLang="en-US" sz="1050" b="1" dirty="0">
                <a:solidFill>
                  <a:schemeClr val="bg1"/>
                </a:solidFill>
                <a:latin typeface="+mj-lt"/>
              </a:rPr>
              <a:t>홍길동 수시방문자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9298688" y="6225946"/>
            <a:ext cx="6783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8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8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4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9484637" y="6623879"/>
            <a:ext cx="49244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8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조치전</a:t>
            </a:r>
            <a:endParaRPr lang="ko-KR" altLang="en-US" sz="4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840960" y="6623879"/>
            <a:ext cx="1423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schemeClr val="bg1"/>
                </a:solidFill>
                <a:latin typeface="+mj-lt"/>
              </a:rPr>
              <a:t>[</a:t>
            </a:r>
            <a:r>
              <a:rPr lang="ko-KR" altLang="en-US" sz="900">
                <a:solidFill>
                  <a:schemeClr val="bg1"/>
                </a:solidFill>
                <a:latin typeface="+mj-lt"/>
              </a:rPr>
              <a:t>제 </a:t>
            </a:r>
            <a:r>
              <a:rPr lang="en-US" altLang="ko-KR" sz="900" dirty="0">
                <a:solidFill>
                  <a:schemeClr val="bg1"/>
                </a:solidFill>
                <a:latin typeface="+mj-lt"/>
              </a:rPr>
              <a:t>1</a:t>
            </a:r>
            <a:r>
              <a:rPr lang="ko-KR" altLang="en-US" sz="900">
                <a:solidFill>
                  <a:schemeClr val="bg1"/>
                </a:solidFill>
                <a:latin typeface="+mj-lt"/>
              </a:rPr>
              <a:t>공장</a:t>
            </a:r>
            <a:r>
              <a:rPr lang="en-US" altLang="ko-KR" sz="900" dirty="0">
                <a:solidFill>
                  <a:schemeClr val="bg1"/>
                </a:solidFill>
                <a:latin typeface="+mj-lt"/>
              </a:rPr>
              <a:t>] 1</a:t>
            </a:r>
            <a:r>
              <a:rPr lang="ko-KR" altLang="en-US" sz="900">
                <a:solidFill>
                  <a:schemeClr val="bg1"/>
                </a:solidFill>
                <a:latin typeface="+mj-lt"/>
              </a:rPr>
              <a:t>층 </a:t>
            </a:r>
            <a:r>
              <a:rPr lang="en-US" altLang="ko-KR" sz="900" dirty="0">
                <a:solidFill>
                  <a:schemeClr val="bg1"/>
                </a:solidFill>
                <a:latin typeface="+mj-lt"/>
              </a:rPr>
              <a:t>A-1 </a:t>
            </a:r>
            <a:r>
              <a:rPr lang="ko-KR" altLang="en-US" sz="900">
                <a:solidFill>
                  <a:schemeClr val="bg1"/>
                </a:solidFill>
                <a:latin typeface="+mj-lt"/>
              </a:rPr>
              <a:t>구역</a:t>
            </a:r>
          </a:p>
        </p:txBody>
      </p:sp>
      <p:sp>
        <p:nvSpPr>
          <p:cNvPr id="40" name="자유형 39"/>
          <p:cNvSpPr/>
          <p:nvPr/>
        </p:nvSpPr>
        <p:spPr>
          <a:xfrm>
            <a:off x="7136751" y="6131341"/>
            <a:ext cx="644079" cy="769780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 err="1">
              <a:solidFill>
                <a:schemeClr val="bg1"/>
              </a:solidFill>
              <a:latin typeface="+mj-lt"/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136751" y="7223260"/>
            <a:ext cx="2932457" cy="769780"/>
          </a:xfrm>
          <a:prstGeom prst="roundRect">
            <a:avLst>
              <a:gd name="adj" fmla="val 9429"/>
            </a:avLst>
          </a:prstGeom>
          <a:solidFill>
            <a:schemeClr val="bg1">
              <a:lumMod val="8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7840960" y="7255800"/>
            <a:ext cx="130997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j-lt"/>
              </a:rPr>
              <a:t>심박수 낮음</a:t>
            </a:r>
          </a:p>
          <a:p>
            <a:r>
              <a:rPr lang="ko-KR" altLang="en-US" sz="1050" b="1" dirty="0">
                <a:latin typeface="+mj-lt"/>
              </a:rPr>
              <a:t>홍길동 수시방문자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9298688" y="7317865"/>
            <a:ext cx="6783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0000.00.00</a:t>
            </a:r>
          </a:p>
          <a:p>
            <a:pPr algn="r"/>
            <a:r>
              <a:rPr lang="en-US" altLang="ko-KR" sz="800" dirty="0">
                <a:latin typeface="+mj-lt"/>
                <a:ea typeface="맑은 고딕" panose="020B0503020000020004" pitchFamily="50" charset="-127"/>
              </a:rPr>
              <a:t>14:32:30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9345176" y="7715798"/>
            <a:ext cx="63190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800" dirty="0"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7840960" y="7715798"/>
            <a:ext cx="1423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[</a:t>
            </a:r>
            <a:r>
              <a:rPr lang="ko-KR" altLang="en-US" sz="900"/>
              <a:t>제 </a:t>
            </a:r>
            <a:r>
              <a:rPr lang="en-US" altLang="ko-KR" sz="900" dirty="0"/>
              <a:t>1</a:t>
            </a:r>
            <a:r>
              <a:rPr lang="ko-KR" altLang="en-US" sz="900"/>
              <a:t>공장</a:t>
            </a:r>
            <a:r>
              <a:rPr lang="en-US" altLang="ko-KR" sz="900" dirty="0"/>
              <a:t>] 1</a:t>
            </a:r>
            <a:r>
              <a:rPr lang="ko-KR" altLang="en-US" sz="900"/>
              <a:t>층 </a:t>
            </a:r>
            <a:r>
              <a:rPr lang="en-US" altLang="ko-KR" sz="900" dirty="0"/>
              <a:t>A-1 </a:t>
            </a:r>
            <a:r>
              <a:rPr lang="ko-KR" altLang="en-US" sz="900"/>
              <a:t>구역</a:t>
            </a:r>
          </a:p>
        </p:txBody>
      </p:sp>
      <p:sp>
        <p:nvSpPr>
          <p:cNvPr id="48" name="자유형 47"/>
          <p:cNvSpPr/>
          <p:nvPr/>
        </p:nvSpPr>
        <p:spPr>
          <a:xfrm>
            <a:off x="7136751" y="7223260"/>
            <a:ext cx="644079" cy="769780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900" b="1" dirty="0" err="1">
              <a:solidFill>
                <a:schemeClr val="tx1"/>
              </a:solidFill>
              <a:latin typeface="+mj-lt"/>
            </a:endParaRPr>
          </a:p>
        </p:txBody>
      </p:sp>
      <p:cxnSp>
        <p:nvCxnSpPr>
          <p:cNvPr id="50" name="직선 연결선 49"/>
          <p:cNvCxnSpPr/>
          <p:nvPr/>
        </p:nvCxnSpPr>
        <p:spPr>
          <a:xfrm>
            <a:off x="7136751" y="7054126"/>
            <a:ext cx="2931482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8069549" y="6937681"/>
            <a:ext cx="1236236" cy="24622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8460949" y="22869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53" name="표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214550"/>
              </p:ext>
            </p:extLst>
          </p:nvPr>
        </p:nvGraphicFramePr>
        <p:xfrm>
          <a:off x="10633534" y="1272208"/>
          <a:ext cx="2088232" cy="21124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해당 구역에서 발생된 이벤트 내역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4" name="모서리가 둥근 직사각형 5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017</a:t>
            </a:r>
            <a:endParaRPr lang="ko-KR" altLang="en-US" sz="800" dirty="0">
              <a:latin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밴드 착용자</a:t>
            </a:r>
            <a:endParaRPr lang="en-US" altLang="ko-KR" sz="900" dirty="0"/>
          </a:p>
          <a:p>
            <a:r>
              <a:rPr lang="ko-KR" altLang="en-US" sz="900" dirty="0">
                <a:latin typeface="+mn-ea"/>
              </a:rPr>
              <a:t>위험상황 내역</a:t>
            </a:r>
          </a:p>
        </p:txBody>
      </p:sp>
      <p:sp>
        <p:nvSpPr>
          <p:cNvPr id="56" name="직사각형 55"/>
          <p:cNvSpPr/>
          <p:nvPr/>
        </p:nvSpPr>
        <p:spPr>
          <a:xfrm>
            <a:off x="7128186" y="2869527"/>
            <a:ext cx="2929009" cy="107732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7252409" y="3021132"/>
            <a:ext cx="684064" cy="663979"/>
            <a:chOff x="7962299" y="2617527"/>
            <a:chExt cx="622093" cy="646131"/>
          </a:xfrm>
        </p:grpSpPr>
        <p:sp>
          <p:nvSpPr>
            <p:cNvPr id="58" name="직사각형 57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59" name="그림 58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60" name="TextBox 59"/>
          <p:cNvSpPr txBox="1"/>
          <p:nvPr/>
        </p:nvSpPr>
        <p:spPr>
          <a:xfrm>
            <a:off x="7964153" y="3397132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964153" y="3005154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62" name="모서리가 둥근 직사각형 61"/>
          <p:cNvSpPr/>
          <p:nvPr/>
        </p:nvSpPr>
        <p:spPr>
          <a:xfrm>
            <a:off x="8045651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8549849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통제</a:t>
            </a:r>
          </a:p>
        </p:txBody>
      </p:sp>
      <p:pic>
        <p:nvPicPr>
          <p:cNvPr id="65" name="그림 6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6444" y="4568626"/>
            <a:ext cx="533142" cy="439208"/>
          </a:xfrm>
          <a:prstGeom prst="rect">
            <a:avLst/>
          </a:prstGeom>
        </p:spPr>
      </p:pic>
      <p:pic>
        <p:nvPicPr>
          <p:cNvPr id="67" name="그림 6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6444" y="5422723"/>
            <a:ext cx="533142" cy="439208"/>
          </a:xfrm>
          <a:prstGeom prst="rect">
            <a:avLst/>
          </a:prstGeom>
        </p:spPr>
      </p:pic>
      <p:pic>
        <p:nvPicPr>
          <p:cNvPr id="69" name="그림 6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6444" y="6307197"/>
            <a:ext cx="533142" cy="439208"/>
          </a:xfrm>
          <a:prstGeom prst="rect">
            <a:avLst/>
          </a:prstGeom>
        </p:spPr>
      </p:pic>
      <p:pic>
        <p:nvPicPr>
          <p:cNvPr id="70" name="그림 6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6444" y="7402984"/>
            <a:ext cx="533142" cy="4392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037480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모서리가 둥근 직사각형 42"/>
          <p:cNvSpPr/>
          <p:nvPr/>
        </p:nvSpPr>
        <p:spPr>
          <a:xfrm>
            <a:off x="6057809" y="2989149"/>
            <a:ext cx="3810391" cy="4331731"/>
          </a:xfrm>
          <a:prstGeom prst="roundRect">
            <a:avLst>
              <a:gd name="adj" fmla="val 2384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10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24" name="그룹 23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7" name="직사각형 26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98354" y="6485730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315016" y="6485730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3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39" name="모서리가 둥근 직사각형 38"/>
          <p:cNvSpPr/>
          <p:nvPr/>
        </p:nvSpPr>
        <p:spPr>
          <a:xfrm>
            <a:off x="2117361" y="2989149"/>
            <a:ext cx="3810391" cy="4331731"/>
          </a:xfrm>
          <a:prstGeom prst="roundRect">
            <a:avLst>
              <a:gd name="adj" fmla="val 2384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10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287421" y="3096418"/>
            <a:ext cx="147027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dirty="0"/>
              <a:t>건설현장 모니터링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04814" y="3096418"/>
            <a:ext cx="1316386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dirty="0"/>
              <a:t>교육장 모니터링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241314" y="6701437"/>
            <a:ext cx="2273379" cy="40011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ko-KR" altLang="en-US" sz="1000" dirty="0"/>
              <a:t>기종 및 코드 </a:t>
            </a:r>
            <a:r>
              <a:rPr lang="en-US" altLang="ko-KR" sz="1000" dirty="0"/>
              <a:t>: FireWatch 9302 (001)</a:t>
            </a:r>
          </a:p>
          <a:p>
            <a:r>
              <a:rPr lang="ko-KR" altLang="en-US" sz="1000"/>
              <a:t>동작상태 </a:t>
            </a:r>
            <a:r>
              <a:rPr lang="en-US" altLang="ko-KR" sz="1000" dirty="0"/>
              <a:t>: </a:t>
            </a:r>
            <a:r>
              <a:rPr lang="ko-KR" altLang="en-US" sz="1000"/>
              <a:t>정상</a:t>
            </a:r>
            <a:endParaRPr lang="ko-KR" altLang="en-US" sz="1000" dirty="0"/>
          </a:p>
        </p:txBody>
      </p:sp>
      <p:sp>
        <p:nvSpPr>
          <p:cNvPr id="53" name="TextBox 52"/>
          <p:cNvSpPr txBox="1"/>
          <p:nvPr/>
        </p:nvSpPr>
        <p:spPr>
          <a:xfrm>
            <a:off x="6171856" y="6701437"/>
            <a:ext cx="2273379" cy="40011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ko-KR" altLang="en-US" sz="1000" dirty="0"/>
              <a:t>기종 및 코드 </a:t>
            </a:r>
            <a:r>
              <a:rPr lang="en-US" altLang="ko-KR" sz="1000" dirty="0"/>
              <a:t>: FireWatch 9302 (002)</a:t>
            </a:r>
          </a:p>
          <a:p>
            <a:r>
              <a:rPr lang="ko-KR" altLang="en-US" sz="1000" dirty="0"/>
              <a:t>동작상태 </a:t>
            </a:r>
            <a:r>
              <a:rPr lang="en-US" altLang="ko-KR" sz="1000" dirty="0"/>
              <a:t>: </a:t>
            </a:r>
            <a:r>
              <a:rPr lang="ko-KR" altLang="en-US" sz="1000"/>
              <a:t>정상</a:t>
            </a:r>
            <a:endParaRPr lang="ko-KR" altLang="en-US" sz="1000" dirty="0"/>
          </a:p>
        </p:txBody>
      </p:sp>
      <p:sp>
        <p:nvSpPr>
          <p:cNvPr id="59" name="직사각형 58"/>
          <p:cNvSpPr/>
          <p:nvPr/>
        </p:nvSpPr>
        <p:spPr>
          <a:xfrm>
            <a:off x="3906142" y="291544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62" name="표 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1629667"/>
              </p:ext>
            </p:extLst>
          </p:nvPr>
        </p:nvGraphicFramePr>
        <p:xfrm>
          <a:off x="10633534" y="1272208"/>
          <a:ext cx="2088232" cy="19804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CCTV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설치된 위치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CCTV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정보 및 동작상태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정상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 불량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터치하여 크게 보기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3" name="직사각형 62"/>
          <p:cNvSpPr/>
          <p:nvPr/>
        </p:nvSpPr>
        <p:spPr>
          <a:xfrm>
            <a:off x="7894290" y="291544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4" name="직사각형 63"/>
          <p:cNvSpPr/>
          <p:nvPr/>
        </p:nvSpPr>
        <p:spPr>
          <a:xfrm>
            <a:off x="2068358" y="681100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74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75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sp>
        <p:nvSpPr>
          <p:cNvPr id="76" name="Tab 3"/>
          <p:cNvSpPr/>
          <p:nvPr/>
        </p:nvSpPr>
        <p:spPr>
          <a:xfrm>
            <a:off x="6230094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sp>
        <p:nvSpPr>
          <p:cNvPr id="78" name="Tab 3"/>
          <p:cNvSpPr/>
          <p:nvPr/>
        </p:nvSpPr>
        <p:spPr>
          <a:xfrm>
            <a:off x="4848228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  <p:cxnSp>
        <p:nvCxnSpPr>
          <p:cNvPr id="77" name="Active Tab Marker"/>
          <p:cNvCxnSpPr>
            <a:cxnSpLocks/>
          </p:cNvCxnSpPr>
          <p:nvPr/>
        </p:nvCxnSpPr>
        <p:spPr bwMode="auto">
          <a:xfrm>
            <a:off x="4858607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/>
          <p:cNvGrpSpPr/>
          <p:nvPr/>
        </p:nvGrpSpPr>
        <p:grpSpPr>
          <a:xfrm>
            <a:off x="2350933" y="3545261"/>
            <a:ext cx="3380833" cy="3039842"/>
            <a:chOff x="1245495" y="3000647"/>
            <a:chExt cx="5712051" cy="5135933"/>
          </a:xfrm>
        </p:grpSpPr>
        <p:sp>
          <p:nvSpPr>
            <p:cNvPr id="82" name="Media Area"/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1245495" y="3000647"/>
              <a:ext cx="5712051" cy="513593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83" name="Play Icon"/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>
              <a:off x="3699772" y="5095918"/>
              <a:ext cx="803494" cy="1006055"/>
            </a:xfrm>
            <a:custGeom>
              <a:avLst/>
              <a:gdLst>
                <a:gd name="connsiteX0" fmla="*/ 0 w 364648"/>
                <a:gd name="connsiteY0" fmla="*/ 456576 h 456576"/>
                <a:gd name="connsiteX1" fmla="*/ 0 w 364648"/>
                <a:gd name="connsiteY1" fmla="*/ 0 h 456576"/>
                <a:gd name="connsiteX2" fmla="*/ 364648 w 364648"/>
                <a:gd name="connsiteY2" fmla="*/ 228253 h 45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4648" h="456576">
                  <a:moveTo>
                    <a:pt x="0" y="456576"/>
                  </a:moveTo>
                  <a:lnTo>
                    <a:pt x="0" y="0"/>
                  </a:lnTo>
                  <a:lnTo>
                    <a:pt x="364648" y="228253"/>
                  </a:lnTo>
                  <a:close/>
                </a:path>
              </a:pathLst>
            </a:cu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6268999" y="3545261"/>
            <a:ext cx="3380833" cy="3039842"/>
            <a:chOff x="1245495" y="3000647"/>
            <a:chExt cx="5712051" cy="5135933"/>
          </a:xfrm>
        </p:grpSpPr>
        <p:sp>
          <p:nvSpPr>
            <p:cNvPr id="88" name="Media Area"/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1245495" y="3000647"/>
              <a:ext cx="5712051" cy="513593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89" name="Play Icon"/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>
              <a:off x="3699772" y="5095918"/>
              <a:ext cx="803494" cy="1006055"/>
            </a:xfrm>
            <a:custGeom>
              <a:avLst/>
              <a:gdLst>
                <a:gd name="connsiteX0" fmla="*/ 0 w 364648"/>
                <a:gd name="connsiteY0" fmla="*/ 456576 h 456576"/>
                <a:gd name="connsiteX1" fmla="*/ 0 w 364648"/>
                <a:gd name="connsiteY1" fmla="*/ 0 h 456576"/>
                <a:gd name="connsiteX2" fmla="*/ 364648 w 364648"/>
                <a:gd name="connsiteY2" fmla="*/ 228253 h 45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4648" h="456576">
                  <a:moveTo>
                    <a:pt x="0" y="456576"/>
                  </a:moveTo>
                  <a:lnTo>
                    <a:pt x="0" y="0"/>
                  </a:lnTo>
                  <a:lnTo>
                    <a:pt x="364648" y="228253"/>
                  </a:lnTo>
                  <a:close/>
                </a:path>
              </a:pathLst>
            </a:cu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60" name="직사각형 59"/>
          <p:cNvSpPr/>
          <p:nvPr/>
        </p:nvSpPr>
        <p:spPr>
          <a:xfrm>
            <a:off x="2361028" y="3581166"/>
            <a:ext cx="799412" cy="31329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Cam 1</a:t>
            </a:r>
            <a:endParaRPr lang="ko-KR" altLang="en-US" sz="1100"/>
          </a:p>
        </p:txBody>
      </p:sp>
      <p:sp>
        <p:nvSpPr>
          <p:cNvPr id="61" name="직사각형 60"/>
          <p:cNvSpPr/>
          <p:nvPr/>
        </p:nvSpPr>
        <p:spPr>
          <a:xfrm>
            <a:off x="6291570" y="3581166"/>
            <a:ext cx="799412" cy="31329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Cam 2</a:t>
            </a:r>
            <a:endParaRPr lang="ko-KR" altLang="en-US" sz="1100"/>
          </a:p>
        </p:txBody>
      </p:sp>
      <p:sp>
        <p:nvSpPr>
          <p:cNvPr id="57" name="직사각형 56"/>
          <p:cNvSpPr/>
          <p:nvPr/>
        </p:nvSpPr>
        <p:spPr>
          <a:xfrm>
            <a:off x="3795260" y="451856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7" name="모서리가 둥근 사각형 설명선 66"/>
          <p:cNvSpPr/>
          <p:nvPr/>
        </p:nvSpPr>
        <p:spPr>
          <a:xfrm>
            <a:off x="4437371" y="4473769"/>
            <a:ext cx="1248699" cy="407341"/>
          </a:xfrm>
          <a:prstGeom prst="wedgeRoundRectCallout">
            <a:avLst>
              <a:gd name="adj1" fmla="val -86716"/>
              <a:gd name="adj2" fmla="val 90009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033</a:t>
            </a:r>
          </a:p>
          <a:p>
            <a:pPr algn="ctr"/>
            <a:r>
              <a:rPr lang="en-US" altLang="ko-KR" sz="800" dirty="0"/>
              <a:t>CCTV </a:t>
            </a:r>
            <a:r>
              <a:rPr lang="ko-KR" altLang="en-US" sz="800"/>
              <a:t>영상보기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56931227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1776225" y="2335420"/>
            <a:ext cx="7114166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bIns="0" rtlCol="0" anchor="ctr"/>
          <a:lstStyle/>
          <a:p>
            <a:pPr algn="ctr"/>
            <a:r>
              <a:rPr lang="ko-KR" altLang="en-US" sz="18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건설 현장 모니터링</a:t>
            </a:r>
            <a:endParaRPr lang="en-US" altLang="ko-KR" sz="18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8312270" y="2486372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1776225" y="3070316"/>
            <a:ext cx="7114166" cy="475462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bIns="0" rtlCol="0" anchor="ctr"/>
          <a:lstStyle/>
          <a:p>
            <a:pPr algn="ctr"/>
            <a:endParaRPr lang="en-US" altLang="ko-KR" sz="18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모서리가 둥근 직사각형 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033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CCTV </a:t>
            </a:r>
            <a:r>
              <a:rPr lang="ko-KR" altLang="en-US" sz="900"/>
              <a:t>영상 크게 보기</a:t>
            </a:r>
            <a:endParaRPr lang="ko-KR" altLang="en-US" sz="900" dirty="0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1054756"/>
              </p:ext>
            </p:extLst>
          </p:nvPr>
        </p:nvGraphicFramePr>
        <p:xfrm>
          <a:off x="10633534" y="1272208"/>
          <a:ext cx="2088232" cy="21124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CCTV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영상 크게보기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닫기 버튼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실시간 영상 플레이 되는 화면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5347248" y="22518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8450365" y="23354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2008312" y="3182844"/>
            <a:ext cx="6661750" cy="4409159"/>
            <a:chOff x="1245495" y="3000647"/>
            <a:chExt cx="7759825" cy="5135933"/>
          </a:xfrm>
        </p:grpSpPr>
        <p:sp>
          <p:nvSpPr>
            <p:cNvPr id="19" name="Media Area"/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1245495" y="3000647"/>
              <a:ext cx="7759825" cy="513593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0" name="Play Icon"/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>
              <a:off x="4885407" y="5095918"/>
              <a:ext cx="803494" cy="1006054"/>
            </a:xfrm>
            <a:custGeom>
              <a:avLst/>
              <a:gdLst>
                <a:gd name="connsiteX0" fmla="*/ 0 w 364648"/>
                <a:gd name="connsiteY0" fmla="*/ 456576 h 456576"/>
                <a:gd name="connsiteX1" fmla="*/ 0 w 364648"/>
                <a:gd name="connsiteY1" fmla="*/ 0 h 456576"/>
                <a:gd name="connsiteX2" fmla="*/ 364648 w 364648"/>
                <a:gd name="connsiteY2" fmla="*/ 228253 h 45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4648" h="456576">
                  <a:moveTo>
                    <a:pt x="0" y="456576"/>
                  </a:moveTo>
                  <a:lnTo>
                    <a:pt x="0" y="0"/>
                  </a:lnTo>
                  <a:lnTo>
                    <a:pt x="364648" y="228253"/>
                  </a:lnTo>
                  <a:close/>
                </a:path>
              </a:pathLst>
            </a:cu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14" name="직사각형 13"/>
          <p:cNvSpPr/>
          <p:nvPr/>
        </p:nvSpPr>
        <p:spPr>
          <a:xfrm>
            <a:off x="5347248" y="31356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6972009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98354" y="2840155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315016" y="2840155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98354" y="4473769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315016" y="4473769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24" name="그룹 23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7" name="직사각형 26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98354" y="6485730"/>
            <a:ext cx="816662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가스위험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작업자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CCTV </a:t>
            </a:r>
            <a:r>
              <a:rPr lang="ko-KR" altLang="en-US" sz="1000">
                <a:latin typeface="+mn-ea"/>
              </a:rPr>
              <a:t>화재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풍속 위험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+mn-ea"/>
              </a:rPr>
              <a:t>온</a:t>
            </a:r>
            <a:r>
              <a:rPr lang="en-US" altLang="ko-KR" sz="1000" dirty="0">
                <a:latin typeface="+mn-ea"/>
              </a:rPr>
              <a:t>/</a:t>
            </a:r>
            <a:r>
              <a:rPr lang="ko-KR" altLang="en-US" sz="1000">
                <a:latin typeface="+mn-ea"/>
              </a:rPr>
              <a:t>습도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315016" y="6485730"/>
            <a:ext cx="461858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  <a:endParaRPr lang="en-US" altLang="ko-KR" sz="10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양호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3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34" name="직사각형 33"/>
          <p:cNvSpPr/>
          <p:nvPr/>
        </p:nvSpPr>
        <p:spPr>
          <a:xfrm>
            <a:off x="2117362" y="3457410"/>
            <a:ext cx="3707374" cy="3672408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>
              <a:solidFill>
                <a:schemeClr val="tx1"/>
              </a:solidFill>
            </a:endParaRPr>
          </a:p>
        </p:txBody>
      </p:sp>
      <p:sp>
        <p:nvSpPr>
          <p:cNvPr id="38" name="직사각형 37"/>
          <p:cNvSpPr/>
          <p:nvPr/>
        </p:nvSpPr>
        <p:spPr>
          <a:xfrm>
            <a:off x="6021264" y="3457410"/>
            <a:ext cx="3707374" cy="1775238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>
              <a:solidFill>
                <a:schemeClr val="tx1"/>
              </a:solidFill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6021264" y="5354580"/>
            <a:ext cx="3707374" cy="1775238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>
              <a:solidFill>
                <a:schemeClr val="tx1"/>
              </a:solidFill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2249563" y="3582441"/>
            <a:ext cx="1005404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3200" b="1" dirty="0"/>
              <a:t>풍속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153465" y="3582441"/>
            <a:ext cx="1005403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3200" b="1"/>
              <a:t>온도</a:t>
            </a:r>
            <a:endParaRPr lang="ko-KR" altLang="en-US" sz="3200" b="1" dirty="0"/>
          </a:p>
        </p:txBody>
      </p:sp>
      <p:sp>
        <p:nvSpPr>
          <p:cNvPr id="41" name="TextBox 40"/>
          <p:cNvSpPr txBox="1"/>
          <p:nvPr/>
        </p:nvSpPr>
        <p:spPr>
          <a:xfrm>
            <a:off x="6153465" y="5439961"/>
            <a:ext cx="1005403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3200" b="1" dirty="0"/>
              <a:t>습도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324880" y="4508787"/>
            <a:ext cx="1292341" cy="156966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9600" b="1" dirty="0"/>
              <a:t>3</a:t>
            </a:r>
            <a:r>
              <a:rPr lang="en-US" altLang="ko-KR" sz="1800" dirty="0"/>
              <a:t>m/s</a:t>
            </a:r>
            <a:endParaRPr lang="ko-KR" altLang="en-US" sz="8000" dirty="0"/>
          </a:p>
        </p:txBody>
      </p:sp>
      <p:sp>
        <p:nvSpPr>
          <p:cNvPr id="43" name="TextBox 42"/>
          <p:cNvSpPr txBox="1"/>
          <p:nvPr/>
        </p:nvSpPr>
        <p:spPr>
          <a:xfrm>
            <a:off x="7580797" y="3892411"/>
            <a:ext cx="1854996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4800" b="1" dirty="0"/>
              <a:t>24.1 </a:t>
            </a:r>
            <a:r>
              <a:rPr lang="en-US" altLang="ko-KR" sz="1800" dirty="0"/>
              <a:t>℃</a:t>
            </a:r>
            <a:endParaRPr lang="ko-KR" altLang="en-US" sz="8000" dirty="0"/>
          </a:p>
        </p:txBody>
      </p:sp>
      <p:sp>
        <p:nvSpPr>
          <p:cNvPr id="44" name="TextBox 43"/>
          <p:cNvSpPr txBox="1"/>
          <p:nvPr/>
        </p:nvSpPr>
        <p:spPr>
          <a:xfrm>
            <a:off x="7594424" y="5843077"/>
            <a:ext cx="182774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4800" b="1" dirty="0"/>
              <a:t>32.3 </a:t>
            </a:r>
            <a:r>
              <a:rPr lang="en-US" altLang="ko-KR" sz="1800" dirty="0"/>
              <a:t>%</a:t>
            </a:r>
            <a:endParaRPr lang="ko-KR" altLang="en-US" sz="8000" dirty="0"/>
          </a:p>
        </p:txBody>
      </p:sp>
      <p:grpSp>
        <p:nvGrpSpPr>
          <p:cNvPr id="45" name="그룹 4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46" name="타원 45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7" name="그림 4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graphicFrame>
        <p:nvGraphicFramePr>
          <p:cNvPr id="48" name="표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3766783"/>
              </p:ext>
            </p:extLst>
          </p:nvPr>
        </p:nvGraphicFramePr>
        <p:xfrm>
          <a:off x="10633534" y="1272208"/>
          <a:ext cx="2088232" cy="34699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풍속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단계별 색상으로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14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21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33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도 주의보</a:t>
                      </a: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35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도 경보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-12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 경보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-15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ko-KR" altLang="en-US" sz="800" baseline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메시지 와 온도를 관리자에서 설정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9" name="직사각형 48"/>
          <p:cNvSpPr/>
          <p:nvPr/>
        </p:nvSpPr>
        <p:spPr>
          <a:xfrm>
            <a:off x="2071763" y="32139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11147505" y="1825744"/>
            <a:ext cx="1373975" cy="310560"/>
          </a:xfrm>
          <a:prstGeom prst="rect">
            <a:avLst/>
          </a:prstGeom>
          <a:solidFill>
            <a:schemeClr val="bg1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solidFill>
                  <a:schemeClr val="tx1"/>
                </a:solidFill>
              </a:rPr>
              <a:t>안전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11147505" y="2241025"/>
            <a:ext cx="1373975" cy="3105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tx1"/>
                </a:solidFill>
              </a:rPr>
              <a:t>1</a:t>
            </a:r>
            <a:r>
              <a:rPr lang="ko-KR" altLang="en-US" sz="1050">
                <a:solidFill>
                  <a:schemeClr val="tx1"/>
                </a:solidFill>
              </a:rPr>
              <a:t>차 경보</a:t>
            </a:r>
            <a:endParaRPr lang="ko-KR" altLang="en-US" sz="1050" dirty="0">
              <a:solidFill>
                <a:schemeClr val="tx1"/>
              </a:solidFill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11147505" y="2729965"/>
            <a:ext cx="1373975" cy="310560"/>
          </a:xfrm>
          <a:prstGeom prst="rect">
            <a:avLst/>
          </a:prstGeom>
          <a:solidFill>
            <a:srgbClr val="C00000"/>
          </a:solidFill>
          <a:ln w="762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bg1"/>
                </a:solidFill>
              </a:rPr>
              <a:t>2</a:t>
            </a:r>
            <a:r>
              <a:rPr lang="ko-KR" altLang="en-US" sz="1050">
                <a:solidFill>
                  <a:schemeClr val="bg1"/>
                </a:solidFill>
              </a:rPr>
              <a:t>차 경보</a:t>
            </a:r>
            <a:endParaRPr lang="ko-KR" altLang="en-US" sz="1050" dirty="0">
              <a:solidFill>
                <a:schemeClr val="bg1"/>
              </a:solidFill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6064319" y="32139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7" name="Tab 1"/>
          <p:cNvSpPr/>
          <p:nvPr/>
        </p:nvSpPr>
        <p:spPr>
          <a:xfrm>
            <a:off x="2117362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가스센서</a:t>
            </a:r>
          </a:p>
        </p:txBody>
      </p:sp>
      <p:sp>
        <p:nvSpPr>
          <p:cNvPr id="58" name="Tab 2"/>
          <p:cNvSpPr/>
          <p:nvPr/>
        </p:nvSpPr>
        <p:spPr>
          <a:xfrm>
            <a:off x="3484891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안전밴드</a:t>
            </a:r>
          </a:p>
        </p:txBody>
      </p:sp>
      <p:sp>
        <p:nvSpPr>
          <p:cNvPr id="59" name="Tab 3"/>
          <p:cNvSpPr/>
          <p:nvPr/>
        </p:nvSpPr>
        <p:spPr>
          <a:xfrm>
            <a:off x="6205932" y="2474394"/>
            <a:ext cx="1301855" cy="329734"/>
          </a:xfrm>
          <a:prstGeom prst="round2SameRect">
            <a:avLst/>
          </a:prstGeom>
          <a:solidFill>
            <a:srgbClr val="FFFFFF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914400" latinLnBrk="0"/>
            <a:r>
              <a:rPr lang="ko-KR" altLang="en-US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풍속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온도</a:t>
            </a:r>
            <a:r>
              <a:rPr lang="en-US" altLang="ko-KR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/</a:t>
            </a:r>
            <a:r>
              <a:rPr lang="ko-KR" altLang="en-US" sz="900">
                <a:solidFill>
                  <a:srgbClr val="333333"/>
                </a:solidFill>
                <a:latin typeface="+mn-ea"/>
                <a:cs typeface="Calibri" pitchFamily="34" charset="0"/>
              </a:rPr>
              <a:t>습도</a:t>
            </a:r>
            <a:endParaRPr lang="ko-KR" altLang="en-US" sz="900" dirty="0">
              <a:solidFill>
                <a:srgbClr val="333333"/>
              </a:solidFill>
              <a:latin typeface="+mn-ea"/>
              <a:cs typeface="Calibri" pitchFamily="34" charset="0"/>
            </a:endParaRPr>
          </a:p>
        </p:txBody>
      </p:sp>
      <p:cxnSp>
        <p:nvCxnSpPr>
          <p:cNvPr id="60" name="Active Tab Marker"/>
          <p:cNvCxnSpPr>
            <a:cxnSpLocks/>
          </p:cNvCxnSpPr>
          <p:nvPr/>
        </p:nvCxnSpPr>
        <p:spPr bwMode="auto">
          <a:xfrm>
            <a:off x="6218416" y="2804128"/>
            <a:ext cx="1280982" cy="0"/>
          </a:xfrm>
          <a:prstGeom prst="line">
            <a:avLst/>
          </a:prstGeom>
          <a:ln w="6350" cap="sq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ab 3"/>
          <p:cNvSpPr/>
          <p:nvPr/>
        </p:nvSpPr>
        <p:spPr>
          <a:xfrm>
            <a:off x="4850083" y="2474394"/>
            <a:ext cx="1301855" cy="329734"/>
          </a:xfrm>
          <a:prstGeom prst="round2SameRect">
            <a:avLst/>
          </a:prstGeom>
          <a:solidFill>
            <a:srgbClr val="F2F2F2"/>
          </a:solidFill>
          <a:ln w="6350">
            <a:solidFill>
              <a:srgbClr val="333333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36000" tIns="32400" rIns="36000" bIns="3240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de-DE" sz="900" dirty="0">
                <a:solidFill>
                  <a:srgbClr val="333333"/>
                </a:solidFill>
                <a:latin typeface="+mn-ea"/>
                <a:cs typeface="Calibri" pitchFamily="34" charset="0"/>
              </a:rPr>
              <a:t>CCTV</a:t>
            </a:r>
          </a:p>
        </p:txBody>
      </p:sp>
    </p:spTree>
    <p:extLst>
      <p:ext uri="{BB962C8B-B14F-4D97-AF65-F5344CB8AC3E}">
        <p14:creationId xmlns:p14="http://schemas.microsoft.com/office/powerpoint/2010/main" val="238302099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0705" y="2317309"/>
            <a:ext cx="1439999" cy="133116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98354" y="2840155"/>
            <a:ext cx="81666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임직원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상시 방문자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일일 방문자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전체보기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15016" y="2840155"/>
            <a:ext cx="461858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500</a:t>
            </a:r>
          </a:p>
          <a:p>
            <a:pPr algn="r"/>
            <a:r>
              <a:rPr lang="en-US" altLang="ko-KR" sz="1000" dirty="0">
                <a:latin typeface="+mn-ea"/>
              </a:rPr>
              <a:t>300</a:t>
            </a:r>
          </a:p>
          <a:p>
            <a:pPr algn="r"/>
            <a:r>
              <a:rPr lang="en-US" altLang="ko-KR" sz="1000" dirty="0">
                <a:latin typeface="+mn-ea"/>
              </a:rPr>
              <a:t>150</a:t>
            </a:r>
            <a:endParaRPr lang="ko-KR" altLang="en-US" sz="10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0705" y="3648472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98354" y="4171318"/>
            <a:ext cx="81666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임직원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상시 방문자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일일 방문자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498354" y="372746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5016" y="4171318"/>
            <a:ext cx="461858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500</a:t>
            </a:r>
          </a:p>
          <a:p>
            <a:pPr algn="r"/>
            <a:r>
              <a:rPr lang="en-US" altLang="ko-KR" sz="1000" dirty="0">
                <a:latin typeface="+mn-ea"/>
              </a:rPr>
              <a:t>300</a:t>
            </a:r>
          </a:p>
          <a:p>
            <a:pPr algn="r"/>
            <a:r>
              <a:rPr lang="en-US" altLang="ko-KR" sz="1000" dirty="0">
                <a:latin typeface="+mn-ea"/>
              </a:rPr>
              <a:t>150</a:t>
            </a:r>
            <a:endParaRPr lang="ko-KR" altLang="en-US" sz="1000" dirty="0">
              <a:latin typeface="+mn-ea"/>
            </a:endParaRPr>
          </a:p>
        </p:txBody>
      </p:sp>
      <p:pic>
        <p:nvPicPr>
          <p:cNvPr id="22" name="Picture 2" descr="http://ph.kyeonggi.com/news/photo/201508/1011511_927122_1241.jpg"/>
          <p:cNvPicPr>
            <a:picLocks noChangeAspect="1" noChangeArrowheads="1"/>
          </p:cNvPicPr>
          <p:nvPr/>
        </p:nvPicPr>
        <p:blipFill rotWithShape="1"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840" b="7824"/>
          <a:stretch/>
        </p:blipFill>
        <p:spPr bwMode="auto">
          <a:xfrm>
            <a:off x="1858617" y="2352329"/>
            <a:ext cx="8268765" cy="57878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모서리가 둥근 사각형 설명선 22"/>
          <p:cNvSpPr/>
          <p:nvPr/>
        </p:nvSpPr>
        <p:spPr>
          <a:xfrm>
            <a:off x="2805621" y="4338731"/>
            <a:ext cx="1656184" cy="936104"/>
          </a:xfrm>
          <a:prstGeom prst="wedgeRoundRectCallout">
            <a:avLst>
              <a:gd name="adj1" fmla="val 70106"/>
              <a:gd name="adj2" fmla="val 53620"/>
              <a:gd name="adj3" fmla="val 1666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+mn-ea"/>
            </a:endParaRPr>
          </a:p>
        </p:txBody>
      </p:sp>
      <p:sp>
        <p:nvSpPr>
          <p:cNvPr id="24" name="모서리가 둥근 사각형 설명선 23"/>
          <p:cNvSpPr/>
          <p:nvPr/>
        </p:nvSpPr>
        <p:spPr>
          <a:xfrm>
            <a:off x="4106359" y="3248391"/>
            <a:ext cx="1656184" cy="936104"/>
          </a:xfrm>
          <a:prstGeom prst="wedgeRoundRectCallout">
            <a:avLst>
              <a:gd name="adj1" fmla="val 56380"/>
              <a:gd name="adj2" fmla="val 71257"/>
              <a:gd name="adj3" fmla="val 1666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+mn-ea"/>
            </a:endParaRPr>
          </a:p>
        </p:txBody>
      </p:sp>
      <p:sp>
        <p:nvSpPr>
          <p:cNvPr id="25" name="모서리가 둥근 사각형 설명선 24"/>
          <p:cNvSpPr/>
          <p:nvPr/>
        </p:nvSpPr>
        <p:spPr>
          <a:xfrm>
            <a:off x="7918189" y="5636620"/>
            <a:ext cx="1656184" cy="936104"/>
          </a:xfrm>
          <a:prstGeom prst="wedgeRoundRectCallout">
            <a:avLst>
              <a:gd name="adj1" fmla="val -55960"/>
              <a:gd name="adj2" fmla="val 82111"/>
              <a:gd name="adj3" fmla="val 1666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+mn-ea"/>
            </a:endParaRPr>
          </a:p>
        </p:txBody>
      </p:sp>
      <p:sp>
        <p:nvSpPr>
          <p:cNvPr id="26" name="모서리가 둥근 사각형 설명선 25"/>
          <p:cNvSpPr/>
          <p:nvPr/>
        </p:nvSpPr>
        <p:spPr>
          <a:xfrm>
            <a:off x="6077295" y="4532955"/>
            <a:ext cx="1656184" cy="936104"/>
          </a:xfrm>
          <a:prstGeom prst="wedgeRoundRectCallout">
            <a:avLst>
              <a:gd name="adj1" fmla="val 36059"/>
              <a:gd name="adj2" fmla="val 60404"/>
              <a:gd name="adj3" fmla="val 1666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+mn-ea"/>
            </a:endParaRPr>
          </a:p>
        </p:txBody>
      </p:sp>
      <p:grpSp>
        <p:nvGrpSpPr>
          <p:cNvPr id="27" name="그룹 26"/>
          <p:cNvGrpSpPr/>
          <p:nvPr/>
        </p:nvGrpSpPr>
        <p:grpSpPr>
          <a:xfrm>
            <a:off x="2872408" y="4364296"/>
            <a:ext cx="1486000" cy="859885"/>
            <a:chOff x="2872408" y="4364296"/>
            <a:chExt cx="1486000" cy="859885"/>
          </a:xfrm>
        </p:grpSpPr>
        <p:sp>
          <p:nvSpPr>
            <p:cNvPr id="28" name="TextBox 27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2872408" y="4364296"/>
              <a:ext cx="6880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+mn-ea"/>
                </a:rPr>
                <a:t>제 </a:t>
              </a:r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1</a:t>
              </a:r>
              <a:r>
                <a:rPr lang="ko-KR" altLang="en-US" sz="1000" b="1">
                  <a:solidFill>
                    <a:schemeClr val="bg1"/>
                  </a:solidFill>
                  <a:latin typeface="+mn-ea"/>
                </a:rPr>
                <a:t>공장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solidFill>
                    <a:schemeClr val="bg1"/>
                  </a:solidFill>
                  <a:latin typeface="+mn-ea"/>
                </a:rPr>
                <a:t>총원</a:t>
              </a:r>
              <a:endParaRPr lang="en-US" altLang="ko-KR" sz="1000" b="1" dirty="0">
                <a:solidFill>
                  <a:schemeClr val="bg1"/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일일 방문자</a:t>
              </a:r>
            </a:p>
          </p:txBody>
        </p:sp>
      </p:grpSp>
      <p:grpSp>
        <p:nvGrpSpPr>
          <p:cNvPr id="31" name="그룹 30"/>
          <p:cNvGrpSpPr/>
          <p:nvPr/>
        </p:nvGrpSpPr>
        <p:grpSpPr>
          <a:xfrm>
            <a:off x="4191451" y="3286500"/>
            <a:ext cx="1486000" cy="859885"/>
            <a:chOff x="2872408" y="4364296"/>
            <a:chExt cx="1486000" cy="859885"/>
          </a:xfrm>
        </p:grpSpPr>
        <p:sp>
          <p:nvSpPr>
            <p:cNvPr id="32" name="TextBox 31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872408" y="4364296"/>
              <a:ext cx="6880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+mn-ea"/>
                </a:rPr>
                <a:t>제 </a:t>
              </a:r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2</a:t>
              </a:r>
              <a:r>
                <a:rPr lang="ko-KR" altLang="en-US" sz="1000" b="1">
                  <a:solidFill>
                    <a:schemeClr val="bg1"/>
                  </a:solidFill>
                  <a:latin typeface="+mn-ea"/>
                </a:rPr>
                <a:t>공장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solidFill>
                    <a:schemeClr val="bg1"/>
                  </a:solidFill>
                  <a:latin typeface="+mn-ea"/>
                </a:rPr>
                <a:t>총원</a:t>
              </a:r>
              <a:endParaRPr lang="en-US" altLang="ko-KR" sz="1000" b="1" dirty="0">
                <a:solidFill>
                  <a:schemeClr val="bg1"/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일일 방문자</a:t>
              </a:r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6147350" y="4541809"/>
            <a:ext cx="1486000" cy="859885"/>
            <a:chOff x="2872408" y="4364296"/>
            <a:chExt cx="1486000" cy="859885"/>
          </a:xfrm>
        </p:grpSpPr>
        <p:sp>
          <p:nvSpPr>
            <p:cNvPr id="36" name="TextBox 35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2872408" y="4364296"/>
              <a:ext cx="6880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+mn-ea"/>
                </a:rPr>
                <a:t>제 </a:t>
              </a:r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3</a:t>
              </a:r>
              <a:r>
                <a:rPr lang="ko-KR" altLang="en-US" sz="1000" b="1">
                  <a:solidFill>
                    <a:schemeClr val="bg1"/>
                  </a:solidFill>
                  <a:latin typeface="+mn-ea"/>
                </a:rPr>
                <a:t>공장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solidFill>
                    <a:schemeClr val="bg1"/>
                  </a:solidFill>
                  <a:latin typeface="+mn-ea"/>
                </a:rPr>
                <a:t>총원</a:t>
              </a:r>
              <a:endParaRPr lang="en-US" altLang="ko-KR" sz="1000" b="1" dirty="0">
                <a:solidFill>
                  <a:schemeClr val="bg1"/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일일 방문자</a:t>
              </a: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8003281" y="5667034"/>
            <a:ext cx="1486000" cy="859885"/>
            <a:chOff x="2872408" y="4364296"/>
            <a:chExt cx="1486000" cy="859885"/>
          </a:xfrm>
        </p:grpSpPr>
        <p:sp>
          <p:nvSpPr>
            <p:cNvPr id="40" name="TextBox 39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chemeClr val="bg1"/>
                  </a:solidFill>
                  <a:latin typeface="+mn-ea"/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2872408" y="4364296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  <a:latin typeface="+mn-ea"/>
                </a:rPr>
                <a:t>관리동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solidFill>
                    <a:schemeClr val="bg1"/>
                  </a:solidFill>
                  <a:latin typeface="+mn-ea"/>
                </a:rPr>
                <a:t>총원</a:t>
              </a:r>
              <a:endParaRPr lang="en-US" altLang="ko-KR" sz="1000" b="1" dirty="0">
                <a:solidFill>
                  <a:schemeClr val="bg1"/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일일 방문자</a:t>
              </a:r>
            </a:p>
          </p:txBody>
        </p:sp>
      </p:grpSp>
      <p:sp>
        <p:nvSpPr>
          <p:cNvPr id="43" name="직사각형 42"/>
          <p:cNvSpPr/>
          <p:nvPr/>
        </p:nvSpPr>
        <p:spPr>
          <a:xfrm>
            <a:off x="4845551" y="31055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84" name="그룹 83"/>
          <p:cNvGrpSpPr/>
          <p:nvPr/>
        </p:nvGrpSpPr>
        <p:grpSpPr>
          <a:xfrm>
            <a:off x="9529946" y="2476891"/>
            <a:ext cx="327237" cy="327237"/>
            <a:chOff x="9529946" y="2476891"/>
            <a:chExt cx="327237" cy="327237"/>
          </a:xfrm>
        </p:grpSpPr>
        <p:sp>
          <p:nvSpPr>
            <p:cNvPr id="45" name="타원 44"/>
            <p:cNvSpPr/>
            <p:nvPr/>
          </p:nvSpPr>
          <p:spPr>
            <a:xfrm>
              <a:off x="9529946" y="2476891"/>
              <a:ext cx="327237" cy="327237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93283" y="2540228"/>
              <a:ext cx="200563" cy="200563"/>
            </a:xfrm>
            <a:prstGeom prst="rect">
              <a:avLst/>
            </a:prstGeom>
          </p:spPr>
        </p:pic>
      </p:grpSp>
      <p:sp>
        <p:nvSpPr>
          <p:cNvPr id="47" name="직사각형 46"/>
          <p:cNvSpPr/>
          <p:nvPr/>
        </p:nvSpPr>
        <p:spPr>
          <a:xfrm>
            <a:off x="284726" y="33705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8" name="표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2323855"/>
              </p:ext>
            </p:extLst>
          </p:nvPr>
        </p:nvGraphicFramePr>
        <p:xfrm>
          <a:off x="10633534" y="1272208"/>
          <a:ext cx="2088232" cy="7041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빌딩별 취합정보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지역별 정보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형태로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9" name="그룹 48"/>
          <p:cNvGrpSpPr/>
          <p:nvPr/>
        </p:nvGrpSpPr>
        <p:grpSpPr>
          <a:xfrm>
            <a:off x="518636" y="4900047"/>
            <a:ext cx="1224136" cy="315990"/>
            <a:chOff x="2296344" y="2444725"/>
            <a:chExt cx="1224136" cy="315990"/>
          </a:xfrm>
        </p:grpSpPr>
        <p:sp>
          <p:nvSpPr>
            <p:cNvPr id="50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51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66" name="직사각형 65"/>
          <p:cNvSpPr/>
          <p:nvPr/>
        </p:nvSpPr>
        <p:spPr>
          <a:xfrm>
            <a:off x="410705" y="5382110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498354" y="5904956"/>
            <a:ext cx="81666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임직원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상시 방문자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일일 방문자</a:t>
            </a:r>
          </a:p>
        </p:txBody>
      </p:sp>
      <p:sp>
        <p:nvSpPr>
          <p:cNvPr id="68" name="직사각형 67"/>
          <p:cNvSpPr/>
          <p:nvPr/>
        </p:nvSpPr>
        <p:spPr>
          <a:xfrm>
            <a:off x="498354" y="5461106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315016" y="5904956"/>
            <a:ext cx="461858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500</a:t>
            </a:r>
          </a:p>
          <a:p>
            <a:pPr algn="r"/>
            <a:r>
              <a:rPr lang="en-US" altLang="ko-KR" sz="1000" dirty="0">
                <a:latin typeface="+mn-ea"/>
              </a:rPr>
              <a:t>300</a:t>
            </a:r>
          </a:p>
          <a:p>
            <a:pPr algn="r"/>
            <a:r>
              <a:rPr lang="en-US" altLang="ko-KR" sz="1000" dirty="0">
                <a:latin typeface="+mn-ea"/>
              </a:rPr>
              <a:t>150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>
            <a:off x="518636" y="6633685"/>
            <a:ext cx="1224136" cy="315990"/>
            <a:chOff x="2296344" y="2444725"/>
            <a:chExt cx="1224136" cy="315990"/>
          </a:xfrm>
        </p:grpSpPr>
        <p:sp>
          <p:nvSpPr>
            <p:cNvPr id="71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72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73" name="직사각형 72"/>
          <p:cNvSpPr/>
          <p:nvPr/>
        </p:nvSpPr>
        <p:spPr>
          <a:xfrm>
            <a:off x="410705" y="7115748"/>
            <a:ext cx="1439999" cy="103433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498354" y="7638594"/>
            <a:ext cx="81666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임직원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상시 방문자</a:t>
            </a:r>
            <a:endParaRPr lang="en-US" altLang="ko-KR" sz="1000" dirty="0">
              <a:latin typeface="+mn-ea"/>
            </a:endParaRPr>
          </a:p>
          <a:p>
            <a:r>
              <a:rPr lang="ko-KR" altLang="en-US" sz="1000" dirty="0">
                <a:latin typeface="+mn-ea"/>
              </a:rPr>
              <a:t>일일 방문자</a:t>
            </a:r>
          </a:p>
        </p:txBody>
      </p:sp>
      <p:sp>
        <p:nvSpPr>
          <p:cNvPr id="75" name="직사각형 74"/>
          <p:cNvSpPr/>
          <p:nvPr/>
        </p:nvSpPr>
        <p:spPr>
          <a:xfrm>
            <a:off x="498354" y="7194744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1315016" y="7638594"/>
            <a:ext cx="461858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500</a:t>
            </a:r>
          </a:p>
          <a:p>
            <a:pPr algn="r"/>
            <a:r>
              <a:rPr lang="en-US" altLang="ko-KR" sz="1000" dirty="0">
                <a:latin typeface="+mn-ea"/>
              </a:rPr>
              <a:t>300</a:t>
            </a:r>
          </a:p>
          <a:p>
            <a:pPr algn="r"/>
            <a:r>
              <a:rPr lang="en-US" altLang="ko-KR" sz="1000" dirty="0">
                <a:latin typeface="+mn-ea"/>
              </a:rPr>
              <a:t>150</a:t>
            </a:r>
            <a:endParaRPr lang="ko-KR" altLang="en-US" sz="1000" dirty="0">
              <a:latin typeface="+mn-ea"/>
            </a:endParaRPr>
          </a:p>
        </p:txBody>
      </p:sp>
      <p:sp>
        <p:nvSpPr>
          <p:cNvPr id="81" name="모서리가 둥근 직사각형 80"/>
          <p:cNvSpPr/>
          <p:nvPr/>
        </p:nvSpPr>
        <p:spPr>
          <a:xfrm>
            <a:off x="8303786" y="2476891"/>
            <a:ext cx="1103187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latin typeface="+mn-ea"/>
              </a:rPr>
              <a:t>지난 대피현황</a:t>
            </a:r>
          </a:p>
        </p:txBody>
      </p:sp>
      <p:sp>
        <p:nvSpPr>
          <p:cNvPr id="82" name="모서리가 둥근 직사각형 81"/>
          <p:cNvSpPr/>
          <p:nvPr/>
        </p:nvSpPr>
        <p:spPr>
          <a:xfrm>
            <a:off x="7081756" y="2476891"/>
            <a:ext cx="1103187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latin typeface="+mn-ea"/>
              </a:rPr>
              <a:t>비상지역 설정</a:t>
            </a:r>
          </a:p>
        </p:txBody>
      </p:sp>
      <p:sp>
        <p:nvSpPr>
          <p:cNvPr id="83" name="모서리가 둥근 사각형 설명선 82"/>
          <p:cNvSpPr/>
          <p:nvPr/>
        </p:nvSpPr>
        <p:spPr>
          <a:xfrm>
            <a:off x="7251541" y="2965530"/>
            <a:ext cx="1095053" cy="356808"/>
          </a:xfrm>
          <a:prstGeom prst="wedgeRoundRectCallout">
            <a:avLst>
              <a:gd name="adj1" fmla="val -18907"/>
              <a:gd name="adj2" fmla="val -115497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018</a:t>
            </a:r>
          </a:p>
          <a:p>
            <a:pPr algn="ctr"/>
            <a:r>
              <a:rPr lang="ko-KR" altLang="en-US" sz="800" dirty="0"/>
              <a:t>비상지역 설정 팝업</a:t>
            </a:r>
            <a:endParaRPr lang="en-US" altLang="ko-KR" sz="800" dirty="0"/>
          </a:p>
        </p:txBody>
      </p:sp>
      <p:sp>
        <p:nvSpPr>
          <p:cNvPr id="85" name="모서리가 둥근 사각형 설명선 84"/>
          <p:cNvSpPr/>
          <p:nvPr/>
        </p:nvSpPr>
        <p:spPr>
          <a:xfrm>
            <a:off x="8689461" y="2965530"/>
            <a:ext cx="1095053" cy="356808"/>
          </a:xfrm>
          <a:prstGeom prst="wedgeRoundRectCallout">
            <a:avLst>
              <a:gd name="adj1" fmla="val -18907"/>
              <a:gd name="adj2" fmla="val -115497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020</a:t>
            </a:r>
          </a:p>
          <a:p>
            <a:pPr algn="ctr"/>
            <a:r>
              <a:rPr lang="ko-KR" altLang="en-US" sz="800" dirty="0"/>
              <a:t>지난 대피현황 보기</a:t>
            </a:r>
            <a:endParaRPr lang="en-US" altLang="ko-KR" sz="800" dirty="0"/>
          </a:p>
        </p:txBody>
      </p:sp>
      <p:sp>
        <p:nvSpPr>
          <p:cNvPr id="10" name="TextBox 9"/>
          <p:cNvSpPr txBox="1"/>
          <p:nvPr/>
        </p:nvSpPr>
        <p:spPr>
          <a:xfrm>
            <a:off x="10577264" y="2131368"/>
            <a:ext cx="2168066" cy="5539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000" dirty="0">
                <a:solidFill>
                  <a:srgbClr val="FF0000"/>
                </a:solidFill>
              </a:rPr>
              <a:t>비상선포 전에는 좌측 메뉴영역</a:t>
            </a:r>
            <a:r>
              <a:rPr lang="en-US" altLang="ko-KR" sz="1000" dirty="0">
                <a:solidFill>
                  <a:srgbClr val="FF0000"/>
                </a:solidFill>
              </a:rPr>
              <a:t>/ Map </a:t>
            </a:r>
            <a:r>
              <a:rPr lang="ko-KR" altLang="en-US" sz="1000">
                <a:solidFill>
                  <a:srgbClr val="FF0000"/>
                </a:solidFill>
              </a:rPr>
              <a:t>영역에서 터치하여 상세내용을 보는 액션 없음</a:t>
            </a:r>
            <a:endParaRPr lang="ko-KR" altLang="en-US" sz="1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393220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직사각형 37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2152328" y="1971624"/>
            <a:ext cx="6840760" cy="56372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2152328" y="7437907"/>
            <a:ext cx="3420380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5572708" y="7437907"/>
            <a:ext cx="3420380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반영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4783806" y="2098455"/>
            <a:ext cx="16498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2000" b="1" dirty="0">
                <a:latin typeface="+mj-lt"/>
                <a:ea typeface="나눔바른고딕" panose="020B0603020101020101" pitchFamily="50" charset="-127"/>
              </a:rPr>
              <a:t>비상지역 설정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2296344" y="3421947"/>
            <a:ext cx="6480720" cy="3145418"/>
            <a:chOff x="2512368" y="4068502"/>
            <a:chExt cx="6048672" cy="2924276"/>
          </a:xfrm>
        </p:grpSpPr>
        <p:sp>
          <p:nvSpPr>
            <p:cNvPr id="7" name="직사각형 6"/>
            <p:cNvSpPr/>
            <p:nvPr/>
          </p:nvSpPr>
          <p:spPr>
            <a:xfrm>
              <a:off x="2512368" y="4068502"/>
              <a:ext cx="3024336" cy="2924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직사각형 7"/>
            <p:cNvSpPr/>
            <p:nvPr/>
          </p:nvSpPr>
          <p:spPr>
            <a:xfrm>
              <a:off x="5536704" y="4068502"/>
              <a:ext cx="3024336" cy="2924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675564"/>
              </p:ext>
            </p:extLst>
          </p:nvPr>
        </p:nvGraphicFramePr>
        <p:xfrm>
          <a:off x="2440360" y="3604526"/>
          <a:ext cx="2880320" cy="2411335"/>
        </p:xfrm>
        <a:graphic>
          <a:graphicData uri="http://schemas.openxmlformats.org/drawingml/2006/table">
            <a:tbl>
              <a:tblPr/>
              <a:tblGrid>
                <a:gridCol w="891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73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1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전체선택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관리동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6139629"/>
              </p:ext>
            </p:extLst>
          </p:nvPr>
        </p:nvGraphicFramePr>
        <p:xfrm>
          <a:off x="5680720" y="3604526"/>
          <a:ext cx="2880320" cy="2821594"/>
        </p:xfrm>
        <a:graphic>
          <a:graphicData uri="http://schemas.openxmlformats.org/drawingml/2006/table">
            <a:tbl>
              <a:tblPr/>
              <a:tblGrid>
                <a:gridCol w="891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8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1" name="직선 연결선 10"/>
          <p:cNvCxnSpPr/>
          <p:nvPr/>
        </p:nvCxnSpPr>
        <p:spPr>
          <a:xfrm>
            <a:off x="5437651" y="3604526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8633048" y="3604526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/>
          <p:cNvSpPr/>
          <p:nvPr/>
        </p:nvSpPr>
        <p:spPr>
          <a:xfrm>
            <a:off x="5519812" y="186672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2440360" y="6588841"/>
            <a:ext cx="6336704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관리동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,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298317"/>
              </p:ext>
            </p:extLst>
          </p:nvPr>
        </p:nvGraphicFramePr>
        <p:xfrm>
          <a:off x="10633534" y="1272208"/>
          <a:ext cx="2088232" cy="365900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비상지역 설정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공장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전체선택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모든 공장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세부 층을 선택하도록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빌딩의 세부 층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빌딩의 전체선택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내역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내용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비상지역 전체 해제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비상지역으로 선포된 뒤 발생되는 버튼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직사각형 15"/>
          <p:cNvSpPr/>
          <p:nvPr/>
        </p:nvSpPr>
        <p:spPr>
          <a:xfrm>
            <a:off x="2236783" y="407643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592488" y="450623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7067984" y="34820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2224336" y="492483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2229551" y="667147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038" y="4076439"/>
            <a:ext cx="233497" cy="233498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038" y="5259215"/>
            <a:ext cx="233497" cy="233498"/>
          </a:xfrm>
          <a:prstGeom prst="rect">
            <a:avLst/>
          </a:prstGeom>
        </p:spPr>
      </p:pic>
      <p:pic>
        <p:nvPicPr>
          <p:cNvPr id="23" name="그림 2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037" y="5681420"/>
            <a:ext cx="233497" cy="233497"/>
          </a:xfrm>
          <a:prstGeom prst="rect">
            <a:avLst/>
          </a:prstGeom>
        </p:spPr>
      </p:pic>
      <p:pic>
        <p:nvPicPr>
          <p:cNvPr id="24" name="그림 2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1" y="4061878"/>
            <a:ext cx="233497" cy="23349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1" y="4479976"/>
            <a:ext cx="233497" cy="233498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1" y="4896053"/>
            <a:ext cx="233497" cy="233498"/>
          </a:xfrm>
          <a:prstGeom prst="rect">
            <a:avLst/>
          </a:prstGeom>
        </p:spPr>
      </p:pic>
      <p:pic>
        <p:nvPicPr>
          <p:cNvPr id="27" name="그림 2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1" y="5310243"/>
            <a:ext cx="233497" cy="233498"/>
          </a:xfrm>
          <a:prstGeom prst="rect">
            <a:avLst/>
          </a:prstGeom>
        </p:spPr>
      </p:pic>
      <p:pic>
        <p:nvPicPr>
          <p:cNvPr id="28" name="그림 2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0" y="5697782"/>
            <a:ext cx="233497" cy="233497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6680" y="6108182"/>
            <a:ext cx="233497" cy="233497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>
          <a:blip r:embed="rId3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037" y="4470861"/>
            <a:ext cx="233497" cy="233497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037" y="4877907"/>
            <a:ext cx="233497" cy="23349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573902" y="2658867"/>
            <a:ext cx="135325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600">
                <a:latin typeface="+mj-lt"/>
                <a:ea typeface="나눔바른고딕" panose="020B0603020101020101" pitchFamily="50" charset="-127"/>
              </a:rPr>
              <a:t>비상선포 주제</a:t>
            </a:r>
            <a:endParaRPr lang="ko-KR" altLang="en-US" sz="1600" dirty="0">
              <a:latin typeface="+mj-lt"/>
              <a:ea typeface="나눔바른고딕" panose="020B0603020101020101" pitchFamily="50" charset="-127"/>
            </a:endParaRPr>
          </a:p>
        </p:txBody>
      </p:sp>
      <p:cxnSp>
        <p:nvCxnSpPr>
          <p:cNvPr id="33" name="직선 연결선 32"/>
          <p:cNvCxnSpPr/>
          <p:nvPr/>
        </p:nvCxnSpPr>
        <p:spPr>
          <a:xfrm>
            <a:off x="2152327" y="3221542"/>
            <a:ext cx="6840761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/>
          <p:cNvSpPr/>
          <p:nvPr/>
        </p:nvSpPr>
        <p:spPr>
          <a:xfrm>
            <a:off x="4052176" y="2652606"/>
            <a:ext cx="4724887" cy="37071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46800" rIns="108000" bIns="46800" rtlCol="0" anchor="ctr"/>
          <a:lstStyle/>
          <a:p>
            <a:r>
              <a:rPr lang="en-US" altLang="ko-KR" sz="1100" dirty="0">
                <a:solidFill>
                  <a:schemeClr val="tx1"/>
                </a:solidFill>
                <a:latin typeface="+mj-lt"/>
                <a:ea typeface="맑은 고딕" panose="020B0503020000020004" pitchFamily="50" charset="-127"/>
              </a:rPr>
              <a:t>6</a:t>
            </a:r>
            <a:r>
              <a:rPr lang="ko-KR" altLang="en-US" sz="1100">
                <a:solidFill>
                  <a:schemeClr val="tx1"/>
                </a:solidFill>
                <a:latin typeface="+mj-lt"/>
                <a:ea typeface="맑은 고딕" panose="020B0503020000020004" pitchFamily="50" charset="-127"/>
              </a:rPr>
              <a:t>월 가스위험 대피훈련</a:t>
            </a:r>
            <a:endParaRPr lang="ko-KR" altLang="en-US" sz="1100" dirty="0">
              <a:solidFill>
                <a:schemeClr val="tx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5" name="직사각형 34"/>
          <p:cNvSpPr/>
          <p:nvPr/>
        </p:nvSpPr>
        <p:spPr>
          <a:xfrm>
            <a:off x="2229551" y="273710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6" name="모서리가 둥근 직사각형 35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018</a:t>
            </a:r>
            <a:endParaRPr lang="ko-KR" altLang="en-US" sz="800" dirty="0">
              <a:latin typeface="+mn-ea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비상지역 설정 팝업</a:t>
            </a:r>
            <a:endParaRPr lang="ko-KR" altLang="en-US" sz="900" dirty="0">
              <a:latin typeface="+mn-ea"/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4572899" y="6985828"/>
            <a:ext cx="1999617" cy="360040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/>
              <a:t>비상지역 전체 해제</a:t>
            </a:r>
          </a:p>
        </p:txBody>
      </p:sp>
      <p:sp>
        <p:nvSpPr>
          <p:cNvPr id="40" name="직사각형 39"/>
          <p:cNvSpPr/>
          <p:nvPr/>
        </p:nvSpPr>
        <p:spPr>
          <a:xfrm>
            <a:off x="5502846" y="68831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11160837" y="3914249"/>
            <a:ext cx="1360643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비상지역을 해제하시겠습니까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11160837" y="4502230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43" name="직사각형 42"/>
          <p:cNvSpPr/>
          <p:nvPr/>
        </p:nvSpPr>
        <p:spPr>
          <a:xfrm>
            <a:off x="11838503" y="4502230"/>
            <a:ext cx="682977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</p:spTree>
    <p:extLst>
      <p:ext uri="{BB962C8B-B14F-4D97-AF65-F5344CB8AC3E}">
        <p14:creationId xmlns:p14="http://schemas.microsoft.com/office/powerpoint/2010/main" val="3584654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" descr="http://ph.kyeonggi.com/news/photo/201508/1011511_927122_1241.jpg"/>
          <p:cNvPicPr>
            <a:picLocks noChangeAspect="1" noChangeArrowheads="1"/>
          </p:cNvPicPr>
          <p:nvPr/>
        </p:nvPicPr>
        <p:blipFill rotWithShape="1"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840" b="7824"/>
          <a:stretch/>
        </p:blipFill>
        <p:spPr bwMode="auto">
          <a:xfrm>
            <a:off x="1858617" y="2352329"/>
            <a:ext cx="8268765" cy="57878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" name="그룹 23"/>
          <p:cNvGrpSpPr/>
          <p:nvPr/>
        </p:nvGrpSpPr>
        <p:grpSpPr>
          <a:xfrm>
            <a:off x="9529946" y="2476891"/>
            <a:ext cx="327237" cy="327237"/>
            <a:chOff x="9529946" y="2476891"/>
            <a:chExt cx="327237" cy="327237"/>
          </a:xfrm>
        </p:grpSpPr>
        <p:sp>
          <p:nvSpPr>
            <p:cNvPr id="25" name="타원 24"/>
            <p:cNvSpPr/>
            <p:nvPr/>
          </p:nvSpPr>
          <p:spPr>
            <a:xfrm>
              <a:off x="9529946" y="2476891"/>
              <a:ext cx="327237" cy="327237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26" name="그림 2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93283" y="2540228"/>
              <a:ext cx="200563" cy="200563"/>
            </a:xfrm>
            <a:prstGeom prst="rect">
              <a:avLst/>
            </a:prstGeom>
          </p:spPr>
        </p:pic>
      </p:grpSp>
      <p:sp>
        <p:nvSpPr>
          <p:cNvPr id="27" name="모서리가 둥근 직사각형 26"/>
          <p:cNvSpPr/>
          <p:nvPr/>
        </p:nvSpPr>
        <p:spPr>
          <a:xfrm>
            <a:off x="8303786" y="2476891"/>
            <a:ext cx="1103187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latin typeface="+mn-ea"/>
              </a:rPr>
              <a:t>지난 대피현황</a:t>
            </a:r>
          </a:p>
        </p:txBody>
      </p:sp>
      <p:sp>
        <p:nvSpPr>
          <p:cNvPr id="28" name="모서리가 둥근 직사각형 27"/>
          <p:cNvSpPr/>
          <p:nvPr/>
        </p:nvSpPr>
        <p:spPr>
          <a:xfrm>
            <a:off x="7081756" y="2476891"/>
            <a:ext cx="1103187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latin typeface="+mn-ea"/>
              </a:rPr>
              <a:t>비상지역 설정</a:t>
            </a:r>
          </a:p>
        </p:txBody>
      </p:sp>
      <p:sp>
        <p:nvSpPr>
          <p:cNvPr id="29" name="모서리가 둥근 사각형 설명선 28"/>
          <p:cNvSpPr/>
          <p:nvPr/>
        </p:nvSpPr>
        <p:spPr>
          <a:xfrm>
            <a:off x="2805621" y="4338731"/>
            <a:ext cx="1656184" cy="936104"/>
          </a:xfrm>
          <a:prstGeom prst="wedgeRoundRectCallout">
            <a:avLst>
              <a:gd name="adj1" fmla="val 70106"/>
              <a:gd name="adj2" fmla="val 53620"/>
              <a:gd name="adj3" fmla="val 16667"/>
            </a:avLst>
          </a:prstGeom>
          <a:solidFill>
            <a:schemeClr val="tx1"/>
          </a:solidFill>
          <a:ln>
            <a:solidFill>
              <a:srgbClr val="FF60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모서리가 둥근 사각형 설명선 29"/>
          <p:cNvSpPr/>
          <p:nvPr/>
        </p:nvSpPr>
        <p:spPr>
          <a:xfrm>
            <a:off x="4106359" y="3248391"/>
            <a:ext cx="1656184" cy="936104"/>
          </a:xfrm>
          <a:prstGeom prst="wedgeRoundRectCallout">
            <a:avLst>
              <a:gd name="adj1" fmla="val 56380"/>
              <a:gd name="adj2" fmla="val 71257"/>
              <a:gd name="adj3" fmla="val 16667"/>
            </a:avLst>
          </a:prstGeom>
          <a:solidFill>
            <a:schemeClr val="tx1"/>
          </a:solidFill>
          <a:ln>
            <a:solidFill>
              <a:srgbClr val="FF60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모서리가 둥근 사각형 설명선 30"/>
          <p:cNvSpPr/>
          <p:nvPr/>
        </p:nvSpPr>
        <p:spPr>
          <a:xfrm>
            <a:off x="7918189" y="5636620"/>
            <a:ext cx="1656184" cy="936104"/>
          </a:xfrm>
          <a:prstGeom prst="wedgeRoundRectCallout">
            <a:avLst>
              <a:gd name="adj1" fmla="val -55960"/>
              <a:gd name="adj2" fmla="val 82111"/>
              <a:gd name="adj3" fmla="val 16667"/>
            </a:avLst>
          </a:prstGeom>
          <a:solidFill>
            <a:schemeClr val="tx1"/>
          </a:solidFill>
          <a:ln>
            <a:solidFill>
              <a:srgbClr val="FF60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2" name="그룹 31"/>
          <p:cNvGrpSpPr/>
          <p:nvPr/>
        </p:nvGrpSpPr>
        <p:grpSpPr>
          <a:xfrm>
            <a:off x="2872408" y="4364296"/>
            <a:ext cx="1486000" cy="859885"/>
            <a:chOff x="2872408" y="4364296"/>
            <a:chExt cx="1486000" cy="859885"/>
          </a:xfrm>
        </p:grpSpPr>
        <p:sp>
          <p:nvSpPr>
            <p:cNvPr id="33" name="TextBox 32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FF00"/>
                  </a:solidFill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2872408" y="4364296"/>
              <a:ext cx="6880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</a:rPr>
                <a:t>제 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1</a:t>
              </a:r>
              <a:r>
                <a:rPr lang="ko-KR" altLang="en-US" sz="1000" b="1">
                  <a:solidFill>
                    <a:schemeClr val="bg1"/>
                  </a:solidFill>
                </a:rPr>
                <a:t>공장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rgbClr val="FFFF00"/>
                  </a:solidFill>
                </a:rPr>
                <a:t>미대피자</a:t>
              </a:r>
              <a:endParaRPr lang="en-US" altLang="ko-KR" sz="1000" b="1" dirty="0">
                <a:solidFill>
                  <a:srgbClr val="FFFF00"/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일일 방문자</a:t>
              </a:r>
            </a:p>
          </p:txBody>
        </p:sp>
      </p:grpSp>
      <p:grpSp>
        <p:nvGrpSpPr>
          <p:cNvPr id="36" name="그룹 35"/>
          <p:cNvGrpSpPr/>
          <p:nvPr/>
        </p:nvGrpSpPr>
        <p:grpSpPr>
          <a:xfrm>
            <a:off x="4165497" y="3286500"/>
            <a:ext cx="1486000" cy="859885"/>
            <a:chOff x="2872408" y="4364296"/>
            <a:chExt cx="1486000" cy="859885"/>
          </a:xfrm>
        </p:grpSpPr>
        <p:sp>
          <p:nvSpPr>
            <p:cNvPr id="37" name="TextBox 36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FF00"/>
                  </a:solidFill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2872408" y="4364296"/>
              <a:ext cx="68800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</a:rPr>
                <a:t>제 </a:t>
              </a:r>
              <a:r>
                <a:rPr lang="en-US" altLang="ko-KR" sz="1000" b="1" dirty="0">
                  <a:solidFill>
                    <a:schemeClr val="bg1"/>
                  </a:solidFill>
                </a:rPr>
                <a:t>2</a:t>
              </a:r>
              <a:r>
                <a:rPr lang="ko-KR" altLang="en-US" sz="1000" b="1">
                  <a:solidFill>
                    <a:schemeClr val="bg1"/>
                  </a:solidFill>
                </a:rPr>
                <a:t>공장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rgbClr val="FFFF00"/>
                  </a:solidFill>
                </a:rPr>
                <a:t>미대피자</a:t>
              </a:r>
              <a:endParaRPr lang="en-US" altLang="ko-KR" sz="1000" b="1" dirty="0">
                <a:solidFill>
                  <a:srgbClr val="FFFF00"/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일일 방문자</a:t>
              </a:r>
            </a:p>
          </p:txBody>
        </p:sp>
      </p:grpSp>
      <p:grpSp>
        <p:nvGrpSpPr>
          <p:cNvPr id="40" name="그룹 39"/>
          <p:cNvGrpSpPr/>
          <p:nvPr/>
        </p:nvGrpSpPr>
        <p:grpSpPr>
          <a:xfrm>
            <a:off x="8003281" y="5656334"/>
            <a:ext cx="1486000" cy="859885"/>
            <a:chOff x="2872408" y="4364296"/>
            <a:chExt cx="1486000" cy="859885"/>
          </a:xfrm>
        </p:grpSpPr>
        <p:sp>
          <p:nvSpPr>
            <p:cNvPr id="41" name="TextBox 40"/>
            <p:cNvSpPr txBox="1"/>
            <p:nvPr/>
          </p:nvSpPr>
          <p:spPr>
            <a:xfrm>
              <a:off x="3952528" y="4608628"/>
              <a:ext cx="405880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b="1" dirty="0">
                  <a:solidFill>
                    <a:srgbClr val="FFFF00"/>
                  </a:solidFill>
                </a:rPr>
                <a:t>300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</a:p>
            <a:p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100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2872408" y="4364296"/>
              <a:ext cx="56938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chemeClr val="bg1"/>
                  </a:solidFill>
                </a:rPr>
                <a:t>관리동</a:t>
              </a:r>
              <a:endParaRPr lang="ko-KR" alt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872408" y="4608628"/>
              <a:ext cx="734496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solidFill>
                    <a:srgbClr val="FFFF00"/>
                  </a:solidFill>
                </a:rPr>
                <a:t>미대피자</a:t>
              </a:r>
              <a:endParaRPr lang="en-US" altLang="ko-KR" sz="1000" b="1" dirty="0">
                <a:solidFill>
                  <a:srgbClr val="FFFF00"/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임직원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상시</a:t>
              </a:r>
              <a:r>
                <a:rPr lang="en-US" altLang="ko-KR" sz="800" dirty="0">
                  <a:solidFill>
                    <a:schemeClr val="bg1">
                      <a:lumMod val="65000"/>
                    </a:schemeClr>
                  </a:solidFill>
                </a:rPr>
                <a:t> </a:t>
              </a:r>
              <a:r>
                <a:rPr lang="ko-KR" altLang="en-US" sz="800">
                  <a:solidFill>
                    <a:schemeClr val="bg1">
                      <a:lumMod val="65000"/>
                    </a:schemeClr>
                  </a:solidFill>
                </a:rPr>
                <a:t>방문자</a:t>
              </a:r>
              <a:endParaRPr lang="en-US" altLang="ko-KR" sz="800" dirty="0">
                <a:solidFill>
                  <a:schemeClr val="bg1">
                    <a:lumMod val="65000"/>
                  </a:schemeClr>
                </a:solidFill>
              </a:endParaRPr>
            </a:p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</a:rPr>
                <a:t>일일 방문자</a:t>
              </a:r>
            </a:p>
          </p:txBody>
        </p:sp>
      </p:grp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963920"/>
              </p:ext>
            </p:extLst>
          </p:nvPr>
        </p:nvGraphicFramePr>
        <p:xfrm>
          <a:off x="10633534" y="1272208"/>
          <a:ext cx="2088232" cy="16319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선택하여 해당 빌딩의 상세 비상대피 현황 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시 해당 건물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층으로 화면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시 선택된 층의 정보화면으로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된 층만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된 빌딩만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0" name="직사각형 49"/>
          <p:cNvSpPr/>
          <p:nvPr/>
        </p:nvSpPr>
        <p:spPr>
          <a:xfrm>
            <a:off x="3586321" y="42600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1" name="모서리가 둥근 직사각형 50"/>
          <p:cNvSpPr/>
          <p:nvPr/>
        </p:nvSpPr>
        <p:spPr>
          <a:xfrm>
            <a:off x="4807823" y="2491089"/>
            <a:ext cx="1679006" cy="301040"/>
          </a:xfrm>
          <a:prstGeom prst="roundRect">
            <a:avLst>
              <a:gd name="adj" fmla="val 50000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latin typeface="+mn-ea"/>
              </a:rPr>
              <a:t>04</a:t>
            </a:r>
            <a:r>
              <a:rPr lang="ko-KR" altLang="en-US" sz="1100" b="1">
                <a:solidFill>
                  <a:schemeClr val="bg1"/>
                </a:solidFill>
                <a:latin typeface="+mn-ea"/>
              </a:rPr>
              <a:t>시간 </a:t>
            </a:r>
            <a:r>
              <a:rPr lang="en-US" altLang="ko-KR" sz="1100" b="1" dirty="0">
                <a:solidFill>
                  <a:schemeClr val="bg1"/>
                </a:solidFill>
                <a:latin typeface="+mn-ea"/>
              </a:rPr>
              <a:t>23</a:t>
            </a:r>
            <a:r>
              <a:rPr lang="ko-KR" altLang="en-US" sz="1100" b="1">
                <a:solidFill>
                  <a:schemeClr val="bg1"/>
                </a:solidFill>
                <a:latin typeface="+mn-ea"/>
              </a:rPr>
              <a:t>분 </a:t>
            </a:r>
            <a:r>
              <a:rPr lang="en-US" altLang="ko-KR" sz="1100" b="1" dirty="0">
                <a:solidFill>
                  <a:schemeClr val="bg1"/>
                </a:solidFill>
                <a:latin typeface="+mn-ea"/>
              </a:rPr>
              <a:t>32</a:t>
            </a:r>
            <a:r>
              <a:rPr lang="ko-KR" altLang="en-US" sz="1100" b="1">
                <a:solidFill>
                  <a:schemeClr val="bg1"/>
                </a:solidFill>
                <a:latin typeface="+mn-ea"/>
              </a:rPr>
              <a:t>초</a:t>
            </a:r>
            <a:r>
              <a:rPr lang="en-US" altLang="ko-KR" sz="11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>
                <a:solidFill>
                  <a:schemeClr val="bg1"/>
                </a:solidFill>
                <a:latin typeface="+mn-ea"/>
              </a:rPr>
              <a:t>경과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모서리가 둥근 직사각형 51"/>
          <p:cNvSpPr/>
          <p:nvPr/>
        </p:nvSpPr>
        <p:spPr>
          <a:xfrm>
            <a:off x="2000055" y="2476891"/>
            <a:ext cx="2684795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rgbClr val="FFFF00"/>
                </a:solidFill>
              </a:rPr>
              <a:t>6</a:t>
            </a:r>
            <a:r>
              <a:rPr lang="ko-KR" altLang="en-US" sz="900" b="1">
                <a:solidFill>
                  <a:srgbClr val="FFFF00"/>
                </a:solidFill>
              </a:rPr>
              <a:t>월 가스위험 비상 대피 훈련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410705" y="2268280"/>
            <a:ext cx="1439999" cy="133116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498354" y="2724279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55" name="직사각형 54"/>
          <p:cNvSpPr/>
          <p:nvPr/>
        </p:nvSpPr>
        <p:spPr>
          <a:xfrm>
            <a:off x="498354" y="2347276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전체보기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15016" y="2724279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sp>
        <p:nvSpPr>
          <p:cNvPr id="57" name="직사각형 56"/>
          <p:cNvSpPr/>
          <p:nvPr/>
        </p:nvSpPr>
        <p:spPr>
          <a:xfrm>
            <a:off x="410705" y="3599443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98354" y="4055442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59" name="직사각형 58"/>
          <p:cNvSpPr/>
          <p:nvPr/>
        </p:nvSpPr>
        <p:spPr>
          <a:xfrm>
            <a:off x="498354" y="3678439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60" name="TextBox 59"/>
          <p:cNvSpPr txBox="1"/>
          <p:nvPr/>
        </p:nvSpPr>
        <p:spPr>
          <a:xfrm>
            <a:off x="1315016" y="4055442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518636" y="4936819"/>
            <a:ext cx="1224136" cy="315990"/>
            <a:chOff x="2296344" y="2444725"/>
            <a:chExt cx="1224136" cy="315990"/>
          </a:xfrm>
        </p:grpSpPr>
        <p:sp>
          <p:nvSpPr>
            <p:cNvPr id="6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6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64" name="직사각형 63"/>
          <p:cNvSpPr/>
          <p:nvPr/>
        </p:nvSpPr>
        <p:spPr>
          <a:xfrm>
            <a:off x="410705" y="7086303"/>
            <a:ext cx="1439999" cy="1053846"/>
          </a:xfrm>
          <a:prstGeom prst="rect">
            <a:avLst/>
          </a:prstGeom>
          <a:solidFill>
            <a:schemeClr val="bg1">
              <a:alpha val="63000"/>
            </a:scheme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메뉴 없어짐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498354" y="3404834"/>
            <a:ext cx="953787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1</a:t>
            </a:r>
            <a:r>
              <a:rPr lang="ko-KR" altLang="en-US" sz="800" b="1"/>
              <a:t>층 </a:t>
            </a:r>
            <a:r>
              <a:rPr lang="en-US" altLang="ko-KR" sz="800" b="1" dirty="0"/>
              <a:t>/ 2</a:t>
            </a:r>
            <a:r>
              <a:rPr lang="ko-KR" altLang="en-US" sz="800" b="1"/>
              <a:t>층</a:t>
            </a:r>
            <a:endParaRPr lang="ko-KR" altLang="en-US" sz="800" b="1" dirty="0"/>
          </a:p>
        </p:txBody>
      </p:sp>
      <p:sp>
        <p:nvSpPr>
          <p:cNvPr id="77" name="TextBox 76"/>
          <p:cNvSpPr txBox="1"/>
          <p:nvPr/>
        </p:nvSpPr>
        <p:spPr>
          <a:xfrm>
            <a:off x="498354" y="4689606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79" name="직사각형 78"/>
          <p:cNvSpPr/>
          <p:nvPr/>
        </p:nvSpPr>
        <p:spPr>
          <a:xfrm>
            <a:off x="987476" y="48442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80" name="직선 연결선 79"/>
          <p:cNvCxnSpPr/>
          <p:nvPr/>
        </p:nvCxnSpPr>
        <p:spPr>
          <a:xfrm>
            <a:off x="1858617" y="2287865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2" name="왼쪽 대괄호 1"/>
          <p:cNvSpPr/>
          <p:nvPr/>
        </p:nvSpPr>
        <p:spPr>
          <a:xfrm>
            <a:off x="347368" y="2268280"/>
            <a:ext cx="45719" cy="4818023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/>
          <p:cNvSpPr/>
          <p:nvPr/>
        </p:nvSpPr>
        <p:spPr>
          <a:xfrm>
            <a:off x="122106" y="43337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5" name="직사각형 64"/>
          <p:cNvSpPr/>
          <p:nvPr/>
        </p:nvSpPr>
        <p:spPr>
          <a:xfrm>
            <a:off x="410705" y="5333081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498354" y="5789080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67" name="직사각형 66"/>
          <p:cNvSpPr/>
          <p:nvPr/>
        </p:nvSpPr>
        <p:spPr>
          <a:xfrm>
            <a:off x="498354" y="5412077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68" name="TextBox 67"/>
          <p:cNvSpPr txBox="1"/>
          <p:nvPr/>
        </p:nvSpPr>
        <p:spPr>
          <a:xfrm>
            <a:off x="1315016" y="5789080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69" name="그룹 68"/>
          <p:cNvGrpSpPr/>
          <p:nvPr/>
        </p:nvGrpSpPr>
        <p:grpSpPr>
          <a:xfrm>
            <a:off x="518636" y="6670457"/>
            <a:ext cx="1224136" cy="315990"/>
            <a:chOff x="2296344" y="2444725"/>
            <a:chExt cx="1224136" cy="315990"/>
          </a:xfrm>
        </p:grpSpPr>
        <p:sp>
          <p:nvSpPr>
            <p:cNvPr id="70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71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498354" y="6423244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74" name="모서리가 둥근 사각형 설명선 73"/>
          <p:cNvSpPr/>
          <p:nvPr/>
        </p:nvSpPr>
        <p:spPr>
          <a:xfrm>
            <a:off x="6077295" y="4532955"/>
            <a:ext cx="1656184" cy="936104"/>
          </a:xfrm>
          <a:prstGeom prst="wedgeRoundRectCallout">
            <a:avLst>
              <a:gd name="adj1" fmla="val 36059"/>
              <a:gd name="adj2" fmla="val 60404"/>
              <a:gd name="adj3" fmla="val 16667"/>
            </a:avLst>
          </a:prstGeom>
          <a:solidFill>
            <a:schemeClr val="bg1">
              <a:alpha val="63000"/>
            </a:scheme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 err="1">
                <a:solidFill>
                  <a:schemeClr val="tx1"/>
                </a:solidFill>
                <a:latin typeface="+mn-ea"/>
              </a:rPr>
              <a:t>비상지정되지</a:t>
            </a:r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 않은 빌딩은 화면에서 없어짐</a:t>
            </a:r>
          </a:p>
        </p:txBody>
      </p:sp>
    </p:spTree>
    <p:extLst>
      <p:ext uri="{BB962C8B-B14F-4D97-AF65-F5344CB8AC3E}">
        <p14:creationId xmlns:p14="http://schemas.microsoft.com/office/powerpoint/2010/main" val="429060351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모서리가 둥근 직사각형 20"/>
          <p:cNvSpPr/>
          <p:nvPr/>
        </p:nvSpPr>
        <p:spPr>
          <a:xfrm>
            <a:off x="2268483" y="3404834"/>
            <a:ext cx="2909235" cy="1269650"/>
          </a:xfrm>
          <a:prstGeom prst="roundRect">
            <a:avLst>
              <a:gd name="adj" fmla="val 0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14</a:t>
            </a:r>
          </a:p>
          <a:p>
            <a:pPr algn="ctr"/>
            <a:r>
              <a:rPr lang="ko-KR" altLang="en-US" sz="14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빌딩 전체 미대피자</a:t>
            </a:r>
          </a:p>
        </p:txBody>
      </p:sp>
      <p:sp>
        <p:nvSpPr>
          <p:cNvPr id="22" name="모서리가 둥근 직사각형 21"/>
          <p:cNvSpPr/>
          <p:nvPr/>
        </p:nvSpPr>
        <p:spPr>
          <a:xfrm>
            <a:off x="5236750" y="3400516"/>
            <a:ext cx="1956138" cy="1269650"/>
          </a:xfrm>
          <a:prstGeom prst="roundRect">
            <a:avLst>
              <a:gd name="adj" fmla="val 0"/>
            </a:avLst>
          </a:prstGeom>
          <a:solidFill>
            <a:srgbClr val="34AADA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186</a:t>
            </a:r>
            <a:endParaRPr lang="en-US" altLang="ko-KR" sz="40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1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안전지역 대피자</a:t>
            </a: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5553626"/>
              </p:ext>
            </p:extLst>
          </p:nvPr>
        </p:nvGraphicFramePr>
        <p:xfrm>
          <a:off x="2416337" y="5421246"/>
          <a:ext cx="3768440" cy="1919634"/>
        </p:xfrm>
        <a:graphic>
          <a:graphicData uri="http://schemas.openxmlformats.org/drawingml/2006/table">
            <a:tbl>
              <a:tblPr/>
              <a:tblGrid>
                <a:gridCol w="1000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33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명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 미대피자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85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6386271" y="5421247"/>
            <a:ext cx="3552777" cy="62859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/>
          <p:cNvSpPr txBox="1"/>
          <p:nvPr/>
        </p:nvSpPr>
        <p:spPr>
          <a:xfrm>
            <a:off x="6566220" y="5593734"/>
            <a:ext cx="165269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[E-2]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미대피자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6386271" y="6045524"/>
            <a:ext cx="3552777" cy="199543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080897"/>
              </p:ext>
            </p:extLst>
          </p:nvPr>
        </p:nvGraphicFramePr>
        <p:xfrm>
          <a:off x="6566220" y="6155209"/>
          <a:ext cx="3192878" cy="1720068"/>
        </p:xfrm>
        <a:graphic>
          <a:graphicData uri="http://schemas.openxmlformats.org/drawingml/2006/table">
            <a:tbl>
              <a:tblPr/>
              <a:tblGrid>
                <a:gridCol w="8477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3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13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202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방문구분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입실일시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66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66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수시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661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임직원</a:t>
                      </a:r>
                      <a:endParaRPr 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105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29" name="직선 연결선 28"/>
          <p:cNvCxnSpPr/>
          <p:nvPr/>
        </p:nvCxnSpPr>
        <p:spPr>
          <a:xfrm>
            <a:off x="9857184" y="6155209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/>
          <p:cNvCxnSpPr/>
          <p:nvPr/>
        </p:nvCxnSpPr>
        <p:spPr>
          <a:xfrm>
            <a:off x="6112768" y="6083939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그룹 34"/>
          <p:cNvGrpSpPr/>
          <p:nvPr/>
        </p:nvGrpSpPr>
        <p:grpSpPr>
          <a:xfrm>
            <a:off x="7569115" y="3406474"/>
            <a:ext cx="2366530" cy="1261264"/>
            <a:chOff x="3531999" y="4451217"/>
            <a:chExt cx="3426181" cy="1224136"/>
          </a:xfrm>
        </p:grpSpPr>
        <p:sp>
          <p:nvSpPr>
            <p:cNvPr id="36" name="모서리가 둥근 직사각형 35"/>
            <p:cNvSpPr/>
            <p:nvPr/>
          </p:nvSpPr>
          <p:spPr>
            <a:xfrm>
              <a:off x="3531999" y="4451217"/>
              <a:ext cx="3426181" cy="1224136"/>
            </a:xfrm>
            <a:prstGeom prst="roundRect">
              <a:avLst>
                <a:gd name="adj" fmla="val 50000"/>
              </a:avLst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endParaRPr lang="ko-KR" altLang="en-US" sz="18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3711151" y="4518544"/>
              <a:ext cx="3049302" cy="1089482"/>
            </a:xfrm>
            <a:prstGeom prst="roundRect">
              <a:avLst>
                <a:gd name="adj" fmla="val 50000"/>
              </a:avLst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endParaRPr lang="en-US" altLang="ko-KR" sz="2400" b="1" dirty="0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rPr>
                <a:t>02:41:03</a:t>
              </a:r>
              <a:endParaRPr lang="ko-KR" altLang="en-US" sz="24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8099772" y="3760566"/>
            <a:ext cx="128560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비상발생 경과시간</a:t>
            </a:r>
            <a:endParaRPr lang="ko-KR" altLang="en-US" sz="1200" b="1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2302171" y="34246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5306764" y="34246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7603372" y="34246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2182297" y="54174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8239150" y="565739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8" name="직사각형 47"/>
          <p:cNvSpPr/>
          <p:nvPr/>
        </p:nvSpPr>
        <p:spPr>
          <a:xfrm>
            <a:off x="2590979" y="6575507"/>
            <a:ext cx="2297654" cy="315040"/>
          </a:xfrm>
          <a:prstGeom prst="rect">
            <a:avLst/>
          </a:prstGeom>
          <a:solidFill>
            <a:schemeClr val="accent1">
              <a:lumMod val="60000"/>
              <a:lumOff val="40000"/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모서리가 둥근 직사각형 51"/>
          <p:cNvSpPr/>
          <p:nvPr/>
        </p:nvSpPr>
        <p:spPr>
          <a:xfrm>
            <a:off x="2000055" y="2476891"/>
            <a:ext cx="2684795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rgbClr val="FFFF00"/>
                </a:solidFill>
              </a:rPr>
              <a:t>6</a:t>
            </a:r>
            <a:r>
              <a:rPr lang="ko-KR" altLang="en-US" sz="900" b="1">
                <a:solidFill>
                  <a:srgbClr val="FFFF00"/>
                </a:solidFill>
              </a:rPr>
              <a:t>월 가스위험 비상 대피 훈련</a:t>
            </a:r>
            <a:endParaRPr lang="ko-KR" altLang="en-US" sz="900" b="1" dirty="0">
              <a:latin typeface="+mn-ea"/>
            </a:endParaRPr>
          </a:p>
        </p:txBody>
      </p:sp>
      <p:graphicFrame>
        <p:nvGraphicFramePr>
          <p:cNvPr id="53" name="표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2376021"/>
              </p:ext>
            </p:extLst>
          </p:nvPr>
        </p:nvGraphicFramePr>
        <p:xfrm>
          <a:off x="10633534" y="1272208"/>
          <a:ext cx="2088232" cy="24105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비상구역으로 선포된 이미지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붉은색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으로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="1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 빌딩</a:t>
                      </a:r>
                      <a:endParaRPr lang="en-US" altLang="ko-KR" sz="800" b="1" baseline="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비상구역으로 선포된 뒤 남아있는 대피자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안전지역으로 대피한 인원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층 비상발생 경과시간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사람이 남아있는 구역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만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구역을 선택했을 때 있는 인원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된 빌딩만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4" name="모서리가 둥근 사각형 설명선 53"/>
          <p:cNvSpPr/>
          <p:nvPr/>
        </p:nvSpPr>
        <p:spPr>
          <a:xfrm>
            <a:off x="3088432" y="6937309"/>
            <a:ext cx="1212125" cy="356808"/>
          </a:xfrm>
          <a:prstGeom prst="wedgeRoundRectCallout">
            <a:avLst>
              <a:gd name="adj1" fmla="val -65926"/>
              <a:gd name="adj2" fmla="val -97502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019</a:t>
            </a:r>
          </a:p>
          <a:p>
            <a:pPr algn="ctr"/>
            <a:r>
              <a:rPr lang="ko-KR" altLang="en-US" sz="800" dirty="0"/>
              <a:t>비상상황 </a:t>
            </a:r>
            <a:r>
              <a:rPr lang="ko-KR" altLang="en-US" sz="800" dirty="0" err="1"/>
              <a:t>입실자</a:t>
            </a:r>
            <a:r>
              <a:rPr lang="ko-KR" altLang="en-US" sz="800" dirty="0"/>
              <a:t> 정보</a:t>
            </a:r>
            <a:endParaRPr lang="en-US" altLang="ko-KR" sz="800" dirty="0"/>
          </a:p>
        </p:txBody>
      </p:sp>
      <p:grpSp>
        <p:nvGrpSpPr>
          <p:cNvPr id="58" name="그룹 57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59" name="타원 58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60" name="그림 5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61" name="그룹 60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62" name="타원 61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66" name="TextBox 65"/>
          <p:cNvSpPr txBox="1"/>
          <p:nvPr/>
        </p:nvSpPr>
        <p:spPr>
          <a:xfrm>
            <a:off x="2000055" y="4909832"/>
            <a:ext cx="496610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[4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                             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비상대피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410705" y="2268280"/>
            <a:ext cx="1439999" cy="133116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498354" y="2724279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57" name="직사각형 56"/>
          <p:cNvSpPr/>
          <p:nvPr/>
        </p:nvSpPr>
        <p:spPr>
          <a:xfrm>
            <a:off x="498354" y="2347276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전체보기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315016" y="2724279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410705" y="3599443"/>
            <a:ext cx="1439999" cy="1753222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498354" y="4055442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71" name="직사각형 70"/>
          <p:cNvSpPr/>
          <p:nvPr/>
        </p:nvSpPr>
        <p:spPr>
          <a:xfrm>
            <a:off x="498354" y="3678439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72" name="TextBox 71"/>
          <p:cNvSpPr txBox="1"/>
          <p:nvPr/>
        </p:nvSpPr>
        <p:spPr>
          <a:xfrm>
            <a:off x="1315016" y="4055442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518636" y="4936819"/>
            <a:ext cx="1224136" cy="315990"/>
            <a:chOff x="2296344" y="2444725"/>
            <a:chExt cx="1224136" cy="315990"/>
          </a:xfrm>
        </p:grpSpPr>
        <p:sp>
          <p:nvSpPr>
            <p:cNvPr id="74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4</a:t>
              </a:r>
              <a:r>
                <a:rPr lang="ko-KR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7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410705" y="5333081"/>
            <a:ext cx="1439999" cy="280706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498354" y="3404834"/>
            <a:ext cx="953787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1</a:t>
            </a:r>
            <a:r>
              <a:rPr lang="ko-KR" altLang="en-US" sz="800" b="1"/>
              <a:t>층 </a:t>
            </a:r>
            <a:r>
              <a:rPr lang="en-US" altLang="ko-KR" sz="800" b="1" dirty="0"/>
              <a:t>/ 2</a:t>
            </a:r>
            <a:r>
              <a:rPr lang="ko-KR" altLang="en-US" sz="800" b="1"/>
              <a:t>층</a:t>
            </a:r>
            <a:endParaRPr lang="ko-KR" altLang="en-US" sz="800" b="1" dirty="0"/>
          </a:p>
        </p:txBody>
      </p:sp>
      <p:sp>
        <p:nvSpPr>
          <p:cNvPr id="91" name="TextBox 90"/>
          <p:cNvSpPr txBox="1"/>
          <p:nvPr/>
        </p:nvSpPr>
        <p:spPr>
          <a:xfrm>
            <a:off x="498354" y="4689606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92" name="직사각형 91"/>
          <p:cNvSpPr/>
          <p:nvPr/>
        </p:nvSpPr>
        <p:spPr>
          <a:xfrm>
            <a:off x="987476" y="48442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93" name="직선 연결선 92"/>
          <p:cNvCxnSpPr/>
          <p:nvPr/>
        </p:nvCxnSpPr>
        <p:spPr>
          <a:xfrm>
            <a:off x="1858617" y="2287865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94" name="왼쪽 대괄호 93"/>
          <p:cNvSpPr/>
          <p:nvPr/>
        </p:nvSpPr>
        <p:spPr>
          <a:xfrm>
            <a:off x="347368" y="2268280"/>
            <a:ext cx="45719" cy="4818023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직사각형 94"/>
          <p:cNvSpPr/>
          <p:nvPr/>
        </p:nvSpPr>
        <p:spPr>
          <a:xfrm>
            <a:off x="122106" y="43337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8" name="직사각형 97"/>
          <p:cNvSpPr/>
          <p:nvPr/>
        </p:nvSpPr>
        <p:spPr>
          <a:xfrm>
            <a:off x="410705" y="5333081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498354" y="5789080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102" name="직사각형 101"/>
          <p:cNvSpPr/>
          <p:nvPr/>
        </p:nvSpPr>
        <p:spPr>
          <a:xfrm>
            <a:off x="498354" y="5412077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103" name="TextBox 102"/>
          <p:cNvSpPr txBox="1"/>
          <p:nvPr/>
        </p:nvSpPr>
        <p:spPr>
          <a:xfrm>
            <a:off x="1315016" y="5789080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104" name="그룹 103"/>
          <p:cNvGrpSpPr/>
          <p:nvPr/>
        </p:nvGrpSpPr>
        <p:grpSpPr>
          <a:xfrm>
            <a:off x="518636" y="6670457"/>
            <a:ext cx="1224136" cy="315990"/>
            <a:chOff x="2296344" y="2444725"/>
            <a:chExt cx="1224136" cy="315990"/>
          </a:xfrm>
        </p:grpSpPr>
        <p:sp>
          <p:nvSpPr>
            <p:cNvPr id="10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0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07" name="TextBox 106"/>
          <p:cNvSpPr txBox="1"/>
          <p:nvPr/>
        </p:nvSpPr>
        <p:spPr>
          <a:xfrm>
            <a:off x="498354" y="6423244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2" name="모서리가 둥근 직사각형 1"/>
          <p:cNvSpPr/>
          <p:nvPr/>
        </p:nvSpPr>
        <p:spPr>
          <a:xfrm>
            <a:off x="2667366" y="4913980"/>
            <a:ext cx="2437290" cy="303629"/>
          </a:xfrm>
          <a:prstGeom prst="roundRect">
            <a:avLst/>
          </a:prstGeom>
          <a:solidFill>
            <a:srgbClr val="FF604F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미대피자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: 3</a:t>
            </a:r>
            <a:r>
              <a:rPr lang="ko-KR" altLang="en-US" sz="1000" b="1">
                <a:solidFill>
                  <a:schemeClr val="bg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/>
          <p:cNvSpPr/>
          <p:nvPr/>
        </p:nvSpPr>
        <p:spPr>
          <a:xfrm>
            <a:off x="2590979" y="496163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828714"/>
              </p:ext>
            </p:extLst>
          </p:nvPr>
        </p:nvGraphicFramePr>
        <p:xfrm>
          <a:off x="10633534" y="3746423"/>
          <a:ext cx="2088232" cy="164300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층 미대피자 인원 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5" name="TextBox 74"/>
          <p:cNvSpPr txBox="1"/>
          <p:nvPr/>
        </p:nvSpPr>
        <p:spPr>
          <a:xfrm>
            <a:off x="2000055" y="2906897"/>
            <a:ext cx="2834109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dirty="0">
                <a:latin typeface="+mj-lt"/>
                <a:ea typeface="맑은 고딕" panose="020B0503020000020004" pitchFamily="50" charset="-127"/>
              </a:rPr>
              <a:t>전체 현장 비상대피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2804437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/>
          <p:cNvGrpSpPr/>
          <p:nvPr/>
        </p:nvGrpSpPr>
        <p:grpSpPr>
          <a:xfrm>
            <a:off x="9094931" y="2476891"/>
            <a:ext cx="762252" cy="327237"/>
            <a:chOff x="9094931" y="2476891"/>
            <a:chExt cx="762252" cy="327237"/>
          </a:xfrm>
        </p:grpSpPr>
        <p:grpSp>
          <p:nvGrpSpPr>
            <p:cNvPr id="4" name="그룹 3"/>
            <p:cNvGrpSpPr/>
            <p:nvPr/>
          </p:nvGrpSpPr>
          <p:grpSpPr>
            <a:xfrm>
              <a:off x="9529946" y="2476891"/>
              <a:ext cx="327237" cy="327237"/>
              <a:chOff x="9425136" y="2476891"/>
              <a:chExt cx="432048" cy="432048"/>
            </a:xfrm>
          </p:grpSpPr>
          <p:sp>
            <p:nvSpPr>
              <p:cNvPr id="8" name="타원 7"/>
              <p:cNvSpPr/>
              <p:nvPr/>
            </p:nvSpPr>
            <p:spPr>
              <a:xfrm>
                <a:off x="9425136" y="2476891"/>
                <a:ext cx="432048" cy="432048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9" name="그림 8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08759" y="2560514"/>
                <a:ext cx="264802" cy="264802"/>
              </a:xfrm>
              <a:prstGeom prst="rect">
                <a:avLst/>
              </a:prstGeom>
            </p:spPr>
          </p:pic>
        </p:grpSp>
        <p:grpSp>
          <p:nvGrpSpPr>
            <p:cNvPr id="5" name="그룹 4"/>
            <p:cNvGrpSpPr/>
            <p:nvPr/>
          </p:nvGrpSpPr>
          <p:grpSpPr>
            <a:xfrm>
              <a:off x="9094931" y="2476891"/>
              <a:ext cx="327237" cy="327237"/>
              <a:chOff x="9094931" y="2476891"/>
              <a:chExt cx="327237" cy="327237"/>
            </a:xfrm>
          </p:grpSpPr>
          <p:sp>
            <p:nvSpPr>
              <p:cNvPr id="6" name="타원 5"/>
              <p:cNvSpPr/>
              <p:nvPr/>
            </p:nvSpPr>
            <p:spPr>
              <a:xfrm>
                <a:off x="9094931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7" name="그림 6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161582" y="2540228"/>
                <a:ext cx="193933" cy="193933"/>
              </a:xfrm>
              <a:prstGeom prst="rect">
                <a:avLst/>
              </a:prstGeom>
            </p:spPr>
          </p:pic>
        </p:grpSp>
      </p:grpSp>
      <p:sp>
        <p:nvSpPr>
          <p:cNvPr id="10" name="자유형 9"/>
          <p:cNvSpPr/>
          <p:nvPr/>
        </p:nvSpPr>
        <p:spPr>
          <a:xfrm>
            <a:off x="1972875" y="2183598"/>
            <a:ext cx="6203411" cy="5985201"/>
          </a:xfrm>
          <a:custGeom>
            <a:avLst/>
            <a:gdLst>
              <a:gd name="connsiteX0" fmla="*/ 494270 w 4917989"/>
              <a:gd name="connsiteY0" fmla="*/ 4547286 h 4744995"/>
              <a:gd name="connsiteX1" fmla="*/ 494270 w 4917989"/>
              <a:gd name="connsiteY1" fmla="*/ 4547286 h 4744995"/>
              <a:gd name="connsiteX2" fmla="*/ 0 w 4917989"/>
              <a:gd name="connsiteY2" fmla="*/ 3249827 h 4744995"/>
              <a:gd name="connsiteX3" fmla="*/ 2199503 w 4917989"/>
              <a:gd name="connsiteY3" fmla="*/ 691978 h 4744995"/>
              <a:gd name="connsiteX4" fmla="*/ 2953265 w 4917989"/>
              <a:gd name="connsiteY4" fmla="*/ 74140 h 4744995"/>
              <a:gd name="connsiteX5" fmla="*/ 3323968 w 4917989"/>
              <a:gd name="connsiteY5" fmla="*/ 0 h 4744995"/>
              <a:gd name="connsiteX6" fmla="*/ 4127157 w 4917989"/>
              <a:gd name="connsiteY6" fmla="*/ 197708 h 4744995"/>
              <a:gd name="connsiteX7" fmla="*/ 4312508 w 4917989"/>
              <a:gd name="connsiteY7" fmla="*/ 605481 h 4744995"/>
              <a:gd name="connsiteX8" fmla="*/ 4621427 w 4917989"/>
              <a:gd name="connsiteY8" fmla="*/ 827903 h 4744995"/>
              <a:gd name="connsiteX9" fmla="*/ 4917989 w 4917989"/>
              <a:gd name="connsiteY9" fmla="*/ 2965622 h 4744995"/>
              <a:gd name="connsiteX10" fmla="*/ 4460789 w 4917989"/>
              <a:gd name="connsiteY10" fmla="*/ 4744995 h 4744995"/>
              <a:gd name="connsiteX11" fmla="*/ 2631989 w 4917989"/>
              <a:gd name="connsiteY11" fmla="*/ 4250724 h 4744995"/>
              <a:gd name="connsiteX12" fmla="*/ 1717589 w 4917989"/>
              <a:gd name="connsiteY12" fmla="*/ 4275438 h 4744995"/>
              <a:gd name="connsiteX13" fmla="*/ 494270 w 4917989"/>
              <a:gd name="connsiteY13" fmla="*/ 4547286 h 474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17989" h="4744995">
                <a:moveTo>
                  <a:pt x="494270" y="4547286"/>
                </a:moveTo>
                <a:lnTo>
                  <a:pt x="494270" y="4547286"/>
                </a:lnTo>
                <a:lnTo>
                  <a:pt x="0" y="3249827"/>
                </a:lnTo>
                <a:lnTo>
                  <a:pt x="2199503" y="691978"/>
                </a:lnTo>
                <a:lnTo>
                  <a:pt x="2953265" y="74140"/>
                </a:lnTo>
                <a:lnTo>
                  <a:pt x="3323968" y="0"/>
                </a:lnTo>
                <a:lnTo>
                  <a:pt x="4127157" y="197708"/>
                </a:lnTo>
                <a:lnTo>
                  <a:pt x="4312508" y="605481"/>
                </a:lnTo>
                <a:lnTo>
                  <a:pt x="4621427" y="827903"/>
                </a:lnTo>
                <a:lnTo>
                  <a:pt x="4917989" y="2965622"/>
                </a:lnTo>
                <a:lnTo>
                  <a:pt x="4460789" y="4744995"/>
                </a:lnTo>
                <a:lnTo>
                  <a:pt x="2631989" y="4250724"/>
                </a:lnTo>
                <a:lnTo>
                  <a:pt x="1717589" y="4275438"/>
                </a:lnTo>
                <a:lnTo>
                  <a:pt x="494270" y="4547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46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자유형 10"/>
          <p:cNvSpPr/>
          <p:nvPr/>
        </p:nvSpPr>
        <p:spPr>
          <a:xfrm>
            <a:off x="1936304" y="2199775"/>
            <a:ext cx="6203411" cy="5985201"/>
          </a:xfrm>
          <a:custGeom>
            <a:avLst/>
            <a:gdLst>
              <a:gd name="connsiteX0" fmla="*/ 494270 w 4917989"/>
              <a:gd name="connsiteY0" fmla="*/ 4547286 h 4744995"/>
              <a:gd name="connsiteX1" fmla="*/ 494270 w 4917989"/>
              <a:gd name="connsiteY1" fmla="*/ 4547286 h 4744995"/>
              <a:gd name="connsiteX2" fmla="*/ 0 w 4917989"/>
              <a:gd name="connsiteY2" fmla="*/ 3249827 h 4744995"/>
              <a:gd name="connsiteX3" fmla="*/ 2199503 w 4917989"/>
              <a:gd name="connsiteY3" fmla="*/ 691978 h 4744995"/>
              <a:gd name="connsiteX4" fmla="*/ 2953265 w 4917989"/>
              <a:gd name="connsiteY4" fmla="*/ 74140 h 4744995"/>
              <a:gd name="connsiteX5" fmla="*/ 3323968 w 4917989"/>
              <a:gd name="connsiteY5" fmla="*/ 0 h 4744995"/>
              <a:gd name="connsiteX6" fmla="*/ 4127157 w 4917989"/>
              <a:gd name="connsiteY6" fmla="*/ 197708 h 4744995"/>
              <a:gd name="connsiteX7" fmla="*/ 4312508 w 4917989"/>
              <a:gd name="connsiteY7" fmla="*/ 605481 h 4744995"/>
              <a:gd name="connsiteX8" fmla="*/ 4621427 w 4917989"/>
              <a:gd name="connsiteY8" fmla="*/ 827903 h 4744995"/>
              <a:gd name="connsiteX9" fmla="*/ 4917989 w 4917989"/>
              <a:gd name="connsiteY9" fmla="*/ 2965622 h 4744995"/>
              <a:gd name="connsiteX10" fmla="*/ 4460789 w 4917989"/>
              <a:gd name="connsiteY10" fmla="*/ 4744995 h 4744995"/>
              <a:gd name="connsiteX11" fmla="*/ 2631989 w 4917989"/>
              <a:gd name="connsiteY11" fmla="*/ 4250724 h 4744995"/>
              <a:gd name="connsiteX12" fmla="*/ 1717589 w 4917989"/>
              <a:gd name="connsiteY12" fmla="*/ 4275438 h 4744995"/>
              <a:gd name="connsiteX13" fmla="*/ 494270 w 4917989"/>
              <a:gd name="connsiteY13" fmla="*/ 4547286 h 474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17989" h="4744995">
                <a:moveTo>
                  <a:pt x="494270" y="4547286"/>
                </a:moveTo>
                <a:lnTo>
                  <a:pt x="494270" y="4547286"/>
                </a:lnTo>
                <a:lnTo>
                  <a:pt x="0" y="3249827"/>
                </a:lnTo>
                <a:lnTo>
                  <a:pt x="2199503" y="691978"/>
                </a:lnTo>
                <a:lnTo>
                  <a:pt x="2953265" y="74140"/>
                </a:lnTo>
                <a:lnTo>
                  <a:pt x="3323968" y="0"/>
                </a:lnTo>
                <a:lnTo>
                  <a:pt x="4127157" y="197708"/>
                </a:lnTo>
                <a:lnTo>
                  <a:pt x="4312508" y="605481"/>
                </a:lnTo>
                <a:lnTo>
                  <a:pt x="4621427" y="827903"/>
                </a:lnTo>
                <a:lnTo>
                  <a:pt x="4917989" y="2965622"/>
                </a:lnTo>
                <a:lnTo>
                  <a:pt x="4460789" y="4744995"/>
                </a:lnTo>
                <a:lnTo>
                  <a:pt x="2631989" y="4250724"/>
                </a:lnTo>
                <a:lnTo>
                  <a:pt x="1717589" y="4275438"/>
                </a:lnTo>
                <a:lnTo>
                  <a:pt x="494270" y="4547286"/>
                </a:lnTo>
                <a:close/>
              </a:path>
            </a:pathLst>
          </a:custGeom>
          <a:solidFill>
            <a:srgbClr val="D9D9D9">
              <a:alpha val="90000"/>
            </a:srgb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정육면체 11"/>
          <p:cNvSpPr/>
          <p:nvPr/>
        </p:nvSpPr>
        <p:spPr>
          <a:xfrm>
            <a:off x="2515561" y="7032848"/>
            <a:ext cx="752891" cy="432048"/>
          </a:xfrm>
          <a:prstGeom prst="cube">
            <a:avLst>
              <a:gd name="adj" fmla="val 47880"/>
            </a:avLst>
          </a:prstGeom>
          <a:solidFill>
            <a:srgbClr val="FF604F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2726739" y="7038670"/>
            <a:ext cx="33054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A-1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정육면체 13"/>
          <p:cNvSpPr/>
          <p:nvPr/>
        </p:nvSpPr>
        <p:spPr>
          <a:xfrm>
            <a:off x="3104008" y="7031555"/>
            <a:ext cx="752891" cy="432048"/>
          </a:xfrm>
          <a:prstGeom prst="cube">
            <a:avLst>
              <a:gd name="adj" fmla="val 47880"/>
            </a:avLst>
          </a:prstGeom>
          <a:pattFill prst="lgGrid">
            <a:fgClr>
              <a:schemeClr val="bg2">
                <a:lumMod val="90000"/>
              </a:schemeClr>
            </a:fgClr>
            <a:bgClr>
              <a:schemeClr val="bg1"/>
            </a:bgClr>
          </a:patt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315183" y="7037377"/>
            <a:ext cx="33054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A-2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정육면체 15"/>
          <p:cNvSpPr/>
          <p:nvPr/>
        </p:nvSpPr>
        <p:spPr>
          <a:xfrm>
            <a:off x="2368352" y="6024736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정육면체 16"/>
          <p:cNvSpPr/>
          <p:nvPr/>
        </p:nvSpPr>
        <p:spPr>
          <a:xfrm>
            <a:off x="2956799" y="6023443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정육면체 17"/>
          <p:cNvSpPr/>
          <p:nvPr/>
        </p:nvSpPr>
        <p:spPr>
          <a:xfrm>
            <a:off x="3523673" y="6024736"/>
            <a:ext cx="752891" cy="432048"/>
          </a:xfrm>
          <a:prstGeom prst="cube">
            <a:avLst>
              <a:gd name="adj" fmla="val 47880"/>
            </a:avLst>
          </a:prstGeom>
          <a:solidFill>
            <a:srgbClr val="FF604F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정육면체 18"/>
          <p:cNvSpPr/>
          <p:nvPr/>
        </p:nvSpPr>
        <p:spPr>
          <a:xfrm>
            <a:off x="4093070" y="5880720"/>
            <a:ext cx="810387" cy="574771"/>
          </a:xfrm>
          <a:prstGeom prst="cube">
            <a:avLst>
              <a:gd name="adj" fmla="val 60033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정육면체 19"/>
          <p:cNvSpPr/>
          <p:nvPr/>
        </p:nvSpPr>
        <p:spPr>
          <a:xfrm>
            <a:off x="5860635" y="3227176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6073162" y="3249339"/>
            <a:ext cx="33534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D-4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정육면체 21"/>
          <p:cNvSpPr/>
          <p:nvPr/>
        </p:nvSpPr>
        <p:spPr>
          <a:xfrm>
            <a:off x="4497314" y="3436665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706085" y="3442487"/>
            <a:ext cx="33534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D-1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정육면체 23"/>
          <p:cNvSpPr/>
          <p:nvPr/>
        </p:nvSpPr>
        <p:spPr>
          <a:xfrm>
            <a:off x="5064188" y="3437958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5272960" y="3443780"/>
            <a:ext cx="33534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D-2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정육면체 25"/>
          <p:cNvSpPr/>
          <p:nvPr/>
        </p:nvSpPr>
        <p:spPr>
          <a:xfrm>
            <a:off x="5652635" y="3436665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5861405" y="3442487"/>
            <a:ext cx="33534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D-3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정육면체 27"/>
          <p:cNvSpPr/>
          <p:nvPr/>
        </p:nvSpPr>
        <p:spPr>
          <a:xfrm>
            <a:off x="6421261" y="4712763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6444529" y="4790285"/>
            <a:ext cx="67532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E-5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정육면체 29"/>
          <p:cNvSpPr/>
          <p:nvPr/>
        </p:nvSpPr>
        <p:spPr>
          <a:xfrm>
            <a:off x="6086131" y="5273269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420106" y="5307057"/>
            <a:ext cx="13305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E-3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정육면체 31"/>
          <p:cNvSpPr/>
          <p:nvPr/>
        </p:nvSpPr>
        <p:spPr>
          <a:xfrm>
            <a:off x="5700043" y="5889576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6034019" y="5923364"/>
            <a:ext cx="13305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E-1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정육면체 33"/>
          <p:cNvSpPr/>
          <p:nvPr/>
        </p:nvSpPr>
        <p:spPr>
          <a:xfrm>
            <a:off x="3109461" y="4930080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306199" y="4953529"/>
            <a:ext cx="3289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C-1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정육면체 35"/>
          <p:cNvSpPr/>
          <p:nvPr/>
        </p:nvSpPr>
        <p:spPr>
          <a:xfrm>
            <a:off x="3697908" y="4928787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894646" y="4952236"/>
            <a:ext cx="3289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C-2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정육면체 37"/>
          <p:cNvSpPr/>
          <p:nvPr/>
        </p:nvSpPr>
        <p:spPr>
          <a:xfrm>
            <a:off x="4264782" y="4930080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4461518" y="4953529"/>
            <a:ext cx="3289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C-3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정육면체 39"/>
          <p:cNvSpPr/>
          <p:nvPr/>
        </p:nvSpPr>
        <p:spPr>
          <a:xfrm>
            <a:off x="4834179" y="4786064"/>
            <a:ext cx="810387" cy="574771"/>
          </a:xfrm>
          <a:prstGeom prst="cube">
            <a:avLst>
              <a:gd name="adj" fmla="val 60033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5039414" y="4912016"/>
            <a:ext cx="32893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C-4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정육면체 41"/>
          <p:cNvSpPr/>
          <p:nvPr/>
        </p:nvSpPr>
        <p:spPr>
          <a:xfrm>
            <a:off x="6987992" y="4712763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정육면체 42"/>
          <p:cNvSpPr/>
          <p:nvPr/>
        </p:nvSpPr>
        <p:spPr>
          <a:xfrm>
            <a:off x="6652862" y="5273269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986836" y="5307057"/>
            <a:ext cx="13305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E-4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정육면체 44"/>
          <p:cNvSpPr/>
          <p:nvPr/>
        </p:nvSpPr>
        <p:spPr>
          <a:xfrm>
            <a:off x="6266774" y="5889576"/>
            <a:ext cx="752891" cy="432048"/>
          </a:xfrm>
          <a:prstGeom prst="cube">
            <a:avLst>
              <a:gd name="adj" fmla="val 4788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600748" y="5923364"/>
            <a:ext cx="13305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E-2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정육면체 46"/>
          <p:cNvSpPr/>
          <p:nvPr/>
        </p:nvSpPr>
        <p:spPr>
          <a:xfrm>
            <a:off x="4315245" y="6934950"/>
            <a:ext cx="752891" cy="432048"/>
          </a:xfrm>
          <a:prstGeom prst="cube">
            <a:avLst>
              <a:gd name="adj" fmla="val 47880"/>
            </a:avLst>
          </a:prstGeom>
          <a:solidFill>
            <a:srgbClr val="FF604F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526422" y="6940772"/>
            <a:ext cx="33054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A-3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정육면체 48"/>
          <p:cNvSpPr/>
          <p:nvPr/>
        </p:nvSpPr>
        <p:spPr>
          <a:xfrm>
            <a:off x="4881976" y="6934950"/>
            <a:ext cx="752891" cy="432048"/>
          </a:xfrm>
          <a:prstGeom prst="cube">
            <a:avLst>
              <a:gd name="adj" fmla="val 47880"/>
            </a:avLst>
          </a:prstGeom>
          <a:pattFill prst="lgGrid">
            <a:fgClr>
              <a:schemeClr val="bg2">
                <a:lumMod val="90000"/>
              </a:schemeClr>
            </a:fgClr>
            <a:bgClr>
              <a:schemeClr val="bg1"/>
            </a:bgClr>
          </a:patt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5093152" y="6940772"/>
            <a:ext cx="33054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A-4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5706017" y="6238379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6272748" y="6238379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6091689" y="5622471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6658420" y="5622471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6425414" y="5065240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6992145" y="5065240"/>
            <a:ext cx="538297" cy="80864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7003967" y="4777272"/>
            <a:ext cx="67532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E-6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2579665" y="6053418"/>
            <a:ext cx="3241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B-1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3168111" y="6052125"/>
            <a:ext cx="3241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B-2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3734983" y="6053418"/>
            <a:ext cx="3241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B-3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4312879" y="6011905"/>
            <a:ext cx="3241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B-4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895487" y="5692118"/>
            <a:ext cx="413865" cy="441031"/>
            <a:chOff x="686354" y="1592796"/>
            <a:chExt cx="417907" cy="445337"/>
          </a:xfrm>
        </p:grpSpPr>
        <p:grpSp>
          <p:nvGrpSpPr>
            <p:cNvPr id="63" name="그룹 62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65" name="타원 6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11780938" y="5279876"/>
                <a:ext cx="305821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sym typeface="Wingdings" panose="05000000000000000000" pitchFamily="2" charset="2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endParaRPr>
              </a:p>
            </p:txBody>
          </p:sp>
          <p:sp>
            <p:nvSpPr>
              <p:cNvPr id="67" name="이등변 삼각형 66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64" name="그림 6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grpSp>
        <p:nvGrpSpPr>
          <p:cNvPr id="68" name="그룹 67"/>
          <p:cNvGrpSpPr/>
          <p:nvPr/>
        </p:nvGrpSpPr>
        <p:grpSpPr>
          <a:xfrm>
            <a:off x="2534796" y="6665512"/>
            <a:ext cx="413865" cy="441031"/>
            <a:chOff x="686354" y="1592796"/>
            <a:chExt cx="417907" cy="445337"/>
          </a:xfrm>
        </p:grpSpPr>
        <p:grpSp>
          <p:nvGrpSpPr>
            <p:cNvPr id="69" name="그룹 68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71" name="타원 70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2" name="TextBox 71"/>
              <p:cNvSpPr txBox="1"/>
              <p:nvPr/>
            </p:nvSpPr>
            <p:spPr>
              <a:xfrm>
                <a:off x="11780938" y="5279876"/>
                <a:ext cx="305821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sym typeface="Wingdings" panose="05000000000000000000" pitchFamily="2" charset="2"/>
                  </a:rPr>
                  <a:t>7</a:t>
                </a:r>
                <a:endPara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endParaRPr>
              </a:p>
            </p:txBody>
          </p:sp>
          <p:sp>
            <p:nvSpPr>
              <p:cNvPr id="73" name="이등변 삼각형 72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grpSp>
        <p:nvGrpSpPr>
          <p:cNvPr id="74" name="그룹 73"/>
          <p:cNvGrpSpPr/>
          <p:nvPr/>
        </p:nvGrpSpPr>
        <p:grpSpPr>
          <a:xfrm>
            <a:off x="4641227" y="6599018"/>
            <a:ext cx="413865" cy="441031"/>
            <a:chOff x="686354" y="1592796"/>
            <a:chExt cx="417907" cy="445337"/>
          </a:xfrm>
        </p:grpSpPr>
        <p:grpSp>
          <p:nvGrpSpPr>
            <p:cNvPr id="75" name="그룹 74"/>
            <p:cNvGrpSpPr/>
            <p:nvPr/>
          </p:nvGrpSpPr>
          <p:grpSpPr>
            <a:xfrm>
              <a:off x="686354" y="1592796"/>
              <a:ext cx="417907" cy="445337"/>
              <a:chOff x="11556504" y="5152407"/>
              <a:chExt cx="540060" cy="623472"/>
            </a:xfrm>
          </p:grpSpPr>
          <p:sp>
            <p:nvSpPr>
              <p:cNvPr id="77" name="타원 76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8" name="TextBox 77"/>
              <p:cNvSpPr txBox="1"/>
              <p:nvPr/>
            </p:nvSpPr>
            <p:spPr>
              <a:xfrm>
                <a:off x="11780938" y="5279876"/>
                <a:ext cx="305821" cy="28281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sym typeface="Wingdings" panose="05000000000000000000" pitchFamily="2" charset="2"/>
                  </a:rPr>
                  <a:t>4</a:t>
                </a:r>
                <a:endPara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endParaRPr>
              </a:p>
            </p:txBody>
          </p:sp>
          <p:sp>
            <p:nvSpPr>
              <p:cNvPr id="79" name="이등변 삼각형 78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76" name="그림 7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5855" y="1703987"/>
              <a:ext cx="166802" cy="153971"/>
            </a:xfrm>
            <a:prstGeom prst="rect">
              <a:avLst/>
            </a:prstGeom>
          </p:spPr>
        </p:pic>
      </p:grpSp>
      <p:sp>
        <p:nvSpPr>
          <p:cNvPr id="80" name="모서리가 둥근 직사각형 79"/>
          <p:cNvSpPr/>
          <p:nvPr/>
        </p:nvSpPr>
        <p:spPr>
          <a:xfrm>
            <a:off x="8362392" y="5086298"/>
            <a:ext cx="1231672" cy="1360879"/>
          </a:xfrm>
          <a:prstGeom prst="roundRect">
            <a:avLst>
              <a:gd name="adj" fmla="val 0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14</a:t>
            </a:r>
            <a:endParaRPr lang="en-US" altLang="ko-KR" sz="2000" b="1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  <a:p>
            <a:pPr algn="ctr"/>
            <a:r>
              <a:rPr lang="ko-KR" altLang="en-US" sz="20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빌딩전체</a:t>
            </a:r>
            <a:endParaRPr lang="en-US" altLang="ko-KR" sz="20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  <a:p>
            <a:pPr algn="ctr"/>
            <a:r>
              <a:rPr lang="ko-KR" altLang="en-US" sz="200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미대피자</a:t>
            </a:r>
            <a:endParaRPr lang="ko-KR" altLang="en-US" sz="20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81" name="모서리가 둥근 직사각형 80"/>
          <p:cNvSpPr/>
          <p:nvPr/>
        </p:nvSpPr>
        <p:spPr>
          <a:xfrm>
            <a:off x="8362392" y="6536065"/>
            <a:ext cx="1231672" cy="1360879"/>
          </a:xfrm>
          <a:prstGeom prst="roundRect">
            <a:avLst>
              <a:gd name="adj" fmla="val 0"/>
            </a:avLst>
          </a:prstGeom>
          <a:solidFill>
            <a:srgbClr val="34AADA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186</a:t>
            </a:r>
          </a:p>
          <a:p>
            <a:pPr algn="ctr"/>
            <a:r>
              <a:rPr lang="ko-KR" altLang="en-US" sz="20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안전지역 </a:t>
            </a:r>
            <a:endParaRPr lang="en-US" altLang="ko-KR" sz="20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20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대피자</a:t>
            </a:r>
            <a:endParaRPr lang="ko-KR" altLang="en-US" sz="20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직사각형 89"/>
          <p:cNvSpPr/>
          <p:nvPr/>
        </p:nvSpPr>
        <p:spPr>
          <a:xfrm>
            <a:off x="3635638" y="59246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15" name="표 1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087195"/>
              </p:ext>
            </p:extLst>
          </p:nvPr>
        </p:nvGraphicFramePr>
        <p:xfrm>
          <a:off x="10633534" y="1272208"/>
          <a:ext cx="2088232" cy="19804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비상상황에서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재해자가 있으면 붉은색으로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재해자 인원수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된 빌딩만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6" name="모서리가 둥근 사각형 설명선 115"/>
          <p:cNvSpPr/>
          <p:nvPr/>
        </p:nvSpPr>
        <p:spPr>
          <a:xfrm>
            <a:off x="2184679" y="5412549"/>
            <a:ext cx="1212125" cy="356808"/>
          </a:xfrm>
          <a:prstGeom prst="wedgeRoundRectCallout">
            <a:avLst>
              <a:gd name="adj1" fmla="val 85589"/>
              <a:gd name="adj2" fmla="val 156599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019</a:t>
            </a:r>
          </a:p>
          <a:p>
            <a:pPr algn="ctr"/>
            <a:r>
              <a:rPr lang="ko-KR" altLang="en-US" sz="800" dirty="0"/>
              <a:t>비상상황 </a:t>
            </a:r>
            <a:r>
              <a:rPr lang="ko-KR" altLang="en-US" sz="800" dirty="0" err="1"/>
              <a:t>입실자</a:t>
            </a:r>
            <a:r>
              <a:rPr lang="ko-KR" altLang="en-US" sz="800" dirty="0"/>
              <a:t> 정보</a:t>
            </a:r>
            <a:endParaRPr lang="en-US" altLang="ko-KR" sz="800" dirty="0"/>
          </a:p>
        </p:txBody>
      </p:sp>
      <p:sp>
        <p:nvSpPr>
          <p:cNvPr id="117" name="직사각형 116"/>
          <p:cNvSpPr/>
          <p:nvPr/>
        </p:nvSpPr>
        <p:spPr>
          <a:xfrm>
            <a:off x="4030396" y="55789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2000055" y="2476891"/>
            <a:ext cx="2684795" cy="327237"/>
          </a:xfrm>
          <a:prstGeom prst="roundRect">
            <a:avLst/>
          </a:prstGeom>
          <a:solidFill>
            <a:schemeClr val="tx1">
              <a:alpha val="63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rgbClr val="FFFF00"/>
                </a:solidFill>
              </a:rPr>
              <a:t>6</a:t>
            </a:r>
            <a:r>
              <a:rPr lang="ko-KR" altLang="en-US" sz="900" b="1">
                <a:solidFill>
                  <a:srgbClr val="FFFF00"/>
                </a:solidFill>
              </a:rPr>
              <a:t>월 가스위험 비상 대피 훈련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000055" y="2988905"/>
            <a:ext cx="236282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[4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비상대피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grpSp>
        <p:nvGrpSpPr>
          <p:cNvPr id="125" name="그룹 124"/>
          <p:cNvGrpSpPr/>
          <p:nvPr/>
        </p:nvGrpSpPr>
        <p:grpSpPr>
          <a:xfrm>
            <a:off x="7735986" y="3439906"/>
            <a:ext cx="2366530" cy="1261264"/>
            <a:chOff x="3531999" y="4451217"/>
            <a:chExt cx="3426181" cy="1224136"/>
          </a:xfrm>
        </p:grpSpPr>
        <p:sp>
          <p:nvSpPr>
            <p:cNvPr id="126" name="모서리가 둥근 직사각형 125"/>
            <p:cNvSpPr/>
            <p:nvPr/>
          </p:nvSpPr>
          <p:spPr>
            <a:xfrm>
              <a:off x="3531999" y="4451217"/>
              <a:ext cx="3426181" cy="1224136"/>
            </a:xfrm>
            <a:prstGeom prst="roundRect">
              <a:avLst>
                <a:gd name="adj" fmla="val 50000"/>
              </a:avLst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endParaRPr lang="ko-KR" altLang="en-US" sz="18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27" name="모서리가 둥근 직사각형 126"/>
            <p:cNvSpPr/>
            <p:nvPr/>
          </p:nvSpPr>
          <p:spPr>
            <a:xfrm>
              <a:off x="3711151" y="4518544"/>
              <a:ext cx="3049302" cy="1089482"/>
            </a:xfrm>
            <a:prstGeom prst="roundRect">
              <a:avLst>
                <a:gd name="adj" fmla="val 50000"/>
              </a:avLst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endParaRPr lang="en-US" altLang="ko-KR" sz="2400" b="1" dirty="0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rPr>
                <a:t>02:41:03</a:t>
              </a:r>
              <a:endParaRPr lang="ko-KR" altLang="en-US" sz="24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sp>
        <p:nvSpPr>
          <p:cNvPr id="128" name="TextBox 127"/>
          <p:cNvSpPr txBox="1"/>
          <p:nvPr/>
        </p:nvSpPr>
        <p:spPr>
          <a:xfrm>
            <a:off x="8099772" y="3793998"/>
            <a:ext cx="128560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비상발생 경과시간</a:t>
            </a:r>
            <a:endParaRPr lang="ko-KR" altLang="en-US" sz="1200" b="1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54" name="직사각형 153"/>
          <p:cNvSpPr/>
          <p:nvPr/>
        </p:nvSpPr>
        <p:spPr>
          <a:xfrm>
            <a:off x="410705" y="2268280"/>
            <a:ext cx="1439999" cy="1331163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498354" y="2724279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156" name="직사각형 155"/>
          <p:cNvSpPr/>
          <p:nvPr/>
        </p:nvSpPr>
        <p:spPr>
          <a:xfrm>
            <a:off x="498354" y="2347276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전체보기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1315016" y="2724279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sp>
        <p:nvSpPr>
          <p:cNvPr id="158" name="직사각형 157"/>
          <p:cNvSpPr/>
          <p:nvPr/>
        </p:nvSpPr>
        <p:spPr>
          <a:xfrm>
            <a:off x="410705" y="3599443"/>
            <a:ext cx="1439999" cy="1753222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498354" y="4055442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160" name="직사각형 159"/>
          <p:cNvSpPr/>
          <p:nvPr/>
        </p:nvSpPr>
        <p:spPr>
          <a:xfrm>
            <a:off x="498354" y="3678439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161" name="TextBox 160"/>
          <p:cNvSpPr txBox="1"/>
          <p:nvPr/>
        </p:nvSpPr>
        <p:spPr>
          <a:xfrm>
            <a:off x="1315016" y="4055442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162" name="그룹 161"/>
          <p:cNvGrpSpPr/>
          <p:nvPr/>
        </p:nvGrpSpPr>
        <p:grpSpPr>
          <a:xfrm>
            <a:off x="518636" y="4936819"/>
            <a:ext cx="1224136" cy="315990"/>
            <a:chOff x="2296344" y="2444725"/>
            <a:chExt cx="1224136" cy="315990"/>
          </a:xfrm>
        </p:grpSpPr>
        <p:sp>
          <p:nvSpPr>
            <p:cNvPr id="163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64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65" name="직사각형 164"/>
          <p:cNvSpPr/>
          <p:nvPr/>
        </p:nvSpPr>
        <p:spPr>
          <a:xfrm>
            <a:off x="410705" y="5333081"/>
            <a:ext cx="1439999" cy="280706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498354" y="3404834"/>
            <a:ext cx="953787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1</a:t>
            </a:r>
            <a:r>
              <a:rPr lang="ko-KR" altLang="en-US" sz="800" b="1"/>
              <a:t>층 </a:t>
            </a:r>
            <a:r>
              <a:rPr lang="en-US" altLang="ko-KR" sz="800" b="1" dirty="0"/>
              <a:t>/ 2</a:t>
            </a:r>
            <a:r>
              <a:rPr lang="ko-KR" altLang="en-US" sz="800" b="1"/>
              <a:t>층</a:t>
            </a:r>
            <a:endParaRPr lang="ko-KR" altLang="en-US" sz="800" b="1" dirty="0"/>
          </a:p>
        </p:txBody>
      </p:sp>
      <p:sp>
        <p:nvSpPr>
          <p:cNvPr id="167" name="TextBox 166"/>
          <p:cNvSpPr txBox="1"/>
          <p:nvPr/>
        </p:nvSpPr>
        <p:spPr>
          <a:xfrm>
            <a:off x="498354" y="4689606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168" name="직사각형 167"/>
          <p:cNvSpPr/>
          <p:nvPr/>
        </p:nvSpPr>
        <p:spPr>
          <a:xfrm>
            <a:off x="987476" y="48442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169" name="직선 연결선 168"/>
          <p:cNvCxnSpPr/>
          <p:nvPr/>
        </p:nvCxnSpPr>
        <p:spPr>
          <a:xfrm>
            <a:off x="1858617" y="2287865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170" name="왼쪽 대괄호 169"/>
          <p:cNvSpPr/>
          <p:nvPr/>
        </p:nvSpPr>
        <p:spPr>
          <a:xfrm>
            <a:off x="347368" y="2268280"/>
            <a:ext cx="45719" cy="4818023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/>
          <p:cNvSpPr/>
          <p:nvPr/>
        </p:nvSpPr>
        <p:spPr>
          <a:xfrm>
            <a:off x="122106" y="433376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2" name="직사각형 171"/>
          <p:cNvSpPr/>
          <p:nvPr/>
        </p:nvSpPr>
        <p:spPr>
          <a:xfrm>
            <a:off x="410705" y="5333081"/>
            <a:ext cx="1439999" cy="175322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498354" y="5789080"/>
            <a:ext cx="81666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총원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b="1" dirty="0">
                <a:solidFill>
                  <a:srgbClr val="FF604F"/>
                </a:solidFill>
              </a:rPr>
              <a:t>미대피자</a:t>
            </a:r>
            <a:endParaRPr lang="en-US" altLang="ko-KR" sz="800" b="1" dirty="0">
              <a:solidFill>
                <a:srgbClr val="FF604F"/>
              </a:solidFill>
            </a:endParaRPr>
          </a:p>
          <a:p>
            <a:r>
              <a:rPr lang="ko-KR" altLang="en-US" sz="800" dirty="0"/>
              <a:t>대피자</a:t>
            </a:r>
          </a:p>
        </p:txBody>
      </p:sp>
      <p:sp>
        <p:nvSpPr>
          <p:cNvPr id="174" name="직사각형 173"/>
          <p:cNvSpPr/>
          <p:nvPr/>
        </p:nvSpPr>
        <p:spPr>
          <a:xfrm>
            <a:off x="498354" y="5412077"/>
            <a:ext cx="1278520" cy="228233"/>
          </a:xfrm>
          <a:prstGeom prst="rect">
            <a:avLst/>
          </a:prstGeom>
          <a:solidFill>
            <a:srgbClr val="FF60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/>
              <a:t>제 </a:t>
            </a:r>
            <a:r>
              <a:rPr lang="en-US" altLang="ko-KR" sz="800" b="1" dirty="0"/>
              <a:t>00 </a:t>
            </a:r>
            <a:r>
              <a:rPr lang="ko-KR" altLang="en-US" sz="800" b="1"/>
              <a:t>공장</a:t>
            </a:r>
            <a:endParaRPr lang="ko-KR" altLang="en-US" sz="800" b="1" dirty="0"/>
          </a:p>
        </p:txBody>
      </p:sp>
      <p:sp>
        <p:nvSpPr>
          <p:cNvPr id="175" name="TextBox 174"/>
          <p:cNvSpPr txBox="1"/>
          <p:nvPr/>
        </p:nvSpPr>
        <p:spPr>
          <a:xfrm>
            <a:off x="1315016" y="5789080"/>
            <a:ext cx="46185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300</a:t>
            </a:r>
          </a:p>
          <a:p>
            <a:pPr algn="r"/>
            <a:endParaRPr lang="en-US" altLang="ko-KR" sz="800" dirty="0"/>
          </a:p>
          <a:p>
            <a:pPr algn="r"/>
            <a:r>
              <a:rPr lang="en-US" altLang="ko-KR" sz="800" b="1" dirty="0">
                <a:solidFill>
                  <a:srgbClr val="FF604F"/>
                </a:solidFill>
              </a:rPr>
              <a:t>300</a:t>
            </a:r>
          </a:p>
          <a:p>
            <a:pPr algn="r"/>
            <a:r>
              <a:rPr lang="en-US" altLang="ko-KR" sz="800" dirty="0"/>
              <a:t>0</a:t>
            </a:r>
          </a:p>
        </p:txBody>
      </p:sp>
      <p:grpSp>
        <p:nvGrpSpPr>
          <p:cNvPr id="176" name="그룹 175"/>
          <p:cNvGrpSpPr/>
          <p:nvPr/>
        </p:nvGrpSpPr>
        <p:grpSpPr>
          <a:xfrm>
            <a:off x="518636" y="6670457"/>
            <a:ext cx="1224136" cy="315990"/>
            <a:chOff x="2296344" y="2444725"/>
            <a:chExt cx="1224136" cy="315990"/>
          </a:xfrm>
        </p:grpSpPr>
        <p:sp>
          <p:nvSpPr>
            <p:cNvPr id="177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선택하세요</a:t>
              </a:r>
              <a:endParaRPr lang="de-DE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78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79" name="TextBox 178"/>
          <p:cNvSpPr txBox="1"/>
          <p:nvPr/>
        </p:nvSpPr>
        <p:spPr>
          <a:xfrm>
            <a:off x="498354" y="6423244"/>
            <a:ext cx="716543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800" b="1" dirty="0"/>
              <a:t>비상구역 </a:t>
            </a:r>
            <a:r>
              <a:rPr lang="en-US" altLang="ko-KR" sz="800" b="1" dirty="0"/>
              <a:t>: </a:t>
            </a:r>
            <a:r>
              <a:rPr lang="ko-KR" altLang="en-US" sz="800" b="1"/>
              <a:t>전체</a:t>
            </a:r>
            <a:endParaRPr lang="ko-KR" altLang="en-US" sz="800" b="1" dirty="0"/>
          </a:p>
        </p:txBody>
      </p:sp>
      <p:sp>
        <p:nvSpPr>
          <p:cNvPr id="123" name="모서리가 둥근 직사각형 122"/>
          <p:cNvSpPr/>
          <p:nvPr/>
        </p:nvSpPr>
        <p:spPr>
          <a:xfrm>
            <a:off x="1998152" y="3361230"/>
            <a:ext cx="2437290" cy="303629"/>
          </a:xfrm>
          <a:prstGeom prst="roundRect">
            <a:avLst/>
          </a:prstGeom>
          <a:solidFill>
            <a:srgbClr val="FF604F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bg1"/>
                </a:solidFill>
                <a:latin typeface="+mn-ea"/>
              </a:rPr>
              <a:t>미대피자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: 3</a:t>
            </a:r>
            <a:r>
              <a:rPr lang="ko-KR" altLang="en-US" sz="1000" b="1">
                <a:solidFill>
                  <a:schemeClr val="bg1"/>
                </a:solidFill>
                <a:latin typeface="+mn-ea"/>
              </a:rPr>
              <a:t>명</a:t>
            </a:r>
          </a:p>
        </p:txBody>
      </p:sp>
    </p:spTree>
    <p:extLst>
      <p:ext uri="{BB962C8B-B14F-4D97-AF65-F5344CB8AC3E}">
        <p14:creationId xmlns:p14="http://schemas.microsoft.com/office/powerpoint/2010/main" val="70301203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직사각형 56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7003967" y="4777272"/>
            <a:ext cx="67532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E-6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7048872" y="2352328"/>
            <a:ext cx="3087637" cy="604867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/>
          <p:cNvSpPr/>
          <p:nvPr/>
        </p:nvSpPr>
        <p:spPr>
          <a:xfrm>
            <a:off x="7186178" y="2869527"/>
            <a:ext cx="2929009" cy="17104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7310401" y="3021132"/>
            <a:ext cx="684064" cy="663979"/>
            <a:chOff x="7962299" y="2617527"/>
            <a:chExt cx="622093" cy="646131"/>
          </a:xfrm>
        </p:grpSpPr>
        <p:sp>
          <p:nvSpPr>
            <p:cNvPr id="18" name="직사각형 17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" name="그림 18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20" name="TextBox 19"/>
          <p:cNvSpPr txBox="1"/>
          <p:nvPr/>
        </p:nvSpPr>
        <p:spPr>
          <a:xfrm>
            <a:off x="8022145" y="3397132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022145" y="3005154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2" name="모서리가 둥근 직사각형 21"/>
          <p:cNvSpPr/>
          <p:nvPr/>
        </p:nvSpPr>
        <p:spPr>
          <a:xfrm>
            <a:off x="8103643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23" name="모서리가 둥근 직사각형 22"/>
          <p:cNvSpPr/>
          <p:nvPr/>
        </p:nvSpPr>
        <p:spPr>
          <a:xfrm>
            <a:off x="8607841" y="3265294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통제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414354" y="2469788"/>
            <a:ext cx="70083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600" dirty="0"/>
              <a:t> </a:t>
            </a:r>
            <a:r>
              <a:rPr lang="en-US" altLang="ko-KR" sz="1600" dirty="0"/>
              <a:t>[3</a:t>
            </a:r>
            <a:r>
              <a:rPr lang="ko-KR" altLang="en-US" sz="1600"/>
              <a:t>명</a:t>
            </a:r>
            <a:r>
              <a:rPr lang="en-US" altLang="ko-KR" sz="1600" dirty="0"/>
              <a:t>]</a:t>
            </a:r>
            <a:endParaRPr lang="ko-KR" altLang="en-US" sz="1600" dirty="0"/>
          </a:p>
        </p:txBody>
      </p:sp>
      <p:sp>
        <p:nvSpPr>
          <p:cNvPr id="25" name="직사각형 24"/>
          <p:cNvSpPr/>
          <p:nvPr/>
        </p:nvSpPr>
        <p:spPr>
          <a:xfrm>
            <a:off x="7048872" y="2352327"/>
            <a:ext cx="3087501" cy="6048672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920102"/>
              </p:ext>
            </p:extLst>
          </p:nvPr>
        </p:nvGraphicFramePr>
        <p:xfrm>
          <a:off x="10633534" y="1272208"/>
          <a:ext cx="2088232" cy="9388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구역의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입실자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전원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비상발생 경과시간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7221501" y="21308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8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481894" y="2446351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7186178" y="4159234"/>
            <a:ext cx="2929009" cy="411296"/>
          </a:xfrm>
          <a:prstGeom prst="rect">
            <a:avLst/>
          </a:prstGeom>
          <a:solidFill>
            <a:srgbClr val="C00000">
              <a:alpha val="48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18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02:41:03</a:t>
            </a:r>
            <a:endParaRPr lang="ko-KR" altLang="en-US" sz="1800" b="1">
              <a:solidFill>
                <a:schemeClr val="bg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8064899" y="3936287"/>
            <a:ext cx="125547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FF0000"/>
                </a:solidFill>
              </a:rPr>
              <a:t>비상발생 경과시간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7186178" y="2877391"/>
            <a:ext cx="2929009" cy="1694752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cxnSp>
        <p:nvCxnSpPr>
          <p:cNvPr id="32" name="직선 연결선 31"/>
          <p:cNvCxnSpPr/>
          <p:nvPr/>
        </p:nvCxnSpPr>
        <p:spPr>
          <a:xfrm>
            <a:off x="10041966" y="2864773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직사각형 32"/>
          <p:cNvSpPr/>
          <p:nvPr/>
        </p:nvSpPr>
        <p:spPr>
          <a:xfrm>
            <a:off x="7186178" y="4641192"/>
            <a:ext cx="2929009" cy="17104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34" name="그룹 33"/>
          <p:cNvGrpSpPr/>
          <p:nvPr/>
        </p:nvGrpSpPr>
        <p:grpSpPr>
          <a:xfrm>
            <a:off x="7310401" y="4792797"/>
            <a:ext cx="684064" cy="663979"/>
            <a:chOff x="7962299" y="2617527"/>
            <a:chExt cx="622093" cy="646131"/>
          </a:xfrm>
        </p:grpSpPr>
        <p:sp>
          <p:nvSpPr>
            <p:cNvPr id="35" name="직사각형 34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36" name="그림 35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37" name="TextBox 36"/>
          <p:cNvSpPr txBox="1"/>
          <p:nvPr/>
        </p:nvSpPr>
        <p:spPr>
          <a:xfrm>
            <a:off x="8022145" y="5168797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22145" y="4776819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39" name="모서리가 둥근 직사각형 38"/>
          <p:cNvSpPr/>
          <p:nvPr/>
        </p:nvSpPr>
        <p:spPr>
          <a:xfrm>
            <a:off x="8103643" y="5036959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40" name="모서리가 둥근 직사각형 39"/>
          <p:cNvSpPr/>
          <p:nvPr/>
        </p:nvSpPr>
        <p:spPr>
          <a:xfrm>
            <a:off x="8607841" y="5036959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통제</a:t>
            </a:r>
          </a:p>
        </p:txBody>
      </p:sp>
      <p:sp>
        <p:nvSpPr>
          <p:cNvPr id="41" name="직사각형 40"/>
          <p:cNvSpPr/>
          <p:nvPr/>
        </p:nvSpPr>
        <p:spPr>
          <a:xfrm>
            <a:off x="7186178" y="5930899"/>
            <a:ext cx="2929009" cy="411296"/>
          </a:xfrm>
          <a:prstGeom prst="rect">
            <a:avLst/>
          </a:prstGeom>
          <a:solidFill>
            <a:srgbClr val="C00000">
              <a:alpha val="48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18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02:41:03</a:t>
            </a:r>
            <a:endParaRPr lang="ko-KR" altLang="en-US" sz="1800" b="1">
              <a:solidFill>
                <a:schemeClr val="bg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8064899" y="5707952"/>
            <a:ext cx="125547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FF0000"/>
                </a:solidFill>
              </a:rPr>
              <a:t>비상발생 경과시간</a:t>
            </a:r>
          </a:p>
        </p:txBody>
      </p:sp>
      <p:sp>
        <p:nvSpPr>
          <p:cNvPr id="43" name="직사각형 42"/>
          <p:cNvSpPr/>
          <p:nvPr/>
        </p:nvSpPr>
        <p:spPr>
          <a:xfrm>
            <a:off x="7186178" y="4649056"/>
            <a:ext cx="2929009" cy="1694752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7186178" y="6410546"/>
            <a:ext cx="2929009" cy="17104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45" name="그룹 44"/>
          <p:cNvGrpSpPr/>
          <p:nvPr/>
        </p:nvGrpSpPr>
        <p:grpSpPr>
          <a:xfrm>
            <a:off x="7310401" y="6562151"/>
            <a:ext cx="684064" cy="663979"/>
            <a:chOff x="7962299" y="2617527"/>
            <a:chExt cx="622093" cy="646131"/>
          </a:xfrm>
        </p:grpSpPr>
        <p:sp>
          <p:nvSpPr>
            <p:cNvPr id="46" name="직사각형 45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7" name="그림 46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48" name="TextBox 47"/>
          <p:cNvSpPr txBox="1"/>
          <p:nvPr/>
        </p:nvSpPr>
        <p:spPr>
          <a:xfrm>
            <a:off x="8022145" y="6938151"/>
            <a:ext cx="20778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22145" y="6546173"/>
            <a:ext cx="14542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0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50" name="모서리가 둥근 직사각형 49"/>
          <p:cNvSpPr/>
          <p:nvPr/>
        </p:nvSpPr>
        <p:spPr>
          <a:xfrm>
            <a:off x="8103643" y="6806313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일반</a:t>
            </a:r>
          </a:p>
        </p:txBody>
      </p:sp>
      <p:sp>
        <p:nvSpPr>
          <p:cNvPr id="51" name="모서리가 둥근 직사각형 50"/>
          <p:cNvSpPr/>
          <p:nvPr/>
        </p:nvSpPr>
        <p:spPr>
          <a:xfrm>
            <a:off x="8607841" y="6806313"/>
            <a:ext cx="477952" cy="171926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통제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7186178" y="7700253"/>
            <a:ext cx="2929009" cy="411296"/>
          </a:xfrm>
          <a:prstGeom prst="rect">
            <a:avLst/>
          </a:prstGeom>
          <a:solidFill>
            <a:srgbClr val="C00000">
              <a:alpha val="48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1800" b="1">
                <a:solidFill>
                  <a:schemeClr val="bg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02:41:03</a:t>
            </a:r>
            <a:endParaRPr lang="ko-KR" altLang="en-US" sz="1800" b="1">
              <a:solidFill>
                <a:schemeClr val="bg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064899" y="7477306"/>
            <a:ext cx="125547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FF0000"/>
                </a:solidFill>
              </a:rPr>
              <a:t>비상발생 경과시간</a:t>
            </a:r>
          </a:p>
        </p:txBody>
      </p:sp>
      <p:sp>
        <p:nvSpPr>
          <p:cNvPr id="54" name="직사각형 53"/>
          <p:cNvSpPr/>
          <p:nvPr/>
        </p:nvSpPr>
        <p:spPr>
          <a:xfrm>
            <a:off x="7186178" y="6418410"/>
            <a:ext cx="2929009" cy="1694752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7884740" y="395492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101937" y="2379330"/>
            <a:ext cx="2395207" cy="477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비상상황 </a:t>
            </a:r>
            <a:r>
              <a:rPr lang="ko-KR" altLang="en-US" sz="900" dirty="0" err="1">
                <a:latin typeface="+mn-ea"/>
              </a:rPr>
              <a:t>입실자</a:t>
            </a:r>
            <a:r>
              <a:rPr lang="ko-KR" altLang="en-US" sz="900" dirty="0">
                <a:latin typeface="+mn-ea"/>
              </a:rPr>
              <a:t> 정보</a:t>
            </a:r>
            <a:endParaRPr lang="en-US" altLang="ko-KR" sz="900" dirty="0">
              <a:latin typeface="+mn-ea"/>
            </a:endParaRPr>
          </a:p>
          <a:p>
            <a:r>
              <a:rPr lang="ko-KR" altLang="en-US" sz="1600" dirty="0">
                <a:latin typeface="+mn-ea"/>
              </a:rPr>
              <a:t>현장 </a:t>
            </a:r>
            <a:r>
              <a:rPr lang="en-US" altLang="ko-KR" sz="1600" dirty="0">
                <a:latin typeface="+mn-ea"/>
              </a:rPr>
              <a:t>4</a:t>
            </a:r>
            <a:r>
              <a:rPr lang="ko-KR" altLang="en-US" sz="1600">
                <a:latin typeface="+mn-ea"/>
              </a:rPr>
              <a:t>층 </a:t>
            </a:r>
            <a:r>
              <a:rPr lang="en-US" altLang="ko-KR" sz="1600" dirty="0">
                <a:latin typeface="+mn-ea"/>
              </a:rPr>
              <a:t>B-3 (</a:t>
            </a:r>
            <a:r>
              <a:rPr lang="ko-KR" altLang="en-US" sz="1600">
                <a:latin typeface="+mn-ea"/>
              </a:rPr>
              <a:t>통제구역</a:t>
            </a:r>
            <a:r>
              <a:rPr lang="en-US" altLang="ko-KR" sz="1600" dirty="0">
                <a:latin typeface="+mn-ea"/>
              </a:rPr>
              <a:t>)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58" name="모서리가 둥근 직사각형 57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019</a:t>
            </a:r>
            <a:endParaRPr lang="ko-KR" altLang="en-US" sz="800" dirty="0">
              <a:latin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비상상황 </a:t>
            </a:r>
            <a:r>
              <a:rPr lang="ko-KR" altLang="en-US" sz="900" dirty="0" err="1"/>
              <a:t>입실자</a:t>
            </a:r>
            <a:r>
              <a:rPr lang="ko-KR" altLang="en-US" sz="900" dirty="0"/>
              <a:t> 정보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9477815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직사각형 40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020</a:t>
            </a:r>
            <a:endParaRPr lang="ko-KR" altLang="en-US" sz="800" dirty="0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지난 대피현황 보기 팝업</a:t>
            </a:r>
            <a:endParaRPr lang="ko-KR" altLang="en-US" sz="900" dirty="0">
              <a:latin typeface="+mn-ea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1776225" y="2867799"/>
            <a:ext cx="7114166" cy="734896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bIns="0" rtlCol="0" anchor="ctr"/>
          <a:lstStyle/>
          <a:p>
            <a:pPr algn="ctr"/>
            <a:r>
              <a:rPr lang="ko-KR" altLang="en-US" sz="1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지난 대피현황 보기</a:t>
            </a:r>
            <a:endParaRPr lang="en-US" altLang="ko-KR" sz="18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8312270" y="3018751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776225" y="3600077"/>
            <a:ext cx="7114166" cy="109370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bIns="0" rtlCol="0" anchor="t"/>
          <a:lstStyle/>
          <a:p>
            <a:pPr>
              <a:lnSpc>
                <a:spcPct val="150000"/>
              </a:lnSpc>
            </a:pPr>
            <a:r>
              <a:rPr lang="en-US" altLang="ko-KR" sz="1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r>
              <a:rPr lang="ko-KR" altLang="en-US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월 가스위험 대피훈련</a:t>
            </a:r>
            <a:endParaRPr lang="en-US" altLang="ko-KR" sz="1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10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2016.04.12 13:32:23 ~ 2016.04.14  12:30:02</a:t>
            </a:r>
            <a:endParaRPr lang="en-US" altLang="ko-KR" sz="6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778763" y="4333123"/>
            <a:ext cx="428515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관리동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,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465710" y="4347534"/>
            <a:ext cx="2078312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미대피자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 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598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cxnSp>
        <p:nvCxnSpPr>
          <p:cNvPr id="10" name="직선 연결선 9"/>
          <p:cNvCxnSpPr/>
          <p:nvPr/>
        </p:nvCxnSpPr>
        <p:spPr>
          <a:xfrm>
            <a:off x="8865222" y="3600078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5465710" y="3711079"/>
            <a:ext cx="2078312" cy="314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일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14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시간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34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초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1776225" y="4686605"/>
            <a:ext cx="7114166" cy="109370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bIns="0" rtlCol="0" anchor="t"/>
          <a:lstStyle/>
          <a:p>
            <a:pPr>
              <a:lnSpc>
                <a:spcPct val="150000"/>
              </a:lnSpc>
            </a:pPr>
            <a:r>
              <a:rPr lang="en-US" altLang="ko-KR" sz="1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ko-KR" altLang="en-US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월 화재 대피훈련</a:t>
            </a:r>
            <a:endParaRPr lang="en-US" altLang="ko-KR" sz="1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10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2016.04.12 13:32:23 ~ 2016.04.14  12:30:02</a:t>
            </a:r>
            <a:endParaRPr lang="en-US" altLang="ko-KR" sz="6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778763" y="5419651"/>
            <a:ext cx="428515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관리동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,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465710" y="5434062"/>
            <a:ext cx="2078312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미대피자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 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598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465710" y="4797607"/>
            <a:ext cx="2078312" cy="314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일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14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시간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34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초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1776225" y="5780311"/>
            <a:ext cx="7114166" cy="109370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bIns="0" rtlCol="0" anchor="t"/>
          <a:lstStyle/>
          <a:p>
            <a:pPr>
              <a:lnSpc>
                <a:spcPct val="150000"/>
              </a:lnSpc>
            </a:pPr>
            <a:r>
              <a:rPr lang="en-US" altLang="ko-KR" sz="1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ko-KR" altLang="en-US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월 지진 대피훈련</a:t>
            </a:r>
            <a:endParaRPr lang="en-US" altLang="ko-KR" sz="1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10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2016.04.12 13:32:23 ~ 2016.04.14  12:30:02</a:t>
            </a:r>
            <a:endParaRPr lang="en-US" altLang="ko-KR" sz="6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778763" y="6513357"/>
            <a:ext cx="428515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관리동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전체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 /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제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공장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(1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,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층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5465710" y="6527768"/>
            <a:ext cx="2078312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미대피자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2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 대피자 </a:t>
            </a:r>
            <a:r>
              <a:rPr lang="en-US" altLang="ko-KR" sz="1100" dirty="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: 598 </a:t>
            </a:r>
            <a:r>
              <a:rPr lang="ko-KR" altLang="en-US" sz="1100">
                <a:solidFill>
                  <a:schemeClr val="bg1">
                    <a:lumMod val="50000"/>
                  </a:schemeClr>
                </a:solidFill>
                <a:latin typeface="+mj-lt"/>
                <a:ea typeface="나눔바른고딕" panose="020B0603020101020101" pitchFamily="50" charset="-127"/>
              </a:rPr>
              <a:t>명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5465710" y="5891313"/>
            <a:ext cx="2078312" cy="314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일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14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시간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분 </a:t>
            </a:r>
            <a:r>
              <a:rPr lang="en-US" altLang="ko-KR" sz="1100" dirty="0">
                <a:latin typeface="Arial" panose="020B0604020202020204" pitchFamily="34" charset="0"/>
                <a:cs typeface="Arial" panose="020B0604020202020204" pitchFamily="34" charset="0"/>
              </a:rPr>
              <a:t>34</a:t>
            </a:r>
            <a:r>
              <a:rPr lang="ko-KR" altLang="en-US" sz="1100">
                <a:latin typeface="Arial" panose="020B0604020202020204" pitchFamily="34" charset="0"/>
                <a:cs typeface="Arial" panose="020B0604020202020204" pitchFamily="34" charset="0"/>
              </a:rPr>
              <a:t>초</a:t>
            </a:r>
            <a:endParaRPr lang="ko-KR" altLang="en-US" sz="1100" dirty="0">
              <a:solidFill>
                <a:schemeClr val="bg1">
                  <a:lumMod val="50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5244408" y="27816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1648272" y="375184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22" name="표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1012069"/>
              </p:ext>
            </p:extLst>
          </p:nvPr>
        </p:nvGraphicFramePr>
        <p:xfrm>
          <a:off x="10633534" y="1272208"/>
          <a:ext cx="2088232" cy="211243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지난 대피현황 보기 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재난에 대한 제목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경과 일 </a:t>
                      </a:r>
                      <a:r>
                        <a:rPr lang="en-US" altLang="ko-KR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600" baseline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경과 기간을 보여줌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비상지역 설정했던 내역 보기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미대피자</a:t>
                      </a:r>
                      <a:r>
                        <a:rPr lang="en-US" altLang="ko-KR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600" baseline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대피자 인원수 노출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제목 수정 버튼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6-1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제목 수정 팝업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선택된 내역의 </a:t>
                      </a:r>
                      <a:r>
                        <a:rPr lang="en-US" altLang="ko-KR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Report </a:t>
                      </a:r>
                      <a:r>
                        <a:rPr lang="ko-KR" altLang="en-US" sz="600" baseline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화면으로 이동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3" name="직사각형 22"/>
          <p:cNvSpPr/>
          <p:nvPr/>
        </p:nvSpPr>
        <p:spPr>
          <a:xfrm>
            <a:off x="1648272" y="411575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1648272" y="442531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5472920" y="442531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" name="모서리가 둥근 직사각형 25"/>
          <p:cNvSpPr/>
          <p:nvPr/>
        </p:nvSpPr>
        <p:spPr>
          <a:xfrm>
            <a:off x="7840960" y="3751843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수정</a:t>
            </a:r>
          </a:p>
        </p:txBody>
      </p:sp>
      <p:sp>
        <p:nvSpPr>
          <p:cNvPr id="27" name="모서리가 둥근 직사각형 26"/>
          <p:cNvSpPr/>
          <p:nvPr/>
        </p:nvSpPr>
        <p:spPr>
          <a:xfrm>
            <a:off x="7840960" y="4199824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보기</a:t>
            </a:r>
          </a:p>
        </p:txBody>
      </p:sp>
      <p:sp>
        <p:nvSpPr>
          <p:cNvPr id="28" name="모서리가 둥근 직사각형 27"/>
          <p:cNvSpPr/>
          <p:nvPr/>
        </p:nvSpPr>
        <p:spPr>
          <a:xfrm>
            <a:off x="7840960" y="4835753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수정</a:t>
            </a:r>
          </a:p>
        </p:txBody>
      </p:sp>
      <p:sp>
        <p:nvSpPr>
          <p:cNvPr id="29" name="모서리가 둥근 직사각형 28"/>
          <p:cNvSpPr/>
          <p:nvPr/>
        </p:nvSpPr>
        <p:spPr>
          <a:xfrm>
            <a:off x="7840960" y="5283734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보기</a:t>
            </a:r>
          </a:p>
        </p:txBody>
      </p:sp>
      <p:sp>
        <p:nvSpPr>
          <p:cNvPr id="30" name="모서리가 둥근 직사각형 29"/>
          <p:cNvSpPr/>
          <p:nvPr/>
        </p:nvSpPr>
        <p:spPr>
          <a:xfrm>
            <a:off x="7840960" y="5937424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수정</a:t>
            </a:r>
          </a:p>
        </p:txBody>
      </p:sp>
      <p:sp>
        <p:nvSpPr>
          <p:cNvPr id="31" name="모서리가 둥근 직사각형 30"/>
          <p:cNvSpPr/>
          <p:nvPr/>
        </p:nvSpPr>
        <p:spPr>
          <a:xfrm>
            <a:off x="7840960" y="6385405"/>
            <a:ext cx="864096" cy="36391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보기</a:t>
            </a:r>
          </a:p>
        </p:txBody>
      </p:sp>
      <p:sp>
        <p:nvSpPr>
          <p:cNvPr id="32" name="직사각형 31"/>
          <p:cNvSpPr/>
          <p:nvPr/>
        </p:nvSpPr>
        <p:spPr>
          <a:xfrm>
            <a:off x="9457212" y="6672808"/>
            <a:ext cx="2880320" cy="128736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>
              <a:solidFill>
                <a:schemeClr val="tx1"/>
              </a:solidFill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9548933" y="6839397"/>
            <a:ext cx="2684515" cy="51336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100" dirty="0">
                <a:solidFill>
                  <a:schemeClr val="tx1"/>
                </a:solidFill>
              </a:rPr>
              <a:t>4</a:t>
            </a:r>
            <a:r>
              <a:rPr lang="ko-KR" altLang="en-US" sz="1100">
                <a:solidFill>
                  <a:schemeClr val="tx1"/>
                </a:solidFill>
              </a:rPr>
              <a:t>월 지진 대피훈련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9457564" y="7536904"/>
            <a:ext cx="2879968" cy="417007"/>
            <a:chOff x="9457564" y="7589997"/>
            <a:chExt cx="1728192" cy="363914"/>
          </a:xfrm>
        </p:grpSpPr>
        <p:sp>
          <p:nvSpPr>
            <p:cNvPr id="35" name="모서리가 둥근 직사각형 34"/>
            <p:cNvSpPr/>
            <p:nvPr/>
          </p:nvSpPr>
          <p:spPr>
            <a:xfrm>
              <a:off x="9457564" y="7589997"/>
              <a:ext cx="864096" cy="36391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100">
                  <a:solidFill>
                    <a:schemeClr val="tx1"/>
                  </a:solidFill>
                </a:rPr>
                <a:t>취소</a:t>
              </a:r>
              <a:endParaRPr lang="ko-KR" altLang="en-US" sz="1100" dirty="0">
                <a:solidFill>
                  <a:schemeClr val="tx1"/>
                </a:solidFill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10321660" y="7589997"/>
              <a:ext cx="864096" cy="36391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100" dirty="0">
                  <a:solidFill>
                    <a:schemeClr val="tx1"/>
                  </a:solidFill>
                </a:rPr>
                <a:t>수정</a:t>
              </a:r>
            </a:p>
          </p:txBody>
        </p:sp>
      </p:grpSp>
      <p:cxnSp>
        <p:nvCxnSpPr>
          <p:cNvPr id="37" name="꺾인 연결선 36"/>
          <p:cNvCxnSpPr>
            <a:stCxn id="30" idx="3"/>
            <a:endCxn id="32" idx="0"/>
          </p:cNvCxnSpPr>
          <p:nvPr/>
        </p:nvCxnSpPr>
        <p:spPr>
          <a:xfrm>
            <a:off x="8705056" y="6119381"/>
            <a:ext cx="2192316" cy="553427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/>
          <p:cNvSpPr/>
          <p:nvPr/>
        </p:nvSpPr>
        <p:spPr>
          <a:xfrm>
            <a:off x="7747833" y="48971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10549086" y="653913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7747833" y="53546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7321509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안전 리포트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248312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6" name="Today Background"/>
          <p:cNvSpPr>
            <a:spLocks noChangeArrowheads="1"/>
          </p:cNvSpPr>
          <p:nvPr/>
        </p:nvSpPr>
        <p:spPr bwMode="auto">
          <a:xfrm>
            <a:off x="1581375" y="3969467"/>
            <a:ext cx="290670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7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10 11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12 13 14</a:t>
            </a:r>
            <a:r>
              <a:rPr lang="en-US" altLang="ko-KR" sz="1000" dirty="0">
                <a:latin typeface="+mn-ea"/>
              </a:rPr>
              <a:t>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17 18 19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20</a:t>
            </a:r>
            <a:r>
              <a:rPr lang="en-US" altLang="ko-KR" sz="1000" dirty="0">
                <a:latin typeface="+mn-ea"/>
              </a:rPr>
              <a:t> 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6" name="직선 연결선 15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sp>
        <p:nvSpPr>
          <p:cNvPr id="21" name="직사각형 20"/>
          <p:cNvSpPr/>
          <p:nvPr/>
        </p:nvSpPr>
        <p:spPr>
          <a:xfrm>
            <a:off x="325228" y="22821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1581375" y="25086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368064" y="396912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342094" y="46061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342094" y="51120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342094" y="57468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27" name="그룹 26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28" name="직사각형 27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9" name="직사각형 28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30" name="직사각형 29"/>
          <p:cNvSpPr/>
          <p:nvPr/>
        </p:nvSpPr>
        <p:spPr>
          <a:xfrm>
            <a:off x="316609" y="774327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32" name="직선 연결선 31"/>
          <p:cNvCxnSpPr/>
          <p:nvPr/>
        </p:nvCxnSpPr>
        <p:spPr>
          <a:xfrm>
            <a:off x="3520480" y="4686257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520480" y="4805012"/>
            <a:ext cx="612298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dirty="0">
                <a:latin typeface="+mn-ea"/>
              </a:rPr>
              <a:t>00  01  02  03  04  05  06  07  08  09  10  11  12  13  14  15  16  17  18  19  20  21  22  23 </a:t>
            </a:r>
            <a:endParaRPr lang="ko-KR" altLang="en-US" sz="1100" dirty="0">
              <a:latin typeface="+mn-ea"/>
            </a:endParaRPr>
          </a:p>
        </p:txBody>
      </p:sp>
      <p:sp>
        <p:nvSpPr>
          <p:cNvPr id="34" name="자유형 33"/>
          <p:cNvSpPr/>
          <p:nvPr/>
        </p:nvSpPr>
        <p:spPr>
          <a:xfrm>
            <a:off x="3582099" y="3042037"/>
            <a:ext cx="5972962" cy="1577131"/>
          </a:xfrm>
          <a:custGeom>
            <a:avLst/>
            <a:gdLst>
              <a:gd name="connsiteX0" fmla="*/ 0 w 5972962"/>
              <a:gd name="connsiteY0" fmla="*/ 1568742 h 1577131"/>
              <a:gd name="connsiteX1" fmla="*/ 251670 w 5972962"/>
              <a:gd name="connsiteY1" fmla="*/ 1560353 h 1577131"/>
              <a:gd name="connsiteX2" fmla="*/ 528507 w 5972962"/>
              <a:gd name="connsiteY2" fmla="*/ 1459685 h 1577131"/>
              <a:gd name="connsiteX3" fmla="*/ 746620 w 5972962"/>
              <a:gd name="connsiteY3" fmla="*/ 1208015 h 1577131"/>
              <a:gd name="connsiteX4" fmla="*/ 1023457 w 5972962"/>
              <a:gd name="connsiteY4" fmla="*/ 1535186 h 1577131"/>
              <a:gd name="connsiteX5" fmla="*/ 1249960 w 5972962"/>
              <a:gd name="connsiteY5" fmla="*/ 1577131 h 1577131"/>
              <a:gd name="connsiteX6" fmla="*/ 1510018 w 5972962"/>
              <a:gd name="connsiteY6" fmla="*/ 1577131 h 1577131"/>
              <a:gd name="connsiteX7" fmla="*/ 1744910 w 5972962"/>
              <a:gd name="connsiteY7" fmla="*/ 1375795 h 1577131"/>
              <a:gd name="connsiteX8" fmla="*/ 2055303 w 5972962"/>
              <a:gd name="connsiteY8" fmla="*/ 570452 h 1577131"/>
              <a:gd name="connsiteX9" fmla="*/ 2248250 w 5972962"/>
              <a:gd name="connsiteY9" fmla="*/ 0 h 1577131"/>
              <a:gd name="connsiteX10" fmla="*/ 2508308 w 5972962"/>
              <a:gd name="connsiteY10" fmla="*/ 704675 h 1577131"/>
              <a:gd name="connsiteX11" fmla="*/ 2751589 w 5972962"/>
              <a:gd name="connsiteY11" fmla="*/ 260059 h 1577131"/>
              <a:gd name="connsiteX12" fmla="*/ 3028426 w 5972962"/>
              <a:gd name="connsiteY12" fmla="*/ 1291905 h 1577131"/>
              <a:gd name="connsiteX13" fmla="*/ 3246540 w 5972962"/>
              <a:gd name="connsiteY13" fmla="*/ 142613 h 1577131"/>
              <a:gd name="connsiteX14" fmla="*/ 3464653 w 5972962"/>
              <a:gd name="connsiteY14" fmla="*/ 780176 h 1577131"/>
              <a:gd name="connsiteX15" fmla="*/ 3741490 w 5972962"/>
              <a:gd name="connsiteY15" fmla="*/ 1333850 h 1577131"/>
              <a:gd name="connsiteX16" fmla="*/ 4026716 w 5972962"/>
              <a:gd name="connsiteY16" fmla="*/ 1442907 h 1577131"/>
              <a:gd name="connsiteX17" fmla="*/ 4253218 w 5972962"/>
              <a:gd name="connsiteY17" fmla="*/ 1518408 h 1577131"/>
              <a:gd name="connsiteX18" fmla="*/ 4504888 w 5972962"/>
              <a:gd name="connsiteY18" fmla="*/ 822121 h 1577131"/>
              <a:gd name="connsiteX19" fmla="*/ 4756558 w 5972962"/>
              <a:gd name="connsiteY19" fmla="*/ 1048624 h 1577131"/>
              <a:gd name="connsiteX20" fmla="*/ 5016617 w 5972962"/>
              <a:gd name="connsiteY20" fmla="*/ 1266738 h 1577131"/>
              <a:gd name="connsiteX21" fmla="*/ 5243119 w 5972962"/>
              <a:gd name="connsiteY21" fmla="*/ 1400962 h 1577131"/>
              <a:gd name="connsiteX22" fmla="*/ 5486400 w 5972962"/>
              <a:gd name="connsiteY22" fmla="*/ 1551964 h 1577131"/>
              <a:gd name="connsiteX23" fmla="*/ 5729681 w 5972962"/>
              <a:gd name="connsiteY23" fmla="*/ 1568742 h 1577131"/>
              <a:gd name="connsiteX24" fmla="*/ 5972962 w 5972962"/>
              <a:gd name="connsiteY24" fmla="*/ 1568742 h 157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72962" h="1577131">
                <a:moveTo>
                  <a:pt x="0" y="1568742"/>
                </a:moveTo>
                <a:lnTo>
                  <a:pt x="251670" y="1560353"/>
                </a:lnTo>
                <a:lnTo>
                  <a:pt x="528507" y="1459685"/>
                </a:lnTo>
                <a:lnTo>
                  <a:pt x="746620" y="1208015"/>
                </a:lnTo>
                <a:lnTo>
                  <a:pt x="1023457" y="1535186"/>
                </a:lnTo>
                <a:lnTo>
                  <a:pt x="1249960" y="1577131"/>
                </a:lnTo>
                <a:lnTo>
                  <a:pt x="1510018" y="1577131"/>
                </a:lnTo>
                <a:lnTo>
                  <a:pt x="1744910" y="1375795"/>
                </a:lnTo>
                <a:lnTo>
                  <a:pt x="2055303" y="570452"/>
                </a:lnTo>
                <a:lnTo>
                  <a:pt x="2248250" y="0"/>
                </a:lnTo>
                <a:lnTo>
                  <a:pt x="2508308" y="704675"/>
                </a:lnTo>
                <a:lnTo>
                  <a:pt x="2751589" y="260059"/>
                </a:lnTo>
                <a:lnTo>
                  <a:pt x="3028426" y="1291905"/>
                </a:lnTo>
                <a:lnTo>
                  <a:pt x="3246540" y="142613"/>
                </a:lnTo>
                <a:lnTo>
                  <a:pt x="3464653" y="780176"/>
                </a:lnTo>
                <a:lnTo>
                  <a:pt x="3741490" y="1333850"/>
                </a:lnTo>
                <a:lnTo>
                  <a:pt x="4026716" y="1442907"/>
                </a:lnTo>
                <a:lnTo>
                  <a:pt x="4253218" y="1518408"/>
                </a:lnTo>
                <a:lnTo>
                  <a:pt x="4504888" y="822121"/>
                </a:lnTo>
                <a:lnTo>
                  <a:pt x="4756558" y="1048624"/>
                </a:lnTo>
                <a:lnTo>
                  <a:pt x="5016617" y="1266738"/>
                </a:lnTo>
                <a:lnTo>
                  <a:pt x="5243119" y="1400962"/>
                </a:lnTo>
                <a:lnTo>
                  <a:pt x="5486400" y="1551964"/>
                </a:lnTo>
                <a:lnTo>
                  <a:pt x="5729681" y="1568742"/>
                </a:lnTo>
                <a:lnTo>
                  <a:pt x="5972962" y="1568742"/>
                </a:lnTo>
              </a:path>
            </a:pathLst>
          </a:cu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5" name="자유형 34"/>
          <p:cNvSpPr/>
          <p:nvPr/>
        </p:nvSpPr>
        <p:spPr>
          <a:xfrm>
            <a:off x="3615655" y="2949758"/>
            <a:ext cx="5947795" cy="1677799"/>
          </a:xfrm>
          <a:custGeom>
            <a:avLst/>
            <a:gdLst>
              <a:gd name="connsiteX0" fmla="*/ 0 w 5947795"/>
              <a:gd name="connsiteY0" fmla="*/ 1619076 h 1677799"/>
              <a:gd name="connsiteX1" fmla="*/ 268448 w 5947795"/>
              <a:gd name="connsiteY1" fmla="*/ 1602298 h 1677799"/>
              <a:gd name="connsiteX2" fmla="*/ 478173 w 5947795"/>
              <a:gd name="connsiteY2" fmla="*/ 1652632 h 1677799"/>
              <a:gd name="connsiteX3" fmla="*/ 687897 w 5947795"/>
              <a:gd name="connsiteY3" fmla="*/ 1451296 h 1677799"/>
              <a:gd name="connsiteX4" fmla="*/ 931178 w 5947795"/>
              <a:gd name="connsiteY4" fmla="*/ 1451296 h 1677799"/>
              <a:gd name="connsiteX5" fmla="*/ 1140903 w 5947795"/>
              <a:gd name="connsiteY5" fmla="*/ 1459685 h 1677799"/>
              <a:gd name="connsiteX6" fmla="*/ 1451295 w 5947795"/>
              <a:gd name="connsiteY6" fmla="*/ 1300294 h 1677799"/>
              <a:gd name="connsiteX7" fmla="*/ 1686187 w 5947795"/>
              <a:gd name="connsiteY7" fmla="*/ 1526797 h 1677799"/>
              <a:gd name="connsiteX8" fmla="*/ 1946246 w 5947795"/>
              <a:gd name="connsiteY8" fmla="*/ 1291905 h 1677799"/>
              <a:gd name="connsiteX9" fmla="*/ 2223083 w 5947795"/>
              <a:gd name="connsiteY9" fmla="*/ 830510 h 1677799"/>
              <a:gd name="connsiteX10" fmla="*/ 2474752 w 5947795"/>
              <a:gd name="connsiteY10" fmla="*/ 964734 h 1677799"/>
              <a:gd name="connsiteX11" fmla="*/ 2684477 w 5947795"/>
              <a:gd name="connsiteY11" fmla="*/ 704676 h 1677799"/>
              <a:gd name="connsiteX12" fmla="*/ 2969703 w 5947795"/>
              <a:gd name="connsiteY12" fmla="*/ 1132514 h 1677799"/>
              <a:gd name="connsiteX13" fmla="*/ 3212984 w 5947795"/>
              <a:gd name="connsiteY13" fmla="*/ 0 h 1677799"/>
              <a:gd name="connsiteX14" fmla="*/ 3565321 w 5947795"/>
              <a:gd name="connsiteY14" fmla="*/ 1249960 h 1677799"/>
              <a:gd name="connsiteX15" fmla="*/ 3791824 w 5947795"/>
              <a:gd name="connsiteY15" fmla="*/ 1661021 h 1677799"/>
              <a:gd name="connsiteX16" fmla="*/ 3993160 w 5947795"/>
              <a:gd name="connsiteY16" fmla="*/ 1409351 h 1677799"/>
              <a:gd name="connsiteX17" fmla="*/ 4194495 w 5947795"/>
              <a:gd name="connsiteY17" fmla="*/ 1619076 h 1677799"/>
              <a:gd name="connsiteX18" fmla="*/ 4488110 w 5947795"/>
              <a:gd name="connsiteY18" fmla="*/ 1157681 h 1677799"/>
              <a:gd name="connsiteX19" fmla="*/ 4764947 w 5947795"/>
              <a:gd name="connsiteY19" fmla="*/ 1501630 h 1677799"/>
              <a:gd name="connsiteX20" fmla="*/ 5008228 w 5947795"/>
              <a:gd name="connsiteY20" fmla="*/ 1602298 h 1677799"/>
              <a:gd name="connsiteX21" fmla="*/ 5276675 w 5947795"/>
              <a:gd name="connsiteY21" fmla="*/ 1627465 h 1677799"/>
              <a:gd name="connsiteX22" fmla="*/ 5494789 w 5947795"/>
              <a:gd name="connsiteY22" fmla="*/ 1669410 h 1677799"/>
              <a:gd name="connsiteX23" fmla="*/ 5788404 w 5947795"/>
              <a:gd name="connsiteY23" fmla="*/ 1677799 h 1677799"/>
              <a:gd name="connsiteX24" fmla="*/ 5947795 w 5947795"/>
              <a:gd name="connsiteY24" fmla="*/ 1677799 h 167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47795" h="1677799">
                <a:moveTo>
                  <a:pt x="0" y="1619076"/>
                </a:moveTo>
                <a:lnTo>
                  <a:pt x="268448" y="1602298"/>
                </a:lnTo>
                <a:lnTo>
                  <a:pt x="478173" y="1652632"/>
                </a:lnTo>
                <a:lnTo>
                  <a:pt x="687897" y="1451296"/>
                </a:lnTo>
                <a:lnTo>
                  <a:pt x="931178" y="1451296"/>
                </a:lnTo>
                <a:lnTo>
                  <a:pt x="1140903" y="1459685"/>
                </a:lnTo>
                <a:lnTo>
                  <a:pt x="1451295" y="1300294"/>
                </a:lnTo>
                <a:lnTo>
                  <a:pt x="1686187" y="1526797"/>
                </a:lnTo>
                <a:lnTo>
                  <a:pt x="1946246" y="1291905"/>
                </a:lnTo>
                <a:lnTo>
                  <a:pt x="2223083" y="830510"/>
                </a:lnTo>
                <a:lnTo>
                  <a:pt x="2474752" y="964734"/>
                </a:lnTo>
                <a:lnTo>
                  <a:pt x="2684477" y="704676"/>
                </a:lnTo>
                <a:lnTo>
                  <a:pt x="2969703" y="1132514"/>
                </a:lnTo>
                <a:lnTo>
                  <a:pt x="3212984" y="0"/>
                </a:lnTo>
                <a:lnTo>
                  <a:pt x="3565321" y="1249960"/>
                </a:lnTo>
                <a:lnTo>
                  <a:pt x="3791824" y="1661021"/>
                </a:lnTo>
                <a:lnTo>
                  <a:pt x="3993160" y="1409351"/>
                </a:lnTo>
                <a:lnTo>
                  <a:pt x="4194495" y="1619076"/>
                </a:lnTo>
                <a:lnTo>
                  <a:pt x="4488110" y="1157681"/>
                </a:lnTo>
                <a:lnTo>
                  <a:pt x="4764947" y="1501630"/>
                </a:lnTo>
                <a:lnTo>
                  <a:pt x="5008228" y="1602298"/>
                </a:lnTo>
                <a:lnTo>
                  <a:pt x="5276675" y="1627465"/>
                </a:lnTo>
                <a:lnTo>
                  <a:pt x="5494789" y="1669410"/>
                </a:lnTo>
                <a:lnTo>
                  <a:pt x="5788404" y="1677799"/>
                </a:lnTo>
                <a:lnTo>
                  <a:pt x="5947795" y="1677799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aphicFrame>
        <p:nvGraphicFramePr>
          <p:cNvPr id="36" name="차트 35"/>
          <p:cNvGraphicFramePr/>
          <p:nvPr>
            <p:extLst>
              <p:ext uri="{D42A27DB-BD31-4B8C-83A1-F6EECF244321}">
                <p14:modId xmlns:p14="http://schemas.microsoft.com/office/powerpoint/2010/main" val="1728134014"/>
              </p:ext>
            </p:extLst>
          </p:nvPr>
        </p:nvGraphicFramePr>
        <p:xfrm>
          <a:off x="3272645" y="4974289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7" name="TextBox 36"/>
          <p:cNvSpPr txBox="1"/>
          <p:nvPr/>
        </p:nvSpPr>
        <p:spPr>
          <a:xfrm>
            <a:off x="5824736" y="5161733"/>
            <a:ext cx="755015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긴 급 호 출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침 범 상 황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가 </a:t>
            </a:r>
            <a:r>
              <a:rPr lang="ko-KR" altLang="en-US" sz="1100" dirty="0" err="1">
                <a:latin typeface="+mn-ea"/>
              </a:rPr>
              <a:t>스</a:t>
            </a:r>
            <a:r>
              <a:rPr lang="ko-KR" altLang="en-US" sz="1100" dirty="0">
                <a:latin typeface="+mn-ea"/>
              </a:rPr>
              <a:t> 위 험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심박수 위험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1100" dirty="0">
                <a:latin typeface="+mn-ea"/>
              </a:rPr>
              <a:t>AP </a:t>
            </a:r>
            <a:r>
              <a:rPr lang="ko-KR" altLang="en-US" sz="1100">
                <a:latin typeface="+mn-ea"/>
              </a:rPr>
              <a:t>이상 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배터리 부족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9076649" y="5161733"/>
            <a:ext cx="7085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(41%)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(17%)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(29%)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6646547" y="5288164"/>
            <a:ext cx="936089" cy="144000"/>
          </a:xfrm>
          <a:prstGeom prst="rect">
            <a:avLst/>
          </a:prstGeom>
          <a:solidFill>
            <a:srgbClr val="5F5F5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6646547" y="5619523"/>
            <a:ext cx="936089" cy="144000"/>
          </a:xfrm>
          <a:prstGeom prst="rect">
            <a:avLst/>
          </a:prstGeom>
          <a:solidFill>
            <a:srgbClr val="B3B3B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6646547" y="5962093"/>
            <a:ext cx="936089" cy="144000"/>
          </a:xfrm>
          <a:prstGeom prst="rect">
            <a:avLst/>
          </a:prstGeom>
          <a:solidFill>
            <a:srgbClr val="898989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6646547" y="6301895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6571281" y="2904970"/>
            <a:ext cx="3213895" cy="17513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cxnSp>
        <p:nvCxnSpPr>
          <p:cNvPr id="44" name="직선 연결선 43"/>
          <p:cNvCxnSpPr/>
          <p:nvPr/>
        </p:nvCxnSpPr>
        <p:spPr>
          <a:xfrm>
            <a:off x="8697047" y="3258138"/>
            <a:ext cx="866403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9159493" y="3037855"/>
            <a:ext cx="40395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입실자</a:t>
            </a:r>
          </a:p>
        </p:txBody>
      </p:sp>
      <p:cxnSp>
        <p:nvCxnSpPr>
          <p:cNvPr id="46" name="직선 연결선 45"/>
          <p:cNvCxnSpPr/>
          <p:nvPr/>
        </p:nvCxnSpPr>
        <p:spPr>
          <a:xfrm>
            <a:off x="8697047" y="3606137"/>
            <a:ext cx="866403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/>
          <p:cNvSpPr txBox="1"/>
          <p:nvPr/>
        </p:nvSpPr>
        <p:spPr>
          <a:xfrm>
            <a:off x="9159492" y="3385854"/>
            <a:ext cx="403958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퇴실자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918687" y="7406660"/>
            <a:ext cx="132658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400" b="1" dirty="0">
                <a:latin typeface="+mn-ea"/>
              </a:rPr>
              <a:t>Detail Report</a:t>
            </a:r>
            <a:endParaRPr lang="ko-KR" altLang="en-US" sz="1400" dirty="0">
              <a:latin typeface="+mn-ea"/>
            </a:endParaRPr>
          </a:p>
        </p:txBody>
      </p:sp>
      <p:cxnSp>
        <p:nvCxnSpPr>
          <p:cNvPr id="56" name="직선 연결선 55"/>
          <p:cNvCxnSpPr/>
          <p:nvPr/>
        </p:nvCxnSpPr>
        <p:spPr>
          <a:xfrm>
            <a:off x="3520480" y="7814547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896944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아래쪽 화살표 57"/>
          <p:cNvSpPr/>
          <p:nvPr/>
        </p:nvSpPr>
        <p:spPr>
          <a:xfrm>
            <a:off x="4980075" y="8545016"/>
            <a:ext cx="3251913" cy="504056"/>
          </a:xfrm>
          <a:prstGeom prst="downArrow">
            <a:avLst/>
          </a:prstGeom>
          <a:solidFill>
            <a:srgbClr val="E46C0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latin typeface="+mn-ea"/>
              </a:rPr>
              <a:t>상세내용 다음페이지</a:t>
            </a:r>
          </a:p>
        </p:txBody>
      </p:sp>
      <p:grpSp>
        <p:nvGrpSpPr>
          <p:cNvPr id="59" name="그룹 58"/>
          <p:cNvGrpSpPr/>
          <p:nvPr/>
        </p:nvGrpSpPr>
        <p:grpSpPr>
          <a:xfrm>
            <a:off x="3126434" y="4260105"/>
            <a:ext cx="6517033" cy="169277"/>
            <a:chOff x="3126434" y="3726376"/>
            <a:chExt cx="6517033" cy="169277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3520480" y="3804253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extBox 60"/>
            <p:cNvSpPr txBox="1"/>
            <p:nvPr/>
          </p:nvSpPr>
          <p:spPr>
            <a:xfrm>
              <a:off x="3126434" y="3726376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10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3126434" y="3855975"/>
            <a:ext cx="6517033" cy="169277"/>
            <a:chOff x="3126434" y="3363962"/>
            <a:chExt cx="6517033" cy="169277"/>
          </a:xfrm>
        </p:grpSpPr>
        <p:cxnSp>
          <p:nvCxnSpPr>
            <p:cNvPr id="63" name="직선 연결선 62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20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65" name="그룹 64"/>
          <p:cNvGrpSpPr/>
          <p:nvPr/>
        </p:nvGrpSpPr>
        <p:grpSpPr>
          <a:xfrm>
            <a:off x="3126434" y="3451844"/>
            <a:ext cx="6517033" cy="169277"/>
            <a:chOff x="3126434" y="3363962"/>
            <a:chExt cx="6517033" cy="169277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TextBox 66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30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3126434" y="3047713"/>
            <a:ext cx="6517033" cy="169277"/>
            <a:chOff x="3126434" y="3363962"/>
            <a:chExt cx="6517033" cy="169277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40</a:t>
              </a:r>
              <a:endParaRPr lang="ko-KR" altLang="en-US" sz="1100" dirty="0">
                <a:latin typeface="+mn-ea"/>
              </a:endParaRPr>
            </a:p>
          </p:txBody>
        </p:sp>
      </p:grpSp>
      <p:sp>
        <p:nvSpPr>
          <p:cNvPr id="71" name="직사각형 70"/>
          <p:cNvSpPr/>
          <p:nvPr/>
        </p:nvSpPr>
        <p:spPr>
          <a:xfrm>
            <a:off x="3069467" y="236603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2" name="직사각형 71"/>
          <p:cNvSpPr/>
          <p:nvPr/>
        </p:nvSpPr>
        <p:spPr>
          <a:xfrm>
            <a:off x="3067652" y="301442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3" name="직사각형 72"/>
          <p:cNvSpPr/>
          <p:nvPr/>
        </p:nvSpPr>
        <p:spPr>
          <a:xfrm>
            <a:off x="3067652" y="503476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4" name="직사각형 73"/>
          <p:cNvSpPr/>
          <p:nvPr/>
        </p:nvSpPr>
        <p:spPr>
          <a:xfrm>
            <a:off x="3067652" y="75605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6568580" y="2492717"/>
            <a:ext cx="3051951" cy="39376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en-US" altLang="ko-KR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3520346" y="2492717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2016.04.20 Report 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[Today]</a:t>
            </a:r>
          </a:p>
        </p:txBody>
      </p:sp>
      <p:sp>
        <p:nvSpPr>
          <p:cNvPr id="77" name="직사각형 76"/>
          <p:cNvSpPr/>
          <p:nvPr/>
        </p:nvSpPr>
        <p:spPr>
          <a:xfrm>
            <a:off x="6812098" y="246273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8" name="직사각형 77"/>
          <p:cNvSpPr/>
          <p:nvPr/>
        </p:nvSpPr>
        <p:spPr>
          <a:xfrm>
            <a:off x="6646547" y="6606581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graphicFrame>
        <p:nvGraphicFramePr>
          <p:cNvPr id="79" name="표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409516"/>
              </p:ext>
            </p:extLst>
          </p:nvPr>
        </p:nvGraphicFramePr>
        <p:xfrm>
          <a:off x="10633534" y="1262250"/>
          <a:ext cx="2088232" cy="82722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Report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</a:t>
                      </a: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디폴트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오늘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일단위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주단위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월단위 선택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오늘 날짜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오늘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이기 때문에 우측의 화살표는 보이지 않음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오늘날짜 캘린더 활성화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비상선포기간의 현황을 볼 수 있는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복수로 비상선포가 발생될 수 있음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입실자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퇴실자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상황별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미해결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해결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날짜 표기 및 당일이기 때문에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[today]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기준선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=10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1,000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100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상황별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그래프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상세 리포트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비상상황의 메뉴가 존재하나 해당 날짜에 발생되지 않았기 때문에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히든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3165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이메일로 보내기 및 엑셀파일 다운로드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이메일로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보내기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관리자에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등록되어있는 </a:t>
                      </a:r>
                      <a:r>
                        <a:rPr lang="ko-KR" altLang="en-US" sz="800" baseline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이메일로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발송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엑셀파일을 이메일로 발송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엑셀파일 다운로드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Report data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엑셀파일로 다운로드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80" name="직사각형 79"/>
          <p:cNvSpPr/>
          <p:nvPr/>
        </p:nvSpPr>
        <p:spPr>
          <a:xfrm>
            <a:off x="11116840" y="7392888"/>
            <a:ext cx="1476648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홍길동 </a:t>
            </a:r>
            <a:r>
              <a:rPr lang="en-US" altLang="ko-KR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(hong@lime-i.com)</a:t>
            </a: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관리자의 이메일로 보내시겠습니까</a:t>
            </a:r>
            <a:r>
              <a:rPr lang="en-US" altLang="ko-KR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6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" name="직사각형 80"/>
          <p:cNvSpPr/>
          <p:nvPr/>
        </p:nvSpPr>
        <p:spPr>
          <a:xfrm>
            <a:off x="11116840" y="798086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82" name="직사각형 81"/>
          <p:cNvSpPr/>
          <p:nvPr/>
        </p:nvSpPr>
        <p:spPr>
          <a:xfrm>
            <a:off x="11852282" y="798086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11116840" y="8360792"/>
            <a:ext cx="1476648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엑셀파일을 다운로드 하시겠습니까</a:t>
            </a:r>
            <a:r>
              <a:rPr lang="en-US" altLang="ko-KR" sz="6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6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4" name="직사각형 83"/>
          <p:cNvSpPr/>
          <p:nvPr/>
        </p:nvSpPr>
        <p:spPr>
          <a:xfrm>
            <a:off x="11116840" y="8948773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85" name="직사각형 84"/>
          <p:cNvSpPr/>
          <p:nvPr/>
        </p:nvSpPr>
        <p:spPr>
          <a:xfrm>
            <a:off x="11852282" y="8948773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743029" y="461629"/>
            <a:ext cx="1476686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/>
              <a:t>Report </a:t>
            </a:r>
            <a:r>
              <a:rPr lang="ko-KR" altLang="en-US" sz="1100"/>
              <a:t>선택 시</a:t>
            </a:r>
            <a:endParaRPr lang="en-US" altLang="ko-KR" sz="1100" dirty="0"/>
          </a:p>
          <a:p>
            <a:r>
              <a:rPr lang="ko-KR" altLang="en-US" sz="1100" dirty="0"/>
              <a:t>디폴트는 </a:t>
            </a:r>
            <a:r>
              <a:rPr lang="en-US" altLang="ko-KR" sz="1100" dirty="0"/>
              <a:t>‘</a:t>
            </a:r>
            <a:r>
              <a:rPr lang="ko-KR" altLang="en-US" sz="1100"/>
              <a:t>오늘</a:t>
            </a:r>
            <a:r>
              <a:rPr lang="en-US" altLang="ko-KR" sz="1100" dirty="0"/>
              <a:t>‘ </a:t>
            </a:r>
            <a:r>
              <a:rPr lang="ko-KR" altLang="en-US" sz="1100"/>
              <a:t>상태</a:t>
            </a:r>
          </a:p>
        </p:txBody>
      </p:sp>
      <p:sp>
        <p:nvSpPr>
          <p:cNvPr id="87" name="직사각형 86"/>
          <p:cNvSpPr/>
          <p:nvPr/>
        </p:nvSpPr>
        <p:spPr>
          <a:xfrm>
            <a:off x="6646547" y="6955206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7343342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직사각형 45"/>
          <p:cNvSpPr/>
          <p:nvPr/>
        </p:nvSpPr>
        <p:spPr>
          <a:xfrm>
            <a:off x="352129" y="1037610"/>
            <a:ext cx="9793088" cy="12483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5918682" y="2272980"/>
            <a:ext cx="132658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400" b="1" dirty="0">
                <a:latin typeface="+mn-ea"/>
              </a:rPr>
              <a:t>Detail Report</a:t>
            </a:r>
            <a:endParaRPr lang="ko-KR" altLang="en-US" sz="1400" dirty="0">
              <a:latin typeface="+mn-ea"/>
            </a:endParaRPr>
          </a:p>
        </p:txBody>
      </p:sp>
      <p:cxnSp>
        <p:nvCxnSpPr>
          <p:cNvPr id="3" name="직선 연결선 2"/>
          <p:cNvCxnSpPr/>
          <p:nvPr/>
        </p:nvCxnSpPr>
        <p:spPr>
          <a:xfrm>
            <a:off x="3248145" y="2567930"/>
            <a:ext cx="668104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3"/>
          <p:cNvSpPr/>
          <p:nvPr/>
        </p:nvSpPr>
        <p:spPr>
          <a:xfrm>
            <a:off x="6760841" y="2959084"/>
            <a:ext cx="3168351" cy="10405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441907" y="2997697"/>
            <a:ext cx="189827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+mn-ea"/>
              </a:rPr>
              <a:t>침범발생 발생</a:t>
            </a:r>
            <a:endParaRPr lang="en-US" altLang="ko-KR" sz="1600" dirty="0">
              <a:latin typeface="+mn-ea"/>
            </a:endParaRPr>
          </a:p>
          <a:p>
            <a:r>
              <a:rPr lang="ko-KR" altLang="en-US" sz="1600" dirty="0">
                <a:latin typeface="+mn-ea"/>
              </a:rPr>
              <a:t>홍길동 일반출입자</a:t>
            </a:r>
            <a:endParaRPr lang="ko-KR" altLang="en-US" sz="1050" dirty="0"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9028912" y="3073036"/>
            <a:ext cx="80663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0000.00.00</a:t>
            </a:r>
          </a:p>
          <a:p>
            <a:pPr algn="r"/>
            <a:r>
              <a:rPr lang="en-US" altLang="ko-KR" sz="1000" dirty="0">
                <a:latin typeface="+mn-ea"/>
              </a:rPr>
              <a:t>14:32:30</a:t>
            </a:r>
            <a:endParaRPr lang="ko-KR" altLang="en-US" sz="600" dirty="0">
              <a:latin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9137917" y="3744531"/>
            <a:ext cx="6976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dirty="0">
                <a:latin typeface="+mn-ea"/>
              </a:rPr>
              <a:t>조치완료</a:t>
            </a:r>
            <a:endParaRPr lang="ko-KR" altLang="en-US" sz="600" dirty="0">
              <a:latin typeface="+mn-ea"/>
            </a:endParaRPr>
          </a:p>
        </p:txBody>
      </p:sp>
      <p:sp>
        <p:nvSpPr>
          <p:cNvPr id="8" name="모서리가 둥근 직사각형 7"/>
          <p:cNvSpPr/>
          <p:nvPr/>
        </p:nvSpPr>
        <p:spPr>
          <a:xfrm>
            <a:off x="6760841" y="4055477"/>
            <a:ext cx="3168351" cy="10405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441907" y="4106017"/>
            <a:ext cx="163538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+mn-ea"/>
              </a:rPr>
              <a:t>산소농도 </a:t>
            </a:r>
            <a:r>
              <a:rPr lang="en-US" altLang="ko-KR" sz="1600" dirty="0">
                <a:latin typeface="+mn-ea"/>
              </a:rPr>
              <a:t>11.7%</a:t>
            </a:r>
          </a:p>
          <a:p>
            <a:r>
              <a:rPr lang="ko-KR" altLang="en-US" sz="1600" dirty="0">
                <a:latin typeface="+mn-ea"/>
              </a:rPr>
              <a:t>위험</a:t>
            </a:r>
            <a:r>
              <a:rPr lang="en-US" altLang="ko-KR" sz="1600" dirty="0">
                <a:latin typeface="+mn-ea"/>
              </a:rPr>
              <a:t>. </a:t>
            </a:r>
            <a:r>
              <a:rPr lang="ko-KR" altLang="en-US" sz="1600">
                <a:latin typeface="+mn-ea"/>
              </a:rPr>
              <a:t>작업중단</a:t>
            </a:r>
            <a:r>
              <a:rPr lang="en-US" altLang="ko-KR" sz="1600" dirty="0">
                <a:latin typeface="+mn-ea"/>
              </a:rPr>
              <a:t>.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9028912" y="4169974"/>
            <a:ext cx="80663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0000.00.00</a:t>
            </a:r>
          </a:p>
          <a:p>
            <a:pPr algn="r"/>
            <a:r>
              <a:rPr lang="en-US" altLang="ko-KR" sz="1000" dirty="0">
                <a:latin typeface="+mn-ea"/>
              </a:rPr>
              <a:t>14:32:30</a:t>
            </a:r>
            <a:endParaRPr lang="ko-KR" altLang="en-US" sz="600" dirty="0"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9093033" y="4841469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dirty="0">
                <a:latin typeface="+mn-ea"/>
              </a:rPr>
              <a:t>조치 완료</a:t>
            </a:r>
            <a:endParaRPr lang="ko-KR" altLang="en-US" sz="600" dirty="0">
              <a:latin typeface="+mn-ea"/>
            </a:endParaRPr>
          </a:p>
        </p:txBody>
      </p:sp>
      <p:sp>
        <p:nvSpPr>
          <p:cNvPr id="12" name="모서리가 둥근 직사각형 11"/>
          <p:cNvSpPr/>
          <p:nvPr/>
        </p:nvSpPr>
        <p:spPr>
          <a:xfrm>
            <a:off x="6760841" y="5152415"/>
            <a:ext cx="3168351" cy="10405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9028912" y="5266912"/>
            <a:ext cx="80663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0000.00.00</a:t>
            </a:r>
          </a:p>
          <a:p>
            <a:pPr algn="r"/>
            <a:r>
              <a:rPr lang="en-US" altLang="ko-KR" sz="1000" dirty="0">
                <a:latin typeface="+mn-ea"/>
              </a:rPr>
              <a:t>14:32:30</a:t>
            </a:r>
            <a:endParaRPr lang="ko-KR" altLang="en-US" sz="600" dirty="0"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9093033" y="5938407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dirty="0">
                <a:latin typeface="+mn-ea"/>
              </a:rPr>
              <a:t>조치</a:t>
            </a:r>
            <a:r>
              <a:rPr lang="en-US" altLang="ko-KR" sz="1000" dirty="0">
                <a:latin typeface="+mn-ea"/>
              </a:rPr>
              <a:t> </a:t>
            </a:r>
            <a:r>
              <a:rPr lang="ko-KR" altLang="en-US" sz="1000">
                <a:latin typeface="+mn-ea"/>
              </a:rPr>
              <a:t>완료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" name="모서리가 둥근 직사각형 14"/>
          <p:cNvSpPr/>
          <p:nvPr/>
        </p:nvSpPr>
        <p:spPr>
          <a:xfrm>
            <a:off x="6760841" y="6249353"/>
            <a:ext cx="3168351" cy="10405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028912" y="6363850"/>
            <a:ext cx="80663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0000.00.00</a:t>
            </a:r>
          </a:p>
          <a:p>
            <a:pPr algn="r"/>
            <a:r>
              <a:rPr lang="en-US" altLang="ko-KR" sz="1000" dirty="0">
                <a:latin typeface="+mn-ea"/>
              </a:rPr>
              <a:t>14:32:30</a:t>
            </a:r>
            <a:endParaRPr lang="ko-KR" altLang="en-US" sz="600" dirty="0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9093033" y="7035345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dirty="0">
                <a:latin typeface="+mn-ea"/>
              </a:rPr>
              <a:t>조치</a:t>
            </a:r>
            <a:r>
              <a:rPr lang="en-US" altLang="ko-KR" sz="1000" dirty="0">
                <a:latin typeface="+mn-ea"/>
              </a:rPr>
              <a:t> </a:t>
            </a:r>
            <a:r>
              <a:rPr lang="ko-KR" altLang="en-US" sz="1000">
                <a:latin typeface="+mn-ea"/>
              </a:rPr>
              <a:t>완료</a:t>
            </a:r>
            <a:endParaRPr lang="ko-KR" altLang="en-US" sz="600" dirty="0">
              <a:latin typeface="+mn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7441907" y="4777363"/>
            <a:ext cx="10679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</a:rPr>
              <a:t>7</a:t>
            </a:r>
            <a:r>
              <a:rPr lang="ko-KR" altLang="en-US" sz="1200">
                <a:latin typeface="+mn-ea"/>
              </a:rPr>
              <a:t>층 </a:t>
            </a:r>
            <a:r>
              <a:rPr lang="en-US" altLang="ko-KR" sz="1200" dirty="0">
                <a:latin typeface="+mn-ea"/>
              </a:rPr>
              <a:t>E-1 </a:t>
            </a:r>
            <a:r>
              <a:rPr lang="ko-KR" altLang="en-US" sz="1200">
                <a:latin typeface="+mn-ea"/>
              </a:rPr>
              <a:t>구역</a:t>
            </a:r>
            <a:endParaRPr lang="en-US" altLang="ko-KR" sz="1200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7441907" y="3665513"/>
            <a:ext cx="10679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</a:rPr>
              <a:t>7</a:t>
            </a:r>
            <a:r>
              <a:rPr lang="ko-KR" altLang="en-US" sz="1200">
                <a:latin typeface="+mn-ea"/>
              </a:rPr>
              <a:t>층 </a:t>
            </a:r>
            <a:r>
              <a:rPr lang="en-US" altLang="ko-KR" sz="1200" dirty="0">
                <a:latin typeface="+mn-ea"/>
              </a:rPr>
              <a:t>E-1 </a:t>
            </a:r>
            <a:r>
              <a:rPr lang="ko-KR" altLang="en-US" sz="1200">
                <a:latin typeface="+mn-ea"/>
              </a:rPr>
              <a:t>구역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441907" y="5214096"/>
            <a:ext cx="189827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+mn-ea"/>
              </a:rPr>
              <a:t>심박수 낮음</a:t>
            </a:r>
            <a:endParaRPr lang="en-US" altLang="ko-KR" sz="1600" dirty="0">
              <a:latin typeface="+mn-ea"/>
            </a:endParaRPr>
          </a:p>
          <a:p>
            <a:r>
              <a:rPr lang="ko-KR" altLang="en-US" sz="1600" dirty="0">
                <a:latin typeface="+mn-ea"/>
              </a:rPr>
              <a:t>홍길동 특수작업자</a:t>
            </a:r>
            <a:endParaRPr lang="ko-KR" altLang="en-US" sz="1050" dirty="0"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441907" y="5881912"/>
            <a:ext cx="10679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</a:rPr>
              <a:t>7</a:t>
            </a:r>
            <a:r>
              <a:rPr lang="ko-KR" altLang="en-US" sz="1200">
                <a:latin typeface="+mn-ea"/>
              </a:rPr>
              <a:t>층 </a:t>
            </a:r>
            <a:r>
              <a:rPr lang="en-US" altLang="ko-KR" sz="1200" dirty="0">
                <a:latin typeface="+mn-ea"/>
              </a:rPr>
              <a:t>E-1 </a:t>
            </a:r>
            <a:r>
              <a:rPr lang="ko-KR" altLang="en-US" sz="1200">
                <a:latin typeface="+mn-ea"/>
              </a:rPr>
              <a:t>구역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441907" y="6291631"/>
            <a:ext cx="189827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+mn-ea"/>
              </a:rPr>
              <a:t>긴급호출 발생</a:t>
            </a:r>
            <a:endParaRPr lang="en-US" altLang="ko-KR" sz="1600" dirty="0">
              <a:latin typeface="+mn-ea"/>
            </a:endParaRPr>
          </a:p>
          <a:p>
            <a:r>
              <a:rPr lang="ko-KR" altLang="en-US" sz="1600" dirty="0">
                <a:latin typeface="+mn-ea"/>
              </a:rPr>
              <a:t>홍길동 일반출입자</a:t>
            </a:r>
            <a:endParaRPr lang="ko-KR" altLang="en-US" sz="1050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7441907" y="6959447"/>
            <a:ext cx="106792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</a:rPr>
              <a:t>7</a:t>
            </a:r>
            <a:r>
              <a:rPr lang="ko-KR" altLang="en-US" sz="1200">
                <a:latin typeface="+mn-ea"/>
              </a:rPr>
              <a:t>층 </a:t>
            </a:r>
            <a:r>
              <a:rPr lang="en-US" altLang="ko-KR" sz="1200" dirty="0">
                <a:latin typeface="+mn-ea"/>
              </a:rPr>
              <a:t>E-1 </a:t>
            </a:r>
            <a:r>
              <a:rPr lang="ko-KR" altLang="en-US" sz="1200">
                <a:latin typeface="+mn-ea"/>
              </a:rPr>
              <a:t>구역</a:t>
            </a:r>
          </a:p>
        </p:txBody>
      </p:sp>
      <p:sp>
        <p:nvSpPr>
          <p:cNvPr id="24" name="모서리가 둥근 직사각형 23"/>
          <p:cNvSpPr/>
          <p:nvPr/>
        </p:nvSpPr>
        <p:spPr>
          <a:xfrm>
            <a:off x="6760841" y="7346292"/>
            <a:ext cx="3168351" cy="76995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028912" y="7487446"/>
            <a:ext cx="80663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</a:rPr>
              <a:t>0000.00.00</a:t>
            </a:r>
          </a:p>
          <a:p>
            <a:pPr algn="r"/>
            <a:r>
              <a:rPr lang="en-US" altLang="ko-KR" sz="1000" dirty="0">
                <a:latin typeface="+mn-ea"/>
              </a:rPr>
              <a:t>14:32:30</a:t>
            </a:r>
            <a:endParaRPr lang="ko-KR" altLang="en-US" sz="600" dirty="0">
              <a:latin typeface="+mn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7441907" y="7415227"/>
            <a:ext cx="189827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>
                <a:latin typeface="+mn-ea"/>
              </a:rPr>
              <a:t>긴급호출 발생</a:t>
            </a:r>
            <a:endParaRPr lang="en-US" altLang="ko-KR" sz="1600" dirty="0">
              <a:latin typeface="+mn-ea"/>
            </a:endParaRPr>
          </a:p>
          <a:p>
            <a:r>
              <a:rPr lang="ko-KR" altLang="en-US" sz="1600" dirty="0">
                <a:latin typeface="+mn-ea"/>
              </a:rPr>
              <a:t>홍길동 일반출입자</a:t>
            </a:r>
            <a:endParaRPr lang="ko-KR" altLang="en-US" sz="1050" dirty="0">
              <a:latin typeface="+mn-ea"/>
            </a:endParaRPr>
          </a:p>
        </p:txBody>
      </p:sp>
      <p:pic>
        <p:nvPicPr>
          <p:cNvPr id="2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6760840" y="8066468"/>
            <a:ext cx="3168352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1289741"/>
              </p:ext>
            </p:extLst>
          </p:nvPr>
        </p:nvGraphicFramePr>
        <p:xfrm>
          <a:off x="3290307" y="2985139"/>
          <a:ext cx="3339938" cy="1828680"/>
        </p:xfrm>
        <a:graphic>
          <a:graphicData uri="http://schemas.openxmlformats.org/drawingml/2006/table">
            <a:tbl>
              <a:tblPr/>
              <a:tblGrid>
                <a:gridCol w="8349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2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24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입실</a:t>
                      </a:r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기록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퇴실 기록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96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0,000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0,000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0328383"/>
              </p:ext>
            </p:extLst>
          </p:nvPr>
        </p:nvGraphicFramePr>
        <p:xfrm>
          <a:off x="3290308" y="5503845"/>
          <a:ext cx="3339937" cy="2612400"/>
        </p:xfrm>
        <a:graphic>
          <a:graphicData uri="http://schemas.openxmlformats.org/drawingml/2006/table">
            <a:tbl>
              <a:tblPr/>
              <a:tblGrid>
                <a:gridCol w="4543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60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147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147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입실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퇴실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A1-1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A1-2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B2-1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B2-2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B2-3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C3-1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C3-2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D4-1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D4-1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endParaRPr lang="ko-KR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30" name="그림 2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60033" y="3218221"/>
            <a:ext cx="447292" cy="447292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688" y="4369825"/>
            <a:ext cx="439580" cy="439580"/>
          </a:xfrm>
          <a:prstGeom prst="rect">
            <a:avLst/>
          </a:prstGeom>
        </p:spPr>
      </p:pic>
      <p:pic>
        <p:nvPicPr>
          <p:cNvPr id="32" name="그림 3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83137" y="5405266"/>
            <a:ext cx="533142" cy="533142"/>
          </a:xfrm>
          <a:prstGeom prst="rect">
            <a:avLst/>
          </a:prstGeom>
        </p:spPr>
      </p:pic>
      <p:pic>
        <p:nvPicPr>
          <p:cNvPr id="33" name="그림 3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5304" y="6538571"/>
            <a:ext cx="428722" cy="428724"/>
          </a:xfrm>
          <a:prstGeom prst="rect">
            <a:avLst/>
          </a:prstGeom>
        </p:spPr>
      </p:pic>
      <p:pic>
        <p:nvPicPr>
          <p:cNvPr id="34" name="그림 3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5304" y="7662167"/>
            <a:ext cx="428722" cy="428724"/>
          </a:xfrm>
          <a:prstGeom prst="rect">
            <a:avLst/>
          </a:prstGeom>
        </p:spPr>
      </p:pic>
      <p:cxnSp>
        <p:nvCxnSpPr>
          <p:cNvPr id="35" name="직선 연결선 34"/>
          <p:cNvCxnSpPr/>
          <p:nvPr/>
        </p:nvCxnSpPr>
        <p:spPr>
          <a:xfrm>
            <a:off x="9903459" y="2959084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6561029" y="2975324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7" y="8066468"/>
            <a:ext cx="3339938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2025423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TextBox 38"/>
          <p:cNvSpPr txBox="1"/>
          <p:nvPr/>
        </p:nvSpPr>
        <p:spPr>
          <a:xfrm>
            <a:off x="4688406" y="2600046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층별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590949" y="5127518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+mn-ea"/>
              </a:rPr>
              <a:t>구역별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983378" y="2600046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+mn-ea"/>
              </a:rPr>
              <a:t>이벤트</a:t>
            </a: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4723690"/>
              </p:ext>
            </p:extLst>
          </p:nvPr>
        </p:nvGraphicFramePr>
        <p:xfrm>
          <a:off x="10633534" y="1272208"/>
          <a:ext cx="2088232" cy="9388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각 층별 입</a:t>
                      </a:r>
                      <a:r>
                        <a:rPr lang="en-US" altLang="ko-KR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600" baseline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퇴실 기록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각 구역별 입</a:t>
                      </a:r>
                      <a:r>
                        <a:rPr lang="en-US" altLang="ko-KR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600" baseline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퇴실 기록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이벤트 발생 기록</a:t>
                      </a:r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3" name="직사각형 42"/>
          <p:cNvSpPr/>
          <p:nvPr/>
        </p:nvSpPr>
        <p:spPr>
          <a:xfrm>
            <a:off x="3086651" y="26634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3086651" y="51861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6613755" y="26377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49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51" name="Today Background"/>
          <p:cNvSpPr>
            <a:spLocks noChangeArrowheads="1"/>
          </p:cNvSpPr>
          <p:nvPr/>
        </p:nvSpPr>
        <p:spPr bwMode="auto">
          <a:xfrm>
            <a:off x="1581375" y="3969467"/>
            <a:ext cx="290670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52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10 11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12 13 14</a:t>
            </a:r>
            <a:r>
              <a:rPr lang="en-US" altLang="ko-KR" sz="1000" dirty="0">
                <a:latin typeface="+mn-ea"/>
              </a:rPr>
              <a:t>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17 18 19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20</a:t>
            </a:r>
            <a:r>
              <a:rPr lang="en-US" altLang="ko-KR" sz="1000" dirty="0">
                <a:latin typeface="+mn-ea"/>
              </a:rPr>
              <a:t> 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61" name="직선 연결선 60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73" name="직사각형 72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74" name="직사각형 73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7428442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6" name="직선 연결선 15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23" name="그룹 22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24" name="직사각형 23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7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6" name="Today Background"/>
          <p:cNvSpPr>
            <a:spLocks noChangeArrowheads="1"/>
          </p:cNvSpPr>
          <p:nvPr/>
        </p:nvSpPr>
        <p:spPr bwMode="auto">
          <a:xfrm>
            <a:off x="1293144" y="3730419"/>
            <a:ext cx="290670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10 11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12 13 14</a:t>
            </a:r>
            <a:r>
              <a:rPr lang="en-US" altLang="ko-KR" sz="1000" dirty="0">
                <a:latin typeface="+mn-ea"/>
              </a:rPr>
              <a:t>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17 18 19 20 21 22 23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cxnSp>
        <p:nvCxnSpPr>
          <p:cNvPr id="26" name="직선 연결선 25"/>
          <p:cNvCxnSpPr/>
          <p:nvPr/>
        </p:nvCxnSpPr>
        <p:spPr>
          <a:xfrm>
            <a:off x="3520480" y="4655212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3520480" y="4773967"/>
            <a:ext cx="612298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dirty="0">
                <a:latin typeface="+mn-ea"/>
              </a:rPr>
              <a:t>00  01  02  03  04  05  06  07  08  09  10  11  12  13  14  15  16  17  18  19  20  21  22  23 </a:t>
            </a:r>
            <a:endParaRPr lang="ko-KR" altLang="en-US" sz="1100" dirty="0"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6571281" y="2873925"/>
            <a:ext cx="3213895" cy="17513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9" name="직선 연결선 28"/>
          <p:cNvCxnSpPr/>
          <p:nvPr/>
        </p:nvCxnSpPr>
        <p:spPr>
          <a:xfrm>
            <a:off x="8697047" y="3227093"/>
            <a:ext cx="866403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9159493" y="3006810"/>
            <a:ext cx="40395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입실자</a:t>
            </a:r>
          </a:p>
        </p:txBody>
      </p:sp>
      <p:cxnSp>
        <p:nvCxnSpPr>
          <p:cNvPr id="31" name="직선 연결선 30"/>
          <p:cNvCxnSpPr/>
          <p:nvPr/>
        </p:nvCxnSpPr>
        <p:spPr>
          <a:xfrm>
            <a:off x="8697047" y="3575092"/>
            <a:ext cx="866403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9159492" y="3354809"/>
            <a:ext cx="403958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퇴실자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26434" y="4229060"/>
            <a:ext cx="6517033" cy="169277"/>
            <a:chOff x="3126434" y="3726376"/>
            <a:chExt cx="6517033" cy="169277"/>
          </a:xfrm>
        </p:grpSpPr>
        <p:cxnSp>
          <p:nvCxnSpPr>
            <p:cNvPr id="44" name="직선 연결선 43"/>
            <p:cNvCxnSpPr/>
            <p:nvPr/>
          </p:nvCxnSpPr>
          <p:spPr>
            <a:xfrm>
              <a:off x="3520480" y="3804253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/>
            <p:cNvSpPr txBox="1"/>
            <p:nvPr/>
          </p:nvSpPr>
          <p:spPr>
            <a:xfrm>
              <a:off x="3126434" y="3726376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10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3126434" y="3824930"/>
            <a:ext cx="6517033" cy="169277"/>
            <a:chOff x="3126434" y="3363962"/>
            <a:chExt cx="6517033" cy="169277"/>
          </a:xfrm>
        </p:grpSpPr>
        <p:cxnSp>
          <p:nvCxnSpPr>
            <p:cNvPr id="47" name="직선 연결선 46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TextBox 47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20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49" name="그룹 48"/>
          <p:cNvGrpSpPr/>
          <p:nvPr/>
        </p:nvGrpSpPr>
        <p:grpSpPr>
          <a:xfrm>
            <a:off x="3126434" y="3420799"/>
            <a:ext cx="6517033" cy="169277"/>
            <a:chOff x="3126434" y="3363962"/>
            <a:chExt cx="6517033" cy="169277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30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3126434" y="3016668"/>
            <a:ext cx="6517033" cy="169277"/>
            <a:chOff x="3126434" y="3363962"/>
            <a:chExt cx="6517033" cy="169277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extBox 53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40</a:t>
              </a:r>
              <a:endParaRPr lang="ko-KR" altLang="en-US" sz="1100" dirty="0">
                <a:latin typeface="+mn-ea"/>
              </a:endParaRPr>
            </a:p>
          </p:txBody>
        </p:sp>
      </p:grpSp>
      <p:sp>
        <p:nvSpPr>
          <p:cNvPr id="55" name="직사각형 54"/>
          <p:cNvSpPr/>
          <p:nvPr/>
        </p:nvSpPr>
        <p:spPr>
          <a:xfrm>
            <a:off x="6568580" y="2422963"/>
            <a:ext cx="3051951" cy="39376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en-US" altLang="ko-KR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3520346" y="2422963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2016.04.12 Report</a:t>
            </a:r>
            <a:endParaRPr lang="en-US" altLang="ko-KR" sz="1200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57" name="직사각형 56"/>
          <p:cNvSpPr/>
          <p:nvPr/>
        </p:nvSpPr>
        <p:spPr>
          <a:xfrm>
            <a:off x="6572297" y="2422963"/>
            <a:ext cx="3051951" cy="39376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2016.04.12 Report</a:t>
            </a:r>
            <a:r>
              <a:rPr lang="en-US" altLang="ko-KR" sz="1200" dirty="0">
                <a:solidFill>
                  <a:schemeClr val="tx1"/>
                </a:solidFill>
                <a:latin typeface="+mj-lt"/>
              </a:rPr>
              <a:t> [Disaster state]</a:t>
            </a:r>
          </a:p>
        </p:txBody>
      </p:sp>
      <p:sp>
        <p:nvSpPr>
          <p:cNvPr id="66" name="자유형 65"/>
          <p:cNvSpPr/>
          <p:nvPr/>
        </p:nvSpPr>
        <p:spPr>
          <a:xfrm>
            <a:off x="3582099" y="3010992"/>
            <a:ext cx="5972962" cy="1577131"/>
          </a:xfrm>
          <a:custGeom>
            <a:avLst/>
            <a:gdLst>
              <a:gd name="connsiteX0" fmla="*/ 0 w 5972962"/>
              <a:gd name="connsiteY0" fmla="*/ 1568742 h 1577131"/>
              <a:gd name="connsiteX1" fmla="*/ 251670 w 5972962"/>
              <a:gd name="connsiteY1" fmla="*/ 1560353 h 1577131"/>
              <a:gd name="connsiteX2" fmla="*/ 528507 w 5972962"/>
              <a:gd name="connsiteY2" fmla="*/ 1459685 h 1577131"/>
              <a:gd name="connsiteX3" fmla="*/ 746620 w 5972962"/>
              <a:gd name="connsiteY3" fmla="*/ 1208015 h 1577131"/>
              <a:gd name="connsiteX4" fmla="*/ 1023457 w 5972962"/>
              <a:gd name="connsiteY4" fmla="*/ 1535186 h 1577131"/>
              <a:gd name="connsiteX5" fmla="*/ 1249960 w 5972962"/>
              <a:gd name="connsiteY5" fmla="*/ 1577131 h 1577131"/>
              <a:gd name="connsiteX6" fmla="*/ 1510018 w 5972962"/>
              <a:gd name="connsiteY6" fmla="*/ 1577131 h 1577131"/>
              <a:gd name="connsiteX7" fmla="*/ 1744910 w 5972962"/>
              <a:gd name="connsiteY7" fmla="*/ 1375795 h 1577131"/>
              <a:gd name="connsiteX8" fmla="*/ 2055303 w 5972962"/>
              <a:gd name="connsiteY8" fmla="*/ 570452 h 1577131"/>
              <a:gd name="connsiteX9" fmla="*/ 2248250 w 5972962"/>
              <a:gd name="connsiteY9" fmla="*/ 0 h 1577131"/>
              <a:gd name="connsiteX10" fmla="*/ 2508308 w 5972962"/>
              <a:gd name="connsiteY10" fmla="*/ 704675 h 1577131"/>
              <a:gd name="connsiteX11" fmla="*/ 2751589 w 5972962"/>
              <a:gd name="connsiteY11" fmla="*/ 260059 h 1577131"/>
              <a:gd name="connsiteX12" fmla="*/ 3028426 w 5972962"/>
              <a:gd name="connsiteY12" fmla="*/ 1291905 h 1577131"/>
              <a:gd name="connsiteX13" fmla="*/ 3246540 w 5972962"/>
              <a:gd name="connsiteY13" fmla="*/ 142613 h 1577131"/>
              <a:gd name="connsiteX14" fmla="*/ 3464653 w 5972962"/>
              <a:gd name="connsiteY14" fmla="*/ 780176 h 1577131"/>
              <a:gd name="connsiteX15" fmla="*/ 3741490 w 5972962"/>
              <a:gd name="connsiteY15" fmla="*/ 1333850 h 1577131"/>
              <a:gd name="connsiteX16" fmla="*/ 4026716 w 5972962"/>
              <a:gd name="connsiteY16" fmla="*/ 1442907 h 1577131"/>
              <a:gd name="connsiteX17" fmla="*/ 4253218 w 5972962"/>
              <a:gd name="connsiteY17" fmla="*/ 1518408 h 1577131"/>
              <a:gd name="connsiteX18" fmla="*/ 4504888 w 5972962"/>
              <a:gd name="connsiteY18" fmla="*/ 822121 h 1577131"/>
              <a:gd name="connsiteX19" fmla="*/ 4756558 w 5972962"/>
              <a:gd name="connsiteY19" fmla="*/ 1048624 h 1577131"/>
              <a:gd name="connsiteX20" fmla="*/ 5016617 w 5972962"/>
              <a:gd name="connsiteY20" fmla="*/ 1266738 h 1577131"/>
              <a:gd name="connsiteX21" fmla="*/ 5243119 w 5972962"/>
              <a:gd name="connsiteY21" fmla="*/ 1400962 h 1577131"/>
              <a:gd name="connsiteX22" fmla="*/ 5486400 w 5972962"/>
              <a:gd name="connsiteY22" fmla="*/ 1551964 h 1577131"/>
              <a:gd name="connsiteX23" fmla="*/ 5729681 w 5972962"/>
              <a:gd name="connsiteY23" fmla="*/ 1568742 h 1577131"/>
              <a:gd name="connsiteX24" fmla="*/ 5972962 w 5972962"/>
              <a:gd name="connsiteY24" fmla="*/ 1568742 h 157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72962" h="1577131">
                <a:moveTo>
                  <a:pt x="0" y="1568742"/>
                </a:moveTo>
                <a:lnTo>
                  <a:pt x="251670" y="1560353"/>
                </a:lnTo>
                <a:lnTo>
                  <a:pt x="528507" y="1459685"/>
                </a:lnTo>
                <a:lnTo>
                  <a:pt x="746620" y="1208015"/>
                </a:lnTo>
                <a:lnTo>
                  <a:pt x="1023457" y="1535186"/>
                </a:lnTo>
                <a:lnTo>
                  <a:pt x="1249960" y="1577131"/>
                </a:lnTo>
                <a:lnTo>
                  <a:pt x="1510018" y="1577131"/>
                </a:lnTo>
                <a:lnTo>
                  <a:pt x="1744910" y="1375795"/>
                </a:lnTo>
                <a:lnTo>
                  <a:pt x="2055303" y="570452"/>
                </a:lnTo>
                <a:lnTo>
                  <a:pt x="2248250" y="0"/>
                </a:lnTo>
                <a:lnTo>
                  <a:pt x="2508308" y="704675"/>
                </a:lnTo>
                <a:lnTo>
                  <a:pt x="2751589" y="260059"/>
                </a:lnTo>
                <a:lnTo>
                  <a:pt x="3028426" y="1291905"/>
                </a:lnTo>
                <a:lnTo>
                  <a:pt x="3246540" y="142613"/>
                </a:lnTo>
                <a:lnTo>
                  <a:pt x="3464653" y="780176"/>
                </a:lnTo>
                <a:lnTo>
                  <a:pt x="3741490" y="1333850"/>
                </a:lnTo>
                <a:lnTo>
                  <a:pt x="4026716" y="1442907"/>
                </a:lnTo>
                <a:lnTo>
                  <a:pt x="4253218" y="1518408"/>
                </a:lnTo>
                <a:lnTo>
                  <a:pt x="4504888" y="822121"/>
                </a:lnTo>
                <a:lnTo>
                  <a:pt x="4756558" y="1048624"/>
                </a:lnTo>
                <a:lnTo>
                  <a:pt x="5016617" y="1266738"/>
                </a:lnTo>
                <a:lnTo>
                  <a:pt x="5243119" y="1400962"/>
                </a:lnTo>
                <a:lnTo>
                  <a:pt x="5486400" y="1551964"/>
                </a:lnTo>
                <a:lnTo>
                  <a:pt x="5729681" y="1568742"/>
                </a:lnTo>
                <a:lnTo>
                  <a:pt x="5972962" y="1568742"/>
                </a:lnTo>
              </a:path>
            </a:pathLst>
          </a:cu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자유형 66"/>
          <p:cNvSpPr/>
          <p:nvPr/>
        </p:nvSpPr>
        <p:spPr>
          <a:xfrm>
            <a:off x="3615655" y="2918713"/>
            <a:ext cx="5947795" cy="1677799"/>
          </a:xfrm>
          <a:custGeom>
            <a:avLst/>
            <a:gdLst>
              <a:gd name="connsiteX0" fmla="*/ 0 w 5947795"/>
              <a:gd name="connsiteY0" fmla="*/ 1619076 h 1677799"/>
              <a:gd name="connsiteX1" fmla="*/ 268448 w 5947795"/>
              <a:gd name="connsiteY1" fmla="*/ 1602298 h 1677799"/>
              <a:gd name="connsiteX2" fmla="*/ 478173 w 5947795"/>
              <a:gd name="connsiteY2" fmla="*/ 1652632 h 1677799"/>
              <a:gd name="connsiteX3" fmla="*/ 687897 w 5947795"/>
              <a:gd name="connsiteY3" fmla="*/ 1451296 h 1677799"/>
              <a:gd name="connsiteX4" fmla="*/ 931178 w 5947795"/>
              <a:gd name="connsiteY4" fmla="*/ 1451296 h 1677799"/>
              <a:gd name="connsiteX5" fmla="*/ 1140903 w 5947795"/>
              <a:gd name="connsiteY5" fmla="*/ 1459685 h 1677799"/>
              <a:gd name="connsiteX6" fmla="*/ 1451295 w 5947795"/>
              <a:gd name="connsiteY6" fmla="*/ 1300294 h 1677799"/>
              <a:gd name="connsiteX7" fmla="*/ 1686187 w 5947795"/>
              <a:gd name="connsiteY7" fmla="*/ 1526797 h 1677799"/>
              <a:gd name="connsiteX8" fmla="*/ 1946246 w 5947795"/>
              <a:gd name="connsiteY8" fmla="*/ 1291905 h 1677799"/>
              <a:gd name="connsiteX9" fmla="*/ 2223083 w 5947795"/>
              <a:gd name="connsiteY9" fmla="*/ 830510 h 1677799"/>
              <a:gd name="connsiteX10" fmla="*/ 2474752 w 5947795"/>
              <a:gd name="connsiteY10" fmla="*/ 964734 h 1677799"/>
              <a:gd name="connsiteX11" fmla="*/ 2684477 w 5947795"/>
              <a:gd name="connsiteY11" fmla="*/ 704676 h 1677799"/>
              <a:gd name="connsiteX12" fmla="*/ 2969703 w 5947795"/>
              <a:gd name="connsiteY12" fmla="*/ 1132514 h 1677799"/>
              <a:gd name="connsiteX13" fmla="*/ 3212984 w 5947795"/>
              <a:gd name="connsiteY13" fmla="*/ 0 h 1677799"/>
              <a:gd name="connsiteX14" fmla="*/ 3565321 w 5947795"/>
              <a:gd name="connsiteY14" fmla="*/ 1249960 h 1677799"/>
              <a:gd name="connsiteX15" fmla="*/ 3791824 w 5947795"/>
              <a:gd name="connsiteY15" fmla="*/ 1661021 h 1677799"/>
              <a:gd name="connsiteX16" fmla="*/ 3993160 w 5947795"/>
              <a:gd name="connsiteY16" fmla="*/ 1409351 h 1677799"/>
              <a:gd name="connsiteX17" fmla="*/ 4194495 w 5947795"/>
              <a:gd name="connsiteY17" fmla="*/ 1619076 h 1677799"/>
              <a:gd name="connsiteX18" fmla="*/ 4488110 w 5947795"/>
              <a:gd name="connsiteY18" fmla="*/ 1157681 h 1677799"/>
              <a:gd name="connsiteX19" fmla="*/ 4764947 w 5947795"/>
              <a:gd name="connsiteY19" fmla="*/ 1501630 h 1677799"/>
              <a:gd name="connsiteX20" fmla="*/ 5008228 w 5947795"/>
              <a:gd name="connsiteY20" fmla="*/ 1602298 h 1677799"/>
              <a:gd name="connsiteX21" fmla="*/ 5276675 w 5947795"/>
              <a:gd name="connsiteY21" fmla="*/ 1627465 h 1677799"/>
              <a:gd name="connsiteX22" fmla="*/ 5494789 w 5947795"/>
              <a:gd name="connsiteY22" fmla="*/ 1669410 h 1677799"/>
              <a:gd name="connsiteX23" fmla="*/ 5788404 w 5947795"/>
              <a:gd name="connsiteY23" fmla="*/ 1677799 h 1677799"/>
              <a:gd name="connsiteX24" fmla="*/ 5947795 w 5947795"/>
              <a:gd name="connsiteY24" fmla="*/ 1677799 h 167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47795" h="1677799">
                <a:moveTo>
                  <a:pt x="0" y="1619076"/>
                </a:moveTo>
                <a:lnTo>
                  <a:pt x="268448" y="1602298"/>
                </a:lnTo>
                <a:lnTo>
                  <a:pt x="478173" y="1652632"/>
                </a:lnTo>
                <a:lnTo>
                  <a:pt x="687897" y="1451296"/>
                </a:lnTo>
                <a:lnTo>
                  <a:pt x="931178" y="1451296"/>
                </a:lnTo>
                <a:lnTo>
                  <a:pt x="1140903" y="1459685"/>
                </a:lnTo>
                <a:lnTo>
                  <a:pt x="1451295" y="1300294"/>
                </a:lnTo>
                <a:lnTo>
                  <a:pt x="1686187" y="1526797"/>
                </a:lnTo>
                <a:lnTo>
                  <a:pt x="1946246" y="1291905"/>
                </a:lnTo>
                <a:lnTo>
                  <a:pt x="2223083" y="830510"/>
                </a:lnTo>
                <a:lnTo>
                  <a:pt x="2474752" y="964734"/>
                </a:lnTo>
                <a:lnTo>
                  <a:pt x="2684477" y="704676"/>
                </a:lnTo>
                <a:lnTo>
                  <a:pt x="2969703" y="1132514"/>
                </a:lnTo>
                <a:lnTo>
                  <a:pt x="3212984" y="0"/>
                </a:lnTo>
                <a:lnTo>
                  <a:pt x="3565321" y="1249960"/>
                </a:lnTo>
                <a:lnTo>
                  <a:pt x="3791824" y="1661021"/>
                </a:lnTo>
                <a:lnTo>
                  <a:pt x="3993160" y="1409351"/>
                </a:lnTo>
                <a:lnTo>
                  <a:pt x="4194495" y="1619076"/>
                </a:lnTo>
                <a:lnTo>
                  <a:pt x="4488110" y="1157681"/>
                </a:lnTo>
                <a:lnTo>
                  <a:pt x="4764947" y="1501630"/>
                </a:lnTo>
                <a:lnTo>
                  <a:pt x="5008228" y="1602298"/>
                </a:lnTo>
                <a:lnTo>
                  <a:pt x="5276675" y="1627465"/>
                </a:lnTo>
                <a:lnTo>
                  <a:pt x="5494789" y="1669410"/>
                </a:lnTo>
                <a:lnTo>
                  <a:pt x="5788404" y="1677799"/>
                </a:lnTo>
                <a:lnTo>
                  <a:pt x="5947795" y="1677799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직사각형 67"/>
          <p:cNvSpPr/>
          <p:nvPr/>
        </p:nvSpPr>
        <p:spPr>
          <a:xfrm>
            <a:off x="8011751" y="22955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69" name="표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609307"/>
              </p:ext>
            </p:extLst>
          </p:nvPr>
        </p:nvGraphicFramePr>
        <p:xfrm>
          <a:off x="10633534" y="1262250"/>
          <a:ext cx="2088232" cy="177310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(12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일을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날짜는 비상선포가 되었던 날이기 때문에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 탭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날짜의 비상선포 내용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0" name="TextBox 69"/>
          <p:cNvSpPr txBox="1"/>
          <p:nvPr/>
        </p:nvSpPr>
        <p:spPr>
          <a:xfrm>
            <a:off x="349581" y="467325"/>
            <a:ext cx="446468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b="1" dirty="0"/>
              <a:t>화면 설명</a:t>
            </a:r>
            <a:endParaRPr lang="en-US" altLang="ko-KR" sz="1000" b="1" dirty="0"/>
          </a:p>
          <a:p>
            <a:r>
              <a:rPr lang="ko-KR" altLang="en-US" sz="1000" dirty="0"/>
              <a:t>특정한 한 날을 선택했는데 비상선포가 겹친 날일 때 </a:t>
            </a:r>
            <a:r>
              <a:rPr lang="en-US" altLang="ko-KR" sz="1000" dirty="0"/>
              <a:t>: ex) 4</a:t>
            </a:r>
            <a:r>
              <a:rPr lang="ko-KR" altLang="en-US" sz="1000"/>
              <a:t>월 </a:t>
            </a:r>
            <a:r>
              <a:rPr lang="en-US" altLang="ko-KR" sz="1000" dirty="0"/>
              <a:t>12</a:t>
            </a:r>
            <a:r>
              <a:rPr lang="ko-KR" altLang="en-US" sz="1000"/>
              <a:t>일을 선택</a:t>
            </a:r>
            <a:endParaRPr lang="ko-KR" altLang="en-US" sz="1000" dirty="0"/>
          </a:p>
        </p:txBody>
      </p:sp>
      <p:graphicFrame>
        <p:nvGraphicFramePr>
          <p:cNvPr id="80" name="차트 79"/>
          <p:cNvGraphicFramePr/>
          <p:nvPr>
            <p:extLst>
              <p:ext uri="{D42A27DB-BD31-4B8C-83A1-F6EECF244321}">
                <p14:modId xmlns:p14="http://schemas.microsoft.com/office/powerpoint/2010/main" val="2810605419"/>
              </p:ext>
            </p:extLst>
          </p:nvPr>
        </p:nvGraphicFramePr>
        <p:xfrm>
          <a:off x="3272645" y="5333268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1" name="TextBox 80"/>
          <p:cNvSpPr txBox="1"/>
          <p:nvPr/>
        </p:nvSpPr>
        <p:spPr>
          <a:xfrm>
            <a:off x="5824736" y="5520712"/>
            <a:ext cx="755015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긴 급 호 출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침 범 상 황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가 </a:t>
            </a:r>
            <a:r>
              <a:rPr lang="ko-KR" altLang="en-US" sz="1100" dirty="0" err="1">
                <a:latin typeface="+mn-ea"/>
              </a:rPr>
              <a:t>스</a:t>
            </a:r>
            <a:r>
              <a:rPr lang="ko-KR" altLang="en-US" sz="1100" dirty="0">
                <a:latin typeface="+mn-ea"/>
              </a:rPr>
              <a:t> 위 험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심박수 위험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1100" dirty="0">
                <a:latin typeface="+mn-ea"/>
              </a:rPr>
              <a:t>AP </a:t>
            </a:r>
            <a:r>
              <a:rPr lang="ko-KR" altLang="en-US" sz="1100">
                <a:latin typeface="+mn-ea"/>
              </a:rPr>
              <a:t>이상 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배터리 부족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9076649" y="5520712"/>
            <a:ext cx="7085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(41%)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(17%)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(29%)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6646547" y="5647143"/>
            <a:ext cx="936089" cy="144000"/>
          </a:xfrm>
          <a:prstGeom prst="rect">
            <a:avLst/>
          </a:prstGeom>
          <a:solidFill>
            <a:srgbClr val="5F5F5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84" name="직사각형 83"/>
          <p:cNvSpPr/>
          <p:nvPr/>
        </p:nvSpPr>
        <p:spPr>
          <a:xfrm>
            <a:off x="6646547" y="5978502"/>
            <a:ext cx="936089" cy="144000"/>
          </a:xfrm>
          <a:prstGeom prst="rect">
            <a:avLst/>
          </a:prstGeom>
          <a:solidFill>
            <a:srgbClr val="B3B3B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6646547" y="6321072"/>
            <a:ext cx="936089" cy="144000"/>
          </a:xfrm>
          <a:prstGeom prst="rect">
            <a:avLst/>
          </a:prstGeom>
          <a:solidFill>
            <a:srgbClr val="898989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6646547" y="6660874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87" name="직사각형 86"/>
          <p:cNvSpPr/>
          <p:nvPr/>
        </p:nvSpPr>
        <p:spPr>
          <a:xfrm>
            <a:off x="6646547" y="6965560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88" name="직사각형 87"/>
          <p:cNvSpPr/>
          <p:nvPr/>
        </p:nvSpPr>
        <p:spPr>
          <a:xfrm>
            <a:off x="6646547" y="7314185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8369421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3" name="직선 연결선 12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19" name="직사각형 18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21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22" name="Today Background"/>
          <p:cNvSpPr>
            <a:spLocks noChangeArrowheads="1"/>
          </p:cNvSpPr>
          <p:nvPr/>
        </p:nvSpPr>
        <p:spPr bwMode="auto">
          <a:xfrm>
            <a:off x="1293144" y="3730419"/>
            <a:ext cx="290670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10 11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12 13 14</a:t>
            </a:r>
            <a:r>
              <a:rPr lang="en-US" altLang="ko-KR" sz="1000" dirty="0">
                <a:latin typeface="+mn-ea"/>
              </a:rPr>
              <a:t>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17 18 19 20 21 22 23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sp>
        <p:nvSpPr>
          <p:cNvPr id="24" name="모서리가 둥근 직사각형 23"/>
          <p:cNvSpPr/>
          <p:nvPr/>
        </p:nvSpPr>
        <p:spPr>
          <a:xfrm>
            <a:off x="5585843" y="2981797"/>
            <a:ext cx="1987650" cy="583646"/>
          </a:xfrm>
          <a:prstGeom prst="roundRect">
            <a:avLst>
              <a:gd name="adj" fmla="val 0"/>
            </a:avLst>
          </a:prstGeom>
          <a:solidFill>
            <a:srgbClr val="34AADA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대피자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598 </a:t>
            </a:r>
            <a:r>
              <a:rPr lang="ko-KR" altLang="en-US" sz="20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모서리가 둥근 직사각형 24"/>
          <p:cNvSpPr/>
          <p:nvPr/>
        </p:nvSpPr>
        <p:spPr>
          <a:xfrm>
            <a:off x="3520348" y="2979541"/>
            <a:ext cx="1987650" cy="584477"/>
          </a:xfrm>
          <a:prstGeom prst="roundRect">
            <a:avLst>
              <a:gd name="adj" fmla="val 0"/>
            </a:avLst>
          </a:prstGeom>
          <a:solidFill>
            <a:srgbClr val="FF604F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미대피자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 </a:t>
            </a:r>
            <a:r>
              <a:rPr lang="ko-KR" altLang="en-US" sz="20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모서리가 둥근 직사각형 25"/>
          <p:cNvSpPr/>
          <p:nvPr/>
        </p:nvSpPr>
        <p:spPr>
          <a:xfrm>
            <a:off x="7655817" y="2981797"/>
            <a:ext cx="1987650" cy="583646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재난발생 시간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19:30:21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" name="직선 연결선 26"/>
          <p:cNvCxnSpPr/>
          <p:nvPr/>
        </p:nvCxnSpPr>
        <p:spPr>
          <a:xfrm>
            <a:off x="3520480" y="3722971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4330321"/>
              </p:ext>
            </p:extLst>
          </p:nvPr>
        </p:nvGraphicFramePr>
        <p:xfrm>
          <a:off x="3520348" y="3824917"/>
          <a:ext cx="6123121" cy="3973172"/>
        </p:xfrm>
        <a:graphic>
          <a:graphicData uri="http://schemas.openxmlformats.org/drawingml/2006/table">
            <a:tbl>
              <a:tblPr/>
              <a:tblGrid>
                <a:gridCol w="5571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13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994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이름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등급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최종 입실일시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재해일시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대피일시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미대피자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 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미대피자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29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752928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30" name="직선 연결선 29"/>
          <p:cNvCxnSpPr/>
          <p:nvPr/>
        </p:nvCxnSpPr>
        <p:spPr>
          <a:xfrm>
            <a:off x="9659006" y="4253254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/>
          <p:cNvCxnSpPr/>
          <p:nvPr/>
        </p:nvCxnSpPr>
        <p:spPr>
          <a:xfrm>
            <a:off x="3520480" y="2822013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/>
          <p:cNvSpPr/>
          <p:nvPr/>
        </p:nvSpPr>
        <p:spPr>
          <a:xfrm>
            <a:off x="6568580" y="2426826"/>
            <a:ext cx="3051951" cy="39376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en-US" altLang="ko-KR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6572297" y="2426826"/>
            <a:ext cx="3051951" cy="3937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j-lt"/>
              </a:rPr>
              <a:t>2016.04.12 Report</a:t>
            </a:r>
            <a:r>
              <a:rPr lang="en-US" altLang="ko-KR" sz="1200" dirty="0">
                <a:solidFill>
                  <a:schemeClr val="bg1"/>
                </a:solidFill>
                <a:latin typeface="+mj-lt"/>
              </a:rPr>
              <a:t> [Disaster state]</a:t>
            </a:r>
          </a:p>
        </p:txBody>
      </p:sp>
      <p:sp>
        <p:nvSpPr>
          <p:cNvPr id="34" name="직사각형 33"/>
          <p:cNvSpPr/>
          <p:nvPr/>
        </p:nvSpPr>
        <p:spPr>
          <a:xfrm>
            <a:off x="3520346" y="2426826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2016.04.20 Report </a:t>
            </a:r>
            <a:r>
              <a:rPr lang="en-US" altLang="ko-KR" sz="1200" dirty="0">
                <a:solidFill>
                  <a:schemeClr val="tx1"/>
                </a:solidFill>
                <a:latin typeface="+mj-lt"/>
              </a:rPr>
              <a:t>[Today]</a:t>
            </a:r>
          </a:p>
        </p:txBody>
      </p:sp>
      <p:sp>
        <p:nvSpPr>
          <p:cNvPr id="35" name="직사각형 34"/>
          <p:cNvSpPr/>
          <p:nvPr/>
        </p:nvSpPr>
        <p:spPr>
          <a:xfrm>
            <a:off x="8011751" y="22993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8417024" y="440371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37" name="표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340076"/>
              </p:ext>
            </p:extLst>
          </p:nvPr>
        </p:nvGraphicFramePr>
        <p:xfrm>
          <a:off x="10633534" y="1272208"/>
          <a:ext cx="2088232" cy="15110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 리포트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탭메뉴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활성화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미대피자는 맨 위로 올라와서 보여짐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693879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3" name="직선 연결선 12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19" name="직사각형 18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21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22" name="Today Background"/>
          <p:cNvSpPr>
            <a:spLocks noChangeArrowheads="1"/>
          </p:cNvSpPr>
          <p:nvPr/>
        </p:nvSpPr>
        <p:spPr bwMode="auto">
          <a:xfrm>
            <a:off x="680958" y="3971897"/>
            <a:ext cx="1183338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10 11 </a:t>
            </a: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12 13 14</a:t>
            </a:r>
            <a:r>
              <a:rPr lang="en-US" altLang="ko-KR" sz="1000" dirty="0">
                <a:latin typeface="+mn-ea"/>
              </a:rPr>
              <a:t>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17 18 19 20 </a:t>
            </a:r>
            <a:r>
              <a:rPr lang="en-US" altLang="ko-KR" sz="1000" dirty="0">
                <a:latin typeface="+mn-ea"/>
              </a:rPr>
              <a:t>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342094" y="460093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342094" y="511477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342094" y="65503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342094" y="416894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1636302" y="26192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1636302" y="21819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30" name="직선 연결선 29"/>
          <p:cNvCxnSpPr/>
          <p:nvPr/>
        </p:nvCxnSpPr>
        <p:spPr>
          <a:xfrm>
            <a:off x="3520480" y="4689481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520480" y="4808236"/>
            <a:ext cx="612298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b="1" dirty="0">
                <a:latin typeface="+mn-ea"/>
              </a:rPr>
              <a:t>17 18 19 20</a:t>
            </a:r>
            <a:r>
              <a:rPr lang="en-US" altLang="ko-KR" sz="1100" dirty="0">
                <a:latin typeface="+mn-ea"/>
              </a:rPr>
              <a:t> 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21 22 23</a:t>
            </a:r>
            <a:endParaRPr lang="ko-KR" altLang="en-US" sz="11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cxnSp>
        <p:nvCxnSpPr>
          <p:cNvPr id="32" name="직선 연결선 31"/>
          <p:cNvCxnSpPr/>
          <p:nvPr/>
        </p:nvCxnSpPr>
        <p:spPr>
          <a:xfrm>
            <a:off x="8697047" y="3261362"/>
            <a:ext cx="866403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159493" y="3041079"/>
            <a:ext cx="40395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입실자</a:t>
            </a:r>
          </a:p>
        </p:txBody>
      </p:sp>
      <p:cxnSp>
        <p:nvCxnSpPr>
          <p:cNvPr id="34" name="직선 연결선 33"/>
          <p:cNvCxnSpPr/>
          <p:nvPr/>
        </p:nvCxnSpPr>
        <p:spPr>
          <a:xfrm>
            <a:off x="8697047" y="3609361"/>
            <a:ext cx="866403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9159492" y="3389078"/>
            <a:ext cx="403958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퇴실자</a:t>
            </a: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 rotWithShape="1">
          <a:blip r:embed="rId2"/>
          <a:srcRect r="74887"/>
          <a:stretch/>
        </p:blipFill>
        <p:spPr>
          <a:xfrm>
            <a:off x="3407405" y="2875082"/>
            <a:ext cx="3281427" cy="1719221"/>
          </a:xfrm>
          <a:prstGeom prst="rect">
            <a:avLst/>
          </a:prstGeom>
        </p:spPr>
      </p:pic>
      <p:pic>
        <p:nvPicPr>
          <p:cNvPr id="46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921905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7" name="그룹 46"/>
          <p:cNvGrpSpPr/>
          <p:nvPr/>
        </p:nvGrpSpPr>
        <p:grpSpPr>
          <a:xfrm>
            <a:off x="3126434" y="4263329"/>
            <a:ext cx="6517033" cy="169277"/>
            <a:chOff x="3126434" y="3726376"/>
            <a:chExt cx="6517033" cy="169277"/>
          </a:xfrm>
        </p:grpSpPr>
        <p:cxnSp>
          <p:nvCxnSpPr>
            <p:cNvPr id="48" name="직선 연결선 47"/>
            <p:cNvCxnSpPr/>
            <p:nvPr/>
          </p:nvCxnSpPr>
          <p:spPr>
            <a:xfrm>
              <a:off x="3520480" y="3804253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Box 48"/>
            <p:cNvSpPr txBox="1"/>
            <p:nvPr/>
          </p:nvSpPr>
          <p:spPr>
            <a:xfrm>
              <a:off x="3126434" y="3726376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100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3126434" y="3859199"/>
            <a:ext cx="6517033" cy="169277"/>
            <a:chOff x="3126434" y="3363962"/>
            <a:chExt cx="6517033" cy="169277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200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3126434" y="3455068"/>
            <a:ext cx="6517033" cy="169277"/>
            <a:chOff x="3126434" y="3363962"/>
            <a:chExt cx="6517033" cy="169277"/>
          </a:xfrm>
        </p:grpSpPr>
        <p:cxnSp>
          <p:nvCxnSpPr>
            <p:cNvPr id="54" name="직선 연결선 53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extBox 54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300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3126434" y="3050937"/>
            <a:ext cx="6517033" cy="169277"/>
            <a:chOff x="3126434" y="3363962"/>
            <a:chExt cx="6517033" cy="169277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Box 57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400</a:t>
              </a:r>
              <a:endParaRPr lang="ko-KR" altLang="en-US" sz="1100" dirty="0">
                <a:latin typeface="+mn-ea"/>
              </a:endParaRPr>
            </a:p>
          </p:txBody>
        </p:sp>
      </p:grpSp>
      <p:sp>
        <p:nvSpPr>
          <p:cNvPr id="59" name="직사각형 58"/>
          <p:cNvSpPr/>
          <p:nvPr/>
        </p:nvSpPr>
        <p:spPr>
          <a:xfrm>
            <a:off x="3067652" y="23305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3067652" y="28785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6568580" y="2457232"/>
            <a:ext cx="3051951" cy="39376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en-US" altLang="ko-KR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3520346" y="2457232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 (4</a:t>
            </a:r>
            <a:r>
              <a:rPr lang="ko-KR" altLang="en-US" sz="1200" b="1">
                <a:solidFill>
                  <a:schemeClr val="tx1"/>
                </a:solidFill>
                <a:latin typeface="+mj-lt"/>
              </a:rPr>
              <a:t>주차</a:t>
            </a:r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) Report </a:t>
            </a:r>
            <a:r>
              <a:rPr lang="en-US" altLang="ko-KR" sz="1200" dirty="0">
                <a:solidFill>
                  <a:schemeClr val="tx1"/>
                </a:solidFill>
                <a:latin typeface="+mj-lt"/>
              </a:rPr>
              <a:t>[Weekly]</a:t>
            </a:r>
          </a:p>
        </p:txBody>
      </p:sp>
      <p:graphicFrame>
        <p:nvGraphicFramePr>
          <p:cNvPr id="71" name="표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4862593"/>
              </p:ext>
            </p:extLst>
          </p:nvPr>
        </p:nvGraphicFramePr>
        <p:xfrm>
          <a:off x="10633534" y="1272208"/>
          <a:ext cx="2088232" cy="30302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일단위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주단위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월단위 선택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주차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최신 주차이기 때문에 우측의 화살표가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주차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비상선포기간의 현황을 볼 수 있는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입실자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퇴실자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각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상황별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미해결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해결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주차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기준선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=10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1,000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100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113" name="차트 112"/>
          <p:cNvGraphicFramePr/>
          <p:nvPr>
            <p:extLst>
              <p:ext uri="{D42A27DB-BD31-4B8C-83A1-F6EECF244321}">
                <p14:modId xmlns:p14="http://schemas.microsoft.com/office/powerpoint/2010/main" val="913389045"/>
              </p:ext>
            </p:extLst>
          </p:nvPr>
        </p:nvGraphicFramePr>
        <p:xfrm>
          <a:off x="3272645" y="5333268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4" name="TextBox 113"/>
          <p:cNvSpPr txBox="1"/>
          <p:nvPr/>
        </p:nvSpPr>
        <p:spPr>
          <a:xfrm>
            <a:off x="5824736" y="5520712"/>
            <a:ext cx="755015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긴 급 호 출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침 범 상 황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가 </a:t>
            </a:r>
            <a:r>
              <a:rPr lang="ko-KR" altLang="en-US" sz="1100" dirty="0" err="1">
                <a:latin typeface="+mn-ea"/>
              </a:rPr>
              <a:t>스</a:t>
            </a:r>
            <a:r>
              <a:rPr lang="ko-KR" altLang="en-US" sz="1100" dirty="0">
                <a:latin typeface="+mn-ea"/>
              </a:rPr>
              <a:t> 위 험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심박수 위험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1100" dirty="0">
                <a:latin typeface="+mn-ea"/>
              </a:rPr>
              <a:t>AP </a:t>
            </a:r>
            <a:r>
              <a:rPr lang="ko-KR" altLang="en-US" sz="1100">
                <a:latin typeface="+mn-ea"/>
              </a:rPr>
              <a:t>이상 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배터리 부족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9076649" y="5520712"/>
            <a:ext cx="7085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(41%)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(17%)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(29%)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</p:txBody>
      </p:sp>
      <p:sp>
        <p:nvSpPr>
          <p:cNvPr id="116" name="직사각형 115"/>
          <p:cNvSpPr/>
          <p:nvPr/>
        </p:nvSpPr>
        <p:spPr>
          <a:xfrm>
            <a:off x="6646547" y="5647143"/>
            <a:ext cx="936089" cy="144000"/>
          </a:xfrm>
          <a:prstGeom prst="rect">
            <a:avLst/>
          </a:prstGeom>
          <a:solidFill>
            <a:srgbClr val="5F5F5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7" name="직사각형 116"/>
          <p:cNvSpPr/>
          <p:nvPr/>
        </p:nvSpPr>
        <p:spPr>
          <a:xfrm>
            <a:off x="6646547" y="5978502"/>
            <a:ext cx="936089" cy="144000"/>
          </a:xfrm>
          <a:prstGeom prst="rect">
            <a:avLst/>
          </a:prstGeom>
          <a:solidFill>
            <a:srgbClr val="B3B3B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6646547" y="6321072"/>
            <a:ext cx="936089" cy="144000"/>
          </a:xfrm>
          <a:prstGeom prst="rect">
            <a:avLst/>
          </a:prstGeom>
          <a:solidFill>
            <a:srgbClr val="898989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9" name="직사각형 118"/>
          <p:cNvSpPr/>
          <p:nvPr/>
        </p:nvSpPr>
        <p:spPr>
          <a:xfrm>
            <a:off x="6646547" y="6660874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20" name="직사각형 119"/>
          <p:cNvSpPr/>
          <p:nvPr/>
        </p:nvSpPr>
        <p:spPr>
          <a:xfrm>
            <a:off x="6646547" y="6965560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21" name="직사각형 120"/>
          <p:cNvSpPr/>
          <p:nvPr/>
        </p:nvSpPr>
        <p:spPr>
          <a:xfrm>
            <a:off x="6646547" y="7314185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324611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8776" y="2627974"/>
            <a:ext cx="171553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2016.04.20 (</a:t>
            </a:r>
            <a:r>
              <a:rPr lang="ko-KR" altLang="en-US" sz="1400">
                <a:latin typeface="+mn-ea"/>
              </a:rPr>
              <a:t>화</a:t>
            </a:r>
            <a:r>
              <a:rPr lang="en-US" altLang="ko-KR" sz="1400" dirty="0">
                <a:latin typeface="+mn-ea"/>
              </a:rPr>
              <a:t>) </a:t>
            </a:r>
            <a:endParaRPr lang="ko-KR" altLang="en-US" sz="1400" dirty="0">
              <a:latin typeface="+mn-ea"/>
            </a:endParaRPr>
          </a:p>
        </p:txBody>
      </p:sp>
      <p:sp>
        <p:nvSpPr>
          <p:cNvPr id="26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736519" y="3065404"/>
            <a:ext cx="1980714" cy="15388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dist"/>
            <a:r>
              <a:rPr lang="en-US" altLang="ko-KR" sz="1000" b="1" dirty="0">
                <a:latin typeface="+mn-ea"/>
              </a:rPr>
              <a:t>Su   Mo   Tu   We   Th   Fr   Sa</a:t>
            </a:r>
            <a:endParaRPr lang="ko-KR" altLang="en-US" sz="1000" b="1"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35" name="직선 연결선 34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40" name="그룹 39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41" name="직사각형 40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43" name="Today Background"/>
          <p:cNvSpPr>
            <a:spLocks noChangeArrowheads="1"/>
          </p:cNvSpPr>
          <p:nvPr/>
        </p:nvSpPr>
        <p:spPr bwMode="auto">
          <a:xfrm>
            <a:off x="1288231" y="3731109"/>
            <a:ext cx="873943" cy="180631"/>
          </a:xfrm>
          <a:prstGeom prst="rect">
            <a:avLst/>
          </a:prstGeom>
          <a:solidFill>
            <a:srgbClr val="FF604F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44" name="Today Background"/>
          <p:cNvSpPr>
            <a:spLocks noChangeArrowheads="1"/>
          </p:cNvSpPr>
          <p:nvPr/>
        </p:nvSpPr>
        <p:spPr bwMode="auto">
          <a:xfrm>
            <a:off x="680958" y="3730004"/>
            <a:ext cx="2119442" cy="180631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+mn-ea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36519" y="3244344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27 28 29 30 31 </a:t>
            </a:r>
            <a:r>
              <a:rPr lang="en-US" altLang="ko-KR" sz="1000" dirty="0">
                <a:latin typeface="+mn-ea"/>
              </a:rPr>
              <a:t>01 02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03 04 05 06 07 08 09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solidFill>
                  <a:schemeClr val="bg1"/>
                </a:solidFill>
                <a:latin typeface="+mn-ea"/>
              </a:rPr>
              <a:t>10 11 12 13 14 15 16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17 18 19 20 21 22 23</a:t>
            </a:r>
          </a:p>
          <a:p>
            <a:pPr algn="dist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24 25 26 27 28 29 30</a:t>
            </a:r>
            <a:endParaRPr lang="ko-KR" altLang="en-US" sz="1000">
              <a:latin typeface="+mn-ea"/>
            </a:endParaRPr>
          </a:p>
        </p:txBody>
      </p:sp>
      <p:sp>
        <p:nvSpPr>
          <p:cNvPr id="50" name="직사각형 49"/>
          <p:cNvSpPr/>
          <p:nvPr/>
        </p:nvSpPr>
        <p:spPr>
          <a:xfrm>
            <a:off x="488083" y="37349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2353507" y="254629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52" name="직선 연결선 51"/>
          <p:cNvCxnSpPr/>
          <p:nvPr/>
        </p:nvCxnSpPr>
        <p:spPr>
          <a:xfrm>
            <a:off x="3520480" y="4690178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520480" y="4808933"/>
            <a:ext cx="612298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b="1" dirty="0">
                <a:latin typeface="+mn-ea"/>
              </a:rPr>
              <a:t>10 11 12 13 14 15 16</a:t>
            </a:r>
            <a:endParaRPr lang="ko-KR" altLang="en-US" sz="1100" b="1" dirty="0">
              <a:latin typeface="+mn-ea"/>
            </a:endParaRPr>
          </a:p>
        </p:txBody>
      </p:sp>
      <p:cxnSp>
        <p:nvCxnSpPr>
          <p:cNvPr id="54" name="직선 연결선 53"/>
          <p:cNvCxnSpPr/>
          <p:nvPr/>
        </p:nvCxnSpPr>
        <p:spPr>
          <a:xfrm>
            <a:off x="8697047" y="3262059"/>
            <a:ext cx="866403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9159493" y="3041776"/>
            <a:ext cx="40395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입실자</a:t>
            </a:r>
          </a:p>
        </p:txBody>
      </p:sp>
      <p:cxnSp>
        <p:nvCxnSpPr>
          <p:cNvPr id="56" name="직선 연결선 55"/>
          <p:cNvCxnSpPr/>
          <p:nvPr/>
        </p:nvCxnSpPr>
        <p:spPr>
          <a:xfrm>
            <a:off x="8697047" y="3610058"/>
            <a:ext cx="866403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9159492" y="3389775"/>
            <a:ext cx="403958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퇴실자</a:t>
            </a:r>
          </a:p>
        </p:txBody>
      </p:sp>
      <p:pic>
        <p:nvPicPr>
          <p:cNvPr id="58" name="그림 57"/>
          <p:cNvPicPr>
            <a:picLocks noChangeAspect="1"/>
          </p:cNvPicPr>
          <p:nvPr/>
        </p:nvPicPr>
        <p:blipFill rotWithShape="1">
          <a:blip r:embed="rId2"/>
          <a:srcRect r="67172"/>
          <a:stretch/>
        </p:blipFill>
        <p:spPr>
          <a:xfrm>
            <a:off x="3407405" y="2875779"/>
            <a:ext cx="6236062" cy="1719221"/>
          </a:xfrm>
          <a:prstGeom prst="rect">
            <a:avLst/>
          </a:prstGeom>
        </p:spPr>
      </p:pic>
      <p:grpSp>
        <p:nvGrpSpPr>
          <p:cNvPr id="69" name="그룹 68"/>
          <p:cNvGrpSpPr/>
          <p:nvPr/>
        </p:nvGrpSpPr>
        <p:grpSpPr>
          <a:xfrm>
            <a:off x="3126434" y="4264026"/>
            <a:ext cx="6517033" cy="169277"/>
            <a:chOff x="3126434" y="3726376"/>
            <a:chExt cx="6517033" cy="169277"/>
          </a:xfrm>
        </p:grpSpPr>
        <p:cxnSp>
          <p:nvCxnSpPr>
            <p:cNvPr id="70" name="직선 연결선 69"/>
            <p:cNvCxnSpPr/>
            <p:nvPr/>
          </p:nvCxnSpPr>
          <p:spPr>
            <a:xfrm>
              <a:off x="3520480" y="3804253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70"/>
            <p:cNvSpPr txBox="1"/>
            <p:nvPr/>
          </p:nvSpPr>
          <p:spPr>
            <a:xfrm>
              <a:off x="3126434" y="3726376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100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72" name="그룹 71"/>
          <p:cNvGrpSpPr/>
          <p:nvPr/>
        </p:nvGrpSpPr>
        <p:grpSpPr>
          <a:xfrm>
            <a:off x="3126434" y="3859896"/>
            <a:ext cx="6517033" cy="169277"/>
            <a:chOff x="3126434" y="3363962"/>
            <a:chExt cx="6517033" cy="169277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200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3126434" y="3455765"/>
            <a:ext cx="6517033" cy="169277"/>
            <a:chOff x="3126434" y="3363962"/>
            <a:chExt cx="6517033" cy="169277"/>
          </a:xfrm>
        </p:grpSpPr>
        <p:cxnSp>
          <p:nvCxnSpPr>
            <p:cNvPr id="76" name="직선 연결선 75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extBox 76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300</a:t>
              </a:r>
              <a:endParaRPr lang="ko-KR" altLang="en-US" sz="1100" dirty="0">
                <a:latin typeface="+mn-ea"/>
              </a:endParaRPr>
            </a:p>
          </p:txBody>
        </p:sp>
      </p:grpSp>
      <p:grpSp>
        <p:nvGrpSpPr>
          <p:cNvPr id="78" name="그룹 77"/>
          <p:cNvGrpSpPr/>
          <p:nvPr/>
        </p:nvGrpSpPr>
        <p:grpSpPr>
          <a:xfrm>
            <a:off x="3126434" y="3051634"/>
            <a:ext cx="6517033" cy="169277"/>
            <a:chOff x="3126434" y="3363962"/>
            <a:chExt cx="6517033" cy="169277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79"/>
            <p:cNvSpPr txBox="1"/>
            <p:nvPr/>
          </p:nvSpPr>
          <p:spPr>
            <a:xfrm>
              <a:off x="3126434" y="3363962"/>
              <a:ext cx="323299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latin typeface="+mn-ea"/>
                </a:rPr>
                <a:t>400</a:t>
              </a:r>
              <a:endParaRPr lang="ko-KR" altLang="en-US" sz="1100" dirty="0">
                <a:latin typeface="+mn-ea"/>
              </a:endParaRPr>
            </a:p>
          </p:txBody>
        </p:sp>
      </p:grpSp>
      <p:sp>
        <p:nvSpPr>
          <p:cNvPr id="81" name="직사각형 80"/>
          <p:cNvSpPr/>
          <p:nvPr/>
        </p:nvSpPr>
        <p:spPr>
          <a:xfrm>
            <a:off x="6568580" y="2457929"/>
            <a:ext cx="3051951" cy="39376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en-US" altLang="ko-KR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3520346" y="2457929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 (3</a:t>
            </a:r>
            <a:r>
              <a:rPr lang="ko-KR" altLang="en-US" sz="1200" b="1">
                <a:solidFill>
                  <a:schemeClr val="tx1"/>
                </a:solidFill>
                <a:latin typeface="+mj-lt"/>
              </a:rPr>
              <a:t>주차</a:t>
            </a:r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) Report</a:t>
            </a:r>
            <a:r>
              <a:rPr lang="en-US" altLang="ko-KR" sz="1200" dirty="0">
                <a:solidFill>
                  <a:schemeClr val="tx1"/>
                </a:solidFill>
                <a:latin typeface="+mj-lt"/>
              </a:rPr>
              <a:t> [Weekly]</a:t>
            </a:r>
          </a:p>
        </p:txBody>
      </p:sp>
      <p:sp>
        <p:nvSpPr>
          <p:cNvPr id="83" name="직사각형 82"/>
          <p:cNvSpPr/>
          <p:nvPr/>
        </p:nvSpPr>
        <p:spPr>
          <a:xfrm>
            <a:off x="6572297" y="2457929"/>
            <a:ext cx="3051951" cy="393761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2016.04.12.~14. Report [Disaster state]</a:t>
            </a:r>
          </a:p>
        </p:txBody>
      </p:sp>
      <p:sp>
        <p:nvSpPr>
          <p:cNvPr id="84" name="직사각형 83"/>
          <p:cNvSpPr/>
          <p:nvPr/>
        </p:nvSpPr>
        <p:spPr>
          <a:xfrm>
            <a:off x="8005655" y="22681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93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921905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94" name="표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590051"/>
              </p:ext>
            </p:extLst>
          </p:nvPr>
        </p:nvGraphicFramePr>
        <p:xfrm>
          <a:off x="10633534" y="1272208"/>
          <a:ext cx="2088232" cy="267452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이후의 주차가 존재하기 때문에 우측 화살표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주차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해당 주차에 비상선포가 되었기 때문에 비상선포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Report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탭이 보여지게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95" name="차트 94"/>
          <p:cNvGraphicFramePr/>
          <p:nvPr>
            <p:extLst>
              <p:ext uri="{D42A27DB-BD31-4B8C-83A1-F6EECF244321}">
                <p14:modId xmlns:p14="http://schemas.microsoft.com/office/powerpoint/2010/main" val="913389045"/>
              </p:ext>
            </p:extLst>
          </p:nvPr>
        </p:nvGraphicFramePr>
        <p:xfrm>
          <a:off x="3272645" y="5333268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6" name="TextBox 95"/>
          <p:cNvSpPr txBox="1"/>
          <p:nvPr/>
        </p:nvSpPr>
        <p:spPr>
          <a:xfrm>
            <a:off x="5824736" y="5520712"/>
            <a:ext cx="755015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긴 급 호 출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침 범 상 황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가 </a:t>
            </a:r>
            <a:r>
              <a:rPr lang="ko-KR" altLang="en-US" sz="1100" dirty="0" err="1">
                <a:latin typeface="+mn-ea"/>
              </a:rPr>
              <a:t>스</a:t>
            </a:r>
            <a:r>
              <a:rPr lang="ko-KR" altLang="en-US" sz="1100" dirty="0">
                <a:latin typeface="+mn-ea"/>
              </a:rPr>
              <a:t> 위 험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심박수 위험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1100" dirty="0">
                <a:latin typeface="+mn-ea"/>
              </a:rPr>
              <a:t>AP </a:t>
            </a:r>
            <a:r>
              <a:rPr lang="ko-KR" altLang="en-US" sz="1100">
                <a:latin typeface="+mn-ea"/>
              </a:rPr>
              <a:t>이상 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배터리 부족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076649" y="5520712"/>
            <a:ext cx="7085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(41%)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(17%)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(29%)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</p:txBody>
      </p:sp>
      <p:sp>
        <p:nvSpPr>
          <p:cNvPr id="98" name="직사각형 97"/>
          <p:cNvSpPr/>
          <p:nvPr/>
        </p:nvSpPr>
        <p:spPr>
          <a:xfrm>
            <a:off x="6646547" y="5647143"/>
            <a:ext cx="936089" cy="144000"/>
          </a:xfrm>
          <a:prstGeom prst="rect">
            <a:avLst/>
          </a:prstGeom>
          <a:solidFill>
            <a:srgbClr val="5F5F5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99" name="직사각형 98"/>
          <p:cNvSpPr/>
          <p:nvPr/>
        </p:nvSpPr>
        <p:spPr>
          <a:xfrm>
            <a:off x="6646547" y="5978502"/>
            <a:ext cx="936089" cy="144000"/>
          </a:xfrm>
          <a:prstGeom prst="rect">
            <a:avLst/>
          </a:prstGeom>
          <a:solidFill>
            <a:srgbClr val="B3B3B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00" name="직사각형 99"/>
          <p:cNvSpPr/>
          <p:nvPr/>
        </p:nvSpPr>
        <p:spPr>
          <a:xfrm>
            <a:off x="6646547" y="6321072"/>
            <a:ext cx="936089" cy="144000"/>
          </a:xfrm>
          <a:prstGeom prst="rect">
            <a:avLst/>
          </a:prstGeom>
          <a:solidFill>
            <a:srgbClr val="898989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01" name="직사각형 100"/>
          <p:cNvSpPr/>
          <p:nvPr/>
        </p:nvSpPr>
        <p:spPr>
          <a:xfrm>
            <a:off x="6646547" y="6660874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02" name="직사각형 101"/>
          <p:cNvSpPr/>
          <p:nvPr/>
        </p:nvSpPr>
        <p:spPr>
          <a:xfrm>
            <a:off x="6646547" y="6965560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6646547" y="7314185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9751034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083615" y="2627974"/>
            <a:ext cx="124585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</a:t>
            </a:r>
            <a:r>
              <a:rPr lang="ko-KR" altLang="en-US" sz="1400">
                <a:latin typeface="+mn-ea"/>
              </a:rPr>
              <a:t>년 ▶</a:t>
            </a: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3" name="직선 연결선 12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19" name="직사각형 18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24" name="직사각형 23"/>
          <p:cNvSpPr/>
          <p:nvPr/>
        </p:nvSpPr>
        <p:spPr>
          <a:xfrm>
            <a:off x="1599791" y="254382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2181775" y="230576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8" name="Today Background"/>
          <p:cNvSpPr>
            <a:spLocks noChangeArrowheads="1"/>
          </p:cNvSpPr>
          <p:nvPr/>
        </p:nvSpPr>
        <p:spPr bwMode="auto">
          <a:xfrm>
            <a:off x="2372498" y="3189676"/>
            <a:ext cx="444378" cy="32613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9" name="TextBox 28"/>
          <p:cNvSpPr txBox="1"/>
          <p:nvPr/>
        </p:nvSpPr>
        <p:spPr>
          <a:xfrm>
            <a:off x="736519" y="3214390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/>
              <a:t>1</a:t>
            </a:r>
            <a:r>
              <a:rPr lang="ko-KR" altLang="en-US" sz="1000"/>
              <a:t>월  </a:t>
            </a:r>
            <a:r>
              <a:rPr lang="en-US" altLang="ko-KR" sz="1000" dirty="0"/>
              <a:t>2</a:t>
            </a:r>
            <a:r>
              <a:rPr lang="ko-KR" altLang="en-US" sz="1000"/>
              <a:t>월  </a:t>
            </a:r>
            <a:r>
              <a:rPr lang="en-US" altLang="ko-KR" sz="1000" dirty="0"/>
              <a:t>3</a:t>
            </a:r>
            <a:r>
              <a:rPr lang="ko-KR" altLang="en-US" sz="1000"/>
              <a:t>월  </a:t>
            </a:r>
            <a:r>
              <a:rPr lang="en-US" altLang="ko-KR" sz="1000" b="1" dirty="0">
                <a:solidFill>
                  <a:schemeClr val="bg1"/>
                </a:solidFill>
              </a:rPr>
              <a:t>4</a:t>
            </a:r>
            <a:r>
              <a:rPr lang="ko-KR" altLang="en-US" sz="1000" b="1">
                <a:solidFill>
                  <a:schemeClr val="bg1"/>
                </a:solidFill>
              </a:rPr>
              <a:t>월</a:t>
            </a:r>
            <a:endParaRPr lang="en-US" altLang="ko-KR" sz="1000" b="1" dirty="0">
              <a:solidFill>
                <a:schemeClr val="bg1"/>
              </a:solidFill>
            </a:endParaRPr>
          </a:p>
          <a:p>
            <a:pPr algn="dist">
              <a:lnSpc>
                <a:spcPct val="150000"/>
              </a:lnSpc>
            </a:pPr>
            <a:endParaRPr lang="en-US" altLang="ko-KR" sz="1000" dirty="0"/>
          </a:p>
          <a:p>
            <a:pPr algn="dist">
              <a:lnSpc>
                <a:spcPct val="150000"/>
              </a:lnSpc>
            </a:pPr>
            <a:r>
              <a:rPr lang="en-US" altLang="ko-KR" sz="1000" dirty="0"/>
              <a:t>5</a:t>
            </a:r>
            <a:r>
              <a:rPr lang="ko-KR" altLang="en-US" sz="1000"/>
              <a:t>월  </a:t>
            </a:r>
            <a:r>
              <a:rPr lang="en-US" altLang="ko-KR" sz="1000" dirty="0"/>
              <a:t>6</a:t>
            </a:r>
            <a:r>
              <a:rPr lang="ko-KR" altLang="en-US" sz="1000"/>
              <a:t>월  </a:t>
            </a:r>
            <a:r>
              <a:rPr lang="en-US" altLang="ko-KR" sz="1000" dirty="0"/>
              <a:t>7</a:t>
            </a:r>
            <a:r>
              <a:rPr lang="ko-KR" altLang="en-US" sz="1000"/>
              <a:t>월  </a:t>
            </a:r>
            <a:r>
              <a:rPr lang="en-US" altLang="ko-KR" sz="1000" dirty="0"/>
              <a:t>8</a:t>
            </a:r>
            <a:r>
              <a:rPr lang="ko-KR" altLang="en-US" sz="1000"/>
              <a:t>월</a:t>
            </a:r>
            <a:endParaRPr lang="en-US" altLang="ko-KR" sz="1000" dirty="0"/>
          </a:p>
          <a:p>
            <a:pPr algn="dist">
              <a:lnSpc>
                <a:spcPct val="150000"/>
              </a:lnSpc>
            </a:pPr>
            <a:endParaRPr lang="en-US" altLang="ko-KR" sz="1000" dirty="0"/>
          </a:p>
          <a:p>
            <a:pPr algn="dist">
              <a:lnSpc>
                <a:spcPct val="150000"/>
              </a:lnSpc>
            </a:pPr>
            <a:r>
              <a:rPr lang="en-US" altLang="ko-KR" sz="1000" dirty="0"/>
              <a:t>9</a:t>
            </a:r>
            <a:r>
              <a:rPr lang="ko-KR" altLang="en-US" sz="1000"/>
              <a:t>월 </a:t>
            </a:r>
            <a:r>
              <a:rPr lang="en-US" altLang="ko-KR" sz="1000" dirty="0"/>
              <a:t>10</a:t>
            </a:r>
            <a:r>
              <a:rPr lang="ko-KR" altLang="en-US" sz="1000"/>
              <a:t>월 </a:t>
            </a:r>
            <a:r>
              <a:rPr lang="en-US" altLang="ko-KR" sz="1000" dirty="0"/>
              <a:t>11</a:t>
            </a:r>
            <a:r>
              <a:rPr lang="ko-KR" altLang="en-US" sz="1000"/>
              <a:t>월 </a:t>
            </a:r>
            <a:r>
              <a:rPr lang="en-US" altLang="ko-KR" sz="1000" dirty="0"/>
              <a:t>12</a:t>
            </a:r>
            <a:r>
              <a:rPr lang="ko-KR" altLang="en-US" sz="1000"/>
              <a:t>월</a:t>
            </a:r>
            <a:endParaRPr lang="en-US" altLang="ko-KR" sz="1000" dirty="0"/>
          </a:p>
        </p:txBody>
      </p:sp>
      <p:sp>
        <p:nvSpPr>
          <p:cNvPr id="30" name="직사각형 29"/>
          <p:cNvSpPr/>
          <p:nvPr/>
        </p:nvSpPr>
        <p:spPr>
          <a:xfrm>
            <a:off x="2431580" y="301085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71" name="직선 연결선 70"/>
          <p:cNvCxnSpPr/>
          <p:nvPr/>
        </p:nvCxnSpPr>
        <p:spPr>
          <a:xfrm>
            <a:off x="3520480" y="4695066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3520480" y="4813821"/>
            <a:ext cx="6122987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dist"/>
            <a:r>
              <a:rPr lang="en-US" altLang="ko-KR" sz="1100" dirty="0">
                <a:latin typeface="+mn-ea"/>
              </a:rPr>
              <a:t>1 2 3 4 5 6 7 8 9 10 11 12 13 14 15 16 17 18 19 20 21 22 23 24 25 26 27 28 29 30</a:t>
            </a:r>
          </a:p>
          <a:p>
            <a:pPr algn="dist"/>
            <a:r>
              <a:rPr lang="ko-KR" altLang="en-US" sz="900" dirty="0">
                <a:latin typeface="+mn-ea"/>
              </a:rPr>
              <a:t>금 토 일 월 화 수 목 금 토 일 월 화 수 목 금 토 일 월 화 수 목 금 토 일 월 화 수 목 금 토 일 </a:t>
            </a:r>
            <a:endParaRPr lang="en-US" altLang="ko-KR" sz="1100" dirty="0">
              <a:latin typeface="+mn-ea"/>
            </a:endParaRPr>
          </a:p>
        </p:txBody>
      </p:sp>
      <p:sp>
        <p:nvSpPr>
          <p:cNvPr id="73" name="자유형 72"/>
          <p:cNvSpPr/>
          <p:nvPr/>
        </p:nvSpPr>
        <p:spPr>
          <a:xfrm>
            <a:off x="3582099" y="3050846"/>
            <a:ext cx="5972962" cy="1577131"/>
          </a:xfrm>
          <a:custGeom>
            <a:avLst/>
            <a:gdLst>
              <a:gd name="connsiteX0" fmla="*/ 0 w 5972962"/>
              <a:gd name="connsiteY0" fmla="*/ 1568742 h 1577131"/>
              <a:gd name="connsiteX1" fmla="*/ 251670 w 5972962"/>
              <a:gd name="connsiteY1" fmla="*/ 1560353 h 1577131"/>
              <a:gd name="connsiteX2" fmla="*/ 528507 w 5972962"/>
              <a:gd name="connsiteY2" fmla="*/ 1459685 h 1577131"/>
              <a:gd name="connsiteX3" fmla="*/ 746620 w 5972962"/>
              <a:gd name="connsiteY3" fmla="*/ 1208015 h 1577131"/>
              <a:gd name="connsiteX4" fmla="*/ 1023457 w 5972962"/>
              <a:gd name="connsiteY4" fmla="*/ 1535186 h 1577131"/>
              <a:gd name="connsiteX5" fmla="*/ 1249960 w 5972962"/>
              <a:gd name="connsiteY5" fmla="*/ 1577131 h 1577131"/>
              <a:gd name="connsiteX6" fmla="*/ 1510018 w 5972962"/>
              <a:gd name="connsiteY6" fmla="*/ 1577131 h 1577131"/>
              <a:gd name="connsiteX7" fmla="*/ 1744910 w 5972962"/>
              <a:gd name="connsiteY7" fmla="*/ 1375795 h 1577131"/>
              <a:gd name="connsiteX8" fmla="*/ 2055303 w 5972962"/>
              <a:gd name="connsiteY8" fmla="*/ 570452 h 1577131"/>
              <a:gd name="connsiteX9" fmla="*/ 2248250 w 5972962"/>
              <a:gd name="connsiteY9" fmla="*/ 0 h 1577131"/>
              <a:gd name="connsiteX10" fmla="*/ 2508308 w 5972962"/>
              <a:gd name="connsiteY10" fmla="*/ 704675 h 1577131"/>
              <a:gd name="connsiteX11" fmla="*/ 2751589 w 5972962"/>
              <a:gd name="connsiteY11" fmla="*/ 260059 h 1577131"/>
              <a:gd name="connsiteX12" fmla="*/ 3028426 w 5972962"/>
              <a:gd name="connsiteY12" fmla="*/ 1291905 h 1577131"/>
              <a:gd name="connsiteX13" fmla="*/ 3246540 w 5972962"/>
              <a:gd name="connsiteY13" fmla="*/ 142613 h 1577131"/>
              <a:gd name="connsiteX14" fmla="*/ 3464653 w 5972962"/>
              <a:gd name="connsiteY14" fmla="*/ 780176 h 1577131"/>
              <a:gd name="connsiteX15" fmla="*/ 3741490 w 5972962"/>
              <a:gd name="connsiteY15" fmla="*/ 1333850 h 1577131"/>
              <a:gd name="connsiteX16" fmla="*/ 4026716 w 5972962"/>
              <a:gd name="connsiteY16" fmla="*/ 1442907 h 1577131"/>
              <a:gd name="connsiteX17" fmla="*/ 4253218 w 5972962"/>
              <a:gd name="connsiteY17" fmla="*/ 1518408 h 1577131"/>
              <a:gd name="connsiteX18" fmla="*/ 4504888 w 5972962"/>
              <a:gd name="connsiteY18" fmla="*/ 822121 h 1577131"/>
              <a:gd name="connsiteX19" fmla="*/ 4756558 w 5972962"/>
              <a:gd name="connsiteY19" fmla="*/ 1048624 h 1577131"/>
              <a:gd name="connsiteX20" fmla="*/ 5016617 w 5972962"/>
              <a:gd name="connsiteY20" fmla="*/ 1266738 h 1577131"/>
              <a:gd name="connsiteX21" fmla="*/ 5243119 w 5972962"/>
              <a:gd name="connsiteY21" fmla="*/ 1400962 h 1577131"/>
              <a:gd name="connsiteX22" fmla="*/ 5486400 w 5972962"/>
              <a:gd name="connsiteY22" fmla="*/ 1551964 h 1577131"/>
              <a:gd name="connsiteX23" fmla="*/ 5729681 w 5972962"/>
              <a:gd name="connsiteY23" fmla="*/ 1568742 h 1577131"/>
              <a:gd name="connsiteX24" fmla="*/ 5972962 w 5972962"/>
              <a:gd name="connsiteY24" fmla="*/ 1568742 h 157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72962" h="1577131">
                <a:moveTo>
                  <a:pt x="0" y="1568742"/>
                </a:moveTo>
                <a:lnTo>
                  <a:pt x="251670" y="1560353"/>
                </a:lnTo>
                <a:lnTo>
                  <a:pt x="528507" y="1459685"/>
                </a:lnTo>
                <a:lnTo>
                  <a:pt x="746620" y="1208015"/>
                </a:lnTo>
                <a:lnTo>
                  <a:pt x="1023457" y="1535186"/>
                </a:lnTo>
                <a:lnTo>
                  <a:pt x="1249960" y="1577131"/>
                </a:lnTo>
                <a:lnTo>
                  <a:pt x="1510018" y="1577131"/>
                </a:lnTo>
                <a:lnTo>
                  <a:pt x="1744910" y="1375795"/>
                </a:lnTo>
                <a:lnTo>
                  <a:pt x="2055303" y="570452"/>
                </a:lnTo>
                <a:lnTo>
                  <a:pt x="2248250" y="0"/>
                </a:lnTo>
                <a:lnTo>
                  <a:pt x="2508308" y="704675"/>
                </a:lnTo>
                <a:lnTo>
                  <a:pt x="2751589" y="260059"/>
                </a:lnTo>
                <a:lnTo>
                  <a:pt x="3028426" y="1291905"/>
                </a:lnTo>
                <a:lnTo>
                  <a:pt x="3246540" y="142613"/>
                </a:lnTo>
                <a:lnTo>
                  <a:pt x="3464653" y="780176"/>
                </a:lnTo>
                <a:lnTo>
                  <a:pt x="3741490" y="1333850"/>
                </a:lnTo>
                <a:lnTo>
                  <a:pt x="4026716" y="1442907"/>
                </a:lnTo>
                <a:lnTo>
                  <a:pt x="4253218" y="1518408"/>
                </a:lnTo>
                <a:lnTo>
                  <a:pt x="4504888" y="822121"/>
                </a:lnTo>
                <a:lnTo>
                  <a:pt x="4756558" y="1048624"/>
                </a:lnTo>
                <a:lnTo>
                  <a:pt x="5016617" y="1266738"/>
                </a:lnTo>
                <a:lnTo>
                  <a:pt x="5243119" y="1400962"/>
                </a:lnTo>
                <a:lnTo>
                  <a:pt x="5486400" y="1551964"/>
                </a:lnTo>
                <a:lnTo>
                  <a:pt x="5729681" y="1568742"/>
                </a:lnTo>
                <a:lnTo>
                  <a:pt x="5972962" y="1568742"/>
                </a:lnTo>
              </a:path>
            </a:pathLst>
          </a:cu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자유형 73"/>
          <p:cNvSpPr/>
          <p:nvPr/>
        </p:nvSpPr>
        <p:spPr>
          <a:xfrm>
            <a:off x="3615655" y="2958567"/>
            <a:ext cx="5947795" cy="1677799"/>
          </a:xfrm>
          <a:custGeom>
            <a:avLst/>
            <a:gdLst>
              <a:gd name="connsiteX0" fmla="*/ 0 w 5947795"/>
              <a:gd name="connsiteY0" fmla="*/ 1619076 h 1677799"/>
              <a:gd name="connsiteX1" fmla="*/ 268448 w 5947795"/>
              <a:gd name="connsiteY1" fmla="*/ 1602298 h 1677799"/>
              <a:gd name="connsiteX2" fmla="*/ 478173 w 5947795"/>
              <a:gd name="connsiteY2" fmla="*/ 1652632 h 1677799"/>
              <a:gd name="connsiteX3" fmla="*/ 687897 w 5947795"/>
              <a:gd name="connsiteY3" fmla="*/ 1451296 h 1677799"/>
              <a:gd name="connsiteX4" fmla="*/ 931178 w 5947795"/>
              <a:gd name="connsiteY4" fmla="*/ 1451296 h 1677799"/>
              <a:gd name="connsiteX5" fmla="*/ 1140903 w 5947795"/>
              <a:gd name="connsiteY5" fmla="*/ 1459685 h 1677799"/>
              <a:gd name="connsiteX6" fmla="*/ 1451295 w 5947795"/>
              <a:gd name="connsiteY6" fmla="*/ 1300294 h 1677799"/>
              <a:gd name="connsiteX7" fmla="*/ 1686187 w 5947795"/>
              <a:gd name="connsiteY7" fmla="*/ 1526797 h 1677799"/>
              <a:gd name="connsiteX8" fmla="*/ 1946246 w 5947795"/>
              <a:gd name="connsiteY8" fmla="*/ 1291905 h 1677799"/>
              <a:gd name="connsiteX9" fmla="*/ 2223083 w 5947795"/>
              <a:gd name="connsiteY9" fmla="*/ 830510 h 1677799"/>
              <a:gd name="connsiteX10" fmla="*/ 2474752 w 5947795"/>
              <a:gd name="connsiteY10" fmla="*/ 964734 h 1677799"/>
              <a:gd name="connsiteX11" fmla="*/ 2684477 w 5947795"/>
              <a:gd name="connsiteY11" fmla="*/ 704676 h 1677799"/>
              <a:gd name="connsiteX12" fmla="*/ 2969703 w 5947795"/>
              <a:gd name="connsiteY12" fmla="*/ 1132514 h 1677799"/>
              <a:gd name="connsiteX13" fmla="*/ 3212984 w 5947795"/>
              <a:gd name="connsiteY13" fmla="*/ 0 h 1677799"/>
              <a:gd name="connsiteX14" fmla="*/ 3565321 w 5947795"/>
              <a:gd name="connsiteY14" fmla="*/ 1249960 h 1677799"/>
              <a:gd name="connsiteX15" fmla="*/ 3791824 w 5947795"/>
              <a:gd name="connsiteY15" fmla="*/ 1661021 h 1677799"/>
              <a:gd name="connsiteX16" fmla="*/ 3993160 w 5947795"/>
              <a:gd name="connsiteY16" fmla="*/ 1409351 h 1677799"/>
              <a:gd name="connsiteX17" fmla="*/ 4194495 w 5947795"/>
              <a:gd name="connsiteY17" fmla="*/ 1619076 h 1677799"/>
              <a:gd name="connsiteX18" fmla="*/ 4488110 w 5947795"/>
              <a:gd name="connsiteY18" fmla="*/ 1157681 h 1677799"/>
              <a:gd name="connsiteX19" fmla="*/ 4764947 w 5947795"/>
              <a:gd name="connsiteY19" fmla="*/ 1501630 h 1677799"/>
              <a:gd name="connsiteX20" fmla="*/ 5008228 w 5947795"/>
              <a:gd name="connsiteY20" fmla="*/ 1602298 h 1677799"/>
              <a:gd name="connsiteX21" fmla="*/ 5276675 w 5947795"/>
              <a:gd name="connsiteY21" fmla="*/ 1627465 h 1677799"/>
              <a:gd name="connsiteX22" fmla="*/ 5494789 w 5947795"/>
              <a:gd name="connsiteY22" fmla="*/ 1669410 h 1677799"/>
              <a:gd name="connsiteX23" fmla="*/ 5788404 w 5947795"/>
              <a:gd name="connsiteY23" fmla="*/ 1677799 h 1677799"/>
              <a:gd name="connsiteX24" fmla="*/ 5947795 w 5947795"/>
              <a:gd name="connsiteY24" fmla="*/ 1677799 h 167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947795" h="1677799">
                <a:moveTo>
                  <a:pt x="0" y="1619076"/>
                </a:moveTo>
                <a:lnTo>
                  <a:pt x="268448" y="1602298"/>
                </a:lnTo>
                <a:lnTo>
                  <a:pt x="478173" y="1652632"/>
                </a:lnTo>
                <a:lnTo>
                  <a:pt x="687897" y="1451296"/>
                </a:lnTo>
                <a:lnTo>
                  <a:pt x="931178" y="1451296"/>
                </a:lnTo>
                <a:lnTo>
                  <a:pt x="1140903" y="1459685"/>
                </a:lnTo>
                <a:lnTo>
                  <a:pt x="1451295" y="1300294"/>
                </a:lnTo>
                <a:lnTo>
                  <a:pt x="1686187" y="1526797"/>
                </a:lnTo>
                <a:lnTo>
                  <a:pt x="1946246" y="1291905"/>
                </a:lnTo>
                <a:lnTo>
                  <a:pt x="2223083" y="830510"/>
                </a:lnTo>
                <a:lnTo>
                  <a:pt x="2474752" y="964734"/>
                </a:lnTo>
                <a:lnTo>
                  <a:pt x="2684477" y="704676"/>
                </a:lnTo>
                <a:lnTo>
                  <a:pt x="2969703" y="1132514"/>
                </a:lnTo>
                <a:lnTo>
                  <a:pt x="3212984" y="0"/>
                </a:lnTo>
                <a:lnTo>
                  <a:pt x="3565321" y="1249960"/>
                </a:lnTo>
                <a:lnTo>
                  <a:pt x="3791824" y="1661021"/>
                </a:lnTo>
                <a:lnTo>
                  <a:pt x="3993160" y="1409351"/>
                </a:lnTo>
                <a:lnTo>
                  <a:pt x="4194495" y="1619076"/>
                </a:lnTo>
                <a:lnTo>
                  <a:pt x="4488110" y="1157681"/>
                </a:lnTo>
                <a:lnTo>
                  <a:pt x="4764947" y="1501630"/>
                </a:lnTo>
                <a:lnTo>
                  <a:pt x="5008228" y="1602298"/>
                </a:lnTo>
                <a:lnTo>
                  <a:pt x="5276675" y="1627465"/>
                </a:lnTo>
                <a:lnTo>
                  <a:pt x="5494789" y="1669410"/>
                </a:lnTo>
                <a:lnTo>
                  <a:pt x="5788404" y="1677799"/>
                </a:lnTo>
                <a:lnTo>
                  <a:pt x="5947795" y="1677799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5" name="직선 연결선 74"/>
          <p:cNvCxnSpPr/>
          <p:nvPr/>
        </p:nvCxnSpPr>
        <p:spPr>
          <a:xfrm>
            <a:off x="8697047" y="3266947"/>
            <a:ext cx="866403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9159493" y="3046664"/>
            <a:ext cx="40395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입실자</a:t>
            </a:r>
          </a:p>
        </p:txBody>
      </p:sp>
      <p:cxnSp>
        <p:nvCxnSpPr>
          <p:cNvPr id="77" name="직선 연결선 76"/>
          <p:cNvCxnSpPr/>
          <p:nvPr/>
        </p:nvCxnSpPr>
        <p:spPr>
          <a:xfrm>
            <a:off x="8697047" y="3614946"/>
            <a:ext cx="866403" cy="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9159492" y="3394663"/>
            <a:ext cx="403958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050" dirty="0">
                <a:latin typeface="+mn-ea"/>
              </a:rPr>
              <a:t>퇴실자</a:t>
            </a:r>
          </a:p>
        </p:txBody>
      </p:sp>
      <p:grpSp>
        <p:nvGrpSpPr>
          <p:cNvPr id="89" name="그룹 88"/>
          <p:cNvGrpSpPr/>
          <p:nvPr/>
        </p:nvGrpSpPr>
        <p:grpSpPr>
          <a:xfrm>
            <a:off x="3126434" y="4268914"/>
            <a:ext cx="6517033" cy="153888"/>
            <a:chOff x="3126434" y="3726376"/>
            <a:chExt cx="6517033" cy="153888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3520480" y="3804253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Box 90"/>
            <p:cNvSpPr txBox="1"/>
            <p:nvPr/>
          </p:nvSpPr>
          <p:spPr>
            <a:xfrm>
              <a:off x="3126434" y="3726376"/>
              <a:ext cx="323299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1,000</a:t>
              </a:r>
              <a:endParaRPr lang="ko-KR" altLang="en-US" sz="1000" dirty="0">
                <a:latin typeface="+mn-ea"/>
              </a:endParaRPr>
            </a:p>
          </p:txBody>
        </p:sp>
      </p:grpSp>
      <p:grpSp>
        <p:nvGrpSpPr>
          <p:cNvPr id="92" name="그룹 91"/>
          <p:cNvGrpSpPr/>
          <p:nvPr/>
        </p:nvGrpSpPr>
        <p:grpSpPr>
          <a:xfrm>
            <a:off x="3126434" y="3864784"/>
            <a:ext cx="6517033" cy="153888"/>
            <a:chOff x="3126434" y="3363962"/>
            <a:chExt cx="6517033" cy="153888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extBox 93"/>
            <p:cNvSpPr txBox="1"/>
            <p:nvPr/>
          </p:nvSpPr>
          <p:spPr>
            <a:xfrm>
              <a:off x="3126434" y="3363962"/>
              <a:ext cx="323299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2,000</a:t>
              </a:r>
              <a:endParaRPr lang="ko-KR" altLang="en-US" sz="1000" dirty="0">
                <a:latin typeface="+mn-ea"/>
              </a:endParaRPr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3126434" y="3460653"/>
            <a:ext cx="6517033" cy="153888"/>
            <a:chOff x="3126434" y="3363962"/>
            <a:chExt cx="6517033" cy="153888"/>
          </a:xfrm>
        </p:grpSpPr>
        <p:cxnSp>
          <p:nvCxnSpPr>
            <p:cNvPr id="96" name="직선 연결선 95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/>
            <p:cNvSpPr txBox="1"/>
            <p:nvPr/>
          </p:nvSpPr>
          <p:spPr>
            <a:xfrm>
              <a:off x="3126434" y="3363962"/>
              <a:ext cx="323299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3,000</a:t>
              </a:r>
              <a:endParaRPr lang="ko-KR" altLang="en-US" sz="1000" dirty="0">
                <a:latin typeface="+mn-ea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3126434" y="3056522"/>
            <a:ext cx="6517033" cy="153888"/>
            <a:chOff x="3126434" y="3363962"/>
            <a:chExt cx="6517033" cy="153888"/>
          </a:xfrm>
        </p:grpSpPr>
        <p:cxnSp>
          <p:nvCxnSpPr>
            <p:cNvPr id="99" name="직선 연결선 98"/>
            <p:cNvCxnSpPr/>
            <p:nvPr/>
          </p:nvCxnSpPr>
          <p:spPr>
            <a:xfrm>
              <a:off x="3520480" y="3441839"/>
              <a:ext cx="6122987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TextBox 99"/>
            <p:cNvSpPr txBox="1"/>
            <p:nvPr/>
          </p:nvSpPr>
          <p:spPr>
            <a:xfrm>
              <a:off x="3126434" y="3363962"/>
              <a:ext cx="323299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4,000</a:t>
              </a:r>
              <a:endParaRPr lang="ko-KR" altLang="en-US" sz="1000" dirty="0">
                <a:latin typeface="+mn-ea"/>
              </a:endParaRPr>
            </a:p>
          </p:txBody>
        </p:sp>
      </p:grpSp>
      <p:sp>
        <p:nvSpPr>
          <p:cNvPr id="101" name="직사각형 100"/>
          <p:cNvSpPr/>
          <p:nvPr/>
        </p:nvSpPr>
        <p:spPr>
          <a:xfrm>
            <a:off x="3083451" y="276347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2" name="직사각형 101"/>
          <p:cNvSpPr/>
          <p:nvPr/>
        </p:nvSpPr>
        <p:spPr>
          <a:xfrm>
            <a:off x="3520346" y="2462817"/>
            <a:ext cx="3051951" cy="39376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2016. 04</a:t>
            </a:r>
            <a:r>
              <a:rPr lang="ko-KR" altLang="en-US" sz="1200" b="1">
                <a:solidFill>
                  <a:schemeClr val="tx1"/>
                </a:solidFill>
                <a:latin typeface="+mj-lt"/>
              </a:rPr>
              <a:t>월 </a:t>
            </a:r>
            <a:r>
              <a:rPr lang="en-US" altLang="ko-KR" sz="1200" b="1" dirty="0">
                <a:solidFill>
                  <a:schemeClr val="tx1"/>
                </a:solidFill>
                <a:latin typeface="+mj-lt"/>
              </a:rPr>
              <a:t>Report </a:t>
            </a:r>
            <a:r>
              <a:rPr lang="en-US" altLang="ko-KR" sz="1200" dirty="0">
                <a:solidFill>
                  <a:schemeClr val="tx1"/>
                </a:solidFill>
                <a:latin typeface="+mj-lt"/>
              </a:rPr>
              <a:t>[Monthly]</a:t>
            </a:r>
          </a:p>
        </p:txBody>
      </p:sp>
      <p:pic>
        <p:nvPicPr>
          <p:cNvPr id="112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921905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13" name="차트 112"/>
          <p:cNvGraphicFramePr/>
          <p:nvPr>
            <p:extLst>
              <p:ext uri="{D42A27DB-BD31-4B8C-83A1-F6EECF244321}">
                <p14:modId xmlns:p14="http://schemas.microsoft.com/office/powerpoint/2010/main" val="135137068"/>
              </p:ext>
            </p:extLst>
          </p:nvPr>
        </p:nvGraphicFramePr>
        <p:xfrm>
          <a:off x="3272645" y="5333268"/>
          <a:ext cx="2671048" cy="2521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4" name="TextBox 113"/>
          <p:cNvSpPr txBox="1"/>
          <p:nvPr/>
        </p:nvSpPr>
        <p:spPr>
          <a:xfrm>
            <a:off x="5824736" y="5520712"/>
            <a:ext cx="755015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긴 급 호 출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침 범 상 황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가 </a:t>
            </a:r>
            <a:r>
              <a:rPr lang="ko-KR" altLang="en-US" sz="1100" dirty="0" err="1">
                <a:latin typeface="+mn-ea"/>
              </a:rPr>
              <a:t>스</a:t>
            </a:r>
            <a:r>
              <a:rPr lang="ko-KR" altLang="en-US" sz="1100" dirty="0">
                <a:latin typeface="+mn-ea"/>
              </a:rPr>
              <a:t> 위 험</a:t>
            </a: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심박수 위험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1100" dirty="0">
                <a:latin typeface="+mn-ea"/>
              </a:rPr>
              <a:t>AP </a:t>
            </a:r>
            <a:r>
              <a:rPr lang="ko-KR" altLang="en-US" sz="1100">
                <a:latin typeface="+mn-ea"/>
              </a:rPr>
              <a:t>이상 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1100" dirty="0">
                <a:latin typeface="+mn-ea"/>
              </a:rPr>
              <a:t>배터리 부족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9076649" y="5520712"/>
            <a:ext cx="7085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(41%)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(17%)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(11%)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(29%)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  <a:p>
            <a:pPr>
              <a:lnSpc>
                <a:spcPct val="200000"/>
              </a:lnSpc>
            </a:pPr>
            <a:r>
              <a:rPr lang="en-US" altLang="ko-KR" sz="1100" b="1" dirty="0">
                <a:latin typeface="+mn-ea"/>
              </a:rPr>
              <a:t>1 </a:t>
            </a:r>
            <a:r>
              <a:rPr lang="ko-KR" altLang="en-US" sz="1100" b="1">
                <a:latin typeface="+mn-ea"/>
              </a:rPr>
              <a:t>건 </a:t>
            </a:r>
            <a:r>
              <a:rPr lang="en-US" altLang="ko-KR" sz="1100" b="1" dirty="0">
                <a:latin typeface="+mn-ea"/>
              </a:rPr>
              <a:t>(30%)</a:t>
            </a:r>
          </a:p>
        </p:txBody>
      </p:sp>
      <p:sp>
        <p:nvSpPr>
          <p:cNvPr id="116" name="직사각형 115"/>
          <p:cNvSpPr/>
          <p:nvPr/>
        </p:nvSpPr>
        <p:spPr>
          <a:xfrm>
            <a:off x="6646547" y="5647143"/>
            <a:ext cx="936089" cy="144000"/>
          </a:xfrm>
          <a:prstGeom prst="rect">
            <a:avLst/>
          </a:prstGeom>
          <a:solidFill>
            <a:srgbClr val="5F5F5F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7" name="직사각형 116"/>
          <p:cNvSpPr/>
          <p:nvPr/>
        </p:nvSpPr>
        <p:spPr>
          <a:xfrm>
            <a:off x="6646547" y="5978502"/>
            <a:ext cx="936089" cy="144000"/>
          </a:xfrm>
          <a:prstGeom prst="rect">
            <a:avLst/>
          </a:prstGeom>
          <a:solidFill>
            <a:srgbClr val="B3B3B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6646547" y="6321072"/>
            <a:ext cx="936089" cy="144000"/>
          </a:xfrm>
          <a:prstGeom prst="rect">
            <a:avLst/>
          </a:prstGeom>
          <a:solidFill>
            <a:srgbClr val="898989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19" name="직사각형 118"/>
          <p:cNvSpPr/>
          <p:nvPr/>
        </p:nvSpPr>
        <p:spPr>
          <a:xfrm>
            <a:off x="6646547" y="6660874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20" name="직사각형 119"/>
          <p:cNvSpPr/>
          <p:nvPr/>
        </p:nvSpPr>
        <p:spPr>
          <a:xfrm>
            <a:off x="6646547" y="6965560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sp>
        <p:nvSpPr>
          <p:cNvPr id="121" name="직사각형 120"/>
          <p:cNvSpPr/>
          <p:nvPr/>
        </p:nvSpPr>
        <p:spPr>
          <a:xfrm>
            <a:off x="6646547" y="7314185"/>
            <a:ext cx="936089" cy="144000"/>
          </a:xfrm>
          <a:prstGeom prst="rect">
            <a:avLst/>
          </a:prstGeom>
          <a:solidFill>
            <a:srgbClr val="21212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ko-KR" altLang="en-US" sz="800">
              <a:latin typeface="+mn-ea"/>
            </a:endParaRPr>
          </a:p>
        </p:txBody>
      </p:sp>
      <p:graphicFrame>
        <p:nvGraphicFramePr>
          <p:cNvPr id="122" name="표 1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2956653"/>
              </p:ext>
            </p:extLst>
          </p:nvPr>
        </p:nvGraphicFramePr>
        <p:xfrm>
          <a:off x="10633534" y="1272208"/>
          <a:ext cx="2088232" cy="17639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월단위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년도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월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기준선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=10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최고수치가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1,000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단위의 경우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100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단위로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145216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11061" y="2280321"/>
            <a:ext cx="2590962" cy="584988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endParaRPr lang="ko-KR" altLang="en-US" sz="700" b="1">
              <a:solidFill>
                <a:schemeClr val="bg1">
                  <a:lumMod val="85000"/>
                </a:schemeClr>
              </a:solidFill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083615" y="2627974"/>
            <a:ext cx="124585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◀ </a:t>
            </a:r>
            <a:r>
              <a:rPr lang="en-US" altLang="ko-KR" sz="1400" dirty="0">
                <a:latin typeface="+mn-ea"/>
              </a:rPr>
              <a:t>2016</a:t>
            </a:r>
            <a:r>
              <a:rPr lang="ko-KR" altLang="en-US" sz="1400">
                <a:latin typeface="+mn-ea"/>
              </a:rPr>
              <a:t>년 ▶</a:t>
            </a:r>
          </a:p>
        </p:txBody>
      </p:sp>
      <p:sp>
        <p:nvSpPr>
          <p:cNvPr id="4" name="Calendar Background"/>
          <p:cNvSpPr>
            <a:spLocks/>
          </p:cNvSpPr>
          <p:nvPr/>
        </p:nvSpPr>
        <p:spPr bwMode="auto">
          <a:xfrm>
            <a:off x="576983" y="2970385"/>
            <a:ext cx="2259118" cy="1551568"/>
          </a:xfrm>
          <a:prstGeom prst="roundRect">
            <a:avLst>
              <a:gd name="adj" fmla="val 1539"/>
            </a:avLst>
          </a:prstGeom>
          <a:solidFill>
            <a:schemeClr val="bg1"/>
          </a:solidFill>
          <a:ln w="63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3025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276379" y="2280320"/>
            <a:ext cx="860114" cy="28761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주단위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141909" y="2280320"/>
            <a:ext cx="860114" cy="28761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</a:rPr>
              <a:t>월단위</a:t>
            </a:r>
            <a:endParaRPr lang="en-US" altLang="ko-KR" sz="9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76983" y="5088632"/>
            <a:ext cx="75501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입실자</a:t>
            </a:r>
            <a:endParaRPr lang="en-US" altLang="ko-KR" sz="11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100" dirty="0">
                <a:latin typeface="+mn-ea"/>
              </a:rPr>
              <a:t>전체 퇴실자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90466" y="5088632"/>
            <a:ext cx="445635" cy="50783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14,245</a:t>
            </a:r>
          </a:p>
          <a:p>
            <a:pPr algn="r">
              <a:lnSpc>
                <a:spcPct val="150000"/>
              </a:lnSpc>
            </a:pPr>
            <a:r>
              <a:rPr lang="en-US" altLang="ko-KR" sz="1100" b="1" dirty="0">
                <a:latin typeface="+mn-ea"/>
              </a:rPr>
              <a:t>14,577</a:t>
            </a:r>
            <a:endParaRPr lang="ko-KR" altLang="en-US" sz="1100" b="1" dirty="0"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94616" y="5673340"/>
            <a:ext cx="68608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긴 급 호 출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침 범 상 황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가 </a:t>
            </a:r>
            <a:r>
              <a:rPr lang="ko-KR" altLang="en-US" sz="1000" b="1" dirty="0" err="1">
                <a:latin typeface="+mn-ea"/>
              </a:rPr>
              <a:t>스</a:t>
            </a:r>
            <a:r>
              <a:rPr lang="ko-KR" altLang="en-US" sz="1000" b="1" dirty="0">
                <a:latin typeface="+mn-ea"/>
              </a:rPr>
              <a:t> 위 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심박수 위험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en-US" altLang="ko-KR" sz="1000" b="1" dirty="0">
                <a:latin typeface="+mn-ea"/>
              </a:rPr>
              <a:t>AP </a:t>
            </a:r>
            <a:r>
              <a:rPr lang="ko-KR" altLang="en-US" sz="1000" b="1">
                <a:latin typeface="+mn-ea"/>
              </a:rPr>
              <a:t>이상</a:t>
            </a:r>
            <a:endParaRPr lang="en-US" altLang="ko-KR" sz="1000" b="1" dirty="0">
              <a:latin typeface="+mn-ea"/>
            </a:endParaRPr>
          </a:p>
          <a:p>
            <a:pPr algn="dist">
              <a:lnSpc>
                <a:spcPct val="150000"/>
              </a:lnSpc>
            </a:pPr>
            <a:r>
              <a:rPr lang="ko-KR" altLang="en-US" sz="1000" b="1" dirty="0">
                <a:latin typeface="+mn-ea"/>
              </a:rPr>
              <a:t>배터리 부족</a:t>
            </a:r>
            <a:endParaRPr lang="en-US" altLang="ko-KR" sz="1000" b="1" dirty="0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709126" y="5673340"/>
            <a:ext cx="1126975" cy="138499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</a:p>
          <a:p>
            <a:pPr algn="r"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미해결 </a:t>
            </a:r>
            <a:r>
              <a:rPr lang="en-US" altLang="ko-KR" sz="1000" dirty="0">
                <a:latin typeface="+mn-ea"/>
              </a:rPr>
              <a:t>0  |  </a:t>
            </a:r>
            <a:r>
              <a:rPr lang="ko-KR" altLang="en-US" sz="1000">
                <a:latin typeface="+mn-ea"/>
              </a:rPr>
              <a:t>해결  </a:t>
            </a:r>
            <a:r>
              <a:rPr lang="en-US" altLang="ko-KR" sz="1000" dirty="0">
                <a:latin typeface="+mn-ea"/>
              </a:rPr>
              <a:t>1</a:t>
            </a:r>
            <a:endParaRPr lang="en-US" altLang="ko-KR" sz="1000" b="1" dirty="0">
              <a:latin typeface="+mn-ea"/>
            </a:endParaRPr>
          </a:p>
        </p:txBody>
      </p:sp>
      <p:cxnSp>
        <p:nvCxnSpPr>
          <p:cNvPr id="13" name="직선 연결선 12"/>
          <p:cNvCxnSpPr/>
          <p:nvPr/>
        </p:nvCxnSpPr>
        <p:spPr>
          <a:xfrm>
            <a:off x="576983" y="5607068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576983" y="7176864"/>
            <a:ext cx="222341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576983" y="7207185"/>
            <a:ext cx="85600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1050" dirty="0">
                <a:latin typeface="+mn-ea"/>
              </a:rPr>
              <a:t>전체 위험상황</a:t>
            </a:r>
            <a:endParaRPr lang="en-US" altLang="ko-KR" sz="1050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579347" y="7207185"/>
            <a:ext cx="1256754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1050" b="1" dirty="0">
                <a:latin typeface="+mn-ea"/>
              </a:rPr>
              <a:t>미해결  </a:t>
            </a:r>
            <a:r>
              <a:rPr lang="en-US" altLang="ko-KR" sz="1050" b="1" dirty="0">
                <a:latin typeface="+mn-ea"/>
              </a:rPr>
              <a:t>0  |  </a:t>
            </a:r>
            <a:r>
              <a:rPr lang="ko-KR" altLang="en-US" sz="1050" b="1">
                <a:latin typeface="+mn-ea"/>
              </a:rPr>
              <a:t>해결  </a:t>
            </a:r>
            <a:r>
              <a:rPr lang="en-US" altLang="ko-KR" sz="1050" b="1" dirty="0">
                <a:latin typeface="+mn-ea"/>
              </a:rPr>
              <a:t>4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576984" y="4606103"/>
            <a:ext cx="2259118" cy="40261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000" dirty="0">
                <a:solidFill>
                  <a:schemeClr val="bg1"/>
                </a:solidFill>
                <a:latin typeface="+mn-ea"/>
              </a:rPr>
              <a:t>6</a:t>
            </a:r>
            <a:r>
              <a:rPr lang="ko-KR" altLang="en-US" sz="1000">
                <a:solidFill>
                  <a:schemeClr val="bg1"/>
                </a:solidFill>
                <a:latin typeface="+mn-ea"/>
              </a:rPr>
              <a:t>월 가스위험 대피훈련</a:t>
            </a:r>
            <a:endParaRPr lang="en-US" altLang="ko-KR" sz="1000" dirty="0">
              <a:solidFill>
                <a:schemeClr val="bg1"/>
              </a:solidFill>
              <a:latin typeface="+mn-ea"/>
            </a:endParaRPr>
          </a:p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n-ea"/>
              </a:rPr>
              <a:t>16.04.12.~16.04.14</a:t>
            </a:r>
          </a:p>
        </p:txBody>
      </p:sp>
      <p:grpSp>
        <p:nvGrpSpPr>
          <p:cNvPr id="18" name="그룹 17"/>
          <p:cNvGrpSpPr/>
          <p:nvPr/>
        </p:nvGrpSpPr>
        <p:grpSpPr>
          <a:xfrm>
            <a:off x="536105" y="7682946"/>
            <a:ext cx="2316207" cy="286006"/>
            <a:chOff x="519894" y="8471435"/>
            <a:chExt cx="3048463" cy="286006"/>
          </a:xfrm>
        </p:grpSpPr>
        <p:sp>
          <p:nvSpPr>
            <p:cNvPr id="19" name="직사각형 18"/>
            <p:cNvSpPr/>
            <p:nvPr/>
          </p:nvSpPr>
          <p:spPr>
            <a:xfrm>
              <a:off x="519894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이메일로 보내기</a:t>
              </a: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072701" y="8471435"/>
              <a:ext cx="1495656" cy="2860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엑셀파일 다운로드</a:t>
              </a:r>
            </a:p>
          </p:txBody>
        </p:sp>
      </p:grpSp>
      <p:sp>
        <p:nvSpPr>
          <p:cNvPr id="28" name="Today Background"/>
          <p:cNvSpPr>
            <a:spLocks noChangeArrowheads="1"/>
          </p:cNvSpPr>
          <p:nvPr/>
        </p:nvSpPr>
        <p:spPr bwMode="auto">
          <a:xfrm>
            <a:off x="2372498" y="3189676"/>
            <a:ext cx="444378" cy="32613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9" name="TextBox 28"/>
          <p:cNvSpPr txBox="1"/>
          <p:nvPr/>
        </p:nvSpPr>
        <p:spPr>
          <a:xfrm>
            <a:off x="736519" y="3214390"/>
            <a:ext cx="1980714" cy="11541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en-US" altLang="ko-KR" sz="1000" dirty="0"/>
              <a:t>1</a:t>
            </a:r>
            <a:r>
              <a:rPr lang="ko-KR" altLang="en-US" sz="1000"/>
              <a:t>월  </a:t>
            </a:r>
            <a:r>
              <a:rPr lang="en-US" altLang="ko-KR" sz="1000" dirty="0"/>
              <a:t>2</a:t>
            </a:r>
            <a:r>
              <a:rPr lang="ko-KR" altLang="en-US" sz="1000"/>
              <a:t>월  </a:t>
            </a:r>
            <a:r>
              <a:rPr lang="en-US" altLang="ko-KR" sz="1000" dirty="0"/>
              <a:t>3</a:t>
            </a:r>
            <a:r>
              <a:rPr lang="ko-KR" altLang="en-US" sz="1000"/>
              <a:t>월  </a:t>
            </a:r>
            <a:r>
              <a:rPr lang="en-US" altLang="ko-KR" sz="1000" b="1" dirty="0">
                <a:solidFill>
                  <a:schemeClr val="bg1"/>
                </a:solidFill>
              </a:rPr>
              <a:t>4</a:t>
            </a:r>
            <a:r>
              <a:rPr lang="ko-KR" altLang="en-US" sz="1000" b="1">
                <a:solidFill>
                  <a:schemeClr val="bg1"/>
                </a:solidFill>
              </a:rPr>
              <a:t>월</a:t>
            </a:r>
            <a:endParaRPr lang="en-US" altLang="ko-KR" sz="1000" b="1" dirty="0">
              <a:solidFill>
                <a:schemeClr val="bg1"/>
              </a:solidFill>
            </a:endParaRPr>
          </a:p>
          <a:p>
            <a:pPr algn="dist">
              <a:lnSpc>
                <a:spcPct val="150000"/>
              </a:lnSpc>
            </a:pPr>
            <a:endParaRPr lang="en-US" altLang="ko-KR" sz="1000" dirty="0"/>
          </a:p>
          <a:p>
            <a:pPr algn="dist">
              <a:lnSpc>
                <a:spcPct val="150000"/>
              </a:lnSpc>
            </a:pPr>
            <a:r>
              <a:rPr lang="en-US" altLang="ko-KR" sz="1000" dirty="0"/>
              <a:t>5</a:t>
            </a:r>
            <a:r>
              <a:rPr lang="ko-KR" altLang="en-US" sz="1000"/>
              <a:t>월  </a:t>
            </a:r>
            <a:r>
              <a:rPr lang="en-US" altLang="ko-KR" sz="1000" dirty="0"/>
              <a:t>6</a:t>
            </a:r>
            <a:r>
              <a:rPr lang="ko-KR" altLang="en-US" sz="1000"/>
              <a:t>월  </a:t>
            </a:r>
            <a:r>
              <a:rPr lang="en-US" altLang="ko-KR" sz="1000" dirty="0"/>
              <a:t>7</a:t>
            </a:r>
            <a:r>
              <a:rPr lang="ko-KR" altLang="en-US" sz="1000"/>
              <a:t>월  </a:t>
            </a:r>
            <a:r>
              <a:rPr lang="en-US" altLang="ko-KR" sz="1000" dirty="0"/>
              <a:t>8</a:t>
            </a:r>
            <a:r>
              <a:rPr lang="ko-KR" altLang="en-US" sz="1000"/>
              <a:t>월</a:t>
            </a:r>
            <a:endParaRPr lang="en-US" altLang="ko-KR" sz="1000" dirty="0"/>
          </a:p>
          <a:p>
            <a:pPr algn="dist">
              <a:lnSpc>
                <a:spcPct val="150000"/>
              </a:lnSpc>
            </a:pPr>
            <a:endParaRPr lang="en-US" altLang="ko-KR" sz="1000" dirty="0"/>
          </a:p>
          <a:p>
            <a:pPr algn="dist">
              <a:lnSpc>
                <a:spcPct val="150000"/>
              </a:lnSpc>
            </a:pPr>
            <a:r>
              <a:rPr lang="en-US" altLang="ko-KR" sz="1000" dirty="0"/>
              <a:t>9</a:t>
            </a:r>
            <a:r>
              <a:rPr lang="ko-KR" altLang="en-US" sz="1000"/>
              <a:t>월 </a:t>
            </a:r>
            <a:r>
              <a:rPr lang="en-US" altLang="ko-KR" sz="1000" dirty="0"/>
              <a:t>10</a:t>
            </a:r>
            <a:r>
              <a:rPr lang="ko-KR" altLang="en-US" sz="1000"/>
              <a:t>월 </a:t>
            </a:r>
            <a:r>
              <a:rPr lang="en-US" altLang="ko-KR" sz="1000" dirty="0"/>
              <a:t>11</a:t>
            </a:r>
            <a:r>
              <a:rPr lang="ko-KR" altLang="en-US" sz="1000"/>
              <a:t>월 </a:t>
            </a:r>
            <a:r>
              <a:rPr lang="en-US" altLang="ko-KR" sz="1000" dirty="0"/>
              <a:t>12</a:t>
            </a:r>
            <a:r>
              <a:rPr lang="ko-KR" altLang="en-US" sz="1000"/>
              <a:t>월</a:t>
            </a:r>
            <a:endParaRPr lang="en-US" altLang="ko-KR" sz="1000" dirty="0"/>
          </a:p>
        </p:txBody>
      </p:sp>
      <p:sp>
        <p:nvSpPr>
          <p:cNvPr id="123" name="직사각형 122"/>
          <p:cNvSpPr/>
          <p:nvPr/>
        </p:nvSpPr>
        <p:spPr>
          <a:xfrm>
            <a:off x="399183" y="465722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5585843" y="3006987"/>
            <a:ext cx="1987650" cy="583646"/>
          </a:xfrm>
          <a:prstGeom prst="roundRect">
            <a:avLst>
              <a:gd name="adj" fmla="val 0"/>
            </a:avLst>
          </a:prstGeom>
          <a:solidFill>
            <a:srgbClr val="34AADA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대피자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598 </a:t>
            </a:r>
            <a:r>
              <a:rPr lang="ko-KR" altLang="en-US" sz="20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8" name="모서리가 둥근 직사각형 137"/>
          <p:cNvSpPr/>
          <p:nvPr/>
        </p:nvSpPr>
        <p:spPr>
          <a:xfrm>
            <a:off x="3520348" y="3004731"/>
            <a:ext cx="1987650" cy="584477"/>
          </a:xfrm>
          <a:prstGeom prst="roundRect">
            <a:avLst>
              <a:gd name="adj" fmla="val 0"/>
            </a:avLst>
          </a:prstGeom>
          <a:solidFill>
            <a:srgbClr val="FF604F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미대피자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 </a:t>
            </a:r>
            <a:r>
              <a:rPr lang="ko-KR" altLang="en-US" sz="20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모서리가 둥근 직사각형 138"/>
          <p:cNvSpPr/>
          <p:nvPr/>
        </p:nvSpPr>
        <p:spPr>
          <a:xfrm>
            <a:off x="7655817" y="3006987"/>
            <a:ext cx="1987650" cy="583646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재난발생 시간</a:t>
            </a:r>
            <a:endParaRPr lang="en-US" altLang="ko-KR" sz="12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62:30:21</a:t>
            </a:r>
            <a:endParaRPr lang="ko-KR" altLang="en-US" sz="6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40" name="직선 연결선 139"/>
          <p:cNvCxnSpPr/>
          <p:nvPr/>
        </p:nvCxnSpPr>
        <p:spPr>
          <a:xfrm>
            <a:off x="3520480" y="4180209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1" name="표 1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9723649"/>
              </p:ext>
            </p:extLst>
          </p:nvPr>
        </p:nvGraphicFramePr>
        <p:xfrm>
          <a:off x="3520348" y="4282155"/>
          <a:ext cx="6123121" cy="3526453"/>
        </p:xfrm>
        <a:graphic>
          <a:graphicData uri="http://schemas.openxmlformats.org/drawingml/2006/table">
            <a:tbl>
              <a:tblPr/>
              <a:tblGrid>
                <a:gridCol w="5571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1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13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687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994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이름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등급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최종 입실일시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재해일시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대피일시 ▲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미대피자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 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미대피자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60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작업자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67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15:20:20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42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50632" b="-1"/>
          <a:stretch/>
        </p:blipFill>
        <p:spPr bwMode="auto">
          <a:xfrm>
            <a:off x="3290306" y="7870643"/>
            <a:ext cx="6638885" cy="1966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43" name="직선 연결선 142"/>
          <p:cNvCxnSpPr/>
          <p:nvPr/>
        </p:nvCxnSpPr>
        <p:spPr>
          <a:xfrm>
            <a:off x="9659006" y="4710492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/>
          <p:cNvCxnSpPr/>
          <p:nvPr/>
        </p:nvCxnSpPr>
        <p:spPr>
          <a:xfrm>
            <a:off x="3520480" y="2847203"/>
            <a:ext cx="612298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직사각형 144"/>
          <p:cNvSpPr/>
          <p:nvPr/>
        </p:nvSpPr>
        <p:spPr>
          <a:xfrm>
            <a:off x="3290306" y="300473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6" name="직사각형 145"/>
          <p:cNvSpPr/>
          <p:nvPr/>
        </p:nvSpPr>
        <p:spPr>
          <a:xfrm>
            <a:off x="6572297" y="2452016"/>
            <a:ext cx="3051951" cy="3937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lvl="0" algn="ctr"/>
            <a:r>
              <a:rPr lang="en-US" altLang="ko-KR" sz="1200" b="1" dirty="0">
                <a:solidFill>
                  <a:schemeClr val="bg1"/>
                </a:solidFill>
                <a:latin typeface="+mj-lt"/>
              </a:rPr>
              <a:t>2016.04.12.~14. Report</a:t>
            </a:r>
            <a:r>
              <a:rPr lang="en-US" altLang="ko-KR" sz="1200" dirty="0">
                <a:solidFill>
                  <a:schemeClr val="bg1"/>
                </a:solidFill>
                <a:latin typeface="+mj-lt"/>
              </a:rPr>
              <a:t> [Disaster state]</a:t>
            </a:r>
          </a:p>
        </p:txBody>
      </p:sp>
      <p:sp>
        <p:nvSpPr>
          <p:cNvPr id="147" name="직사각형 146"/>
          <p:cNvSpPr/>
          <p:nvPr/>
        </p:nvSpPr>
        <p:spPr>
          <a:xfrm>
            <a:off x="8009372" y="224641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3468106" y="3656989"/>
            <a:ext cx="50305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/>
              <a:t>6</a:t>
            </a:r>
            <a:r>
              <a:rPr lang="ko-KR" altLang="en-US" sz="1400"/>
              <a:t>월 가스위험 대피훈련</a:t>
            </a:r>
            <a:endParaRPr lang="en-US" altLang="ko-KR" sz="1400" dirty="0"/>
          </a:p>
          <a:p>
            <a:r>
              <a:rPr lang="ko-KR" altLang="en-US" sz="1400"/>
              <a:t>재난발생 </a:t>
            </a:r>
            <a:r>
              <a:rPr lang="ko-KR" altLang="en-US" sz="1400" dirty="0"/>
              <a:t>기간 </a:t>
            </a:r>
            <a:r>
              <a:rPr lang="en-US" altLang="ko-KR" sz="1400" dirty="0"/>
              <a:t>: 2016.04.12 13:32:23 ~ 2016.04.14  12:30:02</a:t>
            </a:r>
            <a:endParaRPr lang="ko-KR" altLang="en-US" sz="1400"/>
          </a:p>
        </p:txBody>
      </p:sp>
      <p:sp>
        <p:nvSpPr>
          <p:cNvPr id="149" name="직사각형 148"/>
          <p:cNvSpPr/>
          <p:nvPr/>
        </p:nvSpPr>
        <p:spPr>
          <a:xfrm>
            <a:off x="3290306" y="37206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50" name="표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8343818"/>
              </p:ext>
            </p:extLst>
          </p:nvPr>
        </p:nvGraphicFramePr>
        <p:xfrm>
          <a:off x="10633534" y="1272208"/>
          <a:ext cx="2088232" cy="12763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비상선포기간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비상선포기간 중 미대피자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대피자 내용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재난명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재난발생기간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미대피자는 최 상단으로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1" name="직사각형 150"/>
          <p:cNvSpPr/>
          <p:nvPr/>
        </p:nvSpPr>
        <p:spPr>
          <a:xfrm>
            <a:off x="8409750" y="480428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8718390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EVENT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8900963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24136" y="205916"/>
            <a:ext cx="3294492" cy="477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/>
              <a:t>이벤트 발생 시나리오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00515" y="2928392"/>
            <a:ext cx="3366135" cy="2671763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2168" y="2928392"/>
            <a:ext cx="3357563" cy="2674620"/>
          </a:xfrm>
          <a:prstGeom prst="rect">
            <a:avLst/>
          </a:prstGeom>
        </p:spPr>
      </p:pic>
      <p:sp>
        <p:nvSpPr>
          <p:cNvPr id="5" name="직사각형 4"/>
          <p:cNvSpPr/>
          <p:nvPr/>
        </p:nvSpPr>
        <p:spPr>
          <a:xfrm>
            <a:off x="4600600" y="3061217"/>
            <a:ext cx="3168352" cy="2376264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/>
          <a:lstStyle/>
          <a:p>
            <a:pPr algn="ctr"/>
            <a:endParaRPr lang="ko-KR" altLang="en-US" sz="24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5392688" y="3546637"/>
            <a:ext cx="1584176" cy="1602812"/>
          </a:xfrm>
          <a:prstGeom prst="rect">
            <a:avLst/>
          </a:prstGeom>
          <a:solidFill>
            <a:schemeClr val="bg1">
              <a:alpha val="3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/>
              <a:t>이벤트 팝업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17711" y="2666782"/>
            <a:ext cx="214647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b="1" dirty="0"/>
              <a:t>1. </a:t>
            </a:r>
            <a:r>
              <a:rPr lang="ko-KR" altLang="en-US" sz="1050" b="1"/>
              <a:t>비상상황 발생 이벤트 내용</a:t>
            </a:r>
            <a:endParaRPr lang="ko-KR" altLang="en-US" sz="1050" b="1" dirty="0"/>
          </a:p>
        </p:txBody>
      </p:sp>
      <p:sp>
        <p:nvSpPr>
          <p:cNvPr id="8" name="TextBox 7"/>
          <p:cNvSpPr txBox="1"/>
          <p:nvPr/>
        </p:nvSpPr>
        <p:spPr>
          <a:xfrm>
            <a:off x="5110344" y="2666782"/>
            <a:ext cx="214647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b="1" dirty="0"/>
              <a:t>2. </a:t>
            </a:r>
            <a:r>
              <a:rPr lang="ko-KR" altLang="en-US" sz="1050" b="1"/>
              <a:t>해당 위치의 정보 출력</a:t>
            </a:r>
            <a:endParaRPr lang="ko-KR" altLang="en-US" sz="1050" b="1" dirty="0"/>
          </a:p>
        </p:txBody>
      </p:sp>
      <p:sp>
        <p:nvSpPr>
          <p:cNvPr id="10" name="TextBox 9"/>
          <p:cNvSpPr txBox="1"/>
          <p:nvPr/>
        </p:nvSpPr>
        <p:spPr>
          <a:xfrm>
            <a:off x="8658738" y="3990931"/>
            <a:ext cx="3340979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100" dirty="0"/>
              <a:t>출입 현황 화면</a:t>
            </a:r>
            <a:br>
              <a:rPr lang="en-US" altLang="ko-KR" sz="1100" dirty="0"/>
            </a:br>
            <a:r>
              <a:rPr lang="en-US" altLang="ko-KR" sz="1100" dirty="0"/>
              <a:t>- </a:t>
            </a:r>
            <a:r>
              <a:rPr lang="ko-KR" altLang="en-US" sz="1100"/>
              <a:t>침범상황 </a:t>
            </a:r>
            <a:r>
              <a:rPr lang="en-US" altLang="ko-KR" sz="1100" dirty="0"/>
              <a:t>: </a:t>
            </a:r>
            <a:r>
              <a:rPr lang="ko-KR" altLang="en-US" sz="1100"/>
              <a:t>침범위치 붉은색 표기 </a:t>
            </a:r>
            <a:r>
              <a:rPr lang="en-US" altLang="ko-KR" sz="1100" dirty="0"/>
              <a:t>+</a:t>
            </a:r>
            <a:r>
              <a:rPr lang="ko-KR" altLang="en-US" sz="1100"/>
              <a:t> 팝업 출력</a:t>
            </a:r>
            <a:br>
              <a:rPr lang="en-US" altLang="ko-KR" sz="1100" dirty="0"/>
            </a:br>
            <a:r>
              <a:rPr lang="en-US" altLang="ko-KR" sz="1100" dirty="0"/>
              <a:t>- Tag Emergency : Tag </a:t>
            </a:r>
            <a:r>
              <a:rPr lang="ko-KR" altLang="en-US" sz="1100"/>
              <a:t>위치 </a:t>
            </a:r>
            <a:r>
              <a:rPr lang="en-US" altLang="ko-KR" sz="1100" dirty="0"/>
              <a:t>+</a:t>
            </a:r>
            <a:r>
              <a:rPr lang="ko-KR" altLang="en-US" sz="1100"/>
              <a:t> 팝업 출력</a:t>
            </a:r>
            <a:br>
              <a:rPr lang="en-US" altLang="ko-KR" sz="1100" dirty="0"/>
            </a:br>
            <a:endParaRPr lang="en-US" altLang="ko-KR" sz="11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100" dirty="0"/>
              <a:t>센서 현황 화면 </a:t>
            </a:r>
            <a:br>
              <a:rPr lang="en-US" altLang="ko-KR" sz="1100" dirty="0"/>
            </a:br>
            <a:r>
              <a:rPr lang="en-US" altLang="ko-KR" sz="1100" dirty="0"/>
              <a:t>- </a:t>
            </a:r>
            <a:r>
              <a:rPr lang="ko-KR" altLang="en-US" sz="1100"/>
              <a:t>가스위험 </a:t>
            </a:r>
            <a:r>
              <a:rPr lang="en-US" altLang="ko-KR" sz="1100" dirty="0"/>
              <a:t>: </a:t>
            </a:r>
            <a:r>
              <a:rPr lang="ko-KR" altLang="en-US" sz="1100"/>
              <a:t>가스위험 지역 붉은색 표기 </a:t>
            </a:r>
            <a:r>
              <a:rPr lang="en-US" altLang="ko-KR" sz="1100" dirty="0"/>
              <a:t>+ </a:t>
            </a:r>
            <a:r>
              <a:rPr lang="ko-KR" altLang="en-US" sz="1100"/>
              <a:t>팝업</a:t>
            </a:r>
            <a:br>
              <a:rPr lang="en-US" altLang="ko-KR" sz="1100" dirty="0"/>
            </a:br>
            <a:r>
              <a:rPr lang="en-US" altLang="ko-KR" sz="1100" dirty="0"/>
              <a:t>- </a:t>
            </a:r>
            <a:r>
              <a:rPr lang="ko-KR" altLang="en-US" sz="1100"/>
              <a:t>밴드위험 </a:t>
            </a:r>
            <a:r>
              <a:rPr lang="en-US" altLang="ko-KR" sz="1100" dirty="0"/>
              <a:t>: </a:t>
            </a:r>
            <a:r>
              <a:rPr lang="ko-KR" altLang="en-US" sz="1100"/>
              <a:t>밴드 위치 붉은색 표기 </a:t>
            </a:r>
            <a:r>
              <a:rPr lang="en-US" altLang="ko-KR" sz="1100" dirty="0"/>
              <a:t>+ </a:t>
            </a:r>
            <a:r>
              <a:rPr lang="ko-KR" altLang="en-US" sz="1100"/>
              <a:t>팝업</a:t>
            </a:r>
            <a:br>
              <a:rPr lang="en-US" altLang="ko-KR" sz="1100" dirty="0"/>
            </a:br>
            <a:r>
              <a:rPr lang="en-US" altLang="ko-KR" sz="1100" dirty="0"/>
              <a:t>- Band Emergency : Band </a:t>
            </a:r>
            <a:r>
              <a:rPr lang="ko-KR" altLang="en-US" sz="1100"/>
              <a:t>위치 </a:t>
            </a:r>
            <a:r>
              <a:rPr lang="en-US" altLang="ko-KR" sz="1100" dirty="0"/>
              <a:t>+ </a:t>
            </a:r>
            <a:r>
              <a:rPr lang="ko-KR" altLang="en-US" sz="1100"/>
              <a:t>팝업</a:t>
            </a:r>
            <a:endParaRPr lang="ko-KR" altLang="en-US" sz="1100" dirty="0"/>
          </a:p>
        </p:txBody>
      </p:sp>
    </p:spTree>
    <p:extLst>
      <p:ext uri="{BB962C8B-B14F-4D97-AF65-F5344CB8AC3E}">
        <p14:creationId xmlns:p14="http://schemas.microsoft.com/office/powerpoint/2010/main" val="271428730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409129" y="4145138"/>
            <a:ext cx="9717460" cy="1826146"/>
          </a:xfrm>
          <a:prstGeom prst="rect">
            <a:avLst/>
          </a:prstGeom>
          <a:solidFill>
            <a:srgbClr val="FF0000">
              <a:alpha val="55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72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4</a:t>
            </a:r>
            <a:r>
              <a:rPr lang="ko-KR" altLang="en-US" sz="720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층 </a:t>
            </a:r>
            <a:r>
              <a:rPr lang="en-US" altLang="ko-KR" sz="72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E-3</a:t>
            </a:r>
          </a:p>
          <a:p>
            <a:pPr algn="ctr"/>
            <a:r>
              <a:rPr lang="ko-KR" altLang="en-US" sz="32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침범발생 발생</a:t>
            </a:r>
          </a:p>
        </p:txBody>
      </p:sp>
    </p:spTree>
    <p:extLst>
      <p:ext uri="{BB962C8B-B14F-4D97-AF65-F5344CB8AC3E}">
        <p14:creationId xmlns:p14="http://schemas.microsoft.com/office/powerpoint/2010/main" val="177183015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10705" y="2317309"/>
            <a:ext cx="9716677" cy="5832778"/>
            <a:chOff x="410705" y="2317309"/>
            <a:chExt cx="9716677" cy="5832778"/>
          </a:xfrm>
        </p:grpSpPr>
        <p:sp>
          <p:nvSpPr>
            <p:cNvPr id="2" name="직사각형 1"/>
            <p:cNvSpPr/>
            <p:nvPr/>
          </p:nvSpPr>
          <p:spPr>
            <a:xfrm>
              <a:off x="410705" y="2317309"/>
              <a:ext cx="1439999" cy="1331163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498354" y="2840155"/>
              <a:ext cx="816662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000" dirty="0">
                  <a:latin typeface="+mn-ea"/>
                </a:rPr>
                <a:t>임직원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상시 방문자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일일 방문자</a:t>
              </a:r>
            </a:p>
          </p:txBody>
        </p:sp>
        <p:sp>
          <p:nvSpPr>
            <p:cNvPr id="4" name="직사각형 3"/>
            <p:cNvSpPr/>
            <p:nvPr/>
          </p:nvSpPr>
          <p:spPr>
            <a:xfrm>
              <a:off x="498354" y="2396305"/>
              <a:ext cx="1278520" cy="22823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b="1" dirty="0">
                  <a:latin typeface="+mn-ea"/>
                </a:rPr>
                <a:t>전체보기</a:t>
              </a: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1315016" y="2840155"/>
              <a:ext cx="461858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500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300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150</a:t>
              </a:r>
              <a:endParaRPr lang="ko-KR" altLang="en-US" sz="1000" dirty="0">
                <a:latin typeface="+mn-ea"/>
              </a:endParaRPr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410705" y="3648472"/>
              <a:ext cx="1439999" cy="175322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498354" y="4171318"/>
              <a:ext cx="816662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000" dirty="0">
                  <a:latin typeface="+mn-ea"/>
                </a:rPr>
                <a:t>임직원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상시 방문자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일일 방문자</a:t>
              </a:r>
            </a:p>
          </p:txBody>
        </p:sp>
        <p:sp>
          <p:nvSpPr>
            <p:cNvPr id="8" name="직사각형 7"/>
            <p:cNvSpPr/>
            <p:nvPr/>
          </p:nvSpPr>
          <p:spPr>
            <a:xfrm>
              <a:off x="498354" y="3727468"/>
              <a:ext cx="1278520" cy="22823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b="1" dirty="0">
                  <a:latin typeface="+mn-ea"/>
                </a:rPr>
                <a:t>제 </a:t>
              </a:r>
              <a:r>
                <a:rPr lang="en-US" altLang="ko-KR" sz="800" b="1" dirty="0">
                  <a:latin typeface="+mn-ea"/>
                </a:rPr>
                <a:t>00 </a:t>
              </a:r>
              <a:r>
                <a:rPr lang="ko-KR" altLang="en-US" sz="800" b="1">
                  <a:latin typeface="+mn-ea"/>
                </a:rPr>
                <a:t>공장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315016" y="4171318"/>
              <a:ext cx="461858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500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300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150</a:t>
              </a:r>
              <a:endParaRPr lang="ko-KR" altLang="en-US" sz="1000" dirty="0">
                <a:latin typeface="+mn-ea"/>
              </a:endParaRPr>
            </a:p>
          </p:txBody>
        </p:sp>
        <p:pic>
          <p:nvPicPr>
            <p:cNvPr id="10" name="Picture 2" descr="http://ph.kyeonggi.com/news/photo/201508/1011511_927122_1241.jpg"/>
            <p:cNvPicPr>
              <a:picLocks noChangeAspect="1" noChangeArrowheads="1"/>
            </p:cNvPicPr>
            <p:nvPr/>
          </p:nvPicPr>
          <p:blipFill rotWithShape="1">
            <a:blip r:embed="rId2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840" b="7824"/>
            <a:stretch/>
          </p:blipFill>
          <p:spPr bwMode="auto">
            <a:xfrm>
              <a:off x="1858617" y="2352329"/>
              <a:ext cx="8268765" cy="57878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" name="모서리가 둥근 사각형 설명선 10"/>
            <p:cNvSpPr/>
            <p:nvPr/>
          </p:nvSpPr>
          <p:spPr>
            <a:xfrm>
              <a:off x="2805621" y="4338731"/>
              <a:ext cx="1656184" cy="936104"/>
            </a:xfrm>
            <a:prstGeom prst="wedgeRoundRectCallout">
              <a:avLst>
                <a:gd name="adj1" fmla="val 70106"/>
                <a:gd name="adj2" fmla="val 53620"/>
                <a:gd name="adj3" fmla="val 16667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  <p:sp>
          <p:nvSpPr>
            <p:cNvPr id="12" name="모서리가 둥근 사각형 설명선 11"/>
            <p:cNvSpPr/>
            <p:nvPr/>
          </p:nvSpPr>
          <p:spPr>
            <a:xfrm>
              <a:off x="4106359" y="3248391"/>
              <a:ext cx="1656184" cy="936104"/>
            </a:xfrm>
            <a:prstGeom prst="wedgeRoundRectCallout">
              <a:avLst>
                <a:gd name="adj1" fmla="val 56380"/>
                <a:gd name="adj2" fmla="val 71257"/>
                <a:gd name="adj3" fmla="val 16667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  <p:sp>
          <p:nvSpPr>
            <p:cNvPr id="13" name="모서리가 둥근 사각형 설명선 12"/>
            <p:cNvSpPr/>
            <p:nvPr/>
          </p:nvSpPr>
          <p:spPr>
            <a:xfrm>
              <a:off x="7918189" y="5636620"/>
              <a:ext cx="1656184" cy="936104"/>
            </a:xfrm>
            <a:prstGeom prst="wedgeRoundRectCallout">
              <a:avLst>
                <a:gd name="adj1" fmla="val -55960"/>
                <a:gd name="adj2" fmla="val 82111"/>
                <a:gd name="adj3" fmla="val 16667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  <p:sp>
          <p:nvSpPr>
            <p:cNvPr id="14" name="모서리가 둥근 사각형 설명선 13"/>
            <p:cNvSpPr/>
            <p:nvPr/>
          </p:nvSpPr>
          <p:spPr>
            <a:xfrm>
              <a:off x="6077295" y="4532955"/>
              <a:ext cx="1656184" cy="936104"/>
            </a:xfrm>
            <a:prstGeom prst="wedgeRoundRectCallout">
              <a:avLst>
                <a:gd name="adj1" fmla="val 36059"/>
                <a:gd name="adj2" fmla="val 60404"/>
                <a:gd name="adj3" fmla="val 16667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  <p:grpSp>
          <p:nvGrpSpPr>
            <p:cNvPr id="15" name="그룹 14"/>
            <p:cNvGrpSpPr/>
            <p:nvPr/>
          </p:nvGrpSpPr>
          <p:grpSpPr>
            <a:xfrm>
              <a:off x="2872408" y="4364296"/>
              <a:ext cx="1486000" cy="859885"/>
              <a:chOff x="2872408" y="4364296"/>
              <a:chExt cx="1486000" cy="859885"/>
            </a:xfrm>
          </p:grpSpPr>
          <p:sp>
            <p:nvSpPr>
              <p:cNvPr id="16" name="TextBox 15"/>
              <p:cNvSpPr txBox="1"/>
              <p:nvPr/>
            </p:nvSpPr>
            <p:spPr>
              <a:xfrm>
                <a:off x="3952528" y="4608628"/>
                <a:ext cx="40588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300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2872408" y="4364296"/>
                <a:ext cx="68800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b="1" dirty="0">
                    <a:solidFill>
                      <a:schemeClr val="bg1"/>
                    </a:solidFill>
                    <a:latin typeface="+mn-ea"/>
                  </a:rPr>
                  <a:t>제 </a:t>
                </a:r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1</a:t>
                </a:r>
                <a:r>
                  <a:rPr lang="ko-KR" altLang="en-US" sz="1000" b="1">
                    <a:solidFill>
                      <a:schemeClr val="bg1"/>
                    </a:solidFill>
                    <a:latin typeface="+mn-ea"/>
                  </a:rPr>
                  <a:t>공장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2872408" y="4608628"/>
                <a:ext cx="734496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dirty="0">
                    <a:solidFill>
                      <a:schemeClr val="bg1"/>
                    </a:solidFill>
                    <a:latin typeface="+mn-ea"/>
                  </a:rPr>
                  <a:t>총원</a:t>
                </a:r>
                <a:endParaRPr lang="en-US" altLang="ko-KR" sz="100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임직원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상시</a:t>
                </a:r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 </a:t>
                </a:r>
                <a:r>
                  <a:rPr lang="ko-KR" altLang="en-US" sz="8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방문자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일일 방문자</a:t>
                </a:r>
              </a:p>
            </p:txBody>
          </p:sp>
        </p:grpSp>
        <p:grpSp>
          <p:nvGrpSpPr>
            <p:cNvPr id="19" name="그룹 18"/>
            <p:cNvGrpSpPr/>
            <p:nvPr/>
          </p:nvGrpSpPr>
          <p:grpSpPr>
            <a:xfrm>
              <a:off x="4191451" y="3286500"/>
              <a:ext cx="1486000" cy="859885"/>
              <a:chOff x="2872408" y="4364296"/>
              <a:chExt cx="1486000" cy="859885"/>
            </a:xfrm>
          </p:grpSpPr>
          <p:sp>
            <p:nvSpPr>
              <p:cNvPr id="20" name="TextBox 19"/>
              <p:cNvSpPr txBox="1"/>
              <p:nvPr/>
            </p:nvSpPr>
            <p:spPr>
              <a:xfrm>
                <a:off x="3952528" y="4608628"/>
                <a:ext cx="40588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300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2872408" y="4364296"/>
                <a:ext cx="68800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b="1" dirty="0">
                    <a:solidFill>
                      <a:schemeClr val="bg1"/>
                    </a:solidFill>
                    <a:latin typeface="+mn-ea"/>
                  </a:rPr>
                  <a:t>제 </a:t>
                </a:r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2</a:t>
                </a:r>
                <a:r>
                  <a:rPr lang="ko-KR" altLang="en-US" sz="1000" b="1">
                    <a:solidFill>
                      <a:schemeClr val="bg1"/>
                    </a:solidFill>
                    <a:latin typeface="+mn-ea"/>
                  </a:rPr>
                  <a:t>공장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2872408" y="4608628"/>
                <a:ext cx="734496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dirty="0">
                    <a:solidFill>
                      <a:schemeClr val="bg1"/>
                    </a:solidFill>
                    <a:latin typeface="+mn-ea"/>
                  </a:rPr>
                  <a:t>총원</a:t>
                </a:r>
                <a:endParaRPr lang="en-US" altLang="ko-KR" sz="100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임직원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상시</a:t>
                </a:r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 </a:t>
                </a:r>
                <a:r>
                  <a:rPr lang="ko-KR" altLang="en-US" sz="8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방문자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일일 방문자</a:t>
                </a:r>
              </a:p>
            </p:txBody>
          </p:sp>
        </p:grpSp>
        <p:grpSp>
          <p:nvGrpSpPr>
            <p:cNvPr id="23" name="그룹 22"/>
            <p:cNvGrpSpPr/>
            <p:nvPr/>
          </p:nvGrpSpPr>
          <p:grpSpPr>
            <a:xfrm>
              <a:off x="6147350" y="4541809"/>
              <a:ext cx="1486000" cy="859885"/>
              <a:chOff x="2872408" y="4364296"/>
              <a:chExt cx="1486000" cy="859885"/>
            </a:xfrm>
          </p:grpSpPr>
          <p:sp>
            <p:nvSpPr>
              <p:cNvPr id="24" name="TextBox 23"/>
              <p:cNvSpPr txBox="1"/>
              <p:nvPr/>
            </p:nvSpPr>
            <p:spPr>
              <a:xfrm>
                <a:off x="3952528" y="4608628"/>
                <a:ext cx="40588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300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2872408" y="4364296"/>
                <a:ext cx="68800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b="1" dirty="0">
                    <a:solidFill>
                      <a:schemeClr val="bg1"/>
                    </a:solidFill>
                    <a:latin typeface="+mn-ea"/>
                  </a:rPr>
                  <a:t>제 </a:t>
                </a:r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3</a:t>
                </a:r>
                <a:r>
                  <a:rPr lang="ko-KR" altLang="en-US" sz="1000" b="1">
                    <a:solidFill>
                      <a:schemeClr val="bg1"/>
                    </a:solidFill>
                    <a:latin typeface="+mn-ea"/>
                  </a:rPr>
                  <a:t>공장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" name="TextBox 25"/>
              <p:cNvSpPr txBox="1"/>
              <p:nvPr/>
            </p:nvSpPr>
            <p:spPr>
              <a:xfrm>
                <a:off x="2872408" y="4608628"/>
                <a:ext cx="734496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dirty="0">
                    <a:solidFill>
                      <a:schemeClr val="bg1"/>
                    </a:solidFill>
                    <a:latin typeface="+mn-ea"/>
                  </a:rPr>
                  <a:t>총원</a:t>
                </a:r>
                <a:endParaRPr lang="en-US" altLang="ko-KR" sz="100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임직원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상시</a:t>
                </a:r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 </a:t>
                </a:r>
                <a:r>
                  <a:rPr lang="ko-KR" altLang="en-US" sz="8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방문자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일일 방문자</a:t>
                </a:r>
              </a:p>
            </p:txBody>
          </p:sp>
        </p:grpSp>
        <p:grpSp>
          <p:nvGrpSpPr>
            <p:cNvPr id="27" name="그룹 26"/>
            <p:cNvGrpSpPr/>
            <p:nvPr/>
          </p:nvGrpSpPr>
          <p:grpSpPr>
            <a:xfrm>
              <a:off x="8003281" y="5667034"/>
              <a:ext cx="1486000" cy="859885"/>
              <a:chOff x="2872408" y="4364296"/>
              <a:chExt cx="1486000" cy="859885"/>
            </a:xfrm>
          </p:grpSpPr>
          <p:sp>
            <p:nvSpPr>
              <p:cNvPr id="28" name="TextBox 27"/>
              <p:cNvSpPr txBox="1"/>
              <p:nvPr/>
            </p:nvSpPr>
            <p:spPr>
              <a:xfrm>
                <a:off x="3952528" y="4608628"/>
                <a:ext cx="405880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</a:rPr>
                  <a:t>300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</a:p>
              <a:p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100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9" name="TextBox 28"/>
              <p:cNvSpPr txBox="1"/>
              <p:nvPr/>
            </p:nvSpPr>
            <p:spPr>
              <a:xfrm>
                <a:off x="2872408" y="4364296"/>
                <a:ext cx="569387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b="1" dirty="0">
                    <a:solidFill>
                      <a:schemeClr val="bg1"/>
                    </a:solidFill>
                    <a:latin typeface="+mn-ea"/>
                  </a:rPr>
                  <a:t>관리동</a:t>
                </a:r>
                <a:endPara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0" name="TextBox 29"/>
              <p:cNvSpPr txBox="1"/>
              <p:nvPr/>
            </p:nvSpPr>
            <p:spPr>
              <a:xfrm>
                <a:off x="2872408" y="4608628"/>
                <a:ext cx="734496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00" dirty="0">
                    <a:solidFill>
                      <a:schemeClr val="bg1"/>
                    </a:solidFill>
                    <a:latin typeface="+mn-ea"/>
                  </a:rPr>
                  <a:t>총원</a:t>
                </a:r>
                <a:endParaRPr lang="en-US" altLang="ko-KR" sz="100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임직원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상시</a:t>
                </a:r>
                <a:r>
                  <a:rPr lang="en-US" altLang="ko-KR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 </a:t>
                </a:r>
                <a:r>
                  <a:rPr lang="ko-KR" altLang="en-US" sz="8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방문자</a:t>
                </a:r>
                <a:endParaRPr lang="en-US" altLang="ko-KR" sz="8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  <a:p>
                <a:r>
                  <a:rPr lang="ko-KR" altLang="en-US" sz="8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일일 방문자</a:t>
                </a:r>
              </a:p>
            </p:txBody>
          </p:sp>
        </p:grpSp>
        <p:grpSp>
          <p:nvGrpSpPr>
            <p:cNvPr id="32" name="그룹 31"/>
            <p:cNvGrpSpPr/>
            <p:nvPr/>
          </p:nvGrpSpPr>
          <p:grpSpPr>
            <a:xfrm>
              <a:off x="9529946" y="2476891"/>
              <a:ext cx="327237" cy="327237"/>
              <a:chOff x="9529946" y="2476891"/>
              <a:chExt cx="327237" cy="327237"/>
            </a:xfrm>
          </p:grpSpPr>
          <p:sp>
            <p:nvSpPr>
              <p:cNvPr id="33" name="타원 32"/>
              <p:cNvSpPr/>
              <p:nvPr/>
            </p:nvSpPr>
            <p:spPr>
              <a:xfrm>
                <a:off x="9529946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pic>
            <p:nvPicPr>
              <p:cNvPr id="34" name="그림 33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93283" y="2540228"/>
                <a:ext cx="200563" cy="200563"/>
              </a:xfrm>
              <a:prstGeom prst="rect">
                <a:avLst/>
              </a:prstGeom>
            </p:spPr>
          </p:pic>
        </p:grpSp>
        <p:grpSp>
          <p:nvGrpSpPr>
            <p:cNvPr id="35" name="그룹 34"/>
            <p:cNvGrpSpPr/>
            <p:nvPr/>
          </p:nvGrpSpPr>
          <p:grpSpPr>
            <a:xfrm>
              <a:off x="518636" y="4900047"/>
              <a:ext cx="1224136" cy="315990"/>
              <a:chOff x="2296344" y="2444725"/>
              <a:chExt cx="1224136" cy="315990"/>
            </a:xfrm>
          </p:grpSpPr>
          <p:sp>
            <p:nvSpPr>
              <p:cNvPr id="36" name="Search Box Rectangle"/>
              <p:cNvSpPr>
                <a:spLocks/>
              </p:cNvSpPr>
              <p:nvPr/>
            </p:nvSpPr>
            <p:spPr bwMode="auto">
              <a:xfrm>
                <a:off x="2296344" y="2444725"/>
                <a:ext cx="1224136" cy="315990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28" rIns="109728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10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  <a:cs typeface="Segoe UI" pitchFamily="34" charset="0"/>
                  </a:rPr>
                  <a:t>선택하세요</a:t>
                </a:r>
                <a:endParaRPr lang="de-DE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endParaRPr>
              </a:p>
            </p:txBody>
          </p:sp>
          <p:sp>
            <p:nvSpPr>
              <p:cNvPr id="37" name="Chevron"/>
              <p:cNvSpPr>
                <a:spLocks noChangeAspect="1"/>
              </p:cNvSpPr>
              <p:nvPr/>
            </p:nvSpPr>
            <p:spPr bwMode="auto">
              <a:xfrm>
                <a:off x="3304456" y="2557016"/>
                <a:ext cx="117283" cy="83344"/>
              </a:xfrm>
              <a:custGeom>
                <a:avLst/>
                <a:gdLst>
                  <a:gd name="T0" fmla="*/ 58 w 116"/>
                  <a:gd name="T1" fmla="*/ 61 h 105"/>
                  <a:gd name="T2" fmla="*/ 71 w 116"/>
                  <a:gd name="T3" fmla="*/ 48 h 105"/>
                  <a:gd name="T4" fmla="*/ 116 w 116"/>
                  <a:gd name="T5" fmla="*/ 0 h 105"/>
                  <a:gd name="T6" fmla="*/ 116 w 116"/>
                  <a:gd name="T7" fmla="*/ 43 h 105"/>
                  <a:gd name="T8" fmla="*/ 58 w 116"/>
                  <a:gd name="T9" fmla="*/ 105 h 105"/>
                  <a:gd name="T10" fmla="*/ 0 w 116"/>
                  <a:gd name="T11" fmla="*/ 43 h 105"/>
                  <a:gd name="T12" fmla="*/ 0 w 116"/>
                  <a:gd name="T13" fmla="*/ 0 h 105"/>
                  <a:gd name="T14" fmla="*/ 45 w 116"/>
                  <a:gd name="T15" fmla="*/ 48 h 105"/>
                  <a:gd name="T16" fmla="*/ 58 w 116"/>
                  <a:gd name="T17" fmla="*/ 6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58" y="61"/>
                    </a:moveTo>
                    <a:lnTo>
                      <a:pt x="71" y="48"/>
                    </a:lnTo>
                    <a:lnTo>
                      <a:pt x="116" y="0"/>
                    </a:lnTo>
                    <a:lnTo>
                      <a:pt x="116" y="43"/>
                    </a:lnTo>
                    <a:lnTo>
                      <a:pt x="58" y="105"/>
                    </a:lnTo>
                    <a:lnTo>
                      <a:pt x="0" y="43"/>
                    </a:lnTo>
                    <a:lnTo>
                      <a:pt x="0" y="0"/>
                    </a:lnTo>
                    <a:lnTo>
                      <a:pt x="45" y="48"/>
                    </a:lnTo>
                    <a:lnTo>
                      <a:pt x="58" y="6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900" dirty="0">
                  <a:solidFill>
                    <a:srgbClr val="262626"/>
                  </a:solidFill>
                  <a:latin typeface="+mn-ea"/>
                  <a:cs typeface="Segoe UI" pitchFamily="34" charset="0"/>
                </a:endParaRPr>
              </a:p>
            </p:txBody>
          </p:sp>
        </p:grpSp>
        <p:sp>
          <p:nvSpPr>
            <p:cNvPr id="38" name="직사각형 37"/>
            <p:cNvSpPr/>
            <p:nvPr/>
          </p:nvSpPr>
          <p:spPr>
            <a:xfrm>
              <a:off x="410705" y="5382110"/>
              <a:ext cx="1439999" cy="175322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498354" y="5904956"/>
              <a:ext cx="816662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000" dirty="0">
                  <a:latin typeface="+mn-ea"/>
                </a:rPr>
                <a:t>임직원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상시 방문자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일일 방문자</a:t>
              </a: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498354" y="5461106"/>
              <a:ext cx="1278520" cy="22823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b="1" dirty="0">
                  <a:latin typeface="+mn-ea"/>
                </a:rPr>
                <a:t>제 </a:t>
              </a:r>
              <a:r>
                <a:rPr lang="en-US" altLang="ko-KR" sz="800" b="1" dirty="0">
                  <a:latin typeface="+mn-ea"/>
                </a:rPr>
                <a:t>00 </a:t>
              </a:r>
              <a:r>
                <a:rPr lang="ko-KR" altLang="en-US" sz="800" b="1">
                  <a:latin typeface="+mn-ea"/>
                </a:rPr>
                <a:t>공장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315016" y="5904956"/>
              <a:ext cx="461858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500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300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150</a:t>
              </a:r>
              <a:endParaRPr lang="ko-KR" altLang="en-US" sz="1000" dirty="0">
                <a:latin typeface="+mn-ea"/>
              </a:endParaRPr>
            </a:p>
          </p:txBody>
        </p:sp>
        <p:grpSp>
          <p:nvGrpSpPr>
            <p:cNvPr id="42" name="그룹 41"/>
            <p:cNvGrpSpPr/>
            <p:nvPr/>
          </p:nvGrpSpPr>
          <p:grpSpPr>
            <a:xfrm>
              <a:off x="518636" y="6633685"/>
              <a:ext cx="1224136" cy="315990"/>
              <a:chOff x="2296344" y="2444725"/>
              <a:chExt cx="1224136" cy="315990"/>
            </a:xfrm>
          </p:grpSpPr>
          <p:sp>
            <p:nvSpPr>
              <p:cNvPr id="43" name="Search Box Rectangle"/>
              <p:cNvSpPr>
                <a:spLocks/>
              </p:cNvSpPr>
              <p:nvPr/>
            </p:nvSpPr>
            <p:spPr bwMode="auto">
              <a:xfrm>
                <a:off x="2296344" y="2444725"/>
                <a:ext cx="1224136" cy="315990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28" rIns="109728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10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  <a:cs typeface="Segoe UI" pitchFamily="34" charset="0"/>
                  </a:rPr>
                  <a:t>선택하세요</a:t>
                </a:r>
                <a:endParaRPr lang="de-DE" sz="105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endParaRPr>
              </a:p>
            </p:txBody>
          </p:sp>
          <p:sp>
            <p:nvSpPr>
              <p:cNvPr id="44" name="Chevron"/>
              <p:cNvSpPr>
                <a:spLocks noChangeAspect="1"/>
              </p:cNvSpPr>
              <p:nvPr/>
            </p:nvSpPr>
            <p:spPr bwMode="auto">
              <a:xfrm>
                <a:off x="3304456" y="2557016"/>
                <a:ext cx="117283" cy="83344"/>
              </a:xfrm>
              <a:custGeom>
                <a:avLst/>
                <a:gdLst>
                  <a:gd name="T0" fmla="*/ 58 w 116"/>
                  <a:gd name="T1" fmla="*/ 61 h 105"/>
                  <a:gd name="T2" fmla="*/ 71 w 116"/>
                  <a:gd name="T3" fmla="*/ 48 h 105"/>
                  <a:gd name="T4" fmla="*/ 116 w 116"/>
                  <a:gd name="T5" fmla="*/ 0 h 105"/>
                  <a:gd name="T6" fmla="*/ 116 w 116"/>
                  <a:gd name="T7" fmla="*/ 43 h 105"/>
                  <a:gd name="T8" fmla="*/ 58 w 116"/>
                  <a:gd name="T9" fmla="*/ 105 h 105"/>
                  <a:gd name="T10" fmla="*/ 0 w 116"/>
                  <a:gd name="T11" fmla="*/ 43 h 105"/>
                  <a:gd name="T12" fmla="*/ 0 w 116"/>
                  <a:gd name="T13" fmla="*/ 0 h 105"/>
                  <a:gd name="T14" fmla="*/ 45 w 116"/>
                  <a:gd name="T15" fmla="*/ 48 h 105"/>
                  <a:gd name="T16" fmla="*/ 58 w 116"/>
                  <a:gd name="T17" fmla="*/ 6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58" y="61"/>
                    </a:moveTo>
                    <a:lnTo>
                      <a:pt x="71" y="48"/>
                    </a:lnTo>
                    <a:lnTo>
                      <a:pt x="116" y="0"/>
                    </a:lnTo>
                    <a:lnTo>
                      <a:pt x="116" y="43"/>
                    </a:lnTo>
                    <a:lnTo>
                      <a:pt x="58" y="105"/>
                    </a:lnTo>
                    <a:lnTo>
                      <a:pt x="0" y="43"/>
                    </a:lnTo>
                    <a:lnTo>
                      <a:pt x="0" y="0"/>
                    </a:lnTo>
                    <a:lnTo>
                      <a:pt x="45" y="48"/>
                    </a:lnTo>
                    <a:lnTo>
                      <a:pt x="58" y="6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900" dirty="0">
                  <a:solidFill>
                    <a:srgbClr val="262626"/>
                  </a:solidFill>
                  <a:latin typeface="+mn-ea"/>
                  <a:cs typeface="Segoe UI" pitchFamily="34" charset="0"/>
                </a:endParaRPr>
              </a:p>
            </p:txBody>
          </p:sp>
        </p:grpSp>
        <p:sp>
          <p:nvSpPr>
            <p:cNvPr id="45" name="직사각형 44"/>
            <p:cNvSpPr/>
            <p:nvPr/>
          </p:nvSpPr>
          <p:spPr>
            <a:xfrm>
              <a:off x="410705" y="7115748"/>
              <a:ext cx="1439999" cy="1034339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498354" y="7638594"/>
              <a:ext cx="816662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000" dirty="0">
                  <a:latin typeface="+mn-ea"/>
                </a:rPr>
                <a:t>임직원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상시 방문자</a:t>
              </a:r>
              <a:endParaRPr lang="en-US" altLang="ko-KR" sz="1000" dirty="0">
                <a:latin typeface="+mn-ea"/>
              </a:endParaRPr>
            </a:p>
            <a:p>
              <a:r>
                <a:rPr lang="ko-KR" altLang="en-US" sz="1000" dirty="0">
                  <a:latin typeface="+mn-ea"/>
                </a:rPr>
                <a:t>일일 방문자</a:t>
              </a: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498354" y="7194744"/>
              <a:ext cx="1278520" cy="22823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800" b="1" dirty="0">
                  <a:latin typeface="+mn-ea"/>
                </a:rPr>
                <a:t>제 </a:t>
              </a:r>
              <a:r>
                <a:rPr lang="en-US" altLang="ko-KR" sz="800" b="1" dirty="0">
                  <a:latin typeface="+mn-ea"/>
                </a:rPr>
                <a:t>00 </a:t>
              </a:r>
              <a:r>
                <a:rPr lang="ko-KR" altLang="en-US" sz="800" b="1">
                  <a:latin typeface="+mn-ea"/>
                </a:rPr>
                <a:t>공장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315016" y="7638594"/>
              <a:ext cx="461858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</a:rPr>
                <a:t>500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300</a:t>
              </a:r>
            </a:p>
            <a:p>
              <a:pPr algn="r"/>
              <a:r>
                <a:rPr lang="en-US" altLang="ko-KR" sz="1000" dirty="0">
                  <a:latin typeface="+mn-ea"/>
                </a:rPr>
                <a:t>150</a:t>
              </a:r>
              <a:endParaRPr lang="ko-KR" altLang="en-US" sz="1000" dirty="0">
                <a:latin typeface="+mn-ea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8303786" y="2476891"/>
              <a:ext cx="1103187" cy="327237"/>
            </a:xfrm>
            <a:prstGeom prst="roundRect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900" b="1" dirty="0">
                  <a:latin typeface="+mn-ea"/>
                </a:rPr>
                <a:t>지난 대피현황</a:t>
              </a: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081756" y="2476891"/>
              <a:ext cx="1103187" cy="327237"/>
            </a:xfrm>
            <a:prstGeom prst="roundRect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900" b="1" dirty="0">
                  <a:latin typeface="+mn-ea"/>
                </a:rPr>
                <a:t>비상지역 설정</a:t>
              </a:r>
            </a:p>
          </p:txBody>
        </p:sp>
      </p:grpSp>
      <p:sp>
        <p:nvSpPr>
          <p:cNvPr id="54" name="직사각형 53"/>
          <p:cNvSpPr/>
          <p:nvPr/>
        </p:nvSpPr>
        <p:spPr>
          <a:xfrm>
            <a:off x="423442" y="1757900"/>
            <a:ext cx="9710708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/>
          <a:lstStyle/>
          <a:p>
            <a:pPr algn="ctr"/>
            <a:endParaRPr lang="en-US" altLang="ko-KR" sz="24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  <a:p>
            <a:pPr algn="ctr"/>
            <a:endParaRPr lang="en-US" altLang="ko-KR" sz="24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  <a:p>
            <a:pPr algn="ctr"/>
            <a:r>
              <a:rPr lang="ko-KR" altLang="en-US" sz="2400" b="1" dirty="0">
                <a:solidFill>
                  <a:schemeClr val="bg1"/>
                </a:solidFill>
                <a:latin typeface="+mn-ea"/>
                <a:cs typeface="Arial" panose="020B0604020202020204" pitchFamily="34" charset="0"/>
              </a:rPr>
              <a:t>해당 비상상황이 발생된 정보가 뒷면에 출력되고</a:t>
            </a:r>
            <a:endParaRPr lang="en-US" altLang="ko-KR" sz="24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  <a:p>
            <a:pPr algn="ctr"/>
            <a:r>
              <a:rPr lang="ko-KR" altLang="en-US" sz="2400" b="1" dirty="0">
                <a:solidFill>
                  <a:schemeClr val="bg1"/>
                </a:solidFill>
                <a:latin typeface="+mn-ea"/>
                <a:cs typeface="Arial" panose="020B0604020202020204" pitchFamily="34" charset="0"/>
              </a:rPr>
              <a:t>해당 비상상황에 대한 팝업이 뜸</a:t>
            </a:r>
          </a:p>
        </p:txBody>
      </p:sp>
      <p:sp>
        <p:nvSpPr>
          <p:cNvPr id="55" name="직사각형 54"/>
          <p:cNvSpPr/>
          <p:nvPr/>
        </p:nvSpPr>
        <p:spPr>
          <a:xfrm>
            <a:off x="2463276" y="3504456"/>
            <a:ext cx="5593708" cy="4357321"/>
          </a:xfrm>
          <a:prstGeom prst="rect">
            <a:avLst/>
          </a:prstGeom>
          <a:solidFill>
            <a:schemeClr val="bg1">
              <a:alpha val="3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b="1" dirty="0"/>
              <a:t>이벤트 팝업</a:t>
            </a:r>
          </a:p>
        </p:txBody>
      </p:sp>
    </p:spTree>
    <p:extLst>
      <p:ext uri="{BB962C8B-B14F-4D97-AF65-F5344CB8AC3E}">
        <p14:creationId xmlns:p14="http://schemas.microsoft.com/office/powerpoint/2010/main" val="107304626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"/>
          <p:cNvSpPr/>
          <p:nvPr/>
        </p:nvSpPr>
        <p:spPr>
          <a:xfrm>
            <a:off x="208112" y="1201349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004</a:t>
            </a:r>
            <a:endParaRPr lang="ko-KR" altLang="en-US" sz="800" dirty="0"/>
          </a:p>
        </p:txBody>
      </p:sp>
      <p:sp>
        <p:nvSpPr>
          <p:cNvPr id="3" name="TextBox 2"/>
          <p:cNvSpPr txBox="1"/>
          <p:nvPr/>
        </p:nvSpPr>
        <p:spPr>
          <a:xfrm>
            <a:off x="1199228" y="1202105"/>
            <a:ext cx="172996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이벤트 발생 후 조치 프로세스</a:t>
            </a:r>
          </a:p>
        </p:txBody>
      </p:sp>
      <p:pic>
        <p:nvPicPr>
          <p:cNvPr id="47" name="그림 4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0240" y="2838884"/>
            <a:ext cx="2268965" cy="1704464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864296" y="2525597"/>
            <a:ext cx="1223412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200" b="1" dirty="0"/>
              <a:t>&lt;</a:t>
            </a:r>
            <a:r>
              <a:rPr lang="ko-KR" altLang="en-US" sz="1200" b="1"/>
              <a:t>이벤트 발생</a:t>
            </a:r>
            <a:r>
              <a:rPr lang="en-US" altLang="ko-KR" sz="1200" b="1" dirty="0"/>
              <a:t>&gt;</a:t>
            </a:r>
            <a:endParaRPr lang="ko-KR" altLang="en-US" sz="1200" b="1" dirty="0"/>
          </a:p>
        </p:txBody>
      </p:sp>
      <p:cxnSp>
        <p:nvCxnSpPr>
          <p:cNvPr id="52" name="꺾인 연결선 51"/>
          <p:cNvCxnSpPr>
            <a:stCxn id="47" idx="3"/>
            <a:endCxn id="56" idx="1"/>
          </p:cNvCxnSpPr>
          <p:nvPr/>
        </p:nvCxnSpPr>
        <p:spPr>
          <a:xfrm flipV="1">
            <a:off x="3629205" y="2973146"/>
            <a:ext cx="611355" cy="717970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꺾인 연결선 53"/>
          <p:cNvCxnSpPr>
            <a:stCxn id="47" idx="3"/>
            <a:endCxn id="57" idx="1"/>
          </p:cNvCxnSpPr>
          <p:nvPr/>
        </p:nvCxnSpPr>
        <p:spPr>
          <a:xfrm>
            <a:off x="3629205" y="3691116"/>
            <a:ext cx="611355" cy="1928826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/>
          <p:cNvSpPr/>
          <p:nvPr/>
        </p:nvSpPr>
        <p:spPr>
          <a:xfrm>
            <a:off x="4240560" y="2424336"/>
            <a:ext cx="1656184" cy="1097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관제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이벤트 리스트</a:t>
            </a:r>
          </a:p>
        </p:txBody>
      </p:sp>
      <p:sp>
        <p:nvSpPr>
          <p:cNvPr id="57" name="직사각형 56"/>
          <p:cNvSpPr/>
          <p:nvPr/>
        </p:nvSpPr>
        <p:spPr>
          <a:xfrm>
            <a:off x="4240560" y="5071132"/>
            <a:ext cx="1656184" cy="1097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필드매니저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이벤트 리스트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다이아몬드 63"/>
          <p:cNvSpPr/>
          <p:nvPr/>
        </p:nvSpPr>
        <p:spPr>
          <a:xfrm>
            <a:off x="6273595" y="5262660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이벤트 조치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판단</a:t>
            </a:r>
          </a:p>
        </p:txBody>
      </p:sp>
      <p:cxnSp>
        <p:nvCxnSpPr>
          <p:cNvPr id="66" name="직선 화살표 연결선 65"/>
          <p:cNvCxnSpPr>
            <a:stCxn id="57" idx="3"/>
            <a:endCxn id="64" idx="1"/>
          </p:cNvCxnSpPr>
          <p:nvPr/>
        </p:nvCxnSpPr>
        <p:spPr>
          <a:xfrm>
            <a:off x="5896744" y="5619942"/>
            <a:ext cx="37685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/>
          <p:cNvSpPr/>
          <p:nvPr/>
        </p:nvSpPr>
        <p:spPr>
          <a:xfrm>
            <a:off x="8075343" y="5071132"/>
            <a:ext cx="1080120" cy="1097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조치완료 버튼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/>
          <p:cNvSpPr/>
          <p:nvPr/>
        </p:nvSpPr>
        <p:spPr>
          <a:xfrm>
            <a:off x="10054850" y="5071132"/>
            <a:ext cx="1080120" cy="1097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조치내용 입력</a:t>
            </a:r>
          </a:p>
        </p:txBody>
      </p:sp>
      <p:cxnSp>
        <p:nvCxnSpPr>
          <p:cNvPr id="74" name="직선 화살표 연결선 73"/>
          <p:cNvCxnSpPr>
            <a:stCxn id="64" idx="3"/>
            <a:endCxn id="69" idx="1"/>
          </p:cNvCxnSpPr>
          <p:nvPr/>
        </p:nvCxnSpPr>
        <p:spPr>
          <a:xfrm>
            <a:off x="7497731" y="5619942"/>
            <a:ext cx="57761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/>
          <p:cNvCxnSpPr>
            <a:stCxn id="69" idx="3"/>
            <a:endCxn id="72" idx="1"/>
          </p:cNvCxnSpPr>
          <p:nvPr/>
        </p:nvCxnSpPr>
        <p:spPr>
          <a:xfrm>
            <a:off x="9155463" y="5619942"/>
            <a:ext cx="89938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모서리가 둥근 직사각형 79"/>
          <p:cNvSpPr/>
          <p:nvPr/>
        </p:nvSpPr>
        <p:spPr>
          <a:xfrm>
            <a:off x="7912968" y="4475250"/>
            <a:ext cx="1404869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>
                <a:solidFill>
                  <a:schemeClr val="tx1"/>
                </a:solidFill>
                <a:latin typeface="+mn-ea"/>
              </a:rPr>
              <a:t>조치완료로 상태 변경</a:t>
            </a:r>
          </a:p>
        </p:txBody>
      </p:sp>
      <p:sp>
        <p:nvSpPr>
          <p:cNvPr id="86" name="다이아몬드 85"/>
          <p:cNvSpPr/>
          <p:nvPr/>
        </p:nvSpPr>
        <p:spPr>
          <a:xfrm>
            <a:off x="6273595" y="2615864"/>
            <a:ext cx="1224136" cy="714563"/>
          </a:xfrm>
          <a:prstGeom prst="diamond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이벤트 조치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판단</a:t>
            </a:r>
          </a:p>
        </p:txBody>
      </p:sp>
      <p:cxnSp>
        <p:nvCxnSpPr>
          <p:cNvPr id="90" name="직선 화살표 연결선 89"/>
          <p:cNvCxnSpPr>
            <a:stCxn id="69" idx="0"/>
            <a:endCxn id="80" idx="2"/>
          </p:cNvCxnSpPr>
          <p:nvPr/>
        </p:nvCxnSpPr>
        <p:spPr>
          <a:xfrm flipV="1">
            <a:off x="8615403" y="4763282"/>
            <a:ext cx="0" cy="30785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94"/>
          <p:cNvSpPr/>
          <p:nvPr/>
        </p:nvSpPr>
        <p:spPr>
          <a:xfrm>
            <a:off x="7912968" y="2823123"/>
            <a:ext cx="1404869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현장담당자에게 알림 버튼</a:t>
            </a: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892475" y="2823123"/>
            <a:ext cx="1404869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전체 담당자에게</a:t>
            </a:r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Push </a:t>
            </a:r>
            <a:r>
              <a:rPr lang="ko-KR" altLang="en-US" sz="900">
                <a:solidFill>
                  <a:schemeClr val="tx1"/>
                </a:solidFill>
                <a:latin typeface="+mn-ea"/>
              </a:rPr>
              <a:t>알림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01" name="직선 화살표 연결선 100"/>
          <p:cNvCxnSpPr>
            <a:stCxn id="56" idx="3"/>
            <a:endCxn id="86" idx="1"/>
          </p:cNvCxnSpPr>
          <p:nvPr/>
        </p:nvCxnSpPr>
        <p:spPr>
          <a:xfrm>
            <a:off x="5896744" y="2973146"/>
            <a:ext cx="37685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화살표 연결선 102"/>
          <p:cNvCxnSpPr>
            <a:stCxn id="86" idx="3"/>
            <a:endCxn id="95" idx="1"/>
          </p:cNvCxnSpPr>
          <p:nvPr/>
        </p:nvCxnSpPr>
        <p:spPr>
          <a:xfrm flipV="1">
            <a:off x="7497731" y="2967139"/>
            <a:ext cx="415237" cy="600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화살표 연결선 104"/>
          <p:cNvCxnSpPr>
            <a:stCxn id="95" idx="3"/>
            <a:endCxn id="96" idx="1"/>
          </p:cNvCxnSpPr>
          <p:nvPr/>
        </p:nvCxnSpPr>
        <p:spPr>
          <a:xfrm>
            <a:off x="9317837" y="2967139"/>
            <a:ext cx="57463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꺾인 연결선 106"/>
          <p:cNvCxnSpPr>
            <a:stCxn id="96" idx="2"/>
            <a:endCxn id="64" idx="0"/>
          </p:cNvCxnSpPr>
          <p:nvPr/>
        </p:nvCxnSpPr>
        <p:spPr>
          <a:xfrm rot="5400000">
            <a:off x="7664535" y="2332284"/>
            <a:ext cx="2151505" cy="3709247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495232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직사각형 66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Popup 050</a:t>
            </a:r>
            <a:endParaRPr lang="ko-KR" altLang="en-US" sz="800" dirty="0"/>
          </a:p>
        </p:txBody>
      </p:sp>
      <p:sp>
        <p:nvSpPr>
          <p:cNvPr id="69" name="TextBox 68"/>
          <p:cNvSpPr txBox="1"/>
          <p:nvPr/>
        </p:nvSpPr>
        <p:spPr>
          <a:xfrm>
            <a:off x="11561736" y="632805"/>
            <a:ext cx="9172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조치내용 팝업</a:t>
            </a:r>
          </a:p>
        </p:txBody>
      </p:sp>
      <p:sp>
        <p:nvSpPr>
          <p:cNvPr id="59" name="직사각형 58"/>
          <p:cNvSpPr/>
          <p:nvPr/>
        </p:nvSpPr>
        <p:spPr>
          <a:xfrm>
            <a:off x="3179284" y="3539613"/>
            <a:ext cx="4557894" cy="264585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050" dirty="0" err="1">
              <a:solidFill>
                <a:schemeClr val="tx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3279148" y="4206977"/>
            <a:ext cx="1319058" cy="18722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3429522" y="4346211"/>
            <a:ext cx="1018310" cy="988412"/>
            <a:chOff x="5710120" y="3868161"/>
            <a:chExt cx="1440160" cy="1397875"/>
          </a:xfrm>
        </p:grpSpPr>
        <p:sp>
          <p:nvSpPr>
            <p:cNvPr id="62" name="직사각형 61"/>
            <p:cNvSpPr/>
            <p:nvPr/>
          </p:nvSpPr>
          <p:spPr>
            <a:xfrm>
              <a:off x="5710120" y="3868161"/>
              <a:ext cx="1440160" cy="139787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12331" y="4105488"/>
              <a:ext cx="1240480" cy="1159263"/>
            </a:xfrm>
            <a:prstGeom prst="rect">
              <a:avLst/>
            </a:prstGeom>
          </p:spPr>
        </p:pic>
      </p:grpSp>
      <p:sp>
        <p:nvSpPr>
          <p:cNvPr id="64" name="TextBox 63"/>
          <p:cNvSpPr txBox="1"/>
          <p:nvPr/>
        </p:nvSpPr>
        <p:spPr>
          <a:xfrm>
            <a:off x="3576829" y="5542517"/>
            <a:ext cx="721351" cy="3231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050" dirty="0">
                <a:latin typeface="+mn-ea"/>
              </a:rPr>
              <a:t>홍길동</a:t>
            </a:r>
            <a:endParaRPr lang="en-US" altLang="ko-KR" sz="1050" dirty="0">
              <a:latin typeface="+mn-ea"/>
            </a:endParaRPr>
          </a:p>
          <a:p>
            <a:pPr algn="ctr"/>
            <a:r>
              <a:rPr lang="ko-KR" altLang="en-US" sz="1050" dirty="0">
                <a:latin typeface="+mn-ea"/>
              </a:rPr>
              <a:t>현장 관리자</a:t>
            </a:r>
            <a:endParaRPr lang="en-US" altLang="ko-KR" sz="1050" dirty="0">
              <a:latin typeface="+mn-ea"/>
            </a:endParaRPr>
          </a:p>
        </p:txBody>
      </p:sp>
      <p:sp>
        <p:nvSpPr>
          <p:cNvPr id="65" name="직사각형 64"/>
          <p:cNvSpPr/>
          <p:nvPr/>
        </p:nvSpPr>
        <p:spPr>
          <a:xfrm>
            <a:off x="4672608" y="4206977"/>
            <a:ext cx="2958296" cy="187220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현장에 즉시 출동하여 퇴실조치 했음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7288306" y="3706737"/>
            <a:ext cx="314209" cy="314209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 sz="1800">
              <a:latin typeface="+mn-ea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3252578" y="3667828"/>
            <a:ext cx="24160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현장 상황 조치내용</a:t>
            </a:r>
          </a:p>
        </p:txBody>
      </p:sp>
      <p:graphicFrame>
        <p:nvGraphicFramePr>
          <p:cNvPr id="74" name="표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2359608"/>
              </p:ext>
            </p:extLst>
          </p:nvPr>
        </p:nvGraphicFramePr>
        <p:xfrm>
          <a:off x="10633534" y="1272208"/>
          <a:ext cx="2088232" cy="396766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내용이 보이는 텍스트 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5" name="직사각형 74"/>
          <p:cNvSpPr/>
          <p:nvPr/>
        </p:nvSpPr>
        <p:spPr>
          <a:xfrm>
            <a:off x="5973956" y="411648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2" name="직사각형 71"/>
          <p:cNvSpPr/>
          <p:nvPr/>
        </p:nvSpPr>
        <p:spPr>
          <a:xfrm>
            <a:off x="11081320" y="3728858"/>
            <a:ext cx="1589546" cy="9622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현장에 즉시 출동하여 퇴실조치 했음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/>
          <p:cNvSpPr/>
          <p:nvPr/>
        </p:nvSpPr>
        <p:spPr>
          <a:xfrm>
            <a:off x="11081320" y="2227197"/>
            <a:ext cx="1589546" cy="9622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해제사유 없음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1033547" y="1869982"/>
            <a:ext cx="163732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해제사유를 입력하지 않았을 때의 내용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1033547" y="3433602"/>
            <a:ext cx="1637320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800" dirty="0"/>
              <a:t>해제사유가 있을 때 내용 노출</a:t>
            </a:r>
          </a:p>
        </p:txBody>
      </p:sp>
    </p:spTree>
    <p:extLst>
      <p:ext uri="{BB962C8B-B14F-4D97-AF65-F5344CB8AC3E}">
        <p14:creationId xmlns:p14="http://schemas.microsoft.com/office/powerpoint/2010/main" val="135605115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8" name="표 1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643209"/>
              </p:ext>
            </p:extLst>
          </p:nvPr>
        </p:nvGraphicFramePr>
        <p:xfrm>
          <a:off x="10633534" y="1272208"/>
          <a:ext cx="2088232" cy="23443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완료되면 버튼이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내용 보기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03" name="모서리가 둥근 직사각형 20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021</a:t>
            </a:r>
            <a:endParaRPr lang="ko-KR" altLang="en-US" sz="800" dirty="0">
              <a:latin typeface="+mn-ea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통제구역 침범자</a:t>
            </a:r>
            <a:endParaRPr lang="ko-KR" altLang="en-US" sz="900" dirty="0">
              <a:latin typeface="+mn-ea"/>
            </a:endParaRPr>
          </a:p>
        </p:txBody>
      </p:sp>
      <p:sp>
        <p:nvSpPr>
          <p:cNvPr id="143" name="직사각형 142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직사각형 143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6" name="모서리가 둥근 직사각형 145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89" name="자유형 188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0" name="모서리가 둥근 직사각형 189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06" name="자유형 205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7" name="모서리가 둥근 직사각형 206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8" name="TextBox 207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11" name="자유형 210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16" name="자유형 215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18" name="직선 연결선 217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TextBox 218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20" name="그림 21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21" name="그림 22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22" name="모서리가 둥근 직사각형 221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3" name="TextBox 222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6" name="자유형 225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7" name="모서리가 둥근 직사각형 226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1" name="자유형 230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2" name="모서리가 둥근 직사각형 231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3" name="TextBox 232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6" name="자유형 235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8" name="TextBox 237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1" name="자유형 240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3" name="TextBox 242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6" name="자유형 245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7" name="모서리가 둥근 직사각형 246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0" name="TextBox 249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1" name="자유형 250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52" name="그림 25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53" name="그림 25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54" name="그림 25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55" name="그림 25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56" name="그림 25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57" name="모서리가 둥근 직사각형 256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61" name="자유형 260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62" name="그림 26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63" name="그림 26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64" name="그림 26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65" name="그림 264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66" name="TextBox 265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67" name="TextBox 266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68" name="TextBox 267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69" name="TextBox 268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70" name="TextBox 269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71" name="TextBox 270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72" name="TextBox 271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73" name="TextBox 272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77" name="모서리가 둥근 직사각형 276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278" name="모서리가 둥근 직사각형 277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279" name="모서리가 둥근 직사각형 278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283" name="모서리가 둥근 직사각형 282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86" name="자유형 285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7" name="TextBox 286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88" name="모서리가 둥근 직사각형 287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91" name="자유형 290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2" name="TextBox 291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293" name="그림 29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294" name="그림 293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295" name="모서리가 둥근 직사각형 294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98" name="자유형 297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00" name="그림 299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01" name="TextBox 300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02" name="모서리가 둥근 직사각형 301"/>
          <p:cNvSpPr/>
          <p:nvPr/>
        </p:nvSpPr>
        <p:spPr>
          <a:xfrm>
            <a:off x="7553358" y="545003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6" name="그룹 125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7" name="모서리가 둥근 직사각형 12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2" name="자유형 13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3" name="그림 13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4" name="TextBox 13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5" name="그룹 134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6" name="모서리가 둥근 직사각형 13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0" name="자유형 13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1" name="그림 14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2" name="TextBox 14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5" name="그룹 144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7" name="모서리가 둥근 직사각형 14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3" name="자유형 15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그림 15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5" name="TextBox 15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6" name="그룹 155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7" name="모서리가 둥근 직사각형 15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3" name="자유형 16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9" name="그림 17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0" name="TextBox 17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337" name="직사각형 336"/>
          <p:cNvSpPr/>
          <p:nvPr/>
        </p:nvSpPr>
        <p:spPr>
          <a:xfrm>
            <a:off x="964926" y="2283982"/>
            <a:ext cx="4681906" cy="6679613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38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007422" y="248771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344" name="TextBox 343"/>
          <p:cNvSpPr txBox="1"/>
          <p:nvPr/>
        </p:nvSpPr>
        <p:spPr>
          <a:xfrm>
            <a:off x="1157790" y="2514658"/>
            <a:ext cx="25827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출입통제구역 침범자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1347915" y="3213881"/>
            <a:ext cx="402910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 err="1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침범자</a:t>
            </a:r>
            <a:r>
              <a:rPr lang="ko-KR" altLang="en-US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 발생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김태호님이 </a:t>
            </a: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침범하였습니다</a:t>
            </a:r>
            <a:endParaRPr lang="en-US" altLang="ko-KR" sz="2000" b="1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현장에서 출입통제하세요</a:t>
            </a:r>
            <a:endParaRPr lang="en-US" altLang="ko-KR" sz="1600" dirty="0">
              <a:latin typeface="+mj-ea"/>
            </a:endParaRPr>
          </a:p>
        </p:txBody>
      </p:sp>
      <p:sp>
        <p:nvSpPr>
          <p:cNvPr id="347" name="모서리가 둥근 직사각형 346"/>
          <p:cNvSpPr/>
          <p:nvPr/>
        </p:nvSpPr>
        <p:spPr>
          <a:xfrm>
            <a:off x="1356555" y="8319114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348" name="직사각형 347"/>
          <p:cNvSpPr/>
          <p:nvPr/>
        </p:nvSpPr>
        <p:spPr>
          <a:xfrm>
            <a:off x="4735597" y="2616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49" name="직사각형 348"/>
          <p:cNvSpPr/>
          <p:nvPr/>
        </p:nvSpPr>
        <p:spPr>
          <a:xfrm>
            <a:off x="2206731" y="84636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52" name="모서리가 둥근 직사각형 351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353" name="모서리가 둥근 직사각형 352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354" name="아래쪽 화살표 353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10600146" y="3704617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>
                <a:solidFill>
                  <a:srgbClr val="FF0000"/>
                </a:solidFill>
              </a:rPr>
              <a:t>문구 변경</a:t>
            </a:r>
            <a:endParaRPr lang="ko-KR" altLang="en-US" sz="1200" b="1" dirty="0">
              <a:solidFill>
                <a:srgbClr val="FF0000"/>
              </a:solidFill>
            </a:endParaRPr>
          </a:p>
        </p:txBody>
      </p:sp>
      <p:grpSp>
        <p:nvGrpSpPr>
          <p:cNvPr id="172" name="그룹 171"/>
          <p:cNvGrpSpPr/>
          <p:nvPr/>
        </p:nvGrpSpPr>
        <p:grpSpPr>
          <a:xfrm>
            <a:off x="1411992" y="6042748"/>
            <a:ext cx="3211501" cy="2168381"/>
            <a:chOff x="1193056" y="5754716"/>
            <a:chExt cx="3211501" cy="2168381"/>
          </a:xfrm>
        </p:grpSpPr>
        <p:grpSp>
          <p:nvGrpSpPr>
            <p:cNvPr id="173" name="그룹 172"/>
            <p:cNvGrpSpPr/>
            <p:nvPr/>
          </p:nvGrpSpPr>
          <p:grpSpPr>
            <a:xfrm>
              <a:off x="1254344" y="5754716"/>
              <a:ext cx="1440160" cy="1397875"/>
              <a:chOff x="7962299" y="2617527"/>
              <a:chExt cx="622093" cy="646131"/>
            </a:xfrm>
          </p:grpSpPr>
          <p:sp>
            <p:nvSpPr>
              <p:cNvPr id="177" name="직사각형 176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82" name="그림 181"/>
              <p:cNvPicPr>
                <a:picLocks noChangeAspect="1"/>
              </p:cNvPicPr>
              <p:nvPr/>
            </p:nvPicPr>
            <p:blipFill>
              <a:blip r:embed="rId15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174" name="TextBox 173"/>
            <p:cNvSpPr txBox="1"/>
            <p:nvPr/>
          </p:nvSpPr>
          <p:spPr>
            <a:xfrm>
              <a:off x="2804449" y="5754716"/>
              <a:ext cx="1503938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000" b="1" dirty="0">
                  <a:latin typeface="+mn-ea"/>
                  <a:sym typeface="Wingdings" panose="05000000000000000000" pitchFamily="2" charset="2"/>
                </a:rPr>
                <a:t>김태호</a:t>
              </a:r>
              <a:endParaRPr lang="en-US" altLang="ko-KR" sz="20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dirty="0">
                  <a:latin typeface="+mn-ea"/>
                  <a:sym typeface="Wingdings" panose="05000000000000000000" pitchFamily="2" charset="2"/>
                </a:rPr>
                <a:t>일반구역 출입자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1193056" y="7399877"/>
              <a:ext cx="284404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소속</a:t>
              </a:r>
              <a:endParaRPr lang="en-US" altLang="ko-KR" sz="14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0000.00.00  15:20:27</a:t>
              </a:r>
              <a:endParaRPr lang="ko-KR" altLang="en-US" sz="1400" b="1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2799630" y="6440051"/>
              <a:ext cx="160492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latin typeface="+mn-ea"/>
                  <a:sym typeface="Wingdings" panose="05000000000000000000" pitchFamily="2" charset="2"/>
                </a:rPr>
                <a:t>현위치</a:t>
              </a:r>
              <a:br>
                <a:rPr lang="en-US" altLang="ko-KR" sz="1200" b="1" dirty="0">
                  <a:latin typeface="+mn-ea"/>
                  <a:sym typeface="Wingdings" panose="05000000000000000000" pitchFamily="2" charset="2"/>
                </a:rPr>
              </a:b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5</a:t>
              </a:r>
              <a:r>
                <a:rPr lang="ko-KR" altLang="en-US" sz="3200" b="1">
                  <a:latin typeface="+mn-ea"/>
                  <a:sym typeface="Wingdings" panose="05000000000000000000" pitchFamily="2" charset="2"/>
                </a:rPr>
                <a:t>층 </a:t>
              </a: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E-3</a:t>
              </a:r>
              <a:endParaRPr lang="ko-KR" altLang="en-US" sz="32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cxnSp>
        <p:nvCxnSpPr>
          <p:cNvPr id="183" name="직선 연결선 182"/>
          <p:cNvCxnSpPr/>
          <p:nvPr/>
        </p:nvCxnSpPr>
        <p:spPr>
          <a:xfrm>
            <a:off x="1288232" y="5736704"/>
            <a:ext cx="4176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459205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직사각형 93"/>
          <p:cNvSpPr/>
          <p:nvPr/>
        </p:nvSpPr>
        <p:spPr>
          <a:xfrm>
            <a:off x="26846" y="2060076"/>
            <a:ext cx="6912768" cy="633670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332549" y="2263809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219710" y="2290752"/>
            <a:ext cx="30412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 dirty="0"/>
              <a:t>[4</a:t>
            </a:r>
            <a:r>
              <a:rPr lang="ko-KR" altLang="en-US" sz="2000" b="1"/>
              <a:t>층 </a:t>
            </a:r>
            <a:r>
              <a:rPr lang="en-US" altLang="ko-KR" sz="2000" b="1" dirty="0"/>
              <a:t>E-1 </a:t>
            </a:r>
            <a:r>
              <a:rPr lang="ko-KR" altLang="en-US" sz="2000" b="1"/>
              <a:t>구역</a:t>
            </a:r>
            <a:r>
              <a:rPr lang="en-US" altLang="ko-KR" sz="2000" b="1" dirty="0"/>
              <a:t>, </a:t>
            </a:r>
            <a:r>
              <a:rPr lang="ko-KR" altLang="en-US" sz="2000" b="1"/>
              <a:t>일반구역</a:t>
            </a:r>
            <a:r>
              <a:rPr lang="en-US" altLang="ko-KR" sz="2000" b="1" dirty="0"/>
              <a:t>]</a:t>
            </a:r>
            <a:endParaRPr lang="ko-KR" altLang="en-US" sz="20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250436" y="3593825"/>
            <a:ext cx="1480045" cy="2593550"/>
            <a:chOff x="1175408" y="7634656"/>
            <a:chExt cx="1240983" cy="2061482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1633198" y="7896944"/>
              <a:ext cx="308731" cy="1799194"/>
            </a:xfrm>
            <a:prstGeom prst="roundRect">
              <a:avLst>
                <a:gd name="adj" fmla="val 7165"/>
              </a:avLst>
            </a:prstGeom>
            <a:solidFill>
              <a:sysClr val="window" lastClr="FFFFFF">
                <a:lumMod val="95000"/>
                <a:alpha val="87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65314" tIns="32657" rIns="65314" bIns="326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99" name="모서리가 둥근 직사각형 98"/>
            <p:cNvSpPr/>
            <p:nvPr/>
          </p:nvSpPr>
          <p:spPr>
            <a:xfrm>
              <a:off x="1633198" y="8917335"/>
              <a:ext cx="308731" cy="778802"/>
            </a:xfrm>
            <a:prstGeom prst="roundRect">
              <a:avLst>
                <a:gd name="adj" fmla="val 7165"/>
              </a:avLst>
            </a:prstGeom>
            <a:solidFill>
              <a:srgbClr val="FF604F"/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 defTabSz="914400" latinLnBrk="0"/>
              <a:endParaRPr lang="ko-KR" altLang="en-US" sz="1000" kern="0" dirty="0">
                <a:solidFill>
                  <a:prstClr val="black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1175408" y="8485573"/>
              <a:ext cx="459945" cy="1834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23.5 %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175408" y="8774847"/>
              <a:ext cx="459945" cy="1834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19.0 %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endParaRPr>
            </a:p>
          </p:txBody>
        </p:sp>
        <p:cxnSp>
          <p:nvCxnSpPr>
            <p:cNvPr id="102" name="직선 연결선 101"/>
            <p:cNvCxnSpPr/>
            <p:nvPr/>
          </p:nvCxnSpPr>
          <p:spPr>
            <a:xfrm>
              <a:off x="1547711" y="8544406"/>
              <a:ext cx="395472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03" name="직선 연결선 102"/>
            <p:cNvCxnSpPr/>
            <p:nvPr/>
          </p:nvCxnSpPr>
          <p:spPr>
            <a:xfrm>
              <a:off x="1547711" y="8836225"/>
              <a:ext cx="395472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TextBox 103"/>
            <p:cNvSpPr txBox="1"/>
            <p:nvPr/>
          </p:nvSpPr>
          <p:spPr>
            <a:xfrm>
              <a:off x="1175408" y="8628061"/>
              <a:ext cx="498923" cy="1834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정상구간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956446" y="8332645"/>
              <a:ext cx="459945" cy="33025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17.4 %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604F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주의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57413" y="7634656"/>
              <a:ext cx="617202" cy="22017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산소농도</a:t>
              </a:r>
            </a:p>
          </p:txBody>
        </p:sp>
      </p:grpSp>
      <p:grpSp>
        <p:nvGrpSpPr>
          <p:cNvPr id="107" name="그룹 106"/>
          <p:cNvGrpSpPr/>
          <p:nvPr/>
        </p:nvGrpSpPr>
        <p:grpSpPr>
          <a:xfrm>
            <a:off x="1999444" y="3593826"/>
            <a:ext cx="1371404" cy="2714722"/>
            <a:chOff x="2330279" y="7634657"/>
            <a:chExt cx="1149889" cy="2157795"/>
          </a:xfrm>
        </p:grpSpPr>
        <p:sp>
          <p:nvSpPr>
            <p:cNvPr id="108" name="모서리가 둥근 직사각형 107"/>
            <p:cNvSpPr/>
            <p:nvPr/>
          </p:nvSpPr>
          <p:spPr>
            <a:xfrm>
              <a:off x="2772258" y="7896944"/>
              <a:ext cx="308731" cy="1799194"/>
            </a:xfrm>
            <a:prstGeom prst="roundRect">
              <a:avLst>
                <a:gd name="adj" fmla="val 7165"/>
              </a:avLst>
            </a:prstGeom>
            <a:solidFill>
              <a:sysClr val="window" lastClr="FFFFFF">
                <a:lumMod val="95000"/>
                <a:alpha val="87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48868" tIns="24434" rIns="48868" bIns="244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09" name="모서리가 둥근 직사각형 108"/>
            <p:cNvSpPr/>
            <p:nvPr/>
          </p:nvSpPr>
          <p:spPr>
            <a:xfrm>
              <a:off x="2772258" y="9610002"/>
              <a:ext cx="308731" cy="86135"/>
            </a:xfrm>
            <a:prstGeom prst="roundRect">
              <a:avLst>
                <a:gd name="adj" fmla="val 7165"/>
              </a:avLst>
            </a:prstGeom>
            <a:solidFill>
              <a:srgbClr val="1F497D">
                <a:lumMod val="60000"/>
                <a:lumOff val="40000"/>
              </a:srgb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2337065" y="9305192"/>
              <a:ext cx="449181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30 ppm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endParaRPr>
            </a:p>
          </p:txBody>
        </p:sp>
        <p:cxnSp>
          <p:nvCxnSpPr>
            <p:cNvPr id="111" name="직선 연결선 110"/>
            <p:cNvCxnSpPr/>
            <p:nvPr/>
          </p:nvCxnSpPr>
          <p:spPr>
            <a:xfrm>
              <a:off x="2709368" y="9366569"/>
              <a:ext cx="395472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12" name="TextBox 111"/>
            <p:cNvSpPr txBox="1"/>
            <p:nvPr/>
          </p:nvSpPr>
          <p:spPr>
            <a:xfrm>
              <a:off x="2330279" y="9448586"/>
              <a:ext cx="459933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정상구간</a:t>
              </a: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2563696" y="7634657"/>
              <a:ext cx="693803" cy="201693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일산화탄소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3087439" y="9480672"/>
              <a:ext cx="392729" cy="311780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0 ppm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안전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3639811" y="3593826"/>
            <a:ext cx="1371404" cy="2714722"/>
            <a:chOff x="3491936" y="7634657"/>
            <a:chExt cx="1149889" cy="2157795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33915" y="7896944"/>
              <a:ext cx="308731" cy="1799194"/>
            </a:xfrm>
            <a:prstGeom prst="roundRect">
              <a:avLst>
                <a:gd name="adj" fmla="val 7165"/>
              </a:avLst>
            </a:prstGeom>
            <a:solidFill>
              <a:sysClr val="window" lastClr="FFFFFF">
                <a:lumMod val="95000"/>
                <a:alpha val="87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48868" tIns="24434" rIns="48868" bIns="244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17" name="모서리가 둥근 직사각형 116"/>
            <p:cNvSpPr/>
            <p:nvPr/>
          </p:nvSpPr>
          <p:spPr>
            <a:xfrm>
              <a:off x="3933915" y="9610002"/>
              <a:ext cx="308731" cy="86135"/>
            </a:xfrm>
            <a:prstGeom prst="roundRect">
              <a:avLst>
                <a:gd name="adj" fmla="val 7165"/>
              </a:avLst>
            </a:prstGeom>
            <a:solidFill>
              <a:srgbClr val="1F497D">
                <a:lumMod val="60000"/>
                <a:lumOff val="40000"/>
              </a:srgb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3498722" y="9525096"/>
              <a:ext cx="449181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20 ppm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endParaRPr>
            </a:p>
          </p:txBody>
        </p:sp>
        <p:cxnSp>
          <p:nvCxnSpPr>
            <p:cNvPr id="119" name="직선 연결선 118"/>
            <p:cNvCxnSpPr/>
            <p:nvPr/>
          </p:nvCxnSpPr>
          <p:spPr>
            <a:xfrm>
              <a:off x="3871025" y="9525096"/>
              <a:ext cx="395472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20" name="TextBox 119"/>
            <p:cNvSpPr txBox="1"/>
            <p:nvPr/>
          </p:nvSpPr>
          <p:spPr>
            <a:xfrm>
              <a:off x="3491936" y="9444387"/>
              <a:ext cx="459933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정상구간</a:t>
              </a: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3892022" y="7634657"/>
              <a:ext cx="347032" cy="201693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메탄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249096" y="9480672"/>
              <a:ext cx="392729" cy="311780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0 ppm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안전</a:t>
              </a: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5280178" y="3593826"/>
            <a:ext cx="1371404" cy="2714722"/>
            <a:chOff x="3491936" y="7634657"/>
            <a:chExt cx="1149889" cy="2157795"/>
          </a:xfrm>
        </p:grpSpPr>
        <p:sp>
          <p:nvSpPr>
            <p:cNvPr id="124" name="모서리가 둥근 직사각형 123"/>
            <p:cNvSpPr/>
            <p:nvPr/>
          </p:nvSpPr>
          <p:spPr>
            <a:xfrm>
              <a:off x="3933915" y="7896944"/>
              <a:ext cx="308731" cy="1799194"/>
            </a:xfrm>
            <a:prstGeom prst="roundRect">
              <a:avLst>
                <a:gd name="adj" fmla="val 7165"/>
              </a:avLst>
            </a:prstGeom>
            <a:solidFill>
              <a:sysClr val="window" lastClr="FFFFFF">
                <a:lumMod val="95000"/>
                <a:alpha val="87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48868" tIns="24434" rIns="48868" bIns="244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25" name="모서리가 둥근 직사각형 124"/>
            <p:cNvSpPr/>
            <p:nvPr/>
          </p:nvSpPr>
          <p:spPr>
            <a:xfrm>
              <a:off x="3933915" y="9610002"/>
              <a:ext cx="308731" cy="86135"/>
            </a:xfrm>
            <a:prstGeom prst="roundRect">
              <a:avLst>
                <a:gd name="adj" fmla="val 7165"/>
              </a:avLst>
            </a:prstGeom>
            <a:solidFill>
              <a:srgbClr val="1F497D">
                <a:lumMod val="60000"/>
                <a:lumOff val="40000"/>
              </a:srgb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cs typeface="+mn-cs"/>
              </a:endParaRPr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3498722" y="9525096"/>
              <a:ext cx="449181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20 ppm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endParaRPr>
            </a:p>
          </p:txBody>
        </p:sp>
        <p:cxnSp>
          <p:nvCxnSpPr>
            <p:cNvPr id="127" name="직선 연결선 126"/>
            <p:cNvCxnSpPr/>
            <p:nvPr/>
          </p:nvCxnSpPr>
          <p:spPr>
            <a:xfrm>
              <a:off x="3871025" y="9525096"/>
              <a:ext cx="395472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28" name="TextBox 127"/>
            <p:cNvSpPr txBox="1"/>
            <p:nvPr/>
          </p:nvSpPr>
          <p:spPr>
            <a:xfrm>
              <a:off x="3491936" y="9444387"/>
              <a:ext cx="459933" cy="164998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정상구간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776437" y="7634657"/>
              <a:ext cx="578212" cy="201693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황화수소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249096" y="9480672"/>
              <a:ext cx="392729" cy="311780"/>
            </a:xfrm>
            <a:prstGeom prst="rect">
              <a:avLst/>
            </a:prstGeom>
            <a:noFill/>
          </p:spPr>
          <p:txBody>
            <a:bodyPr wrap="none" lIns="68415" tIns="34208" rIns="68415" bIns="34208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0 ppm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sym typeface="Wingdings" panose="05000000000000000000" pitchFamily="2" charset="2"/>
                </a:rPr>
                <a:t>안전</a:t>
              </a:r>
            </a:p>
          </p:txBody>
        </p:sp>
      </p:grpSp>
      <p:sp>
        <p:nvSpPr>
          <p:cNvPr id="131" name="TextBox 130"/>
          <p:cNvSpPr txBox="1"/>
          <p:nvPr/>
        </p:nvSpPr>
        <p:spPr>
          <a:xfrm>
            <a:off x="69088" y="2905008"/>
            <a:ext cx="68705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800" dirty="0">
                <a:solidFill>
                  <a:srgbClr val="FF604F"/>
                </a:solidFill>
                <a:latin typeface="+mj-lt"/>
                <a:ea typeface="맑은 고딕" panose="020B0503020000020004" pitchFamily="50" charset="-127"/>
              </a:rPr>
              <a:t>산소농도 </a:t>
            </a:r>
            <a:r>
              <a:rPr lang="en-US" altLang="ko-KR" sz="2800" dirty="0">
                <a:solidFill>
                  <a:srgbClr val="FF604F"/>
                </a:solidFill>
                <a:latin typeface="+mj-lt"/>
                <a:ea typeface="맑은 고딕" panose="020B0503020000020004" pitchFamily="50" charset="-127"/>
              </a:rPr>
              <a:t>00% </a:t>
            </a:r>
            <a:r>
              <a:rPr lang="ko-KR" altLang="en-US" sz="2800">
                <a:solidFill>
                  <a:srgbClr val="FF604F"/>
                </a:solidFill>
                <a:latin typeface="+mj-lt"/>
                <a:ea typeface="맑은 고딕" panose="020B0503020000020004" pitchFamily="50" charset="-127"/>
              </a:rPr>
              <a:t>주의가 </a:t>
            </a:r>
            <a:r>
              <a:rPr lang="ko-KR" altLang="en-US" sz="2800" dirty="0">
                <a:solidFill>
                  <a:srgbClr val="FF604F"/>
                </a:solidFill>
                <a:latin typeface="+mj-lt"/>
                <a:ea typeface="맑은 고딕" panose="020B0503020000020004" pitchFamily="50" charset="-127"/>
              </a:rPr>
              <a:t>필요합니다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510761" y="7358471"/>
            <a:ext cx="2273378" cy="246221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r"/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+mn-ea"/>
                <a:sym typeface="Wingdings" panose="05000000000000000000" pitchFamily="2" charset="2"/>
              </a:rPr>
              <a:t>최종 측정시간 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+mn-ea"/>
                <a:sym typeface="Wingdings" panose="05000000000000000000" pitchFamily="2" charset="2"/>
              </a:rPr>
              <a:t>|  </a:t>
            </a:r>
            <a:r>
              <a:rPr lang="en-US" altLang="ko-KR" sz="1000" b="1" dirty="0">
                <a:latin typeface="+mn-ea"/>
                <a:sym typeface="Wingdings" panose="05000000000000000000" pitchFamily="2" charset="2"/>
              </a:rPr>
              <a:t>00.00.00 15:19:00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293677" y="7358471"/>
            <a:ext cx="2273378" cy="246221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r"/>
            <a:r>
              <a:rPr lang="ko-KR" altLang="en-US" sz="1000" dirty="0">
                <a:solidFill>
                  <a:schemeClr val="bg1">
                    <a:lumMod val="50000"/>
                  </a:schemeClr>
                </a:solidFill>
                <a:latin typeface="+mn-ea"/>
                <a:sym typeface="Wingdings" panose="05000000000000000000" pitchFamily="2" charset="2"/>
              </a:rPr>
              <a:t>최종 설치시간  </a:t>
            </a:r>
            <a:r>
              <a:rPr lang="en-US" altLang="ko-KR" sz="1000" dirty="0">
                <a:solidFill>
                  <a:schemeClr val="bg1">
                    <a:lumMod val="50000"/>
                  </a:schemeClr>
                </a:solidFill>
                <a:latin typeface="+mn-ea"/>
                <a:sym typeface="Wingdings" panose="05000000000000000000" pitchFamily="2" charset="2"/>
              </a:rPr>
              <a:t>|  </a:t>
            </a:r>
            <a:r>
              <a:rPr lang="en-US" altLang="ko-KR" sz="1000" b="1" dirty="0">
                <a:latin typeface="+mn-ea"/>
                <a:sym typeface="Wingdings" panose="05000000000000000000" pitchFamily="2" charset="2"/>
              </a:rPr>
              <a:t>00.00.00 09:07:20</a:t>
            </a:r>
          </a:p>
        </p:txBody>
      </p:sp>
      <p:grpSp>
        <p:nvGrpSpPr>
          <p:cNvPr id="134" name="그룹 133"/>
          <p:cNvGrpSpPr/>
          <p:nvPr/>
        </p:nvGrpSpPr>
        <p:grpSpPr>
          <a:xfrm>
            <a:off x="565971" y="6584139"/>
            <a:ext cx="5970053" cy="643960"/>
            <a:chOff x="7453705" y="3899764"/>
            <a:chExt cx="3609387" cy="1117833"/>
          </a:xfrm>
        </p:grpSpPr>
        <p:grpSp>
          <p:nvGrpSpPr>
            <p:cNvPr id="135" name="그룹 134"/>
            <p:cNvGrpSpPr/>
            <p:nvPr/>
          </p:nvGrpSpPr>
          <p:grpSpPr>
            <a:xfrm>
              <a:off x="7453705" y="3900946"/>
              <a:ext cx="1748985" cy="1116651"/>
              <a:chOff x="11008122" y="4581582"/>
              <a:chExt cx="1307906" cy="687299"/>
            </a:xfrm>
          </p:grpSpPr>
          <p:sp>
            <p:nvSpPr>
              <p:cNvPr id="140" name="직사각형 139"/>
              <p:cNvSpPr/>
              <p:nvPr/>
            </p:nvSpPr>
            <p:spPr>
              <a:xfrm>
                <a:off x="11008122" y="4581582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41" name="TextBox 140"/>
              <p:cNvSpPr txBox="1"/>
              <p:nvPr/>
            </p:nvSpPr>
            <p:spPr>
              <a:xfrm>
                <a:off x="11060554" y="4658884"/>
                <a:ext cx="187003" cy="15628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11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온도</a:t>
                </a:r>
                <a:endPara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42" name="TextBox 141"/>
              <p:cNvSpPr txBox="1"/>
              <p:nvPr/>
            </p:nvSpPr>
            <p:spPr>
              <a:xfrm>
                <a:off x="11547633" y="4764306"/>
                <a:ext cx="474701" cy="41676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3200" b="1" dirty="0">
                    <a:solidFill>
                      <a:srgbClr val="404040"/>
                    </a:solidFill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27</a:t>
                </a:r>
                <a:r>
                  <a:rPr lang="en-US" altLang="ko-KR" sz="11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 ℃</a:t>
                </a:r>
                <a:endParaRPr lang="en-US" altLang="ko-KR" sz="3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136" name="그룹 135"/>
            <p:cNvGrpSpPr/>
            <p:nvPr/>
          </p:nvGrpSpPr>
          <p:grpSpPr>
            <a:xfrm>
              <a:off x="9314107" y="3899764"/>
              <a:ext cx="1748985" cy="1116651"/>
              <a:chOff x="12358595" y="4581582"/>
              <a:chExt cx="1307906" cy="687299"/>
            </a:xfrm>
          </p:grpSpPr>
          <p:sp>
            <p:nvSpPr>
              <p:cNvPr id="137" name="직사각형 136"/>
              <p:cNvSpPr/>
              <p:nvPr/>
            </p:nvSpPr>
            <p:spPr>
              <a:xfrm>
                <a:off x="12358595" y="4581582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38" name="TextBox 137"/>
              <p:cNvSpPr txBox="1"/>
              <p:nvPr/>
            </p:nvSpPr>
            <p:spPr>
              <a:xfrm>
                <a:off x="12411027" y="4658885"/>
                <a:ext cx="187003" cy="156285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1100" b="1" dirty="0"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습도</a:t>
                </a:r>
                <a:endParaRPr lang="en-US" altLang="ko-KR" sz="1100" b="1" dirty="0"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139" name="TextBox 138"/>
              <p:cNvSpPr txBox="1"/>
              <p:nvPr/>
            </p:nvSpPr>
            <p:spPr>
              <a:xfrm>
                <a:off x="12892118" y="4764306"/>
                <a:ext cx="486688" cy="416760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55</a:t>
                </a:r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나눔바른고딕" panose="020B0603020101020101" pitchFamily="50" charset="-127"/>
                    <a:ea typeface="나눔바른고딕" panose="020B0603020101020101" pitchFamily="50" charset="-127"/>
                  </a:rPr>
                  <a:t> %</a:t>
                </a:r>
              </a:p>
            </p:txBody>
          </p:sp>
        </p:grpSp>
      </p:grpSp>
      <p:sp>
        <p:nvSpPr>
          <p:cNvPr id="143" name="모서리가 둥근 직사각형 142"/>
          <p:cNvSpPr/>
          <p:nvPr/>
        </p:nvSpPr>
        <p:spPr>
          <a:xfrm>
            <a:off x="472678" y="7772781"/>
            <a:ext cx="606334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작업현장 보기</a:t>
            </a:r>
          </a:p>
        </p:txBody>
      </p:sp>
      <p:sp>
        <p:nvSpPr>
          <p:cNvPr id="144" name="직사각형 143"/>
          <p:cNvSpPr/>
          <p:nvPr/>
        </p:nvSpPr>
        <p:spPr>
          <a:xfrm>
            <a:off x="6086605" y="23861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5" name="직사각형 144"/>
          <p:cNvSpPr/>
          <p:nvPr/>
        </p:nvSpPr>
        <p:spPr>
          <a:xfrm>
            <a:off x="2559941" y="793926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6" name="직사각형 145"/>
          <p:cNvSpPr/>
          <p:nvPr/>
        </p:nvSpPr>
        <p:spPr>
          <a:xfrm>
            <a:off x="547953" y="307171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47" name="표 1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4633598"/>
              </p:ext>
            </p:extLst>
          </p:nvPr>
        </p:nvGraphicFramePr>
        <p:xfrm>
          <a:off x="10633534" y="1272208"/>
          <a:ext cx="2088232" cy="11443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작업현장 보기 팝업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메시지 내용 노출기준으로 구성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(DB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내용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8" name="모서리가 둥근 사각형 설명선 147"/>
          <p:cNvSpPr/>
          <p:nvPr/>
        </p:nvSpPr>
        <p:spPr>
          <a:xfrm>
            <a:off x="4581748" y="8424056"/>
            <a:ext cx="1248699" cy="407341"/>
          </a:xfrm>
          <a:prstGeom prst="wedgeRoundRectCallout">
            <a:avLst>
              <a:gd name="adj1" fmla="val -75257"/>
              <a:gd name="adj2" fmla="val -129679"/>
              <a:gd name="adj3" fmla="val 16667"/>
            </a:avLst>
          </a:prstGeom>
          <a:solidFill>
            <a:srgbClr val="FF0000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009</a:t>
            </a:r>
          </a:p>
          <a:p>
            <a:pPr algn="ctr"/>
            <a:r>
              <a:rPr lang="ko-KR" altLang="en-US" sz="800" dirty="0"/>
              <a:t>작업현장보기 팝업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가스위험 알림</a:t>
            </a:r>
            <a:endParaRPr lang="ko-KR" altLang="en-US" sz="900" dirty="0">
              <a:latin typeface="+mn-ea"/>
            </a:endParaRPr>
          </a:p>
        </p:txBody>
      </p:sp>
      <p:sp>
        <p:nvSpPr>
          <p:cNvPr id="261" name="직사각형 260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모서리가 둥근 직사각형 263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8" name="자유형 267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모서리가 둥근 직사각형 268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3" name="자유형 272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4" name="모서리가 둥근 직사각형 273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76" name="TextBox 275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8" name="자유형 277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모서리가 둥근 직사각형 278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3" name="자유형 282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85" name="직선 연결선 284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" name="TextBox 285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87" name="그림 28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88" name="그림 28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89" name="모서리가 둥근 직사각형 288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91" name="TextBox 290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92" name="TextBox 291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3" name="자유형 292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4" name="모서리가 둥근 직사각형 293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5" name="TextBox 294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8" name="자유형 297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0" name="TextBox 299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02" name="TextBox 301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03" name="자유형 302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4" name="모서리가 둥근 직사각형 303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5" name="TextBox 304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306" name="TextBox 305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07" name="TextBox 306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08" name="자유형 307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9" name="모서리가 둥근 직사각형 308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2" name="TextBox 311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13" name="자유형 312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4" name="모서리가 둥근 직사각형 313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316" name="TextBox 315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18" name="자유형 317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19" name="그림 31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320" name="그림 31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321" name="그림 32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322" name="그림 32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323" name="그림 32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324" name="모서리가 둥근 직사각형 323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7" name="TextBox 326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328" name="자유형 327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29" name="그림 32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330" name="그림 32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331" name="그림 33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332" name="그림 331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333" name="TextBox 332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4" name="TextBox 333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5" name="TextBox 334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6" name="TextBox 335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7" name="TextBox 336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8" name="TextBox 337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9" name="TextBox 338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40" name="TextBox 339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41" name="TextBox 340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42" name="TextBox 341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43" name="TextBox 342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50" name="모서리가 둥근 직사각형 349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1" name="TextBox 350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52" name="TextBox 351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53" name="자유형 352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4" name="TextBox 353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55" name="모서리가 둥근 직사각형 354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6" name="TextBox 355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57" name="TextBox 356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58" name="자유형 357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9" name="TextBox 358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60" name="그림 359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61" name="그림 360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62" name="모서리가 둥근 직사각형 361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3" name="TextBox 362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64" name="TextBox 363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65" name="자유형 364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6" name="TextBox 365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67" name="그림 36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68" name="TextBox 367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69" name="모서리가 둥근 직사각형 368"/>
          <p:cNvSpPr/>
          <p:nvPr/>
        </p:nvSpPr>
        <p:spPr>
          <a:xfrm>
            <a:off x="7553358" y="1163395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66" name="그룹 165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67" name="모서리가 둥근 직사각형 16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5" name="자유형 17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6" name="그림 17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7" name="TextBox 17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8" name="그룹 177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79" name="모서리가 둥근 직사각형 17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83" name="자유형 18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4" name="그림 18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5" name="TextBox 18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87" name="모서리가 둥근 직사각형 18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91" name="자유형 19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2" name="그림 19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93" name="TextBox 19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94" name="그룹 193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95" name="모서리가 둥근 직사각형 19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99" name="자유형 19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00" name="그림 19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201" name="TextBox 20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202" name="직사각형 201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3" name="모서리가 둥근 직사각형 202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0007394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/>
        </p:nvSpPr>
        <p:spPr>
          <a:xfrm>
            <a:off x="820200" y="1920280"/>
            <a:ext cx="8964976" cy="61926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159120" y="2124014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072208" y="2150956"/>
            <a:ext cx="30412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 dirty="0"/>
              <a:t>[4</a:t>
            </a:r>
            <a:r>
              <a:rPr lang="ko-KR" altLang="en-US" sz="2000" b="1"/>
              <a:t>층 </a:t>
            </a:r>
            <a:r>
              <a:rPr lang="en-US" altLang="ko-KR" sz="2000" b="1" dirty="0"/>
              <a:t>E-1 </a:t>
            </a:r>
            <a:r>
              <a:rPr lang="ko-KR" altLang="en-US" sz="2000" b="1"/>
              <a:t>구역</a:t>
            </a:r>
            <a:r>
              <a:rPr lang="en-US" altLang="ko-KR" sz="2000" b="1" dirty="0"/>
              <a:t>, </a:t>
            </a:r>
            <a:r>
              <a:rPr lang="ko-KR" altLang="en-US" sz="2000" b="1"/>
              <a:t>일반구역</a:t>
            </a:r>
            <a:r>
              <a:rPr lang="en-US" altLang="ko-KR" sz="2000" b="1" dirty="0"/>
              <a:t>]</a:t>
            </a:r>
            <a:endParaRPr lang="ko-KR" altLang="en-US" sz="2000" dirty="0"/>
          </a:p>
        </p:txBody>
      </p:sp>
      <p:grpSp>
        <p:nvGrpSpPr>
          <p:cNvPr id="6" name="그룹 5"/>
          <p:cNvGrpSpPr/>
          <p:nvPr/>
        </p:nvGrpSpPr>
        <p:grpSpPr>
          <a:xfrm>
            <a:off x="4079329" y="3420582"/>
            <a:ext cx="2069926" cy="1910702"/>
            <a:chOff x="4024536" y="4003252"/>
            <a:chExt cx="2465973" cy="2276283"/>
          </a:xfrm>
        </p:grpSpPr>
        <p:sp>
          <p:nvSpPr>
            <p:cNvPr id="7" name="타원 6"/>
            <p:cNvSpPr/>
            <p:nvPr/>
          </p:nvSpPr>
          <p:spPr>
            <a:xfrm>
              <a:off x="4024536" y="4003252"/>
              <a:ext cx="2465973" cy="2276283"/>
            </a:xfrm>
            <a:prstGeom prst="ellipse">
              <a:avLst/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endParaRPr lang="ko-KR" altLang="en-US" sz="1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" name="타원 7"/>
            <p:cNvSpPr/>
            <p:nvPr/>
          </p:nvSpPr>
          <p:spPr>
            <a:xfrm>
              <a:off x="4186252" y="4152528"/>
              <a:ext cx="2142540" cy="1977730"/>
            </a:xfrm>
            <a:prstGeom prst="ellipse">
              <a:avLst/>
            </a:prstGeom>
            <a:solidFill>
              <a:srgbClr val="C00000">
                <a:alpha val="48000"/>
              </a:srgb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15" tIns="34208" rIns="68415" bIns="34208" rtlCol="0" anchor="ctr"/>
            <a:lstStyle/>
            <a:p>
              <a:pPr algn="ctr"/>
              <a:r>
                <a:rPr lang="ko-KR" altLang="en-US" sz="32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대피</a:t>
              </a:r>
            </a:p>
          </p:txBody>
        </p:sp>
      </p:grpSp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1072208" y="6450383"/>
          <a:ext cx="8516148" cy="15109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19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9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9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19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935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1935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4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소속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방문구분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심박수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일산화탄소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김지민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xx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밀폐공간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임직원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김지민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xx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밀폐공간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임직원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4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김지민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xx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밀폐공간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임직원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김지민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xxxx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xx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밀폐공간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수시 방문자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120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위험</a:t>
                      </a:r>
                    </a:p>
                  </a:txBody>
                  <a:tcPr marL="50541" marR="50541" marT="23326" marB="23326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/>
        </p:nvGraphicFramePr>
        <p:xfrm>
          <a:off x="10633534" y="1272208"/>
          <a:ext cx="2088232" cy="5544616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작업현장 상세보기 버튼 터치 시 출력 팝업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심박수 표현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일산화탄소 </a:t>
                      </a:r>
                      <a:r>
                        <a:rPr lang="en-US" altLang="ko-KR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6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정상</a:t>
                      </a:r>
                      <a:r>
                        <a:rPr lang="en-US" altLang="ko-KR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</a:t>
                      </a:r>
                      <a:r>
                        <a:rPr lang="ko-KR" altLang="en-US" sz="6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위험</a:t>
                      </a:r>
                      <a:r>
                        <a:rPr lang="en-US" altLang="ko-KR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 </a:t>
                      </a:r>
                      <a:r>
                        <a:rPr lang="ko-KR" altLang="en-US" sz="6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표현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0575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6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6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인원대피 메시지 발생 </a:t>
                      </a:r>
                      <a:endParaRPr lang="en-US" altLang="ko-KR" sz="6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" name="직사각형 10"/>
          <p:cNvSpPr/>
          <p:nvPr/>
        </p:nvSpPr>
        <p:spPr>
          <a:xfrm>
            <a:off x="5283983" y="182897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1057235" y="2816045"/>
            <a:ext cx="1690431" cy="771289"/>
          </a:xfrm>
          <a:prstGeom prst="rect">
            <a:avLst/>
          </a:prstGeom>
          <a:solidFill>
            <a:srgbClr val="FF000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ko-KR" altLang="en-US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산소</a:t>
            </a:r>
          </a:p>
          <a:p>
            <a:pPr algn="ctr"/>
            <a:r>
              <a:rPr lang="en-US" altLang="ko-KR" sz="2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11.7</a:t>
            </a:r>
            <a:r>
              <a: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%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1057235" y="3661672"/>
            <a:ext cx="1690431" cy="77128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일산화탄소</a:t>
            </a:r>
          </a:p>
          <a:p>
            <a:pPr algn="ctr"/>
            <a:r>
              <a:rPr lang="en-US" altLang="ko-KR" sz="24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45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</a:p>
        </p:txBody>
      </p:sp>
      <p:sp>
        <p:nvSpPr>
          <p:cNvPr id="14" name="직사각형 13"/>
          <p:cNvSpPr/>
          <p:nvPr/>
        </p:nvSpPr>
        <p:spPr>
          <a:xfrm>
            <a:off x="1057235" y="4507301"/>
            <a:ext cx="1690431" cy="77128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메탄</a:t>
            </a:r>
          </a:p>
          <a:p>
            <a:pPr algn="ctr"/>
            <a:r>
              <a:rPr lang="en-US" altLang="ko-KR" sz="24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1057235" y="5354457"/>
            <a:ext cx="1690431" cy="77128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황화수소</a:t>
            </a:r>
          </a:p>
          <a:p>
            <a:pPr algn="ctr"/>
            <a:r>
              <a:rPr lang="en-US" altLang="ko-KR" sz="24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</a:t>
            </a:r>
            <a:r>
              <a:rPr lang="en-US" altLang="ko-KR" sz="9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ppm</a:t>
            </a:r>
          </a:p>
        </p:txBody>
      </p:sp>
      <p:cxnSp>
        <p:nvCxnSpPr>
          <p:cNvPr id="16" name="직선 연결선 15"/>
          <p:cNvCxnSpPr/>
          <p:nvPr/>
        </p:nvCxnSpPr>
        <p:spPr>
          <a:xfrm>
            <a:off x="1057235" y="6312768"/>
            <a:ext cx="853112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/>
        </p:nvSpPr>
        <p:spPr>
          <a:xfrm>
            <a:off x="7480919" y="5571939"/>
            <a:ext cx="2107441" cy="55380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층 인원대피 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7480919" y="4939535"/>
            <a:ext cx="2107441" cy="55380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구역 인원 대피</a:t>
            </a:r>
          </a:p>
        </p:txBody>
      </p:sp>
      <p:sp>
        <p:nvSpPr>
          <p:cNvPr id="19" name="직사각형 18"/>
          <p:cNvSpPr/>
          <p:nvPr/>
        </p:nvSpPr>
        <p:spPr>
          <a:xfrm>
            <a:off x="7480919" y="4296544"/>
            <a:ext cx="2107441" cy="55380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현장 인원 대피</a:t>
            </a:r>
          </a:p>
        </p:txBody>
      </p:sp>
      <p:sp>
        <p:nvSpPr>
          <p:cNvPr id="20" name="직사각형 19"/>
          <p:cNvSpPr/>
          <p:nvPr/>
        </p:nvSpPr>
        <p:spPr>
          <a:xfrm>
            <a:off x="7480919" y="2816045"/>
            <a:ext cx="2107441" cy="139131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rgbClr val="FF0000"/>
                </a:solidFill>
              </a:rPr>
              <a:t>[</a:t>
            </a:r>
            <a:r>
              <a:rPr lang="ko-KR" altLang="en-US" sz="1400">
                <a:solidFill>
                  <a:srgbClr val="FF0000"/>
                </a:solidFill>
              </a:rPr>
              <a:t>산소 </a:t>
            </a:r>
            <a:r>
              <a:rPr lang="en-US" altLang="ko-KR" sz="1400" dirty="0">
                <a:solidFill>
                  <a:srgbClr val="FF0000"/>
                </a:solidFill>
              </a:rPr>
              <a:t>17.7% </a:t>
            </a:r>
            <a:r>
              <a:rPr lang="ko-KR" altLang="en-US" sz="1400">
                <a:solidFill>
                  <a:srgbClr val="FF0000"/>
                </a:solidFill>
              </a:rPr>
              <a:t>위험</a:t>
            </a:r>
            <a:r>
              <a:rPr lang="en-US" altLang="ko-KR" sz="1400" dirty="0">
                <a:solidFill>
                  <a:srgbClr val="FF0000"/>
                </a:solidFill>
              </a:rPr>
              <a:t>]</a:t>
            </a:r>
            <a:r>
              <a:rPr lang="ko-KR" altLang="en-US" sz="1400">
                <a:solidFill>
                  <a:srgbClr val="FF0000"/>
                </a:solidFill>
              </a:rPr>
              <a:t> </a:t>
            </a:r>
            <a:endParaRPr lang="en-US" altLang="ko-KR" sz="1400" dirty="0">
              <a:solidFill>
                <a:srgbClr val="FF0000"/>
              </a:solidFill>
            </a:endParaRPr>
          </a:p>
          <a:p>
            <a:pPr algn="ctr"/>
            <a:r>
              <a:rPr lang="ko-KR" altLang="en-US" sz="2400" b="1" dirty="0">
                <a:solidFill>
                  <a:srgbClr val="FF0000"/>
                </a:solidFill>
              </a:rPr>
              <a:t>작업중단</a:t>
            </a:r>
          </a:p>
        </p:txBody>
      </p:sp>
      <p:sp>
        <p:nvSpPr>
          <p:cNvPr id="21" name="직사각형 20"/>
          <p:cNvSpPr/>
          <p:nvPr/>
        </p:nvSpPr>
        <p:spPr>
          <a:xfrm>
            <a:off x="7392019" y="620825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8777064" y="620825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1116840" y="2450928"/>
            <a:ext cx="1476648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전체 현장 대피 메시지를 발송하겠습니까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?</a:t>
            </a: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관계된 디바이스의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 </a:t>
            </a:r>
            <a:r>
              <a:rPr lang="ko-KR" altLang="en-US" sz="6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경보가 발생됩니다</a:t>
            </a:r>
            <a:endParaRPr lang="ko-KR" altLang="en-US" sz="6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11116840" y="303890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25" name="직사각형 24"/>
          <p:cNvSpPr/>
          <p:nvPr/>
        </p:nvSpPr>
        <p:spPr>
          <a:xfrm>
            <a:off x="11852282" y="303890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6" name="직사각형 25"/>
          <p:cNvSpPr/>
          <p:nvPr/>
        </p:nvSpPr>
        <p:spPr>
          <a:xfrm>
            <a:off x="11116840" y="3630898"/>
            <a:ext cx="1476648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현재 구역에 대피 메시지를 발송하겠습니까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?</a:t>
            </a: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관계된 디바이스의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 </a:t>
            </a:r>
            <a:r>
              <a:rPr lang="ko-KR" altLang="en-US" sz="6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경보가 발생됩니다</a:t>
            </a:r>
            <a:endParaRPr lang="ko-KR" altLang="en-US" sz="6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11116840" y="421887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28" name="직사각형 27"/>
          <p:cNvSpPr/>
          <p:nvPr/>
        </p:nvSpPr>
        <p:spPr>
          <a:xfrm>
            <a:off x="11852282" y="4218879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9" name="직사각형 28"/>
          <p:cNvSpPr/>
          <p:nvPr/>
        </p:nvSpPr>
        <p:spPr>
          <a:xfrm>
            <a:off x="11116840" y="4810803"/>
            <a:ext cx="1476648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현재 층에 대피 메시지를 발송하겠습니까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?</a:t>
            </a: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관계된 디바이스의</a:t>
            </a: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 </a:t>
            </a:r>
            <a:r>
              <a:rPr lang="ko-KR" altLang="en-US" sz="60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경보가 발생됩니다</a:t>
            </a:r>
            <a:endParaRPr lang="ko-KR" altLang="en-US" sz="6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11116840" y="5398784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11852282" y="5398784"/>
            <a:ext cx="741206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32" name="아래쪽 화살표 31"/>
          <p:cNvSpPr/>
          <p:nvPr/>
        </p:nvSpPr>
        <p:spPr>
          <a:xfrm>
            <a:off x="11456238" y="5951231"/>
            <a:ext cx="792088" cy="173016"/>
          </a:xfrm>
          <a:prstGeom prst="downArrow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endParaRPr lang="ko-KR" altLang="en-US" sz="600" dirty="0">
              <a:solidFill>
                <a:schemeClr val="tx1"/>
              </a:solidFill>
              <a:latin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1048691" y="6283151"/>
            <a:ext cx="167307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1. </a:t>
            </a:r>
            <a:r>
              <a:rPr lang="ko-KR" altLang="en-US" sz="800" dirty="0"/>
              <a:t>관계된 </a:t>
            </a:r>
            <a:r>
              <a:rPr lang="en-US" altLang="ko-KR" sz="800" dirty="0"/>
              <a:t>AP</a:t>
            </a:r>
            <a:r>
              <a:rPr lang="ko-KR" altLang="en-US" sz="800" dirty="0"/>
              <a:t>의 경보가 발생되며</a:t>
            </a:r>
            <a:r>
              <a:rPr lang="en-US" altLang="ko-KR" sz="800" dirty="0"/>
              <a:t>, </a:t>
            </a:r>
          </a:p>
          <a:p>
            <a:r>
              <a:rPr lang="en-US" altLang="ko-KR" sz="800" dirty="0"/>
              <a:t>2. </a:t>
            </a:r>
            <a:r>
              <a:rPr lang="ko-KR" altLang="en-US" sz="800" dirty="0"/>
              <a:t>연결된 </a:t>
            </a:r>
            <a:r>
              <a:rPr lang="en-US" altLang="ko-KR" sz="800" dirty="0"/>
              <a:t>[</a:t>
            </a:r>
            <a:r>
              <a:rPr lang="ko-KR" altLang="en-US" sz="800" dirty="0"/>
              <a:t>가스센서</a:t>
            </a:r>
            <a:r>
              <a:rPr lang="en-US" altLang="ko-KR" sz="800" dirty="0"/>
              <a:t>] </a:t>
            </a:r>
            <a:r>
              <a:rPr lang="ko-KR" altLang="en-US" sz="800" dirty="0"/>
              <a:t>의 경보</a:t>
            </a:r>
            <a:r>
              <a:rPr lang="en-US" altLang="ko-KR" sz="800" dirty="0"/>
              <a:t> </a:t>
            </a:r>
            <a:r>
              <a:rPr lang="ko-KR" altLang="en-US" sz="800" dirty="0"/>
              <a:t>발생</a:t>
            </a:r>
            <a:r>
              <a:rPr lang="en-US" altLang="ko-KR" sz="800" dirty="0"/>
              <a:t>.</a:t>
            </a:r>
          </a:p>
          <a:p>
            <a:r>
              <a:rPr lang="en-US" altLang="ko-KR" sz="800" dirty="0"/>
              <a:t>3. </a:t>
            </a:r>
            <a:r>
              <a:rPr lang="ko-KR" altLang="en-US" sz="800" dirty="0"/>
              <a:t>연결된 </a:t>
            </a:r>
            <a:r>
              <a:rPr lang="en-US" altLang="ko-KR" sz="800" dirty="0"/>
              <a:t>[</a:t>
            </a:r>
            <a:r>
              <a:rPr lang="ko-KR" altLang="en-US" sz="800" dirty="0"/>
              <a:t>안전밴드</a:t>
            </a:r>
            <a:r>
              <a:rPr lang="en-US" altLang="ko-KR" sz="800" dirty="0"/>
              <a:t>] </a:t>
            </a:r>
            <a:r>
              <a:rPr lang="ko-KR" altLang="en-US" sz="800" dirty="0"/>
              <a:t>경보 발생</a:t>
            </a:r>
          </a:p>
        </p:txBody>
      </p:sp>
      <p:sp>
        <p:nvSpPr>
          <p:cNvPr id="34" name="직사각형 33"/>
          <p:cNvSpPr/>
          <p:nvPr/>
        </p:nvSpPr>
        <p:spPr>
          <a:xfrm>
            <a:off x="7284103" y="44594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5" name="모서리가 둥근 직사각형 3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009</a:t>
            </a:r>
            <a:endParaRPr lang="ko-KR" altLang="en-US" sz="800" dirty="0">
              <a:latin typeface="+mn-ea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위험 작업현장 보기</a:t>
            </a:r>
          </a:p>
        </p:txBody>
      </p:sp>
      <p:sp>
        <p:nvSpPr>
          <p:cNvPr id="38" name="모서리가 둥근 사각형 설명선 37"/>
          <p:cNvSpPr/>
          <p:nvPr/>
        </p:nvSpPr>
        <p:spPr>
          <a:xfrm>
            <a:off x="10217031" y="2531335"/>
            <a:ext cx="800850" cy="215587"/>
          </a:xfrm>
          <a:prstGeom prst="wedgeRoundRectCallout">
            <a:avLst>
              <a:gd name="adj1" fmla="val 78147"/>
              <a:gd name="adj2" fmla="val 49471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sp>
        <p:nvSpPr>
          <p:cNvPr id="39" name="모서리가 둥근 사각형 설명선 38"/>
          <p:cNvSpPr/>
          <p:nvPr/>
        </p:nvSpPr>
        <p:spPr>
          <a:xfrm>
            <a:off x="10217031" y="3613972"/>
            <a:ext cx="800850" cy="215587"/>
          </a:xfrm>
          <a:prstGeom prst="wedgeRoundRectCallout">
            <a:avLst>
              <a:gd name="adj1" fmla="val 78147"/>
              <a:gd name="adj2" fmla="val 49471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sp>
        <p:nvSpPr>
          <p:cNvPr id="40" name="모서리가 둥근 사각형 설명선 39"/>
          <p:cNvSpPr/>
          <p:nvPr/>
        </p:nvSpPr>
        <p:spPr>
          <a:xfrm>
            <a:off x="10217031" y="4939183"/>
            <a:ext cx="800850" cy="215587"/>
          </a:xfrm>
          <a:prstGeom prst="wedgeRoundRectCallout">
            <a:avLst>
              <a:gd name="adj1" fmla="val 78147"/>
              <a:gd name="adj2" fmla="val 49471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103414721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직사각형 93"/>
          <p:cNvSpPr/>
          <p:nvPr/>
        </p:nvSpPr>
        <p:spPr>
          <a:xfrm>
            <a:off x="1561414" y="615622"/>
            <a:ext cx="4476124" cy="8865497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450503" y="81935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1696984" y="846299"/>
            <a:ext cx="267252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안전밴드 착용자 정보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1953043" y="8761040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29" name="직사각형 128"/>
          <p:cNvSpPr/>
          <p:nvPr/>
        </p:nvSpPr>
        <p:spPr>
          <a:xfrm>
            <a:off x="5224623" y="95586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0" name="직사각형 129"/>
          <p:cNvSpPr/>
          <p:nvPr/>
        </p:nvSpPr>
        <p:spPr>
          <a:xfrm>
            <a:off x="2838480" y="891757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2" name="직사각형 131"/>
          <p:cNvSpPr/>
          <p:nvPr/>
        </p:nvSpPr>
        <p:spPr>
          <a:xfrm>
            <a:off x="1806619" y="1403472"/>
            <a:ext cx="4095701" cy="149197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1980323" y="1615465"/>
            <a:ext cx="956543" cy="928457"/>
            <a:chOff x="7962299" y="2617527"/>
            <a:chExt cx="622093" cy="646131"/>
          </a:xfrm>
        </p:grpSpPr>
        <p:sp>
          <p:nvSpPr>
            <p:cNvPr id="134" name="직사각형 133"/>
            <p:cNvSpPr/>
            <p:nvPr/>
          </p:nvSpPr>
          <p:spPr>
            <a:xfrm>
              <a:off x="7962299" y="2617527"/>
              <a:ext cx="622093" cy="64613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5" name="그림 134"/>
            <p:cNvPicPr>
              <a:picLocks noChangeAspect="1"/>
            </p:cNvPicPr>
            <p:nvPr/>
          </p:nvPicPr>
          <p:blipFill>
            <a:blip r:embed="rId4" cstate="print"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6450" y="2727225"/>
              <a:ext cx="535839" cy="535839"/>
            </a:xfrm>
            <a:prstGeom prst="rect">
              <a:avLst/>
            </a:prstGeom>
          </p:spPr>
        </p:pic>
      </p:grpSp>
      <p:sp>
        <p:nvSpPr>
          <p:cNvPr id="136" name="TextBox 135"/>
          <p:cNvSpPr txBox="1"/>
          <p:nvPr/>
        </p:nvSpPr>
        <p:spPr>
          <a:xfrm>
            <a:off x="2975571" y="2281482"/>
            <a:ext cx="2177199" cy="430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소      속 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: 000 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소속</a:t>
            </a:r>
          </a:p>
          <a:p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입실일시 </a:t>
            </a:r>
            <a:r>
              <a:rPr lang="en-US" altLang="ko-KR" sz="1100" dirty="0">
                <a:latin typeface="+mn-ea"/>
                <a:sym typeface="Wingdings" panose="05000000000000000000" pitchFamily="2" charset="2"/>
              </a:rPr>
              <a:t>: 0000.00.00  15:20:27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2975571" y="1593122"/>
            <a:ext cx="1681871" cy="5386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b="1" dirty="0">
                <a:latin typeface="+mn-ea"/>
                <a:sym typeface="Wingdings" panose="05000000000000000000" pitchFamily="2" charset="2"/>
              </a:rPr>
              <a:t>홍길동</a:t>
            </a:r>
            <a:r>
              <a:rPr lang="ko-KR" altLang="en-US" sz="1100" dirty="0">
                <a:latin typeface="+mn-ea"/>
                <a:sym typeface="Wingdings" panose="05000000000000000000" pitchFamily="2" charset="2"/>
              </a:rPr>
              <a:t> 수시 방문자</a:t>
            </a:r>
            <a:endParaRPr lang="en-US" altLang="ko-KR" sz="1100" dirty="0">
              <a:latin typeface="+mn-ea"/>
              <a:sym typeface="Wingdings" panose="05000000000000000000" pitchFamily="2" charset="2"/>
            </a:endParaRPr>
          </a:p>
          <a:p>
            <a:endParaRPr lang="ko-KR" altLang="en-US" sz="1100" b="1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138" name="모서리가 둥근 직사각형 137"/>
          <p:cNvSpPr/>
          <p:nvPr/>
        </p:nvSpPr>
        <p:spPr>
          <a:xfrm>
            <a:off x="3089532" y="2025122"/>
            <a:ext cx="668331" cy="240408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+mn-ea"/>
              </a:rPr>
              <a:t>일반</a:t>
            </a:r>
          </a:p>
        </p:txBody>
      </p:sp>
      <p:sp>
        <p:nvSpPr>
          <p:cNvPr id="139" name="모서리가 둥근 직사각형 138"/>
          <p:cNvSpPr/>
          <p:nvPr/>
        </p:nvSpPr>
        <p:spPr>
          <a:xfrm>
            <a:off x="3794563" y="2025122"/>
            <a:ext cx="668331" cy="240408"/>
          </a:xfrm>
          <a:prstGeom prst="roundRect">
            <a:avLst>
              <a:gd name="adj" fmla="val 50000"/>
            </a:avLst>
          </a:prstGeom>
          <a:solidFill>
            <a:srgbClr val="1E517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900" dirty="0">
                <a:latin typeface="+mn-ea"/>
              </a:rPr>
              <a:t>통제</a:t>
            </a:r>
          </a:p>
        </p:txBody>
      </p:sp>
      <p:graphicFrame>
        <p:nvGraphicFramePr>
          <p:cNvPr id="140" name="표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4751135"/>
              </p:ext>
            </p:extLst>
          </p:nvPr>
        </p:nvGraphicFramePr>
        <p:xfrm>
          <a:off x="10633534" y="1272208"/>
          <a:ext cx="2088232" cy="23443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경고메시지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Event Popup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메시지 내용 참고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1" name="모서리가 둥근 직사각형 140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023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/>
              <a:t>심박수 이상 알림</a:t>
            </a:r>
            <a:endParaRPr lang="ko-KR" altLang="en-US" sz="900" dirty="0">
              <a:latin typeface="+mn-ea"/>
            </a:endParaRPr>
          </a:p>
        </p:txBody>
      </p:sp>
      <p:sp>
        <p:nvSpPr>
          <p:cNvPr id="253" name="직사각형 252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0" name="자유형 259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1" name="모서리가 둥근 직사각형 260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63" name="TextBox 262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5" name="자유형 264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0" name="자유형 269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70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5" name="자유형 274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76" name="그룹 275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77" name="직선 연결선 276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TextBox 277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79" name="그림 27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80" name="그림 279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81" name="모서리가 둥근 직사각형 280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3" name="TextBox 282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5" name="자유형 284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6" name="모서리가 둥근 직사각형 285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7" name="TextBox 286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8" name="TextBox 287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0" name="자유형 289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1" name="모서리가 둥근 직사각형 290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2" name="TextBox 291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94" name="TextBox 293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5" name="자유형 294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6" name="모서리가 둥근 직사각형 295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00" name="자유형 299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1" name="모서리가 둥근 직사각형 300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2" name="TextBox 301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303" name="TextBox 302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04" name="TextBox 303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05" name="자유형 304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6" name="모서리가 둥근 직사각형 305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7" name="TextBox 306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308" name="TextBox 307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09" name="TextBox 308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10" name="자유형 309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11" name="그림 31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312" name="그림 31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313" name="그림 3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314" name="그림 313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315" name="그림 31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316" name="모서리가 둥근 직사각형 315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8" name="TextBox 317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320" name="자유형 319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21" name="그림 320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322" name="그림 321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323" name="그림 322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324" name="그림 32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325" name="TextBox 324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6" name="TextBox 325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7" name="TextBox 326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8" name="TextBox 327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9" name="TextBox 328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0" name="TextBox 329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1" name="TextBox 330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2" name="TextBox 331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33" name="TextBox 332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34" name="TextBox 333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35" name="TextBox 334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42" name="모서리가 둥근 직사각형 341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3" name="TextBox 342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4" name="TextBox 343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45" name="자유형 344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6" name="TextBox 345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47" name="모서리가 둥근 직사각형 346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8" name="TextBox 347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9" name="TextBox 348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50" name="자유형 349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1" name="TextBox 350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52" name="그림 351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53" name="그림 352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54" name="모서리가 둥근 직사각형 353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5" name="TextBox 354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56" name="TextBox 355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57" name="자유형 356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8" name="TextBox 357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59" name="그림 358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60" name="TextBox 359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61" name="모서리가 둥근 직사각형 360"/>
          <p:cNvSpPr/>
          <p:nvPr/>
        </p:nvSpPr>
        <p:spPr>
          <a:xfrm>
            <a:off x="7553358" y="1754290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58" name="그룹 157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59" name="모서리가 둥근 직사각형 15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7" name="자유형 16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8" name="그림 167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9" name="TextBox 16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0" name="그룹 169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71" name="모서리가 둥근 직사각형 17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5" name="자유형 17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6" name="그림 17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7" name="TextBox 17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8" name="그룹 177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79" name="모서리가 둥근 직사각형 17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83" name="자유형 18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4" name="그림 18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5" name="TextBox 18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86" name="그룹 185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87" name="모서리가 둥근 직사각형 18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91" name="자유형 19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2" name="그림 19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93" name="TextBox 19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94" name="직사각형 193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5" name="모서리가 둥근 직사각형 194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7" name="모서리가 둥근 직사각형 196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200" name="모서리가 둥근 직사각형 199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201" name="아래쪽 화살표 200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grpSp>
        <p:nvGrpSpPr>
          <p:cNvPr id="249" name="그룹 248"/>
          <p:cNvGrpSpPr/>
          <p:nvPr/>
        </p:nvGrpSpPr>
        <p:grpSpPr>
          <a:xfrm>
            <a:off x="1645663" y="3704618"/>
            <a:ext cx="4297586" cy="4933206"/>
            <a:chOff x="12907376" y="5198843"/>
            <a:chExt cx="2929009" cy="3859905"/>
          </a:xfrm>
        </p:grpSpPr>
        <p:sp>
          <p:nvSpPr>
            <p:cNvPr id="250" name="직사각형 249"/>
            <p:cNvSpPr/>
            <p:nvPr/>
          </p:nvSpPr>
          <p:spPr>
            <a:xfrm>
              <a:off x="12907376" y="5198843"/>
              <a:ext cx="2929009" cy="38599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251" name="그룹 250"/>
            <p:cNvGrpSpPr/>
            <p:nvPr/>
          </p:nvGrpSpPr>
          <p:grpSpPr>
            <a:xfrm>
              <a:off x="13013299" y="6663063"/>
              <a:ext cx="2658379" cy="2309405"/>
              <a:chOff x="7234109" y="5538948"/>
              <a:chExt cx="2658379" cy="2071405"/>
            </a:xfrm>
          </p:grpSpPr>
          <p:sp>
            <p:nvSpPr>
              <p:cNvPr id="371" name="직사각형 370"/>
              <p:cNvSpPr/>
              <p:nvPr/>
            </p:nvSpPr>
            <p:spPr>
              <a:xfrm>
                <a:off x="7234109" y="5538948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2" name="TextBox 371"/>
              <p:cNvSpPr txBox="1"/>
              <p:nvPr/>
            </p:nvSpPr>
            <p:spPr>
              <a:xfrm>
                <a:off x="7624116" y="5654559"/>
                <a:ext cx="535403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rgbClr val="404040"/>
                    </a:solidFill>
                    <a:latin typeface="+mn-ea"/>
                  </a:rPr>
                  <a:t>0</a:t>
                </a:r>
                <a:r>
                  <a:rPr lang="en-US" altLang="ko-KR" sz="105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ppm</a:t>
                </a:r>
                <a:endPara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73" name="TextBox 372"/>
              <p:cNvSpPr txBox="1"/>
              <p:nvPr/>
            </p:nvSpPr>
            <p:spPr>
              <a:xfrm>
                <a:off x="7286541" y="5583539"/>
                <a:ext cx="671659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일산화탄소 </a:t>
                </a:r>
                <a:r>
                  <a:rPr lang="en-US" altLang="ko-KR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(CO)</a:t>
                </a:r>
              </a:p>
            </p:txBody>
          </p:sp>
          <p:sp>
            <p:nvSpPr>
              <p:cNvPr id="374" name="직사각형 373"/>
              <p:cNvSpPr/>
              <p:nvPr/>
            </p:nvSpPr>
            <p:spPr>
              <a:xfrm>
                <a:off x="8584582" y="5538948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5" name="TextBox 374"/>
              <p:cNvSpPr txBox="1"/>
              <p:nvPr/>
            </p:nvSpPr>
            <p:spPr>
              <a:xfrm>
                <a:off x="8795859" y="5654559"/>
                <a:ext cx="892872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20.7</a:t>
                </a:r>
                <a:r>
                  <a:rPr lang="en-US" altLang="ko-KR" sz="11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%</a:t>
                </a:r>
              </a:p>
            </p:txBody>
          </p:sp>
          <p:sp>
            <p:nvSpPr>
              <p:cNvPr id="376" name="TextBox 375"/>
              <p:cNvSpPr txBox="1"/>
              <p:nvPr/>
            </p:nvSpPr>
            <p:spPr>
              <a:xfrm>
                <a:off x="8637014" y="5583539"/>
                <a:ext cx="378309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 dirty="0">
                    <a:latin typeface="+mn-ea"/>
                  </a:rPr>
                  <a:t>산소 </a:t>
                </a:r>
                <a:r>
                  <a:rPr lang="en-US" altLang="ko-KR" sz="700" b="1" dirty="0">
                    <a:latin typeface="+mn-ea"/>
                  </a:rPr>
                  <a:t>(</a:t>
                </a:r>
                <a:r>
                  <a:rPr lang="en-US" altLang="ko-KR" sz="700" dirty="0">
                    <a:latin typeface="+mn-ea"/>
                  </a:rPr>
                  <a:t>O</a:t>
                </a:r>
                <a:r>
                  <a:rPr lang="en-US" altLang="ko-KR" sz="700" baseline="-25000" dirty="0">
                    <a:latin typeface="+mn-ea"/>
                  </a:rPr>
                  <a:t>2</a:t>
                </a:r>
                <a:r>
                  <a:rPr lang="en-US" altLang="ko-KR" sz="700" b="1" dirty="0">
                    <a:latin typeface="+mn-ea"/>
                  </a:rPr>
                  <a:t>)</a:t>
                </a:r>
              </a:p>
            </p:txBody>
          </p:sp>
          <p:sp>
            <p:nvSpPr>
              <p:cNvPr id="377" name="직사각형 376"/>
              <p:cNvSpPr/>
              <p:nvPr/>
            </p:nvSpPr>
            <p:spPr>
              <a:xfrm>
                <a:off x="7234109" y="6231001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8" name="TextBox 377"/>
              <p:cNvSpPr txBox="1"/>
              <p:nvPr/>
            </p:nvSpPr>
            <p:spPr>
              <a:xfrm>
                <a:off x="7608888" y="6346613"/>
                <a:ext cx="565861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rgbClr val="404040"/>
                    </a:solidFill>
                    <a:latin typeface="+mn-ea"/>
                  </a:rPr>
                  <a:t>0</a:t>
                </a:r>
                <a:r>
                  <a:rPr lang="en-US" altLang="ko-KR" sz="105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LEL%</a:t>
                </a:r>
                <a:endPara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79" name="TextBox 378"/>
              <p:cNvSpPr txBox="1"/>
              <p:nvPr/>
            </p:nvSpPr>
            <p:spPr>
              <a:xfrm>
                <a:off x="7286541" y="6275592"/>
                <a:ext cx="179536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메탄</a:t>
                </a:r>
                <a:endParaRPr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0" name="직사각형 379"/>
              <p:cNvSpPr/>
              <p:nvPr/>
            </p:nvSpPr>
            <p:spPr>
              <a:xfrm>
                <a:off x="8584582" y="6231001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1" name="TextBox 380"/>
              <p:cNvSpPr txBox="1"/>
              <p:nvPr/>
            </p:nvSpPr>
            <p:spPr>
              <a:xfrm>
                <a:off x="8960166" y="6346613"/>
                <a:ext cx="564257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0</a:t>
                </a:r>
                <a:r>
                  <a:rPr lang="en-US" altLang="ko-KR" sz="11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ppm</a:t>
                </a:r>
              </a:p>
            </p:txBody>
          </p:sp>
          <p:sp>
            <p:nvSpPr>
              <p:cNvPr id="382" name="TextBox 381"/>
              <p:cNvSpPr txBox="1"/>
              <p:nvPr/>
            </p:nvSpPr>
            <p:spPr>
              <a:xfrm>
                <a:off x="8637014" y="6275592"/>
                <a:ext cx="359073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 dirty="0">
                    <a:latin typeface="+mn-ea"/>
                  </a:rPr>
                  <a:t>황화수소</a:t>
                </a:r>
                <a:endParaRPr lang="en-US" altLang="ko-KR" sz="700" b="1" dirty="0">
                  <a:latin typeface="+mn-ea"/>
                </a:endParaRPr>
              </a:p>
            </p:txBody>
          </p:sp>
          <p:sp>
            <p:nvSpPr>
              <p:cNvPr id="383" name="직사각형 382"/>
              <p:cNvSpPr/>
              <p:nvPr/>
            </p:nvSpPr>
            <p:spPr>
              <a:xfrm>
                <a:off x="7234109" y="6923054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4" name="직사각형 383"/>
              <p:cNvSpPr/>
              <p:nvPr/>
            </p:nvSpPr>
            <p:spPr>
              <a:xfrm>
                <a:off x="8584582" y="6923054"/>
                <a:ext cx="1307906" cy="68729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D9D9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5" name="TextBox 384"/>
              <p:cNvSpPr txBox="1"/>
              <p:nvPr/>
            </p:nvSpPr>
            <p:spPr>
              <a:xfrm>
                <a:off x="7286541" y="7006032"/>
                <a:ext cx="179536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온도</a:t>
                </a:r>
                <a:endParaRPr lang="en-US" altLang="ko-KR" sz="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6" name="TextBox 385"/>
              <p:cNvSpPr txBox="1"/>
              <p:nvPr/>
            </p:nvSpPr>
            <p:spPr>
              <a:xfrm>
                <a:off x="8637014" y="7006033"/>
                <a:ext cx="179536" cy="1449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b="1" dirty="0">
                    <a:latin typeface="+mn-ea"/>
                  </a:rPr>
                  <a:t>습도</a:t>
                </a:r>
                <a:endParaRPr lang="en-US" altLang="ko-KR" sz="700" b="1" dirty="0">
                  <a:latin typeface="+mn-ea"/>
                </a:endParaRPr>
              </a:p>
            </p:txBody>
          </p:sp>
          <p:sp>
            <p:nvSpPr>
              <p:cNvPr id="387" name="TextBox 386"/>
              <p:cNvSpPr txBox="1"/>
              <p:nvPr/>
            </p:nvSpPr>
            <p:spPr>
              <a:xfrm>
                <a:off x="7595262" y="7024299"/>
                <a:ext cx="593112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rgbClr val="404040"/>
                    </a:solidFill>
                    <a:latin typeface="+mn-ea"/>
                  </a:rPr>
                  <a:t>27</a:t>
                </a:r>
                <a:r>
                  <a:rPr lang="en-US" altLang="ko-KR" sz="105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℃</a:t>
                </a:r>
                <a:endPara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88" name="TextBox 387"/>
              <p:cNvSpPr txBox="1"/>
              <p:nvPr/>
            </p:nvSpPr>
            <p:spPr>
              <a:xfrm>
                <a:off x="8947343" y="7024299"/>
                <a:ext cx="589905" cy="579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sz="28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55</a:t>
                </a:r>
                <a:r>
                  <a:rPr lang="en-US" altLang="ko-KR" sz="11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ea"/>
                  </a:rPr>
                  <a:t> %</a:t>
                </a:r>
              </a:p>
            </p:txBody>
          </p:sp>
        </p:grpSp>
        <p:sp>
          <p:nvSpPr>
            <p:cNvPr id="252" name="TextBox 251"/>
            <p:cNvSpPr txBox="1"/>
            <p:nvPr/>
          </p:nvSpPr>
          <p:spPr>
            <a:xfrm>
              <a:off x="13013299" y="6383106"/>
              <a:ext cx="99899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가스센서 정보</a:t>
              </a:r>
            </a:p>
          </p:txBody>
        </p:sp>
        <p:sp>
          <p:nvSpPr>
            <p:cNvPr id="254" name="TextBox 253"/>
            <p:cNvSpPr txBox="1"/>
            <p:nvPr/>
          </p:nvSpPr>
          <p:spPr>
            <a:xfrm>
              <a:off x="14691922" y="6383106"/>
              <a:ext cx="9797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Gas-103-12-3</a:t>
              </a:r>
              <a:endParaRPr lang="ko-KR" altLang="en-US" sz="1000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255" name="TextBox 254"/>
            <p:cNvSpPr txBox="1"/>
            <p:nvPr/>
          </p:nvSpPr>
          <p:spPr>
            <a:xfrm>
              <a:off x="13013299" y="5303082"/>
              <a:ext cx="99899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안전밴드</a:t>
              </a:r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 </a:t>
              </a:r>
              <a:r>
                <a:rPr lang="ko-KR" altLang="en-US" sz="1000">
                  <a:latin typeface="+mn-ea"/>
                  <a:sym typeface="Wingdings" panose="05000000000000000000" pitchFamily="2" charset="2"/>
                </a:rPr>
                <a:t>정보</a:t>
              </a:r>
              <a:endParaRPr lang="ko-KR" altLang="en-US" sz="1000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336" name="TextBox 335"/>
            <p:cNvSpPr txBox="1"/>
            <p:nvPr/>
          </p:nvSpPr>
          <p:spPr>
            <a:xfrm>
              <a:off x="14664671" y="5288123"/>
              <a:ext cx="10070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Band-12-3092</a:t>
              </a:r>
              <a:endParaRPr lang="ko-KR" altLang="en-US" sz="1000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337" name="직사각형 336"/>
            <p:cNvSpPr/>
            <p:nvPr/>
          </p:nvSpPr>
          <p:spPr>
            <a:xfrm>
              <a:off x="13013299" y="5580604"/>
              <a:ext cx="666785" cy="65111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8" name="직사각형 337"/>
            <p:cNvSpPr/>
            <p:nvPr/>
          </p:nvSpPr>
          <p:spPr>
            <a:xfrm>
              <a:off x="13726990" y="5580604"/>
              <a:ext cx="666785" cy="65111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9" name="직사각형 338"/>
            <p:cNvSpPr/>
            <p:nvPr/>
          </p:nvSpPr>
          <p:spPr>
            <a:xfrm>
              <a:off x="15154371" y="5580604"/>
              <a:ext cx="666785" cy="65111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40" name="그룹 339"/>
            <p:cNvGrpSpPr/>
            <p:nvPr/>
          </p:nvGrpSpPr>
          <p:grpSpPr>
            <a:xfrm>
              <a:off x="13060794" y="5621961"/>
              <a:ext cx="531092" cy="596186"/>
              <a:chOff x="3120656" y="7372224"/>
              <a:chExt cx="675186" cy="757942"/>
            </a:xfrm>
          </p:grpSpPr>
          <p:pic>
            <p:nvPicPr>
              <p:cNvPr id="369" name="그림 368"/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229252" y="7372224"/>
                <a:ext cx="474817" cy="474817"/>
              </a:xfrm>
              <a:prstGeom prst="rect">
                <a:avLst/>
              </a:prstGeom>
            </p:spPr>
          </p:pic>
          <p:sp>
            <p:nvSpPr>
              <p:cNvPr id="370" name="TextBox 369"/>
              <p:cNvSpPr txBox="1"/>
              <p:nvPr/>
            </p:nvSpPr>
            <p:spPr>
              <a:xfrm>
                <a:off x="3120656" y="7853167"/>
                <a:ext cx="675186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rgbClr val="E74424"/>
                    </a:solidFill>
                    <a:latin typeface="+mn-ea"/>
                  </a:rPr>
                  <a:t>49</a:t>
                </a:r>
                <a:r>
                  <a:rPr lang="en-US" altLang="ko-KR" sz="1000" dirty="0">
                    <a:latin typeface="+mn-ea"/>
                  </a:rPr>
                  <a:t> bpm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pic>
          <p:nvPicPr>
            <p:cNvPr id="341" name="그림 340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825034" y="5580604"/>
              <a:ext cx="463509" cy="463509"/>
            </a:xfrm>
            <a:prstGeom prst="rect">
              <a:avLst/>
            </a:prstGeom>
          </p:spPr>
        </p:pic>
        <p:sp>
          <p:nvSpPr>
            <p:cNvPr id="362" name="TextBox 361"/>
            <p:cNvSpPr txBox="1"/>
            <p:nvPr/>
          </p:nvSpPr>
          <p:spPr>
            <a:xfrm>
              <a:off x="13854628" y="5985651"/>
              <a:ext cx="387350" cy="2178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+mn-ea"/>
                </a:rPr>
                <a:t>안전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63" name="TextBox 362"/>
            <p:cNvSpPr txBox="1"/>
            <p:nvPr/>
          </p:nvSpPr>
          <p:spPr>
            <a:xfrm>
              <a:off x="13900694" y="5735715"/>
              <a:ext cx="315125" cy="2178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latin typeface="+mn-ea"/>
                </a:rPr>
                <a:t>CO</a:t>
              </a:r>
              <a:endParaRPr lang="ko-KR" altLang="en-US" sz="7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64" name="그림 363"/>
            <p:cNvPicPr>
              <a:picLocks noChangeAspect="1"/>
            </p:cNvPicPr>
            <p:nvPr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3367" b="23367"/>
            <a:stretch/>
          </p:blipFill>
          <p:spPr>
            <a:xfrm>
              <a:off x="15340738" y="5753922"/>
              <a:ext cx="291730" cy="155391"/>
            </a:xfrm>
            <a:prstGeom prst="rect">
              <a:avLst/>
            </a:prstGeom>
          </p:spPr>
        </p:pic>
        <p:sp>
          <p:nvSpPr>
            <p:cNvPr id="365" name="TextBox 364"/>
            <p:cNvSpPr txBox="1"/>
            <p:nvPr/>
          </p:nvSpPr>
          <p:spPr>
            <a:xfrm>
              <a:off x="15290406" y="5985651"/>
              <a:ext cx="392393" cy="2178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+mn-ea"/>
                </a:rPr>
                <a:t>75%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66" name="직사각형 365"/>
            <p:cNvSpPr/>
            <p:nvPr/>
          </p:nvSpPr>
          <p:spPr>
            <a:xfrm>
              <a:off x="14440680" y="5580604"/>
              <a:ext cx="666785" cy="65111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367" name="그림 366"/>
            <p:cNvPicPr>
              <a:picLocks noChangeAspect="1"/>
            </p:cNvPicPr>
            <p:nvPr/>
          </p:nvPicPr>
          <p:blipFill>
            <a:blip r:embed="rId19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94383" y="5688789"/>
              <a:ext cx="361758" cy="361758"/>
            </a:xfrm>
            <a:prstGeom prst="rect">
              <a:avLst/>
            </a:prstGeom>
          </p:spPr>
        </p:pic>
        <p:sp>
          <p:nvSpPr>
            <p:cNvPr id="368" name="TextBox 367"/>
            <p:cNvSpPr txBox="1"/>
            <p:nvPr/>
          </p:nvSpPr>
          <p:spPr>
            <a:xfrm>
              <a:off x="14554655" y="5985651"/>
              <a:ext cx="387350" cy="2178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+mn-ea"/>
                </a:rPr>
                <a:t>정상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389" name="TextBox 388"/>
          <p:cNvSpPr txBox="1"/>
          <p:nvPr/>
        </p:nvSpPr>
        <p:spPr>
          <a:xfrm>
            <a:off x="10600146" y="3704617"/>
            <a:ext cx="1162498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레이아웃 변경</a:t>
            </a:r>
          </a:p>
        </p:txBody>
      </p:sp>
      <p:grpSp>
        <p:nvGrpSpPr>
          <p:cNvPr id="2" name="그룹 1"/>
          <p:cNvGrpSpPr/>
          <p:nvPr/>
        </p:nvGrpSpPr>
        <p:grpSpPr>
          <a:xfrm>
            <a:off x="10377621" y="4448751"/>
            <a:ext cx="2241910" cy="1605981"/>
            <a:chOff x="8458804" y="4329527"/>
            <a:chExt cx="3974753" cy="2847294"/>
          </a:xfrm>
        </p:grpSpPr>
        <p:sp>
          <p:nvSpPr>
            <p:cNvPr id="204" name="직사각형 203"/>
            <p:cNvSpPr/>
            <p:nvPr/>
          </p:nvSpPr>
          <p:spPr>
            <a:xfrm>
              <a:off x="8458804" y="4329527"/>
              <a:ext cx="3974753" cy="639631"/>
            </a:xfrm>
            <a:prstGeom prst="rect">
              <a:avLst/>
            </a:prstGeom>
            <a:solidFill>
              <a:srgbClr val="FFD7D7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dirty="0">
                  <a:solidFill>
                    <a:srgbClr val="FF0000"/>
                  </a:solidFill>
                  <a:latin typeface="+mn-ea"/>
                </a:rPr>
                <a:t>STEL </a:t>
              </a:r>
              <a:r>
                <a:rPr lang="ko-KR" altLang="en-US" sz="1000" dirty="0">
                  <a:solidFill>
                    <a:srgbClr val="FF0000"/>
                  </a:solidFill>
                  <a:latin typeface="+mn-ea"/>
                </a:rPr>
                <a:t>위험</a:t>
              </a:r>
              <a:endParaRPr lang="en-US" altLang="ko-KR" sz="10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+mn-ea"/>
                </a:rPr>
                <a:t>15</a:t>
              </a:r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분간 </a:t>
              </a:r>
              <a:r>
                <a:rPr lang="ko-KR" altLang="en-US" sz="800" dirty="0" err="1">
                  <a:solidFill>
                    <a:schemeClr val="tx1"/>
                  </a:solidFill>
                  <a:latin typeface="+mn-ea"/>
                </a:rPr>
                <a:t>일산화탄소에노출</a:t>
              </a:r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 되었습니다</a:t>
              </a:r>
            </a:p>
          </p:txBody>
        </p:sp>
        <p:sp>
          <p:nvSpPr>
            <p:cNvPr id="205" name="직사각형 204"/>
            <p:cNvSpPr/>
            <p:nvPr/>
          </p:nvSpPr>
          <p:spPr>
            <a:xfrm>
              <a:off x="8458804" y="5065415"/>
              <a:ext cx="3974753" cy="639631"/>
            </a:xfrm>
            <a:prstGeom prst="rect">
              <a:avLst/>
            </a:prstGeom>
            <a:solidFill>
              <a:srgbClr val="FFD7D7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00" dirty="0">
                  <a:solidFill>
                    <a:srgbClr val="FF0000"/>
                  </a:solidFill>
                  <a:latin typeface="+mn-ea"/>
                </a:rPr>
                <a:t>TWA </a:t>
              </a:r>
              <a:r>
                <a:rPr lang="ko-KR" altLang="en-US" sz="1000" dirty="0">
                  <a:solidFill>
                    <a:srgbClr val="FF0000"/>
                  </a:solidFill>
                  <a:latin typeface="+mn-ea"/>
                </a:rPr>
                <a:t>위험</a:t>
              </a:r>
              <a:endParaRPr lang="en-US" altLang="ko-KR" sz="10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+mn-ea"/>
                </a:rPr>
                <a:t>8</a:t>
              </a:r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시간 동안 </a:t>
              </a:r>
              <a:r>
                <a:rPr lang="ko-KR" altLang="en-US" sz="800" dirty="0" err="1">
                  <a:solidFill>
                    <a:schemeClr val="tx1"/>
                  </a:solidFill>
                  <a:latin typeface="+mn-ea"/>
                </a:rPr>
                <a:t>일산화탄소에노출</a:t>
              </a:r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 되었습니다</a:t>
              </a:r>
            </a:p>
          </p:txBody>
        </p:sp>
        <p:sp>
          <p:nvSpPr>
            <p:cNvPr id="206" name="직사각형 205"/>
            <p:cNvSpPr/>
            <p:nvPr/>
          </p:nvSpPr>
          <p:spPr>
            <a:xfrm>
              <a:off x="8458804" y="6537190"/>
              <a:ext cx="3974753" cy="639631"/>
            </a:xfrm>
            <a:prstGeom prst="rect">
              <a:avLst/>
            </a:prstGeom>
            <a:solidFill>
              <a:srgbClr val="FFD7D7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000" dirty="0">
                  <a:solidFill>
                    <a:srgbClr val="FF0000"/>
                  </a:solidFill>
                  <a:latin typeface="+mn-ea"/>
                </a:rPr>
                <a:t>안전밴드 배터리가 부족합니다</a:t>
              </a:r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직사각형 206"/>
            <p:cNvSpPr/>
            <p:nvPr/>
          </p:nvSpPr>
          <p:spPr>
            <a:xfrm>
              <a:off x="8458804" y="5801303"/>
              <a:ext cx="3974753" cy="639631"/>
            </a:xfrm>
            <a:prstGeom prst="rect">
              <a:avLst/>
            </a:prstGeom>
            <a:solidFill>
              <a:srgbClr val="FFD7D7"/>
            </a:solidFill>
            <a:ln w="3175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000">
                  <a:solidFill>
                    <a:srgbClr val="FF0000"/>
                  </a:solidFill>
                  <a:latin typeface="+mn-ea"/>
                </a:rPr>
                <a:t>움직임이 정지하였습니다</a:t>
              </a:r>
              <a:endParaRPr lang="ko-KR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0" name="직사각형 209"/>
          <p:cNvSpPr/>
          <p:nvPr/>
        </p:nvSpPr>
        <p:spPr>
          <a:xfrm>
            <a:off x="1807079" y="2955746"/>
            <a:ext cx="3974753" cy="639631"/>
          </a:xfrm>
          <a:prstGeom prst="rect">
            <a:avLst/>
          </a:prstGeom>
          <a:solidFill>
            <a:srgbClr val="FFD7D7"/>
          </a:solidFill>
          <a:ln w="3175">
            <a:solidFill>
              <a:srgbClr val="D9D9D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800" dirty="0" err="1">
                <a:solidFill>
                  <a:srgbClr val="FF0000"/>
                </a:solidFill>
                <a:latin typeface="+mn-ea"/>
              </a:rPr>
              <a:t>심박수가</a:t>
            </a:r>
            <a:r>
              <a:rPr lang="ko-KR" altLang="en-US" sz="1800" dirty="0">
                <a:solidFill>
                  <a:srgbClr val="FF0000"/>
                </a:solidFill>
                <a:latin typeface="+mn-ea"/>
              </a:rPr>
              <a:t> 주의 수치입니다</a:t>
            </a:r>
            <a:endParaRPr lang="ko-KR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1" name="직사각형 210"/>
          <p:cNvSpPr/>
          <p:nvPr/>
        </p:nvSpPr>
        <p:spPr>
          <a:xfrm>
            <a:off x="1723852" y="31390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7419916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4" name="직선 연결선 93"/>
          <p:cNvCxnSpPr/>
          <p:nvPr/>
        </p:nvCxnSpPr>
        <p:spPr>
          <a:xfrm>
            <a:off x="5454986" y="6481378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/>
          <p:cNvSpPr/>
          <p:nvPr/>
        </p:nvSpPr>
        <p:spPr>
          <a:xfrm>
            <a:off x="1168671" y="2283982"/>
            <a:ext cx="4681906" cy="670039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6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11167" y="248771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1361535" y="2514658"/>
            <a:ext cx="232627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긴급호출 상세보기</a:t>
            </a:r>
          </a:p>
        </p:txBody>
      </p:sp>
      <p:sp>
        <p:nvSpPr>
          <p:cNvPr id="106" name="직사각형 105"/>
          <p:cNvSpPr/>
          <p:nvPr/>
        </p:nvSpPr>
        <p:spPr>
          <a:xfrm>
            <a:off x="4939342" y="2616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2209463" y="84408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08" name="표 10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3536376"/>
              </p:ext>
            </p:extLst>
          </p:nvPr>
        </p:nvGraphicFramePr>
        <p:xfrm>
          <a:off x="10633534" y="1272208"/>
          <a:ext cx="2088232" cy="23635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" name="모서리가 둥근 직사각형 10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024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스마트태그 긴급호출</a:t>
            </a:r>
          </a:p>
        </p:txBody>
      </p:sp>
      <p:sp>
        <p:nvSpPr>
          <p:cNvPr id="221" name="직사각형 220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4" name="모서리가 둥근 직사각형 223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8" name="자유형 227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모서리가 둥근 직사각형 228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3" name="자유형 232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모서리가 둥근 직사각형 233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8" name="자유형 237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3" name="자유형 242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4" name="그룹 243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45" name="직선 연결선 244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TextBox 245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7" name="그림 2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8" name="그림 24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9" name="모서리가 둥근 직사각형 248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0" name="TextBox 249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3" name="자유형 252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8" name="자유형 257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3" name="자유형 262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모서리가 둥근 직사각형 263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8" name="자유형 267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모서리가 둥근 직사각형 268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3" name="자유형 272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4" name="모서리가 둥근 직사각형 273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8" name="자유형 277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9" name="그림 27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80" name="그림 27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81" name="그림 28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82" name="그림 28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83" name="그림 28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84" name="모서리가 둥근 직사각형 283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7" name="TextBox 286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8" name="자유형 287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9" name="그림 28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90" name="그림 28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91" name="그림 29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92" name="그림 291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5" name="TextBox 294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6" name="TextBox 295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7" name="TextBox 296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8" name="TextBox 297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9" name="TextBox 298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0" name="TextBox 299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2" name="TextBox 301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3" name="TextBox 302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0" name="모서리가 둥근 직사각형 309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2" name="TextBox 311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3" name="자유형 312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4" name="TextBox 313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5" name="모서리가 둥근 직사각형 314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6" name="TextBox 315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8" name="자유형 317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0" name="그림 319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21" name="그림 320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22" name="모서리가 둥근 직사각형 321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3" name="TextBox 322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4" name="TextBox 323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5" name="자유형 324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7" name="그림 32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8" name="TextBox 327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9" name="모서리가 둥근 직사각형 328"/>
          <p:cNvSpPr/>
          <p:nvPr/>
        </p:nvSpPr>
        <p:spPr>
          <a:xfrm>
            <a:off x="7553358" y="2554211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4" name="모서리가 둥근 직사각형 133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6" name="그룹 125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7" name="모서리가 둥근 직사각형 12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5" name="자유형 13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6" name="그림 13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7" name="TextBox 13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9" name="모서리가 둥근 직사각형 13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3" name="자유형 14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그림 14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5" name="TextBox 14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7" name="모서리가 둥근 직사각형 14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1" name="자유형 15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2" name="그림 15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3" name="TextBox 15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4" name="그룹 153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9" name="자유형 15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0" name="그림 15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1" name="TextBox 16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62" name="직사각형 161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67" name="아래쪽 화살표 166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0600146" y="3704617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>
                <a:solidFill>
                  <a:srgbClr val="FF0000"/>
                </a:solidFill>
              </a:rPr>
              <a:t>문구 변경</a:t>
            </a:r>
            <a:endParaRPr lang="ko-KR" altLang="en-US" sz="1200" b="1" dirty="0">
              <a:solidFill>
                <a:srgbClr val="FF0000"/>
              </a:solidFill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1587541" y="3213881"/>
            <a:ext cx="4029104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긴급호출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김태호님이 </a:t>
            </a: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긴급호출을 하였습니다</a:t>
            </a:r>
            <a:endParaRPr lang="en-US" altLang="ko-KR" sz="2000" b="1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관계자를 투입하거나 현장으로 이동하여 작업자를 확인하세요</a:t>
            </a:r>
            <a:endParaRPr lang="en-US" altLang="ko-KR" sz="1600" dirty="0">
              <a:latin typeface="+mj-ea"/>
            </a:endParaRP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587541" y="8319114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92" name="직사각형 191"/>
          <p:cNvSpPr/>
          <p:nvPr/>
        </p:nvSpPr>
        <p:spPr>
          <a:xfrm>
            <a:off x="2437717" y="84636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93" name="그룹 192"/>
          <p:cNvGrpSpPr/>
          <p:nvPr/>
        </p:nvGrpSpPr>
        <p:grpSpPr>
          <a:xfrm>
            <a:off x="1411992" y="6042748"/>
            <a:ext cx="3211501" cy="2168381"/>
            <a:chOff x="1193056" y="5754716"/>
            <a:chExt cx="3211501" cy="2168381"/>
          </a:xfrm>
        </p:grpSpPr>
        <p:grpSp>
          <p:nvGrpSpPr>
            <p:cNvPr id="194" name="그룹 193"/>
            <p:cNvGrpSpPr/>
            <p:nvPr/>
          </p:nvGrpSpPr>
          <p:grpSpPr>
            <a:xfrm>
              <a:off x="1254344" y="5754716"/>
              <a:ext cx="1440160" cy="1397875"/>
              <a:chOff x="7962299" y="2617527"/>
              <a:chExt cx="622093" cy="646131"/>
            </a:xfrm>
          </p:grpSpPr>
          <p:sp>
            <p:nvSpPr>
              <p:cNvPr id="198" name="직사각형 197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99" name="그림 198"/>
              <p:cNvPicPr>
                <a:picLocks noChangeAspect="1"/>
              </p:cNvPicPr>
              <p:nvPr/>
            </p:nvPicPr>
            <p:blipFill>
              <a:blip r:embed="rId15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195" name="TextBox 194"/>
            <p:cNvSpPr txBox="1"/>
            <p:nvPr/>
          </p:nvSpPr>
          <p:spPr>
            <a:xfrm>
              <a:off x="2804449" y="5754716"/>
              <a:ext cx="1503938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000" b="1" dirty="0">
                  <a:latin typeface="+mn-ea"/>
                  <a:sym typeface="Wingdings" panose="05000000000000000000" pitchFamily="2" charset="2"/>
                </a:rPr>
                <a:t>김태호</a:t>
              </a:r>
              <a:endParaRPr lang="en-US" altLang="ko-KR" sz="20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dirty="0">
                  <a:latin typeface="+mn-ea"/>
                  <a:sym typeface="Wingdings" panose="05000000000000000000" pitchFamily="2" charset="2"/>
                </a:rPr>
                <a:t>일반구역 출입자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1193056" y="7399877"/>
              <a:ext cx="284404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소속</a:t>
              </a:r>
              <a:endParaRPr lang="en-US" altLang="ko-KR" sz="14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0000.00.00  15:20:27</a:t>
              </a:r>
              <a:endParaRPr lang="ko-KR" altLang="en-US" sz="1400" b="1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799630" y="6440051"/>
              <a:ext cx="160492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latin typeface="+mn-ea"/>
                  <a:sym typeface="Wingdings" panose="05000000000000000000" pitchFamily="2" charset="2"/>
                </a:rPr>
                <a:t>현위치</a:t>
              </a:r>
              <a:br>
                <a:rPr lang="en-US" altLang="ko-KR" sz="1200" b="1" dirty="0">
                  <a:latin typeface="+mn-ea"/>
                  <a:sym typeface="Wingdings" panose="05000000000000000000" pitchFamily="2" charset="2"/>
                </a:rPr>
              </a:b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5</a:t>
              </a:r>
              <a:r>
                <a:rPr lang="ko-KR" altLang="en-US" sz="3200" b="1">
                  <a:latin typeface="+mn-ea"/>
                  <a:sym typeface="Wingdings" panose="05000000000000000000" pitchFamily="2" charset="2"/>
                </a:rPr>
                <a:t>층 </a:t>
              </a: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E-3</a:t>
              </a:r>
              <a:endParaRPr lang="ko-KR" altLang="en-US" sz="32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cxnSp>
        <p:nvCxnSpPr>
          <p:cNvPr id="200" name="직선 연결선 199"/>
          <p:cNvCxnSpPr/>
          <p:nvPr/>
        </p:nvCxnSpPr>
        <p:spPr>
          <a:xfrm>
            <a:off x="1432248" y="5896622"/>
            <a:ext cx="4176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549261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8" name="표 10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141544"/>
              </p:ext>
            </p:extLst>
          </p:nvPr>
        </p:nvGraphicFramePr>
        <p:xfrm>
          <a:off x="10633534" y="1272208"/>
          <a:ext cx="2088232" cy="22415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" name="모서리가 둥근 직사각형 10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025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안전밴드 긴급호출</a:t>
            </a:r>
          </a:p>
        </p:txBody>
      </p:sp>
      <p:sp>
        <p:nvSpPr>
          <p:cNvPr id="221" name="직사각형 220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4" name="모서리가 둥근 직사각형 223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8" name="자유형 227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모서리가 둥근 직사각형 228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3" name="자유형 232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모서리가 둥근 직사각형 233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8" name="자유형 237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3" name="자유형 242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4" name="그룹 243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45" name="직선 연결선 244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TextBox 245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7" name="그림 2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8" name="그림 24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9" name="모서리가 둥근 직사각형 248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0" name="TextBox 249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3" name="자유형 252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8" name="자유형 257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3" name="자유형 262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모서리가 둥근 직사각형 263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8" name="자유형 267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모서리가 둥근 직사각형 268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3" name="자유형 272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4" name="모서리가 둥근 직사각형 273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8" name="자유형 277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9" name="그림 27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80" name="그림 27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81" name="그림 28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82" name="그림 28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83" name="그림 28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84" name="모서리가 둥근 직사각형 283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7" name="TextBox 286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8" name="자유형 287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9" name="그림 28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90" name="그림 28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91" name="그림 29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92" name="그림 291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5" name="TextBox 294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6" name="TextBox 295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7" name="TextBox 296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8" name="TextBox 297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9" name="TextBox 298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0" name="TextBox 299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2" name="TextBox 301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3" name="TextBox 302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0" name="모서리가 둥근 직사각형 309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2" name="TextBox 311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3" name="자유형 312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4" name="TextBox 313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5" name="모서리가 둥근 직사각형 314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6" name="TextBox 315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8" name="자유형 317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0" name="그림 319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21" name="그림 320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22" name="모서리가 둥근 직사각형 321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3" name="TextBox 322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4" name="TextBox 323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5" name="자유형 324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7" name="그림 32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8" name="TextBox 327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9" name="모서리가 둥근 직사각형 328"/>
          <p:cNvSpPr/>
          <p:nvPr/>
        </p:nvSpPr>
        <p:spPr>
          <a:xfrm>
            <a:off x="7553358" y="3134296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4" name="모서리가 둥근 직사각형 133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6" name="그룹 125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7" name="모서리가 둥근 직사각형 12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5" name="자유형 13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6" name="그림 13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7" name="TextBox 13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9" name="모서리가 둥근 직사각형 13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3" name="자유형 14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그림 14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5" name="TextBox 14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7" name="모서리가 둥근 직사각형 14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1" name="자유형 15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2" name="그림 15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3" name="TextBox 15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4" name="그룹 153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9" name="자유형 15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0" name="그림 15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1" name="TextBox 16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62" name="직사각형 161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67" name="아래쪽 화살표 166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0600146" y="3704617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cxnSp>
        <p:nvCxnSpPr>
          <p:cNvPr id="164" name="직선 연결선 163"/>
          <p:cNvCxnSpPr/>
          <p:nvPr/>
        </p:nvCxnSpPr>
        <p:spPr>
          <a:xfrm>
            <a:off x="5454986" y="6481378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직사각형 170"/>
          <p:cNvSpPr/>
          <p:nvPr/>
        </p:nvSpPr>
        <p:spPr>
          <a:xfrm>
            <a:off x="1168671" y="2283982"/>
            <a:ext cx="4681906" cy="670039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2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11167" y="248771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1361535" y="2514658"/>
            <a:ext cx="232627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긴급호출 상세보기</a:t>
            </a:r>
          </a:p>
        </p:txBody>
      </p:sp>
      <p:sp>
        <p:nvSpPr>
          <p:cNvPr id="174" name="직사각형 173"/>
          <p:cNvSpPr/>
          <p:nvPr/>
        </p:nvSpPr>
        <p:spPr>
          <a:xfrm>
            <a:off x="4939342" y="2616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2209463" y="84408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1587541" y="3213881"/>
            <a:ext cx="4029104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긴급호출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김태호님이 </a:t>
            </a: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긴급호출을 하였습니다</a:t>
            </a:r>
            <a:endParaRPr lang="en-US" altLang="ko-KR" sz="2000" b="1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관계자를 투입하거나 현장으로 이동하여 작업자를 확인하세요</a:t>
            </a:r>
            <a:endParaRPr lang="en-US" altLang="ko-KR" sz="1600" dirty="0">
              <a:latin typeface="+mj-ea"/>
            </a:endParaRPr>
          </a:p>
        </p:txBody>
      </p:sp>
      <p:sp>
        <p:nvSpPr>
          <p:cNvPr id="177" name="모서리가 둥근 직사각형 176"/>
          <p:cNvSpPr/>
          <p:nvPr/>
        </p:nvSpPr>
        <p:spPr>
          <a:xfrm>
            <a:off x="1587541" y="8319114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78" name="직사각형 177"/>
          <p:cNvSpPr/>
          <p:nvPr/>
        </p:nvSpPr>
        <p:spPr>
          <a:xfrm>
            <a:off x="2437717" y="84636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79" name="그룹 178"/>
          <p:cNvGrpSpPr/>
          <p:nvPr/>
        </p:nvGrpSpPr>
        <p:grpSpPr>
          <a:xfrm>
            <a:off x="1411992" y="6042748"/>
            <a:ext cx="3211501" cy="2168381"/>
            <a:chOff x="1193056" y="5754716"/>
            <a:chExt cx="3211501" cy="2168381"/>
          </a:xfrm>
        </p:grpSpPr>
        <p:grpSp>
          <p:nvGrpSpPr>
            <p:cNvPr id="180" name="그룹 179"/>
            <p:cNvGrpSpPr/>
            <p:nvPr/>
          </p:nvGrpSpPr>
          <p:grpSpPr>
            <a:xfrm>
              <a:off x="1254344" y="5754716"/>
              <a:ext cx="1440160" cy="1397875"/>
              <a:chOff x="7962299" y="2617527"/>
              <a:chExt cx="622093" cy="646131"/>
            </a:xfrm>
          </p:grpSpPr>
          <p:sp>
            <p:nvSpPr>
              <p:cNvPr id="184" name="직사각형 183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85" name="그림 184"/>
              <p:cNvPicPr>
                <a:picLocks noChangeAspect="1"/>
              </p:cNvPicPr>
              <p:nvPr/>
            </p:nvPicPr>
            <p:blipFill>
              <a:blip r:embed="rId15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181" name="TextBox 180"/>
            <p:cNvSpPr txBox="1"/>
            <p:nvPr/>
          </p:nvSpPr>
          <p:spPr>
            <a:xfrm>
              <a:off x="2804449" y="5754716"/>
              <a:ext cx="1144865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000" b="1" dirty="0">
                  <a:latin typeface="+mn-ea"/>
                  <a:sym typeface="Wingdings" panose="05000000000000000000" pitchFamily="2" charset="2"/>
                </a:rPr>
                <a:t>김태호</a:t>
              </a:r>
              <a:endParaRPr lang="en-US" altLang="ko-KR" sz="20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dirty="0">
                  <a:latin typeface="+mn-ea"/>
                  <a:sym typeface="Wingdings" panose="05000000000000000000" pitchFamily="2" charset="2"/>
                </a:rPr>
                <a:t>특수 작업자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1193056" y="7399877"/>
              <a:ext cx="284404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소속</a:t>
              </a:r>
              <a:endParaRPr lang="en-US" altLang="ko-KR" sz="14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0000.00.00  15:20:27</a:t>
              </a:r>
              <a:endParaRPr lang="ko-KR" altLang="en-US" sz="1400" b="1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799630" y="6440051"/>
              <a:ext cx="160492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latin typeface="+mn-ea"/>
                  <a:sym typeface="Wingdings" panose="05000000000000000000" pitchFamily="2" charset="2"/>
                </a:rPr>
                <a:t>현위치</a:t>
              </a:r>
              <a:br>
                <a:rPr lang="en-US" altLang="ko-KR" sz="1200" b="1" dirty="0">
                  <a:latin typeface="+mn-ea"/>
                  <a:sym typeface="Wingdings" panose="05000000000000000000" pitchFamily="2" charset="2"/>
                </a:rPr>
              </a:b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5</a:t>
              </a:r>
              <a:r>
                <a:rPr lang="ko-KR" altLang="en-US" sz="3200" b="1">
                  <a:latin typeface="+mn-ea"/>
                  <a:sym typeface="Wingdings" panose="05000000000000000000" pitchFamily="2" charset="2"/>
                </a:rPr>
                <a:t>층 </a:t>
              </a: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E-3</a:t>
              </a:r>
              <a:endParaRPr lang="ko-KR" altLang="en-US" sz="32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cxnSp>
        <p:nvCxnSpPr>
          <p:cNvPr id="186" name="직선 연결선 185"/>
          <p:cNvCxnSpPr/>
          <p:nvPr/>
        </p:nvCxnSpPr>
        <p:spPr>
          <a:xfrm>
            <a:off x="1432248" y="5896622"/>
            <a:ext cx="4176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625441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모서리가 둥근 직사각형 10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026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작업자 정지 발생</a:t>
            </a:r>
          </a:p>
        </p:txBody>
      </p:sp>
      <p:sp>
        <p:nvSpPr>
          <p:cNvPr id="217" name="직사각형 216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0" name="모서리가 둥근 직사각형 219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3" name="TextBox 222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4" name="자유형 223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9" name="자유형 228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모서리가 둥근 직사각형 229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3" name="TextBox 232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4" name="자유형 233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5" name="모서리가 둥근 직사각형 234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38" name="TextBox 237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9" name="자유형 238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0" name="그룹 239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41" name="직선 연결선 240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TextBox 241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3" name="그림 24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4" name="그림 24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5" name="모서리가 둥근 직사각형 244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9" name="자유형 248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0" name="모서리가 둥근 직사각형 249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4" name="자유형 253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9" name="자유형 258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0" name="모서리가 둥근 직사각형 259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3" name="TextBox 262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4" name="자유형 263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9" name="자유형 268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모서리가 둥근 직사각형 269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4" name="자유형 273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5" name="그림 27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76" name="그림 27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77" name="그림 27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78" name="그림 27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79" name="그림 27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80" name="모서리가 둥근 직사각형 279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3" name="TextBox 282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4" name="자유형 283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5" name="그림 28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86" name="그림 28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87" name="그림 28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88" name="그림 287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89" name="TextBox 288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0" name="TextBox 289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1" name="TextBox 290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2" name="TextBox 291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3" name="TextBox 292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5" name="TextBox 294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6" name="TextBox 295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6" name="모서리가 둥근 직사각형 305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7" name="TextBox 306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08" name="TextBox 307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09" name="자유형 308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2" name="TextBox 311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3" name="TextBox 312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4" name="자유형 313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16" name="그림 315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17" name="그림 316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18" name="모서리가 둥근 직사각형 317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1" name="자유형 320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2" name="TextBox 321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3" name="그림 322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4" name="TextBox 323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5" name="모서리가 둥근 직사각형 324"/>
          <p:cNvSpPr/>
          <p:nvPr/>
        </p:nvSpPr>
        <p:spPr>
          <a:xfrm>
            <a:off x="7553358" y="3744820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2" name="그룹 121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3" name="모서리가 둥근 직사각형 12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1" name="자유형 13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2" name="그림 13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3" name="TextBox 13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4" name="그룹 133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5" name="모서리가 둥근 직사각형 13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9" name="자유형 13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0" name="그림 13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1" name="TextBox 14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2" name="그룹 141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3" name="모서리가 둥근 직사각형 14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7" name="자유형 14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8" name="그림 14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9" name="TextBox 14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0" name="그룹 149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1" name="모서리가 둥근 직사각형 15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5" name="자유형 15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6" name="그림 15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7" name="TextBox 15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58" name="직사각형 157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1" name="표 1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5241325"/>
              </p:ext>
            </p:extLst>
          </p:nvPr>
        </p:nvGraphicFramePr>
        <p:xfrm>
          <a:off x="10633534" y="1272208"/>
          <a:ext cx="2088232" cy="22415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2" name="모서리가 둥근 직사각형 161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64" name="아래쪽 화살표 163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0600146" y="3704617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cxnSp>
        <p:nvCxnSpPr>
          <p:cNvPr id="166" name="직선 연결선 165"/>
          <p:cNvCxnSpPr/>
          <p:nvPr/>
        </p:nvCxnSpPr>
        <p:spPr>
          <a:xfrm>
            <a:off x="5454986" y="6481378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직사각형 168"/>
          <p:cNvSpPr/>
          <p:nvPr/>
        </p:nvSpPr>
        <p:spPr>
          <a:xfrm>
            <a:off x="1168671" y="2283982"/>
            <a:ext cx="4681906" cy="670039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0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11167" y="248771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1361535" y="2514658"/>
            <a:ext cx="215956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작업자 정지 발생</a:t>
            </a:r>
          </a:p>
        </p:txBody>
      </p:sp>
      <p:sp>
        <p:nvSpPr>
          <p:cNvPr id="172" name="직사각형 171"/>
          <p:cNvSpPr/>
          <p:nvPr/>
        </p:nvSpPr>
        <p:spPr>
          <a:xfrm>
            <a:off x="4939342" y="2616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3" name="직사각형 172"/>
          <p:cNvSpPr/>
          <p:nvPr/>
        </p:nvSpPr>
        <p:spPr>
          <a:xfrm>
            <a:off x="2209463" y="84408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1587541" y="3213881"/>
            <a:ext cx="4029104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작업자 정지발생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김태호님이 </a:t>
            </a: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움직임이 정지하였습니다</a:t>
            </a:r>
            <a:endParaRPr lang="en-US" altLang="ko-KR" sz="2000" b="1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즉시 현장으로 이동하여</a:t>
            </a:r>
            <a:endParaRPr lang="en-US" altLang="ko-KR" sz="1600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작업자의 상태를 확인하세요</a:t>
            </a:r>
            <a:endParaRPr lang="en-US" altLang="ko-KR" sz="1600" dirty="0">
              <a:latin typeface="+mj-ea"/>
            </a:endParaRPr>
          </a:p>
        </p:txBody>
      </p:sp>
      <p:sp>
        <p:nvSpPr>
          <p:cNvPr id="175" name="모서리가 둥근 직사각형 174"/>
          <p:cNvSpPr/>
          <p:nvPr/>
        </p:nvSpPr>
        <p:spPr>
          <a:xfrm>
            <a:off x="1587541" y="8319114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76" name="직사각형 175"/>
          <p:cNvSpPr/>
          <p:nvPr/>
        </p:nvSpPr>
        <p:spPr>
          <a:xfrm>
            <a:off x="2437717" y="84636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77" name="그룹 176"/>
          <p:cNvGrpSpPr/>
          <p:nvPr/>
        </p:nvGrpSpPr>
        <p:grpSpPr>
          <a:xfrm>
            <a:off x="1411992" y="6042748"/>
            <a:ext cx="3211501" cy="2168381"/>
            <a:chOff x="1193056" y="5754716"/>
            <a:chExt cx="3211501" cy="2168381"/>
          </a:xfrm>
        </p:grpSpPr>
        <p:grpSp>
          <p:nvGrpSpPr>
            <p:cNvPr id="178" name="그룹 177"/>
            <p:cNvGrpSpPr/>
            <p:nvPr/>
          </p:nvGrpSpPr>
          <p:grpSpPr>
            <a:xfrm>
              <a:off x="1254344" y="5754716"/>
              <a:ext cx="1440160" cy="1397875"/>
              <a:chOff x="7962299" y="2617527"/>
              <a:chExt cx="622093" cy="646131"/>
            </a:xfrm>
          </p:grpSpPr>
          <p:sp>
            <p:nvSpPr>
              <p:cNvPr id="182" name="직사각형 181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83" name="그림 182"/>
              <p:cNvPicPr>
                <a:picLocks noChangeAspect="1"/>
              </p:cNvPicPr>
              <p:nvPr/>
            </p:nvPicPr>
            <p:blipFill>
              <a:blip r:embed="rId15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179" name="TextBox 178"/>
            <p:cNvSpPr txBox="1"/>
            <p:nvPr/>
          </p:nvSpPr>
          <p:spPr>
            <a:xfrm>
              <a:off x="2804449" y="5754716"/>
              <a:ext cx="1144865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000" b="1" dirty="0">
                  <a:latin typeface="+mn-ea"/>
                  <a:sym typeface="Wingdings" panose="05000000000000000000" pitchFamily="2" charset="2"/>
                </a:rPr>
                <a:t>김태호</a:t>
              </a:r>
              <a:endParaRPr lang="en-US" altLang="ko-KR" sz="20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dirty="0">
                  <a:latin typeface="+mn-ea"/>
                  <a:sym typeface="Wingdings" panose="05000000000000000000" pitchFamily="2" charset="2"/>
                </a:rPr>
                <a:t>특수 작업자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1193056" y="7399877"/>
              <a:ext cx="284404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소속</a:t>
              </a:r>
              <a:endParaRPr lang="en-US" altLang="ko-KR" sz="1400" b="1" dirty="0">
                <a:latin typeface="+mn-ea"/>
                <a:sym typeface="Wingdings" panose="05000000000000000000" pitchFamily="2" charset="2"/>
              </a:endParaRPr>
            </a:p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400" b="1" dirty="0">
                  <a:latin typeface="+mn-ea"/>
                  <a:sym typeface="Wingdings" panose="05000000000000000000" pitchFamily="2" charset="2"/>
                </a:rPr>
                <a:t>: 0000.00.00  15:20:27</a:t>
              </a:r>
              <a:endParaRPr lang="ko-KR" altLang="en-US" sz="1400" b="1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2799630" y="6440051"/>
              <a:ext cx="1604927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latin typeface="+mn-ea"/>
                  <a:sym typeface="Wingdings" panose="05000000000000000000" pitchFamily="2" charset="2"/>
                </a:rPr>
                <a:t>현위치</a:t>
              </a:r>
              <a:br>
                <a:rPr lang="en-US" altLang="ko-KR" sz="1200" b="1" dirty="0">
                  <a:latin typeface="+mn-ea"/>
                  <a:sym typeface="Wingdings" panose="05000000000000000000" pitchFamily="2" charset="2"/>
                </a:rPr>
              </a:b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5</a:t>
              </a:r>
              <a:r>
                <a:rPr lang="ko-KR" altLang="en-US" sz="3200" b="1">
                  <a:latin typeface="+mn-ea"/>
                  <a:sym typeface="Wingdings" panose="05000000000000000000" pitchFamily="2" charset="2"/>
                </a:rPr>
                <a:t>층 </a:t>
              </a:r>
              <a:r>
                <a:rPr lang="en-US" altLang="ko-KR" sz="3200" b="1" dirty="0">
                  <a:latin typeface="+mn-ea"/>
                  <a:sym typeface="Wingdings" panose="05000000000000000000" pitchFamily="2" charset="2"/>
                </a:rPr>
                <a:t>E-3</a:t>
              </a:r>
              <a:endParaRPr lang="ko-KR" altLang="en-US" sz="3200" b="1" dirty="0">
                <a:latin typeface="+mn-ea"/>
                <a:sym typeface="Wingdings" panose="05000000000000000000" pitchFamily="2" charset="2"/>
              </a:endParaRPr>
            </a:p>
          </p:txBody>
        </p:sp>
      </p:grpSp>
      <p:cxnSp>
        <p:nvCxnSpPr>
          <p:cNvPr id="184" name="직선 연결선 183"/>
          <p:cNvCxnSpPr/>
          <p:nvPr/>
        </p:nvCxnSpPr>
        <p:spPr>
          <a:xfrm>
            <a:off x="1432248" y="5896622"/>
            <a:ext cx="4176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3591938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" name="표 10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266888"/>
              </p:ext>
            </p:extLst>
          </p:nvPr>
        </p:nvGraphicFramePr>
        <p:xfrm>
          <a:off x="10633534" y="1272208"/>
          <a:ext cx="2088232" cy="22607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CCTV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화면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3" name="모서리가 둥근 직사각형 10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027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화재위험 발생</a:t>
            </a:r>
          </a:p>
        </p:txBody>
      </p:sp>
      <p:sp>
        <p:nvSpPr>
          <p:cNvPr id="215" name="직사각형 21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8" name="모서리가 둥근 직사각형 21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2" name="자유형 22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3" name="모서리가 둥근 직사각형 22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7" name="자유형 22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8" name="모서리가 둥근 직사각형 22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2" name="자유형 23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3" name="모서리가 둥근 직사각형 23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7" name="자유형 23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그룹 23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39" name="직선 연결선 23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0" name="TextBox 23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1" name="그림 24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2" name="그림 24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3" name="모서리가 둥근 직사각형 24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7" name="자유형 24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모서리가 둥근 직사각형 24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0" name="TextBox 24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2" name="자유형 25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7" name="자유형 25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2" name="자유형 26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3" name="모서리가 둥근 직사각형 26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7" name="자유형 26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8" name="모서리가 둥근 직사각형 26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2" name="자유형 27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3" name="그림 2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74" name="그림 27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75" name="그림 27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76" name="그림 27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77" name="그림 27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78" name="모서리가 둥근 직사각형 27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2" name="자유형 28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3" name="그림 28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84" name="그림 28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85" name="그림 28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86" name="그림 28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87" name="TextBox 28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88" name="TextBox 28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89" name="TextBox 28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0" name="TextBox 28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1" name="TextBox 29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2" name="TextBox 29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3" name="TextBox 29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5" name="TextBox 29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4" name="모서리가 둥근 직사각형 303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5" name="TextBox 304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06" name="TextBox 305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07" name="자유형 306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8" name="TextBox 307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9" name="모서리가 둥근 직사각형 308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2" name="자유형 311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3" name="TextBox 312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14" name="그림 31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15" name="그림 314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16" name="모서리가 둥근 직사각형 315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8" name="TextBox 317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9" name="자유형 318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1" name="그림 320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2" name="TextBox 321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3" name="모서리가 둥근 직사각형 322"/>
          <p:cNvSpPr/>
          <p:nvPr/>
        </p:nvSpPr>
        <p:spPr>
          <a:xfrm>
            <a:off x="7553358" y="4373249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3" name="모서리가 둥근 직사각형 122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29" name="자유형 12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0" name="그림 12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1" name="TextBox 13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2" name="그룹 131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7" name="자유형 13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8" name="그림 13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9" name="TextBox 13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0" name="그룹 139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1" name="모서리가 둥근 직사각형 14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5" name="자유형 14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6" name="그림 14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7" name="TextBox 14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49" name="모서리가 둥근 직사각형 14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3" name="자유형 15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그림 15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5" name="TextBox 15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61" name="아래쪽 화살표 160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0600146" y="3674042"/>
            <a:ext cx="207300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 </a:t>
            </a:r>
            <a:r>
              <a:rPr lang="en-US" altLang="ko-KR" sz="1200" b="1" dirty="0">
                <a:solidFill>
                  <a:srgbClr val="FF0000"/>
                </a:solidFill>
              </a:rPr>
              <a:t>&amp; </a:t>
            </a:r>
            <a:r>
              <a:rPr lang="ko-KR" altLang="en-US" sz="1200" b="1">
                <a:solidFill>
                  <a:srgbClr val="FF0000"/>
                </a:solidFill>
              </a:rPr>
              <a:t>레이아웃 변경</a:t>
            </a:r>
            <a:endParaRPr lang="ko-KR" altLang="en-US" sz="1200" b="1" dirty="0">
              <a:solidFill>
                <a:srgbClr val="FF0000"/>
              </a:solidFill>
            </a:endParaRPr>
          </a:p>
        </p:txBody>
      </p:sp>
      <p:sp>
        <p:nvSpPr>
          <p:cNvPr id="165" name="직사각형 164"/>
          <p:cNvSpPr/>
          <p:nvPr/>
        </p:nvSpPr>
        <p:spPr>
          <a:xfrm>
            <a:off x="352128" y="1530982"/>
            <a:ext cx="6624656" cy="732441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6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365999" y="1734718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1516367" y="1761658"/>
            <a:ext cx="18133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화재위험 발생</a:t>
            </a:r>
          </a:p>
        </p:txBody>
      </p:sp>
      <p:sp>
        <p:nvSpPr>
          <p:cNvPr id="168" name="직사각형 167"/>
          <p:cNvSpPr/>
          <p:nvPr/>
        </p:nvSpPr>
        <p:spPr>
          <a:xfrm>
            <a:off x="5094174" y="1863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69" name="직사각형 168"/>
          <p:cNvSpPr/>
          <p:nvPr/>
        </p:nvSpPr>
        <p:spPr>
          <a:xfrm>
            <a:off x="2364295" y="82968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1742373" y="2460881"/>
            <a:ext cx="402910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화재위험 발생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latin typeface="+mj-ea"/>
              </a:rPr>
              <a:t>화재가 감지되었습니다</a:t>
            </a:r>
            <a:endParaRPr lang="en-US" altLang="ko-KR" sz="2000" b="1" dirty="0">
              <a:latin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</a:rPr>
              <a:t>작업자를 대피시키고 출입을 통제하세요</a:t>
            </a:r>
            <a:endParaRPr lang="en-US" altLang="ko-KR" sz="1600" dirty="0">
              <a:latin typeface="+mj-ea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1742373" y="8175098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72" name="직사각형 171"/>
          <p:cNvSpPr/>
          <p:nvPr/>
        </p:nvSpPr>
        <p:spPr>
          <a:xfrm>
            <a:off x="2592549" y="831958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2" name="직사각형 181"/>
          <p:cNvSpPr/>
          <p:nvPr/>
        </p:nvSpPr>
        <p:spPr>
          <a:xfrm>
            <a:off x="418356" y="4822550"/>
            <a:ext cx="6456599" cy="315904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en-US" altLang="ko-KR" sz="13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CCTV </a:t>
            </a:r>
            <a:r>
              <a:rPr lang="ko-KR" altLang="en-US" sz="13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화면</a:t>
            </a:r>
            <a:endParaRPr lang="ko-KR" altLang="en-US" sz="1300" dirty="0" err="1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3" name="직사각형 182"/>
          <p:cNvSpPr/>
          <p:nvPr/>
        </p:nvSpPr>
        <p:spPr>
          <a:xfrm>
            <a:off x="538610" y="49142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2309219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직사각형 93"/>
          <p:cNvSpPr/>
          <p:nvPr/>
        </p:nvSpPr>
        <p:spPr>
          <a:xfrm>
            <a:off x="1357792" y="1508339"/>
            <a:ext cx="4681906" cy="698304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400288" y="171207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1550656" y="1739016"/>
            <a:ext cx="17283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 dirty="0"/>
              <a:t>AP </a:t>
            </a:r>
            <a:r>
              <a:rPr lang="ko-KR" altLang="en-US" sz="2000" b="1"/>
              <a:t>연결 해제</a:t>
            </a:r>
            <a:endParaRPr lang="ko-KR" altLang="en-US" sz="2000" b="1" dirty="0"/>
          </a:p>
        </p:txBody>
      </p:sp>
      <p:sp>
        <p:nvSpPr>
          <p:cNvPr id="98" name="모서리가 둥근 직사각형 97"/>
          <p:cNvSpPr/>
          <p:nvPr/>
        </p:nvSpPr>
        <p:spPr>
          <a:xfrm>
            <a:off x="1749421" y="7824936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03" name="모서리가 둥근 직사각형 10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+mn-ea"/>
              </a:rPr>
              <a:t>AP </a:t>
            </a:r>
            <a:r>
              <a:rPr lang="ko-KR" altLang="en-US" sz="900">
                <a:latin typeface="+mn-ea"/>
              </a:rPr>
              <a:t>이상 발생</a:t>
            </a:r>
            <a:endParaRPr lang="ko-KR" altLang="en-US" sz="900" dirty="0">
              <a:latin typeface="+mn-ea"/>
            </a:endParaRPr>
          </a:p>
        </p:txBody>
      </p:sp>
      <p:sp>
        <p:nvSpPr>
          <p:cNvPr id="215" name="직사각형 21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8" name="모서리가 둥근 직사각형 21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2" name="자유형 22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3" name="모서리가 둥근 직사각형 22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7" name="자유형 22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8" name="모서리가 둥근 직사각형 22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2" name="자유형 23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3" name="모서리가 둥근 직사각형 23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5" name="TextBox 23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7" name="자유형 23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그룹 23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39" name="직선 연결선 23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0" name="TextBox 23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1" name="그림 24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2" name="그림 24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3" name="모서리가 둥근 직사각형 24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7" name="자유형 24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모서리가 둥근 직사각형 24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0" name="TextBox 24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2" name="자유형 25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7" name="자유형 25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2" name="자유형 26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3" name="모서리가 둥근 직사각형 26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7" name="자유형 26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8" name="모서리가 둥근 직사각형 26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2" name="자유형 27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3" name="그림 2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74" name="그림 27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75" name="그림 27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76" name="그림 27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77" name="그림 27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78" name="모서리가 둥근 직사각형 27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2" name="자유형 28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3" name="그림 28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84" name="그림 28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85" name="그림 28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86" name="그림 28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87" name="TextBox 28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88" name="TextBox 28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89" name="TextBox 28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0" name="TextBox 28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1" name="TextBox 29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2" name="TextBox 29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3" name="TextBox 29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5" name="TextBox 29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4" name="모서리가 둥근 직사각형 303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5" name="TextBox 304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06" name="TextBox 305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07" name="자유형 306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8" name="TextBox 307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9" name="모서리가 둥근 직사각형 308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2" name="자유형 311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3" name="TextBox 312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14" name="그림 31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15" name="그림 314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16" name="모서리가 둥근 직사각형 315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8" name="TextBox 317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9" name="자유형 318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1" name="그림 320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2" name="TextBox 321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3" name="모서리가 둥근 직사각형 322"/>
          <p:cNvSpPr/>
          <p:nvPr/>
        </p:nvSpPr>
        <p:spPr>
          <a:xfrm>
            <a:off x="7553358" y="4974897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3" name="모서리가 둥근 직사각형 122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5" name="그룹 124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6" name="모서리가 둥근 직사각형 12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2" name="자유형 13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3" name="그림 13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4" name="TextBox 13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5" name="그룹 134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6" name="모서리가 둥근 직사각형 13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0" name="자유형 13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1" name="그림 14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2" name="TextBox 14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4" name="모서리가 둥근 직사각형 143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8" name="자유형 14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9" name="그림 14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0" name="TextBox 14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1" name="그룹 150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2" name="모서리가 둥근 직사각형 15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6" name="자유형 15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그림 15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8" name="TextBox 15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59" name="직사각형 158"/>
          <p:cNvSpPr/>
          <p:nvPr/>
        </p:nvSpPr>
        <p:spPr>
          <a:xfrm>
            <a:off x="10626576" y="5007772"/>
            <a:ext cx="1909900" cy="679119"/>
          </a:xfrm>
          <a:prstGeom prst="rect">
            <a:avLst/>
          </a:prstGeom>
          <a:solidFill>
            <a:srgbClr val="FF0000">
              <a:alpha val="55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4</a:t>
            </a:r>
            <a:r>
              <a:rPr lang="ko-KR" altLang="en-US" sz="200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층 </a:t>
            </a:r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E-3</a:t>
            </a:r>
          </a:p>
          <a:p>
            <a:pPr algn="ctr"/>
            <a:r>
              <a:rPr lang="ko-KR" altLang="en-US" sz="9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침범발생 발생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0605499" y="5733252"/>
            <a:ext cx="215315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800" b="1" dirty="0"/>
              <a:t>배터리 이상 발생 </a:t>
            </a:r>
            <a:r>
              <a:rPr lang="en-US" altLang="ko-KR" sz="800" b="1" dirty="0"/>
              <a:t>4</a:t>
            </a:r>
            <a:r>
              <a:rPr lang="ko-KR" altLang="en-US" sz="800" b="1"/>
              <a:t>종</a:t>
            </a:r>
            <a:r>
              <a:rPr lang="en-US" altLang="ko-KR" sz="800" b="1" dirty="0"/>
              <a:t>(AP.</a:t>
            </a:r>
            <a:r>
              <a:rPr lang="ko-KR" altLang="en-US" sz="800" b="1"/>
              <a:t>가스</a:t>
            </a:r>
            <a:r>
              <a:rPr lang="en-US" altLang="ko-KR" sz="800" b="1" dirty="0"/>
              <a:t>,</a:t>
            </a:r>
            <a:r>
              <a:rPr lang="ko-KR" altLang="en-US" sz="800" b="1"/>
              <a:t>밴드</a:t>
            </a:r>
            <a:r>
              <a:rPr lang="en-US" altLang="ko-KR" sz="800" b="1" dirty="0"/>
              <a:t>,</a:t>
            </a:r>
            <a:r>
              <a:rPr lang="ko-KR" altLang="en-US" sz="800" b="1"/>
              <a:t>태그</a:t>
            </a:r>
            <a:r>
              <a:rPr lang="en-US" altLang="ko-KR" sz="800" b="1" dirty="0"/>
              <a:t>)</a:t>
            </a:r>
          </a:p>
          <a:p>
            <a:endParaRPr lang="en-US" altLang="ko-KR" sz="800" b="1" dirty="0"/>
          </a:p>
          <a:p>
            <a:r>
              <a:rPr lang="ko-KR" altLang="en-US" sz="800" dirty="0"/>
              <a:t>붉은 띠 이벤트 알림 없음</a:t>
            </a:r>
            <a:endParaRPr lang="en-US" altLang="ko-KR" sz="800" dirty="0"/>
          </a:p>
          <a:p>
            <a:r>
              <a:rPr lang="ko-KR" altLang="en-US" sz="800" dirty="0"/>
              <a:t>단순히 이벤트 날개배너에 쌓이는 내용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dirty="0"/>
              <a:t>상단 배터리 알림 </a:t>
            </a:r>
            <a:r>
              <a:rPr lang="en-US" altLang="ko-KR" sz="800" dirty="0"/>
              <a:t>view </a:t>
            </a:r>
            <a:r>
              <a:rPr lang="ko-KR" altLang="en-US" sz="800"/>
              <a:t>로 활성화</a:t>
            </a:r>
            <a:r>
              <a:rPr lang="en-US" altLang="ko-KR" sz="800" dirty="0"/>
              <a:t>/</a:t>
            </a:r>
            <a:r>
              <a:rPr lang="ko-KR" altLang="en-US" sz="800"/>
              <a:t>비활성화</a:t>
            </a:r>
            <a:endParaRPr lang="ko-KR" altLang="en-US" sz="800" dirty="0"/>
          </a:p>
        </p:txBody>
      </p:sp>
      <p:sp>
        <p:nvSpPr>
          <p:cNvPr id="161" name="오른쪽 대괄호 160"/>
          <p:cNvSpPr/>
          <p:nvPr/>
        </p:nvSpPr>
        <p:spPr>
          <a:xfrm>
            <a:off x="9937289" y="5232648"/>
            <a:ext cx="442087" cy="1926373"/>
          </a:xfrm>
          <a:prstGeom prst="rightBracket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8" name="표 1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7323428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9" name="모서리가 둥근 직사각형 168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70" name="모서리가 둥근 직사각형 169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71" name="아래쪽 화살표 170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72" name="직사각형 171"/>
          <p:cNvSpPr/>
          <p:nvPr/>
        </p:nvSpPr>
        <p:spPr>
          <a:xfrm>
            <a:off x="2053916" y="79559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10600146" y="3674042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sp>
        <p:nvSpPr>
          <p:cNvPr id="174" name="직사각형 173"/>
          <p:cNvSpPr/>
          <p:nvPr/>
        </p:nvSpPr>
        <p:spPr>
          <a:xfrm>
            <a:off x="5561827" y="158858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1742373" y="2460881"/>
            <a:ext cx="4029104" cy="29084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AP </a:t>
            </a:r>
            <a:r>
              <a:rPr lang="ko-KR" altLang="en-US" sz="4000" b="1">
                <a:solidFill>
                  <a:srgbClr val="FF0000"/>
                </a:solidFill>
                <a:latin typeface="+mn-ea"/>
                <a:sym typeface="Wingdings" panose="05000000000000000000" pitchFamily="2" charset="2"/>
              </a:rPr>
              <a:t>연결 해제</a:t>
            </a:r>
            <a:endParaRPr lang="en-US" altLang="ko-KR" sz="4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/>
            <a:endParaRPr lang="en-US" altLang="ko-KR" sz="2000" b="1" dirty="0">
              <a:solidFill>
                <a:srgbClr val="FF0000"/>
              </a:solidFill>
              <a:latin typeface="+mn-ea"/>
              <a:sym typeface="Wingdings" panose="05000000000000000000" pitchFamily="2" charset="2"/>
            </a:endParaRPr>
          </a:p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AP </a:t>
            </a:r>
            <a:r>
              <a:rPr lang="ko-KR" altLang="en-US" sz="2000" b="1">
                <a:latin typeface="+mj-ea"/>
              </a:rPr>
              <a:t>연결이 해제되었습니다</a:t>
            </a:r>
            <a:endParaRPr lang="en-US" altLang="ko-KR" sz="2000" b="1" dirty="0">
              <a:latin typeface="+mj-ea"/>
            </a:endParaRP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altLang="ko-KR" sz="1400" dirty="0">
                <a:latin typeface="+mj-ea"/>
              </a:rPr>
              <a:t>AP</a:t>
            </a:r>
            <a:r>
              <a:rPr lang="ko-KR" altLang="en-US" sz="1400">
                <a:latin typeface="+mj-ea"/>
              </a:rPr>
              <a:t>의 배터리 상태를 확인하세요</a:t>
            </a:r>
            <a:endParaRPr lang="en-US" altLang="ko-KR" sz="1400" dirty="0">
              <a:latin typeface="+mj-ea"/>
            </a:endParaRP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altLang="ko-KR" sz="1400" dirty="0">
                <a:latin typeface="+mj-ea"/>
              </a:rPr>
              <a:t>AP</a:t>
            </a:r>
            <a:r>
              <a:rPr lang="ko-KR" altLang="en-US" sz="1400">
                <a:latin typeface="+mj-ea"/>
              </a:rPr>
              <a:t>의 전원 연결상태를 확인하세요</a:t>
            </a:r>
            <a:endParaRPr lang="en-US" altLang="ko-KR" sz="1400" dirty="0">
              <a:latin typeface="+mj-ea"/>
            </a:endParaRPr>
          </a:p>
          <a:p>
            <a:pPr marL="342900" indent="-342900">
              <a:lnSpc>
                <a:spcPct val="150000"/>
              </a:lnSpc>
              <a:buAutoNum type="arabicPeriod"/>
            </a:pPr>
            <a:r>
              <a:rPr lang="en-US" altLang="ko-KR" sz="1400" dirty="0">
                <a:latin typeface="+mj-ea"/>
              </a:rPr>
              <a:t>AP</a:t>
            </a:r>
            <a:r>
              <a:rPr lang="ko-KR" altLang="en-US" sz="1400">
                <a:latin typeface="+mj-ea"/>
              </a:rPr>
              <a:t>의 네트워크 연결상태를 확인하세요</a:t>
            </a:r>
            <a:endParaRPr lang="en-US" altLang="ko-KR" sz="1400" dirty="0">
              <a:latin typeface="+mj-ea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1632486" y="5511457"/>
            <a:ext cx="4196450" cy="2210607"/>
            <a:chOff x="561564" y="6711091"/>
            <a:chExt cx="4196450" cy="2210607"/>
          </a:xfrm>
        </p:grpSpPr>
        <p:sp>
          <p:nvSpPr>
            <p:cNvPr id="166" name="직사각형 165"/>
            <p:cNvSpPr/>
            <p:nvPr/>
          </p:nvSpPr>
          <p:spPr>
            <a:xfrm>
              <a:off x="722531" y="7264883"/>
              <a:ext cx="1440160" cy="139787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268619" y="8429255"/>
              <a:ext cx="186140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 err="1">
                  <a:latin typeface="+mn-ea"/>
                  <a:sym typeface="Wingdings" panose="05000000000000000000" pitchFamily="2" charset="2"/>
                </a:rPr>
                <a:t>설치일시</a:t>
              </a:r>
              <a:r>
                <a:rPr lang="ko-KR" altLang="en-US" sz="1200" dirty="0">
                  <a:latin typeface="+mn-ea"/>
                  <a:sym typeface="Wingdings" panose="05000000000000000000" pitchFamily="2" charset="2"/>
                </a:rPr>
                <a:t> </a:t>
              </a:r>
              <a:endParaRPr lang="en-US" altLang="ko-KR" sz="1400" dirty="0">
                <a:latin typeface="+mn-ea"/>
                <a:sym typeface="Wingdings" panose="05000000000000000000" pitchFamily="2" charset="2"/>
              </a:endParaRPr>
            </a:p>
            <a:p>
              <a:r>
                <a:rPr lang="en-US" altLang="ko-KR" sz="1400" dirty="0">
                  <a:latin typeface="+mn-ea"/>
                  <a:sym typeface="Wingdings" panose="05000000000000000000" pitchFamily="2" charset="2"/>
                </a:rPr>
                <a:t>0000.00.00  15:20:27</a:t>
              </a:r>
              <a:endParaRPr lang="ko-KR" altLang="en-US" sz="1400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2268619" y="7200551"/>
              <a:ext cx="1580882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2000" b="1" dirty="0">
                  <a:latin typeface="+mn-ea"/>
                  <a:sym typeface="Wingdings" panose="05000000000000000000" pitchFamily="2" charset="2"/>
                </a:rPr>
                <a:t>MAC </a:t>
              </a:r>
            </a:p>
            <a:p>
              <a:r>
                <a:rPr lang="en-US" altLang="ko-KR" sz="1400" dirty="0">
                  <a:latin typeface="+mn-ea"/>
                  <a:sym typeface="Wingdings" panose="05000000000000000000" pitchFamily="2" charset="2"/>
                </a:rPr>
                <a:t>XXXXXXXXXXXXX</a:t>
              </a:r>
              <a:endParaRPr lang="ko-KR" altLang="en-US" sz="1400" dirty="0">
                <a:latin typeface="+mn-ea"/>
                <a:sym typeface="Wingdings" panose="05000000000000000000" pitchFamily="2" charset="2"/>
              </a:endParaRP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2302072" y="7768093"/>
              <a:ext cx="210346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b="1" dirty="0">
                  <a:latin typeface="+mn-ea"/>
                  <a:sym typeface="Wingdings" panose="05000000000000000000" pitchFamily="2" charset="2"/>
                </a:rPr>
                <a:t>설치위치</a:t>
              </a:r>
              <a:br>
                <a:rPr lang="en-US" altLang="ko-KR" sz="1200" b="1" dirty="0">
                  <a:latin typeface="+mn-ea"/>
                  <a:sym typeface="Wingdings" panose="05000000000000000000" pitchFamily="2" charset="2"/>
                </a:rPr>
              </a:br>
              <a:r>
                <a:rPr lang="ko-KR" altLang="en-US" sz="2400" b="1" dirty="0">
                  <a:latin typeface="+mn-ea"/>
                  <a:sym typeface="Wingdings" panose="05000000000000000000" pitchFamily="2" charset="2"/>
                </a:rPr>
                <a:t>건물명 층 </a:t>
              </a:r>
              <a:r>
                <a:rPr lang="en-US" altLang="ko-KR" sz="2400" b="1" dirty="0">
                  <a:latin typeface="+mn-ea"/>
                  <a:sym typeface="Wingdings" panose="05000000000000000000" pitchFamily="2" charset="2"/>
                </a:rPr>
                <a:t>E-3</a:t>
              </a:r>
              <a:endParaRPr lang="ko-KR" altLang="en-US" sz="2400" b="1" dirty="0">
                <a:latin typeface="+mn-ea"/>
                <a:sym typeface="Wingdings" panose="05000000000000000000" pitchFamily="2" charset="2"/>
              </a:endParaRPr>
            </a:p>
          </p:txBody>
        </p:sp>
        <p:cxnSp>
          <p:nvCxnSpPr>
            <p:cNvPr id="179" name="직선 연결선 178"/>
            <p:cNvCxnSpPr/>
            <p:nvPr/>
          </p:nvCxnSpPr>
          <p:spPr>
            <a:xfrm>
              <a:off x="582014" y="6711091"/>
              <a:ext cx="4176000" cy="0"/>
            </a:xfrm>
            <a:prstGeom prst="line">
              <a:avLst/>
            </a:prstGeom>
            <a:ln w="762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TextBox 179"/>
            <p:cNvSpPr txBox="1"/>
            <p:nvPr/>
          </p:nvSpPr>
          <p:spPr>
            <a:xfrm>
              <a:off x="561564" y="6872203"/>
              <a:ext cx="865943" cy="338554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AP</a:t>
              </a:r>
              <a:r>
                <a:rPr lang="ko-KR" altLang="en-US" sz="1600" dirty="0"/>
                <a:t> 정보</a:t>
              </a:r>
              <a:endParaRPr lang="en-US" sz="1600" dirty="0"/>
            </a:p>
          </p:txBody>
        </p:sp>
      </p:grpSp>
    </p:spTree>
    <p:extLst>
      <p:ext uri="{BB962C8B-B14F-4D97-AF65-F5344CB8AC3E}">
        <p14:creationId xmlns:p14="http://schemas.microsoft.com/office/powerpoint/2010/main" val="6415426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모서리가 둥근 직사각형 10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029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가스센서 배터리 부족 알림</a:t>
            </a:r>
          </a:p>
        </p:txBody>
      </p:sp>
      <p:sp>
        <p:nvSpPr>
          <p:cNvPr id="217" name="직사각형 216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0" name="모서리가 둥근 직사각형 219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3" name="TextBox 222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4" name="자유형 223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모서리가 둥근 직사각형 224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29" name="자유형 228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모서리가 둥근 직사각형 229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1" name="TextBox 230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3" name="TextBox 232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4" name="자유형 233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5" name="모서리가 둥근 직사각형 234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38" name="TextBox 237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9" name="자유형 238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0" name="그룹 239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41" name="직선 연결선 240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TextBox 241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43" name="그림 24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44" name="그림 24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45" name="모서리가 둥근 직사각형 244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9" name="자유형 248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0" name="모서리가 둥근 직사각형 249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4" name="자유형 253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9" name="자유형 258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0" name="모서리가 둥근 직사각형 259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3" name="TextBox 262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4" name="자유형 263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9" name="자유형 268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모서리가 둥근 직사각형 269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4" name="자유형 273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75" name="그림 27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76" name="그림 27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77" name="그림 27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78" name="그림 27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79" name="그림 27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80" name="모서리가 둥근 직사각형 279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3" name="TextBox 282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84" name="자유형 283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5" name="그림 28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86" name="그림 28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87" name="그림 28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88" name="그림 287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89" name="TextBox 288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0" name="TextBox 289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1" name="TextBox 290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2" name="TextBox 291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3" name="TextBox 292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4" name="TextBox 293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5" name="TextBox 294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96" name="TextBox 295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6" name="모서리가 둥근 직사각형 305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7" name="TextBox 306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08" name="TextBox 307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09" name="자유형 308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1" name="모서리가 둥근 직사각형 310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2" name="TextBox 311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13" name="TextBox 312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14" name="자유형 313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16" name="그림 315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17" name="그림 316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18" name="모서리가 둥근 직사각형 317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1" name="자유형 320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2" name="TextBox 321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3" name="그림 322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24" name="TextBox 323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25" name="모서리가 둥근 직사각형 324"/>
          <p:cNvSpPr/>
          <p:nvPr/>
        </p:nvSpPr>
        <p:spPr>
          <a:xfrm>
            <a:off x="7553358" y="5593182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3" name="모서리가 둥근 직사각형 122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25" name="그룹 124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26" name="모서리가 둥근 직사각형 12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4" name="자유형 13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5" name="그림 13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6" name="TextBox 13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2" name="자유형 14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3" name="그림 14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4" name="TextBox 14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5" name="그룹 144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46" name="모서리가 둥근 직사각형 14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0" name="자유형 14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1" name="그림 15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2" name="TextBox 15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3" name="그룹 152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8" name="자유형 15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0" name="TextBox 15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61" name="직사각형 160"/>
          <p:cNvSpPr/>
          <p:nvPr/>
        </p:nvSpPr>
        <p:spPr>
          <a:xfrm>
            <a:off x="10626576" y="5007772"/>
            <a:ext cx="1909900" cy="679119"/>
          </a:xfrm>
          <a:prstGeom prst="rect">
            <a:avLst/>
          </a:prstGeom>
          <a:solidFill>
            <a:srgbClr val="FF0000">
              <a:alpha val="55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4</a:t>
            </a:r>
            <a:r>
              <a:rPr lang="ko-KR" altLang="en-US" sz="200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층 </a:t>
            </a:r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E-3</a:t>
            </a:r>
          </a:p>
          <a:p>
            <a:pPr algn="ctr"/>
            <a:r>
              <a:rPr lang="ko-KR" altLang="en-US" sz="9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침범발생 발생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0605499" y="5733252"/>
            <a:ext cx="215315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800" b="1" dirty="0"/>
              <a:t>배터리 이상 발생 </a:t>
            </a:r>
            <a:r>
              <a:rPr lang="en-US" altLang="ko-KR" sz="800" b="1" dirty="0"/>
              <a:t>4</a:t>
            </a:r>
            <a:r>
              <a:rPr lang="ko-KR" altLang="en-US" sz="800" b="1"/>
              <a:t>종</a:t>
            </a:r>
            <a:r>
              <a:rPr lang="en-US" altLang="ko-KR" sz="800" b="1" dirty="0"/>
              <a:t>(AP.</a:t>
            </a:r>
            <a:r>
              <a:rPr lang="ko-KR" altLang="en-US" sz="800" b="1"/>
              <a:t>가스</a:t>
            </a:r>
            <a:r>
              <a:rPr lang="en-US" altLang="ko-KR" sz="800" b="1" dirty="0"/>
              <a:t>,</a:t>
            </a:r>
            <a:r>
              <a:rPr lang="ko-KR" altLang="en-US" sz="800" b="1"/>
              <a:t>밴드</a:t>
            </a:r>
            <a:r>
              <a:rPr lang="en-US" altLang="ko-KR" sz="800" b="1" dirty="0"/>
              <a:t>,</a:t>
            </a:r>
            <a:r>
              <a:rPr lang="ko-KR" altLang="en-US" sz="800" b="1"/>
              <a:t>태그</a:t>
            </a:r>
            <a:r>
              <a:rPr lang="en-US" altLang="ko-KR" sz="800" b="1" dirty="0"/>
              <a:t>)</a:t>
            </a:r>
          </a:p>
          <a:p>
            <a:endParaRPr lang="en-US" altLang="ko-KR" sz="800" b="1" dirty="0"/>
          </a:p>
          <a:p>
            <a:r>
              <a:rPr lang="ko-KR" altLang="en-US" sz="800" dirty="0"/>
              <a:t>붉은 띠 이벤트 알림 없음</a:t>
            </a:r>
            <a:endParaRPr lang="en-US" altLang="ko-KR" sz="800" dirty="0"/>
          </a:p>
          <a:p>
            <a:r>
              <a:rPr lang="ko-KR" altLang="en-US" sz="800" dirty="0"/>
              <a:t>단순히 이벤트 날개배너에 쌓이는 내용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dirty="0"/>
              <a:t>상단 배터리 알림 </a:t>
            </a:r>
            <a:r>
              <a:rPr lang="en-US" altLang="ko-KR" sz="800" dirty="0"/>
              <a:t>view </a:t>
            </a:r>
            <a:r>
              <a:rPr lang="ko-KR" altLang="en-US" sz="800"/>
              <a:t>로 활성화</a:t>
            </a:r>
            <a:r>
              <a:rPr lang="en-US" altLang="ko-KR" sz="800" dirty="0"/>
              <a:t>/</a:t>
            </a:r>
            <a:r>
              <a:rPr lang="ko-KR" altLang="en-US" sz="800"/>
              <a:t>비활성화</a:t>
            </a:r>
            <a:endParaRPr lang="ko-KR" altLang="en-US" sz="800" dirty="0"/>
          </a:p>
        </p:txBody>
      </p:sp>
      <p:sp>
        <p:nvSpPr>
          <p:cNvPr id="163" name="오른쪽 대괄호 162"/>
          <p:cNvSpPr/>
          <p:nvPr/>
        </p:nvSpPr>
        <p:spPr>
          <a:xfrm>
            <a:off x="9937289" y="5232648"/>
            <a:ext cx="442087" cy="1926373"/>
          </a:xfrm>
          <a:prstGeom prst="rightBracket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직사각형 163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9" name="표 1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9442910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0" name="모서리가 둥근 직사각형 179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82" name="아래쪽 화살표 181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10600146" y="3674042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sp>
        <p:nvSpPr>
          <p:cNvPr id="169" name="직사각형 168"/>
          <p:cNvSpPr/>
          <p:nvPr/>
        </p:nvSpPr>
        <p:spPr>
          <a:xfrm>
            <a:off x="1781653" y="1840972"/>
            <a:ext cx="4255066" cy="701442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70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594339" y="2008891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2091928" y="3392727"/>
            <a:ext cx="3698448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제</a:t>
            </a:r>
            <a:r>
              <a:rPr lang="en-US" altLang="ko-KR" sz="2000" b="1" dirty="0">
                <a:latin typeface="+mj-ea"/>
              </a:rPr>
              <a:t>1</a:t>
            </a:r>
            <a:r>
              <a:rPr lang="ko-KR" altLang="en-US" sz="2000" b="1">
                <a:latin typeface="+mj-ea"/>
              </a:rPr>
              <a:t>공장 </a:t>
            </a:r>
            <a:r>
              <a:rPr lang="en-US" altLang="ko-KR" sz="2000" b="1" dirty="0">
                <a:latin typeface="+mj-ea"/>
              </a:rPr>
              <a:t>5 </a:t>
            </a:r>
            <a:r>
              <a:rPr lang="ko-KR" altLang="en-US" sz="2000" b="1">
                <a:latin typeface="+mj-ea"/>
              </a:rPr>
              <a:t>층 </a:t>
            </a:r>
            <a:r>
              <a:rPr lang="en-US" altLang="ko-KR" sz="2000" b="1" dirty="0">
                <a:latin typeface="+mj-ea"/>
              </a:rPr>
              <a:t>E-3]</a:t>
            </a:r>
            <a:endParaRPr lang="en-US" altLang="ko-KR" sz="2000" b="1" dirty="0">
              <a:solidFill>
                <a:srgbClr val="00B0F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solidFill>
                  <a:srgbClr val="FF0000"/>
                </a:solidFill>
                <a:latin typeface="+mj-ea"/>
                <a:ea typeface="+mj-ea"/>
              </a:rPr>
              <a:t>가스센서 배터리가 부족합니다</a:t>
            </a:r>
            <a:endParaRPr lang="en-US" altLang="ko-KR" sz="2000" b="1" dirty="0">
              <a:solidFill>
                <a:srgbClr val="FF000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즉시 충전하세요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600" dirty="0">
                <a:latin typeface="+mj-ea"/>
                <a:ea typeface="+mj-ea"/>
              </a:rPr>
              <a:t>(</a:t>
            </a:r>
            <a:r>
              <a:rPr lang="ko-KR" altLang="en-US" sz="1600" dirty="0">
                <a:latin typeface="+mj-ea"/>
                <a:ea typeface="+mj-ea"/>
              </a:rPr>
              <a:t>최초 알림 후 </a:t>
            </a:r>
            <a:r>
              <a:rPr lang="en-US" altLang="ko-KR" sz="1600" dirty="0">
                <a:latin typeface="+mj-ea"/>
                <a:ea typeface="+mj-ea"/>
              </a:rPr>
              <a:t>1</a:t>
            </a:r>
            <a:r>
              <a:rPr lang="ko-KR" altLang="en-US" sz="1600" dirty="0" err="1">
                <a:latin typeface="+mj-ea"/>
                <a:ea typeface="+mj-ea"/>
              </a:rPr>
              <a:t>개월이내</a:t>
            </a:r>
            <a:r>
              <a:rPr lang="ko-KR" altLang="en-US" sz="1600" dirty="0">
                <a:latin typeface="+mj-ea"/>
                <a:ea typeface="+mj-ea"/>
              </a:rPr>
              <a:t> </a:t>
            </a:r>
            <a:r>
              <a:rPr lang="ko-KR" altLang="en-US" sz="1600">
                <a:latin typeface="+mj-ea"/>
                <a:ea typeface="+mj-ea"/>
              </a:rPr>
              <a:t>교체하세요</a:t>
            </a:r>
            <a:r>
              <a:rPr lang="en-US" altLang="ko-KR" sz="1600" dirty="0">
                <a:latin typeface="+mj-ea"/>
                <a:ea typeface="+mj-ea"/>
              </a:rPr>
              <a:t>)</a:t>
            </a:r>
          </a:p>
        </p:txBody>
      </p:sp>
      <p:cxnSp>
        <p:nvCxnSpPr>
          <p:cNvPr id="200" name="직선 연결선 199"/>
          <p:cNvCxnSpPr/>
          <p:nvPr/>
        </p:nvCxnSpPr>
        <p:spPr>
          <a:xfrm>
            <a:off x="1805199" y="5291069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1858930" y="5507093"/>
            <a:ext cx="1462260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가스센서 정보</a:t>
            </a:r>
            <a:endParaRPr lang="en-US" sz="1600" dirty="0"/>
          </a:p>
        </p:txBody>
      </p:sp>
      <p:sp>
        <p:nvSpPr>
          <p:cNvPr id="202" name="직사각형 201"/>
          <p:cNvSpPr/>
          <p:nvPr/>
        </p:nvSpPr>
        <p:spPr>
          <a:xfrm>
            <a:off x="1923090" y="6037359"/>
            <a:ext cx="3979616" cy="1935589"/>
          </a:xfrm>
          <a:prstGeom prst="rect">
            <a:avLst/>
          </a:prstGeom>
          <a:noFill/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직사각형 202"/>
          <p:cNvSpPr/>
          <p:nvPr/>
        </p:nvSpPr>
        <p:spPr>
          <a:xfrm>
            <a:off x="2046124" y="6220210"/>
            <a:ext cx="1440160" cy="13978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3592212" y="7384582"/>
            <a:ext cx="186140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 err="1">
                <a:latin typeface="+mn-ea"/>
                <a:sym typeface="Wingdings" panose="05000000000000000000" pitchFamily="2" charset="2"/>
              </a:rPr>
              <a:t>설치일시</a:t>
            </a:r>
            <a:r>
              <a:rPr lang="ko-KR" altLang="en-US" sz="1200" dirty="0">
                <a:latin typeface="+mn-ea"/>
                <a:sym typeface="Wingdings" panose="05000000000000000000" pitchFamily="2" charset="2"/>
              </a:rPr>
              <a:t> </a:t>
            </a:r>
            <a:endParaRPr lang="en-US" altLang="ko-KR" sz="1400" dirty="0">
              <a:latin typeface="+mn-ea"/>
              <a:sym typeface="Wingdings" panose="05000000000000000000" pitchFamily="2" charset="2"/>
            </a:endParaRPr>
          </a:p>
          <a:p>
            <a:r>
              <a:rPr lang="en-US" altLang="ko-KR" sz="1400" dirty="0">
                <a:latin typeface="+mn-ea"/>
                <a:sym typeface="Wingdings" panose="05000000000000000000" pitchFamily="2" charset="2"/>
              </a:rPr>
              <a:t>0000.00.00  15:20:27</a:t>
            </a:r>
            <a:endParaRPr lang="ko-KR" altLang="en-US" sz="14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3592212" y="6155878"/>
            <a:ext cx="158088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b="1" dirty="0">
                <a:latin typeface="+mn-ea"/>
                <a:sym typeface="Wingdings" panose="05000000000000000000" pitchFamily="2" charset="2"/>
              </a:rPr>
              <a:t>MAC </a:t>
            </a:r>
            <a:endParaRPr lang="en-US" altLang="ko-KR" sz="2000" b="1" dirty="0">
              <a:latin typeface="+mn-ea"/>
              <a:sym typeface="Wingdings" panose="05000000000000000000" pitchFamily="2" charset="2"/>
            </a:endParaRPr>
          </a:p>
          <a:p>
            <a:r>
              <a:rPr lang="en-US" altLang="ko-KR" sz="1400" dirty="0">
                <a:latin typeface="+mn-ea"/>
                <a:sym typeface="Wingdings" panose="05000000000000000000" pitchFamily="2" charset="2"/>
              </a:rPr>
              <a:t>XXXXXXXXXXXXX</a:t>
            </a:r>
            <a:endParaRPr lang="ko-KR" altLang="en-US" sz="14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3625665" y="6723420"/>
            <a:ext cx="20217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b="1" dirty="0">
                <a:latin typeface="+mn-ea"/>
                <a:sym typeface="Wingdings" panose="05000000000000000000" pitchFamily="2" charset="2"/>
              </a:rPr>
              <a:t>설치위치</a:t>
            </a:r>
            <a:br>
              <a:rPr lang="en-US" altLang="ko-KR" sz="1200" b="1" dirty="0">
                <a:latin typeface="+mn-ea"/>
                <a:sym typeface="Wingdings" panose="05000000000000000000" pitchFamily="2" charset="2"/>
              </a:rPr>
            </a:br>
            <a:r>
              <a:rPr lang="ko-KR" altLang="en-US" sz="2000" b="1" dirty="0">
                <a:solidFill>
                  <a:srgbClr val="00B0F0"/>
                </a:solidFill>
                <a:latin typeface="+mn-ea"/>
                <a:sym typeface="Wingdings" panose="05000000000000000000" pitchFamily="2" charset="2"/>
              </a:rPr>
              <a:t>건물명</a:t>
            </a:r>
            <a:r>
              <a:rPr lang="ko-KR" altLang="en-US" sz="2000" b="1" dirty="0"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2000" b="1" dirty="0">
                <a:solidFill>
                  <a:srgbClr val="00B0F0"/>
                </a:solidFill>
                <a:latin typeface="+mn-ea"/>
                <a:sym typeface="Wingdings" panose="05000000000000000000" pitchFamily="2" charset="2"/>
              </a:rPr>
              <a:t>5</a:t>
            </a:r>
            <a:r>
              <a:rPr lang="en-US" altLang="ko-KR" sz="2000" b="1" dirty="0"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2000" b="1" dirty="0">
                <a:latin typeface="+mn-ea"/>
                <a:sym typeface="Wingdings" panose="05000000000000000000" pitchFamily="2" charset="2"/>
              </a:rPr>
              <a:t>층 </a:t>
            </a:r>
            <a:r>
              <a:rPr lang="en-US" altLang="ko-KR" sz="2000" b="1" dirty="0">
                <a:solidFill>
                  <a:srgbClr val="00B0F0"/>
                </a:solidFill>
                <a:latin typeface="+mn-ea"/>
                <a:sym typeface="Wingdings" panose="05000000000000000000" pitchFamily="2" charset="2"/>
              </a:rPr>
              <a:t>E-3</a:t>
            </a:r>
            <a:endParaRPr lang="ko-KR" altLang="en-US" sz="2400" b="1" dirty="0">
              <a:solidFill>
                <a:srgbClr val="00B0F0"/>
              </a:solidFill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208" name="직사각형 207"/>
          <p:cNvSpPr/>
          <p:nvPr/>
        </p:nvSpPr>
        <p:spPr>
          <a:xfrm>
            <a:off x="1976113" y="2609546"/>
            <a:ext cx="3859819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 dirty="0">
                <a:solidFill>
                  <a:srgbClr val="FF0000"/>
                </a:solidFill>
              </a:rPr>
              <a:t>배터리 부족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874936" y="1938631"/>
            <a:ext cx="267252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/>
              <a:t>가스센서 배터리 부족</a:t>
            </a:r>
            <a:endParaRPr lang="ko-KR" altLang="en-US" sz="2000" b="1" dirty="0"/>
          </a:p>
        </p:txBody>
      </p:sp>
      <p:sp>
        <p:nvSpPr>
          <p:cNvPr id="210" name="모서리가 둥근 직사각형 209"/>
          <p:cNvSpPr/>
          <p:nvPr/>
        </p:nvSpPr>
        <p:spPr>
          <a:xfrm>
            <a:off x="1898308" y="8142785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211" name="직사각형 210"/>
          <p:cNvSpPr/>
          <p:nvPr/>
        </p:nvSpPr>
        <p:spPr>
          <a:xfrm>
            <a:off x="2659599" y="82827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2" name="직사각형 211"/>
          <p:cNvSpPr/>
          <p:nvPr/>
        </p:nvSpPr>
        <p:spPr>
          <a:xfrm>
            <a:off x="5658132" y="18674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2691516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모서리가 둥근 직사각형 12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안전밴드 배터리 부족 알림</a:t>
            </a:r>
          </a:p>
        </p:txBody>
      </p:sp>
      <p:sp>
        <p:nvSpPr>
          <p:cNvPr id="235" name="직사각형 23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2" name="자유형 24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7" name="자유형 24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모서리가 둥근 직사각형 24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2" name="자유형 25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7" name="자유형 25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58" name="그룹 25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59" name="직선 연결선 25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0" name="TextBox 25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61" name="그림 26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62" name="그림 26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63" name="모서리가 둥근 직사각형 26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7" name="자유형 26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8" name="모서리가 둥근 직사각형 26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2" name="자유형 27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3" name="모서리가 둥근 직사각형 27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7" name="자유형 27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모서리가 둥근 직사각형 27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2" name="자유형 28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3" name="모서리가 둥근 직사각형 28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7" name="자유형 28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모서리가 둥근 직사각형 28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91" name="TextBox 29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2" name="자유형 29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93" name="그림 29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94" name="그림 29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95" name="그림 29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96" name="그림 29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97" name="그림 29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98" name="모서리가 둥근 직사각형 29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0" name="TextBox 29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302" name="자유형 30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03" name="그림 30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304" name="그림 30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305" name="그림 30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306" name="그림 30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307" name="TextBox 30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8" name="TextBox 30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9" name="TextBox 30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0" name="TextBox 30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1" name="TextBox 31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2" name="TextBox 31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3" name="TextBox 31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4" name="TextBox 31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6" name="TextBox 31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24" name="모서리가 둥근 직사각형 323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7" name="자유형 326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8" name="TextBox 327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9" name="모서리가 둥근 직사각형 328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0" name="TextBox 329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31" name="TextBox 330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32" name="자유형 331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3" name="TextBox 332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34" name="그림 33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35" name="그림 334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36" name="모서리가 둥근 직사각형 335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7" name="TextBox 336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38" name="TextBox 337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39" name="자유형 338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0" name="TextBox 339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41" name="그림 340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42" name="TextBox 341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43" name="모서리가 둥근 직사각형 342"/>
          <p:cNvSpPr/>
          <p:nvPr/>
        </p:nvSpPr>
        <p:spPr>
          <a:xfrm>
            <a:off x="7553358" y="6211598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32" name="모서리가 둥근 직사각형 131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34" name="그룹 133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35" name="모서리가 둥근 직사각형 13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5" name="자유형 14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6" name="그림 14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7" name="TextBox 14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8" name="그룹 147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49" name="모서리가 둥근 직사각형 14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3" name="자유형 15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그림 15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5" name="TextBox 15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6" name="그룹 155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57" name="모서리가 둥근 직사각형 15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1" name="자유형 16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3" name="TextBox 16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4" name="그룹 163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65" name="모서리가 둥근 직사각형 16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9" name="자유형 16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0" name="그림 16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1" name="TextBox 17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72" name="직사각형 171"/>
          <p:cNvSpPr/>
          <p:nvPr/>
        </p:nvSpPr>
        <p:spPr>
          <a:xfrm>
            <a:off x="10626576" y="5007772"/>
            <a:ext cx="1909900" cy="679119"/>
          </a:xfrm>
          <a:prstGeom prst="rect">
            <a:avLst/>
          </a:prstGeom>
          <a:solidFill>
            <a:srgbClr val="FF0000">
              <a:alpha val="55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4</a:t>
            </a:r>
            <a:r>
              <a:rPr lang="ko-KR" altLang="en-US" sz="200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층 </a:t>
            </a:r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E-3</a:t>
            </a:r>
          </a:p>
          <a:p>
            <a:pPr algn="ctr"/>
            <a:r>
              <a:rPr lang="ko-KR" altLang="en-US" sz="9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침범발생 발생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605499" y="5733252"/>
            <a:ext cx="215315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800" b="1" dirty="0"/>
              <a:t>배터리 이상 발생 </a:t>
            </a:r>
            <a:r>
              <a:rPr lang="en-US" altLang="ko-KR" sz="800" b="1" dirty="0"/>
              <a:t>4</a:t>
            </a:r>
            <a:r>
              <a:rPr lang="ko-KR" altLang="en-US" sz="800" b="1"/>
              <a:t>종</a:t>
            </a:r>
            <a:r>
              <a:rPr lang="en-US" altLang="ko-KR" sz="800" b="1" dirty="0"/>
              <a:t>(AP.</a:t>
            </a:r>
            <a:r>
              <a:rPr lang="ko-KR" altLang="en-US" sz="800" b="1"/>
              <a:t>가스</a:t>
            </a:r>
            <a:r>
              <a:rPr lang="en-US" altLang="ko-KR" sz="800" b="1" dirty="0"/>
              <a:t>,</a:t>
            </a:r>
            <a:r>
              <a:rPr lang="ko-KR" altLang="en-US" sz="800" b="1"/>
              <a:t>밴드</a:t>
            </a:r>
            <a:r>
              <a:rPr lang="en-US" altLang="ko-KR" sz="800" b="1" dirty="0"/>
              <a:t>,</a:t>
            </a:r>
            <a:r>
              <a:rPr lang="ko-KR" altLang="en-US" sz="800" b="1"/>
              <a:t>태그</a:t>
            </a:r>
            <a:r>
              <a:rPr lang="en-US" altLang="ko-KR" sz="800" b="1" dirty="0"/>
              <a:t>)</a:t>
            </a:r>
          </a:p>
          <a:p>
            <a:endParaRPr lang="en-US" altLang="ko-KR" sz="800" b="1" dirty="0"/>
          </a:p>
          <a:p>
            <a:r>
              <a:rPr lang="ko-KR" altLang="en-US" sz="800" dirty="0"/>
              <a:t>붉은 띠 이벤트 알림 없음</a:t>
            </a:r>
            <a:endParaRPr lang="en-US" altLang="ko-KR" sz="800" dirty="0"/>
          </a:p>
          <a:p>
            <a:r>
              <a:rPr lang="ko-KR" altLang="en-US" sz="800" dirty="0"/>
              <a:t>단순히 이벤트 날개배너에 쌓이는 내용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dirty="0"/>
              <a:t>상단 배터리 알림 </a:t>
            </a:r>
            <a:r>
              <a:rPr lang="en-US" altLang="ko-KR" sz="800" dirty="0"/>
              <a:t>view </a:t>
            </a:r>
            <a:r>
              <a:rPr lang="ko-KR" altLang="en-US" sz="800"/>
              <a:t>로 활성화</a:t>
            </a:r>
            <a:r>
              <a:rPr lang="en-US" altLang="ko-KR" sz="800" dirty="0"/>
              <a:t>/</a:t>
            </a:r>
            <a:r>
              <a:rPr lang="ko-KR" altLang="en-US" sz="800"/>
              <a:t>비활성화</a:t>
            </a:r>
            <a:endParaRPr lang="ko-KR" altLang="en-US" sz="800" dirty="0"/>
          </a:p>
        </p:txBody>
      </p:sp>
      <p:sp>
        <p:nvSpPr>
          <p:cNvPr id="174" name="오른쪽 대괄호 173"/>
          <p:cNvSpPr/>
          <p:nvPr/>
        </p:nvSpPr>
        <p:spPr>
          <a:xfrm>
            <a:off x="9937289" y="5232648"/>
            <a:ext cx="442087" cy="1926373"/>
          </a:xfrm>
          <a:prstGeom prst="rightBracket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직사각형 174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모서리가 둥근 직사각형 175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2" name="표 1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1926531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3" name="모서리가 둥근 직사각형 182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85" name="아래쪽 화살표 184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0600146" y="3674042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sp>
        <p:nvSpPr>
          <p:cNvPr id="198" name="직사각형 197"/>
          <p:cNvSpPr/>
          <p:nvPr/>
        </p:nvSpPr>
        <p:spPr>
          <a:xfrm>
            <a:off x="1781653" y="1840972"/>
            <a:ext cx="4255066" cy="701442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99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594339" y="2008891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2091928" y="3392727"/>
            <a:ext cx="3698448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김태호</a:t>
            </a:r>
            <a:r>
              <a:rPr lang="en-US" altLang="ko-KR" sz="2000" b="1" dirty="0">
                <a:latin typeface="+mj-ea"/>
              </a:rPr>
              <a:t>]</a:t>
            </a:r>
            <a:r>
              <a:rPr lang="ko-KR" altLang="en-US" sz="2000" b="1">
                <a:latin typeface="+mj-ea"/>
              </a:rPr>
              <a:t>님의</a:t>
            </a:r>
            <a:endParaRPr lang="en-US" altLang="ko-KR" sz="2000" b="1" dirty="0">
              <a:solidFill>
                <a:srgbClr val="00B0F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solidFill>
                  <a:srgbClr val="FF0000"/>
                </a:solidFill>
                <a:latin typeface="+mj-ea"/>
                <a:ea typeface="+mj-ea"/>
              </a:rPr>
              <a:t>안전밴드 배터리가 부족합니다</a:t>
            </a:r>
            <a:endParaRPr lang="en-US" altLang="ko-KR" sz="2000" b="1" dirty="0">
              <a:solidFill>
                <a:srgbClr val="FF000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즉시 충전하세요</a:t>
            </a:r>
            <a:endParaRPr lang="en-US" altLang="ko-KR" sz="1600" dirty="0">
              <a:latin typeface="+mj-ea"/>
              <a:ea typeface="+mj-ea"/>
            </a:endParaRPr>
          </a:p>
        </p:txBody>
      </p:sp>
      <p:cxnSp>
        <p:nvCxnSpPr>
          <p:cNvPr id="201" name="직선 연결선 200"/>
          <p:cNvCxnSpPr/>
          <p:nvPr/>
        </p:nvCxnSpPr>
        <p:spPr>
          <a:xfrm>
            <a:off x="1805199" y="5291069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/>
          <p:cNvSpPr txBox="1"/>
          <p:nvPr/>
        </p:nvSpPr>
        <p:spPr>
          <a:xfrm>
            <a:off x="1858930" y="5507093"/>
            <a:ext cx="2175596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안전밴드 착용자 정보</a:t>
            </a:r>
            <a:endParaRPr lang="en-US" sz="1600" dirty="0"/>
          </a:p>
        </p:txBody>
      </p:sp>
      <p:sp>
        <p:nvSpPr>
          <p:cNvPr id="209" name="직사각형 208"/>
          <p:cNvSpPr/>
          <p:nvPr/>
        </p:nvSpPr>
        <p:spPr>
          <a:xfrm>
            <a:off x="1976113" y="2609546"/>
            <a:ext cx="3859819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 dirty="0">
                <a:solidFill>
                  <a:srgbClr val="FF0000"/>
                </a:solidFill>
              </a:rPr>
              <a:t>배터리 부족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874936" y="1938631"/>
            <a:ext cx="267252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안전밴드 배터리 부족</a:t>
            </a:r>
          </a:p>
        </p:txBody>
      </p:sp>
      <p:sp>
        <p:nvSpPr>
          <p:cNvPr id="211" name="모서리가 둥근 직사각형 210"/>
          <p:cNvSpPr/>
          <p:nvPr/>
        </p:nvSpPr>
        <p:spPr>
          <a:xfrm>
            <a:off x="1898308" y="8247106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212" name="직사각형 211"/>
          <p:cNvSpPr/>
          <p:nvPr/>
        </p:nvSpPr>
        <p:spPr>
          <a:xfrm>
            <a:off x="2659599" y="83870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22" name="그룹 221"/>
          <p:cNvGrpSpPr/>
          <p:nvPr/>
        </p:nvGrpSpPr>
        <p:grpSpPr>
          <a:xfrm>
            <a:off x="1923090" y="6040220"/>
            <a:ext cx="3979616" cy="2136284"/>
            <a:chOff x="722532" y="6113928"/>
            <a:chExt cx="3979616" cy="2136284"/>
          </a:xfrm>
        </p:grpSpPr>
        <p:grpSp>
          <p:nvGrpSpPr>
            <p:cNvPr id="223" name="그룹 222"/>
            <p:cNvGrpSpPr/>
            <p:nvPr/>
          </p:nvGrpSpPr>
          <p:grpSpPr>
            <a:xfrm>
              <a:off x="830106" y="6218740"/>
              <a:ext cx="3500841" cy="1914401"/>
              <a:chOff x="5891181" y="3047884"/>
              <a:chExt cx="4486928" cy="2453636"/>
            </a:xfrm>
          </p:grpSpPr>
          <p:grpSp>
            <p:nvGrpSpPr>
              <p:cNvPr id="225" name="그룹 224"/>
              <p:cNvGrpSpPr/>
              <p:nvPr/>
            </p:nvGrpSpPr>
            <p:grpSpPr>
              <a:xfrm>
                <a:off x="5952469" y="3087144"/>
                <a:ext cx="1440160" cy="1397875"/>
                <a:chOff x="7962299" y="2617527"/>
                <a:chExt cx="622093" cy="646131"/>
              </a:xfrm>
            </p:grpSpPr>
            <p:sp>
              <p:nvSpPr>
                <p:cNvPr id="229" name="직사각형 228"/>
                <p:cNvSpPr/>
                <p:nvPr/>
              </p:nvSpPr>
              <p:spPr>
                <a:xfrm>
                  <a:off x="7962299" y="2617527"/>
                  <a:ext cx="622093" cy="6461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600" dirty="0" err="1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30" name="그림 229"/>
                <p:cNvPicPr>
                  <a:picLocks noChangeAspect="1"/>
                </p:cNvPicPr>
                <p:nvPr/>
              </p:nvPicPr>
              <p:blipFill>
                <a:blip r:embed="rId15" cstate="print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06450" y="2727225"/>
                  <a:ext cx="535839" cy="535839"/>
                </a:xfrm>
                <a:prstGeom prst="rect">
                  <a:avLst/>
                </a:prstGeom>
              </p:spPr>
            </p:pic>
          </p:grpSp>
          <p:sp>
            <p:nvSpPr>
              <p:cNvPr id="226" name="TextBox 225"/>
              <p:cNvSpPr txBox="1"/>
              <p:nvPr/>
            </p:nvSpPr>
            <p:spPr>
              <a:xfrm>
                <a:off x="5891181" y="4732306"/>
                <a:ext cx="3986187" cy="7692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      속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000 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소속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안전밴드 </a:t>
                </a:r>
                <a:r>
                  <a:rPr lang="ko-KR" altLang="en-US" sz="1100" dirty="0" err="1">
                    <a:latin typeface="+mn-ea"/>
                    <a:sym typeface="Wingdings" panose="05000000000000000000" pitchFamily="2" charset="2"/>
                  </a:rPr>
                  <a:t>착용일시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YYYY-MM-DD </a:t>
                </a:r>
                <a:r>
                  <a:rPr lang="en-US" altLang="ko-KR" sz="1100" dirty="0" err="1">
                    <a:latin typeface="+mn-ea"/>
                    <a:sym typeface="Wingdings" panose="05000000000000000000" pitchFamily="2" charset="2"/>
                  </a:rPr>
                  <a:t>hh:mm:ss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MAC : </a:t>
                </a:r>
                <a:r>
                  <a:rPr lang="en-US" altLang="ko-KR" sz="1100" dirty="0">
                    <a:solidFill>
                      <a:srgbClr val="00B0F0"/>
                    </a:solidFill>
                    <a:latin typeface="+mn-ea"/>
                    <a:sym typeface="Wingdings" panose="05000000000000000000" pitchFamily="2" charset="2"/>
                  </a:rPr>
                  <a:t>XXXXXXXXXXXXXX</a:t>
                </a:r>
                <a:endParaRPr lang="ko-KR" altLang="en-US" sz="1100" dirty="0">
                  <a:solidFill>
                    <a:srgbClr val="00B0F0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227" name="TextBox 226"/>
              <p:cNvSpPr txBox="1"/>
              <p:nvPr/>
            </p:nvSpPr>
            <p:spPr>
              <a:xfrm>
                <a:off x="7408911" y="3047884"/>
                <a:ext cx="2969198" cy="6705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600" b="1" dirty="0">
                    <a:latin typeface="+mn-ea"/>
                    <a:sym typeface="Wingdings" panose="05000000000000000000" pitchFamily="2" charset="2"/>
                  </a:rPr>
                  <a:t>김태호</a:t>
                </a:r>
                <a:r>
                  <a:rPr lang="en-US" altLang="ko-KR" sz="1600" b="1" dirty="0">
                    <a:latin typeface="+mn-ea"/>
                    <a:sym typeface="Wingdings" panose="05000000000000000000" pitchFamily="2" charset="2"/>
                  </a:rPr>
                  <a:t>(YYYY-MM-DD)</a:t>
                </a: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일반구역 출입자</a:t>
                </a:r>
              </a:p>
            </p:txBody>
          </p:sp>
          <p:sp>
            <p:nvSpPr>
              <p:cNvPr id="228" name="TextBox 227"/>
              <p:cNvSpPr txBox="1"/>
              <p:nvPr/>
            </p:nvSpPr>
            <p:spPr>
              <a:xfrm>
                <a:off x="7442367" y="3762346"/>
                <a:ext cx="1600885" cy="7988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50" b="1" dirty="0">
                    <a:latin typeface="+mn-ea"/>
                    <a:sym typeface="Wingdings" panose="05000000000000000000" pitchFamily="2" charset="2"/>
                  </a:rPr>
                  <a:t>현위치</a:t>
                </a:r>
                <a:br>
                  <a:rPr lang="en-US" altLang="ko-KR" sz="1050" b="1" dirty="0">
                    <a:latin typeface="+mn-ea"/>
                    <a:sym typeface="Wingdings" panose="05000000000000000000" pitchFamily="2" charset="2"/>
                  </a:rPr>
                </a:b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5</a:t>
                </a:r>
                <a:r>
                  <a:rPr lang="ko-KR" altLang="en-US" sz="2400" b="1" dirty="0">
                    <a:latin typeface="+mn-ea"/>
                    <a:sym typeface="Wingdings" panose="05000000000000000000" pitchFamily="2" charset="2"/>
                  </a:rPr>
                  <a:t>층 </a:t>
                </a: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E-3</a:t>
                </a:r>
                <a:endParaRPr lang="ko-KR" altLang="en-US" sz="2400" b="1" dirty="0">
                  <a:latin typeface="+mn-ea"/>
                  <a:sym typeface="Wingdings" panose="05000000000000000000" pitchFamily="2" charset="2"/>
                </a:endParaRPr>
              </a:p>
            </p:txBody>
          </p:sp>
        </p:grpSp>
        <p:sp>
          <p:nvSpPr>
            <p:cNvPr id="224" name="직사각형 223"/>
            <p:cNvSpPr/>
            <p:nvPr/>
          </p:nvSpPr>
          <p:spPr>
            <a:xfrm>
              <a:off x="722532" y="6113928"/>
              <a:ext cx="3979616" cy="213628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1" name="직사각형 230"/>
          <p:cNvSpPr/>
          <p:nvPr/>
        </p:nvSpPr>
        <p:spPr>
          <a:xfrm>
            <a:off x="5658132" y="18674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4007144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그룹 133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35" name="모서리가 둥근 직사각형 13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3" name="자유형 14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그림 14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5" name="TextBox 14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47" name="모서리가 둥근 직사각형 14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1" name="자유형 15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2" name="그림 15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3" name="TextBox 15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4" name="그룹 153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9" name="자유형 15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0" name="그림 15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1" name="TextBox 16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63" name="모서리가 둥근 직사각형 16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7" name="자유형 16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8" name="그림 16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9" name="TextBox 16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23" name="모서리가 둥근 직사각형 122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스마트태그 배터리 부족 알림</a:t>
            </a:r>
          </a:p>
        </p:txBody>
      </p:sp>
      <p:sp>
        <p:nvSpPr>
          <p:cNvPr id="235" name="직사각형 23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2" name="자유형 24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7" name="자유형 24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모서리가 둥근 직사각형 24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2" name="자유형 25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55" name="TextBox 25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7" name="자유형 25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58" name="그룹 25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59" name="직선 연결선 25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0" name="TextBox 25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61" name="그림 26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62" name="그림 26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63" name="모서리가 둥근 직사각형 26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7" name="자유형 26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8" name="모서리가 둥근 직사각형 26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2" name="자유형 27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3" name="모서리가 둥근 직사각형 27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7" name="자유형 27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모서리가 둥근 직사각형 27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2" name="자유형 28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3" name="모서리가 둥근 직사각형 28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7" name="자유형 28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모서리가 둥근 직사각형 28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91" name="TextBox 29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92" name="자유형 29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93" name="그림 29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94" name="그림 29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95" name="그림 29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96" name="그림 29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97" name="그림 29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98" name="모서리가 둥근 직사각형 29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0" name="TextBox 29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1" name="TextBox 30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302" name="자유형 30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03" name="그림 30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304" name="그림 30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305" name="그림 30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306" name="그림 30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307" name="TextBox 30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8" name="TextBox 30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9" name="TextBox 30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0" name="TextBox 30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1" name="TextBox 31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2" name="TextBox 31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3" name="TextBox 31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14" name="TextBox 31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6" name="TextBox 31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7" name="TextBox 31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24" name="모서리가 둥근 직사각형 323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7" name="자유형 326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8" name="TextBox 327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9" name="모서리가 둥근 직사각형 328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0" name="TextBox 329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31" name="TextBox 330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32" name="자유형 331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3" name="TextBox 332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34" name="그림 33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35" name="그림 334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36" name="모서리가 둥근 직사각형 335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7" name="TextBox 336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38" name="TextBox 337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39" name="자유형 338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0" name="TextBox 339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41" name="그림 340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42" name="TextBox 341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43" name="모서리가 둥근 직사각형 342"/>
          <p:cNvSpPr/>
          <p:nvPr/>
        </p:nvSpPr>
        <p:spPr>
          <a:xfrm>
            <a:off x="7553358" y="6830281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32" name="모서리가 둥근 직사각형 131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39" name="직사각형 138"/>
          <p:cNvSpPr/>
          <p:nvPr/>
        </p:nvSpPr>
        <p:spPr>
          <a:xfrm>
            <a:off x="10626576" y="5007772"/>
            <a:ext cx="1909900" cy="679119"/>
          </a:xfrm>
          <a:prstGeom prst="rect">
            <a:avLst/>
          </a:prstGeom>
          <a:solidFill>
            <a:srgbClr val="FF0000">
              <a:alpha val="55000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4</a:t>
            </a:r>
            <a:r>
              <a:rPr lang="ko-KR" altLang="en-US" sz="200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층 </a:t>
            </a:r>
            <a:r>
              <a:rPr lang="en-US" altLang="ko-KR" sz="20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E-3</a:t>
            </a:r>
          </a:p>
          <a:p>
            <a:pPr algn="ctr"/>
            <a:r>
              <a:rPr lang="ko-KR" altLang="en-US" sz="900" dirty="0">
                <a:solidFill>
                  <a:schemeClr val="bg1"/>
                </a:solidFill>
                <a:latin typeface="+mj-lt"/>
                <a:ea typeface="나눔바른고딕" panose="020B0603020101020101" pitchFamily="50" charset="-127"/>
              </a:rPr>
              <a:t>침범발생 발생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0605499" y="5733252"/>
            <a:ext cx="215315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800" b="1" dirty="0"/>
              <a:t>배터리 이상 발생 </a:t>
            </a:r>
            <a:r>
              <a:rPr lang="en-US" altLang="ko-KR" sz="800" b="1" dirty="0"/>
              <a:t>4</a:t>
            </a:r>
            <a:r>
              <a:rPr lang="ko-KR" altLang="en-US" sz="800" b="1"/>
              <a:t>종</a:t>
            </a:r>
            <a:r>
              <a:rPr lang="en-US" altLang="ko-KR" sz="800" b="1" dirty="0"/>
              <a:t>(AP.</a:t>
            </a:r>
            <a:r>
              <a:rPr lang="ko-KR" altLang="en-US" sz="800" b="1"/>
              <a:t>가스</a:t>
            </a:r>
            <a:r>
              <a:rPr lang="en-US" altLang="ko-KR" sz="800" b="1" dirty="0"/>
              <a:t>,</a:t>
            </a:r>
            <a:r>
              <a:rPr lang="ko-KR" altLang="en-US" sz="800" b="1"/>
              <a:t>밴드</a:t>
            </a:r>
            <a:r>
              <a:rPr lang="en-US" altLang="ko-KR" sz="800" b="1" dirty="0"/>
              <a:t>,</a:t>
            </a:r>
            <a:r>
              <a:rPr lang="ko-KR" altLang="en-US" sz="800" b="1"/>
              <a:t>태그</a:t>
            </a:r>
            <a:r>
              <a:rPr lang="en-US" altLang="ko-KR" sz="800" b="1" dirty="0"/>
              <a:t>)</a:t>
            </a:r>
          </a:p>
          <a:p>
            <a:endParaRPr lang="en-US" altLang="ko-KR" sz="800" b="1" dirty="0"/>
          </a:p>
          <a:p>
            <a:r>
              <a:rPr lang="ko-KR" altLang="en-US" sz="800" dirty="0"/>
              <a:t>붉은 띠 이벤트 알림 없음</a:t>
            </a:r>
            <a:endParaRPr lang="en-US" altLang="ko-KR" sz="800" dirty="0"/>
          </a:p>
          <a:p>
            <a:r>
              <a:rPr lang="ko-KR" altLang="en-US" sz="800" dirty="0"/>
              <a:t>단순히 이벤트 날개배너에 쌓이는 내용</a:t>
            </a:r>
            <a:endParaRPr lang="en-US" altLang="ko-KR" sz="800" dirty="0"/>
          </a:p>
          <a:p>
            <a:endParaRPr lang="en-US" altLang="ko-KR" sz="800" dirty="0"/>
          </a:p>
          <a:p>
            <a:r>
              <a:rPr lang="ko-KR" altLang="en-US" sz="800" dirty="0"/>
              <a:t>상단 배터리 알림 </a:t>
            </a:r>
            <a:r>
              <a:rPr lang="en-US" altLang="ko-KR" sz="800" dirty="0"/>
              <a:t>view </a:t>
            </a:r>
            <a:r>
              <a:rPr lang="ko-KR" altLang="en-US" sz="800"/>
              <a:t>로 활성화</a:t>
            </a:r>
            <a:r>
              <a:rPr lang="en-US" altLang="ko-KR" sz="800" dirty="0"/>
              <a:t>/</a:t>
            </a:r>
            <a:r>
              <a:rPr lang="ko-KR" altLang="en-US" sz="800"/>
              <a:t>비활성화</a:t>
            </a:r>
            <a:endParaRPr lang="ko-KR" altLang="en-US" sz="800" dirty="0"/>
          </a:p>
        </p:txBody>
      </p:sp>
      <p:sp>
        <p:nvSpPr>
          <p:cNvPr id="141" name="오른쪽 대괄호 140"/>
          <p:cNvSpPr/>
          <p:nvPr/>
        </p:nvSpPr>
        <p:spPr>
          <a:xfrm>
            <a:off x="9937289" y="5232648"/>
            <a:ext cx="442087" cy="1926373"/>
          </a:xfrm>
          <a:prstGeom prst="rightBracket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직사각형 169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7" name="표 1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0213597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8" name="모서리가 둥근 직사각형 177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80" name="아래쪽 화살표 179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10600146" y="3674042"/>
            <a:ext cx="85472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</a:rPr>
              <a:t>문구 변경</a:t>
            </a:r>
          </a:p>
        </p:txBody>
      </p:sp>
      <p:sp>
        <p:nvSpPr>
          <p:cNvPr id="172" name="직사각형 171"/>
          <p:cNvSpPr/>
          <p:nvPr/>
        </p:nvSpPr>
        <p:spPr>
          <a:xfrm>
            <a:off x="1781653" y="1840972"/>
            <a:ext cx="4255066" cy="701442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73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594339" y="2008891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1963688" y="3392727"/>
            <a:ext cx="3954929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000" b="1" dirty="0">
                <a:latin typeface="+mj-ea"/>
              </a:rPr>
              <a:t>[</a:t>
            </a:r>
            <a:r>
              <a:rPr lang="ko-KR" altLang="en-US" sz="2000" b="1">
                <a:latin typeface="+mj-ea"/>
              </a:rPr>
              <a:t>김태호</a:t>
            </a:r>
            <a:r>
              <a:rPr lang="en-US" altLang="ko-KR" sz="2000" b="1" dirty="0">
                <a:latin typeface="+mj-ea"/>
              </a:rPr>
              <a:t>]</a:t>
            </a:r>
            <a:r>
              <a:rPr lang="ko-KR" altLang="en-US" sz="2000" b="1">
                <a:latin typeface="+mj-ea"/>
              </a:rPr>
              <a:t>님의</a:t>
            </a:r>
            <a:endParaRPr lang="en-US" altLang="ko-KR" sz="2000" b="1" dirty="0">
              <a:solidFill>
                <a:srgbClr val="00B0F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2000" b="1" dirty="0">
                <a:solidFill>
                  <a:srgbClr val="FF0000"/>
                </a:solidFill>
                <a:latin typeface="+mj-ea"/>
                <a:ea typeface="+mj-ea"/>
              </a:rPr>
              <a:t>스마트태그 배터리가 부족합니다</a:t>
            </a:r>
            <a:endParaRPr lang="en-US" altLang="ko-KR" sz="2000" b="1" dirty="0">
              <a:solidFill>
                <a:srgbClr val="FF0000"/>
              </a:solidFill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즉시 충전하세요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600" dirty="0">
                <a:latin typeface="+mj-ea"/>
                <a:ea typeface="+mj-ea"/>
              </a:rPr>
              <a:t>(</a:t>
            </a:r>
            <a:r>
              <a:rPr lang="ko-KR" altLang="en-US" sz="1600">
                <a:latin typeface="+mj-ea"/>
                <a:ea typeface="+mj-ea"/>
              </a:rPr>
              <a:t>최초 알림 후 </a:t>
            </a:r>
            <a:r>
              <a:rPr lang="en-US" altLang="ko-KR" sz="1600" dirty="0">
                <a:latin typeface="+mj-ea"/>
                <a:ea typeface="+mj-ea"/>
              </a:rPr>
              <a:t>1</a:t>
            </a:r>
            <a:r>
              <a:rPr lang="ko-KR" altLang="en-US" sz="1600">
                <a:latin typeface="+mj-ea"/>
                <a:ea typeface="+mj-ea"/>
              </a:rPr>
              <a:t>개월 이내 교체하세요</a:t>
            </a:r>
            <a:r>
              <a:rPr lang="en-US" altLang="ko-KR" sz="1600" dirty="0">
                <a:latin typeface="+mj-ea"/>
                <a:ea typeface="+mj-ea"/>
              </a:rPr>
              <a:t>)</a:t>
            </a:r>
          </a:p>
        </p:txBody>
      </p:sp>
      <p:cxnSp>
        <p:nvCxnSpPr>
          <p:cNvPr id="175" name="직선 연결선 174"/>
          <p:cNvCxnSpPr/>
          <p:nvPr/>
        </p:nvCxnSpPr>
        <p:spPr>
          <a:xfrm>
            <a:off x="1805199" y="5291069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1858930" y="5507093"/>
            <a:ext cx="2380780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/>
              <a:t>스마트태그 </a:t>
            </a:r>
            <a:r>
              <a:rPr lang="ko-KR" altLang="en-US" sz="1600" dirty="0"/>
              <a:t>착용자 정보</a:t>
            </a:r>
            <a:endParaRPr lang="en-US" sz="1600" dirty="0"/>
          </a:p>
        </p:txBody>
      </p:sp>
      <p:sp>
        <p:nvSpPr>
          <p:cNvPr id="185" name="직사각형 184"/>
          <p:cNvSpPr/>
          <p:nvPr/>
        </p:nvSpPr>
        <p:spPr>
          <a:xfrm>
            <a:off x="1976113" y="2609546"/>
            <a:ext cx="3859819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 dirty="0">
                <a:solidFill>
                  <a:srgbClr val="FF0000"/>
                </a:solidFill>
              </a:rPr>
              <a:t>배터리 부족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874936" y="1938631"/>
            <a:ext cx="29290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스마트태그 배터리 부족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1898308" y="8247106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88" name="직사각형 187"/>
          <p:cNvSpPr/>
          <p:nvPr/>
        </p:nvSpPr>
        <p:spPr>
          <a:xfrm>
            <a:off x="2659599" y="83870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89" name="그룹 188"/>
          <p:cNvGrpSpPr/>
          <p:nvPr/>
        </p:nvGrpSpPr>
        <p:grpSpPr>
          <a:xfrm>
            <a:off x="1923090" y="6040220"/>
            <a:ext cx="3979616" cy="2136284"/>
            <a:chOff x="722532" y="6113928"/>
            <a:chExt cx="3979616" cy="2136284"/>
          </a:xfrm>
        </p:grpSpPr>
        <p:grpSp>
          <p:nvGrpSpPr>
            <p:cNvPr id="190" name="그룹 189"/>
            <p:cNvGrpSpPr/>
            <p:nvPr/>
          </p:nvGrpSpPr>
          <p:grpSpPr>
            <a:xfrm>
              <a:off x="830106" y="6218740"/>
              <a:ext cx="3500841" cy="1914401"/>
              <a:chOff x="5891181" y="3047884"/>
              <a:chExt cx="4486928" cy="2453636"/>
            </a:xfrm>
          </p:grpSpPr>
          <p:grpSp>
            <p:nvGrpSpPr>
              <p:cNvPr id="192" name="그룹 191"/>
              <p:cNvGrpSpPr/>
              <p:nvPr/>
            </p:nvGrpSpPr>
            <p:grpSpPr>
              <a:xfrm>
                <a:off x="5952469" y="3087144"/>
                <a:ext cx="1440160" cy="1397875"/>
                <a:chOff x="7962299" y="2617527"/>
                <a:chExt cx="622093" cy="646131"/>
              </a:xfrm>
            </p:grpSpPr>
            <p:sp>
              <p:nvSpPr>
                <p:cNvPr id="196" name="직사각형 195"/>
                <p:cNvSpPr/>
                <p:nvPr/>
              </p:nvSpPr>
              <p:spPr>
                <a:xfrm>
                  <a:off x="7962299" y="2617527"/>
                  <a:ext cx="622093" cy="6461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600" dirty="0" err="1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197" name="그림 196"/>
                <p:cNvPicPr>
                  <a:picLocks noChangeAspect="1"/>
                </p:cNvPicPr>
                <p:nvPr/>
              </p:nvPicPr>
              <p:blipFill>
                <a:blip r:embed="rId15" cstate="print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06450" y="2727225"/>
                  <a:ext cx="535839" cy="535839"/>
                </a:xfrm>
                <a:prstGeom prst="rect">
                  <a:avLst/>
                </a:prstGeom>
              </p:spPr>
            </p:pic>
          </p:grpSp>
          <p:sp>
            <p:nvSpPr>
              <p:cNvPr id="193" name="TextBox 192"/>
              <p:cNvSpPr txBox="1"/>
              <p:nvPr/>
            </p:nvSpPr>
            <p:spPr>
              <a:xfrm>
                <a:off x="5891181" y="4732306"/>
                <a:ext cx="3986187" cy="7692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      속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000 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소속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안전밴드 </a:t>
                </a:r>
                <a:r>
                  <a:rPr lang="ko-KR" altLang="en-US" sz="1100" dirty="0" err="1">
                    <a:latin typeface="+mn-ea"/>
                    <a:sym typeface="Wingdings" panose="05000000000000000000" pitchFamily="2" charset="2"/>
                  </a:rPr>
                  <a:t>착용일시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YYYY-MM-DD </a:t>
                </a:r>
                <a:r>
                  <a:rPr lang="en-US" altLang="ko-KR" sz="1100" dirty="0" err="1">
                    <a:latin typeface="+mn-ea"/>
                    <a:sym typeface="Wingdings" panose="05000000000000000000" pitchFamily="2" charset="2"/>
                  </a:rPr>
                  <a:t>hh:mm:ss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MAC : </a:t>
                </a:r>
                <a:r>
                  <a:rPr lang="en-US" altLang="ko-KR" sz="1100" dirty="0">
                    <a:solidFill>
                      <a:srgbClr val="00B0F0"/>
                    </a:solidFill>
                    <a:latin typeface="+mn-ea"/>
                    <a:sym typeface="Wingdings" panose="05000000000000000000" pitchFamily="2" charset="2"/>
                  </a:rPr>
                  <a:t>XXXXXXXXXXXXXX</a:t>
                </a:r>
                <a:endParaRPr lang="ko-KR" altLang="en-US" sz="1100" dirty="0">
                  <a:solidFill>
                    <a:srgbClr val="00B0F0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194" name="TextBox 193"/>
              <p:cNvSpPr txBox="1"/>
              <p:nvPr/>
            </p:nvSpPr>
            <p:spPr>
              <a:xfrm>
                <a:off x="7408911" y="3047884"/>
                <a:ext cx="2969198" cy="6705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600" b="1" dirty="0">
                    <a:latin typeface="+mn-ea"/>
                    <a:sym typeface="Wingdings" panose="05000000000000000000" pitchFamily="2" charset="2"/>
                  </a:rPr>
                  <a:t>김태호</a:t>
                </a:r>
                <a:r>
                  <a:rPr lang="en-US" altLang="ko-KR" sz="1600" b="1" dirty="0">
                    <a:latin typeface="+mn-ea"/>
                    <a:sym typeface="Wingdings" panose="05000000000000000000" pitchFamily="2" charset="2"/>
                  </a:rPr>
                  <a:t>(YYYY-MM-DD)</a:t>
                </a: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일반구역 출입자</a:t>
                </a:r>
              </a:p>
            </p:txBody>
          </p:sp>
          <p:sp>
            <p:nvSpPr>
              <p:cNvPr id="195" name="TextBox 194"/>
              <p:cNvSpPr txBox="1"/>
              <p:nvPr/>
            </p:nvSpPr>
            <p:spPr>
              <a:xfrm>
                <a:off x="7442367" y="3762346"/>
                <a:ext cx="1600885" cy="7988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50" b="1" dirty="0">
                    <a:latin typeface="+mn-ea"/>
                    <a:sym typeface="Wingdings" panose="05000000000000000000" pitchFamily="2" charset="2"/>
                  </a:rPr>
                  <a:t>현위치</a:t>
                </a:r>
                <a:br>
                  <a:rPr lang="en-US" altLang="ko-KR" sz="1050" b="1" dirty="0">
                    <a:latin typeface="+mn-ea"/>
                    <a:sym typeface="Wingdings" panose="05000000000000000000" pitchFamily="2" charset="2"/>
                  </a:rPr>
                </a:b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5</a:t>
                </a:r>
                <a:r>
                  <a:rPr lang="ko-KR" altLang="en-US" sz="2400" b="1" dirty="0">
                    <a:latin typeface="+mn-ea"/>
                    <a:sym typeface="Wingdings" panose="05000000000000000000" pitchFamily="2" charset="2"/>
                  </a:rPr>
                  <a:t>층 </a:t>
                </a: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E-3</a:t>
                </a:r>
                <a:endParaRPr lang="ko-KR" altLang="en-US" sz="2400" b="1" dirty="0">
                  <a:latin typeface="+mn-ea"/>
                  <a:sym typeface="Wingdings" panose="05000000000000000000" pitchFamily="2" charset="2"/>
                </a:endParaRPr>
              </a:p>
            </p:txBody>
          </p:sp>
        </p:grpSp>
        <p:sp>
          <p:nvSpPr>
            <p:cNvPr id="191" name="직사각형 190"/>
            <p:cNvSpPr/>
            <p:nvPr/>
          </p:nvSpPr>
          <p:spPr>
            <a:xfrm>
              <a:off x="722532" y="6113928"/>
              <a:ext cx="3979616" cy="213628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7421425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모서리가 둥근 직사각형 10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035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실외 온도 위험 알림</a:t>
            </a:r>
          </a:p>
        </p:txBody>
      </p:sp>
      <p:sp>
        <p:nvSpPr>
          <p:cNvPr id="107" name="직사각형 106"/>
          <p:cNvSpPr/>
          <p:nvPr/>
        </p:nvSpPr>
        <p:spPr>
          <a:xfrm>
            <a:off x="1357792" y="177556"/>
            <a:ext cx="4681906" cy="44568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8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400288" y="381292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1550656" y="408232"/>
            <a:ext cx="190308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실외 온도 위험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355578" y="1352248"/>
            <a:ext cx="46841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/>
              <a:t>온도 </a:t>
            </a:r>
            <a:r>
              <a:rPr lang="en-US" altLang="ko-KR" sz="2000" b="1" dirty="0">
                <a:solidFill>
                  <a:srgbClr val="00B0F0"/>
                </a:solidFill>
              </a:rPr>
              <a:t>xx</a:t>
            </a:r>
            <a:r>
              <a:rPr lang="en-US" altLang="ko-KR" sz="2000" dirty="0"/>
              <a:t> </a:t>
            </a:r>
            <a:r>
              <a:rPr lang="en-US" altLang="ko-KR" sz="2000" b="1" dirty="0"/>
              <a:t>ºC</a:t>
            </a:r>
          </a:p>
          <a:p>
            <a:pPr algn="ctr"/>
            <a:r>
              <a:rPr lang="ko-KR" altLang="en-US" sz="4000" b="1" dirty="0"/>
              <a:t>폭염주의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387764" y="2800975"/>
            <a:ext cx="461749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건설기계의 냉각장치 점검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현장사무실</a:t>
            </a:r>
            <a:r>
              <a:rPr lang="en-US" altLang="ko-KR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,</a:t>
            </a:r>
            <a:r>
              <a:rPr lang="ko-KR" altLang="en-US" sz="2000" b="1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숙소</a:t>
            </a:r>
            <a:r>
              <a:rPr lang="en-US" altLang="ko-KR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.</a:t>
            </a:r>
            <a:r>
              <a:rPr lang="ko-KR" altLang="en-US" sz="2000" b="1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식당 등 청결 유지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</p:txBody>
      </p:sp>
      <p:sp>
        <p:nvSpPr>
          <p:cNvPr id="121" name="모서리가 둥근 직사각형 120"/>
          <p:cNvSpPr/>
          <p:nvPr/>
        </p:nvSpPr>
        <p:spPr>
          <a:xfrm>
            <a:off x="1701410" y="3884327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22" name="직사각형 121"/>
          <p:cNvSpPr/>
          <p:nvPr/>
        </p:nvSpPr>
        <p:spPr>
          <a:xfrm>
            <a:off x="1357792" y="4880234"/>
            <a:ext cx="4681906" cy="44568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" name="Freeform 93"/>
          <p:cNvSpPr>
            <a:spLocks/>
          </p:cNvSpPr>
          <p:nvPr>
            <p:custDataLst>
              <p:custData r:id="rId3"/>
              <p:custData r:id="rId4"/>
            </p:custDataLst>
          </p:nvPr>
        </p:nvSpPr>
        <p:spPr bwMode="black">
          <a:xfrm rot="2700000">
            <a:off x="5400288" y="5083970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1550656" y="5110910"/>
            <a:ext cx="190308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실외 온도 위험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1355578" y="6054926"/>
            <a:ext cx="46841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/>
              <a:t>온도 </a:t>
            </a:r>
            <a:r>
              <a:rPr lang="en-US" altLang="ko-KR" sz="2000" b="1" dirty="0">
                <a:solidFill>
                  <a:srgbClr val="00B0F0"/>
                </a:solidFill>
              </a:rPr>
              <a:t>xx</a:t>
            </a:r>
            <a:r>
              <a:rPr lang="en-US" altLang="ko-KR" sz="2000" dirty="0"/>
              <a:t> </a:t>
            </a:r>
            <a:r>
              <a:rPr lang="en-US" altLang="ko-KR" sz="2000" b="1" dirty="0"/>
              <a:t>ºC</a:t>
            </a:r>
          </a:p>
          <a:p>
            <a:pPr algn="ctr"/>
            <a:r>
              <a:rPr lang="ko-KR" altLang="en-US" sz="4000" b="1" dirty="0"/>
              <a:t>폭염경보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387764" y="7503653"/>
            <a:ext cx="461749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장시간 실외작업 중지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불필요한 야외작업 중지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</p:txBody>
      </p:sp>
      <p:sp>
        <p:nvSpPr>
          <p:cNvPr id="127" name="모서리가 둥근 직사각형 126"/>
          <p:cNvSpPr/>
          <p:nvPr/>
        </p:nvSpPr>
        <p:spPr>
          <a:xfrm>
            <a:off x="1701410" y="8587005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35" name="직사각형 13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모서리가 둥근 직사각형 13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42" name="자유형 14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모서리가 둥근 직사각형 14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47" name="자유형 14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52" name="자유형 15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57" name="자유형 15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8" name="그룹 15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159" name="직선 연결선 15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161" name="그림 16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162" name="그림 16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163" name="모서리가 둥근 직사각형 16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4" name="TextBox 16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67" name="자유형 16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72" name="자유형 17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77" name="자유형 17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82" name="자유형 18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87" name="자유형 18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92" name="자유형 19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3" name="그림 19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194" name="그림 193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195" name="그림 19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196" name="그림 19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197" name="그림 196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198" name="모서리가 둥근 직사각형 19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02" name="자유형 20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03" name="그림 20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04" name="그림 203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05" name="그림 204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06" name="그림 205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207" name="TextBox 20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08" name="TextBox 20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09" name="TextBox 20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10" name="TextBox 20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11" name="TextBox 21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12" name="TextBox 21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13" name="TextBox 21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214" name="TextBox 21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224" name="모서리가 둥근 직사각형 223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6" name="TextBox 225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27" name="자유형 226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1" name="TextBox 330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32" name="모서리가 둥근 직사각형 331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3" name="TextBox 332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34" name="TextBox 333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35" name="자유형 334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6" name="TextBox 335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37" name="그림 33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38" name="그림 337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39" name="모서리가 둥근 직사각형 338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0" name="TextBox 339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41" name="TextBox 340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42" name="자유형 341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3" name="TextBox 342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44" name="그림 343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45" name="TextBox 344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46" name="모서리가 둥근 직사각형 345"/>
          <p:cNvSpPr/>
          <p:nvPr/>
        </p:nvSpPr>
        <p:spPr>
          <a:xfrm>
            <a:off x="7553358" y="7459312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4" name="모서리가 둥근 직사각형 133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31" name="그룹 130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219" name="TextBox 21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220" name="자유형 21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21" name="그림 220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222" name="TextBox 22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223" name="그룹 222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228" name="모서리가 둥근 직사각형 22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TextBox 228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230" name="TextBox 22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232" name="자유형 23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33" name="그림 23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234" name="TextBox 23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235" name="그룹 234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236" name="모서리가 둥근 직사각형 23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238" name="TextBox 23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239" name="TextBox 23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240" name="자유형 23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41" name="그림 240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242" name="TextBox 24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243" name="그룹 242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244" name="모서리가 둥근 직사각형 243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TextBox 244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246" name="TextBox 24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247" name="TextBox 24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248" name="자유형 24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49" name="그림 24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250" name="TextBox 24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251" name="직사각형 250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2" name="모서리가 둥근 직사각형 251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57" name="표 2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6051285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8" name="모서리가 둥근 직사각형 257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260" name="아래쪽 화살표 259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261" name="직사각형 260"/>
          <p:cNvSpPr/>
          <p:nvPr/>
        </p:nvSpPr>
        <p:spPr>
          <a:xfrm>
            <a:off x="2519072" y="87649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2" name="직사각형 261"/>
          <p:cNvSpPr/>
          <p:nvPr/>
        </p:nvSpPr>
        <p:spPr>
          <a:xfrm>
            <a:off x="5538383" y="2340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3" name="직사각형 262"/>
          <p:cNvSpPr/>
          <p:nvPr/>
        </p:nvSpPr>
        <p:spPr>
          <a:xfrm>
            <a:off x="5538383" y="49669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4" name="직사각형 263"/>
          <p:cNvSpPr/>
          <p:nvPr/>
        </p:nvSpPr>
        <p:spPr>
          <a:xfrm>
            <a:off x="2519072" y="400215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8819955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모서리가 둥근 직사각형 330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036</a:t>
            </a:r>
            <a:endParaRPr lang="ko-KR" altLang="en-US" sz="800" dirty="0">
              <a:latin typeface="+mn-ea"/>
            </a:endParaRPr>
          </a:p>
        </p:txBody>
      </p:sp>
      <p:sp>
        <p:nvSpPr>
          <p:cNvPr id="332" name="TextBox 331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강풍주의 알림</a:t>
            </a:r>
          </a:p>
        </p:txBody>
      </p:sp>
      <p:sp>
        <p:nvSpPr>
          <p:cNvPr id="358" name="직사각형 357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1" name="모서리가 둥근 직사각형 360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2" name="TextBox 361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363" name="TextBox 362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64" name="TextBox 363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65" name="자유형 364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6" name="모서리가 둥근 직사각형 365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7" name="TextBox 366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368" name="TextBox 367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69" name="TextBox 368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70" name="자유형 369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1" name="모서리가 둥근 직사각형 370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2" name="TextBox 371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74" name="TextBox 373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75" name="자유형 374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6" name="모서리가 둥근 직사각형 375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7" name="TextBox 376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78" name="TextBox 377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79" name="TextBox 378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80" name="자유형 379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81" name="그룹 380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382" name="직선 연결선 381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3" name="TextBox 382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384" name="그림 38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385" name="그림 38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386" name="모서리가 둥근 직사각형 385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7" name="TextBox 386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88" name="TextBox 387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89" name="TextBox 388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90" name="자유형 389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1" name="모서리가 둥근 직사각형 390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2" name="TextBox 391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393" name="TextBox 392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94" name="TextBox 393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95" name="자유형 394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6" name="모서리가 둥근 직사각형 395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7" name="TextBox 396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398" name="TextBox 397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99" name="TextBox 398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00" name="자유형 399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1" name="모서리가 둥근 직사각형 400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2" name="TextBox 401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403" name="TextBox 402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404" name="TextBox 403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05" name="자유형 404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6" name="모서리가 둥근 직사각형 405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7" name="TextBox 406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408" name="TextBox 407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409" name="TextBox 408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10" name="자유형 409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1" name="모서리가 둥근 직사각형 410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2" name="TextBox 411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413" name="TextBox 412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414" name="TextBox 413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15" name="자유형 414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16" name="그림 41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417" name="그림 41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418" name="그림 41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419" name="그림 41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420" name="그림 419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421" name="모서리가 둥근 직사각형 420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2" name="TextBox 421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4" name="TextBox 423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425" name="자유형 424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26" name="그림 425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427" name="그림 42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428" name="그림 42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429" name="그림 428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430" name="TextBox 429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1" name="TextBox 430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2" name="TextBox 431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3" name="TextBox 432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4" name="TextBox 433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5" name="TextBox 434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6" name="TextBox 435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37" name="TextBox 436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38" name="TextBox 437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39" name="TextBox 438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40" name="TextBox 439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47" name="모서리가 둥근 직사각형 446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8" name="TextBox 447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449" name="TextBox 448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450" name="자유형 449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1" name="TextBox 450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452" name="모서리가 둥근 직사각형 451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3" name="TextBox 452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4" name="TextBox 453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455" name="자유형 454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6" name="TextBox 455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457" name="그림 45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458" name="그림 457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459" name="모서리가 둥근 직사각형 458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0" name="TextBox 459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1" name="TextBox 460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462" name="자유형 461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3" name="TextBox 462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464" name="그림 463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465" name="TextBox 464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66" name="모서리가 둥근 직사각형 465"/>
          <p:cNvSpPr/>
          <p:nvPr/>
        </p:nvSpPr>
        <p:spPr>
          <a:xfrm>
            <a:off x="7553358" y="8066690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19" name="모서리가 둥근 직사각형 118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21" name="모서리가 둥근 직사각형 120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18" name="모서리가 둥근 직사각형 11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26" name="자유형 12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27" name="그림 126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28" name="TextBox 12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29" name="그룹 128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34" name="자유형 13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35" name="그림 134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36" name="TextBox 13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2" name="자유형 14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3" name="그림 14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4" name="TextBox 14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5" name="그룹 144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46" name="모서리가 둥근 직사각형 14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0" name="자유형 14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1" name="그림 150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2" name="TextBox 15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9" name="표 1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9984586"/>
              </p:ext>
            </p:extLst>
          </p:nvPr>
        </p:nvGraphicFramePr>
        <p:xfrm>
          <a:off x="10633534" y="1272208"/>
          <a:ext cx="2088232" cy="21196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닫기버튼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터치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 전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0" name="모서리가 둥근 직사각형 159"/>
          <p:cNvSpPr/>
          <p:nvPr/>
        </p:nvSpPr>
        <p:spPr>
          <a:xfrm>
            <a:off x="11097662" y="291511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61" name="모서리가 둥근 직사각형 160"/>
          <p:cNvSpPr/>
          <p:nvPr/>
        </p:nvSpPr>
        <p:spPr>
          <a:xfrm>
            <a:off x="11097662" y="2217846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62" name="아래쪽 화살표 161"/>
          <p:cNvSpPr/>
          <p:nvPr/>
        </p:nvSpPr>
        <p:spPr>
          <a:xfrm>
            <a:off x="11021877" y="2600525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56" name="직사각형 155"/>
          <p:cNvSpPr/>
          <p:nvPr/>
        </p:nvSpPr>
        <p:spPr>
          <a:xfrm>
            <a:off x="1357792" y="177556"/>
            <a:ext cx="4681906" cy="44568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7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400288" y="381292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1550656" y="408232"/>
            <a:ext cx="13003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강풍 위험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355578" y="1352248"/>
            <a:ext cx="46841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/>
              <a:t>풍속 </a:t>
            </a:r>
            <a:r>
              <a:rPr lang="en-US" altLang="ko-KR" sz="2000" b="1" dirty="0">
                <a:solidFill>
                  <a:srgbClr val="00B0F0"/>
                </a:solidFill>
              </a:rPr>
              <a:t>XX</a:t>
            </a:r>
            <a:r>
              <a:rPr lang="en-US" altLang="ko-KR" sz="2000" b="1" dirty="0"/>
              <a:t> m/s</a:t>
            </a:r>
          </a:p>
          <a:p>
            <a:pPr algn="ctr"/>
            <a:r>
              <a:rPr lang="ko-KR" altLang="en-US" sz="4000" b="1" dirty="0"/>
              <a:t>강풍주의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387764" y="2800975"/>
            <a:ext cx="461749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야외작업 시 주의하세요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1701410" y="3884327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68" name="직사각형 167"/>
          <p:cNvSpPr/>
          <p:nvPr/>
        </p:nvSpPr>
        <p:spPr>
          <a:xfrm>
            <a:off x="1357792" y="4880234"/>
            <a:ext cx="4681906" cy="4456894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endParaRPr lang="ko-KR" altLang="en-US" sz="1300" dirty="0" err="1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9" name="Freeform 93"/>
          <p:cNvSpPr>
            <a:spLocks/>
          </p:cNvSpPr>
          <p:nvPr>
            <p:custDataLst>
              <p:custData r:id="rId3"/>
              <p:custData r:id="rId4"/>
            </p:custDataLst>
          </p:nvPr>
        </p:nvSpPr>
        <p:spPr bwMode="black">
          <a:xfrm rot="2700000">
            <a:off x="5400288" y="5083970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1550656" y="5110910"/>
            <a:ext cx="13003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강풍 위험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355578" y="6054926"/>
            <a:ext cx="46841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/>
              <a:t>풍속 </a:t>
            </a:r>
            <a:r>
              <a:rPr lang="en-US" altLang="ko-KR" sz="2000" b="1" dirty="0">
                <a:solidFill>
                  <a:srgbClr val="00B0F0"/>
                </a:solidFill>
              </a:rPr>
              <a:t>XX</a:t>
            </a:r>
            <a:r>
              <a:rPr lang="en-US" altLang="ko-KR" sz="2000" b="1" dirty="0"/>
              <a:t> m/s</a:t>
            </a:r>
          </a:p>
          <a:p>
            <a:pPr algn="ctr"/>
            <a:r>
              <a:rPr lang="ko-KR" altLang="en-US" sz="4000" b="1" dirty="0"/>
              <a:t>강풍경보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387764" y="7503653"/>
            <a:ext cx="461749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latin typeface="나눔바른고딕" panose="020B0603020101020101" pitchFamily="50" charset="-127"/>
                <a:ea typeface="나눔바른고딕" panose="020B0603020101020101" pitchFamily="50" charset="-127"/>
                <a:sym typeface="Wingdings" panose="05000000000000000000" pitchFamily="2" charset="2"/>
              </a:rPr>
              <a:t>야외 작업 시 주의하세요</a:t>
            </a:r>
            <a:endParaRPr lang="en-US" altLang="ko-KR" sz="2000" b="1" dirty="0">
              <a:latin typeface="나눔바른고딕" panose="020B0603020101020101" pitchFamily="50" charset="-127"/>
              <a:ea typeface="나눔바른고딕" panose="020B0603020101020101" pitchFamily="50" charset="-127"/>
              <a:sym typeface="Wingdings" panose="05000000000000000000" pitchFamily="2" charset="2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1701410" y="8587005"/>
            <a:ext cx="3990206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74" name="직사각형 173"/>
          <p:cNvSpPr/>
          <p:nvPr/>
        </p:nvSpPr>
        <p:spPr>
          <a:xfrm>
            <a:off x="2519072" y="87649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5538383" y="2340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6" name="직사각형 175"/>
          <p:cNvSpPr/>
          <p:nvPr/>
        </p:nvSpPr>
        <p:spPr>
          <a:xfrm>
            <a:off x="5538383" y="496690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7" name="직사각형 176"/>
          <p:cNvSpPr/>
          <p:nvPr/>
        </p:nvSpPr>
        <p:spPr>
          <a:xfrm>
            <a:off x="2519072" y="400215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1610567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직사각형 227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1" name="모서리가 둥근 직사각형 230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33" name="TextBox 232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5" name="자유형 234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7" name="TextBox 236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238" name="TextBox 237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0" name="자유형 239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45" name="자유형 244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6" name="모서리가 둥근 직사각형 245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50" name="자유형 249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51" name="그룹 250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252" name="직선 연결선 251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254" name="그림 25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255" name="그림 25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256" name="모서리가 둥근 직사각형 255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0" name="자유형 259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1" name="모서리가 둥근 직사각형 260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3" name="TextBox 262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65" name="자유형 264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모서리가 둥근 직사각형 265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0" name="자유형 269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70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75" name="자유형 274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모서리가 둥근 직사각형 275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78" name="TextBox 277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0" name="자유형 279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1" name="모서리가 둥근 직사각형 280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283" name="TextBox 282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85" name="자유형 284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86" name="그림 28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287" name="그림 28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288" name="그림 28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289" name="그림 28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290" name="그림 28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291" name="모서리가 둥근 직사각형 290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2" name="TextBox 291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4" name="TextBox 293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295" name="자유형 294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296" name="그림 29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297" name="그림 29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298" name="그림 29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299" name="그림 29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301" name="TextBox 300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2" name="TextBox 301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3" name="TextBox 302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4" name="TextBox 303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5" name="TextBox 304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6" name="TextBox 305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7" name="TextBox 306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08" name="TextBox 307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09" name="TextBox 308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0" name="TextBox 309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1" name="TextBox 310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318" name="모서리가 둥근 직사각형 317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0" name="TextBox 319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1" name="자유형 320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2" name="TextBox 321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323" name="모서리가 둥근 직사각형 322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4" name="TextBox 323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26" name="자유형 325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7" name="TextBox 326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28" name="그림 32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329" name="그림 328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331" name="모서리가 둥근 직사각형 330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332" name="TextBox 331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경고지역</a:t>
            </a:r>
          </a:p>
          <a:p>
            <a:r>
              <a:rPr lang="ko-KR" altLang="en-US" sz="900" dirty="0">
                <a:latin typeface="+mn-ea"/>
              </a:rPr>
              <a:t>상세내용 보기</a:t>
            </a:r>
          </a:p>
        </p:txBody>
      </p:sp>
      <p:sp>
        <p:nvSpPr>
          <p:cNvPr id="351" name="모서리가 둥근 직사각형 350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2" name="TextBox 351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353" name="TextBox 352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354" name="자유형 353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5" name="TextBox 354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356" name="그림 355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357" name="TextBox 356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21" name="직사각형 120"/>
          <p:cNvSpPr/>
          <p:nvPr/>
        </p:nvSpPr>
        <p:spPr>
          <a:xfrm>
            <a:off x="784175" y="2964117"/>
            <a:ext cx="5797599" cy="4363901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1000199" y="3056367"/>
            <a:ext cx="250378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b="1" dirty="0">
                <a:latin typeface="+mn-ea"/>
              </a:rPr>
              <a:t>경고지역 개별 정보</a:t>
            </a:r>
          </a:p>
        </p:txBody>
      </p:sp>
      <p:sp>
        <p:nvSpPr>
          <p:cNvPr id="123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104654" y="3068527"/>
            <a:ext cx="375788" cy="375788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grpSp>
        <p:nvGrpSpPr>
          <p:cNvPr id="124" name="그룹 123"/>
          <p:cNvGrpSpPr/>
          <p:nvPr/>
        </p:nvGrpSpPr>
        <p:grpSpPr>
          <a:xfrm>
            <a:off x="930278" y="3616614"/>
            <a:ext cx="2929009" cy="1077327"/>
            <a:chOff x="3535321" y="3616614"/>
            <a:chExt cx="2929009" cy="1077327"/>
          </a:xfrm>
        </p:grpSpPr>
        <p:sp>
          <p:nvSpPr>
            <p:cNvPr id="125" name="직사각형 124"/>
            <p:cNvSpPr/>
            <p:nvPr/>
          </p:nvSpPr>
          <p:spPr>
            <a:xfrm>
              <a:off x="3535321" y="3616614"/>
              <a:ext cx="2929009" cy="10773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126" name="그룹 125"/>
            <p:cNvGrpSpPr/>
            <p:nvPr/>
          </p:nvGrpSpPr>
          <p:grpSpPr>
            <a:xfrm>
              <a:off x="3659544" y="3768219"/>
              <a:ext cx="684064" cy="663979"/>
              <a:chOff x="7962299" y="2617527"/>
              <a:chExt cx="622093" cy="646131"/>
            </a:xfrm>
          </p:grpSpPr>
          <p:sp>
            <p:nvSpPr>
              <p:cNvPr id="134" name="직사각형 133"/>
              <p:cNvSpPr/>
              <p:nvPr/>
            </p:nvSpPr>
            <p:spPr>
              <a:xfrm>
                <a:off x="7962299" y="2617527"/>
                <a:ext cx="622093" cy="6461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35" name="그림 134"/>
              <p:cNvPicPr>
                <a:picLocks noChangeAspect="1"/>
              </p:cNvPicPr>
              <p:nvPr/>
            </p:nvPicPr>
            <p:blipFill>
              <a:blip r:embed="rId15" cstate="print">
                <a:lum bright="70000" contrast="-70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006450" y="2727225"/>
                <a:ext cx="535839" cy="535839"/>
              </a:xfrm>
              <a:prstGeom prst="rect">
                <a:avLst/>
              </a:prstGeom>
            </p:spPr>
          </p:pic>
        </p:grpSp>
        <p:sp>
          <p:nvSpPr>
            <p:cNvPr id="127" name="TextBox 126"/>
            <p:cNvSpPr txBox="1"/>
            <p:nvPr/>
          </p:nvSpPr>
          <p:spPr>
            <a:xfrm>
              <a:off x="4371288" y="4144219"/>
              <a:ext cx="2077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소      속 </a:t>
              </a:r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: 000 </a:t>
              </a:r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소속</a:t>
              </a:r>
            </a:p>
            <a:p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입실일시 </a:t>
              </a:r>
              <a:r>
                <a:rPr lang="en-US" altLang="ko-KR" sz="1000" dirty="0">
                  <a:latin typeface="+mn-ea"/>
                  <a:sym typeface="Wingdings" panose="05000000000000000000" pitchFamily="2" charset="2"/>
                </a:rPr>
                <a:t>: 0000.00.00  15:20:27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371288" y="3752241"/>
              <a:ext cx="145424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400" b="1" dirty="0">
                  <a:latin typeface="+mn-ea"/>
                  <a:sym typeface="Wingdings" panose="05000000000000000000" pitchFamily="2" charset="2"/>
                </a:rPr>
                <a:t>홍길동</a:t>
              </a:r>
              <a:r>
                <a:rPr lang="ko-KR" altLang="en-US" sz="1000" dirty="0">
                  <a:latin typeface="+mn-ea"/>
                  <a:sym typeface="Wingdings" panose="05000000000000000000" pitchFamily="2" charset="2"/>
                </a:rPr>
                <a:t> 수시 방문자</a:t>
              </a:r>
              <a:endParaRPr lang="en-US" altLang="ko-KR" sz="1000" dirty="0">
                <a:latin typeface="+mn-ea"/>
                <a:sym typeface="Wingdings" panose="05000000000000000000" pitchFamily="2" charset="2"/>
              </a:endParaRPr>
            </a:p>
            <a:p>
              <a:endParaRPr lang="ko-KR" altLang="en-US" sz="1000" b="1" dirty="0">
                <a:latin typeface="+mn-ea"/>
                <a:sym typeface="Wingdings" panose="05000000000000000000" pitchFamily="2" charset="2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4452786" y="4017410"/>
              <a:ext cx="1985980" cy="171926"/>
              <a:chOff x="8045651" y="5852156"/>
              <a:chExt cx="1985980" cy="171926"/>
            </a:xfrm>
          </p:grpSpPr>
          <p:sp>
            <p:nvSpPr>
              <p:cNvPr id="130" name="모서리가 둥근 직사각형 129"/>
              <p:cNvSpPr/>
              <p:nvPr/>
            </p:nvSpPr>
            <p:spPr>
              <a:xfrm>
                <a:off x="8045651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일반</a:t>
                </a:r>
              </a:p>
            </p:txBody>
          </p:sp>
          <p:sp>
            <p:nvSpPr>
              <p:cNvPr id="131" name="모서리가 둥근 직사각형 130"/>
              <p:cNvSpPr/>
              <p:nvPr/>
            </p:nvSpPr>
            <p:spPr>
              <a:xfrm>
                <a:off x="8549849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통제</a:t>
                </a:r>
              </a:p>
            </p:txBody>
          </p:sp>
          <p:sp>
            <p:nvSpPr>
              <p:cNvPr id="132" name="모서리가 둥근 직사각형 131"/>
              <p:cNvSpPr/>
              <p:nvPr/>
            </p:nvSpPr>
            <p:spPr>
              <a:xfrm>
                <a:off x="9049481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위험</a:t>
                </a:r>
              </a:p>
            </p:txBody>
          </p:sp>
          <p:sp>
            <p:nvSpPr>
              <p:cNvPr id="133" name="모서리가 둥근 직사각형 132"/>
              <p:cNvSpPr/>
              <p:nvPr/>
            </p:nvSpPr>
            <p:spPr>
              <a:xfrm>
                <a:off x="9553679" y="5852156"/>
                <a:ext cx="477952" cy="171926"/>
              </a:xfrm>
              <a:prstGeom prst="roundRect">
                <a:avLst>
                  <a:gd name="adj" fmla="val 50000"/>
                </a:avLst>
              </a:prstGeom>
              <a:solidFill>
                <a:srgbClr val="1E51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밀폐공간</a:t>
                </a:r>
              </a:p>
            </p:txBody>
          </p:sp>
        </p:grpSp>
      </p:grpSp>
      <p:pic>
        <p:nvPicPr>
          <p:cNvPr id="136" name="그림 135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278" y="4794888"/>
            <a:ext cx="2929009" cy="2187066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37" name="직사각형 136"/>
          <p:cNvSpPr/>
          <p:nvPr/>
        </p:nvSpPr>
        <p:spPr>
          <a:xfrm>
            <a:off x="4013833" y="4794888"/>
            <a:ext cx="2450497" cy="13253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현장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A-1 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에 낙석위험 발생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 </a:t>
            </a:r>
          </a:p>
          <a:p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800">
                <a:solidFill>
                  <a:schemeClr val="tx1"/>
                </a:solidFill>
                <a:latin typeface="+mn-ea"/>
              </a:rPr>
              <a:t>일에 다 허물테니 그때까지 조심하세요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8" name="그룹 137"/>
          <p:cNvGrpSpPr/>
          <p:nvPr/>
        </p:nvGrpSpPr>
        <p:grpSpPr>
          <a:xfrm>
            <a:off x="2248720" y="7029188"/>
            <a:ext cx="407664" cy="169170"/>
            <a:chOff x="8297392" y="8112968"/>
            <a:chExt cx="407664" cy="169170"/>
          </a:xfrm>
        </p:grpSpPr>
        <p:sp>
          <p:nvSpPr>
            <p:cNvPr id="139" name="타원 138"/>
            <p:cNvSpPr/>
            <p:nvPr/>
          </p:nvSpPr>
          <p:spPr>
            <a:xfrm>
              <a:off x="8297392" y="8112968"/>
              <a:ext cx="169170" cy="16917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/>
            <p:cNvSpPr/>
            <p:nvPr/>
          </p:nvSpPr>
          <p:spPr>
            <a:xfrm>
              <a:off x="8535886" y="8112968"/>
              <a:ext cx="169170" cy="169170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1" name="직사각형 140"/>
          <p:cNvSpPr/>
          <p:nvPr/>
        </p:nvSpPr>
        <p:spPr>
          <a:xfrm>
            <a:off x="4013833" y="4017410"/>
            <a:ext cx="2450497" cy="67653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+mn-ea"/>
              </a:rPr>
              <a:t>경고 해제</a:t>
            </a:r>
          </a:p>
        </p:txBody>
      </p:sp>
      <p:sp>
        <p:nvSpPr>
          <p:cNvPr id="142" name="직사각형 141"/>
          <p:cNvSpPr/>
          <p:nvPr/>
        </p:nvSpPr>
        <p:spPr>
          <a:xfrm>
            <a:off x="4013833" y="3622208"/>
            <a:ext cx="2450497" cy="31302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bg1"/>
                </a:solidFill>
                <a:latin typeface="+mn-ea"/>
              </a:rPr>
              <a:t>0000.00.00 14:12:31 </a:t>
            </a:r>
            <a:r>
              <a:rPr lang="ko-KR" altLang="en-US" sz="1050" dirty="0">
                <a:solidFill>
                  <a:schemeClr val="bg1"/>
                </a:solidFill>
                <a:latin typeface="+mn-ea"/>
              </a:rPr>
              <a:t>등록</a:t>
            </a:r>
          </a:p>
        </p:txBody>
      </p:sp>
      <p:sp>
        <p:nvSpPr>
          <p:cNvPr id="143" name="직사각형 142"/>
          <p:cNvSpPr/>
          <p:nvPr/>
        </p:nvSpPr>
        <p:spPr>
          <a:xfrm>
            <a:off x="4013833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위치 지도로 보기</a:t>
            </a:r>
          </a:p>
        </p:txBody>
      </p:sp>
      <p:sp>
        <p:nvSpPr>
          <p:cNvPr id="144" name="직사각형 143"/>
          <p:cNvSpPr/>
          <p:nvPr/>
        </p:nvSpPr>
        <p:spPr>
          <a:xfrm>
            <a:off x="5241812" y="6284193"/>
            <a:ext cx="1149856" cy="9182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endParaRPr lang="en-US" altLang="ko-KR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경로안내</a:t>
            </a:r>
          </a:p>
        </p:txBody>
      </p:sp>
      <p:pic>
        <p:nvPicPr>
          <p:cNvPr id="145" name="그림 144"/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0799" y="6388491"/>
            <a:ext cx="497576" cy="497576"/>
          </a:xfrm>
          <a:prstGeom prst="rect">
            <a:avLst/>
          </a:prstGeom>
        </p:spPr>
      </p:pic>
      <p:pic>
        <p:nvPicPr>
          <p:cNvPr id="146" name="그림 145"/>
          <p:cNvPicPr>
            <a:picLocks noChangeAspect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21532" y="6388491"/>
            <a:ext cx="495092" cy="495090"/>
          </a:xfrm>
          <a:prstGeom prst="rect">
            <a:avLst/>
          </a:prstGeom>
        </p:spPr>
      </p:pic>
      <p:sp>
        <p:nvSpPr>
          <p:cNvPr id="156" name="모서리가 둥근 직사각형 155"/>
          <p:cNvSpPr/>
          <p:nvPr/>
        </p:nvSpPr>
        <p:spPr>
          <a:xfrm>
            <a:off x="7553358" y="8638906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53" name="모서리가 둥근 직사각형 152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50" name="모서리가 둥근 사각형 설명선 149"/>
          <p:cNvSpPr/>
          <p:nvPr/>
        </p:nvSpPr>
        <p:spPr>
          <a:xfrm>
            <a:off x="6258377" y="5721686"/>
            <a:ext cx="1095683" cy="385596"/>
          </a:xfrm>
          <a:prstGeom prst="wedgeRoundRectCallout">
            <a:avLst>
              <a:gd name="adj1" fmla="val -54007"/>
              <a:gd name="adj2" fmla="val 143350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044</a:t>
            </a:r>
          </a:p>
          <a:p>
            <a:pPr algn="ctr"/>
            <a:r>
              <a:rPr lang="ko-KR" altLang="en-US" sz="800"/>
              <a:t>길찾기</a:t>
            </a:r>
            <a:endParaRPr lang="ko-KR" altLang="en-US" sz="800" dirty="0"/>
          </a:p>
        </p:txBody>
      </p:sp>
      <p:grpSp>
        <p:nvGrpSpPr>
          <p:cNvPr id="151" name="그룹 150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52" name="모서리가 둥근 직사각형 15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8" name="자유형 15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0" name="TextBox 15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1" name="그룹 160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62" name="모서리가 둥근 직사각형 16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6" name="자유형 16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7" name="그림 16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8" name="TextBox 16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70" name="모서리가 둥근 직사각형 169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4" name="자유형 17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5" name="그림 17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6" name="TextBox 17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7" name="그룹 176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78" name="모서리가 둥근 직사각형 17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82" name="자유형 18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3" name="그림 18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4" name="TextBox 18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85" name="직사각형 184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6" name="모서리가 둥근 직사각형 185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7" name="표 1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735866"/>
              </p:ext>
            </p:extLst>
          </p:nvPr>
        </p:nvGraphicFramePr>
        <p:xfrm>
          <a:off x="10633534" y="1272208"/>
          <a:ext cx="2088232" cy="17822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88" name="모서리가 둥근 직사각형 187"/>
          <p:cNvSpPr/>
          <p:nvPr/>
        </p:nvSpPr>
        <p:spPr>
          <a:xfrm>
            <a:off x="11097662" y="2545538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89" name="모서리가 둥근 직사각형 188"/>
          <p:cNvSpPr/>
          <p:nvPr/>
        </p:nvSpPr>
        <p:spPr>
          <a:xfrm>
            <a:off x="11097662" y="1848272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경고 해제</a:t>
            </a:r>
          </a:p>
        </p:txBody>
      </p:sp>
      <p:sp>
        <p:nvSpPr>
          <p:cNvPr id="190" name="아래쪽 화살표 189"/>
          <p:cNvSpPr/>
          <p:nvPr/>
        </p:nvSpPr>
        <p:spPr>
          <a:xfrm>
            <a:off x="11021877" y="2230951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92" name="직사각형 191"/>
          <p:cNvSpPr/>
          <p:nvPr/>
        </p:nvSpPr>
        <p:spPr>
          <a:xfrm>
            <a:off x="5175474" y="39632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0920371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0" name="표 17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6595530"/>
              </p:ext>
            </p:extLst>
          </p:nvPr>
        </p:nvGraphicFramePr>
        <p:xfrm>
          <a:off x="10633534" y="1272208"/>
          <a:ext cx="2088232" cy="28511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어떤 가스의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수치에 변동이 발생되었는지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일산화탄소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또는 황화수소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STEL : 15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분간의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TWA : 8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시간동안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 일시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직사각형 15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모서리가 둥근 직사각형 18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23" name="자유형 22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모서리가 둥근 직사각형 34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9" name="자유형 38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모서리가 둥근 직사각형 39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4" name="자유형 43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모서리가 둥근 직사각형 44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9" name="자유형 48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51" name="직선 연결선 50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53" name="그림 5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54" name="그림 5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55" name="모서리가 둥근 직사각형 54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59" name="자유형 58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4" name="자유형 63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9" name="자유형 68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4" name="자유형 73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9" name="자유형 78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모서리가 둥근 직사각형 79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4" name="자유형 83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5" name="그림 8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86" name="그림 8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87" name="그림 8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88" name="그림 8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89" name="그림 8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94" name="자유형 93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95" name="그림 9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96" name="그림 9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97" name="그림 9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98" name="그림 97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0" name="TextBox 99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1" name="TextBox 100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2" name="TextBox 101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3" name="TextBox 102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4" name="TextBox 103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5" name="TextBox 104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6" name="TextBox 105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0" name="모서리가 둥근 직사각형 109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13" name="자유형 112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5" name="모서리가 둥근 직사각형 114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18" name="자유형 117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20" name="그림 119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121" name="그림 120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122" name="모서리가 둥근 직사각형 121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25" name="자유형 124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27" name="그림 126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2" name="모서리가 둥근 직사각형 131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34" name="모서리가 둥근 직사각형 13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044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작업구역 </a:t>
            </a:r>
            <a:r>
              <a:rPr lang="en-US" altLang="ko-KR" sz="900" dirty="0">
                <a:latin typeface="+mn-ea"/>
              </a:rPr>
              <a:t>STEL </a:t>
            </a:r>
            <a:r>
              <a:rPr lang="ko-KR" altLang="en-US" sz="900">
                <a:latin typeface="+mn-ea"/>
              </a:rPr>
              <a:t>위험 알림</a:t>
            </a:r>
            <a:endParaRPr lang="ko-KR" altLang="en-US" sz="900" dirty="0">
              <a:latin typeface="+mn-ea"/>
            </a:endParaRPr>
          </a:p>
        </p:txBody>
      </p:sp>
      <p:grpSp>
        <p:nvGrpSpPr>
          <p:cNvPr id="136" name="그룹 135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37" name="모서리가 둥근 직사각형 13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1" name="자유형 14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2" name="그림 14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43" name="TextBox 14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44" name="그룹 143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45" name="모서리가 둥근 직사각형 144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9" name="자유형 148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0" name="그림 14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1" name="TextBox 150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2" name="그룹 151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53" name="모서리가 둥근 직사각형 15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7" name="자유형 15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9" name="TextBox 15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0" name="그룹 159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61" name="모서리가 둥근 직사각형 16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5" name="자유형 16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6" name="그림 16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7" name="TextBox 16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68" name="모서리가 둥근 직사각형 167"/>
          <p:cNvSpPr/>
          <p:nvPr/>
        </p:nvSpPr>
        <p:spPr>
          <a:xfrm>
            <a:off x="10146645" y="6802100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70" name="직사각형 169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11157105" y="2648289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11157105" y="1951023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75" name="아래쪽 화살표 174"/>
          <p:cNvSpPr/>
          <p:nvPr/>
        </p:nvSpPr>
        <p:spPr>
          <a:xfrm>
            <a:off x="11081320" y="2333702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76" name="직사각형 175"/>
          <p:cNvSpPr/>
          <p:nvPr/>
        </p:nvSpPr>
        <p:spPr>
          <a:xfrm>
            <a:off x="1485406" y="1529010"/>
            <a:ext cx="4255066" cy="763493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78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98092" y="1696929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85" name="모서리가 둥근 직사각형 184"/>
          <p:cNvSpPr/>
          <p:nvPr/>
        </p:nvSpPr>
        <p:spPr>
          <a:xfrm>
            <a:off x="3700096" y="5728887"/>
            <a:ext cx="1886431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경로안내</a:t>
            </a:r>
          </a:p>
        </p:txBody>
      </p:sp>
      <p:sp>
        <p:nvSpPr>
          <p:cNvPr id="186" name="모서리가 둥근 직사각형 185"/>
          <p:cNvSpPr/>
          <p:nvPr/>
        </p:nvSpPr>
        <p:spPr>
          <a:xfrm>
            <a:off x="1604725" y="5728887"/>
            <a:ext cx="1863638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지도 보기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1604724" y="5143970"/>
            <a:ext cx="3981803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1557364" y="2813369"/>
            <a:ext cx="4166525" cy="20774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[</a:t>
            </a:r>
            <a:r>
              <a:rPr lang="ko-KR" altLang="en-US" sz="1800" b="1">
                <a:latin typeface="+mj-ea"/>
                <a:ea typeface="+mj-ea"/>
              </a:rPr>
              <a:t>제</a:t>
            </a:r>
            <a:r>
              <a:rPr lang="en-US" altLang="ko-KR" sz="1800" b="1" dirty="0">
                <a:latin typeface="+mj-ea"/>
                <a:ea typeface="+mj-ea"/>
              </a:rPr>
              <a:t>1</a:t>
            </a:r>
            <a:r>
              <a:rPr lang="ko-KR" altLang="en-US" sz="1800" b="1">
                <a:latin typeface="+mj-ea"/>
                <a:ea typeface="+mj-ea"/>
              </a:rPr>
              <a:t>공장 </a:t>
            </a:r>
            <a:r>
              <a:rPr lang="en-US" altLang="ko-KR" sz="1800" b="1" dirty="0">
                <a:latin typeface="+mj-ea"/>
                <a:ea typeface="+mj-ea"/>
              </a:rPr>
              <a:t>5 </a:t>
            </a:r>
            <a:r>
              <a:rPr lang="ko-KR" altLang="en-US" sz="1800" b="1">
                <a:latin typeface="+mj-ea"/>
                <a:ea typeface="+mj-ea"/>
              </a:rPr>
              <a:t>층 </a:t>
            </a:r>
            <a:r>
              <a:rPr lang="en-US" altLang="ko-KR" sz="1800" b="1" dirty="0">
                <a:latin typeface="+mj-ea"/>
                <a:ea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15</a:t>
            </a:r>
            <a:r>
              <a:rPr lang="ko-KR" altLang="en-US" sz="1800" b="1">
                <a:latin typeface="+mj-ea"/>
                <a:ea typeface="+mj-ea"/>
              </a:rPr>
              <a:t>분간 </a:t>
            </a:r>
            <a:r>
              <a:rPr lang="ko-KR" altLang="en-US" sz="1800" b="1">
                <a:solidFill>
                  <a:srgbClr val="FF0000"/>
                </a:solidFill>
                <a:latin typeface="+mj-ea"/>
                <a:ea typeface="+mj-ea"/>
              </a:rPr>
              <a:t>일산화탄소</a:t>
            </a:r>
            <a:r>
              <a:rPr lang="ko-KR" altLang="en-US" sz="1800" b="1">
                <a:latin typeface="+mj-ea"/>
                <a:ea typeface="+mj-ea"/>
              </a:rPr>
              <a:t>가 </a:t>
            </a:r>
            <a:r>
              <a:rPr lang="ko-KR" altLang="en-US" sz="1800" b="1" dirty="0">
                <a:latin typeface="+mj-ea"/>
                <a:ea typeface="+mj-ea"/>
              </a:rPr>
              <a:t>누출되었습니다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STEL </a:t>
            </a:r>
            <a:r>
              <a:rPr lang="ko-KR" altLang="en-US" sz="1800" b="1" dirty="0">
                <a:latin typeface="+mj-ea"/>
                <a:ea typeface="+mj-ea"/>
              </a:rPr>
              <a:t>위험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작업자를 즉시 대피시키고 출입통제 하세요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600" dirty="0">
                <a:latin typeface="+mj-ea"/>
                <a:ea typeface="+mj-ea"/>
              </a:rPr>
              <a:t>(</a:t>
            </a:r>
            <a:r>
              <a:rPr lang="ko-KR" altLang="en-US" sz="1600" dirty="0">
                <a:latin typeface="+mj-ea"/>
                <a:ea typeface="+mj-ea"/>
              </a:rPr>
              <a:t>작업구역 </a:t>
            </a:r>
            <a:r>
              <a:rPr lang="ko-KR" altLang="en-US" sz="1600">
                <a:latin typeface="+mj-ea"/>
                <a:ea typeface="+mj-ea"/>
              </a:rPr>
              <a:t>환기필요</a:t>
            </a:r>
            <a:r>
              <a:rPr lang="en-US" altLang="ko-KR" sz="1600" dirty="0">
                <a:latin typeface="+mj-ea"/>
                <a:ea typeface="+mj-ea"/>
              </a:rPr>
              <a:t>)</a:t>
            </a:r>
          </a:p>
        </p:txBody>
      </p:sp>
      <p:cxnSp>
        <p:nvCxnSpPr>
          <p:cNvPr id="198" name="직선 연결선 197"/>
          <p:cNvCxnSpPr/>
          <p:nvPr/>
        </p:nvCxnSpPr>
        <p:spPr>
          <a:xfrm>
            <a:off x="1504669" y="6495193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TextBox 198"/>
          <p:cNvSpPr txBox="1"/>
          <p:nvPr/>
        </p:nvSpPr>
        <p:spPr>
          <a:xfrm>
            <a:off x="1558400" y="7115845"/>
            <a:ext cx="2329484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작업구역 가스센서 정보</a:t>
            </a:r>
            <a:endParaRPr lang="en-US" sz="1600" dirty="0"/>
          </a:p>
        </p:txBody>
      </p:sp>
      <p:graphicFrame>
        <p:nvGraphicFramePr>
          <p:cNvPr id="200" name="표 19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832371"/>
              </p:ext>
            </p:extLst>
          </p:nvPr>
        </p:nvGraphicFramePr>
        <p:xfrm>
          <a:off x="1595259" y="7723035"/>
          <a:ext cx="4060705" cy="1178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88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3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04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O2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CO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ppm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CH4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H2S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ppm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205">
                <a:tc>
                  <a:txBody>
                    <a:bodyPr/>
                    <a:lstStyle/>
                    <a:p>
                      <a:pPr marL="0" marR="0" indent="0" algn="ctr" defTabSz="128016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XX.X%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</a:t>
                      </a:r>
                      <a:r>
                        <a:rPr lang="en-US" sz="1600" baseline="0" dirty="0">
                          <a:solidFill>
                            <a:schemeClr val="tx1"/>
                          </a:solidFill>
                        </a:rPr>
                        <a:t>XX</a:t>
                      </a:r>
                      <a:endParaRPr lang="en-US" sz="1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1" name="TextBox 200"/>
          <p:cNvSpPr txBox="1"/>
          <p:nvPr/>
        </p:nvSpPr>
        <p:spPr>
          <a:xfrm>
            <a:off x="1558400" y="6609952"/>
            <a:ext cx="1005403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/>
              <a:t>작업인원</a:t>
            </a:r>
            <a:endParaRPr lang="en-US" sz="1600" dirty="0"/>
          </a:p>
        </p:txBody>
      </p:sp>
      <p:sp>
        <p:nvSpPr>
          <p:cNvPr id="202" name="TextBox 201"/>
          <p:cNvSpPr txBox="1"/>
          <p:nvPr/>
        </p:nvSpPr>
        <p:spPr>
          <a:xfrm>
            <a:off x="3015453" y="6506873"/>
            <a:ext cx="1369286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dirty="0"/>
              <a:t>XXXX </a:t>
            </a:r>
            <a:r>
              <a:rPr lang="ko-KR" altLang="en-US" sz="2800" dirty="0"/>
              <a:t>명</a:t>
            </a:r>
            <a:endParaRPr lang="en-US" sz="2800" dirty="0"/>
          </a:p>
        </p:txBody>
      </p:sp>
      <p:sp>
        <p:nvSpPr>
          <p:cNvPr id="203" name="TextBox 202"/>
          <p:cNvSpPr txBox="1"/>
          <p:nvPr/>
        </p:nvSpPr>
        <p:spPr>
          <a:xfrm>
            <a:off x="1558400" y="7441376"/>
            <a:ext cx="1791003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MAC : </a:t>
            </a:r>
            <a:r>
              <a:rPr lang="en-US" altLang="ko-KR" sz="1600" dirty="0">
                <a:solidFill>
                  <a:srgbClr val="00B0F0"/>
                </a:solidFill>
              </a:rPr>
              <a:t>XXXXXXXXXX</a:t>
            </a:r>
            <a:endParaRPr lang="en-US" sz="1600" dirty="0">
              <a:solidFill>
                <a:srgbClr val="00B0F0"/>
              </a:solidFill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3886762" y="7441376"/>
            <a:ext cx="1864613" cy="27699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sz="1200" dirty="0"/>
              <a:t>YYYY-MM-DD </a:t>
            </a:r>
            <a:r>
              <a:rPr lang="en-US" sz="1200" dirty="0" err="1"/>
              <a:t>hh:mm:ss</a:t>
            </a:r>
            <a:endParaRPr lang="en-US" sz="1200" dirty="0">
              <a:solidFill>
                <a:srgbClr val="00B0F0"/>
              </a:solidFill>
            </a:endParaRPr>
          </a:p>
        </p:txBody>
      </p:sp>
      <p:sp>
        <p:nvSpPr>
          <p:cNvPr id="206" name="직사각형 205"/>
          <p:cNvSpPr/>
          <p:nvPr/>
        </p:nvSpPr>
        <p:spPr>
          <a:xfrm>
            <a:off x="1485407" y="1969676"/>
            <a:ext cx="4166046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 dirty="0">
                <a:solidFill>
                  <a:srgbClr val="FF0000"/>
                </a:solidFill>
              </a:rPr>
              <a:t>작업구역 </a:t>
            </a:r>
            <a:r>
              <a:rPr lang="en-US" altLang="ko-KR" sz="2800" b="1" dirty="0">
                <a:solidFill>
                  <a:srgbClr val="FF0000"/>
                </a:solidFill>
              </a:rPr>
              <a:t>STEL </a:t>
            </a:r>
            <a:r>
              <a:rPr lang="ko-KR" altLang="en-US" sz="2800" b="1" dirty="0">
                <a:solidFill>
                  <a:srgbClr val="FF0000"/>
                </a:solidFill>
              </a:rPr>
              <a:t>위험</a:t>
            </a:r>
          </a:p>
        </p:txBody>
      </p:sp>
      <p:sp>
        <p:nvSpPr>
          <p:cNvPr id="207" name="직사각형 206"/>
          <p:cNvSpPr/>
          <p:nvPr/>
        </p:nvSpPr>
        <p:spPr>
          <a:xfrm>
            <a:off x="2545953" y="52909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09" name="직사각형 208"/>
          <p:cNvSpPr/>
          <p:nvPr/>
        </p:nvSpPr>
        <p:spPr>
          <a:xfrm>
            <a:off x="3015453" y="32005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0" name="직사각형 209"/>
          <p:cNvSpPr/>
          <p:nvPr/>
        </p:nvSpPr>
        <p:spPr>
          <a:xfrm>
            <a:off x="4652864" y="734299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4761673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직사각형 34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2" name="자유형 41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47" name="자유형 46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모서리가 둥근 직사각형 47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52" name="자유형 51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57" name="자유형 56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59" name="직선 연결선 58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Box 59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61" name="그림 6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63" name="모서리가 둥근 직사각형 62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7" name="자유형 66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모서리가 둥근 직사각형 67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2" name="자유형 71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모서리가 둥근 직사각형 72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7" name="자유형 76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모서리가 둥근 직사각형 77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2" name="자유형 81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모서리가 둥근 직사각형 82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7" name="자유형 86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모서리가 둥근 직사각형 87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92" name="자유형 91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93" name="그림 9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94" name="그림 9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95" name="그림 9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96" name="그림 9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97" name="그림 9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98" name="모서리가 둥근 직사각형 97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102" name="자유형 101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03" name="그림 10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104" name="그림 10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105" name="그림 10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106" name="그림 10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8" name="TextBox 107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09" name="TextBox 108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0" name="TextBox 109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1" name="TextBox 110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2" name="TextBox 111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3" name="TextBox 112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4" name="TextBox 113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8" name="모서리가 둥근 직사각형 117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21" name="자유형 120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3" name="모서리가 둥근 직사각형 122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26" name="자유형 125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28" name="그림 12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129" name="그림 128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130" name="모서리가 둥근 직사각형 129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33" name="자유형 132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35" name="그림 134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37" name="모서리가 둥근 직사각형 136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38" name="모서리가 둥근 직사각형 137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39" name="모서리가 둥근 직사각형 138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40" name="모서리가 둥근 직사각형 139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41" name="모서리가 둥근 직사각형 140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045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작업구역 </a:t>
            </a:r>
            <a:r>
              <a:rPr lang="en-US" altLang="ko-KR" sz="900" dirty="0">
                <a:latin typeface="+mn-ea"/>
              </a:rPr>
              <a:t>TWA </a:t>
            </a:r>
            <a:r>
              <a:rPr lang="ko-KR" altLang="en-US" sz="900">
                <a:latin typeface="+mn-ea"/>
              </a:rPr>
              <a:t>위험 알림</a:t>
            </a:r>
            <a:endParaRPr lang="ko-KR" altLang="en-US" sz="900" dirty="0">
              <a:latin typeface="+mn-ea"/>
            </a:endParaRPr>
          </a:p>
        </p:txBody>
      </p:sp>
      <p:grpSp>
        <p:nvGrpSpPr>
          <p:cNvPr id="143" name="그룹 142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44" name="모서리가 둥근 직사각형 143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48" name="자유형 147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9" name="그림 14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0" name="TextBox 149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1" name="그룹 150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52" name="모서리가 둥근 직사각형 15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6" name="자유형 15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그림 15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8" name="TextBox 15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59" name="그룹 158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4" name="자유형 16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5" name="그림 16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6" name="TextBox 16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7" name="그룹 166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68" name="모서리가 둥근 직사각형 16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2" name="자유형 17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3" name="그림 17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4" name="TextBox 17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75" name="모서리가 둥근 직사각형 174"/>
          <p:cNvSpPr/>
          <p:nvPr/>
        </p:nvSpPr>
        <p:spPr>
          <a:xfrm>
            <a:off x="10146645" y="7440310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77" name="직사각형 176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3" name="표 1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348137"/>
              </p:ext>
            </p:extLst>
          </p:nvPr>
        </p:nvGraphicFramePr>
        <p:xfrm>
          <a:off x="10633534" y="1272208"/>
          <a:ext cx="2088232" cy="28511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어떤 가스의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수치에 변동이 발생되었는지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일산화탄소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또는 황화수소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STEL : 15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분간의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TWA : 8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시간동안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4" name="모서리가 둥근 직사각형 183"/>
          <p:cNvSpPr/>
          <p:nvPr/>
        </p:nvSpPr>
        <p:spPr>
          <a:xfrm>
            <a:off x="11157105" y="2648289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85" name="모서리가 둥근 직사각형 184"/>
          <p:cNvSpPr/>
          <p:nvPr/>
        </p:nvSpPr>
        <p:spPr>
          <a:xfrm>
            <a:off x="11157105" y="1951023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86" name="아래쪽 화살표 185"/>
          <p:cNvSpPr/>
          <p:nvPr/>
        </p:nvSpPr>
        <p:spPr>
          <a:xfrm>
            <a:off x="11081320" y="2333702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79" name="직사각형 178"/>
          <p:cNvSpPr/>
          <p:nvPr/>
        </p:nvSpPr>
        <p:spPr>
          <a:xfrm>
            <a:off x="1485406" y="1529010"/>
            <a:ext cx="4255066" cy="7634931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80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98092" y="1696929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81" name="모서리가 둥근 직사각형 180"/>
          <p:cNvSpPr/>
          <p:nvPr/>
        </p:nvSpPr>
        <p:spPr>
          <a:xfrm>
            <a:off x="3700096" y="5728887"/>
            <a:ext cx="1886431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경로안내</a:t>
            </a:r>
          </a:p>
        </p:txBody>
      </p:sp>
      <p:sp>
        <p:nvSpPr>
          <p:cNvPr id="182" name="모서리가 둥근 직사각형 181"/>
          <p:cNvSpPr/>
          <p:nvPr/>
        </p:nvSpPr>
        <p:spPr>
          <a:xfrm>
            <a:off x="1604725" y="5728887"/>
            <a:ext cx="1863638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지도 보기</a:t>
            </a:r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1604724" y="5143970"/>
            <a:ext cx="3981803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1397064" y="2813369"/>
            <a:ext cx="4487127" cy="20774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[</a:t>
            </a:r>
            <a:r>
              <a:rPr lang="ko-KR" altLang="en-US" sz="1800" b="1">
                <a:latin typeface="+mj-ea"/>
                <a:ea typeface="+mj-ea"/>
              </a:rPr>
              <a:t>제</a:t>
            </a:r>
            <a:r>
              <a:rPr lang="en-US" altLang="ko-KR" sz="1800" b="1" dirty="0">
                <a:latin typeface="+mj-ea"/>
                <a:ea typeface="+mj-ea"/>
              </a:rPr>
              <a:t>1</a:t>
            </a:r>
            <a:r>
              <a:rPr lang="ko-KR" altLang="en-US" sz="1800" b="1">
                <a:latin typeface="+mj-ea"/>
                <a:ea typeface="+mj-ea"/>
              </a:rPr>
              <a:t>공장 </a:t>
            </a:r>
            <a:r>
              <a:rPr lang="en-US" altLang="ko-KR" sz="1800" b="1" dirty="0">
                <a:latin typeface="+mj-ea"/>
                <a:ea typeface="+mj-ea"/>
              </a:rPr>
              <a:t>5 </a:t>
            </a:r>
            <a:r>
              <a:rPr lang="ko-KR" altLang="en-US" sz="1800" b="1">
                <a:latin typeface="+mj-ea"/>
                <a:ea typeface="+mj-ea"/>
              </a:rPr>
              <a:t>층 </a:t>
            </a:r>
            <a:r>
              <a:rPr lang="en-US" altLang="ko-KR" sz="1800" b="1" dirty="0">
                <a:latin typeface="+mj-ea"/>
                <a:ea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8</a:t>
            </a:r>
            <a:r>
              <a:rPr lang="ko-KR" altLang="en-US" sz="1800" b="1">
                <a:latin typeface="+mj-ea"/>
                <a:ea typeface="+mj-ea"/>
              </a:rPr>
              <a:t>시간 동안 </a:t>
            </a:r>
            <a:r>
              <a:rPr lang="ko-KR" altLang="en-US" sz="1800" b="1">
                <a:solidFill>
                  <a:srgbClr val="FF0000"/>
                </a:solidFill>
                <a:latin typeface="+mj-ea"/>
                <a:ea typeface="+mj-ea"/>
              </a:rPr>
              <a:t>일산화탄소</a:t>
            </a:r>
            <a:r>
              <a:rPr lang="ko-KR" altLang="en-US" sz="1800" b="1">
                <a:latin typeface="+mj-ea"/>
                <a:ea typeface="+mj-ea"/>
              </a:rPr>
              <a:t>가 </a:t>
            </a:r>
            <a:r>
              <a:rPr lang="ko-KR" altLang="en-US" sz="1800" b="1" dirty="0">
                <a:latin typeface="+mj-ea"/>
                <a:ea typeface="+mj-ea"/>
              </a:rPr>
              <a:t>누출되었습니다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TWA </a:t>
            </a:r>
            <a:r>
              <a:rPr lang="ko-KR" altLang="en-US" sz="1800" b="1" dirty="0">
                <a:latin typeface="+mj-ea"/>
                <a:ea typeface="+mj-ea"/>
              </a:rPr>
              <a:t>위험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작업자를 즉시 대피시키고 출입통제 하세요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600" dirty="0">
                <a:latin typeface="+mj-ea"/>
                <a:ea typeface="+mj-ea"/>
              </a:rPr>
              <a:t>(</a:t>
            </a:r>
            <a:r>
              <a:rPr lang="ko-KR" altLang="en-US" sz="1600" dirty="0">
                <a:latin typeface="+mj-ea"/>
                <a:ea typeface="+mj-ea"/>
              </a:rPr>
              <a:t>작업구역 </a:t>
            </a:r>
            <a:r>
              <a:rPr lang="ko-KR" altLang="en-US" sz="1600">
                <a:latin typeface="+mj-ea"/>
                <a:ea typeface="+mj-ea"/>
              </a:rPr>
              <a:t>환기필요</a:t>
            </a:r>
            <a:r>
              <a:rPr lang="en-US" altLang="ko-KR" sz="1600" dirty="0">
                <a:latin typeface="+mj-ea"/>
                <a:ea typeface="+mj-ea"/>
              </a:rPr>
              <a:t>)</a:t>
            </a:r>
          </a:p>
        </p:txBody>
      </p:sp>
      <p:cxnSp>
        <p:nvCxnSpPr>
          <p:cNvPr id="193" name="직선 연결선 192"/>
          <p:cNvCxnSpPr/>
          <p:nvPr/>
        </p:nvCxnSpPr>
        <p:spPr>
          <a:xfrm>
            <a:off x="1504669" y="6495193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1558400" y="7115845"/>
            <a:ext cx="2329484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작업구역 가스센서 정보</a:t>
            </a:r>
            <a:endParaRPr lang="en-US" sz="1600" dirty="0"/>
          </a:p>
        </p:txBody>
      </p:sp>
      <p:graphicFrame>
        <p:nvGraphicFramePr>
          <p:cNvPr id="195" name="표 1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162665"/>
              </p:ext>
            </p:extLst>
          </p:nvPr>
        </p:nvGraphicFramePr>
        <p:xfrm>
          <a:off x="1595259" y="7723035"/>
          <a:ext cx="4060705" cy="1178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88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3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6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04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O2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CO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ppm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CH4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H2S</a:t>
                      </a:r>
                    </a:p>
                    <a:p>
                      <a:pPr algn="ctr"/>
                      <a:r>
                        <a:rPr lang="en-US" sz="1600" dirty="0">
                          <a:solidFill>
                            <a:schemeClr val="bg1"/>
                          </a:solidFill>
                        </a:rPr>
                        <a:t>ppm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205">
                <a:tc>
                  <a:txBody>
                    <a:bodyPr/>
                    <a:lstStyle/>
                    <a:p>
                      <a:pPr marL="0" marR="0" indent="0" algn="ctr" defTabSz="128016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XX.X%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</a:t>
                      </a:r>
                      <a:r>
                        <a:rPr lang="en-US" sz="1600" baseline="0" dirty="0">
                          <a:solidFill>
                            <a:schemeClr val="tx1"/>
                          </a:solidFill>
                        </a:rPr>
                        <a:t>XX</a:t>
                      </a:r>
                      <a:endParaRPr lang="en-US" sz="1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6" name="TextBox 195"/>
          <p:cNvSpPr txBox="1"/>
          <p:nvPr/>
        </p:nvSpPr>
        <p:spPr>
          <a:xfrm>
            <a:off x="1558400" y="6609952"/>
            <a:ext cx="1005403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/>
              <a:t>작업인원</a:t>
            </a:r>
            <a:endParaRPr lang="en-US" sz="1600" dirty="0"/>
          </a:p>
        </p:txBody>
      </p:sp>
      <p:sp>
        <p:nvSpPr>
          <p:cNvPr id="197" name="TextBox 196"/>
          <p:cNvSpPr txBox="1"/>
          <p:nvPr/>
        </p:nvSpPr>
        <p:spPr>
          <a:xfrm>
            <a:off x="3015453" y="6506873"/>
            <a:ext cx="1369286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dirty="0"/>
              <a:t>XXXX </a:t>
            </a:r>
            <a:r>
              <a:rPr lang="ko-KR" altLang="en-US" sz="2800" dirty="0"/>
              <a:t>명</a:t>
            </a:r>
            <a:endParaRPr lang="en-US" sz="2800" dirty="0"/>
          </a:p>
        </p:txBody>
      </p:sp>
      <p:sp>
        <p:nvSpPr>
          <p:cNvPr id="198" name="TextBox 197"/>
          <p:cNvSpPr txBox="1"/>
          <p:nvPr/>
        </p:nvSpPr>
        <p:spPr>
          <a:xfrm>
            <a:off x="1558400" y="7441376"/>
            <a:ext cx="1791003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MAC : </a:t>
            </a:r>
            <a:r>
              <a:rPr lang="en-US" altLang="ko-KR" sz="1600" dirty="0">
                <a:solidFill>
                  <a:srgbClr val="00B0F0"/>
                </a:solidFill>
              </a:rPr>
              <a:t>XXXXXXXXXX</a:t>
            </a:r>
            <a:endParaRPr lang="en-US" sz="1600" dirty="0">
              <a:solidFill>
                <a:srgbClr val="00B0F0"/>
              </a:solidFill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886762" y="7441376"/>
            <a:ext cx="1864613" cy="27699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sz="1200" dirty="0"/>
              <a:t>YYYY-MM-DD </a:t>
            </a:r>
            <a:r>
              <a:rPr lang="en-US" sz="1200" dirty="0" err="1"/>
              <a:t>hh:mm:ss</a:t>
            </a:r>
            <a:endParaRPr lang="en-US" sz="1200" dirty="0">
              <a:solidFill>
                <a:srgbClr val="00B0F0"/>
              </a:solidFill>
            </a:endParaRPr>
          </a:p>
        </p:txBody>
      </p:sp>
      <p:sp>
        <p:nvSpPr>
          <p:cNvPr id="200" name="직사각형 199"/>
          <p:cNvSpPr/>
          <p:nvPr/>
        </p:nvSpPr>
        <p:spPr>
          <a:xfrm>
            <a:off x="1485407" y="1969676"/>
            <a:ext cx="4166046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>
                <a:solidFill>
                  <a:srgbClr val="FF0000"/>
                </a:solidFill>
              </a:rPr>
              <a:t>작업구역 </a:t>
            </a:r>
            <a:r>
              <a:rPr lang="en-US" altLang="ko-KR" sz="2800" b="1" dirty="0">
                <a:solidFill>
                  <a:srgbClr val="FF0000"/>
                </a:solidFill>
              </a:rPr>
              <a:t>TWA </a:t>
            </a:r>
            <a:r>
              <a:rPr lang="ko-KR" altLang="en-US" sz="2800" b="1" dirty="0">
                <a:solidFill>
                  <a:srgbClr val="FF0000"/>
                </a:solidFill>
              </a:rPr>
              <a:t>위험</a:t>
            </a:r>
          </a:p>
        </p:txBody>
      </p:sp>
      <p:sp>
        <p:nvSpPr>
          <p:cNvPr id="201" name="직사각형 200"/>
          <p:cNvSpPr/>
          <p:nvPr/>
        </p:nvSpPr>
        <p:spPr>
          <a:xfrm>
            <a:off x="2545953" y="529097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02" name="직사각형 201"/>
          <p:cNvSpPr/>
          <p:nvPr/>
        </p:nvSpPr>
        <p:spPr>
          <a:xfrm>
            <a:off x="3015453" y="32005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03" name="직사각형 202"/>
          <p:cNvSpPr/>
          <p:nvPr/>
        </p:nvSpPr>
        <p:spPr>
          <a:xfrm>
            <a:off x="4652864" y="734299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6317716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직사각형 52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0" name="자유형 59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5" name="자유형 64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모서리가 둥근 직사각형 65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0" name="자유형 69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모서리가 둥근 직사각형 70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5" name="자유형 74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77" name="직선 연결선 76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extBox 77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79" name="그림 7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80" name="그림 7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81" name="모서리가 둥근 직사각형 80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5" name="자유형 84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90" name="자유형 89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95" name="자유형 94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00" name="자유형 99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05" name="자유형 104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모서리가 둥근 직사각형 105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10" name="자유형 109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1" name="그림 1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112" name="그림 1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113" name="그림 11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114" name="그림 1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115" name="그림 1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116" name="모서리가 둥근 직사각형 115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120" name="자유형 119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1" name="그림 12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122" name="그림 12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123" name="그림 12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124" name="그림 123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6" name="TextBox 125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7" name="TextBox 126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8" name="TextBox 127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9" name="TextBox 128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30" name="TextBox 129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31" name="TextBox 130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32" name="TextBox 131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36" name="모서리가 둥근 직사각형 135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39" name="자유형 138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41" name="모서리가 둥근 직사각형 140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44" name="자유형 143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46" name="그림 145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147" name="그림 146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148" name="모서리가 둥근 직사각형 147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51" name="자유형 150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53" name="그림 152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154" name="TextBox 153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58" name="모서리가 둥근 직사각형 157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046</a:t>
            </a:r>
            <a:endParaRPr lang="ko-KR" altLang="en-US" sz="800" dirty="0">
              <a:latin typeface="+mn-ea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작업자 </a:t>
            </a:r>
            <a:r>
              <a:rPr lang="en-US" altLang="ko-KR" sz="900" dirty="0">
                <a:latin typeface="+mn-ea"/>
              </a:rPr>
              <a:t>STEL </a:t>
            </a:r>
            <a:r>
              <a:rPr lang="ko-KR" altLang="en-US" sz="900">
                <a:latin typeface="+mn-ea"/>
              </a:rPr>
              <a:t>위험 알림</a:t>
            </a:r>
            <a:endParaRPr lang="ko-KR" altLang="en-US" sz="900" dirty="0">
              <a:latin typeface="+mn-ea"/>
            </a:endParaRPr>
          </a:p>
        </p:txBody>
      </p:sp>
      <p:grpSp>
        <p:nvGrpSpPr>
          <p:cNvPr id="161" name="그룹 160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62" name="모서리가 둥근 직사각형 161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6" name="자유형 165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7" name="그림 16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8" name="TextBox 167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70" name="모서리가 둥근 직사각형 169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4" name="자유형 173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5" name="그림 17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6" name="TextBox 175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7" name="그룹 176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78" name="모서리가 둥근 직사각형 177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82" name="자유형 181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3" name="그림 18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4" name="TextBox 183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85" name="그룹 184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86" name="모서리가 둥근 직사각형 185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90" name="자유형 189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1" name="그림 19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92" name="TextBox 191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94" name="모서리가 둥근 직사각형 193"/>
          <p:cNvSpPr/>
          <p:nvPr/>
        </p:nvSpPr>
        <p:spPr>
          <a:xfrm>
            <a:off x="10146645" y="8086348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93" name="직사각형 192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6" name="모서리가 둥근 직사각형 195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01" name="표 20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8636066"/>
              </p:ext>
            </p:extLst>
          </p:nvPr>
        </p:nvGraphicFramePr>
        <p:xfrm>
          <a:off x="10633534" y="1272208"/>
          <a:ext cx="2088232" cy="261647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어떤 가스의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수치에 변동이 발생되었는지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일산화탄소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또는 황화수소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STEL : 15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분간의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TWA : 8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시간동안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4" name="모서리가 둥근 직사각형 203"/>
          <p:cNvSpPr/>
          <p:nvPr/>
        </p:nvSpPr>
        <p:spPr>
          <a:xfrm>
            <a:off x="11157105" y="2648289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205" name="모서리가 둥근 직사각형 204"/>
          <p:cNvSpPr/>
          <p:nvPr/>
        </p:nvSpPr>
        <p:spPr>
          <a:xfrm>
            <a:off x="11157105" y="1951023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206" name="아래쪽 화살표 205"/>
          <p:cNvSpPr/>
          <p:nvPr/>
        </p:nvSpPr>
        <p:spPr>
          <a:xfrm>
            <a:off x="11081320" y="2333702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97" name="직사각형 196"/>
          <p:cNvSpPr/>
          <p:nvPr/>
        </p:nvSpPr>
        <p:spPr>
          <a:xfrm>
            <a:off x="1485406" y="1219919"/>
            <a:ext cx="4255066" cy="788010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98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98092" y="1387838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99" name="모서리가 둥근 직사각형 198"/>
          <p:cNvSpPr/>
          <p:nvPr/>
        </p:nvSpPr>
        <p:spPr>
          <a:xfrm>
            <a:off x="3700096" y="5419796"/>
            <a:ext cx="1886431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경로안내</a:t>
            </a:r>
          </a:p>
        </p:txBody>
      </p:sp>
      <p:sp>
        <p:nvSpPr>
          <p:cNvPr id="200" name="모서리가 둥근 직사각형 199"/>
          <p:cNvSpPr/>
          <p:nvPr/>
        </p:nvSpPr>
        <p:spPr>
          <a:xfrm>
            <a:off x="1604725" y="5419796"/>
            <a:ext cx="1863638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지도 보기</a:t>
            </a:r>
          </a:p>
        </p:txBody>
      </p:sp>
      <p:sp>
        <p:nvSpPr>
          <p:cNvPr id="202" name="모서리가 둥근 직사각형 201"/>
          <p:cNvSpPr/>
          <p:nvPr/>
        </p:nvSpPr>
        <p:spPr>
          <a:xfrm>
            <a:off x="1604724" y="4834879"/>
            <a:ext cx="3981803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602248" y="2504278"/>
            <a:ext cx="4076757" cy="20774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[</a:t>
            </a:r>
            <a:r>
              <a:rPr lang="ko-KR" altLang="en-US" sz="1800" b="1">
                <a:latin typeface="+mj-ea"/>
                <a:ea typeface="+mj-ea"/>
              </a:rPr>
              <a:t>홍길동</a:t>
            </a:r>
            <a:r>
              <a:rPr lang="ko-KR" altLang="en-US" sz="1800" b="1">
                <a:solidFill>
                  <a:schemeClr val="bg1">
                    <a:lumMod val="65000"/>
                  </a:schemeClr>
                </a:solidFill>
                <a:latin typeface="+mj-ea"/>
                <a:ea typeface="+mj-ea"/>
              </a:rPr>
              <a:t> 님 </a:t>
            </a:r>
            <a:r>
              <a:rPr lang="ko-KR" altLang="en-US" sz="1800" b="1">
                <a:latin typeface="+mj-ea"/>
                <a:ea typeface="+mj-ea"/>
              </a:rPr>
              <a:t>제</a:t>
            </a:r>
            <a:r>
              <a:rPr lang="en-US" altLang="ko-KR" sz="1800" b="1" dirty="0">
                <a:latin typeface="+mj-ea"/>
                <a:ea typeface="+mj-ea"/>
              </a:rPr>
              <a:t>1</a:t>
            </a:r>
            <a:r>
              <a:rPr lang="ko-KR" altLang="en-US" sz="1800" b="1">
                <a:latin typeface="+mj-ea"/>
                <a:ea typeface="+mj-ea"/>
              </a:rPr>
              <a:t>공장 </a:t>
            </a:r>
            <a:r>
              <a:rPr lang="en-US" altLang="ko-KR" sz="1800" b="1" dirty="0">
                <a:latin typeface="+mj-ea"/>
                <a:ea typeface="+mj-ea"/>
              </a:rPr>
              <a:t>5 </a:t>
            </a:r>
            <a:r>
              <a:rPr lang="ko-KR" altLang="en-US" sz="1800" b="1">
                <a:latin typeface="+mj-ea"/>
                <a:ea typeface="+mj-ea"/>
              </a:rPr>
              <a:t>층 </a:t>
            </a:r>
            <a:r>
              <a:rPr lang="en-US" altLang="ko-KR" sz="1800" b="1" dirty="0">
                <a:latin typeface="+mj-ea"/>
                <a:ea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15</a:t>
            </a:r>
            <a:r>
              <a:rPr lang="ko-KR" altLang="en-US" sz="1800" b="1">
                <a:latin typeface="+mj-ea"/>
                <a:ea typeface="+mj-ea"/>
              </a:rPr>
              <a:t>분간 </a:t>
            </a:r>
            <a:r>
              <a:rPr lang="ko-KR" altLang="en-US" sz="1800" b="1">
                <a:solidFill>
                  <a:srgbClr val="FF0000"/>
                </a:solidFill>
                <a:latin typeface="+mj-ea"/>
                <a:ea typeface="+mj-ea"/>
              </a:rPr>
              <a:t>일산화탄소</a:t>
            </a:r>
            <a:r>
              <a:rPr lang="ko-KR" altLang="en-US" sz="1800" b="1">
                <a:latin typeface="+mj-ea"/>
                <a:ea typeface="+mj-ea"/>
              </a:rPr>
              <a:t>에 </a:t>
            </a:r>
            <a:r>
              <a:rPr lang="ko-KR" altLang="en-US" sz="1800" b="1" dirty="0">
                <a:latin typeface="+mj-ea"/>
                <a:ea typeface="+mj-ea"/>
              </a:rPr>
              <a:t>누출되었습니다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STEL </a:t>
            </a:r>
            <a:r>
              <a:rPr lang="ko-KR" altLang="en-US" sz="1800" b="1" dirty="0">
                <a:latin typeface="+mj-ea"/>
                <a:ea typeface="+mj-ea"/>
              </a:rPr>
              <a:t>위험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작업자의 작업을 중단하고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휴식을 취하도록 하세요</a:t>
            </a:r>
            <a:r>
              <a:rPr lang="en-US" altLang="ko-KR" sz="1600" dirty="0">
                <a:latin typeface="+mj-ea"/>
                <a:ea typeface="+mj-ea"/>
              </a:rPr>
              <a:t>.</a:t>
            </a:r>
          </a:p>
        </p:txBody>
      </p:sp>
      <p:cxnSp>
        <p:nvCxnSpPr>
          <p:cNvPr id="211" name="직선 연결선 210"/>
          <p:cNvCxnSpPr/>
          <p:nvPr/>
        </p:nvCxnSpPr>
        <p:spPr>
          <a:xfrm>
            <a:off x="1504669" y="6186102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직사각형 217"/>
          <p:cNvSpPr/>
          <p:nvPr/>
        </p:nvSpPr>
        <p:spPr>
          <a:xfrm>
            <a:off x="1485407" y="1660585"/>
            <a:ext cx="4166046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 dirty="0">
                <a:solidFill>
                  <a:srgbClr val="FF0000"/>
                </a:solidFill>
              </a:rPr>
              <a:t>작업자 </a:t>
            </a:r>
            <a:r>
              <a:rPr lang="en-US" altLang="ko-KR" sz="2800" b="1" dirty="0">
                <a:solidFill>
                  <a:srgbClr val="FF0000"/>
                </a:solidFill>
              </a:rPr>
              <a:t>STEL </a:t>
            </a:r>
            <a:r>
              <a:rPr lang="ko-KR" altLang="en-US" sz="2800" b="1" dirty="0">
                <a:solidFill>
                  <a:srgbClr val="FF0000"/>
                </a:solidFill>
              </a:rPr>
              <a:t>위험</a:t>
            </a:r>
          </a:p>
        </p:txBody>
      </p:sp>
      <p:sp>
        <p:nvSpPr>
          <p:cNvPr id="219" name="직사각형 218"/>
          <p:cNvSpPr/>
          <p:nvPr/>
        </p:nvSpPr>
        <p:spPr>
          <a:xfrm>
            <a:off x="2545953" y="49818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20" name="직사각형 219"/>
          <p:cNvSpPr/>
          <p:nvPr/>
        </p:nvSpPr>
        <p:spPr>
          <a:xfrm>
            <a:off x="3015453" y="28914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32" name="그룹 231"/>
          <p:cNvGrpSpPr/>
          <p:nvPr/>
        </p:nvGrpSpPr>
        <p:grpSpPr>
          <a:xfrm>
            <a:off x="1637719" y="6835760"/>
            <a:ext cx="3979616" cy="2083404"/>
            <a:chOff x="722532" y="6113928"/>
            <a:chExt cx="3979616" cy="2083404"/>
          </a:xfrm>
        </p:grpSpPr>
        <p:grpSp>
          <p:nvGrpSpPr>
            <p:cNvPr id="233" name="그룹 232"/>
            <p:cNvGrpSpPr/>
            <p:nvPr/>
          </p:nvGrpSpPr>
          <p:grpSpPr>
            <a:xfrm>
              <a:off x="830106" y="6249373"/>
              <a:ext cx="3500840" cy="1883769"/>
              <a:chOff x="5891181" y="3087144"/>
              <a:chExt cx="4486928" cy="2414375"/>
            </a:xfrm>
          </p:grpSpPr>
          <p:grpSp>
            <p:nvGrpSpPr>
              <p:cNvPr id="235" name="그룹 234"/>
              <p:cNvGrpSpPr/>
              <p:nvPr/>
            </p:nvGrpSpPr>
            <p:grpSpPr>
              <a:xfrm>
                <a:off x="5952469" y="3087144"/>
                <a:ext cx="1440160" cy="1397875"/>
                <a:chOff x="7962299" y="2617527"/>
                <a:chExt cx="622093" cy="646131"/>
              </a:xfrm>
            </p:grpSpPr>
            <p:sp>
              <p:nvSpPr>
                <p:cNvPr id="239" name="직사각형 238"/>
                <p:cNvSpPr/>
                <p:nvPr/>
              </p:nvSpPr>
              <p:spPr>
                <a:xfrm>
                  <a:off x="7962299" y="2617527"/>
                  <a:ext cx="622093" cy="6461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600" dirty="0" err="1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0" name="그림 239"/>
                <p:cNvPicPr>
                  <a:picLocks noChangeAspect="1"/>
                </p:cNvPicPr>
                <p:nvPr/>
              </p:nvPicPr>
              <p:blipFill>
                <a:blip r:embed="rId15" cstate="print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06450" y="2727225"/>
                  <a:ext cx="535839" cy="535839"/>
                </a:xfrm>
                <a:prstGeom prst="rect">
                  <a:avLst/>
                </a:prstGeom>
              </p:spPr>
            </p:pic>
          </p:grpSp>
          <p:sp>
            <p:nvSpPr>
              <p:cNvPr id="236" name="TextBox 235"/>
              <p:cNvSpPr txBox="1"/>
              <p:nvPr/>
            </p:nvSpPr>
            <p:spPr>
              <a:xfrm>
                <a:off x="5891181" y="4732305"/>
                <a:ext cx="3887571" cy="7692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      속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000 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소속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안전밴드 </a:t>
                </a:r>
                <a:r>
                  <a:rPr lang="ko-KR" altLang="en-US" sz="1100" dirty="0" err="1">
                    <a:latin typeface="+mn-ea"/>
                    <a:sym typeface="Wingdings" panose="05000000000000000000" pitchFamily="2" charset="2"/>
                  </a:rPr>
                  <a:t>착용일시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YYYY-MM-DD </a:t>
                </a:r>
                <a:r>
                  <a:rPr lang="en-US" altLang="ko-KR" sz="1100" dirty="0" err="1">
                    <a:latin typeface="+mn-ea"/>
                    <a:sym typeface="Wingdings" panose="05000000000000000000" pitchFamily="2" charset="2"/>
                  </a:rPr>
                  <a:t>hh:mm:ss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MAC : </a:t>
                </a:r>
                <a:r>
                  <a:rPr lang="en-US" altLang="ko-KR" sz="1100" dirty="0" err="1">
                    <a:solidFill>
                      <a:srgbClr val="00B0F0"/>
                    </a:solidFill>
                    <a:latin typeface="+mn-ea"/>
                    <a:sym typeface="Wingdings" panose="05000000000000000000" pitchFamily="2" charset="2"/>
                  </a:rPr>
                  <a:t>XXXXXXXXXXXXXx</a:t>
                </a:r>
                <a:endParaRPr lang="ko-KR" altLang="en-US" sz="1100" dirty="0">
                  <a:solidFill>
                    <a:srgbClr val="00B0F0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237" name="TextBox 236"/>
              <p:cNvSpPr txBox="1"/>
              <p:nvPr/>
            </p:nvSpPr>
            <p:spPr>
              <a:xfrm>
                <a:off x="7408911" y="3120233"/>
                <a:ext cx="2969198" cy="6705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600" b="1" dirty="0">
                    <a:latin typeface="+mn-ea"/>
                    <a:sym typeface="Wingdings" panose="05000000000000000000" pitchFamily="2" charset="2"/>
                  </a:rPr>
                  <a:t>김태호</a:t>
                </a:r>
                <a:r>
                  <a:rPr lang="en-US" altLang="ko-KR" sz="1600" b="1" dirty="0">
                    <a:latin typeface="+mn-ea"/>
                    <a:sym typeface="Wingdings" panose="05000000000000000000" pitchFamily="2" charset="2"/>
                  </a:rPr>
                  <a:t>(YYYY-MM-DD)</a:t>
                </a: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일반구역 출입자</a:t>
                </a:r>
              </a:p>
            </p:txBody>
          </p:sp>
          <p:sp>
            <p:nvSpPr>
              <p:cNvPr id="238" name="TextBox 237"/>
              <p:cNvSpPr txBox="1"/>
              <p:nvPr/>
            </p:nvSpPr>
            <p:spPr>
              <a:xfrm>
                <a:off x="7442367" y="3741070"/>
                <a:ext cx="1600885" cy="7988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50" b="1" dirty="0">
                    <a:latin typeface="+mn-ea"/>
                    <a:sym typeface="Wingdings" panose="05000000000000000000" pitchFamily="2" charset="2"/>
                  </a:rPr>
                  <a:t>현위치</a:t>
                </a:r>
                <a:br>
                  <a:rPr lang="en-US" altLang="ko-KR" sz="1050" b="1" dirty="0">
                    <a:latin typeface="+mn-ea"/>
                    <a:sym typeface="Wingdings" panose="05000000000000000000" pitchFamily="2" charset="2"/>
                  </a:rPr>
                </a:b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5</a:t>
                </a:r>
                <a:r>
                  <a:rPr lang="ko-KR" altLang="en-US" sz="2400" b="1" dirty="0">
                    <a:latin typeface="+mn-ea"/>
                    <a:sym typeface="Wingdings" panose="05000000000000000000" pitchFamily="2" charset="2"/>
                  </a:rPr>
                  <a:t>층 </a:t>
                </a: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E-3</a:t>
                </a:r>
                <a:endParaRPr lang="ko-KR" altLang="en-US" sz="2400" b="1" dirty="0">
                  <a:latin typeface="+mn-ea"/>
                  <a:sym typeface="Wingdings" panose="05000000000000000000" pitchFamily="2" charset="2"/>
                </a:endParaRPr>
              </a:p>
            </p:txBody>
          </p:sp>
        </p:grpSp>
        <p:sp>
          <p:nvSpPr>
            <p:cNvPr id="234" name="직사각형 233"/>
            <p:cNvSpPr/>
            <p:nvPr/>
          </p:nvSpPr>
          <p:spPr>
            <a:xfrm>
              <a:off x="722532" y="6113928"/>
              <a:ext cx="3979616" cy="208340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1" name="TextBox 240"/>
          <p:cNvSpPr txBox="1"/>
          <p:nvPr/>
        </p:nvSpPr>
        <p:spPr>
          <a:xfrm>
            <a:off x="1539992" y="6305494"/>
            <a:ext cx="1257075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작업자 정보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59314550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/>
          <p:cNvSpPr/>
          <p:nvPr/>
        </p:nvSpPr>
        <p:spPr>
          <a:xfrm>
            <a:off x="7448232" y="120080"/>
            <a:ext cx="2598667" cy="928903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모서리가 둥근 직사각형 28"/>
          <p:cNvSpPr/>
          <p:nvPr/>
        </p:nvSpPr>
        <p:spPr>
          <a:xfrm>
            <a:off x="7556218" y="54615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8050761" y="569136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침범발생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9331646" y="612973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050761" y="89404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33" name="자유형 32"/>
          <p:cNvSpPr/>
          <p:nvPr/>
        </p:nvSpPr>
        <p:spPr>
          <a:xfrm>
            <a:off x="7553358" y="54615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7556218" y="116451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050761" y="1187503"/>
            <a:ext cx="9268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산소농도 </a:t>
            </a:r>
            <a:r>
              <a:rPr lang="en-US" altLang="ko-KR" sz="800" b="1" dirty="0">
                <a:latin typeface="+mn-ea"/>
              </a:rPr>
              <a:t>11.7%</a:t>
            </a:r>
          </a:p>
          <a:p>
            <a:r>
              <a:rPr lang="ko-KR" altLang="en-US" sz="800" dirty="0">
                <a:latin typeface="+mn-ea"/>
              </a:rPr>
              <a:t>대피하세요</a:t>
            </a:r>
            <a:endParaRPr lang="en-US" altLang="ko-KR" sz="800" dirty="0">
              <a:latin typeface="+mn-e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9331646" y="123134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8050761" y="151241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56" name="자유형 55"/>
          <p:cNvSpPr/>
          <p:nvPr/>
        </p:nvSpPr>
        <p:spPr>
          <a:xfrm>
            <a:off x="7553358" y="116451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7556218" y="17741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8050761" y="1797134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심박수</a:t>
            </a:r>
            <a:r>
              <a:rPr lang="ko-KR" altLang="en-US" sz="800" b="1" dirty="0">
                <a:latin typeface="+mn-ea"/>
              </a:rPr>
              <a:t> 위험</a:t>
            </a:r>
          </a:p>
          <a:p>
            <a:r>
              <a:rPr lang="ko-KR" altLang="en-US" sz="800" dirty="0">
                <a:latin typeface="+mn-ea"/>
              </a:rPr>
              <a:t>홍길동 특수작업자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9331646" y="1840972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050761" y="212204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1" name="자유형 60"/>
          <p:cNvSpPr/>
          <p:nvPr/>
        </p:nvSpPr>
        <p:spPr>
          <a:xfrm>
            <a:off x="7553358" y="17741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모서리가 둥근 직사각형 61"/>
          <p:cNvSpPr/>
          <p:nvPr/>
        </p:nvSpPr>
        <p:spPr>
          <a:xfrm>
            <a:off x="7556218" y="254540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8050761" y="2568385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9389355" y="2612222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8050761" y="2893293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66" name="자유형 65"/>
          <p:cNvSpPr/>
          <p:nvPr/>
        </p:nvSpPr>
        <p:spPr>
          <a:xfrm>
            <a:off x="7553358" y="254540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7696293" y="2343693"/>
            <a:ext cx="2070583" cy="200056"/>
            <a:chOff x="7136751" y="5319391"/>
            <a:chExt cx="2931482" cy="283234"/>
          </a:xfrm>
          <a:solidFill>
            <a:srgbClr val="404040"/>
          </a:solidFill>
        </p:grpSpPr>
        <p:cxnSp>
          <p:nvCxnSpPr>
            <p:cNvPr id="68" name="직선 연결선 67"/>
            <p:cNvCxnSpPr/>
            <p:nvPr/>
          </p:nvCxnSpPr>
          <p:spPr>
            <a:xfrm>
              <a:off x="7136751" y="5435836"/>
              <a:ext cx="2931482" cy="0"/>
            </a:xfrm>
            <a:prstGeom prst="line">
              <a:avLst/>
            </a:prstGeom>
            <a:grp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TextBox 68"/>
            <p:cNvSpPr txBox="1"/>
            <p:nvPr/>
          </p:nvSpPr>
          <p:spPr>
            <a:xfrm>
              <a:off x="8034962" y="5319391"/>
              <a:ext cx="1305412" cy="28323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0000.00.00 </a:t>
              </a:r>
              <a:r>
                <a:rPr lang="ko-KR" altLang="en-US" sz="700" dirty="0">
                  <a:solidFill>
                    <a:schemeClr val="bg1"/>
                  </a:solidFill>
                  <a:latin typeface="+mn-ea"/>
                  <a:sym typeface="Wingdings" panose="05000000000000000000" pitchFamily="2" charset="2"/>
                </a:rPr>
                <a:t>월요일</a:t>
              </a:r>
              <a:endParaRPr lang="en-US" altLang="ko-KR" sz="700" dirty="0">
                <a:solidFill>
                  <a:schemeClr val="bg1"/>
                </a:solidFill>
                <a:latin typeface="+mn-ea"/>
                <a:sym typeface="Wingdings" panose="05000000000000000000" pitchFamily="2" charset="2"/>
              </a:endParaRPr>
            </a:p>
          </p:txBody>
        </p:sp>
      </p:grpSp>
      <p:pic>
        <p:nvPicPr>
          <p:cNvPr id="70" name="그림 6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5580" y="1306294"/>
            <a:ext cx="310487" cy="255783"/>
          </a:xfrm>
          <a:prstGeom prst="rect">
            <a:avLst/>
          </a:prstGeom>
        </p:spPr>
      </p:pic>
      <p:pic>
        <p:nvPicPr>
          <p:cNvPr id="71" name="그림 7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2537" y="1903083"/>
            <a:ext cx="376572" cy="310224"/>
          </a:xfrm>
          <a:prstGeom prst="rect">
            <a:avLst/>
          </a:prstGeom>
        </p:spPr>
      </p:pic>
      <p:sp>
        <p:nvSpPr>
          <p:cNvPr id="72" name="모서리가 둥근 직사각형 71"/>
          <p:cNvSpPr/>
          <p:nvPr/>
        </p:nvSpPr>
        <p:spPr>
          <a:xfrm>
            <a:off x="7556218" y="31470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8050761" y="3170043"/>
            <a:ext cx="1079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긴급호출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특수 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9331646" y="32138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8050761" y="349495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76" name="자유형 75"/>
          <p:cNvSpPr/>
          <p:nvPr/>
        </p:nvSpPr>
        <p:spPr>
          <a:xfrm>
            <a:off x="7553358" y="31470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556218" y="376110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8050761" y="3784093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작업자 정지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400" dirty="0">
              <a:latin typeface="+mn-ea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9389355" y="3827931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8050761" y="410900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1" name="자유형 80"/>
          <p:cNvSpPr/>
          <p:nvPr/>
        </p:nvSpPr>
        <p:spPr>
          <a:xfrm>
            <a:off x="7553358" y="376110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7556218" y="438085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8050761" y="4403843"/>
            <a:ext cx="8963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화재위험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위험</a:t>
            </a:r>
            <a:r>
              <a:rPr lang="en-US" altLang="ko-KR" sz="800" dirty="0">
                <a:latin typeface="+mn-ea"/>
              </a:rPr>
              <a:t>, </a:t>
            </a:r>
            <a:r>
              <a:rPr lang="ko-KR" altLang="en-US" sz="800">
                <a:latin typeface="+mn-ea"/>
              </a:rPr>
              <a:t>즉시 확인</a:t>
            </a:r>
            <a:endParaRPr lang="ko-KR" altLang="en-US" sz="400" dirty="0">
              <a:latin typeface="+mn-ea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331646" y="444768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8050761" y="472875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86" name="자유형 85"/>
          <p:cNvSpPr/>
          <p:nvPr/>
        </p:nvSpPr>
        <p:spPr>
          <a:xfrm>
            <a:off x="7553358" y="438085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7556218" y="49763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8050761" y="4999295"/>
            <a:ext cx="8739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AP </a:t>
            </a:r>
            <a:r>
              <a:rPr lang="ko-KR" altLang="en-US" sz="800" b="1">
                <a:latin typeface="+mn-ea"/>
              </a:rPr>
              <a:t>이상 발생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확인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9331646" y="50431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8050761" y="53242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91" name="자유형 90"/>
          <p:cNvSpPr/>
          <p:nvPr/>
        </p:nvSpPr>
        <p:spPr>
          <a:xfrm>
            <a:off x="7553358" y="49763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모서리가 둥근 직사각형 91"/>
          <p:cNvSpPr/>
          <p:nvPr/>
        </p:nvSpPr>
        <p:spPr>
          <a:xfrm>
            <a:off x="7556218" y="5590361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8050761" y="561334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가스센서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배터리 교체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9389355" y="565718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8050761" y="593825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96" name="자유형 95"/>
          <p:cNvSpPr/>
          <p:nvPr/>
        </p:nvSpPr>
        <p:spPr>
          <a:xfrm>
            <a:off x="7553358" y="5590361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모서리가 둥근 직사각형 96"/>
          <p:cNvSpPr/>
          <p:nvPr/>
        </p:nvSpPr>
        <p:spPr>
          <a:xfrm>
            <a:off x="7556218" y="621011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8050761" y="6233096"/>
            <a:ext cx="11817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안전밴드 배터리 부족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즉시 충전 필요</a:t>
            </a:r>
            <a:endParaRPr lang="ko-KR" altLang="en-US" sz="400" dirty="0">
              <a:latin typeface="+mn-ea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9331646" y="6276934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latin typeface="+mn-ea"/>
              </a:rPr>
              <a:t>14:32:30</a:t>
            </a:r>
            <a:endParaRPr lang="ko-KR" altLang="en-US" sz="200" dirty="0">
              <a:latin typeface="+mn-ea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8050761" y="6558004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01" name="자유형 100"/>
          <p:cNvSpPr/>
          <p:nvPr/>
        </p:nvSpPr>
        <p:spPr>
          <a:xfrm>
            <a:off x="7553358" y="621011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02" name="그림 10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7894" y="694961"/>
            <a:ext cx="265858" cy="219016"/>
          </a:xfrm>
          <a:prstGeom prst="rect">
            <a:avLst/>
          </a:prstGeom>
        </p:spPr>
      </p:pic>
      <p:pic>
        <p:nvPicPr>
          <p:cNvPr id="103" name="그림 10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2697527"/>
            <a:ext cx="277393" cy="228521"/>
          </a:xfrm>
          <a:prstGeom prst="rect">
            <a:avLst/>
          </a:prstGeom>
        </p:spPr>
      </p:pic>
      <p:pic>
        <p:nvPicPr>
          <p:cNvPr id="104" name="그림 10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2126" y="3291032"/>
            <a:ext cx="277393" cy="228521"/>
          </a:xfrm>
          <a:prstGeom prst="rect">
            <a:avLst/>
          </a:prstGeom>
        </p:spPr>
      </p:pic>
      <p:pic>
        <p:nvPicPr>
          <p:cNvPr id="105" name="그림 10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921" y="3878430"/>
            <a:ext cx="307058" cy="307058"/>
          </a:xfrm>
          <a:prstGeom prst="rect">
            <a:avLst/>
          </a:prstGeom>
        </p:spPr>
      </p:pic>
      <p:pic>
        <p:nvPicPr>
          <p:cNvPr id="106" name="그림 10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4409" y="4501932"/>
            <a:ext cx="301658" cy="301658"/>
          </a:xfrm>
          <a:prstGeom prst="rect">
            <a:avLst/>
          </a:prstGeom>
        </p:spPr>
      </p:pic>
      <p:sp>
        <p:nvSpPr>
          <p:cNvPr id="107" name="모서리가 둥근 직사각형 106"/>
          <p:cNvSpPr/>
          <p:nvPr/>
        </p:nvSpPr>
        <p:spPr>
          <a:xfrm>
            <a:off x="7556218" y="6820649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8050761" y="6843633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스마트태그 배터리 부족</a:t>
            </a:r>
            <a:endParaRPr lang="en-US" altLang="ko-KR" sz="800" b="1" dirty="0">
              <a:solidFill>
                <a:schemeClr val="bg1"/>
              </a:solidFill>
              <a:latin typeface="+mn-ea"/>
            </a:endParaRPr>
          </a:p>
          <a:p>
            <a:r>
              <a:rPr lang="ko-KR" altLang="en-US" sz="800" dirty="0">
                <a:solidFill>
                  <a:schemeClr val="bg1"/>
                </a:solidFill>
                <a:latin typeface="+mn-ea"/>
              </a:rPr>
              <a:t>배터리 교체 필요</a:t>
            </a:r>
            <a:endParaRPr lang="ko-KR" altLang="en-US" sz="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9331646" y="6887471"/>
            <a:ext cx="55335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0000.00.00</a:t>
            </a:r>
          </a:p>
          <a:p>
            <a:pPr algn="r"/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14:32:30</a:t>
            </a:r>
            <a:endParaRPr lang="ko-KR" altLang="en-US" sz="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8050761" y="7168541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제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공장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] 1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층 </a:t>
            </a:r>
            <a:r>
              <a:rPr lang="en-US" altLang="ko-KR" sz="600" dirty="0">
                <a:solidFill>
                  <a:schemeClr val="bg1"/>
                </a:solidFill>
                <a:latin typeface="+mn-ea"/>
              </a:rPr>
              <a:t>A-1 </a:t>
            </a:r>
            <a:r>
              <a:rPr lang="ko-KR" altLang="en-US" sz="600">
                <a:solidFill>
                  <a:schemeClr val="bg1"/>
                </a:solidFill>
                <a:latin typeface="+mn-ea"/>
              </a:rPr>
              <a:t>구역</a:t>
            </a:r>
          </a:p>
        </p:txBody>
      </p:sp>
      <p:sp>
        <p:nvSpPr>
          <p:cNvPr id="111" name="자유형 110"/>
          <p:cNvSpPr/>
          <p:nvPr/>
        </p:nvSpPr>
        <p:spPr>
          <a:xfrm>
            <a:off x="7553358" y="6820649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그림 11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5695914"/>
            <a:ext cx="317351" cy="317351"/>
          </a:xfrm>
          <a:prstGeom prst="rect">
            <a:avLst/>
          </a:prstGeom>
        </p:spPr>
      </p:pic>
      <p:pic>
        <p:nvPicPr>
          <p:cNvPr id="113" name="그림 112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323295"/>
            <a:ext cx="317351" cy="317351"/>
          </a:xfrm>
          <a:prstGeom prst="rect">
            <a:avLst/>
          </a:prstGeom>
        </p:spPr>
      </p:pic>
      <p:pic>
        <p:nvPicPr>
          <p:cNvPr id="114" name="그림 113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642" y="6949687"/>
            <a:ext cx="317351" cy="317351"/>
          </a:xfrm>
          <a:prstGeom prst="rect">
            <a:avLst/>
          </a:prstGeom>
        </p:spPr>
      </p:pic>
      <p:pic>
        <p:nvPicPr>
          <p:cNvPr id="115" name="그림 114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4889" y="5079336"/>
            <a:ext cx="303244" cy="303244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9483319" y="90526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7" name="TextBox 116"/>
          <p:cNvSpPr txBox="1"/>
          <p:nvPr/>
        </p:nvSpPr>
        <p:spPr>
          <a:xfrm>
            <a:off x="9483319" y="151593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8" name="TextBox 117"/>
          <p:cNvSpPr txBox="1"/>
          <p:nvPr/>
        </p:nvSpPr>
        <p:spPr>
          <a:xfrm>
            <a:off x="9483319" y="212497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19" name="TextBox 118"/>
          <p:cNvSpPr txBox="1"/>
          <p:nvPr/>
        </p:nvSpPr>
        <p:spPr>
          <a:xfrm>
            <a:off x="9483319" y="287922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0" name="TextBox 119"/>
          <p:cNvSpPr txBox="1"/>
          <p:nvPr/>
        </p:nvSpPr>
        <p:spPr>
          <a:xfrm>
            <a:off x="9483319" y="3489898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1" name="TextBox 120"/>
          <p:cNvSpPr txBox="1"/>
          <p:nvPr/>
        </p:nvSpPr>
        <p:spPr>
          <a:xfrm>
            <a:off x="9483319" y="4098937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2" name="TextBox 121"/>
          <p:cNvSpPr txBox="1"/>
          <p:nvPr/>
        </p:nvSpPr>
        <p:spPr>
          <a:xfrm>
            <a:off x="9483319" y="471580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23" name="TextBox 122"/>
          <p:cNvSpPr txBox="1"/>
          <p:nvPr/>
        </p:nvSpPr>
        <p:spPr>
          <a:xfrm>
            <a:off x="9483318" y="532647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미확인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9451258" y="5935508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9451258" y="6549983"/>
            <a:ext cx="48603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latin typeface="+mj-lt"/>
                <a:ea typeface="맑은 고딕" panose="020B0503020000020004" pitchFamily="50" charset="-127"/>
              </a:rPr>
              <a:t>조치 전</a:t>
            </a:r>
            <a:endParaRPr lang="ko-KR" altLang="en-US" sz="3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9361489" y="7159021"/>
            <a:ext cx="57580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>
                <a:solidFill>
                  <a:schemeClr val="bg1"/>
                </a:solidFill>
                <a:latin typeface="+mj-lt"/>
                <a:ea typeface="맑은 고딕" panose="020B0503020000020004" pitchFamily="50" charset="-127"/>
              </a:rPr>
              <a:t>조치 완료</a:t>
            </a:r>
            <a:endParaRPr lang="ko-KR" altLang="en-US" sz="300" dirty="0">
              <a:solidFill>
                <a:schemeClr val="bg1"/>
              </a:solidFill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27" name="모서리가 둥근 직사각형 126"/>
          <p:cNvSpPr/>
          <p:nvPr/>
        </p:nvSpPr>
        <p:spPr>
          <a:xfrm>
            <a:off x="7556218" y="7453737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8050761" y="7547146"/>
            <a:ext cx="9797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실외 온도 위험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37.4 ℃. </a:t>
            </a:r>
            <a:r>
              <a:rPr lang="ko-KR" altLang="en-US" sz="800">
                <a:latin typeface="+mn-ea"/>
              </a:rPr>
              <a:t>폭염주의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9389355" y="7520558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30" name="자유형 129"/>
          <p:cNvSpPr/>
          <p:nvPr/>
        </p:nvSpPr>
        <p:spPr>
          <a:xfrm>
            <a:off x="7553358" y="7453737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9483319" y="7787564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sp>
        <p:nvSpPr>
          <p:cNvPr id="132" name="모서리가 둥근 직사각형 131"/>
          <p:cNvSpPr/>
          <p:nvPr/>
        </p:nvSpPr>
        <p:spPr>
          <a:xfrm>
            <a:off x="7556218" y="8059422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8050761" y="8152831"/>
            <a:ext cx="10807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강풍주의</a:t>
            </a:r>
            <a:endParaRPr lang="en-US" altLang="ko-KR" sz="800" b="1" dirty="0">
              <a:latin typeface="+mn-ea"/>
            </a:endParaRPr>
          </a:p>
          <a:p>
            <a:r>
              <a:rPr lang="en-US" altLang="ko-KR" sz="800" dirty="0">
                <a:latin typeface="+mn-ea"/>
              </a:rPr>
              <a:t>12 m/s. </a:t>
            </a:r>
            <a:r>
              <a:rPr lang="ko-KR" altLang="en-US" sz="800">
                <a:latin typeface="+mn-ea"/>
              </a:rPr>
              <a:t>위험합니다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9389355" y="8126243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35" name="자유형 134"/>
          <p:cNvSpPr/>
          <p:nvPr/>
        </p:nvSpPr>
        <p:spPr>
          <a:xfrm>
            <a:off x="7553358" y="8059422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9483319" y="8393249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37" name="그림 13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23" y="7547146"/>
            <a:ext cx="346816" cy="346816"/>
          </a:xfrm>
          <a:prstGeom prst="rect">
            <a:avLst/>
          </a:prstGeom>
        </p:spPr>
      </p:pic>
      <p:pic>
        <p:nvPicPr>
          <p:cNvPr id="138" name="그림 137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0476" y="8195227"/>
            <a:ext cx="258056" cy="258056"/>
          </a:xfrm>
          <a:prstGeom prst="rect">
            <a:avLst/>
          </a:prstGeom>
        </p:spPr>
      </p:pic>
      <p:sp>
        <p:nvSpPr>
          <p:cNvPr id="139" name="모서리가 둥근 직사각형 138"/>
          <p:cNvSpPr/>
          <p:nvPr/>
        </p:nvSpPr>
        <p:spPr>
          <a:xfrm>
            <a:off x="7556218" y="8650553"/>
            <a:ext cx="2393859" cy="543716"/>
          </a:xfrm>
          <a:prstGeom prst="roundRect">
            <a:avLst>
              <a:gd name="adj" fmla="val 942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8050761" y="8665107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경고구역 등록</a:t>
            </a:r>
            <a:endParaRPr lang="en-US" altLang="ko-KR" sz="800" b="1" dirty="0">
              <a:latin typeface="+mn-ea"/>
            </a:endParaRPr>
          </a:p>
          <a:p>
            <a:r>
              <a:rPr lang="ko-KR" altLang="en-US" sz="800" dirty="0">
                <a:latin typeface="+mn-ea"/>
              </a:rPr>
              <a:t>홍길동 일반출입자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9389355" y="8717374"/>
            <a:ext cx="49564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500" dirty="0">
                <a:latin typeface="+mn-ea"/>
              </a:rPr>
              <a:t>0000.00.00</a:t>
            </a:r>
          </a:p>
          <a:p>
            <a:pPr algn="r"/>
            <a:r>
              <a:rPr lang="en-US" altLang="ko-KR" sz="500" dirty="0">
                <a:latin typeface="+mn-ea"/>
              </a:rPr>
              <a:t>14:32:30</a:t>
            </a:r>
            <a:endParaRPr lang="ko-KR" altLang="en-US" sz="100" dirty="0">
              <a:latin typeface="+mn-ea"/>
            </a:endParaRPr>
          </a:p>
        </p:txBody>
      </p:sp>
      <p:sp>
        <p:nvSpPr>
          <p:cNvPr id="142" name="자유형 141"/>
          <p:cNvSpPr/>
          <p:nvPr/>
        </p:nvSpPr>
        <p:spPr>
          <a:xfrm>
            <a:off x="7553358" y="8650553"/>
            <a:ext cx="454930" cy="543716"/>
          </a:xfrm>
          <a:custGeom>
            <a:avLst/>
            <a:gdLst>
              <a:gd name="connsiteX0" fmla="*/ 98114 w 800232"/>
              <a:gd name="connsiteY0" fmla="*/ 0 h 1040555"/>
              <a:gd name="connsiteX1" fmla="*/ 800232 w 800232"/>
              <a:gd name="connsiteY1" fmla="*/ 0 h 1040555"/>
              <a:gd name="connsiteX2" fmla="*/ 800232 w 800232"/>
              <a:gd name="connsiteY2" fmla="*/ 1040555 h 1040555"/>
              <a:gd name="connsiteX3" fmla="*/ 98114 w 800232"/>
              <a:gd name="connsiteY3" fmla="*/ 1040555 h 1040555"/>
              <a:gd name="connsiteX4" fmla="*/ 0 w 800232"/>
              <a:gd name="connsiteY4" fmla="*/ 942441 h 1040555"/>
              <a:gd name="connsiteX5" fmla="*/ 0 w 800232"/>
              <a:gd name="connsiteY5" fmla="*/ 98114 h 1040555"/>
              <a:gd name="connsiteX6" fmla="*/ 98114 w 800232"/>
              <a:gd name="connsiteY6" fmla="*/ 0 h 104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0232" h="1040555">
                <a:moveTo>
                  <a:pt x="98114" y="0"/>
                </a:moveTo>
                <a:lnTo>
                  <a:pt x="800232" y="0"/>
                </a:lnTo>
                <a:lnTo>
                  <a:pt x="800232" y="1040555"/>
                </a:lnTo>
                <a:lnTo>
                  <a:pt x="98114" y="1040555"/>
                </a:lnTo>
                <a:cubicBezTo>
                  <a:pt x="43927" y="1040555"/>
                  <a:pt x="0" y="996628"/>
                  <a:pt x="0" y="942441"/>
                </a:cubicBezTo>
                <a:lnTo>
                  <a:pt x="0" y="98114"/>
                </a:lnTo>
                <a:cubicBezTo>
                  <a:pt x="0" y="43927"/>
                  <a:pt x="43927" y="0"/>
                  <a:pt x="98114" y="0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600" b="1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9483319" y="8984380"/>
            <a:ext cx="453971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dirty="0"/>
              <a:t>미확인</a:t>
            </a:r>
            <a:endParaRPr lang="ko-KR" altLang="en-US" sz="300" dirty="0"/>
          </a:p>
        </p:txBody>
      </p:sp>
      <p:pic>
        <p:nvPicPr>
          <p:cNvPr id="144" name="그림 143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669" y="8735776"/>
            <a:ext cx="359440" cy="359440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050761" y="8963762"/>
            <a:ext cx="1011815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latin typeface="+mn-ea"/>
              </a:rPr>
              <a:t>[</a:t>
            </a:r>
            <a:r>
              <a:rPr lang="ko-KR" altLang="en-US" sz="600">
                <a:latin typeface="+mn-ea"/>
              </a:rPr>
              <a:t>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>
                <a:latin typeface="+mn-ea"/>
              </a:rPr>
              <a:t>공장</a:t>
            </a:r>
            <a:r>
              <a:rPr lang="en-US" altLang="ko-KR" sz="600" dirty="0">
                <a:latin typeface="+mn-ea"/>
              </a:rPr>
              <a:t>] 1</a:t>
            </a:r>
            <a:r>
              <a:rPr lang="ko-KR" altLang="en-US" sz="600">
                <a:latin typeface="+mn-ea"/>
              </a:rPr>
              <a:t>층 </a:t>
            </a:r>
            <a:r>
              <a:rPr lang="en-US" altLang="ko-KR" sz="600" dirty="0">
                <a:latin typeface="+mn-ea"/>
              </a:rPr>
              <a:t>A-1 </a:t>
            </a:r>
            <a:r>
              <a:rPr lang="ko-KR" altLang="en-US" sz="600">
                <a:latin typeface="+mn-ea"/>
              </a:rPr>
              <a:t>구역</a:t>
            </a:r>
          </a:p>
        </p:txBody>
      </p:sp>
      <p:sp>
        <p:nvSpPr>
          <p:cNvPr id="146" name="모서리가 둥근 직사각형 145"/>
          <p:cNvSpPr/>
          <p:nvPr/>
        </p:nvSpPr>
        <p:spPr>
          <a:xfrm>
            <a:off x="7556218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미확인</a:t>
            </a:r>
          </a:p>
        </p:txBody>
      </p:sp>
      <p:sp>
        <p:nvSpPr>
          <p:cNvPr id="147" name="모서리가 둥근 직사각형 146"/>
          <p:cNvSpPr/>
          <p:nvPr/>
        </p:nvSpPr>
        <p:spPr>
          <a:xfrm>
            <a:off x="816670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전</a:t>
            </a:r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8779070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조치 완료</a:t>
            </a:r>
          </a:p>
        </p:txBody>
      </p:sp>
      <p:sp>
        <p:nvSpPr>
          <p:cNvPr id="149" name="모서리가 둥근 직사각형 148"/>
          <p:cNvSpPr/>
          <p:nvPr/>
        </p:nvSpPr>
        <p:spPr>
          <a:xfrm>
            <a:off x="9389355" y="196927"/>
            <a:ext cx="582419" cy="278671"/>
          </a:xfrm>
          <a:prstGeom prst="roundRect">
            <a:avLst>
              <a:gd name="adj" fmla="val 18059"/>
            </a:avLst>
          </a:prstGeom>
          <a:solidFill>
            <a:schemeClr val="bg1"/>
          </a:solidFill>
          <a:ln w="952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배터리 알림</a:t>
            </a: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047</a:t>
            </a:r>
            <a:endParaRPr lang="ko-KR" altLang="en-US" sz="800" dirty="0">
              <a:latin typeface="+mn-ea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11561736" y="632805"/>
            <a:ext cx="116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작업자 </a:t>
            </a:r>
            <a:r>
              <a:rPr lang="en-US" altLang="ko-KR" sz="900" dirty="0">
                <a:latin typeface="+mn-ea"/>
              </a:rPr>
              <a:t>TWA </a:t>
            </a:r>
            <a:r>
              <a:rPr lang="ko-KR" altLang="en-US" sz="900">
                <a:latin typeface="+mn-ea"/>
              </a:rPr>
              <a:t>위험 알림</a:t>
            </a:r>
            <a:endParaRPr lang="ko-KR" altLang="en-US" sz="900" dirty="0">
              <a:latin typeface="+mn-ea"/>
            </a:endParaRPr>
          </a:p>
        </p:txBody>
      </p:sp>
      <p:grpSp>
        <p:nvGrpSpPr>
          <p:cNvPr id="152" name="그룹 151"/>
          <p:cNvGrpSpPr/>
          <p:nvPr/>
        </p:nvGrpSpPr>
        <p:grpSpPr>
          <a:xfrm>
            <a:off x="10145216" y="6824772"/>
            <a:ext cx="2396719" cy="551475"/>
            <a:chOff x="7173169" y="3413227"/>
            <a:chExt cx="2396719" cy="551475"/>
          </a:xfrm>
        </p:grpSpPr>
        <p:sp>
          <p:nvSpPr>
            <p:cNvPr id="153" name="모서리가 둥근 직사각형 152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7670572" y="3436211"/>
              <a:ext cx="10983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endParaRPr lang="en-US" altLang="ko-KR" sz="800" dirty="0">
                <a:latin typeface="+mn-ea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57" name="자유형 156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59" name="TextBox 158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0" name="그룹 159"/>
          <p:cNvGrpSpPr/>
          <p:nvPr/>
        </p:nvGrpSpPr>
        <p:grpSpPr>
          <a:xfrm>
            <a:off x="10145216" y="7452045"/>
            <a:ext cx="2396719" cy="551475"/>
            <a:chOff x="7173169" y="3413227"/>
            <a:chExt cx="2396719" cy="551475"/>
          </a:xfrm>
        </p:grpSpPr>
        <p:sp>
          <p:nvSpPr>
            <p:cNvPr id="161" name="모서리가 둥근 직사각형 160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7670572" y="3436211"/>
              <a:ext cx="110959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작업구역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65" name="자유형 164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66" name="그림 16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67" name="TextBox 166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68" name="그룹 167"/>
          <p:cNvGrpSpPr/>
          <p:nvPr/>
        </p:nvGrpSpPr>
        <p:grpSpPr>
          <a:xfrm>
            <a:off x="10145216" y="8086348"/>
            <a:ext cx="2396719" cy="551475"/>
            <a:chOff x="7173169" y="3413227"/>
            <a:chExt cx="2396719" cy="551475"/>
          </a:xfrm>
        </p:grpSpPr>
        <p:sp>
          <p:nvSpPr>
            <p:cNvPr id="169" name="모서리가 둥근 직사각형 168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7670572" y="3436211"/>
              <a:ext cx="10791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STEL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73" name="자유형 172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4" name="그림 17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75" name="TextBox 174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grpSp>
        <p:nvGrpSpPr>
          <p:cNvPr id="176" name="그룹 175"/>
          <p:cNvGrpSpPr/>
          <p:nvPr/>
        </p:nvGrpSpPr>
        <p:grpSpPr>
          <a:xfrm>
            <a:off x="10145216" y="8713621"/>
            <a:ext cx="2396719" cy="551475"/>
            <a:chOff x="7173169" y="3413227"/>
            <a:chExt cx="2396719" cy="551475"/>
          </a:xfrm>
        </p:grpSpPr>
        <p:sp>
          <p:nvSpPr>
            <p:cNvPr id="177" name="모서리가 둥근 직사각형 176"/>
            <p:cNvSpPr/>
            <p:nvPr/>
          </p:nvSpPr>
          <p:spPr>
            <a:xfrm>
              <a:off x="7176029" y="3413227"/>
              <a:ext cx="2393859" cy="543716"/>
            </a:xfrm>
            <a:prstGeom prst="roundRect">
              <a:avLst>
                <a:gd name="adj" fmla="val 9429"/>
              </a:avLst>
            </a:pr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7670572" y="3436211"/>
              <a:ext cx="11144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작업자 </a:t>
              </a:r>
              <a:r>
                <a:rPr lang="en-US" altLang="ko-KR" sz="800" b="1" dirty="0">
                  <a:latin typeface="+mn-ea"/>
                </a:rPr>
                <a:t>TWA </a:t>
              </a:r>
              <a:r>
                <a:rPr lang="ko-KR" altLang="en-US" sz="800" b="1">
                  <a:latin typeface="+mn-ea"/>
                </a:rPr>
                <a:t>위험</a:t>
              </a:r>
              <a:endParaRPr lang="en-US" altLang="ko-KR" sz="800" b="1" dirty="0">
                <a:latin typeface="+mn-ea"/>
              </a:endParaRPr>
            </a:p>
            <a:p>
              <a:r>
                <a:rPr lang="ko-KR" altLang="en-US" sz="800" dirty="0">
                  <a:latin typeface="+mn-ea"/>
                </a:rPr>
                <a:t>홍길동 특수 작업자</a:t>
              </a:r>
              <a:endParaRPr lang="en-US" altLang="ko-KR" sz="800" dirty="0">
                <a:latin typeface="+mn-ea"/>
              </a:endParaRP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8951457" y="3480049"/>
              <a:ext cx="5533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ko-KR" sz="600" dirty="0">
                  <a:latin typeface="+mn-ea"/>
                </a:rPr>
                <a:t>0000.00.00</a:t>
              </a:r>
            </a:p>
            <a:p>
              <a:pPr algn="r"/>
              <a:r>
                <a:rPr lang="en-US" altLang="ko-KR" sz="600" dirty="0">
                  <a:latin typeface="+mn-ea"/>
                </a:rPr>
                <a:t>14:32:30</a:t>
              </a:r>
              <a:endParaRPr lang="ko-KR" altLang="en-US" sz="200" dirty="0">
                <a:latin typeface="+mn-ea"/>
              </a:endParaRP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7670572" y="3761120"/>
              <a:ext cx="1011815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latin typeface="+mn-ea"/>
                </a:rPr>
                <a:t>[</a:t>
              </a:r>
              <a:r>
                <a:rPr lang="ko-KR" altLang="en-US" sz="600">
                  <a:latin typeface="+mn-ea"/>
                </a:rPr>
                <a:t>제 </a:t>
              </a:r>
              <a:r>
                <a:rPr lang="en-US" altLang="ko-KR" sz="600" dirty="0">
                  <a:latin typeface="+mn-ea"/>
                </a:rPr>
                <a:t>1</a:t>
              </a:r>
              <a:r>
                <a:rPr lang="ko-KR" altLang="en-US" sz="600">
                  <a:latin typeface="+mn-ea"/>
                </a:rPr>
                <a:t>공장</a:t>
              </a:r>
              <a:r>
                <a:rPr lang="en-US" altLang="ko-KR" sz="600" dirty="0">
                  <a:latin typeface="+mn-ea"/>
                </a:rPr>
                <a:t>] 1</a:t>
              </a:r>
              <a:r>
                <a:rPr lang="ko-KR" altLang="en-US" sz="600">
                  <a:latin typeface="+mn-ea"/>
                </a:rPr>
                <a:t>층 </a:t>
              </a:r>
              <a:r>
                <a:rPr lang="en-US" altLang="ko-KR" sz="600" dirty="0">
                  <a:latin typeface="+mn-ea"/>
                </a:rPr>
                <a:t>A-1 </a:t>
              </a:r>
              <a:r>
                <a:rPr lang="ko-KR" altLang="en-US" sz="600">
                  <a:latin typeface="+mn-ea"/>
                </a:rPr>
                <a:t>구역</a:t>
              </a:r>
            </a:p>
          </p:txBody>
        </p:sp>
        <p:sp>
          <p:nvSpPr>
            <p:cNvPr id="181" name="자유형 180"/>
            <p:cNvSpPr/>
            <p:nvPr/>
          </p:nvSpPr>
          <p:spPr>
            <a:xfrm>
              <a:off x="7173169" y="3413227"/>
              <a:ext cx="454930" cy="543716"/>
            </a:xfrm>
            <a:custGeom>
              <a:avLst/>
              <a:gdLst>
                <a:gd name="connsiteX0" fmla="*/ 98114 w 800232"/>
                <a:gd name="connsiteY0" fmla="*/ 0 h 1040555"/>
                <a:gd name="connsiteX1" fmla="*/ 800232 w 800232"/>
                <a:gd name="connsiteY1" fmla="*/ 0 h 1040555"/>
                <a:gd name="connsiteX2" fmla="*/ 800232 w 800232"/>
                <a:gd name="connsiteY2" fmla="*/ 1040555 h 1040555"/>
                <a:gd name="connsiteX3" fmla="*/ 98114 w 800232"/>
                <a:gd name="connsiteY3" fmla="*/ 1040555 h 1040555"/>
                <a:gd name="connsiteX4" fmla="*/ 0 w 800232"/>
                <a:gd name="connsiteY4" fmla="*/ 942441 h 1040555"/>
                <a:gd name="connsiteX5" fmla="*/ 0 w 800232"/>
                <a:gd name="connsiteY5" fmla="*/ 98114 h 1040555"/>
                <a:gd name="connsiteX6" fmla="*/ 98114 w 800232"/>
                <a:gd name="connsiteY6" fmla="*/ 0 h 104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232" h="1040555">
                  <a:moveTo>
                    <a:pt x="98114" y="0"/>
                  </a:moveTo>
                  <a:lnTo>
                    <a:pt x="800232" y="0"/>
                  </a:lnTo>
                  <a:lnTo>
                    <a:pt x="800232" y="1040555"/>
                  </a:lnTo>
                  <a:lnTo>
                    <a:pt x="98114" y="1040555"/>
                  </a:lnTo>
                  <a:cubicBezTo>
                    <a:pt x="43927" y="1040555"/>
                    <a:pt x="0" y="996628"/>
                    <a:pt x="0" y="942441"/>
                  </a:cubicBezTo>
                  <a:lnTo>
                    <a:pt x="0" y="98114"/>
                  </a:lnTo>
                  <a:cubicBezTo>
                    <a:pt x="0" y="43927"/>
                    <a:pt x="43927" y="0"/>
                    <a:pt x="98114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b"/>
            <a:lstStyle/>
            <a:p>
              <a:pPr algn="ctr"/>
              <a:endParaRPr lang="ko-KR" altLang="en-US" sz="600" b="1" dirty="0" err="1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2" name="그림 18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45391" y="3555002"/>
              <a:ext cx="310487" cy="255783"/>
            </a:xfrm>
            <a:prstGeom prst="rect">
              <a:avLst/>
            </a:prstGeom>
          </p:spPr>
        </p:pic>
        <p:sp>
          <p:nvSpPr>
            <p:cNvPr id="183" name="TextBox 182"/>
            <p:cNvSpPr txBox="1"/>
            <p:nvPr/>
          </p:nvSpPr>
          <p:spPr>
            <a:xfrm>
              <a:off x="8981302" y="3764647"/>
              <a:ext cx="575799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700" dirty="0"/>
                <a:t>조치 완료</a:t>
              </a:r>
              <a:endParaRPr lang="ko-KR" altLang="en-US" sz="300" dirty="0"/>
            </a:p>
          </p:txBody>
        </p:sp>
      </p:grpSp>
      <p:sp>
        <p:nvSpPr>
          <p:cNvPr id="184" name="모서리가 둥근 직사각형 183"/>
          <p:cNvSpPr/>
          <p:nvPr/>
        </p:nvSpPr>
        <p:spPr>
          <a:xfrm>
            <a:off x="10146645" y="8697926"/>
            <a:ext cx="2396719" cy="567010"/>
          </a:xfrm>
          <a:prstGeom prst="roundRect">
            <a:avLst>
              <a:gd name="adj" fmla="val 9429"/>
            </a:avLst>
          </a:prstGeom>
          <a:solidFill>
            <a:schemeClr val="bg1">
              <a:alpha val="0"/>
            </a:schemeClr>
          </a:solidFill>
          <a:ln w="28575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72000" rtlCol="0" anchor="b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86" name="직사각형 185"/>
          <p:cNvSpPr/>
          <p:nvPr/>
        </p:nvSpPr>
        <p:spPr>
          <a:xfrm>
            <a:off x="7126272" y="120081"/>
            <a:ext cx="330264" cy="42607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6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7198851" y="255306"/>
            <a:ext cx="182892" cy="155619"/>
          </a:xfrm>
          <a:prstGeom prst="roundRect">
            <a:avLst>
              <a:gd name="adj" fmla="val 37121"/>
            </a:avLst>
          </a:prstGeom>
          <a:solidFill>
            <a:srgbClr val="FF604F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3" name="표 19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2082772"/>
              </p:ext>
            </p:extLst>
          </p:nvPr>
        </p:nvGraphicFramePr>
        <p:xfrm>
          <a:off x="10633534" y="1272208"/>
          <a:ext cx="2088232" cy="261647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 담당자에게 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조치완료 로 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어떤 가스의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TWA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수치에 변동이 발생되었는지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일산화탄소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또는 황화수소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STEL : 15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분간의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TWA : 8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시간동안 가스노출 수치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95" name="모서리가 둥근 직사각형 194"/>
          <p:cNvSpPr/>
          <p:nvPr/>
        </p:nvSpPr>
        <p:spPr>
          <a:xfrm>
            <a:off x="11157105" y="2648289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조치 내용 보기</a:t>
            </a:r>
          </a:p>
        </p:txBody>
      </p:sp>
      <p:sp>
        <p:nvSpPr>
          <p:cNvPr id="196" name="모서리가 둥근 직사각형 195"/>
          <p:cNvSpPr/>
          <p:nvPr/>
        </p:nvSpPr>
        <p:spPr>
          <a:xfrm>
            <a:off x="11157105" y="1951023"/>
            <a:ext cx="1481947" cy="208095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 담당자에게 알림</a:t>
            </a:r>
          </a:p>
        </p:txBody>
      </p:sp>
      <p:sp>
        <p:nvSpPr>
          <p:cNvPr id="197" name="아래쪽 화살표 196"/>
          <p:cNvSpPr/>
          <p:nvPr/>
        </p:nvSpPr>
        <p:spPr>
          <a:xfrm>
            <a:off x="11081320" y="2333702"/>
            <a:ext cx="1633515" cy="212844"/>
          </a:xfrm>
          <a:prstGeom prst="downArrow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조치 완료되면</a:t>
            </a:r>
            <a:endParaRPr lang="en-US" altLang="ko-KR" sz="5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500" dirty="0">
                <a:solidFill>
                  <a:schemeClr val="tx1"/>
                </a:solidFill>
                <a:latin typeface="+mn-ea"/>
              </a:rPr>
              <a:t>버튼이 변경됨</a:t>
            </a:r>
          </a:p>
        </p:txBody>
      </p:sp>
      <p:sp>
        <p:nvSpPr>
          <p:cNvPr id="188" name="직사각형 187"/>
          <p:cNvSpPr/>
          <p:nvPr/>
        </p:nvSpPr>
        <p:spPr>
          <a:xfrm>
            <a:off x="1485406" y="1219919"/>
            <a:ext cx="4255066" cy="788010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 err="1">
              <a:solidFill>
                <a:schemeClr val="tx1"/>
              </a:solidFill>
            </a:endParaRPr>
          </a:p>
        </p:txBody>
      </p:sp>
      <p:sp>
        <p:nvSpPr>
          <p:cNvPr id="189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5298092" y="1387838"/>
            <a:ext cx="324000" cy="324000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190" name="모서리가 둥근 직사각형 189"/>
          <p:cNvSpPr/>
          <p:nvPr/>
        </p:nvSpPr>
        <p:spPr>
          <a:xfrm>
            <a:off x="3700096" y="5419796"/>
            <a:ext cx="1886431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경로안내</a:t>
            </a:r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604725" y="5419796"/>
            <a:ext cx="1863638" cy="486946"/>
          </a:xfrm>
          <a:prstGeom prst="roundRect">
            <a:avLst>
              <a:gd name="adj" fmla="val 11509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  <a:effectLst>
            <a:outerShdw dist="25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</a:rPr>
              <a:t>지도 보기</a:t>
            </a:r>
          </a:p>
        </p:txBody>
      </p:sp>
      <p:sp>
        <p:nvSpPr>
          <p:cNvPr id="201" name="모서리가 둥근 직사각형 200"/>
          <p:cNvSpPr/>
          <p:nvPr/>
        </p:nvSpPr>
        <p:spPr>
          <a:xfrm>
            <a:off x="1604724" y="4834879"/>
            <a:ext cx="3981803" cy="513934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</a:rPr>
              <a:t>현장 담당자에게 알림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397065" y="2504278"/>
            <a:ext cx="4487126" cy="20774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[</a:t>
            </a:r>
            <a:r>
              <a:rPr lang="ko-KR" altLang="en-US" sz="1800" b="1">
                <a:latin typeface="+mj-ea"/>
                <a:ea typeface="+mj-ea"/>
              </a:rPr>
              <a:t>홍길동</a:t>
            </a:r>
            <a:r>
              <a:rPr lang="ko-KR" altLang="en-US" sz="1800" b="1">
                <a:solidFill>
                  <a:schemeClr val="bg1">
                    <a:lumMod val="65000"/>
                  </a:schemeClr>
                </a:solidFill>
                <a:latin typeface="+mj-ea"/>
                <a:ea typeface="+mj-ea"/>
              </a:rPr>
              <a:t> 님 </a:t>
            </a:r>
            <a:r>
              <a:rPr lang="ko-KR" altLang="en-US" sz="1800" b="1">
                <a:latin typeface="+mj-ea"/>
                <a:ea typeface="+mj-ea"/>
              </a:rPr>
              <a:t>제</a:t>
            </a:r>
            <a:r>
              <a:rPr lang="en-US" altLang="ko-KR" sz="1800" b="1" dirty="0">
                <a:latin typeface="+mj-ea"/>
                <a:ea typeface="+mj-ea"/>
              </a:rPr>
              <a:t>1</a:t>
            </a:r>
            <a:r>
              <a:rPr lang="ko-KR" altLang="en-US" sz="1800" b="1">
                <a:latin typeface="+mj-ea"/>
                <a:ea typeface="+mj-ea"/>
              </a:rPr>
              <a:t>공장 </a:t>
            </a:r>
            <a:r>
              <a:rPr lang="en-US" altLang="ko-KR" sz="1800" b="1" dirty="0">
                <a:latin typeface="+mj-ea"/>
                <a:ea typeface="+mj-ea"/>
              </a:rPr>
              <a:t>5 </a:t>
            </a:r>
            <a:r>
              <a:rPr lang="ko-KR" altLang="en-US" sz="1800" b="1">
                <a:latin typeface="+mj-ea"/>
                <a:ea typeface="+mj-ea"/>
              </a:rPr>
              <a:t>층 </a:t>
            </a:r>
            <a:r>
              <a:rPr lang="en-US" altLang="ko-KR" sz="1800" b="1" dirty="0">
                <a:latin typeface="+mj-ea"/>
                <a:ea typeface="+mj-ea"/>
              </a:rPr>
              <a:t>E-3]</a:t>
            </a: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8</a:t>
            </a:r>
            <a:r>
              <a:rPr lang="ko-KR" altLang="en-US" sz="1800" b="1">
                <a:latin typeface="+mj-ea"/>
                <a:ea typeface="+mj-ea"/>
              </a:rPr>
              <a:t>시간 동안 </a:t>
            </a:r>
            <a:r>
              <a:rPr lang="ko-KR" altLang="en-US" sz="1800" b="1">
                <a:solidFill>
                  <a:srgbClr val="FF0000"/>
                </a:solidFill>
                <a:latin typeface="+mj-ea"/>
                <a:ea typeface="+mj-ea"/>
              </a:rPr>
              <a:t>일산화탄소</a:t>
            </a:r>
            <a:r>
              <a:rPr lang="ko-KR" altLang="en-US" sz="1800" b="1">
                <a:latin typeface="+mj-ea"/>
                <a:ea typeface="+mj-ea"/>
              </a:rPr>
              <a:t>에 </a:t>
            </a:r>
            <a:r>
              <a:rPr lang="ko-KR" altLang="en-US" sz="1800" b="1" dirty="0">
                <a:latin typeface="+mj-ea"/>
                <a:ea typeface="+mj-ea"/>
              </a:rPr>
              <a:t>누출되었습니다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800" b="1" dirty="0">
                <a:latin typeface="+mj-ea"/>
                <a:ea typeface="+mj-ea"/>
              </a:rPr>
              <a:t>TWA </a:t>
            </a:r>
            <a:r>
              <a:rPr lang="ko-KR" altLang="en-US" sz="1800" b="1" dirty="0">
                <a:latin typeface="+mj-ea"/>
                <a:ea typeface="+mj-ea"/>
              </a:rPr>
              <a:t>위험</a:t>
            </a:r>
            <a:endParaRPr lang="en-US" altLang="ko-KR" sz="1800" b="1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작업자의 작업을 중단하고</a:t>
            </a:r>
            <a:endParaRPr lang="en-US" altLang="ko-KR" sz="1600" dirty="0">
              <a:latin typeface="+mj-ea"/>
              <a:ea typeface="+mj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600" dirty="0">
                <a:latin typeface="+mj-ea"/>
                <a:ea typeface="+mj-ea"/>
              </a:rPr>
              <a:t>휴식을 취하도록 하세요</a:t>
            </a:r>
            <a:r>
              <a:rPr lang="en-US" altLang="ko-KR" sz="1600" dirty="0">
                <a:latin typeface="+mj-ea"/>
                <a:ea typeface="+mj-ea"/>
              </a:rPr>
              <a:t>.</a:t>
            </a:r>
          </a:p>
        </p:txBody>
      </p:sp>
      <p:cxnSp>
        <p:nvCxnSpPr>
          <p:cNvPr id="203" name="직선 연결선 202"/>
          <p:cNvCxnSpPr/>
          <p:nvPr/>
        </p:nvCxnSpPr>
        <p:spPr>
          <a:xfrm>
            <a:off x="1504669" y="6186102"/>
            <a:ext cx="4212000" cy="0"/>
          </a:xfrm>
          <a:prstGeom prst="line">
            <a:avLst/>
          </a:prstGeom>
          <a:ln w="76200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직사각형 203"/>
          <p:cNvSpPr/>
          <p:nvPr/>
        </p:nvSpPr>
        <p:spPr>
          <a:xfrm>
            <a:off x="1485407" y="1660585"/>
            <a:ext cx="4166046" cy="663324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2800" b="1">
                <a:solidFill>
                  <a:srgbClr val="FF0000"/>
                </a:solidFill>
              </a:rPr>
              <a:t>작업자 </a:t>
            </a:r>
            <a:r>
              <a:rPr lang="en-US" altLang="ko-KR" sz="2800" b="1" dirty="0">
                <a:solidFill>
                  <a:srgbClr val="FF0000"/>
                </a:solidFill>
              </a:rPr>
              <a:t>TWA </a:t>
            </a:r>
            <a:r>
              <a:rPr lang="ko-KR" altLang="en-US" sz="2800" b="1" dirty="0">
                <a:solidFill>
                  <a:srgbClr val="FF0000"/>
                </a:solidFill>
              </a:rPr>
              <a:t>위험</a:t>
            </a:r>
          </a:p>
        </p:txBody>
      </p:sp>
      <p:sp>
        <p:nvSpPr>
          <p:cNvPr id="205" name="직사각형 204"/>
          <p:cNvSpPr/>
          <p:nvPr/>
        </p:nvSpPr>
        <p:spPr>
          <a:xfrm>
            <a:off x="2545953" y="49818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06" name="직사각형 205"/>
          <p:cNvSpPr/>
          <p:nvPr/>
        </p:nvSpPr>
        <p:spPr>
          <a:xfrm>
            <a:off x="3015453" y="289145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07" name="그룹 206"/>
          <p:cNvGrpSpPr/>
          <p:nvPr/>
        </p:nvGrpSpPr>
        <p:grpSpPr>
          <a:xfrm>
            <a:off x="1637719" y="6835760"/>
            <a:ext cx="3979616" cy="2083404"/>
            <a:chOff x="722532" y="6113928"/>
            <a:chExt cx="3979616" cy="2083404"/>
          </a:xfrm>
        </p:grpSpPr>
        <p:grpSp>
          <p:nvGrpSpPr>
            <p:cNvPr id="208" name="그룹 207"/>
            <p:cNvGrpSpPr/>
            <p:nvPr/>
          </p:nvGrpSpPr>
          <p:grpSpPr>
            <a:xfrm>
              <a:off x="830106" y="6249373"/>
              <a:ext cx="3500840" cy="1883769"/>
              <a:chOff x="5891181" y="3087144"/>
              <a:chExt cx="4486928" cy="2414375"/>
            </a:xfrm>
          </p:grpSpPr>
          <p:grpSp>
            <p:nvGrpSpPr>
              <p:cNvPr id="210" name="그룹 209"/>
              <p:cNvGrpSpPr/>
              <p:nvPr/>
            </p:nvGrpSpPr>
            <p:grpSpPr>
              <a:xfrm>
                <a:off x="5952469" y="3087144"/>
                <a:ext cx="1440160" cy="1397875"/>
                <a:chOff x="7962299" y="2617527"/>
                <a:chExt cx="622093" cy="646131"/>
              </a:xfrm>
            </p:grpSpPr>
            <p:sp>
              <p:nvSpPr>
                <p:cNvPr id="214" name="직사각형 213"/>
                <p:cNvSpPr/>
                <p:nvPr/>
              </p:nvSpPr>
              <p:spPr>
                <a:xfrm>
                  <a:off x="7962299" y="2617527"/>
                  <a:ext cx="622093" cy="6461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600" dirty="0" err="1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15" name="그림 214"/>
                <p:cNvPicPr>
                  <a:picLocks noChangeAspect="1"/>
                </p:cNvPicPr>
                <p:nvPr/>
              </p:nvPicPr>
              <p:blipFill>
                <a:blip r:embed="rId15" cstate="print">
                  <a:lum bright="70000" contrast="-70000"/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06450" y="2727225"/>
                  <a:ext cx="535839" cy="535839"/>
                </a:xfrm>
                <a:prstGeom prst="rect">
                  <a:avLst/>
                </a:prstGeom>
              </p:spPr>
            </p:pic>
          </p:grpSp>
          <p:sp>
            <p:nvSpPr>
              <p:cNvPr id="211" name="TextBox 210"/>
              <p:cNvSpPr txBox="1"/>
              <p:nvPr/>
            </p:nvSpPr>
            <p:spPr>
              <a:xfrm>
                <a:off x="5891181" y="4732305"/>
                <a:ext cx="3887571" cy="7692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      속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000 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소속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안전밴드 </a:t>
                </a:r>
                <a:r>
                  <a:rPr lang="ko-KR" altLang="en-US" sz="1100" dirty="0" err="1">
                    <a:latin typeface="+mn-ea"/>
                    <a:sym typeface="Wingdings" panose="05000000000000000000" pitchFamily="2" charset="2"/>
                  </a:rPr>
                  <a:t>착용일시</a:t>
                </a:r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 </a:t>
                </a:r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: YYYY-MM-DD </a:t>
                </a:r>
                <a:r>
                  <a:rPr lang="en-US" altLang="ko-KR" sz="1100" dirty="0" err="1">
                    <a:latin typeface="+mn-ea"/>
                    <a:sym typeface="Wingdings" panose="05000000000000000000" pitchFamily="2" charset="2"/>
                  </a:rPr>
                  <a:t>hh:mm:ss</a:t>
                </a:r>
                <a:endParaRPr lang="en-US" altLang="ko-KR" sz="1100" dirty="0">
                  <a:latin typeface="+mn-ea"/>
                  <a:sym typeface="Wingdings" panose="05000000000000000000" pitchFamily="2" charset="2"/>
                </a:endParaRPr>
              </a:p>
              <a:p>
                <a:r>
                  <a:rPr lang="en-US" altLang="ko-KR" sz="1100" dirty="0">
                    <a:latin typeface="+mn-ea"/>
                    <a:sym typeface="Wingdings" panose="05000000000000000000" pitchFamily="2" charset="2"/>
                  </a:rPr>
                  <a:t>MAC : </a:t>
                </a:r>
                <a:r>
                  <a:rPr lang="en-US" altLang="ko-KR" sz="1100" dirty="0" err="1">
                    <a:solidFill>
                      <a:srgbClr val="00B0F0"/>
                    </a:solidFill>
                    <a:latin typeface="+mn-ea"/>
                    <a:sym typeface="Wingdings" panose="05000000000000000000" pitchFamily="2" charset="2"/>
                  </a:rPr>
                  <a:t>XXXXXXXXXXXXXx</a:t>
                </a:r>
                <a:endParaRPr lang="ko-KR" altLang="en-US" sz="1100" dirty="0">
                  <a:solidFill>
                    <a:srgbClr val="00B0F0"/>
                  </a:solidFill>
                  <a:latin typeface="+mn-ea"/>
                  <a:sym typeface="Wingdings" panose="05000000000000000000" pitchFamily="2" charset="2"/>
                </a:endParaRPr>
              </a:p>
            </p:txBody>
          </p:sp>
          <p:sp>
            <p:nvSpPr>
              <p:cNvPr id="212" name="TextBox 211"/>
              <p:cNvSpPr txBox="1"/>
              <p:nvPr/>
            </p:nvSpPr>
            <p:spPr>
              <a:xfrm>
                <a:off x="7408911" y="3120233"/>
                <a:ext cx="2969198" cy="6705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600" b="1" dirty="0">
                    <a:latin typeface="+mn-ea"/>
                    <a:sym typeface="Wingdings" panose="05000000000000000000" pitchFamily="2" charset="2"/>
                  </a:rPr>
                  <a:t>김태호</a:t>
                </a:r>
                <a:r>
                  <a:rPr lang="en-US" altLang="ko-KR" sz="1600" b="1" dirty="0">
                    <a:latin typeface="+mn-ea"/>
                    <a:sym typeface="Wingdings" panose="05000000000000000000" pitchFamily="2" charset="2"/>
                  </a:rPr>
                  <a:t>(YYYY-MM-DD)</a:t>
                </a:r>
              </a:p>
              <a:p>
                <a:r>
                  <a:rPr lang="ko-KR" altLang="en-US" sz="1100" dirty="0">
                    <a:latin typeface="+mn-ea"/>
                    <a:sym typeface="Wingdings" panose="05000000000000000000" pitchFamily="2" charset="2"/>
                  </a:rPr>
                  <a:t>일반구역 출입자</a:t>
                </a:r>
              </a:p>
            </p:txBody>
          </p:sp>
          <p:sp>
            <p:nvSpPr>
              <p:cNvPr id="213" name="TextBox 212"/>
              <p:cNvSpPr txBox="1"/>
              <p:nvPr/>
            </p:nvSpPr>
            <p:spPr>
              <a:xfrm>
                <a:off x="7442367" y="3741070"/>
                <a:ext cx="1600885" cy="79880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050" b="1" dirty="0">
                    <a:latin typeface="+mn-ea"/>
                    <a:sym typeface="Wingdings" panose="05000000000000000000" pitchFamily="2" charset="2"/>
                  </a:rPr>
                  <a:t>현위치</a:t>
                </a:r>
                <a:br>
                  <a:rPr lang="en-US" altLang="ko-KR" sz="1050" b="1" dirty="0">
                    <a:latin typeface="+mn-ea"/>
                    <a:sym typeface="Wingdings" panose="05000000000000000000" pitchFamily="2" charset="2"/>
                  </a:rPr>
                </a:b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5</a:t>
                </a:r>
                <a:r>
                  <a:rPr lang="ko-KR" altLang="en-US" sz="2400" b="1" dirty="0">
                    <a:latin typeface="+mn-ea"/>
                    <a:sym typeface="Wingdings" panose="05000000000000000000" pitchFamily="2" charset="2"/>
                  </a:rPr>
                  <a:t>층 </a:t>
                </a:r>
                <a:r>
                  <a:rPr lang="en-US" altLang="ko-KR" sz="2400" b="1" dirty="0">
                    <a:latin typeface="+mn-ea"/>
                    <a:sym typeface="Wingdings" panose="05000000000000000000" pitchFamily="2" charset="2"/>
                  </a:rPr>
                  <a:t>E-3</a:t>
                </a:r>
                <a:endParaRPr lang="ko-KR" altLang="en-US" sz="2400" b="1" dirty="0">
                  <a:latin typeface="+mn-ea"/>
                  <a:sym typeface="Wingdings" panose="05000000000000000000" pitchFamily="2" charset="2"/>
                </a:endParaRPr>
              </a:p>
            </p:txBody>
          </p:sp>
        </p:grpSp>
        <p:sp>
          <p:nvSpPr>
            <p:cNvPr id="209" name="직사각형 208"/>
            <p:cNvSpPr/>
            <p:nvPr/>
          </p:nvSpPr>
          <p:spPr>
            <a:xfrm>
              <a:off x="722532" y="6113928"/>
              <a:ext cx="3979616" cy="208340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6" name="TextBox 215"/>
          <p:cNvSpPr txBox="1"/>
          <p:nvPr/>
        </p:nvSpPr>
        <p:spPr>
          <a:xfrm>
            <a:off x="1539992" y="6305494"/>
            <a:ext cx="1257075" cy="33855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작업자 정보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0490569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691376"/>
              </p:ext>
            </p:extLst>
          </p:nvPr>
        </p:nvGraphicFramePr>
        <p:xfrm>
          <a:off x="568152" y="696144"/>
          <a:ext cx="8352927" cy="83529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5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5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26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596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96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1788">
                <a:tc gridSpan="3">
                  <a:txBody>
                    <a:bodyPr/>
                    <a:lstStyle/>
                    <a:p>
                      <a:pPr algn="l" fontAlgn="ctr"/>
                      <a:r>
                        <a:rPr lang="en-US" altLang="ko-KR" sz="2200" u="none" strike="noStrike" dirty="0">
                          <a:effectLst/>
                        </a:rPr>
                        <a:t>[</a:t>
                      </a:r>
                      <a:r>
                        <a:rPr lang="ko-KR" altLang="en-US" sz="2200" u="none" strike="noStrike" dirty="0">
                          <a:effectLst/>
                        </a:rPr>
                        <a:t>가스센서</a:t>
                      </a:r>
                      <a:r>
                        <a:rPr lang="en-US" altLang="ko-KR" sz="2200" u="none" strike="noStrike" dirty="0">
                          <a:effectLst/>
                        </a:rPr>
                        <a:t>]</a:t>
                      </a:r>
                      <a:r>
                        <a:rPr lang="en-US" sz="2200" u="none" strike="noStrike" dirty="0">
                          <a:effectLst/>
                        </a:rPr>
                        <a:t> alarm levels</a:t>
                      </a:r>
                      <a:endParaRPr lang="en-US" sz="22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648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O2 (%)</a:t>
                      </a:r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수치</a:t>
                      </a:r>
                      <a:endParaRPr lang="ko-KR" alt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Field Manager)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Monitoring)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effectLst/>
                        </a:rPr>
                        <a:t>23.5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산소 </a:t>
                      </a:r>
                      <a:r>
                        <a:rPr lang="en-US" altLang="ko-KR" sz="1100" u="none" strike="noStrike" dirty="0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18 </a:t>
                      </a:r>
                      <a:r>
                        <a:rPr lang="ko-KR" altLang="en-US" sz="1100" u="none" strike="noStrike">
                          <a:effectLst/>
                        </a:rPr>
                        <a:t>이하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위험합니다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위험합니다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위험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17 </a:t>
                      </a:r>
                      <a:r>
                        <a:rPr lang="ko-KR" altLang="en-US" sz="1100" u="none" strike="noStrike">
                          <a:effectLst/>
                        </a:rPr>
                        <a:t>이하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산소 </a:t>
                      </a:r>
                      <a:r>
                        <a:rPr lang="en-US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STEL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TWA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CO (ppm)</a:t>
                      </a:r>
                      <a:endParaRPr 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수치</a:t>
                      </a:r>
                      <a:endParaRPr lang="ko-KR" alt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Field Manager)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Monitoring)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30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Xppm</a:t>
                      </a:r>
                      <a:r>
                        <a:rPr lang="en-US" altLang="ko-KR" sz="1100" u="none" strike="noStrike" dirty="0">
                          <a:effectLst/>
                        </a:rPr>
                        <a:t>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200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effectLst/>
                        </a:rPr>
                        <a:t>N/A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STEL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200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TWA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30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H2S (ppm)</a:t>
                      </a:r>
                      <a:endParaRPr 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수치</a:t>
                      </a:r>
                      <a:endParaRPr lang="ko-KR" alt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Field Manager)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Monitoring)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Xppm</a:t>
                      </a:r>
                      <a:r>
                        <a:rPr lang="en-US" altLang="ko-KR" sz="1100" u="none" strike="noStrike" dirty="0">
                          <a:effectLst/>
                        </a:rPr>
                        <a:t>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황화수소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Xppm</a:t>
                      </a:r>
                      <a:r>
                        <a:rPr lang="en-US" altLang="ko-KR" sz="1100" u="none" strike="noStrike" dirty="0">
                          <a:effectLst/>
                        </a:rPr>
                        <a:t> </a:t>
                      </a:r>
                      <a:r>
                        <a:rPr lang="ko-KR" altLang="en-US" sz="1100" u="none" strike="noStrike">
                          <a:effectLst/>
                        </a:rPr>
                        <a:t>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15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STEL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15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TWA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황화수소 </a:t>
                      </a:r>
                      <a:r>
                        <a:rPr lang="en-US" altLang="ko-KR" sz="1100" u="none" strike="noStrike">
                          <a:effectLst/>
                        </a:rPr>
                        <a:t>Xppm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CH4 (%)</a:t>
                      </a:r>
                      <a:endParaRPr 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수치</a:t>
                      </a:r>
                      <a:endParaRPr lang="ko-KR" alt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Field Manager)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Monitoring)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10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20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altLang="ko-KR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대피하세요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메탄 </a:t>
                      </a:r>
                      <a:r>
                        <a:rPr lang="en-US" sz="1100" u="none" strike="noStrike">
                          <a:effectLst/>
                        </a:rPr>
                        <a:t>X% </a:t>
                      </a:r>
                      <a:r>
                        <a:rPr lang="ko-KR" altLang="en-US" sz="1100" u="none" strike="noStrike">
                          <a:effectLst/>
                        </a:rPr>
                        <a:t>대피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3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STEL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522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TWA 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N/A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effectLst/>
                        </a:rPr>
                        <a:t>N/A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933" marR="6933" marT="6933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144027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5091696"/>
              </p:ext>
            </p:extLst>
          </p:nvPr>
        </p:nvGraphicFramePr>
        <p:xfrm>
          <a:off x="568152" y="696144"/>
          <a:ext cx="7632699" cy="15443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48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3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67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2425">
                <a:tc gridSpan="3">
                  <a:txBody>
                    <a:bodyPr/>
                    <a:lstStyle/>
                    <a:p>
                      <a:pPr algn="l" fontAlgn="ctr"/>
                      <a:r>
                        <a:rPr lang="ko-KR" altLang="en-US" sz="2200" u="none" strike="noStrike" dirty="0">
                          <a:effectLst/>
                        </a:rPr>
                        <a:t>풍속계 </a:t>
                      </a:r>
                      <a:r>
                        <a:rPr lang="en-US" sz="2200" u="none" strike="noStrike" dirty="0">
                          <a:effectLst/>
                        </a:rPr>
                        <a:t>alarm levels</a:t>
                      </a:r>
                      <a:endParaRPr lang="en-US" sz="22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m/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초</a:t>
                      </a:r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수치</a:t>
                      </a:r>
                      <a:endParaRPr lang="ko-KR" alt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Field Manager)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Monitoring)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ko-KR" altLang="en-US" sz="1100" u="none" strike="noStrike">
                          <a:effectLst/>
                        </a:rPr>
                        <a:t>전광판</a:t>
                      </a:r>
                      <a:r>
                        <a:rPr lang="en-US" altLang="ko-KR" sz="1100" u="none" strike="noStrike" dirty="0">
                          <a:effectLst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effectLst/>
                        </a:rPr>
                        <a:t>14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주의보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주의보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주의보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effectLst/>
                        </a:rPr>
                        <a:t>21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풍속 </a:t>
                      </a:r>
                      <a:r>
                        <a:rPr lang="en-US" altLang="ko-KR" sz="1100" u="none" strike="noStrike" dirty="0" err="1">
                          <a:effectLst/>
                        </a:rPr>
                        <a:t>Xm</a:t>
                      </a:r>
                      <a:r>
                        <a:rPr lang="en-US" altLang="ko-KR" sz="1100" u="none" strike="noStrike" dirty="0">
                          <a:effectLst/>
                        </a:rPr>
                        <a:t>/</a:t>
                      </a:r>
                      <a:r>
                        <a:rPr lang="ko-KR" altLang="en-US" sz="1100" u="none" strike="noStrike">
                          <a:effectLst/>
                        </a:rPr>
                        <a:t>초 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6838113"/>
              </p:ext>
            </p:extLst>
          </p:nvPr>
        </p:nvGraphicFramePr>
        <p:xfrm>
          <a:off x="568152" y="2928392"/>
          <a:ext cx="7632699" cy="2049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48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3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67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2425">
                <a:tc gridSpan="3">
                  <a:txBody>
                    <a:bodyPr/>
                    <a:lstStyle/>
                    <a:p>
                      <a:pPr algn="l" fontAlgn="ctr"/>
                      <a:r>
                        <a:rPr lang="ko-KR" altLang="en-US" sz="2200" u="none" strike="noStrike" dirty="0">
                          <a:effectLst/>
                        </a:rPr>
                        <a:t>온도계 </a:t>
                      </a:r>
                      <a:r>
                        <a:rPr lang="en-US" sz="2200" u="none" strike="noStrike" dirty="0">
                          <a:effectLst/>
                        </a:rPr>
                        <a:t>alarm levels</a:t>
                      </a:r>
                      <a:endParaRPr lang="en-US" sz="22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온도 </a:t>
                      </a:r>
                      <a:r>
                        <a:rPr lang="en-US" altLang="ko-KR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(</a:t>
                      </a:r>
                      <a:r>
                        <a:rPr 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ºC)</a:t>
                      </a:r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수치</a:t>
                      </a:r>
                      <a:endParaRPr lang="ko-KR" alt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Field Manager)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Monitoring)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ko-KR" altLang="en-US" sz="1100" u="none" strike="noStrike">
                          <a:effectLst/>
                        </a:rPr>
                        <a:t>전광판</a:t>
                      </a:r>
                      <a:r>
                        <a:rPr lang="en-US" altLang="ko-KR" sz="1100" u="none" strike="noStrike" dirty="0">
                          <a:effectLst/>
                        </a:rPr>
                        <a:t>)</a:t>
                      </a:r>
                      <a:endParaRPr lang="en-US" altLang="ko-KR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solidFill>
                            <a:schemeClr val="bg1"/>
                          </a:solidFill>
                          <a:effectLst/>
                        </a:rPr>
                        <a:t>1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 dirty="0">
                          <a:effectLst/>
                        </a:rPr>
                        <a:t>33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온도 </a:t>
                      </a:r>
                      <a:r>
                        <a:rPr lang="en-US" altLang="ko-KR" sz="1100" u="none" strike="noStrike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온도 </a:t>
                      </a:r>
                      <a:r>
                        <a:rPr lang="en-US" altLang="ko-KR" sz="1100" u="none" strike="noStrike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온도 </a:t>
                      </a:r>
                      <a:r>
                        <a:rPr lang="en-US" altLang="ko-KR" sz="1100" u="none" strike="noStrike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ko-KR" altLang="en-US" sz="1100" u="none" strike="noStrike">
                          <a:solidFill>
                            <a:schemeClr val="bg1"/>
                          </a:solidFill>
                          <a:effectLst/>
                        </a:rPr>
                        <a:t>차 경보</a:t>
                      </a:r>
                      <a:endParaRPr lang="ko-KR" altLang="en-US" sz="1100" b="0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u="none" strike="noStrike">
                          <a:effectLst/>
                        </a:rPr>
                        <a:t>35 </a:t>
                      </a:r>
                      <a:r>
                        <a:rPr lang="ko-KR" altLang="en-US" sz="1100" u="none" strike="noStrike">
                          <a:effectLst/>
                        </a:rPr>
                        <a:t>이상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온도 </a:t>
                      </a:r>
                      <a:r>
                        <a:rPr lang="en-US" altLang="ko-KR" sz="1100" u="none" strike="noStrike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폭염경보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1100" b="0" i="0" u="none" strike="noStrike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경보</a:t>
                      </a: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-12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이하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한파주의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한파주의보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한파주의보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1100" b="0" i="0" u="none" strike="noStrike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경보</a:t>
                      </a: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-15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이하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온도 </a:t>
                      </a:r>
                      <a:r>
                        <a:rPr lang="en-US" altLang="ko-KR" sz="1100" u="none" strike="noStrike" dirty="0">
                          <a:effectLst/>
                        </a:rPr>
                        <a:t>XºC </a:t>
                      </a:r>
                      <a:r>
                        <a:rPr lang="ko-KR" altLang="en-US" sz="1100" u="none" strike="noStrike">
                          <a:effectLst/>
                        </a:rPr>
                        <a:t>한파경보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0034604"/>
              </p:ext>
            </p:extLst>
          </p:nvPr>
        </p:nvGraphicFramePr>
        <p:xfrm>
          <a:off x="568152" y="5736704"/>
          <a:ext cx="7632699" cy="23025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48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3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670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73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2425">
                <a:tc gridSpan="3">
                  <a:txBody>
                    <a:bodyPr/>
                    <a:lstStyle/>
                    <a:p>
                      <a:pPr algn="l" fontAlgn="ctr"/>
                      <a:r>
                        <a:rPr lang="en-US" altLang="ko-KR" sz="2200" u="none" strike="noStrike" dirty="0">
                          <a:effectLst/>
                        </a:rPr>
                        <a:t>[</a:t>
                      </a:r>
                      <a:r>
                        <a:rPr lang="ko-KR" altLang="en-US" sz="22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2200" u="none" strike="noStrike" dirty="0">
                          <a:effectLst/>
                        </a:rPr>
                        <a:t>]</a:t>
                      </a:r>
                      <a:r>
                        <a:rPr lang="en-US" sz="2200" u="none" strike="noStrike" dirty="0">
                          <a:effectLst/>
                        </a:rPr>
                        <a:t> alarm levels</a:t>
                      </a:r>
                      <a:endParaRPr lang="en-US" sz="22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CO (ppm)</a:t>
                      </a:r>
                      <a:endParaRPr 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수치</a:t>
                      </a:r>
                      <a:endParaRPr lang="ko-KR" alt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Field Manager)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Monitoring)</a:t>
                      </a:r>
                      <a:endParaRPr 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 dirty="0">
                          <a:effectLst/>
                        </a:rPr>
                        <a:t>TBD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일산화탄소가 위험수치입니다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일산화탄소가 위험수치입니다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일산화탄소 위험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 err="1">
                          <a:effectLst/>
                        </a:rPr>
                        <a:t>심박수</a:t>
                      </a:r>
                      <a:r>
                        <a:rPr lang="ko-KR" altLang="en-US" sz="1100" u="none" strike="noStrike" dirty="0">
                          <a:effectLst/>
                        </a:rPr>
                        <a:t>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bpm)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수치</a:t>
                      </a:r>
                      <a:endParaRPr lang="ko-KR" altLang="en-US" sz="1100" b="0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Field Manager)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</a:t>
                      </a:r>
                      <a:r>
                        <a:rPr lang="en-US" sz="1100" u="none" strike="noStrike" dirty="0">
                          <a:effectLst/>
                        </a:rPr>
                        <a:t>Monitoring)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>
                          <a:effectLst/>
                        </a:rPr>
                        <a:t>메시지 </a:t>
                      </a:r>
                      <a:r>
                        <a:rPr lang="en-US" altLang="ko-KR" sz="1100" u="none" strike="noStrike" dirty="0">
                          <a:effectLst/>
                        </a:rPr>
                        <a:t>([</a:t>
                      </a:r>
                      <a:r>
                        <a:rPr lang="ko-KR" altLang="en-US" sz="1100" u="none" strike="noStrike" dirty="0">
                          <a:effectLst/>
                        </a:rPr>
                        <a:t>안전밴드</a:t>
                      </a:r>
                      <a:r>
                        <a:rPr lang="en-US" altLang="ko-KR" sz="1100" u="none" strike="noStrike" dirty="0">
                          <a:effectLst/>
                        </a:rPr>
                        <a:t>]</a:t>
                      </a:r>
                      <a:r>
                        <a:rPr lang="en-US" sz="1100" u="none" strike="noStrike" dirty="0">
                          <a:effectLst/>
                        </a:rPr>
                        <a:t>)</a:t>
                      </a:r>
                      <a:endParaRPr lang="en-US" sz="1100" b="0" i="0" u="none" strike="noStrike" dirty="0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273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1" u="none" strike="noStrike" dirty="0">
                          <a:solidFill>
                            <a:schemeClr val="bg1"/>
                          </a:solidFill>
                          <a:effectLst/>
                        </a:rPr>
                        <a:t>경보</a:t>
                      </a:r>
                      <a:endParaRPr lang="ko-KR" altLang="en-US" sz="11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u="none" strike="noStrike">
                          <a:effectLst/>
                        </a:rPr>
                        <a:t>TBD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심박수가 위험수치입니다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>
                          <a:effectLst/>
                        </a:rPr>
                        <a:t>심박수가 위험수치입니다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u="none" strike="noStrike" dirty="0" err="1">
                          <a:effectLst/>
                        </a:rPr>
                        <a:t>심박수</a:t>
                      </a:r>
                      <a:r>
                        <a:rPr lang="ko-KR" altLang="en-US" sz="1100" u="none" strike="noStrike" dirty="0">
                          <a:effectLst/>
                        </a:rPr>
                        <a:t> 위험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608539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AP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설치 현황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0252368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3" name="타원 2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" name="그림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5" name="그룹 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6" name="타원 5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sp>
        <p:nvSpPr>
          <p:cNvPr id="9" name="직사각형 8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543578" y="284015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11" name="직사각형 10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258422" y="284015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43578" y="4646173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258422" y="4646173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18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9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0" name="직사각형 19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43578" y="6658134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22" name="직사각형 21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258422" y="6658134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2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3847246"/>
              </p:ext>
            </p:extLst>
          </p:nvPr>
        </p:nvGraphicFramePr>
        <p:xfrm>
          <a:off x="2143777" y="2966209"/>
          <a:ext cx="7713407" cy="4869964"/>
        </p:xfrm>
        <a:graphic>
          <a:graphicData uri="http://schemas.openxmlformats.org/drawingml/2006/table">
            <a:tbl>
              <a:tblPr/>
              <a:tblGrid>
                <a:gridCol w="13216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16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16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259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224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31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명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MAC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동작상태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펌웨어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정상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1.101.44 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1.101.45</a:t>
                      </a:r>
                      <a:endParaRPr kumimoji="0" lang="ko-KR" altLang="en-US" sz="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6C0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다운로드 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843C0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970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정상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다운로드 완료</a:t>
                      </a:r>
                      <a:endParaRPr lang="en-US" altLang="ko-KR" sz="7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업데이트</a:t>
                      </a:r>
                      <a:endParaRPr lang="en-US" altLang="ko-KR" sz="1000" b="0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58E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9706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업데이트 중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F4E7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설치필요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32" name="직사각형 31"/>
          <p:cNvSpPr/>
          <p:nvPr/>
        </p:nvSpPr>
        <p:spPr>
          <a:xfrm>
            <a:off x="7840960" y="42357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7840303" y="583459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7840960" y="473509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2-2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5" name="직사각형 34"/>
          <p:cNvSpPr/>
          <p:nvPr/>
        </p:nvSpPr>
        <p:spPr>
          <a:xfrm>
            <a:off x="7840303" y="629754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3-2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8489032" y="673405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7" name="직사각형 36"/>
          <p:cNvSpPr/>
          <p:nvPr/>
        </p:nvSpPr>
        <p:spPr>
          <a:xfrm>
            <a:off x="6976864" y="286211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38" name="표 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454049"/>
              </p:ext>
            </p:extLst>
          </p:nvPr>
        </p:nvGraphicFramePr>
        <p:xfrm>
          <a:off x="10633534" y="1272208"/>
          <a:ext cx="2088232" cy="219502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업데이트 필요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정보 변경에 대한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다운로드 중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다운로드 완료되었고 업데이트가 필요하다는 메시지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업데이트 중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최신상태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부족으로 인해 연결이 끊어진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 필요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설치가 필요한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9" name="TextBox 38"/>
          <p:cNvSpPr txBox="1"/>
          <p:nvPr/>
        </p:nvSpPr>
        <p:spPr>
          <a:xfrm>
            <a:off x="2143777" y="2486746"/>
            <a:ext cx="2164054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[1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AP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설치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2296344" y="4176966"/>
            <a:ext cx="2448272" cy="360040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1" name="모서리가 둥근 사각형 설명선 40"/>
          <p:cNvSpPr/>
          <p:nvPr/>
        </p:nvSpPr>
        <p:spPr>
          <a:xfrm>
            <a:off x="3062070" y="3648472"/>
            <a:ext cx="1095053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43" name="직사각형 42"/>
          <p:cNvSpPr/>
          <p:nvPr/>
        </p:nvSpPr>
        <p:spPr>
          <a:xfrm>
            <a:off x="4912210" y="4176966"/>
            <a:ext cx="2448272" cy="360040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4" name="모서리가 둥근 사각형 설명선 43"/>
          <p:cNvSpPr/>
          <p:nvPr/>
        </p:nvSpPr>
        <p:spPr>
          <a:xfrm>
            <a:off x="5644883" y="3648472"/>
            <a:ext cx="1715600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032</a:t>
            </a:r>
          </a:p>
          <a:p>
            <a:pPr algn="ctr"/>
            <a:r>
              <a:rPr lang="en-US" altLang="ko-KR" sz="800" dirty="0"/>
              <a:t>AP </a:t>
            </a:r>
            <a:r>
              <a:rPr lang="ko-KR" altLang="en-US" sz="800"/>
              <a:t>상세정보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289948702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그룹 26"/>
          <p:cNvGrpSpPr/>
          <p:nvPr/>
        </p:nvGrpSpPr>
        <p:grpSpPr>
          <a:xfrm>
            <a:off x="1864295" y="2317309"/>
            <a:ext cx="8279641" cy="5795660"/>
            <a:chOff x="1864295" y="2856385"/>
            <a:chExt cx="8279641" cy="5256584"/>
          </a:xfrm>
        </p:grpSpPr>
        <p:pic>
          <p:nvPicPr>
            <p:cNvPr id="28" name="grid" descr="E:\Users\pwujcik.REDMOND\Desktop\!WIN8\WEBCAM DESKTOP\latest\WORKING\Partner\Guidence\exports\grid-trans.png"/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130" t="16460" r="24868" b="4339"/>
            <a:stretch/>
          </p:blipFill>
          <p:spPr bwMode="auto">
            <a:xfrm>
              <a:off x="1864295" y="2856385"/>
              <a:ext cx="8279641" cy="52565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9" name="그룹 28"/>
            <p:cNvGrpSpPr/>
            <p:nvPr/>
          </p:nvGrpSpPr>
          <p:grpSpPr>
            <a:xfrm>
              <a:off x="3350698" y="3368414"/>
              <a:ext cx="4675084" cy="3687591"/>
              <a:chOff x="3131115" y="3227176"/>
              <a:chExt cx="5372531" cy="4237720"/>
            </a:xfrm>
          </p:grpSpPr>
          <p:sp>
            <p:nvSpPr>
              <p:cNvPr id="30" name="정육면체 29"/>
              <p:cNvSpPr/>
              <p:nvPr/>
            </p:nvSpPr>
            <p:spPr>
              <a:xfrm>
                <a:off x="3278324" y="7032848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" name="TextBox 30"/>
              <p:cNvSpPr txBox="1"/>
              <p:nvPr/>
            </p:nvSpPr>
            <p:spPr>
              <a:xfrm>
                <a:off x="3489502" y="7038670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" name="정육면체 31"/>
              <p:cNvSpPr/>
              <p:nvPr/>
            </p:nvSpPr>
            <p:spPr>
              <a:xfrm>
                <a:off x="3866771" y="7031555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" name="TextBox 32"/>
              <p:cNvSpPr txBox="1"/>
              <p:nvPr/>
            </p:nvSpPr>
            <p:spPr>
              <a:xfrm>
                <a:off x="4077946" y="7037377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" name="정육면체 33"/>
              <p:cNvSpPr/>
              <p:nvPr/>
            </p:nvSpPr>
            <p:spPr>
              <a:xfrm>
                <a:off x="3131115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" name="정육면체 34"/>
              <p:cNvSpPr/>
              <p:nvPr/>
            </p:nvSpPr>
            <p:spPr>
              <a:xfrm>
                <a:off x="3719562" y="602344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" name="정육면체 35"/>
              <p:cNvSpPr/>
              <p:nvPr/>
            </p:nvSpPr>
            <p:spPr>
              <a:xfrm>
                <a:off x="4286436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" name="정육면체 36"/>
              <p:cNvSpPr/>
              <p:nvPr/>
            </p:nvSpPr>
            <p:spPr>
              <a:xfrm>
                <a:off x="4855833" y="5880720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" name="정육면체 37"/>
              <p:cNvSpPr/>
              <p:nvPr/>
            </p:nvSpPr>
            <p:spPr>
              <a:xfrm>
                <a:off x="6623398" y="32271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" name="정육면체 38"/>
              <p:cNvSpPr/>
              <p:nvPr/>
            </p:nvSpPr>
            <p:spPr>
              <a:xfrm>
                <a:off x="5260077" y="3436665"/>
                <a:ext cx="1320340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5753036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" name="정육면체 40"/>
              <p:cNvSpPr/>
              <p:nvPr/>
            </p:nvSpPr>
            <p:spPr>
              <a:xfrm>
                <a:off x="6415398" y="3436665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" name="TextBox 41"/>
              <p:cNvSpPr txBox="1"/>
              <p:nvPr/>
            </p:nvSpPr>
            <p:spPr>
              <a:xfrm>
                <a:off x="6624168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D-3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3" name="정육면체 42"/>
              <p:cNvSpPr/>
              <p:nvPr/>
            </p:nvSpPr>
            <p:spPr>
              <a:xfrm>
                <a:off x="7184024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7207292" y="4790285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E-5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정육면체 44"/>
              <p:cNvSpPr/>
              <p:nvPr/>
            </p:nvSpPr>
            <p:spPr>
              <a:xfrm>
                <a:off x="6848894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" name="TextBox 45"/>
              <p:cNvSpPr txBox="1"/>
              <p:nvPr/>
            </p:nvSpPr>
            <p:spPr>
              <a:xfrm>
                <a:off x="718286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7" name="정육면체 46"/>
              <p:cNvSpPr/>
              <p:nvPr/>
            </p:nvSpPr>
            <p:spPr>
              <a:xfrm>
                <a:off x="6462806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6796782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E-1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정육면체 48"/>
              <p:cNvSpPr/>
              <p:nvPr/>
            </p:nvSpPr>
            <p:spPr>
              <a:xfrm>
                <a:off x="3872224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4068962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정육면체 50"/>
              <p:cNvSpPr/>
              <p:nvPr/>
            </p:nvSpPr>
            <p:spPr>
              <a:xfrm>
                <a:off x="4460671" y="4928787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4657409" y="495223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3" name="정육면체 52"/>
              <p:cNvSpPr/>
              <p:nvPr/>
            </p:nvSpPr>
            <p:spPr>
              <a:xfrm>
                <a:off x="5027545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5224281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" name="정육면체 54"/>
              <p:cNvSpPr/>
              <p:nvPr/>
            </p:nvSpPr>
            <p:spPr>
              <a:xfrm>
                <a:off x="5596942" y="4786064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5802177" y="491201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" name="정육면체 56"/>
              <p:cNvSpPr/>
              <p:nvPr/>
            </p:nvSpPr>
            <p:spPr>
              <a:xfrm>
                <a:off x="7750755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" name="정육면체 57"/>
              <p:cNvSpPr/>
              <p:nvPr/>
            </p:nvSpPr>
            <p:spPr>
              <a:xfrm>
                <a:off x="7415625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" name="TextBox 58"/>
              <p:cNvSpPr txBox="1"/>
              <p:nvPr/>
            </p:nvSpPr>
            <p:spPr>
              <a:xfrm>
                <a:off x="774959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" name="정육면체 59"/>
              <p:cNvSpPr/>
              <p:nvPr/>
            </p:nvSpPr>
            <p:spPr>
              <a:xfrm>
                <a:off x="7029537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" name="TextBox 60"/>
              <p:cNvSpPr txBox="1"/>
              <p:nvPr/>
            </p:nvSpPr>
            <p:spPr>
              <a:xfrm>
                <a:off x="7363511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" name="정육면체 61"/>
              <p:cNvSpPr/>
              <p:nvPr/>
            </p:nvSpPr>
            <p:spPr>
              <a:xfrm>
                <a:off x="5078008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528918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" name="정육면체 63"/>
              <p:cNvSpPr/>
              <p:nvPr/>
            </p:nvSpPr>
            <p:spPr>
              <a:xfrm>
                <a:off x="5644739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585591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" name="직사각형 65"/>
              <p:cNvSpPr/>
              <p:nvPr/>
            </p:nvSpPr>
            <p:spPr>
              <a:xfrm>
                <a:off x="6468780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" name="직사각형 66"/>
              <p:cNvSpPr/>
              <p:nvPr/>
            </p:nvSpPr>
            <p:spPr>
              <a:xfrm>
                <a:off x="7035511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8" name="직사각형 67"/>
              <p:cNvSpPr/>
              <p:nvPr/>
            </p:nvSpPr>
            <p:spPr>
              <a:xfrm>
                <a:off x="6854452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7421183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7188177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" name="직사각형 70"/>
              <p:cNvSpPr/>
              <p:nvPr/>
            </p:nvSpPr>
            <p:spPr>
              <a:xfrm>
                <a:off x="7754908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2" name="TextBox 71"/>
              <p:cNvSpPr txBox="1"/>
              <p:nvPr/>
            </p:nvSpPr>
            <p:spPr>
              <a:xfrm>
                <a:off x="7766730" y="4777272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E-6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3342428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3930874" y="605212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5" name="TextBox 74"/>
              <p:cNvSpPr txBox="1"/>
              <p:nvPr/>
            </p:nvSpPr>
            <p:spPr>
              <a:xfrm>
                <a:off x="4497746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6" name="TextBox 75"/>
              <p:cNvSpPr txBox="1"/>
              <p:nvPr/>
            </p:nvSpPr>
            <p:spPr>
              <a:xfrm>
                <a:off x="5075642" y="601190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5255107" y="3788495"/>
                <a:ext cx="1117997" cy="100353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" name="직사각형 1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43578" y="284015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58422" y="284015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543578" y="4646173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8422" y="4646173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0" name="그룹 9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11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2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13" name="직사각형 12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43578" y="6658134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258422" y="6658134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17" name="그룹 16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18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19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9094931" y="2476891"/>
            <a:ext cx="762252" cy="327237"/>
            <a:chOff x="9094931" y="2476891"/>
            <a:chExt cx="762252" cy="327237"/>
          </a:xfrm>
        </p:grpSpPr>
        <p:grpSp>
          <p:nvGrpSpPr>
            <p:cNvPr id="21" name="그룹 20"/>
            <p:cNvGrpSpPr/>
            <p:nvPr/>
          </p:nvGrpSpPr>
          <p:grpSpPr>
            <a:xfrm>
              <a:off x="9529946" y="2476891"/>
              <a:ext cx="327237" cy="327237"/>
              <a:chOff x="9425136" y="2476891"/>
              <a:chExt cx="432048" cy="432048"/>
            </a:xfrm>
          </p:grpSpPr>
          <p:sp>
            <p:nvSpPr>
              <p:cNvPr id="25" name="타원 24"/>
              <p:cNvSpPr/>
              <p:nvPr/>
            </p:nvSpPr>
            <p:spPr>
              <a:xfrm>
                <a:off x="9425136" y="2476891"/>
                <a:ext cx="432048" cy="432048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6" name="그림 25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08759" y="2560514"/>
                <a:ext cx="264802" cy="264802"/>
              </a:xfrm>
              <a:prstGeom prst="rect">
                <a:avLst/>
              </a:prstGeom>
            </p:spPr>
          </p:pic>
        </p:grpSp>
        <p:grpSp>
          <p:nvGrpSpPr>
            <p:cNvPr id="22" name="그룹 21"/>
            <p:cNvGrpSpPr/>
            <p:nvPr/>
          </p:nvGrpSpPr>
          <p:grpSpPr>
            <a:xfrm>
              <a:off x="9094931" y="2476891"/>
              <a:ext cx="327237" cy="327237"/>
              <a:chOff x="9094931" y="2476891"/>
              <a:chExt cx="327237" cy="327237"/>
            </a:xfrm>
          </p:grpSpPr>
          <p:sp>
            <p:nvSpPr>
              <p:cNvPr id="23" name="타원 22"/>
              <p:cNvSpPr/>
              <p:nvPr/>
            </p:nvSpPr>
            <p:spPr>
              <a:xfrm>
                <a:off x="9094931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4" name="그림 23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161582" y="2540228"/>
                <a:ext cx="193933" cy="193933"/>
              </a:xfrm>
              <a:prstGeom prst="rect">
                <a:avLst/>
              </a:prstGeom>
            </p:spPr>
          </p:pic>
        </p:grpSp>
      </p:grpSp>
      <p:grpSp>
        <p:nvGrpSpPr>
          <p:cNvPr id="129" name="그룹 128"/>
          <p:cNvGrpSpPr/>
          <p:nvPr/>
        </p:nvGrpSpPr>
        <p:grpSpPr>
          <a:xfrm>
            <a:off x="3557708" y="6319789"/>
            <a:ext cx="412820" cy="439919"/>
            <a:chOff x="11556504" y="5152407"/>
            <a:chExt cx="540060" cy="623472"/>
          </a:xfrm>
        </p:grpSpPr>
        <p:sp>
          <p:nvSpPr>
            <p:cNvPr id="135" name="타원 134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이등변 삼각형 135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0" name="그룹 129"/>
          <p:cNvGrpSpPr/>
          <p:nvPr/>
        </p:nvGrpSpPr>
        <p:grpSpPr>
          <a:xfrm>
            <a:off x="3583880" y="6411903"/>
            <a:ext cx="285195" cy="206244"/>
            <a:chOff x="6196165" y="4968559"/>
            <a:chExt cx="285195" cy="206244"/>
          </a:xfrm>
        </p:grpSpPr>
        <p:sp>
          <p:nvSpPr>
            <p:cNvPr id="131" name="모서리가 둥근 직사각형 130"/>
            <p:cNvSpPr/>
            <p:nvPr/>
          </p:nvSpPr>
          <p:spPr>
            <a:xfrm>
              <a:off x="6196165" y="4968559"/>
              <a:ext cx="239620" cy="206244"/>
            </a:xfrm>
            <a:prstGeom prst="roundRect">
              <a:avLst/>
            </a:prstGeom>
            <a:solidFill>
              <a:schemeClr val="tx1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2" name="직선 연결선 131"/>
            <p:cNvCxnSpPr/>
            <p:nvPr/>
          </p:nvCxnSpPr>
          <p:spPr>
            <a:xfrm>
              <a:off x="6366013" y="5030898"/>
              <a:ext cx="76997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연결선 132"/>
            <p:cNvCxnSpPr/>
            <p:nvPr/>
          </p:nvCxnSpPr>
          <p:spPr>
            <a:xfrm>
              <a:off x="6362954" y="5004755"/>
              <a:ext cx="118406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>
              <a:off x="6314890" y="5107680"/>
              <a:ext cx="1085" cy="33178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8" name="그룹 137"/>
          <p:cNvGrpSpPr/>
          <p:nvPr/>
        </p:nvGrpSpPr>
        <p:grpSpPr>
          <a:xfrm>
            <a:off x="5118783" y="5080586"/>
            <a:ext cx="412820" cy="439919"/>
            <a:chOff x="11556504" y="5152407"/>
            <a:chExt cx="540060" cy="623472"/>
          </a:xfrm>
        </p:grpSpPr>
        <p:sp>
          <p:nvSpPr>
            <p:cNvPr id="144" name="타원 143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5" name="이등변 삼각형 144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9" name="그룹 138"/>
          <p:cNvGrpSpPr/>
          <p:nvPr/>
        </p:nvGrpSpPr>
        <p:grpSpPr>
          <a:xfrm>
            <a:off x="5148417" y="5172700"/>
            <a:ext cx="285195" cy="206244"/>
            <a:chOff x="6196165" y="5539873"/>
            <a:chExt cx="285195" cy="206244"/>
          </a:xfrm>
        </p:grpSpPr>
        <p:sp>
          <p:nvSpPr>
            <p:cNvPr id="140" name="모서리가 둥근 직사각형 139"/>
            <p:cNvSpPr/>
            <p:nvPr/>
          </p:nvSpPr>
          <p:spPr>
            <a:xfrm>
              <a:off x="6196165" y="5539873"/>
              <a:ext cx="239620" cy="20624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41" name="직선 연결선 140"/>
            <p:cNvCxnSpPr/>
            <p:nvPr/>
          </p:nvCxnSpPr>
          <p:spPr>
            <a:xfrm>
              <a:off x="6366013" y="5602212"/>
              <a:ext cx="76997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/>
            <p:cNvCxnSpPr/>
            <p:nvPr/>
          </p:nvCxnSpPr>
          <p:spPr>
            <a:xfrm>
              <a:off x="6362954" y="5576069"/>
              <a:ext cx="118406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>
              <a:off x="6314890" y="5678994"/>
              <a:ext cx="1085" cy="33178"/>
            </a:xfrm>
            <a:prstGeom prst="line">
              <a:avLst/>
            </a:prstGeom>
            <a:solidFill>
              <a:schemeClr val="tx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직사각형 145"/>
          <p:cNvSpPr/>
          <p:nvPr/>
        </p:nvSpPr>
        <p:spPr>
          <a:xfrm>
            <a:off x="4280195" y="64012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7" name="직사각형 146"/>
          <p:cNvSpPr/>
          <p:nvPr/>
        </p:nvSpPr>
        <p:spPr>
          <a:xfrm>
            <a:off x="5235943" y="49314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48" name="표 1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512846"/>
              </p:ext>
            </p:extLst>
          </p:nvPr>
        </p:nvGraphicFramePr>
        <p:xfrm>
          <a:off x="10633534" y="1272208"/>
          <a:ext cx="2088232" cy="19411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설치되지 않은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POI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는 비활성으로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 필요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이상발생된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부족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대 이상 설치되었을 때의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업그레이드 필요 아이콘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8" name="그룹 157"/>
          <p:cNvGrpSpPr/>
          <p:nvPr/>
        </p:nvGrpSpPr>
        <p:grpSpPr>
          <a:xfrm>
            <a:off x="7169470" y="3954010"/>
            <a:ext cx="457441" cy="439919"/>
            <a:chOff x="7351836" y="4310963"/>
            <a:chExt cx="457441" cy="439919"/>
          </a:xfrm>
        </p:grpSpPr>
        <p:grpSp>
          <p:nvGrpSpPr>
            <p:cNvPr id="149" name="그룹 148"/>
            <p:cNvGrpSpPr/>
            <p:nvPr/>
          </p:nvGrpSpPr>
          <p:grpSpPr>
            <a:xfrm>
              <a:off x="7351836" y="4310963"/>
              <a:ext cx="412820" cy="439919"/>
              <a:chOff x="11556504" y="5152407"/>
              <a:chExt cx="540060" cy="623472"/>
            </a:xfrm>
          </p:grpSpPr>
          <p:sp>
            <p:nvSpPr>
              <p:cNvPr id="150" name="타원 149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이등변 삼각형 150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52" name="그룹 151"/>
            <p:cNvGrpSpPr/>
            <p:nvPr/>
          </p:nvGrpSpPr>
          <p:grpSpPr>
            <a:xfrm>
              <a:off x="7379918" y="4403077"/>
              <a:ext cx="285195" cy="206244"/>
              <a:chOff x="6196165" y="4968559"/>
              <a:chExt cx="285195" cy="206244"/>
            </a:xfrm>
          </p:grpSpPr>
          <p:sp>
            <p:nvSpPr>
              <p:cNvPr id="153" name="모서리가 둥근 직사각형 152"/>
              <p:cNvSpPr/>
              <p:nvPr/>
            </p:nvSpPr>
            <p:spPr>
              <a:xfrm>
                <a:off x="6196165" y="4968559"/>
                <a:ext cx="239620" cy="206244"/>
              </a:xfrm>
              <a:prstGeom prst="roundRect">
                <a:avLst/>
              </a:prstGeom>
              <a:solidFill>
                <a:schemeClr val="tx1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54" name="직선 연결선 153"/>
              <p:cNvCxnSpPr/>
              <p:nvPr/>
            </p:nvCxnSpPr>
            <p:spPr>
              <a:xfrm>
                <a:off x="6366013" y="5030898"/>
                <a:ext cx="76997" cy="0"/>
              </a:xfrm>
              <a:prstGeom prst="line">
                <a:avLst/>
              </a:prstGeom>
              <a:solidFill>
                <a:schemeClr val="tx1"/>
              </a:solidFill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>
                <a:off x="6362954" y="5004755"/>
                <a:ext cx="118406" cy="0"/>
              </a:xfrm>
              <a:prstGeom prst="line">
                <a:avLst/>
              </a:prstGeom>
              <a:solidFill>
                <a:schemeClr val="tx1"/>
              </a:solidFill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직선 연결선 155"/>
              <p:cNvCxnSpPr/>
              <p:nvPr/>
            </p:nvCxnSpPr>
            <p:spPr>
              <a:xfrm>
                <a:off x="6314890" y="5107680"/>
                <a:ext cx="1085" cy="33178"/>
              </a:xfrm>
              <a:prstGeom prst="line">
                <a:avLst/>
              </a:prstGeom>
              <a:solidFill>
                <a:schemeClr val="tx1"/>
              </a:solidFill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/>
            <p:cNvSpPr txBox="1"/>
            <p:nvPr/>
          </p:nvSpPr>
          <p:spPr>
            <a:xfrm>
              <a:off x="7574917" y="4402209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sp>
        <p:nvSpPr>
          <p:cNvPr id="159" name="직사각형 158"/>
          <p:cNvSpPr/>
          <p:nvPr/>
        </p:nvSpPr>
        <p:spPr>
          <a:xfrm>
            <a:off x="7268277" y="375909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60" name="그룹 159"/>
          <p:cNvGrpSpPr/>
          <p:nvPr/>
        </p:nvGrpSpPr>
        <p:grpSpPr>
          <a:xfrm>
            <a:off x="5325573" y="6099829"/>
            <a:ext cx="412820" cy="439919"/>
            <a:chOff x="11556504" y="5152407"/>
            <a:chExt cx="540060" cy="623472"/>
          </a:xfrm>
        </p:grpSpPr>
        <p:sp>
          <p:nvSpPr>
            <p:cNvPr id="161" name="타원 160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rgbClr val="E46C0A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500" b="1" dirty="0">
                  <a:solidFill>
                    <a:schemeClr val="bg1"/>
                  </a:solidFill>
                  <a:latin typeface="+mn-ea"/>
                </a:rPr>
                <a:t>Up Date</a:t>
              </a:r>
              <a:endParaRPr lang="ko-KR" altLang="en-US" sz="5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2" name="이등변 삼각형 161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63" name="직사각형 162"/>
          <p:cNvSpPr/>
          <p:nvPr/>
        </p:nvSpPr>
        <p:spPr>
          <a:xfrm>
            <a:off x="5433612" y="593840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64" name="TextBox 163"/>
          <p:cNvSpPr txBox="1"/>
          <p:nvPr/>
        </p:nvSpPr>
        <p:spPr>
          <a:xfrm>
            <a:off x="2143777" y="2486746"/>
            <a:ext cx="2164054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[1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AP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설치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15" name="모서리가 둥근 사각형 설명선 114"/>
          <p:cNvSpPr/>
          <p:nvPr/>
        </p:nvSpPr>
        <p:spPr>
          <a:xfrm>
            <a:off x="2129124" y="6584202"/>
            <a:ext cx="1095053" cy="356808"/>
          </a:xfrm>
          <a:prstGeom prst="wedgeRoundRectCallout">
            <a:avLst>
              <a:gd name="adj1" fmla="val 97702"/>
              <a:gd name="adj2" fmla="val 3218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119" name="타원 118"/>
          <p:cNvSpPr/>
          <p:nvPr/>
        </p:nvSpPr>
        <p:spPr>
          <a:xfrm>
            <a:off x="4121992" y="5189673"/>
            <a:ext cx="417904" cy="385757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1" name="이등변 삼각형 120"/>
          <p:cNvSpPr/>
          <p:nvPr/>
        </p:nvSpPr>
        <p:spPr>
          <a:xfrm rot="10800000">
            <a:off x="4300409" y="5586413"/>
            <a:ext cx="61071" cy="48597"/>
          </a:xfrm>
          <a:prstGeom prst="triangle">
            <a:avLst/>
          </a:pr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4" name="그룹 123"/>
          <p:cNvGrpSpPr/>
          <p:nvPr/>
        </p:nvGrpSpPr>
        <p:grpSpPr>
          <a:xfrm>
            <a:off x="4201971" y="5286598"/>
            <a:ext cx="285195" cy="206244"/>
            <a:chOff x="6196165" y="5539873"/>
            <a:chExt cx="285195" cy="206244"/>
          </a:xfrm>
        </p:grpSpPr>
        <p:sp>
          <p:nvSpPr>
            <p:cNvPr id="125" name="모서리가 둥근 직사각형 124"/>
            <p:cNvSpPr/>
            <p:nvPr/>
          </p:nvSpPr>
          <p:spPr>
            <a:xfrm>
              <a:off x="6196165" y="5539873"/>
              <a:ext cx="239620" cy="206244"/>
            </a:xfrm>
            <a:prstGeom prst="roundRect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6" name="직선 연결선 125"/>
            <p:cNvCxnSpPr/>
            <p:nvPr/>
          </p:nvCxnSpPr>
          <p:spPr>
            <a:xfrm>
              <a:off x="6366013" y="5602212"/>
              <a:ext cx="76997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/>
            <p:cNvCxnSpPr/>
            <p:nvPr/>
          </p:nvCxnSpPr>
          <p:spPr>
            <a:xfrm>
              <a:off x="6362954" y="5576069"/>
              <a:ext cx="118406" cy="0"/>
            </a:xfrm>
            <a:prstGeom prst="line">
              <a:avLst/>
            </a:prstGeom>
            <a:solidFill>
              <a:schemeClr val="tx1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/>
            <p:cNvCxnSpPr/>
            <p:nvPr/>
          </p:nvCxnSpPr>
          <p:spPr>
            <a:xfrm>
              <a:off x="6314890" y="5678994"/>
              <a:ext cx="1085" cy="33178"/>
            </a:xfrm>
            <a:prstGeom prst="line">
              <a:avLst/>
            </a:prstGeom>
            <a:solidFill>
              <a:schemeClr val="tx1"/>
            </a:solidFill>
            <a:ln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6" name="직사각형 165"/>
          <p:cNvSpPr/>
          <p:nvPr/>
        </p:nvSpPr>
        <p:spPr>
          <a:xfrm>
            <a:off x="4250163" y="505455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5332435" y="5181697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2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3780173" y="6418626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sp>
        <p:nvSpPr>
          <p:cNvPr id="169" name="모서리가 둥근 사각형 설명선 168"/>
          <p:cNvSpPr/>
          <p:nvPr/>
        </p:nvSpPr>
        <p:spPr>
          <a:xfrm>
            <a:off x="2690233" y="5079406"/>
            <a:ext cx="1095053" cy="356808"/>
          </a:xfrm>
          <a:prstGeom prst="wedgeRoundRectCallout">
            <a:avLst>
              <a:gd name="adj1" fmla="val 97702"/>
              <a:gd name="adj2" fmla="val 3218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028</a:t>
            </a:r>
          </a:p>
          <a:p>
            <a:pPr algn="ctr"/>
            <a:r>
              <a:rPr lang="en-US" altLang="ko-KR" sz="800" dirty="0"/>
              <a:t>AP </a:t>
            </a:r>
            <a:r>
              <a:rPr lang="ko-KR" altLang="en-US" sz="800"/>
              <a:t>이상 발생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112158289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직사각형 73"/>
          <p:cNvSpPr/>
          <p:nvPr/>
        </p:nvSpPr>
        <p:spPr>
          <a:xfrm>
            <a:off x="403493" y="1757900"/>
            <a:ext cx="9730657" cy="6643101"/>
          </a:xfrm>
          <a:prstGeom prst="rect">
            <a:avLst/>
          </a:prstGeom>
          <a:solidFill>
            <a:srgbClr val="000000">
              <a:alpha val="73000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graphicFrame>
        <p:nvGraphicFramePr>
          <p:cNvPr id="16" name="표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8439580"/>
              </p:ext>
            </p:extLst>
          </p:nvPr>
        </p:nvGraphicFramePr>
        <p:xfrm>
          <a:off x="10633534" y="1272208"/>
          <a:ext cx="2088232" cy="3686443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업데이트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4" name="모서리가 둥근 직사각형 33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032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1561736" y="632805"/>
            <a:ext cx="116003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+mn-ea"/>
              </a:rPr>
              <a:t>AP </a:t>
            </a:r>
            <a:r>
              <a:rPr lang="ko-KR" altLang="en-US" sz="900">
                <a:latin typeface="+mn-ea"/>
              </a:rPr>
              <a:t>상세정보</a:t>
            </a:r>
            <a:endParaRPr lang="ko-KR" altLang="en-US" sz="900" dirty="0">
              <a:latin typeface="+mn-ea"/>
            </a:endParaRPr>
          </a:p>
        </p:txBody>
      </p:sp>
      <p:sp>
        <p:nvSpPr>
          <p:cNvPr id="37" name="직사각형 36"/>
          <p:cNvSpPr/>
          <p:nvPr/>
        </p:nvSpPr>
        <p:spPr>
          <a:xfrm>
            <a:off x="7048873" y="2352328"/>
            <a:ext cx="3087636" cy="57858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TextBox 38"/>
          <p:cNvSpPr txBox="1"/>
          <p:nvPr/>
        </p:nvSpPr>
        <p:spPr>
          <a:xfrm>
            <a:off x="7082076" y="2497892"/>
            <a:ext cx="155036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>
                <a:latin typeface="+mn-ea"/>
              </a:rPr>
              <a:t>Smart AP </a:t>
            </a:r>
            <a:r>
              <a:rPr lang="ko-KR" altLang="en-US" sz="1200" b="1">
                <a:latin typeface="+mn-ea"/>
              </a:rPr>
              <a:t>상세정보</a:t>
            </a:r>
            <a:endParaRPr lang="ko-KR" altLang="en-US" sz="1200" b="1" dirty="0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8487468" y="2512888"/>
            <a:ext cx="164576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2 </a:t>
            </a:r>
            <a:r>
              <a:rPr lang="ko-KR" altLang="en-US" sz="1000">
                <a:latin typeface="+mn-ea"/>
                <a:sym typeface="Wingdings" panose="05000000000000000000" pitchFamily="2" charset="2"/>
              </a:rPr>
              <a:t>대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7128186" y="2864773"/>
            <a:ext cx="2929009" cy="152968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/>
          <p:cNvSpPr txBox="1"/>
          <p:nvPr/>
        </p:nvSpPr>
        <p:spPr>
          <a:xfrm>
            <a:off x="7215392" y="3875529"/>
            <a:ext cx="86273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LAP-01-001</a:t>
            </a:r>
            <a:endParaRPr lang="ko-KR" altLang="en-US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8893013" y="3649413"/>
            <a:ext cx="113524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펌웨어 정보 </a:t>
            </a:r>
            <a:r>
              <a:rPr lang="en-US" altLang="ko-KR" sz="700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1.001.001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101388" y="3007750"/>
            <a:ext cx="1484702" cy="438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맑은 고딕" panose="020B0503020000020004" pitchFamily="50" charset="-127"/>
              </a:rPr>
              <a:t>현재위치 </a:t>
            </a:r>
            <a:r>
              <a:rPr lang="en-US" altLang="ko-KR" sz="1200" dirty="0">
                <a:latin typeface="맑은 고딕" panose="020B0503020000020004" pitchFamily="50" charset="-127"/>
              </a:rPr>
              <a:t>: 7</a:t>
            </a:r>
            <a:r>
              <a:rPr lang="ko-KR" altLang="en-US" sz="1200">
                <a:latin typeface="맑은 고딕" panose="020B0503020000020004" pitchFamily="50" charset="-127"/>
              </a:rPr>
              <a:t>층 </a:t>
            </a:r>
            <a:r>
              <a:rPr lang="en-US" altLang="ko-KR" sz="1200" dirty="0">
                <a:latin typeface="맑은 고딕" panose="020B0503020000020004" pitchFamily="50" charset="-127"/>
              </a:rPr>
              <a:t>A-1</a:t>
            </a:r>
          </a:p>
          <a:p>
            <a:r>
              <a:rPr lang="ko-KR" altLang="en-US" sz="1050" dirty="0">
                <a:latin typeface="맑은 고딕" panose="020B0503020000020004" pitchFamily="50" charset="-127"/>
              </a:rPr>
              <a:t>연결상태 </a:t>
            </a:r>
            <a:r>
              <a:rPr lang="en-US" altLang="ko-KR" sz="1050" dirty="0">
                <a:latin typeface="맑은 고딕" panose="020B0503020000020004" pitchFamily="50" charset="-127"/>
              </a:rPr>
              <a:t>: </a:t>
            </a:r>
            <a:r>
              <a:rPr lang="ko-KR" altLang="en-US" sz="1050">
                <a:latin typeface="맑은 고딕" panose="020B0503020000020004" pitchFamily="50" charset="-127"/>
              </a:rPr>
              <a:t>정상</a:t>
            </a:r>
          </a:p>
        </p:txBody>
      </p:sp>
      <p:sp>
        <p:nvSpPr>
          <p:cNvPr id="48" name="직사각형 47"/>
          <p:cNvSpPr/>
          <p:nvPr/>
        </p:nvSpPr>
        <p:spPr>
          <a:xfrm>
            <a:off x="7252002" y="3022797"/>
            <a:ext cx="792088" cy="790158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직사각형 51"/>
          <p:cNvSpPr/>
          <p:nvPr/>
        </p:nvSpPr>
        <p:spPr>
          <a:xfrm>
            <a:off x="7128186" y="4457032"/>
            <a:ext cx="2929009" cy="315188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해제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해제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해제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  <a:p>
            <a:pPr lvl="0" defTabSz="914400" latinLnBrk="0">
              <a:lnSpc>
                <a:spcPct val="200000"/>
              </a:lnSpc>
              <a:defRPr/>
            </a:pP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7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층 </a:t>
            </a:r>
            <a:r>
              <a:rPr lang="en-US" altLang="ko-KR" sz="900" kern="0" dirty="0">
                <a:solidFill>
                  <a:prstClr val="black"/>
                </a:solidFill>
                <a:latin typeface="+mn-ea"/>
              </a:rPr>
              <a:t>A-1  |  0000.00.00 12:32:02  |  </a:t>
            </a:r>
            <a:r>
              <a:rPr lang="ko-KR" altLang="en-US" sz="900" kern="0" dirty="0">
                <a:solidFill>
                  <a:prstClr val="black"/>
                </a:solidFill>
                <a:latin typeface="+mn-ea"/>
              </a:rPr>
              <a:t>설치</a:t>
            </a:r>
            <a:endParaRPr lang="en-US" altLang="ko-KR" sz="900" kern="0" dirty="0"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6" name="직선 연결선 55"/>
          <p:cNvCxnSpPr/>
          <p:nvPr/>
        </p:nvCxnSpPr>
        <p:spPr>
          <a:xfrm>
            <a:off x="7196935" y="5462647"/>
            <a:ext cx="2732257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7869500" y="5361707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cxnSp>
        <p:nvCxnSpPr>
          <p:cNvPr id="59" name="직선 연결선 58"/>
          <p:cNvCxnSpPr/>
          <p:nvPr/>
        </p:nvCxnSpPr>
        <p:spPr>
          <a:xfrm>
            <a:off x="7196935" y="7111211"/>
            <a:ext cx="2732257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7869500" y="7010271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8201000" y="4002391"/>
            <a:ext cx="1799878" cy="288032"/>
          </a:xfrm>
          <a:prstGeom prst="roundRect">
            <a:avLst>
              <a:gd name="adj" fmla="val 43122"/>
            </a:avLst>
          </a:prstGeom>
          <a:solidFill>
            <a:srgbClr val="F79646">
              <a:lumMod val="75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1.101.44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1.101.45</a:t>
            </a:r>
            <a:endParaRPr kumimoji="0" lang="ko-KR" altLang="en-US" sz="900" b="0" i="0" u="none" strike="noStrike" kern="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2" name="모서리가 둥근 직사각형 61"/>
          <p:cNvSpPr/>
          <p:nvPr/>
        </p:nvSpPr>
        <p:spPr>
          <a:xfrm>
            <a:off x="11190671" y="2327143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843C0C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  <a:latin typeface="+mn-ea"/>
              </a:rPr>
              <a:t>다운로드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63" name="모서리가 둥근 직사각형 62"/>
          <p:cNvSpPr/>
          <p:nvPr/>
        </p:nvSpPr>
        <p:spPr>
          <a:xfrm>
            <a:off x="11190671" y="1789288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F79646">
              <a:lumMod val="75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1.101.44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1.101.45</a:t>
            </a:r>
            <a:endParaRPr kumimoji="0" lang="ko-KR" altLang="en-US" sz="700" b="0" i="0" u="none" strike="noStrike" kern="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11642838" y="3915301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↓</a:t>
            </a:r>
            <a:endParaRPr lang="en-US" altLang="ko-KR" sz="1200" dirty="0">
              <a:latin typeface="+mn-ea"/>
            </a:endParaRPr>
          </a:p>
          <a:p>
            <a:pPr algn="ctr"/>
            <a:r>
              <a:rPr lang="ko-KR" altLang="en-US" sz="1200">
                <a:latin typeface="+mn-ea"/>
              </a:rPr>
              <a:t>최신</a:t>
            </a:r>
            <a:endParaRPr lang="ko-KR" altLang="en-US" sz="1200" dirty="0"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11723790" y="2058648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↓</a:t>
            </a:r>
          </a:p>
        </p:txBody>
      </p:sp>
      <p:sp>
        <p:nvSpPr>
          <p:cNvPr id="66" name="모서리가 둥근 직사각형 65"/>
          <p:cNvSpPr/>
          <p:nvPr/>
        </p:nvSpPr>
        <p:spPr>
          <a:xfrm>
            <a:off x="11190671" y="2933166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1F497D">
              <a:lumMod val="60000"/>
              <a:lumOff val="40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  <a:latin typeface="+mn-ea"/>
              </a:rPr>
              <a:t>다운로드 완료 업데이트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1723790" y="2664671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↓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11190671" y="3579202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1F4E79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  <a:latin typeface="+mn-ea"/>
              </a:rPr>
              <a:t>업데이트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1723790" y="3310707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↓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8234631" y="7788951"/>
            <a:ext cx="646158" cy="169170"/>
            <a:chOff x="8416025" y="7788951"/>
            <a:chExt cx="646158" cy="169170"/>
          </a:xfrm>
        </p:grpSpPr>
        <p:sp>
          <p:nvSpPr>
            <p:cNvPr id="70" name="타원 69"/>
            <p:cNvSpPr/>
            <p:nvPr/>
          </p:nvSpPr>
          <p:spPr>
            <a:xfrm>
              <a:off x="8654519" y="7788951"/>
              <a:ext cx="169170" cy="16917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416025" y="7788951"/>
              <a:ext cx="169170" cy="16917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8893013" y="7788951"/>
              <a:ext cx="169170" cy="169170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</p:grpSp>
      <p:sp>
        <p:nvSpPr>
          <p:cNvPr id="75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6529664" y="2333626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43634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관리 </a:t>
            </a:r>
            <a:r>
              <a:rPr lang="en-US" altLang="ko-KR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32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가스센서 설치 현황</a:t>
            </a:r>
            <a:endParaRPr lang="ko-KR" altLang="en-US" sz="32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5227484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/>
          <p:cNvGrpSpPr/>
          <p:nvPr/>
        </p:nvGrpSpPr>
        <p:grpSpPr>
          <a:xfrm>
            <a:off x="9094931" y="2476891"/>
            <a:ext cx="327237" cy="327237"/>
            <a:chOff x="8902799" y="2476891"/>
            <a:chExt cx="432048" cy="432048"/>
          </a:xfrm>
        </p:grpSpPr>
        <p:sp>
          <p:nvSpPr>
            <p:cNvPr id="3" name="타원 2"/>
            <p:cNvSpPr/>
            <p:nvPr/>
          </p:nvSpPr>
          <p:spPr>
            <a:xfrm>
              <a:off x="8902799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4" name="그림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93088" y="2567180"/>
              <a:ext cx="251470" cy="251470"/>
            </a:xfrm>
            <a:prstGeom prst="rect">
              <a:avLst/>
            </a:prstGeom>
          </p:spPr>
        </p:pic>
      </p:grpSp>
      <p:grpSp>
        <p:nvGrpSpPr>
          <p:cNvPr id="5" name="그룹 4"/>
          <p:cNvGrpSpPr/>
          <p:nvPr/>
        </p:nvGrpSpPr>
        <p:grpSpPr>
          <a:xfrm>
            <a:off x="9529946" y="2476891"/>
            <a:ext cx="327237" cy="327237"/>
            <a:chOff x="9425136" y="2476891"/>
            <a:chExt cx="432048" cy="432048"/>
          </a:xfrm>
        </p:grpSpPr>
        <p:sp>
          <p:nvSpPr>
            <p:cNvPr id="6" name="타원 5"/>
            <p:cNvSpPr/>
            <p:nvPr/>
          </p:nvSpPr>
          <p:spPr>
            <a:xfrm>
              <a:off x="9425136" y="2476891"/>
              <a:ext cx="432048" cy="432048"/>
            </a:xfrm>
            <a:prstGeom prst="ellipse">
              <a:avLst/>
            </a:prstGeom>
            <a:solidFill>
              <a:schemeClr val="tx1">
                <a:alpha val="63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08759" y="2560514"/>
              <a:ext cx="264802" cy="264802"/>
            </a:xfrm>
            <a:prstGeom prst="rect">
              <a:avLst/>
            </a:prstGeom>
          </p:spPr>
        </p:pic>
      </p:grp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649318"/>
              </p:ext>
            </p:extLst>
          </p:nvPr>
        </p:nvGraphicFramePr>
        <p:xfrm>
          <a:off x="2143777" y="2966209"/>
          <a:ext cx="7713406" cy="4869964"/>
        </p:xfrm>
        <a:graphic>
          <a:graphicData uri="http://schemas.openxmlformats.org/drawingml/2006/table">
            <a:tbl>
              <a:tblPr/>
              <a:tblGrid>
                <a:gridCol w="897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75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75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078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376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376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376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31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명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구역 정보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MAC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동작상태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펌웨어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경보</a:t>
                      </a:r>
                      <a:r>
                        <a:rPr lang="en-US" altLang="ko-KR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Ver.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배터리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정상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1.101.44 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1.101.45</a:t>
                      </a:r>
                      <a:endParaRPr kumimoji="0" lang="ko-KR" altLang="en-US" sz="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46C0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상전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높음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낮음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970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E-3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정상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높음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9706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보통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E-5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통제구역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정상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1.13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낮음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설치필요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보통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97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F-2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 현장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Dk0-3082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최신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보통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9" name="직사각형 8"/>
          <p:cNvSpPr/>
          <p:nvPr/>
        </p:nvSpPr>
        <p:spPr>
          <a:xfrm>
            <a:off x="6688832" y="28446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143777" y="2486746"/>
            <a:ext cx="287578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[1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가스센서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설치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543578" y="284015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258422" y="284015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43578" y="4646173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22" name="직사각형 21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258422" y="4646173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25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26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27" name="직사각형 26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543578" y="6658134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29" name="직사각형 28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258422" y="6658134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3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3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aphicFrame>
        <p:nvGraphicFramePr>
          <p:cNvPr id="36" name="표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6476955"/>
              </p:ext>
            </p:extLst>
          </p:nvPr>
        </p:nvGraphicFramePr>
        <p:xfrm>
          <a:off x="10633534" y="1272208"/>
          <a:ext cx="2088232" cy="400462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동작상태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부족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설치필요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설치가 필요한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등록되는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버전과 가스센서의 펌웨어 버전을 비교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업데이트는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Field manager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에서 진행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경보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Ver.</a:t>
                      </a: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설정되는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Rule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의 버전을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설치되는 위치마다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설정값이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다를 수 있음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Tx/>
                        <a:buChar char="-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설정되는 값은 모두 하나의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set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으로 관리됨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상전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높음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보통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낮음 으로 구분됨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낮음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7" name="직사각형 36"/>
          <p:cNvSpPr/>
          <p:nvPr/>
        </p:nvSpPr>
        <p:spPr>
          <a:xfrm>
            <a:off x="7912968" y="284015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8" name="직사각형 37"/>
          <p:cNvSpPr/>
          <p:nvPr/>
        </p:nvSpPr>
        <p:spPr>
          <a:xfrm>
            <a:off x="5439806" y="28446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9184351" y="284015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2296344" y="4176966"/>
            <a:ext cx="1656184" cy="360040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1" name="모서리가 둥근 사각형 설명선 40"/>
          <p:cNvSpPr/>
          <p:nvPr/>
        </p:nvSpPr>
        <p:spPr>
          <a:xfrm>
            <a:off x="2800400" y="3648472"/>
            <a:ext cx="1095053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42" name="직사각형 41"/>
          <p:cNvSpPr/>
          <p:nvPr/>
        </p:nvSpPr>
        <p:spPr>
          <a:xfrm>
            <a:off x="4003476" y="4575525"/>
            <a:ext cx="5790370" cy="360040"/>
          </a:xfrm>
          <a:prstGeom prst="rect">
            <a:avLst/>
          </a:prstGeom>
          <a:solidFill>
            <a:schemeClr val="accent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3" name="모서리가 둥근 사각형 설명선 42"/>
          <p:cNvSpPr/>
          <p:nvPr/>
        </p:nvSpPr>
        <p:spPr>
          <a:xfrm>
            <a:off x="4507533" y="4047031"/>
            <a:ext cx="1095053" cy="356808"/>
          </a:xfrm>
          <a:prstGeom prst="wedgeRoundRectCallout">
            <a:avLst>
              <a:gd name="adj1" fmla="val -38875"/>
              <a:gd name="adj2" fmla="val 140775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정보보기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2205698948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/>
          <p:cNvGrpSpPr/>
          <p:nvPr/>
        </p:nvGrpSpPr>
        <p:grpSpPr>
          <a:xfrm>
            <a:off x="1864295" y="2317309"/>
            <a:ext cx="8279641" cy="5795660"/>
            <a:chOff x="1864295" y="2856385"/>
            <a:chExt cx="8279641" cy="5256584"/>
          </a:xfrm>
        </p:grpSpPr>
        <p:pic>
          <p:nvPicPr>
            <p:cNvPr id="3" name="grid" descr="E:\Users\pwujcik.REDMOND\Desktop\!WIN8\WEBCAM DESKTOP\latest\WORKING\Partner\Guidence\exports\grid-trans.png"/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130" t="16460" r="24868" b="4339"/>
            <a:stretch/>
          </p:blipFill>
          <p:spPr bwMode="auto">
            <a:xfrm>
              <a:off x="1864295" y="2856385"/>
              <a:ext cx="8279641" cy="52565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" name="그룹 3"/>
            <p:cNvGrpSpPr/>
            <p:nvPr/>
          </p:nvGrpSpPr>
          <p:grpSpPr>
            <a:xfrm>
              <a:off x="3350698" y="3368414"/>
              <a:ext cx="4675084" cy="3687591"/>
              <a:chOff x="3131115" y="3227176"/>
              <a:chExt cx="5372531" cy="4237720"/>
            </a:xfrm>
          </p:grpSpPr>
          <p:sp>
            <p:nvSpPr>
              <p:cNvPr id="5" name="정육면체 4"/>
              <p:cNvSpPr/>
              <p:nvPr/>
            </p:nvSpPr>
            <p:spPr>
              <a:xfrm>
                <a:off x="3278324" y="7032848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>
                <a:off x="3489502" y="7038670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" name="정육면체 6"/>
              <p:cNvSpPr/>
              <p:nvPr/>
            </p:nvSpPr>
            <p:spPr>
              <a:xfrm>
                <a:off x="3866771" y="7031555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" name="TextBox 7"/>
              <p:cNvSpPr txBox="1"/>
              <p:nvPr/>
            </p:nvSpPr>
            <p:spPr>
              <a:xfrm>
                <a:off x="4077946" y="7037377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" name="정육면체 8"/>
              <p:cNvSpPr/>
              <p:nvPr/>
            </p:nvSpPr>
            <p:spPr>
              <a:xfrm>
                <a:off x="3131115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" name="정육면체 9"/>
              <p:cNvSpPr/>
              <p:nvPr/>
            </p:nvSpPr>
            <p:spPr>
              <a:xfrm>
                <a:off x="3719562" y="602344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" name="정육면체 10"/>
              <p:cNvSpPr/>
              <p:nvPr/>
            </p:nvSpPr>
            <p:spPr>
              <a:xfrm>
                <a:off x="4286436" y="602473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" name="정육면체 11"/>
              <p:cNvSpPr/>
              <p:nvPr/>
            </p:nvSpPr>
            <p:spPr>
              <a:xfrm>
                <a:off x="4855833" y="5880720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정육면체 12"/>
              <p:cNvSpPr/>
              <p:nvPr/>
            </p:nvSpPr>
            <p:spPr>
              <a:xfrm>
                <a:off x="6623398" y="32271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" name="정육면체 13"/>
              <p:cNvSpPr/>
              <p:nvPr/>
            </p:nvSpPr>
            <p:spPr>
              <a:xfrm>
                <a:off x="5260077" y="3436665"/>
                <a:ext cx="1320340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5753036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" name="정육면체 15"/>
              <p:cNvSpPr/>
              <p:nvPr/>
            </p:nvSpPr>
            <p:spPr>
              <a:xfrm>
                <a:off x="6415398" y="3436665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6624168" y="3442487"/>
                <a:ext cx="33534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D-3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" name="정육면체 17"/>
              <p:cNvSpPr/>
              <p:nvPr/>
            </p:nvSpPr>
            <p:spPr>
              <a:xfrm>
                <a:off x="7184024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7207292" y="4790285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E-5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" name="정육면체 19"/>
              <p:cNvSpPr/>
              <p:nvPr/>
            </p:nvSpPr>
            <p:spPr>
              <a:xfrm>
                <a:off x="6848894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718286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" name="정육면체 21"/>
              <p:cNvSpPr/>
              <p:nvPr/>
            </p:nvSpPr>
            <p:spPr>
              <a:xfrm>
                <a:off x="6462806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6796782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E-1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" name="정육면체 23"/>
              <p:cNvSpPr/>
              <p:nvPr/>
            </p:nvSpPr>
            <p:spPr>
              <a:xfrm>
                <a:off x="3872224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4068962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6" name="정육면체 25"/>
              <p:cNvSpPr/>
              <p:nvPr/>
            </p:nvSpPr>
            <p:spPr>
              <a:xfrm>
                <a:off x="4460671" y="4928787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7" name="TextBox 26"/>
              <p:cNvSpPr txBox="1"/>
              <p:nvPr/>
            </p:nvSpPr>
            <p:spPr>
              <a:xfrm>
                <a:off x="4657409" y="495223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" name="정육면체 27"/>
              <p:cNvSpPr/>
              <p:nvPr/>
            </p:nvSpPr>
            <p:spPr>
              <a:xfrm>
                <a:off x="5027545" y="493008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9" name="TextBox 28"/>
              <p:cNvSpPr txBox="1"/>
              <p:nvPr/>
            </p:nvSpPr>
            <p:spPr>
              <a:xfrm>
                <a:off x="5224281" y="4953529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" name="정육면체 29"/>
              <p:cNvSpPr/>
              <p:nvPr/>
            </p:nvSpPr>
            <p:spPr>
              <a:xfrm>
                <a:off x="5596942" y="4786064"/>
                <a:ext cx="810387" cy="574771"/>
              </a:xfrm>
              <a:prstGeom prst="cube">
                <a:avLst>
                  <a:gd name="adj" fmla="val 60033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" name="TextBox 30"/>
              <p:cNvSpPr txBox="1"/>
              <p:nvPr/>
            </p:nvSpPr>
            <p:spPr>
              <a:xfrm>
                <a:off x="5802177" y="4912016"/>
                <a:ext cx="328936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C-4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" name="정육면체 31"/>
              <p:cNvSpPr/>
              <p:nvPr/>
            </p:nvSpPr>
            <p:spPr>
              <a:xfrm>
                <a:off x="7750755" y="4712763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" name="정육면체 32"/>
              <p:cNvSpPr/>
              <p:nvPr/>
            </p:nvSpPr>
            <p:spPr>
              <a:xfrm>
                <a:off x="7415625" y="5273269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7749599" y="5307057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" name="정육면체 34"/>
              <p:cNvSpPr/>
              <p:nvPr/>
            </p:nvSpPr>
            <p:spPr>
              <a:xfrm>
                <a:off x="7029537" y="5889576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" name="TextBox 35"/>
              <p:cNvSpPr txBox="1"/>
              <p:nvPr/>
            </p:nvSpPr>
            <p:spPr>
              <a:xfrm>
                <a:off x="7363511" y="5923364"/>
                <a:ext cx="133050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" name="정육면체 36"/>
              <p:cNvSpPr/>
              <p:nvPr/>
            </p:nvSpPr>
            <p:spPr>
              <a:xfrm>
                <a:off x="5078008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528918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" name="정육면체 38"/>
              <p:cNvSpPr/>
              <p:nvPr/>
            </p:nvSpPr>
            <p:spPr>
              <a:xfrm>
                <a:off x="5644739" y="6934950"/>
                <a:ext cx="752891" cy="432048"/>
              </a:xfrm>
              <a:prstGeom prst="cube">
                <a:avLst>
                  <a:gd name="adj" fmla="val 47880"/>
                </a:avLst>
              </a:prstGeom>
              <a:pattFill prst="lgGrid">
                <a:fgClr>
                  <a:schemeClr val="bg2">
                    <a:lumMod val="90000"/>
                  </a:schemeClr>
                </a:fgClr>
                <a:bgClr>
                  <a:schemeClr val="bg1"/>
                </a:bgClr>
              </a:patt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5855915" y="6940772"/>
                <a:ext cx="330540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6468780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" name="직사각형 41"/>
              <p:cNvSpPr/>
              <p:nvPr/>
            </p:nvSpPr>
            <p:spPr>
              <a:xfrm>
                <a:off x="7035511" y="6238379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3" name="직사각형 42"/>
              <p:cNvSpPr/>
              <p:nvPr/>
            </p:nvSpPr>
            <p:spPr>
              <a:xfrm>
                <a:off x="6854452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직사각형 43"/>
              <p:cNvSpPr/>
              <p:nvPr/>
            </p:nvSpPr>
            <p:spPr>
              <a:xfrm>
                <a:off x="7421183" y="5622471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직사각형 44"/>
              <p:cNvSpPr/>
              <p:nvPr/>
            </p:nvSpPr>
            <p:spPr>
              <a:xfrm>
                <a:off x="7188177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7754908" y="5065240"/>
                <a:ext cx="538297" cy="80864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7766730" y="4777272"/>
                <a:ext cx="67532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E-6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3342428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B-1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3930874" y="605212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B-2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4497746" y="6053418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B-3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TextBox 50"/>
              <p:cNvSpPr txBox="1"/>
              <p:nvPr/>
            </p:nvSpPr>
            <p:spPr>
              <a:xfrm>
                <a:off x="5075642" y="6011905"/>
                <a:ext cx="324128" cy="20005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altLang="ko-KR" sz="7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B-4</a:t>
                </a:r>
                <a:endPara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2" name="직사각형 51"/>
              <p:cNvSpPr/>
              <p:nvPr/>
            </p:nvSpPr>
            <p:spPr>
              <a:xfrm>
                <a:off x="5255107" y="3788495"/>
                <a:ext cx="1117997" cy="100353"/>
              </a:xfrm>
              <a:prstGeom prst="rect">
                <a:avLst/>
              </a:prstGeom>
              <a:solidFill>
                <a:schemeClr val="accent2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80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53" name="직사각형 52"/>
          <p:cNvSpPr/>
          <p:nvPr/>
        </p:nvSpPr>
        <p:spPr>
          <a:xfrm>
            <a:off x="410705" y="2317309"/>
            <a:ext cx="1439999" cy="183521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543578" y="2840155"/>
            <a:ext cx="816662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55" name="직사각형 54"/>
          <p:cNvSpPr/>
          <p:nvPr/>
        </p:nvSpPr>
        <p:spPr>
          <a:xfrm>
            <a:off x="498354" y="2396305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258422" y="2840155"/>
            <a:ext cx="461858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sp>
        <p:nvSpPr>
          <p:cNvPr id="57" name="직사각형 56"/>
          <p:cNvSpPr/>
          <p:nvPr/>
        </p:nvSpPr>
        <p:spPr>
          <a:xfrm>
            <a:off x="410705" y="4156791"/>
            <a:ext cx="1439999" cy="2011961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543578" y="4646173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59" name="직사각형 58"/>
          <p:cNvSpPr/>
          <p:nvPr/>
        </p:nvSpPr>
        <p:spPr>
          <a:xfrm>
            <a:off x="498354" y="4235787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1258422" y="4646173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518636" y="5708746"/>
            <a:ext cx="1224136" cy="315990"/>
            <a:chOff x="2296344" y="2444725"/>
            <a:chExt cx="1224136" cy="315990"/>
          </a:xfrm>
        </p:grpSpPr>
        <p:sp>
          <p:nvSpPr>
            <p:cNvPr id="62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63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sp>
        <p:nvSpPr>
          <p:cNvPr id="64" name="직사각형 63"/>
          <p:cNvSpPr/>
          <p:nvPr/>
        </p:nvSpPr>
        <p:spPr>
          <a:xfrm>
            <a:off x="410705" y="6168753"/>
            <a:ext cx="1439999" cy="1969408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543578" y="6658134"/>
            <a:ext cx="816662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 dirty="0" err="1">
                <a:latin typeface="+mn-ea"/>
              </a:rPr>
              <a:t>미설치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설치</a:t>
            </a:r>
            <a:endParaRPr lang="en-US" altLang="ko-KR" sz="10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1000" dirty="0">
                <a:latin typeface="+mn-ea"/>
              </a:rPr>
              <a:t>해제</a:t>
            </a:r>
          </a:p>
        </p:txBody>
      </p:sp>
      <p:sp>
        <p:nvSpPr>
          <p:cNvPr id="66" name="직사각형 65"/>
          <p:cNvSpPr/>
          <p:nvPr/>
        </p:nvSpPr>
        <p:spPr>
          <a:xfrm>
            <a:off x="498354" y="6247748"/>
            <a:ext cx="1278520" cy="22823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b="1" dirty="0">
                <a:latin typeface="+mn-ea"/>
              </a:rPr>
              <a:t>제 </a:t>
            </a:r>
            <a:r>
              <a:rPr lang="en-US" altLang="ko-KR" sz="800" b="1" dirty="0">
                <a:latin typeface="+mn-ea"/>
              </a:rPr>
              <a:t>00 </a:t>
            </a:r>
            <a:r>
              <a:rPr lang="ko-KR" altLang="en-US" sz="800" b="1">
                <a:latin typeface="+mn-ea"/>
              </a:rPr>
              <a:t>공장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258422" y="6658134"/>
            <a:ext cx="461858" cy="66274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14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27</a:t>
            </a:r>
          </a:p>
          <a:p>
            <a:pPr algn="r">
              <a:lnSpc>
                <a:spcPct val="150000"/>
              </a:lnSpc>
            </a:pPr>
            <a:r>
              <a:rPr lang="en-US" altLang="ko-KR" sz="1000" dirty="0">
                <a:latin typeface="+mn-ea"/>
              </a:rPr>
              <a:t>12</a:t>
            </a:r>
            <a:endParaRPr lang="ko-KR" altLang="en-US" sz="1000" dirty="0">
              <a:latin typeface="+mn-ea"/>
            </a:endParaRPr>
          </a:p>
        </p:txBody>
      </p:sp>
      <p:grpSp>
        <p:nvGrpSpPr>
          <p:cNvPr id="68" name="그룹 67"/>
          <p:cNvGrpSpPr/>
          <p:nvPr/>
        </p:nvGrpSpPr>
        <p:grpSpPr>
          <a:xfrm>
            <a:off x="518636" y="7720707"/>
            <a:ext cx="1224136" cy="315990"/>
            <a:chOff x="2296344" y="2444725"/>
            <a:chExt cx="1224136" cy="315990"/>
          </a:xfrm>
        </p:grpSpPr>
        <p:sp>
          <p:nvSpPr>
            <p:cNvPr id="69" name="Search Box Rectangle"/>
            <p:cNvSpPr>
              <a:spLocks/>
            </p:cNvSpPr>
            <p:nvPr/>
          </p:nvSpPr>
          <p:spPr bwMode="auto">
            <a:xfrm>
              <a:off x="2296344" y="2444725"/>
              <a:ext cx="1224136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1</a:t>
              </a:r>
              <a:r>
                <a: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  <a:cs typeface="Segoe UI" pitchFamily="34" charset="0"/>
                </a:rPr>
                <a:t>층</a:t>
              </a:r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endParaRPr>
            </a:p>
          </p:txBody>
        </p:sp>
        <p:sp>
          <p:nvSpPr>
            <p:cNvPr id="70" name="Chevron"/>
            <p:cNvSpPr>
              <a:spLocks noChangeAspect="1"/>
            </p:cNvSpPr>
            <p:nvPr/>
          </p:nvSpPr>
          <p:spPr bwMode="auto">
            <a:xfrm>
              <a:off x="3304456" y="2557016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+mn-ea"/>
                <a:cs typeface="Segoe UI" pitchFamily="34" charset="0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9094931" y="2476891"/>
            <a:ext cx="762252" cy="327237"/>
            <a:chOff x="9094931" y="2476891"/>
            <a:chExt cx="762252" cy="327237"/>
          </a:xfrm>
        </p:grpSpPr>
        <p:grpSp>
          <p:nvGrpSpPr>
            <p:cNvPr id="72" name="그룹 71"/>
            <p:cNvGrpSpPr/>
            <p:nvPr/>
          </p:nvGrpSpPr>
          <p:grpSpPr>
            <a:xfrm>
              <a:off x="9529946" y="2476891"/>
              <a:ext cx="327237" cy="327237"/>
              <a:chOff x="9425136" y="2476891"/>
              <a:chExt cx="432048" cy="432048"/>
            </a:xfrm>
          </p:grpSpPr>
          <p:sp>
            <p:nvSpPr>
              <p:cNvPr id="76" name="타원 75"/>
              <p:cNvSpPr/>
              <p:nvPr/>
            </p:nvSpPr>
            <p:spPr>
              <a:xfrm>
                <a:off x="9425136" y="2476891"/>
                <a:ext cx="432048" cy="432048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77" name="그림 76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08759" y="2560514"/>
                <a:ext cx="264802" cy="264802"/>
              </a:xfrm>
              <a:prstGeom prst="rect">
                <a:avLst/>
              </a:prstGeom>
            </p:spPr>
          </p:pic>
        </p:grpSp>
        <p:grpSp>
          <p:nvGrpSpPr>
            <p:cNvPr id="73" name="그룹 72"/>
            <p:cNvGrpSpPr/>
            <p:nvPr/>
          </p:nvGrpSpPr>
          <p:grpSpPr>
            <a:xfrm>
              <a:off x="9094931" y="2476891"/>
              <a:ext cx="327237" cy="327237"/>
              <a:chOff x="9094931" y="2476891"/>
              <a:chExt cx="327237" cy="327237"/>
            </a:xfrm>
          </p:grpSpPr>
          <p:sp>
            <p:nvSpPr>
              <p:cNvPr id="74" name="타원 73"/>
              <p:cNvSpPr/>
              <p:nvPr/>
            </p:nvSpPr>
            <p:spPr>
              <a:xfrm>
                <a:off x="9094931" y="2476891"/>
                <a:ext cx="327237" cy="327237"/>
              </a:xfrm>
              <a:prstGeom prst="ellipse">
                <a:avLst/>
              </a:prstGeom>
              <a:solidFill>
                <a:schemeClr val="tx1">
                  <a:alpha val="63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75" name="그림 74"/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161582" y="2540228"/>
                <a:ext cx="193933" cy="193933"/>
              </a:xfrm>
              <a:prstGeom prst="rect">
                <a:avLst/>
              </a:prstGeom>
            </p:spPr>
          </p:pic>
        </p:grpSp>
      </p:grpSp>
      <p:sp>
        <p:nvSpPr>
          <p:cNvPr id="78" name="TextBox 77"/>
          <p:cNvSpPr txBox="1"/>
          <p:nvPr/>
        </p:nvSpPr>
        <p:spPr>
          <a:xfrm>
            <a:off x="2143777" y="2486746"/>
            <a:ext cx="287578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[1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층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]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가스센서</a:t>
            </a:r>
            <a:r>
              <a:rPr lang="en-US" altLang="ko-KR" sz="2000" dirty="0">
                <a:latin typeface="+mj-lt"/>
                <a:ea typeface="맑은 고딕" panose="020B0503020000020004" pitchFamily="50" charset="-127"/>
              </a:rPr>
              <a:t> </a:t>
            </a:r>
            <a:r>
              <a:rPr lang="ko-KR" altLang="en-US" sz="2000">
                <a:latin typeface="+mj-lt"/>
                <a:ea typeface="맑은 고딕" panose="020B0503020000020004" pitchFamily="50" charset="-127"/>
              </a:rPr>
              <a:t>설치 현황</a:t>
            </a:r>
            <a:endParaRPr lang="ko-KR" altLang="en-US" sz="2000" b="1" dirty="0">
              <a:latin typeface="+mj-lt"/>
              <a:ea typeface="맑은 고딕" panose="020B0503020000020004" pitchFamily="50" charset="-127"/>
            </a:endParaRPr>
          </a:p>
        </p:txBody>
      </p:sp>
      <p:grpSp>
        <p:nvGrpSpPr>
          <p:cNvPr id="79" name="그룹 78"/>
          <p:cNvGrpSpPr/>
          <p:nvPr/>
        </p:nvGrpSpPr>
        <p:grpSpPr>
          <a:xfrm>
            <a:off x="7097223" y="3949821"/>
            <a:ext cx="421136" cy="439919"/>
            <a:chOff x="7469798" y="4368622"/>
            <a:chExt cx="421136" cy="439919"/>
          </a:xfrm>
        </p:grpSpPr>
        <p:grpSp>
          <p:nvGrpSpPr>
            <p:cNvPr id="80" name="그룹 79"/>
            <p:cNvGrpSpPr/>
            <p:nvPr/>
          </p:nvGrpSpPr>
          <p:grpSpPr>
            <a:xfrm>
              <a:off x="7469798" y="4368622"/>
              <a:ext cx="412820" cy="439919"/>
              <a:chOff x="11556504" y="5152407"/>
              <a:chExt cx="540060" cy="623472"/>
            </a:xfrm>
          </p:grpSpPr>
          <p:sp>
            <p:nvSpPr>
              <p:cNvPr id="87" name="타원 86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88" name="이등변 삼각형 87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81" name="그룹 80"/>
            <p:cNvGrpSpPr/>
            <p:nvPr/>
          </p:nvGrpSpPr>
          <p:grpSpPr>
            <a:xfrm>
              <a:off x="7523055" y="4460736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83" name="모서리가 둥근 직사각형 82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84" name="타원 83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85" name="직선 연결선 84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" name="TextBox 81"/>
            <p:cNvSpPr txBox="1"/>
            <p:nvPr/>
          </p:nvSpPr>
          <p:spPr>
            <a:xfrm>
              <a:off x="7656574" y="4484277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2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03" name="그룹 102"/>
          <p:cNvGrpSpPr/>
          <p:nvPr/>
        </p:nvGrpSpPr>
        <p:grpSpPr>
          <a:xfrm>
            <a:off x="6297001" y="5052173"/>
            <a:ext cx="429910" cy="439919"/>
            <a:chOff x="7819674" y="4941028"/>
            <a:chExt cx="429910" cy="439919"/>
          </a:xfrm>
        </p:grpSpPr>
        <p:grpSp>
          <p:nvGrpSpPr>
            <p:cNvPr id="94" name="그룹 93"/>
            <p:cNvGrpSpPr/>
            <p:nvPr/>
          </p:nvGrpSpPr>
          <p:grpSpPr>
            <a:xfrm>
              <a:off x="7819674" y="4941028"/>
              <a:ext cx="412820" cy="439919"/>
              <a:chOff x="11556504" y="5152407"/>
              <a:chExt cx="540060" cy="623472"/>
            </a:xfrm>
          </p:grpSpPr>
          <p:sp>
            <p:nvSpPr>
              <p:cNvPr id="95" name="타원 94"/>
              <p:cNvSpPr/>
              <p:nvPr/>
            </p:nvSpPr>
            <p:spPr>
              <a:xfrm>
                <a:off x="11556504" y="5152407"/>
                <a:ext cx="540060" cy="540060"/>
              </a:xfrm>
              <a:prstGeom prst="ellips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6" name="이등변 삼각형 95"/>
              <p:cNvSpPr/>
              <p:nvPr/>
            </p:nvSpPr>
            <p:spPr>
              <a:xfrm rot="10800000">
                <a:off x="11787073" y="5707843"/>
                <a:ext cx="78922" cy="68036"/>
              </a:xfrm>
              <a:prstGeom prst="triangle">
                <a:avLst/>
              </a:pr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7869564" y="5033142"/>
              <a:ext cx="241340" cy="206244"/>
              <a:chOff x="7381994" y="979208"/>
              <a:chExt cx="172252" cy="147203"/>
            </a:xfrm>
            <a:solidFill>
              <a:schemeClr val="tx1"/>
            </a:solidFill>
          </p:grpSpPr>
          <p:sp>
            <p:nvSpPr>
              <p:cNvPr id="98" name="모서리가 둥근 직사각형 97"/>
              <p:cNvSpPr/>
              <p:nvPr/>
            </p:nvSpPr>
            <p:spPr>
              <a:xfrm>
                <a:off x="7381994" y="979208"/>
                <a:ext cx="118619" cy="147203"/>
              </a:xfrm>
              <a:prstGeom prst="roundRect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sp>
            <p:nvSpPr>
              <p:cNvPr id="99" name="타원 98"/>
              <p:cNvSpPr/>
              <p:nvPr/>
            </p:nvSpPr>
            <p:spPr>
              <a:xfrm>
                <a:off x="7420055" y="1049431"/>
                <a:ext cx="45719" cy="45719"/>
              </a:xfrm>
              <a:prstGeom prst="ellipse">
                <a:avLst/>
              </a:prstGeom>
              <a:grp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  <p:cxnSp>
            <p:nvCxnSpPr>
              <p:cNvPr id="100" name="직선 연결선 99"/>
              <p:cNvCxnSpPr/>
              <p:nvPr/>
            </p:nvCxnSpPr>
            <p:spPr>
              <a:xfrm>
                <a:off x="7471919" y="1023701"/>
                <a:ext cx="54955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직선 연결선 100"/>
              <p:cNvCxnSpPr/>
              <p:nvPr/>
            </p:nvCxnSpPr>
            <p:spPr>
              <a:xfrm>
                <a:off x="7469736" y="1005042"/>
                <a:ext cx="84510" cy="0"/>
              </a:xfrm>
              <a:prstGeom prst="lin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2" name="TextBox 101"/>
            <p:cNvSpPr txBox="1"/>
            <p:nvPr/>
          </p:nvSpPr>
          <p:spPr>
            <a:xfrm>
              <a:off x="8015224" y="5043099"/>
              <a:ext cx="234360" cy="20005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sym typeface="Wingdings" panose="05000000000000000000" pitchFamily="2" charset="2"/>
                </a:rPr>
                <a:t>1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endParaRPr>
            </a:p>
          </p:txBody>
        </p:sp>
      </p:grpSp>
      <p:grpSp>
        <p:nvGrpSpPr>
          <p:cNvPr id="105" name="그룹 104"/>
          <p:cNvGrpSpPr/>
          <p:nvPr/>
        </p:nvGrpSpPr>
        <p:grpSpPr>
          <a:xfrm>
            <a:off x="6795857" y="5062645"/>
            <a:ext cx="412820" cy="439919"/>
            <a:chOff x="11556504" y="5152407"/>
            <a:chExt cx="540060" cy="623472"/>
          </a:xfrm>
        </p:grpSpPr>
        <p:sp>
          <p:nvSpPr>
            <p:cNvPr id="112" name="타원 111"/>
            <p:cNvSpPr/>
            <p:nvPr/>
          </p:nvSpPr>
          <p:spPr>
            <a:xfrm>
              <a:off x="11556504" y="5152407"/>
              <a:ext cx="540060" cy="54006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3" name="이등변 삼각형 112"/>
            <p:cNvSpPr/>
            <p:nvPr/>
          </p:nvSpPr>
          <p:spPr>
            <a:xfrm rot="10800000">
              <a:off x="11787073" y="5707843"/>
              <a:ext cx="78922" cy="68036"/>
            </a:xfrm>
            <a:prstGeom prst="triangle">
              <a:avLst/>
            </a:pr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</p:grpSp>
      <p:grpSp>
        <p:nvGrpSpPr>
          <p:cNvPr id="106" name="그룹 105"/>
          <p:cNvGrpSpPr/>
          <p:nvPr/>
        </p:nvGrpSpPr>
        <p:grpSpPr>
          <a:xfrm>
            <a:off x="6845747" y="5154759"/>
            <a:ext cx="241340" cy="206244"/>
            <a:chOff x="7381994" y="979208"/>
            <a:chExt cx="172252" cy="147203"/>
          </a:xfrm>
          <a:solidFill>
            <a:schemeClr val="tx1"/>
          </a:solidFill>
        </p:grpSpPr>
        <p:sp>
          <p:nvSpPr>
            <p:cNvPr id="108" name="모서리가 둥근 직사각형 107"/>
            <p:cNvSpPr/>
            <p:nvPr/>
          </p:nvSpPr>
          <p:spPr>
            <a:xfrm>
              <a:off x="7381994" y="979208"/>
              <a:ext cx="118619" cy="147203"/>
            </a:xfrm>
            <a:prstGeom prst="roundRect">
              <a:avLst/>
            </a:prstGeom>
            <a:solidFill>
              <a:srgbClr val="7F7F7F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09" name="타원 108"/>
            <p:cNvSpPr/>
            <p:nvPr/>
          </p:nvSpPr>
          <p:spPr>
            <a:xfrm>
              <a:off x="7420055" y="1049431"/>
              <a:ext cx="45719" cy="45719"/>
            </a:xfrm>
            <a:prstGeom prst="ellipse">
              <a:avLst/>
            </a:prstGeom>
            <a:solidFill>
              <a:srgbClr val="7F7F7F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cxnSp>
          <p:nvCxnSpPr>
            <p:cNvPr id="110" name="직선 연결선 109"/>
            <p:cNvCxnSpPr/>
            <p:nvPr/>
          </p:nvCxnSpPr>
          <p:spPr>
            <a:xfrm>
              <a:off x="7471919" y="1023701"/>
              <a:ext cx="54955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>
              <a:off x="7469736" y="1005042"/>
              <a:ext cx="84510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TextBox 106"/>
          <p:cNvSpPr txBox="1"/>
          <p:nvPr/>
        </p:nvSpPr>
        <p:spPr>
          <a:xfrm>
            <a:off x="6991407" y="5164716"/>
            <a:ext cx="234360" cy="20005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anose="05000000000000000000" pitchFamily="2" charset="2"/>
              </a:rPr>
              <a:t>1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sym typeface="Wingdings" panose="05000000000000000000" pitchFamily="2" charset="2"/>
            </a:endParaRPr>
          </a:p>
        </p:txBody>
      </p:sp>
      <p:sp>
        <p:nvSpPr>
          <p:cNvPr id="123" name="직사각형 122"/>
          <p:cNvSpPr/>
          <p:nvPr/>
        </p:nvSpPr>
        <p:spPr>
          <a:xfrm>
            <a:off x="7206730" y="383683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24" name="표 1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267442"/>
              </p:ext>
            </p:extLst>
          </p:nvPr>
        </p:nvGraphicFramePr>
        <p:xfrm>
          <a:off x="10633534" y="1272208"/>
          <a:ext cx="2088232" cy="16137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터치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설치된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정보보기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설치된 가스센서 수량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 필요 가스센서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이상발생된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가스센서 아이콘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부족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5" name="직사각형 124"/>
          <p:cNvSpPr/>
          <p:nvPr/>
        </p:nvSpPr>
        <p:spPr>
          <a:xfrm>
            <a:off x="6926855" y="496215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6" name="타원 125"/>
          <p:cNvSpPr/>
          <p:nvPr/>
        </p:nvSpPr>
        <p:spPr>
          <a:xfrm>
            <a:off x="7380079" y="4464020"/>
            <a:ext cx="417904" cy="385757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이등변 삼각형 126"/>
          <p:cNvSpPr/>
          <p:nvPr/>
        </p:nvSpPr>
        <p:spPr>
          <a:xfrm rot="10800000">
            <a:off x="7558496" y="4860760"/>
            <a:ext cx="61071" cy="48597"/>
          </a:xfrm>
          <a:prstGeom prst="triangle">
            <a:avLst/>
          </a:pr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15" tIns="34208" rIns="68415" bIns="34208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7489948" y="4558997"/>
            <a:ext cx="241340" cy="206244"/>
            <a:chOff x="7381994" y="979208"/>
            <a:chExt cx="172252" cy="147203"/>
          </a:xfrm>
          <a:solidFill>
            <a:schemeClr val="tx1"/>
          </a:solidFill>
        </p:grpSpPr>
        <p:sp>
          <p:nvSpPr>
            <p:cNvPr id="134" name="모서리가 둥근 직사각형 133"/>
            <p:cNvSpPr/>
            <p:nvPr/>
          </p:nvSpPr>
          <p:spPr>
            <a:xfrm>
              <a:off x="7381994" y="979208"/>
              <a:ext cx="118619" cy="147203"/>
            </a:xfrm>
            <a:prstGeom prst="round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sp>
          <p:nvSpPr>
            <p:cNvPr id="135" name="타원 134"/>
            <p:cNvSpPr/>
            <p:nvPr/>
          </p:nvSpPr>
          <p:spPr>
            <a:xfrm>
              <a:off x="7420055" y="1049431"/>
              <a:ext cx="45719" cy="45719"/>
            </a:xfrm>
            <a:prstGeom prst="ellipse">
              <a:avLst/>
            </a:prstGeom>
            <a:solidFill>
              <a:srgbClr val="7F7F7F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endParaRPr>
            </a:p>
          </p:txBody>
        </p:sp>
        <p:cxnSp>
          <p:nvCxnSpPr>
            <p:cNvPr id="136" name="직선 연결선 135"/>
            <p:cNvCxnSpPr/>
            <p:nvPr/>
          </p:nvCxnSpPr>
          <p:spPr>
            <a:xfrm>
              <a:off x="7471919" y="1023701"/>
              <a:ext cx="54955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>
              <a:off x="7469736" y="1005042"/>
              <a:ext cx="84510" cy="0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직사각형 138"/>
          <p:cNvSpPr/>
          <p:nvPr/>
        </p:nvSpPr>
        <p:spPr>
          <a:xfrm>
            <a:off x="7505484" y="433962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40" name="모서리가 둥근 사각형 설명선 139"/>
          <p:cNvSpPr/>
          <p:nvPr/>
        </p:nvSpPr>
        <p:spPr>
          <a:xfrm>
            <a:off x="2200470" y="5491062"/>
            <a:ext cx="1095053" cy="356808"/>
          </a:xfrm>
          <a:prstGeom prst="wedgeRoundRectCallout">
            <a:avLst>
              <a:gd name="adj1" fmla="val 75072"/>
              <a:gd name="adj2" fmla="val 50012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006</a:t>
            </a:r>
          </a:p>
          <a:p>
            <a:pPr algn="ctr"/>
            <a:r>
              <a:rPr lang="ko-KR" altLang="en-US" sz="800" dirty="0"/>
              <a:t>구역 입실 정보</a:t>
            </a:r>
            <a:endParaRPr lang="en-US" altLang="ko-KR" sz="800" dirty="0"/>
          </a:p>
        </p:txBody>
      </p:sp>
      <p:sp>
        <p:nvSpPr>
          <p:cNvPr id="141" name="모서리가 둥근 사각형 설명선 140"/>
          <p:cNvSpPr/>
          <p:nvPr/>
        </p:nvSpPr>
        <p:spPr>
          <a:xfrm>
            <a:off x="7409198" y="3294994"/>
            <a:ext cx="1095053" cy="356808"/>
          </a:xfrm>
          <a:prstGeom prst="wedgeRoundRectCallout">
            <a:avLst>
              <a:gd name="adj1" fmla="val -54532"/>
              <a:gd name="adj2" fmla="val 170139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008</a:t>
            </a:r>
          </a:p>
          <a:p>
            <a:pPr algn="ctr"/>
            <a:r>
              <a:rPr lang="ko-KR" altLang="en-US" sz="800" dirty="0"/>
              <a:t>가스센서 정보보기</a:t>
            </a:r>
            <a:endParaRPr lang="en-US" altLang="ko-KR" sz="800" dirty="0"/>
          </a:p>
        </p:txBody>
      </p:sp>
      <p:sp>
        <p:nvSpPr>
          <p:cNvPr id="142" name="모서리가 둥근 사각형 설명선 141"/>
          <p:cNvSpPr/>
          <p:nvPr/>
        </p:nvSpPr>
        <p:spPr>
          <a:xfrm>
            <a:off x="8227322" y="4155084"/>
            <a:ext cx="1095053" cy="356808"/>
          </a:xfrm>
          <a:prstGeom prst="wedgeRoundRectCallout">
            <a:avLst>
              <a:gd name="adj1" fmla="val -95398"/>
              <a:gd name="adj2" fmla="val 77567"/>
              <a:gd name="adj3" fmla="val 16667"/>
            </a:avLst>
          </a:prstGeom>
          <a:solidFill>
            <a:srgbClr val="FF0000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Popup 029</a:t>
            </a:r>
          </a:p>
          <a:p>
            <a:pPr algn="ctr"/>
            <a:r>
              <a:rPr lang="ko-KR" altLang="en-US" sz="800" dirty="0"/>
              <a:t>가스센서 배터리 부족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144363345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819506" y="3020134"/>
            <a:ext cx="180049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200" b="1" dirty="0"/>
              <a:t>&lt;</a:t>
            </a:r>
            <a:r>
              <a:rPr lang="ko-KR" altLang="en-US" sz="1200" b="1"/>
              <a:t>위치 보기 버튼 누름</a:t>
            </a:r>
            <a:r>
              <a:rPr lang="en-US" altLang="ko-KR" sz="1200" b="1" dirty="0"/>
              <a:t>&gt;</a:t>
            </a:r>
            <a:endParaRPr lang="ko-KR" altLang="en-US" sz="1200" b="1" dirty="0"/>
          </a:p>
        </p:txBody>
      </p:sp>
      <p:sp>
        <p:nvSpPr>
          <p:cNvPr id="6" name="직사각형 5"/>
          <p:cNvSpPr/>
          <p:nvPr/>
        </p:nvSpPr>
        <p:spPr>
          <a:xfrm>
            <a:off x="5772340" y="3827208"/>
            <a:ext cx="1656184" cy="10976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3D Map </a:t>
            </a:r>
            <a:r>
              <a:rPr lang="ko-KR" altLang="en-US" sz="1000">
                <a:solidFill>
                  <a:schemeClr val="tx1"/>
                </a:solidFill>
                <a:latin typeface="+mn-ea"/>
              </a:rPr>
              <a:t>의 해당 위치를 보여줌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모서리가 둥근 직사각형 16"/>
          <p:cNvSpPr/>
          <p:nvPr/>
        </p:nvSpPr>
        <p:spPr>
          <a:xfrm>
            <a:off x="7805375" y="4225995"/>
            <a:ext cx="1404869" cy="28803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창 닫기</a:t>
            </a:r>
          </a:p>
        </p:txBody>
      </p:sp>
      <p:sp>
        <p:nvSpPr>
          <p:cNvPr id="18" name="모서리가 둥근 직사각형 17"/>
          <p:cNvSpPr/>
          <p:nvPr/>
        </p:nvSpPr>
        <p:spPr>
          <a:xfrm>
            <a:off x="9784882" y="4020949"/>
            <a:ext cx="1676090" cy="698124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지도로보기</a:t>
            </a:r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 버튼 누르기 직전의 화면으로 돌아옴</a:t>
            </a:r>
          </a:p>
        </p:txBody>
      </p:sp>
      <p:cxnSp>
        <p:nvCxnSpPr>
          <p:cNvPr id="19" name="직선 화살표 연결선 18"/>
          <p:cNvCxnSpPr>
            <a:stCxn id="6" idx="3"/>
          </p:cNvCxnSpPr>
          <p:nvPr/>
        </p:nvCxnSpPr>
        <p:spPr>
          <a:xfrm>
            <a:off x="7428524" y="4376018"/>
            <a:ext cx="37685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>
            <a:stCxn id="17" idx="3"/>
            <a:endCxn id="18" idx="1"/>
          </p:cNvCxnSpPr>
          <p:nvPr/>
        </p:nvCxnSpPr>
        <p:spPr>
          <a:xfrm>
            <a:off x="9210244" y="4370011"/>
            <a:ext cx="57463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그림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76264" y="1128192"/>
            <a:ext cx="3281009" cy="2495555"/>
          </a:xfrm>
          <a:prstGeom prst="rect">
            <a:avLst/>
          </a:prstGeom>
        </p:spPr>
      </p:pic>
      <p:pic>
        <p:nvPicPr>
          <p:cNvPr id="24" name="그림 2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66525" y="3804004"/>
            <a:ext cx="2450977" cy="451179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106706" y="8496922"/>
            <a:ext cx="37061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/>
              <a:t>등</a:t>
            </a:r>
            <a:r>
              <a:rPr lang="en-US" altLang="ko-KR" sz="1000" dirty="0"/>
              <a:t>..</a:t>
            </a:r>
            <a:endParaRPr lang="ko-KR" altLang="en-US" sz="1000" dirty="0"/>
          </a:p>
        </p:txBody>
      </p:sp>
      <p:sp>
        <p:nvSpPr>
          <p:cNvPr id="26" name="직사각형 25"/>
          <p:cNvSpPr/>
          <p:nvPr/>
        </p:nvSpPr>
        <p:spPr>
          <a:xfrm>
            <a:off x="3379689" y="2952390"/>
            <a:ext cx="680127" cy="670495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2066525" y="6159234"/>
            <a:ext cx="1185535" cy="360040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9" name="꺾인 연결선 28"/>
          <p:cNvCxnSpPr>
            <a:stCxn id="26" idx="3"/>
            <a:endCxn id="6" idx="1"/>
          </p:cNvCxnSpPr>
          <p:nvPr/>
        </p:nvCxnSpPr>
        <p:spPr>
          <a:xfrm>
            <a:off x="4059816" y="3287638"/>
            <a:ext cx="1712524" cy="1088380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꺾인 연결선 30"/>
          <p:cNvCxnSpPr>
            <a:stCxn id="27" idx="3"/>
            <a:endCxn id="6" idx="1"/>
          </p:cNvCxnSpPr>
          <p:nvPr/>
        </p:nvCxnSpPr>
        <p:spPr>
          <a:xfrm flipV="1">
            <a:off x="3252060" y="4376018"/>
            <a:ext cx="2520280" cy="1963236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모서리가 둥근 직사각형 34"/>
          <p:cNvSpPr/>
          <p:nvPr/>
        </p:nvSpPr>
        <p:spPr>
          <a:xfrm>
            <a:off x="208112" y="480120"/>
            <a:ext cx="991116" cy="328845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/>
              <a:t>Process 009</a:t>
            </a:r>
            <a:endParaRPr lang="ko-KR" altLang="en-US" sz="800" dirty="0"/>
          </a:p>
        </p:txBody>
      </p:sp>
      <p:sp>
        <p:nvSpPr>
          <p:cNvPr id="36" name="TextBox 35"/>
          <p:cNvSpPr txBox="1"/>
          <p:nvPr/>
        </p:nvSpPr>
        <p:spPr>
          <a:xfrm>
            <a:off x="1288232" y="562744"/>
            <a:ext cx="125547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/>
              <a:t>지도보기 프로세스</a:t>
            </a:r>
          </a:p>
        </p:txBody>
      </p:sp>
    </p:spTree>
    <p:extLst>
      <p:ext uri="{BB962C8B-B14F-4D97-AF65-F5344CB8AC3E}">
        <p14:creationId xmlns:p14="http://schemas.microsoft.com/office/powerpoint/2010/main" val="385452984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06808" y="1128192"/>
            <a:ext cx="9727341" cy="698477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blurRad="50800" dist="254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 err="1"/>
          </a:p>
        </p:txBody>
      </p:sp>
      <p:sp>
        <p:nvSpPr>
          <p:cNvPr id="3" name="TextBox 2"/>
          <p:cNvSpPr txBox="1"/>
          <p:nvPr/>
        </p:nvSpPr>
        <p:spPr>
          <a:xfrm>
            <a:off x="568152" y="1353424"/>
            <a:ext cx="215956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>
                <a:latin typeface="+mn-ea"/>
              </a:rPr>
              <a:t>위치 지도로 보기</a:t>
            </a:r>
            <a:endParaRPr lang="ko-KR" altLang="en-US" sz="2000" b="1" dirty="0"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514807" y="1284410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2368352" y="2374826"/>
            <a:ext cx="5482007" cy="4767517"/>
            <a:chOff x="3131115" y="3227176"/>
            <a:chExt cx="5372531" cy="4237720"/>
          </a:xfrm>
        </p:grpSpPr>
        <p:sp>
          <p:nvSpPr>
            <p:cNvPr id="6" name="정육면체 5"/>
            <p:cNvSpPr/>
            <p:nvPr/>
          </p:nvSpPr>
          <p:spPr>
            <a:xfrm>
              <a:off x="3278324" y="7032848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3489502" y="7038670"/>
              <a:ext cx="330540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A-1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" name="정육면체 7"/>
            <p:cNvSpPr/>
            <p:nvPr/>
          </p:nvSpPr>
          <p:spPr>
            <a:xfrm>
              <a:off x="3866771" y="7031555"/>
              <a:ext cx="752891" cy="432048"/>
            </a:xfrm>
            <a:prstGeom prst="cube">
              <a:avLst>
                <a:gd name="adj" fmla="val 47880"/>
              </a:avLst>
            </a:prstGeom>
            <a:pattFill prst="lgGrid">
              <a:fgClr>
                <a:schemeClr val="bg2">
                  <a:lumMod val="90000"/>
                </a:schemeClr>
              </a:fgClr>
              <a:bgClr>
                <a:schemeClr val="bg1"/>
              </a:bgClr>
            </a:patt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4077946" y="7037377"/>
              <a:ext cx="330540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A-2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정육면체 9"/>
            <p:cNvSpPr/>
            <p:nvPr/>
          </p:nvSpPr>
          <p:spPr>
            <a:xfrm>
              <a:off x="3131115" y="6024736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정육면체 10"/>
            <p:cNvSpPr/>
            <p:nvPr/>
          </p:nvSpPr>
          <p:spPr>
            <a:xfrm>
              <a:off x="3719562" y="6023443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정육면체 11"/>
            <p:cNvSpPr/>
            <p:nvPr/>
          </p:nvSpPr>
          <p:spPr>
            <a:xfrm>
              <a:off x="4286436" y="6024736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정육면체 12"/>
            <p:cNvSpPr/>
            <p:nvPr/>
          </p:nvSpPr>
          <p:spPr>
            <a:xfrm>
              <a:off x="4855833" y="5880720"/>
              <a:ext cx="810387" cy="574771"/>
            </a:xfrm>
            <a:prstGeom prst="cube">
              <a:avLst>
                <a:gd name="adj" fmla="val 60033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정육면체 13"/>
            <p:cNvSpPr/>
            <p:nvPr/>
          </p:nvSpPr>
          <p:spPr>
            <a:xfrm>
              <a:off x="6623398" y="3227176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정육면체 14"/>
            <p:cNvSpPr/>
            <p:nvPr/>
          </p:nvSpPr>
          <p:spPr>
            <a:xfrm>
              <a:off x="5260077" y="3436665"/>
              <a:ext cx="1320340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5753036" y="3442487"/>
              <a:ext cx="33534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D-1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정육면체 16"/>
            <p:cNvSpPr/>
            <p:nvPr/>
          </p:nvSpPr>
          <p:spPr>
            <a:xfrm>
              <a:off x="6415398" y="3436665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6624168" y="3442487"/>
              <a:ext cx="33534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D-3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정육면체 18"/>
            <p:cNvSpPr/>
            <p:nvPr/>
          </p:nvSpPr>
          <p:spPr>
            <a:xfrm>
              <a:off x="7184024" y="4712763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7207292" y="4790285"/>
              <a:ext cx="6753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E-5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정육면체 20"/>
            <p:cNvSpPr/>
            <p:nvPr/>
          </p:nvSpPr>
          <p:spPr>
            <a:xfrm>
              <a:off x="6848894" y="5273269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7182869" y="5307057"/>
              <a:ext cx="133050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E-3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정육면체 22"/>
            <p:cNvSpPr/>
            <p:nvPr/>
          </p:nvSpPr>
          <p:spPr>
            <a:xfrm>
              <a:off x="6462806" y="5889576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6796782" y="5923364"/>
              <a:ext cx="133050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E-1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정육면체 24"/>
            <p:cNvSpPr/>
            <p:nvPr/>
          </p:nvSpPr>
          <p:spPr>
            <a:xfrm>
              <a:off x="3872224" y="4930080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4068962" y="4953529"/>
              <a:ext cx="328936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C-1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정육면체 26"/>
            <p:cNvSpPr/>
            <p:nvPr/>
          </p:nvSpPr>
          <p:spPr>
            <a:xfrm>
              <a:off x="4460671" y="4928787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4657409" y="4952236"/>
              <a:ext cx="328936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C-2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정육면체 28"/>
            <p:cNvSpPr/>
            <p:nvPr/>
          </p:nvSpPr>
          <p:spPr>
            <a:xfrm>
              <a:off x="5027545" y="4930080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5224281" y="4953529"/>
              <a:ext cx="328936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C-3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정육면체 30"/>
            <p:cNvSpPr/>
            <p:nvPr/>
          </p:nvSpPr>
          <p:spPr>
            <a:xfrm>
              <a:off x="5596942" y="4786064"/>
              <a:ext cx="810387" cy="574771"/>
            </a:xfrm>
            <a:prstGeom prst="cube">
              <a:avLst>
                <a:gd name="adj" fmla="val 60033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5802177" y="4912016"/>
              <a:ext cx="328936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C-4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정육면체 32"/>
            <p:cNvSpPr/>
            <p:nvPr/>
          </p:nvSpPr>
          <p:spPr>
            <a:xfrm>
              <a:off x="7750755" y="4712763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정육면체 33"/>
            <p:cNvSpPr/>
            <p:nvPr/>
          </p:nvSpPr>
          <p:spPr>
            <a:xfrm>
              <a:off x="7415625" y="5273269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7749599" y="5307057"/>
              <a:ext cx="133050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E-4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정육면체 35"/>
            <p:cNvSpPr/>
            <p:nvPr/>
          </p:nvSpPr>
          <p:spPr>
            <a:xfrm>
              <a:off x="7029537" y="5889576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7363511" y="5923364"/>
              <a:ext cx="133050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E-2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정육면체 37"/>
            <p:cNvSpPr/>
            <p:nvPr/>
          </p:nvSpPr>
          <p:spPr>
            <a:xfrm>
              <a:off x="5078008" y="6934950"/>
              <a:ext cx="752891" cy="432048"/>
            </a:xfrm>
            <a:prstGeom prst="cube">
              <a:avLst>
                <a:gd name="adj" fmla="val 4788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5289185" y="6940772"/>
              <a:ext cx="330540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A-3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정육면체 39"/>
            <p:cNvSpPr/>
            <p:nvPr/>
          </p:nvSpPr>
          <p:spPr>
            <a:xfrm>
              <a:off x="5644739" y="6934950"/>
              <a:ext cx="752891" cy="432048"/>
            </a:xfrm>
            <a:prstGeom prst="cube">
              <a:avLst>
                <a:gd name="adj" fmla="val 47880"/>
              </a:avLst>
            </a:prstGeom>
            <a:pattFill prst="lgGrid">
              <a:fgClr>
                <a:schemeClr val="bg2">
                  <a:lumMod val="90000"/>
                </a:schemeClr>
              </a:fgClr>
              <a:bgClr>
                <a:schemeClr val="bg1"/>
              </a:bgClr>
            </a:patt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855915" y="6940772"/>
              <a:ext cx="330540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A-4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6468780" y="6238379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7035511" y="6238379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6854452" y="5622471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7421183" y="5622471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7188177" y="5065240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7754908" y="5065240"/>
              <a:ext cx="538297" cy="80864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7766730" y="4777272"/>
              <a:ext cx="675326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E-6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3342428" y="6053418"/>
              <a:ext cx="32412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B-1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3930874" y="6052125"/>
              <a:ext cx="32412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B-2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97746" y="6053418"/>
              <a:ext cx="32412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B-3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075642" y="6011905"/>
              <a:ext cx="324128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7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B-4</a:t>
              </a:r>
              <a:endPara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5255107" y="3788495"/>
              <a:ext cx="1117997" cy="100353"/>
            </a:xfrm>
            <a:prstGeom prst="rect">
              <a:avLst/>
            </a:prstGeom>
            <a:solidFill>
              <a:schemeClr val="accent2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54" name="그림 5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4920" y="3432448"/>
            <a:ext cx="858202" cy="858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406075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</a:p>
        </p:txBody>
      </p:sp>
    </p:spTree>
    <p:extLst>
      <p:ext uri="{BB962C8B-B14F-4D97-AF65-F5344CB8AC3E}">
        <p14:creationId xmlns:p14="http://schemas.microsoft.com/office/powerpoint/2010/main" val="2287924034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직사각형 14"/>
          <p:cNvSpPr/>
          <p:nvPr/>
        </p:nvSpPr>
        <p:spPr>
          <a:xfrm>
            <a:off x="423442" y="1757900"/>
            <a:ext cx="9710708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이등변 삼각형 1"/>
          <p:cNvSpPr/>
          <p:nvPr/>
        </p:nvSpPr>
        <p:spPr>
          <a:xfrm>
            <a:off x="9667351" y="2489201"/>
            <a:ext cx="72008" cy="62076"/>
          </a:xfrm>
          <a:prstGeom prst="triangle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모서리가 둥근 직사각형 2"/>
          <p:cNvSpPr/>
          <p:nvPr/>
        </p:nvSpPr>
        <p:spPr>
          <a:xfrm>
            <a:off x="7552928" y="2568352"/>
            <a:ext cx="2520280" cy="554461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3"/>
          <p:cNvSpPr/>
          <p:nvPr/>
        </p:nvSpPr>
        <p:spPr>
          <a:xfrm>
            <a:off x="7630091" y="2733900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관리자 계정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권한</a:t>
            </a:r>
            <a:r>
              <a:rPr lang="en-US" altLang="ko-KR" sz="12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200">
                <a:solidFill>
                  <a:schemeClr val="tx1"/>
                </a:solidFill>
                <a:latin typeface="+mn-ea"/>
              </a:rPr>
              <a:t>관리</a:t>
            </a:r>
            <a:endParaRPr lang="ko-KR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7630091" y="3770868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구역관리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7641714" y="4365122"/>
            <a:ext cx="2376264" cy="883556"/>
            <a:chOff x="2668007" y="4826493"/>
            <a:chExt cx="2376264" cy="883556"/>
          </a:xfrm>
        </p:grpSpPr>
        <p:sp>
          <p:nvSpPr>
            <p:cNvPr id="7" name="모서리가 둥근 직사각형 6"/>
            <p:cNvSpPr/>
            <p:nvPr/>
          </p:nvSpPr>
          <p:spPr>
            <a:xfrm>
              <a:off x="2668007" y="4826493"/>
              <a:ext cx="2376264" cy="44487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>
                  <a:solidFill>
                    <a:schemeClr val="tx1"/>
                  </a:solidFill>
                  <a:latin typeface="+mn-ea"/>
                </a:rPr>
                <a:t>제품관리</a:t>
              </a:r>
              <a:endParaRPr lang="ko-KR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모서리가 둥근 직사각형 7"/>
            <p:cNvSpPr/>
            <p:nvPr/>
          </p:nvSpPr>
          <p:spPr>
            <a:xfrm>
              <a:off x="2668007" y="5265175"/>
              <a:ext cx="2376264" cy="44487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dirty="0">
                  <a:solidFill>
                    <a:schemeClr val="tx1"/>
                  </a:solidFill>
                  <a:latin typeface="+mn-ea"/>
                </a:rPr>
                <a:t>디바이스 관리</a:t>
              </a:r>
            </a:p>
          </p:txBody>
        </p:sp>
      </p:grpSp>
      <p:sp>
        <p:nvSpPr>
          <p:cNvPr id="9" name="모서리가 둥근 직사각형 8"/>
          <p:cNvSpPr/>
          <p:nvPr/>
        </p:nvSpPr>
        <p:spPr>
          <a:xfrm>
            <a:off x="7641714" y="5446435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규칙관리</a:t>
            </a:r>
          </a:p>
        </p:txBody>
      </p:sp>
      <p:sp>
        <p:nvSpPr>
          <p:cNvPr id="10" name="모서리가 둥근 직사각형 9"/>
          <p:cNvSpPr/>
          <p:nvPr/>
        </p:nvSpPr>
        <p:spPr>
          <a:xfrm>
            <a:off x="7641714" y="6528645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관제패드 알림설정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468355" y="1862090"/>
            <a:ext cx="4700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bg1"/>
                </a:solidFill>
              </a:rPr>
              <a:t>■ ■ ■</a:t>
            </a:r>
            <a:endParaRPr lang="en-US" altLang="ko-KR" sz="600" dirty="0">
              <a:solidFill>
                <a:schemeClr val="bg1"/>
              </a:solidFill>
            </a:endParaRPr>
          </a:p>
          <a:p>
            <a:r>
              <a:rPr lang="ko-KR" altLang="en-US" sz="600" dirty="0">
                <a:solidFill>
                  <a:schemeClr val="bg1"/>
                </a:solidFill>
              </a:rPr>
              <a:t>■ ■ ■</a:t>
            </a:r>
            <a:endParaRPr lang="en-US" altLang="ko-KR" sz="600" dirty="0">
              <a:solidFill>
                <a:schemeClr val="bg1"/>
              </a:solidFill>
            </a:endParaRPr>
          </a:p>
          <a:p>
            <a:r>
              <a:rPr lang="ko-KR" altLang="en-US" sz="600" dirty="0">
                <a:solidFill>
                  <a:schemeClr val="bg1"/>
                </a:solidFill>
              </a:rPr>
              <a:t>■ ■ ■</a:t>
            </a:r>
          </a:p>
        </p:txBody>
      </p:sp>
      <p:sp>
        <p:nvSpPr>
          <p:cNvPr id="16" name="모서리가 둥근 직사각형 15"/>
          <p:cNvSpPr/>
          <p:nvPr/>
        </p:nvSpPr>
        <p:spPr>
          <a:xfrm>
            <a:off x="7630091" y="3179296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협력사 관리</a:t>
            </a: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664787"/>
              </p:ext>
            </p:extLst>
          </p:nvPr>
        </p:nvGraphicFramePr>
        <p:xfrm>
          <a:off x="10633534" y="1272208"/>
          <a:ext cx="2088232" cy="138815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권한 설정으로 설정되는 메뉴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모두 보여지는 메뉴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현장관리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관리자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(super)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만 보이는 메뉴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Complex </a:t>
                      </a:r>
                      <a:r>
                        <a:rPr lang="ko-KR" altLang="en-US" sz="800" baseline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 메뉴</a:t>
                      </a:r>
                      <a:endParaRPr lang="en-US" altLang="ko-KR" sz="800" baseline="0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모서리가 둥근 직사각형 17"/>
          <p:cNvSpPr/>
          <p:nvPr/>
        </p:nvSpPr>
        <p:spPr>
          <a:xfrm>
            <a:off x="7630091" y="7132563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 err="1">
                <a:solidFill>
                  <a:schemeClr val="tx1"/>
                </a:solidFill>
                <a:latin typeface="+mn-ea"/>
              </a:rPr>
              <a:t>푸시</a:t>
            </a:r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 알림 시간 설정</a:t>
            </a:r>
          </a:p>
        </p:txBody>
      </p:sp>
      <p:sp>
        <p:nvSpPr>
          <p:cNvPr id="28" name="왼쪽 대괄호 27"/>
          <p:cNvSpPr/>
          <p:nvPr/>
        </p:nvSpPr>
        <p:spPr>
          <a:xfrm>
            <a:off x="7402120" y="2944148"/>
            <a:ext cx="226051" cy="3224604"/>
          </a:xfrm>
          <a:prstGeom prst="leftBracket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/>
          <p:cNvSpPr/>
          <p:nvPr/>
        </p:nvSpPr>
        <p:spPr>
          <a:xfrm>
            <a:off x="7305633" y="4150735"/>
            <a:ext cx="165888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0" name="왼쪽 대괄호 29"/>
          <p:cNvSpPr/>
          <p:nvPr/>
        </p:nvSpPr>
        <p:spPr>
          <a:xfrm>
            <a:off x="7402120" y="6639927"/>
            <a:ext cx="226051" cy="289898"/>
          </a:xfrm>
          <a:prstGeom prst="leftBracket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직사각형 30"/>
          <p:cNvSpPr/>
          <p:nvPr/>
        </p:nvSpPr>
        <p:spPr>
          <a:xfrm>
            <a:off x="7299677" y="67067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7641714" y="5891309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전광판 메시지 관리</a:t>
            </a:r>
          </a:p>
        </p:txBody>
      </p:sp>
      <p:sp>
        <p:nvSpPr>
          <p:cNvPr id="33" name="모서리가 둥근 직사각형 32"/>
          <p:cNvSpPr/>
          <p:nvPr/>
        </p:nvSpPr>
        <p:spPr>
          <a:xfrm>
            <a:off x="7630091" y="7571245"/>
            <a:ext cx="2376264" cy="4448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+mn-ea"/>
              </a:rPr>
              <a:t>현장 관리</a:t>
            </a:r>
          </a:p>
        </p:txBody>
      </p:sp>
      <p:sp>
        <p:nvSpPr>
          <p:cNvPr id="34" name="왼쪽 대괄호 33"/>
          <p:cNvSpPr/>
          <p:nvPr/>
        </p:nvSpPr>
        <p:spPr>
          <a:xfrm>
            <a:off x="7402120" y="7201824"/>
            <a:ext cx="226051" cy="649675"/>
          </a:xfrm>
          <a:prstGeom prst="leftBracket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직사각형 34"/>
          <p:cNvSpPr/>
          <p:nvPr/>
        </p:nvSpPr>
        <p:spPr>
          <a:xfrm>
            <a:off x="7299677" y="740800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7492023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관리자 계정</a:t>
            </a:r>
            <a:r>
              <a:rPr lang="en-US" altLang="ko-KR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3200" b="1">
                <a:solidFill>
                  <a:schemeClr val="tx1"/>
                </a:solidFill>
                <a:latin typeface="맑은 고딕" panose="020B0503020000020004" pitchFamily="50" charset="-127"/>
              </a:rPr>
              <a:t>권한</a:t>
            </a:r>
            <a:r>
              <a:rPr lang="en-US" altLang="ko-KR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3200" b="1">
                <a:solidFill>
                  <a:schemeClr val="tx1"/>
                </a:solidFill>
                <a:latin typeface="맑은 고딕" panose="020B0503020000020004" pitchFamily="50" charset="-127"/>
              </a:rPr>
              <a:t>관리</a:t>
            </a:r>
          </a:p>
        </p:txBody>
      </p:sp>
    </p:spTree>
    <p:extLst>
      <p:ext uri="{BB962C8B-B14F-4D97-AF65-F5344CB8AC3E}">
        <p14:creationId xmlns:p14="http://schemas.microsoft.com/office/powerpoint/2010/main" val="147262552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4849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관리자 계정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권한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관리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068828"/>
              </p:ext>
            </p:extLst>
          </p:nvPr>
        </p:nvGraphicFramePr>
        <p:xfrm>
          <a:off x="657614" y="3216424"/>
          <a:ext cx="9272135" cy="4221471"/>
        </p:xfrm>
        <a:graphic>
          <a:graphicData uri="http://schemas.openxmlformats.org/drawingml/2006/table">
            <a:tbl>
              <a:tblPr/>
              <a:tblGrid>
                <a:gridCol w="2766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8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67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26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144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46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1756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4862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257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관리자명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관리자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연락처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소속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회사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소속 현장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관리자 권한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안전관리자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사용구분 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Admin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xxxx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부산 국도건설 현장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승인 대기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monitor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err="1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xxxx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xx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밀양 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공구 터널 현장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승인 대기</a:t>
                      </a:r>
                      <a:endParaRPr lang="en-US" altLang="ko-KR" sz="9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Manager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건설현장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안전관리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안전점검현황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위치기반 안전관리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디바이스 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(AP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설치현황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가스센서 설치현황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가능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Installer1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건설현장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안전관리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안전점검현황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위치기반 안전관리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디바이스 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(AP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설치현황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가스센서 설치현황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O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가능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Installer2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가나 건설용역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건설현장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O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가능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Worker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3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사상하단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공구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불가</a:t>
                      </a: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Worker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4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사상하단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공구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가능</a:t>
                      </a: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642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홍길동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Worker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5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010-1234-5678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사상하단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공구</a:t>
                      </a:r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출입관리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작업자 목록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출입문 진입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진출 현황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)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-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FF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사용 불가</a:t>
                      </a:r>
                      <a:endParaRPr lang="en-US" altLang="ko-KR" sz="900" b="0" i="0" u="none" strike="noStrike" dirty="0">
                        <a:solidFill>
                          <a:srgbClr val="FF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직사각형 3"/>
          <p:cNvSpPr/>
          <p:nvPr/>
        </p:nvSpPr>
        <p:spPr>
          <a:xfrm>
            <a:off x="8777065" y="2636897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개별 등록</a:t>
            </a:r>
          </a:p>
        </p:txBody>
      </p:sp>
      <p:pic>
        <p:nvPicPr>
          <p:cNvPr id="5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657613" y="7320880"/>
            <a:ext cx="9284996" cy="141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직사각형 5"/>
          <p:cNvSpPr/>
          <p:nvPr/>
        </p:nvSpPr>
        <p:spPr>
          <a:xfrm>
            <a:off x="3980257" y="2636897"/>
            <a:ext cx="879170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계정 삭제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237746" y="2682567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선택 사항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4898529" y="2636897"/>
            <a:ext cx="1210244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 가능으로 변경</a:t>
            </a:r>
          </a:p>
        </p:txBody>
      </p:sp>
      <p:sp>
        <p:nvSpPr>
          <p:cNvPr id="9" name="직사각형 8"/>
          <p:cNvSpPr/>
          <p:nvPr/>
        </p:nvSpPr>
        <p:spPr>
          <a:xfrm>
            <a:off x="6146962" y="2636897"/>
            <a:ext cx="1210244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 불가로 변경</a:t>
            </a:r>
          </a:p>
        </p:txBody>
      </p:sp>
      <p:grpSp>
        <p:nvGrpSpPr>
          <p:cNvPr id="10" name="그룹 9"/>
          <p:cNvGrpSpPr/>
          <p:nvPr/>
        </p:nvGrpSpPr>
        <p:grpSpPr>
          <a:xfrm>
            <a:off x="657613" y="2559248"/>
            <a:ext cx="2540905" cy="460588"/>
            <a:chOff x="6216165" y="3409447"/>
            <a:chExt cx="2540905" cy="460588"/>
          </a:xfrm>
        </p:grpSpPr>
        <p:sp>
          <p:nvSpPr>
            <p:cNvPr id="11" name="Search Box Rectangle"/>
            <p:cNvSpPr>
              <a:spLocks/>
            </p:cNvSpPr>
            <p:nvPr/>
          </p:nvSpPr>
          <p:spPr bwMode="auto">
            <a:xfrm>
              <a:off x="6216165" y="3409447"/>
              <a:ext cx="2540905" cy="46058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800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관리자 검색</a:t>
              </a:r>
              <a:endParaRPr lang="de-DE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" name="Search Button"/>
            <p:cNvGrpSpPr>
              <a:grpSpLocks noChangeAspect="1"/>
            </p:cNvGrpSpPr>
            <p:nvPr/>
          </p:nvGrpSpPr>
          <p:grpSpPr>
            <a:xfrm>
              <a:off x="8359628" y="3466473"/>
              <a:ext cx="346536" cy="346536"/>
              <a:chOff x="7299578" y="2672191"/>
              <a:chExt cx="237744" cy="237744"/>
            </a:xfrm>
          </p:grpSpPr>
          <p:sp>
            <p:nvSpPr>
              <p:cNvPr id="14" name="Search Button Rectangle"/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7299578" y="2672191"/>
                <a:ext cx="237744" cy="237744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15" name="Search Icon"/>
              <p:cNvSpPr>
                <a:spLocks noChangeAspect="1"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33698" y="2708767"/>
                <a:ext cx="169505" cy="164592"/>
              </a:xfrm>
              <a:custGeom>
                <a:avLst/>
                <a:gdLst>
                  <a:gd name="T0" fmla="*/ 22 w 592"/>
                  <a:gd name="T1" fmla="*/ 483 h 592"/>
                  <a:gd name="T2" fmla="*/ 170 w 592"/>
                  <a:gd name="T3" fmla="*/ 338 h 592"/>
                  <a:gd name="T4" fmla="*/ 147 w 592"/>
                  <a:gd name="T5" fmla="*/ 225 h 592"/>
                  <a:gd name="T6" fmla="*/ 366 w 592"/>
                  <a:gd name="T7" fmla="*/ 0 h 592"/>
                  <a:gd name="T8" fmla="*/ 592 w 592"/>
                  <a:gd name="T9" fmla="*/ 225 h 592"/>
                  <a:gd name="T10" fmla="*/ 366 w 592"/>
                  <a:gd name="T11" fmla="*/ 444 h 592"/>
                  <a:gd name="T12" fmla="*/ 258 w 592"/>
                  <a:gd name="T13" fmla="*/ 424 h 592"/>
                  <a:gd name="T14" fmla="*/ 109 w 592"/>
                  <a:gd name="T15" fmla="*/ 570 h 592"/>
                  <a:gd name="T16" fmla="*/ 22 w 592"/>
                  <a:gd name="T17" fmla="*/ 570 h 592"/>
                  <a:gd name="T18" fmla="*/ 22 w 592"/>
                  <a:gd name="T19" fmla="*/ 483 h 592"/>
                  <a:gd name="T20" fmla="*/ 366 w 592"/>
                  <a:gd name="T21" fmla="*/ 84 h 592"/>
                  <a:gd name="T22" fmla="*/ 225 w 592"/>
                  <a:gd name="T23" fmla="*/ 225 h 592"/>
                  <a:gd name="T24" fmla="*/ 366 w 592"/>
                  <a:gd name="T25" fmla="*/ 367 h 592"/>
                  <a:gd name="T26" fmla="*/ 507 w 592"/>
                  <a:gd name="T27" fmla="*/ 225 h 592"/>
                  <a:gd name="T28" fmla="*/ 366 w 592"/>
                  <a:gd name="T29" fmla="*/ 84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2" h="592">
                    <a:moveTo>
                      <a:pt x="22" y="483"/>
                    </a:moveTo>
                    <a:lnTo>
                      <a:pt x="170" y="338"/>
                    </a:lnTo>
                    <a:cubicBezTo>
                      <a:pt x="151" y="305"/>
                      <a:pt x="147" y="267"/>
                      <a:pt x="147" y="225"/>
                    </a:cubicBezTo>
                    <a:cubicBezTo>
                      <a:pt x="147" y="101"/>
                      <a:pt x="241" y="0"/>
                      <a:pt x="366" y="0"/>
                    </a:cubicBezTo>
                    <a:cubicBezTo>
                      <a:pt x="491" y="0"/>
                      <a:pt x="592" y="101"/>
                      <a:pt x="592" y="225"/>
                    </a:cubicBezTo>
                    <a:cubicBezTo>
                      <a:pt x="592" y="350"/>
                      <a:pt x="491" y="444"/>
                      <a:pt x="366" y="444"/>
                    </a:cubicBezTo>
                    <a:cubicBezTo>
                      <a:pt x="327" y="444"/>
                      <a:pt x="290" y="441"/>
                      <a:pt x="258" y="424"/>
                    </a:cubicBezTo>
                    <a:lnTo>
                      <a:pt x="109" y="570"/>
                    </a:lnTo>
                    <a:cubicBezTo>
                      <a:pt x="87" y="592"/>
                      <a:pt x="44" y="592"/>
                      <a:pt x="22" y="570"/>
                    </a:cubicBezTo>
                    <a:cubicBezTo>
                      <a:pt x="0" y="548"/>
                      <a:pt x="0" y="505"/>
                      <a:pt x="22" y="483"/>
                    </a:cubicBezTo>
                    <a:close/>
                    <a:moveTo>
                      <a:pt x="366" y="84"/>
                    </a:moveTo>
                    <a:cubicBezTo>
                      <a:pt x="288" y="84"/>
                      <a:pt x="225" y="148"/>
                      <a:pt x="225" y="225"/>
                    </a:cubicBezTo>
                    <a:cubicBezTo>
                      <a:pt x="225" y="303"/>
                      <a:pt x="288" y="367"/>
                      <a:pt x="366" y="367"/>
                    </a:cubicBezTo>
                    <a:cubicBezTo>
                      <a:pt x="444" y="367"/>
                      <a:pt x="507" y="303"/>
                      <a:pt x="507" y="225"/>
                    </a:cubicBezTo>
                    <a:cubicBezTo>
                      <a:pt x="507" y="148"/>
                      <a:pt x="444" y="84"/>
                      <a:pt x="36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900">
                  <a:latin typeface="Calibri" pitchFamily="34" charset="0"/>
                  <a:cs typeface="Calibri" pitchFamily="34" charset="0"/>
                </a:endParaRPr>
              </a:p>
            </p:txBody>
          </p:sp>
        </p:grpSp>
        <p:sp>
          <p:nvSpPr>
            <p:cNvPr id="13" name="Clear Button"/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8042248" y="3544870"/>
              <a:ext cx="189743" cy="189743"/>
            </a:xfrm>
            <a:custGeom>
              <a:avLst/>
              <a:gdLst>
                <a:gd name="T0" fmla="*/ 8 w 82"/>
                <a:gd name="T1" fmla="*/ 0 h 82"/>
                <a:gd name="T2" fmla="*/ 41 w 82"/>
                <a:gd name="T3" fmla="*/ 33 h 82"/>
                <a:gd name="T4" fmla="*/ 73 w 82"/>
                <a:gd name="T5" fmla="*/ 0 h 82"/>
                <a:gd name="T6" fmla="*/ 82 w 82"/>
                <a:gd name="T7" fmla="*/ 9 h 82"/>
                <a:gd name="T8" fmla="*/ 49 w 82"/>
                <a:gd name="T9" fmla="*/ 41 h 82"/>
                <a:gd name="T10" fmla="*/ 82 w 82"/>
                <a:gd name="T11" fmla="*/ 74 h 82"/>
                <a:gd name="T12" fmla="*/ 73 w 82"/>
                <a:gd name="T13" fmla="*/ 82 h 82"/>
                <a:gd name="T14" fmla="*/ 41 w 82"/>
                <a:gd name="T15" fmla="*/ 50 h 82"/>
                <a:gd name="T16" fmla="*/ 8 w 82"/>
                <a:gd name="T17" fmla="*/ 82 h 82"/>
                <a:gd name="T18" fmla="*/ 0 w 82"/>
                <a:gd name="T19" fmla="*/ 74 h 82"/>
                <a:gd name="T20" fmla="*/ 32 w 82"/>
                <a:gd name="T21" fmla="*/ 41 h 82"/>
                <a:gd name="T22" fmla="*/ 0 w 82"/>
                <a:gd name="T23" fmla="*/ 9 h 82"/>
                <a:gd name="T24" fmla="*/ 8 w 82"/>
                <a:gd name="T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2">
                  <a:moveTo>
                    <a:pt x="8" y="0"/>
                  </a:moveTo>
                  <a:lnTo>
                    <a:pt x="41" y="33"/>
                  </a:lnTo>
                  <a:lnTo>
                    <a:pt x="73" y="0"/>
                  </a:lnTo>
                  <a:lnTo>
                    <a:pt x="82" y="9"/>
                  </a:lnTo>
                  <a:lnTo>
                    <a:pt x="49" y="41"/>
                  </a:lnTo>
                  <a:lnTo>
                    <a:pt x="82" y="74"/>
                  </a:lnTo>
                  <a:lnTo>
                    <a:pt x="73" y="82"/>
                  </a:lnTo>
                  <a:lnTo>
                    <a:pt x="41" y="50"/>
                  </a:lnTo>
                  <a:lnTo>
                    <a:pt x="8" y="82"/>
                  </a:lnTo>
                  <a:lnTo>
                    <a:pt x="0" y="74"/>
                  </a:lnTo>
                  <a:lnTo>
                    <a:pt x="32" y="41"/>
                  </a:lnTo>
                  <a:lnTo>
                    <a:pt x="0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</p:grpSp>
      <p:sp>
        <p:nvSpPr>
          <p:cNvPr id="16" name="직사각형 15"/>
          <p:cNvSpPr/>
          <p:nvPr/>
        </p:nvSpPr>
        <p:spPr>
          <a:xfrm>
            <a:off x="1839165" y="245734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333411"/>
              </p:ext>
            </p:extLst>
          </p:nvPr>
        </p:nvGraphicFramePr>
        <p:xfrm>
          <a:off x="10633534" y="1272208"/>
          <a:ext cx="2088232" cy="209229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명으로 검색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일괄등록 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계정생성 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계정삭제 시 사용내역이 있는 계정은 삭제할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사용구분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승인대기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일괄등록 후 바로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사용가능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승인한 계정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사용불가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사용불가 처리한 계정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내용이 늘어나면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줄수가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늘어남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8" name="직사각형 17"/>
          <p:cNvSpPr/>
          <p:nvPr/>
        </p:nvSpPr>
        <p:spPr>
          <a:xfrm>
            <a:off x="9264228" y="247497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7574033" y="2636897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일괄</a:t>
            </a:r>
            <a:r>
              <a:rPr lang="en-US" altLang="ko-KR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</a:t>
            </a:r>
            <a:r>
              <a:rPr lang="ko-KR" altLang="en-US" sz="80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등록</a:t>
            </a:r>
            <a:endParaRPr lang="ko-KR" altLang="en-US" sz="800" dirty="0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8061196" y="247497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0633534" y="4398243"/>
            <a:ext cx="20882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rgbClr val="FF0000"/>
                </a:solidFill>
              </a:rPr>
              <a:t>Point.</a:t>
            </a:r>
          </a:p>
          <a:p>
            <a:r>
              <a:rPr lang="ko-KR" altLang="en-US" sz="900" dirty="0"/>
              <a:t>생성되는 계정으로 </a:t>
            </a:r>
            <a:r>
              <a:rPr lang="en-US" altLang="ko-KR" sz="900" dirty="0"/>
              <a:t>Field Manager App </a:t>
            </a:r>
            <a:r>
              <a:rPr lang="ko-KR" altLang="en-US" sz="900"/>
              <a:t>을 사용할 수 있음</a:t>
            </a:r>
            <a:endParaRPr lang="ko-KR" altLang="en-US" sz="900" dirty="0" err="1"/>
          </a:p>
        </p:txBody>
      </p:sp>
      <p:sp>
        <p:nvSpPr>
          <p:cNvPr id="22" name="직사각형 21"/>
          <p:cNvSpPr/>
          <p:nvPr/>
        </p:nvSpPr>
        <p:spPr>
          <a:xfrm>
            <a:off x="10865559" y="6415015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선택한 계정을 삭제하시겠습니까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0865559" y="7002996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24" name="직사각형 23"/>
          <p:cNvSpPr/>
          <p:nvPr/>
        </p:nvSpPr>
        <p:spPr>
          <a:xfrm>
            <a:off x="11690288" y="7002996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5" name="직사각형 24"/>
          <p:cNvSpPr/>
          <p:nvPr/>
        </p:nvSpPr>
        <p:spPr>
          <a:xfrm>
            <a:off x="10865559" y="5888366"/>
            <a:ext cx="165592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6" name="직사각형 25"/>
          <p:cNvSpPr/>
          <p:nvPr/>
        </p:nvSpPr>
        <p:spPr>
          <a:xfrm>
            <a:off x="10865559" y="5300385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사용내역이 있는 계정입니다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삭제하실 수 없습니다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관리자에게 문의하세요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11531958" y="633514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4-2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4325173" y="2576063"/>
            <a:ext cx="177800" cy="188147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11531958" y="52002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0558214" y="672958"/>
            <a:ext cx="18101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/>
              <a:t>전체 관리자만 보이는 영역</a:t>
            </a:r>
          </a:p>
        </p:txBody>
      </p:sp>
      <p:cxnSp>
        <p:nvCxnSpPr>
          <p:cNvPr id="31" name="직선 연결선 30"/>
          <p:cNvCxnSpPr/>
          <p:nvPr/>
        </p:nvCxnSpPr>
        <p:spPr>
          <a:xfrm>
            <a:off x="9926487" y="3216424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cxnSp>
        <p:nvCxnSpPr>
          <p:cNvPr id="33" name="직선 연결선 32"/>
          <p:cNvCxnSpPr/>
          <p:nvPr/>
        </p:nvCxnSpPr>
        <p:spPr>
          <a:xfrm>
            <a:off x="7461870" y="2636897"/>
            <a:ext cx="0" cy="38293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오른쪽 대괄호 34"/>
          <p:cNvSpPr/>
          <p:nvPr/>
        </p:nvSpPr>
        <p:spPr>
          <a:xfrm>
            <a:off x="5116726" y="3722186"/>
            <a:ext cx="122228" cy="310087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/>
          <p:cNvSpPr/>
          <p:nvPr/>
        </p:nvSpPr>
        <p:spPr>
          <a:xfrm>
            <a:off x="5284191" y="3788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8410617" y="3216424"/>
            <a:ext cx="853611" cy="4262297"/>
            <a:chOff x="-8483" y="-76"/>
            <a:chExt cx="12810083" cy="9601276"/>
          </a:xfrm>
        </p:grpSpPr>
        <p:sp>
          <p:nvSpPr>
            <p:cNvPr id="40" name="직사각형 39"/>
            <p:cNvSpPr/>
            <p:nvPr/>
          </p:nvSpPr>
          <p:spPr>
            <a:xfrm>
              <a:off x="-8483" y="-76"/>
              <a:ext cx="12810083" cy="9601276"/>
            </a:xfrm>
            <a:prstGeom prst="rect">
              <a:avLst/>
            </a:prstGeom>
            <a:solidFill>
              <a:srgbClr val="000000">
                <a:alpha val="73000"/>
              </a:srgbClr>
            </a:solidFill>
            <a:ln w="952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1050" b="1" dirty="0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안전관리자</a:t>
              </a:r>
              <a:endParaRPr lang="en-US" altLang="ko-KR" sz="1050" b="1" dirty="0">
                <a:solidFill>
                  <a:schemeClr val="bg1"/>
                </a:solidFill>
                <a:latin typeface="+mn-ea"/>
                <a:cs typeface="Arial" panose="020B0604020202020204" pitchFamily="34" charset="0"/>
              </a:endParaRPr>
            </a:p>
            <a:p>
              <a:pPr algn="ctr"/>
              <a:r>
                <a:rPr lang="ko-KR" altLang="en-US" sz="1050" b="1" dirty="0" err="1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컬럼</a:t>
              </a:r>
              <a:r>
                <a:rPr lang="ko-KR" altLang="en-US" sz="1050" b="1" dirty="0">
                  <a:solidFill>
                    <a:schemeClr val="bg1"/>
                  </a:solidFill>
                  <a:latin typeface="+mn-ea"/>
                  <a:cs typeface="Arial" panose="020B0604020202020204" pitchFamily="34" charset="0"/>
                </a:rPr>
                <a:t> 삭제</a:t>
              </a:r>
            </a:p>
          </p:txBody>
        </p:sp>
        <p:cxnSp>
          <p:nvCxnSpPr>
            <p:cNvPr id="41" name="직선 연결선 40"/>
            <p:cNvCxnSpPr/>
            <p:nvPr/>
          </p:nvCxnSpPr>
          <p:spPr>
            <a:xfrm flipH="1">
              <a:off x="0" y="-76"/>
              <a:ext cx="12801600" cy="9601276"/>
            </a:xfrm>
            <a:prstGeom prst="line">
              <a:avLst/>
            </a:prstGeom>
            <a:ln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8743226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/>
          <p:cNvSpPr/>
          <p:nvPr/>
        </p:nvSpPr>
        <p:spPr>
          <a:xfrm>
            <a:off x="9047883" y="3492518"/>
            <a:ext cx="3303229" cy="21171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Search Box Rectangle"/>
          <p:cNvSpPr>
            <a:spLocks/>
          </p:cNvSpPr>
          <p:nvPr/>
        </p:nvSpPr>
        <p:spPr bwMode="auto">
          <a:xfrm>
            <a:off x="4027164" y="2928392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646859" y="2947887"/>
            <a:ext cx="805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관리자 </a:t>
            </a:r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ID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646859" y="2515839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관리자 명</a:t>
            </a: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5379341" y="7139971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생성 하기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" name="Search Box Rectangle"/>
          <p:cNvSpPr>
            <a:spLocks/>
          </p:cNvSpPr>
          <p:nvPr/>
        </p:nvSpPr>
        <p:spPr bwMode="auto">
          <a:xfrm>
            <a:off x="4255962" y="7139971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8" name="Search Box Rectangle"/>
          <p:cNvSpPr>
            <a:spLocks/>
          </p:cNvSpPr>
          <p:nvPr/>
        </p:nvSpPr>
        <p:spPr bwMode="auto">
          <a:xfrm>
            <a:off x="4027165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646859" y="3811983"/>
            <a:ext cx="8050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연락처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016002" y="381198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1" name="Search Box Rectangle"/>
          <p:cNvSpPr>
            <a:spLocks/>
          </p:cNvSpPr>
          <p:nvPr/>
        </p:nvSpPr>
        <p:spPr bwMode="auto">
          <a:xfrm>
            <a:off x="5318546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6307383" y="381198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3" name="Search Box Rectangle"/>
          <p:cNvSpPr>
            <a:spLocks/>
          </p:cNvSpPr>
          <p:nvPr/>
        </p:nvSpPr>
        <p:spPr bwMode="auto">
          <a:xfrm>
            <a:off x="6609927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4" name="Search Box Rectangle"/>
          <p:cNvSpPr>
            <a:spLocks/>
          </p:cNvSpPr>
          <p:nvPr/>
        </p:nvSpPr>
        <p:spPr bwMode="auto">
          <a:xfrm>
            <a:off x="4027165" y="4254947"/>
            <a:ext cx="252740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646859" y="4274442"/>
            <a:ext cx="8050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사진 등록</a:t>
            </a:r>
          </a:p>
        </p:txBody>
      </p:sp>
      <p:grpSp>
        <p:nvGrpSpPr>
          <p:cNvPr id="16" name="그룹 15"/>
          <p:cNvGrpSpPr/>
          <p:nvPr/>
        </p:nvGrpSpPr>
        <p:grpSpPr>
          <a:xfrm>
            <a:off x="6688832" y="4254947"/>
            <a:ext cx="315990" cy="315990"/>
            <a:chOff x="3514444" y="6764375"/>
            <a:chExt cx="700012" cy="700012"/>
          </a:xfrm>
        </p:grpSpPr>
        <p:sp>
          <p:nvSpPr>
            <p:cNvPr id="17" name="타원 16"/>
            <p:cNvSpPr/>
            <p:nvPr/>
          </p:nvSpPr>
          <p:spPr>
            <a:xfrm>
              <a:off x="3514444" y="6764375"/>
              <a:ext cx="700012" cy="700012"/>
            </a:xfrm>
            <a:prstGeom prst="ellipse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algn="ctr" defTabSz="914400" latinLnBrk="0"/>
              <a:endParaRPr lang="ko-KR" altLang="en-US" sz="105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pic>
          <p:nvPicPr>
            <p:cNvPr id="18" name="그림 17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41909" y="6884331"/>
              <a:ext cx="445081" cy="445081"/>
            </a:xfrm>
            <a:prstGeom prst="rect">
              <a:avLst/>
            </a:prstGeom>
          </p:spPr>
        </p:pic>
      </p:grpSp>
      <p:pic>
        <p:nvPicPr>
          <p:cNvPr id="19" name="그림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2231" y="4198728"/>
            <a:ext cx="431172" cy="431172"/>
          </a:xfrm>
          <a:prstGeom prst="rect">
            <a:avLst/>
          </a:prstGeom>
        </p:spPr>
      </p:pic>
      <p:sp>
        <p:nvSpPr>
          <p:cNvPr id="26" name="Search Box Rectangle"/>
          <p:cNvSpPr>
            <a:spLocks/>
          </p:cNvSpPr>
          <p:nvPr/>
        </p:nvSpPr>
        <p:spPr bwMode="auto">
          <a:xfrm>
            <a:off x="4027164" y="336044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2646859" y="3379935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비밀번호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59777" y="2978328"/>
            <a:ext cx="43152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359777" y="2553848"/>
            <a:ext cx="43152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359777" y="3818947"/>
            <a:ext cx="6069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359777" y="3424601"/>
            <a:ext cx="5927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29970" y="1901463"/>
            <a:ext cx="32720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관리자 계정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권한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관리 </a:t>
            </a:r>
            <a:r>
              <a:rPr lang="en-US" altLang="ko-KR" sz="1800" dirty="0">
                <a:latin typeface="맑은 고딕" panose="020B0503020000020004" pitchFamily="50" charset="-127"/>
              </a:rPr>
              <a:t>&gt; </a:t>
            </a:r>
            <a:r>
              <a:rPr lang="ko-KR" altLang="en-US" sz="1800">
                <a:latin typeface="맑은 고딕" panose="020B0503020000020004" pitchFamily="50" charset="-127"/>
              </a:rPr>
              <a:t>등록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646858" y="5209628"/>
            <a:ext cx="79060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소속 회사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325555" y="5641576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관리자 권한</a:t>
            </a:r>
          </a:p>
        </p:txBody>
      </p:sp>
      <p:cxnSp>
        <p:nvCxnSpPr>
          <p:cNvPr id="58" name="직선 연결선 57"/>
          <p:cNvCxnSpPr/>
          <p:nvPr/>
        </p:nvCxnSpPr>
        <p:spPr>
          <a:xfrm>
            <a:off x="2152328" y="4691203"/>
            <a:ext cx="5976664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9" name="표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3544835"/>
              </p:ext>
            </p:extLst>
          </p:nvPr>
        </p:nvGraphicFramePr>
        <p:xfrm>
          <a:off x="10633534" y="1272208"/>
          <a:ext cx="2088232" cy="7041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rgbClr val="0070C0"/>
                          </a:soli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0" name="표 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400428"/>
              </p:ext>
            </p:extLst>
          </p:nvPr>
        </p:nvGraphicFramePr>
        <p:xfrm>
          <a:off x="10633534" y="1272208"/>
          <a:ext cx="2088232" cy="17356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소속회사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협력사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소속되는 현장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권한 선택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태그정보 </a:t>
                      </a:r>
                      <a:r>
                        <a:rPr lang="ko-KR" altLang="en-US" sz="800" kern="120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매핑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관리자와 태그 정보 매핑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개수가 늘어나면 </a:t>
                      </a:r>
                      <a:r>
                        <a:rPr lang="ko-KR" altLang="en-US" sz="800" kern="120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줄수가</a:t>
                      </a:r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늘어나는 형태로 구성 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내부 스크롤 아님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3" name="TextBox 62"/>
          <p:cNvSpPr txBox="1"/>
          <p:nvPr/>
        </p:nvSpPr>
        <p:spPr>
          <a:xfrm>
            <a:off x="2312208" y="6577495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사용 구분</a:t>
            </a:r>
          </a:p>
        </p:txBody>
      </p:sp>
      <p:sp>
        <p:nvSpPr>
          <p:cNvPr id="65" name="직사각형 64"/>
          <p:cNvSpPr/>
          <p:nvPr/>
        </p:nvSpPr>
        <p:spPr>
          <a:xfrm>
            <a:off x="3692513" y="6551047"/>
            <a:ext cx="1070233" cy="382939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사용 가능</a:t>
            </a:r>
          </a:p>
        </p:txBody>
      </p:sp>
      <p:sp>
        <p:nvSpPr>
          <p:cNvPr id="66" name="직사각형 65"/>
          <p:cNvSpPr/>
          <p:nvPr/>
        </p:nvSpPr>
        <p:spPr>
          <a:xfrm>
            <a:off x="4762746" y="6551047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 불가</a:t>
            </a:r>
          </a:p>
        </p:txBody>
      </p:sp>
      <p:sp>
        <p:nvSpPr>
          <p:cNvPr id="67" name="직사각형 66"/>
          <p:cNvSpPr/>
          <p:nvPr/>
        </p:nvSpPr>
        <p:spPr>
          <a:xfrm>
            <a:off x="5834092" y="6551047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승인 대기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558214" y="672958"/>
            <a:ext cx="18101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/>
              <a:t>전체 관리자만 보이는 영역</a:t>
            </a:r>
          </a:p>
        </p:txBody>
      </p:sp>
      <p:sp>
        <p:nvSpPr>
          <p:cNvPr id="74" name="Search Box Rectangle"/>
          <p:cNvSpPr>
            <a:spLocks/>
          </p:cNvSpPr>
          <p:nvPr/>
        </p:nvSpPr>
        <p:spPr bwMode="auto">
          <a:xfrm>
            <a:off x="4029309" y="5620075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권한 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84" name="Search Box Rectangle"/>
          <p:cNvSpPr>
            <a:spLocks/>
          </p:cNvSpPr>
          <p:nvPr/>
        </p:nvSpPr>
        <p:spPr bwMode="auto">
          <a:xfrm>
            <a:off x="4027164" y="5188712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cs typeface="Segoe UI" pitchFamily="34" charset="0"/>
              </a:rPr>
              <a:t>소속 회사 선택</a:t>
            </a:r>
            <a:endParaRPr lang="de-DE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5" name="Chevron"/>
          <p:cNvSpPr>
            <a:spLocks noChangeAspect="1"/>
          </p:cNvSpPr>
          <p:nvPr/>
        </p:nvSpPr>
        <p:spPr bwMode="auto">
          <a:xfrm>
            <a:off x="7315116" y="5305033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5054430" y="5585710"/>
            <a:ext cx="35162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작업자 목록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출입문 진입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/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진출 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안전점검현황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위치기반 안전관리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디바이스 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(AP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설치현황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가스센서 설치현황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89" name="직사각형 88"/>
          <p:cNvSpPr/>
          <p:nvPr/>
        </p:nvSpPr>
        <p:spPr>
          <a:xfrm>
            <a:off x="3813120" y="52377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3813120" y="567126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2312208" y="6092114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스마트 태그</a:t>
            </a:r>
          </a:p>
        </p:txBody>
      </p:sp>
      <p:sp>
        <p:nvSpPr>
          <p:cNvPr id="55" name="Search Box Rectangle"/>
          <p:cNvSpPr>
            <a:spLocks/>
          </p:cNvSpPr>
          <p:nvPr/>
        </p:nvSpPr>
        <p:spPr bwMode="auto">
          <a:xfrm>
            <a:off x="3692513" y="6078572"/>
            <a:ext cx="1008112" cy="315990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태그정보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매핑</a:t>
            </a:r>
            <a:endParaRPr lang="de-DE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/>
          <p:cNvSpPr/>
          <p:nvPr/>
        </p:nvSpPr>
        <p:spPr>
          <a:xfrm>
            <a:off x="3465005" y="613626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9" name="Search Box Rectangle"/>
          <p:cNvSpPr>
            <a:spLocks/>
          </p:cNvSpPr>
          <p:nvPr/>
        </p:nvSpPr>
        <p:spPr bwMode="auto">
          <a:xfrm>
            <a:off x="9281120" y="3756242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현장 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0306241" y="3747724"/>
            <a:ext cx="16391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</p:txBody>
      </p:sp>
      <p:sp>
        <p:nvSpPr>
          <p:cNvPr id="71" name="Search Box Rectangle"/>
          <p:cNvSpPr>
            <a:spLocks/>
          </p:cNvSpPr>
          <p:nvPr/>
        </p:nvSpPr>
        <p:spPr bwMode="auto">
          <a:xfrm>
            <a:off x="9281120" y="4521680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현장 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10306241" y="4513162"/>
            <a:ext cx="163917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</p:txBody>
      </p:sp>
      <p:sp>
        <p:nvSpPr>
          <p:cNvPr id="75" name="직사각형 74"/>
          <p:cNvSpPr/>
          <p:nvPr/>
        </p:nvSpPr>
        <p:spPr>
          <a:xfrm>
            <a:off x="8984408" y="439228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23" name="직선 화살표 연결선 22"/>
          <p:cNvCxnSpPr/>
          <p:nvPr/>
        </p:nvCxnSpPr>
        <p:spPr>
          <a:xfrm flipV="1">
            <a:off x="7970201" y="4482770"/>
            <a:ext cx="1005995" cy="4458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11973013" y="3764577"/>
            <a:ext cx="684803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 anchor="ctr">
            <a:spAutoFit/>
          </a:bodyPr>
          <a:lstStyle/>
          <a:p>
            <a:r>
              <a:rPr lang="en-US" altLang="ko-KR" sz="1050" dirty="0">
                <a:solidFill>
                  <a:srgbClr val="FF0000"/>
                </a:solidFill>
              </a:rPr>
              <a:t>2</a:t>
            </a:r>
            <a:r>
              <a:rPr lang="ko-KR" altLang="en-US" sz="1050">
                <a:solidFill>
                  <a:srgbClr val="FF0000"/>
                </a:solidFill>
              </a:rPr>
              <a:t>줄일때</a:t>
            </a:r>
            <a:endParaRPr lang="ko-KR" altLang="en-US" sz="1050" dirty="0">
              <a:solidFill>
                <a:srgbClr val="FF0000"/>
              </a:solidFill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11973013" y="4667050"/>
            <a:ext cx="684803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 anchor="ctr">
            <a:spAutoFit/>
          </a:bodyPr>
          <a:lstStyle/>
          <a:p>
            <a:r>
              <a:rPr lang="en-US" altLang="ko-KR" sz="1050" dirty="0">
                <a:solidFill>
                  <a:srgbClr val="FF0000"/>
                </a:solidFill>
              </a:rPr>
              <a:t>6</a:t>
            </a:r>
            <a:r>
              <a:rPr lang="ko-KR" altLang="en-US" sz="1050">
                <a:solidFill>
                  <a:srgbClr val="FF0000"/>
                </a:solidFill>
              </a:rPr>
              <a:t>줄일때</a:t>
            </a:r>
            <a:endParaRPr lang="ko-KR" altLang="en-US" sz="1050" dirty="0">
              <a:solidFill>
                <a:srgbClr val="FF0000"/>
              </a:solidFill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10482089" y="5692255"/>
            <a:ext cx="1838965" cy="415498"/>
          </a:xfrm>
          <a:prstGeom prst="rect">
            <a:avLst/>
          </a:prstGeom>
          <a:solidFill>
            <a:schemeClr val="bg1"/>
          </a:solidFill>
        </p:spPr>
        <p:txBody>
          <a:bodyPr wrap="none" rtlCol="0" anchor="ctr">
            <a:spAutoFit/>
          </a:bodyPr>
          <a:lstStyle/>
          <a:p>
            <a:r>
              <a:rPr lang="ko-KR" altLang="en-US" sz="1050" dirty="0">
                <a:solidFill>
                  <a:srgbClr val="FF0000"/>
                </a:solidFill>
              </a:rPr>
              <a:t>추가되면 계속 줄이 늘어남</a:t>
            </a:r>
            <a:r>
              <a:rPr lang="en-US" altLang="ko-KR" sz="1050" dirty="0">
                <a:solidFill>
                  <a:srgbClr val="FF0000"/>
                </a:solidFill>
              </a:rPr>
              <a:t>.</a:t>
            </a:r>
          </a:p>
          <a:p>
            <a:r>
              <a:rPr lang="en-US" altLang="ko-KR" sz="1050" dirty="0">
                <a:solidFill>
                  <a:srgbClr val="FF0000"/>
                </a:solidFill>
              </a:rPr>
              <a:t>(</a:t>
            </a:r>
            <a:r>
              <a:rPr lang="ko-KR" altLang="en-US" sz="1050">
                <a:solidFill>
                  <a:srgbClr val="FF0000"/>
                </a:solidFill>
              </a:rPr>
              <a:t>내부 스크롤 아님</a:t>
            </a:r>
            <a:r>
              <a:rPr lang="en-US" altLang="ko-KR" sz="1050" dirty="0">
                <a:solidFill>
                  <a:srgbClr val="FF0000"/>
                </a:solidFill>
              </a:rPr>
              <a:t>)</a:t>
            </a:r>
            <a:endParaRPr lang="ko-KR" altLang="en-US" sz="1050" dirty="0">
              <a:solidFill>
                <a:srgbClr val="FF0000"/>
              </a:solidFill>
            </a:endParaRPr>
          </a:p>
        </p:txBody>
      </p:sp>
      <p:sp>
        <p:nvSpPr>
          <p:cNvPr id="78" name="오른쪽 대괄호 77"/>
          <p:cNvSpPr/>
          <p:nvPr/>
        </p:nvSpPr>
        <p:spPr>
          <a:xfrm>
            <a:off x="7624936" y="5602811"/>
            <a:ext cx="122228" cy="310087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직사각형 78"/>
          <p:cNvSpPr/>
          <p:nvPr/>
        </p:nvSpPr>
        <p:spPr>
          <a:xfrm>
            <a:off x="7792401" y="566942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6" name="모서리가 둥근 사각형 설명선 55"/>
          <p:cNvSpPr/>
          <p:nvPr/>
        </p:nvSpPr>
        <p:spPr>
          <a:xfrm>
            <a:off x="5249838" y="5823528"/>
            <a:ext cx="1500136" cy="318109"/>
          </a:xfrm>
          <a:prstGeom prst="wedgeRoundRectCallout">
            <a:avLst>
              <a:gd name="adj1" fmla="val -96357"/>
              <a:gd name="adj2" fmla="val 67158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049</a:t>
            </a:r>
          </a:p>
          <a:p>
            <a:pPr algn="ctr"/>
            <a:r>
              <a:rPr lang="ko-KR" altLang="en-US" sz="800" dirty="0">
                <a:latin typeface="+mn-ea"/>
              </a:rPr>
              <a:t>태그 인식 </a:t>
            </a:r>
            <a:r>
              <a:rPr lang="en-US" altLang="ko-KR" sz="800" dirty="0">
                <a:latin typeface="+mn-ea"/>
              </a:rPr>
              <a:t>(</a:t>
            </a:r>
            <a:r>
              <a:rPr lang="ko-KR" altLang="en-US" sz="800">
                <a:latin typeface="+mn-ea"/>
              </a:rPr>
              <a:t>관리자 연결</a:t>
            </a:r>
            <a:r>
              <a:rPr lang="en-US" altLang="ko-KR" sz="800" dirty="0">
                <a:latin typeface="+mn-ea"/>
              </a:rPr>
              <a:t>)</a:t>
            </a:r>
            <a:endParaRPr lang="ko-KR" altLang="en-US" sz="800" dirty="0">
              <a:latin typeface="+mn-ea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2646858" y="4806745"/>
            <a:ext cx="79060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소속 현장</a:t>
            </a:r>
          </a:p>
        </p:txBody>
      </p:sp>
      <p:sp>
        <p:nvSpPr>
          <p:cNvPr id="99" name="직사각형 98"/>
          <p:cNvSpPr/>
          <p:nvPr/>
        </p:nvSpPr>
        <p:spPr>
          <a:xfrm>
            <a:off x="3813120" y="48402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00" name="Search Box Rectangle"/>
          <p:cNvSpPr>
            <a:spLocks/>
          </p:cNvSpPr>
          <p:nvPr/>
        </p:nvSpPr>
        <p:spPr bwMode="auto">
          <a:xfrm>
            <a:off x="4029309" y="4782175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현장 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5054430" y="4773657"/>
            <a:ext cx="35162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</p:txBody>
      </p:sp>
      <p:sp>
        <p:nvSpPr>
          <p:cNvPr id="102" name="오른쪽 대괄호 101"/>
          <p:cNvSpPr/>
          <p:nvPr/>
        </p:nvSpPr>
        <p:spPr>
          <a:xfrm>
            <a:off x="7624936" y="4773657"/>
            <a:ext cx="122228" cy="310087"/>
          </a:xfrm>
          <a:prstGeom prst="righ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직사각형 102"/>
          <p:cNvSpPr/>
          <p:nvPr/>
        </p:nvSpPr>
        <p:spPr>
          <a:xfrm>
            <a:off x="7792401" y="48402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105" name="표 1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7037736"/>
              </p:ext>
            </p:extLst>
          </p:nvPr>
        </p:nvGraphicFramePr>
        <p:xfrm>
          <a:off x="10633534" y="6223769"/>
          <a:ext cx="2088232" cy="19224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현장을 선택하지 않고 소속회사를 선택했을 때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알럿창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 현장을 선택해야만 소속 회사를 선택할 수 있음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06" name="그룹 105"/>
          <p:cNvGrpSpPr/>
          <p:nvPr/>
        </p:nvGrpSpPr>
        <p:grpSpPr>
          <a:xfrm>
            <a:off x="11129524" y="6888039"/>
            <a:ext cx="1482239" cy="807104"/>
            <a:chOff x="11111249" y="4601720"/>
            <a:chExt cx="1482239" cy="807104"/>
          </a:xfrm>
        </p:grpSpPr>
        <p:sp>
          <p:nvSpPr>
            <p:cNvPr id="107" name="직사각형 106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소속현장을 먼저 선택하세요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109" name="모서리가 둥근 사각형 설명선 108"/>
          <p:cNvSpPr/>
          <p:nvPr/>
        </p:nvSpPr>
        <p:spPr>
          <a:xfrm>
            <a:off x="11761483" y="6672452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2030018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직사각형 21"/>
          <p:cNvSpPr/>
          <p:nvPr/>
        </p:nvSpPr>
        <p:spPr>
          <a:xfrm>
            <a:off x="423442" y="1757900"/>
            <a:ext cx="9710708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2440360" y="2640360"/>
            <a:ext cx="5688632" cy="489142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2584376" y="3242206"/>
            <a:ext cx="5400600" cy="314541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835303"/>
              </p:ext>
            </p:extLst>
          </p:nvPr>
        </p:nvGraphicFramePr>
        <p:xfrm>
          <a:off x="2728392" y="3424785"/>
          <a:ext cx="5112568" cy="2821594"/>
        </p:xfrm>
        <a:graphic>
          <a:graphicData uri="http://schemas.openxmlformats.org/drawingml/2006/table">
            <a:tbl>
              <a:tblPr/>
              <a:tblGrid>
                <a:gridCol w="891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210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현장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부산 국도건설 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밀양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공구 터널 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</a:t>
                      </a:r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</a:t>
                      </a:r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건설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부산 사상하단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공구 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수원 광교 업무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5-1</a:t>
                      </a:r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블록 복합시설 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포항 두호주공 </a:t>
                      </a:r>
                      <a:r>
                        <a:rPr lang="en-US" altLang="ko-K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차 재건축사업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2728392" y="6409100"/>
            <a:ext cx="5256584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11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405141" y="2767191"/>
            <a:ext cx="190308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2000" dirty="0">
                <a:latin typeface="+mn-ea"/>
              </a:rPr>
              <a:t>소속 현장 선택</a:t>
            </a:r>
          </a:p>
        </p:txBody>
      </p:sp>
      <p:pic>
        <p:nvPicPr>
          <p:cNvPr id="9" name="그림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70" y="3896698"/>
            <a:ext cx="233497" cy="233498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69" y="4698166"/>
            <a:ext cx="233497" cy="233497"/>
          </a:xfrm>
          <a:prstGeom prst="rect">
            <a:avLst/>
          </a:prstGeom>
        </p:spPr>
      </p:pic>
      <p:pic>
        <p:nvPicPr>
          <p:cNvPr id="12" name="그림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70" y="5116442"/>
            <a:ext cx="233497" cy="233498"/>
          </a:xfrm>
          <a:prstGeom prst="rect">
            <a:avLst/>
          </a:prstGeom>
        </p:spPr>
      </p:pic>
      <p:sp>
        <p:nvSpPr>
          <p:cNvPr id="13" name="직사각형 12"/>
          <p:cNvSpPr/>
          <p:nvPr/>
        </p:nvSpPr>
        <p:spPr>
          <a:xfrm>
            <a:off x="2440360" y="7032848"/>
            <a:ext cx="2844316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14" name="직사각형 13"/>
          <p:cNvSpPr/>
          <p:nvPr/>
        </p:nvSpPr>
        <p:spPr>
          <a:xfrm>
            <a:off x="5284676" y="7032848"/>
            <a:ext cx="2844316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선택 완료</a:t>
            </a:r>
          </a:p>
        </p:txBody>
      </p:sp>
      <p:cxnSp>
        <p:nvCxnSpPr>
          <p:cNvPr id="15" name="직선 연결선 14"/>
          <p:cNvCxnSpPr/>
          <p:nvPr/>
        </p:nvCxnSpPr>
        <p:spPr>
          <a:xfrm>
            <a:off x="7915057" y="3451834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pic>
        <p:nvPicPr>
          <p:cNvPr id="16" name="그림 1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69" y="4301151"/>
            <a:ext cx="233497" cy="233497"/>
          </a:xfrm>
          <a:prstGeom prst="rect">
            <a:avLst/>
          </a:prstGeom>
        </p:spPr>
      </p:pic>
      <p:sp>
        <p:nvSpPr>
          <p:cNvPr id="17" name="모서리가 둥근 직사각형 16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1561736" y="632805"/>
            <a:ext cx="9573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소속 현장 선택</a:t>
            </a: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70" y="5532519"/>
            <a:ext cx="233497" cy="233498"/>
          </a:xfrm>
          <a:prstGeom prst="rect">
            <a:avLst/>
          </a:prstGeom>
        </p:spPr>
      </p:pic>
      <p:pic>
        <p:nvPicPr>
          <p:cNvPr id="21" name="그림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5070" y="5930253"/>
            <a:ext cx="233497" cy="233498"/>
          </a:xfrm>
          <a:prstGeom prst="rect">
            <a:avLst/>
          </a:prstGeom>
        </p:spPr>
      </p:pic>
      <p:sp>
        <p:nvSpPr>
          <p:cNvPr id="23" name="직사각형 22"/>
          <p:cNvSpPr/>
          <p:nvPr/>
        </p:nvSpPr>
        <p:spPr>
          <a:xfrm>
            <a:off x="5189896" y="256474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1357835"/>
              </p:ext>
            </p:extLst>
          </p:nvPr>
        </p:nvGraphicFramePr>
        <p:xfrm>
          <a:off x="10633534" y="1272208"/>
          <a:ext cx="2088232" cy="12763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 현장 선택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활성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비활성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선택된 내용이 노출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2783173" y="392295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2550592" y="655076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2002988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/>
          <p:cNvSpPr/>
          <p:nvPr/>
        </p:nvSpPr>
        <p:spPr>
          <a:xfrm>
            <a:off x="423442" y="1757900"/>
            <a:ext cx="9710708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864296" y="2640360"/>
            <a:ext cx="6840760" cy="489142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1864296" y="7032848"/>
            <a:ext cx="3420380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5284676" y="7032848"/>
            <a:ext cx="3420380" cy="49893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13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rPr>
              <a:t>선택 완료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2008312" y="3242206"/>
            <a:ext cx="6480720" cy="3145418"/>
            <a:chOff x="2512368" y="4068502"/>
            <a:chExt cx="6048672" cy="2924276"/>
          </a:xfrm>
        </p:grpSpPr>
        <p:sp>
          <p:nvSpPr>
            <p:cNvPr id="6" name="직사각형 5"/>
            <p:cNvSpPr/>
            <p:nvPr/>
          </p:nvSpPr>
          <p:spPr>
            <a:xfrm>
              <a:off x="2512368" y="4068502"/>
              <a:ext cx="3024336" cy="2924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7" name="직사각형 6"/>
            <p:cNvSpPr/>
            <p:nvPr/>
          </p:nvSpPr>
          <p:spPr>
            <a:xfrm>
              <a:off x="5536704" y="4068502"/>
              <a:ext cx="3024336" cy="29242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</p:grp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6027745"/>
              </p:ext>
            </p:extLst>
          </p:nvPr>
        </p:nvGraphicFramePr>
        <p:xfrm>
          <a:off x="2152328" y="3424785"/>
          <a:ext cx="2880320" cy="2001076"/>
        </p:xfrm>
        <a:graphic>
          <a:graphicData uri="http://schemas.openxmlformats.org/drawingml/2006/table">
            <a:tbl>
              <a:tblPr/>
              <a:tblGrid>
                <a:gridCol w="891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73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1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en-US" altLang="ko-KR" sz="1100" b="1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depth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출입관리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안전관리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 관리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&gt;</a:t>
                      </a:r>
                      <a:endParaRPr 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9848449"/>
              </p:ext>
            </p:extLst>
          </p:nvPr>
        </p:nvGraphicFramePr>
        <p:xfrm>
          <a:off x="5392688" y="3424785"/>
          <a:ext cx="2880320" cy="2821594"/>
        </p:xfrm>
        <a:graphic>
          <a:graphicData uri="http://schemas.openxmlformats.org/drawingml/2006/table">
            <a:tbl>
              <a:tblPr/>
              <a:tblGrid>
                <a:gridCol w="891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8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선택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 depth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안전현황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안전점검 현황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위치기반 안전관리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 모니터링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비상 대피현황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0259">
                <a:tc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 리포트</a:t>
                      </a:r>
                      <a:endParaRPr lang="en-US" altLang="ko-KR" sz="1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10" name="직선 연결선 9"/>
          <p:cNvCxnSpPr/>
          <p:nvPr/>
        </p:nvCxnSpPr>
        <p:spPr>
          <a:xfrm>
            <a:off x="8345016" y="3424785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152328" y="6409100"/>
            <a:ext cx="6336704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출입관리 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작업자 목록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출입문 진입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/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진출 현황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안전관리 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안전현황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안전점검현황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위치기반 안전관리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디바이스 관리 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(AP 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설치현황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11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가스센서 설치현황</a:t>
            </a:r>
            <a:r>
              <a:rPr lang="en-US" altLang="ko-KR" sz="11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11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240900" y="2767191"/>
            <a:ext cx="215956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2000" dirty="0">
                <a:latin typeface="+mn-ea"/>
              </a:rPr>
              <a:t>관리자 권한 선택</a:t>
            </a:r>
          </a:p>
        </p:txBody>
      </p:sp>
      <p:pic>
        <p:nvPicPr>
          <p:cNvPr id="13" name="그림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9006" y="3896698"/>
            <a:ext cx="233497" cy="233498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>
          <a:blip r:embed="rId3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9005" y="4291120"/>
            <a:ext cx="233497" cy="233497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9005" y="4698166"/>
            <a:ext cx="233497" cy="23349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9" y="3882137"/>
            <a:ext cx="233497" cy="233498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9" y="4300235"/>
            <a:ext cx="233497" cy="233498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9" y="4716312"/>
            <a:ext cx="233497" cy="233498"/>
          </a:xfrm>
          <a:prstGeom prst="rect">
            <a:avLst/>
          </a:prstGeom>
        </p:spPr>
      </p:pic>
      <p:pic>
        <p:nvPicPr>
          <p:cNvPr id="21" name="그림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9" y="5130502"/>
            <a:ext cx="233497" cy="233498"/>
          </a:xfrm>
          <a:prstGeom prst="rect">
            <a:avLst/>
          </a:prstGeom>
        </p:spPr>
      </p:pic>
      <p:pic>
        <p:nvPicPr>
          <p:cNvPr id="22" name="그림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8" y="5518041"/>
            <a:ext cx="233497" cy="233497"/>
          </a:xfrm>
          <a:prstGeom prst="rect">
            <a:avLst/>
          </a:prstGeom>
        </p:spPr>
      </p:pic>
      <p:pic>
        <p:nvPicPr>
          <p:cNvPr id="23" name="그림 2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8648" y="5928441"/>
            <a:ext cx="233497" cy="233497"/>
          </a:xfrm>
          <a:prstGeom prst="rect">
            <a:avLst/>
          </a:prstGeom>
        </p:spPr>
      </p:pic>
      <p:sp>
        <p:nvSpPr>
          <p:cNvPr id="24" name="직사각형 23"/>
          <p:cNvSpPr/>
          <p:nvPr/>
        </p:nvSpPr>
        <p:spPr>
          <a:xfrm>
            <a:off x="5195776" y="2522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25" name="표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3472200"/>
              </p:ext>
            </p:extLst>
          </p:nvPr>
        </p:nvGraphicFramePr>
        <p:xfrm>
          <a:off x="10633534" y="1272208"/>
          <a:ext cx="2088232" cy="474527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권한 선택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출입관리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개별선택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메뉴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작업자 목록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출입문 진입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진출 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안전관리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개별선택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메뉴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안전현황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안전점검 현황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위치기반 안전관리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 모니터링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비상 대피현황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 리포트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디바이스 관리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전체선택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개별선택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메뉴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AP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설치현황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 설치현황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설정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개별선택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171450" indent="-171450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메뉴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계정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권한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협력사 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구역 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 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디바이스 관리</a:t>
                      </a:r>
                      <a:b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규칙관리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6" name="모서리가 둥근 직사각형 25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039</a:t>
            </a:r>
            <a:endParaRPr lang="ko-KR" altLang="en-US" sz="800" dirty="0">
              <a:latin typeface="+mn-ea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11561736" y="632805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관리자 권한 선택</a:t>
            </a:r>
          </a:p>
        </p:txBody>
      </p:sp>
      <p:sp>
        <p:nvSpPr>
          <p:cNvPr id="28" name="직사각형 27"/>
          <p:cNvSpPr/>
          <p:nvPr/>
        </p:nvSpPr>
        <p:spPr>
          <a:xfrm>
            <a:off x="2065808" y="389669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2065808" y="431738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2065808" y="474257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2065808" y="513990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32" name="그림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9006" y="5116442"/>
            <a:ext cx="233497" cy="2334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581339" y="6124261"/>
            <a:ext cx="1960793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900" dirty="0"/>
              <a:t>관리자는 선택된 메뉴만 보이게 됨</a:t>
            </a:r>
          </a:p>
        </p:txBody>
      </p:sp>
    </p:spTree>
    <p:extLst>
      <p:ext uri="{BB962C8B-B14F-4D97-AF65-F5344CB8AC3E}">
        <p14:creationId xmlns:p14="http://schemas.microsoft.com/office/powerpoint/2010/main" val="419029773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arch Box Rectangle"/>
          <p:cNvSpPr>
            <a:spLocks/>
          </p:cNvSpPr>
          <p:nvPr/>
        </p:nvSpPr>
        <p:spPr bwMode="auto">
          <a:xfrm>
            <a:off x="4027164" y="2928392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koreawork</a:t>
            </a: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홍길동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646859" y="2947887"/>
            <a:ext cx="80502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관리자 </a:t>
            </a:r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ID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646859" y="2515839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관리자 명</a:t>
            </a:r>
          </a:p>
        </p:txBody>
      </p:sp>
      <p:sp>
        <p:nvSpPr>
          <p:cNvPr id="8" name="Search Box Rectangle"/>
          <p:cNvSpPr>
            <a:spLocks/>
          </p:cNvSpPr>
          <p:nvPr/>
        </p:nvSpPr>
        <p:spPr bwMode="auto">
          <a:xfrm>
            <a:off x="4027165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010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646859" y="3811983"/>
            <a:ext cx="8050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연락처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016002" y="381198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1" name="Search Box Rectangle"/>
          <p:cNvSpPr>
            <a:spLocks/>
          </p:cNvSpPr>
          <p:nvPr/>
        </p:nvSpPr>
        <p:spPr bwMode="auto">
          <a:xfrm>
            <a:off x="5318546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1234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307383" y="381198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3" name="Search Box Rectangle"/>
          <p:cNvSpPr>
            <a:spLocks/>
          </p:cNvSpPr>
          <p:nvPr/>
        </p:nvSpPr>
        <p:spPr bwMode="auto">
          <a:xfrm>
            <a:off x="6609927" y="379248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1234</a:t>
            </a:r>
          </a:p>
        </p:txBody>
      </p:sp>
      <p:sp>
        <p:nvSpPr>
          <p:cNvPr id="14" name="Search Box Rectangle"/>
          <p:cNvSpPr>
            <a:spLocks/>
          </p:cNvSpPr>
          <p:nvPr/>
        </p:nvSpPr>
        <p:spPr bwMode="auto">
          <a:xfrm>
            <a:off x="4027165" y="4254947"/>
            <a:ext cx="252740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646859" y="4274442"/>
            <a:ext cx="8050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사진 등록</a:t>
            </a:r>
          </a:p>
        </p:txBody>
      </p:sp>
      <p:grpSp>
        <p:nvGrpSpPr>
          <p:cNvPr id="16" name="그룹 15"/>
          <p:cNvGrpSpPr/>
          <p:nvPr/>
        </p:nvGrpSpPr>
        <p:grpSpPr>
          <a:xfrm>
            <a:off x="6688832" y="4254947"/>
            <a:ext cx="315990" cy="315990"/>
            <a:chOff x="3514444" y="6764375"/>
            <a:chExt cx="700012" cy="700012"/>
          </a:xfrm>
        </p:grpSpPr>
        <p:sp>
          <p:nvSpPr>
            <p:cNvPr id="17" name="타원 16"/>
            <p:cNvSpPr/>
            <p:nvPr/>
          </p:nvSpPr>
          <p:spPr>
            <a:xfrm>
              <a:off x="3514444" y="6764375"/>
              <a:ext cx="700012" cy="700012"/>
            </a:xfrm>
            <a:prstGeom prst="ellipse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/>
            <a:p>
              <a:pPr algn="ctr" defTabSz="914400" latinLnBrk="0"/>
              <a:endParaRPr lang="ko-KR" altLang="en-US" sz="105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pic>
          <p:nvPicPr>
            <p:cNvPr id="18" name="그림 17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41909" y="6884331"/>
              <a:ext cx="445081" cy="445081"/>
            </a:xfrm>
            <a:prstGeom prst="rect">
              <a:avLst/>
            </a:prstGeom>
          </p:spPr>
        </p:pic>
      </p:grpSp>
      <p:pic>
        <p:nvPicPr>
          <p:cNvPr id="19" name="그림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2231" y="4198728"/>
            <a:ext cx="431172" cy="431172"/>
          </a:xfrm>
          <a:prstGeom prst="rect">
            <a:avLst/>
          </a:prstGeom>
        </p:spPr>
      </p:pic>
      <p:sp>
        <p:nvSpPr>
          <p:cNvPr id="26" name="Search Box Rectangle"/>
          <p:cNvSpPr>
            <a:spLocks/>
          </p:cNvSpPr>
          <p:nvPr/>
        </p:nvSpPr>
        <p:spPr bwMode="auto">
          <a:xfrm>
            <a:off x="4027164" y="336044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646859" y="3379935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비밀번호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59777" y="2978328"/>
            <a:ext cx="43152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359777" y="2553848"/>
            <a:ext cx="431528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latin typeface="+mj-lt"/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359777" y="3818947"/>
            <a:ext cx="6069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359777" y="3424601"/>
            <a:ext cx="59275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필수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29970" y="1901463"/>
            <a:ext cx="38747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관리자 계정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권한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관리 </a:t>
            </a:r>
            <a:r>
              <a:rPr lang="en-US" altLang="ko-KR" sz="1800" dirty="0">
                <a:latin typeface="맑은 고딕" panose="020B0503020000020004" pitchFamily="50" charset="-127"/>
              </a:rPr>
              <a:t>&gt; </a:t>
            </a:r>
            <a:r>
              <a:rPr lang="ko-KR" altLang="en-US" sz="1800">
                <a:latin typeface="맑은 고딕" panose="020B0503020000020004" pitchFamily="50" charset="-127"/>
              </a:rPr>
              <a:t>수정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승인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endParaRPr lang="ko-KR" altLang="en-US" sz="1800">
              <a:latin typeface="맑은 고딕" panose="020B0503020000020004" pitchFamily="50" charset="-127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2646858" y="4821516"/>
            <a:ext cx="79060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소속 회사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325555" y="5648655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관리자 권한</a:t>
            </a:r>
          </a:p>
        </p:txBody>
      </p:sp>
      <p:cxnSp>
        <p:nvCxnSpPr>
          <p:cNvPr id="58" name="직선 연결선 57"/>
          <p:cNvCxnSpPr/>
          <p:nvPr/>
        </p:nvCxnSpPr>
        <p:spPr>
          <a:xfrm>
            <a:off x="2152328" y="4691203"/>
            <a:ext cx="5976664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/>
          <p:cNvSpPr txBox="1"/>
          <p:nvPr/>
        </p:nvSpPr>
        <p:spPr>
          <a:xfrm>
            <a:off x="10558214" y="672958"/>
            <a:ext cx="18101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dirty="0"/>
              <a:t>전체 관리자만 보이는 영역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46858" y="5240887"/>
            <a:ext cx="79060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소속 현장</a:t>
            </a:r>
          </a:p>
        </p:txBody>
      </p:sp>
      <p:sp>
        <p:nvSpPr>
          <p:cNvPr id="74" name="Search Box Rectangle"/>
          <p:cNvSpPr>
            <a:spLocks/>
          </p:cNvSpPr>
          <p:nvPr/>
        </p:nvSpPr>
        <p:spPr bwMode="auto">
          <a:xfrm>
            <a:off x="4029309" y="5627154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84" name="Search Box Rectangle"/>
          <p:cNvSpPr>
            <a:spLocks/>
          </p:cNvSpPr>
          <p:nvPr/>
        </p:nvSpPr>
        <p:spPr bwMode="auto">
          <a:xfrm>
            <a:off x="4027164" y="480060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cs typeface="Segoe UI" pitchFamily="34" charset="0"/>
              </a:rPr>
              <a:t>0000</a:t>
            </a:r>
            <a:endParaRPr lang="de-DE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5" name="Chevron"/>
          <p:cNvSpPr>
            <a:spLocks noChangeAspect="1"/>
          </p:cNvSpPr>
          <p:nvPr/>
        </p:nvSpPr>
        <p:spPr bwMode="auto">
          <a:xfrm>
            <a:off x="7315116" y="4916921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5088707" y="5619681"/>
            <a:ext cx="35162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작업자 목록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출입문 진입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/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진출 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안전점검현황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위치기반 안전관리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</a:p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디바이스 관리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(AP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설치현황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, </a:t>
            </a:r>
            <a:r>
              <a:rPr lang="ko-KR" altLang="en-US" sz="80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가스센서 설치현황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)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89" name="직사각형 88"/>
          <p:cNvSpPr/>
          <p:nvPr/>
        </p:nvSpPr>
        <p:spPr>
          <a:xfrm>
            <a:off x="3813120" y="48496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3813120" y="567834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3813120" y="34285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50" name="표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7073309"/>
              </p:ext>
            </p:extLst>
          </p:nvPr>
        </p:nvGraphicFramePr>
        <p:xfrm>
          <a:off x="10633534" y="1272208"/>
          <a:ext cx="2088232" cy="161374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비밀번호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관리자가 변경해주는 것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소속회사 선택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변경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소속현장 선택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변경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태그정보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매핑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태그를 변경할 수 있음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권한 수정</a:t>
                      </a:r>
                      <a:r>
                        <a:rPr lang="en-US" altLang="ko-KR" sz="80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kern="1200" baseline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</a:t>
                      </a:r>
                      <a:endParaRPr lang="en-US" altLang="ko-KR" sz="80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1" name="Search Box Rectangle"/>
          <p:cNvSpPr>
            <a:spLocks/>
          </p:cNvSpPr>
          <p:nvPr/>
        </p:nvSpPr>
        <p:spPr bwMode="auto">
          <a:xfrm>
            <a:off x="4029309" y="5216317"/>
            <a:ext cx="1008112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현장 선택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054430" y="5207799"/>
            <a:ext cx="35162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부산 국도건설 현장</a:t>
            </a:r>
            <a:endParaRPr lang="en-US" altLang="ko-KR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  <a:p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0000</a:t>
            </a:r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  <a:ea typeface="나눔바른고딕" panose="020B0603020101020101" pitchFamily="50" charset="-127"/>
              </a:rPr>
              <a:t> 건설현장</a:t>
            </a:r>
          </a:p>
        </p:txBody>
      </p:sp>
      <p:sp>
        <p:nvSpPr>
          <p:cNvPr id="53" name="직사각형 52"/>
          <p:cNvSpPr/>
          <p:nvPr/>
        </p:nvSpPr>
        <p:spPr>
          <a:xfrm>
            <a:off x="3813120" y="529289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0" y="374337"/>
            <a:ext cx="2385201" cy="36450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bg1"/>
                </a:solidFill>
              </a:rPr>
              <a:t>16.07.12 (history-013)</a:t>
            </a:r>
            <a:br>
              <a:rPr lang="en-US" altLang="ko-KR" sz="800" dirty="0">
                <a:solidFill>
                  <a:schemeClr val="bg1"/>
                </a:solidFill>
              </a:rPr>
            </a:br>
            <a:r>
              <a:rPr lang="ko-KR" altLang="en-US" sz="800">
                <a:solidFill>
                  <a:schemeClr val="bg1"/>
                </a:solidFill>
              </a:rPr>
              <a:t>안전관리자 여부 추가</a:t>
            </a:r>
          </a:p>
        </p:txBody>
      </p:sp>
      <p:sp>
        <p:nvSpPr>
          <p:cNvPr id="57" name="Search Box Rectangle"/>
          <p:cNvSpPr>
            <a:spLocks/>
          </p:cNvSpPr>
          <p:nvPr/>
        </p:nvSpPr>
        <p:spPr bwMode="auto">
          <a:xfrm>
            <a:off x="5392688" y="768092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수정</a:t>
            </a:r>
            <a:endParaRPr lang="de-DE" altLang="ko-KR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9" name="Search Box Rectangle"/>
          <p:cNvSpPr>
            <a:spLocks/>
          </p:cNvSpPr>
          <p:nvPr/>
        </p:nvSpPr>
        <p:spPr bwMode="auto">
          <a:xfrm>
            <a:off x="4269309" y="768092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325555" y="7118444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사용 구분</a:t>
            </a:r>
          </a:p>
        </p:txBody>
      </p:sp>
      <p:sp>
        <p:nvSpPr>
          <p:cNvPr id="61" name="직사각형 60"/>
          <p:cNvSpPr/>
          <p:nvPr/>
        </p:nvSpPr>
        <p:spPr>
          <a:xfrm>
            <a:off x="3705860" y="7091996"/>
            <a:ext cx="1070233" cy="382939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사용 가능</a:t>
            </a:r>
          </a:p>
        </p:txBody>
      </p:sp>
      <p:sp>
        <p:nvSpPr>
          <p:cNvPr id="64" name="직사각형 63"/>
          <p:cNvSpPr/>
          <p:nvPr/>
        </p:nvSpPr>
        <p:spPr>
          <a:xfrm>
            <a:off x="4776093" y="7091996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 불가</a:t>
            </a:r>
          </a:p>
        </p:txBody>
      </p:sp>
      <p:sp>
        <p:nvSpPr>
          <p:cNvPr id="69" name="직사각형 68"/>
          <p:cNvSpPr/>
          <p:nvPr/>
        </p:nvSpPr>
        <p:spPr>
          <a:xfrm>
            <a:off x="5847439" y="7091996"/>
            <a:ext cx="1070233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승인 대기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325555" y="6633063"/>
            <a:ext cx="1120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스마트 태그</a:t>
            </a:r>
          </a:p>
        </p:txBody>
      </p:sp>
      <p:sp>
        <p:nvSpPr>
          <p:cNvPr id="71" name="Search Box Rectangle"/>
          <p:cNvSpPr>
            <a:spLocks/>
          </p:cNvSpPr>
          <p:nvPr/>
        </p:nvSpPr>
        <p:spPr bwMode="auto">
          <a:xfrm>
            <a:off x="3705860" y="6619521"/>
            <a:ext cx="1008112" cy="315990"/>
          </a:xfrm>
          <a:prstGeom prst="round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  <a:latin typeface="+mn-ea"/>
              </a:rPr>
              <a:t>태그정보 </a:t>
            </a:r>
            <a:r>
              <a:rPr lang="ko-KR" altLang="en-US" sz="900" dirty="0" err="1">
                <a:solidFill>
                  <a:schemeClr val="tx1"/>
                </a:solidFill>
                <a:latin typeface="+mn-ea"/>
              </a:rPr>
              <a:t>매핑</a:t>
            </a:r>
            <a:endParaRPr lang="de-DE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3478352" y="66772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4747460" y="6689175"/>
            <a:ext cx="351623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+mn-ea"/>
                <a:cs typeface="Segoe UI" pitchFamily="34" charset="0"/>
              </a:rPr>
              <a:t>tag-385-6031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  <a:ea typeface="나눔바른고딕" panose="020B0603020101020101" pitchFamily="50" charset="-127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5785283" y="757182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67" name="직사각형 66"/>
          <p:cNvSpPr/>
          <p:nvPr/>
        </p:nvSpPr>
        <p:spPr>
          <a:xfrm>
            <a:off x="560620" y="370025"/>
            <a:ext cx="2872408" cy="36881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/>
              <a:t>16.07.25 (History-035)</a:t>
            </a:r>
            <a:br>
              <a:rPr lang="en-US" altLang="ko-KR" sz="800" dirty="0"/>
            </a:br>
            <a:r>
              <a:rPr lang="en-US" altLang="ko-KR" sz="800" dirty="0"/>
              <a:t>* </a:t>
            </a:r>
            <a:r>
              <a:rPr lang="ko-KR" altLang="en-US" sz="800"/>
              <a:t>관리자를 안전관리자로 설정하는 부분 삭제</a:t>
            </a:r>
          </a:p>
        </p:txBody>
      </p:sp>
      <p:sp>
        <p:nvSpPr>
          <p:cNvPr id="73" name="모서리가 둥근 사각형 설명선 72"/>
          <p:cNvSpPr/>
          <p:nvPr/>
        </p:nvSpPr>
        <p:spPr>
          <a:xfrm>
            <a:off x="5139593" y="6314954"/>
            <a:ext cx="1500136" cy="318109"/>
          </a:xfrm>
          <a:prstGeom prst="wedgeRoundRectCallout">
            <a:avLst>
              <a:gd name="adj1" fmla="val -96357"/>
              <a:gd name="adj2" fmla="val 67158"/>
              <a:gd name="adj3" fmla="val 16667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Popup 049</a:t>
            </a:r>
          </a:p>
          <a:p>
            <a:pPr algn="ctr"/>
            <a:r>
              <a:rPr lang="ko-KR" altLang="en-US" sz="800">
                <a:latin typeface="+mn-ea"/>
              </a:rPr>
              <a:t>태그 인식 </a:t>
            </a:r>
            <a:r>
              <a:rPr lang="en-US" altLang="ko-KR" sz="800" dirty="0">
                <a:latin typeface="+mn-ea"/>
              </a:rPr>
              <a:t>(</a:t>
            </a:r>
            <a:r>
              <a:rPr lang="ko-KR" altLang="en-US" sz="800">
                <a:latin typeface="+mn-ea"/>
              </a:rPr>
              <a:t>관리자 연결</a:t>
            </a:r>
            <a:r>
              <a:rPr lang="en-US" altLang="ko-KR" sz="800" dirty="0">
                <a:latin typeface="+mn-ea"/>
              </a:rPr>
              <a:t>)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594124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/>
          <p:cNvSpPr/>
          <p:nvPr/>
        </p:nvSpPr>
        <p:spPr>
          <a:xfrm>
            <a:off x="423442" y="1757900"/>
            <a:ext cx="9710708" cy="6643101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1504256" y="2424336"/>
            <a:ext cx="7632848" cy="530887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504256" y="2441806"/>
            <a:ext cx="76328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400" dirty="0">
                <a:latin typeface="+mn-ea"/>
              </a:rPr>
              <a:t>관리자 일괄 등록</a:t>
            </a:r>
          </a:p>
        </p:txBody>
      </p:sp>
      <p:sp>
        <p:nvSpPr>
          <p:cNvPr id="2" name="Search Box Rectangle"/>
          <p:cNvSpPr>
            <a:spLocks/>
          </p:cNvSpPr>
          <p:nvPr/>
        </p:nvSpPr>
        <p:spPr bwMode="auto">
          <a:xfrm>
            <a:off x="5392688" y="7220914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등록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269309" y="7220914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68352" y="3046730"/>
            <a:ext cx="1470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일괄등록 파일선택</a:t>
            </a:r>
          </a:p>
        </p:txBody>
      </p:sp>
      <p:sp>
        <p:nvSpPr>
          <p:cNvPr id="5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3906308" y="3000400"/>
            <a:ext cx="255280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6459110" y="3000401"/>
            <a:ext cx="963437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>
                <a:solidFill>
                  <a:srgbClr val="262626"/>
                </a:solidFill>
                <a:latin typeface="+mn-ea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901644" y="3430578"/>
            <a:ext cx="336021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일괄 등록할 파일을 선택하여주시기 바랍니다</a:t>
            </a:r>
            <a:r>
              <a:rPr lang="en-US" altLang="ko-KR" sz="1200" dirty="0">
                <a:latin typeface="+mn-ea"/>
              </a:rPr>
              <a:t>.</a:t>
            </a:r>
            <a:endParaRPr lang="ko-KR" altLang="en-US" sz="1200" dirty="0">
              <a:latin typeface="+mn-ea"/>
            </a:endParaRPr>
          </a:p>
        </p:txBody>
      </p:sp>
      <p:cxnSp>
        <p:nvCxnSpPr>
          <p:cNvPr id="8" name="직선 연결선 7"/>
          <p:cNvCxnSpPr/>
          <p:nvPr/>
        </p:nvCxnSpPr>
        <p:spPr>
          <a:xfrm>
            <a:off x="2440360" y="6828408"/>
            <a:ext cx="5544616" cy="0"/>
          </a:xfrm>
          <a:prstGeom prst="line">
            <a:avLst/>
          </a:prstGeom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/>
          <p:cNvSpPr/>
          <p:nvPr/>
        </p:nvSpPr>
        <p:spPr>
          <a:xfrm>
            <a:off x="3901644" y="275528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29589"/>
              </p:ext>
            </p:extLst>
          </p:nvPr>
        </p:nvGraphicFramePr>
        <p:xfrm>
          <a:off x="10633534" y="1272208"/>
          <a:ext cx="2088232" cy="12763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미리 지정되는 엑셀파일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관리자 일괄등록 순서에 대한 설명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디자인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양식 다운로드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직사각형 12"/>
          <p:cNvSpPr/>
          <p:nvPr/>
        </p:nvSpPr>
        <p:spPr>
          <a:xfrm>
            <a:off x="1835918" y="4678244"/>
            <a:ext cx="7095124" cy="132677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14" name="오각형 13"/>
          <p:cNvSpPr/>
          <p:nvPr/>
        </p:nvSpPr>
        <p:spPr>
          <a:xfrm>
            <a:off x="6820660" y="5284935"/>
            <a:ext cx="1966366" cy="504056"/>
          </a:xfrm>
          <a:prstGeom prst="homePlate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승인</a:t>
            </a:r>
            <a:r>
              <a:rPr lang="en-US" altLang="ko-KR" sz="1050" dirty="0">
                <a:latin typeface="+mn-ea"/>
              </a:rPr>
              <a:t>/</a:t>
            </a:r>
            <a:r>
              <a:rPr lang="ko-KR" altLang="en-US" sz="1050">
                <a:latin typeface="+mn-ea"/>
              </a:rPr>
              <a:t>설정</a:t>
            </a:r>
            <a:endParaRPr lang="ko-KR" altLang="en-US" sz="1050" dirty="0">
              <a:latin typeface="+mn-ea"/>
            </a:endParaRPr>
          </a:p>
        </p:txBody>
      </p:sp>
      <p:sp>
        <p:nvSpPr>
          <p:cNvPr id="15" name="오각형 14"/>
          <p:cNvSpPr/>
          <p:nvPr/>
        </p:nvSpPr>
        <p:spPr>
          <a:xfrm>
            <a:off x="5196264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일괄등록</a:t>
            </a:r>
            <a:endParaRPr lang="ko-KR" altLang="en-US" sz="1050" dirty="0">
              <a:latin typeface="+mn-ea"/>
            </a:endParaRPr>
          </a:p>
        </p:txBody>
      </p:sp>
      <p:sp>
        <p:nvSpPr>
          <p:cNvPr id="16" name="오각형 15"/>
          <p:cNvSpPr/>
          <p:nvPr/>
        </p:nvSpPr>
        <p:spPr>
          <a:xfrm>
            <a:off x="3571265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>
                <a:latin typeface="+mn-ea"/>
              </a:rPr>
              <a:t>양식에 내용 입력</a:t>
            </a:r>
            <a:endParaRPr lang="ko-KR" altLang="en-US" sz="1050" dirty="0">
              <a:latin typeface="+mn-ea"/>
            </a:endParaRPr>
          </a:p>
        </p:txBody>
      </p:sp>
      <p:sp>
        <p:nvSpPr>
          <p:cNvPr id="17" name="오각형 16"/>
          <p:cNvSpPr/>
          <p:nvPr/>
        </p:nvSpPr>
        <p:spPr>
          <a:xfrm>
            <a:off x="1946266" y="5284935"/>
            <a:ext cx="1966366" cy="504056"/>
          </a:xfrm>
          <a:prstGeom prst="homePlat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dirty="0">
                <a:latin typeface="+mn-ea"/>
              </a:rPr>
              <a:t>양식 다운로드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952130" y="4863920"/>
            <a:ext cx="68348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+mn-ea"/>
              </a:rPr>
              <a:t>관리자 일괄등록 순서</a:t>
            </a:r>
          </a:p>
        </p:txBody>
      </p:sp>
      <p:sp>
        <p:nvSpPr>
          <p:cNvPr id="21" name="Browse Button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512368" y="6387810"/>
            <a:ext cx="1539500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262626"/>
                </a:solidFill>
                <a:latin typeface="+mn-ea"/>
                <a:cs typeface="Segoe UI" pitchFamily="34" charset="0"/>
              </a:rPr>
              <a:t>양식 다운로드</a:t>
            </a:r>
            <a:endParaRPr lang="en-US" sz="1200" dirty="0">
              <a:solidFill>
                <a:srgbClr val="262626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5294580" y="457712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3193218" y="624558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7" name="모서리가 둥근 직사각형 26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040</a:t>
            </a:r>
            <a:endParaRPr lang="ko-KR" altLang="en-US" sz="800" dirty="0">
              <a:latin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1561736" y="632805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관리자 일괄 등록</a:t>
            </a:r>
          </a:p>
        </p:txBody>
      </p:sp>
    </p:spTree>
    <p:extLst>
      <p:ext uri="{BB962C8B-B14F-4D97-AF65-F5344CB8AC3E}">
        <p14:creationId xmlns:p14="http://schemas.microsoft.com/office/powerpoint/2010/main" val="378511689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협력사</a:t>
            </a:r>
            <a:r>
              <a:rPr lang="en-US" altLang="ko-KR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sz="3200" b="1">
                <a:solidFill>
                  <a:schemeClr val="tx1"/>
                </a:solidFill>
                <a:latin typeface="맑은 고딕" panose="020B0503020000020004" pitchFamily="50" charset="-127"/>
              </a:rPr>
              <a:t>소속</a:t>
            </a:r>
            <a:r>
              <a:rPr lang="en-US" altLang="ko-KR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3200" b="1">
                <a:solidFill>
                  <a:schemeClr val="tx1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관리</a:t>
            </a:r>
          </a:p>
        </p:txBody>
      </p:sp>
    </p:spTree>
    <p:extLst>
      <p:ext uri="{BB962C8B-B14F-4D97-AF65-F5344CB8AC3E}">
        <p14:creationId xmlns:p14="http://schemas.microsoft.com/office/powerpoint/2010/main" val="245746870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847115"/>
              </p:ext>
            </p:extLst>
          </p:nvPr>
        </p:nvGraphicFramePr>
        <p:xfrm>
          <a:off x="657612" y="2845648"/>
          <a:ext cx="9127560" cy="2675032"/>
        </p:xfrm>
        <a:graphic>
          <a:graphicData uri="http://schemas.openxmlformats.org/drawingml/2006/table">
            <a:tbl>
              <a:tblPr/>
              <a:tblGrid>
                <a:gridCol w="990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781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781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7814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7814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업체명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사업자번호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업종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업태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사업주명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이메일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 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운송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000-00-000000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건설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0000@gmail.com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629970" y="1901463"/>
            <a:ext cx="20233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 err="1">
                <a:latin typeface="맑은 고딕" panose="020B0503020000020004" pitchFamily="50" charset="-127"/>
              </a:rPr>
              <a:t>협력사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소속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 </a:t>
            </a:r>
            <a:r>
              <a:rPr lang="ko-KR" altLang="en-US" sz="1800" dirty="0">
                <a:latin typeface="맑은 고딕" panose="020B0503020000020004" pitchFamily="50" charset="-127"/>
              </a:rPr>
              <a:t>관리</a:t>
            </a: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8108972"/>
              </p:ext>
            </p:extLst>
          </p:nvPr>
        </p:nvGraphicFramePr>
        <p:xfrm>
          <a:off x="10633534" y="1272208"/>
          <a:ext cx="2088232" cy="7041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협력사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직사각형 4"/>
          <p:cNvSpPr/>
          <p:nvPr/>
        </p:nvSpPr>
        <p:spPr>
          <a:xfrm>
            <a:off x="443806" y="2856163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8643240" y="2374681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협력사</a:t>
            </a:r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등록</a:t>
            </a:r>
          </a:p>
        </p:txBody>
      </p:sp>
      <p:cxnSp>
        <p:nvCxnSpPr>
          <p:cNvPr id="16" name="직선 연결선 15"/>
          <p:cNvCxnSpPr/>
          <p:nvPr/>
        </p:nvCxnSpPr>
        <p:spPr>
          <a:xfrm>
            <a:off x="9857184" y="2856163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17" name="직사각형 16"/>
          <p:cNvSpPr/>
          <p:nvPr/>
        </p:nvSpPr>
        <p:spPr>
          <a:xfrm>
            <a:off x="718870" y="364847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932097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8793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 err="1">
                <a:latin typeface="맑은 고딕" panose="020B0503020000020004" pitchFamily="50" charset="-127"/>
              </a:rPr>
              <a:t>협력사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소속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 </a:t>
            </a:r>
            <a:r>
              <a:rPr lang="ko-KR" altLang="en-US" sz="1800" dirty="0">
                <a:latin typeface="맑은 고딕" panose="020B0503020000020004" pitchFamily="50" charset="-127"/>
              </a:rPr>
              <a:t>관리 ▶ 등록</a:t>
            </a: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 </a:t>
            </a:r>
            <a:r>
              <a:rPr lang="ko-KR" altLang="en-US" sz="100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용역운송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577931" y="2961099"/>
            <a:ext cx="8739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사업자번호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839219" y="2515839"/>
            <a:ext cx="5982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업체명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3" name="Search Box Rectangle"/>
          <p:cNvSpPr>
            <a:spLocks/>
          </p:cNvSpPr>
          <p:nvPr/>
        </p:nvSpPr>
        <p:spPr bwMode="auto">
          <a:xfrm>
            <a:off x="4027164" y="336044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46859" y="3379935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업종</a:t>
            </a:r>
          </a:p>
        </p:txBody>
      </p:sp>
      <p:sp>
        <p:nvSpPr>
          <p:cNvPr id="42" name="Search Box Rectangle"/>
          <p:cNvSpPr>
            <a:spLocks/>
          </p:cNvSpPr>
          <p:nvPr/>
        </p:nvSpPr>
        <p:spPr bwMode="auto">
          <a:xfrm>
            <a:off x="4027165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16002" y="294160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4" name="Search Box Rectangle"/>
          <p:cNvSpPr>
            <a:spLocks/>
          </p:cNvSpPr>
          <p:nvPr/>
        </p:nvSpPr>
        <p:spPr bwMode="auto">
          <a:xfrm>
            <a:off x="5318546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07383" y="294160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6" name="Search Box Rectangle"/>
          <p:cNvSpPr>
            <a:spLocks/>
          </p:cNvSpPr>
          <p:nvPr/>
        </p:nvSpPr>
        <p:spPr bwMode="auto">
          <a:xfrm>
            <a:off x="6609927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000000</a:t>
            </a:r>
          </a:p>
        </p:txBody>
      </p:sp>
      <p:sp>
        <p:nvSpPr>
          <p:cNvPr id="47" name="Search Box Rectangle"/>
          <p:cNvSpPr>
            <a:spLocks/>
          </p:cNvSpPr>
          <p:nvPr/>
        </p:nvSpPr>
        <p:spPr bwMode="auto">
          <a:xfrm>
            <a:off x="4027164" y="3811983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46859" y="3831478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업태</a:t>
            </a:r>
          </a:p>
        </p:txBody>
      </p:sp>
      <p:sp>
        <p:nvSpPr>
          <p:cNvPr id="49" name="Search Box Rectangle"/>
          <p:cNvSpPr>
            <a:spLocks/>
          </p:cNvSpPr>
          <p:nvPr/>
        </p:nvSpPr>
        <p:spPr bwMode="auto">
          <a:xfrm>
            <a:off x="4027164" y="4263526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440361" y="4283021"/>
            <a:ext cx="9926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사업주 명</a:t>
            </a:r>
          </a:p>
        </p:txBody>
      </p:sp>
      <p:sp>
        <p:nvSpPr>
          <p:cNvPr id="51" name="Search Box Rectangle"/>
          <p:cNvSpPr>
            <a:spLocks/>
          </p:cNvSpPr>
          <p:nvPr/>
        </p:nvSpPr>
        <p:spPr bwMode="auto">
          <a:xfrm>
            <a:off x="4027164" y="473456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440361" y="4754059"/>
            <a:ext cx="9926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명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385569" y="5194655"/>
            <a:ext cx="10663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연락처</a:t>
            </a:r>
          </a:p>
        </p:txBody>
      </p:sp>
      <p:sp>
        <p:nvSpPr>
          <p:cNvPr id="54" name="Search Box Rectangle"/>
          <p:cNvSpPr>
            <a:spLocks/>
          </p:cNvSpPr>
          <p:nvPr/>
        </p:nvSpPr>
        <p:spPr bwMode="auto">
          <a:xfrm>
            <a:off x="4027165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016002" y="5175159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6" name="Search Box Rectangle"/>
          <p:cNvSpPr>
            <a:spLocks/>
          </p:cNvSpPr>
          <p:nvPr/>
        </p:nvSpPr>
        <p:spPr bwMode="auto">
          <a:xfrm>
            <a:off x="5318546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307383" y="5175159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8" name="Search Box Rectangle"/>
          <p:cNvSpPr>
            <a:spLocks/>
          </p:cNvSpPr>
          <p:nvPr/>
        </p:nvSpPr>
        <p:spPr bwMode="auto">
          <a:xfrm>
            <a:off x="6609927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000000</a:t>
            </a:r>
          </a:p>
        </p:txBody>
      </p:sp>
      <p:sp>
        <p:nvSpPr>
          <p:cNvPr id="59" name="Search Box Rectangle"/>
          <p:cNvSpPr>
            <a:spLocks/>
          </p:cNvSpPr>
          <p:nvPr/>
        </p:nvSpPr>
        <p:spPr bwMode="auto">
          <a:xfrm>
            <a:off x="4027165" y="5615125"/>
            <a:ext cx="150954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050553" y="5634620"/>
            <a:ext cx="13824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</a:t>
            </a:r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이메일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5617608" y="5615125"/>
            <a:ext cx="3353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@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62" name="Search Box Rectangle"/>
          <p:cNvSpPr>
            <a:spLocks/>
          </p:cNvSpPr>
          <p:nvPr/>
        </p:nvSpPr>
        <p:spPr bwMode="auto">
          <a:xfrm>
            <a:off x="6033863" y="5615125"/>
            <a:ext cx="150954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63" name="Search Box Rectangle"/>
          <p:cNvSpPr>
            <a:spLocks/>
          </p:cNvSpPr>
          <p:nvPr/>
        </p:nvSpPr>
        <p:spPr bwMode="auto">
          <a:xfrm>
            <a:off x="5392688" y="7220914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+mn-ea"/>
                <a:cs typeface="Segoe UI" pitchFamily="34" charset="0"/>
              </a:rPr>
              <a:t>등록</a:t>
            </a:r>
            <a:endParaRPr lang="de-DE" sz="1050" dirty="0">
              <a:solidFill>
                <a:schemeClr val="bg1"/>
              </a:solidFill>
              <a:latin typeface="+mn-ea"/>
              <a:cs typeface="Segoe UI" pitchFamily="34" charset="0"/>
            </a:endParaRPr>
          </a:p>
        </p:txBody>
      </p:sp>
      <p:sp>
        <p:nvSpPr>
          <p:cNvPr id="64" name="Search Box Rectangle"/>
          <p:cNvSpPr>
            <a:spLocks/>
          </p:cNvSpPr>
          <p:nvPr/>
        </p:nvSpPr>
        <p:spPr bwMode="auto">
          <a:xfrm>
            <a:off x="4269309" y="7220914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Segoe U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404551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8793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 err="1">
                <a:latin typeface="맑은 고딕" panose="020B0503020000020004" pitchFamily="50" charset="-127"/>
              </a:rPr>
              <a:t>협력사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소속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r>
              <a:rPr lang="ko-KR" altLang="en-US" sz="1800">
                <a:latin typeface="맑은 고딕" panose="020B0503020000020004" pitchFamily="50" charset="-127"/>
              </a:rPr>
              <a:t> </a:t>
            </a:r>
            <a:r>
              <a:rPr lang="ko-KR" altLang="en-US" sz="1800" dirty="0">
                <a:latin typeface="맑은 고딕" panose="020B0503020000020004" pitchFamily="50" charset="-127"/>
              </a:rPr>
              <a:t>관리 ▶ 수정</a:t>
            </a: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 </a:t>
            </a:r>
            <a:r>
              <a:rPr lang="ko-KR" altLang="en-US" sz="100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용역운송</a:t>
            </a:r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577931" y="2961099"/>
            <a:ext cx="8739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사업자번호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839219" y="2515839"/>
            <a:ext cx="5982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업체명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3" name="Search Box Rectangle"/>
          <p:cNvSpPr>
            <a:spLocks/>
          </p:cNvSpPr>
          <p:nvPr/>
        </p:nvSpPr>
        <p:spPr bwMode="auto">
          <a:xfrm>
            <a:off x="4027164" y="336044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46859" y="3379935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업종</a:t>
            </a:r>
          </a:p>
        </p:txBody>
      </p:sp>
      <p:sp>
        <p:nvSpPr>
          <p:cNvPr id="42" name="Search Box Rectangle"/>
          <p:cNvSpPr>
            <a:spLocks/>
          </p:cNvSpPr>
          <p:nvPr/>
        </p:nvSpPr>
        <p:spPr bwMode="auto">
          <a:xfrm>
            <a:off x="4027165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016002" y="294160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4" name="Search Box Rectangle"/>
          <p:cNvSpPr>
            <a:spLocks/>
          </p:cNvSpPr>
          <p:nvPr/>
        </p:nvSpPr>
        <p:spPr bwMode="auto">
          <a:xfrm>
            <a:off x="5318546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07383" y="2941603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6" name="Search Box Rectangle"/>
          <p:cNvSpPr>
            <a:spLocks/>
          </p:cNvSpPr>
          <p:nvPr/>
        </p:nvSpPr>
        <p:spPr bwMode="auto">
          <a:xfrm>
            <a:off x="6609927" y="2922108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000000</a:t>
            </a:r>
          </a:p>
        </p:txBody>
      </p:sp>
      <p:sp>
        <p:nvSpPr>
          <p:cNvPr id="47" name="Search Box Rectangle"/>
          <p:cNvSpPr>
            <a:spLocks/>
          </p:cNvSpPr>
          <p:nvPr/>
        </p:nvSpPr>
        <p:spPr bwMode="auto">
          <a:xfrm>
            <a:off x="4027164" y="3811983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646859" y="3831478"/>
            <a:ext cx="786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업태</a:t>
            </a:r>
          </a:p>
        </p:txBody>
      </p:sp>
      <p:sp>
        <p:nvSpPr>
          <p:cNvPr id="49" name="Search Box Rectangle"/>
          <p:cNvSpPr>
            <a:spLocks/>
          </p:cNvSpPr>
          <p:nvPr/>
        </p:nvSpPr>
        <p:spPr bwMode="auto">
          <a:xfrm>
            <a:off x="4027164" y="4263526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385569" y="4283021"/>
            <a:ext cx="10474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사업주 명</a:t>
            </a:r>
          </a:p>
        </p:txBody>
      </p:sp>
      <p:sp>
        <p:nvSpPr>
          <p:cNvPr id="51" name="Search Box Rectangle"/>
          <p:cNvSpPr>
            <a:spLocks/>
          </p:cNvSpPr>
          <p:nvPr/>
        </p:nvSpPr>
        <p:spPr bwMode="auto">
          <a:xfrm>
            <a:off x="4027164" y="473456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385569" y="4754059"/>
            <a:ext cx="10474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명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385569" y="5194655"/>
            <a:ext cx="10663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연락처</a:t>
            </a:r>
          </a:p>
        </p:txBody>
      </p:sp>
      <p:sp>
        <p:nvSpPr>
          <p:cNvPr id="54" name="Search Box Rectangle"/>
          <p:cNvSpPr>
            <a:spLocks/>
          </p:cNvSpPr>
          <p:nvPr/>
        </p:nvSpPr>
        <p:spPr bwMode="auto">
          <a:xfrm>
            <a:off x="4027165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5016002" y="5175159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6" name="Search Box Rectangle"/>
          <p:cNvSpPr>
            <a:spLocks/>
          </p:cNvSpPr>
          <p:nvPr/>
        </p:nvSpPr>
        <p:spPr bwMode="auto">
          <a:xfrm>
            <a:off x="5318546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307383" y="5175159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8" name="Search Box Rectangle"/>
          <p:cNvSpPr>
            <a:spLocks/>
          </p:cNvSpPr>
          <p:nvPr/>
        </p:nvSpPr>
        <p:spPr bwMode="auto">
          <a:xfrm>
            <a:off x="6609927" y="5155664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000000</a:t>
            </a:r>
          </a:p>
        </p:txBody>
      </p:sp>
      <p:sp>
        <p:nvSpPr>
          <p:cNvPr id="59" name="Search Box Rectangle"/>
          <p:cNvSpPr>
            <a:spLocks/>
          </p:cNvSpPr>
          <p:nvPr/>
        </p:nvSpPr>
        <p:spPr bwMode="auto">
          <a:xfrm>
            <a:off x="4027165" y="5615125"/>
            <a:ext cx="150954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050553" y="5634620"/>
            <a:ext cx="13824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담당자 </a:t>
            </a:r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이메일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5617608" y="5615125"/>
            <a:ext cx="3353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@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62" name="Search Box Rectangle"/>
          <p:cNvSpPr>
            <a:spLocks/>
          </p:cNvSpPr>
          <p:nvPr/>
        </p:nvSpPr>
        <p:spPr bwMode="auto">
          <a:xfrm>
            <a:off x="6033863" y="5615125"/>
            <a:ext cx="150954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************</a:t>
            </a:r>
          </a:p>
        </p:txBody>
      </p:sp>
      <p:sp>
        <p:nvSpPr>
          <p:cNvPr id="65" name="Search Box Rectangle"/>
          <p:cNvSpPr>
            <a:spLocks/>
          </p:cNvSpPr>
          <p:nvPr/>
        </p:nvSpPr>
        <p:spPr bwMode="auto">
          <a:xfrm>
            <a:off x="6535948" y="732088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수정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6" name="Search Box Rectangle"/>
          <p:cNvSpPr>
            <a:spLocks/>
          </p:cNvSpPr>
          <p:nvPr/>
        </p:nvSpPr>
        <p:spPr bwMode="auto">
          <a:xfrm>
            <a:off x="5412569" y="732088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7" name="Search Box Rectangle"/>
          <p:cNvSpPr>
            <a:spLocks/>
          </p:cNvSpPr>
          <p:nvPr/>
        </p:nvSpPr>
        <p:spPr bwMode="auto">
          <a:xfrm>
            <a:off x="2677578" y="732088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삭제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1237735"/>
              </p:ext>
            </p:extLst>
          </p:nvPr>
        </p:nvGraphicFramePr>
        <p:xfrm>
          <a:off x="10633534" y="1272208"/>
          <a:ext cx="2088232" cy="214799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사용기록이 있는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협력사는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삭제할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3" name="직사각형 72"/>
          <p:cNvSpPr/>
          <p:nvPr/>
        </p:nvSpPr>
        <p:spPr>
          <a:xfrm>
            <a:off x="3067300" y="71949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68" name="그룹 67"/>
          <p:cNvGrpSpPr/>
          <p:nvPr/>
        </p:nvGrpSpPr>
        <p:grpSpPr>
          <a:xfrm>
            <a:off x="11111249" y="2167097"/>
            <a:ext cx="1482239" cy="807104"/>
            <a:chOff x="11111249" y="4601720"/>
            <a:chExt cx="1482239" cy="807104"/>
          </a:xfrm>
        </p:grpSpPr>
        <p:sp>
          <p:nvSpPr>
            <p:cNvPr id="69" name="직사각형 68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사용기록이 있는 </a:t>
              </a:r>
              <a:r>
                <a:rPr lang="ko-KR" altLang="en-US" sz="700" dirty="0" err="1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협력사입니다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삭제하실 수 없습니다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  <p:sp>
          <p:nvSpPr>
            <p:cNvPr id="70" name="직사각형 69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71" name="모서리가 둥근 사각형 설명선 70"/>
          <p:cNvSpPr/>
          <p:nvPr/>
        </p:nvSpPr>
        <p:spPr>
          <a:xfrm>
            <a:off x="11743208" y="1951510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981046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구역 관리</a:t>
            </a:r>
          </a:p>
        </p:txBody>
      </p:sp>
    </p:spTree>
    <p:extLst>
      <p:ext uri="{BB962C8B-B14F-4D97-AF65-F5344CB8AC3E}">
        <p14:creationId xmlns:p14="http://schemas.microsoft.com/office/powerpoint/2010/main" val="294756231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11897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구역 관리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1278187"/>
              </p:ext>
            </p:extLst>
          </p:nvPr>
        </p:nvGraphicFramePr>
        <p:xfrm>
          <a:off x="2538383" y="3216424"/>
          <a:ext cx="5521286" cy="2316112"/>
        </p:xfrm>
        <a:graphic>
          <a:graphicData uri="http://schemas.openxmlformats.org/drawingml/2006/table">
            <a:tbl>
              <a:tblPr/>
              <a:tblGrid>
                <a:gridCol w="734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3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92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구역 이름 ▲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구역</a:t>
                      </a:r>
                      <a:r>
                        <a:rPr lang="ko-KR" altLang="en-US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 색상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10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일반 구역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10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통제 구역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10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위험 구역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10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□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밀폐 공간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" name="직사각형 3"/>
          <p:cNvSpPr/>
          <p:nvPr/>
        </p:nvSpPr>
        <p:spPr>
          <a:xfrm>
            <a:off x="6786855" y="3724310"/>
            <a:ext cx="648072" cy="28803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/>
          <p:cNvSpPr/>
          <p:nvPr/>
        </p:nvSpPr>
        <p:spPr>
          <a:xfrm>
            <a:off x="6786855" y="4197629"/>
            <a:ext cx="648072" cy="288032"/>
          </a:xfrm>
          <a:prstGeom prst="rect">
            <a:avLst/>
          </a:prstGeom>
          <a:solidFill>
            <a:srgbClr val="FFC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6786855" y="4670948"/>
            <a:ext cx="648072" cy="288032"/>
          </a:xfrm>
          <a:prstGeom prst="rect">
            <a:avLst/>
          </a:prstGeom>
          <a:solidFill>
            <a:srgbClr val="FF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/>
          <p:cNvSpPr/>
          <p:nvPr/>
        </p:nvSpPr>
        <p:spPr>
          <a:xfrm>
            <a:off x="6786855" y="5144267"/>
            <a:ext cx="648072" cy="288032"/>
          </a:xfrm>
          <a:prstGeom prst="rect">
            <a:avLst/>
          </a:prstGeom>
          <a:solidFill>
            <a:srgbClr val="7030A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/>
          <p:cNvSpPr/>
          <p:nvPr/>
        </p:nvSpPr>
        <p:spPr>
          <a:xfrm>
            <a:off x="3246222" y="5808712"/>
            <a:ext cx="879170" cy="368341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503711" y="5854382"/>
            <a:ext cx="7425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선택 사항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3608949" y="56901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6904856" y="2717543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등록하기</a:t>
            </a:r>
            <a:endParaRPr lang="ko-KR" altLang="en-US" sz="800" dirty="0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10865559" y="4113175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선택한 구역정보를 삭제하시겠습니까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0865559" y="4701156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24" name="직사각형 23"/>
          <p:cNvSpPr/>
          <p:nvPr/>
        </p:nvSpPr>
        <p:spPr>
          <a:xfrm>
            <a:off x="11690288" y="4701156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5" name="직사각형 24"/>
          <p:cNvSpPr/>
          <p:nvPr/>
        </p:nvSpPr>
        <p:spPr>
          <a:xfrm>
            <a:off x="10865559" y="3586526"/>
            <a:ext cx="165592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26" name="직사각형 25"/>
          <p:cNvSpPr/>
          <p:nvPr/>
        </p:nvSpPr>
        <p:spPr>
          <a:xfrm>
            <a:off x="10865559" y="2998545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사용중인 구역입니다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삭제하실 수 없습니다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11531958" y="403330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2-2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11531958" y="289837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7392019" y="262705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6146651"/>
              </p:ext>
            </p:extLst>
          </p:nvPr>
        </p:nvGraphicFramePr>
        <p:xfrm>
          <a:off x="10633534" y="1272208"/>
          <a:ext cx="2088232" cy="11726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화면으로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구역 삭제 시 사용중인 구역은 삭제할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사용내역이 있으나 현재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사용중이지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않은 구역은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Hidden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처리됨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645339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31918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>
                <a:latin typeface="맑은 고딕" panose="020B0503020000020004" pitchFamily="50" charset="-127"/>
              </a:rPr>
              <a:t>구역 관리 ▶ 등록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수정</a:t>
            </a:r>
            <a:r>
              <a:rPr lang="en-US" altLang="ko-KR" sz="1800" dirty="0">
                <a:latin typeface="맑은 고딕" panose="020B0503020000020004" pitchFamily="50" charset="-127"/>
              </a:rPr>
              <a:t>) </a:t>
            </a:r>
            <a:r>
              <a:rPr lang="ko-KR" altLang="en-US" sz="1800">
                <a:latin typeface="맑은 고딕" panose="020B0503020000020004" pitchFamily="50" charset="-127"/>
              </a:rPr>
              <a:t>하기</a:t>
            </a:r>
            <a:endParaRPr lang="ko-KR" altLang="en-US" sz="1800" dirty="0">
              <a:latin typeface="맑은 고딕" panose="020B0503020000020004" pitchFamily="50" charset="-127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3880521" y="3435684"/>
            <a:ext cx="645443" cy="315990"/>
          </a:xfrm>
          <a:prstGeom prst="rect">
            <a:avLst/>
          </a:prstGeom>
          <a:solidFill>
            <a:srgbClr val="FF0000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3880520" y="2928392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통제구역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500215" y="3455179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구역 색상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500215" y="2947887"/>
            <a:ext cx="790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구역 이름</a:t>
            </a:r>
          </a:p>
        </p:txBody>
      </p:sp>
      <p:sp>
        <p:nvSpPr>
          <p:cNvPr id="7" name="Search Box Rectangle"/>
          <p:cNvSpPr>
            <a:spLocks/>
          </p:cNvSpPr>
          <p:nvPr/>
        </p:nvSpPr>
        <p:spPr bwMode="auto">
          <a:xfrm>
            <a:off x="5394490" y="7392888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8" name="Search Box Rectangle"/>
          <p:cNvSpPr>
            <a:spLocks/>
          </p:cNvSpPr>
          <p:nvPr/>
        </p:nvSpPr>
        <p:spPr bwMode="auto">
          <a:xfrm>
            <a:off x="4271111" y="7392888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9" name="직선 연결선 8"/>
          <p:cNvCxnSpPr/>
          <p:nvPr/>
        </p:nvCxnSpPr>
        <p:spPr>
          <a:xfrm>
            <a:off x="4669980" y="3427259"/>
            <a:ext cx="0" cy="305739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Search Box Rectangle"/>
          <p:cNvSpPr>
            <a:spLocks/>
          </p:cNvSpPr>
          <p:nvPr/>
        </p:nvSpPr>
        <p:spPr bwMode="auto">
          <a:xfrm>
            <a:off x="4813997" y="3435684"/>
            <a:ext cx="266031" cy="31599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1" name="Search Box Rectangle"/>
          <p:cNvSpPr>
            <a:spLocks/>
          </p:cNvSpPr>
          <p:nvPr/>
        </p:nvSpPr>
        <p:spPr bwMode="auto">
          <a:xfrm>
            <a:off x="5135417" y="3435684"/>
            <a:ext cx="266031" cy="315990"/>
          </a:xfrm>
          <a:prstGeom prst="rect">
            <a:avLst/>
          </a:prstGeom>
          <a:solidFill>
            <a:schemeClr val="accent4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2" name="Search Box Rectangle"/>
          <p:cNvSpPr>
            <a:spLocks/>
          </p:cNvSpPr>
          <p:nvPr/>
        </p:nvSpPr>
        <p:spPr bwMode="auto">
          <a:xfrm>
            <a:off x="5482397" y="3435684"/>
            <a:ext cx="266031" cy="3159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3" name="Search Box Rectangle"/>
          <p:cNvSpPr>
            <a:spLocks/>
          </p:cNvSpPr>
          <p:nvPr/>
        </p:nvSpPr>
        <p:spPr bwMode="auto">
          <a:xfrm>
            <a:off x="5803817" y="3435684"/>
            <a:ext cx="266031" cy="315990"/>
          </a:xfrm>
          <a:prstGeom prst="rect">
            <a:avLst/>
          </a:prstGeom>
          <a:solidFill>
            <a:schemeClr val="accent6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4" name="Search Box Rectangle"/>
          <p:cNvSpPr>
            <a:spLocks/>
          </p:cNvSpPr>
          <p:nvPr/>
        </p:nvSpPr>
        <p:spPr bwMode="auto">
          <a:xfrm>
            <a:off x="6138084" y="3435684"/>
            <a:ext cx="266031" cy="315990"/>
          </a:xfrm>
          <a:prstGeom prst="rect">
            <a:avLst/>
          </a:prstGeom>
          <a:solidFill>
            <a:srgbClr val="00B0F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5" name="Search Box Rectangle"/>
          <p:cNvSpPr>
            <a:spLocks/>
          </p:cNvSpPr>
          <p:nvPr/>
        </p:nvSpPr>
        <p:spPr bwMode="auto">
          <a:xfrm>
            <a:off x="6459504" y="3435684"/>
            <a:ext cx="266031" cy="315990"/>
          </a:xfrm>
          <a:prstGeom prst="rect">
            <a:avLst/>
          </a:prstGeom>
          <a:solidFill>
            <a:srgbClr val="7030A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6" name="Search Box Rectangle"/>
          <p:cNvSpPr>
            <a:spLocks/>
          </p:cNvSpPr>
          <p:nvPr/>
        </p:nvSpPr>
        <p:spPr bwMode="auto">
          <a:xfrm>
            <a:off x="6806484" y="3435684"/>
            <a:ext cx="266031" cy="31599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17" name="Search Box Rectangle"/>
          <p:cNvSpPr>
            <a:spLocks/>
          </p:cNvSpPr>
          <p:nvPr/>
        </p:nvSpPr>
        <p:spPr bwMode="auto">
          <a:xfrm>
            <a:off x="7127904" y="3435684"/>
            <a:ext cx="266031" cy="31599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1297914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제품 관리</a:t>
            </a:r>
          </a:p>
        </p:txBody>
      </p:sp>
    </p:spTree>
    <p:extLst>
      <p:ext uri="{BB962C8B-B14F-4D97-AF65-F5344CB8AC3E}">
        <p14:creationId xmlns:p14="http://schemas.microsoft.com/office/powerpoint/2010/main" val="96063720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1007737" y="2640360"/>
            <a:ext cx="1338044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Smart AP</a:t>
            </a:r>
            <a:endParaRPr lang="ko-KR" altLang="en-US" sz="800" dirty="0" err="1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2492519" y="2640360"/>
            <a:ext cx="1338044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Smart Tag</a:t>
            </a:r>
            <a:endParaRPr lang="ko-KR" altLang="en-US" sz="800" dirty="0" err="1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5377592" y="2640360"/>
            <a:ext cx="1338044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GAS Sensor Beacon</a:t>
            </a:r>
            <a:endParaRPr lang="ko-KR" altLang="en-US" sz="800" dirty="0" err="1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3904903" y="2640360"/>
            <a:ext cx="1338044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Safety Band</a:t>
            </a:r>
            <a:endParaRPr lang="ko-KR" altLang="en-US" sz="800" dirty="0" err="1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1013362" y="24198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6478513"/>
              </p:ext>
            </p:extLst>
          </p:nvPr>
        </p:nvGraphicFramePr>
        <p:xfrm>
          <a:off x="1007737" y="3255144"/>
          <a:ext cx="8614678" cy="4441809"/>
        </p:xfrm>
        <a:graphic>
          <a:graphicData uri="http://schemas.openxmlformats.org/drawingml/2006/table">
            <a:tbl>
              <a:tblPr/>
              <a:tblGrid>
                <a:gridCol w="1011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02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020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478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02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306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156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제품 이미지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종류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제품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버전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5240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Smart AP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] 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5240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Smart AP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] 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5240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Tag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위치태그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25240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GAS Sensor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가스센서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25240"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Band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안전밴드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직사각형 7"/>
          <p:cNvSpPr/>
          <p:nvPr/>
        </p:nvSpPr>
        <p:spPr>
          <a:xfrm>
            <a:off x="7519450" y="2640360"/>
            <a:ext cx="2057236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등록하기</a:t>
            </a:r>
            <a:endParaRPr lang="ko-KR" altLang="en-US" sz="800" dirty="0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cxnSp>
        <p:nvCxnSpPr>
          <p:cNvPr id="14" name="직선 연결선 13"/>
          <p:cNvCxnSpPr/>
          <p:nvPr/>
        </p:nvCxnSpPr>
        <p:spPr>
          <a:xfrm>
            <a:off x="9622416" y="3592495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/>
          <p:cNvSpPr/>
          <p:nvPr/>
        </p:nvSpPr>
        <p:spPr>
          <a:xfrm>
            <a:off x="1006785" y="416965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1000199" y="4395566"/>
            <a:ext cx="8622215" cy="842926"/>
          </a:xfrm>
          <a:prstGeom prst="rect">
            <a:avLst/>
          </a:prstGeom>
          <a:solidFill>
            <a:srgbClr val="0070C0">
              <a:alpha val="57000"/>
            </a:srgbClr>
          </a:solidFill>
          <a:ln w="12700"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8281972"/>
              </p:ext>
            </p:extLst>
          </p:nvPr>
        </p:nvGraphicFramePr>
        <p:xfrm>
          <a:off x="10633534" y="1272208"/>
          <a:ext cx="2088232" cy="12763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정렬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정보 터치 영역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터치 시 상세보기 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18" name="직선 연결선 17"/>
          <p:cNvCxnSpPr/>
          <p:nvPr/>
        </p:nvCxnSpPr>
        <p:spPr>
          <a:xfrm>
            <a:off x="2421310" y="2640360"/>
            <a:ext cx="0" cy="46800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/>
          <p:cNvCxnSpPr/>
          <p:nvPr/>
        </p:nvCxnSpPr>
        <p:spPr>
          <a:xfrm>
            <a:off x="5301630" y="2640360"/>
            <a:ext cx="0" cy="46800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29970" y="1901463"/>
            <a:ext cx="11897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제품 관리</a:t>
            </a:r>
          </a:p>
        </p:txBody>
      </p:sp>
    </p:spTree>
    <p:extLst>
      <p:ext uri="{BB962C8B-B14F-4D97-AF65-F5344CB8AC3E}">
        <p14:creationId xmlns:p14="http://schemas.microsoft.com/office/powerpoint/2010/main" val="235676062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5074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제품 관리 ▶ 등록하기</a:t>
            </a:r>
          </a:p>
        </p:txBody>
      </p:sp>
      <p:sp>
        <p:nvSpPr>
          <p:cNvPr id="3" name="직사각형 2"/>
          <p:cNvSpPr/>
          <p:nvPr/>
        </p:nvSpPr>
        <p:spPr>
          <a:xfrm>
            <a:off x="959227" y="2640360"/>
            <a:ext cx="3456384" cy="496855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28821" y="3125856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제품</a:t>
            </a: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6066777" y="3106361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[AP</a:t>
            </a:r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디바이스</a:t>
            </a:r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]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528821" y="3636806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스팩정보</a:t>
            </a:r>
          </a:p>
        </p:txBody>
      </p:sp>
      <p:sp>
        <p:nvSpPr>
          <p:cNvPr id="8" name="Search Box Rectangle"/>
          <p:cNvSpPr>
            <a:spLocks/>
          </p:cNvSpPr>
          <p:nvPr/>
        </p:nvSpPr>
        <p:spPr bwMode="auto">
          <a:xfrm>
            <a:off x="6066777" y="3617310"/>
            <a:ext cx="3502110" cy="1936407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스팩정보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4974350"/>
              </p:ext>
            </p:extLst>
          </p:nvPr>
        </p:nvGraphicFramePr>
        <p:xfrm>
          <a:off x="6066777" y="5748676"/>
          <a:ext cx="3502109" cy="894760"/>
        </p:xfrm>
        <a:graphic>
          <a:graphicData uri="http://schemas.openxmlformats.org/drawingml/2006/table">
            <a:tbl>
              <a:tblPr/>
              <a:tblGrid>
                <a:gridCol w="10612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75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58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73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버전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삭제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4528821" y="5740368"/>
            <a:ext cx="9092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</a:t>
            </a:r>
          </a:p>
        </p:txBody>
      </p:sp>
      <p:sp>
        <p:nvSpPr>
          <p:cNvPr id="11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6066776" y="7260384"/>
            <a:ext cx="255395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파일찾기로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 선택된 파일명 노출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8620728" y="7260385"/>
            <a:ext cx="948159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 err="1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528821" y="6769295"/>
            <a:ext cx="9092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등록</a:t>
            </a:r>
          </a:p>
        </p:txBody>
      </p:sp>
      <p:sp>
        <p:nvSpPr>
          <p:cNvPr id="14" name="File Box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6066775" y="6830409"/>
            <a:ext cx="350211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펌웨어 버전을 입력하세요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15" name="직선 연결선 14"/>
          <p:cNvCxnSpPr/>
          <p:nvPr/>
        </p:nvCxnSpPr>
        <p:spPr>
          <a:xfrm>
            <a:off x="9523161" y="598668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15"/>
          <p:cNvSpPr/>
          <p:nvPr/>
        </p:nvSpPr>
        <p:spPr>
          <a:xfrm>
            <a:off x="8954043" y="6090739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17" name="모서리가 둥근 직사각형 16"/>
          <p:cNvSpPr/>
          <p:nvPr/>
        </p:nvSpPr>
        <p:spPr>
          <a:xfrm>
            <a:off x="8954043" y="6397001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528821" y="265985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종류</a:t>
            </a:r>
          </a:p>
        </p:txBody>
      </p:sp>
      <p:sp>
        <p:nvSpPr>
          <p:cNvPr id="19" name="Search Box Rectangle"/>
          <p:cNvSpPr>
            <a:spLocks/>
          </p:cNvSpPr>
          <p:nvPr/>
        </p:nvSpPr>
        <p:spPr bwMode="auto">
          <a:xfrm>
            <a:off x="6066777" y="2640360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AP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20" name="Chevron"/>
          <p:cNvSpPr>
            <a:spLocks noChangeAspect="1"/>
          </p:cNvSpPr>
          <p:nvPr/>
        </p:nvSpPr>
        <p:spPr bwMode="auto">
          <a:xfrm>
            <a:off x="9343603" y="275403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1" name="Search Box Rectangle"/>
          <p:cNvSpPr>
            <a:spLocks/>
          </p:cNvSpPr>
          <p:nvPr/>
        </p:nvSpPr>
        <p:spPr bwMode="auto">
          <a:xfrm>
            <a:off x="5392688" y="7692433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2" name="Search Box Rectangle"/>
          <p:cNvSpPr>
            <a:spLocks/>
          </p:cNvSpPr>
          <p:nvPr/>
        </p:nvSpPr>
        <p:spPr bwMode="auto">
          <a:xfrm>
            <a:off x="4269309" y="7692433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5825315" y="27052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1999399"/>
              </p:ext>
            </p:extLst>
          </p:nvPr>
        </p:nvGraphicFramePr>
        <p:xfrm>
          <a:off x="10633534" y="1272208"/>
          <a:ext cx="2088232" cy="357310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종류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AP, Tag, Band, GAS Sensor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스팩정보 입력필드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업로드된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버전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파일찾기로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수기로 입력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필드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파일찾기로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선택된 파일명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파일 유무를 아이콘의 유무로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보임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 있음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보이지 않음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 아이콘을 눌러서 사진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 사진함 연결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5825315" y="3175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5825315" y="364638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4608351" y="65529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4608351" y="55537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116413"/>
            <a:ext cx="127146" cy="127146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427041"/>
            <a:ext cx="127146" cy="127146"/>
          </a:xfrm>
          <a:prstGeom prst="rect">
            <a:avLst/>
          </a:prstGeom>
        </p:spPr>
      </p:pic>
      <p:sp>
        <p:nvSpPr>
          <p:cNvPr id="31" name="직사각형 30"/>
          <p:cNvSpPr/>
          <p:nvPr/>
        </p:nvSpPr>
        <p:spPr>
          <a:xfrm>
            <a:off x="8567079" y="587463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2" name="타원 31"/>
          <p:cNvSpPr/>
          <p:nvPr/>
        </p:nvSpPr>
        <p:spPr>
          <a:xfrm>
            <a:off x="3514444" y="6764375"/>
            <a:ext cx="700012" cy="700012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ko-KR" altLang="en-US" sz="105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1909" y="6884331"/>
            <a:ext cx="445081" cy="445081"/>
          </a:xfrm>
          <a:prstGeom prst="rect">
            <a:avLst/>
          </a:prstGeom>
        </p:spPr>
      </p:pic>
      <p:sp>
        <p:nvSpPr>
          <p:cNvPr id="34" name="직사각형 33"/>
          <p:cNvSpPr/>
          <p:nvPr/>
        </p:nvSpPr>
        <p:spPr>
          <a:xfrm>
            <a:off x="3765609" y="65293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5" name="직사각형 34"/>
          <p:cNvSpPr/>
          <p:nvPr/>
        </p:nvSpPr>
        <p:spPr>
          <a:xfrm>
            <a:off x="5825315" y="732789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5825315" y="690779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1282362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62100" y="2640360"/>
            <a:ext cx="3456384" cy="496855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531694" y="3125856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제품</a:t>
            </a: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6069650" y="3106361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[</a:t>
            </a:r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위치태그</a:t>
            </a:r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]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31694" y="3636806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스팩정보</a:t>
            </a: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6069650" y="3617310"/>
            <a:ext cx="3502110" cy="1936407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스팩정보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531694" y="5740368"/>
            <a:ext cx="9092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528821" y="265985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종류</a:t>
            </a:r>
          </a:p>
        </p:txBody>
      </p:sp>
      <p:sp>
        <p:nvSpPr>
          <p:cNvPr id="10" name="Search Box Rectangle"/>
          <p:cNvSpPr>
            <a:spLocks/>
          </p:cNvSpPr>
          <p:nvPr/>
        </p:nvSpPr>
        <p:spPr bwMode="auto">
          <a:xfrm>
            <a:off x="6066777" y="2640360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TAG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11" name="Chevron"/>
          <p:cNvSpPr>
            <a:spLocks noChangeAspect="1"/>
          </p:cNvSpPr>
          <p:nvPr/>
        </p:nvSpPr>
        <p:spPr bwMode="auto">
          <a:xfrm>
            <a:off x="9343603" y="275403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5825315" y="27052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244032"/>
              </p:ext>
            </p:extLst>
          </p:nvPr>
        </p:nvGraphicFramePr>
        <p:xfrm>
          <a:off x="10633534" y="1272208"/>
          <a:ext cx="2088232" cy="27479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종류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AP, Tag, Band, GAS Sensor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스팩정보 입력필드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버전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수기로 입력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필드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파일찾기로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선택된 파일명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 아이콘을 눌러서 사진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 사진함 연결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4" name="직사각형 13"/>
          <p:cNvSpPr/>
          <p:nvPr/>
        </p:nvSpPr>
        <p:spPr>
          <a:xfrm>
            <a:off x="5825315" y="3175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5825315" y="364638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528821" y="6769295"/>
            <a:ext cx="118494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정보입력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4608351" y="65529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608351" y="55537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9" name="표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2653128"/>
              </p:ext>
            </p:extLst>
          </p:nvPr>
        </p:nvGraphicFramePr>
        <p:xfrm>
          <a:off x="6066777" y="5748676"/>
          <a:ext cx="3502109" cy="894760"/>
        </p:xfrm>
        <a:graphic>
          <a:graphicData uri="http://schemas.openxmlformats.org/drawingml/2006/table">
            <a:tbl>
              <a:tblPr/>
              <a:tblGrid>
                <a:gridCol w="10612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75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58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73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버전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삭제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20" name="직선 연결선 19"/>
          <p:cNvCxnSpPr/>
          <p:nvPr/>
        </p:nvCxnSpPr>
        <p:spPr>
          <a:xfrm>
            <a:off x="9523161" y="598668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모서리가 둥근 직사각형 20"/>
          <p:cNvSpPr/>
          <p:nvPr/>
        </p:nvSpPr>
        <p:spPr>
          <a:xfrm>
            <a:off x="8954043" y="6090739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22" name="모서리가 둥근 직사각형 21"/>
          <p:cNvSpPr/>
          <p:nvPr/>
        </p:nvSpPr>
        <p:spPr>
          <a:xfrm>
            <a:off x="8954043" y="6397001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23" name="타원 22"/>
          <p:cNvSpPr/>
          <p:nvPr/>
        </p:nvSpPr>
        <p:spPr>
          <a:xfrm>
            <a:off x="3514444" y="6764375"/>
            <a:ext cx="700012" cy="700012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ko-KR" altLang="en-US" sz="105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pic>
        <p:nvPicPr>
          <p:cNvPr id="24" name="그림 2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1909" y="6884331"/>
            <a:ext cx="445081" cy="445081"/>
          </a:xfrm>
          <a:prstGeom prst="rect">
            <a:avLst/>
          </a:prstGeom>
        </p:spPr>
      </p:pic>
      <p:sp>
        <p:nvSpPr>
          <p:cNvPr id="25" name="직사각형 24"/>
          <p:cNvSpPr/>
          <p:nvPr/>
        </p:nvSpPr>
        <p:spPr>
          <a:xfrm>
            <a:off x="3765609" y="65293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116413"/>
            <a:ext cx="127146" cy="127146"/>
          </a:xfrm>
          <a:prstGeom prst="rect">
            <a:avLst/>
          </a:prstGeom>
        </p:spPr>
      </p:pic>
      <p:pic>
        <p:nvPicPr>
          <p:cNvPr id="27" name="그림 2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427041"/>
            <a:ext cx="127146" cy="127146"/>
          </a:xfrm>
          <a:prstGeom prst="rect">
            <a:avLst/>
          </a:prstGeom>
        </p:spPr>
      </p:pic>
      <p:sp>
        <p:nvSpPr>
          <p:cNvPr id="28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6066776" y="7260384"/>
            <a:ext cx="255395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파일찾기로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 선택된 파일명 노출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9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8620728" y="7260385"/>
            <a:ext cx="948159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 err="1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0" name="File Box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6066775" y="6830409"/>
            <a:ext cx="350211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펌웨어 버전을 입력하세요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5825315" y="732789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5825315" y="690779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3" name="Search Box Rectangle"/>
          <p:cNvSpPr>
            <a:spLocks/>
          </p:cNvSpPr>
          <p:nvPr/>
        </p:nvSpPr>
        <p:spPr bwMode="auto">
          <a:xfrm>
            <a:off x="5392688" y="7692433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4" name="Search Box Rectangle"/>
          <p:cNvSpPr>
            <a:spLocks/>
          </p:cNvSpPr>
          <p:nvPr/>
        </p:nvSpPr>
        <p:spPr bwMode="auto">
          <a:xfrm>
            <a:off x="4269309" y="7692433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629970" y="1901463"/>
            <a:ext cx="25074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제품 관리 ▶ 등록하기</a:t>
            </a:r>
          </a:p>
        </p:txBody>
      </p:sp>
      <p:cxnSp>
        <p:nvCxnSpPr>
          <p:cNvPr id="37" name="직선 화살표 연결선 36"/>
          <p:cNvCxnSpPr/>
          <p:nvPr/>
        </p:nvCxnSpPr>
        <p:spPr>
          <a:xfrm>
            <a:off x="8744531" y="6498366"/>
            <a:ext cx="1633211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0577264" y="6221552"/>
            <a:ext cx="2061783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 err="1"/>
              <a:t>펌웨어</a:t>
            </a:r>
            <a:r>
              <a:rPr lang="ko-KR" altLang="en-US" sz="1000" dirty="0"/>
              <a:t> 파일은 등록하지만</a:t>
            </a:r>
            <a:endParaRPr lang="en-US" altLang="ko-KR" sz="1000" dirty="0"/>
          </a:p>
          <a:p>
            <a:r>
              <a:rPr lang="ko-KR" altLang="en-US" sz="1000" dirty="0"/>
              <a:t>서버에서의 업데이트는 없음</a:t>
            </a:r>
            <a:r>
              <a:rPr lang="en-US" altLang="ko-KR" sz="1000" dirty="0"/>
              <a:t>.</a:t>
            </a:r>
          </a:p>
          <a:p>
            <a:endParaRPr lang="en-US" altLang="ko-KR" sz="1000" dirty="0"/>
          </a:p>
          <a:p>
            <a:r>
              <a:rPr lang="ko-KR" altLang="en-US" sz="1000" dirty="0"/>
              <a:t>서버에서 업데이트는 </a:t>
            </a:r>
            <a:r>
              <a:rPr lang="en-US" altLang="ko-KR" sz="1000" dirty="0"/>
              <a:t>AP </a:t>
            </a:r>
            <a:r>
              <a:rPr lang="ko-KR" altLang="en-US" sz="1000"/>
              <a:t>만 가능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295001949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62100" y="2640360"/>
            <a:ext cx="3456384" cy="496855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6069650" y="3107934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[</a:t>
            </a:r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가스센서</a:t>
            </a:r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]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5" name="Search Box Rectangle"/>
          <p:cNvSpPr>
            <a:spLocks/>
          </p:cNvSpPr>
          <p:nvPr/>
        </p:nvSpPr>
        <p:spPr bwMode="auto">
          <a:xfrm>
            <a:off x="6066777" y="2640360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GAS Sensor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6" name="Chevron"/>
          <p:cNvSpPr>
            <a:spLocks noChangeAspect="1"/>
          </p:cNvSpPr>
          <p:nvPr/>
        </p:nvSpPr>
        <p:spPr bwMode="auto">
          <a:xfrm>
            <a:off x="9343603" y="275403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825315" y="27052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9416490"/>
              </p:ext>
            </p:extLst>
          </p:nvPr>
        </p:nvGraphicFramePr>
        <p:xfrm>
          <a:off x="10633534" y="1272208"/>
          <a:ext cx="2088232" cy="27479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종류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AP, Tag, Band, GAS Sensor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스팩정보 입력필드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버전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수기로 입력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필드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파일찾기로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선택된 파일명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 아이콘을 눌러서 사진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 사진함 연결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9" name="직사각형 8"/>
          <p:cNvSpPr/>
          <p:nvPr/>
        </p:nvSpPr>
        <p:spPr>
          <a:xfrm>
            <a:off x="5825315" y="3175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5825315" y="364638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4531694" y="5740368"/>
            <a:ext cx="9092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4528821" y="6769295"/>
            <a:ext cx="118494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정보입력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4608351" y="65529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4608351" y="55537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2651039"/>
              </p:ext>
            </p:extLst>
          </p:nvPr>
        </p:nvGraphicFramePr>
        <p:xfrm>
          <a:off x="6066777" y="5748676"/>
          <a:ext cx="3502109" cy="894760"/>
        </p:xfrm>
        <a:graphic>
          <a:graphicData uri="http://schemas.openxmlformats.org/drawingml/2006/table">
            <a:tbl>
              <a:tblPr/>
              <a:tblGrid>
                <a:gridCol w="10612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75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58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73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버전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삭제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16" name="직선 연결선 15"/>
          <p:cNvCxnSpPr/>
          <p:nvPr/>
        </p:nvCxnSpPr>
        <p:spPr>
          <a:xfrm>
            <a:off x="9523161" y="598668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모서리가 둥근 직사각형 16"/>
          <p:cNvSpPr/>
          <p:nvPr/>
        </p:nvSpPr>
        <p:spPr>
          <a:xfrm>
            <a:off x="8954043" y="6090739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18" name="모서리가 둥근 직사각형 17"/>
          <p:cNvSpPr/>
          <p:nvPr/>
        </p:nvSpPr>
        <p:spPr>
          <a:xfrm>
            <a:off x="8954043" y="6397001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19" name="타원 18"/>
          <p:cNvSpPr/>
          <p:nvPr/>
        </p:nvSpPr>
        <p:spPr>
          <a:xfrm>
            <a:off x="3514444" y="6764375"/>
            <a:ext cx="700012" cy="700012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ko-KR" altLang="en-US" sz="105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1909" y="6884331"/>
            <a:ext cx="445081" cy="445081"/>
          </a:xfrm>
          <a:prstGeom prst="rect">
            <a:avLst/>
          </a:prstGeom>
        </p:spPr>
      </p:pic>
      <p:sp>
        <p:nvSpPr>
          <p:cNvPr id="21" name="직사각형 20"/>
          <p:cNvSpPr/>
          <p:nvPr/>
        </p:nvSpPr>
        <p:spPr>
          <a:xfrm>
            <a:off x="3765609" y="65293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6066776" y="7260384"/>
            <a:ext cx="255395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파일찾기로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 선택된 파일명 노출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3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8620728" y="7260385"/>
            <a:ext cx="948159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 err="1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4" name="File Box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6066775" y="6830409"/>
            <a:ext cx="350211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펌웨어 버전을 입력하세요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5825315" y="732789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5825315" y="690779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7" name="Search Box Rectangle"/>
          <p:cNvSpPr>
            <a:spLocks/>
          </p:cNvSpPr>
          <p:nvPr/>
        </p:nvSpPr>
        <p:spPr bwMode="auto">
          <a:xfrm>
            <a:off x="5392688" y="7692433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8" name="Search Box Rectangle"/>
          <p:cNvSpPr>
            <a:spLocks/>
          </p:cNvSpPr>
          <p:nvPr/>
        </p:nvSpPr>
        <p:spPr bwMode="auto">
          <a:xfrm>
            <a:off x="4269309" y="7692433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4531694" y="3125856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제품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531694" y="3636806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스팩정보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28821" y="265985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종류</a:t>
            </a:r>
          </a:p>
        </p:txBody>
      </p:sp>
      <p:sp>
        <p:nvSpPr>
          <p:cNvPr id="32" name="Search Box Rectangle"/>
          <p:cNvSpPr>
            <a:spLocks/>
          </p:cNvSpPr>
          <p:nvPr/>
        </p:nvSpPr>
        <p:spPr bwMode="auto">
          <a:xfrm>
            <a:off x="6069650" y="3617310"/>
            <a:ext cx="3502110" cy="1936407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스팩정보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116413"/>
            <a:ext cx="127146" cy="127146"/>
          </a:xfrm>
          <a:prstGeom prst="rect">
            <a:avLst/>
          </a:prstGeom>
        </p:spPr>
      </p:pic>
      <p:pic>
        <p:nvPicPr>
          <p:cNvPr id="34" name="그림 3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427041"/>
            <a:ext cx="127146" cy="127146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29970" y="1901463"/>
            <a:ext cx="25074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제품 관리 ▶ 등록하기</a:t>
            </a:r>
          </a:p>
        </p:txBody>
      </p:sp>
      <p:cxnSp>
        <p:nvCxnSpPr>
          <p:cNvPr id="36" name="직선 화살표 연결선 35"/>
          <p:cNvCxnSpPr/>
          <p:nvPr/>
        </p:nvCxnSpPr>
        <p:spPr>
          <a:xfrm>
            <a:off x="8744531" y="6498366"/>
            <a:ext cx="1633211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10577264" y="6221552"/>
            <a:ext cx="2061783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 err="1"/>
              <a:t>펌웨어</a:t>
            </a:r>
            <a:r>
              <a:rPr lang="ko-KR" altLang="en-US" sz="1000" dirty="0"/>
              <a:t> 파일은 등록하지만</a:t>
            </a:r>
            <a:endParaRPr lang="en-US" altLang="ko-KR" sz="1000" dirty="0"/>
          </a:p>
          <a:p>
            <a:r>
              <a:rPr lang="ko-KR" altLang="en-US" sz="1000" dirty="0"/>
              <a:t>서버에서의 업데이트는 없음</a:t>
            </a:r>
            <a:r>
              <a:rPr lang="en-US" altLang="ko-KR" sz="1000" dirty="0"/>
              <a:t>.</a:t>
            </a:r>
          </a:p>
          <a:p>
            <a:endParaRPr lang="en-US" altLang="ko-KR" sz="1000" dirty="0"/>
          </a:p>
          <a:p>
            <a:r>
              <a:rPr lang="ko-KR" altLang="en-US" sz="1000" dirty="0"/>
              <a:t>서버에서 업데이트는 </a:t>
            </a:r>
            <a:r>
              <a:rPr lang="en-US" altLang="ko-KR" sz="1000" dirty="0"/>
              <a:t>AP </a:t>
            </a:r>
            <a:r>
              <a:rPr lang="ko-KR" altLang="en-US" sz="1000"/>
              <a:t>만 가능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379766659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62100" y="2640360"/>
            <a:ext cx="3456384" cy="496855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>
                  <a:lumMod val="7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531694" y="3125856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제품</a:t>
            </a: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6069650" y="3106361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[</a:t>
            </a:r>
            <a:r>
              <a: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안전밴드</a:t>
            </a:r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]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31694" y="3636806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스팩정보</a:t>
            </a: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6069650" y="3617310"/>
            <a:ext cx="3502110" cy="1936407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9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스팩정보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528821" y="265985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종류</a:t>
            </a:r>
          </a:p>
        </p:txBody>
      </p:sp>
      <p:sp>
        <p:nvSpPr>
          <p:cNvPr id="9" name="Search Box Rectangle"/>
          <p:cNvSpPr>
            <a:spLocks/>
          </p:cNvSpPr>
          <p:nvPr/>
        </p:nvSpPr>
        <p:spPr bwMode="auto">
          <a:xfrm>
            <a:off x="6066777" y="2640360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Segoe UI" pitchFamily="34" charset="0"/>
              </a:rPr>
              <a:t>Smart BAND</a:t>
            </a:r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Segoe UI" pitchFamily="34" charset="0"/>
            </a:endParaRPr>
          </a:p>
        </p:txBody>
      </p:sp>
      <p:sp>
        <p:nvSpPr>
          <p:cNvPr id="10" name="Chevron"/>
          <p:cNvSpPr>
            <a:spLocks noChangeAspect="1"/>
          </p:cNvSpPr>
          <p:nvPr/>
        </p:nvSpPr>
        <p:spPr bwMode="auto">
          <a:xfrm>
            <a:off x="9343603" y="2754035"/>
            <a:ext cx="117283" cy="83344"/>
          </a:xfrm>
          <a:custGeom>
            <a:avLst/>
            <a:gdLst>
              <a:gd name="T0" fmla="*/ 58 w 116"/>
              <a:gd name="T1" fmla="*/ 61 h 105"/>
              <a:gd name="T2" fmla="*/ 71 w 116"/>
              <a:gd name="T3" fmla="*/ 48 h 105"/>
              <a:gd name="T4" fmla="*/ 116 w 116"/>
              <a:gd name="T5" fmla="*/ 0 h 105"/>
              <a:gd name="T6" fmla="*/ 116 w 116"/>
              <a:gd name="T7" fmla="*/ 43 h 105"/>
              <a:gd name="T8" fmla="*/ 58 w 116"/>
              <a:gd name="T9" fmla="*/ 105 h 105"/>
              <a:gd name="T10" fmla="*/ 0 w 116"/>
              <a:gd name="T11" fmla="*/ 43 h 105"/>
              <a:gd name="T12" fmla="*/ 0 w 116"/>
              <a:gd name="T13" fmla="*/ 0 h 105"/>
              <a:gd name="T14" fmla="*/ 45 w 116"/>
              <a:gd name="T15" fmla="*/ 48 h 105"/>
              <a:gd name="T16" fmla="*/ 58 w 116"/>
              <a:gd name="T17" fmla="*/ 6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05">
                <a:moveTo>
                  <a:pt x="58" y="61"/>
                </a:moveTo>
                <a:lnTo>
                  <a:pt x="71" y="48"/>
                </a:lnTo>
                <a:lnTo>
                  <a:pt x="116" y="0"/>
                </a:lnTo>
                <a:lnTo>
                  <a:pt x="116" y="43"/>
                </a:lnTo>
                <a:lnTo>
                  <a:pt x="58" y="105"/>
                </a:lnTo>
                <a:lnTo>
                  <a:pt x="0" y="43"/>
                </a:lnTo>
                <a:lnTo>
                  <a:pt x="0" y="0"/>
                </a:lnTo>
                <a:lnTo>
                  <a:pt x="45" y="48"/>
                </a:lnTo>
                <a:lnTo>
                  <a:pt x="58" y="61"/>
                </a:lnTo>
                <a:close/>
              </a:path>
            </a:pathLst>
          </a:custGeom>
          <a:solidFill>
            <a:srgbClr val="26262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5825315" y="270521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171656"/>
              </p:ext>
            </p:extLst>
          </p:nvPr>
        </p:nvGraphicFramePr>
        <p:xfrm>
          <a:off x="10633534" y="1272208"/>
          <a:ext cx="2088232" cy="274798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종류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AP, Tag, Band, GAS Sensor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제품명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스팩정보 입력필드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입력한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 버전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버전 수기로 입력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필드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파일찾기로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선택된 파일명 노출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사진 아이콘을 눌러서 사진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=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 사진함 연결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직사각형 12"/>
          <p:cNvSpPr/>
          <p:nvPr/>
        </p:nvSpPr>
        <p:spPr>
          <a:xfrm>
            <a:off x="5825315" y="317580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5825315" y="364638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531694" y="5740368"/>
            <a:ext cx="9092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528821" y="6769295"/>
            <a:ext cx="118494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펌웨어</a:t>
            </a:r>
            <a:r>
              <a:rPr lang="ko-KR" altLang="en-US" sz="12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 정보입력</a:t>
            </a:r>
          </a:p>
        </p:txBody>
      </p:sp>
      <p:sp>
        <p:nvSpPr>
          <p:cNvPr id="17" name="직사각형 16"/>
          <p:cNvSpPr/>
          <p:nvPr/>
        </p:nvSpPr>
        <p:spPr>
          <a:xfrm>
            <a:off x="4608351" y="65529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608351" y="555371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19" name="표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182147"/>
              </p:ext>
            </p:extLst>
          </p:nvPr>
        </p:nvGraphicFramePr>
        <p:xfrm>
          <a:off x="6066777" y="5748676"/>
          <a:ext cx="3502109" cy="894760"/>
        </p:xfrm>
        <a:graphic>
          <a:graphicData uri="http://schemas.openxmlformats.org/drawingml/2006/table">
            <a:tbl>
              <a:tblPr/>
              <a:tblGrid>
                <a:gridCol w="10612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750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58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73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버전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펌웨어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삭제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7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1.101.01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20" name="직선 연결선 19"/>
          <p:cNvCxnSpPr/>
          <p:nvPr/>
        </p:nvCxnSpPr>
        <p:spPr>
          <a:xfrm>
            <a:off x="9523161" y="598668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모서리가 둥근 직사각형 20"/>
          <p:cNvSpPr/>
          <p:nvPr/>
        </p:nvSpPr>
        <p:spPr>
          <a:xfrm>
            <a:off x="8954043" y="6090739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22" name="모서리가 둥근 직사각형 21"/>
          <p:cNvSpPr/>
          <p:nvPr/>
        </p:nvSpPr>
        <p:spPr>
          <a:xfrm>
            <a:off x="8954043" y="6397001"/>
            <a:ext cx="478039" cy="178494"/>
          </a:xfrm>
          <a:prstGeom prst="round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삭제</a:t>
            </a:r>
          </a:p>
        </p:txBody>
      </p:sp>
      <p:sp>
        <p:nvSpPr>
          <p:cNvPr id="23" name="타원 22"/>
          <p:cNvSpPr/>
          <p:nvPr/>
        </p:nvSpPr>
        <p:spPr>
          <a:xfrm>
            <a:off x="3514444" y="6764375"/>
            <a:ext cx="700012" cy="700012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ko-KR" altLang="en-US" sz="105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pic>
        <p:nvPicPr>
          <p:cNvPr id="24" name="그림 2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1909" y="6884331"/>
            <a:ext cx="445081" cy="445081"/>
          </a:xfrm>
          <a:prstGeom prst="rect">
            <a:avLst/>
          </a:prstGeom>
        </p:spPr>
      </p:pic>
      <p:sp>
        <p:nvSpPr>
          <p:cNvPr id="25" name="직사각형 24"/>
          <p:cNvSpPr/>
          <p:nvPr/>
        </p:nvSpPr>
        <p:spPr>
          <a:xfrm>
            <a:off x="3765609" y="652936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6066776" y="7260384"/>
            <a:ext cx="255395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파일찾기로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 선택된 파일명 노출</a:t>
            </a:r>
            <a:endParaRPr lang="de-DE" sz="8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7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8620728" y="7260385"/>
            <a:ext cx="948159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 err="1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8" name="File Box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6066775" y="6830409"/>
            <a:ext cx="3502111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펌웨어 버전을 입력하세요</a:t>
            </a:r>
            <a:endParaRPr lang="de-DE" sz="900" dirty="0">
              <a:solidFill>
                <a:schemeClr val="tx1">
                  <a:lumMod val="50000"/>
                  <a:lumOff val="50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5825315" y="732789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825315" y="690779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1" name="Search Box Rectangle"/>
          <p:cNvSpPr>
            <a:spLocks/>
          </p:cNvSpPr>
          <p:nvPr/>
        </p:nvSpPr>
        <p:spPr bwMode="auto">
          <a:xfrm>
            <a:off x="5392688" y="7692433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2" name="Search Box Rectangle"/>
          <p:cNvSpPr>
            <a:spLocks/>
          </p:cNvSpPr>
          <p:nvPr/>
        </p:nvSpPr>
        <p:spPr bwMode="auto">
          <a:xfrm>
            <a:off x="4269309" y="7692433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116413"/>
            <a:ext cx="127146" cy="127146"/>
          </a:xfrm>
          <a:prstGeom prst="rect">
            <a:avLst/>
          </a:prstGeom>
        </p:spPr>
      </p:pic>
      <p:pic>
        <p:nvPicPr>
          <p:cNvPr id="34" name="그림 3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00883" y="6427041"/>
            <a:ext cx="127146" cy="127146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29970" y="1901463"/>
            <a:ext cx="25074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제품 관리 ▶ 등록하기</a:t>
            </a:r>
          </a:p>
        </p:txBody>
      </p:sp>
      <p:cxnSp>
        <p:nvCxnSpPr>
          <p:cNvPr id="36" name="직선 화살표 연결선 35"/>
          <p:cNvCxnSpPr/>
          <p:nvPr/>
        </p:nvCxnSpPr>
        <p:spPr>
          <a:xfrm>
            <a:off x="8744531" y="6498366"/>
            <a:ext cx="1633211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10577264" y="6221552"/>
            <a:ext cx="2061783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 err="1"/>
              <a:t>펌웨어</a:t>
            </a:r>
            <a:r>
              <a:rPr lang="ko-KR" altLang="en-US" sz="1000" dirty="0"/>
              <a:t> 파일은 등록하지만</a:t>
            </a:r>
            <a:endParaRPr lang="en-US" altLang="ko-KR" sz="1000" dirty="0"/>
          </a:p>
          <a:p>
            <a:r>
              <a:rPr lang="ko-KR" altLang="en-US" sz="1000" dirty="0"/>
              <a:t>서버에서의 업데이트는 없음</a:t>
            </a:r>
            <a:r>
              <a:rPr lang="en-US" altLang="ko-KR" sz="1000" dirty="0"/>
              <a:t>.</a:t>
            </a:r>
          </a:p>
          <a:p>
            <a:endParaRPr lang="en-US" altLang="ko-KR" sz="1000" dirty="0"/>
          </a:p>
          <a:p>
            <a:r>
              <a:rPr lang="ko-KR" altLang="en-US" sz="1000" dirty="0"/>
              <a:t>서버에서 업데이트는 </a:t>
            </a:r>
            <a:r>
              <a:rPr lang="en-US" altLang="ko-KR" sz="1000" dirty="0"/>
              <a:t>AP </a:t>
            </a:r>
            <a:r>
              <a:rPr lang="ko-KR" altLang="en-US" sz="1000"/>
              <a:t>만 가능</a:t>
            </a:r>
            <a:endParaRPr lang="ko-KR" altLang="en-US" sz="1000" dirty="0"/>
          </a:p>
        </p:txBody>
      </p:sp>
    </p:spTree>
    <p:extLst>
      <p:ext uri="{BB962C8B-B14F-4D97-AF65-F5344CB8AC3E}">
        <p14:creationId xmlns:p14="http://schemas.microsoft.com/office/powerpoint/2010/main" val="1730377746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디바이스 관리</a:t>
            </a:r>
          </a:p>
        </p:txBody>
      </p:sp>
    </p:spTree>
    <p:extLst>
      <p:ext uri="{BB962C8B-B14F-4D97-AF65-F5344CB8AC3E}">
        <p14:creationId xmlns:p14="http://schemas.microsoft.com/office/powerpoint/2010/main" val="148309506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4744809"/>
              </p:ext>
            </p:extLst>
          </p:nvPr>
        </p:nvGraphicFramePr>
        <p:xfrm>
          <a:off x="856184" y="3328491"/>
          <a:ext cx="9217024" cy="4914599"/>
        </p:xfrm>
        <a:graphic>
          <a:graphicData uri="http://schemas.openxmlformats.org/drawingml/2006/table">
            <a:tbl>
              <a:tblPr/>
              <a:tblGrid>
                <a:gridCol w="4110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82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82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04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14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54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9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8544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414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414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3235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93235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37109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제품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▲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펌웨어 정보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 등록일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설치 담당자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연결상태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배터리</a:t>
                      </a:r>
                      <a:r>
                        <a:rPr lang="ko-KR" altLang="en-US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현재위치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 설치일 ▲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Smart AP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Smart AP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00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공장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층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A-1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Smart AP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14:32:05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미설치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Smart AP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[AP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디바이스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LAP-01-001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Tag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위치태그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LT-01-001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10:00:00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매핑 완료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공장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층 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A-1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12:00:00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Tag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위치태그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LT-01-001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10:00:00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D-28</a:t>
                      </a:r>
                      <a:endParaRPr lang="ko-KR" altLang="en-US" sz="9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Tag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위치태그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LT-01-001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10:00:00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D-18</a:t>
                      </a:r>
                      <a:endParaRPr lang="ko-KR" altLang="en-US" sz="900" b="1" i="0" u="none" strike="noStrike" dirty="0"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Gas Sensor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가스센서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LGA-01-001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100%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Gas Sensor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가스센서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LGA-01-001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14:32:05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미설치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Gas Sensor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가스센서</a:t>
                      </a:r>
                      <a:r>
                        <a:rPr lang="en-US" altLang="ko-KR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LGA-01-001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관리자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정상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50%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13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Safety Band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[</a:t>
                      </a: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안전밴드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]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LB-01-001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1.01.01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00.00.00 14:32:02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90%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0000.00.00 12:32:02</a:t>
                      </a:r>
                      <a:endParaRPr lang="ko-KR" alt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3" name="Search Box Rectangle"/>
          <p:cNvSpPr>
            <a:spLocks/>
          </p:cNvSpPr>
          <p:nvPr/>
        </p:nvSpPr>
        <p:spPr bwMode="auto">
          <a:xfrm>
            <a:off x="1130268" y="2732479"/>
            <a:ext cx="3661212" cy="46058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de-DE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Search : </a:t>
            </a: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담당자</a:t>
            </a:r>
            <a:r>
              <a: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Device ID</a:t>
            </a:r>
            <a:endParaRPr lang="de-DE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Search Button"/>
          <p:cNvGrpSpPr>
            <a:grpSpLocks noChangeAspect="1"/>
          </p:cNvGrpSpPr>
          <p:nvPr/>
        </p:nvGrpSpPr>
        <p:grpSpPr>
          <a:xfrm>
            <a:off x="4394037" y="2789505"/>
            <a:ext cx="346536" cy="346536"/>
            <a:chOff x="7299578" y="2672191"/>
            <a:chExt cx="237744" cy="237744"/>
          </a:xfrm>
        </p:grpSpPr>
        <p:sp>
          <p:nvSpPr>
            <p:cNvPr id="5" name="Search Button Rectangle"/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7299578" y="2672191"/>
              <a:ext cx="237744" cy="23774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" name="Search Icon"/>
            <p:cNvSpPr>
              <a:spLocks noChangeAspect="1"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7333698" y="2708767"/>
              <a:ext cx="169505" cy="164592"/>
            </a:xfrm>
            <a:custGeom>
              <a:avLst/>
              <a:gdLst>
                <a:gd name="T0" fmla="*/ 22 w 592"/>
                <a:gd name="T1" fmla="*/ 483 h 592"/>
                <a:gd name="T2" fmla="*/ 170 w 592"/>
                <a:gd name="T3" fmla="*/ 338 h 592"/>
                <a:gd name="T4" fmla="*/ 147 w 592"/>
                <a:gd name="T5" fmla="*/ 225 h 592"/>
                <a:gd name="T6" fmla="*/ 366 w 592"/>
                <a:gd name="T7" fmla="*/ 0 h 592"/>
                <a:gd name="T8" fmla="*/ 592 w 592"/>
                <a:gd name="T9" fmla="*/ 225 h 592"/>
                <a:gd name="T10" fmla="*/ 366 w 592"/>
                <a:gd name="T11" fmla="*/ 444 h 592"/>
                <a:gd name="T12" fmla="*/ 258 w 592"/>
                <a:gd name="T13" fmla="*/ 424 h 592"/>
                <a:gd name="T14" fmla="*/ 109 w 592"/>
                <a:gd name="T15" fmla="*/ 570 h 592"/>
                <a:gd name="T16" fmla="*/ 22 w 592"/>
                <a:gd name="T17" fmla="*/ 570 h 592"/>
                <a:gd name="T18" fmla="*/ 22 w 592"/>
                <a:gd name="T19" fmla="*/ 483 h 592"/>
                <a:gd name="T20" fmla="*/ 366 w 592"/>
                <a:gd name="T21" fmla="*/ 84 h 592"/>
                <a:gd name="T22" fmla="*/ 225 w 592"/>
                <a:gd name="T23" fmla="*/ 225 h 592"/>
                <a:gd name="T24" fmla="*/ 366 w 592"/>
                <a:gd name="T25" fmla="*/ 367 h 592"/>
                <a:gd name="T26" fmla="*/ 507 w 592"/>
                <a:gd name="T27" fmla="*/ 225 h 592"/>
                <a:gd name="T28" fmla="*/ 366 w 592"/>
                <a:gd name="T29" fmla="*/ 84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2" h="592">
                  <a:moveTo>
                    <a:pt x="22" y="483"/>
                  </a:moveTo>
                  <a:lnTo>
                    <a:pt x="170" y="338"/>
                  </a:lnTo>
                  <a:cubicBezTo>
                    <a:pt x="151" y="305"/>
                    <a:pt x="147" y="267"/>
                    <a:pt x="147" y="225"/>
                  </a:cubicBezTo>
                  <a:cubicBezTo>
                    <a:pt x="147" y="101"/>
                    <a:pt x="241" y="0"/>
                    <a:pt x="366" y="0"/>
                  </a:cubicBezTo>
                  <a:cubicBezTo>
                    <a:pt x="491" y="0"/>
                    <a:pt x="592" y="101"/>
                    <a:pt x="592" y="225"/>
                  </a:cubicBezTo>
                  <a:cubicBezTo>
                    <a:pt x="592" y="350"/>
                    <a:pt x="491" y="444"/>
                    <a:pt x="366" y="444"/>
                  </a:cubicBezTo>
                  <a:cubicBezTo>
                    <a:pt x="327" y="444"/>
                    <a:pt x="290" y="441"/>
                    <a:pt x="258" y="424"/>
                  </a:cubicBezTo>
                  <a:lnTo>
                    <a:pt x="109" y="570"/>
                  </a:lnTo>
                  <a:cubicBezTo>
                    <a:pt x="87" y="592"/>
                    <a:pt x="44" y="592"/>
                    <a:pt x="22" y="570"/>
                  </a:cubicBezTo>
                  <a:cubicBezTo>
                    <a:pt x="0" y="548"/>
                    <a:pt x="0" y="505"/>
                    <a:pt x="22" y="483"/>
                  </a:cubicBezTo>
                  <a:close/>
                  <a:moveTo>
                    <a:pt x="366" y="84"/>
                  </a:moveTo>
                  <a:cubicBezTo>
                    <a:pt x="288" y="84"/>
                    <a:pt x="225" y="148"/>
                    <a:pt x="225" y="225"/>
                  </a:cubicBezTo>
                  <a:cubicBezTo>
                    <a:pt x="225" y="303"/>
                    <a:pt x="288" y="367"/>
                    <a:pt x="366" y="367"/>
                  </a:cubicBezTo>
                  <a:cubicBezTo>
                    <a:pt x="444" y="367"/>
                    <a:pt x="507" y="303"/>
                    <a:pt x="507" y="225"/>
                  </a:cubicBezTo>
                  <a:cubicBezTo>
                    <a:pt x="507" y="148"/>
                    <a:pt x="444" y="84"/>
                    <a:pt x="366" y="8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7" name="Clear Button"/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>
            <a:off x="4076657" y="2867902"/>
            <a:ext cx="189743" cy="189743"/>
          </a:xfrm>
          <a:custGeom>
            <a:avLst/>
            <a:gdLst>
              <a:gd name="T0" fmla="*/ 8 w 82"/>
              <a:gd name="T1" fmla="*/ 0 h 82"/>
              <a:gd name="T2" fmla="*/ 41 w 82"/>
              <a:gd name="T3" fmla="*/ 33 h 82"/>
              <a:gd name="T4" fmla="*/ 73 w 82"/>
              <a:gd name="T5" fmla="*/ 0 h 82"/>
              <a:gd name="T6" fmla="*/ 82 w 82"/>
              <a:gd name="T7" fmla="*/ 9 h 82"/>
              <a:gd name="T8" fmla="*/ 49 w 82"/>
              <a:gd name="T9" fmla="*/ 41 h 82"/>
              <a:gd name="T10" fmla="*/ 82 w 82"/>
              <a:gd name="T11" fmla="*/ 74 h 82"/>
              <a:gd name="T12" fmla="*/ 73 w 82"/>
              <a:gd name="T13" fmla="*/ 82 h 82"/>
              <a:gd name="T14" fmla="*/ 41 w 82"/>
              <a:gd name="T15" fmla="*/ 50 h 82"/>
              <a:gd name="T16" fmla="*/ 8 w 82"/>
              <a:gd name="T17" fmla="*/ 82 h 82"/>
              <a:gd name="T18" fmla="*/ 0 w 82"/>
              <a:gd name="T19" fmla="*/ 74 h 82"/>
              <a:gd name="T20" fmla="*/ 32 w 82"/>
              <a:gd name="T21" fmla="*/ 41 h 82"/>
              <a:gd name="T22" fmla="*/ 0 w 82"/>
              <a:gd name="T23" fmla="*/ 9 h 82"/>
              <a:gd name="T24" fmla="*/ 8 w 82"/>
              <a:gd name="T2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2" h="82">
                <a:moveTo>
                  <a:pt x="8" y="0"/>
                </a:moveTo>
                <a:lnTo>
                  <a:pt x="41" y="33"/>
                </a:lnTo>
                <a:lnTo>
                  <a:pt x="73" y="0"/>
                </a:lnTo>
                <a:lnTo>
                  <a:pt x="82" y="9"/>
                </a:lnTo>
                <a:lnTo>
                  <a:pt x="49" y="41"/>
                </a:lnTo>
                <a:lnTo>
                  <a:pt x="82" y="74"/>
                </a:lnTo>
                <a:lnTo>
                  <a:pt x="73" y="82"/>
                </a:lnTo>
                <a:lnTo>
                  <a:pt x="41" y="50"/>
                </a:lnTo>
                <a:lnTo>
                  <a:pt x="8" y="82"/>
                </a:lnTo>
                <a:lnTo>
                  <a:pt x="0" y="74"/>
                </a:lnTo>
                <a:lnTo>
                  <a:pt x="32" y="41"/>
                </a:lnTo>
                <a:lnTo>
                  <a:pt x="0" y="9"/>
                </a:lnTo>
                <a:lnTo>
                  <a:pt x="8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900" dirty="0"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8" name="모서리가 둥근 직사각형 7"/>
          <p:cNvSpPr/>
          <p:nvPr/>
        </p:nvSpPr>
        <p:spPr>
          <a:xfrm>
            <a:off x="3880129" y="4173611"/>
            <a:ext cx="860444" cy="288032"/>
          </a:xfrm>
          <a:prstGeom prst="roundRect">
            <a:avLst>
              <a:gd name="adj" fmla="val 43122"/>
            </a:avLst>
          </a:prstGeom>
          <a:solidFill>
            <a:srgbClr val="1F497D">
              <a:lumMod val="60000"/>
              <a:lumOff val="40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다운로드 완료 업데이트</a:t>
            </a:r>
          </a:p>
        </p:txBody>
      </p:sp>
      <p:sp>
        <p:nvSpPr>
          <p:cNvPr id="9" name="모서리가 둥근 직사각형 8"/>
          <p:cNvSpPr/>
          <p:nvPr/>
        </p:nvSpPr>
        <p:spPr>
          <a:xfrm>
            <a:off x="3880129" y="3750155"/>
            <a:ext cx="860444" cy="288032"/>
          </a:xfrm>
          <a:prstGeom prst="roundRect">
            <a:avLst>
              <a:gd name="adj" fmla="val 43122"/>
            </a:avLst>
          </a:prstGeom>
          <a:solidFill>
            <a:srgbClr val="F79646">
              <a:lumMod val="75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algn="ctr" defTabSz="914400" latinLnBrk="0"/>
            <a:r>
              <a:rPr lang="en-US" altLang="ko-KR" sz="700" kern="0" dirty="0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</a:rPr>
              <a:t>1.101.44 </a:t>
            </a:r>
            <a:r>
              <a:rPr lang="en-US" altLang="ko-KR" sz="700" kern="0" dirty="0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  <a:sym typeface="Wingdings" panose="05000000000000000000" pitchFamily="2" charset="2"/>
              </a:rPr>
              <a:t></a:t>
            </a:r>
            <a:endParaRPr lang="en-US" altLang="ko-KR" sz="700" kern="0" dirty="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  <a:p>
            <a:pPr algn="ctr" defTabSz="914400" latinLnBrk="0"/>
            <a:r>
              <a:rPr lang="en-US" altLang="ko-KR" sz="700" kern="0" dirty="0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</a:rPr>
              <a:t>1.101.45</a:t>
            </a:r>
            <a:endParaRPr lang="ko-KR" altLang="en-US" sz="700" kern="0" dirty="0" err="1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10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856182" y="8161992"/>
            <a:ext cx="9217025" cy="149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/>
          <p:cNvSpPr/>
          <p:nvPr/>
        </p:nvSpPr>
        <p:spPr>
          <a:xfrm>
            <a:off x="1130268" y="250656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12" name="직선 연결선 11"/>
          <p:cNvCxnSpPr/>
          <p:nvPr/>
        </p:nvCxnSpPr>
        <p:spPr>
          <a:xfrm flipH="1">
            <a:off x="512019" y="2660471"/>
            <a:ext cx="1428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/>
          <p:cNvCxnSpPr/>
          <p:nvPr/>
        </p:nvCxnSpPr>
        <p:spPr>
          <a:xfrm>
            <a:off x="582886" y="2687542"/>
            <a:ext cx="0" cy="5615077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/>
          <p:cNvSpPr/>
          <p:nvPr/>
        </p:nvSpPr>
        <p:spPr>
          <a:xfrm>
            <a:off x="496144" y="2874992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15" name="직선 연결선 14"/>
          <p:cNvCxnSpPr/>
          <p:nvPr/>
        </p:nvCxnSpPr>
        <p:spPr>
          <a:xfrm flipH="1">
            <a:off x="512019" y="3236535"/>
            <a:ext cx="1428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/>
          <p:cNvSpPr/>
          <p:nvPr/>
        </p:nvSpPr>
        <p:spPr>
          <a:xfrm>
            <a:off x="496144" y="580673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 flipH="1">
            <a:off x="512019" y="8302619"/>
            <a:ext cx="1428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/>
          <p:cNvCxnSpPr/>
          <p:nvPr/>
        </p:nvCxnSpPr>
        <p:spPr>
          <a:xfrm>
            <a:off x="10073208" y="3704534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/>
          <p:cNvCxnSpPr/>
          <p:nvPr/>
        </p:nvCxnSpPr>
        <p:spPr>
          <a:xfrm flipH="1">
            <a:off x="512019" y="3704534"/>
            <a:ext cx="1428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/>
          <p:cNvSpPr/>
          <p:nvPr/>
        </p:nvSpPr>
        <p:spPr>
          <a:xfrm>
            <a:off x="496144" y="3374673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5680720" y="2732479"/>
            <a:ext cx="708222" cy="460588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Smart Tag</a:t>
            </a:r>
            <a:endParaRPr lang="ko-KR" altLang="en-US" sz="800" b="1" dirty="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7275881" y="2732479"/>
            <a:ext cx="708222" cy="460588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GAS Sensor</a:t>
            </a:r>
            <a:endParaRPr lang="ko-KR" altLang="en-US" sz="800" b="1" dirty="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6415404" y="2732479"/>
            <a:ext cx="708222" cy="460588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Safety Band</a:t>
            </a:r>
            <a:endParaRPr lang="ko-KR" altLang="en-US" sz="800" b="1" dirty="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3592489" y="374352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8976810" y="2732479"/>
            <a:ext cx="859798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일괄 등록하기</a:t>
            </a:r>
          </a:p>
        </p:txBody>
      </p:sp>
      <p:sp>
        <p:nvSpPr>
          <p:cNvPr id="26" name="직사각형 25"/>
          <p:cNvSpPr/>
          <p:nvPr/>
        </p:nvSpPr>
        <p:spPr>
          <a:xfrm>
            <a:off x="1057308" y="720688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856182" y="7432794"/>
            <a:ext cx="9217025" cy="398223"/>
          </a:xfrm>
          <a:prstGeom prst="rect">
            <a:avLst/>
          </a:prstGeom>
          <a:solidFill>
            <a:srgbClr val="0070C0">
              <a:alpha val="57000"/>
            </a:srgbClr>
          </a:solidFill>
          <a:ln w="12700"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8076058" y="2732479"/>
            <a:ext cx="859798" cy="460588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등록하기</a:t>
            </a:r>
          </a:p>
        </p:txBody>
      </p: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0149560"/>
              </p:ext>
            </p:extLst>
          </p:nvPr>
        </p:nvGraphicFramePr>
        <p:xfrm>
          <a:off x="10633534" y="2345149"/>
          <a:ext cx="2088232" cy="331967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검색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담당자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id</a:t>
                      </a: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-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중복검색 안됨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단일검색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 업데이트 시나리오</a:t>
                      </a:r>
                      <a:b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1.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서버에 최신 펌웨어를 올림</a:t>
                      </a:r>
                      <a:b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2.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비교하여 업데이트가 필요한지 여부 판단</a:t>
                      </a:r>
                      <a:b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3.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업데이트 필요 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펌웨어를 다운로드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진행</a:t>
                      </a:r>
                      <a:b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4.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다운로드 완료 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업데이트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를 진행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b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</a:b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최신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</a:t>
                      </a: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&gt; ‘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더 이상의 업데이트가 필요 없는 상태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＇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 경우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 업데이트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= AP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만 가능함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상세보기 터치 영역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팝업으로 출력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0" name="표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727461"/>
              </p:ext>
            </p:extLst>
          </p:nvPr>
        </p:nvGraphicFramePr>
        <p:xfrm>
          <a:off x="10633534" y="1272208"/>
          <a:ext cx="2088232" cy="9388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화면설명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검색 및 선택버튼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표에 대한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네이밍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영역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틀고정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스크롤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" name="직사각형 30"/>
          <p:cNvSpPr/>
          <p:nvPr/>
        </p:nvSpPr>
        <p:spPr>
          <a:xfrm>
            <a:off x="4874028" y="2732479"/>
            <a:ext cx="708222" cy="460588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Smart AP</a:t>
            </a:r>
            <a:endParaRPr lang="ko-KR" altLang="en-US" sz="800" b="1" dirty="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2" name="직선 연결선 31"/>
          <p:cNvCxnSpPr/>
          <p:nvPr/>
        </p:nvCxnSpPr>
        <p:spPr>
          <a:xfrm>
            <a:off x="7203873" y="2732479"/>
            <a:ext cx="0" cy="46058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/>
          <p:cNvCxnSpPr/>
          <p:nvPr/>
        </p:nvCxnSpPr>
        <p:spPr>
          <a:xfrm>
            <a:off x="5631302" y="2732479"/>
            <a:ext cx="0" cy="46058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모서리가 둥근 직사각형 33"/>
          <p:cNvSpPr/>
          <p:nvPr/>
        </p:nvSpPr>
        <p:spPr>
          <a:xfrm>
            <a:off x="3880129" y="4592547"/>
            <a:ext cx="805504" cy="288032"/>
          </a:xfrm>
          <a:prstGeom prst="roundRect">
            <a:avLst>
              <a:gd name="adj" fmla="val 43122"/>
            </a:avLst>
          </a:prstGeom>
          <a:solidFill>
            <a:srgbClr val="843C0C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다운로드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모서리가 둥근 직사각형 34"/>
          <p:cNvSpPr/>
          <p:nvPr/>
        </p:nvSpPr>
        <p:spPr>
          <a:xfrm>
            <a:off x="3885337" y="4974997"/>
            <a:ext cx="805504" cy="288032"/>
          </a:xfrm>
          <a:prstGeom prst="roundRect">
            <a:avLst>
              <a:gd name="adj" fmla="val 43122"/>
            </a:avLst>
          </a:prstGeom>
          <a:solidFill>
            <a:srgbClr val="1F4E79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업데이트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3841403" y="3698595"/>
            <a:ext cx="939808" cy="1637596"/>
          </a:xfrm>
          <a:prstGeom prst="rect">
            <a:avLst/>
          </a:prstGeom>
          <a:solidFill>
            <a:schemeClr val="bg1">
              <a:alpha val="0"/>
            </a:schemeClr>
          </a:solidFill>
          <a:ln w="28575"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800" dirty="0" err="1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629970" y="1901463"/>
            <a:ext cx="16514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디바이스 관리</a:t>
            </a:r>
          </a:p>
        </p:txBody>
      </p:sp>
      <p:graphicFrame>
        <p:nvGraphicFramePr>
          <p:cNvPr id="39" name="표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075358"/>
              </p:ext>
            </p:extLst>
          </p:nvPr>
        </p:nvGraphicFramePr>
        <p:xfrm>
          <a:off x="10633534" y="5728019"/>
          <a:ext cx="2088232" cy="117263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위치태그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]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배터리 부족 시 배터리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남은날짜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 알림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최초 알림 후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30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일 기준으로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역계산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latinLnBrk="1">
                        <a:buFont typeface="Arial" panose="020B0604020202020204" pitchFamily="34" charset="0"/>
                        <a:buNone/>
                      </a:pP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0" name="직사각형 39"/>
          <p:cNvSpPr/>
          <p:nvPr/>
        </p:nvSpPr>
        <p:spPr>
          <a:xfrm>
            <a:off x="7696944" y="567001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5547345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9690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디바이스 관리 ▶ 등록하기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56384" y="4020193"/>
            <a:ext cx="8846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j-lt"/>
                <a:ea typeface="맑은 고딕" panose="020B0503020000020004" pitchFamily="50" charset="-127"/>
              </a:rPr>
              <a:t>MAC </a:t>
            </a:r>
            <a:r>
              <a:rPr lang="ko-KR" altLang="en-US" sz="1200">
                <a:latin typeface="+mj-lt"/>
                <a:ea typeface="맑은 고딕" panose="020B0503020000020004" pitchFamily="50" charset="-127"/>
              </a:rPr>
              <a:t>주소</a:t>
            </a:r>
          </a:p>
        </p:txBody>
      </p:sp>
      <p:sp>
        <p:nvSpPr>
          <p:cNvPr id="4" name="Search Box Rectangle"/>
          <p:cNvSpPr>
            <a:spLocks/>
          </p:cNvSpPr>
          <p:nvPr/>
        </p:nvSpPr>
        <p:spPr bwMode="auto">
          <a:xfrm>
            <a:off x="4194340" y="4000698"/>
            <a:ext cx="3502110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656384" y="4620163"/>
            <a:ext cx="10086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맑은 고딕" panose="020B0503020000020004" pitchFamily="50" charset="-127"/>
              </a:rPr>
              <a:t>펌웨어 정보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4194340" y="4600668"/>
            <a:ext cx="3502110" cy="315990"/>
            <a:chOff x="6544816" y="4869240"/>
            <a:chExt cx="3502110" cy="315990"/>
          </a:xfrm>
        </p:grpSpPr>
        <p:sp>
          <p:nvSpPr>
            <p:cNvPr id="7" name="Search Box Rectangle"/>
            <p:cNvSpPr>
              <a:spLocks/>
            </p:cNvSpPr>
            <p:nvPr/>
          </p:nvSpPr>
          <p:spPr bwMode="auto">
            <a:xfrm>
              <a:off x="6544816" y="4869240"/>
              <a:ext cx="3502110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8" name="Chevron"/>
            <p:cNvSpPr>
              <a:spLocks noChangeAspect="1"/>
            </p:cNvSpPr>
            <p:nvPr/>
          </p:nvSpPr>
          <p:spPr bwMode="auto">
            <a:xfrm>
              <a:off x="9834772" y="4985562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2656384" y="2848837"/>
            <a:ext cx="4924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맑은 고딕" panose="020B0503020000020004" pitchFamily="50" charset="-127"/>
              </a:rPr>
              <a:t>종류</a:t>
            </a:r>
          </a:p>
        </p:txBody>
      </p:sp>
      <p:grpSp>
        <p:nvGrpSpPr>
          <p:cNvPr id="10" name="그룹 9"/>
          <p:cNvGrpSpPr/>
          <p:nvPr/>
        </p:nvGrpSpPr>
        <p:grpSpPr>
          <a:xfrm>
            <a:off x="4194340" y="2829342"/>
            <a:ext cx="3502110" cy="315990"/>
            <a:chOff x="6544816" y="3302729"/>
            <a:chExt cx="3502110" cy="315990"/>
          </a:xfrm>
        </p:grpSpPr>
        <p:sp>
          <p:nvSpPr>
            <p:cNvPr id="11" name="Search Box Rectangle"/>
            <p:cNvSpPr>
              <a:spLocks/>
            </p:cNvSpPr>
            <p:nvPr/>
          </p:nvSpPr>
          <p:spPr bwMode="auto">
            <a:xfrm>
              <a:off x="6544816" y="3302729"/>
              <a:ext cx="3502110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12" name="Chevron"/>
            <p:cNvSpPr>
              <a:spLocks noChangeAspect="1"/>
            </p:cNvSpPr>
            <p:nvPr/>
          </p:nvSpPr>
          <p:spPr bwMode="auto">
            <a:xfrm>
              <a:off x="9834772" y="3419051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2656384" y="3429820"/>
            <a:ext cx="4924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맑은 고딕" panose="020B0503020000020004" pitchFamily="50" charset="-127"/>
              </a:rPr>
              <a:t>제품</a:t>
            </a:r>
          </a:p>
        </p:txBody>
      </p:sp>
      <p:grpSp>
        <p:nvGrpSpPr>
          <p:cNvPr id="14" name="그룹 13"/>
          <p:cNvGrpSpPr/>
          <p:nvPr/>
        </p:nvGrpSpPr>
        <p:grpSpPr>
          <a:xfrm>
            <a:off x="4194340" y="3410325"/>
            <a:ext cx="3502110" cy="315990"/>
            <a:chOff x="6544816" y="3302729"/>
            <a:chExt cx="3502110" cy="315990"/>
          </a:xfrm>
        </p:grpSpPr>
        <p:sp>
          <p:nvSpPr>
            <p:cNvPr id="15" name="Search Box Rectangle"/>
            <p:cNvSpPr>
              <a:spLocks/>
            </p:cNvSpPr>
            <p:nvPr/>
          </p:nvSpPr>
          <p:spPr bwMode="auto">
            <a:xfrm>
              <a:off x="6544816" y="3302729"/>
              <a:ext cx="3502110" cy="31599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28" rIns="109728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e-DE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16" name="Chevron"/>
            <p:cNvSpPr>
              <a:spLocks noChangeAspect="1"/>
            </p:cNvSpPr>
            <p:nvPr/>
          </p:nvSpPr>
          <p:spPr bwMode="auto">
            <a:xfrm>
              <a:off x="9834772" y="3419051"/>
              <a:ext cx="117283" cy="83344"/>
            </a:xfrm>
            <a:custGeom>
              <a:avLst/>
              <a:gdLst>
                <a:gd name="T0" fmla="*/ 58 w 116"/>
                <a:gd name="T1" fmla="*/ 61 h 105"/>
                <a:gd name="T2" fmla="*/ 71 w 116"/>
                <a:gd name="T3" fmla="*/ 48 h 105"/>
                <a:gd name="T4" fmla="*/ 116 w 116"/>
                <a:gd name="T5" fmla="*/ 0 h 105"/>
                <a:gd name="T6" fmla="*/ 116 w 116"/>
                <a:gd name="T7" fmla="*/ 43 h 105"/>
                <a:gd name="T8" fmla="*/ 58 w 116"/>
                <a:gd name="T9" fmla="*/ 105 h 105"/>
                <a:gd name="T10" fmla="*/ 0 w 116"/>
                <a:gd name="T11" fmla="*/ 43 h 105"/>
                <a:gd name="T12" fmla="*/ 0 w 116"/>
                <a:gd name="T13" fmla="*/ 0 h 105"/>
                <a:gd name="T14" fmla="*/ 45 w 116"/>
                <a:gd name="T15" fmla="*/ 48 h 105"/>
                <a:gd name="T16" fmla="*/ 58 w 116"/>
                <a:gd name="T17" fmla="*/ 6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05">
                  <a:moveTo>
                    <a:pt x="58" y="61"/>
                  </a:moveTo>
                  <a:lnTo>
                    <a:pt x="71" y="48"/>
                  </a:lnTo>
                  <a:lnTo>
                    <a:pt x="116" y="0"/>
                  </a:lnTo>
                  <a:lnTo>
                    <a:pt x="116" y="43"/>
                  </a:lnTo>
                  <a:lnTo>
                    <a:pt x="58" y="105"/>
                  </a:lnTo>
                  <a:lnTo>
                    <a:pt x="0" y="43"/>
                  </a:lnTo>
                  <a:lnTo>
                    <a:pt x="0" y="0"/>
                  </a:lnTo>
                  <a:lnTo>
                    <a:pt x="45" y="48"/>
                  </a:lnTo>
                  <a:lnTo>
                    <a:pt x="58" y="6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900" dirty="0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</p:grpSp>
      <p:sp>
        <p:nvSpPr>
          <p:cNvPr id="17" name="Search Box Rectangle"/>
          <p:cNvSpPr>
            <a:spLocks/>
          </p:cNvSpPr>
          <p:nvPr/>
        </p:nvSpPr>
        <p:spPr bwMode="auto">
          <a:xfrm>
            <a:off x="5392688" y="5420714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8" name="Search Box Rectangle"/>
          <p:cNvSpPr>
            <a:spLocks/>
          </p:cNvSpPr>
          <p:nvPr/>
        </p:nvSpPr>
        <p:spPr bwMode="auto">
          <a:xfrm>
            <a:off x="4269309" y="5420714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2237140" y="2896848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2237140" y="3436159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2237140" y="406820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2237140" y="466817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Search Box Rectangle"/>
          <p:cNvSpPr>
            <a:spLocks/>
          </p:cNvSpPr>
          <p:nvPr/>
        </p:nvSpPr>
        <p:spPr bwMode="auto">
          <a:xfrm>
            <a:off x="7768952" y="4000698"/>
            <a:ext cx="864096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QR</a:t>
            </a:r>
            <a:r>
              <a:rPr lang="ko-KR" altLang="en-US" sz="90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코드 촬영</a:t>
            </a:r>
            <a:endParaRPr lang="de-DE" sz="90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345957"/>
              </p:ext>
            </p:extLst>
          </p:nvPr>
        </p:nvGraphicFramePr>
        <p:xfrm>
          <a:off x="10633534" y="1272208"/>
          <a:ext cx="2088232" cy="15009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종류 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AP, Tag, Band, GAS Sensor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제품선택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[AP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디바이스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],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위치태그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],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가스센서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], [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안전밴드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]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MAC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주소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정보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10633534" y="2781509"/>
            <a:ext cx="2088232" cy="5770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b="1" dirty="0">
                <a:solidFill>
                  <a:srgbClr val="FF0000"/>
                </a:solidFill>
              </a:rPr>
              <a:t>ISSUE.</a:t>
            </a:r>
          </a:p>
          <a:p>
            <a:r>
              <a:rPr lang="en-US" altLang="ko-KR" sz="1050" dirty="0"/>
              <a:t>MAC </a:t>
            </a:r>
            <a:r>
              <a:rPr lang="ko-KR" altLang="en-US" sz="1050"/>
              <a:t>주소를 </a:t>
            </a:r>
            <a:r>
              <a:rPr lang="en-US" altLang="ko-KR" sz="1050" dirty="0"/>
              <a:t>QRcode </a:t>
            </a:r>
            <a:r>
              <a:rPr lang="ko-KR" altLang="en-US" sz="1050"/>
              <a:t>찍어서 입력할 수 있는가</a:t>
            </a:r>
            <a:r>
              <a:rPr lang="en-US" altLang="ko-KR" sz="1050" dirty="0"/>
              <a:t>? </a:t>
            </a:r>
            <a:endParaRPr lang="ko-KR" altLang="en-US" sz="1050"/>
          </a:p>
        </p:txBody>
      </p:sp>
    </p:spTree>
    <p:extLst>
      <p:ext uri="{BB962C8B-B14F-4D97-AF65-F5344CB8AC3E}">
        <p14:creationId xmlns:p14="http://schemas.microsoft.com/office/powerpoint/2010/main" val="81663471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arch Box Rectangle"/>
          <p:cNvSpPr>
            <a:spLocks/>
          </p:cNvSpPr>
          <p:nvPr/>
        </p:nvSpPr>
        <p:spPr bwMode="auto">
          <a:xfrm>
            <a:off x="5392688" y="4152528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269309" y="4152528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68352" y="2830706"/>
            <a:ext cx="13420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일괄등록 파일선택</a:t>
            </a:r>
          </a:p>
        </p:txBody>
      </p:sp>
      <p:sp>
        <p:nvSpPr>
          <p:cNvPr id="5" name="File Box"/>
          <p:cNvSpPr>
            <a:spLocks/>
          </p:cNvSpPr>
          <p:nvPr>
            <p:custDataLst>
              <p:tags r:id="rId1"/>
            </p:custDataLst>
          </p:nvPr>
        </p:nvSpPr>
        <p:spPr bwMode="auto">
          <a:xfrm>
            <a:off x="3906308" y="2784376"/>
            <a:ext cx="2552801" cy="31599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de-DE" sz="120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" name="Browse Button"/>
          <p:cNvSpPr>
            <a:spLocks/>
          </p:cNvSpPr>
          <p:nvPr>
            <p:custDataLst>
              <p:tags r:id="rId2"/>
            </p:custDataLst>
          </p:nvPr>
        </p:nvSpPr>
        <p:spPr bwMode="auto">
          <a:xfrm>
            <a:off x="6459110" y="2784377"/>
            <a:ext cx="963437" cy="315990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>
                <a:solidFill>
                  <a:srgbClr val="262626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파일찾기</a:t>
            </a:r>
            <a:endParaRPr lang="en-US" sz="1200" dirty="0">
              <a:solidFill>
                <a:srgbClr val="262626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901644" y="3214554"/>
            <a:ext cx="305564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일괄 등록할 파일을 선택하여주시기 바랍니다</a:t>
            </a:r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.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cxnSp>
        <p:nvCxnSpPr>
          <p:cNvPr id="8" name="직선 연결선 7"/>
          <p:cNvCxnSpPr/>
          <p:nvPr/>
        </p:nvCxnSpPr>
        <p:spPr>
          <a:xfrm>
            <a:off x="2440360" y="3760022"/>
            <a:ext cx="5544616" cy="0"/>
          </a:xfrm>
          <a:prstGeom prst="line">
            <a:avLst/>
          </a:prstGeom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/>
          <p:cNvSpPr/>
          <p:nvPr/>
        </p:nvSpPr>
        <p:spPr>
          <a:xfrm>
            <a:off x="3901644" y="253926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629970" y="1901463"/>
            <a:ext cx="35125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디바이스 관리 ▶ 일괄 등록하기</a:t>
            </a: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6066599"/>
              </p:ext>
            </p:extLst>
          </p:nvPr>
        </p:nvGraphicFramePr>
        <p:xfrm>
          <a:off x="10633534" y="1272208"/>
          <a:ext cx="2088232" cy="117357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미리 지정되는 엑셀파일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5082973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23443" y="1768514"/>
            <a:ext cx="9721080" cy="663248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10782" y="1992288"/>
            <a:ext cx="9146402" cy="61206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231129" y="2194427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17481" y="2221369"/>
            <a:ext cx="245759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 dirty="0"/>
              <a:t>Smart AP </a:t>
            </a:r>
            <a:r>
              <a:rPr lang="ko-KR" altLang="en-US" sz="2000" b="1"/>
              <a:t>상세정보</a:t>
            </a:r>
            <a:endParaRPr lang="ko-KR" altLang="en-US" sz="2000" b="1" dirty="0"/>
          </a:p>
        </p:txBody>
      </p:sp>
      <p:sp>
        <p:nvSpPr>
          <p:cNvPr id="6" name="TextBox 5"/>
          <p:cNvSpPr txBox="1"/>
          <p:nvPr/>
        </p:nvSpPr>
        <p:spPr>
          <a:xfrm>
            <a:off x="1555781" y="7301527"/>
            <a:ext cx="19911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MAC   </a:t>
            </a:r>
            <a:r>
              <a:rPr lang="en-US" altLang="ko-KR" sz="1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LAP-01-001</a:t>
            </a:r>
            <a:endParaRPr lang="ko-KR" altLang="en-US" sz="1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385234" y="2901327"/>
            <a:ext cx="227979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[AP</a:t>
            </a:r>
            <a:r>
              <a:rPr kumimoji="0" lang="ko-KR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디바이스</a:t>
            </a:r>
            <a:r>
              <a:rPr kumimoji="0" lang="en-US" altLang="ko-KR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]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385234" y="3529998"/>
            <a:ext cx="23487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현재위치 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7</a:t>
            </a:r>
            <a:r>
              <a:rPr kumimoji="0" lang="ko-KR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층 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A-1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연결상태 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</a:t>
            </a:r>
            <a:r>
              <a:rPr kumimoji="0" lang="ko-KR" alt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정상</a:t>
            </a:r>
            <a:endParaRPr kumimoji="0" lang="en-US" altLang="ko-KR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385234" y="7186026"/>
            <a:ext cx="172354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펌웨어 정보 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</a:t>
            </a:r>
          </a:p>
        </p:txBody>
      </p:sp>
      <p:sp>
        <p:nvSpPr>
          <p:cNvPr id="11" name="모서리가 둥근 직사각형 10"/>
          <p:cNvSpPr/>
          <p:nvPr/>
        </p:nvSpPr>
        <p:spPr>
          <a:xfrm>
            <a:off x="5862737" y="7227173"/>
            <a:ext cx="3026820" cy="288032"/>
          </a:xfrm>
          <a:prstGeom prst="roundRect">
            <a:avLst>
              <a:gd name="adj" fmla="val 43122"/>
            </a:avLst>
          </a:prstGeom>
          <a:solidFill>
            <a:srgbClr val="F79646">
              <a:lumMod val="75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1.101.44 </a:t>
            </a: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1.101.45</a:t>
            </a:r>
            <a:endParaRPr kumimoji="0" lang="ko-KR" altLang="en-US" sz="1050" b="1" i="0" u="none" strike="noStrike" kern="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385234" y="7602192"/>
            <a:ext cx="344357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최종 업데이트 일시 </a:t>
            </a:r>
            <a:r>
              <a:rPr kumimoji="0" lang="en-US" altLang="ko-KR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00.00.00  13:00:03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385234" y="4682509"/>
            <a:ext cx="331853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디바이스 등록일시 </a:t>
            </a:r>
            <a:r>
              <a:rPr kumimoji="0" lang="en-US" altLang="ko-KR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00.00.00 14:32:02</a:t>
            </a:r>
          </a:p>
        </p:txBody>
      </p:sp>
      <p:sp>
        <p:nvSpPr>
          <p:cNvPr id="14" name="직사각형 13"/>
          <p:cNvSpPr/>
          <p:nvPr/>
        </p:nvSpPr>
        <p:spPr>
          <a:xfrm>
            <a:off x="4497069" y="5333563"/>
            <a:ext cx="4608512" cy="1580986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defTabSz="914400" latinLnBrk="0">
              <a:lnSpc>
                <a:spcPct val="150000"/>
              </a:lnSpc>
              <a:defRPr/>
            </a:pPr>
            <a:r>
              <a:rPr lang="en-US" altLang="ko-KR" sz="1100" kern="0" dirty="0">
                <a:solidFill>
                  <a:prstClr val="black"/>
                </a:solidFill>
              </a:rPr>
              <a:t>7</a:t>
            </a:r>
            <a:r>
              <a:rPr lang="ko-KR" altLang="en-US" sz="1100" kern="0" dirty="0">
                <a:solidFill>
                  <a:prstClr val="black"/>
                </a:solidFill>
              </a:rPr>
              <a:t>층 </a:t>
            </a:r>
            <a:r>
              <a:rPr lang="en-US" altLang="ko-KR" sz="1100" kern="0" dirty="0">
                <a:solidFill>
                  <a:prstClr val="black"/>
                </a:solidFill>
              </a:rPr>
              <a:t>A-1  |  0000.00.00 12:32:02  |  </a:t>
            </a:r>
            <a:r>
              <a:rPr lang="ko-KR" altLang="en-US" sz="1100" kern="0" dirty="0">
                <a:solidFill>
                  <a:prstClr val="black"/>
                </a:solidFill>
              </a:rPr>
              <a:t>설치</a:t>
            </a:r>
            <a:endParaRPr lang="en-US" altLang="ko-KR" sz="1100" kern="0" dirty="0">
              <a:solidFill>
                <a:prstClr val="black"/>
              </a:solidFill>
            </a:endParaRPr>
          </a:p>
          <a:p>
            <a:pPr lvl="0" defTabSz="914400" latinLnBrk="0">
              <a:lnSpc>
                <a:spcPct val="150000"/>
              </a:lnSpc>
              <a:defRPr/>
            </a:pPr>
            <a:r>
              <a:rPr lang="en-US" altLang="ko-KR" sz="1100" kern="0" dirty="0">
                <a:solidFill>
                  <a:prstClr val="black"/>
                </a:solidFill>
              </a:rPr>
              <a:t>7</a:t>
            </a:r>
            <a:r>
              <a:rPr lang="ko-KR" altLang="en-US" sz="1100" kern="0" dirty="0">
                <a:solidFill>
                  <a:prstClr val="black"/>
                </a:solidFill>
              </a:rPr>
              <a:t>층 </a:t>
            </a:r>
            <a:r>
              <a:rPr lang="en-US" altLang="ko-KR" sz="1100" kern="0" dirty="0">
                <a:solidFill>
                  <a:prstClr val="black"/>
                </a:solidFill>
              </a:rPr>
              <a:t>A-1  |  0000.00.00 12:32:02  |  </a:t>
            </a:r>
            <a:r>
              <a:rPr lang="ko-KR" altLang="en-US" sz="1100" kern="0" dirty="0">
                <a:solidFill>
                  <a:prstClr val="black"/>
                </a:solidFill>
              </a:rPr>
              <a:t>해제</a:t>
            </a:r>
            <a:endParaRPr lang="en-US" altLang="ko-KR" sz="1100" kern="0" dirty="0">
              <a:solidFill>
                <a:prstClr val="black"/>
              </a:solidFill>
            </a:endParaRPr>
          </a:p>
          <a:p>
            <a:pPr lvl="0" defTabSz="914400" latinLnBrk="0">
              <a:lnSpc>
                <a:spcPct val="150000"/>
              </a:lnSpc>
              <a:defRPr/>
            </a:pPr>
            <a:r>
              <a:rPr lang="en-US" altLang="ko-KR" sz="1100" kern="0" dirty="0">
                <a:solidFill>
                  <a:prstClr val="black"/>
                </a:solidFill>
              </a:rPr>
              <a:t>7</a:t>
            </a:r>
            <a:r>
              <a:rPr lang="ko-KR" altLang="en-US" sz="1100" kern="0" dirty="0">
                <a:solidFill>
                  <a:prstClr val="black"/>
                </a:solidFill>
              </a:rPr>
              <a:t>층 </a:t>
            </a:r>
            <a:r>
              <a:rPr lang="en-US" altLang="ko-KR" sz="1100" kern="0" dirty="0">
                <a:solidFill>
                  <a:prstClr val="black"/>
                </a:solidFill>
              </a:rPr>
              <a:t>A-1  |  0000.00.00 12:32:02  |  </a:t>
            </a:r>
            <a:r>
              <a:rPr lang="ko-KR" altLang="en-US" sz="1100" kern="0" dirty="0">
                <a:solidFill>
                  <a:prstClr val="black"/>
                </a:solidFill>
              </a:rPr>
              <a:t>설치</a:t>
            </a:r>
            <a:endParaRPr lang="en-US" altLang="ko-KR" sz="1100" kern="0" dirty="0">
              <a:solidFill>
                <a:prstClr val="black"/>
              </a:solidFill>
            </a:endParaRPr>
          </a:p>
          <a:p>
            <a:pPr lvl="0" defTabSz="914400" latinLnBrk="0">
              <a:lnSpc>
                <a:spcPct val="150000"/>
              </a:lnSpc>
              <a:defRPr/>
            </a:pPr>
            <a:endParaRPr lang="en-US" altLang="ko-KR" sz="1100" kern="0" dirty="0">
              <a:solidFill>
                <a:prstClr val="black"/>
              </a:solidFill>
            </a:endParaRPr>
          </a:p>
          <a:p>
            <a:pPr lvl="0" defTabSz="914400" latinLnBrk="0">
              <a:lnSpc>
                <a:spcPct val="150000"/>
              </a:lnSpc>
              <a:defRPr/>
            </a:pPr>
            <a:r>
              <a:rPr lang="en-US" altLang="ko-KR" sz="1100" kern="0" dirty="0">
                <a:solidFill>
                  <a:prstClr val="black"/>
                </a:solidFill>
              </a:rPr>
              <a:t>7</a:t>
            </a:r>
            <a:r>
              <a:rPr lang="ko-KR" altLang="en-US" sz="1100" kern="0" dirty="0">
                <a:solidFill>
                  <a:prstClr val="black"/>
                </a:solidFill>
              </a:rPr>
              <a:t>층 </a:t>
            </a:r>
            <a:r>
              <a:rPr lang="en-US" altLang="ko-KR" sz="1100" kern="0" dirty="0">
                <a:solidFill>
                  <a:prstClr val="black"/>
                </a:solidFill>
              </a:rPr>
              <a:t>A-1  |  0000.00.00 12:32:02  |  </a:t>
            </a:r>
            <a:r>
              <a:rPr lang="ko-KR" altLang="en-US" sz="1100" kern="0" dirty="0">
                <a:solidFill>
                  <a:prstClr val="black"/>
                </a:solidFill>
              </a:rPr>
              <a:t>설치</a:t>
            </a:r>
            <a:endParaRPr lang="en-US" altLang="ko-KR" sz="1100" kern="0" dirty="0">
              <a:solidFill>
                <a:prstClr val="black"/>
              </a:solidFill>
            </a:endParaRPr>
          </a:p>
          <a:p>
            <a:pPr lvl="0" defTabSz="914400" latinLnBrk="0">
              <a:lnSpc>
                <a:spcPct val="150000"/>
              </a:lnSpc>
              <a:defRPr/>
            </a:pPr>
            <a:r>
              <a:rPr lang="en-US" altLang="ko-KR" sz="1100" kern="0" dirty="0">
                <a:solidFill>
                  <a:prstClr val="black"/>
                </a:solidFill>
              </a:rPr>
              <a:t>7</a:t>
            </a:r>
            <a:r>
              <a:rPr lang="ko-KR" altLang="en-US" sz="1100" kern="0" dirty="0">
                <a:solidFill>
                  <a:prstClr val="black"/>
                </a:solidFill>
              </a:rPr>
              <a:t>층 </a:t>
            </a:r>
            <a:r>
              <a:rPr lang="en-US" altLang="ko-KR" sz="1100" kern="0" dirty="0">
                <a:solidFill>
                  <a:prstClr val="black"/>
                </a:solidFill>
              </a:rPr>
              <a:t>A-1  |  0000.00.00 12:32:02  |  </a:t>
            </a:r>
            <a:r>
              <a:rPr lang="ko-KR" altLang="en-US" sz="1100" kern="0" dirty="0">
                <a:solidFill>
                  <a:prstClr val="black"/>
                </a:solidFill>
              </a:rPr>
              <a:t>해제</a:t>
            </a:r>
            <a:endParaRPr lang="en-US" altLang="ko-KR" sz="1100" kern="0" dirty="0">
              <a:solidFill>
                <a:prstClr val="black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385234" y="5025786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디바이스 설치일시</a:t>
            </a:r>
            <a:endParaRPr kumimoji="0" lang="en-US" altLang="ko-KR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16" name="직선 연결선 15"/>
          <p:cNvCxnSpPr/>
          <p:nvPr/>
        </p:nvCxnSpPr>
        <p:spPr>
          <a:xfrm>
            <a:off x="9025882" y="5332509"/>
            <a:ext cx="0" cy="662864"/>
          </a:xfrm>
          <a:prstGeom prst="line">
            <a:avLst/>
          </a:prstGeom>
          <a:noFill/>
          <a:ln w="76200" cap="flat" cmpd="sng" algn="ctr">
            <a:solidFill>
              <a:sysClr val="windowText" lastClr="000000">
                <a:lumMod val="75000"/>
                <a:lumOff val="25000"/>
                <a:alpha val="48000"/>
              </a:sysClr>
            </a:solidFill>
            <a:prstDash val="solid"/>
          </a:ln>
          <a:effectLst/>
        </p:spPr>
      </p:cxnSp>
      <p:sp>
        <p:nvSpPr>
          <p:cNvPr id="17" name="직사각형 16"/>
          <p:cNvSpPr/>
          <p:nvPr/>
        </p:nvSpPr>
        <p:spPr>
          <a:xfrm>
            <a:off x="5470694" y="204616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5985752" y="701164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cxnSp>
        <p:nvCxnSpPr>
          <p:cNvPr id="19" name="직선 연결선 18"/>
          <p:cNvCxnSpPr/>
          <p:nvPr/>
        </p:nvCxnSpPr>
        <p:spPr>
          <a:xfrm>
            <a:off x="4579584" y="6263936"/>
            <a:ext cx="419748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5325216" y="6147491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graphicFrame>
        <p:nvGraphicFramePr>
          <p:cNvPr id="21" name="표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9361836"/>
              </p:ext>
            </p:extLst>
          </p:nvPr>
        </p:nvGraphicFramePr>
        <p:xfrm>
          <a:off x="10633534" y="1272208"/>
          <a:ext cx="2088232" cy="4389139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를 선택하면 해당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에 대한 정보가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287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펌웨어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업데이트 버튼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대 이상이 존재할 경우 좌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우 페이지 표기 생성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날짜구분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2" name="모서리가 둥근 직사각형 21"/>
          <p:cNvSpPr/>
          <p:nvPr/>
        </p:nvSpPr>
        <p:spPr>
          <a:xfrm>
            <a:off x="11190671" y="2759224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843C0C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다운로드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1190671" y="2221369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F79646">
              <a:lumMod val="75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1.101.44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  <a:sym typeface="Wingdings" panose="05000000000000000000" pitchFamily="2" charset="2"/>
              </a:rPr>
              <a:t>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1.101.45</a:t>
            </a:r>
            <a:endParaRPr kumimoji="0" lang="ko-KR" altLang="en-US" sz="700" b="0" i="0" u="none" strike="noStrike" kern="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1642838" y="4347382"/>
            <a:ext cx="4924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/>
              <a:t>↓</a:t>
            </a:r>
            <a:endParaRPr lang="en-US" altLang="ko-KR" sz="1200" dirty="0"/>
          </a:p>
          <a:p>
            <a:pPr algn="ctr"/>
            <a:r>
              <a:rPr lang="ko-KR" altLang="en-US" sz="1200"/>
              <a:t>최신</a:t>
            </a:r>
            <a:endParaRPr lang="ko-KR" altLang="en-US" sz="1200" dirty="0"/>
          </a:p>
        </p:txBody>
      </p:sp>
      <p:sp>
        <p:nvSpPr>
          <p:cNvPr id="25" name="TextBox 24"/>
          <p:cNvSpPr txBox="1"/>
          <p:nvPr/>
        </p:nvSpPr>
        <p:spPr>
          <a:xfrm>
            <a:off x="11723790" y="2490729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/>
              <a:t>↓</a:t>
            </a:r>
          </a:p>
        </p:txBody>
      </p:sp>
      <p:sp>
        <p:nvSpPr>
          <p:cNvPr id="26" name="모서리가 둥근 직사각형 25"/>
          <p:cNvSpPr/>
          <p:nvPr/>
        </p:nvSpPr>
        <p:spPr>
          <a:xfrm>
            <a:off x="11190671" y="3365247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1F497D">
              <a:lumMod val="60000"/>
              <a:lumOff val="40000"/>
            </a:srgb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다운로드 완료 업데이트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11723790" y="3096752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/>
              <a:t>↓</a:t>
            </a:r>
          </a:p>
        </p:txBody>
      </p:sp>
      <p:sp>
        <p:nvSpPr>
          <p:cNvPr id="28" name="모서리가 둥근 직사각형 27"/>
          <p:cNvSpPr/>
          <p:nvPr/>
        </p:nvSpPr>
        <p:spPr>
          <a:xfrm>
            <a:off x="11190671" y="4011283"/>
            <a:ext cx="1402816" cy="288032"/>
          </a:xfrm>
          <a:prstGeom prst="roundRect">
            <a:avLst>
              <a:gd name="adj" fmla="val 43122"/>
            </a:avLst>
          </a:prstGeom>
          <a:solidFill>
            <a:srgbClr val="1F4E79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 latinLnBrk="0">
              <a:defRPr/>
            </a:pPr>
            <a:r>
              <a:rPr lang="ko-KR" altLang="en-US" sz="700" kern="0" dirty="0">
                <a:solidFill>
                  <a:prstClr val="white"/>
                </a:solidFill>
              </a:rPr>
              <a:t>업데이트 중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1723790" y="3742788"/>
            <a:ext cx="3305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200" dirty="0"/>
              <a:t>↓</a:t>
            </a:r>
          </a:p>
        </p:txBody>
      </p:sp>
    </p:spTree>
    <p:extLst>
      <p:ext uri="{BB962C8B-B14F-4D97-AF65-F5344CB8AC3E}">
        <p14:creationId xmlns:p14="http://schemas.microsoft.com/office/powerpoint/2010/main" val="2355558826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23443" y="1768514"/>
            <a:ext cx="9721080" cy="663248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10782" y="1992288"/>
            <a:ext cx="9146402" cy="61206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231129" y="2194427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17481" y="2221369"/>
            <a:ext cx="179408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000" b="1" dirty="0"/>
              <a:t>TAG </a:t>
            </a:r>
            <a:r>
              <a:rPr lang="ko-KR" altLang="en-US" sz="2000" b="1"/>
              <a:t>상세정보</a:t>
            </a:r>
            <a:endParaRPr lang="ko-KR" altLang="en-US" sz="2000" b="1" dirty="0"/>
          </a:p>
        </p:txBody>
      </p:sp>
      <p:sp>
        <p:nvSpPr>
          <p:cNvPr id="6" name="TextBox 5"/>
          <p:cNvSpPr txBox="1"/>
          <p:nvPr/>
        </p:nvSpPr>
        <p:spPr>
          <a:xfrm>
            <a:off x="4385234" y="2898078"/>
            <a:ext cx="18389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위치태그</a:t>
            </a:r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385234" y="3526749"/>
            <a:ext cx="281840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현재위치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7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A-1</a:t>
            </a:r>
          </a:p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출입권한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일반 출입자</a:t>
            </a:r>
            <a:endParaRPr lang="en-US" altLang="ko-KR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385234" y="7742078"/>
            <a:ext cx="2978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펌웨어 정보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1.001.001</a:t>
            </a:r>
          </a:p>
        </p:txBody>
      </p:sp>
      <p:grpSp>
        <p:nvGrpSpPr>
          <p:cNvPr id="35" name="그룹 34"/>
          <p:cNvGrpSpPr/>
          <p:nvPr/>
        </p:nvGrpSpPr>
        <p:grpSpPr>
          <a:xfrm>
            <a:off x="7547165" y="3516735"/>
            <a:ext cx="1485288" cy="991022"/>
            <a:chOff x="7547165" y="3516735"/>
            <a:chExt cx="1485288" cy="991022"/>
          </a:xfrm>
        </p:grpSpPr>
        <p:pic>
          <p:nvPicPr>
            <p:cNvPr id="9" name="그림 8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3367" b="23367"/>
            <a:stretch/>
          </p:blipFill>
          <p:spPr>
            <a:xfrm rot="5400000">
              <a:off x="8319970" y="3733990"/>
              <a:ext cx="929738" cy="495228"/>
            </a:xfrm>
            <a:prstGeom prst="rect">
              <a:avLst/>
            </a:prstGeom>
          </p:spPr>
        </p:pic>
        <p:sp>
          <p:nvSpPr>
            <p:cNvPr id="10" name="TextBox 9"/>
            <p:cNvSpPr txBox="1"/>
            <p:nvPr/>
          </p:nvSpPr>
          <p:spPr>
            <a:xfrm>
              <a:off x="7547165" y="4046092"/>
              <a:ext cx="8002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400" dirty="0">
                  <a:latin typeface="+mj-lt"/>
                  <a:ea typeface="맑은 고딕" panose="020B0503020000020004" pitchFamily="50" charset="-127"/>
                </a:rPr>
                <a:t>정상</a:t>
              </a: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4385234" y="5238561"/>
            <a:ext cx="331853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등록일시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00.00.00 14:32:02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4497069" y="5889615"/>
            <a:ext cx="4608512" cy="158098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385234" y="5581838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매칭일시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555781" y="7298278"/>
            <a:ext cx="1944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</a:rPr>
              <a:t>MAC</a:t>
            </a:r>
            <a:r>
              <a:rPr lang="en-US" altLang="ko-KR" sz="1800" dirty="0">
                <a:latin typeface="맑은 고딕" panose="020B0503020000020004" pitchFamily="50" charset="-127"/>
              </a:rPr>
              <a:t>  LI-LAI-0001</a:t>
            </a:r>
            <a:endParaRPr lang="ko-KR" altLang="en-US" sz="1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" name="직선 연결선 14"/>
          <p:cNvCxnSpPr/>
          <p:nvPr/>
        </p:nvCxnSpPr>
        <p:spPr>
          <a:xfrm>
            <a:off x="9025882" y="5888561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/>
          <p:cNvSpPr/>
          <p:nvPr/>
        </p:nvSpPr>
        <p:spPr>
          <a:xfrm>
            <a:off x="1581756" y="3686255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1360240" y="7382832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065021" y="3016068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4065021" y="360044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7667582" y="360044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4065021" y="5253315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287445" y="5505110"/>
            <a:ext cx="4890143" cy="2075121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4065021" y="5512808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065021" y="7692737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4287445" y="7670070"/>
            <a:ext cx="4890143" cy="453038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631798" y="4247398"/>
            <a:ext cx="2129109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성명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400">
                <a:latin typeface="맑은 고딕" panose="020B0503020000020004" pitchFamily="50" charset="-127"/>
                <a:ea typeface="맑은 고딕" panose="020B0503020000020004" pitchFamily="50" charset="-127"/>
              </a:rPr>
              <a:t>홍길동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연락처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010-1234-5678</a:t>
            </a:r>
          </a:p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소속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000 </a:t>
            </a:r>
            <a:r>
              <a:rPr lang="ko-KR" altLang="en-US" sz="1400">
                <a:latin typeface="맑은 고딕" panose="020B0503020000020004" pitchFamily="50" charset="-127"/>
                <a:ea typeface="맑은 고딕" panose="020B0503020000020004" pitchFamily="50" charset="-127"/>
              </a:rPr>
              <a:t>소속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5552303"/>
              </p:ext>
            </p:extLst>
          </p:nvPr>
        </p:nvGraphicFramePr>
        <p:xfrm>
          <a:off x="10633534" y="1272208"/>
          <a:ext cx="2088232" cy="335852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화면설명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디바이스에 대한 상세정보 팝업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상세정보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디바이스 이미지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ID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현재 위치 및 담당자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연결상태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배터리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정상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부족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: 10%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이내일때 알림을 보냄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등록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시스템 등록 일시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설치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설치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해제 히스토리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 정보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cxnSp>
        <p:nvCxnSpPr>
          <p:cNvPr id="29" name="직선 연결선 28"/>
          <p:cNvCxnSpPr/>
          <p:nvPr/>
        </p:nvCxnSpPr>
        <p:spPr>
          <a:xfrm>
            <a:off x="4579584" y="6802489"/>
            <a:ext cx="419748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325216" y="6686044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8258484" y="314796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j-lt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j-lt"/>
            </a:endParaRPr>
          </a:p>
        </p:txBody>
      </p:sp>
      <p:graphicFrame>
        <p:nvGraphicFramePr>
          <p:cNvPr id="34" name="표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683255"/>
              </p:ext>
            </p:extLst>
          </p:nvPr>
        </p:nvGraphicFramePr>
        <p:xfrm>
          <a:off x="10633534" y="4737695"/>
          <a:ext cx="2088232" cy="3564523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배터리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남은날짜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표기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11153328" y="5343802"/>
            <a:ext cx="1485288" cy="991022"/>
            <a:chOff x="7547165" y="3516735"/>
            <a:chExt cx="1485288" cy="991022"/>
          </a:xfrm>
        </p:grpSpPr>
        <p:pic>
          <p:nvPicPr>
            <p:cNvPr id="37" name="그림 36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3367" b="23367"/>
            <a:stretch/>
          </p:blipFill>
          <p:spPr>
            <a:xfrm rot="5400000">
              <a:off x="8319970" y="3733990"/>
              <a:ext cx="929738" cy="495228"/>
            </a:xfrm>
            <a:prstGeom prst="rect">
              <a:avLst/>
            </a:prstGeom>
          </p:spPr>
        </p:pic>
        <p:sp>
          <p:nvSpPr>
            <p:cNvPr id="38" name="TextBox 37"/>
            <p:cNvSpPr txBox="1"/>
            <p:nvPr/>
          </p:nvSpPr>
          <p:spPr>
            <a:xfrm>
              <a:off x="7547165" y="4046092"/>
              <a:ext cx="8002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2400" dirty="0">
                  <a:latin typeface="+mj-lt"/>
                  <a:ea typeface="맑은 고딕" panose="020B0503020000020004" pitchFamily="50" charset="-127"/>
                </a:rPr>
                <a:t>정상</a:t>
              </a:r>
            </a:p>
          </p:txBody>
        </p:sp>
      </p:grpSp>
      <p:pic>
        <p:nvPicPr>
          <p:cNvPr id="40" name="그림 3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67" b="23367"/>
          <a:stretch/>
        </p:blipFill>
        <p:spPr>
          <a:xfrm rot="5400000">
            <a:off x="11926133" y="6807113"/>
            <a:ext cx="929738" cy="49522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1153328" y="7119215"/>
            <a:ext cx="8723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latin typeface="+mj-lt"/>
                <a:ea typeface="맑은 고딕" panose="020B0503020000020004" pitchFamily="50" charset="-127"/>
              </a:rPr>
              <a:t>D-18</a:t>
            </a:r>
            <a:endParaRPr lang="ko-KR" altLang="en-US" sz="2400" dirty="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12239625" y="6762750"/>
            <a:ext cx="304800" cy="43624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2251055" y="7225665"/>
            <a:ext cx="278130" cy="192405"/>
          </a:xfrm>
          <a:prstGeom prst="rect">
            <a:avLst/>
          </a:prstGeom>
          <a:solidFill>
            <a:srgbClr val="C00000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7187431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23443" y="1768514"/>
            <a:ext cx="9721080" cy="663248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10782" y="1992288"/>
            <a:ext cx="9146402" cy="61206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231129" y="2194427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17481" y="2221369"/>
            <a:ext cx="28392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가스센서비콘</a:t>
            </a:r>
            <a:r>
              <a:rPr lang="en-US" altLang="ko-KR" sz="2000" b="1" dirty="0"/>
              <a:t> </a:t>
            </a:r>
            <a:r>
              <a:rPr lang="ko-KR" altLang="en-US" sz="2000" b="1"/>
              <a:t>상세정보</a:t>
            </a:r>
            <a:endParaRPr lang="ko-KR" altLang="en-US" sz="2000" b="1" dirty="0"/>
          </a:p>
        </p:txBody>
      </p:sp>
      <p:sp>
        <p:nvSpPr>
          <p:cNvPr id="7" name="TextBox 6"/>
          <p:cNvSpPr txBox="1"/>
          <p:nvPr/>
        </p:nvSpPr>
        <p:spPr>
          <a:xfrm>
            <a:off x="4385234" y="2911388"/>
            <a:ext cx="18389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가스센서</a:t>
            </a:r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385234" y="3540059"/>
            <a:ext cx="23968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현재위치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7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A-1</a:t>
            </a:r>
          </a:p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담당자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관리자</a:t>
            </a:r>
            <a:endParaRPr lang="en-US" altLang="ko-KR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연결상태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정상</a:t>
            </a:r>
            <a:endParaRPr lang="en-US" altLang="ko-KR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385234" y="7196087"/>
            <a:ext cx="2978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펌웨어 정보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1.001.001</a:t>
            </a: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67" b="23367"/>
          <a:stretch/>
        </p:blipFill>
        <p:spPr>
          <a:xfrm rot="5400000">
            <a:off x="8319970" y="3747300"/>
            <a:ext cx="929738" cy="495228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7547165" y="4059402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400" dirty="0">
                <a:latin typeface="+mj-lt"/>
                <a:ea typeface="맑은 고딕" panose="020B0503020000020004" pitchFamily="50" charset="-127"/>
              </a:rPr>
              <a:t>상전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4385234" y="4692570"/>
            <a:ext cx="331853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등록일시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00.00.00 14:32:02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4497069" y="5343624"/>
            <a:ext cx="4608512" cy="158098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385234" y="5035847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설치일시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55781" y="7311588"/>
            <a:ext cx="198227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</a:rPr>
              <a:t>MAC</a:t>
            </a:r>
            <a:r>
              <a:rPr lang="en-US" altLang="ko-KR" sz="1800" dirty="0">
                <a:latin typeface="맑은 고딕" panose="020B0503020000020004" pitchFamily="50" charset="-127"/>
              </a:rPr>
              <a:t>  LGA-01-001</a:t>
            </a:r>
            <a:endParaRPr lang="ko-KR" altLang="en-US" sz="1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/>
          <p:cNvCxnSpPr/>
          <p:nvPr/>
        </p:nvCxnSpPr>
        <p:spPr>
          <a:xfrm>
            <a:off x="9025882" y="5342570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/>
        </p:nvSpPr>
        <p:spPr>
          <a:xfrm>
            <a:off x="1581756" y="3699565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1360240" y="7396142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4065021" y="3029378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4065021" y="361375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7667582" y="3613751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065021" y="4707324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4287445" y="4959119"/>
            <a:ext cx="4890143" cy="2075121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065021" y="4966817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4065021" y="714674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4287445" y="7124079"/>
            <a:ext cx="4890143" cy="453038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7" name="표 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4825534"/>
              </p:ext>
            </p:extLst>
          </p:nvPr>
        </p:nvGraphicFramePr>
        <p:xfrm>
          <a:off x="10633534" y="1272208"/>
          <a:ext cx="2088232" cy="520557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화면설명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디바이스 이미지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ID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현재 위치 및 담당자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연결상태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배터리 잔량 정보 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높음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] 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보통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] [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낮음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] 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의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3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+mn-ea"/>
                          <a:cs typeface="Arial" panose="020B0604020202020204" pitchFamily="34" charset="0"/>
                        </a:rPr>
                        <a:t>단계로 표기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등록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시스템 등록 일시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설치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설치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해제 히스토리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 정보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cxnSp>
        <p:nvCxnSpPr>
          <p:cNvPr id="28" name="직선 연결선 27"/>
          <p:cNvCxnSpPr/>
          <p:nvPr/>
        </p:nvCxnSpPr>
        <p:spPr>
          <a:xfrm>
            <a:off x="4579584" y="6256622"/>
            <a:ext cx="419748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5325216" y="6140177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1983884" y="3575738"/>
            <a:ext cx="609604" cy="609604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1444084" y="3742040"/>
            <a:ext cx="49244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1200" dirty="0"/>
              <a:t>높음</a:t>
            </a:r>
          </a:p>
        </p:txBody>
      </p:sp>
      <p:pic>
        <p:nvPicPr>
          <p:cNvPr id="33" name="그림 3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1983884" y="4110861"/>
            <a:ext cx="609604" cy="609604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444084" y="4288321"/>
            <a:ext cx="49244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1200" dirty="0"/>
              <a:t>보통</a:t>
            </a: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1983884" y="4626875"/>
            <a:ext cx="609604" cy="609604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136307" y="4793177"/>
            <a:ext cx="800220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1200" dirty="0"/>
              <a:t>교체필요</a:t>
            </a:r>
          </a:p>
        </p:txBody>
      </p:sp>
      <p:pic>
        <p:nvPicPr>
          <p:cNvPr id="37" name="그림 36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1983884" y="3145174"/>
            <a:ext cx="581064" cy="581064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1444084" y="3343081"/>
            <a:ext cx="49244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ko-KR" altLang="en-US" sz="1200" dirty="0"/>
              <a:t>상전</a:t>
            </a:r>
          </a:p>
        </p:txBody>
      </p:sp>
    </p:spTree>
    <p:extLst>
      <p:ext uri="{BB962C8B-B14F-4D97-AF65-F5344CB8AC3E}">
        <p14:creationId xmlns:p14="http://schemas.microsoft.com/office/powerpoint/2010/main" val="153420947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23443" y="1768514"/>
            <a:ext cx="9721080" cy="6632487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710782" y="1992288"/>
            <a:ext cx="9146402" cy="612068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9231129" y="2194427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17481" y="2221369"/>
            <a:ext cx="25827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b="1" dirty="0"/>
              <a:t>스마트밴드 상세정보</a:t>
            </a:r>
          </a:p>
        </p:txBody>
      </p:sp>
      <p:sp>
        <p:nvSpPr>
          <p:cNvPr id="7" name="직사각형 6"/>
          <p:cNvSpPr/>
          <p:nvPr/>
        </p:nvSpPr>
        <p:spPr>
          <a:xfrm>
            <a:off x="1575179" y="3709993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378657" y="2921816"/>
            <a:ext cx="18389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안전밴드</a:t>
            </a:r>
            <a:r>
              <a:rPr lang="en-US" altLang="ko-KR" sz="2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378657" y="7765816"/>
            <a:ext cx="29787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펌웨어 정보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1.001.001</a:t>
            </a: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67" b="23367"/>
          <a:stretch/>
        </p:blipFill>
        <p:spPr>
          <a:xfrm rot="5400000">
            <a:off x="8313393" y="3757728"/>
            <a:ext cx="929738" cy="495228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7540588" y="4069830"/>
            <a:ext cx="9525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latin typeface="+mj-lt"/>
                <a:ea typeface="맑은 고딕" panose="020B0503020000020004" pitchFamily="50" charset="-127"/>
              </a:rPr>
              <a:t>100%</a:t>
            </a:r>
            <a:endParaRPr lang="ko-KR" altLang="en-US" sz="2400">
              <a:latin typeface="+mj-lt"/>
              <a:ea typeface="맑은 고딕" panose="020B0503020000020004" pitchFamily="50" charset="-127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378657" y="5262299"/>
            <a:ext cx="331853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등록일시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00.00.00 14:32:02</a:t>
            </a:r>
          </a:p>
        </p:txBody>
      </p:sp>
      <p:sp>
        <p:nvSpPr>
          <p:cNvPr id="13" name="직사각형 12"/>
          <p:cNvSpPr/>
          <p:nvPr/>
        </p:nvSpPr>
        <p:spPr>
          <a:xfrm>
            <a:off x="4490492" y="5913353"/>
            <a:ext cx="4608512" cy="158098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매칭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층 </a:t>
            </a:r>
            <a:r>
              <a:rPr lang="en-US" altLang="ko-KR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A-1  |  0000.00.00 12:32:02  |  </a:t>
            </a:r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해제</a:t>
            </a: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378657" y="5605576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디바이스 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매칭일시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49204" y="7322016"/>
            <a:ext cx="18107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맑은 고딕" panose="020B0503020000020004" pitchFamily="50" charset="-127"/>
              </a:rPr>
              <a:t>MAC</a:t>
            </a:r>
            <a:r>
              <a:rPr lang="en-US" altLang="ko-KR" sz="1800" dirty="0">
                <a:latin typeface="맑은 고딕" panose="020B0503020000020004" pitchFamily="50" charset="-127"/>
              </a:rPr>
              <a:t>  LB-01-001</a:t>
            </a:r>
            <a:endParaRPr lang="ko-KR" altLang="en-US" sz="1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/>
          <p:cNvCxnSpPr/>
          <p:nvPr/>
        </p:nvCxnSpPr>
        <p:spPr>
          <a:xfrm>
            <a:off x="9019305" y="5912299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/>
        </p:nvSpPr>
        <p:spPr>
          <a:xfrm>
            <a:off x="1353663" y="7406570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4058444" y="303980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7661005" y="3624179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7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4058444" y="5277053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8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4280868" y="5528848"/>
            <a:ext cx="4890143" cy="2075121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4058444" y="5536546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9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4058444" y="7716475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10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280868" y="7693808"/>
            <a:ext cx="4890143" cy="453038"/>
          </a:xfrm>
          <a:prstGeom prst="rect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endParaRPr lang="en-US" altLang="ko-KR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4058444" y="3624179"/>
            <a:ext cx="177800" cy="180975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6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4378657" y="3550487"/>
            <a:ext cx="281840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현재위치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7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층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A-1</a:t>
            </a:r>
          </a:p>
          <a:p>
            <a:r>
              <a:rPr lang="ko-KR" altLang="en-US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출입권한 </a:t>
            </a:r>
            <a:r>
              <a:rPr lang="en-US" altLang="ko-KR" sz="2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2000">
                <a:latin typeface="맑은 고딕" panose="020B0503020000020004" pitchFamily="50" charset="-127"/>
                <a:ea typeface="맑은 고딕" panose="020B0503020000020004" pitchFamily="50" charset="-127"/>
              </a:rPr>
              <a:t>특수 작업자</a:t>
            </a:r>
            <a:endParaRPr lang="en-US" altLang="ko-KR" sz="2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625221" y="4271136"/>
            <a:ext cx="2129109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성명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400">
                <a:latin typeface="맑은 고딕" panose="020B0503020000020004" pitchFamily="50" charset="-127"/>
                <a:ea typeface="맑은 고딕" panose="020B0503020000020004" pitchFamily="50" charset="-127"/>
              </a:rPr>
              <a:t>홍길동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연락처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010-1234-5678</a:t>
            </a:r>
          </a:p>
          <a:p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소속 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000 </a:t>
            </a:r>
            <a:r>
              <a:rPr lang="ko-KR" altLang="en-US" sz="1400">
                <a:latin typeface="맑은 고딕" panose="020B0503020000020004" pitchFamily="50" charset="-127"/>
                <a:ea typeface="맑은 고딕" panose="020B0503020000020004" pitchFamily="50" charset="-127"/>
              </a:rPr>
              <a:t>소속</a:t>
            </a:r>
            <a:endParaRPr lang="en-US" altLang="ko-KR" sz="14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8" name="표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48180"/>
              </p:ext>
            </p:extLst>
          </p:nvPr>
        </p:nvGraphicFramePr>
        <p:xfrm>
          <a:off x="10633534" y="1272208"/>
          <a:ext cx="2088232" cy="242061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화면설명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선택된 디바이스 이미지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ID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명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현재 위치 및 담당자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 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연결상태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배터리 정보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등록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시스템 등록 일시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9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디바이스 설치 일시 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설치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해제 히스토리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10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펌웨어 정보 영역</a:t>
                      </a:r>
                      <a:endParaRPr lang="en-US" altLang="ko-KR" sz="800" baseline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cxnSp>
        <p:nvCxnSpPr>
          <p:cNvPr id="29" name="직선 연결선 28"/>
          <p:cNvCxnSpPr/>
          <p:nvPr/>
        </p:nvCxnSpPr>
        <p:spPr>
          <a:xfrm>
            <a:off x="4579584" y="6831064"/>
            <a:ext cx="419748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325216" y="6714619"/>
            <a:ext cx="1236236" cy="24622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latin typeface="+mn-ea"/>
                <a:sym typeface="Wingdings" panose="05000000000000000000" pitchFamily="2" charset="2"/>
              </a:rPr>
              <a:t>0000.00.00 </a:t>
            </a:r>
            <a:r>
              <a:rPr lang="ko-KR" altLang="en-US" sz="1000" dirty="0">
                <a:latin typeface="+mn-ea"/>
                <a:sym typeface="Wingdings" panose="05000000000000000000" pitchFamily="2" charset="2"/>
              </a:rPr>
              <a:t>월요일</a:t>
            </a:r>
            <a:endParaRPr lang="en-US" altLang="ko-KR" sz="1000" dirty="0">
              <a:latin typeface="+mn-ea"/>
              <a:sym typeface="Wingdings" panose="05000000000000000000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4208533010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규칙 관리</a:t>
            </a:r>
          </a:p>
        </p:txBody>
      </p:sp>
    </p:spTree>
    <p:extLst>
      <p:ext uri="{BB962C8B-B14F-4D97-AF65-F5344CB8AC3E}">
        <p14:creationId xmlns:p14="http://schemas.microsoft.com/office/powerpoint/2010/main" val="28228900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모서리가 둥근 직사각형 74"/>
          <p:cNvSpPr/>
          <p:nvPr/>
        </p:nvSpPr>
        <p:spPr>
          <a:xfrm>
            <a:off x="712168" y="5619970"/>
            <a:ext cx="9083198" cy="2677828"/>
          </a:xfrm>
          <a:prstGeom prst="roundRect">
            <a:avLst>
              <a:gd name="adj" fmla="val 4496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/>
          <p:cNvSpPr txBox="1"/>
          <p:nvPr/>
        </p:nvSpPr>
        <p:spPr>
          <a:xfrm>
            <a:off x="856184" y="5782804"/>
            <a:ext cx="70083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규칙 명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672913" y="5782804"/>
            <a:ext cx="233429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dirty="0"/>
              <a:t>지하 </a:t>
            </a:r>
            <a:r>
              <a:rPr lang="en-US" altLang="ko-KR" sz="1200" dirty="0"/>
              <a:t>1</a:t>
            </a:r>
            <a:r>
              <a:rPr lang="ko-KR" altLang="en-US" sz="1200"/>
              <a:t>층 밀폐공간 앞 위험지역</a:t>
            </a:r>
            <a:endParaRPr lang="ko-KR" altLang="en-US" sz="1200" dirty="0"/>
          </a:p>
        </p:txBody>
      </p:sp>
      <p:sp>
        <p:nvSpPr>
          <p:cNvPr id="78" name="TextBox 77"/>
          <p:cNvSpPr txBox="1"/>
          <p:nvPr/>
        </p:nvSpPr>
        <p:spPr>
          <a:xfrm>
            <a:off x="7069181" y="5805886"/>
            <a:ext cx="11368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900" dirty="0"/>
              <a:t>16.07.01  14:32:23</a:t>
            </a:r>
            <a:endParaRPr lang="ko-KR" altLang="en-US" sz="900" dirty="0"/>
          </a:p>
        </p:txBody>
      </p:sp>
      <p:cxnSp>
        <p:nvCxnSpPr>
          <p:cNvPr id="79" name="직선 연결선 78"/>
          <p:cNvCxnSpPr/>
          <p:nvPr/>
        </p:nvCxnSpPr>
        <p:spPr>
          <a:xfrm>
            <a:off x="980953" y="6193970"/>
            <a:ext cx="86182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/>
          <p:cNvGrpSpPr/>
          <p:nvPr/>
        </p:nvGrpSpPr>
        <p:grpSpPr>
          <a:xfrm>
            <a:off x="4505117" y="5778078"/>
            <a:ext cx="1084564" cy="276999"/>
            <a:chOff x="693988" y="3424733"/>
            <a:chExt cx="1084564" cy="276999"/>
          </a:xfrm>
        </p:grpSpPr>
        <p:sp>
          <p:nvSpPr>
            <p:cNvPr id="82" name="TextBox 81"/>
            <p:cNvSpPr txBox="1"/>
            <p:nvPr/>
          </p:nvSpPr>
          <p:spPr>
            <a:xfrm>
              <a:off x="693988" y="3424733"/>
              <a:ext cx="449162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en-US" altLang="ko-KR" sz="1200" b="1" dirty="0"/>
                <a:t>Ver.</a:t>
              </a:r>
              <a:endParaRPr lang="ko-KR" altLang="en-US" sz="1200" b="1" dirty="0"/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305346" y="3424733"/>
              <a:ext cx="473206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en-US" altLang="ko-KR" sz="1200" dirty="0"/>
                <a:t>1.12</a:t>
              </a:r>
              <a:endParaRPr lang="ko-KR" altLang="en-US" sz="1200" dirty="0"/>
            </a:p>
          </p:txBody>
        </p:sp>
      </p:grpSp>
      <p:sp>
        <p:nvSpPr>
          <p:cNvPr id="84" name="모서리가 둥근 직사각형 83"/>
          <p:cNvSpPr/>
          <p:nvPr/>
        </p:nvSpPr>
        <p:spPr>
          <a:xfrm>
            <a:off x="8273008" y="5766401"/>
            <a:ext cx="638037" cy="28803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수정</a:t>
            </a:r>
          </a:p>
        </p:txBody>
      </p:sp>
      <p:sp>
        <p:nvSpPr>
          <p:cNvPr id="85" name="모서리가 둥근 직사각형 84"/>
          <p:cNvSpPr/>
          <p:nvPr/>
        </p:nvSpPr>
        <p:spPr>
          <a:xfrm>
            <a:off x="8961152" y="5766401"/>
            <a:ext cx="638037" cy="28803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삭제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629970" y="1901463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규칙관리</a:t>
            </a:r>
          </a:p>
        </p:txBody>
      </p:sp>
      <p:sp>
        <p:nvSpPr>
          <p:cNvPr id="23" name="모서리가 둥근 직사각형 22"/>
          <p:cNvSpPr/>
          <p:nvPr/>
        </p:nvSpPr>
        <p:spPr>
          <a:xfrm>
            <a:off x="712168" y="2842852"/>
            <a:ext cx="9083198" cy="2677828"/>
          </a:xfrm>
          <a:prstGeom prst="roundRect">
            <a:avLst>
              <a:gd name="adj" fmla="val 4496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856184" y="3005686"/>
            <a:ext cx="70083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규칙 명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672913" y="3005686"/>
            <a:ext cx="233429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dirty="0"/>
              <a:t>지하 </a:t>
            </a:r>
            <a:r>
              <a:rPr lang="en-US" altLang="ko-KR" sz="1200" dirty="0"/>
              <a:t>1</a:t>
            </a:r>
            <a:r>
              <a:rPr lang="ko-KR" altLang="en-US" sz="1200"/>
              <a:t>층 밀폐공간 앞 일반지역</a:t>
            </a:r>
            <a:endParaRPr lang="ko-KR" altLang="en-US" sz="1200" dirty="0"/>
          </a:p>
        </p:txBody>
      </p:sp>
      <p:sp>
        <p:nvSpPr>
          <p:cNvPr id="26" name="TextBox 25"/>
          <p:cNvSpPr txBox="1"/>
          <p:nvPr/>
        </p:nvSpPr>
        <p:spPr>
          <a:xfrm>
            <a:off x="7069181" y="3028768"/>
            <a:ext cx="11368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900" dirty="0"/>
              <a:t>16.07.01  14:32:23</a:t>
            </a:r>
            <a:endParaRPr lang="ko-KR" altLang="en-US" sz="900" dirty="0"/>
          </a:p>
        </p:txBody>
      </p:sp>
      <p:cxnSp>
        <p:nvCxnSpPr>
          <p:cNvPr id="27" name="직선 연결선 26"/>
          <p:cNvCxnSpPr/>
          <p:nvPr/>
        </p:nvCxnSpPr>
        <p:spPr>
          <a:xfrm>
            <a:off x="980953" y="3416852"/>
            <a:ext cx="86182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표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608809"/>
              </p:ext>
            </p:extLst>
          </p:nvPr>
        </p:nvGraphicFramePr>
        <p:xfrm>
          <a:off x="980953" y="3516143"/>
          <a:ext cx="8618236" cy="18886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55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기준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산소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(O2)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일산화탄소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(CO)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황화수소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(H2S)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메탄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(CH4)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습도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화재위험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움직임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23.5%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80 ℃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 </a:t>
                      </a:r>
                      <a:r>
                        <a:rPr lang="ko-KR" altLang="en-US" sz="6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 </a:t>
                      </a:r>
                      <a:r>
                        <a:rPr lang="ko-KR" altLang="en-US" sz="6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이상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작업자 상태 확인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18%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90 ℃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17%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알림발생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없음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STEL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TWA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30" name="그룹 29"/>
          <p:cNvGrpSpPr/>
          <p:nvPr/>
        </p:nvGrpSpPr>
        <p:grpSpPr>
          <a:xfrm>
            <a:off x="4505117" y="3000960"/>
            <a:ext cx="1084564" cy="276999"/>
            <a:chOff x="693988" y="3424733"/>
            <a:chExt cx="1084564" cy="276999"/>
          </a:xfrm>
        </p:grpSpPr>
        <p:sp>
          <p:nvSpPr>
            <p:cNvPr id="31" name="TextBox 30"/>
            <p:cNvSpPr txBox="1"/>
            <p:nvPr/>
          </p:nvSpPr>
          <p:spPr>
            <a:xfrm>
              <a:off x="693988" y="3424733"/>
              <a:ext cx="449162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en-US" altLang="ko-KR" sz="1200" b="1" dirty="0"/>
                <a:t>Ver.</a:t>
              </a:r>
              <a:endParaRPr lang="ko-KR" altLang="en-US" sz="1200" b="1" dirty="0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305346" y="3424733"/>
              <a:ext cx="473206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en-US" altLang="ko-KR" sz="1200" dirty="0"/>
                <a:t>1.14</a:t>
              </a:r>
              <a:endParaRPr lang="ko-KR" altLang="en-US" sz="1200" dirty="0"/>
            </a:p>
          </p:txBody>
        </p:sp>
      </p:grpSp>
      <p:sp>
        <p:nvSpPr>
          <p:cNvPr id="71" name="직사각형 70"/>
          <p:cNvSpPr/>
          <p:nvPr/>
        </p:nvSpPr>
        <p:spPr>
          <a:xfrm>
            <a:off x="8643240" y="2374681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규칙 등록</a:t>
            </a:r>
          </a:p>
        </p:txBody>
      </p:sp>
      <p:sp>
        <p:nvSpPr>
          <p:cNvPr id="72" name="모서리가 둥근 직사각형 71"/>
          <p:cNvSpPr/>
          <p:nvPr/>
        </p:nvSpPr>
        <p:spPr>
          <a:xfrm>
            <a:off x="8273008" y="2989283"/>
            <a:ext cx="638037" cy="28803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수정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8961152" y="2989283"/>
            <a:ext cx="638037" cy="288032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삭제</a:t>
            </a:r>
          </a:p>
        </p:txBody>
      </p:sp>
      <p:sp>
        <p:nvSpPr>
          <p:cNvPr id="86" name="직사각형 85"/>
          <p:cNvSpPr/>
          <p:nvPr/>
        </p:nvSpPr>
        <p:spPr>
          <a:xfrm>
            <a:off x="4968426" y="28702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87" name="표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02344"/>
              </p:ext>
            </p:extLst>
          </p:nvPr>
        </p:nvGraphicFramePr>
        <p:xfrm>
          <a:off x="10633534" y="1272208"/>
          <a:ext cx="2088232" cy="440972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등록할때마다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Ver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생성 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최초 등록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년월일시분초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등록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삭제 가능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규칙 등록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88" name="직사각형 87"/>
          <p:cNvSpPr/>
          <p:nvPr/>
        </p:nvSpPr>
        <p:spPr>
          <a:xfrm>
            <a:off x="7548706" y="28702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89" name="직사각형 88"/>
          <p:cNvSpPr/>
          <p:nvPr/>
        </p:nvSpPr>
        <p:spPr>
          <a:xfrm>
            <a:off x="8507756" y="28702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0" name="직사각형 89"/>
          <p:cNvSpPr/>
          <p:nvPr/>
        </p:nvSpPr>
        <p:spPr>
          <a:xfrm>
            <a:off x="9209112" y="287022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4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11077845" y="2584516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데이터를 삭제해도 적용된 가스센서의 </a:t>
            </a:r>
            <a:r>
              <a:rPr lang="ko-KR" altLang="en-US" sz="700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세팅값은</a:t>
            </a: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변동되지 않습니다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삭제하시겠습니까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2" name="직사각형 91"/>
          <p:cNvSpPr/>
          <p:nvPr/>
        </p:nvSpPr>
        <p:spPr>
          <a:xfrm>
            <a:off x="11077845" y="3172497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취소</a:t>
            </a:r>
          </a:p>
        </p:txBody>
      </p:sp>
      <p:sp>
        <p:nvSpPr>
          <p:cNvPr id="93" name="직사각형 92"/>
          <p:cNvSpPr/>
          <p:nvPr/>
        </p:nvSpPr>
        <p:spPr>
          <a:xfrm>
            <a:off x="11902574" y="3172497"/>
            <a:ext cx="831193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94" name="직사각형 93"/>
          <p:cNvSpPr/>
          <p:nvPr/>
        </p:nvSpPr>
        <p:spPr>
          <a:xfrm>
            <a:off x="11077845" y="4336658"/>
            <a:ext cx="165592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95" name="직사각형 94"/>
          <p:cNvSpPr/>
          <p:nvPr/>
        </p:nvSpPr>
        <p:spPr>
          <a:xfrm>
            <a:off x="11077845" y="3748677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삭제되었습니다</a:t>
            </a:r>
            <a:r>
              <a:rPr lang="en-US" altLang="ko-KR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ko-KR" altLang="en-US" sz="7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6" name="모서리가 둥근 사각형 설명선 95"/>
          <p:cNvSpPr/>
          <p:nvPr/>
        </p:nvSpPr>
        <p:spPr>
          <a:xfrm>
            <a:off x="10217031" y="2412608"/>
            <a:ext cx="800850" cy="215587"/>
          </a:xfrm>
          <a:prstGeom prst="wedgeRoundRectCallout">
            <a:avLst>
              <a:gd name="adj1" fmla="val 78147"/>
              <a:gd name="adj2" fmla="val 49471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sp>
        <p:nvSpPr>
          <p:cNvPr id="97" name="모서리가 둥근 사각형 설명선 96"/>
          <p:cNvSpPr/>
          <p:nvPr/>
        </p:nvSpPr>
        <p:spPr>
          <a:xfrm>
            <a:off x="10217031" y="3660801"/>
            <a:ext cx="800850" cy="215587"/>
          </a:xfrm>
          <a:prstGeom prst="wedgeRoundRectCallout">
            <a:avLst>
              <a:gd name="adj1" fmla="val 78147"/>
              <a:gd name="adj2" fmla="val 49471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/>
              <a:t>Alert popup</a:t>
            </a:r>
            <a:endParaRPr lang="ko-KR" altLang="en-US" sz="800" dirty="0"/>
          </a:p>
        </p:txBody>
      </p:sp>
      <p:cxnSp>
        <p:nvCxnSpPr>
          <p:cNvPr id="98" name="직선 연결선 97"/>
          <p:cNvCxnSpPr/>
          <p:nvPr/>
        </p:nvCxnSpPr>
        <p:spPr>
          <a:xfrm>
            <a:off x="9866709" y="2841065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/>
          <p:cNvSpPr/>
          <p:nvPr/>
        </p:nvSpPr>
        <p:spPr>
          <a:xfrm>
            <a:off x="9124999" y="2270510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5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7" name="표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5194456"/>
              </p:ext>
            </p:extLst>
          </p:nvPr>
        </p:nvGraphicFramePr>
        <p:xfrm>
          <a:off x="980953" y="6251335"/>
          <a:ext cx="8618236" cy="18886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55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1558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1558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기준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산소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(O2)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일산화탄소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(CO)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황화수소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(H2S)</a:t>
                      </a:r>
                      <a:endParaRPr lang="ko-KR" altLang="en-US" sz="7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메탄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(CH4)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습도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화재위험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움직임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23.5%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80 ℃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 </a:t>
                      </a:r>
                      <a:r>
                        <a:rPr lang="ko-KR" altLang="en-US" sz="6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분 </a:t>
                      </a:r>
                      <a:r>
                        <a:rPr lang="ko-KR" altLang="en-US" sz="6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이상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작업자 상태 확인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18%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90 ℃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7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17%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알림발생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없음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STEL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15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477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TWA</a:t>
                      </a:r>
                      <a:endParaRPr lang="ko-KR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7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10 ppm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9" name="직사각형 68"/>
          <p:cNvSpPr/>
          <p:nvPr/>
        </p:nvSpPr>
        <p:spPr>
          <a:xfrm>
            <a:off x="352128" y="8134642"/>
            <a:ext cx="9865096" cy="10801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/>
          <p:cNvSpPr/>
          <p:nvPr/>
        </p:nvSpPr>
        <p:spPr>
          <a:xfrm>
            <a:off x="411791" y="8139422"/>
            <a:ext cx="9722359" cy="261578"/>
          </a:xfrm>
          <a:prstGeom prst="rect">
            <a:avLst/>
          </a:prstGeom>
          <a:solidFill>
            <a:schemeClr val="bg2">
              <a:lumMod val="25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en-US" altLang="ko-KR" sz="1000" b="1" dirty="0">
                <a:latin typeface="+mn-ea"/>
              </a:rPr>
              <a:t>[</a:t>
            </a:r>
            <a:r>
              <a:rPr lang="ko-KR" altLang="en-US" sz="1000" b="1">
                <a:latin typeface="+mn-ea"/>
              </a:rPr>
              <a:t>제</a:t>
            </a:r>
            <a:r>
              <a:rPr lang="en-US" altLang="ko-KR" sz="1000" b="1" dirty="0">
                <a:latin typeface="+mn-ea"/>
              </a:rPr>
              <a:t> 1</a:t>
            </a:r>
            <a:r>
              <a:rPr lang="ko-KR" altLang="en-US" sz="1000" b="1">
                <a:latin typeface="+mn-ea"/>
              </a:rPr>
              <a:t>공장</a:t>
            </a:r>
            <a:r>
              <a:rPr lang="en-US" altLang="ko-KR" sz="1000" b="1" dirty="0">
                <a:latin typeface="+mn-ea"/>
              </a:rPr>
              <a:t>] 7</a:t>
            </a:r>
            <a:r>
              <a:rPr lang="ko-KR" altLang="en-US" sz="1000" b="1">
                <a:latin typeface="+mn-ea"/>
              </a:rPr>
              <a:t>층 </a:t>
            </a:r>
            <a:r>
              <a:rPr lang="en-US" altLang="ko-KR" sz="1000" b="1" dirty="0">
                <a:latin typeface="+mn-ea"/>
              </a:rPr>
              <a:t>A-1 </a:t>
            </a:r>
            <a:r>
              <a:rPr lang="ko-KR" altLang="en-US" sz="1000" b="1">
                <a:latin typeface="+mn-ea"/>
              </a:rPr>
              <a:t>구역 침범상황 발생</a:t>
            </a:r>
            <a:endParaRPr lang="en-US" altLang="ko-KR" sz="1000" b="1" dirty="0">
              <a:latin typeface="+mn-ea"/>
            </a:endParaRPr>
          </a:p>
        </p:txBody>
      </p:sp>
      <p:pic>
        <p:nvPicPr>
          <p:cNvPr id="57" name="Picture 3" descr="D:\99. Image Template\02. PPT component\Seperate Line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25449" b="-1"/>
          <a:stretch/>
        </p:blipFill>
        <p:spPr bwMode="auto">
          <a:xfrm>
            <a:off x="657613" y="7984132"/>
            <a:ext cx="9284996" cy="141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082461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" name="표 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836103"/>
              </p:ext>
            </p:extLst>
          </p:nvPr>
        </p:nvGraphicFramePr>
        <p:xfrm>
          <a:off x="722942" y="3516141"/>
          <a:ext cx="9134243" cy="27745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2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</a:rPr>
                        <a:t>기준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산소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(O2)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일산화탄소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(CO)</a:t>
                      </a:r>
                      <a:endParaRPr lang="ko-KR" altLang="en-US" sz="6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황화수소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(H2S)</a:t>
                      </a:r>
                      <a:endParaRPr lang="ko-KR" altLang="en-US" sz="6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메탄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(CH4)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온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습도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화재위험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움직임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℃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분 이상</a:t>
                      </a: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작업자 상태 확인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℃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    알림 발생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STEL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15 ppm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TWA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10 ppm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9" name="TextBox 38"/>
          <p:cNvSpPr txBox="1"/>
          <p:nvPr/>
        </p:nvSpPr>
        <p:spPr>
          <a:xfrm>
            <a:off x="1144216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23.5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144216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18</a:t>
            </a:r>
            <a:endParaRPr lang="ko-KR" altLang="en-US" dirty="0"/>
          </a:p>
        </p:txBody>
      </p:sp>
      <p:sp>
        <p:nvSpPr>
          <p:cNvPr id="41" name="TextBox 40"/>
          <p:cNvSpPr txBox="1"/>
          <p:nvPr/>
        </p:nvSpPr>
        <p:spPr>
          <a:xfrm>
            <a:off x="1144216" y="4920217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17</a:t>
            </a:r>
            <a:endParaRPr lang="ko-KR" altLang="en-US" dirty="0"/>
          </a:p>
        </p:txBody>
      </p:sp>
      <p:sp>
        <p:nvSpPr>
          <p:cNvPr id="42" name="TextBox 41"/>
          <p:cNvSpPr txBox="1"/>
          <p:nvPr/>
        </p:nvSpPr>
        <p:spPr>
          <a:xfrm>
            <a:off x="2512368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30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512368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200</a:t>
            </a:r>
            <a:endParaRPr lang="ko-KR" altLang="en-US" dirty="0"/>
          </a:p>
        </p:txBody>
      </p:sp>
      <p:sp>
        <p:nvSpPr>
          <p:cNvPr id="48" name="TextBox 47"/>
          <p:cNvSpPr txBox="1"/>
          <p:nvPr/>
        </p:nvSpPr>
        <p:spPr>
          <a:xfrm>
            <a:off x="3850874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10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3850874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15</a:t>
            </a:r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518461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10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18461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20</a:t>
            </a:r>
            <a:endParaRPr lang="ko-KR" altLang="en-US" dirty="0"/>
          </a:p>
        </p:txBody>
      </p:sp>
      <p:sp>
        <p:nvSpPr>
          <p:cNvPr id="56" name="TextBox 55"/>
          <p:cNvSpPr txBox="1"/>
          <p:nvPr/>
        </p:nvSpPr>
        <p:spPr>
          <a:xfrm>
            <a:off x="8555247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20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7127274" y="4915187"/>
            <a:ext cx="584893" cy="288032"/>
            <a:chOff x="9204500" y="4346800"/>
            <a:chExt cx="584893" cy="288032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타원 58"/>
            <p:cNvSpPr/>
            <p:nvPr/>
          </p:nvSpPr>
          <p:spPr>
            <a:xfrm>
              <a:off x="9204500" y="4350719"/>
              <a:ext cx="284113" cy="284113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653686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80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653686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90</a:t>
            </a:r>
            <a:endParaRPr lang="ko-KR" altLang="en-US" dirty="0"/>
          </a:p>
        </p:txBody>
      </p:sp>
      <p:sp>
        <p:nvSpPr>
          <p:cNvPr id="62" name="TextBox 61"/>
          <p:cNvSpPr txBox="1"/>
          <p:nvPr/>
        </p:nvSpPr>
        <p:spPr>
          <a:xfrm>
            <a:off x="722692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</a:rPr>
              <a:t>15</a:t>
            </a:r>
            <a:endParaRPr lang="ko-KR" altLang="en-US" sz="10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722692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/>
              <a:t>10</a:t>
            </a:r>
            <a:endParaRPr lang="ko-KR" alt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29970" y="1901463"/>
            <a:ext cx="25074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규칙관리 ▶ 규칙 등록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856184" y="3005686"/>
            <a:ext cx="70083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규칙 명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672913" y="3005686"/>
            <a:ext cx="2765227" cy="27699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 anchor="ctr">
            <a:noAutofit/>
          </a:bodyPr>
          <a:lstStyle/>
          <a:p>
            <a:r>
              <a:rPr lang="ko-KR" altLang="en-US" sz="1000" dirty="0" err="1">
                <a:solidFill>
                  <a:schemeClr val="bg1">
                    <a:lumMod val="75000"/>
                  </a:schemeClr>
                </a:solidFill>
              </a:rPr>
              <a:t>규칙명을</a:t>
            </a:r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</a:rPr>
              <a:t> 입력하세요</a:t>
            </a:r>
          </a:p>
        </p:txBody>
      </p:sp>
      <p:cxnSp>
        <p:nvCxnSpPr>
          <p:cNvPr id="7" name="직선 연결선 6"/>
          <p:cNvCxnSpPr/>
          <p:nvPr/>
        </p:nvCxnSpPr>
        <p:spPr>
          <a:xfrm>
            <a:off x="980953" y="3416852"/>
            <a:ext cx="86182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Search Box Rectangle"/>
          <p:cNvSpPr>
            <a:spLocks/>
          </p:cNvSpPr>
          <p:nvPr/>
        </p:nvSpPr>
        <p:spPr bwMode="auto">
          <a:xfrm>
            <a:off x="5392688" y="7464896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8" name="Search Box Rectangle"/>
          <p:cNvSpPr>
            <a:spLocks/>
          </p:cNvSpPr>
          <p:nvPr/>
        </p:nvSpPr>
        <p:spPr bwMode="auto">
          <a:xfrm>
            <a:off x="4269309" y="7464896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2966626" y="288118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466048"/>
              </p:ext>
            </p:extLst>
          </p:nvPr>
        </p:nvGraphicFramePr>
        <p:xfrm>
          <a:off x="10633534" y="1272208"/>
          <a:ext cx="2088232" cy="231788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제목 입력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기본값이 희미하게 보이는 상태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기본값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: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디폴트 값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온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습도 화재위험의 알림을 발생시킬지 여부를 판단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3" name="직사각형 22"/>
          <p:cNvSpPr/>
          <p:nvPr/>
        </p:nvSpPr>
        <p:spPr>
          <a:xfrm>
            <a:off x="1342269" y="377493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0" name="직사각형 49"/>
          <p:cNvSpPr/>
          <p:nvPr/>
        </p:nvSpPr>
        <p:spPr>
          <a:xfrm>
            <a:off x="6447965" y="496871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4090544" y="6526677"/>
            <a:ext cx="2399038" cy="397525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경보 규정에 대한 도움말 보기</a:t>
            </a:r>
          </a:p>
        </p:txBody>
      </p:sp>
    </p:spTree>
    <p:extLst>
      <p:ext uri="{BB962C8B-B14F-4D97-AF65-F5344CB8AC3E}">
        <p14:creationId xmlns:p14="http://schemas.microsoft.com/office/powerpoint/2010/main" val="544270621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0345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규칙관리 ▶ 수정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856184" y="3005686"/>
            <a:ext cx="70083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b="1" dirty="0"/>
              <a:t>규칙 명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672913" y="3005686"/>
            <a:ext cx="2765227" cy="27699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 anchor="ctr">
            <a:spAutoFit/>
          </a:bodyPr>
          <a:lstStyle/>
          <a:p>
            <a:r>
              <a:rPr lang="ko-KR" altLang="en-US" sz="1200" dirty="0"/>
              <a:t>지하 </a:t>
            </a:r>
            <a:r>
              <a:rPr lang="en-US" altLang="ko-KR" sz="1200" dirty="0"/>
              <a:t>1</a:t>
            </a:r>
            <a:r>
              <a:rPr lang="ko-KR" altLang="en-US" sz="1200"/>
              <a:t>층 밀폐공간 앞 일반지역</a:t>
            </a:r>
            <a:endParaRPr lang="ko-KR" altLang="en-US" sz="1200" dirty="0"/>
          </a:p>
        </p:txBody>
      </p:sp>
      <p:cxnSp>
        <p:nvCxnSpPr>
          <p:cNvPr id="7" name="직선 연결선 6"/>
          <p:cNvCxnSpPr/>
          <p:nvPr/>
        </p:nvCxnSpPr>
        <p:spPr>
          <a:xfrm>
            <a:off x="980953" y="3416852"/>
            <a:ext cx="86182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/>
          <p:cNvGrpSpPr/>
          <p:nvPr/>
        </p:nvGrpSpPr>
        <p:grpSpPr>
          <a:xfrm>
            <a:off x="8345016" y="3000960"/>
            <a:ext cx="1084564" cy="276999"/>
            <a:chOff x="693988" y="3424733"/>
            <a:chExt cx="1084564" cy="276999"/>
          </a:xfrm>
        </p:grpSpPr>
        <p:sp>
          <p:nvSpPr>
            <p:cNvPr id="10" name="TextBox 9"/>
            <p:cNvSpPr txBox="1"/>
            <p:nvPr/>
          </p:nvSpPr>
          <p:spPr>
            <a:xfrm>
              <a:off x="693988" y="3424733"/>
              <a:ext cx="449162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en-US" altLang="ko-KR" sz="1200" b="1" dirty="0"/>
                <a:t>Ver.</a:t>
              </a:r>
              <a:endParaRPr lang="ko-KR" altLang="en-US" sz="1200" b="1" dirty="0"/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305346" y="3424733"/>
              <a:ext cx="473206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/>
              <a:r>
                <a:rPr lang="en-US" altLang="ko-KR" sz="1200" dirty="0"/>
                <a:t>1.14</a:t>
              </a:r>
              <a:endParaRPr lang="ko-KR" altLang="en-US" sz="1200" dirty="0"/>
            </a:p>
          </p:txBody>
        </p:sp>
      </p:grpSp>
      <p:sp>
        <p:nvSpPr>
          <p:cNvPr id="31" name="Search Box Rectangle"/>
          <p:cNvSpPr>
            <a:spLocks/>
          </p:cNvSpPr>
          <p:nvPr/>
        </p:nvSpPr>
        <p:spPr bwMode="auto">
          <a:xfrm>
            <a:off x="5392688" y="7464896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2" name="Search Box Rectangle"/>
          <p:cNvSpPr>
            <a:spLocks/>
          </p:cNvSpPr>
          <p:nvPr/>
        </p:nvSpPr>
        <p:spPr bwMode="auto">
          <a:xfrm>
            <a:off x="4269309" y="7464896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4995398"/>
              </p:ext>
            </p:extLst>
          </p:nvPr>
        </p:nvGraphicFramePr>
        <p:xfrm>
          <a:off x="722942" y="3516141"/>
          <a:ext cx="9134243" cy="27745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2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73993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</a:rPr>
                        <a:t>기준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산소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(O2)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일산화탄소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(CO)</a:t>
                      </a:r>
                      <a:endParaRPr lang="ko-KR" altLang="en-US" sz="6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황화수소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(H2S)</a:t>
                      </a:r>
                      <a:endParaRPr lang="ko-KR" altLang="en-US" sz="6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메탄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(CH4)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온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습도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화재위험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움직임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1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℃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주의하세요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분 이상</a:t>
                      </a: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작업자 상태 확인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2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℃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위험합니다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lang="ko-KR" altLang="en-US" sz="600" b="1">
                          <a:solidFill>
                            <a:schemeClr val="tx1"/>
                          </a:solidFill>
                        </a:rPr>
                        <a:t>차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%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이하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b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    알림 발생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STEL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200 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15 ppm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01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</a:rPr>
                        <a:t>TWA</a:t>
                      </a:r>
                      <a:endParaRPr lang="ko-KR" altLang="en-US" sz="6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30 ppm </a:t>
                      </a:r>
                      <a:r>
                        <a:rPr lang="ko-KR" altLang="en-US" sz="60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10 ppm</a:t>
                      </a:r>
                      <a:r>
                        <a:rPr lang="en-US" altLang="ko-KR" sz="6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600" baseline="0">
                          <a:solidFill>
                            <a:schemeClr val="tx1"/>
                          </a:solidFill>
                        </a:rPr>
                        <a:t>이상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대피하세요</a:t>
                      </a: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144216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23.5</a:t>
            </a:r>
            <a:endParaRPr lang="ko-KR" altLang="en-US" sz="1000" dirty="0"/>
          </a:p>
        </p:txBody>
      </p:sp>
      <p:sp>
        <p:nvSpPr>
          <p:cNvPr id="28" name="TextBox 27"/>
          <p:cNvSpPr txBox="1"/>
          <p:nvPr/>
        </p:nvSpPr>
        <p:spPr>
          <a:xfrm>
            <a:off x="1144216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18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144216" y="4920217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17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2512368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30</a:t>
            </a:r>
            <a:endParaRPr lang="ko-KR" altLang="en-US" sz="1000" dirty="0"/>
          </a:p>
        </p:txBody>
      </p:sp>
      <p:sp>
        <p:nvSpPr>
          <p:cNvPr id="33" name="TextBox 32"/>
          <p:cNvSpPr txBox="1"/>
          <p:nvPr/>
        </p:nvSpPr>
        <p:spPr>
          <a:xfrm>
            <a:off x="2512368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200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850874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10</a:t>
            </a:r>
            <a:endParaRPr lang="ko-KR" altLang="en-US" sz="1000" dirty="0"/>
          </a:p>
        </p:txBody>
      </p:sp>
      <p:sp>
        <p:nvSpPr>
          <p:cNvPr id="35" name="TextBox 34"/>
          <p:cNvSpPr txBox="1"/>
          <p:nvPr/>
        </p:nvSpPr>
        <p:spPr>
          <a:xfrm>
            <a:off x="3850874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15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18461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10</a:t>
            </a:r>
            <a:endParaRPr lang="ko-KR" altLang="en-US" sz="1000" dirty="0"/>
          </a:p>
        </p:txBody>
      </p:sp>
      <p:sp>
        <p:nvSpPr>
          <p:cNvPr id="37" name="TextBox 36"/>
          <p:cNvSpPr txBox="1"/>
          <p:nvPr/>
        </p:nvSpPr>
        <p:spPr>
          <a:xfrm>
            <a:off x="518461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20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8555247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20</a:t>
            </a:r>
            <a:endParaRPr lang="ko-KR" altLang="en-US" sz="1000" dirty="0"/>
          </a:p>
        </p:txBody>
      </p:sp>
      <p:sp>
        <p:nvSpPr>
          <p:cNvPr id="41" name="직사각형 40"/>
          <p:cNvSpPr/>
          <p:nvPr/>
        </p:nvSpPr>
        <p:spPr>
          <a:xfrm>
            <a:off x="9026454" y="281998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6026378"/>
              </p:ext>
            </p:extLst>
          </p:nvPr>
        </p:nvGraphicFramePr>
        <p:xfrm>
          <a:off x="10633534" y="1272208"/>
          <a:ext cx="2088232" cy="221516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수정이기 때문에 처음 등록했던 </a:t>
                      </a:r>
                      <a:r>
                        <a:rPr lang="ko-KR" altLang="en-US" sz="800" baseline="0" dirty="0" err="1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버전명은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노출됨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55" name="그룹 54"/>
          <p:cNvGrpSpPr/>
          <p:nvPr/>
        </p:nvGrpSpPr>
        <p:grpSpPr>
          <a:xfrm>
            <a:off x="7127274" y="4915187"/>
            <a:ext cx="584893" cy="288032"/>
            <a:chOff x="9204500" y="4346800"/>
            <a:chExt cx="584893" cy="288032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타원 56"/>
            <p:cNvSpPr/>
            <p:nvPr/>
          </p:nvSpPr>
          <p:spPr>
            <a:xfrm>
              <a:off x="9204500" y="4350719"/>
              <a:ext cx="284113" cy="284113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653686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80</a:t>
            </a:r>
            <a:endParaRPr lang="ko-KR" altLang="en-US" sz="1000" dirty="0"/>
          </a:p>
        </p:txBody>
      </p:sp>
      <p:sp>
        <p:nvSpPr>
          <p:cNvPr id="44" name="TextBox 43"/>
          <p:cNvSpPr txBox="1"/>
          <p:nvPr/>
        </p:nvSpPr>
        <p:spPr>
          <a:xfrm>
            <a:off x="653686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90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6925" y="3916542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/>
          <a:p>
            <a:pPr algn="r"/>
            <a:r>
              <a:rPr lang="en-US" altLang="ko-KR" sz="1000" dirty="0"/>
              <a:t>15</a:t>
            </a:r>
            <a:endParaRPr lang="ko-KR" altLang="en-US" sz="1000" dirty="0"/>
          </a:p>
        </p:txBody>
      </p:sp>
      <p:sp>
        <p:nvSpPr>
          <p:cNvPr id="46" name="TextBox 45"/>
          <p:cNvSpPr txBox="1"/>
          <p:nvPr/>
        </p:nvSpPr>
        <p:spPr>
          <a:xfrm>
            <a:off x="7226925" y="4421108"/>
            <a:ext cx="573906" cy="2049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lIns="46800" rIns="46800" rtlCol="0" anchor="ctr">
            <a:noAutofit/>
          </a:bodyPr>
          <a:lstStyle>
            <a:defPPr>
              <a:defRPr lang="ko-KR"/>
            </a:defPPr>
            <a:lvl1pPr algn="r">
              <a:defRPr sz="10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r>
              <a:rPr lang="en-US" altLang="ko-KR" dirty="0">
                <a:solidFill>
                  <a:schemeClr val="tx1"/>
                </a:solidFill>
              </a:rPr>
              <a:t>10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7" name="모서리가 둥근 직사각형 46"/>
          <p:cNvSpPr/>
          <p:nvPr/>
        </p:nvSpPr>
        <p:spPr>
          <a:xfrm>
            <a:off x="4090544" y="6526677"/>
            <a:ext cx="2399038" cy="397525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>
                <a:solidFill>
                  <a:schemeClr val="tx1"/>
                </a:solidFill>
                <a:latin typeface="+mn-ea"/>
              </a:rPr>
              <a:t>경보 규정에 대한 도움말 보기</a:t>
            </a:r>
          </a:p>
        </p:txBody>
      </p:sp>
    </p:spTree>
    <p:extLst>
      <p:ext uri="{BB962C8B-B14F-4D97-AF65-F5344CB8AC3E}">
        <p14:creationId xmlns:p14="http://schemas.microsoft.com/office/powerpoint/2010/main" val="3480876632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직사각형 43"/>
          <p:cNvSpPr/>
          <p:nvPr/>
        </p:nvSpPr>
        <p:spPr>
          <a:xfrm>
            <a:off x="423442" y="1128192"/>
            <a:ext cx="9710708" cy="7632848"/>
          </a:xfrm>
          <a:prstGeom prst="rect">
            <a:avLst/>
          </a:prstGeom>
          <a:solidFill>
            <a:srgbClr val="000000">
              <a:alpha val="50196"/>
            </a:srgbClr>
          </a:solidFill>
          <a:ln w="952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600" b="1" dirty="0" err="1">
              <a:solidFill>
                <a:schemeClr val="bg1"/>
              </a:solidFill>
              <a:latin typeface="+mn-ea"/>
              <a:cs typeface="Arial" panose="020B0604020202020204" pitchFamily="34" charset="0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971805" y="1169893"/>
            <a:ext cx="8597348" cy="723110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 dirty="0" err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80440" y="1358398"/>
            <a:ext cx="12105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2000" b="1" dirty="0">
                <a:latin typeface="+mn-ea"/>
              </a:rPr>
              <a:t>경보안내</a:t>
            </a:r>
          </a:p>
        </p:txBody>
      </p:sp>
      <p:sp>
        <p:nvSpPr>
          <p:cNvPr id="49" name="Freeform 93"/>
          <p:cNvSpPr>
            <a:spLocks/>
          </p:cNvSpPr>
          <p:nvPr>
            <p:custDataLst>
              <p:custData r:id="rId1"/>
              <p:custData r:id="rId2"/>
            </p:custDataLst>
          </p:nvPr>
        </p:nvSpPr>
        <p:spPr bwMode="black">
          <a:xfrm rot="2700000">
            <a:off x="8799081" y="1289384"/>
            <a:ext cx="453991" cy="453991"/>
          </a:xfrm>
          <a:custGeom>
            <a:avLst/>
            <a:gdLst>
              <a:gd name="T0" fmla="*/ 71 w 121"/>
              <a:gd name="T1" fmla="*/ 119 h 119"/>
              <a:gd name="T2" fmla="*/ 50 w 121"/>
              <a:gd name="T3" fmla="*/ 119 h 119"/>
              <a:gd name="T4" fmla="*/ 50 w 121"/>
              <a:gd name="T5" fmla="*/ 71 h 119"/>
              <a:gd name="T6" fmla="*/ 0 w 121"/>
              <a:gd name="T7" fmla="*/ 71 h 119"/>
              <a:gd name="T8" fmla="*/ 0 w 121"/>
              <a:gd name="T9" fmla="*/ 49 h 119"/>
              <a:gd name="T10" fmla="*/ 50 w 121"/>
              <a:gd name="T11" fmla="*/ 49 h 119"/>
              <a:gd name="T12" fmla="*/ 50 w 121"/>
              <a:gd name="T13" fmla="*/ 0 h 119"/>
              <a:gd name="T14" fmla="*/ 71 w 121"/>
              <a:gd name="T15" fmla="*/ 0 h 119"/>
              <a:gd name="T16" fmla="*/ 71 w 121"/>
              <a:gd name="T17" fmla="*/ 49 h 119"/>
              <a:gd name="T18" fmla="*/ 121 w 121"/>
              <a:gd name="T19" fmla="*/ 49 h 119"/>
              <a:gd name="T20" fmla="*/ 121 w 121"/>
              <a:gd name="T21" fmla="*/ 71 h 119"/>
              <a:gd name="T22" fmla="*/ 71 w 121"/>
              <a:gd name="T23" fmla="*/ 71 h 119"/>
              <a:gd name="T24" fmla="*/ 71 w 121"/>
              <a:gd name="T25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119">
                <a:moveTo>
                  <a:pt x="71" y="119"/>
                </a:moveTo>
                <a:lnTo>
                  <a:pt x="50" y="119"/>
                </a:lnTo>
                <a:lnTo>
                  <a:pt x="50" y="71"/>
                </a:lnTo>
                <a:lnTo>
                  <a:pt x="0" y="71"/>
                </a:lnTo>
                <a:lnTo>
                  <a:pt x="0" y="49"/>
                </a:lnTo>
                <a:lnTo>
                  <a:pt x="50" y="49"/>
                </a:lnTo>
                <a:lnTo>
                  <a:pt x="50" y="0"/>
                </a:lnTo>
                <a:lnTo>
                  <a:pt x="71" y="0"/>
                </a:lnTo>
                <a:lnTo>
                  <a:pt x="71" y="49"/>
                </a:lnTo>
                <a:lnTo>
                  <a:pt x="121" y="49"/>
                </a:lnTo>
                <a:lnTo>
                  <a:pt x="121" y="71"/>
                </a:lnTo>
                <a:lnTo>
                  <a:pt x="71" y="71"/>
                </a:lnTo>
                <a:lnTo>
                  <a:pt x="71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+mn-ea"/>
            </a:endParaRPr>
          </a:p>
        </p:txBody>
      </p:sp>
      <p:sp>
        <p:nvSpPr>
          <p:cNvPr id="45" name="모서리가 둥근 직사각형 44"/>
          <p:cNvSpPr/>
          <p:nvPr/>
        </p:nvSpPr>
        <p:spPr>
          <a:xfrm>
            <a:off x="10570620" y="632049"/>
            <a:ext cx="991116" cy="328845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dirty="0">
                <a:latin typeface="+mn-ea"/>
              </a:rPr>
              <a:t>Popup 051</a:t>
            </a:r>
            <a:endParaRPr lang="ko-KR" altLang="en-US" sz="800" dirty="0">
              <a:latin typeface="+mn-ea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11561736" y="632805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+mn-ea"/>
              </a:rPr>
              <a:t>경보 도움말 팝업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428475" y="1934621"/>
            <a:ext cx="833510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산소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7" name="Table 86"/>
          <p:cNvGraphicFramePr/>
          <p:nvPr>
            <p:extLst>
              <p:ext uri="{D42A27DB-BD31-4B8C-83A1-F6EECF244321}">
                <p14:modId xmlns:p14="http://schemas.microsoft.com/office/powerpoint/2010/main" val="449901965"/>
              </p:ext>
            </p:extLst>
          </p:nvPr>
        </p:nvGraphicFramePr>
        <p:xfrm>
          <a:off x="1428473" y="2537538"/>
          <a:ext cx="3357048" cy="1674972"/>
        </p:xfrm>
        <a:graphic>
          <a:graphicData uri="http://schemas.openxmlformats.org/drawingml/2006/table">
            <a:tbl>
              <a:tblPr/>
              <a:tblGrid>
                <a:gridCol w="6847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2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농도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(%)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건강영향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18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안전한계이나 연속 환기 필요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16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호흡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맥박의 증가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두통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메스꺼움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토할 것 같음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12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어지럼증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토할 것 같음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체중지지 불능으로 추락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10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안면창백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의식불명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구토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8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실신 혼절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7~8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분 이내에 사망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6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순간에 혼절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호흡정지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경련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분 이상이면 사망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4960641" y="1934621"/>
            <a:ext cx="1390858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일산화탄소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3" name="Table 86"/>
          <p:cNvGraphicFramePr/>
          <p:nvPr>
            <p:extLst>
              <p:ext uri="{D42A27DB-BD31-4B8C-83A1-F6EECF244321}">
                <p14:modId xmlns:p14="http://schemas.microsoft.com/office/powerpoint/2010/main" val="508116230"/>
              </p:ext>
            </p:extLst>
          </p:nvPr>
        </p:nvGraphicFramePr>
        <p:xfrm>
          <a:off x="4960640" y="2537538"/>
          <a:ext cx="3456384" cy="1726548"/>
        </p:xfrm>
        <a:graphic>
          <a:graphicData uri="http://schemas.openxmlformats.org/drawingml/2006/table">
            <a:tbl>
              <a:tblPr/>
              <a:tblGrid>
                <a:gridCol w="848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6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4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농도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(ppm)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건강영향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노출시간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30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시간 작업 시 노출 기준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200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가벼운 두통과 불쾌감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600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두통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불쾌감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2859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100~2,000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정신혼란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메스꺼움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두통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현기증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심계항진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두근거림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1.5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시간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분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2,000~2,500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의식불명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baseline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  <a:r>
                        <a:rPr lang="ko-KR" altLang="en-US" sz="800" baseline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분</a:t>
                      </a:r>
                      <a:endParaRPr lang="en-US" altLang="ko-KR" sz="800" baseline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428473" y="2138898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</a:t>
            </a: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차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(23.5%), 2</a:t>
            </a: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(18%), 3</a:t>
            </a: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(17%)</a:t>
            </a: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0~99.0%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960640" y="2138898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</a:t>
            </a: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차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(30ppm), 2</a:t>
            </a: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(200ppm)</a:t>
            </a: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0~1000ppm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428475" y="4435823"/>
            <a:ext cx="833510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황화수소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1" name="Table 86"/>
          <p:cNvGraphicFramePr/>
          <p:nvPr>
            <p:extLst>
              <p:ext uri="{D42A27DB-BD31-4B8C-83A1-F6EECF244321}">
                <p14:modId xmlns:p14="http://schemas.microsoft.com/office/powerpoint/2010/main" val="1383322963"/>
              </p:ext>
            </p:extLst>
          </p:nvPr>
        </p:nvGraphicFramePr>
        <p:xfrm>
          <a:off x="1428473" y="5038740"/>
          <a:ext cx="3357048" cy="1685324"/>
        </p:xfrm>
        <a:graphic>
          <a:graphicData uri="http://schemas.openxmlformats.org/drawingml/2006/table">
            <a:tbl>
              <a:tblPr/>
              <a:tblGrid>
                <a:gridCol w="6847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2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농도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(ppm)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건강영향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10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8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시간 작업 시 노출 기준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50~100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가벼운 자극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눈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기도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200~300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상당한 자극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500~700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의식불명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사망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1,000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나눔고딕"/>
                        </a:rPr>
                        <a:t>이상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의식불명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사망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농도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(ppm)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Calibri"/>
                        </a:rPr>
                        <a:t>건강영향</a:t>
                      </a:r>
                      <a:endParaRPr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2" name="TextBox 31"/>
          <p:cNvSpPr txBox="1"/>
          <p:nvPr/>
        </p:nvSpPr>
        <p:spPr>
          <a:xfrm>
            <a:off x="4960641" y="4435823"/>
            <a:ext cx="1390858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메탄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3" name="Table 86"/>
          <p:cNvGraphicFramePr/>
          <p:nvPr>
            <p:extLst>
              <p:ext uri="{D42A27DB-BD31-4B8C-83A1-F6EECF244321}">
                <p14:modId xmlns:p14="http://schemas.microsoft.com/office/powerpoint/2010/main" val="2383654858"/>
              </p:ext>
            </p:extLst>
          </p:nvPr>
        </p:nvGraphicFramePr>
        <p:xfrm>
          <a:off x="4960640" y="5038740"/>
          <a:ext cx="3456384" cy="941144"/>
        </p:xfrm>
        <a:graphic>
          <a:graphicData uri="http://schemas.openxmlformats.org/drawingml/2006/table">
            <a:tbl>
              <a:tblPr/>
              <a:tblGrid>
                <a:gridCol w="11432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131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주된 위험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외관 및 냄새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화재와 폭발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무색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무취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징후 없음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)</a:t>
                      </a: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나눔고딕"/>
                        </a:rPr>
                        <a:t>상부에 축적 가능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나눔고딕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lvl="0" indent="0" algn="l" defTabSz="457200" rtl="0" eaLnBrk="1" latinLnBrk="0" hangingPunct="1">
                        <a:lnSpc>
                          <a:spcPct val="120000"/>
                        </a:lnSpc>
                        <a:buFont typeface="Arial" panose="020B0604020202020204" pitchFamily="34" charset="0"/>
                        <a:buNone/>
                        <a:defRPr sz="1800"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86092" marR="186092" marT="137084" marB="137084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주된 위험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lvl="0" algn="l" defTabSz="457200" rtl="0" eaLnBrk="1" latinLnBrk="0" hangingPunct="1">
                        <a:defRPr sz="1800"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  <a:sym typeface="Calibri"/>
                        </a:rPr>
                        <a:t>외관 및 냄새</a:t>
                      </a:r>
                      <a:endParaRPr sz="800" b="0" kern="12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Calibri"/>
                        <a:cs typeface="Arial" panose="020B0604020202020204" pitchFamily="34" charset="0"/>
                        <a:sym typeface="Calibri"/>
                      </a:endParaRPr>
                    </a:p>
                  </a:txBody>
                  <a:tcPr marL="90000" marR="90000" marT="54000" marB="54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1428473" y="4640100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(10ppm), 2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(15ppm)</a:t>
            </a: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0~1000ppm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4960640" y="4640100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(10%), 2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(20%)</a:t>
            </a: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0~99%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428475" y="7085789"/>
            <a:ext cx="833510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>
                <a:latin typeface="Arial" panose="020B0604020202020204" pitchFamily="34" charset="0"/>
                <a:cs typeface="Arial" panose="020B0604020202020204" pitchFamily="34" charset="0"/>
              </a:rPr>
              <a:t>온도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960641" y="7085789"/>
            <a:ext cx="1390858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습도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428473" y="7290066"/>
            <a:ext cx="3707723" cy="161583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-100.0~100.0 ºC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960640" y="7290066"/>
            <a:ext cx="3707723" cy="161583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0~100%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428475" y="7657534"/>
            <a:ext cx="833510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 err="1">
                <a:latin typeface="Arial" panose="020B0604020202020204" pitchFamily="34" charset="0"/>
                <a:cs typeface="Arial" panose="020B0604020202020204" pitchFamily="34" charset="0"/>
              </a:rPr>
              <a:t>심박수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960641" y="7657534"/>
            <a:ext cx="1390858" cy="169277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100" b="1" dirty="0">
                <a:latin typeface="Arial" panose="020B0604020202020204" pitchFamily="34" charset="0"/>
                <a:cs typeface="Arial" panose="020B0604020202020204" pitchFamily="34" charset="0"/>
              </a:rPr>
              <a:t>움직임</a:t>
            </a:r>
            <a:endParaRPr lang="en-US" altLang="ko-KR" sz="11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1428473" y="7861811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(20bpm), 2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차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(30bpm)</a:t>
            </a: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10~100bpm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960640" y="7861811"/>
            <a:ext cx="3707723" cy="323165"/>
          </a:xfrm>
          <a:prstGeom prst="rect">
            <a:avLst/>
          </a:prstGeom>
          <a:noFill/>
          <a:ln w="3175">
            <a:noFill/>
          </a:ln>
        </p:spPr>
        <p:txBody>
          <a:bodyPr wrap="square" lIns="0" tIns="0" rIns="0" bIns="0" rtlCol="0">
            <a:spAutoFit/>
          </a:bodyPr>
          <a:lstStyle/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초기값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20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분</a:t>
            </a:r>
            <a:endParaRPr lang="en-US" altLang="ko-KR" sz="10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173038" indent="-173038">
              <a:buFont typeface="Arial" panose="020B0604020202020204" pitchFamily="34" charset="0"/>
              <a:buChar char="•"/>
            </a:pPr>
            <a:r>
              <a:rPr lang="ko-KR" altLang="en-US" sz="1050" dirty="0">
                <a:latin typeface="Arial" panose="020B0604020202020204" pitchFamily="34" charset="0"/>
                <a:cs typeface="Arial" panose="020B0604020202020204" pitchFamily="34" charset="0"/>
              </a:rPr>
              <a:t>입력 범위 </a:t>
            </a:r>
            <a:r>
              <a:rPr lang="en-US" altLang="ko-KR" sz="1050" dirty="0">
                <a:latin typeface="Arial" panose="020B0604020202020204" pitchFamily="34" charset="0"/>
                <a:cs typeface="Arial" panose="020B0604020202020204" pitchFamily="34" charset="0"/>
              </a:rPr>
              <a:t>: 20~120</a:t>
            </a:r>
            <a:r>
              <a:rPr lang="ko-KR" altLang="en-US" sz="1050">
                <a:latin typeface="Arial" panose="020B0604020202020204" pitchFamily="34" charset="0"/>
                <a:cs typeface="Arial" panose="020B0604020202020204" pitchFamily="34" charset="0"/>
              </a:rPr>
              <a:t>분</a:t>
            </a:r>
            <a:endParaRPr lang="en-US" altLang="ko-KR" sz="105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50" name="직선 연결선 49"/>
          <p:cNvCxnSpPr/>
          <p:nvPr/>
        </p:nvCxnSpPr>
        <p:spPr>
          <a:xfrm>
            <a:off x="8561040" y="1875760"/>
            <a:ext cx="0" cy="662864"/>
          </a:xfrm>
          <a:prstGeom prst="line">
            <a:avLst/>
          </a:prstGeom>
          <a:ln w="76200">
            <a:solidFill>
              <a:schemeClr val="tx1">
                <a:lumMod val="75000"/>
                <a:lumOff val="25000"/>
                <a:alpha val="4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10570620" y="1290832"/>
            <a:ext cx="2114681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/>
              <a:t>디자인되서</a:t>
            </a:r>
            <a:r>
              <a:rPr lang="ko-KR" altLang="en-US" sz="1000" dirty="0"/>
              <a:t> 내용만 보여지는 팝업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4048398" y="1382980"/>
            <a:ext cx="217559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600" dirty="0">
                <a:latin typeface="+mn-ea"/>
              </a:rPr>
              <a:t>고용노동부 </a:t>
            </a:r>
            <a:r>
              <a:rPr lang="ko-KR" altLang="en-US" sz="1600">
                <a:latin typeface="+mn-ea"/>
              </a:rPr>
              <a:t>고시 기준</a:t>
            </a:r>
            <a:endParaRPr lang="ko-KR" altLang="en-US" sz="16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705003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전광판 메시지 관리</a:t>
            </a:r>
          </a:p>
        </p:txBody>
      </p:sp>
    </p:spTree>
    <p:extLst>
      <p:ext uri="{BB962C8B-B14F-4D97-AF65-F5344CB8AC3E}">
        <p14:creationId xmlns:p14="http://schemas.microsoft.com/office/powerpoint/2010/main" val="389414390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194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전광판 메시지 관리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41684" y="2575022"/>
            <a:ext cx="341471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전광판에 보여질 메시지를 선택할 수 있습니다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  <a:endParaRPr lang="ko-KR" altLang="en-US" sz="120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49" name="Search Box Rectangle"/>
          <p:cNvSpPr>
            <a:spLocks/>
          </p:cNvSpPr>
          <p:nvPr/>
        </p:nvSpPr>
        <p:spPr bwMode="auto">
          <a:xfrm>
            <a:off x="5392688" y="772497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반영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50" name="Search Box Rectangle"/>
          <p:cNvSpPr>
            <a:spLocks/>
          </p:cNvSpPr>
          <p:nvPr/>
        </p:nvSpPr>
        <p:spPr bwMode="auto">
          <a:xfrm>
            <a:off x="4269309" y="772497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1000200" y="3000400"/>
            <a:ext cx="8789193" cy="288032"/>
            <a:chOff x="1000200" y="3000400"/>
            <a:chExt cx="8789193" cy="288032"/>
          </a:xfrm>
        </p:grpSpPr>
        <p:grpSp>
          <p:nvGrpSpPr>
            <p:cNvPr id="3" name="그룹 2"/>
            <p:cNvGrpSpPr/>
            <p:nvPr/>
          </p:nvGrpSpPr>
          <p:grpSpPr>
            <a:xfrm>
              <a:off x="9209112" y="3000400"/>
              <a:ext cx="580281" cy="288032"/>
              <a:chOff x="9209112" y="4346800"/>
              <a:chExt cx="580281" cy="288032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" name="타원 4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" name="TextBox 5"/>
            <p:cNvSpPr txBox="1"/>
            <p:nvPr/>
          </p:nvSpPr>
          <p:spPr>
            <a:xfrm>
              <a:off x="1000200" y="3005917"/>
              <a:ext cx="116249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침범발생 알림</a:t>
              </a: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2907372" y="3005917"/>
              <a:ext cx="301877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일반 작업자가 위험구역에 진입했을 경우</a:t>
              </a:r>
            </a:p>
          </p:txBody>
        </p:sp>
      </p:grpSp>
      <p:grpSp>
        <p:nvGrpSpPr>
          <p:cNvPr id="19" name="그룹 18"/>
          <p:cNvGrpSpPr/>
          <p:nvPr/>
        </p:nvGrpSpPr>
        <p:grpSpPr>
          <a:xfrm>
            <a:off x="1000200" y="3540460"/>
            <a:ext cx="8789193" cy="288032"/>
            <a:chOff x="1000200" y="3480453"/>
            <a:chExt cx="8789193" cy="288032"/>
          </a:xfrm>
        </p:grpSpPr>
        <p:grpSp>
          <p:nvGrpSpPr>
            <p:cNvPr id="8" name="그룹 7"/>
            <p:cNvGrpSpPr/>
            <p:nvPr/>
          </p:nvGrpSpPr>
          <p:grpSpPr>
            <a:xfrm>
              <a:off x="9209112" y="3480453"/>
              <a:ext cx="580281" cy="288032"/>
              <a:chOff x="9209112" y="4346800"/>
              <a:chExt cx="580281" cy="288032"/>
            </a:xfrm>
          </p:grpSpPr>
          <p:sp>
            <p:nvSpPr>
              <p:cNvPr id="9" name="모서리가 둥근 직사각형 8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" name="타원 9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" name="TextBox 10"/>
            <p:cNvSpPr txBox="1"/>
            <p:nvPr/>
          </p:nvSpPr>
          <p:spPr>
            <a:xfrm>
              <a:off x="1000200" y="3485970"/>
              <a:ext cx="15247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가스센서 이상 알림</a:t>
              </a: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2907372" y="3485970"/>
              <a:ext cx="43476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산소</a:t>
              </a:r>
              <a:r>
                <a:rPr lang="en-US" altLang="ko-KR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, </a:t>
              </a:r>
              <a:r>
                <a:rPr lang="ko-KR" altLang="en-US" sz="120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일산화탄소 등 가스 수치가 위험 수치에 도달했을 경우</a:t>
              </a:r>
              <a:endParaRPr lang="ko-KR" altLang="en-US" sz="12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1000200" y="4080520"/>
            <a:ext cx="8789193" cy="288032"/>
            <a:chOff x="1000200" y="3960506"/>
            <a:chExt cx="8789193" cy="288032"/>
          </a:xfrm>
        </p:grpSpPr>
        <p:grpSp>
          <p:nvGrpSpPr>
            <p:cNvPr id="20" name="그룹 19"/>
            <p:cNvGrpSpPr/>
            <p:nvPr/>
          </p:nvGrpSpPr>
          <p:grpSpPr>
            <a:xfrm>
              <a:off x="9209112" y="3960506"/>
              <a:ext cx="580281" cy="288032"/>
              <a:chOff x="9209112" y="4346800"/>
              <a:chExt cx="580281" cy="288032"/>
            </a:xfrm>
          </p:grpSpPr>
          <p:sp>
            <p:nvSpPr>
              <p:cNvPr id="22" name="모서리가 둥근 직사각형 21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/>
            <p:cNvSpPr txBox="1"/>
            <p:nvPr/>
          </p:nvSpPr>
          <p:spPr>
            <a:xfrm>
              <a:off x="1000200" y="3966023"/>
              <a:ext cx="137088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 err="1">
                  <a:latin typeface="+mn-ea"/>
                </a:rPr>
                <a:t>심박수</a:t>
              </a:r>
              <a:r>
                <a:rPr lang="ko-KR" altLang="en-US" sz="1200" dirty="0">
                  <a:latin typeface="+mn-ea"/>
                </a:rPr>
                <a:t> 위험 알림</a:t>
              </a: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2907372" y="3966023"/>
              <a:ext cx="38427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안전밴드 착용자의 </a:t>
              </a:r>
              <a:r>
                <a:rPr lang="ko-KR" altLang="en-US" sz="12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심박수에</a:t>
              </a:r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위험이 발생되었을 경우</a:t>
              </a: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1000200" y="4620580"/>
            <a:ext cx="8789193" cy="288032"/>
            <a:chOff x="1000200" y="4440559"/>
            <a:chExt cx="8789193" cy="288032"/>
          </a:xfrm>
        </p:grpSpPr>
        <p:grpSp>
          <p:nvGrpSpPr>
            <p:cNvPr id="25" name="그룹 24"/>
            <p:cNvGrpSpPr/>
            <p:nvPr/>
          </p:nvGrpSpPr>
          <p:grpSpPr>
            <a:xfrm>
              <a:off x="9209112" y="4440559"/>
              <a:ext cx="580281" cy="288032"/>
              <a:chOff x="9209112" y="4346800"/>
              <a:chExt cx="580281" cy="288032"/>
            </a:xfrm>
          </p:grpSpPr>
          <p:sp>
            <p:nvSpPr>
              <p:cNvPr id="27" name="모서리가 둥근 직사각형 26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1000200" y="4446076"/>
              <a:ext cx="116249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긴급호출 알림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2907372" y="4446076"/>
              <a:ext cx="420499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스마트 태그와 안전밴드에서 긴급호출 버튼을 눌렀을 경우</a:t>
              </a:r>
            </a:p>
          </p:txBody>
        </p:sp>
      </p:grpSp>
      <p:grpSp>
        <p:nvGrpSpPr>
          <p:cNvPr id="16" name="그룹 15"/>
          <p:cNvGrpSpPr/>
          <p:nvPr/>
        </p:nvGrpSpPr>
        <p:grpSpPr>
          <a:xfrm>
            <a:off x="1000200" y="5160640"/>
            <a:ext cx="8789193" cy="288032"/>
            <a:chOff x="1000200" y="4920612"/>
            <a:chExt cx="8789193" cy="288032"/>
          </a:xfrm>
        </p:grpSpPr>
        <p:grpSp>
          <p:nvGrpSpPr>
            <p:cNvPr id="30" name="그룹 29"/>
            <p:cNvGrpSpPr/>
            <p:nvPr/>
          </p:nvGrpSpPr>
          <p:grpSpPr>
            <a:xfrm>
              <a:off x="9209112" y="4920612"/>
              <a:ext cx="580281" cy="288032"/>
              <a:chOff x="9209112" y="4346800"/>
              <a:chExt cx="580281" cy="288032"/>
            </a:xfrm>
          </p:grpSpPr>
          <p:sp>
            <p:nvSpPr>
              <p:cNvPr id="32" name="모서리가 둥근 직사각형 31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타원 32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000200" y="4926129"/>
              <a:ext cx="173316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작업자 정지 발생 알림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2907372" y="4926129"/>
              <a:ext cx="38972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안전밴드를 착용한 작업자가 장시간 이동이 없을 경우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1000200" y="5700700"/>
            <a:ext cx="8789193" cy="288032"/>
            <a:chOff x="1000200" y="5400665"/>
            <a:chExt cx="8789193" cy="288032"/>
          </a:xfrm>
        </p:grpSpPr>
        <p:grpSp>
          <p:nvGrpSpPr>
            <p:cNvPr id="35" name="그룹 34"/>
            <p:cNvGrpSpPr/>
            <p:nvPr/>
          </p:nvGrpSpPr>
          <p:grpSpPr>
            <a:xfrm>
              <a:off x="9209112" y="5400665"/>
              <a:ext cx="580281" cy="288032"/>
              <a:chOff x="9209112" y="4346800"/>
              <a:chExt cx="580281" cy="288032"/>
            </a:xfrm>
          </p:grpSpPr>
          <p:sp>
            <p:nvSpPr>
              <p:cNvPr id="37" name="모서리가 둥근 직사각형 36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" name="타원 37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6" name="TextBox 35"/>
            <p:cNvSpPr txBox="1"/>
            <p:nvPr/>
          </p:nvSpPr>
          <p:spPr>
            <a:xfrm>
              <a:off x="1000200" y="5406182"/>
              <a:ext cx="15247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화재위험 발생 알림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2907372" y="5406182"/>
              <a:ext cx="34474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CCTV</a:t>
              </a:r>
              <a:r>
                <a:rPr lang="ko-KR" altLang="en-US" sz="120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로 판독하는 화재위험이 발생 되었을 경우</a:t>
              </a:r>
              <a:endParaRPr lang="ko-KR" altLang="en-US" sz="12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1000200" y="6240760"/>
            <a:ext cx="8789193" cy="288032"/>
            <a:chOff x="1000200" y="6360771"/>
            <a:chExt cx="8789193" cy="288032"/>
          </a:xfrm>
        </p:grpSpPr>
        <p:grpSp>
          <p:nvGrpSpPr>
            <p:cNvPr id="54" name="그룹 53"/>
            <p:cNvGrpSpPr/>
            <p:nvPr/>
          </p:nvGrpSpPr>
          <p:grpSpPr>
            <a:xfrm>
              <a:off x="9209112" y="6360771"/>
              <a:ext cx="580281" cy="288032"/>
              <a:chOff x="9209112" y="4346800"/>
              <a:chExt cx="580281" cy="288032"/>
            </a:xfrm>
          </p:grpSpPr>
          <p:sp>
            <p:nvSpPr>
              <p:cNvPr id="56" name="모서리가 둥근 직사각형 55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1000200" y="6366288"/>
              <a:ext cx="15247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경고구역 등록 알림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2907372" y="6366288"/>
              <a:ext cx="301877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현장 작업자가 경고구역을 등록했을 경우</a:t>
              </a:r>
            </a:p>
          </p:txBody>
        </p:sp>
      </p:grpSp>
      <p:grpSp>
        <p:nvGrpSpPr>
          <p:cNvPr id="13" name="그룹 12"/>
          <p:cNvGrpSpPr/>
          <p:nvPr/>
        </p:nvGrpSpPr>
        <p:grpSpPr>
          <a:xfrm>
            <a:off x="1000200" y="6780820"/>
            <a:ext cx="8789193" cy="288032"/>
            <a:chOff x="1000200" y="6840824"/>
            <a:chExt cx="8789193" cy="288032"/>
          </a:xfrm>
        </p:grpSpPr>
        <p:grpSp>
          <p:nvGrpSpPr>
            <p:cNvPr id="59" name="그룹 58"/>
            <p:cNvGrpSpPr/>
            <p:nvPr/>
          </p:nvGrpSpPr>
          <p:grpSpPr>
            <a:xfrm>
              <a:off x="9209112" y="6840824"/>
              <a:ext cx="580281" cy="288032"/>
              <a:chOff x="9209112" y="4346800"/>
              <a:chExt cx="580281" cy="288032"/>
            </a:xfrm>
          </p:grpSpPr>
          <p:sp>
            <p:nvSpPr>
              <p:cNvPr id="61" name="모서리가 둥근 직사각형 60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타원 61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0" name="TextBox 59"/>
            <p:cNvSpPr txBox="1"/>
            <p:nvPr/>
          </p:nvSpPr>
          <p:spPr>
            <a:xfrm>
              <a:off x="1000200" y="6846341"/>
              <a:ext cx="8547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온도 정보</a:t>
              </a: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907372" y="6846341"/>
              <a:ext cx="249138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폭염 주의</a:t>
              </a:r>
              <a:r>
                <a:rPr lang="en-US" altLang="ko-KR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, </a:t>
              </a:r>
              <a:r>
                <a:rPr lang="ko-KR" altLang="en-US" sz="120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폭염 경보에 대한 정보</a:t>
              </a:r>
              <a:endParaRPr lang="ko-KR" altLang="en-US" sz="12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2" name="그룹 11"/>
          <p:cNvGrpSpPr/>
          <p:nvPr/>
        </p:nvGrpSpPr>
        <p:grpSpPr>
          <a:xfrm>
            <a:off x="1000200" y="7320880"/>
            <a:ext cx="8789193" cy="288032"/>
            <a:chOff x="1000200" y="7320880"/>
            <a:chExt cx="8789193" cy="288032"/>
          </a:xfrm>
        </p:grpSpPr>
        <p:grpSp>
          <p:nvGrpSpPr>
            <p:cNvPr id="64" name="그룹 63"/>
            <p:cNvGrpSpPr/>
            <p:nvPr/>
          </p:nvGrpSpPr>
          <p:grpSpPr>
            <a:xfrm>
              <a:off x="9209112" y="7320880"/>
              <a:ext cx="580281" cy="288032"/>
              <a:chOff x="9209112" y="4346800"/>
              <a:chExt cx="580281" cy="288032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/>
            <p:cNvSpPr txBox="1"/>
            <p:nvPr/>
          </p:nvSpPr>
          <p:spPr>
            <a:xfrm>
              <a:off x="1000200" y="7326397"/>
              <a:ext cx="100860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풍속계 정보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2907372" y="7326397"/>
              <a:ext cx="249138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강풍 주의</a:t>
              </a:r>
              <a:r>
                <a:rPr lang="en-US" altLang="ko-KR" sz="12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, </a:t>
              </a:r>
              <a:r>
                <a:rPr lang="ko-KR" altLang="en-US" sz="120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강품 경보에 대한 정보</a:t>
              </a:r>
              <a:endParaRPr lang="ko-KR" altLang="en-US" sz="12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78" name="직사각형 77"/>
          <p:cNvSpPr/>
          <p:nvPr/>
        </p:nvSpPr>
        <p:spPr>
          <a:xfrm>
            <a:off x="9410352" y="279950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aphicFrame>
        <p:nvGraphicFramePr>
          <p:cNvPr id="79" name="표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109844"/>
              </p:ext>
            </p:extLst>
          </p:nvPr>
        </p:nvGraphicFramePr>
        <p:xfrm>
          <a:off x="10633534" y="1272208"/>
          <a:ext cx="2088232" cy="225071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활성화 했을 경우 전광판에 메시지가 노출 됨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전광판 메시지 노출 여부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수정내용 반영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>
          <a:xfrm>
            <a:off x="11058795" y="2976474"/>
            <a:ext cx="165592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11058795" y="2388493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반영되었습니다</a:t>
            </a:r>
          </a:p>
        </p:txBody>
      </p:sp>
    </p:spTree>
    <p:extLst>
      <p:ext uri="{BB962C8B-B14F-4D97-AF65-F5344CB8AC3E}">
        <p14:creationId xmlns:p14="http://schemas.microsoft.com/office/powerpoint/2010/main" val="2524754413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관제패드 알림 설정</a:t>
            </a:r>
          </a:p>
        </p:txBody>
      </p:sp>
    </p:spTree>
    <p:extLst>
      <p:ext uri="{BB962C8B-B14F-4D97-AF65-F5344CB8AC3E}">
        <p14:creationId xmlns:p14="http://schemas.microsoft.com/office/powerpoint/2010/main" val="260634645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19483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관제패드 알림 설정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41684" y="2568352"/>
            <a:ext cx="171072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</a:rPr>
              <a:t>System</a:t>
            </a:r>
            <a:r>
              <a:rPr lang="ko-KR" altLang="en-US" sz="1200">
                <a:latin typeface="+mn-ea"/>
              </a:rPr>
              <a:t> </a:t>
            </a:r>
            <a:r>
              <a:rPr lang="en-US" altLang="ko-KR" sz="1200" dirty="0">
                <a:latin typeface="+mn-ea"/>
              </a:rPr>
              <a:t>Update Check</a:t>
            </a:r>
            <a:endParaRPr lang="ko-KR" altLang="en-US" sz="1200">
              <a:latin typeface="+mn-ea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41684" y="2877493"/>
            <a:ext cx="24817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관제시스템의 버전을 확인합니다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  <a:endParaRPr lang="ko-KR" altLang="en-US" sz="120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cxnSp>
        <p:nvCxnSpPr>
          <p:cNvPr id="81" name="직선 연결선 80"/>
          <p:cNvCxnSpPr/>
          <p:nvPr/>
        </p:nvCxnSpPr>
        <p:spPr>
          <a:xfrm>
            <a:off x="641684" y="3288432"/>
            <a:ext cx="92155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9006627" y="2568352"/>
            <a:ext cx="8467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n-ea"/>
              </a:rPr>
              <a:t>현재버전</a:t>
            </a:r>
            <a:endParaRPr lang="en-US" altLang="ko-KR" sz="1200" dirty="0">
              <a:latin typeface="+mn-ea"/>
            </a:endParaRPr>
          </a:p>
          <a:p>
            <a:pPr algn="r"/>
            <a:r>
              <a:rPr lang="en-US" altLang="ko-KR" sz="1200" dirty="0">
                <a:latin typeface="+mn-ea"/>
              </a:rPr>
              <a:t>1.001.021</a:t>
            </a:r>
            <a:endParaRPr lang="ko-KR" altLang="en-US" sz="1200">
              <a:latin typeface="+mn-ea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641684" y="3444125"/>
            <a:ext cx="12234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위험</a:t>
            </a:r>
            <a:r>
              <a:rPr lang="en-US" altLang="ko-KR" sz="1200" dirty="0">
                <a:latin typeface="+mn-ea"/>
              </a:rPr>
              <a:t>/</a:t>
            </a:r>
            <a:r>
              <a:rPr lang="ko-KR" altLang="en-US" sz="1200">
                <a:latin typeface="+mn-ea"/>
              </a:rPr>
              <a:t>소리 알림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41684" y="3753266"/>
            <a:ext cx="480933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디바이스가 꺼져있을 때 이상상황 발생 시 </a:t>
            </a:r>
            <a:r>
              <a:rPr lang="ko-KR" altLang="en-US" sz="1200" dirty="0" err="1">
                <a:solidFill>
                  <a:schemeClr val="bg1">
                    <a:lumMod val="50000"/>
                  </a:schemeClr>
                </a:solidFill>
                <a:latin typeface="+mn-ea"/>
              </a:rPr>
              <a:t>푸시</a:t>
            </a:r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 알림을 제어합니다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  <a:endParaRPr lang="ko-KR" altLang="en-US" sz="120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1000200" y="4229914"/>
            <a:ext cx="8789193" cy="288032"/>
            <a:chOff x="1000200" y="4562777"/>
            <a:chExt cx="8789193" cy="288032"/>
          </a:xfrm>
        </p:grpSpPr>
        <p:grpSp>
          <p:nvGrpSpPr>
            <p:cNvPr id="85" name="그룹 84"/>
            <p:cNvGrpSpPr/>
            <p:nvPr/>
          </p:nvGrpSpPr>
          <p:grpSpPr>
            <a:xfrm>
              <a:off x="9209112" y="4562777"/>
              <a:ext cx="580281" cy="288032"/>
              <a:chOff x="9209112" y="4346800"/>
              <a:chExt cx="580281" cy="288032"/>
            </a:xfrm>
          </p:grpSpPr>
          <p:sp>
            <p:nvSpPr>
              <p:cNvPr id="86" name="모서리가 둥근 직사각형 85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8" name="TextBox 87"/>
            <p:cNvSpPr txBox="1"/>
            <p:nvPr/>
          </p:nvSpPr>
          <p:spPr>
            <a:xfrm>
              <a:off x="1000200" y="4568294"/>
              <a:ext cx="8002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침범발생</a:t>
              </a:r>
            </a:p>
          </p:txBody>
        </p:sp>
      </p:grpSp>
      <p:grpSp>
        <p:nvGrpSpPr>
          <p:cNvPr id="89" name="그룹 88"/>
          <p:cNvGrpSpPr/>
          <p:nvPr/>
        </p:nvGrpSpPr>
        <p:grpSpPr>
          <a:xfrm>
            <a:off x="9204500" y="5451360"/>
            <a:ext cx="584893" cy="288032"/>
            <a:chOff x="9204500" y="4346800"/>
            <a:chExt cx="584893" cy="288032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타원 90"/>
            <p:cNvSpPr/>
            <p:nvPr/>
          </p:nvSpPr>
          <p:spPr>
            <a:xfrm>
              <a:off x="9204500" y="4350719"/>
              <a:ext cx="284113" cy="284113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000200" y="5456877"/>
            <a:ext cx="80021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</a:rPr>
              <a:t>가스위험</a:t>
            </a:r>
          </a:p>
        </p:txBody>
      </p:sp>
      <p:grpSp>
        <p:nvGrpSpPr>
          <p:cNvPr id="13" name="그룹 12"/>
          <p:cNvGrpSpPr/>
          <p:nvPr/>
        </p:nvGrpSpPr>
        <p:grpSpPr>
          <a:xfrm>
            <a:off x="1000200" y="6062083"/>
            <a:ext cx="8789193" cy="288032"/>
            <a:chOff x="1000200" y="6528792"/>
            <a:chExt cx="8789193" cy="288032"/>
          </a:xfrm>
        </p:grpSpPr>
        <p:sp>
          <p:nvSpPr>
            <p:cNvPr id="93" name="TextBox 92"/>
            <p:cNvSpPr txBox="1"/>
            <p:nvPr/>
          </p:nvSpPr>
          <p:spPr>
            <a:xfrm>
              <a:off x="1000200" y="6534310"/>
              <a:ext cx="100860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심박수 위험</a:t>
              </a:r>
            </a:p>
          </p:txBody>
        </p:sp>
        <p:grpSp>
          <p:nvGrpSpPr>
            <p:cNvPr id="95" name="그룹 94"/>
            <p:cNvGrpSpPr/>
            <p:nvPr/>
          </p:nvGrpSpPr>
          <p:grpSpPr>
            <a:xfrm>
              <a:off x="9209112" y="6528792"/>
              <a:ext cx="580281" cy="288032"/>
              <a:chOff x="9209112" y="4346800"/>
              <a:chExt cx="580281" cy="288032"/>
            </a:xfrm>
          </p:grpSpPr>
          <p:sp>
            <p:nvSpPr>
              <p:cNvPr id="96" name="모서리가 둥근 직사각형 95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타원 96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5" name="그룹 14"/>
          <p:cNvGrpSpPr/>
          <p:nvPr/>
        </p:nvGrpSpPr>
        <p:grpSpPr>
          <a:xfrm>
            <a:off x="1000200" y="4840637"/>
            <a:ext cx="8789193" cy="288032"/>
            <a:chOff x="1000200" y="5152490"/>
            <a:chExt cx="8789193" cy="288032"/>
          </a:xfrm>
        </p:grpSpPr>
        <p:sp>
          <p:nvSpPr>
            <p:cNvPr id="94" name="TextBox 93"/>
            <p:cNvSpPr txBox="1"/>
            <p:nvPr/>
          </p:nvSpPr>
          <p:spPr>
            <a:xfrm>
              <a:off x="1000200" y="5163523"/>
              <a:ext cx="8002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 dirty="0">
                  <a:latin typeface="+mn-ea"/>
                </a:rPr>
                <a:t>긴급호출</a:t>
              </a:r>
            </a:p>
          </p:txBody>
        </p:sp>
        <p:grpSp>
          <p:nvGrpSpPr>
            <p:cNvPr id="98" name="그룹 97"/>
            <p:cNvGrpSpPr/>
            <p:nvPr/>
          </p:nvGrpSpPr>
          <p:grpSpPr>
            <a:xfrm>
              <a:off x="9209112" y="5152490"/>
              <a:ext cx="580281" cy="288032"/>
              <a:chOff x="9209112" y="4346800"/>
              <a:chExt cx="580281" cy="288032"/>
            </a:xfrm>
          </p:grpSpPr>
          <p:sp>
            <p:nvSpPr>
              <p:cNvPr id="99" name="모서리가 둥근 직사각형 98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01" name="그룹 100"/>
          <p:cNvGrpSpPr/>
          <p:nvPr/>
        </p:nvGrpSpPr>
        <p:grpSpPr>
          <a:xfrm>
            <a:off x="9209112" y="3582624"/>
            <a:ext cx="580281" cy="288032"/>
            <a:chOff x="9209112" y="4346800"/>
            <a:chExt cx="580281" cy="288032"/>
          </a:xfrm>
        </p:grpSpPr>
        <p:sp>
          <p:nvSpPr>
            <p:cNvPr id="102" name="모서리가 둥근 직사각형 101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40000"/>
                <a:lumOff val="6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3" name="타원 102"/>
            <p:cNvSpPr/>
            <p:nvPr/>
          </p:nvSpPr>
          <p:spPr>
            <a:xfrm>
              <a:off x="9504488" y="4350719"/>
              <a:ext cx="284113" cy="28411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2" name="그룹 11"/>
          <p:cNvGrpSpPr/>
          <p:nvPr/>
        </p:nvGrpSpPr>
        <p:grpSpPr>
          <a:xfrm>
            <a:off x="1000200" y="6672808"/>
            <a:ext cx="8789193" cy="288032"/>
            <a:chOff x="1000200" y="7200688"/>
            <a:chExt cx="8789193" cy="288032"/>
          </a:xfrm>
        </p:grpSpPr>
        <p:sp>
          <p:nvSpPr>
            <p:cNvPr id="104" name="TextBox 103"/>
            <p:cNvSpPr txBox="1"/>
            <p:nvPr/>
          </p:nvSpPr>
          <p:spPr>
            <a:xfrm>
              <a:off x="1000200" y="7206206"/>
              <a:ext cx="79060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00">
                  <a:latin typeface="+mn-ea"/>
                </a:rPr>
                <a:t> </a:t>
              </a:r>
              <a:r>
                <a:rPr lang="en-US" altLang="ko-KR" sz="1200" dirty="0">
                  <a:latin typeface="+mn-ea"/>
                </a:rPr>
                <a:t>AP </a:t>
              </a:r>
              <a:r>
                <a:rPr lang="ko-KR" altLang="en-US" sz="1200">
                  <a:latin typeface="+mn-ea"/>
                </a:rPr>
                <a:t>설치</a:t>
              </a:r>
              <a:endParaRPr lang="ko-KR" altLang="en-US" sz="12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>
              <a:off x="9209112" y="7200688"/>
              <a:ext cx="580281" cy="288032"/>
              <a:chOff x="9209112" y="4346800"/>
              <a:chExt cx="580281" cy="288032"/>
            </a:xfrm>
          </p:grpSpPr>
          <p:sp>
            <p:nvSpPr>
              <p:cNvPr id="106" name="모서리가 둥근 직사각형 105"/>
              <p:cNvSpPr/>
              <p:nvPr/>
            </p:nvSpPr>
            <p:spPr>
              <a:xfrm>
                <a:off x="9209112" y="4346800"/>
                <a:ext cx="580281" cy="288032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타원 106"/>
              <p:cNvSpPr/>
              <p:nvPr/>
            </p:nvSpPr>
            <p:spPr>
              <a:xfrm>
                <a:off x="9504488" y="4350719"/>
                <a:ext cx="284113" cy="284113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8" name="Search Box Rectangle"/>
          <p:cNvSpPr>
            <a:spLocks/>
          </p:cNvSpPr>
          <p:nvPr/>
        </p:nvSpPr>
        <p:spPr bwMode="auto">
          <a:xfrm>
            <a:off x="5392688" y="772497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반영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09" name="Search Box Rectangle"/>
          <p:cNvSpPr>
            <a:spLocks/>
          </p:cNvSpPr>
          <p:nvPr/>
        </p:nvSpPr>
        <p:spPr bwMode="auto">
          <a:xfrm>
            <a:off x="4269309" y="772497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791781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푸시</a:t>
            </a:r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 알림 시간 설정</a:t>
            </a:r>
            <a:r>
              <a:rPr lang="ko-KR" altLang="en-US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(Super Admin </a:t>
            </a:r>
            <a:r>
              <a:rPr lang="ko-KR" altLang="en-US" sz="3200">
                <a:solidFill>
                  <a:schemeClr val="tx1"/>
                </a:solidFill>
                <a:latin typeface="맑은 고딕" panose="020B0503020000020004" pitchFamily="50" charset="-127"/>
              </a:rPr>
              <a:t>만 사용 가능한 메뉴</a:t>
            </a:r>
            <a:r>
              <a:rPr lang="en-US" altLang="ko-KR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)</a:t>
            </a:r>
            <a:endParaRPr lang="ko-KR" altLang="en-US" sz="3200">
              <a:solidFill>
                <a:schemeClr val="tx1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685932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2765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위험 알림 시간 설정</a:t>
            </a:r>
          </a:p>
        </p:txBody>
      </p:sp>
      <p:graphicFrame>
        <p:nvGraphicFramePr>
          <p:cNvPr id="79" name="표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021816"/>
              </p:ext>
            </p:extLst>
          </p:nvPr>
        </p:nvGraphicFramePr>
        <p:xfrm>
          <a:off x="10633534" y="1272208"/>
          <a:ext cx="2088232" cy="1904150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터치 시 시간설정 기본 창 출력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반영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1" name="직사각형 50"/>
          <p:cNvSpPr/>
          <p:nvPr/>
        </p:nvSpPr>
        <p:spPr>
          <a:xfrm>
            <a:off x="11058795" y="2684932"/>
            <a:ext cx="1655922" cy="315468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확인</a:t>
            </a:r>
          </a:p>
        </p:txBody>
      </p:sp>
      <p:sp>
        <p:nvSpPr>
          <p:cNvPr id="52" name="직사각형 51"/>
          <p:cNvSpPr/>
          <p:nvPr/>
        </p:nvSpPr>
        <p:spPr>
          <a:xfrm>
            <a:off x="11058795" y="2096951"/>
            <a:ext cx="1655922" cy="59198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반영되었습니다</a:t>
            </a:r>
          </a:p>
        </p:txBody>
      </p:sp>
      <p:sp>
        <p:nvSpPr>
          <p:cNvPr id="108" name="Search Box Rectangle"/>
          <p:cNvSpPr>
            <a:spLocks/>
          </p:cNvSpPr>
          <p:nvPr/>
        </p:nvSpPr>
        <p:spPr bwMode="auto">
          <a:xfrm>
            <a:off x="5392688" y="7464896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반영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09" name="Search Box Rectangle"/>
          <p:cNvSpPr>
            <a:spLocks/>
          </p:cNvSpPr>
          <p:nvPr/>
        </p:nvSpPr>
        <p:spPr bwMode="auto">
          <a:xfrm>
            <a:off x="4269309" y="7464896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385201" y="2788235"/>
            <a:ext cx="347402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현장 담당자에게 보내지는 위험 알림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</a:rPr>
              <a:t>푸시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</a:rPr>
              <a:t> 발송</a:t>
            </a:r>
            <a:endParaRPr lang="en-US" altLang="ko-KR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endParaRPr lang="en-US" altLang="ko-KR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endParaRPr lang="en-US" altLang="ko-KR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현장의 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Smart AP 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</a:rPr>
              <a:t>경광등 및 사이렌 울림</a:t>
            </a:r>
            <a:endParaRPr lang="en-US" altLang="ko-KR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4024536" y="4080520"/>
            <a:ext cx="4032448" cy="72007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오전 </a:t>
            </a:r>
            <a:r>
              <a:rPr lang="en-US" altLang="ko-KR" sz="2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08:00</a:t>
            </a:r>
            <a:endParaRPr lang="ko-KR" altLang="en-US" sz="20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2497858" y="4080520"/>
            <a:ext cx="1526678" cy="72007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시작 시간</a:t>
            </a:r>
            <a:endParaRPr lang="en-US" altLang="ko-KR" sz="11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출근 시간</a:t>
            </a:r>
            <a:r>
              <a:rPr lang="en-US" altLang="ko-KR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ko-KR" altLang="en-US" sz="11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497858" y="6135319"/>
            <a:ext cx="43380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시작시간과 종료시간 이외에는 알림이 발생되지 않습니다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</a:p>
          <a:p>
            <a:r>
              <a:rPr lang="ko-KR" altLang="en-US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단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, </a:t>
            </a:r>
            <a:r>
              <a:rPr lang="ko-KR" altLang="en-US" sz="1200">
                <a:solidFill>
                  <a:schemeClr val="bg1">
                    <a:lumMod val="50000"/>
                  </a:schemeClr>
                </a:solidFill>
                <a:latin typeface="+mn-ea"/>
              </a:rPr>
              <a:t>이벤트 내역의 기록은 정상적으로 기록됩니다</a:t>
            </a:r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.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024536" y="5040556"/>
            <a:ext cx="4032448" cy="72007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오후 </a:t>
            </a:r>
            <a:r>
              <a:rPr lang="en-US" altLang="ko-KR" sz="2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09:00</a:t>
            </a:r>
            <a:endParaRPr lang="ko-KR" altLang="en-US" sz="20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" name="직사각형 47"/>
          <p:cNvSpPr/>
          <p:nvPr/>
        </p:nvSpPr>
        <p:spPr>
          <a:xfrm>
            <a:off x="2497858" y="5040556"/>
            <a:ext cx="1526678" cy="72007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0" rIns="14400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종료 시간</a:t>
            </a:r>
            <a:endParaRPr lang="en-US" altLang="ko-KR" sz="11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ko-KR" altLang="en-US" sz="1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퇴근 시간</a:t>
            </a:r>
            <a:r>
              <a:rPr lang="en-US" altLang="ko-KR" sz="11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ko-KR" altLang="en-US" sz="11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5099621" y="435007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7474699" y="2754129"/>
            <a:ext cx="580281" cy="288032"/>
            <a:chOff x="9209112" y="4346800"/>
            <a:chExt cx="580281" cy="288032"/>
          </a:xfrm>
        </p:grpSpPr>
        <p:sp>
          <p:nvSpPr>
            <p:cNvPr id="16" name="모서리가 둥근 직사각형 15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40000"/>
                <a:lumOff val="6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타원 16"/>
            <p:cNvSpPr/>
            <p:nvPr/>
          </p:nvSpPr>
          <p:spPr>
            <a:xfrm>
              <a:off x="9504488" y="4350719"/>
              <a:ext cx="284113" cy="28411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7474699" y="3343911"/>
            <a:ext cx="580281" cy="288032"/>
            <a:chOff x="9209112" y="4346800"/>
            <a:chExt cx="580281" cy="288032"/>
          </a:xfrm>
        </p:grpSpPr>
        <p:sp>
          <p:nvSpPr>
            <p:cNvPr id="21" name="모서리가 둥근 직사각형 20"/>
            <p:cNvSpPr/>
            <p:nvPr/>
          </p:nvSpPr>
          <p:spPr>
            <a:xfrm>
              <a:off x="9209112" y="4346800"/>
              <a:ext cx="580281" cy="288032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40000"/>
                <a:lumOff val="6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타원 21"/>
            <p:cNvSpPr/>
            <p:nvPr/>
          </p:nvSpPr>
          <p:spPr>
            <a:xfrm>
              <a:off x="9504488" y="4350719"/>
              <a:ext cx="284113" cy="28411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3" name="Time Picker"/>
          <p:cNvGrpSpPr/>
          <p:nvPr/>
        </p:nvGrpSpPr>
        <p:grpSpPr>
          <a:xfrm>
            <a:off x="9641160" y="4080520"/>
            <a:ext cx="2968485" cy="3166063"/>
            <a:chOff x="724266" y="3208354"/>
            <a:chExt cx="5866666" cy="6257144"/>
          </a:xfrm>
        </p:grpSpPr>
        <p:grpSp>
          <p:nvGrpSpPr>
            <p:cNvPr id="24" name="Typical Selection Dialog"/>
            <p:cNvGrpSpPr/>
            <p:nvPr/>
          </p:nvGrpSpPr>
          <p:grpSpPr>
            <a:xfrm>
              <a:off x="724266" y="3208354"/>
              <a:ext cx="5866666" cy="6257144"/>
              <a:chOff x="2793504" y="3442870"/>
              <a:chExt cx="5866666" cy="6257144"/>
            </a:xfrm>
          </p:grpSpPr>
          <p:sp>
            <p:nvSpPr>
              <p:cNvPr id="50" name="Dialog Panel"/>
              <p:cNvSpPr/>
              <p:nvPr/>
            </p:nvSpPr>
            <p:spPr>
              <a:xfrm>
                <a:off x="2793504" y="3442870"/>
                <a:ext cx="5866666" cy="6257144"/>
              </a:xfrm>
              <a:prstGeom prst="roundRect">
                <a:avLst>
                  <a:gd name="adj" fmla="val 0"/>
                </a:avLst>
              </a:prstGeom>
              <a:solidFill>
                <a:srgbClr val="F3F3F3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cxnSp>
            <p:nvCxnSpPr>
              <p:cNvPr id="53" name="Button Divider"/>
              <p:cNvCxnSpPr/>
              <p:nvPr/>
            </p:nvCxnSpPr>
            <p:spPr>
              <a:xfrm flipV="1">
                <a:off x="5688702" y="8767687"/>
                <a:ext cx="0" cy="910726"/>
              </a:xfrm>
              <a:prstGeom prst="line">
                <a:avLst/>
              </a:prstGeom>
              <a:ln w="1270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Left Button"/>
              <p:cNvSpPr txBox="1"/>
              <p:nvPr/>
            </p:nvSpPr>
            <p:spPr>
              <a:xfrm>
                <a:off x="2937520" y="9007607"/>
                <a:ext cx="2751183" cy="5170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>
                    <a:latin typeface="Roboto" pitchFamily="2" charset="0"/>
                    <a:ea typeface="Roboto" pitchFamily="2" charset="0"/>
                  </a:rPr>
                  <a:t>Cancel</a:t>
                </a:r>
              </a:p>
            </p:txBody>
          </p:sp>
          <p:sp>
            <p:nvSpPr>
              <p:cNvPr id="55" name="Right Button"/>
              <p:cNvSpPr txBox="1"/>
              <p:nvPr/>
            </p:nvSpPr>
            <p:spPr>
              <a:xfrm>
                <a:off x="5688703" y="9007605"/>
                <a:ext cx="2751183" cy="5170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>
                    <a:latin typeface="Roboto" pitchFamily="2" charset="0"/>
                    <a:ea typeface="Roboto" pitchFamily="2" charset="0"/>
                  </a:rPr>
                  <a:t>Set</a:t>
                </a:r>
              </a:p>
            </p:txBody>
          </p:sp>
          <p:cxnSp>
            <p:nvCxnSpPr>
              <p:cNvPr id="56" name="Content Divider"/>
              <p:cNvCxnSpPr/>
              <p:nvPr/>
            </p:nvCxnSpPr>
            <p:spPr>
              <a:xfrm>
                <a:off x="2793504" y="8767687"/>
                <a:ext cx="5866666" cy="0"/>
              </a:xfrm>
              <a:prstGeom prst="line">
                <a:avLst/>
              </a:prstGeom>
              <a:ln w="1270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Title Divider"/>
              <p:cNvCxnSpPr/>
              <p:nvPr/>
            </p:nvCxnSpPr>
            <p:spPr>
              <a:xfrm>
                <a:off x="2793504" y="4801443"/>
                <a:ext cx="5866666" cy="0"/>
              </a:xfrm>
              <a:prstGeom prst="line">
                <a:avLst/>
              </a:prstGeom>
              <a:ln w="38100">
                <a:solidFill>
                  <a:srgbClr val="2BB2E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itle"/>
              <p:cNvSpPr txBox="1"/>
              <p:nvPr/>
            </p:nvSpPr>
            <p:spPr>
              <a:xfrm>
                <a:off x="3081536" y="3832774"/>
                <a:ext cx="5032890" cy="6690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rgbClr val="43BAE6"/>
                    </a:solidFill>
                    <a:latin typeface="Roboto" pitchFamily="2" charset="0"/>
                    <a:ea typeface="Roboto" pitchFamily="2" charset="0"/>
                  </a:rPr>
                  <a:t>Set time</a:t>
                </a:r>
              </a:p>
            </p:txBody>
          </p:sp>
        </p:grpSp>
        <p:grpSp>
          <p:nvGrpSpPr>
            <p:cNvPr id="25" name="Hour"/>
            <p:cNvGrpSpPr/>
            <p:nvPr/>
          </p:nvGrpSpPr>
          <p:grpSpPr>
            <a:xfrm>
              <a:off x="1529214" y="4913185"/>
              <a:ext cx="1008112" cy="3341747"/>
              <a:chOff x="1529214" y="4913185"/>
              <a:chExt cx="1008112" cy="3341747"/>
            </a:xfrm>
          </p:grpSpPr>
          <p:sp>
            <p:nvSpPr>
              <p:cNvPr id="38" name="Hour Up"/>
              <p:cNvSpPr/>
              <p:nvPr/>
            </p:nvSpPr>
            <p:spPr>
              <a:xfrm>
                <a:off x="1870292" y="4913185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39" name="Hour Down"/>
              <p:cNvSpPr/>
              <p:nvPr/>
            </p:nvSpPr>
            <p:spPr>
              <a:xfrm rot="10800000">
                <a:off x="1875790" y="8072270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40" name="Numbers"/>
              <p:cNvSpPr txBox="1"/>
              <p:nvPr/>
            </p:nvSpPr>
            <p:spPr>
              <a:xfrm>
                <a:off x="1529214" y="5408693"/>
                <a:ext cx="1008112" cy="23114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dirty="0">
                    <a:solidFill>
                      <a:srgbClr val="989898"/>
                    </a:solidFill>
                    <a:latin typeface="Roboto" pitchFamily="2" charset="0"/>
                    <a:ea typeface="Roboto" pitchFamily="2" charset="0"/>
                  </a:rPr>
                  <a:t>9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  <a:p>
                <a:pPr algn="ctr"/>
                <a:r>
                  <a:rPr lang="en-US" sz="1400" dirty="0">
                    <a:latin typeface="Roboto" pitchFamily="2" charset="0"/>
                    <a:ea typeface="Roboto" pitchFamily="2" charset="0"/>
                  </a:rPr>
                  <a:t>10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  <a:p>
                <a:pPr algn="ctr"/>
                <a:r>
                  <a:rPr lang="en-US" sz="14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Roboto" pitchFamily="2" charset="0"/>
                    <a:ea typeface="Roboto" pitchFamily="2" charset="0"/>
                  </a:rPr>
                  <a:t>11</a:t>
                </a:r>
              </a:p>
            </p:txBody>
          </p:sp>
          <p:cxnSp>
            <p:nvCxnSpPr>
              <p:cNvPr id="41" name="Divider Line"/>
              <p:cNvCxnSpPr/>
              <p:nvPr/>
            </p:nvCxnSpPr>
            <p:spPr>
              <a:xfrm>
                <a:off x="1566193" y="6138862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Divider Line"/>
              <p:cNvCxnSpPr/>
              <p:nvPr/>
            </p:nvCxnSpPr>
            <p:spPr>
              <a:xfrm>
                <a:off x="1566193" y="7052741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Minute"/>
            <p:cNvGrpSpPr/>
            <p:nvPr/>
          </p:nvGrpSpPr>
          <p:grpSpPr>
            <a:xfrm>
              <a:off x="3153543" y="4919200"/>
              <a:ext cx="1008112" cy="3341747"/>
              <a:chOff x="1529214" y="4913185"/>
              <a:chExt cx="1008112" cy="3341747"/>
            </a:xfrm>
          </p:grpSpPr>
          <p:sp>
            <p:nvSpPr>
              <p:cNvPr id="33" name="MInute Up"/>
              <p:cNvSpPr/>
              <p:nvPr/>
            </p:nvSpPr>
            <p:spPr>
              <a:xfrm>
                <a:off x="1870292" y="4913185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34" name="MInute Down"/>
              <p:cNvSpPr/>
              <p:nvPr/>
            </p:nvSpPr>
            <p:spPr>
              <a:xfrm rot="10800000">
                <a:off x="1875790" y="8072270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35" name="Numbers"/>
              <p:cNvSpPr txBox="1"/>
              <p:nvPr/>
            </p:nvSpPr>
            <p:spPr>
              <a:xfrm>
                <a:off x="1529214" y="5408693"/>
                <a:ext cx="1008112" cy="23114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dirty="0">
                    <a:solidFill>
                      <a:srgbClr val="989898"/>
                    </a:solidFill>
                    <a:latin typeface="Roboto" pitchFamily="2" charset="0"/>
                    <a:ea typeface="Roboto" pitchFamily="2" charset="0"/>
                  </a:rPr>
                  <a:t>33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  <a:p>
                <a:pPr algn="ctr"/>
                <a:r>
                  <a:rPr lang="en-US" sz="1400" dirty="0">
                    <a:latin typeface="Roboto" pitchFamily="2" charset="0"/>
                    <a:ea typeface="Roboto" pitchFamily="2" charset="0"/>
                  </a:rPr>
                  <a:t>34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  <a:p>
                <a:pPr algn="ctr"/>
                <a:r>
                  <a:rPr lang="en-US" sz="14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Roboto" pitchFamily="2" charset="0"/>
                    <a:ea typeface="Roboto" pitchFamily="2" charset="0"/>
                  </a:rPr>
                  <a:t>35</a:t>
                </a:r>
              </a:p>
            </p:txBody>
          </p:sp>
          <p:cxnSp>
            <p:nvCxnSpPr>
              <p:cNvPr id="36" name="Divider Line"/>
              <p:cNvCxnSpPr/>
              <p:nvPr/>
            </p:nvCxnSpPr>
            <p:spPr>
              <a:xfrm>
                <a:off x="1566193" y="6138862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Divider Line"/>
              <p:cNvCxnSpPr/>
              <p:nvPr/>
            </p:nvCxnSpPr>
            <p:spPr>
              <a:xfrm>
                <a:off x="1566193" y="7052741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" name="AM/PM"/>
            <p:cNvGrpSpPr/>
            <p:nvPr/>
          </p:nvGrpSpPr>
          <p:grpSpPr>
            <a:xfrm>
              <a:off x="4753625" y="4919041"/>
              <a:ext cx="1008112" cy="3341747"/>
              <a:chOff x="1529214" y="4913185"/>
              <a:chExt cx="1008112" cy="3341747"/>
            </a:xfrm>
          </p:grpSpPr>
          <p:sp>
            <p:nvSpPr>
              <p:cNvPr id="28" name="Up"/>
              <p:cNvSpPr/>
              <p:nvPr/>
            </p:nvSpPr>
            <p:spPr>
              <a:xfrm>
                <a:off x="1870292" y="4913185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29" name="Down"/>
              <p:cNvSpPr/>
              <p:nvPr/>
            </p:nvSpPr>
            <p:spPr>
              <a:xfrm rot="10800000">
                <a:off x="1875790" y="8072270"/>
                <a:ext cx="325956" cy="182662"/>
              </a:xfrm>
              <a:prstGeom prst="triangle">
                <a:avLst/>
              </a:prstGeom>
              <a:solidFill>
                <a:srgbClr val="98989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30" name="Numbers"/>
              <p:cNvSpPr txBox="1"/>
              <p:nvPr/>
            </p:nvSpPr>
            <p:spPr>
              <a:xfrm>
                <a:off x="1529214" y="5408693"/>
                <a:ext cx="1008112" cy="18856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dirty="0">
                    <a:solidFill>
                      <a:srgbClr val="989898"/>
                    </a:solidFill>
                    <a:latin typeface="Roboto" pitchFamily="2" charset="0"/>
                    <a:ea typeface="Roboto" pitchFamily="2" charset="0"/>
                  </a:rPr>
                  <a:t>AM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  <a:p>
                <a:pPr algn="ctr"/>
                <a:r>
                  <a:rPr lang="en-US" sz="1400" dirty="0">
                    <a:latin typeface="Roboto" pitchFamily="2" charset="0"/>
                    <a:ea typeface="Roboto" pitchFamily="2" charset="0"/>
                  </a:rPr>
                  <a:t>PM</a:t>
                </a:r>
              </a:p>
              <a:p>
                <a:pPr algn="ctr"/>
                <a:endParaRPr lang="en-US" sz="1400" dirty="0">
                  <a:latin typeface="Roboto" pitchFamily="2" charset="0"/>
                  <a:ea typeface="Roboto" pitchFamily="2" charset="0"/>
                </a:endParaRPr>
              </a:p>
            </p:txBody>
          </p:sp>
          <p:cxnSp>
            <p:nvCxnSpPr>
              <p:cNvPr id="31" name="Divider Line"/>
              <p:cNvCxnSpPr/>
              <p:nvPr/>
            </p:nvCxnSpPr>
            <p:spPr>
              <a:xfrm>
                <a:off x="1566193" y="6138862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Divider Line"/>
              <p:cNvCxnSpPr/>
              <p:nvPr/>
            </p:nvCxnSpPr>
            <p:spPr>
              <a:xfrm>
                <a:off x="1566193" y="7052741"/>
                <a:ext cx="967958" cy="0"/>
              </a:xfrm>
              <a:prstGeom prst="line">
                <a:avLst/>
              </a:prstGeom>
              <a:ln w="38100">
                <a:solidFill>
                  <a:srgbClr val="32B5E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" name="직사각형 58"/>
          <p:cNvSpPr/>
          <p:nvPr/>
        </p:nvSpPr>
        <p:spPr>
          <a:xfrm>
            <a:off x="11106107" y="399003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6273884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2208312"/>
            <a:ext cx="12801600" cy="10801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000" rtlCol="0" anchor="ctr"/>
          <a:lstStyle/>
          <a:p>
            <a:r>
              <a:rPr lang="ko-KR" altLang="en-US" sz="3200" b="1" dirty="0">
                <a:solidFill>
                  <a:schemeClr val="tx1"/>
                </a:solidFill>
                <a:latin typeface="맑은 고딕" panose="020B0503020000020004" pitchFamily="50" charset="-127"/>
              </a:rPr>
              <a:t>현장관리</a:t>
            </a:r>
            <a:r>
              <a:rPr lang="ko-KR" altLang="en-US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(Super Admin </a:t>
            </a:r>
            <a:r>
              <a:rPr lang="ko-KR" altLang="en-US" sz="3200">
                <a:solidFill>
                  <a:schemeClr val="tx1"/>
                </a:solidFill>
                <a:latin typeface="맑은 고딕" panose="020B0503020000020004" pitchFamily="50" charset="-127"/>
              </a:rPr>
              <a:t>만 사용 가능한 메뉴</a:t>
            </a:r>
            <a:r>
              <a:rPr lang="en-US" altLang="ko-KR" sz="3200" dirty="0">
                <a:solidFill>
                  <a:schemeClr val="tx1"/>
                </a:solidFill>
                <a:latin typeface="맑은 고딕" panose="020B0503020000020004" pitchFamily="50" charset="-127"/>
              </a:rPr>
              <a:t>)</a:t>
            </a:r>
            <a:endParaRPr lang="ko-KR" altLang="en-US" sz="3200" dirty="0">
              <a:solidFill>
                <a:schemeClr val="tx1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0964046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9947797"/>
              </p:ext>
            </p:extLst>
          </p:nvPr>
        </p:nvGraphicFramePr>
        <p:xfrm>
          <a:off x="657612" y="2845648"/>
          <a:ext cx="9127562" cy="2675032"/>
        </p:xfrm>
        <a:graphic>
          <a:graphicData uri="http://schemas.openxmlformats.org/drawingml/2006/table">
            <a:tbl>
              <a:tblPr/>
              <a:tblGrid>
                <a:gridCol w="25546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5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5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927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16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4838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담당 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PM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현장 소장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Map Project ID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부산 국도건설 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부산광역시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밀양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공구 터널 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밀양시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PRJ000234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0000</a:t>
                      </a:r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건설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충청북도 청주시 흥덕구 </a:t>
                      </a:r>
                      <a:r>
                        <a:rPr lang="ko-KR" altLang="en-US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향정동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PRJ000233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부산 사상하단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공구 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부산광역시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PRJ000236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수원 광교 업무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5-1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블록 복합시설 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경기도 수원시 광교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PRJ000231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7774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포항 두호주공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 재건축사업</a:t>
                      </a:r>
                      <a:endParaRPr 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포항시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 </a:t>
                      </a:r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</a:t>
                      </a:r>
                      <a:r>
                        <a:rPr lang="ko-KR" altLang="en-US" sz="10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동</a:t>
                      </a:r>
                      <a:endParaRPr lang="en-US" altLang="ko-KR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000-0000-0000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PRJ000221</a:t>
                      </a:r>
                      <a:endParaRPr lang="ko-KR" altLang="en-US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629970" y="1901463"/>
            <a:ext cx="11897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현장 관리</a:t>
            </a:r>
          </a:p>
        </p:txBody>
      </p:sp>
      <p:graphicFrame>
        <p:nvGraphicFramePr>
          <p:cNvPr id="18" name="표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2146144"/>
              </p:ext>
            </p:extLst>
          </p:nvPr>
        </p:nvGraphicFramePr>
        <p:xfrm>
          <a:off x="10633534" y="1272208"/>
          <a:ext cx="2088232" cy="70414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공사에 대한 개별 정보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 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페이지로 이동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9" name="직사각형 18"/>
          <p:cNvSpPr/>
          <p:nvPr/>
        </p:nvSpPr>
        <p:spPr>
          <a:xfrm>
            <a:off x="452170" y="332219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1432248" y="3138151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8643240" y="2374681"/>
            <a:ext cx="1152126" cy="382939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rPr>
              <a:t>현장 등록</a:t>
            </a:r>
          </a:p>
        </p:txBody>
      </p:sp>
    </p:spTree>
    <p:extLst>
      <p:ext uri="{BB962C8B-B14F-4D97-AF65-F5344CB8AC3E}">
        <p14:creationId xmlns:p14="http://schemas.microsoft.com/office/powerpoint/2010/main" val="215595821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04575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현장 관리 ▶ 등록</a:t>
            </a: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646859" y="2515839"/>
            <a:ext cx="5982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공사명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" name="Search Box Rectangle"/>
          <p:cNvSpPr>
            <a:spLocks/>
          </p:cNvSpPr>
          <p:nvPr/>
        </p:nvSpPr>
        <p:spPr bwMode="auto">
          <a:xfrm>
            <a:off x="5075907" y="732088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생성 하기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3952528" y="732088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Search Box Rectangle"/>
          <p:cNvSpPr>
            <a:spLocks/>
          </p:cNvSpPr>
          <p:nvPr/>
        </p:nvSpPr>
        <p:spPr bwMode="auto">
          <a:xfrm>
            <a:off x="4027164" y="2954706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2646859" y="2974201"/>
            <a:ext cx="6896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>
                <a:latin typeface="+mj-lt"/>
                <a:ea typeface="나눔바른고딕" panose="020B0603020101020101" pitchFamily="50" charset="-127"/>
              </a:rPr>
              <a:t>담당</a:t>
            </a:r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PM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4" name="Search Box Rectangle"/>
          <p:cNvSpPr>
            <a:spLocks/>
          </p:cNvSpPr>
          <p:nvPr/>
        </p:nvSpPr>
        <p:spPr bwMode="auto">
          <a:xfrm>
            <a:off x="4027164" y="339929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646859" y="3418789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현장소장</a:t>
            </a:r>
          </a:p>
        </p:txBody>
      </p:sp>
      <p:sp>
        <p:nvSpPr>
          <p:cNvPr id="16" name="Search Box Rectangle"/>
          <p:cNvSpPr>
            <a:spLocks/>
          </p:cNvSpPr>
          <p:nvPr/>
        </p:nvSpPr>
        <p:spPr bwMode="auto">
          <a:xfrm>
            <a:off x="4027164" y="388527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646859" y="390476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>
                <a:latin typeface="+mj-lt"/>
                <a:ea typeface="나눔바른고딕" panose="020B0603020101020101" pitchFamily="50" charset="-127"/>
              </a:rPr>
              <a:t>주소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8" name="Search Box Rectangle"/>
          <p:cNvSpPr>
            <a:spLocks/>
          </p:cNvSpPr>
          <p:nvPr/>
        </p:nvSpPr>
        <p:spPr bwMode="auto">
          <a:xfrm>
            <a:off x="4027164" y="431462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2512783" y="5476502"/>
            <a:ext cx="870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3D Map</a:t>
            </a:r>
          </a:p>
          <a:p>
            <a:pPr algn="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Project ID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20" name="Search Box Rectangle"/>
          <p:cNvSpPr>
            <a:spLocks/>
          </p:cNvSpPr>
          <p:nvPr/>
        </p:nvSpPr>
        <p:spPr bwMode="auto">
          <a:xfrm>
            <a:off x="4027165" y="5549339"/>
            <a:ext cx="237363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endParaRPr lang="de-DE" sz="1000" dirty="0">
              <a:solidFill>
                <a:schemeClr val="tx1">
                  <a:lumMod val="75000"/>
                  <a:lumOff val="2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21" name="Search Box Rectangle"/>
          <p:cNvSpPr>
            <a:spLocks/>
          </p:cNvSpPr>
          <p:nvPr/>
        </p:nvSpPr>
        <p:spPr bwMode="auto">
          <a:xfrm>
            <a:off x="6472807" y="5549339"/>
            <a:ext cx="1070595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ID </a:t>
            </a:r>
            <a:r>
              <a:rPr lang="ko-KR" altLang="en-US" sz="105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확인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aphicFrame>
        <p:nvGraphicFramePr>
          <p:cNvPr id="22" name="표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412218"/>
              </p:ext>
            </p:extLst>
          </p:nvPr>
        </p:nvGraphicFramePr>
        <p:xfrm>
          <a:off x="10633534" y="1272208"/>
          <a:ext cx="2088232" cy="26452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3D map Project 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 필드 추가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확인 버튼을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눌러야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생성하기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단계로 넘어갈 수 있음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내용이 없을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2-2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입력된 내용과 동일한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없을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2-3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정상적으로 데이터가 있을 경우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Project 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가 있어야 현장을 생성할 수 있음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3-1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Project 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확인하지 않은 상태로 생성하기 버튼을 눌렀을 때 뜨는 팝업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23" name="그룹 22"/>
          <p:cNvGrpSpPr/>
          <p:nvPr/>
        </p:nvGrpSpPr>
        <p:grpSpPr>
          <a:xfrm>
            <a:off x="8196302" y="2504205"/>
            <a:ext cx="1917637" cy="1400560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4" name="직사각형 23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Project ID </a:t>
              </a:r>
              <a:r>
                <a:rPr lang="ko-KR" altLang="en-US" sz="105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를 입력하세요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05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26" name="직사각형 25"/>
          <p:cNvSpPr/>
          <p:nvPr/>
        </p:nvSpPr>
        <p:spPr>
          <a:xfrm>
            <a:off x="9066220" y="242433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7" name="모서리가 둥근 사각형 설명선 26"/>
          <p:cNvSpPr/>
          <p:nvPr/>
        </p:nvSpPr>
        <p:spPr>
          <a:xfrm>
            <a:off x="9330233" y="2261447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2262977" y="56168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6919204" y="5386014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30" name="그룹 29"/>
          <p:cNvGrpSpPr/>
          <p:nvPr/>
        </p:nvGrpSpPr>
        <p:grpSpPr>
          <a:xfrm>
            <a:off x="8196302" y="4336144"/>
            <a:ext cx="1917637" cy="1400560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1" name="직사각형 30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입력된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 Project ID </a:t>
              </a:r>
              <a:r>
                <a:rPr lang="ko-KR" altLang="en-US" sz="105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가 없습니다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</a:p>
            <a:p>
              <a:pPr algn="ctr">
                <a:lnSpc>
                  <a:spcPct val="150000"/>
                </a:lnSpc>
              </a:pPr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05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33" name="직사각형 32"/>
          <p:cNvSpPr/>
          <p:nvPr/>
        </p:nvSpPr>
        <p:spPr>
          <a:xfrm>
            <a:off x="9066220" y="4256275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4" name="모서리가 둥근 사각형 설명선 33"/>
          <p:cNvSpPr/>
          <p:nvPr/>
        </p:nvSpPr>
        <p:spPr>
          <a:xfrm>
            <a:off x="9330233" y="4093386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35" name="그룹 34"/>
          <p:cNvGrpSpPr/>
          <p:nvPr/>
        </p:nvGrpSpPr>
        <p:grpSpPr>
          <a:xfrm>
            <a:off x="8196302" y="6153256"/>
            <a:ext cx="1917637" cy="1400560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" name="직사각형 35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정상적으로 확인되었습니다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</a:p>
            <a:p>
              <a:pPr algn="ctr">
                <a:lnSpc>
                  <a:spcPct val="150000"/>
                </a:lnSpc>
              </a:pPr>
              <a:r>
                <a:rPr lang="ko-KR" altLang="en-US" sz="105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현장을 생성하세요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05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38" name="직사각형 37"/>
          <p:cNvSpPr/>
          <p:nvPr/>
        </p:nvSpPr>
        <p:spPr>
          <a:xfrm>
            <a:off x="9066220" y="60733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2-3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39" name="모서리가 둥근 사각형 설명선 38"/>
          <p:cNvSpPr/>
          <p:nvPr/>
        </p:nvSpPr>
        <p:spPr>
          <a:xfrm>
            <a:off x="9330233" y="5910498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2646858" y="4821516"/>
            <a:ext cx="73610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전화번호</a:t>
            </a:r>
          </a:p>
        </p:txBody>
      </p:sp>
      <p:sp>
        <p:nvSpPr>
          <p:cNvPr id="41" name="Search Box Rectangle"/>
          <p:cNvSpPr>
            <a:spLocks/>
          </p:cNvSpPr>
          <p:nvPr/>
        </p:nvSpPr>
        <p:spPr bwMode="auto">
          <a:xfrm>
            <a:off x="4027165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016002" y="4818580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3" name="Search Box Rectangle"/>
          <p:cNvSpPr>
            <a:spLocks/>
          </p:cNvSpPr>
          <p:nvPr/>
        </p:nvSpPr>
        <p:spPr bwMode="auto">
          <a:xfrm>
            <a:off x="5318546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307383" y="4818580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45" name="Search Box Rectangle"/>
          <p:cNvSpPr>
            <a:spLocks/>
          </p:cNvSpPr>
          <p:nvPr/>
        </p:nvSpPr>
        <p:spPr bwMode="auto">
          <a:xfrm>
            <a:off x="6609927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endParaRPr lang="de-DE" sz="1000" dirty="0">
              <a:solidFill>
                <a:schemeClr val="bg1">
                  <a:lumMod val="6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6" name="직사각형 45"/>
          <p:cNvSpPr/>
          <p:nvPr/>
        </p:nvSpPr>
        <p:spPr>
          <a:xfrm>
            <a:off x="5491063" y="7217632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47" name="그룹 46"/>
          <p:cNvGrpSpPr/>
          <p:nvPr/>
        </p:nvGrpSpPr>
        <p:grpSpPr>
          <a:xfrm>
            <a:off x="10505256" y="6153256"/>
            <a:ext cx="1917637" cy="1400560"/>
            <a:chOff x="-404683" y="4019789"/>
            <a:chExt cx="2732570" cy="199575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8" name="직사각형 47"/>
            <p:cNvSpPr/>
            <p:nvPr/>
          </p:nvSpPr>
          <p:spPr>
            <a:xfrm>
              <a:off x="-404683" y="5516603"/>
              <a:ext cx="2732570" cy="49893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-404683" y="4019789"/>
              <a:ext cx="2732570" cy="14968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Project ID </a:t>
              </a:r>
              <a:r>
                <a:rPr lang="ko-KR" altLang="en-US" sz="105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가 확인되야</a:t>
              </a:r>
              <a:endParaRPr lang="en-US" altLang="ko-KR" sz="105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105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현장을 생성할 수 있습니다</a:t>
              </a:r>
              <a:r>
                <a:rPr lang="en-US" altLang="ko-KR" sz="105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.</a:t>
              </a:r>
              <a:endParaRPr lang="ko-KR" altLang="en-US" sz="105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50" name="직사각형 49"/>
          <p:cNvSpPr/>
          <p:nvPr/>
        </p:nvSpPr>
        <p:spPr>
          <a:xfrm>
            <a:off x="11375174" y="607338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3-1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51" name="모서리가 둥근 사각형 설명선 50"/>
          <p:cNvSpPr/>
          <p:nvPr/>
        </p:nvSpPr>
        <p:spPr>
          <a:xfrm>
            <a:off x="11639187" y="5910498"/>
            <a:ext cx="800850" cy="215587"/>
          </a:xfrm>
          <a:prstGeom prst="wedgeRoundRectCallout">
            <a:avLst>
              <a:gd name="adj1" fmla="val -57320"/>
              <a:gd name="adj2" fmla="val 128548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801115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29970" y="1901463"/>
            <a:ext cx="26484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latin typeface="맑은 고딕" panose="020B0503020000020004" pitchFamily="50" charset="-127"/>
              </a:rPr>
              <a:t>현장 관리 ▶ 등록</a:t>
            </a:r>
            <a:r>
              <a:rPr lang="en-US" altLang="ko-KR" sz="1800" dirty="0">
                <a:latin typeface="맑은 고딕" panose="020B0503020000020004" pitchFamily="50" charset="-127"/>
              </a:rPr>
              <a:t>(</a:t>
            </a:r>
            <a:r>
              <a:rPr lang="ko-KR" altLang="en-US" sz="1800">
                <a:latin typeface="맑은 고딕" panose="020B0503020000020004" pitchFamily="50" charset="-127"/>
              </a:rPr>
              <a:t>수정</a:t>
            </a:r>
            <a:r>
              <a:rPr lang="en-US" altLang="ko-KR" sz="1800" dirty="0">
                <a:latin typeface="맑은 고딕" panose="020B0503020000020004" pitchFamily="50" charset="-127"/>
              </a:rPr>
              <a:t>)</a:t>
            </a:r>
            <a:endParaRPr lang="ko-KR" altLang="en-US" sz="1800" dirty="0">
              <a:latin typeface="맑은 고딕" panose="020B0503020000020004" pitchFamily="50" charset="-127"/>
            </a:endParaRPr>
          </a:p>
        </p:txBody>
      </p:sp>
      <p:sp>
        <p:nvSpPr>
          <p:cNvPr id="3" name="Search Box Rectangle"/>
          <p:cNvSpPr>
            <a:spLocks/>
          </p:cNvSpPr>
          <p:nvPr/>
        </p:nvSpPr>
        <p:spPr bwMode="auto">
          <a:xfrm>
            <a:off x="4027164" y="249634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 </a:t>
            </a:r>
            <a:r>
              <a:rPr lang="en-US" altLang="ko-KR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0000</a:t>
            </a:r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 건설현장</a:t>
            </a:r>
            <a:endParaRPr lang="de-DE" sz="1000" dirty="0">
              <a:solidFill>
                <a:schemeClr val="bg1">
                  <a:lumMod val="7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646859" y="2515839"/>
            <a:ext cx="5982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 err="1">
                <a:latin typeface="+mj-lt"/>
                <a:ea typeface="나눔바른고딕" panose="020B0603020101020101" pitchFamily="50" charset="-127"/>
              </a:rPr>
              <a:t>공사명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5" name="Search Box Rectangle"/>
          <p:cNvSpPr>
            <a:spLocks/>
          </p:cNvSpPr>
          <p:nvPr/>
        </p:nvSpPr>
        <p:spPr bwMode="auto">
          <a:xfrm>
            <a:off x="6535948" y="7320880"/>
            <a:ext cx="1008112" cy="31599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bg1"/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수정</a:t>
            </a:r>
            <a:endParaRPr lang="de-DE" sz="1050" dirty="0">
              <a:solidFill>
                <a:schemeClr val="bg1"/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6" name="Search Box Rectangle"/>
          <p:cNvSpPr>
            <a:spLocks/>
          </p:cNvSpPr>
          <p:nvPr/>
        </p:nvSpPr>
        <p:spPr bwMode="auto">
          <a:xfrm>
            <a:off x="5412569" y="732088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취소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646858" y="4821516"/>
            <a:ext cx="73610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전화번호</a:t>
            </a:r>
          </a:p>
        </p:txBody>
      </p:sp>
      <p:sp>
        <p:nvSpPr>
          <p:cNvPr id="12" name="Search Box Rectangle"/>
          <p:cNvSpPr>
            <a:spLocks/>
          </p:cNvSpPr>
          <p:nvPr/>
        </p:nvSpPr>
        <p:spPr bwMode="auto">
          <a:xfrm>
            <a:off x="4027164" y="2954706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홍길동</a:t>
            </a:r>
            <a:endParaRPr lang="de-DE" sz="1000" dirty="0">
              <a:solidFill>
                <a:schemeClr val="bg1">
                  <a:lumMod val="7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2646859" y="2974201"/>
            <a:ext cx="6896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>
                <a:latin typeface="+mj-lt"/>
                <a:ea typeface="나눔바른고딕" panose="020B0603020101020101" pitchFamily="50" charset="-127"/>
              </a:rPr>
              <a:t>담당</a:t>
            </a:r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PM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4" name="Search Box Rectangle"/>
          <p:cNvSpPr>
            <a:spLocks/>
          </p:cNvSpPr>
          <p:nvPr/>
        </p:nvSpPr>
        <p:spPr bwMode="auto">
          <a:xfrm>
            <a:off x="4027164" y="339929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홍길동</a:t>
            </a:r>
            <a:endParaRPr lang="de-DE" altLang="ko-KR" sz="1000" dirty="0">
              <a:solidFill>
                <a:schemeClr val="bg1">
                  <a:lumMod val="7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646859" y="3418789"/>
            <a:ext cx="7360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j-lt"/>
                <a:ea typeface="나눔바른고딕" panose="020B0603020101020101" pitchFamily="50" charset="-127"/>
              </a:rPr>
              <a:t>현장소장</a:t>
            </a:r>
          </a:p>
        </p:txBody>
      </p:sp>
      <p:sp>
        <p:nvSpPr>
          <p:cNvPr id="16" name="Search Box Rectangle"/>
          <p:cNvSpPr>
            <a:spLocks/>
          </p:cNvSpPr>
          <p:nvPr/>
        </p:nvSpPr>
        <p:spPr bwMode="auto">
          <a:xfrm>
            <a:off x="4027164" y="3885270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ko-KR" altLang="en-US" sz="100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충청북도 청주시 흥덕구 </a:t>
            </a:r>
            <a:r>
              <a:rPr lang="ko-KR" altLang="en-US" sz="1000" dirty="0" err="1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향정동</a:t>
            </a:r>
            <a:endParaRPr lang="de-DE" sz="1000" dirty="0">
              <a:solidFill>
                <a:schemeClr val="bg1">
                  <a:lumMod val="7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646859" y="3904765"/>
            <a:ext cx="46038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>
                <a:latin typeface="+mj-lt"/>
                <a:ea typeface="나눔바른고딕" panose="020B0603020101020101" pitchFamily="50" charset="-127"/>
              </a:rPr>
              <a:t>주소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18" name="Search Box Rectangle"/>
          <p:cNvSpPr>
            <a:spLocks/>
          </p:cNvSpPr>
          <p:nvPr/>
        </p:nvSpPr>
        <p:spPr bwMode="auto">
          <a:xfrm>
            <a:off x="4027164" y="4314624"/>
            <a:ext cx="3516239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en-US" altLang="ko-KR" sz="100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1</a:t>
            </a:r>
            <a:r>
              <a:rPr lang="ko-KR" altLang="en-US" sz="100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번지</a:t>
            </a:r>
            <a:endParaRPr lang="de-DE" sz="1000" dirty="0">
              <a:solidFill>
                <a:schemeClr val="bg1">
                  <a:lumMod val="7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19" name="Search Box Rectangle"/>
          <p:cNvSpPr>
            <a:spLocks/>
          </p:cNvSpPr>
          <p:nvPr/>
        </p:nvSpPr>
        <p:spPr bwMode="auto">
          <a:xfrm>
            <a:off x="2677578" y="7320880"/>
            <a:ext cx="1008112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삭제</a:t>
            </a:r>
            <a:endParaRPr lang="de-DE" sz="1050" dirty="0">
              <a:solidFill>
                <a:schemeClr val="tx1">
                  <a:lumMod val="85000"/>
                  <a:lumOff val="15000"/>
                </a:schemeClr>
              </a:solidFill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7075793"/>
              </p:ext>
            </p:extLst>
          </p:nvPr>
        </p:nvGraphicFramePr>
        <p:xfrm>
          <a:off x="10633534" y="1272208"/>
          <a:ext cx="2088232" cy="2494555"/>
        </p:xfrm>
        <a:graphic>
          <a:graphicData uri="http://schemas.openxmlformats.org/drawingml/2006/table">
            <a:tbl>
              <a:tblPr/>
              <a:tblGrid>
                <a:gridCol w="3345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3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4715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solidFill>
                            <a:srgbClr val="0070C0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 및 기능 설명</a:t>
                      </a: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en-US" altLang="ko-KR" sz="600" baseline="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사용기록이 있는 현장은 삭제할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71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생성된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ID </a:t>
                      </a:r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는 수정할 수 없음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latinLnBrk="1"/>
                      <a:r>
                        <a:rPr lang="ko-KR" altLang="en-US" sz="800" baseline="0"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터치해도 무반응</a:t>
                      </a:r>
                      <a:endParaRPr lang="en-US" altLang="ko-KR" sz="800" baseline="0" dirty="0"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72000" marT="46800" marB="468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3067300" y="7194946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11111249" y="2167097"/>
            <a:ext cx="1482239" cy="807104"/>
            <a:chOff x="11111249" y="4601720"/>
            <a:chExt cx="1482239" cy="807104"/>
          </a:xfrm>
        </p:grpSpPr>
        <p:sp>
          <p:nvSpPr>
            <p:cNvPr id="21" name="직사각형 20"/>
            <p:cNvSpPr/>
            <p:nvPr/>
          </p:nvSpPr>
          <p:spPr>
            <a:xfrm>
              <a:off x="11111249" y="4601720"/>
              <a:ext cx="1482238" cy="613103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사용기록이 있는 현장입니다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삭제하실 수 없습니다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관리자에게 문의하세요</a:t>
              </a:r>
              <a:endParaRPr lang="en-US" altLang="ko-KR" sz="700" dirty="0">
                <a:solidFill>
                  <a:schemeClr val="tx1"/>
                </a:solidFill>
                <a:latin typeface="+mn-ea"/>
                <a:cs typeface="Arial" panose="020B0604020202020204" pitchFamily="34" charset="0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11111250" y="5200103"/>
              <a:ext cx="1482238" cy="208721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0" rIns="144000" bIns="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  <a:cs typeface="Arial" panose="020B0604020202020204" pitchFamily="34" charset="0"/>
                </a:rPr>
                <a:t>확인</a:t>
              </a:r>
            </a:p>
          </p:txBody>
        </p:sp>
      </p:grpSp>
      <p:sp>
        <p:nvSpPr>
          <p:cNvPr id="23" name="모서리가 둥근 사각형 설명선 22"/>
          <p:cNvSpPr/>
          <p:nvPr/>
        </p:nvSpPr>
        <p:spPr>
          <a:xfrm>
            <a:off x="11743208" y="1951510"/>
            <a:ext cx="800850" cy="215587"/>
          </a:xfrm>
          <a:prstGeom prst="wedgeRoundRectCallout">
            <a:avLst>
              <a:gd name="adj1" fmla="val -44741"/>
              <a:gd name="adj2" fmla="val 78226"/>
              <a:gd name="adj3" fmla="val 16667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Alert popup</a:t>
            </a:r>
            <a:endParaRPr lang="ko-KR" altLang="en-US" sz="800" dirty="0">
              <a:latin typeface="+mn-ea"/>
            </a:endParaRPr>
          </a:p>
        </p:txBody>
      </p:sp>
      <p:sp>
        <p:nvSpPr>
          <p:cNvPr id="28" name="Search Box Rectangle"/>
          <p:cNvSpPr>
            <a:spLocks/>
          </p:cNvSpPr>
          <p:nvPr/>
        </p:nvSpPr>
        <p:spPr bwMode="auto">
          <a:xfrm>
            <a:off x="4027165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016002" y="4818580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30" name="Search Box Rectangle"/>
          <p:cNvSpPr>
            <a:spLocks/>
          </p:cNvSpPr>
          <p:nvPr/>
        </p:nvSpPr>
        <p:spPr bwMode="auto">
          <a:xfrm>
            <a:off x="5318546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7383" y="4818580"/>
            <a:ext cx="2471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-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32" name="Search Box Rectangle"/>
          <p:cNvSpPr>
            <a:spLocks/>
          </p:cNvSpPr>
          <p:nvPr/>
        </p:nvSpPr>
        <p:spPr bwMode="auto">
          <a:xfrm>
            <a:off x="6609927" y="4799085"/>
            <a:ext cx="93347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algn="ctr" defTabSz="914400" latinLnBrk="0"/>
            <a:r>
              <a:rPr lang="de-DE" sz="1000" dirty="0">
                <a:solidFill>
                  <a:schemeClr val="bg1">
                    <a:lumMod val="65000"/>
                  </a:schemeClr>
                </a:solidFill>
                <a:latin typeface="Segoe UI" pitchFamily="34" charset="0"/>
                <a:ea typeface="Segoe UI" pitchFamily="34" charset="0"/>
                <a:cs typeface="Segoe UI" pitchFamily="34" charset="0"/>
              </a:rPr>
              <a:t>000000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512783" y="5476502"/>
            <a:ext cx="870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3D Map</a:t>
            </a:r>
          </a:p>
          <a:p>
            <a:pPr algn="r"/>
            <a:r>
              <a:rPr lang="en-US" altLang="ko-KR" sz="1200" dirty="0">
                <a:latin typeface="+mj-lt"/>
                <a:ea typeface="나눔바른고딕" panose="020B0603020101020101" pitchFamily="50" charset="-127"/>
              </a:rPr>
              <a:t>Project ID</a:t>
            </a:r>
            <a:endParaRPr lang="ko-KR" altLang="en-US" sz="1200" dirty="0">
              <a:latin typeface="+mj-lt"/>
              <a:ea typeface="나눔바른고딕" panose="020B0603020101020101" pitchFamily="50" charset="-127"/>
            </a:endParaRPr>
          </a:p>
        </p:txBody>
      </p:sp>
      <p:sp>
        <p:nvSpPr>
          <p:cNvPr id="33" name="Search Box Rectangle"/>
          <p:cNvSpPr>
            <a:spLocks/>
          </p:cNvSpPr>
          <p:nvPr/>
        </p:nvSpPr>
        <p:spPr bwMode="auto">
          <a:xfrm>
            <a:off x="4027165" y="5549339"/>
            <a:ext cx="2373636" cy="315990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28" rIns="109728" rtlCol="0" anchor="ctr"/>
          <a:lstStyle/>
          <a:p>
            <a:pPr defTabSz="914400" latinLnBrk="0"/>
            <a:r>
              <a:rPr lang="de-DE" sz="1000">
                <a:solidFill>
                  <a:schemeClr val="bg1">
                    <a:lumMod val="75000"/>
                  </a:schemeClr>
                </a:solidFill>
                <a:latin typeface="+mn-ea"/>
                <a:cs typeface="Segoe UI" pitchFamily="34" charset="0"/>
              </a:rPr>
              <a:t>PRJ000234</a:t>
            </a:r>
            <a:endParaRPr lang="de-DE" sz="1000" dirty="0">
              <a:solidFill>
                <a:schemeClr val="bg1">
                  <a:lumMod val="75000"/>
                </a:schemeClr>
              </a:solidFill>
              <a:latin typeface="+mn-ea"/>
              <a:cs typeface="Segoe UI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032722" y="5910689"/>
            <a:ext cx="2521844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000" dirty="0"/>
              <a:t>연결된 </a:t>
            </a:r>
            <a:r>
              <a:rPr lang="en-US" altLang="ko-KR" sz="1000" dirty="0"/>
              <a:t>Project ID </a:t>
            </a:r>
            <a:r>
              <a:rPr lang="ko-KR" altLang="en-US" sz="1000"/>
              <a:t>는 수정할 수 없습니다</a:t>
            </a:r>
            <a:endParaRPr lang="ko-KR" altLang="en-US" sz="1000" dirty="0"/>
          </a:p>
        </p:txBody>
      </p:sp>
      <p:sp>
        <p:nvSpPr>
          <p:cNvPr id="35" name="직사각형 34"/>
          <p:cNvSpPr/>
          <p:nvPr/>
        </p:nvSpPr>
        <p:spPr>
          <a:xfrm>
            <a:off x="4311003" y="5412647"/>
            <a:ext cx="177800" cy="180975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altLang="ko-KR" sz="800" b="1" dirty="0">
                <a:solidFill>
                  <a:srgbClr val="FFFFFF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FFFF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1877625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3792488"/>
            <a:ext cx="12801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/>
              <a:t>End of document</a:t>
            </a:r>
            <a:endParaRPr lang="ko-KR" altLang="en-US" sz="2800" b="1" dirty="0" err="1"/>
          </a:p>
        </p:txBody>
      </p:sp>
    </p:spTree>
    <p:extLst>
      <p:ext uri="{BB962C8B-B14F-4D97-AF65-F5344CB8AC3E}">
        <p14:creationId xmlns:p14="http://schemas.microsoft.com/office/powerpoint/2010/main" val="92212476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Absolute"/>
  <p:tag name="ANCHORRIGHT" val="Absolute"/>
  <p:tag name="ANCHORBOTTOM" val="Absolu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Absolute"/>
  <p:tag name="ANCHORRIGHT" val="Absolute"/>
  <p:tag name="ANCHORBOTTOM" val="Absolu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Absolute"/>
  <p:tag name="ANCHORRIGHT" val="Absolute"/>
  <p:tag name="ANCHORBOTTOM" val="Absolu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Absolute"/>
  <p:tag name="ANCHORRIGHT" val="Absolute"/>
  <p:tag name="ANCHORBOTTOM" val="Absolu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RIGHT" val="Absolu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</p:tagLst>
</file>

<file path=ppt/theme/theme1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3175">
          <a:solidFill>
            <a:schemeClr val="bg1">
              <a:lumMod val="50000"/>
            </a:schemeClr>
          </a:solidFill>
        </a:ln>
        <a:effectLst/>
      </a:spPr>
      <a:bodyPr rtlCol="0" anchor="ctr"/>
      <a:lstStyle>
        <a:defPPr algn="ctr">
          <a:defRPr sz="1000" smtClean="0">
            <a:solidFill>
              <a:schemeClr val="tx1"/>
            </a:solidFill>
            <a:latin typeface="+mn-ea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 anchor="ctr">
        <a:spAutoFit/>
      </a:bodyPr>
      <a:lstStyle>
        <a:defPPr>
          <a:defRPr sz="100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item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4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4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4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4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6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6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6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7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8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3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0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2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0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0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1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Props1.xml><?xml version="1.0" encoding="utf-8"?>
<ds:datastoreItem xmlns:ds="http://schemas.openxmlformats.org/officeDocument/2006/customXml" ds:itemID="{A61D6A98-FC5C-40E0-8B7E-5397A32D9FBE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5CE5BCF1-A3BE-4DFC-BEA4-EC164C83786B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2D03426C-3CA2-4222-AFB5-146CBF3BDE13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79476EF7-0778-4230-B0EF-D191787AEDA7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5F49B857-AA83-4168-A858-FD8A5C6E73C7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32DE3A1F-81BF-4444-BB1D-82A116617FB0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52170D84-47E8-4E8E-BD23-E1A244B8A57A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B9BC2990-050E-449E-9AE1-D107F1336F48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8591FD01-1ED5-445D-ADD0-5EB3940B153C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3B086975-40D6-4AE1-858F-BA47028150CF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BDC480E1-1BA8-4768-80B0-37165BD2A11C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B35156A4-4646-44C0-84C9-847697307975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BA5152EE-4035-40D8-B35A-0DB8D38E99E5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1D10FF70-9BFE-41A5-8FDD-3C9B49959051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BBD1C6B3-998F-452D-873E-6049499AD047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35B7E146-72DA-4AB9-A203-47D5C8C9D76C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30F2510F-4E54-40A0-9FE5-1FC9B7C1D12C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364512C4-D6D7-40A7-89E6-E7456D7B628D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AC93C2D3-575B-4A8C-A9FC-D8A8314C3F52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6364B462-9DAB-4E18-8028-11C9AA569776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A3F852F1-C8BF-489A-AADB-B2391684BDCD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DEE39DB3-1BD2-443B-8FEC-54223535C977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E24002CD-C2D1-424D-B97A-476A143CA474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FD4AF7E9-4521-4FD6-B2FD-81313529B37B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1D863885-A9E6-41D2-8ABC-765D968F0260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882F705D-96F7-447C-8649-D082BBDF3ECB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9954A6F5-878E-43E5-967D-29E005F520E9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EC8994A7-8B15-4469-B049-1B23560F4CB7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083BE60D-6993-4ADC-990F-F1509090EF6D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80E8389B-D41C-4657-A4DB-426E101B439E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18173462-FB6E-400C-98F5-E0A29BC78FF3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C2D16B80-BA44-42A5-9E3E-D0E478EA2E96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EB59C16C-5176-4831-B417-D4E4AB27BC2E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368D72E8-8031-4331-9FC4-BA5B805CEFAF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64F56A81-4A88-49EA-B821-640BCC1B680F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70E6D849-FED2-4571-9702-9E4B38282A6C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C28F6156-7E48-480C-86AC-61E74A08B477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53844F44-A57D-471C-B8D8-6C149FB29A5B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29A476BA-D773-4F3C-BD45-B0A0231839C6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74E70F12-259F-4FAD-BB65-F70253FBE4A9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8E9F651F-EA8A-48B6-93E0-5C1625DA5791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6F5CCF80-0202-4EA6-9ED8-E58430675FC5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FC677C12-6BD9-4559-8B3B-3BB0404C597D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5CD950FA-87FB-4D56-929A-222ECB509A01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1797E040-828B-4AA9-8B03-E9A62EA10412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B41C9486-5A7C-49CF-A1E9-7D1B9DCB7C3E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30424B73-7987-4302-B0D7-FD6901E5AF07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21AD60F6-25AB-4C7D-8460-8B31A2C3271D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7CF87191-F144-4AF6-BEC0-2B06E293E64C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44AC9778-D5E6-4A94-9333-0F3C1FC0C530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47AF96E1-71C3-4999-B065-C9738F226A33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61CFA961-CB07-43A6-AB0A-E82B6B83BB07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0B7C590E-6542-4E57-9B3E-93D15AAF8CAD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D5D63EC4-2193-4BFF-BB0A-83C5686D4981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80D190A5-9C49-47ED-8594-9D9AA817871E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2F9C063A-24B8-4DC8-97A1-D38D006DF895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752D3576-7585-4F70-9524-C01E014ABBA6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A07502D6-0603-4B47-87D2-B91EF278CCC0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AD051E92-08BE-4B18-90D1-F923768F114F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23E639BF-DF26-421C-AEA1-8B2A2B2C1A76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537B4AE1-DDE4-4E41-959A-BAD5245D5EF2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EDEE3686-2AFA-4305-AECC-18F391F50EEB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DC7839AE-E003-4EDD-98DB-DDD7B7049804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44342025-4BFF-40F2-A858-670386E51F60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3A5D16B2-A2CE-4C29-9798-B855B80D85CC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205B4CDB-7F4D-4A5C-B047-053B2995610E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AB86C250-4337-4500-86DC-E3D83DAAC313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DB915887-E7D2-4542-A3F3-56B66A9E076E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D2D38457-FE34-43EA-9AC9-8B2B311EBE8E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CA58911B-934A-4088-971F-6874D42456A0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79CBA5CB-4730-463B-B050-C255AF670C06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C61B445E-E9F8-4561-A88F-A565F161C825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FCF7DE91-1A27-4420-B884-090C58E9FBB5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FD38A849-CDEB-42DC-9B10-5CB6B6BE2E3E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3C930484-F685-4D2B-A146-1DBAD085F653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EC998582-C4AD-4167-AC01-6CD62FDE4952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90F6697E-C22B-4428-9DAD-6E740A292D8B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3AAD5A25-A0C7-4FD9-B15C-BC51905779F7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892D0116-D8EB-4CB0-AF3B-EEA5D78883CA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4157C67C-CECC-464F-9602-E9C14C525720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24C50110-AEBC-4AE2-B8AF-B26AB383D040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120B008F-C389-4F67-9B0D-7F381BA412AC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0BA87358-0669-4D81-AAED-3B5D0C548EE6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DC4D0F0B-733E-4502-A342-876D38849564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A52D3C82-5F7D-4110-B988-99975B74193E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FDDA0936-3E6F-4ED0-829A-A8D1F0D28C96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35911511-97FE-4633-B782-1D95EF33FE11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17C7BD35-0EC5-4E9D-BD8B-93DE53EF07E8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BEE7FE45-DAAA-4793-A2C4-566317650A01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C89A080B-BD95-4302-A5D1-0AB5D819A4C7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294F084F-D014-44E0-A01B-1BC2CCA15CE4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5D5BA459-DA32-4068-8465-A194DCF74EE2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A68BEDF2-4794-47CC-8398-A6D3412BA2A1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F9C1CC82-5ED4-46ED-8ABB-E4E52046E7A0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133CBBE5-F23A-49E8-9B15-2AD4B7B9E87A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EF874E85-9C7E-49E0-8F37-1FF14E9B9542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BFAA1749-FF93-4802-B192-576B26BE0E9D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1CA60D13-7547-4CAE-8A1D-510B981D56D8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3A02B58F-E0ED-4C42-8ED8-7A78E84E0194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48487130-4CF4-48A9-92E2-165ACADD2FD0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27C2571F-22B1-4D6A-AFED-739BFD1E68A7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2FB160AE-D2A9-44F9-9031-F67E5B7F5683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1F4AED0D-94E3-49B7-80BD-C1C69E4A14D6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7C1185F0-22CB-4C78-8115-A0E646579C96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63B2E294-ABC8-46B4-985C-A7620426795C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7DF98E8D-BF3F-4921-9BA7-FCF3EFB41780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01792F75-0FBD-40B0-8C70-3C3FE99F8FDA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B547B84D-179E-4022-A700-4FEF0FEC7889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A6B93533-ABE7-4C86-AFFA-8B50D5DC6BA8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CAF97996-D394-4E60-B1CD-ABD20720F27B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21566</TotalTime>
  <Words>26701</Words>
  <Application>Microsoft Macintosh PowerPoint</Application>
  <PresentationFormat>A3 용지(297x420mm)</PresentationFormat>
  <Paragraphs>11094</Paragraphs>
  <Slides>161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161</vt:i4>
      </vt:variant>
    </vt:vector>
  </HeadingPairs>
  <TitlesOfParts>
    <vt:vector size="168" baseType="lpstr">
      <vt:lpstr>나눔바른고딕</vt:lpstr>
      <vt:lpstr>맑은 고딕</vt:lpstr>
      <vt:lpstr>Arial</vt:lpstr>
      <vt:lpstr>Calibri</vt:lpstr>
      <vt:lpstr>Roboto</vt:lpstr>
      <vt:lpstr>Segoe UI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Microsoft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채호진</dc:creator>
  <cp:lastModifiedBy>aiin Hojin.chae</cp:lastModifiedBy>
  <cp:revision>4847</cp:revision>
  <cp:lastPrinted>2016-07-11T06:59:32Z</cp:lastPrinted>
  <dcterms:created xsi:type="dcterms:W3CDTF">2009-06-19T09:00:20Z</dcterms:created>
  <dcterms:modified xsi:type="dcterms:W3CDTF">2023-04-04T07:37:51Z</dcterms:modified>
</cp:coreProperties>
</file>